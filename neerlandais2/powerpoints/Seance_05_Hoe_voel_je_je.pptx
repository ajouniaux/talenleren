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uverture" id="{40edc687-7d95-fc54-6b2e-7d5b102ee401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</p14:sldIdLst>
        </p14:section>
        <p14:section name="Clôture" id="{56a4de7d-7e61-2d45-011d-c97086c90874}">
          <p14:sldIdLst>
            <p14:sldId id="28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Dernière séance de la séquence 1.2 (prendre des nouvelles). Objectifs : automatiser les réponses à « Hoe gaat het? » (chrono 1.2.7), nuancer une émotion (een beetje, vrij, heel, ontzettend), distinguer « Ik ben… » et « Ik voel me… », puis la grammaire des verbes pronominaux (fiche A2-08) et la fiche 8 « Exprimer ses émotions » (omdat, daarom, vanwege).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Durées indicatives sur 90 minutes. La séance clôt la séquence 1.2 (p. 27–34). Si le temps manque, le BONUS « zich » peut être donné en devoir ; le jeu de rôle de la fiche 8 est prioritaire.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Rappel de la séance 4 (1.2.3 à 1.2.6, tutoiement/vouvoiement, want). L’illustration « U ! / JE » ouvre la page 27 du livret : elle sert de transition vers 1.2.7. Faire tourner : chaque étudiant pose la question à deux personnes (je, puis u). Exiger une raison avec « want 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Couche 3 : rien de nouveau, seulement plus vite. Projeter la diapositive des amorces (français) pendant le premier passage, livret plié. Le chronométreur note le temps ; deuxième passage après correction ; calculer le gain (1e keer − 2e keer). Items 16 et 20 abrégés à l’écran (« Je suis assez nerveux/se… », « Je suis extrêmement fatigué(e)… »).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Points à surveiller : « met jou / met u » ; « dank je » (tu) ≠ « dank u » (vous) ; « want » + ordre normal (want ik heb…) ; « morgen » avant « een examen » (le temps avant le complément). « Heel druk » est une réponse elliptique correcte à « Hoe gaat het? » ; en phrase complète : « Ik heb het heel druk 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Exercice court, à faire seul puis lire les dialogues à deux voix. Rappeler que la réponse reprend la politesse de la question : « Hoe maakt u het? » → « dank u… en met u? 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Exercice court, à faire seul puis lire les dialogues à deux voix. Rappeler que la réponse reprend la politesse de la question : « Hoe maakt u het? » → « dank u… en met u? 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Disposer deux rangées face à face ; on décale d’une place toutes les minutes (signal sonore). Coquille du livret : la consigne annonce trois partenaires (le 3e vouvoyé) mais la grille n’a que deux lignes (Partner 1 « je », Partner 2 « u ») : faire ajouter une ligne « Partner 3 · u » (ou vouvoyer le 2e et le 3e).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Lire de haut en bas en mimant (pouce vers le bas → pouce levé). Faire choisir à chacun l’expression vraie pour lui aujourd’hui. « Het valt niet mee » = ce n’est pas évident, ça ne va pas fort.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 deux structures disent la même chose ; « Ik voel me » insiste sur le ressenti. Faire produire : un adjectif + un nuanceur + une structure, vrai pour soi (« Ik voel me een beetje moe »). Le livret présente « druk » comme adjectif (« Ik ben druk ») : en néerlandais standard, « occupé » se dit « het druk hebben » ; « druk zijn » veut dire être agité, remuant (un enfant druk). Dans « Hoe gaat het? — Druk! », la réponse elliptique est correcte.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Commencer par la photo (p. 32) : qui est content, fatigué, perdu ? Coquille du livret dans une bulle : « Ik bem vrij gemotivreerd! » → « Ik ben vrij gemotiveerd! ». Verward = perdu, confus ; rustig = calme. Item 1 : le contexte du livret est « Pieter heeft veel werk vandaag en morgen heeft hij nog meer » (légèrement raccourci ici). Item 3 : point final manquant dans le livret.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Item 1 : le livret attend « Pieter is druk » ; on accepte le choix « druk », mais on corrige la tournure : « Pieter heeft het druk ». Les autres réponses ne posent pas de problème.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« Zinnenbouwer fermé » : on cache le zinnenbouwer 1.2 ; adjectifs et nuanceurs viennent de la règle p. 30–31 (laisser la diapositive des cartes au tableau pour les plus lents). Attention : « je voelt je » (tu te sens) — avec jij/je, le pronom réfléchi est « je ». « Nuanceur » est le mot du livret pour « intensificateur 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Rapide, à l’oral après 3 minutes d’écrit. Fin de la séquence 1.2 : « Vous savez maintenant prendre des nouvelles et y répondre en néerlandais ! »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Item 2 : « intensité très forte » est ambigu (entre fort et intense) ; la clé la plus logique est « ontzettend », mais accepter « heel / zeer ». Item 5 : le livret écrit « Wij zijn … druk deze week » ; corriger en « Wij hebben het heel druk deze week » (ou « Wij hebben het deze week heel druk »). Item 4 : Sarah vient de Gent ; « in Nederland » reste possible (elle y est peut-être en vacances).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Fiche de grammaire A2-08. À retenir : 3e personne = zich ; jij et jullie = je ; wij = ons. Avec u, on entend « zich » et « u » (u wast zich / u wast u). Après inversion, le pronom réfléchi suit le sujet : « Vandaag voel ik me goed », « Hoe voel je je? ». Les plus fréquents : zich voelen, zich vergissen (se tromper), zich haasten (se dépêcher), zich voorstellen (se présenter).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« Zich niet lekker voelen » = ne pas se sentir bien (familier). Le livret écrit « Peter » (et non Pieter) : sans importance.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« Zich niet lekker voelen » = ne pas se sentir bien (familier). Le livret écrit « Peter » (et non Pieter) : sans importance.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Exercice ajouté : réemploi oral de la fiche A2-08. Faire lire les phrases avec le geste (se dépêcher, s’ennuyer…).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Exercice ajouté : réemploi oral de la fiche A2-08. Faire lire les phrases avec le geste (se dépêcher, s’ennuyer…).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« vrij » a deux sens : libre (Ben je vanavond vrij?) et assez (Ik ben vrij moe). Le sommaire de la Section 4 (PDF p. 99 du livret) annonce « 08 À la réception de l’hôtel » : la fiche 8 réelle est « Exprimer ses émotions ». Seuls deux noms : de druk, het werk.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Jalon 1 (A1) : 5 questions ; Jalon 2 (A2) : 5 réponses avec la raison. Seul 10 min, puis comparaison par deux. Les deux jalons sont réunis sur une diapositive (lignes J1 et J2).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Variantes acceptables : J1·5 « Ben je vanavond vrij, of heb je het druk? » ; J2·1 « …omdat ik te veel werk heb » (verbe à la fin !) ; J2·2 « …vanwege de werkdruk » ; J2·5 « Maar vandaag gaat het, want ik heb weinig werk ». Le type « N » de J1·4 est une question négative.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Want a été vu à la séance 4 (fiche A2-06). Faire transformer à l’oral : « Ik ben moe, want ik heb veel werk » → « Ik ben moe omdat ik veel werk heb » → « Ik heb veel werk, daarom ben ik moe 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 observateurs (groupes de trois) cochent les critères. Passer dans les rangs pour vérifier le verbe à la fin après omdat. Version « u » : « Hoe voelt u zich? — Ik voel me goed, dank u. »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Ticket de sortie à l’oral, un par un : « Ik voel me een beetje moe omdat … ». Vérifier le verbe à la fin.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TLAS_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Néerlandais 2 · UE2 · Néerlandais en situation · Séance 05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TLAS_DARK">
    <p:bg>
      <p:bgPr>
        <a:solidFill>
          <a:srgbClr val="1737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Néerlandais 2 · UE2 · Néerlandais en situation · Séance 05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EEF3F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TLAS_COVER">
    <p:bg>
      <p:bgPr>
        <a:solidFill>
          <a:srgbClr val="1737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263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Néerlandais 2 · UE2 · A. Jouniaux · IRAM — Enseignement pour adultes</a:t>
            </a:r>
            <a:endParaRPr lang="en-US" sz="12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1874520"/>
            <a:ext cx="576072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548640" y="3794760"/>
            <a:ext cx="576072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image" Target="../media/image-25-3.png"/><Relationship Id="rId4" Type="http://schemas.openxmlformats.org/officeDocument/2006/relationships/image" Target="../media/image-25-4.png"/><Relationship Id="rId5" Type="http://schemas.openxmlformats.org/officeDocument/2006/relationships/image" Target="../media/image-25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/>
          <p:nvPr/>
        </p:nvSpPr>
        <p:spPr>
          <a:xfrm>
            <a:off x="548640" y="640080"/>
            <a:ext cx="2369820" cy="384048"/>
          </a:xfrm>
          <a:prstGeom prst="roundRect">
            <a:avLst>
              <a:gd name="adj" fmla="val 11905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chemeClr val="bg1"/>
                </a:solidFill>
              </a:rPr>
              <a:t>SÉANCE 05 / 19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bg2"/>
                </a:solidFill>
              </a:rPr>
              <a:t>SÉQUENCE</a:t>
            </a:r>
            <a:endParaRPr lang="en-US" sz="1300" dirty="0"/>
          </a:p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1.2</a:t>
            </a:r>
            <a:endParaRPr lang="en-US" sz="1300" dirty="0"/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548640" y="1874520"/>
            <a:ext cx="5760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Hoe voel je je?</a:t>
            </a:r>
            <a:endParaRPr lang="en-US" sz="4000" dirty="0"/>
          </a:p>
        </p:txBody>
      </p:sp>
      <p:sp>
        <p:nvSpPr>
          <p:cNvPr id="5" name="Text 1"/>
          <p:cNvSpPr/>
          <p:nvPr>
            <p:ph idx="102" type="body" hasCustomPrompt="1"/>
          </p:nvPr>
        </p:nvSpPr>
        <p:spPr>
          <a:xfrm>
            <a:off x="548640" y="3794760"/>
            <a:ext cx="5760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800" i="1" dirty="0">
                <a:solidFill>
                  <a:schemeClr val="bg2"/>
                </a:solidFill>
              </a:rPr>
              <a:t>Dire comment on va et ce qu’on ressent — avec nuance</a:t>
            </a:r>
            <a:endParaRPr lang="en-US" sz="1800" dirty="0"/>
          </a:p>
          <a:p>
            <a:pPr algn="l" indent="0" marL="0">
              <a:buNone/>
            </a:pPr>
            <a:r>
              <a:rPr lang="en-US" sz="1800" b="1" dirty="0">
                <a:solidFill>
                  <a:schemeClr val="bg2"/>
                </a:solidFill>
              </a:rPr>
              <a:t>Section 1 · Premiers pas en néerlandais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Livret p. 27–34 · 75 · 99</a:t>
            </a:r>
            <a:endParaRPr lang="en-US" sz="1800" dirty="0"/>
          </a:p>
        </p:txBody>
      </p:sp>
      <p:pic>
        <p:nvPicPr>
          <p:cNvPr id="6" name="illustration" descr="Illustration du syllabu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0" y="2032860"/>
            <a:ext cx="5120640" cy="2792281"/>
          </a:xfrm>
          <a:prstGeom prst="rect">
            <a:avLst/>
          </a:prstGeom>
          <a:effectLst>
            <a:outerShdw sx="100000" sy="100000" kx="0" ky="0" algn="bl" rotWithShape="0" blurRad="101600" dist="25400" dir="3600000">
              <a:srgbClr val="000000">
                <a:alpha val="18000"/>
              </a:srgb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Mission du jour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822960" cy="310896"/>
          </a:xfrm>
          <a:prstGeom prst="roundRect">
            <a:avLst>
              <a:gd name="adj" fmla="val 14706"/>
            </a:avLst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PLAN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27–34 · 75 · 99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548640" y="1508760"/>
            <a:ext cx="525780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49808" y="1709928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" y="1847088"/>
            <a:ext cx="292608" cy="292608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481328" y="1655064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1"/>
                </a:solidFill>
              </a:rPr>
              <a:t>EN FIN DE SÉANCE, JE SAIS…</a:t>
            </a:r>
            <a:endParaRPr lang="en-US" sz="1200" dirty="0"/>
          </a:p>
        </p:txBody>
      </p:sp>
      <p:sp>
        <p:nvSpPr>
          <p:cNvPr id="10" name="Text 6"/>
          <p:cNvSpPr txBox="1"/>
          <p:nvPr/>
        </p:nvSpPr>
        <p:spPr>
          <a:xfrm>
            <a:off x="1481328" y="1947672"/>
            <a:ext cx="41605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Répondre à « Hoe gaat het? » </a:t>
            </a:r>
            <a:r>
              <a:rPr lang="en-US" sz="1600" b="1" dirty="0">
                <a:solidFill>
                  <a:schemeClr val="tx1"/>
                </a:solidFill>
              </a:rPr>
              <a:t>avec nuance</a:t>
            </a:r>
            <a:r>
              <a:rPr lang="en-US" sz="1600" dirty="0">
                <a:solidFill>
                  <a:schemeClr val="tx1"/>
                </a:solidFill>
              </a:rPr>
              <a:t> (een beetje, vrij, heel, ontzettend) et </a:t>
            </a:r>
            <a:r>
              <a:rPr lang="en-US" sz="1600" b="1" dirty="0">
                <a:solidFill>
                  <a:schemeClr val="tx1"/>
                </a:solidFill>
              </a:rPr>
              <a:t>donner la raison</a:t>
            </a:r>
            <a:r>
              <a:rPr lang="en-US" sz="1600" dirty="0">
                <a:solidFill>
                  <a:schemeClr val="tx1"/>
                </a:solidFill>
              </a:rPr>
              <a:t> de mon état (want, omdat, daarom).</a:t>
            </a:r>
            <a:endParaRPr lang="en-US" sz="1600" dirty="0"/>
          </a:p>
        </p:txBody>
      </p:sp>
      <p:sp>
        <p:nvSpPr>
          <p:cNvPr id="11" name="Shape 7"/>
          <p:cNvSpPr/>
          <p:nvPr/>
        </p:nvSpPr>
        <p:spPr>
          <a:xfrm>
            <a:off x="548640" y="3136392"/>
            <a:ext cx="525780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49808" y="3337560"/>
            <a:ext cx="566928" cy="566928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968" y="3474720"/>
            <a:ext cx="292608" cy="292608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481328" y="3282696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2"/>
                </a:solidFill>
              </a:rPr>
              <a:t>LANGUE CIBLE</a:t>
            </a:r>
            <a:endParaRPr lang="en-US" sz="1200" dirty="0"/>
          </a:p>
        </p:txBody>
      </p:sp>
      <p:sp>
        <p:nvSpPr>
          <p:cNvPr id="15" name="Text 10"/>
          <p:cNvSpPr txBox="1"/>
          <p:nvPr/>
        </p:nvSpPr>
        <p:spPr>
          <a:xfrm>
            <a:off x="1481328" y="3575304"/>
            <a:ext cx="41605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chemeClr val="tx1"/>
                </a:solidFill>
              </a:rPr>
              <a:t>Ik ben moe · Ik voel me gestrest · Het valt niet mee · Het kan beter</a:t>
            </a:r>
            <a:r>
              <a:rPr lang="en-US" sz="1800" dirty="0">
                <a:solidFill>
                  <a:schemeClr val="tx1"/>
                </a:solidFill>
              </a:rPr>
              <a:t> — </a:t>
            </a:r>
            <a:r>
              <a:rPr lang="en-US" sz="1800" i="1" dirty="0">
                <a:solidFill>
                  <a:schemeClr val="tx1"/>
                </a:solidFill>
              </a:rPr>
              <a:t>zich voelen</a:t>
            </a:r>
            <a:r>
              <a:rPr lang="en-US" sz="1800" dirty="0">
                <a:solidFill>
                  <a:schemeClr val="tx1"/>
                </a:solidFill>
              </a:rPr>
              <a:t> : ik voel </a:t>
            </a:r>
            <a:r>
              <a:rPr lang="en-US" sz="1800" b="1" dirty="0">
                <a:solidFill>
                  <a:schemeClr val="tx1"/>
                </a:solidFill>
              </a:rPr>
              <a:t>me</a:t>
            </a:r>
            <a:r>
              <a:rPr lang="en-US" sz="1800" dirty="0">
                <a:solidFill>
                  <a:schemeClr val="tx1"/>
                </a:solidFill>
              </a:rPr>
              <a:t>, hij voelt </a:t>
            </a:r>
            <a:r>
              <a:rPr lang="en-US" sz="1800" b="1" dirty="0">
                <a:solidFill>
                  <a:schemeClr val="tx1"/>
                </a:solidFill>
              </a:rPr>
              <a:t>zich</a:t>
            </a:r>
            <a:endParaRPr lang="en-US" sz="1800" dirty="0"/>
          </a:p>
        </p:txBody>
      </p:sp>
      <p:sp>
        <p:nvSpPr>
          <p:cNvPr id="16" name="Shape 11"/>
          <p:cNvSpPr/>
          <p:nvPr/>
        </p:nvSpPr>
        <p:spPr>
          <a:xfrm>
            <a:off x="548640" y="4764024"/>
            <a:ext cx="525780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749808" y="4965192"/>
            <a:ext cx="566928" cy="566928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" y="5102352"/>
            <a:ext cx="292608" cy="292608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481328" y="4910328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3"/>
                </a:solidFill>
              </a:rPr>
              <a:t>COMPÉTENCES</a:t>
            </a:r>
            <a:endParaRPr lang="en-US" sz="1200" dirty="0"/>
          </a:p>
        </p:txBody>
      </p:sp>
      <p:sp>
        <p:nvSpPr>
          <p:cNvPr id="20" name="Text 14"/>
          <p:cNvSpPr txBox="1"/>
          <p:nvPr/>
        </p:nvSpPr>
        <p:spPr>
          <a:xfrm>
            <a:off x="1481328" y="5202936"/>
            <a:ext cx="41605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Répondre vite (chrono) · deviner une émotion · demander à quelqu’un comment il se sent, en tutoyant ou en vouvoyant</a:t>
            </a:r>
            <a:endParaRPr lang="en-US" sz="1800" dirty="0"/>
          </a:p>
        </p:txBody>
      </p:sp>
      <p:sp>
        <p:nvSpPr>
          <p:cNvPr id="21" name="Text 15"/>
          <p:cNvSpPr txBox="1"/>
          <p:nvPr/>
        </p:nvSpPr>
        <p:spPr>
          <a:xfrm>
            <a:off x="6263640" y="14630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5"/>
                </a:solidFill>
              </a:rPr>
              <a:t>DÉROULÉ</a:t>
            </a:r>
            <a:endParaRPr lang="en-US" sz="1300" dirty="0"/>
          </a:p>
        </p:txBody>
      </p:sp>
      <p:sp>
        <p:nvSpPr>
          <p:cNvPr id="22" name="Text 16"/>
          <p:cNvSpPr txBox="1"/>
          <p:nvPr/>
        </p:nvSpPr>
        <p:spPr>
          <a:xfrm>
            <a:off x="8897112" y="14630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≈ 90 min (indicatif)</a:t>
            </a:r>
            <a:endParaRPr lang="en-US" sz="1200" dirty="0"/>
          </a:p>
        </p:txBody>
      </p:sp>
      <p:sp>
        <p:nvSpPr>
          <p:cNvPr id="23" name="Shape 17"/>
          <p:cNvSpPr/>
          <p:nvPr/>
        </p:nvSpPr>
        <p:spPr>
          <a:xfrm>
            <a:off x="6263640" y="1959674"/>
            <a:ext cx="384048" cy="38404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24" name="Text 18"/>
          <p:cNvSpPr txBox="1"/>
          <p:nvPr/>
        </p:nvSpPr>
        <p:spPr>
          <a:xfrm>
            <a:off x="6263640" y="195967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25" name="Text 19"/>
          <p:cNvSpPr txBox="1"/>
          <p:nvPr/>
        </p:nvSpPr>
        <p:spPr>
          <a:xfrm>
            <a:off x="6784848" y="1874520"/>
            <a:ext cx="4114800" cy="554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Échauffement : je ou u ?</a:t>
            </a:r>
            <a:endParaRPr lang="en-US" sz="1600" dirty="0"/>
          </a:p>
        </p:txBody>
      </p:sp>
      <p:sp>
        <p:nvSpPr>
          <p:cNvPr id="26" name="Text 20"/>
          <p:cNvSpPr txBox="1"/>
          <p:nvPr/>
        </p:nvSpPr>
        <p:spPr>
          <a:xfrm>
            <a:off x="10972800" y="1874520"/>
            <a:ext cx="667512" cy="554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5'</a:t>
            </a:r>
            <a:endParaRPr lang="en-US" sz="1500" dirty="0"/>
          </a:p>
        </p:txBody>
      </p:sp>
      <p:sp>
        <p:nvSpPr>
          <p:cNvPr id="27" name="Shape 21"/>
          <p:cNvSpPr/>
          <p:nvPr/>
        </p:nvSpPr>
        <p:spPr>
          <a:xfrm>
            <a:off x="6263640" y="2514029"/>
            <a:ext cx="384048" cy="38404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28" name="Text 22"/>
          <p:cNvSpPr txBox="1"/>
          <p:nvPr/>
        </p:nvSpPr>
        <p:spPr>
          <a:xfrm>
            <a:off x="6263640" y="2514029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29" name="Text 23"/>
          <p:cNvSpPr txBox="1"/>
          <p:nvPr/>
        </p:nvSpPr>
        <p:spPr>
          <a:xfrm>
            <a:off x="6784848" y="2428875"/>
            <a:ext cx="4114800" cy="554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1.2.7 Chrono · 1.2.8</a:t>
            </a:r>
            <a:endParaRPr lang="en-US" sz="1600" dirty="0"/>
          </a:p>
        </p:txBody>
      </p:sp>
      <p:sp>
        <p:nvSpPr>
          <p:cNvPr id="30" name="Text 24"/>
          <p:cNvSpPr txBox="1"/>
          <p:nvPr/>
        </p:nvSpPr>
        <p:spPr>
          <a:xfrm>
            <a:off x="10972800" y="2428875"/>
            <a:ext cx="667512" cy="554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15'</a:t>
            </a:r>
            <a:endParaRPr lang="en-US" sz="1500" dirty="0"/>
          </a:p>
        </p:txBody>
      </p:sp>
      <p:sp>
        <p:nvSpPr>
          <p:cNvPr id="31" name="Shape 25"/>
          <p:cNvSpPr/>
          <p:nvPr/>
        </p:nvSpPr>
        <p:spPr>
          <a:xfrm>
            <a:off x="6263640" y="3068384"/>
            <a:ext cx="384048" cy="38404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32" name="Text 26"/>
          <p:cNvSpPr txBox="1"/>
          <p:nvPr/>
        </p:nvSpPr>
        <p:spPr>
          <a:xfrm>
            <a:off x="6263640" y="30683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33" name="Text 27"/>
          <p:cNvSpPr txBox="1"/>
          <p:nvPr/>
        </p:nvSpPr>
        <p:spPr>
          <a:xfrm>
            <a:off x="6784848" y="2983230"/>
            <a:ext cx="4114800" cy="554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1.2.9 Speed date</a:t>
            </a:r>
            <a:endParaRPr lang="en-US" sz="1600" dirty="0"/>
          </a:p>
        </p:txBody>
      </p:sp>
      <p:sp>
        <p:nvSpPr>
          <p:cNvPr id="34" name="Text 28"/>
          <p:cNvSpPr txBox="1"/>
          <p:nvPr/>
        </p:nvSpPr>
        <p:spPr>
          <a:xfrm>
            <a:off x="10972800" y="2983230"/>
            <a:ext cx="667512" cy="554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10'</a:t>
            </a:r>
            <a:endParaRPr lang="en-US" sz="1500" dirty="0"/>
          </a:p>
        </p:txBody>
      </p:sp>
      <p:sp>
        <p:nvSpPr>
          <p:cNvPr id="35" name="Shape 29"/>
          <p:cNvSpPr/>
          <p:nvPr/>
        </p:nvSpPr>
        <p:spPr>
          <a:xfrm>
            <a:off x="6263640" y="3622738"/>
            <a:ext cx="384048" cy="38404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36" name="Text 30"/>
          <p:cNvSpPr txBox="1"/>
          <p:nvPr/>
        </p:nvSpPr>
        <p:spPr>
          <a:xfrm>
            <a:off x="6263640" y="362273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37" name="Text 31"/>
          <p:cNvSpPr txBox="1"/>
          <p:nvPr/>
        </p:nvSpPr>
        <p:spPr>
          <a:xfrm>
            <a:off x="6784848" y="3537585"/>
            <a:ext cx="4114800" cy="554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Ik ben / Ik voel me + nuances</a:t>
            </a:r>
            <a:endParaRPr lang="en-US" sz="1600" dirty="0"/>
          </a:p>
        </p:txBody>
      </p:sp>
      <p:sp>
        <p:nvSpPr>
          <p:cNvPr id="38" name="Text 32"/>
          <p:cNvSpPr txBox="1"/>
          <p:nvPr/>
        </p:nvSpPr>
        <p:spPr>
          <a:xfrm>
            <a:off x="10972800" y="3537585"/>
            <a:ext cx="667512" cy="554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10'</a:t>
            </a:r>
            <a:endParaRPr lang="en-US" sz="1500" dirty="0"/>
          </a:p>
        </p:txBody>
      </p:sp>
      <p:sp>
        <p:nvSpPr>
          <p:cNvPr id="39" name="Shape 33"/>
          <p:cNvSpPr/>
          <p:nvPr/>
        </p:nvSpPr>
        <p:spPr>
          <a:xfrm>
            <a:off x="6263640" y="4177093"/>
            <a:ext cx="384048" cy="38404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40" name="Text 34"/>
          <p:cNvSpPr txBox="1"/>
          <p:nvPr/>
        </p:nvSpPr>
        <p:spPr>
          <a:xfrm>
            <a:off x="6263640" y="4177093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41" name="Text 35"/>
          <p:cNvSpPr txBox="1"/>
          <p:nvPr/>
        </p:nvSpPr>
        <p:spPr>
          <a:xfrm>
            <a:off x="6784848" y="4091940"/>
            <a:ext cx="4114800" cy="554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1.2.10 · Raad de emoties</a:t>
            </a:r>
            <a:endParaRPr lang="en-US" sz="1600" dirty="0"/>
          </a:p>
        </p:txBody>
      </p:sp>
      <p:sp>
        <p:nvSpPr>
          <p:cNvPr id="42" name="Text 36"/>
          <p:cNvSpPr txBox="1"/>
          <p:nvPr/>
        </p:nvSpPr>
        <p:spPr>
          <a:xfrm>
            <a:off x="10972800" y="4091940"/>
            <a:ext cx="667512" cy="554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15'</a:t>
            </a:r>
            <a:endParaRPr lang="en-US" sz="1500" dirty="0"/>
          </a:p>
        </p:txBody>
      </p:sp>
      <p:sp>
        <p:nvSpPr>
          <p:cNvPr id="43" name="Shape 37"/>
          <p:cNvSpPr/>
          <p:nvPr/>
        </p:nvSpPr>
        <p:spPr>
          <a:xfrm>
            <a:off x="6263640" y="4731449"/>
            <a:ext cx="384048" cy="38404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44" name="Text 38"/>
          <p:cNvSpPr txBox="1"/>
          <p:nvPr/>
        </p:nvSpPr>
        <p:spPr>
          <a:xfrm>
            <a:off x="6263640" y="4731449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6</a:t>
            </a:r>
            <a:endParaRPr lang="en-US" sz="1300" dirty="0"/>
          </a:p>
        </p:txBody>
      </p:sp>
      <p:sp>
        <p:nvSpPr>
          <p:cNvPr id="45" name="Text 39"/>
          <p:cNvSpPr txBox="1"/>
          <p:nvPr/>
        </p:nvSpPr>
        <p:spPr>
          <a:xfrm>
            <a:off x="6784848" y="4646295"/>
            <a:ext cx="4114800" cy="554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EXTRA Intensiteit toevoegen</a:t>
            </a:r>
            <a:endParaRPr lang="en-US" sz="1600" dirty="0"/>
          </a:p>
        </p:txBody>
      </p:sp>
      <p:sp>
        <p:nvSpPr>
          <p:cNvPr id="46" name="Text 40"/>
          <p:cNvSpPr txBox="1"/>
          <p:nvPr/>
        </p:nvSpPr>
        <p:spPr>
          <a:xfrm>
            <a:off x="10972800" y="4646295"/>
            <a:ext cx="667512" cy="554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5'</a:t>
            </a:r>
            <a:endParaRPr lang="en-US" sz="1500" dirty="0"/>
          </a:p>
        </p:txBody>
      </p:sp>
      <p:sp>
        <p:nvSpPr>
          <p:cNvPr id="47" name="Shape 41"/>
          <p:cNvSpPr/>
          <p:nvPr/>
        </p:nvSpPr>
        <p:spPr>
          <a:xfrm>
            <a:off x="6263640" y="5285804"/>
            <a:ext cx="384048" cy="38404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48" name="Text 42"/>
          <p:cNvSpPr txBox="1"/>
          <p:nvPr/>
        </p:nvSpPr>
        <p:spPr>
          <a:xfrm>
            <a:off x="6263640" y="52858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7</a:t>
            </a:r>
            <a:endParaRPr lang="en-US" sz="1300" dirty="0"/>
          </a:p>
        </p:txBody>
      </p:sp>
      <p:sp>
        <p:nvSpPr>
          <p:cNvPr id="49" name="Text 43"/>
          <p:cNvSpPr txBox="1"/>
          <p:nvPr/>
        </p:nvSpPr>
        <p:spPr>
          <a:xfrm>
            <a:off x="6784848" y="5200650"/>
            <a:ext cx="4114800" cy="554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Grammaire : zich voelen</a:t>
            </a:r>
            <a:endParaRPr lang="en-US" sz="1600" dirty="0"/>
          </a:p>
        </p:txBody>
      </p:sp>
      <p:sp>
        <p:nvSpPr>
          <p:cNvPr id="50" name="Text 44"/>
          <p:cNvSpPr txBox="1"/>
          <p:nvPr/>
        </p:nvSpPr>
        <p:spPr>
          <a:xfrm>
            <a:off x="10972800" y="5200650"/>
            <a:ext cx="667512" cy="554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15'</a:t>
            </a:r>
            <a:endParaRPr lang="en-US" sz="1500" dirty="0"/>
          </a:p>
        </p:txBody>
      </p:sp>
      <p:sp>
        <p:nvSpPr>
          <p:cNvPr id="51" name="Shape 45"/>
          <p:cNvSpPr/>
          <p:nvPr/>
        </p:nvSpPr>
        <p:spPr>
          <a:xfrm>
            <a:off x="6263640" y="5840158"/>
            <a:ext cx="384048" cy="38404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52" name="Text 46"/>
          <p:cNvSpPr txBox="1"/>
          <p:nvPr/>
        </p:nvSpPr>
        <p:spPr>
          <a:xfrm>
            <a:off x="6263640" y="584015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8</a:t>
            </a:r>
            <a:endParaRPr lang="en-US" sz="1300" dirty="0"/>
          </a:p>
        </p:txBody>
      </p:sp>
      <p:sp>
        <p:nvSpPr>
          <p:cNvPr id="53" name="Text 47"/>
          <p:cNvSpPr txBox="1"/>
          <p:nvPr/>
        </p:nvSpPr>
        <p:spPr>
          <a:xfrm>
            <a:off x="6784848" y="5755005"/>
            <a:ext cx="4114800" cy="554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Fiche 8 : jalons + jeu de rôle</a:t>
            </a:r>
            <a:endParaRPr lang="en-US" sz="1600" dirty="0"/>
          </a:p>
        </p:txBody>
      </p:sp>
      <p:sp>
        <p:nvSpPr>
          <p:cNvPr id="54" name="Text 48"/>
          <p:cNvSpPr txBox="1"/>
          <p:nvPr/>
        </p:nvSpPr>
        <p:spPr>
          <a:xfrm>
            <a:off x="10972800" y="5755005"/>
            <a:ext cx="667512" cy="554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15'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Échauffement : je ou u ?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874520" cy="310896"/>
          </a:xfrm>
          <a:prstGeom prst="roundRect">
            <a:avLst>
              <a:gd name="adj" fmla="val 14706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ÉCHAUFFEMENT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Rappel séance 4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481328"/>
            <a:ext cx="7178040" cy="615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Par deux · 5 min — Demandez des nouvelles à votre voisin (</a:t>
            </a:r>
            <a:r>
              <a:rPr lang="en-US" sz="1600" b="1" i="1" dirty="0">
                <a:solidFill>
                  <a:schemeClr val="accent5"/>
                </a:solidFill>
              </a:rPr>
              <a:t>je</a:t>
            </a:r>
            <a:r>
              <a:rPr lang="en-US" sz="1600" i="1" dirty="0">
                <a:solidFill>
                  <a:schemeClr val="accent5"/>
                </a:solidFill>
              </a:rPr>
              <a:t>), puis à votre professeur (</a:t>
            </a:r>
            <a:r>
              <a:rPr lang="en-US" sz="1600" b="1" i="1" dirty="0">
                <a:solidFill>
                  <a:schemeClr val="accent5"/>
                </a:solidFill>
              </a:rPr>
              <a:t>u</a:t>
            </a:r>
            <a:r>
              <a:rPr lang="en-US" sz="1600" i="1" dirty="0">
                <a:solidFill>
                  <a:schemeClr val="accent5"/>
                </a:solidFill>
              </a:rPr>
              <a:t>). Répondez avec </a:t>
            </a:r>
            <a:r>
              <a:rPr lang="en-US" sz="1600" b="1" i="1" dirty="0">
                <a:solidFill>
                  <a:schemeClr val="accent5"/>
                </a:solidFill>
              </a:rPr>
              <a:t>une raison</a:t>
            </a:r>
            <a:r>
              <a:rPr lang="en-US" sz="1600" i="1" dirty="0">
                <a:solidFill>
                  <a:schemeClr val="accent5"/>
                </a:solidFill>
              </a:rPr>
              <a:t> : </a:t>
            </a:r>
            <a:r>
              <a:rPr lang="en-US" sz="1600" i="1" dirty="0">
                <a:solidFill>
                  <a:schemeClr val="accent5"/>
                </a:solidFill>
              </a:rPr>
              <a:t>want…</a:t>
            </a:r>
            <a:endParaRPr lang="en-US" sz="1600" dirty="0"/>
          </a:p>
        </p:txBody>
      </p:sp>
      <p:sp>
        <p:nvSpPr>
          <p:cNvPr id="7" name="exercise"/>
          <p:cNvSpPr txBox="1"/>
          <p:nvPr/>
        </p:nvSpPr>
        <p:spPr>
          <a:xfrm>
            <a:off x="548640" y="2170176"/>
            <a:ext cx="7178040" cy="412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Avec votre voisin : je / jij</a:t>
            </a:r>
            <a:endParaRPr lang="en-US" sz="2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400" dirty="0">
                <a:solidFill>
                  <a:schemeClr val="tx1"/>
                </a:solidFill>
              </a:rPr>
              <a:t>A : </a:t>
            </a:r>
            <a:r>
              <a:rPr lang="en-US" sz="2400" i="1" dirty="0">
                <a:solidFill>
                  <a:schemeClr val="tx1"/>
                </a:solidFill>
              </a:rPr>
              <a:t>Hoi Lisa, hoe gaat het met </a:t>
            </a:r>
            <a:r>
              <a:rPr lang="en-US" sz="2400" b="1" i="1" dirty="0">
                <a:solidFill>
                  <a:schemeClr val="tx1"/>
                </a:solidFill>
              </a:rPr>
              <a:t>je</a:t>
            </a:r>
            <a:r>
              <a:rPr lang="en-US" sz="2400" i="1" dirty="0">
                <a:solidFill>
                  <a:schemeClr val="tx1"/>
                </a:solidFill>
              </a:rPr>
              <a:t>?</a:t>
            </a:r>
            <a:endParaRPr lang="en-US" sz="2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400" dirty="0">
                <a:solidFill>
                  <a:schemeClr val="tx1"/>
                </a:solidFill>
              </a:rPr>
              <a:t>B : </a:t>
            </a:r>
            <a:r>
              <a:rPr lang="en-US" sz="2400" i="1" dirty="0">
                <a:solidFill>
                  <a:schemeClr val="tx1"/>
                </a:solidFill>
              </a:rPr>
              <a:t>Goed, maar ik ben een beetje moe, </a:t>
            </a:r>
            <a:r>
              <a:rPr lang="en-US" sz="2400" b="1" i="1" dirty="0">
                <a:solidFill>
                  <a:schemeClr val="tx1"/>
                </a:solidFill>
              </a:rPr>
              <a:t>want</a:t>
            </a:r>
            <a:r>
              <a:rPr lang="en-US" sz="2400" i="1" dirty="0">
                <a:solidFill>
                  <a:schemeClr val="tx1"/>
                </a:solidFill>
              </a:rPr>
              <a:t> ik heb veel werk. En met </a:t>
            </a:r>
            <a:r>
              <a:rPr lang="en-US" sz="2400" b="1" i="1" dirty="0">
                <a:solidFill>
                  <a:schemeClr val="tx1"/>
                </a:solidFill>
              </a:rPr>
              <a:t>jou</a:t>
            </a:r>
            <a:r>
              <a:rPr lang="en-US" sz="2400" i="1" dirty="0">
                <a:solidFill>
                  <a:schemeClr val="tx1"/>
                </a:solidFill>
              </a:rPr>
              <a:t>?</a:t>
            </a:r>
            <a:endParaRPr lang="en-US" sz="2400" dirty="0"/>
          </a:p>
          <a:p>
            <a:pPr indent="0" marL="0">
              <a:spcBef>
                <a:spcPts val="800"/>
              </a:spcBef>
              <a:spcAft>
                <a:spcPts val="6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Avec le professeur : u</a:t>
            </a:r>
            <a:endParaRPr lang="en-US" sz="2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400" dirty="0">
                <a:solidFill>
                  <a:schemeClr val="tx1"/>
                </a:solidFill>
              </a:rPr>
              <a:t>A : </a:t>
            </a:r>
            <a:r>
              <a:rPr lang="en-US" sz="2400" i="1" dirty="0">
                <a:solidFill>
                  <a:schemeClr val="tx1"/>
                </a:solidFill>
              </a:rPr>
              <a:t>Goedenavond, mevrouw. Hoe gaat het met </a:t>
            </a:r>
            <a:r>
              <a:rPr lang="en-US" sz="2400" b="1" i="1" dirty="0">
                <a:solidFill>
                  <a:schemeClr val="tx1"/>
                </a:solidFill>
              </a:rPr>
              <a:t>u</a:t>
            </a:r>
            <a:r>
              <a:rPr lang="en-US" sz="2400" i="1" dirty="0">
                <a:solidFill>
                  <a:schemeClr val="tx1"/>
                </a:solidFill>
              </a:rPr>
              <a:t>?</a:t>
            </a:r>
            <a:endParaRPr lang="en-US" sz="2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400" dirty="0">
                <a:solidFill>
                  <a:schemeClr val="tx1"/>
                </a:solidFill>
              </a:rPr>
              <a:t>B : </a:t>
            </a:r>
            <a:r>
              <a:rPr lang="en-US" sz="2400" i="1" dirty="0">
                <a:solidFill>
                  <a:schemeClr val="tx1"/>
                </a:solidFill>
              </a:rPr>
              <a:t>Prima, dank </a:t>
            </a:r>
            <a:r>
              <a:rPr lang="en-US" sz="2400" b="1" i="1" dirty="0">
                <a:solidFill>
                  <a:schemeClr val="tx1"/>
                </a:solidFill>
              </a:rPr>
              <a:t>u</a:t>
            </a:r>
            <a:r>
              <a:rPr lang="en-US" sz="2400" i="1" dirty="0">
                <a:solidFill>
                  <a:schemeClr val="tx1"/>
                </a:solidFill>
              </a:rPr>
              <a:t>. En met </a:t>
            </a:r>
            <a:r>
              <a:rPr lang="en-US" sz="2400" b="1" i="1" dirty="0">
                <a:solidFill>
                  <a:schemeClr val="tx1"/>
                </a:solidFill>
              </a:rPr>
              <a:t>u</a:t>
            </a:r>
            <a:r>
              <a:rPr lang="en-US" sz="2400" i="1" dirty="0">
                <a:solidFill>
                  <a:schemeClr val="tx1"/>
                </a:solidFill>
              </a:rPr>
              <a:t>?</a:t>
            </a:r>
            <a:endParaRPr lang="en-US" sz="2400" dirty="0"/>
          </a:p>
        </p:txBody>
      </p:sp>
      <p:pic>
        <p:nvPicPr>
          <p:cNvPr id="8" name="illustration" descr="Illustration du syllabu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18038" y="1481328"/>
            <a:ext cx="2450955" cy="2011680"/>
          </a:xfrm>
          <a:prstGeom prst="rect">
            <a:avLst/>
          </a:prstGeom>
          <a:effectLst>
            <a:outerShdw sx="100000" sy="100000" kx="0" ky="0" algn="bl" rotWithShape="0" blurRad="101600" dist="25400" dir="3600000">
              <a:srgbClr val="000000">
                <a:alpha val="18000"/>
              </a:srgbClr>
            </a:outerShdw>
          </a:effectLst>
        </p:spPr>
      </p:pic>
      <p:sp>
        <p:nvSpPr>
          <p:cNvPr id="9" name="aside"/>
          <p:cNvSpPr/>
          <p:nvPr/>
        </p:nvSpPr>
        <p:spPr>
          <a:xfrm>
            <a:off x="8046720" y="3721608"/>
            <a:ext cx="3593592" cy="2569464"/>
          </a:xfrm>
          <a:prstGeom prst="roundRect">
            <a:avLst>
              <a:gd name="adj" fmla="val 2847"/>
            </a:avLst>
          </a:prstGeom>
          <a:solidFill>
            <a:schemeClr val="accent5">
              <a:alpha val="10000"/>
            </a:schemeClr>
          </a:solidFill>
          <a:ln w="12700">
            <a:solidFill>
              <a:schemeClr val="accent5">
                <a:alpha val="60000"/>
              </a:schemeClr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3904488"/>
            <a:ext cx="292608" cy="292608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8613648" y="3877056"/>
            <a:ext cx="2862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chemeClr val="accent5"/>
                </a:solidFill>
              </a:rPr>
              <a:t>ATTENDU</a:t>
            </a:r>
            <a:endParaRPr lang="en-US" sz="1400" dirty="0"/>
          </a:p>
        </p:txBody>
      </p:sp>
      <p:sp>
        <p:nvSpPr>
          <p:cNvPr id="12" name="Text 7"/>
          <p:cNvSpPr txBox="1"/>
          <p:nvPr/>
        </p:nvSpPr>
        <p:spPr>
          <a:xfrm>
            <a:off x="8211312" y="4315968"/>
            <a:ext cx="3264408" cy="1837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je / jij</a:t>
            </a:r>
            <a:r>
              <a:rPr lang="en-US" sz="1800" dirty="0">
                <a:solidFill>
                  <a:schemeClr val="tx1"/>
                </a:solidFill>
              </a:rPr>
              <a:t> : ami, collègue, voisin.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u</a:t>
            </a:r>
            <a:r>
              <a:rPr lang="en-US" sz="1800" dirty="0">
                <a:solidFill>
                  <a:schemeClr val="tx1"/>
                </a:solidFill>
              </a:rPr>
              <a:t> : supérieur, inconnu, client.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want</a:t>
            </a:r>
            <a:r>
              <a:rPr lang="en-US" sz="1800" dirty="0">
                <a:solidFill>
                  <a:schemeClr val="tx1"/>
                </a:solidFill>
              </a:rPr>
              <a:t> + ordre normal : </a:t>
            </a:r>
            <a:r>
              <a:rPr lang="en-US" sz="1800" i="1" dirty="0">
                <a:solidFill>
                  <a:schemeClr val="tx1"/>
                </a:solidFill>
              </a:rPr>
              <a:t>want ik </a:t>
            </a:r>
            <a:r>
              <a:rPr lang="en-US" sz="1800" b="1" i="1" dirty="0">
                <a:solidFill>
                  <a:schemeClr val="tx1"/>
                </a:solidFill>
              </a:rPr>
              <a:t>heb</a:t>
            </a:r>
            <a:r>
              <a:rPr lang="en-US" sz="1800" i="1" dirty="0">
                <a:solidFill>
                  <a:schemeClr val="tx1"/>
                </a:solidFill>
              </a:rPr>
              <a:t>…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1.2.7 Hoe gaat het? — chrono (20 amorces)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280160" cy="310896"/>
          </a:xfrm>
          <a:prstGeom prst="roundRect">
            <a:avLst>
              <a:gd name="adj" fmla="val 1470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COUCHE 3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27–28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481328"/>
            <a:ext cx="11091672" cy="615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Par deux · 15 min — Pliez la colonne de droite. Votre voisin chronomètre : 20 réponses à voix haute, sans vous arrêter. Dépliez, corrigez, 2e passage. Notez vos temps et votre gain.</a:t>
            </a:r>
            <a:endParaRPr lang="en-US" sz="1600" dirty="0"/>
          </a:p>
        </p:txBody>
      </p:sp>
      <p:sp>
        <p:nvSpPr>
          <p:cNvPr id="7" name="exercise"/>
          <p:cNvSpPr txBox="1"/>
          <p:nvPr/>
        </p:nvSpPr>
        <p:spPr>
          <a:xfrm>
            <a:off x="548640" y="2170176"/>
            <a:ext cx="5362956" cy="412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1.  </a:t>
            </a:r>
            <a:r>
              <a:rPr lang="en-US" sz="1600" dirty="0">
                <a:solidFill>
                  <a:schemeClr val="tx1"/>
                </a:solidFill>
              </a:rPr>
              <a:t>Comment ça va ? → </a:t>
            </a:r>
            <a:r>
              <a:rPr lang="en-US" sz="1600" dirty="0">
                <a:solidFill>
                  <a:schemeClr val="accent5"/>
                </a:solidFill>
              </a:rPr>
              <a:t>…………………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2.  </a:t>
            </a:r>
            <a:r>
              <a:rPr lang="en-US" sz="1600" dirty="0">
                <a:solidFill>
                  <a:schemeClr val="tx1"/>
                </a:solidFill>
              </a:rPr>
              <a:t>Comment vas-tu ? → </a:t>
            </a:r>
            <a:r>
              <a:rPr lang="en-US" sz="1600" dirty="0">
                <a:solidFill>
                  <a:schemeClr val="accent5"/>
                </a:solidFill>
              </a:rPr>
              <a:t>………………………………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3.  </a:t>
            </a:r>
            <a:r>
              <a:rPr lang="en-US" sz="1600" dirty="0">
                <a:solidFill>
                  <a:schemeClr val="tx1"/>
                </a:solidFill>
              </a:rPr>
              <a:t>Comment allez-vous ? → </a:t>
            </a:r>
            <a:r>
              <a:rPr lang="en-US" sz="1600" dirty="0">
                <a:solidFill>
                  <a:schemeClr val="accent5"/>
                </a:solidFill>
              </a:rPr>
              <a:t>……………………………………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4.  </a:t>
            </a:r>
            <a:r>
              <a:rPr lang="en-US" sz="1600" dirty="0">
                <a:solidFill>
                  <a:schemeClr val="tx1"/>
                </a:solidFill>
              </a:rPr>
              <a:t>Ça va ? (rapide) → </a:t>
            </a:r>
            <a:r>
              <a:rPr lang="en-US" sz="1600" dirty="0">
                <a:solidFill>
                  <a:schemeClr val="accent5"/>
                </a:solidFill>
              </a:rPr>
              <a:t>…………………………………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5.  </a:t>
            </a:r>
            <a:r>
              <a:rPr lang="en-US" sz="1600" dirty="0">
                <a:solidFill>
                  <a:schemeClr val="tx1"/>
                </a:solidFill>
              </a:rPr>
              <a:t>Ça va bien, merci. → </a:t>
            </a:r>
            <a:r>
              <a:rPr lang="en-US" sz="1600" dirty="0">
                <a:solidFill>
                  <a:schemeClr val="accent5"/>
                </a:solidFill>
              </a:rPr>
              <a:t>…………………………………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6.  </a:t>
            </a:r>
            <a:r>
              <a:rPr lang="en-US" sz="1600" dirty="0">
                <a:solidFill>
                  <a:schemeClr val="tx1"/>
                </a:solidFill>
              </a:rPr>
              <a:t>Et toi ? → </a:t>
            </a:r>
            <a:r>
              <a:rPr lang="en-US" sz="1600" dirty="0">
                <a:solidFill>
                  <a:schemeClr val="accent5"/>
                </a:solidFill>
              </a:rPr>
              <a:t>………………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7.  </a:t>
            </a:r>
            <a:r>
              <a:rPr lang="en-US" sz="1600" dirty="0">
                <a:solidFill>
                  <a:schemeClr val="tx1"/>
                </a:solidFill>
              </a:rPr>
              <a:t>Et vous ? → </a:t>
            </a:r>
            <a:r>
              <a:rPr lang="en-US" sz="1600" dirty="0">
                <a:solidFill>
                  <a:schemeClr val="accent5"/>
                </a:solidFill>
              </a:rPr>
              <a:t>……………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8.  </a:t>
            </a:r>
            <a:r>
              <a:rPr lang="en-US" sz="1600" dirty="0">
                <a:solidFill>
                  <a:schemeClr val="tx1"/>
                </a:solidFill>
              </a:rPr>
              <a:t>Moi aussi, merci ! → </a:t>
            </a:r>
            <a:r>
              <a:rPr lang="en-US" sz="1600" dirty="0">
                <a:solidFill>
                  <a:schemeClr val="accent5"/>
                </a:solidFill>
              </a:rPr>
              <a:t>…………………………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9.  </a:t>
            </a:r>
            <a:r>
              <a:rPr lang="en-US" sz="1600" dirty="0">
                <a:solidFill>
                  <a:schemeClr val="tx1"/>
                </a:solidFill>
              </a:rPr>
              <a:t>Je suis un peu fatigué(e). → </a:t>
            </a:r>
            <a:r>
              <a:rPr lang="en-US" sz="1600" dirty="0">
                <a:solidFill>
                  <a:schemeClr val="accent5"/>
                </a:solidFill>
              </a:rPr>
              <a:t>………………………………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10.  </a:t>
            </a:r>
            <a:r>
              <a:rPr lang="en-US" sz="1600" dirty="0">
                <a:solidFill>
                  <a:schemeClr val="tx1"/>
                </a:solidFill>
              </a:rPr>
              <a:t>Je me sens très stressé(e). → </a:t>
            </a:r>
            <a:r>
              <a:rPr lang="en-US" sz="1600" dirty="0">
                <a:solidFill>
                  <a:schemeClr val="accent5"/>
                </a:solidFill>
              </a:rPr>
              <a:t>……………………………………</a:t>
            </a:r>
            <a:endParaRPr lang="en-US" sz="1600" dirty="0"/>
          </a:p>
        </p:txBody>
      </p:sp>
      <p:sp>
        <p:nvSpPr>
          <p:cNvPr id="8" name="exercise"/>
          <p:cNvSpPr txBox="1"/>
          <p:nvPr/>
        </p:nvSpPr>
        <p:spPr>
          <a:xfrm>
            <a:off x="6277356" y="2170176"/>
            <a:ext cx="5362956" cy="412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11.  </a:t>
            </a:r>
            <a:r>
              <a:rPr lang="en-US" sz="1600" dirty="0">
                <a:solidFill>
                  <a:schemeClr val="tx1"/>
                </a:solidFill>
              </a:rPr>
              <a:t>Très occupé(e), j’ai beaucoup de travail. → </a:t>
            </a:r>
            <a:r>
              <a:rPr lang="en-US" sz="1600" dirty="0">
                <a:solidFill>
                  <a:schemeClr val="accent5"/>
                </a:solidFill>
              </a:rPr>
              <a:t>……………………………………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12.  </a:t>
            </a:r>
            <a:r>
              <a:rPr lang="en-US" sz="1600" dirty="0">
                <a:solidFill>
                  <a:schemeClr val="tx1"/>
                </a:solidFill>
              </a:rPr>
              <a:t>Ça pourrait aller mieux. → </a:t>
            </a:r>
            <a:r>
              <a:rPr lang="en-US" sz="1600" dirty="0">
                <a:solidFill>
                  <a:schemeClr val="accent5"/>
                </a:solidFill>
              </a:rPr>
              <a:t>……………………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13.  </a:t>
            </a:r>
            <a:r>
              <a:rPr lang="en-US" sz="1600" dirty="0">
                <a:solidFill>
                  <a:schemeClr val="tx1"/>
                </a:solidFill>
              </a:rPr>
              <a:t>Ce n’est pas facile. → </a:t>
            </a:r>
            <a:r>
              <a:rPr lang="en-US" sz="1600" dirty="0">
                <a:solidFill>
                  <a:schemeClr val="accent5"/>
                </a:solidFill>
              </a:rPr>
              <a:t>…………………………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14.  </a:t>
            </a:r>
            <a:r>
              <a:rPr lang="en-US" sz="1600" dirty="0">
                <a:solidFill>
                  <a:schemeClr val="tx1"/>
                </a:solidFill>
              </a:rPr>
              <a:t>Excellent, merci ! (formel) → </a:t>
            </a:r>
            <a:r>
              <a:rPr lang="en-US" sz="1600" dirty="0">
                <a:solidFill>
                  <a:schemeClr val="accent5"/>
                </a:solidFill>
              </a:rPr>
              <a:t>…………………………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15.  </a:t>
            </a:r>
            <a:r>
              <a:rPr lang="en-US" sz="1600" dirty="0">
                <a:solidFill>
                  <a:schemeClr val="tx1"/>
                </a:solidFill>
              </a:rPr>
              <a:t>Je suis content(e), j’ai une bonne nouvelle. → </a:t>
            </a:r>
            <a:r>
              <a:rPr lang="en-US" sz="1600" dirty="0">
                <a:solidFill>
                  <a:schemeClr val="accent5"/>
                </a:solidFill>
              </a:rPr>
              <a:t>……………………………………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16.  </a:t>
            </a:r>
            <a:r>
              <a:rPr lang="en-US" sz="1600" dirty="0">
                <a:solidFill>
                  <a:schemeClr val="tx1"/>
                </a:solidFill>
              </a:rPr>
              <a:t>Assez nerveux/se, j’ai un examen demain. → </a:t>
            </a:r>
            <a:r>
              <a:rPr lang="en-US" sz="1600" dirty="0">
                <a:solidFill>
                  <a:schemeClr val="accent5"/>
                </a:solidFill>
              </a:rPr>
              <a:t>……………………………………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17.  </a:t>
            </a:r>
            <a:r>
              <a:rPr lang="en-US" sz="1600" dirty="0">
                <a:solidFill>
                  <a:schemeClr val="tx1"/>
                </a:solidFill>
              </a:rPr>
              <a:t>Je me sens détendu(e), j’ai congé. → </a:t>
            </a:r>
            <a:r>
              <a:rPr lang="en-US" sz="1600" dirty="0">
                <a:solidFill>
                  <a:schemeClr val="accent5"/>
                </a:solidFill>
              </a:rPr>
              <a:t>……………………………………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18.  </a:t>
            </a:r>
            <a:r>
              <a:rPr lang="en-US" sz="1600" dirty="0">
                <a:solidFill>
                  <a:schemeClr val="tx1"/>
                </a:solidFill>
              </a:rPr>
              <a:t>Pas très bien. → </a:t>
            </a:r>
            <a:r>
              <a:rPr lang="en-US" sz="1600" dirty="0">
                <a:solidFill>
                  <a:schemeClr val="accent5"/>
                </a:solidFill>
              </a:rPr>
              <a:t>…………………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19.  </a:t>
            </a:r>
            <a:r>
              <a:rPr lang="en-US" sz="1600" dirty="0">
                <a:solidFill>
                  <a:schemeClr val="tx1"/>
                </a:solidFill>
              </a:rPr>
              <a:t>Ça va (assez bien). → </a:t>
            </a:r>
            <a:r>
              <a:rPr lang="en-US" sz="1600" dirty="0">
                <a:solidFill>
                  <a:schemeClr val="accent5"/>
                </a:solidFill>
              </a:rPr>
              <a:t>…………………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20.  </a:t>
            </a:r>
            <a:r>
              <a:rPr lang="en-US" sz="1600" dirty="0">
                <a:solidFill>
                  <a:schemeClr val="tx1"/>
                </a:solidFill>
              </a:rPr>
              <a:t>Extrêmement fatigué(e), je n’ai pas bien dormi. → </a:t>
            </a:r>
            <a:r>
              <a:rPr lang="en-US" sz="1600" dirty="0">
                <a:solidFill>
                  <a:schemeClr val="accent5"/>
                </a:solidFill>
              </a:rPr>
              <a:t>……………………………………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1.2.7 Hoe gaat het? — chrono (20 amorces)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280160" cy="310896"/>
          </a:xfrm>
          <a:prstGeom prst="roundRect">
            <a:avLst>
              <a:gd name="adj" fmla="val 1470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COUCHE 3</a:t>
            </a:r>
            <a:endParaRPr lang="en-US" sz="1200" dirty="0"/>
          </a:p>
        </p:txBody>
      </p:sp>
      <p:sp>
        <p:nvSpPr>
          <p:cNvPr id="4" name="tag"/>
          <p:cNvSpPr/>
          <p:nvPr/>
        </p:nvSpPr>
        <p:spPr>
          <a:xfrm>
            <a:off x="1938528" y="237744"/>
            <a:ext cx="1760220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✓ CORRECTIE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27–28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481328"/>
            <a:ext cx="11091672" cy="615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Par deux · 15 min — Pliez la colonne de droite. Votre voisin chronomètre : 20 réponses à voix haute, sans vous arrêter. Dépliez, corrigez, 2e passage. Notez vos temps et votre gain.</a:t>
            </a:r>
            <a:endParaRPr lang="en-US" sz="1600" dirty="0"/>
          </a:p>
        </p:txBody>
      </p:sp>
      <p:sp>
        <p:nvSpPr>
          <p:cNvPr id="8" name="exercise"/>
          <p:cNvSpPr txBox="1"/>
          <p:nvPr/>
        </p:nvSpPr>
        <p:spPr>
          <a:xfrm>
            <a:off x="548640" y="2170176"/>
            <a:ext cx="5362956" cy="412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1.  </a:t>
            </a:r>
            <a:r>
              <a:rPr lang="en-US" sz="1600" dirty="0">
                <a:solidFill>
                  <a:schemeClr val="tx1"/>
                </a:solidFill>
              </a:rPr>
              <a:t>Comment ça va ? → </a:t>
            </a:r>
            <a:r>
              <a:rPr lang="en-US" sz="1600" b="1" dirty="0">
                <a:solidFill>
                  <a:schemeClr val="accent3"/>
                </a:solidFill>
              </a:rPr>
              <a:t>Hoe gaat het?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2.  </a:t>
            </a:r>
            <a:r>
              <a:rPr lang="en-US" sz="1600" dirty="0">
                <a:solidFill>
                  <a:schemeClr val="tx1"/>
                </a:solidFill>
              </a:rPr>
              <a:t>Comment vas-tu ? → </a:t>
            </a:r>
            <a:r>
              <a:rPr lang="en-US" sz="1600" b="1" dirty="0">
                <a:solidFill>
                  <a:schemeClr val="accent3"/>
                </a:solidFill>
              </a:rPr>
              <a:t>Hoe gaat het met jou?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3.  </a:t>
            </a:r>
            <a:r>
              <a:rPr lang="en-US" sz="1600" dirty="0">
                <a:solidFill>
                  <a:schemeClr val="tx1"/>
                </a:solidFill>
              </a:rPr>
              <a:t>Comment allez-vous ? → </a:t>
            </a:r>
            <a:r>
              <a:rPr lang="en-US" sz="1600" b="1" dirty="0">
                <a:solidFill>
                  <a:schemeClr val="accent3"/>
                </a:solidFill>
              </a:rPr>
              <a:t>Hoe gaat het met u? / Hoe maakt u het?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4.  </a:t>
            </a:r>
            <a:r>
              <a:rPr lang="en-US" sz="1600" dirty="0">
                <a:solidFill>
                  <a:schemeClr val="tx1"/>
                </a:solidFill>
              </a:rPr>
              <a:t>Ça va ? (rapide) → </a:t>
            </a:r>
            <a:r>
              <a:rPr lang="en-US" sz="1600" b="1" dirty="0">
                <a:solidFill>
                  <a:schemeClr val="accent3"/>
                </a:solidFill>
              </a:rPr>
              <a:t>Gaat het? / Alles goed?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5.  </a:t>
            </a:r>
            <a:r>
              <a:rPr lang="en-US" sz="1600" dirty="0">
                <a:solidFill>
                  <a:schemeClr val="tx1"/>
                </a:solidFill>
              </a:rPr>
              <a:t>Ça va bien, merci. → </a:t>
            </a:r>
            <a:r>
              <a:rPr lang="en-US" sz="1600" b="1" dirty="0">
                <a:solidFill>
                  <a:schemeClr val="accent3"/>
                </a:solidFill>
              </a:rPr>
              <a:t>Het gaat goed, dank je.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6.  </a:t>
            </a:r>
            <a:r>
              <a:rPr lang="en-US" sz="1600" dirty="0">
                <a:solidFill>
                  <a:schemeClr val="tx1"/>
                </a:solidFill>
              </a:rPr>
              <a:t>Et toi ? → </a:t>
            </a:r>
            <a:r>
              <a:rPr lang="en-US" sz="1600" b="1" dirty="0">
                <a:solidFill>
                  <a:schemeClr val="accent3"/>
                </a:solidFill>
              </a:rPr>
              <a:t>En met jou?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7.  </a:t>
            </a:r>
            <a:r>
              <a:rPr lang="en-US" sz="1600" dirty="0">
                <a:solidFill>
                  <a:schemeClr val="tx1"/>
                </a:solidFill>
              </a:rPr>
              <a:t>Et vous ? → </a:t>
            </a:r>
            <a:r>
              <a:rPr lang="en-US" sz="1600" b="1" dirty="0">
                <a:solidFill>
                  <a:schemeClr val="accent3"/>
                </a:solidFill>
              </a:rPr>
              <a:t>En met u?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8.  </a:t>
            </a:r>
            <a:r>
              <a:rPr lang="en-US" sz="1600" dirty="0">
                <a:solidFill>
                  <a:schemeClr val="tx1"/>
                </a:solidFill>
              </a:rPr>
              <a:t>Moi aussi, merci ! → </a:t>
            </a:r>
            <a:r>
              <a:rPr lang="en-US" sz="1600" b="1" dirty="0">
                <a:solidFill>
                  <a:schemeClr val="accent3"/>
                </a:solidFill>
              </a:rPr>
              <a:t>Ook goed, bedankt!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9.  </a:t>
            </a:r>
            <a:r>
              <a:rPr lang="en-US" sz="1600" dirty="0">
                <a:solidFill>
                  <a:schemeClr val="tx1"/>
                </a:solidFill>
              </a:rPr>
              <a:t>Je suis un peu fatigué(e). → </a:t>
            </a:r>
            <a:r>
              <a:rPr lang="en-US" sz="1600" b="1" dirty="0">
                <a:solidFill>
                  <a:schemeClr val="accent3"/>
                </a:solidFill>
              </a:rPr>
              <a:t>Ik ben een beetje moe.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10.  </a:t>
            </a:r>
            <a:r>
              <a:rPr lang="en-US" sz="1600" dirty="0">
                <a:solidFill>
                  <a:schemeClr val="tx1"/>
                </a:solidFill>
              </a:rPr>
              <a:t>Je me sens très stressé(e). → </a:t>
            </a:r>
            <a:r>
              <a:rPr lang="en-US" sz="1600" b="1" dirty="0">
                <a:solidFill>
                  <a:schemeClr val="accent3"/>
                </a:solidFill>
              </a:rPr>
              <a:t>Ik voel me heel gestrest.</a:t>
            </a:r>
            <a:endParaRPr lang="en-US" sz="1600" dirty="0"/>
          </a:p>
        </p:txBody>
      </p:sp>
      <p:sp>
        <p:nvSpPr>
          <p:cNvPr id="9" name="exercise"/>
          <p:cNvSpPr txBox="1"/>
          <p:nvPr/>
        </p:nvSpPr>
        <p:spPr>
          <a:xfrm>
            <a:off x="6277356" y="2170176"/>
            <a:ext cx="5362956" cy="412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11.  </a:t>
            </a:r>
            <a:r>
              <a:rPr lang="en-US" sz="1600" dirty="0">
                <a:solidFill>
                  <a:schemeClr val="tx1"/>
                </a:solidFill>
              </a:rPr>
              <a:t>Très occupé(e), j’ai beaucoup de travail. → </a:t>
            </a:r>
            <a:r>
              <a:rPr lang="en-US" sz="1600" b="1" dirty="0">
                <a:solidFill>
                  <a:schemeClr val="accent3"/>
                </a:solidFill>
              </a:rPr>
              <a:t>Heel druk, want ik heb veel werk.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12.  </a:t>
            </a:r>
            <a:r>
              <a:rPr lang="en-US" sz="1600" dirty="0">
                <a:solidFill>
                  <a:schemeClr val="tx1"/>
                </a:solidFill>
              </a:rPr>
              <a:t>Ça pourrait aller mieux. → </a:t>
            </a:r>
            <a:r>
              <a:rPr lang="en-US" sz="1600" b="1" dirty="0">
                <a:solidFill>
                  <a:schemeClr val="accent3"/>
                </a:solidFill>
              </a:rPr>
              <a:t>Het kan beter.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13.  </a:t>
            </a:r>
            <a:r>
              <a:rPr lang="en-US" sz="1600" dirty="0">
                <a:solidFill>
                  <a:schemeClr val="tx1"/>
                </a:solidFill>
              </a:rPr>
              <a:t>Ce n’est pas facile. → </a:t>
            </a:r>
            <a:r>
              <a:rPr lang="en-US" sz="1600" b="1" dirty="0">
                <a:solidFill>
                  <a:schemeClr val="accent3"/>
                </a:solidFill>
              </a:rPr>
              <a:t>Het valt niet mee.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14.  </a:t>
            </a:r>
            <a:r>
              <a:rPr lang="en-US" sz="1600" dirty="0">
                <a:solidFill>
                  <a:schemeClr val="tx1"/>
                </a:solidFill>
              </a:rPr>
              <a:t>Excellent, merci ! (formel) → </a:t>
            </a:r>
            <a:r>
              <a:rPr lang="en-US" sz="1600" b="1" dirty="0">
                <a:solidFill>
                  <a:schemeClr val="accent3"/>
                </a:solidFill>
              </a:rPr>
              <a:t>Uitstekend, dank u!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15.  </a:t>
            </a:r>
            <a:r>
              <a:rPr lang="en-US" sz="1600" dirty="0">
                <a:solidFill>
                  <a:schemeClr val="tx1"/>
                </a:solidFill>
              </a:rPr>
              <a:t>Je suis content(e), j’ai une bonne nouvelle. → </a:t>
            </a:r>
            <a:r>
              <a:rPr lang="en-US" sz="1600" b="1" dirty="0">
                <a:solidFill>
                  <a:schemeClr val="accent3"/>
                </a:solidFill>
              </a:rPr>
              <a:t>Ik ben blij, want ik heb goed nieuws.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16.  </a:t>
            </a:r>
            <a:r>
              <a:rPr lang="en-US" sz="1600" dirty="0">
                <a:solidFill>
                  <a:schemeClr val="tx1"/>
                </a:solidFill>
              </a:rPr>
              <a:t>Assez nerveux/se, j’ai un examen demain. → </a:t>
            </a:r>
            <a:r>
              <a:rPr lang="en-US" sz="1600" b="1" dirty="0">
                <a:solidFill>
                  <a:schemeClr val="accent3"/>
                </a:solidFill>
              </a:rPr>
              <a:t>Ik ben vrij nerveus, want ik heb morgen een examen.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17.  </a:t>
            </a:r>
            <a:r>
              <a:rPr lang="en-US" sz="1600" dirty="0">
                <a:solidFill>
                  <a:schemeClr val="tx1"/>
                </a:solidFill>
              </a:rPr>
              <a:t>Je me sens détendu(e), j’ai congé. → </a:t>
            </a:r>
            <a:r>
              <a:rPr lang="en-US" sz="1600" b="1" dirty="0">
                <a:solidFill>
                  <a:schemeClr val="accent3"/>
                </a:solidFill>
              </a:rPr>
              <a:t>Ik voel me ontspannen, want ik heb vakantie.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18.  </a:t>
            </a:r>
            <a:r>
              <a:rPr lang="en-US" sz="1600" dirty="0">
                <a:solidFill>
                  <a:schemeClr val="tx1"/>
                </a:solidFill>
              </a:rPr>
              <a:t>Pas très bien. → </a:t>
            </a:r>
            <a:r>
              <a:rPr lang="en-US" sz="1600" b="1" dirty="0">
                <a:solidFill>
                  <a:schemeClr val="accent3"/>
                </a:solidFill>
              </a:rPr>
              <a:t>Niet zo goed.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19.  </a:t>
            </a:r>
            <a:r>
              <a:rPr lang="en-US" sz="1600" dirty="0">
                <a:solidFill>
                  <a:schemeClr val="tx1"/>
                </a:solidFill>
              </a:rPr>
              <a:t>Ça va (assez bien). → </a:t>
            </a:r>
            <a:r>
              <a:rPr lang="en-US" sz="1600" b="1" dirty="0">
                <a:solidFill>
                  <a:schemeClr val="accent3"/>
                </a:solidFill>
              </a:rPr>
              <a:t>Het gaat wel.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20.  </a:t>
            </a:r>
            <a:r>
              <a:rPr lang="en-US" sz="1600" dirty="0">
                <a:solidFill>
                  <a:schemeClr val="tx1"/>
                </a:solidFill>
              </a:rPr>
              <a:t>Extrêmement fatigué(e), je n’ai pas bien dormi. → </a:t>
            </a:r>
            <a:r>
              <a:rPr lang="en-US" sz="1600" b="1" dirty="0">
                <a:solidFill>
                  <a:schemeClr val="accent3"/>
                </a:solidFill>
              </a:rPr>
              <a:t>Ik ben ontzettend moe, want ik heb niet goed geslapen.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1.2.8 Hoe gaat het? — mini-dialogues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280160" cy="310896"/>
          </a:xfrm>
          <a:prstGeom prst="roundRect">
            <a:avLst>
              <a:gd name="adj" fmla="val 1470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COUCHE 3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29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481328"/>
            <a:ext cx="7178040" cy="371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Seul · 5 min — Complétez les mini-dialogues avec la bonne expression.</a:t>
            </a:r>
            <a:endParaRPr lang="en-US" sz="1600" dirty="0"/>
          </a:p>
        </p:txBody>
      </p:sp>
      <p:sp>
        <p:nvSpPr>
          <p:cNvPr id="7" name="exercise"/>
          <p:cNvSpPr txBox="1"/>
          <p:nvPr/>
        </p:nvSpPr>
        <p:spPr>
          <a:xfrm>
            <a:off x="548640" y="1926336"/>
            <a:ext cx="7178040" cy="4364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2300" b="1" dirty="0">
                <a:solidFill>
                  <a:schemeClr val="tx2"/>
                </a:solidFill>
              </a:rPr>
              <a:t>1.  </a:t>
            </a:r>
            <a:r>
              <a:rPr lang="en-US" sz="2300" dirty="0">
                <a:solidFill>
                  <a:schemeClr val="tx1"/>
                </a:solidFill>
              </a:rPr>
              <a:t>A : «</a:t>
            </a:r>
            <a:r>
              <a:rPr lang="en-US" sz="2300" dirty="0">
                <a:solidFill>
                  <a:schemeClr val="accent5"/>
                </a:solidFill>
              </a:rPr>
              <a:t>…………………</a:t>
            </a:r>
            <a:r>
              <a:rPr lang="en-US" sz="2300" dirty="0">
                <a:solidFill>
                  <a:schemeClr val="tx1"/>
                </a:solidFill>
              </a:rPr>
              <a:t>?» → B : «Goed, dank je!» </a:t>
            </a:r>
            <a:r>
              <a:rPr lang="en-US" sz="2300" i="1" dirty="0">
                <a:solidFill>
                  <a:schemeClr val="tx1"/>
                </a:solidFill>
              </a:rPr>
              <a:t>(Comment ça va ?)</a:t>
            </a:r>
            <a:endParaRPr lang="en-US" sz="23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300" b="1" dirty="0">
                <a:solidFill>
                  <a:schemeClr val="tx2"/>
                </a:solidFill>
              </a:rPr>
              <a:t>2.  </a:t>
            </a:r>
            <a:r>
              <a:rPr lang="en-US" sz="2300" dirty="0">
                <a:solidFill>
                  <a:schemeClr val="tx1"/>
                </a:solidFill>
              </a:rPr>
              <a:t>A : «Hoe gaat het?» → B : «Het gaat </a:t>
            </a:r>
            <a:r>
              <a:rPr lang="en-US" sz="2300" dirty="0">
                <a:solidFill>
                  <a:schemeClr val="accent5"/>
                </a:solidFill>
              </a:rPr>
              <a:t>……………</a:t>
            </a:r>
            <a:r>
              <a:rPr lang="en-US" sz="2300" dirty="0">
                <a:solidFill>
                  <a:schemeClr val="tx1"/>
                </a:solidFill>
              </a:rPr>
              <a:t>, dank je.» </a:t>
            </a:r>
            <a:r>
              <a:rPr lang="en-US" sz="2300" i="1" dirty="0">
                <a:solidFill>
                  <a:schemeClr val="tx1"/>
                </a:solidFill>
              </a:rPr>
              <a:t>(bien)</a:t>
            </a:r>
            <a:endParaRPr lang="en-US" sz="23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300" b="1" dirty="0">
                <a:solidFill>
                  <a:schemeClr val="tx2"/>
                </a:solidFill>
              </a:rPr>
              <a:t>3.  </a:t>
            </a:r>
            <a:r>
              <a:rPr lang="en-US" sz="2300" dirty="0">
                <a:solidFill>
                  <a:schemeClr val="tx1"/>
                </a:solidFill>
              </a:rPr>
              <a:t>A : «Alles goed?» → B : «Ja, en </a:t>
            </a:r>
            <a:r>
              <a:rPr lang="en-US" sz="2300" dirty="0">
                <a:solidFill>
                  <a:schemeClr val="accent5"/>
                </a:solidFill>
              </a:rPr>
              <a:t>……………</a:t>
            </a:r>
            <a:r>
              <a:rPr lang="en-US" sz="2300" dirty="0">
                <a:solidFill>
                  <a:schemeClr val="tx1"/>
                </a:solidFill>
              </a:rPr>
              <a:t> jou?» </a:t>
            </a:r>
            <a:r>
              <a:rPr lang="en-US" sz="2300" i="1" dirty="0">
                <a:solidFill>
                  <a:schemeClr val="tx1"/>
                </a:solidFill>
              </a:rPr>
              <a:t>(et toi ?)</a:t>
            </a:r>
            <a:endParaRPr lang="en-US" sz="23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300" b="1" dirty="0">
                <a:solidFill>
                  <a:schemeClr val="tx2"/>
                </a:solidFill>
              </a:rPr>
              <a:t>4.  </a:t>
            </a:r>
            <a:r>
              <a:rPr lang="en-US" sz="2300" dirty="0">
                <a:solidFill>
                  <a:schemeClr val="tx1"/>
                </a:solidFill>
              </a:rPr>
              <a:t>A : «Hoe maakt u het?» → B : «Uitstekend, dank u. En </a:t>
            </a:r>
            <a:r>
              <a:rPr lang="en-US" sz="2300" dirty="0">
                <a:solidFill>
                  <a:schemeClr val="accent5"/>
                </a:solidFill>
              </a:rPr>
              <a:t>……………</a:t>
            </a:r>
            <a:r>
              <a:rPr lang="en-US" sz="2300" dirty="0">
                <a:solidFill>
                  <a:schemeClr val="tx1"/>
                </a:solidFill>
              </a:rPr>
              <a:t> u?» </a:t>
            </a:r>
            <a:r>
              <a:rPr lang="en-US" sz="2300" i="1" dirty="0">
                <a:solidFill>
                  <a:schemeClr val="tx1"/>
                </a:solidFill>
              </a:rPr>
              <a:t>(forme polie)</a:t>
            </a:r>
            <a:endParaRPr lang="en-US" sz="23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300" b="1" dirty="0">
                <a:solidFill>
                  <a:schemeClr val="tx2"/>
                </a:solidFill>
              </a:rPr>
              <a:t>5.  </a:t>
            </a:r>
            <a:r>
              <a:rPr lang="en-US" sz="2300" dirty="0">
                <a:solidFill>
                  <a:schemeClr val="tx1"/>
                </a:solidFill>
              </a:rPr>
              <a:t>A : «Hoe gaat het met je?» → B : «</a:t>
            </a:r>
            <a:r>
              <a:rPr lang="en-US" sz="2300" dirty="0">
                <a:solidFill>
                  <a:schemeClr val="accent5"/>
                </a:solidFill>
              </a:rPr>
              <a:t>……………</a:t>
            </a:r>
            <a:r>
              <a:rPr lang="en-US" sz="2300" dirty="0">
                <a:solidFill>
                  <a:schemeClr val="tx1"/>
                </a:solidFill>
              </a:rPr>
              <a:t> goed, bedankt!» </a:t>
            </a:r>
            <a:r>
              <a:rPr lang="en-US" sz="2300" i="1" dirty="0">
                <a:solidFill>
                  <a:schemeClr val="tx1"/>
                </a:solidFill>
              </a:rPr>
              <a:t>(aussi)</a:t>
            </a:r>
            <a:endParaRPr lang="en-US" sz="2300" dirty="0"/>
          </a:p>
        </p:txBody>
      </p:sp>
      <p:sp>
        <p:nvSpPr>
          <p:cNvPr id="8" name="aside"/>
          <p:cNvSpPr/>
          <p:nvPr/>
        </p:nvSpPr>
        <p:spPr>
          <a:xfrm>
            <a:off x="8046720" y="1481328"/>
            <a:ext cx="3593592" cy="4809744"/>
          </a:xfrm>
          <a:prstGeom prst="roundRect">
            <a:avLst>
              <a:gd name="adj" fmla="val 2036"/>
            </a:avLst>
          </a:prstGeom>
          <a:solidFill>
            <a:schemeClr val="accent2">
              <a:alpha val="10000"/>
            </a:schemeClr>
          </a:solidFill>
          <a:ln w="12700">
            <a:solidFill>
              <a:schemeClr val="accent2">
                <a:alpha val="60000"/>
              </a:schemeClr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1664208"/>
            <a:ext cx="292608" cy="29260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8613648" y="1636776"/>
            <a:ext cx="2862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chemeClr val="accent2"/>
                </a:solidFill>
              </a:rPr>
              <a:t>BOÎTE À OUTILS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8211312" y="2075688"/>
            <a:ext cx="3264408" cy="4078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i="1" dirty="0">
                <a:solidFill>
                  <a:schemeClr val="tx1"/>
                </a:solidFill>
              </a:rPr>
              <a:t>Hoe gaat het?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i="1" dirty="0">
                <a:solidFill>
                  <a:schemeClr val="tx1"/>
                </a:solidFill>
              </a:rPr>
              <a:t>goed · prima · uitstekend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i="1" dirty="0">
                <a:solidFill>
                  <a:schemeClr val="tx1"/>
                </a:solidFill>
              </a:rPr>
              <a:t>en </a:t>
            </a:r>
            <a:r>
              <a:rPr lang="en-US" sz="1800" b="1" i="1" dirty="0">
                <a:solidFill>
                  <a:schemeClr val="tx1"/>
                </a:solidFill>
              </a:rPr>
              <a:t>met</a:t>
            </a:r>
            <a:r>
              <a:rPr lang="en-US" sz="1800" i="1" dirty="0">
                <a:solidFill>
                  <a:schemeClr val="tx1"/>
                </a:solidFill>
              </a:rPr>
              <a:t> jou? · en </a:t>
            </a:r>
            <a:r>
              <a:rPr lang="en-US" sz="1800" b="1" i="1" dirty="0">
                <a:solidFill>
                  <a:schemeClr val="tx1"/>
                </a:solidFill>
              </a:rPr>
              <a:t>met</a:t>
            </a:r>
            <a:r>
              <a:rPr lang="en-US" sz="1800" i="1" dirty="0">
                <a:solidFill>
                  <a:schemeClr val="tx1"/>
                </a:solidFill>
              </a:rPr>
              <a:t> u?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i="1" dirty="0">
                <a:solidFill>
                  <a:schemeClr val="tx1"/>
                </a:solidFill>
              </a:rPr>
              <a:t>ook goed, bedankt!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1.2.8 Hoe gaat het? — mini-dialogues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280160" cy="310896"/>
          </a:xfrm>
          <a:prstGeom prst="roundRect">
            <a:avLst>
              <a:gd name="adj" fmla="val 1470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COUCHE 3</a:t>
            </a:r>
            <a:endParaRPr lang="en-US" sz="1200" dirty="0"/>
          </a:p>
        </p:txBody>
      </p:sp>
      <p:sp>
        <p:nvSpPr>
          <p:cNvPr id="4" name="tag"/>
          <p:cNvSpPr/>
          <p:nvPr/>
        </p:nvSpPr>
        <p:spPr>
          <a:xfrm>
            <a:off x="1938528" y="237744"/>
            <a:ext cx="1760220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✓ CORRECTIE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29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481328"/>
            <a:ext cx="7178040" cy="371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Seul · 5 min — Complétez les mini-dialogues avec la bonne expression.</a:t>
            </a:r>
            <a:endParaRPr lang="en-US" sz="1600" dirty="0"/>
          </a:p>
        </p:txBody>
      </p:sp>
      <p:sp>
        <p:nvSpPr>
          <p:cNvPr id="8" name="exercise"/>
          <p:cNvSpPr txBox="1"/>
          <p:nvPr/>
        </p:nvSpPr>
        <p:spPr>
          <a:xfrm>
            <a:off x="548640" y="1926336"/>
            <a:ext cx="7178040" cy="4364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2300" b="1" dirty="0">
                <a:solidFill>
                  <a:schemeClr val="tx2"/>
                </a:solidFill>
              </a:rPr>
              <a:t>1.  </a:t>
            </a:r>
            <a:r>
              <a:rPr lang="en-US" sz="2300" dirty="0">
                <a:solidFill>
                  <a:schemeClr val="tx1"/>
                </a:solidFill>
              </a:rPr>
              <a:t>A : «</a:t>
            </a:r>
            <a:r>
              <a:rPr lang="en-US" sz="2300" b="1" dirty="0">
                <a:solidFill>
                  <a:schemeClr val="accent3"/>
                </a:solidFill>
              </a:rPr>
              <a:t>Hoe gaat het</a:t>
            </a:r>
            <a:r>
              <a:rPr lang="en-US" sz="2300" dirty="0">
                <a:solidFill>
                  <a:schemeClr val="tx1"/>
                </a:solidFill>
              </a:rPr>
              <a:t>?» → B : «Goed, dank je!» </a:t>
            </a:r>
            <a:r>
              <a:rPr lang="en-US" sz="2300" i="1" dirty="0">
                <a:solidFill>
                  <a:schemeClr val="tx1"/>
                </a:solidFill>
              </a:rPr>
              <a:t>(Comment ça va ?)</a:t>
            </a:r>
            <a:endParaRPr lang="en-US" sz="23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300" b="1" dirty="0">
                <a:solidFill>
                  <a:schemeClr val="tx2"/>
                </a:solidFill>
              </a:rPr>
              <a:t>2.  </a:t>
            </a:r>
            <a:r>
              <a:rPr lang="en-US" sz="2300" dirty="0">
                <a:solidFill>
                  <a:schemeClr val="tx1"/>
                </a:solidFill>
              </a:rPr>
              <a:t>A : «Hoe gaat het?» → B : «Het gaat </a:t>
            </a:r>
            <a:r>
              <a:rPr lang="en-US" sz="2300" b="1" dirty="0">
                <a:solidFill>
                  <a:schemeClr val="accent3"/>
                </a:solidFill>
              </a:rPr>
              <a:t>goed</a:t>
            </a:r>
            <a:r>
              <a:rPr lang="en-US" sz="2300" dirty="0">
                <a:solidFill>
                  <a:schemeClr val="tx1"/>
                </a:solidFill>
              </a:rPr>
              <a:t>, dank je.» </a:t>
            </a:r>
            <a:r>
              <a:rPr lang="en-US" sz="2300" i="1" dirty="0">
                <a:solidFill>
                  <a:schemeClr val="tx1"/>
                </a:solidFill>
              </a:rPr>
              <a:t>(bien)</a:t>
            </a:r>
            <a:endParaRPr lang="en-US" sz="23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300" b="1" dirty="0">
                <a:solidFill>
                  <a:schemeClr val="tx2"/>
                </a:solidFill>
              </a:rPr>
              <a:t>3.  </a:t>
            </a:r>
            <a:r>
              <a:rPr lang="en-US" sz="2300" dirty="0">
                <a:solidFill>
                  <a:schemeClr val="tx1"/>
                </a:solidFill>
              </a:rPr>
              <a:t>A : «Alles goed?» → B : «Ja, en </a:t>
            </a:r>
            <a:r>
              <a:rPr lang="en-US" sz="2300" b="1" dirty="0">
                <a:solidFill>
                  <a:schemeClr val="accent3"/>
                </a:solidFill>
              </a:rPr>
              <a:t>met</a:t>
            </a:r>
            <a:r>
              <a:rPr lang="en-US" sz="2300" dirty="0">
                <a:solidFill>
                  <a:schemeClr val="tx1"/>
                </a:solidFill>
              </a:rPr>
              <a:t> jou?» </a:t>
            </a:r>
            <a:r>
              <a:rPr lang="en-US" sz="2300" i="1" dirty="0">
                <a:solidFill>
                  <a:schemeClr val="tx1"/>
                </a:solidFill>
              </a:rPr>
              <a:t>(et toi ?)</a:t>
            </a:r>
            <a:endParaRPr lang="en-US" sz="23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300" b="1" dirty="0">
                <a:solidFill>
                  <a:schemeClr val="tx2"/>
                </a:solidFill>
              </a:rPr>
              <a:t>4.  </a:t>
            </a:r>
            <a:r>
              <a:rPr lang="en-US" sz="2300" dirty="0">
                <a:solidFill>
                  <a:schemeClr val="tx1"/>
                </a:solidFill>
              </a:rPr>
              <a:t>A : «Hoe maakt u het?» → B : «Uitstekend, dank u. En </a:t>
            </a:r>
            <a:r>
              <a:rPr lang="en-US" sz="2300" b="1" dirty="0">
                <a:solidFill>
                  <a:schemeClr val="accent3"/>
                </a:solidFill>
              </a:rPr>
              <a:t>met</a:t>
            </a:r>
            <a:r>
              <a:rPr lang="en-US" sz="2300" dirty="0">
                <a:solidFill>
                  <a:schemeClr val="tx1"/>
                </a:solidFill>
              </a:rPr>
              <a:t> u?» </a:t>
            </a:r>
            <a:r>
              <a:rPr lang="en-US" sz="2300" i="1" dirty="0">
                <a:solidFill>
                  <a:schemeClr val="tx1"/>
                </a:solidFill>
              </a:rPr>
              <a:t>(forme polie)</a:t>
            </a:r>
            <a:endParaRPr lang="en-US" sz="23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300" b="1" dirty="0">
                <a:solidFill>
                  <a:schemeClr val="tx2"/>
                </a:solidFill>
              </a:rPr>
              <a:t>5.  </a:t>
            </a:r>
            <a:r>
              <a:rPr lang="en-US" sz="2300" dirty="0">
                <a:solidFill>
                  <a:schemeClr val="tx1"/>
                </a:solidFill>
              </a:rPr>
              <a:t>A : «Hoe gaat het met je?» → B : «</a:t>
            </a:r>
            <a:r>
              <a:rPr lang="en-US" sz="2300" b="1" dirty="0">
                <a:solidFill>
                  <a:schemeClr val="accent3"/>
                </a:solidFill>
              </a:rPr>
              <a:t>Ook</a:t>
            </a:r>
            <a:r>
              <a:rPr lang="en-US" sz="2300" dirty="0">
                <a:solidFill>
                  <a:schemeClr val="tx1"/>
                </a:solidFill>
              </a:rPr>
              <a:t> goed, bedankt!» </a:t>
            </a:r>
            <a:r>
              <a:rPr lang="en-US" sz="2300" i="1" dirty="0">
                <a:solidFill>
                  <a:schemeClr val="tx1"/>
                </a:solidFill>
              </a:rPr>
              <a:t>(aussi)</a:t>
            </a:r>
            <a:endParaRPr lang="en-US" sz="2300" dirty="0"/>
          </a:p>
        </p:txBody>
      </p:sp>
      <p:sp>
        <p:nvSpPr>
          <p:cNvPr id="9" name="aside"/>
          <p:cNvSpPr/>
          <p:nvPr/>
        </p:nvSpPr>
        <p:spPr>
          <a:xfrm>
            <a:off x="8046720" y="1481328"/>
            <a:ext cx="3593592" cy="4809744"/>
          </a:xfrm>
          <a:prstGeom prst="roundRect">
            <a:avLst>
              <a:gd name="adj" fmla="val 2036"/>
            </a:avLst>
          </a:prstGeom>
          <a:solidFill>
            <a:schemeClr val="accent6">
              <a:alpha val="10000"/>
            </a:schemeClr>
          </a:solidFill>
          <a:ln w="12700">
            <a:solidFill>
              <a:schemeClr val="accent6">
                <a:alpha val="60000"/>
              </a:schemeClr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1664208"/>
            <a:ext cx="292608" cy="29260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8613648" y="1636776"/>
            <a:ext cx="2862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chemeClr val="accent6"/>
                </a:solidFill>
              </a:rPr>
              <a:t>ATTENTION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8211312" y="2075688"/>
            <a:ext cx="3264408" cy="4078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Item 1 : accepter aussi </a:t>
            </a:r>
            <a:r>
              <a:rPr lang="en-US" sz="1800" i="1" dirty="0">
                <a:solidFill>
                  <a:schemeClr val="tx1"/>
                </a:solidFill>
              </a:rPr>
              <a:t>Alles goed?</a:t>
            </a:r>
            <a:r>
              <a:rPr lang="en-US" sz="1800" dirty="0">
                <a:solidFill>
                  <a:schemeClr val="tx1"/>
                </a:solidFill>
              </a:rPr>
              <a:t> ou </a:t>
            </a:r>
            <a:r>
              <a:rPr lang="en-US" sz="1800" i="1" dirty="0">
                <a:solidFill>
                  <a:schemeClr val="tx1"/>
                </a:solidFill>
              </a:rPr>
              <a:t>Gaat het?</a:t>
            </a:r>
            <a:r>
              <a:rPr lang="en-US" sz="1800" dirty="0">
                <a:solidFill>
                  <a:schemeClr val="tx1"/>
                </a:solidFill>
              </a:rPr>
              <a:t>.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dank je</a:t>
            </a:r>
            <a:r>
              <a:rPr lang="en-US" sz="1800" dirty="0">
                <a:solidFill>
                  <a:schemeClr val="tx1"/>
                </a:solidFill>
              </a:rPr>
              <a:t> (tu) · </a:t>
            </a:r>
            <a:r>
              <a:rPr lang="en-US" sz="1800" b="1" dirty="0">
                <a:solidFill>
                  <a:schemeClr val="tx1"/>
                </a:solidFill>
              </a:rPr>
              <a:t>dank u</a:t>
            </a:r>
            <a:r>
              <a:rPr lang="en-US" sz="1800" dirty="0">
                <a:solidFill>
                  <a:schemeClr val="tx1"/>
                </a:solidFill>
              </a:rPr>
              <a:t> (vous).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i="1" dirty="0">
                <a:solidFill>
                  <a:schemeClr val="tx1"/>
                </a:solidFill>
              </a:rPr>
              <a:t>En met jou?</a:t>
            </a:r>
            <a:r>
              <a:rPr lang="en-US" sz="1800" dirty="0">
                <a:solidFill>
                  <a:schemeClr val="tx1"/>
                </a:solidFill>
              </a:rPr>
              <a:t> : la forme complète ; </a:t>
            </a:r>
            <a:r>
              <a:rPr lang="en-US" sz="1800" i="1" dirty="0">
                <a:solidFill>
                  <a:schemeClr val="tx1"/>
                </a:solidFill>
              </a:rPr>
              <a:t>En jij?</a:t>
            </a:r>
            <a:r>
              <a:rPr lang="en-US" sz="1800" dirty="0">
                <a:solidFill>
                  <a:schemeClr val="tx1"/>
                </a:solidFill>
              </a:rPr>
              <a:t> s’entend aussi à l’oral.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1.2.9 Speed date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2308860" cy="310896"/>
          </a:xfrm>
          <a:prstGeom prst="roundRect">
            <a:avLst>
              <a:gd name="adj" fmla="val 14706"/>
            </a:avLst>
          </a:prstGeom>
          <a:solidFill>
            <a:srgbClr val="6E4A9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MISE EN SITUATION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29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481328"/>
            <a:ext cx="110916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Groupe · 10 min — </a:t>
            </a:r>
            <a:r>
              <a:rPr lang="en-US" sz="1800" b="1" dirty="0">
                <a:solidFill>
                  <a:schemeClr val="tx1"/>
                </a:solidFill>
              </a:rPr>
              <a:t>Trois partenaires</a:t>
            </a:r>
            <a:r>
              <a:rPr lang="en-US" sz="1800" dirty="0">
                <a:solidFill>
                  <a:schemeClr val="tx1"/>
                </a:solidFill>
              </a:rPr>
              <a:t>, une minute chacun. Le 3e partenaire est </a:t>
            </a:r>
            <a:r>
              <a:rPr lang="en-US" sz="1800" b="1" dirty="0">
                <a:solidFill>
                  <a:schemeClr val="tx1"/>
                </a:solidFill>
              </a:rPr>
              <a:t>vouvoyé</a:t>
            </a:r>
            <a:r>
              <a:rPr lang="en-US" sz="1800" dirty="0">
                <a:solidFill>
                  <a:schemeClr val="tx1"/>
                </a:solidFill>
              </a:rPr>
              <a:t> (u). Puis complétez la grille.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548640" y="2267712"/>
            <a:ext cx="1984248" cy="3069336"/>
          </a:xfrm>
          <a:prstGeom prst="roundRect">
            <a:avLst>
              <a:gd name="adj" fmla="val 4608"/>
            </a:avLst>
          </a:prstGeom>
          <a:solidFill>
            <a:schemeClr val="bg2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211580" y="2450592"/>
            <a:ext cx="658368" cy="65836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1211580" y="245059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1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3182112"/>
            <a:ext cx="1764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accent2"/>
                </a:solidFill>
              </a:rPr>
              <a:t>Groeten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685800" y="3959352"/>
            <a:ext cx="1709928" cy="1286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700" i="1" dirty="0">
                <a:solidFill>
                  <a:schemeClr val="tx1"/>
                </a:solidFill>
              </a:rPr>
              <a:t>Goedemiddag, Tom!</a:t>
            </a:r>
            <a:endParaRPr lang="en-US" sz="17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9464" y="2670048"/>
            <a:ext cx="219456" cy="219456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2825496" y="2267712"/>
            <a:ext cx="1984248" cy="3069336"/>
          </a:xfrm>
          <a:prstGeom prst="roundRect">
            <a:avLst>
              <a:gd name="adj" fmla="val 4608"/>
            </a:avLst>
          </a:prstGeom>
          <a:solidFill>
            <a:schemeClr val="bg2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3488436" y="2450592"/>
            <a:ext cx="658368" cy="658368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3488436" y="245059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2</a:t>
            </a:r>
            <a:endParaRPr lang="en-US" sz="2000" dirty="0"/>
          </a:p>
        </p:txBody>
      </p:sp>
      <p:sp>
        <p:nvSpPr>
          <p:cNvPr id="16" name="Text 12"/>
          <p:cNvSpPr txBox="1"/>
          <p:nvPr/>
        </p:nvSpPr>
        <p:spPr>
          <a:xfrm>
            <a:off x="2935224" y="3182112"/>
            <a:ext cx="1764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accent3"/>
                </a:solidFill>
              </a:rPr>
              <a:t>Vragen</a:t>
            </a:r>
            <a:endParaRPr lang="en-US" sz="1700" dirty="0"/>
          </a:p>
        </p:txBody>
      </p:sp>
      <p:sp>
        <p:nvSpPr>
          <p:cNvPr id="17" name="Text 13"/>
          <p:cNvSpPr txBox="1"/>
          <p:nvPr/>
        </p:nvSpPr>
        <p:spPr>
          <a:xfrm>
            <a:off x="2962656" y="3959352"/>
            <a:ext cx="1709928" cy="1286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700" i="1" dirty="0">
                <a:solidFill>
                  <a:schemeClr val="tx1"/>
                </a:solidFill>
              </a:rPr>
              <a:t>Hoe gaat het met je?</a:t>
            </a:r>
            <a:endParaRPr lang="en-US" sz="1700" dirty="0"/>
          </a:p>
          <a:p>
            <a:pPr algn="ctr"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n° 3 : </a:t>
            </a:r>
            <a:r>
              <a:rPr lang="en-US" sz="1700" i="1" dirty="0">
                <a:solidFill>
                  <a:schemeClr val="tx1"/>
                </a:solidFill>
              </a:rPr>
              <a:t>met </a:t>
            </a:r>
            <a:r>
              <a:rPr lang="en-US" sz="1700" b="1" i="1" dirty="0">
                <a:solidFill>
                  <a:schemeClr val="tx1"/>
                </a:solidFill>
              </a:rPr>
              <a:t>u</a:t>
            </a:r>
            <a:r>
              <a:rPr lang="en-US" sz="1700" i="1" dirty="0">
                <a:solidFill>
                  <a:schemeClr val="tx1"/>
                </a:solidFill>
              </a:rPr>
              <a:t>?</a:t>
            </a:r>
            <a:endParaRPr lang="en-US" sz="1700" dirty="0"/>
          </a:p>
        </p:txBody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2670048"/>
            <a:ext cx="219456" cy="219456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5102352" y="2267712"/>
            <a:ext cx="1984248" cy="3069336"/>
          </a:xfrm>
          <a:prstGeom prst="roundRect">
            <a:avLst>
              <a:gd name="adj" fmla="val 4608"/>
            </a:avLst>
          </a:prstGeom>
          <a:solidFill>
            <a:schemeClr val="bg2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5765292" y="2450592"/>
            <a:ext cx="658368" cy="65836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1" name="Text 16"/>
          <p:cNvSpPr txBox="1"/>
          <p:nvPr/>
        </p:nvSpPr>
        <p:spPr>
          <a:xfrm>
            <a:off x="5765292" y="245059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3</a:t>
            </a:r>
            <a:endParaRPr lang="en-US" sz="2000" dirty="0"/>
          </a:p>
        </p:txBody>
      </p:sp>
      <p:sp>
        <p:nvSpPr>
          <p:cNvPr id="22" name="Text 17"/>
          <p:cNvSpPr txBox="1"/>
          <p:nvPr/>
        </p:nvSpPr>
        <p:spPr>
          <a:xfrm>
            <a:off x="5212080" y="3182112"/>
            <a:ext cx="1764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Antwoorden</a:t>
            </a:r>
            <a:endParaRPr lang="en-US" sz="1700" dirty="0"/>
          </a:p>
        </p:txBody>
      </p:sp>
      <p:sp>
        <p:nvSpPr>
          <p:cNvPr id="23" name="Text 18"/>
          <p:cNvSpPr txBox="1"/>
          <p:nvPr/>
        </p:nvSpPr>
        <p:spPr>
          <a:xfrm>
            <a:off x="5239512" y="3959352"/>
            <a:ext cx="1709928" cy="1286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700" i="1" dirty="0">
                <a:solidFill>
                  <a:schemeClr val="tx1"/>
                </a:solidFill>
              </a:rPr>
              <a:t>Ik ben moe, want…</a:t>
            </a:r>
            <a:endParaRPr lang="en-US" sz="1700" dirty="0"/>
          </a:p>
          <a:p>
            <a:pPr algn="ctr"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(raison </a:t>
            </a:r>
            <a:r>
              <a:rPr lang="en-US" sz="1700" b="1" dirty="0">
                <a:solidFill>
                  <a:schemeClr val="tx1"/>
                </a:solidFill>
              </a:rPr>
              <a:t>vraie</a:t>
            </a:r>
            <a:r>
              <a:rPr lang="en-US" sz="1700" dirty="0">
                <a:solidFill>
                  <a:schemeClr val="tx1"/>
                </a:solidFill>
              </a:rPr>
              <a:t>)</a:t>
            </a:r>
            <a:endParaRPr lang="en-US" sz="1700" dirty="0"/>
          </a:p>
        </p:txBody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23176" y="2670048"/>
            <a:ext cx="219456" cy="219456"/>
          </a:xfrm>
          <a:prstGeom prst="rect">
            <a:avLst/>
          </a:prstGeom>
        </p:spPr>
      </p:pic>
      <p:sp>
        <p:nvSpPr>
          <p:cNvPr id="25" name="Shape 19"/>
          <p:cNvSpPr/>
          <p:nvPr/>
        </p:nvSpPr>
        <p:spPr>
          <a:xfrm>
            <a:off x="7379208" y="2267712"/>
            <a:ext cx="1984248" cy="3069336"/>
          </a:xfrm>
          <a:prstGeom prst="roundRect">
            <a:avLst>
              <a:gd name="adj" fmla="val 4608"/>
            </a:avLst>
          </a:prstGeom>
          <a:solidFill>
            <a:schemeClr val="bg2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8042148" y="2450592"/>
            <a:ext cx="658368" cy="658368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27" name="Text 21"/>
          <p:cNvSpPr txBox="1"/>
          <p:nvPr/>
        </p:nvSpPr>
        <p:spPr>
          <a:xfrm>
            <a:off x="8042148" y="245059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4</a:t>
            </a:r>
            <a:endParaRPr lang="en-US" sz="2000" dirty="0"/>
          </a:p>
        </p:txBody>
      </p:sp>
      <p:sp>
        <p:nvSpPr>
          <p:cNvPr id="28" name="Text 22"/>
          <p:cNvSpPr txBox="1"/>
          <p:nvPr/>
        </p:nvSpPr>
        <p:spPr>
          <a:xfrm>
            <a:off x="7488936" y="3182112"/>
            <a:ext cx="1764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accent4"/>
                </a:solidFill>
              </a:rPr>
              <a:t>Terugvragen</a:t>
            </a:r>
            <a:endParaRPr lang="en-US" sz="1700" dirty="0"/>
          </a:p>
        </p:txBody>
      </p:sp>
      <p:sp>
        <p:nvSpPr>
          <p:cNvPr id="29" name="Text 23"/>
          <p:cNvSpPr txBox="1"/>
          <p:nvPr/>
        </p:nvSpPr>
        <p:spPr>
          <a:xfrm>
            <a:off x="7516368" y="3959352"/>
            <a:ext cx="1709928" cy="1286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700" i="1" dirty="0">
                <a:solidFill>
                  <a:schemeClr val="tx1"/>
                </a:solidFill>
              </a:rPr>
              <a:t>En met jou?</a:t>
            </a:r>
            <a:endParaRPr lang="en-US" sz="1700" dirty="0"/>
          </a:p>
          <a:p>
            <a:pPr algn="ctr" indent="0" marL="0">
              <a:spcAft>
                <a:spcPts val="600"/>
              </a:spcAft>
              <a:buNone/>
            </a:pPr>
            <a:r>
              <a:rPr lang="en-US" sz="1700" i="1" dirty="0">
                <a:solidFill>
                  <a:schemeClr val="tx1"/>
                </a:solidFill>
              </a:rPr>
              <a:t>En met u?</a:t>
            </a:r>
            <a:endParaRPr lang="en-US" sz="1700" dirty="0"/>
          </a:p>
        </p:txBody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00032" y="2670048"/>
            <a:ext cx="219456" cy="219456"/>
          </a:xfrm>
          <a:prstGeom prst="rect">
            <a:avLst/>
          </a:prstGeom>
        </p:spPr>
      </p:pic>
      <p:sp>
        <p:nvSpPr>
          <p:cNvPr id="31" name="Shape 24"/>
          <p:cNvSpPr/>
          <p:nvPr/>
        </p:nvSpPr>
        <p:spPr>
          <a:xfrm>
            <a:off x="9656064" y="2267712"/>
            <a:ext cx="1984248" cy="3069336"/>
          </a:xfrm>
          <a:prstGeom prst="roundRect">
            <a:avLst>
              <a:gd name="adj" fmla="val 4608"/>
            </a:avLst>
          </a:prstGeom>
          <a:solidFill>
            <a:schemeClr val="bg2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32" name="Shape 25"/>
          <p:cNvSpPr/>
          <p:nvPr/>
        </p:nvSpPr>
        <p:spPr>
          <a:xfrm>
            <a:off x="10319004" y="2450592"/>
            <a:ext cx="658368" cy="65836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33" name="Text 26"/>
          <p:cNvSpPr txBox="1"/>
          <p:nvPr/>
        </p:nvSpPr>
        <p:spPr>
          <a:xfrm>
            <a:off x="10319004" y="245059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5</a:t>
            </a:r>
            <a:endParaRPr lang="en-US" sz="2000" dirty="0"/>
          </a:p>
        </p:txBody>
      </p:sp>
      <p:sp>
        <p:nvSpPr>
          <p:cNvPr id="34" name="Text 27"/>
          <p:cNvSpPr txBox="1"/>
          <p:nvPr/>
        </p:nvSpPr>
        <p:spPr>
          <a:xfrm>
            <a:off x="9765792" y="3182112"/>
            <a:ext cx="1764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Afscheid</a:t>
            </a:r>
            <a:endParaRPr lang="en-US" sz="1700" dirty="0"/>
          </a:p>
        </p:txBody>
      </p:sp>
      <p:sp>
        <p:nvSpPr>
          <p:cNvPr id="35" name="Text 28"/>
          <p:cNvSpPr txBox="1"/>
          <p:nvPr/>
        </p:nvSpPr>
        <p:spPr>
          <a:xfrm>
            <a:off x="9793224" y="3959352"/>
            <a:ext cx="1709928" cy="1286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700" i="1" dirty="0">
                <a:solidFill>
                  <a:schemeClr val="tx1"/>
                </a:solidFill>
              </a:rPr>
              <a:t>Tot straks!</a:t>
            </a:r>
            <a:endParaRPr lang="en-US" sz="1700" dirty="0"/>
          </a:p>
          <a:p>
            <a:pPr algn="ctr" indent="0" marL="0">
              <a:spcAft>
                <a:spcPts val="600"/>
              </a:spcAft>
              <a:buNone/>
            </a:pPr>
            <a:r>
              <a:rPr lang="en-US" sz="1700" i="1" dirty="0">
                <a:solidFill>
                  <a:schemeClr val="tx1"/>
                </a:solidFill>
              </a:rPr>
              <a:t>Dag!</a:t>
            </a:r>
            <a:endParaRPr lang="en-US" sz="1700" dirty="0"/>
          </a:p>
        </p:txBody>
      </p:sp>
      <p:sp>
        <p:nvSpPr>
          <p:cNvPr id="36" name="Shape 29"/>
          <p:cNvSpPr/>
          <p:nvPr/>
        </p:nvSpPr>
        <p:spPr>
          <a:xfrm>
            <a:off x="548640" y="5565648"/>
            <a:ext cx="11091672" cy="725424"/>
          </a:xfrm>
          <a:prstGeom prst="roundRect">
            <a:avLst>
              <a:gd name="adj" fmla="val 10084"/>
            </a:avLst>
          </a:prstGeom>
          <a:solidFill>
            <a:schemeClr val="accent2">
              <a:alpha val="10000"/>
            </a:schemeClr>
          </a:solidFill>
          <a:ln w="9525">
            <a:solidFill>
              <a:schemeClr val="accent2">
                <a:alpha val="70000"/>
              </a:schemeClr>
            </a:solidFill>
            <a:prstDash val="solid"/>
          </a:ln>
        </p:spPr>
      </p:sp>
      <p:pic>
        <p:nvPicPr>
          <p:cNvPr id="3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808" y="5763768"/>
            <a:ext cx="329184" cy="329184"/>
          </a:xfrm>
          <a:prstGeom prst="rect">
            <a:avLst/>
          </a:prstGeom>
        </p:spPr>
      </p:pic>
      <p:sp>
        <p:nvSpPr>
          <p:cNvPr id="38" name="Text 30"/>
          <p:cNvSpPr txBox="1"/>
          <p:nvPr/>
        </p:nvSpPr>
        <p:spPr>
          <a:xfrm>
            <a:off x="1234440" y="5602224"/>
            <a:ext cx="10287000" cy="652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2"/>
                </a:solidFill>
              </a:rPr>
              <a:t>La grille — </a:t>
            </a:r>
            <a:r>
              <a:rPr lang="en-US" sz="1700" dirty="0">
                <a:solidFill>
                  <a:schemeClr val="tx1"/>
                </a:solidFill>
              </a:rPr>
              <a:t>Pour chaque partenaire : </a:t>
            </a:r>
            <a:r>
              <a:rPr lang="en-US" sz="1700" i="1" dirty="0">
                <a:solidFill>
                  <a:schemeClr val="tx1"/>
                </a:solidFill>
              </a:rPr>
              <a:t>naam · je/u · Hoe gaat het met hem/haar? · Waarom?</a:t>
            </a:r>
            <a:r>
              <a:rPr lang="en-US" sz="1700" dirty="0">
                <a:solidFill>
                  <a:schemeClr val="tx1"/>
                </a:solidFill>
              </a:rPr>
              <a:t> → </a:t>
            </a:r>
            <a:r>
              <a:rPr lang="en-US" sz="1700" i="1" dirty="0">
                <a:solidFill>
                  <a:schemeClr val="tx1"/>
                </a:solidFill>
              </a:rPr>
              <a:t>Tom is moe, want hij heeft veel werk.</a:t>
            </a:r>
            <a:r>
              <a:rPr lang="en-US" sz="1700" dirty="0">
                <a:solidFill>
                  <a:schemeClr val="tx1"/>
                </a:solidFill>
              </a:rPr>
              <a:t> (3e personne : </a:t>
            </a:r>
            <a:r>
              <a:rPr lang="en-US" sz="1700" b="1" dirty="0">
                <a:solidFill>
                  <a:schemeClr val="tx1"/>
                </a:solidFill>
              </a:rPr>
              <a:t>is, heeft, voelt zich</a:t>
            </a:r>
            <a:r>
              <a:rPr lang="en-US" sz="1700" dirty="0">
                <a:solidFill>
                  <a:schemeClr val="tx1"/>
                </a:solidFill>
              </a:rPr>
              <a:t>).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Répondre à « Alles goed? » : du négatif au positif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531620" cy="310896"/>
          </a:xfrm>
          <a:prstGeom prst="roundRect">
            <a:avLst>
              <a:gd name="adj" fmla="val 14706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À RETENIR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30</a:t>
            </a:r>
            <a:endParaRPr lang="en-US" sz="1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81328"/>
          <a:ext cx="11091672" cy="914400"/>
        </p:xfrm>
        <a:graphic>
          <a:graphicData uri="http://schemas.openxmlformats.org/drawingml/2006/table">
            <a:tbl>
              <a:tblPr/>
              <a:tblGrid>
                <a:gridCol w="3566160"/>
                <a:gridCol w="5120640"/>
                <a:gridCol w="2404872"/>
              </a:tblGrid>
              <a:tr h="5166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NEDERLANDS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FRANÇAIS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TON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41788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Slecht.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Mal.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chemeClr val="accent6"/>
                          </a:solidFill>
                        </a:rPr>
                        <a:t>négatif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1788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Niet zo goed.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Pas très bien.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chemeClr val="accent6"/>
                          </a:solidFill>
                        </a:rPr>
                        <a:t>négatif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1788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Het valt niet mee.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Ce n’est pas facile. · Ça ne va pas fort.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chemeClr val="accent1"/>
                          </a:solidFill>
                        </a:rPr>
                        <a:t>difficile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1788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Het kan beter.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Ça pourrait aller mieux.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chemeClr val="accent1"/>
                          </a:solidFill>
                        </a:rPr>
                        <a:t>moyen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1788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Het gaat wel.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Ça va (assez bien).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neutre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1788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Redelijk goed.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Assez bien.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neutre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1788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Goed!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Bien !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chemeClr val="accent2"/>
                          </a:solidFill>
                        </a:rPr>
                        <a:t>positif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1788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Prima!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Très bien !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chemeClr val="accent2"/>
                          </a:solidFill>
                        </a:rPr>
                        <a:t>positif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1788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Uitstekend!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Excellent !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chemeClr val="accent2"/>
                          </a:solidFill>
                        </a:rPr>
                        <a:t>très positif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548640" y="5897880"/>
            <a:ext cx="1109167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" i="1" dirty="0">
                <a:solidFill>
                  <a:schemeClr val="accent5"/>
                </a:solidFill>
              </a:rPr>
              <a:t>Het gaat wel</a:t>
            </a:r>
            <a:r>
              <a:rPr lang="en-US" sz="1500" i="1" dirty="0">
                <a:solidFill>
                  <a:schemeClr val="accent5"/>
                </a:solidFill>
              </a:rPr>
              <a:t> = « ça va, sans plus » : moins positif que </a:t>
            </a:r>
            <a:r>
              <a:rPr lang="en-US" sz="1500" i="1" dirty="0">
                <a:solidFill>
                  <a:schemeClr val="accent5"/>
                </a:solidFill>
              </a:rPr>
              <a:t>Het gaat goed</a:t>
            </a:r>
            <a:r>
              <a:rPr lang="en-US" sz="1500" i="1" dirty="0">
                <a:solidFill>
                  <a:schemeClr val="accent5"/>
                </a:solidFill>
              </a:rPr>
              <a:t>. Le ton de la voix compte autant que les mots !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Ik ben… / Ik voel me… + adjectif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508760" cy="310896"/>
          </a:xfrm>
          <a:prstGeom prst="roundRect">
            <a:avLst>
              <a:gd name="adj" fmla="val 14706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GRAMMATICA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30–31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548640" y="1481328"/>
            <a:ext cx="5408676" cy="1824228"/>
          </a:xfrm>
          <a:prstGeom prst="roundRect">
            <a:avLst>
              <a:gd name="adj" fmla="val 5013"/>
            </a:avLst>
          </a:prstGeom>
          <a:solidFill>
            <a:schemeClr val="bg1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48640" y="1481328"/>
            <a:ext cx="5408676" cy="502920"/>
          </a:xfrm>
          <a:prstGeom prst="roundRect">
            <a:avLst>
              <a:gd name="adj" fmla="val 18182"/>
            </a:avLst>
          </a:prstGeom>
          <a:solidFill>
            <a:schemeClr val="accent2"/>
          </a:solidFill>
          <a:ln/>
        </p:spPr>
      </p:sp>
      <p:sp>
        <p:nvSpPr>
          <p:cNvPr id="8" name="Shape 5"/>
          <p:cNvSpPr/>
          <p:nvPr/>
        </p:nvSpPr>
        <p:spPr>
          <a:xfrm>
            <a:off x="548640" y="1801368"/>
            <a:ext cx="5408676" cy="18288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31520" y="1481328"/>
            <a:ext cx="50429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chemeClr val="bg1"/>
                </a:solidFill>
              </a:rPr>
              <a:t>STRUCTURE 1 · JE SUIS…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2084832"/>
            <a:ext cx="5042916" cy="3761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Ik ben + adjectif</a:t>
            </a:r>
            <a:endParaRPr lang="en-US" sz="2200" dirty="0"/>
          </a:p>
        </p:txBody>
      </p:sp>
      <p:sp>
        <p:nvSpPr>
          <p:cNvPr id="11" name="Text 8"/>
          <p:cNvSpPr txBox="1"/>
          <p:nvPr/>
        </p:nvSpPr>
        <p:spPr>
          <a:xfrm>
            <a:off x="731520" y="2598166"/>
            <a:ext cx="5042916" cy="5976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i="1" dirty="0">
                <a:solidFill>
                  <a:schemeClr val="tx1"/>
                </a:solidFill>
              </a:rPr>
              <a:t>Ik </a:t>
            </a:r>
            <a:r>
              <a:rPr lang="en-US" sz="1600" b="1" i="1" dirty="0">
                <a:solidFill>
                  <a:schemeClr val="tx1"/>
                </a:solidFill>
              </a:rPr>
              <a:t>ben</a:t>
            </a:r>
            <a:r>
              <a:rPr lang="en-US" sz="1600" i="1" dirty="0">
                <a:solidFill>
                  <a:schemeClr val="tx1"/>
                </a:solidFill>
              </a:rPr>
              <a:t> moe. · Emma </a:t>
            </a:r>
            <a:r>
              <a:rPr lang="en-US" sz="1600" b="1" i="1" dirty="0">
                <a:solidFill>
                  <a:schemeClr val="tx1"/>
                </a:solidFill>
              </a:rPr>
              <a:t>is</a:t>
            </a:r>
            <a:r>
              <a:rPr lang="en-US" sz="1600" i="1" dirty="0">
                <a:solidFill>
                  <a:schemeClr val="tx1"/>
                </a:solidFill>
              </a:rPr>
              <a:t> blij.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6231636" y="1481328"/>
            <a:ext cx="5408676" cy="1824228"/>
          </a:xfrm>
          <a:prstGeom prst="roundRect">
            <a:avLst>
              <a:gd name="adj" fmla="val 5013"/>
            </a:avLst>
          </a:prstGeom>
          <a:solidFill>
            <a:schemeClr val="bg1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231636" y="1481328"/>
            <a:ext cx="5408676" cy="502920"/>
          </a:xfrm>
          <a:prstGeom prst="roundRect">
            <a:avLst>
              <a:gd name="adj" fmla="val 18182"/>
            </a:avLst>
          </a:prstGeom>
          <a:solidFill>
            <a:schemeClr val="accent4"/>
          </a:solidFill>
          <a:ln/>
        </p:spPr>
      </p:sp>
      <p:sp>
        <p:nvSpPr>
          <p:cNvPr id="14" name="Shape 11"/>
          <p:cNvSpPr/>
          <p:nvPr/>
        </p:nvSpPr>
        <p:spPr>
          <a:xfrm>
            <a:off x="6231636" y="1801368"/>
            <a:ext cx="5408676" cy="182880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414516" y="1481328"/>
            <a:ext cx="50429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chemeClr val="bg1"/>
                </a:solidFill>
              </a:rPr>
              <a:t>STRUCTURE 2 · JE ME SENS…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6414516" y="2084832"/>
            <a:ext cx="5042916" cy="3761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4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Ik voel me + adjectif</a:t>
            </a:r>
            <a:endParaRPr lang="en-US" sz="2200" dirty="0"/>
          </a:p>
        </p:txBody>
      </p:sp>
      <p:sp>
        <p:nvSpPr>
          <p:cNvPr id="17" name="Text 14"/>
          <p:cNvSpPr txBox="1"/>
          <p:nvPr/>
        </p:nvSpPr>
        <p:spPr>
          <a:xfrm>
            <a:off x="6414516" y="2598166"/>
            <a:ext cx="5042916" cy="5976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i="1" dirty="0">
                <a:solidFill>
                  <a:schemeClr val="tx1"/>
                </a:solidFill>
              </a:rPr>
              <a:t>Ik </a:t>
            </a:r>
            <a:r>
              <a:rPr lang="en-US" sz="1600" b="1" i="1" dirty="0">
                <a:solidFill>
                  <a:schemeClr val="tx1"/>
                </a:solidFill>
              </a:rPr>
              <a:t>voel me</a:t>
            </a:r>
            <a:r>
              <a:rPr lang="en-US" sz="1600" i="1" dirty="0">
                <a:solidFill>
                  <a:schemeClr val="tx1"/>
                </a:solidFill>
              </a:rPr>
              <a:t> gestrest. · Pieter </a:t>
            </a:r>
            <a:r>
              <a:rPr lang="en-US" sz="1600" b="1" i="1" dirty="0">
                <a:solidFill>
                  <a:schemeClr val="tx1"/>
                </a:solidFill>
              </a:rPr>
              <a:t>voelt zich</a:t>
            </a:r>
            <a:r>
              <a:rPr lang="en-US" sz="1600" i="1" dirty="0">
                <a:solidFill>
                  <a:schemeClr val="tx1"/>
                </a:solidFill>
              </a:rPr>
              <a:t> goed.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548640" y="3579876"/>
            <a:ext cx="5408676" cy="1824228"/>
          </a:xfrm>
          <a:prstGeom prst="roundRect">
            <a:avLst>
              <a:gd name="adj" fmla="val 5013"/>
            </a:avLst>
          </a:prstGeom>
          <a:solidFill>
            <a:schemeClr val="bg1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8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548640" y="3579876"/>
            <a:ext cx="5408676" cy="502920"/>
          </a:xfrm>
          <a:prstGeom prst="roundRect">
            <a:avLst>
              <a:gd name="adj" fmla="val 18182"/>
            </a:avLst>
          </a:prstGeom>
          <a:solidFill>
            <a:schemeClr val="accent3"/>
          </a:solidFill>
          <a:ln/>
        </p:spPr>
      </p:sp>
      <p:sp>
        <p:nvSpPr>
          <p:cNvPr id="20" name="Shape 17"/>
          <p:cNvSpPr/>
          <p:nvPr/>
        </p:nvSpPr>
        <p:spPr>
          <a:xfrm>
            <a:off x="548640" y="3899916"/>
            <a:ext cx="5408676" cy="18288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731520" y="3579876"/>
            <a:ext cx="50429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chemeClr val="bg1"/>
                </a:solidFill>
              </a:rPr>
              <a:t>NEUF ADJECTIFS</a:t>
            </a:r>
            <a:endParaRPr lang="en-US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731520" y="4183380"/>
            <a:ext cx="5042916" cy="11109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moe</a:t>
            </a:r>
            <a:r>
              <a:rPr lang="en-US" sz="1600" dirty="0">
                <a:solidFill>
                  <a:schemeClr val="tx1"/>
                </a:solidFill>
              </a:rPr>
              <a:t> fatigué · </a:t>
            </a:r>
            <a:r>
              <a:rPr lang="en-US" sz="1600" b="1" dirty="0">
                <a:solidFill>
                  <a:schemeClr val="tx1"/>
                </a:solidFill>
              </a:rPr>
              <a:t>blij</a:t>
            </a:r>
            <a:r>
              <a:rPr lang="en-US" sz="1600" dirty="0">
                <a:solidFill>
                  <a:schemeClr val="tx1"/>
                </a:solidFill>
              </a:rPr>
              <a:t> content · </a:t>
            </a:r>
            <a:r>
              <a:rPr lang="en-US" sz="1600" b="1" dirty="0">
                <a:solidFill>
                  <a:schemeClr val="tx1"/>
                </a:solidFill>
              </a:rPr>
              <a:t>gestrest</a:t>
            </a:r>
            <a:r>
              <a:rPr lang="en-US" sz="1600" dirty="0">
                <a:solidFill>
                  <a:schemeClr val="tx1"/>
                </a:solidFill>
              </a:rPr>
              <a:t> stressé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ontspannen</a:t>
            </a:r>
            <a:r>
              <a:rPr lang="en-US" sz="1600" dirty="0">
                <a:solidFill>
                  <a:schemeClr val="tx1"/>
                </a:solidFill>
              </a:rPr>
              <a:t> détendu · </a:t>
            </a:r>
            <a:r>
              <a:rPr lang="en-US" sz="1600" b="1" dirty="0">
                <a:solidFill>
                  <a:schemeClr val="tx1"/>
                </a:solidFill>
              </a:rPr>
              <a:t>druk</a:t>
            </a:r>
            <a:r>
              <a:rPr lang="en-US" sz="1600" dirty="0">
                <a:solidFill>
                  <a:schemeClr val="tx1"/>
                </a:solidFill>
              </a:rPr>
              <a:t> occupé · </a:t>
            </a:r>
            <a:r>
              <a:rPr lang="en-US" sz="1600" b="1" dirty="0">
                <a:solidFill>
                  <a:schemeClr val="tx1"/>
                </a:solidFill>
              </a:rPr>
              <a:t>nerveus</a:t>
            </a:r>
            <a:r>
              <a:rPr lang="en-US" sz="1600" dirty="0">
                <a:solidFill>
                  <a:schemeClr val="tx1"/>
                </a:solidFill>
              </a:rPr>
              <a:t> nerveux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gelukkig</a:t>
            </a:r>
            <a:r>
              <a:rPr lang="en-US" sz="1600" dirty="0">
                <a:solidFill>
                  <a:schemeClr val="tx1"/>
                </a:solidFill>
              </a:rPr>
              <a:t> heureux · </a:t>
            </a:r>
            <a:r>
              <a:rPr lang="en-US" sz="1600" b="1" dirty="0">
                <a:solidFill>
                  <a:schemeClr val="tx1"/>
                </a:solidFill>
              </a:rPr>
              <a:t>verdrietig</a:t>
            </a:r>
            <a:r>
              <a:rPr lang="en-US" sz="1600" dirty="0">
                <a:solidFill>
                  <a:schemeClr val="tx1"/>
                </a:solidFill>
              </a:rPr>
              <a:t> triste · </a:t>
            </a:r>
            <a:r>
              <a:rPr lang="en-US" sz="1600" b="1" dirty="0">
                <a:solidFill>
                  <a:schemeClr val="tx1"/>
                </a:solidFill>
              </a:rPr>
              <a:t>bang</a:t>
            </a:r>
            <a:r>
              <a:rPr lang="en-US" sz="1600" dirty="0">
                <a:solidFill>
                  <a:schemeClr val="tx1"/>
                </a:solidFill>
              </a:rPr>
              <a:t> qui a peur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6231636" y="3579876"/>
            <a:ext cx="5408676" cy="1824228"/>
          </a:xfrm>
          <a:prstGeom prst="roundRect">
            <a:avLst>
              <a:gd name="adj" fmla="val 5013"/>
            </a:avLst>
          </a:prstGeom>
          <a:solidFill>
            <a:schemeClr val="bg1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8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6231636" y="3579876"/>
            <a:ext cx="5408676" cy="502920"/>
          </a:xfrm>
          <a:prstGeom prst="roundRect">
            <a:avLst>
              <a:gd name="adj" fmla="val 18182"/>
            </a:avLst>
          </a:prstGeom>
          <a:solidFill>
            <a:schemeClr val="accent1"/>
          </a:solidFill>
          <a:ln/>
        </p:spPr>
      </p:sp>
      <p:sp>
        <p:nvSpPr>
          <p:cNvPr id="25" name="Shape 22"/>
          <p:cNvSpPr/>
          <p:nvPr/>
        </p:nvSpPr>
        <p:spPr>
          <a:xfrm>
            <a:off x="6231636" y="3899916"/>
            <a:ext cx="5408676" cy="18288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6414516" y="3579876"/>
            <a:ext cx="50429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chemeClr val="bg1"/>
                </a:solidFill>
              </a:rPr>
              <a:t>NUANCEURS · DU PLUS FAIBLE AU PLUS FORT</a:t>
            </a:r>
            <a:endParaRPr lang="en-US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6414516" y="4183380"/>
            <a:ext cx="5042916" cy="3761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een beetje &lt; vrij &lt; heel &lt; ontzettend</a:t>
            </a:r>
            <a:endParaRPr lang="en-US" sz="2200" dirty="0"/>
          </a:p>
        </p:txBody>
      </p:sp>
      <p:sp>
        <p:nvSpPr>
          <p:cNvPr id="28" name="Text 25"/>
          <p:cNvSpPr txBox="1"/>
          <p:nvPr/>
        </p:nvSpPr>
        <p:spPr>
          <a:xfrm>
            <a:off x="6414516" y="4696714"/>
            <a:ext cx="5042916" cy="5976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un peu &lt; assez &lt; très (aussi </a:t>
            </a:r>
            <a:r>
              <a:rPr lang="en-US" sz="1600" b="1" dirty="0">
                <a:solidFill>
                  <a:schemeClr val="tx1"/>
                </a:solidFill>
              </a:rPr>
              <a:t>zeer</a:t>
            </a:r>
            <a:r>
              <a:rPr lang="en-US" sz="1600" dirty="0">
                <a:solidFill>
                  <a:schemeClr val="tx1"/>
                </a:solidFill>
              </a:rPr>
              <a:t>) &lt; extrêmement</a:t>
            </a:r>
            <a:endParaRPr lang="en-US" sz="16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Juste </a:t>
            </a:r>
            <a:r>
              <a:rPr lang="en-US" sz="1600" b="1" dirty="0">
                <a:solidFill>
                  <a:schemeClr val="tx1"/>
                </a:solidFill>
              </a:rPr>
              <a:t>avant</a:t>
            </a:r>
            <a:r>
              <a:rPr lang="en-US" sz="1600" dirty="0">
                <a:solidFill>
                  <a:schemeClr val="tx1"/>
                </a:solidFill>
              </a:rPr>
              <a:t> l’adjectif : </a:t>
            </a:r>
            <a:r>
              <a:rPr lang="en-US" sz="1600" i="1" dirty="0">
                <a:solidFill>
                  <a:schemeClr val="tx1"/>
                </a:solidFill>
              </a:rPr>
              <a:t>Ik ben </a:t>
            </a:r>
            <a:r>
              <a:rPr lang="en-US" sz="1600" b="1" i="1" dirty="0">
                <a:solidFill>
                  <a:schemeClr val="tx1"/>
                </a:solidFill>
              </a:rPr>
              <a:t>vrij</a:t>
            </a:r>
            <a:r>
              <a:rPr lang="en-US" sz="1600" i="1" dirty="0">
                <a:solidFill>
                  <a:schemeClr val="tx1"/>
                </a:solidFill>
              </a:rPr>
              <a:t> nerveus.</a:t>
            </a:r>
            <a:endParaRPr lang="en-US" sz="1600" dirty="0"/>
          </a:p>
        </p:txBody>
      </p:sp>
      <p:sp>
        <p:nvSpPr>
          <p:cNvPr id="29" name="Shape 26"/>
          <p:cNvSpPr/>
          <p:nvPr/>
        </p:nvSpPr>
        <p:spPr>
          <a:xfrm>
            <a:off x="548640" y="5605272"/>
            <a:ext cx="11091672" cy="685800"/>
          </a:xfrm>
          <a:prstGeom prst="roundRect">
            <a:avLst>
              <a:gd name="adj" fmla="val 10667"/>
            </a:avLst>
          </a:prstGeom>
          <a:solidFill>
            <a:schemeClr val="accent6">
              <a:alpha val="10000"/>
            </a:schemeClr>
          </a:solidFill>
          <a:ln w="9525">
            <a:solidFill>
              <a:schemeClr val="accent6">
                <a:alpha val="70000"/>
              </a:schemeClr>
            </a:solidFill>
            <a:prstDash val="solid"/>
          </a:ln>
        </p:spPr>
      </p:sp>
      <p:pic>
        <p:nvPicPr>
          <p:cNvPr id="3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5783580"/>
            <a:ext cx="329184" cy="329184"/>
          </a:xfrm>
          <a:prstGeom prst="rect">
            <a:avLst/>
          </a:prstGeom>
        </p:spPr>
      </p:pic>
      <p:sp>
        <p:nvSpPr>
          <p:cNvPr id="31" name="Text 27"/>
          <p:cNvSpPr txBox="1"/>
          <p:nvPr/>
        </p:nvSpPr>
        <p:spPr>
          <a:xfrm>
            <a:off x="1234440" y="5641848"/>
            <a:ext cx="102870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6"/>
                </a:solidFill>
              </a:rPr>
              <a:t>Piège pour francophones — </a:t>
            </a:r>
            <a:r>
              <a:rPr lang="en-US" sz="1700" i="1" dirty="0">
                <a:solidFill>
                  <a:schemeClr val="tx1"/>
                </a:solidFill>
              </a:rPr>
              <a:t>Je suis occupé</a:t>
            </a:r>
            <a:r>
              <a:rPr lang="en-US" sz="1700" dirty="0">
                <a:solidFill>
                  <a:schemeClr val="tx1"/>
                </a:solidFill>
              </a:rPr>
              <a:t> = </a:t>
            </a:r>
            <a:r>
              <a:rPr lang="en-US" sz="1700" i="1" dirty="0">
                <a:solidFill>
                  <a:schemeClr val="tx1"/>
                </a:solidFill>
              </a:rPr>
              <a:t>Ik </a:t>
            </a:r>
            <a:r>
              <a:rPr lang="en-US" sz="1700" b="1" i="1" dirty="0">
                <a:solidFill>
                  <a:schemeClr val="tx1"/>
                </a:solidFill>
              </a:rPr>
              <a:t>heb het</a:t>
            </a:r>
            <a:r>
              <a:rPr lang="en-US" sz="1700" i="1" dirty="0">
                <a:solidFill>
                  <a:schemeClr val="tx1"/>
                </a:solidFill>
              </a:rPr>
              <a:t> druk</a:t>
            </a:r>
            <a:r>
              <a:rPr lang="en-US" sz="1700" dirty="0">
                <a:solidFill>
                  <a:schemeClr val="tx1"/>
                </a:solidFill>
              </a:rPr>
              <a:t> (</a:t>
            </a:r>
            <a:r>
              <a:rPr lang="en-US" sz="1700" i="1" dirty="0">
                <a:solidFill>
                  <a:schemeClr val="tx1"/>
                </a:solidFill>
              </a:rPr>
              <a:t>Ik ben druk</a:t>
            </a:r>
            <a:r>
              <a:rPr lang="en-US" sz="1700" dirty="0">
                <a:solidFill>
                  <a:schemeClr val="tx1"/>
                </a:solidFill>
              </a:rPr>
              <a:t> = je suis agité !). </a:t>
            </a:r>
            <a:r>
              <a:rPr lang="en-US" sz="1700" i="1" dirty="0">
                <a:solidFill>
                  <a:schemeClr val="tx1"/>
                </a:solidFill>
              </a:rPr>
              <a:t>J’ai peur</a:t>
            </a:r>
            <a:r>
              <a:rPr lang="en-US" sz="1700" dirty="0">
                <a:solidFill>
                  <a:schemeClr val="tx1"/>
                </a:solidFill>
              </a:rPr>
              <a:t> = </a:t>
            </a:r>
            <a:r>
              <a:rPr lang="en-US" sz="1700" i="1" dirty="0">
                <a:solidFill>
                  <a:schemeClr val="tx1"/>
                </a:solidFill>
              </a:rPr>
              <a:t>Ik </a:t>
            </a:r>
            <a:r>
              <a:rPr lang="en-US" sz="1700" b="1" i="1" dirty="0">
                <a:solidFill>
                  <a:schemeClr val="tx1"/>
                </a:solidFill>
              </a:rPr>
              <a:t>ben</a:t>
            </a:r>
            <a:r>
              <a:rPr lang="en-US" sz="1700" i="1" dirty="0">
                <a:solidFill>
                  <a:schemeClr val="tx1"/>
                </a:solidFill>
              </a:rPr>
              <a:t> bang</a:t>
            </a:r>
            <a:r>
              <a:rPr lang="en-US" sz="1700" dirty="0">
                <a:solidFill>
                  <a:schemeClr val="tx1"/>
                </a:solidFill>
              </a:rPr>
              <a:t> — avec </a:t>
            </a:r>
            <a:r>
              <a:rPr lang="en-US" sz="1700" b="1" dirty="0">
                <a:solidFill>
                  <a:schemeClr val="tx1"/>
                </a:solidFill>
              </a:rPr>
              <a:t>zijn</a:t>
            </a:r>
            <a:r>
              <a:rPr lang="en-US" sz="1700" dirty="0">
                <a:solidFill>
                  <a:schemeClr val="tx1"/>
                </a:solidFill>
              </a:rPr>
              <a:t>, pas hebben.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1.2.10 De juiste emotie kiezen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280160" cy="310896"/>
          </a:xfrm>
          <a:prstGeom prst="roundRect">
            <a:avLst>
              <a:gd name="adj" fmla="val 1470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COUCHE 3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32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481328"/>
            <a:ext cx="7178040" cy="615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Seul ou à deux · 5 min — Lisez le contexte et choisissez l’adjectif qui convient le mieux.</a:t>
            </a:r>
            <a:endParaRPr lang="en-US" sz="1600" dirty="0"/>
          </a:p>
        </p:txBody>
      </p:sp>
      <p:sp>
        <p:nvSpPr>
          <p:cNvPr id="7" name="exercise"/>
          <p:cNvSpPr txBox="1"/>
          <p:nvPr/>
        </p:nvSpPr>
        <p:spPr>
          <a:xfrm>
            <a:off x="548640" y="2170176"/>
            <a:ext cx="7178040" cy="412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en-US" sz="1800" b="1" dirty="0">
                <a:solidFill>
                  <a:schemeClr val="tx2"/>
                </a:solidFill>
              </a:rPr>
              <a:t>1.  </a:t>
            </a:r>
            <a:r>
              <a:rPr lang="en-US" sz="1800" dirty="0">
                <a:solidFill>
                  <a:schemeClr val="tx1"/>
                </a:solidFill>
              </a:rPr>
              <a:t>Pieter heeft vandaag veel werk en morgen nog meer. → Pieter </a:t>
            </a:r>
            <a:r>
              <a:rPr lang="en-US" sz="1800" dirty="0">
                <a:solidFill>
                  <a:schemeClr val="tx1"/>
                </a:solidFill>
              </a:rPr>
              <a:t>is</a:t>
            </a:r>
            <a:r>
              <a:rPr lang="en-US" sz="1800" dirty="0">
                <a:solidFill>
                  <a:schemeClr val="tx1"/>
                </a:solidFill>
              </a:rPr>
              <a:t> </a:t>
            </a:r>
            <a:r>
              <a:rPr lang="en-US" sz="1800" dirty="0">
                <a:solidFill>
                  <a:schemeClr val="tx1"/>
                </a:solidFill>
              </a:rPr>
              <a:t> </a:t>
            </a:r>
            <a:r>
              <a:rPr lang="en-US" sz="1800" dirty="0">
                <a:solidFill>
                  <a:schemeClr val="accent5"/>
                </a:solidFill>
              </a:rPr>
              <a:t>……………</a:t>
            </a:r>
            <a:r>
              <a:rPr lang="en-US" sz="1800" dirty="0">
                <a:solidFill>
                  <a:schemeClr val="tx1"/>
                </a:solidFill>
              </a:rPr>
              <a:t>. </a:t>
            </a:r>
            <a:r>
              <a:rPr lang="en-US" sz="1800" i="1" dirty="0">
                <a:solidFill>
                  <a:schemeClr val="tx1"/>
                </a:solidFill>
              </a:rPr>
              <a:t>(blij · druk · ontspannen)</a:t>
            </a:r>
            <a:endParaRPr lang="en-US" sz="18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800" b="1" dirty="0">
                <a:solidFill>
                  <a:schemeClr val="tx2"/>
                </a:solidFill>
              </a:rPr>
              <a:t>2.  </a:t>
            </a:r>
            <a:r>
              <a:rPr lang="en-US" sz="1800" dirty="0">
                <a:solidFill>
                  <a:schemeClr val="tx1"/>
                </a:solidFill>
              </a:rPr>
              <a:t>Emma heeft goed nieuws gekregen van haar familie. → Emma voelt zich </a:t>
            </a:r>
            <a:r>
              <a:rPr lang="en-US" sz="1800" dirty="0">
                <a:solidFill>
                  <a:schemeClr val="accent5"/>
                </a:solidFill>
              </a:rPr>
              <a:t>……………</a:t>
            </a:r>
            <a:r>
              <a:rPr lang="en-US" sz="1800" dirty="0">
                <a:solidFill>
                  <a:schemeClr val="tx1"/>
                </a:solidFill>
              </a:rPr>
              <a:t>. </a:t>
            </a:r>
            <a:r>
              <a:rPr lang="en-US" sz="1800" i="1" dirty="0">
                <a:solidFill>
                  <a:schemeClr val="tx1"/>
                </a:solidFill>
              </a:rPr>
              <a:t>(verdrietig · gelukkig · bang)</a:t>
            </a:r>
            <a:endParaRPr lang="en-US" sz="18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800" b="1" dirty="0">
                <a:solidFill>
                  <a:schemeClr val="tx2"/>
                </a:solidFill>
              </a:rPr>
              <a:t>3.  </a:t>
            </a:r>
            <a:r>
              <a:rPr lang="en-US" sz="1800" dirty="0">
                <a:solidFill>
                  <a:schemeClr val="tx1"/>
                </a:solidFill>
              </a:rPr>
              <a:t>Sarah heeft vannacht niet goed geslapen. → Sarah is </a:t>
            </a:r>
            <a:r>
              <a:rPr lang="en-US" sz="1800" dirty="0">
                <a:solidFill>
                  <a:schemeClr val="accent5"/>
                </a:solidFill>
              </a:rPr>
              <a:t>……………</a:t>
            </a:r>
            <a:r>
              <a:rPr lang="en-US" sz="1800" dirty="0">
                <a:solidFill>
                  <a:schemeClr val="tx1"/>
                </a:solidFill>
              </a:rPr>
              <a:t>. </a:t>
            </a:r>
            <a:r>
              <a:rPr lang="en-US" sz="1800" i="1" dirty="0">
                <a:solidFill>
                  <a:schemeClr val="tx1"/>
                </a:solidFill>
              </a:rPr>
              <a:t>(moe · nerveus · blij)</a:t>
            </a:r>
            <a:endParaRPr lang="en-US" sz="18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800" b="1" dirty="0">
                <a:solidFill>
                  <a:schemeClr val="tx2"/>
                </a:solidFill>
              </a:rPr>
              <a:t>4.  </a:t>
            </a:r>
            <a:r>
              <a:rPr lang="en-US" sz="1800" dirty="0">
                <a:solidFill>
                  <a:schemeClr val="tx1"/>
                </a:solidFill>
              </a:rPr>
              <a:t>Pieter heeft morgen een belangrijk examen en hij weet niet of hij klaar is. → Pieter voelt zich </a:t>
            </a:r>
            <a:r>
              <a:rPr lang="en-US" sz="1800" dirty="0">
                <a:solidFill>
                  <a:schemeClr val="accent5"/>
                </a:solidFill>
              </a:rPr>
              <a:t>……………</a:t>
            </a:r>
            <a:r>
              <a:rPr lang="en-US" sz="1800" dirty="0">
                <a:solidFill>
                  <a:schemeClr val="tx1"/>
                </a:solidFill>
              </a:rPr>
              <a:t>. </a:t>
            </a:r>
            <a:r>
              <a:rPr lang="en-US" sz="1800" i="1" dirty="0">
                <a:solidFill>
                  <a:schemeClr val="tx1"/>
                </a:solidFill>
              </a:rPr>
              <a:t>(ontspannen · gestrest · gelukkig)</a:t>
            </a:r>
            <a:endParaRPr lang="en-US" sz="18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800" b="1" dirty="0">
                <a:solidFill>
                  <a:schemeClr val="tx2"/>
                </a:solidFill>
              </a:rPr>
              <a:t>5.  </a:t>
            </a:r>
            <a:r>
              <a:rPr lang="en-US" sz="1800" dirty="0">
                <a:solidFill>
                  <a:schemeClr val="tx1"/>
                </a:solidFill>
              </a:rPr>
              <a:t>Emma is op vakantie en ligt op het strand. → Emma is heel </a:t>
            </a:r>
            <a:r>
              <a:rPr lang="en-US" sz="1800" dirty="0">
                <a:solidFill>
                  <a:schemeClr val="accent5"/>
                </a:solidFill>
              </a:rPr>
              <a:t>………………</a:t>
            </a:r>
            <a:r>
              <a:rPr lang="en-US" sz="1800" dirty="0">
                <a:solidFill>
                  <a:schemeClr val="tx1"/>
                </a:solidFill>
              </a:rPr>
              <a:t>. </a:t>
            </a:r>
            <a:r>
              <a:rPr lang="en-US" sz="1800" i="1" dirty="0">
                <a:solidFill>
                  <a:schemeClr val="tx1"/>
                </a:solidFill>
              </a:rPr>
              <a:t>(druk · ontspannen · verdrietig)</a:t>
            </a:r>
            <a:endParaRPr lang="en-US" sz="1800" dirty="0"/>
          </a:p>
        </p:txBody>
      </p:sp>
      <p:pic>
        <p:nvPicPr>
          <p:cNvPr id="8" name="illustration" descr="Illustration du syllabu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08560" y="1481328"/>
            <a:ext cx="3269912" cy="1783080"/>
          </a:xfrm>
          <a:prstGeom prst="rect">
            <a:avLst/>
          </a:prstGeom>
          <a:effectLst>
            <a:outerShdw sx="100000" sy="100000" kx="0" ky="0" algn="bl" rotWithShape="0" blurRad="101600" dist="25400" dir="3600000">
              <a:srgbClr val="000000">
                <a:alpha val="18000"/>
              </a:srgbClr>
            </a:outerShdw>
          </a:effectLst>
        </p:spPr>
      </p:pic>
      <p:sp>
        <p:nvSpPr>
          <p:cNvPr id="9" name="aside"/>
          <p:cNvSpPr/>
          <p:nvPr/>
        </p:nvSpPr>
        <p:spPr>
          <a:xfrm>
            <a:off x="8046720" y="3493008"/>
            <a:ext cx="3593592" cy="2798064"/>
          </a:xfrm>
          <a:prstGeom prst="roundRect">
            <a:avLst>
              <a:gd name="adj" fmla="val 2614"/>
            </a:avLst>
          </a:prstGeom>
          <a:solidFill>
            <a:schemeClr val="accent2">
              <a:alpha val="10000"/>
            </a:schemeClr>
          </a:solidFill>
          <a:ln w="12700">
            <a:solidFill>
              <a:schemeClr val="accent2">
                <a:alpha val="60000"/>
              </a:schemeClr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3675888"/>
            <a:ext cx="292608" cy="292608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8613648" y="3648456"/>
            <a:ext cx="2862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chemeClr val="accent2"/>
                </a:solidFill>
              </a:rPr>
              <a:t>SUR LA PHOTO (P. 32)</a:t>
            </a:r>
            <a:endParaRPr lang="en-US" sz="1400" dirty="0"/>
          </a:p>
        </p:txBody>
      </p:sp>
      <p:sp>
        <p:nvSpPr>
          <p:cNvPr id="12" name="Text 7"/>
          <p:cNvSpPr txBox="1"/>
          <p:nvPr/>
        </p:nvSpPr>
        <p:spPr>
          <a:xfrm>
            <a:off x="8211312" y="4087368"/>
            <a:ext cx="3264408" cy="2066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i="1" dirty="0">
                <a:solidFill>
                  <a:schemeClr val="tx1"/>
                </a:solidFill>
              </a:rPr>
              <a:t>Ik voel me een beetje verward.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i="1" dirty="0">
                <a:solidFill>
                  <a:schemeClr val="tx1"/>
                </a:solidFill>
              </a:rPr>
              <a:t>Ik voel me heel blij!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i="1" dirty="0">
                <a:solidFill>
                  <a:schemeClr val="tx1"/>
                </a:solidFill>
              </a:rPr>
              <a:t>Ik ben vrij moe.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i="1" dirty="0">
                <a:solidFill>
                  <a:schemeClr val="tx1"/>
                </a:solidFill>
              </a:rPr>
              <a:t>Ik </a:t>
            </a:r>
            <a:r>
              <a:rPr lang="en-US" sz="1800" b="1" i="1" dirty="0">
                <a:solidFill>
                  <a:schemeClr val="tx1"/>
                </a:solidFill>
              </a:rPr>
              <a:t>ben</a:t>
            </a:r>
            <a:r>
              <a:rPr lang="en-US" sz="1800" i="1" dirty="0">
                <a:solidFill>
                  <a:schemeClr val="tx1"/>
                </a:solidFill>
              </a:rPr>
              <a:t> vrij </a:t>
            </a:r>
            <a:r>
              <a:rPr lang="en-US" sz="1800" b="1" i="1" dirty="0">
                <a:solidFill>
                  <a:schemeClr val="tx1"/>
                </a:solidFill>
              </a:rPr>
              <a:t>gemotiveerd</a:t>
            </a:r>
            <a:r>
              <a:rPr lang="en-US" sz="1800" i="1" dirty="0">
                <a:solidFill>
                  <a:schemeClr val="tx1"/>
                </a:solidFill>
              </a:rPr>
              <a:t>!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1.2.10 De juiste emotie kiezen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280160" cy="310896"/>
          </a:xfrm>
          <a:prstGeom prst="roundRect">
            <a:avLst>
              <a:gd name="adj" fmla="val 1470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COUCHE 3</a:t>
            </a:r>
            <a:endParaRPr lang="en-US" sz="1200" dirty="0"/>
          </a:p>
        </p:txBody>
      </p:sp>
      <p:sp>
        <p:nvSpPr>
          <p:cNvPr id="4" name="tag"/>
          <p:cNvSpPr/>
          <p:nvPr/>
        </p:nvSpPr>
        <p:spPr>
          <a:xfrm>
            <a:off x="1938528" y="237744"/>
            <a:ext cx="1760220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✓ CORRECTIE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32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481328"/>
            <a:ext cx="7178040" cy="615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Seul ou à deux · 5 min — Lisez le contexte et choisissez l’adjectif qui convient le mieux.</a:t>
            </a:r>
            <a:endParaRPr lang="en-US" sz="1600" dirty="0"/>
          </a:p>
        </p:txBody>
      </p:sp>
      <p:sp>
        <p:nvSpPr>
          <p:cNvPr id="8" name="exercise"/>
          <p:cNvSpPr txBox="1"/>
          <p:nvPr/>
        </p:nvSpPr>
        <p:spPr>
          <a:xfrm>
            <a:off x="548640" y="2170176"/>
            <a:ext cx="7178040" cy="412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en-US" sz="1800" b="1" dirty="0">
                <a:solidFill>
                  <a:schemeClr val="tx2"/>
                </a:solidFill>
              </a:rPr>
              <a:t>1.  </a:t>
            </a:r>
            <a:r>
              <a:rPr lang="en-US" sz="1800" dirty="0">
                <a:solidFill>
                  <a:schemeClr val="tx1"/>
                </a:solidFill>
              </a:rPr>
              <a:t>Pieter heeft vandaag veel werk en morgen nog meer. → Pieter </a:t>
            </a:r>
            <a:r>
              <a:rPr lang="en-US" sz="1800" strike="sngStrike" dirty="0">
                <a:solidFill>
                  <a:schemeClr val="accent6"/>
                </a:solidFill>
              </a:rPr>
              <a:t>is</a:t>
            </a:r>
            <a:r>
              <a:rPr lang="en-US" sz="1800" dirty="0">
                <a:solidFill>
                  <a:schemeClr val="tx1"/>
                </a:solidFill>
              </a:rPr>
              <a:t> </a:t>
            </a:r>
            <a:r>
              <a:rPr lang="en-US" sz="1800" b="1" dirty="0">
                <a:solidFill>
                  <a:schemeClr val="accent3"/>
                </a:solidFill>
              </a:rPr>
              <a:t>heeft het</a:t>
            </a:r>
            <a:r>
              <a:rPr lang="en-US" sz="1800" dirty="0">
                <a:solidFill>
                  <a:schemeClr val="tx1"/>
                </a:solidFill>
              </a:rPr>
              <a:t> </a:t>
            </a:r>
            <a:r>
              <a:rPr lang="en-US" sz="1800" b="1" dirty="0">
                <a:solidFill>
                  <a:schemeClr val="accent3"/>
                </a:solidFill>
              </a:rPr>
              <a:t>druk</a:t>
            </a:r>
            <a:r>
              <a:rPr lang="en-US" sz="1800" dirty="0">
                <a:solidFill>
                  <a:schemeClr val="tx1"/>
                </a:solidFill>
              </a:rPr>
              <a:t>. </a:t>
            </a:r>
            <a:r>
              <a:rPr lang="en-US" sz="1800" i="1" dirty="0">
                <a:solidFill>
                  <a:schemeClr val="tx1"/>
                </a:solidFill>
              </a:rPr>
              <a:t>(blij · druk · ontspannen)</a:t>
            </a:r>
            <a:endParaRPr lang="en-US" sz="18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800" b="1" dirty="0">
                <a:solidFill>
                  <a:schemeClr val="tx2"/>
                </a:solidFill>
              </a:rPr>
              <a:t>2.  </a:t>
            </a:r>
            <a:r>
              <a:rPr lang="en-US" sz="1800" dirty="0">
                <a:solidFill>
                  <a:schemeClr val="tx1"/>
                </a:solidFill>
              </a:rPr>
              <a:t>Emma heeft goed nieuws gekregen van haar familie. → Emma voelt zich </a:t>
            </a:r>
            <a:r>
              <a:rPr lang="en-US" sz="1800" b="1" dirty="0">
                <a:solidFill>
                  <a:schemeClr val="accent3"/>
                </a:solidFill>
              </a:rPr>
              <a:t>gelukkig</a:t>
            </a:r>
            <a:r>
              <a:rPr lang="en-US" sz="1800" dirty="0">
                <a:solidFill>
                  <a:schemeClr val="tx1"/>
                </a:solidFill>
              </a:rPr>
              <a:t>. </a:t>
            </a:r>
            <a:r>
              <a:rPr lang="en-US" sz="1800" i="1" dirty="0">
                <a:solidFill>
                  <a:schemeClr val="tx1"/>
                </a:solidFill>
              </a:rPr>
              <a:t>(verdrietig · gelukkig · bang)</a:t>
            </a:r>
            <a:endParaRPr lang="en-US" sz="18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800" b="1" dirty="0">
                <a:solidFill>
                  <a:schemeClr val="tx2"/>
                </a:solidFill>
              </a:rPr>
              <a:t>3.  </a:t>
            </a:r>
            <a:r>
              <a:rPr lang="en-US" sz="1800" dirty="0">
                <a:solidFill>
                  <a:schemeClr val="tx1"/>
                </a:solidFill>
              </a:rPr>
              <a:t>Sarah heeft vannacht niet goed geslapen. → Sarah is </a:t>
            </a:r>
            <a:r>
              <a:rPr lang="en-US" sz="1800" b="1" dirty="0">
                <a:solidFill>
                  <a:schemeClr val="accent3"/>
                </a:solidFill>
              </a:rPr>
              <a:t>moe</a:t>
            </a:r>
            <a:r>
              <a:rPr lang="en-US" sz="1800" dirty="0">
                <a:solidFill>
                  <a:schemeClr val="tx1"/>
                </a:solidFill>
              </a:rPr>
              <a:t>. </a:t>
            </a:r>
            <a:r>
              <a:rPr lang="en-US" sz="1800" i="1" dirty="0">
                <a:solidFill>
                  <a:schemeClr val="tx1"/>
                </a:solidFill>
              </a:rPr>
              <a:t>(moe · nerveus · blij)</a:t>
            </a:r>
            <a:endParaRPr lang="en-US" sz="18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800" b="1" dirty="0">
                <a:solidFill>
                  <a:schemeClr val="tx2"/>
                </a:solidFill>
              </a:rPr>
              <a:t>4.  </a:t>
            </a:r>
            <a:r>
              <a:rPr lang="en-US" sz="1800" dirty="0">
                <a:solidFill>
                  <a:schemeClr val="tx1"/>
                </a:solidFill>
              </a:rPr>
              <a:t>Pieter heeft morgen een belangrijk examen en hij weet niet of hij klaar is. → Pieter voelt zich </a:t>
            </a:r>
            <a:r>
              <a:rPr lang="en-US" sz="1800" b="1" dirty="0">
                <a:solidFill>
                  <a:schemeClr val="accent3"/>
                </a:solidFill>
              </a:rPr>
              <a:t>gestrest</a:t>
            </a:r>
            <a:r>
              <a:rPr lang="en-US" sz="1800" dirty="0">
                <a:solidFill>
                  <a:schemeClr val="tx1"/>
                </a:solidFill>
              </a:rPr>
              <a:t>. </a:t>
            </a:r>
            <a:r>
              <a:rPr lang="en-US" sz="1800" i="1" dirty="0">
                <a:solidFill>
                  <a:schemeClr val="tx1"/>
                </a:solidFill>
              </a:rPr>
              <a:t>(ontspannen · gestrest · gelukkig)</a:t>
            </a:r>
            <a:endParaRPr lang="en-US" sz="18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800" b="1" dirty="0">
                <a:solidFill>
                  <a:schemeClr val="tx2"/>
                </a:solidFill>
              </a:rPr>
              <a:t>5.  </a:t>
            </a:r>
            <a:r>
              <a:rPr lang="en-US" sz="1800" dirty="0">
                <a:solidFill>
                  <a:schemeClr val="tx1"/>
                </a:solidFill>
              </a:rPr>
              <a:t>Emma is op vakantie en ligt op het strand. → Emma is heel </a:t>
            </a:r>
            <a:r>
              <a:rPr lang="en-US" sz="1800" b="1" dirty="0">
                <a:solidFill>
                  <a:schemeClr val="accent3"/>
                </a:solidFill>
              </a:rPr>
              <a:t>ontspannen</a:t>
            </a:r>
            <a:r>
              <a:rPr lang="en-US" sz="1800" dirty="0">
                <a:solidFill>
                  <a:schemeClr val="tx1"/>
                </a:solidFill>
              </a:rPr>
              <a:t>. </a:t>
            </a:r>
            <a:r>
              <a:rPr lang="en-US" sz="1800" i="1" dirty="0">
                <a:solidFill>
                  <a:schemeClr val="tx1"/>
                </a:solidFill>
              </a:rPr>
              <a:t>(druk · ontspannen · verdrietig)</a:t>
            </a:r>
            <a:endParaRPr lang="en-US" sz="1800" dirty="0"/>
          </a:p>
        </p:txBody>
      </p:sp>
      <p:pic>
        <p:nvPicPr>
          <p:cNvPr id="9" name="illustration" descr="Illustration du syllabu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08560" y="1481328"/>
            <a:ext cx="3269912" cy="1783080"/>
          </a:xfrm>
          <a:prstGeom prst="rect">
            <a:avLst/>
          </a:prstGeom>
          <a:effectLst>
            <a:outerShdw sx="100000" sy="100000" kx="0" ky="0" algn="bl" rotWithShape="0" blurRad="101600" dist="25400" dir="3600000">
              <a:srgbClr val="000000">
                <a:alpha val="18000"/>
              </a:srgbClr>
            </a:outerShdw>
          </a:effectLst>
        </p:spPr>
      </p:pic>
      <p:sp>
        <p:nvSpPr>
          <p:cNvPr id="10" name="aside"/>
          <p:cNvSpPr/>
          <p:nvPr/>
        </p:nvSpPr>
        <p:spPr>
          <a:xfrm>
            <a:off x="8046720" y="3493008"/>
            <a:ext cx="3593592" cy="2798064"/>
          </a:xfrm>
          <a:prstGeom prst="roundRect">
            <a:avLst>
              <a:gd name="adj" fmla="val 2614"/>
            </a:avLst>
          </a:prstGeom>
          <a:solidFill>
            <a:schemeClr val="accent6">
              <a:alpha val="10000"/>
            </a:schemeClr>
          </a:solidFill>
          <a:ln w="12700">
            <a:solidFill>
              <a:schemeClr val="accent6">
                <a:alpha val="60000"/>
              </a:schemeClr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3675888"/>
            <a:ext cx="292608" cy="292608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8613648" y="3648456"/>
            <a:ext cx="2862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chemeClr val="accent6"/>
                </a:solidFill>
              </a:rPr>
              <a:t>ATTENTION</a:t>
            </a:r>
            <a:endParaRPr lang="en-US" sz="1400" dirty="0"/>
          </a:p>
        </p:txBody>
      </p:sp>
      <p:sp>
        <p:nvSpPr>
          <p:cNvPr id="13" name="Text 8"/>
          <p:cNvSpPr txBox="1"/>
          <p:nvPr/>
        </p:nvSpPr>
        <p:spPr>
          <a:xfrm>
            <a:off x="8211312" y="4087368"/>
            <a:ext cx="3264408" cy="2066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Item 1 : </a:t>
            </a:r>
            <a:r>
              <a:rPr lang="en-US" sz="1800" i="1" dirty="0">
                <a:solidFill>
                  <a:schemeClr val="tx1"/>
                </a:solidFill>
              </a:rPr>
              <a:t>Pieter </a:t>
            </a:r>
            <a:r>
              <a:rPr lang="en-US" sz="1800" b="1" i="1" dirty="0">
                <a:solidFill>
                  <a:schemeClr val="tx1"/>
                </a:solidFill>
              </a:rPr>
              <a:t>heeft het</a:t>
            </a:r>
            <a:r>
              <a:rPr lang="en-US" sz="1800" i="1" dirty="0">
                <a:solidFill>
                  <a:schemeClr val="tx1"/>
                </a:solidFill>
              </a:rPr>
              <a:t> druk</a:t>
            </a:r>
            <a:r>
              <a:rPr lang="en-US" sz="1800" dirty="0">
                <a:solidFill>
                  <a:schemeClr val="tx1"/>
                </a:solidFill>
              </a:rPr>
              <a:t> (</a:t>
            </a:r>
            <a:r>
              <a:rPr lang="en-US" sz="1800" i="1" dirty="0">
                <a:solidFill>
                  <a:schemeClr val="tx1"/>
                </a:solidFill>
              </a:rPr>
              <a:t>Pieter is druk</a:t>
            </a:r>
            <a:r>
              <a:rPr lang="en-US" sz="1800" dirty="0">
                <a:solidFill>
                  <a:schemeClr val="tx1"/>
                </a:solidFill>
              </a:rPr>
              <a:t> = il est agité).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zich voelen</a:t>
            </a:r>
            <a:r>
              <a:rPr lang="en-US" sz="1800" dirty="0">
                <a:solidFill>
                  <a:schemeClr val="tx1"/>
                </a:solidFill>
              </a:rPr>
              <a:t> : </a:t>
            </a:r>
            <a:r>
              <a:rPr lang="en-US" sz="1800" i="1" dirty="0">
                <a:solidFill>
                  <a:schemeClr val="tx1"/>
                </a:solidFill>
              </a:rPr>
              <a:t>Emma voelt </a:t>
            </a:r>
            <a:r>
              <a:rPr lang="en-US" sz="1800" b="1" i="1" dirty="0">
                <a:solidFill>
                  <a:schemeClr val="tx1"/>
                </a:solidFill>
              </a:rPr>
              <a:t>zich</a:t>
            </a:r>
            <a:r>
              <a:rPr lang="en-US" sz="1800" i="1" dirty="0">
                <a:solidFill>
                  <a:schemeClr val="tx1"/>
                </a:solidFill>
              </a:rPr>
              <a:t>…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Nuanceur juste avant l’adjectif : </a:t>
            </a:r>
            <a:r>
              <a:rPr lang="en-US" sz="1800" i="1" dirty="0">
                <a:solidFill>
                  <a:schemeClr val="tx1"/>
                </a:solidFill>
              </a:rPr>
              <a:t>heel ontspannen</a:t>
            </a:r>
            <a:r>
              <a:rPr lang="en-US" sz="1800" dirty="0">
                <a:solidFill>
                  <a:schemeClr val="tx1"/>
                </a:solidFill>
              </a:rPr>
              <a:t>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Jij nu! Raad de emoties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165860" cy="310896"/>
          </a:xfrm>
          <a:prstGeom prst="roundRect">
            <a:avLst>
              <a:gd name="adj" fmla="val 1470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JIJ NU!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33</a:t>
            </a:r>
            <a:endParaRPr lang="en-US" sz="1200" dirty="0"/>
          </a:p>
        </p:txBody>
      </p:sp>
      <p:pic>
        <p:nvPicPr>
          <p:cNvPr id="6" name="illustration" descr="Illustration du syllabu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81328"/>
            <a:ext cx="6417366" cy="4809744"/>
          </a:xfrm>
          <a:prstGeom prst="rect">
            <a:avLst/>
          </a:prstGeom>
          <a:effectLst>
            <a:outerShdw sx="100000" sy="100000" kx="0" ky="0" algn="bl" rotWithShape="0" blurRad="101600" dist="25400" dir="3600000">
              <a:srgbClr val="000000">
                <a:alpha val="18000"/>
              </a:srgbClr>
            </a:outerShdw>
          </a:effectLst>
        </p:spPr>
      </p:pic>
      <p:sp>
        <p:nvSpPr>
          <p:cNvPr id="7" name="aside"/>
          <p:cNvSpPr/>
          <p:nvPr/>
        </p:nvSpPr>
        <p:spPr>
          <a:xfrm>
            <a:off x="7286046" y="1481328"/>
            <a:ext cx="4354266" cy="4809744"/>
          </a:xfrm>
          <a:prstGeom prst="roundRect">
            <a:avLst>
              <a:gd name="adj" fmla="val 1680"/>
            </a:avLst>
          </a:prstGeom>
          <a:solidFill>
            <a:schemeClr val="accent1">
              <a:alpha val="10000"/>
            </a:schemeClr>
          </a:solidFill>
          <a:ln w="12700">
            <a:solidFill>
              <a:schemeClr val="accent1">
                <a:alpha val="60000"/>
              </a:schemeClr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8926" y="1664208"/>
            <a:ext cx="292608" cy="292608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7852974" y="1636776"/>
            <a:ext cx="362274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chemeClr val="accent1"/>
                </a:solidFill>
              </a:rPr>
              <a:t>COMMENT JOUER</a:t>
            </a:r>
            <a:endParaRPr lang="en-US" sz="1400" dirty="0"/>
          </a:p>
        </p:txBody>
      </p:sp>
      <p:sp>
        <p:nvSpPr>
          <p:cNvPr id="10" name="Text 5"/>
          <p:cNvSpPr txBox="1"/>
          <p:nvPr/>
        </p:nvSpPr>
        <p:spPr>
          <a:xfrm>
            <a:off x="7450638" y="2075688"/>
            <a:ext cx="4025082" cy="4078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Par deux · 10 min · </a:t>
            </a:r>
            <a:r>
              <a:rPr lang="en-US" sz="1800" b="1" dirty="0">
                <a:solidFill>
                  <a:schemeClr val="tx1"/>
                </a:solidFill>
              </a:rPr>
              <a:t>6 mimes</a:t>
            </a:r>
            <a:r>
              <a:rPr lang="en-US" sz="1800" dirty="0">
                <a:solidFill>
                  <a:schemeClr val="tx1"/>
                </a:solidFill>
              </a:rPr>
              <a:t> chacun, puis on change de rôle.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A choisit en secret </a:t>
            </a:r>
            <a:r>
              <a:rPr lang="en-US" sz="1800" b="1" dirty="0">
                <a:solidFill>
                  <a:schemeClr val="tx1"/>
                </a:solidFill>
              </a:rPr>
              <a:t>un nuanceur + un adjectif</a:t>
            </a:r>
            <a:r>
              <a:rPr lang="en-US" sz="1800" dirty="0">
                <a:solidFill>
                  <a:schemeClr val="tx1"/>
                </a:solidFill>
              </a:rPr>
              <a:t>, puis mime.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B devine : </a:t>
            </a:r>
            <a:r>
              <a:rPr lang="en-US" sz="1800" i="1" dirty="0">
                <a:solidFill>
                  <a:schemeClr val="tx1"/>
                </a:solidFill>
              </a:rPr>
              <a:t>Je bent een beetje moe!</a:t>
            </a:r>
            <a:r>
              <a:rPr lang="en-US" sz="1800" dirty="0">
                <a:solidFill>
                  <a:schemeClr val="tx1"/>
                </a:solidFill>
              </a:rPr>
              <a:t> · </a:t>
            </a:r>
            <a:r>
              <a:rPr lang="en-US" sz="1800" i="1" dirty="0">
                <a:solidFill>
                  <a:schemeClr val="tx1"/>
                </a:solidFill>
              </a:rPr>
              <a:t>Je voelt je heel gestrest!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A répond : </a:t>
            </a:r>
            <a:r>
              <a:rPr lang="en-US" sz="1800" i="1" dirty="0">
                <a:solidFill>
                  <a:schemeClr val="tx1"/>
                </a:solidFill>
              </a:rPr>
              <a:t>Ja!</a:t>
            </a:r>
            <a:r>
              <a:rPr lang="en-US" sz="1800" dirty="0">
                <a:solidFill>
                  <a:schemeClr val="tx1"/>
                </a:solidFill>
              </a:rPr>
              <a:t> ou </a:t>
            </a:r>
            <a:r>
              <a:rPr lang="en-US" sz="1800" i="1" dirty="0">
                <a:solidFill>
                  <a:schemeClr val="tx1"/>
                </a:solidFill>
              </a:rPr>
              <a:t>Nee, ik ben ontzettend moe!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Une case cochée par émotion </a:t>
            </a:r>
            <a:r>
              <a:rPr lang="en-US" sz="1800" b="1" dirty="0">
                <a:solidFill>
                  <a:schemeClr val="tx1"/>
                </a:solidFill>
              </a:rPr>
              <a:t>juist geraden</a:t>
            </a:r>
            <a:r>
              <a:rPr lang="en-US" sz="1800" dirty="0">
                <a:solidFill>
                  <a:schemeClr val="tx1"/>
                </a:solidFill>
              </a:rPr>
              <a:t>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EXTRA Intensiteit toevoegen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937260" cy="310896"/>
          </a:xfrm>
          <a:prstGeom prst="roundRect">
            <a:avLst>
              <a:gd name="adj" fmla="val 14706"/>
            </a:avLst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EXTRA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34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481328"/>
            <a:ext cx="7178040" cy="615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Seul ou à deux · 5 min — Complétez avec le nuanceur qui correspond à l’intensité indiquée.</a:t>
            </a:r>
            <a:endParaRPr lang="en-US" sz="1600" dirty="0"/>
          </a:p>
        </p:txBody>
      </p:sp>
      <p:sp>
        <p:nvSpPr>
          <p:cNvPr id="7" name="exercise"/>
          <p:cNvSpPr txBox="1"/>
          <p:nvPr/>
        </p:nvSpPr>
        <p:spPr>
          <a:xfrm>
            <a:off x="548640" y="2170176"/>
            <a:ext cx="7178040" cy="412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600"/>
              </a:spcAft>
              <a:buNone/>
            </a:pPr>
            <a:r>
              <a:rPr lang="en-US" sz="2300" b="1" dirty="0">
                <a:solidFill>
                  <a:schemeClr val="tx2"/>
                </a:solidFill>
              </a:rPr>
              <a:t>1.  </a:t>
            </a:r>
            <a:r>
              <a:rPr lang="en-US" sz="2300" dirty="0">
                <a:solidFill>
                  <a:schemeClr val="tx1"/>
                </a:solidFill>
              </a:rPr>
              <a:t>Ik ben </a:t>
            </a:r>
            <a:r>
              <a:rPr lang="en-US" sz="2300" dirty="0">
                <a:solidFill>
                  <a:schemeClr val="accent5"/>
                </a:solidFill>
              </a:rPr>
              <a:t>………………</a:t>
            </a:r>
            <a:r>
              <a:rPr lang="en-US" sz="2300" dirty="0">
                <a:solidFill>
                  <a:schemeClr val="tx1"/>
                </a:solidFill>
              </a:rPr>
              <a:t> moe. </a:t>
            </a:r>
            <a:r>
              <a:rPr lang="en-US" sz="2300" i="1" dirty="0">
                <a:solidFill>
                  <a:schemeClr val="tx1"/>
                </a:solidFill>
              </a:rPr>
              <a:t>(légère)</a:t>
            </a:r>
            <a:endParaRPr lang="en-US" sz="2300" dirty="0"/>
          </a:p>
          <a:p>
            <a:pPr indent="0" marL="0">
              <a:spcAft>
                <a:spcPts val="1600"/>
              </a:spcAft>
              <a:buNone/>
            </a:pPr>
            <a:r>
              <a:rPr lang="en-US" sz="2300" b="1" dirty="0">
                <a:solidFill>
                  <a:schemeClr val="tx2"/>
                </a:solidFill>
              </a:rPr>
              <a:t>2.  </a:t>
            </a:r>
            <a:r>
              <a:rPr lang="en-US" sz="2300" dirty="0">
                <a:solidFill>
                  <a:schemeClr val="tx1"/>
                </a:solidFill>
              </a:rPr>
              <a:t>Pieter voelt zich </a:t>
            </a:r>
            <a:r>
              <a:rPr lang="en-US" sz="2300" dirty="0">
                <a:solidFill>
                  <a:schemeClr val="accent5"/>
                </a:solidFill>
              </a:rPr>
              <a:t>………………</a:t>
            </a:r>
            <a:r>
              <a:rPr lang="en-US" sz="2300" dirty="0">
                <a:solidFill>
                  <a:schemeClr val="tx1"/>
                </a:solidFill>
              </a:rPr>
              <a:t> gestrest. </a:t>
            </a:r>
            <a:r>
              <a:rPr lang="en-US" sz="2300" i="1" dirty="0">
                <a:solidFill>
                  <a:schemeClr val="tx1"/>
                </a:solidFill>
              </a:rPr>
              <a:t>(très forte)</a:t>
            </a:r>
            <a:endParaRPr lang="en-US" sz="2300" dirty="0"/>
          </a:p>
          <a:p>
            <a:pPr indent="0" marL="0">
              <a:spcAft>
                <a:spcPts val="1600"/>
              </a:spcAft>
              <a:buNone/>
            </a:pPr>
            <a:r>
              <a:rPr lang="en-US" sz="2300" b="1" dirty="0">
                <a:solidFill>
                  <a:schemeClr val="tx2"/>
                </a:solidFill>
              </a:rPr>
              <a:t>3.  </a:t>
            </a:r>
            <a:r>
              <a:rPr lang="en-US" sz="2300" dirty="0">
                <a:solidFill>
                  <a:schemeClr val="tx1"/>
                </a:solidFill>
              </a:rPr>
              <a:t>Ik voel me </a:t>
            </a:r>
            <a:r>
              <a:rPr lang="en-US" sz="2300" dirty="0">
                <a:solidFill>
                  <a:schemeClr val="accent5"/>
                </a:solidFill>
              </a:rPr>
              <a:t>……………</a:t>
            </a:r>
            <a:r>
              <a:rPr lang="en-US" sz="2300" dirty="0">
                <a:solidFill>
                  <a:schemeClr val="tx1"/>
                </a:solidFill>
              </a:rPr>
              <a:t> nerveus voor de presentatie. </a:t>
            </a:r>
            <a:r>
              <a:rPr lang="en-US" sz="2300" i="1" dirty="0">
                <a:solidFill>
                  <a:schemeClr val="tx1"/>
                </a:solidFill>
              </a:rPr>
              <a:t>(moyenne)</a:t>
            </a:r>
            <a:endParaRPr lang="en-US" sz="2300" dirty="0"/>
          </a:p>
          <a:p>
            <a:pPr indent="0" marL="0">
              <a:spcAft>
                <a:spcPts val="1600"/>
              </a:spcAft>
              <a:buNone/>
            </a:pPr>
            <a:r>
              <a:rPr lang="en-US" sz="2300" b="1" dirty="0">
                <a:solidFill>
                  <a:schemeClr val="tx2"/>
                </a:solidFill>
              </a:rPr>
              <a:t>4.  </a:t>
            </a:r>
            <a:r>
              <a:rPr lang="en-US" sz="2300" dirty="0">
                <a:solidFill>
                  <a:schemeClr val="tx1"/>
                </a:solidFill>
              </a:rPr>
              <a:t>Sarah is </a:t>
            </a:r>
            <a:r>
              <a:rPr lang="en-US" sz="2300" dirty="0">
                <a:solidFill>
                  <a:schemeClr val="accent5"/>
                </a:solidFill>
              </a:rPr>
              <a:t>………………</a:t>
            </a:r>
            <a:r>
              <a:rPr lang="en-US" sz="2300" dirty="0">
                <a:solidFill>
                  <a:schemeClr val="tx1"/>
                </a:solidFill>
              </a:rPr>
              <a:t> gelukkig in Nederland. </a:t>
            </a:r>
            <a:r>
              <a:rPr lang="en-US" sz="2300" i="1" dirty="0">
                <a:solidFill>
                  <a:schemeClr val="tx1"/>
                </a:solidFill>
              </a:rPr>
              <a:t>(extrême)</a:t>
            </a:r>
            <a:endParaRPr lang="en-US" sz="2300" dirty="0"/>
          </a:p>
          <a:p>
            <a:pPr indent="0" marL="0">
              <a:spcAft>
                <a:spcPts val="1600"/>
              </a:spcAft>
              <a:buNone/>
            </a:pPr>
            <a:r>
              <a:rPr lang="en-US" sz="2300" b="1" dirty="0">
                <a:solidFill>
                  <a:schemeClr val="tx2"/>
                </a:solidFill>
              </a:rPr>
              <a:t>5.  </a:t>
            </a:r>
            <a:r>
              <a:rPr lang="en-US" sz="2300" dirty="0">
                <a:solidFill>
                  <a:schemeClr val="tx1"/>
                </a:solidFill>
              </a:rPr>
              <a:t>Wij </a:t>
            </a:r>
            <a:r>
              <a:rPr lang="en-US" sz="2300" dirty="0">
                <a:solidFill>
                  <a:schemeClr val="tx1"/>
                </a:solidFill>
              </a:rPr>
              <a:t>zijn</a:t>
            </a:r>
            <a:r>
              <a:rPr lang="en-US" sz="2300" dirty="0">
                <a:solidFill>
                  <a:schemeClr val="tx1"/>
                </a:solidFill>
              </a:rPr>
              <a:t> </a:t>
            </a:r>
            <a:r>
              <a:rPr lang="en-US" sz="2300" dirty="0">
                <a:solidFill>
                  <a:schemeClr val="tx1"/>
                </a:solidFill>
              </a:rPr>
              <a:t> </a:t>
            </a:r>
            <a:r>
              <a:rPr lang="en-US" sz="2300" dirty="0">
                <a:solidFill>
                  <a:schemeClr val="accent5"/>
                </a:solidFill>
              </a:rPr>
              <a:t>……………</a:t>
            </a:r>
            <a:r>
              <a:rPr lang="en-US" sz="2300" dirty="0">
                <a:solidFill>
                  <a:schemeClr val="tx1"/>
                </a:solidFill>
              </a:rPr>
              <a:t> druk deze week. </a:t>
            </a:r>
            <a:r>
              <a:rPr lang="en-US" sz="2300" i="1" dirty="0">
                <a:solidFill>
                  <a:schemeClr val="tx1"/>
                </a:solidFill>
              </a:rPr>
              <a:t>(forte)</a:t>
            </a:r>
            <a:endParaRPr lang="en-US" sz="2300" dirty="0"/>
          </a:p>
        </p:txBody>
      </p:sp>
      <p:sp>
        <p:nvSpPr>
          <p:cNvPr id="8" name="aside"/>
          <p:cNvSpPr/>
          <p:nvPr/>
        </p:nvSpPr>
        <p:spPr>
          <a:xfrm>
            <a:off x="8046720" y="1481328"/>
            <a:ext cx="3593592" cy="4809744"/>
          </a:xfrm>
          <a:prstGeom prst="roundRect">
            <a:avLst>
              <a:gd name="adj" fmla="val 2036"/>
            </a:avLst>
          </a:prstGeom>
          <a:solidFill>
            <a:schemeClr val="accent1">
              <a:alpha val="10000"/>
            </a:schemeClr>
          </a:solidFill>
          <a:ln w="12700">
            <a:solidFill>
              <a:schemeClr val="accent1">
                <a:alpha val="60000"/>
              </a:schemeClr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1664208"/>
            <a:ext cx="292608" cy="29260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8613648" y="1636776"/>
            <a:ext cx="2862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chemeClr val="accent1"/>
                </a:solidFill>
              </a:rPr>
              <a:t>LES NUANCEURS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8211312" y="2075688"/>
            <a:ext cx="3264408" cy="4078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léger : </a:t>
            </a:r>
            <a:r>
              <a:rPr lang="en-US" sz="1800" b="1" dirty="0">
                <a:solidFill>
                  <a:schemeClr val="tx1"/>
                </a:solidFill>
              </a:rPr>
              <a:t>een beetje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moyen : </a:t>
            </a:r>
            <a:r>
              <a:rPr lang="en-US" sz="1800" b="1" dirty="0">
                <a:solidFill>
                  <a:schemeClr val="tx1"/>
                </a:solidFill>
              </a:rPr>
              <a:t>vrij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fort : </a:t>
            </a:r>
            <a:r>
              <a:rPr lang="en-US" sz="1800" b="1" dirty="0">
                <a:solidFill>
                  <a:schemeClr val="tx1"/>
                </a:solidFill>
              </a:rPr>
              <a:t>heel / zeer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intense : </a:t>
            </a:r>
            <a:r>
              <a:rPr lang="en-US" sz="1800" b="1" dirty="0">
                <a:solidFill>
                  <a:schemeClr val="tx1"/>
                </a:solidFill>
              </a:rPr>
              <a:t>ontzettend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EXTRA Intensiteit toevoegen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937260" cy="310896"/>
          </a:xfrm>
          <a:prstGeom prst="roundRect">
            <a:avLst>
              <a:gd name="adj" fmla="val 14706"/>
            </a:avLst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EXTRA</a:t>
            </a:r>
            <a:endParaRPr lang="en-US" sz="1200" dirty="0"/>
          </a:p>
        </p:txBody>
      </p:sp>
      <p:sp>
        <p:nvSpPr>
          <p:cNvPr id="4" name="tag"/>
          <p:cNvSpPr/>
          <p:nvPr/>
        </p:nvSpPr>
        <p:spPr>
          <a:xfrm>
            <a:off x="1595628" y="237744"/>
            <a:ext cx="1760220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✓ CORRECTIE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34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481328"/>
            <a:ext cx="7178040" cy="615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Seul ou à deux · 5 min — Complétez avec le nuanceur qui correspond à l’intensité indiquée.</a:t>
            </a:r>
            <a:endParaRPr lang="en-US" sz="1600" dirty="0"/>
          </a:p>
        </p:txBody>
      </p:sp>
      <p:sp>
        <p:nvSpPr>
          <p:cNvPr id="8" name="exercise"/>
          <p:cNvSpPr txBox="1"/>
          <p:nvPr/>
        </p:nvSpPr>
        <p:spPr>
          <a:xfrm>
            <a:off x="548640" y="2170176"/>
            <a:ext cx="7178040" cy="412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600"/>
              </a:spcAft>
              <a:buNone/>
            </a:pPr>
            <a:r>
              <a:rPr lang="en-US" sz="2300" b="1" dirty="0">
                <a:solidFill>
                  <a:schemeClr val="tx2"/>
                </a:solidFill>
              </a:rPr>
              <a:t>1.  </a:t>
            </a:r>
            <a:r>
              <a:rPr lang="en-US" sz="2300" dirty="0">
                <a:solidFill>
                  <a:schemeClr val="tx1"/>
                </a:solidFill>
              </a:rPr>
              <a:t>Ik ben </a:t>
            </a:r>
            <a:r>
              <a:rPr lang="en-US" sz="2300" b="1" dirty="0">
                <a:solidFill>
                  <a:schemeClr val="accent3"/>
                </a:solidFill>
              </a:rPr>
              <a:t>een beetje</a:t>
            </a:r>
            <a:r>
              <a:rPr lang="en-US" sz="2300" dirty="0">
                <a:solidFill>
                  <a:schemeClr val="tx1"/>
                </a:solidFill>
              </a:rPr>
              <a:t> moe. </a:t>
            </a:r>
            <a:r>
              <a:rPr lang="en-US" sz="2300" i="1" dirty="0">
                <a:solidFill>
                  <a:schemeClr val="tx1"/>
                </a:solidFill>
              </a:rPr>
              <a:t>(légère)</a:t>
            </a:r>
            <a:endParaRPr lang="en-US" sz="2300" dirty="0"/>
          </a:p>
          <a:p>
            <a:pPr indent="0" marL="0">
              <a:spcAft>
                <a:spcPts val="1600"/>
              </a:spcAft>
              <a:buNone/>
            </a:pPr>
            <a:r>
              <a:rPr lang="en-US" sz="2300" b="1" dirty="0">
                <a:solidFill>
                  <a:schemeClr val="tx2"/>
                </a:solidFill>
              </a:rPr>
              <a:t>2.  </a:t>
            </a:r>
            <a:r>
              <a:rPr lang="en-US" sz="2300" dirty="0">
                <a:solidFill>
                  <a:schemeClr val="tx1"/>
                </a:solidFill>
              </a:rPr>
              <a:t>Pieter voelt zich </a:t>
            </a:r>
            <a:r>
              <a:rPr lang="en-US" sz="2300" b="1" dirty="0">
                <a:solidFill>
                  <a:schemeClr val="accent3"/>
                </a:solidFill>
              </a:rPr>
              <a:t>ontzettend</a:t>
            </a:r>
            <a:r>
              <a:rPr lang="en-US" sz="2300" dirty="0">
                <a:solidFill>
                  <a:schemeClr val="tx1"/>
                </a:solidFill>
              </a:rPr>
              <a:t> gestrest. </a:t>
            </a:r>
            <a:r>
              <a:rPr lang="en-US" sz="2300" i="1" dirty="0">
                <a:solidFill>
                  <a:schemeClr val="tx1"/>
                </a:solidFill>
              </a:rPr>
              <a:t>(très forte)</a:t>
            </a:r>
            <a:endParaRPr lang="en-US" sz="2300" dirty="0"/>
          </a:p>
          <a:p>
            <a:pPr indent="0" marL="0">
              <a:spcAft>
                <a:spcPts val="1600"/>
              </a:spcAft>
              <a:buNone/>
            </a:pPr>
            <a:r>
              <a:rPr lang="en-US" sz="2300" b="1" dirty="0">
                <a:solidFill>
                  <a:schemeClr val="tx2"/>
                </a:solidFill>
              </a:rPr>
              <a:t>3.  </a:t>
            </a:r>
            <a:r>
              <a:rPr lang="en-US" sz="2300" dirty="0">
                <a:solidFill>
                  <a:schemeClr val="tx1"/>
                </a:solidFill>
              </a:rPr>
              <a:t>Ik voel me </a:t>
            </a:r>
            <a:r>
              <a:rPr lang="en-US" sz="2300" b="1" dirty="0">
                <a:solidFill>
                  <a:schemeClr val="accent3"/>
                </a:solidFill>
              </a:rPr>
              <a:t>vrij</a:t>
            </a:r>
            <a:r>
              <a:rPr lang="en-US" sz="2300" dirty="0">
                <a:solidFill>
                  <a:schemeClr val="tx1"/>
                </a:solidFill>
              </a:rPr>
              <a:t> nerveus voor de presentatie. </a:t>
            </a:r>
            <a:r>
              <a:rPr lang="en-US" sz="2300" i="1" dirty="0">
                <a:solidFill>
                  <a:schemeClr val="tx1"/>
                </a:solidFill>
              </a:rPr>
              <a:t>(moyenne)</a:t>
            </a:r>
            <a:endParaRPr lang="en-US" sz="2300" dirty="0"/>
          </a:p>
          <a:p>
            <a:pPr indent="0" marL="0">
              <a:spcAft>
                <a:spcPts val="1600"/>
              </a:spcAft>
              <a:buNone/>
            </a:pPr>
            <a:r>
              <a:rPr lang="en-US" sz="2300" b="1" dirty="0">
                <a:solidFill>
                  <a:schemeClr val="tx2"/>
                </a:solidFill>
              </a:rPr>
              <a:t>4.  </a:t>
            </a:r>
            <a:r>
              <a:rPr lang="en-US" sz="2300" dirty="0">
                <a:solidFill>
                  <a:schemeClr val="tx1"/>
                </a:solidFill>
              </a:rPr>
              <a:t>Sarah is </a:t>
            </a:r>
            <a:r>
              <a:rPr lang="en-US" sz="2300" b="1" dirty="0">
                <a:solidFill>
                  <a:schemeClr val="accent3"/>
                </a:solidFill>
              </a:rPr>
              <a:t>ontzettend</a:t>
            </a:r>
            <a:r>
              <a:rPr lang="en-US" sz="2300" dirty="0">
                <a:solidFill>
                  <a:schemeClr val="tx1"/>
                </a:solidFill>
              </a:rPr>
              <a:t> gelukkig in Nederland. </a:t>
            </a:r>
            <a:r>
              <a:rPr lang="en-US" sz="2300" i="1" dirty="0">
                <a:solidFill>
                  <a:schemeClr val="tx1"/>
                </a:solidFill>
              </a:rPr>
              <a:t>(extrême)</a:t>
            </a:r>
            <a:endParaRPr lang="en-US" sz="2300" dirty="0"/>
          </a:p>
          <a:p>
            <a:pPr indent="0" marL="0">
              <a:spcAft>
                <a:spcPts val="1600"/>
              </a:spcAft>
              <a:buNone/>
            </a:pPr>
            <a:r>
              <a:rPr lang="en-US" sz="2300" b="1" dirty="0">
                <a:solidFill>
                  <a:schemeClr val="tx2"/>
                </a:solidFill>
              </a:rPr>
              <a:t>5.  </a:t>
            </a:r>
            <a:r>
              <a:rPr lang="en-US" sz="2300" dirty="0">
                <a:solidFill>
                  <a:schemeClr val="tx1"/>
                </a:solidFill>
              </a:rPr>
              <a:t>Wij </a:t>
            </a:r>
            <a:r>
              <a:rPr lang="en-US" sz="2300" strike="sngStrike" dirty="0">
                <a:solidFill>
                  <a:schemeClr val="accent6"/>
                </a:solidFill>
              </a:rPr>
              <a:t>zijn</a:t>
            </a:r>
            <a:r>
              <a:rPr lang="en-US" sz="2300" dirty="0">
                <a:solidFill>
                  <a:schemeClr val="tx1"/>
                </a:solidFill>
              </a:rPr>
              <a:t> </a:t>
            </a:r>
            <a:r>
              <a:rPr lang="en-US" sz="2300" b="1" dirty="0">
                <a:solidFill>
                  <a:schemeClr val="accent3"/>
                </a:solidFill>
              </a:rPr>
              <a:t>hebben het</a:t>
            </a:r>
            <a:r>
              <a:rPr lang="en-US" sz="2300" dirty="0">
                <a:solidFill>
                  <a:schemeClr val="tx1"/>
                </a:solidFill>
              </a:rPr>
              <a:t> </a:t>
            </a:r>
            <a:r>
              <a:rPr lang="en-US" sz="2300" b="1" dirty="0">
                <a:solidFill>
                  <a:schemeClr val="accent3"/>
                </a:solidFill>
              </a:rPr>
              <a:t>heel</a:t>
            </a:r>
            <a:r>
              <a:rPr lang="en-US" sz="2300" dirty="0">
                <a:solidFill>
                  <a:schemeClr val="tx1"/>
                </a:solidFill>
              </a:rPr>
              <a:t> druk deze week. </a:t>
            </a:r>
            <a:r>
              <a:rPr lang="en-US" sz="2300" i="1" dirty="0">
                <a:solidFill>
                  <a:schemeClr val="tx1"/>
                </a:solidFill>
              </a:rPr>
              <a:t>(forte)</a:t>
            </a:r>
            <a:endParaRPr lang="en-US" sz="2300" dirty="0"/>
          </a:p>
        </p:txBody>
      </p:sp>
      <p:sp>
        <p:nvSpPr>
          <p:cNvPr id="9" name="aside"/>
          <p:cNvSpPr/>
          <p:nvPr/>
        </p:nvSpPr>
        <p:spPr>
          <a:xfrm>
            <a:off x="8046720" y="1481328"/>
            <a:ext cx="3593592" cy="4809744"/>
          </a:xfrm>
          <a:prstGeom prst="roundRect">
            <a:avLst>
              <a:gd name="adj" fmla="val 2036"/>
            </a:avLst>
          </a:prstGeom>
          <a:solidFill>
            <a:schemeClr val="accent6">
              <a:alpha val="10000"/>
            </a:schemeClr>
          </a:solidFill>
          <a:ln w="12700">
            <a:solidFill>
              <a:schemeClr val="accent6">
                <a:alpha val="60000"/>
              </a:schemeClr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1664208"/>
            <a:ext cx="292608" cy="29260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8613648" y="1636776"/>
            <a:ext cx="2862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chemeClr val="accent6"/>
                </a:solidFill>
              </a:rPr>
              <a:t>ATTENTION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8211312" y="2075688"/>
            <a:ext cx="3264408" cy="4078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Item 2 : accepter aussi </a:t>
            </a:r>
            <a:r>
              <a:rPr lang="en-US" sz="1800" b="1" dirty="0">
                <a:solidFill>
                  <a:schemeClr val="tx1"/>
                </a:solidFill>
              </a:rPr>
              <a:t>heel / zeer</a:t>
            </a:r>
            <a:r>
              <a:rPr lang="en-US" sz="1800" dirty="0">
                <a:solidFill>
                  <a:schemeClr val="tx1"/>
                </a:solidFill>
              </a:rPr>
              <a:t>.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Item 5 : </a:t>
            </a:r>
            <a:r>
              <a:rPr lang="en-US" sz="1800" i="1" dirty="0">
                <a:solidFill>
                  <a:schemeClr val="tx1"/>
                </a:solidFill>
              </a:rPr>
              <a:t>Wij </a:t>
            </a:r>
            <a:r>
              <a:rPr lang="en-US" sz="1800" b="1" i="1" dirty="0">
                <a:solidFill>
                  <a:schemeClr val="tx1"/>
                </a:solidFill>
              </a:rPr>
              <a:t>hebben het</a:t>
            </a:r>
            <a:r>
              <a:rPr lang="en-US" sz="1800" i="1" dirty="0">
                <a:solidFill>
                  <a:schemeClr val="tx1"/>
                </a:solidFill>
              </a:rPr>
              <a:t> druk</a:t>
            </a:r>
            <a:r>
              <a:rPr lang="en-US" sz="1800" dirty="0">
                <a:solidFill>
                  <a:schemeClr val="tx1"/>
                </a:solidFill>
              </a:rPr>
              <a:t> (✗ </a:t>
            </a:r>
            <a:r>
              <a:rPr lang="en-US" sz="1800" i="1" dirty="0">
                <a:solidFill>
                  <a:schemeClr val="tx1"/>
                </a:solidFill>
              </a:rPr>
              <a:t>Wij zijn druk</a:t>
            </a:r>
            <a:r>
              <a:rPr lang="en-US" sz="1800" dirty="0">
                <a:solidFill>
                  <a:schemeClr val="tx1"/>
                </a:solidFill>
              </a:rPr>
              <a:t>).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Le nuanceur se place </a:t>
            </a:r>
            <a:r>
              <a:rPr lang="en-US" sz="1800" b="1" dirty="0">
                <a:solidFill>
                  <a:schemeClr val="tx1"/>
                </a:solidFill>
              </a:rPr>
              <a:t>juste avant</a:t>
            </a:r>
            <a:r>
              <a:rPr lang="en-US" sz="1800" dirty="0">
                <a:solidFill>
                  <a:schemeClr val="tx1"/>
                </a:solidFill>
              </a:rPr>
              <a:t> l’adjectif.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Grammaire : zich voelen, zich wassen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508760" cy="310896"/>
          </a:xfrm>
          <a:prstGeom prst="roundRect">
            <a:avLst>
              <a:gd name="adj" fmla="val 14706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GRAMMATICA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75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481328"/>
            <a:ext cx="11091672" cy="344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Le pronom réfléchi </a:t>
            </a:r>
            <a:r>
              <a:rPr lang="en-US" sz="1600" b="1" i="1" dirty="0">
                <a:solidFill>
                  <a:schemeClr val="accent5"/>
                </a:solidFill>
              </a:rPr>
              <a:t>change avec la personne</a:t>
            </a:r>
            <a:r>
              <a:rPr lang="en-US" sz="1600" i="1" dirty="0">
                <a:solidFill>
                  <a:schemeClr val="accent5"/>
                </a:solidFill>
              </a:rPr>
              <a:t> (me · je · zich · ons) et se place </a:t>
            </a:r>
            <a:r>
              <a:rPr lang="en-US" sz="1600" b="1" i="1" dirty="0">
                <a:solidFill>
                  <a:schemeClr val="accent5"/>
                </a:solidFill>
              </a:rPr>
              <a:t>juste après le verbe conjugué</a:t>
            </a:r>
            <a:r>
              <a:rPr lang="en-US" sz="1600" i="1" dirty="0">
                <a:solidFill>
                  <a:schemeClr val="accent5"/>
                </a:solidFill>
              </a:rPr>
              <a:t>.</a:t>
            </a:r>
            <a:endParaRPr lang="en-US" sz="16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17192"/>
          <a:ext cx="11091672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2926080"/>
                <a:gridCol w="3154680"/>
                <a:gridCol w="3273552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PERSONNE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ZICH WASSEN · se laver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ZICH VOELEN · se sentir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FRANÇAIS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46817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ik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ik was </a:t>
                      </a:r>
                      <a:r>
                        <a:rPr lang="en-US" sz="2000" b="1" dirty="0">
                          <a:solidFill>
                            <a:schemeClr val="accent1"/>
                          </a:solidFill>
                        </a:rPr>
                        <a:t>me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ik voel </a:t>
                      </a:r>
                      <a:r>
                        <a:rPr lang="en-US" sz="2000" b="1" dirty="0">
                          <a:solidFill>
                            <a:schemeClr val="accent1"/>
                          </a:solidFill>
                        </a:rPr>
                        <a:t>me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 goed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je me sens bien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6817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jij / je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jij wast </a:t>
                      </a:r>
                      <a:r>
                        <a:rPr lang="en-US" sz="2000" b="1" dirty="0">
                          <a:solidFill>
                            <a:schemeClr val="accent1"/>
                          </a:solidFill>
                        </a:rPr>
                        <a:t>je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jij voelt </a:t>
                      </a:r>
                      <a:r>
                        <a:rPr lang="en-US" sz="2000" b="1" dirty="0">
                          <a:solidFill>
                            <a:schemeClr val="accent1"/>
                          </a:solidFill>
                        </a:rPr>
                        <a:t>je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 goed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tu te sens bien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6817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u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u wast </a:t>
                      </a:r>
                      <a:r>
                        <a:rPr lang="en-US" sz="2000" b="1" dirty="0">
                          <a:solidFill>
                            <a:schemeClr val="accent1"/>
                          </a:solidFill>
                        </a:rPr>
                        <a:t>zich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 / </a:t>
                      </a:r>
                      <a:r>
                        <a:rPr lang="en-US" sz="2000" b="1" dirty="0">
                          <a:solidFill>
                            <a:schemeClr val="accent1"/>
                          </a:solidFill>
                        </a:rPr>
                        <a:t>u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u voelt </a:t>
                      </a:r>
                      <a:r>
                        <a:rPr lang="en-US" sz="2000" b="1" dirty="0">
                          <a:solidFill>
                            <a:schemeClr val="accent1"/>
                          </a:solidFill>
                        </a:rPr>
                        <a:t>zich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 goed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vous vous sentez bien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6817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hij / zij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hij wast </a:t>
                      </a:r>
                      <a:r>
                        <a:rPr lang="en-US" sz="2000" b="1" dirty="0">
                          <a:solidFill>
                            <a:schemeClr val="accent1"/>
                          </a:solidFill>
                        </a:rPr>
                        <a:t>zich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zij voelt </a:t>
                      </a:r>
                      <a:r>
                        <a:rPr lang="en-US" sz="2000" b="1" dirty="0">
                          <a:solidFill>
                            <a:schemeClr val="accent1"/>
                          </a:solidFill>
                        </a:rPr>
                        <a:t>zich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 goed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il / elle se sent bien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6817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wij / we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wij wassen </a:t>
                      </a:r>
                      <a:r>
                        <a:rPr lang="en-US" sz="2000" b="1" dirty="0">
                          <a:solidFill>
                            <a:schemeClr val="accent1"/>
                          </a:solidFill>
                        </a:rPr>
                        <a:t>ons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wij voelen </a:t>
                      </a:r>
                      <a:r>
                        <a:rPr lang="en-US" sz="2000" b="1" dirty="0">
                          <a:solidFill>
                            <a:schemeClr val="accent1"/>
                          </a:solidFill>
                        </a:rPr>
                        <a:t>ons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 goed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nous nous sentons bien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6817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jullie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jullie wassen </a:t>
                      </a:r>
                      <a:r>
                        <a:rPr lang="en-US" sz="2000" b="1" dirty="0">
                          <a:solidFill>
                            <a:schemeClr val="accent1"/>
                          </a:solidFill>
                        </a:rPr>
                        <a:t>je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jullie voelen </a:t>
                      </a:r>
                      <a:r>
                        <a:rPr lang="en-US" sz="2000" b="1" dirty="0">
                          <a:solidFill>
                            <a:schemeClr val="accent1"/>
                          </a:solidFill>
                        </a:rPr>
                        <a:t>je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 goed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vous vous sentez bien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6817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zij / ze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zij wassen </a:t>
                      </a:r>
                      <a:r>
                        <a:rPr lang="en-US" sz="2000" b="1" dirty="0">
                          <a:solidFill>
                            <a:schemeClr val="accent1"/>
                          </a:solidFill>
                        </a:rPr>
                        <a:t>zich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zij voelen </a:t>
                      </a:r>
                      <a:r>
                        <a:rPr lang="en-US" sz="2000" b="1" dirty="0">
                          <a:solidFill>
                            <a:schemeClr val="accent1"/>
                          </a:solidFill>
                        </a:rPr>
                        <a:t>zich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 goed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ils / elles se sentent bien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 txBox="1"/>
          <p:nvPr/>
        </p:nvSpPr>
        <p:spPr>
          <a:xfrm>
            <a:off x="548640" y="5897880"/>
            <a:ext cx="1109167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" i="1" dirty="0">
                <a:solidFill>
                  <a:schemeClr val="accent5"/>
                </a:solidFill>
              </a:rPr>
              <a:t>Piège pour francophones : pas de </a:t>
            </a:r>
            <a:r>
              <a:rPr lang="en-US" sz="1500" i="1" dirty="0">
                <a:solidFill>
                  <a:schemeClr val="accent5"/>
                </a:solidFill>
              </a:rPr>
              <a:t>zich</a:t>
            </a:r>
            <a:r>
              <a:rPr lang="en-US" sz="1500" i="1" dirty="0">
                <a:solidFill>
                  <a:schemeClr val="accent5"/>
                </a:solidFill>
              </a:rPr>
              <a:t> pour </a:t>
            </a:r>
            <a:r>
              <a:rPr lang="en-US" sz="1500" i="1" dirty="0">
                <a:solidFill>
                  <a:schemeClr val="accent5"/>
                </a:solidFill>
              </a:rPr>
              <a:t>se promener</a:t>
            </a:r>
            <a:r>
              <a:rPr lang="en-US" sz="1500" i="1" dirty="0">
                <a:solidFill>
                  <a:schemeClr val="accent5"/>
                </a:solidFill>
              </a:rPr>
              <a:t> = </a:t>
            </a:r>
            <a:r>
              <a:rPr lang="en-US" sz="1500" b="1" i="1" dirty="0">
                <a:solidFill>
                  <a:schemeClr val="accent5"/>
                </a:solidFill>
              </a:rPr>
              <a:t>wandelen</a:t>
            </a:r>
            <a:r>
              <a:rPr lang="en-US" sz="1500" i="1" dirty="0">
                <a:solidFill>
                  <a:schemeClr val="accent5"/>
                </a:solidFill>
              </a:rPr>
              <a:t>, </a:t>
            </a:r>
            <a:r>
              <a:rPr lang="en-US" sz="1500" i="1" dirty="0">
                <a:solidFill>
                  <a:schemeClr val="accent5"/>
                </a:solidFill>
              </a:rPr>
              <a:t>se réveiller</a:t>
            </a:r>
            <a:r>
              <a:rPr lang="en-US" sz="1500" i="1" dirty="0">
                <a:solidFill>
                  <a:schemeClr val="accent5"/>
                </a:solidFill>
              </a:rPr>
              <a:t> = </a:t>
            </a:r>
            <a:r>
              <a:rPr lang="en-US" sz="1500" b="1" i="1" dirty="0">
                <a:solidFill>
                  <a:schemeClr val="accent5"/>
                </a:solidFill>
              </a:rPr>
              <a:t>wakker worden</a:t>
            </a:r>
            <a:r>
              <a:rPr lang="en-US" sz="1500" i="1" dirty="0">
                <a:solidFill>
                  <a:schemeClr val="accent5"/>
                </a:solidFill>
              </a:rPr>
              <a:t>, </a:t>
            </a:r>
            <a:r>
              <a:rPr lang="en-US" sz="1500" i="1" dirty="0">
                <a:solidFill>
                  <a:schemeClr val="accent5"/>
                </a:solidFill>
              </a:rPr>
              <a:t>se lever</a:t>
            </a:r>
            <a:r>
              <a:rPr lang="en-US" sz="1500" i="1" dirty="0">
                <a:solidFill>
                  <a:schemeClr val="accent5"/>
                </a:solidFill>
              </a:rPr>
              <a:t> = </a:t>
            </a:r>
            <a:r>
              <a:rPr lang="en-US" sz="1500" b="1" i="1" dirty="0">
                <a:solidFill>
                  <a:schemeClr val="accent5"/>
                </a:solidFill>
              </a:rPr>
              <a:t>opstaan</a:t>
            </a:r>
            <a:r>
              <a:rPr lang="en-US" sz="1500" i="1" dirty="0">
                <a:solidFill>
                  <a:schemeClr val="accent5"/>
                </a:solidFill>
              </a:rPr>
              <a:t>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A2-08 Oefening — Écris le pronom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508760" cy="310896"/>
          </a:xfrm>
          <a:prstGeom prst="roundRect">
            <a:avLst>
              <a:gd name="adj" fmla="val 14706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GRAMMATICA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75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481328"/>
            <a:ext cx="7178040" cy="371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Seul · 5 min — Complétez avec le pronom réfléchi : </a:t>
            </a:r>
            <a:r>
              <a:rPr lang="en-US" sz="1600" b="1" i="1" dirty="0">
                <a:solidFill>
                  <a:schemeClr val="accent5"/>
                </a:solidFill>
              </a:rPr>
              <a:t>me · je · zich · ons</a:t>
            </a:r>
            <a:r>
              <a:rPr lang="en-US" sz="1600" i="1" dirty="0">
                <a:solidFill>
                  <a:schemeClr val="accent5"/>
                </a:solidFill>
              </a:rPr>
              <a:t>.</a:t>
            </a:r>
            <a:endParaRPr lang="en-US" sz="1600" dirty="0"/>
          </a:p>
        </p:txBody>
      </p:sp>
      <p:sp>
        <p:nvSpPr>
          <p:cNvPr id="7" name="exercise"/>
          <p:cNvSpPr txBox="1"/>
          <p:nvPr/>
        </p:nvSpPr>
        <p:spPr>
          <a:xfrm>
            <a:off x="548640" y="1926336"/>
            <a:ext cx="7178040" cy="4364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1.  </a:t>
            </a:r>
            <a:r>
              <a:rPr lang="en-US" sz="2400" dirty="0">
                <a:solidFill>
                  <a:schemeClr val="tx1"/>
                </a:solidFill>
              </a:rPr>
              <a:t>Ik verveel </a:t>
            </a:r>
            <a:r>
              <a:rPr lang="en-US" sz="2400" dirty="0">
                <a:solidFill>
                  <a:schemeClr val="accent5"/>
                </a:solidFill>
              </a:rPr>
              <a:t>……………</a:t>
            </a:r>
            <a:r>
              <a:rPr lang="en-US" sz="2400" dirty="0">
                <a:solidFill>
                  <a:schemeClr val="tx1"/>
                </a:solidFill>
              </a:rPr>
              <a:t>.</a:t>
            </a:r>
            <a:endParaRPr lang="en-US" sz="24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2.  </a:t>
            </a:r>
            <a:r>
              <a:rPr lang="en-US" sz="2400" dirty="0">
                <a:solidFill>
                  <a:schemeClr val="tx1"/>
                </a:solidFill>
              </a:rPr>
              <a:t>Zij voelt </a:t>
            </a:r>
            <a:r>
              <a:rPr lang="en-US" sz="2400" dirty="0">
                <a:solidFill>
                  <a:schemeClr val="accent5"/>
                </a:solidFill>
              </a:rPr>
              <a:t>……………</a:t>
            </a:r>
            <a:r>
              <a:rPr lang="en-US" sz="2400" dirty="0">
                <a:solidFill>
                  <a:schemeClr val="tx1"/>
                </a:solidFill>
              </a:rPr>
              <a:t> niet lekker.</a:t>
            </a:r>
            <a:endParaRPr lang="en-US" sz="24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3.  </a:t>
            </a:r>
            <a:r>
              <a:rPr lang="en-US" sz="2400" dirty="0">
                <a:solidFill>
                  <a:schemeClr val="tx1"/>
                </a:solidFill>
              </a:rPr>
              <a:t>Haast </a:t>
            </a:r>
            <a:r>
              <a:rPr lang="en-US" sz="2400" dirty="0">
                <a:solidFill>
                  <a:schemeClr val="accent5"/>
                </a:solidFill>
              </a:rPr>
              <a:t>……………</a:t>
            </a:r>
            <a:r>
              <a:rPr lang="en-US" sz="2400" dirty="0">
                <a:solidFill>
                  <a:schemeClr val="tx1"/>
                </a:solidFill>
              </a:rPr>
              <a:t>! </a:t>
            </a:r>
            <a:r>
              <a:rPr lang="en-US" sz="2400" i="1" dirty="0">
                <a:solidFill>
                  <a:schemeClr val="tx1"/>
                </a:solidFill>
              </a:rPr>
              <a:t>(dépêche-toi)</a:t>
            </a:r>
            <a:endParaRPr lang="en-US" sz="24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4.  </a:t>
            </a:r>
            <a:r>
              <a:rPr lang="en-US" sz="2400" dirty="0">
                <a:solidFill>
                  <a:schemeClr val="tx1"/>
                </a:solidFill>
              </a:rPr>
              <a:t>Peter kleedt </a:t>
            </a:r>
            <a:r>
              <a:rPr lang="en-US" sz="2400" dirty="0">
                <a:solidFill>
                  <a:schemeClr val="accent5"/>
                </a:solidFill>
              </a:rPr>
              <a:t>……………</a:t>
            </a:r>
            <a:r>
              <a:rPr lang="en-US" sz="2400" dirty="0">
                <a:solidFill>
                  <a:schemeClr val="tx1"/>
                </a:solidFill>
              </a:rPr>
              <a:t> aan.</a:t>
            </a:r>
            <a:endParaRPr lang="en-US" sz="24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5.  </a:t>
            </a:r>
            <a:r>
              <a:rPr lang="en-US" sz="2400" dirty="0">
                <a:solidFill>
                  <a:schemeClr val="tx1"/>
                </a:solidFill>
              </a:rPr>
              <a:t>Wij haasten </a:t>
            </a:r>
            <a:r>
              <a:rPr lang="en-US" sz="2400" dirty="0">
                <a:solidFill>
                  <a:schemeClr val="accent5"/>
                </a:solidFill>
              </a:rPr>
              <a:t>……………</a:t>
            </a:r>
            <a:r>
              <a:rPr lang="en-US" sz="2400" dirty="0">
                <a:solidFill>
                  <a:schemeClr val="tx1"/>
                </a:solidFill>
              </a:rPr>
              <a:t> naar de trein.</a:t>
            </a:r>
            <a:endParaRPr lang="en-US" sz="24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6.  </a:t>
            </a:r>
            <a:r>
              <a:rPr lang="en-US" sz="2400" dirty="0">
                <a:solidFill>
                  <a:schemeClr val="tx1"/>
                </a:solidFill>
              </a:rPr>
              <a:t>Ik verheug </a:t>
            </a:r>
            <a:r>
              <a:rPr lang="en-US" sz="2400" dirty="0">
                <a:solidFill>
                  <a:schemeClr val="accent5"/>
                </a:solidFill>
              </a:rPr>
              <a:t>……………</a:t>
            </a:r>
            <a:r>
              <a:rPr lang="en-US" sz="2400" dirty="0">
                <a:solidFill>
                  <a:schemeClr val="tx1"/>
                </a:solidFill>
              </a:rPr>
              <a:t> op de vakantie.</a:t>
            </a:r>
            <a:endParaRPr lang="en-US" sz="2400" dirty="0"/>
          </a:p>
        </p:txBody>
      </p:sp>
      <p:sp>
        <p:nvSpPr>
          <p:cNvPr id="8" name="aside"/>
          <p:cNvSpPr/>
          <p:nvPr/>
        </p:nvSpPr>
        <p:spPr>
          <a:xfrm>
            <a:off x="8046720" y="1481328"/>
            <a:ext cx="3593592" cy="4809744"/>
          </a:xfrm>
          <a:prstGeom prst="roundRect">
            <a:avLst>
              <a:gd name="adj" fmla="val 2036"/>
            </a:avLst>
          </a:prstGeom>
          <a:solidFill>
            <a:schemeClr val="accent2">
              <a:alpha val="10000"/>
            </a:schemeClr>
          </a:solidFill>
          <a:ln w="12700">
            <a:solidFill>
              <a:schemeClr val="accent2">
                <a:alpha val="60000"/>
              </a:schemeClr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1664208"/>
            <a:ext cx="292608" cy="29260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8613648" y="1636776"/>
            <a:ext cx="2862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chemeClr val="accent2"/>
                </a:solidFill>
              </a:rPr>
              <a:t>LES PLUS FRÉQUENTS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8211312" y="2075688"/>
            <a:ext cx="3264408" cy="4078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i="1" dirty="0">
                <a:solidFill>
                  <a:schemeClr val="tx1"/>
                </a:solidFill>
              </a:rPr>
              <a:t>zich voelen</a:t>
            </a:r>
            <a:r>
              <a:rPr lang="en-US" sz="1800" dirty="0">
                <a:solidFill>
                  <a:schemeClr val="tx1"/>
                </a:solidFill>
              </a:rPr>
              <a:t> se sentir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i="1" dirty="0">
                <a:solidFill>
                  <a:schemeClr val="tx1"/>
                </a:solidFill>
              </a:rPr>
              <a:t>zich vergissen</a:t>
            </a:r>
            <a:r>
              <a:rPr lang="en-US" sz="1800" dirty="0">
                <a:solidFill>
                  <a:schemeClr val="tx1"/>
                </a:solidFill>
              </a:rPr>
              <a:t> se tromper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i="1" dirty="0">
                <a:solidFill>
                  <a:schemeClr val="tx1"/>
                </a:solidFill>
              </a:rPr>
              <a:t>zich haasten</a:t>
            </a:r>
            <a:r>
              <a:rPr lang="en-US" sz="1800" dirty="0">
                <a:solidFill>
                  <a:schemeClr val="tx1"/>
                </a:solidFill>
              </a:rPr>
              <a:t> se dépêcher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i="1" dirty="0">
                <a:solidFill>
                  <a:schemeClr val="tx1"/>
                </a:solidFill>
              </a:rPr>
              <a:t>zich voorstellen</a:t>
            </a:r>
            <a:r>
              <a:rPr lang="en-US" sz="1800" dirty="0">
                <a:solidFill>
                  <a:schemeClr val="tx1"/>
                </a:solidFill>
              </a:rPr>
              <a:t> se présenter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i="1" dirty="0">
                <a:solidFill>
                  <a:schemeClr val="tx1"/>
                </a:solidFill>
              </a:rPr>
              <a:t>zich vervelen</a:t>
            </a:r>
            <a:r>
              <a:rPr lang="en-US" sz="1800" dirty="0">
                <a:solidFill>
                  <a:schemeClr val="tx1"/>
                </a:solidFill>
              </a:rPr>
              <a:t> s’ennuyer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i="1" dirty="0">
                <a:solidFill>
                  <a:schemeClr val="tx1"/>
                </a:solidFill>
              </a:rPr>
              <a:t>zich verheugen op</a:t>
            </a:r>
            <a:r>
              <a:rPr lang="en-US" sz="1800" dirty="0">
                <a:solidFill>
                  <a:schemeClr val="tx1"/>
                </a:solidFill>
              </a:rPr>
              <a:t> se réjouir de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A2-08 Oefening — Écris le pronom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508760" cy="310896"/>
          </a:xfrm>
          <a:prstGeom prst="roundRect">
            <a:avLst>
              <a:gd name="adj" fmla="val 14706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GRAMMATICA</a:t>
            </a:r>
            <a:endParaRPr lang="en-US" sz="1200" dirty="0"/>
          </a:p>
        </p:txBody>
      </p:sp>
      <p:sp>
        <p:nvSpPr>
          <p:cNvPr id="4" name="tag"/>
          <p:cNvSpPr/>
          <p:nvPr/>
        </p:nvSpPr>
        <p:spPr>
          <a:xfrm>
            <a:off x="2167128" y="237744"/>
            <a:ext cx="1760220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✓ CORRECTIE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75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481328"/>
            <a:ext cx="7178040" cy="371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Seul · 5 min — Complétez avec le pronom réfléchi : </a:t>
            </a:r>
            <a:r>
              <a:rPr lang="en-US" sz="1600" b="1" i="1" dirty="0">
                <a:solidFill>
                  <a:schemeClr val="accent5"/>
                </a:solidFill>
              </a:rPr>
              <a:t>me · je · zich · ons</a:t>
            </a:r>
            <a:r>
              <a:rPr lang="en-US" sz="1600" i="1" dirty="0">
                <a:solidFill>
                  <a:schemeClr val="accent5"/>
                </a:solidFill>
              </a:rPr>
              <a:t>.</a:t>
            </a:r>
            <a:endParaRPr lang="en-US" sz="1600" dirty="0"/>
          </a:p>
        </p:txBody>
      </p:sp>
      <p:sp>
        <p:nvSpPr>
          <p:cNvPr id="8" name="exercise"/>
          <p:cNvSpPr txBox="1"/>
          <p:nvPr/>
        </p:nvSpPr>
        <p:spPr>
          <a:xfrm>
            <a:off x="548640" y="1926336"/>
            <a:ext cx="7178040" cy="4364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1.  </a:t>
            </a:r>
            <a:r>
              <a:rPr lang="en-US" sz="2400" dirty="0">
                <a:solidFill>
                  <a:schemeClr val="tx1"/>
                </a:solidFill>
              </a:rPr>
              <a:t>Ik verveel </a:t>
            </a:r>
            <a:r>
              <a:rPr lang="en-US" sz="2400" b="1" dirty="0">
                <a:solidFill>
                  <a:schemeClr val="accent3"/>
                </a:solidFill>
              </a:rPr>
              <a:t>me</a:t>
            </a:r>
            <a:r>
              <a:rPr lang="en-US" sz="2400" dirty="0">
                <a:solidFill>
                  <a:schemeClr val="tx1"/>
                </a:solidFill>
              </a:rPr>
              <a:t>.</a:t>
            </a:r>
            <a:endParaRPr lang="en-US" sz="24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2.  </a:t>
            </a:r>
            <a:r>
              <a:rPr lang="en-US" sz="2400" dirty="0">
                <a:solidFill>
                  <a:schemeClr val="tx1"/>
                </a:solidFill>
              </a:rPr>
              <a:t>Zij voelt </a:t>
            </a:r>
            <a:r>
              <a:rPr lang="en-US" sz="2400" b="1" dirty="0">
                <a:solidFill>
                  <a:schemeClr val="accent3"/>
                </a:solidFill>
              </a:rPr>
              <a:t>zich</a:t>
            </a:r>
            <a:r>
              <a:rPr lang="en-US" sz="2400" dirty="0">
                <a:solidFill>
                  <a:schemeClr val="tx1"/>
                </a:solidFill>
              </a:rPr>
              <a:t> niet lekker.</a:t>
            </a:r>
            <a:endParaRPr lang="en-US" sz="24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3.  </a:t>
            </a:r>
            <a:r>
              <a:rPr lang="en-US" sz="2400" dirty="0">
                <a:solidFill>
                  <a:schemeClr val="tx1"/>
                </a:solidFill>
              </a:rPr>
              <a:t>Haast </a:t>
            </a:r>
            <a:r>
              <a:rPr lang="en-US" sz="2400" b="1" dirty="0">
                <a:solidFill>
                  <a:schemeClr val="accent3"/>
                </a:solidFill>
              </a:rPr>
              <a:t>je</a:t>
            </a:r>
            <a:r>
              <a:rPr lang="en-US" sz="2400" dirty="0">
                <a:solidFill>
                  <a:schemeClr val="tx1"/>
                </a:solidFill>
              </a:rPr>
              <a:t>! </a:t>
            </a:r>
            <a:r>
              <a:rPr lang="en-US" sz="2400" i="1" dirty="0">
                <a:solidFill>
                  <a:schemeClr val="tx1"/>
                </a:solidFill>
              </a:rPr>
              <a:t>(dépêche-toi)</a:t>
            </a:r>
            <a:endParaRPr lang="en-US" sz="24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4.  </a:t>
            </a:r>
            <a:r>
              <a:rPr lang="en-US" sz="2400" dirty="0">
                <a:solidFill>
                  <a:schemeClr val="tx1"/>
                </a:solidFill>
              </a:rPr>
              <a:t>Peter kleedt </a:t>
            </a:r>
            <a:r>
              <a:rPr lang="en-US" sz="2400" b="1" dirty="0">
                <a:solidFill>
                  <a:schemeClr val="accent3"/>
                </a:solidFill>
              </a:rPr>
              <a:t>zich</a:t>
            </a:r>
            <a:r>
              <a:rPr lang="en-US" sz="2400" dirty="0">
                <a:solidFill>
                  <a:schemeClr val="tx1"/>
                </a:solidFill>
              </a:rPr>
              <a:t> aan.</a:t>
            </a:r>
            <a:endParaRPr lang="en-US" sz="24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5.  </a:t>
            </a:r>
            <a:r>
              <a:rPr lang="en-US" sz="2400" dirty="0">
                <a:solidFill>
                  <a:schemeClr val="tx1"/>
                </a:solidFill>
              </a:rPr>
              <a:t>Wij haasten </a:t>
            </a:r>
            <a:r>
              <a:rPr lang="en-US" sz="2400" b="1" dirty="0">
                <a:solidFill>
                  <a:schemeClr val="accent3"/>
                </a:solidFill>
              </a:rPr>
              <a:t>ons</a:t>
            </a:r>
            <a:r>
              <a:rPr lang="en-US" sz="2400" dirty="0">
                <a:solidFill>
                  <a:schemeClr val="tx1"/>
                </a:solidFill>
              </a:rPr>
              <a:t> naar de trein.</a:t>
            </a:r>
            <a:endParaRPr lang="en-US" sz="24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6.  </a:t>
            </a:r>
            <a:r>
              <a:rPr lang="en-US" sz="2400" dirty="0">
                <a:solidFill>
                  <a:schemeClr val="tx1"/>
                </a:solidFill>
              </a:rPr>
              <a:t>Ik verheug </a:t>
            </a:r>
            <a:r>
              <a:rPr lang="en-US" sz="2400" b="1" dirty="0">
                <a:solidFill>
                  <a:schemeClr val="accent3"/>
                </a:solidFill>
              </a:rPr>
              <a:t>me</a:t>
            </a:r>
            <a:r>
              <a:rPr lang="en-US" sz="2400" dirty="0">
                <a:solidFill>
                  <a:schemeClr val="tx1"/>
                </a:solidFill>
              </a:rPr>
              <a:t> op de vakantie.</a:t>
            </a:r>
            <a:endParaRPr lang="en-US" sz="2400" dirty="0"/>
          </a:p>
        </p:txBody>
      </p:sp>
      <p:sp>
        <p:nvSpPr>
          <p:cNvPr id="9" name="aside"/>
          <p:cNvSpPr/>
          <p:nvPr/>
        </p:nvSpPr>
        <p:spPr>
          <a:xfrm>
            <a:off x="8046720" y="1481328"/>
            <a:ext cx="3593592" cy="4809744"/>
          </a:xfrm>
          <a:prstGeom prst="roundRect">
            <a:avLst>
              <a:gd name="adj" fmla="val 2036"/>
            </a:avLst>
          </a:prstGeom>
          <a:solidFill>
            <a:schemeClr val="accent6">
              <a:alpha val="10000"/>
            </a:schemeClr>
          </a:solidFill>
          <a:ln w="12700">
            <a:solidFill>
              <a:schemeClr val="accent6">
                <a:alpha val="60000"/>
              </a:schemeClr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1664208"/>
            <a:ext cx="292608" cy="29260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8613648" y="1636776"/>
            <a:ext cx="2862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chemeClr val="accent6"/>
                </a:solidFill>
              </a:rPr>
              <a:t>ATTENTION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8211312" y="2075688"/>
            <a:ext cx="3264408" cy="4078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i="1" dirty="0">
                <a:solidFill>
                  <a:schemeClr val="tx1"/>
                </a:solidFill>
              </a:rPr>
              <a:t>Haast </a:t>
            </a:r>
            <a:r>
              <a:rPr lang="en-US" sz="1800" b="1" i="1" dirty="0">
                <a:solidFill>
                  <a:schemeClr val="tx1"/>
                </a:solidFill>
              </a:rPr>
              <a:t>je</a:t>
            </a:r>
            <a:r>
              <a:rPr lang="en-US" sz="1800" i="1" dirty="0">
                <a:solidFill>
                  <a:schemeClr val="tx1"/>
                </a:solidFill>
              </a:rPr>
              <a:t>!</a:t>
            </a:r>
            <a:r>
              <a:rPr lang="en-US" sz="1800" dirty="0">
                <a:solidFill>
                  <a:schemeClr val="tx1"/>
                </a:solidFill>
              </a:rPr>
              <a:t> : impératif (tu) + </a:t>
            </a:r>
            <a:r>
              <a:rPr lang="en-US" sz="1800" b="1" dirty="0">
                <a:solidFill>
                  <a:schemeClr val="tx1"/>
                </a:solidFill>
              </a:rPr>
              <a:t>je</a:t>
            </a:r>
            <a:r>
              <a:rPr lang="en-US" sz="1800" dirty="0">
                <a:solidFill>
                  <a:schemeClr val="tx1"/>
                </a:solidFill>
              </a:rPr>
              <a:t>.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i="1" dirty="0">
                <a:solidFill>
                  <a:schemeClr val="tx1"/>
                </a:solidFill>
              </a:rPr>
              <a:t>aankleden</a:t>
            </a:r>
            <a:r>
              <a:rPr lang="en-US" sz="1800" dirty="0">
                <a:solidFill>
                  <a:schemeClr val="tx1"/>
                </a:solidFill>
              </a:rPr>
              <a:t> est séparable : </a:t>
            </a:r>
            <a:r>
              <a:rPr lang="en-US" sz="1800" i="1" dirty="0">
                <a:solidFill>
                  <a:schemeClr val="tx1"/>
                </a:solidFill>
              </a:rPr>
              <a:t>Peter kleedt </a:t>
            </a:r>
            <a:r>
              <a:rPr lang="en-US" sz="1800" b="1" i="1" dirty="0">
                <a:solidFill>
                  <a:schemeClr val="tx1"/>
                </a:solidFill>
              </a:rPr>
              <a:t>zich</a:t>
            </a:r>
            <a:r>
              <a:rPr lang="en-US" sz="1800" i="1" dirty="0">
                <a:solidFill>
                  <a:schemeClr val="tx1"/>
                </a:solidFill>
              </a:rPr>
              <a:t> aan.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i="1" dirty="0">
                <a:solidFill>
                  <a:schemeClr val="tx1"/>
                </a:solidFill>
              </a:rPr>
              <a:t>zich verheugen </a:t>
            </a:r>
            <a:r>
              <a:rPr lang="en-US" sz="1800" b="1" i="1" dirty="0">
                <a:solidFill>
                  <a:schemeClr val="tx1"/>
                </a:solidFill>
              </a:rPr>
              <a:t>op</a:t>
            </a:r>
            <a:r>
              <a:rPr lang="en-US" sz="1800" dirty="0">
                <a:solidFill>
                  <a:schemeClr val="tx1"/>
                </a:solidFill>
              </a:rPr>
              <a:t> = se réjouir </a:t>
            </a:r>
            <a:r>
              <a:rPr lang="en-US" sz="1800" b="1" dirty="0">
                <a:solidFill>
                  <a:schemeClr val="tx1"/>
                </a:solidFill>
              </a:rPr>
              <a:t>de</a:t>
            </a:r>
            <a:r>
              <a:rPr lang="en-US" sz="1800" dirty="0">
                <a:solidFill>
                  <a:schemeClr val="tx1"/>
                </a:solidFill>
              </a:rPr>
              <a:t>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Hoe voel je je? — traduisez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165860" cy="310896"/>
          </a:xfrm>
          <a:prstGeom prst="roundRect">
            <a:avLst>
              <a:gd name="adj" fmla="val 14706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+ BONUS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Hors syllabus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481328"/>
            <a:ext cx="7178040" cy="615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Traduisez en néerlandais. Attention à la </a:t>
            </a:r>
            <a:r>
              <a:rPr lang="en-US" sz="1600" b="1" i="1" dirty="0">
                <a:solidFill>
                  <a:schemeClr val="accent5"/>
                </a:solidFill>
              </a:rPr>
              <a:t>place du pronom</a:t>
            </a:r>
            <a:r>
              <a:rPr lang="en-US" sz="1600" i="1" dirty="0">
                <a:solidFill>
                  <a:schemeClr val="accent5"/>
                </a:solidFill>
              </a:rPr>
              <a:t> et aux verbes </a:t>
            </a:r>
            <a:r>
              <a:rPr lang="en-US" sz="1600" b="1" i="1" dirty="0">
                <a:solidFill>
                  <a:schemeClr val="accent5"/>
                </a:solidFill>
              </a:rPr>
              <a:t>sans</a:t>
            </a:r>
            <a:r>
              <a:rPr lang="en-US" sz="1600" i="1" dirty="0">
                <a:solidFill>
                  <a:schemeClr val="accent5"/>
                </a:solidFill>
              </a:rPr>
              <a:t> zich.</a:t>
            </a:r>
            <a:endParaRPr lang="en-US" sz="1600" dirty="0"/>
          </a:p>
        </p:txBody>
      </p:sp>
      <p:sp>
        <p:nvSpPr>
          <p:cNvPr id="7" name="exercise"/>
          <p:cNvSpPr txBox="1"/>
          <p:nvPr/>
        </p:nvSpPr>
        <p:spPr>
          <a:xfrm>
            <a:off x="548640" y="2170176"/>
            <a:ext cx="3406140" cy="412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en-US" sz="2000" b="1" dirty="0">
                <a:solidFill>
                  <a:schemeClr val="tx2"/>
                </a:solidFill>
              </a:rPr>
              <a:t>1.  </a:t>
            </a:r>
            <a:r>
              <a:rPr lang="en-US" sz="2000" dirty="0">
                <a:solidFill>
                  <a:schemeClr val="tx1"/>
                </a:solidFill>
              </a:rPr>
              <a:t>Aujourd’hui, je me sens bien. → </a:t>
            </a:r>
            <a:r>
              <a:rPr lang="en-US" sz="2000" dirty="0">
                <a:solidFill>
                  <a:schemeClr val="accent5"/>
                </a:solidFill>
              </a:rPr>
              <a:t>…………………………………</a:t>
            </a:r>
            <a:endParaRPr lang="en-US" sz="20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2000" b="1" dirty="0">
                <a:solidFill>
                  <a:schemeClr val="tx2"/>
                </a:solidFill>
              </a:rPr>
              <a:t>2.  </a:t>
            </a:r>
            <a:r>
              <a:rPr lang="en-US" sz="2000" dirty="0">
                <a:solidFill>
                  <a:schemeClr val="tx1"/>
                </a:solidFill>
              </a:rPr>
              <a:t>Comment te sens-tu ? → </a:t>
            </a:r>
            <a:r>
              <a:rPr lang="en-US" sz="2000" dirty="0">
                <a:solidFill>
                  <a:schemeClr val="accent5"/>
                </a:solidFill>
              </a:rPr>
              <a:t>……………………</a:t>
            </a:r>
            <a:endParaRPr lang="en-US" sz="20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2000" b="1" dirty="0">
                <a:solidFill>
                  <a:schemeClr val="tx2"/>
                </a:solidFill>
              </a:rPr>
              <a:t>3.  </a:t>
            </a:r>
            <a:r>
              <a:rPr lang="en-US" sz="2000" dirty="0">
                <a:solidFill>
                  <a:schemeClr val="tx1"/>
                </a:solidFill>
              </a:rPr>
              <a:t>Emma se sent un peu stressée. → </a:t>
            </a:r>
            <a:r>
              <a:rPr lang="en-US" sz="2000" dirty="0">
                <a:solidFill>
                  <a:schemeClr val="accent5"/>
                </a:solidFill>
              </a:rPr>
              <a:t>……………………………………</a:t>
            </a:r>
            <a:endParaRPr lang="en-US" sz="20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2000" b="1" dirty="0">
                <a:solidFill>
                  <a:schemeClr val="tx2"/>
                </a:solidFill>
              </a:rPr>
              <a:t>4.  </a:t>
            </a:r>
            <a:r>
              <a:rPr lang="en-US" sz="2000" dirty="0">
                <a:solidFill>
                  <a:schemeClr val="tx1"/>
                </a:solidFill>
              </a:rPr>
              <a:t>Nous nous dépêchons ! → </a:t>
            </a:r>
            <a:r>
              <a:rPr lang="en-US" sz="2000" dirty="0">
                <a:solidFill>
                  <a:schemeClr val="accent5"/>
                </a:solidFill>
              </a:rPr>
              <a:t>………………………</a:t>
            </a:r>
            <a:endParaRPr lang="en-US" sz="2000" dirty="0"/>
          </a:p>
        </p:txBody>
      </p:sp>
      <p:sp>
        <p:nvSpPr>
          <p:cNvPr id="8" name="exercise"/>
          <p:cNvSpPr txBox="1"/>
          <p:nvPr/>
        </p:nvSpPr>
        <p:spPr>
          <a:xfrm>
            <a:off x="4320540" y="2170176"/>
            <a:ext cx="3406140" cy="412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en-US" sz="2000" b="1" dirty="0">
                <a:solidFill>
                  <a:schemeClr val="tx2"/>
                </a:solidFill>
              </a:rPr>
              <a:t>5.  </a:t>
            </a:r>
            <a:r>
              <a:rPr lang="en-US" sz="2000" dirty="0">
                <a:solidFill>
                  <a:schemeClr val="tx1"/>
                </a:solidFill>
              </a:rPr>
              <a:t>Vous vous trompez, Monsieur Janssens. → </a:t>
            </a:r>
            <a:r>
              <a:rPr lang="en-US" sz="2000" dirty="0">
                <a:solidFill>
                  <a:schemeClr val="accent5"/>
                </a:solidFill>
              </a:rPr>
              <a:t>……………………………………</a:t>
            </a:r>
            <a:endParaRPr lang="en-US" sz="20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2000" b="1" dirty="0">
                <a:solidFill>
                  <a:schemeClr val="tx2"/>
                </a:solidFill>
              </a:rPr>
              <a:t>6.  </a:t>
            </a:r>
            <a:r>
              <a:rPr lang="en-US" sz="2000" dirty="0">
                <a:solidFill>
                  <a:schemeClr val="tx1"/>
                </a:solidFill>
              </a:rPr>
              <a:t>Je m’ennuie, car je n’ai pas de travail. → </a:t>
            </a:r>
            <a:r>
              <a:rPr lang="en-US" sz="2000" dirty="0">
                <a:solidFill>
                  <a:schemeClr val="accent5"/>
                </a:solidFill>
              </a:rPr>
              <a:t>……………………………………</a:t>
            </a:r>
            <a:endParaRPr lang="en-US" sz="20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2000" b="1" dirty="0">
                <a:solidFill>
                  <a:schemeClr val="tx2"/>
                </a:solidFill>
              </a:rPr>
              <a:t>7.  </a:t>
            </a:r>
            <a:r>
              <a:rPr lang="en-US" sz="2000" dirty="0">
                <a:solidFill>
                  <a:schemeClr val="tx1"/>
                </a:solidFill>
              </a:rPr>
              <a:t>Pieter se lève à sept heures. → </a:t>
            </a:r>
            <a:r>
              <a:rPr lang="en-US" sz="2000" dirty="0">
                <a:solidFill>
                  <a:schemeClr val="accent5"/>
                </a:solidFill>
              </a:rPr>
              <a:t>……………………………………</a:t>
            </a:r>
            <a:endParaRPr lang="en-US" sz="20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2000" b="1" dirty="0">
                <a:solidFill>
                  <a:schemeClr val="tx2"/>
                </a:solidFill>
              </a:rPr>
              <a:t>8.  </a:t>
            </a:r>
            <a:r>
              <a:rPr lang="en-US" sz="2000" dirty="0">
                <a:solidFill>
                  <a:schemeClr val="tx1"/>
                </a:solidFill>
              </a:rPr>
              <a:t>Puis-je me présenter ? → </a:t>
            </a:r>
            <a:r>
              <a:rPr lang="en-US" sz="2000" dirty="0">
                <a:solidFill>
                  <a:schemeClr val="accent5"/>
                </a:solidFill>
              </a:rPr>
              <a:t>………………………………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Hoe voel je je? — traduisez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165860" cy="310896"/>
          </a:xfrm>
          <a:prstGeom prst="roundRect">
            <a:avLst>
              <a:gd name="adj" fmla="val 14706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+ BONUS</a:t>
            </a:r>
            <a:endParaRPr lang="en-US" sz="1200" dirty="0"/>
          </a:p>
        </p:txBody>
      </p:sp>
      <p:sp>
        <p:nvSpPr>
          <p:cNvPr id="4" name="tag"/>
          <p:cNvSpPr/>
          <p:nvPr/>
        </p:nvSpPr>
        <p:spPr>
          <a:xfrm>
            <a:off x="1824228" y="237744"/>
            <a:ext cx="1760220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✓ CORRECTIE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Hors syllabus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481328"/>
            <a:ext cx="7178040" cy="615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Traduisez en néerlandais. Attention à la </a:t>
            </a:r>
            <a:r>
              <a:rPr lang="en-US" sz="1600" b="1" i="1" dirty="0">
                <a:solidFill>
                  <a:schemeClr val="accent5"/>
                </a:solidFill>
              </a:rPr>
              <a:t>place du pronom</a:t>
            </a:r>
            <a:r>
              <a:rPr lang="en-US" sz="1600" i="1" dirty="0">
                <a:solidFill>
                  <a:schemeClr val="accent5"/>
                </a:solidFill>
              </a:rPr>
              <a:t> et aux verbes </a:t>
            </a:r>
            <a:r>
              <a:rPr lang="en-US" sz="1600" b="1" i="1" dirty="0">
                <a:solidFill>
                  <a:schemeClr val="accent5"/>
                </a:solidFill>
              </a:rPr>
              <a:t>sans</a:t>
            </a:r>
            <a:r>
              <a:rPr lang="en-US" sz="1600" i="1" dirty="0">
                <a:solidFill>
                  <a:schemeClr val="accent5"/>
                </a:solidFill>
              </a:rPr>
              <a:t> zich.</a:t>
            </a:r>
            <a:endParaRPr lang="en-US" sz="1600" dirty="0"/>
          </a:p>
        </p:txBody>
      </p:sp>
      <p:sp>
        <p:nvSpPr>
          <p:cNvPr id="8" name="exercise"/>
          <p:cNvSpPr txBox="1"/>
          <p:nvPr/>
        </p:nvSpPr>
        <p:spPr>
          <a:xfrm>
            <a:off x="548640" y="2170176"/>
            <a:ext cx="3406140" cy="412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en-US" sz="2000" b="1" dirty="0">
                <a:solidFill>
                  <a:schemeClr val="tx2"/>
                </a:solidFill>
              </a:rPr>
              <a:t>1.  </a:t>
            </a:r>
            <a:r>
              <a:rPr lang="en-US" sz="2000" dirty="0">
                <a:solidFill>
                  <a:schemeClr val="tx1"/>
                </a:solidFill>
              </a:rPr>
              <a:t>Aujourd’hui, je me sens bien. → </a:t>
            </a:r>
            <a:r>
              <a:rPr lang="en-US" sz="2000" b="1" dirty="0">
                <a:solidFill>
                  <a:schemeClr val="accent3"/>
                </a:solidFill>
              </a:rPr>
              <a:t>Vandaag voel ik me goed.</a:t>
            </a:r>
            <a:endParaRPr lang="en-US" sz="20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2000" b="1" dirty="0">
                <a:solidFill>
                  <a:schemeClr val="tx2"/>
                </a:solidFill>
              </a:rPr>
              <a:t>2.  </a:t>
            </a:r>
            <a:r>
              <a:rPr lang="en-US" sz="2000" dirty="0">
                <a:solidFill>
                  <a:schemeClr val="tx1"/>
                </a:solidFill>
              </a:rPr>
              <a:t>Comment te sens-tu ? → </a:t>
            </a:r>
            <a:r>
              <a:rPr lang="en-US" sz="2000" b="1" dirty="0">
                <a:solidFill>
                  <a:schemeClr val="accent3"/>
                </a:solidFill>
              </a:rPr>
              <a:t>Hoe voel je je?</a:t>
            </a:r>
            <a:endParaRPr lang="en-US" sz="20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2000" b="1" dirty="0">
                <a:solidFill>
                  <a:schemeClr val="tx2"/>
                </a:solidFill>
              </a:rPr>
              <a:t>3.  </a:t>
            </a:r>
            <a:r>
              <a:rPr lang="en-US" sz="2000" dirty="0">
                <a:solidFill>
                  <a:schemeClr val="tx1"/>
                </a:solidFill>
              </a:rPr>
              <a:t>Emma se sent un peu stressée. → </a:t>
            </a:r>
            <a:r>
              <a:rPr lang="en-US" sz="2000" b="1" dirty="0">
                <a:solidFill>
                  <a:schemeClr val="accent3"/>
                </a:solidFill>
              </a:rPr>
              <a:t>Emma voelt zich een beetje gestrest.</a:t>
            </a:r>
            <a:endParaRPr lang="en-US" sz="20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2000" b="1" dirty="0">
                <a:solidFill>
                  <a:schemeClr val="tx2"/>
                </a:solidFill>
              </a:rPr>
              <a:t>4.  </a:t>
            </a:r>
            <a:r>
              <a:rPr lang="en-US" sz="2000" dirty="0">
                <a:solidFill>
                  <a:schemeClr val="tx1"/>
                </a:solidFill>
              </a:rPr>
              <a:t>Nous nous dépêchons ! → </a:t>
            </a:r>
            <a:r>
              <a:rPr lang="en-US" sz="2000" b="1" dirty="0">
                <a:solidFill>
                  <a:schemeClr val="accent3"/>
                </a:solidFill>
              </a:rPr>
              <a:t>Wij haasten ons!</a:t>
            </a:r>
            <a:endParaRPr lang="en-US" sz="2000" dirty="0"/>
          </a:p>
        </p:txBody>
      </p:sp>
      <p:sp>
        <p:nvSpPr>
          <p:cNvPr id="9" name="exercise"/>
          <p:cNvSpPr txBox="1"/>
          <p:nvPr/>
        </p:nvSpPr>
        <p:spPr>
          <a:xfrm>
            <a:off x="4320540" y="2170176"/>
            <a:ext cx="3406140" cy="412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en-US" sz="2000" b="1" dirty="0">
                <a:solidFill>
                  <a:schemeClr val="tx2"/>
                </a:solidFill>
              </a:rPr>
              <a:t>5.  </a:t>
            </a:r>
            <a:r>
              <a:rPr lang="en-US" sz="2000" dirty="0">
                <a:solidFill>
                  <a:schemeClr val="tx1"/>
                </a:solidFill>
              </a:rPr>
              <a:t>Vous vous trompez, Monsieur Janssens. → </a:t>
            </a:r>
            <a:r>
              <a:rPr lang="en-US" sz="2000" b="1" dirty="0">
                <a:solidFill>
                  <a:schemeClr val="accent3"/>
                </a:solidFill>
              </a:rPr>
              <a:t>U vergist zich, meneer Janssens.</a:t>
            </a:r>
            <a:endParaRPr lang="en-US" sz="20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2000" b="1" dirty="0">
                <a:solidFill>
                  <a:schemeClr val="tx2"/>
                </a:solidFill>
              </a:rPr>
              <a:t>6.  </a:t>
            </a:r>
            <a:r>
              <a:rPr lang="en-US" sz="2000" dirty="0">
                <a:solidFill>
                  <a:schemeClr val="tx1"/>
                </a:solidFill>
              </a:rPr>
              <a:t>Je m’ennuie, car je n’ai pas de travail. → </a:t>
            </a:r>
            <a:r>
              <a:rPr lang="en-US" sz="2000" b="1" dirty="0">
                <a:solidFill>
                  <a:schemeClr val="accent3"/>
                </a:solidFill>
              </a:rPr>
              <a:t>Ik verveel me, want ik heb geen werk.</a:t>
            </a:r>
            <a:endParaRPr lang="en-US" sz="20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2000" b="1" dirty="0">
                <a:solidFill>
                  <a:schemeClr val="tx2"/>
                </a:solidFill>
              </a:rPr>
              <a:t>7.  </a:t>
            </a:r>
            <a:r>
              <a:rPr lang="en-US" sz="2000" dirty="0">
                <a:solidFill>
                  <a:schemeClr val="tx1"/>
                </a:solidFill>
              </a:rPr>
              <a:t>Pieter se lève à sept heures. → </a:t>
            </a:r>
            <a:r>
              <a:rPr lang="en-US" sz="2000" b="1" dirty="0">
                <a:solidFill>
                  <a:schemeClr val="accent3"/>
                </a:solidFill>
              </a:rPr>
              <a:t>Pieter staat om zeven uur op.</a:t>
            </a:r>
            <a:endParaRPr lang="en-US" sz="20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2000" b="1" dirty="0">
                <a:solidFill>
                  <a:schemeClr val="tx2"/>
                </a:solidFill>
              </a:rPr>
              <a:t>8.  </a:t>
            </a:r>
            <a:r>
              <a:rPr lang="en-US" sz="2000" dirty="0">
                <a:solidFill>
                  <a:schemeClr val="tx1"/>
                </a:solidFill>
              </a:rPr>
              <a:t>Puis-je me présenter ? → </a:t>
            </a:r>
            <a:r>
              <a:rPr lang="en-US" sz="2000" b="1" dirty="0">
                <a:solidFill>
                  <a:schemeClr val="accent3"/>
                </a:solidFill>
              </a:rPr>
              <a:t>Mag ik me voorstellen?</a:t>
            </a:r>
            <a:endParaRPr lang="en-US" sz="2000" dirty="0"/>
          </a:p>
        </p:txBody>
      </p:sp>
      <p:sp>
        <p:nvSpPr>
          <p:cNvPr id="10" name="aside"/>
          <p:cNvSpPr/>
          <p:nvPr/>
        </p:nvSpPr>
        <p:spPr>
          <a:xfrm>
            <a:off x="8046720" y="1481328"/>
            <a:ext cx="3593592" cy="4809744"/>
          </a:xfrm>
          <a:prstGeom prst="roundRect">
            <a:avLst>
              <a:gd name="adj" fmla="val 2036"/>
            </a:avLst>
          </a:prstGeom>
          <a:solidFill>
            <a:schemeClr val="accent6">
              <a:alpha val="10000"/>
            </a:schemeClr>
          </a:solidFill>
          <a:ln w="12700">
            <a:solidFill>
              <a:schemeClr val="accent6">
                <a:alpha val="60000"/>
              </a:schemeClr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1664208"/>
            <a:ext cx="292608" cy="29260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8613648" y="1636776"/>
            <a:ext cx="2862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chemeClr val="accent6"/>
                </a:solidFill>
              </a:rPr>
              <a:t>ATTENTION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8211312" y="2075688"/>
            <a:ext cx="3264408" cy="4078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Inversion : </a:t>
            </a:r>
            <a:r>
              <a:rPr lang="en-US" sz="1800" i="1" dirty="0">
                <a:solidFill>
                  <a:schemeClr val="tx1"/>
                </a:solidFill>
              </a:rPr>
              <a:t>Vandaag voel </a:t>
            </a:r>
            <a:r>
              <a:rPr lang="en-US" sz="1800" b="1" i="1" dirty="0">
                <a:solidFill>
                  <a:schemeClr val="tx1"/>
                </a:solidFill>
              </a:rPr>
              <a:t>ik me</a:t>
            </a:r>
            <a:r>
              <a:rPr lang="en-US" sz="1800" i="1" dirty="0">
                <a:solidFill>
                  <a:schemeClr val="tx1"/>
                </a:solidFill>
              </a:rPr>
              <a:t>…</a:t>
            </a:r>
            <a:r>
              <a:rPr lang="en-US" sz="1800" dirty="0">
                <a:solidFill>
                  <a:schemeClr val="tx1"/>
                </a:solidFill>
              </a:rPr>
              <a:t> · </a:t>
            </a:r>
            <a:r>
              <a:rPr lang="en-US" sz="1800" i="1" dirty="0">
                <a:solidFill>
                  <a:schemeClr val="tx1"/>
                </a:solidFill>
              </a:rPr>
              <a:t>Hoe voel </a:t>
            </a:r>
            <a:r>
              <a:rPr lang="en-US" sz="1800" b="1" i="1" dirty="0">
                <a:solidFill>
                  <a:schemeClr val="tx1"/>
                </a:solidFill>
              </a:rPr>
              <a:t>je je</a:t>
            </a:r>
            <a:r>
              <a:rPr lang="en-US" sz="1800" i="1" dirty="0">
                <a:solidFill>
                  <a:schemeClr val="tx1"/>
                </a:solidFill>
              </a:rPr>
              <a:t>?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i="1" dirty="0">
                <a:solidFill>
                  <a:schemeClr val="tx1"/>
                </a:solidFill>
              </a:rPr>
              <a:t>se lever</a:t>
            </a:r>
            <a:r>
              <a:rPr lang="en-US" sz="1800" dirty="0">
                <a:solidFill>
                  <a:schemeClr val="tx1"/>
                </a:solidFill>
              </a:rPr>
              <a:t> = </a:t>
            </a:r>
            <a:r>
              <a:rPr lang="en-US" sz="1800" b="1" dirty="0">
                <a:solidFill>
                  <a:schemeClr val="tx1"/>
                </a:solidFill>
              </a:rPr>
              <a:t>opstaan</a:t>
            </a:r>
            <a:r>
              <a:rPr lang="en-US" sz="1800" dirty="0">
                <a:solidFill>
                  <a:schemeClr val="tx1"/>
                </a:solidFill>
              </a:rPr>
              <a:t> : pas de zich !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i="1" dirty="0">
                <a:solidFill>
                  <a:schemeClr val="tx1"/>
                </a:solidFill>
              </a:rPr>
              <a:t>U vergist </a:t>
            </a:r>
            <a:r>
              <a:rPr lang="en-US" sz="1800" b="1" i="1" dirty="0">
                <a:solidFill>
                  <a:schemeClr val="tx1"/>
                </a:solidFill>
              </a:rPr>
              <a:t>zich</a:t>
            </a:r>
            <a:r>
              <a:rPr lang="en-US" sz="1800" dirty="0">
                <a:solidFill>
                  <a:schemeClr val="tx1"/>
                </a:solidFill>
              </a:rPr>
              <a:t> (ou </a:t>
            </a:r>
            <a:r>
              <a:rPr lang="en-US" sz="1800" i="1" dirty="0">
                <a:solidFill>
                  <a:schemeClr val="tx1"/>
                </a:solidFill>
              </a:rPr>
              <a:t>u vergist u</a:t>
            </a:r>
            <a:r>
              <a:rPr lang="en-US" sz="1800" dirty="0">
                <a:solidFill>
                  <a:schemeClr val="tx1"/>
                </a:solidFill>
              </a:rPr>
              <a:t>).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Fiche 8 : Exprimer ses émotions — vocabulaire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2308860" cy="310896"/>
          </a:xfrm>
          <a:prstGeom prst="roundRect">
            <a:avLst>
              <a:gd name="adj" fmla="val 14706"/>
            </a:avLst>
          </a:prstGeom>
          <a:solidFill>
            <a:srgbClr val="6E4A9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MISE EN SITUATION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99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481328"/>
            <a:ext cx="11091672" cy="344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Nouveau vocabulaire du </a:t>
            </a:r>
            <a:r>
              <a:rPr lang="en-US" sz="1600" b="1" i="1" dirty="0">
                <a:solidFill>
                  <a:schemeClr val="accent5"/>
                </a:solidFill>
              </a:rPr>
              <a:t>Jalon 1</a:t>
            </a:r>
            <a:r>
              <a:rPr lang="en-US" sz="1600" i="1" dirty="0">
                <a:solidFill>
                  <a:schemeClr val="accent5"/>
                </a:solidFill>
              </a:rPr>
              <a:t> (demander) et du </a:t>
            </a:r>
            <a:r>
              <a:rPr lang="en-US" sz="1600" b="1" i="1" dirty="0">
                <a:solidFill>
                  <a:schemeClr val="accent5"/>
                </a:solidFill>
              </a:rPr>
              <a:t>Jalon 2</a:t>
            </a:r>
            <a:r>
              <a:rPr lang="en-US" sz="1600" i="1" dirty="0">
                <a:solidFill>
                  <a:schemeClr val="accent5"/>
                </a:solidFill>
              </a:rPr>
              <a:t> (répondre en donnant la raison).</a:t>
            </a:r>
            <a:endParaRPr lang="en-US" sz="16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17192"/>
          <a:ext cx="11091672" cy="914400"/>
        </p:xfrm>
        <a:graphic>
          <a:graphicData uri="http://schemas.openxmlformats.org/drawingml/2006/table">
            <a:tbl>
              <a:tblPr/>
              <a:tblGrid>
                <a:gridCol w="2240280"/>
                <a:gridCol w="2743200"/>
                <a:gridCol w="2651760"/>
                <a:gridCol w="3456432"/>
              </a:tblGrid>
              <a:tr h="5394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JALON 1 · NL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FRANÇAIS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JALON 2 · NL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FRANÇAIS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44074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moe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fatigué(e)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omdat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parce que (verbe à la fin)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4074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gestrest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stressé(e)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daarom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c’est pourquoi (inversion)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4074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rustig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calme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want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car (ordre normal)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vrij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libre · assez (vrij moe)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vanwege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 + nom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à cause de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4074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heel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très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te veel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trop (de)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4074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bezet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occupé(e), pris(e)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te weinig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trop peu (de)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4074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een beetje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un peu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chemeClr val="accent2"/>
                          </a:solidFill>
                        </a:rPr>
                        <a:t>de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druk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la pression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4074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ontzettend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extrêmement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chemeClr val="accent4"/>
                          </a:solidFill>
                        </a:rPr>
                        <a:t>het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werk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le travail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Fiche 8 : Jalon 1 (A1) et Jalon 2 (A2)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2308860" cy="310896"/>
          </a:xfrm>
          <a:prstGeom prst="roundRect">
            <a:avLst>
              <a:gd name="adj" fmla="val 14706"/>
            </a:avLst>
          </a:prstGeom>
          <a:solidFill>
            <a:srgbClr val="6E4A9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MISE EN SITUATION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99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481328"/>
            <a:ext cx="11091672" cy="344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i="1" dirty="0">
                <a:solidFill>
                  <a:schemeClr val="accent5"/>
                </a:solidFill>
              </a:rPr>
              <a:t>I</a:t>
            </a:r>
            <a:r>
              <a:rPr lang="en-US" sz="1600" i="1" dirty="0">
                <a:solidFill>
                  <a:schemeClr val="accent5"/>
                </a:solidFill>
              </a:rPr>
              <a:t> interrogative · </a:t>
            </a:r>
            <a:r>
              <a:rPr lang="en-US" sz="1600" b="1" i="1" dirty="0">
                <a:solidFill>
                  <a:schemeClr val="accent5"/>
                </a:solidFill>
              </a:rPr>
              <a:t>D</a:t>
            </a:r>
            <a:r>
              <a:rPr lang="en-US" sz="1600" i="1" dirty="0">
                <a:solidFill>
                  <a:schemeClr val="accent5"/>
                </a:solidFill>
              </a:rPr>
              <a:t> déclarative · </a:t>
            </a:r>
            <a:r>
              <a:rPr lang="en-US" sz="1600" b="1" i="1" dirty="0">
                <a:solidFill>
                  <a:schemeClr val="accent5"/>
                </a:solidFill>
              </a:rPr>
              <a:t>N</a:t>
            </a:r>
            <a:r>
              <a:rPr lang="en-US" sz="1600" i="1" dirty="0">
                <a:solidFill>
                  <a:schemeClr val="accent5"/>
                </a:solidFill>
              </a:rPr>
              <a:t> négative — on tutoie (je). Jalon 2 : donnez la raison.</a:t>
            </a:r>
            <a:endParaRPr lang="en-US" sz="16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17192"/>
          <a:ext cx="11091672" cy="914400"/>
        </p:xfrm>
        <a:graphic>
          <a:graphicData uri="http://schemas.openxmlformats.org/drawingml/2006/table">
            <a:tbl>
              <a:tblPr/>
              <a:tblGrid>
                <a:gridCol w="685800"/>
                <a:gridCol w="594360"/>
                <a:gridCol w="5029200"/>
                <a:gridCol w="4782312"/>
              </a:tblGrid>
              <a:tr h="48554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N°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TYPE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FRANÇAIS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NEDERLANDS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J1·1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I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Comment te sens-tu aujourd’hui ?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accent5"/>
                          </a:solidFill>
                        </a:rPr>
                        <a:t>…………………………………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J1·2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I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Es-tu très fatigué ?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accent5"/>
                          </a:solidFill>
                        </a:rPr>
                        <a:t>………………………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J1·3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I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Te sens-tu un peu stressé ?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accent5"/>
                          </a:solidFill>
                        </a:rPr>
                        <a:t>……………………………………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J1·4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N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Pourquoi ne te sens-tu pas bien ?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accent5"/>
                          </a:solidFill>
                        </a:rPr>
                        <a:t>……………………………………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J1·5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I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Es-tu libre ce soir, ou occupé ?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accent5"/>
                          </a:solidFill>
                        </a:rPr>
                        <a:t>……………………………………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J2·1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D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Je suis fatigué parce que j’ai trop de travail.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accent5"/>
                          </a:solidFill>
                        </a:rPr>
                        <a:t>……………………………………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J2·2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D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Je me sens stressé à cause de la pression au travail.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accent5"/>
                          </a:solidFill>
                        </a:rPr>
                        <a:t>……………………………………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J2·3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N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Je ne suis pas motivé, car je dors trop peu.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accent5"/>
                          </a:solidFill>
                        </a:rPr>
                        <a:t>……………………………………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J2·4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D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Je dors trop peu, c’est pourquoi je suis si fatigué.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accent5"/>
                          </a:solidFill>
                        </a:rPr>
                        <a:t>……………………………………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J2·5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D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Mais aujourd’hui ça va, parce que j’ai peu de travail.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accent5"/>
                          </a:solidFill>
                        </a:rPr>
                        <a:t>……………………………………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Fiche 8 : Jalon 1 (A1) et Jalon 2 (A2)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2308860" cy="310896"/>
          </a:xfrm>
          <a:prstGeom prst="roundRect">
            <a:avLst>
              <a:gd name="adj" fmla="val 14706"/>
            </a:avLst>
          </a:prstGeom>
          <a:solidFill>
            <a:srgbClr val="6E4A9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MISE EN SITUATION</a:t>
            </a:r>
            <a:endParaRPr lang="en-US" sz="1200" dirty="0"/>
          </a:p>
        </p:txBody>
      </p:sp>
      <p:sp>
        <p:nvSpPr>
          <p:cNvPr id="4" name="tag"/>
          <p:cNvSpPr/>
          <p:nvPr/>
        </p:nvSpPr>
        <p:spPr>
          <a:xfrm>
            <a:off x="2967228" y="237744"/>
            <a:ext cx="1760220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✓ CORRECTIE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99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481328"/>
            <a:ext cx="11091672" cy="344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i="1" dirty="0">
                <a:solidFill>
                  <a:schemeClr val="accent5"/>
                </a:solidFill>
              </a:rPr>
              <a:t>I</a:t>
            </a:r>
            <a:r>
              <a:rPr lang="en-US" sz="1600" i="1" dirty="0">
                <a:solidFill>
                  <a:schemeClr val="accent5"/>
                </a:solidFill>
              </a:rPr>
              <a:t> interrogative · </a:t>
            </a:r>
            <a:r>
              <a:rPr lang="en-US" sz="1600" b="1" i="1" dirty="0">
                <a:solidFill>
                  <a:schemeClr val="accent5"/>
                </a:solidFill>
              </a:rPr>
              <a:t>D</a:t>
            </a:r>
            <a:r>
              <a:rPr lang="en-US" sz="1600" i="1" dirty="0">
                <a:solidFill>
                  <a:schemeClr val="accent5"/>
                </a:solidFill>
              </a:rPr>
              <a:t> déclarative · </a:t>
            </a:r>
            <a:r>
              <a:rPr lang="en-US" sz="1600" b="1" i="1" dirty="0">
                <a:solidFill>
                  <a:schemeClr val="accent5"/>
                </a:solidFill>
              </a:rPr>
              <a:t>N</a:t>
            </a:r>
            <a:r>
              <a:rPr lang="en-US" sz="1600" i="1" dirty="0">
                <a:solidFill>
                  <a:schemeClr val="accent5"/>
                </a:solidFill>
              </a:rPr>
              <a:t> négative — on tutoie (je). Jalon 2 : donnez la raison.</a:t>
            </a:r>
            <a:endParaRPr lang="en-US" sz="16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17192"/>
          <a:ext cx="11091672" cy="914400"/>
        </p:xfrm>
        <a:graphic>
          <a:graphicData uri="http://schemas.openxmlformats.org/drawingml/2006/table">
            <a:tbl>
              <a:tblPr/>
              <a:tblGrid>
                <a:gridCol w="685800"/>
                <a:gridCol w="594360"/>
                <a:gridCol w="5029200"/>
                <a:gridCol w="4782312"/>
              </a:tblGrid>
              <a:tr h="48554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N°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TYPE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FRANÇAIS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NEDERLANDS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J1·1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I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Comment te sens-tu aujourd’hui ?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chemeClr val="accent3"/>
                          </a:solidFill>
                        </a:rPr>
                        <a:t>Hoe voel je je vandaag?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J1·2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I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Es-tu très fatigué ?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chemeClr val="accent3"/>
                          </a:solidFill>
                        </a:rPr>
                        <a:t>Ben je heel moe?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J1·3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I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Te sens-tu un peu stressé ?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chemeClr val="accent3"/>
                          </a:solidFill>
                        </a:rPr>
                        <a:t>Voel je je een beetje gestrest?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J1·4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N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Pourquoi ne te sens-tu pas bien ?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chemeClr val="accent3"/>
                          </a:solidFill>
                        </a:rPr>
                        <a:t>Waarom voel je je niet goed?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J1·5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I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Es-tu libre ce soir, ou occupé ?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chemeClr val="accent3"/>
                          </a:solidFill>
                        </a:rPr>
                        <a:t>Ben je vanavond vrij, of ben je bezet?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J2·1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D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Je suis fatigué parce que j’ai trop de travail.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chemeClr val="accent3"/>
                          </a:solidFill>
                        </a:rPr>
                        <a:t>Ik ben moe omdat ik te veel werk heb.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J2·2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D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Je me sens stressé à cause de la pression au travail.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chemeClr val="accent3"/>
                          </a:solidFill>
                        </a:rPr>
                        <a:t>Ik voel me gestrest vanwege de druk op het werk.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J2·3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N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Je ne suis pas motivé, car je dors trop peu.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chemeClr val="accent3"/>
                          </a:solidFill>
                        </a:rPr>
                        <a:t>Ik ben niet gemotiveerd, want ik slaap te weinig.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J2·4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D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Je dors trop peu, c’est pourquoi je suis si fatigué.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chemeClr val="accent3"/>
                          </a:solidFill>
                        </a:rPr>
                        <a:t>Ik slaap te weinig, daarom ben ik zo moe.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J2·5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D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Mais aujourd’hui ça va, parce que j’ai peu de travail.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chemeClr val="accent3"/>
                          </a:solidFill>
                        </a:rPr>
                        <a:t>Maar vandaag gaat het wel, omdat ik weinig werk heb.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Phrase-clé : want, omdat, daarom, vanwege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508760" cy="310896"/>
          </a:xfrm>
          <a:prstGeom prst="roundRect">
            <a:avLst>
              <a:gd name="adj" fmla="val 14706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GRAMMATICA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99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481328"/>
            <a:ext cx="11091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Regardez </a:t>
            </a:r>
            <a:r>
              <a:rPr lang="en-US" sz="1800" b="1" dirty="0">
                <a:solidFill>
                  <a:schemeClr val="tx1"/>
                </a:solidFill>
              </a:rPr>
              <a:t>où va le verbe</a:t>
            </a:r>
            <a:r>
              <a:rPr lang="en-US" sz="1800" dirty="0">
                <a:solidFill>
                  <a:schemeClr val="tx1"/>
                </a:solidFill>
              </a:rPr>
              <a:t>. Et </a:t>
            </a:r>
            <a:r>
              <a:rPr lang="en-US" sz="1800" b="1" dirty="0">
                <a:solidFill>
                  <a:schemeClr val="tx1"/>
                </a:solidFill>
              </a:rPr>
              <a:t>vanwege</a:t>
            </a:r>
            <a:r>
              <a:rPr lang="en-US" sz="1800" dirty="0">
                <a:solidFill>
                  <a:schemeClr val="tx1"/>
                </a:solidFill>
              </a:rPr>
              <a:t> + nom, sans verbe : </a:t>
            </a:r>
            <a:r>
              <a:rPr lang="en-US" sz="1800" i="1" dirty="0">
                <a:solidFill>
                  <a:schemeClr val="tx1"/>
                </a:solidFill>
              </a:rPr>
              <a:t>vanwege </a:t>
            </a:r>
            <a:r>
              <a:rPr lang="en-US" sz="1800" b="1" i="1" dirty="0">
                <a:solidFill>
                  <a:schemeClr val="tx1"/>
                </a:solidFill>
              </a:rPr>
              <a:t>de druk</a:t>
            </a:r>
            <a:r>
              <a:rPr lang="en-US" sz="1800" i="1" dirty="0">
                <a:solidFill>
                  <a:schemeClr val="tx1"/>
                </a:solidFill>
              </a:rPr>
              <a:t> op het werk</a:t>
            </a:r>
            <a:r>
              <a:rPr lang="en-US" sz="1800" dirty="0">
                <a:solidFill>
                  <a:schemeClr val="tx1"/>
                </a:solidFill>
              </a:rPr>
              <a:t>.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2185416"/>
            <a:ext cx="1463040" cy="590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5"/>
                </a:solidFill>
              </a:rPr>
              <a:t>want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2103120" y="1947672"/>
            <a:ext cx="17094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phrase 1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2103120" y="2185416"/>
            <a:ext cx="1709420" cy="590296"/>
          </a:xfrm>
          <a:prstGeom prst="roundRect">
            <a:avLst>
              <a:gd name="adj" fmla="val 9294"/>
            </a:avLst>
          </a:prstGeom>
          <a:solidFill>
            <a:schemeClr val="accent5">
              <a:alpha val="25000"/>
            </a:schemeClr>
          </a:solidFill>
          <a:ln w="12700">
            <a:solidFill>
              <a:srgbClr val="4A5A70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2139696" y="2185416"/>
            <a:ext cx="1636268" cy="590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Ik ben moe,</a:t>
            </a:r>
            <a:endParaRPr lang="en-US" sz="1900" dirty="0"/>
          </a:p>
        </p:txBody>
      </p:sp>
      <p:sp>
        <p:nvSpPr>
          <p:cNvPr id="11" name="Text 8"/>
          <p:cNvSpPr txBox="1"/>
          <p:nvPr/>
        </p:nvSpPr>
        <p:spPr>
          <a:xfrm>
            <a:off x="3922268" y="1947672"/>
            <a:ext cx="8310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E4A9E"/>
                </a:solidFill>
              </a:rPr>
              <a:t>liaison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922268" y="2185416"/>
            <a:ext cx="831088" cy="590296"/>
          </a:xfrm>
          <a:prstGeom prst="roundRect">
            <a:avLst>
              <a:gd name="adj" fmla="val 9294"/>
            </a:avLst>
          </a:prstGeom>
          <a:solidFill>
            <a:srgbClr val="6E4A9E">
              <a:alpha val="88000"/>
            </a:srgbClr>
          </a:solidFill>
          <a:ln w="12700">
            <a:solidFill>
              <a:srgbClr val="6E4A9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958844" y="2185416"/>
            <a:ext cx="757936" cy="590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want</a:t>
            </a:r>
            <a:endParaRPr lang="en-US" sz="1900" dirty="0"/>
          </a:p>
        </p:txBody>
      </p:sp>
      <p:sp>
        <p:nvSpPr>
          <p:cNvPr id="14" name="Text 11"/>
          <p:cNvSpPr txBox="1"/>
          <p:nvPr/>
        </p:nvSpPr>
        <p:spPr>
          <a:xfrm>
            <a:off x="4863084" y="1947672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sujet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4863084" y="2185416"/>
            <a:ext cx="685800" cy="590296"/>
          </a:xfrm>
          <a:prstGeom prst="roundRect">
            <a:avLst>
              <a:gd name="adj" fmla="val 9294"/>
            </a:avLst>
          </a:prstGeom>
          <a:solidFill>
            <a:schemeClr val="tx2">
              <a:alpha val="88000"/>
            </a:schemeClr>
          </a:solidFill>
          <a:ln w="12700">
            <a:solidFill>
              <a:srgbClr val="17375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899660" y="2185416"/>
            <a:ext cx="612648" cy="590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ik</a:t>
            </a:r>
            <a:endParaRPr lang="en-US" sz="1900" dirty="0"/>
          </a:p>
        </p:txBody>
      </p:sp>
      <p:sp>
        <p:nvSpPr>
          <p:cNvPr id="17" name="Text 14"/>
          <p:cNvSpPr txBox="1"/>
          <p:nvPr/>
        </p:nvSpPr>
        <p:spPr>
          <a:xfrm>
            <a:off x="5658612" y="1947672"/>
            <a:ext cx="9565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6"/>
                </a:solidFill>
              </a:rPr>
              <a:t>verbe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5658612" y="2185416"/>
            <a:ext cx="956564" cy="590296"/>
          </a:xfrm>
          <a:prstGeom prst="roundRect">
            <a:avLst>
              <a:gd name="adj" fmla="val 9294"/>
            </a:avLst>
          </a:prstGeom>
          <a:solidFill>
            <a:schemeClr val="accent6">
              <a:alpha val="88000"/>
            </a:schemeClr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5695188" y="2185416"/>
            <a:ext cx="883412" cy="590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slaap</a:t>
            </a:r>
            <a:endParaRPr lang="en-US" sz="1900" dirty="0"/>
          </a:p>
        </p:txBody>
      </p:sp>
      <p:sp>
        <p:nvSpPr>
          <p:cNvPr id="20" name="Text 17"/>
          <p:cNvSpPr txBox="1"/>
          <p:nvPr/>
        </p:nvSpPr>
        <p:spPr>
          <a:xfrm>
            <a:off x="6724904" y="1947672"/>
            <a:ext cx="14584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3"/>
                </a:solidFill>
              </a:rPr>
              <a:t>complément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6724904" y="2185416"/>
            <a:ext cx="1458468" cy="590296"/>
          </a:xfrm>
          <a:prstGeom prst="roundRect">
            <a:avLst>
              <a:gd name="adj" fmla="val 9294"/>
            </a:avLst>
          </a:prstGeom>
          <a:solidFill>
            <a:schemeClr val="accent3">
              <a:alpha val="88000"/>
            </a:schemeClr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761480" y="2185416"/>
            <a:ext cx="1385316" cy="590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te weinig</a:t>
            </a:r>
            <a:endParaRPr lang="en-US" sz="1900" dirty="0"/>
          </a:p>
        </p:txBody>
      </p:sp>
      <p:sp>
        <p:nvSpPr>
          <p:cNvPr id="23" name="Text 20"/>
          <p:cNvSpPr txBox="1"/>
          <p:nvPr/>
        </p:nvSpPr>
        <p:spPr>
          <a:xfrm>
            <a:off x="2103120" y="2803144"/>
            <a:ext cx="9537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…car je dors trop peu. → </a:t>
            </a:r>
            <a:r>
              <a:rPr lang="en-US" sz="1400" b="1" i="1" dirty="0">
                <a:solidFill>
                  <a:schemeClr val="accent5"/>
                </a:solidFill>
              </a:rPr>
              <a:t>ordre normal</a:t>
            </a:r>
            <a:r>
              <a:rPr lang="en-US" sz="1400" i="1" dirty="0">
                <a:solidFill>
                  <a:schemeClr val="accent5"/>
                </a:solidFill>
              </a:rPr>
              <a:t> : sujet + verbe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548640" y="3324352"/>
            <a:ext cx="1463040" cy="590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5"/>
                </a:solidFill>
              </a:rPr>
              <a:t>omdat</a:t>
            </a:r>
            <a:endParaRPr lang="en-US" sz="1400" dirty="0"/>
          </a:p>
        </p:txBody>
      </p:sp>
      <p:sp>
        <p:nvSpPr>
          <p:cNvPr id="25" name="Text 22"/>
          <p:cNvSpPr txBox="1"/>
          <p:nvPr/>
        </p:nvSpPr>
        <p:spPr>
          <a:xfrm>
            <a:off x="2103120" y="3086608"/>
            <a:ext cx="15839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phrase 1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2103120" y="3324352"/>
            <a:ext cx="1583944" cy="590296"/>
          </a:xfrm>
          <a:prstGeom prst="roundRect">
            <a:avLst>
              <a:gd name="adj" fmla="val 9294"/>
            </a:avLst>
          </a:prstGeom>
          <a:solidFill>
            <a:schemeClr val="accent5">
              <a:alpha val="25000"/>
            </a:schemeClr>
          </a:solidFill>
          <a:ln w="12700">
            <a:solidFill>
              <a:srgbClr val="4A5A70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2139696" y="3324352"/>
            <a:ext cx="1510792" cy="590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Ik ben moe</a:t>
            </a:r>
            <a:endParaRPr lang="en-US" sz="1900" dirty="0"/>
          </a:p>
        </p:txBody>
      </p:sp>
      <p:sp>
        <p:nvSpPr>
          <p:cNvPr id="28" name="Text 25"/>
          <p:cNvSpPr txBox="1"/>
          <p:nvPr/>
        </p:nvSpPr>
        <p:spPr>
          <a:xfrm>
            <a:off x="3796792" y="3086608"/>
            <a:ext cx="9565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E4A9E"/>
                </a:solidFill>
              </a:rPr>
              <a:t>liaison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3796792" y="3324352"/>
            <a:ext cx="956564" cy="590296"/>
          </a:xfrm>
          <a:prstGeom prst="roundRect">
            <a:avLst>
              <a:gd name="adj" fmla="val 9294"/>
            </a:avLst>
          </a:prstGeom>
          <a:solidFill>
            <a:srgbClr val="6E4A9E">
              <a:alpha val="88000"/>
            </a:srgbClr>
          </a:solidFill>
          <a:ln w="12700">
            <a:solidFill>
              <a:srgbClr val="6E4A9E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3833368" y="3324352"/>
            <a:ext cx="883412" cy="590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omdat</a:t>
            </a:r>
            <a:endParaRPr lang="en-US" sz="1900" dirty="0"/>
          </a:p>
        </p:txBody>
      </p:sp>
      <p:sp>
        <p:nvSpPr>
          <p:cNvPr id="31" name="Text 28"/>
          <p:cNvSpPr txBox="1"/>
          <p:nvPr/>
        </p:nvSpPr>
        <p:spPr>
          <a:xfrm>
            <a:off x="4863084" y="3086608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sujet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4863084" y="3324352"/>
            <a:ext cx="685800" cy="590296"/>
          </a:xfrm>
          <a:prstGeom prst="roundRect">
            <a:avLst>
              <a:gd name="adj" fmla="val 9294"/>
            </a:avLst>
          </a:prstGeom>
          <a:solidFill>
            <a:schemeClr val="tx2">
              <a:alpha val="88000"/>
            </a:schemeClr>
          </a:solidFill>
          <a:ln w="12700">
            <a:solidFill>
              <a:srgbClr val="17375E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4899660" y="3324352"/>
            <a:ext cx="612648" cy="590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ik</a:t>
            </a:r>
            <a:endParaRPr lang="en-US" sz="1900" dirty="0"/>
          </a:p>
        </p:txBody>
      </p:sp>
      <p:sp>
        <p:nvSpPr>
          <p:cNvPr id="34" name="Text 31"/>
          <p:cNvSpPr txBox="1"/>
          <p:nvPr/>
        </p:nvSpPr>
        <p:spPr>
          <a:xfrm>
            <a:off x="5658612" y="3086608"/>
            <a:ext cx="1834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complément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5658612" y="3324352"/>
            <a:ext cx="1834896" cy="590296"/>
          </a:xfrm>
          <a:prstGeom prst="roundRect">
            <a:avLst>
              <a:gd name="adj" fmla="val 9294"/>
            </a:avLst>
          </a:prstGeom>
          <a:solidFill>
            <a:schemeClr val="accent5">
              <a:alpha val="25000"/>
            </a:schemeClr>
          </a:solidFill>
          <a:ln w="12700">
            <a:solidFill>
              <a:srgbClr val="4A5A70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5695188" y="3324352"/>
            <a:ext cx="1761744" cy="590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te veel werk</a:t>
            </a:r>
            <a:endParaRPr lang="en-US" sz="1900" dirty="0"/>
          </a:p>
        </p:txBody>
      </p:sp>
      <p:sp>
        <p:nvSpPr>
          <p:cNvPr id="37" name="Text 34"/>
          <p:cNvSpPr txBox="1"/>
          <p:nvPr/>
        </p:nvSpPr>
        <p:spPr>
          <a:xfrm>
            <a:off x="7603236" y="3086608"/>
            <a:ext cx="7056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6"/>
                </a:solidFill>
              </a:rPr>
              <a:t>verbe</a:t>
            </a:r>
            <a:endParaRPr lang="en-US" sz="1000" dirty="0"/>
          </a:p>
        </p:txBody>
      </p:sp>
      <p:sp>
        <p:nvSpPr>
          <p:cNvPr id="38" name="Shape 35"/>
          <p:cNvSpPr/>
          <p:nvPr/>
        </p:nvSpPr>
        <p:spPr>
          <a:xfrm>
            <a:off x="7603236" y="3324352"/>
            <a:ext cx="705612" cy="590296"/>
          </a:xfrm>
          <a:prstGeom prst="roundRect">
            <a:avLst>
              <a:gd name="adj" fmla="val 9294"/>
            </a:avLst>
          </a:prstGeom>
          <a:solidFill>
            <a:schemeClr val="accent6">
              <a:alpha val="88000"/>
            </a:schemeClr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7639812" y="3324352"/>
            <a:ext cx="632460" cy="590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heb</a:t>
            </a:r>
            <a:endParaRPr lang="en-US" sz="1900" dirty="0"/>
          </a:p>
        </p:txBody>
      </p:sp>
      <p:sp>
        <p:nvSpPr>
          <p:cNvPr id="40" name="Text 37"/>
          <p:cNvSpPr txBox="1"/>
          <p:nvPr/>
        </p:nvSpPr>
        <p:spPr>
          <a:xfrm>
            <a:off x="2103120" y="3942080"/>
            <a:ext cx="9537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…parce que j’ai trop de travail. → le verbe va </a:t>
            </a:r>
            <a:r>
              <a:rPr lang="en-US" sz="1400" b="1" i="1" dirty="0">
                <a:solidFill>
                  <a:schemeClr val="accent5"/>
                </a:solidFill>
              </a:rPr>
              <a:t>à la fin</a:t>
            </a:r>
            <a:endParaRPr lang="en-US" sz="1400" dirty="0"/>
          </a:p>
        </p:txBody>
      </p:sp>
      <p:sp>
        <p:nvSpPr>
          <p:cNvPr id="41" name="Text 38"/>
          <p:cNvSpPr txBox="1"/>
          <p:nvPr/>
        </p:nvSpPr>
        <p:spPr>
          <a:xfrm>
            <a:off x="548640" y="4463288"/>
            <a:ext cx="1463040" cy="590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5"/>
                </a:solidFill>
              </a:rPr>
              <a:t>daarom</a:t>
            </a:r>
            <a:endParaRPr lang="en-US" sz="1400" dirty="0"/>
          </a:p>
        </p:txBody>
      </p:sp>
      <p:sp>
        <p:nvSpPr>
          <p:cNvPr id="42" name="Text 39"/>
          <p:cNvSpPr txBox="1"/>
          <p:nvPr/>
        </p:nvSpPr>
        <p:spPr>
          <a:xfrm>
            <a:off x="2103120" y="4225544"/>
            <a:ext cx="27132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phrase 1</a:t>
            </a:r>
            <a:endParaRPr lang="en-US" sz="1000" dirty="0"/>
          </a:p>
        </p:txBody>
      </p:sp>
      <p:sp>
        <p:nvSpPr>
          <p:cNvPr id="43" name="Shape 40"/>
          <p:cNvSpPr/>
          <p:nvPr/>
        </p:nvSpPr>
        <p:spPr>
          <a:xfrm>
            <a:off x="2103120" y="4463288"/>
            <a:ext cx="2713228" cy="590296"/>
          </a:xfrm>
          <a:prstGeom prst="roundRect">
            <a:avLst>
              <a:gd name="adj" fmla="val 9294"/>
            </a:avLst>
          </a:prstGeom>
          <a:solidFill>
            <a:schemeClr val="accent5">
              <a:alpha val="25000"/>
            </a:schemeClr>
          </a:solidFill>
          <a:ln w="12700">
            <a:solidFill>
              <a:srgbClr val="4A5A70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2139696" y="4463288"/>
            <a:ext cx="2640076" cy="590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Ik slaap te weinig,</a:t>
            </a:r>
            <a:endParaRPr lang="en-US" sz="1900" dirty="0"/>
          </a:p>
        </p:txBody>
      </p:sp>
      <p:sp>
        <p:nvSpPr>
          <p:cNvPr id="45" name="Text 42"/>
          <p:cNvSpPr txBox="1"/>
          <p:nvPr/>
        </p:nvSpPr>
        <p:spPr>
          <a:xfrm>
            <a:off x="4926076" y="4225544"/>
            <a:ext cx="1082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E4A9E"/>
                </a:solidFill>
              </a:rPr>
              <a:t>liaison</a:t>
            </a:r>
            <a:endParaRPr lang="en-US" sz="1000" dirty="0"/>
          </a:p>
        </p:txBody>
      </p:sp>
      <p:sp>
        <p:nvSpPr>
          <p:cNvPr id="46" name="Shape 43"/>
          <p:cNvSpPr/>
          <p:nvPr/>
        </p:nvSpPr>
        <p:spPr>
          <a:xfrm>
            <a:off x="4926076" y="4463288"/>
            <a:ext cx="1082040" cy="590296"/>
          </a:xfrm>
          <a:prstGeom prst="roundRect">
            <a:avLst>
              <a:gd name="adj" fmla="val 9294"/>
            </a:avLst>
          </a:prstGeom>
          <a:solidFill>
            <a:srgbClr val="6E4A9E">
              <a:alpha val="88000"/>
            </a:srgbClr>
          </a:solidFill>
          <a:ln w="12700">
            <a:solidFill>
              <a:srgbClr val="6E4A9E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4962652" y="4463288"/>
            <a:ext cx="1008888" cy="590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daarom</a:t>
            </a:r>
            <a:endParaRPr lang="en-US" sz="1900" dirty="0"/>
          </a:p>
        </p:txBody>
      </p:sp>
      <p:sp>
        <p:nvSpPr>
          <p:cNvPr id="48" name="Text 45"/>
          <p:cNvSpPr txBox="1"/>
          <p:nvPr/>
        </p:nvSpPr>
        <p:spPr>
          <a:xfrm>
            <a:off x="6117844" y="4225544"/>
            <a:ext cx="7056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6"/>
                </a:solidFill>
              </a:rPr>
              <a:t>verbe</a:t>
            </a:r>
            <a:endParaRPr lang="en-US" sz="1000" dirty="0"/>
          </a:p>
        </p:txBody>
      </p:sp>
      <p:sp>
        <p:nvSpPr>
          <p:cNvPr id="49" name="Shape 46"/>
          <p:cNvSpPr/>
          <p:nvPr/>
        </p:nvSpPr>
        <p:spPr>
          <a:xfrm>
            <a:off x="6117844" y="4463288"/>
            <a:ext cx="705612" cy="590296"/>
          </a:xfrm>
          <a:prstGeom prst="roundRect">
            <a:avLst>
              <a:gd name="adj" fmla="val 9294"/>
            </a:avLst>
          </a:prstGeom>
          <a:solidFill>
            <a:schemeClr val="accent6">
              <a:alpha val="88000"/>
            </a:schemeClr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6154420" y="4463288"/>
            <a:ext cx="632460" cy="590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ben</a:t>
            </a:r>
            <a:endParaRPr lang="en-US" sz="1900" dirty="0"/>
          </a:p>
        </p:txBody>
      </p:sp>
      <p:sp>
        <p:nvSpPr>
          <p:cNvPr id="51" name="Text 48"/>
          <p:cNvSpPr txBox="1"/>
          <p:nvPr/>
        </p:nvSpPr>
        <p:spPr>
          <a:xfrm>
            <a:off x="6933184" y="4225544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sujet</a:t>
            </a:r>
            <a:endParaRPr lang="en-US" sz="1000" dirty="0"/>
          </a:p>
        </p:txBody>
      </p:sp>
      <p:sp>
        <p:nvSpPr>
          <p:cNvPr id="52" name="Shape 49"/>
          <p:cNvSpPr/>
          <p:nvPr/>
        </p:nvSpPr>
        <p:spPr>
          <a:xfrm>
            <a:off x="6933184" y="4463288"/>
            <a:ext cx="685800" cy="590296"/>
          </a:xfrm>
          <a:prstGeom prst="roundRect">
            <a:avLst>
              <a:gd name="adj" fmla="val 9294"/>
            </a:avLst>
          </a:prstGeom>
          <a:solidFill>
            <a:schemeClr val="tx2">
              <a:alpha val="88000"/>
            </a:schemeClr>
          </a:solidFill>
          <a:ln w="12700">
            <a:solidFill>
              <a:srgbClr val="17375E"/>
            </a:solidFill>
            <a:prstDash val="solid"/>
          </a:ln>
        </p:spPr>
      </p:sp>
      <p:sp>
        <p:nvSpPr>
          <p:cNvPr id="53" name="Text 50"/>
          <p:cNvSpPr txBox="1"/>
          <p:nvPr/>
        </p:nvSpPr>
        <p:spPr>
          <a:xfrm>
            <a:off x="6969760" y="4463288"/>
            <a:ext cx="612648" cy="590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ik</a:t>
            </a:r>
            <a:endParaRPr lang="en-US" sz="1900" dirty="0"/>
          </a:p>
        </p:txBody>
      </p:sp>
      <p:sp>
        <p:nvSpPr>
          <p:cNvPr id="54" name="Text 51"/>
          <p:cNvSpPr txBox="1"/>
          <p:nvPr/>
        </p:nvSpPr>
        <p:spPr>
          <a:xfrm>
            <a:off x="7728712" y="4225544"/>
            <a:ext cx="1082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complément</a:t>
            </a:r>
            <a:endParaRPr lang="en-US" sz="1000" dirty="0"/>
          </a:p>
        </p:txBody>
      </p:sp>
      <p:sp>
        <p:nvSpPr>
          <p:cNvPr id="55" name="Shape 52"/>
          <p:cNvSpPr/>
          <p:nvPr/>
        </p:nvSpPr>
        <p:spPr>
          <a:xfrm>
            <a:off x="7728712" y="4463288"/>
            <a:ext cx="1082040" cy="590296"/>
          </a:xfrm>
          <a:prstGeom prst="roundRect">
            <a:avLst>
              <a:gd name="adj" fmla="val 9294"/>
            </a:avLst>
          </a:prstGeom>
          <a:solidFill>
            <a:schemeClr val="accent5">
              <a:alpha val="25000"/>
            </a:schemeClr>
          </a:solidFill>
          <a:ln w="12700">
            <a:solidFill>
              <a:srgbClr val="4A5A70"/>
            </a:solidFill>
            <a:prstDash val="solid"/>
          </a:ln>
        </p:spPr>
      </p:sp>
      <p:sp>
        <p:nvSpPr>
          <p:cNvPr id="56" name="Text 53"/>
          <p:cNvSpPr txBox="1"/>
          <p:nvPr/>
        </p:nvSpPr>
        <p:spPr>
          <a:xfrm>
            <a:off x="7765288" y="4463288"/>
            <a:ext cx="1008888" cy="590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zo moe</a:t>
            </a:r>
            <a:endParaRPr lang="en-US" sz="1900" dirty="0"/>
          </a:p>
        </p:txBody>
      </p:sp>
      <p:sp>
        <p:nvSpPr>
          <p:cNvPr id="57" name="Text 54"/>
          <p:cNvSpPr txBox="1"/>
          <p:nvPr/>
        </p:nvSpPr>
        <p:spPr>
          <a:xfrm>
            <a:off x="2103120" y="5081016"/>
            <a:ext cx="9537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…c’est pourquoi je suis si fatigué. → </a:t>
            </a:r>
            <a:r>
              <a:rPr lang="en-US" sz="1400" b="1" i="1" dirty="0">
                <a:solidFill>
                  <a:schemeClr val="accent5"/>
                </a:solidFill>
              </a:rPr>
              <a:t>inversion</a:t>
            </a:r>
            <a:r>
              <a:rPr lang="en-US" sz="1400" i="1" dirty="0">
                <a:solidFill>
                  <a:schemeClr val="accent5"/>
                </a:solidFill>
              </a:rPr>
              <a:t> : verbe + sujet</a:t>
            </a:r>
            <a:endParaRPr lang="en-US" sz="1400" dirty="0"/>
          </a:p>
        </p:txBody>
      </p:sp>
      <p:sp>
        <p:nvSpPr>
          <p:cNvPr id="58" name="Shape 55"/>
          <p:cNvSpPr/>
          <p:nvPr/>
        </p:nvSpPr>
        <p:spPr>
          <a:xfrm>
            <a:off x="548640" y="5565648"/>
            <a:ext cx="11091672" cy="725424"/>
          </a:xfrm>
          <a:prstGeom prst="roundRect">
            <a:avLst>
              <a:gd name="adj" fmla="val 10084"/>
            </a:avLst>
          </a:prstGeom>
          <a:solidFill>
            <a:schemeClr val="accent6">
              <a:alpha val="10000"/>
            </a:schemeClr>
          </a:solidFill>
          <a:ln w="9525">
            <a:solidFill>
              <a:schemeClr val="accent6">
                <a:alpha val="70000"/>
              </a:schemeClr>
            </a:solidFill>
            <a:prstDash val="solid"/>
          </a:ln>
        </p:spPr>
      </p:sp>
      <p:pic>
        <p:nvPicPr>
          <p:cNvPr id="5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5763768"/>
            <a:ext cx="329184" cy="329184"/>
          </a:xfrm>
          <a:prstGeom prst="rect">
            <a:avLst/>
          </a:prstGeom>
        </p:spPr>
      </p:pic>
      <p:sp>
        <p:nvSpPr>
          <p:cNvPr id="60" name="Text 56"/>
          <p:cNvSpPr txBox="1"/>
          <p:nvPr/>
        </p:nvSpPr>
        <p:spPr>
          <a:xfrm>
            <a:off x="1234440" y="5602224"/>
            <a:ext cx="10287000" cy="652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6"/>
                </a:solidFill>
              </a:rPr>
              <a:t>Piège pour francophones — </a:t>
            </a:r>
            <a:r>
              <a:rPr lang="en-US" sz="1700" dirty="0">
                <a:solidFill>
                  <a:schemeClr val="tx1"/>
                </a:solidFill>
              </a:rPr>
              <a:t>Le français dit </a:t>
            </a:r>
            <a:r>
              <a:rPr lang="en-US" sz="1700" i="1" dirty="0">
                <a:solidFill>
                  <a:schemeClr val="tx1"/>
                </a:solidFill>
              </a:rPr>
              <a:t>parce que </a:t>
            </a:r>
            <a:r>
              <a:rPr lang="en-US" sz="1700" b="1" i="1" dirty="0">
                <a:solidFill>
                  <a:schemeClr val="tx1"/>
                </a:solidFill>
              </a:rPr>
              <a:t>j’ai</a:t>
            </a:r>
            <a:r>
              <a:rPr lang="en-US" sz="1700" i="1" dirty="0">
                <a:solidFill>
                  <a:schemeClr val="tx1"/>
                </a:solidFill>
              </a:rPr>
              <a:t> trop de travail</a:t>
            </a:r>
            <a:r>
              <a:rPr lang="en-US" sz="1700" dirty="0">
                <a:solidFill>
                  <a:schemeClr val="tx1"/>
                </a:solidFill>
              </a:rPr>
              <a:t>. Le néerlandais envoie le verbe à la fin : </a:t>
            </a:r>
            <a:r>
              <a:rPr lang="en-US" sz="1700" i="1" dirty="0">
                <a:solidFill>
                  <a:schemeClr val="tx1"/>
                </a:solidFill>
              </a:rPr>
              <a:t>omdat ik te veel werk </a:t>
            </a:r>
            <a:r>
              <a:rPr lang="en-US" sz="1700" b="1" i="1" dirty="0">
                <a:solidFill>
                  <a:schemeClr val="tx1"/>
                </a:solidFill>
              </a:rPr>
              <a:t>heb</a:t>
            </a:r>
            <a:r>
              <a:rPr lang="en-US" sz="1700" dirty="0">
                <a:solidFill>
                  <a:schemeClr val="tx1"/>
                </a:solidFill>
              </a:rPr>
              <a:t> (✗ </a:t>
            </a:r>
            <a:r>
              <a:rPr lang="en-US" sz="1700" i="1" dirty="0">
                <a:solidFill>
                  <a:schemeClr val="tx1"/>
                </a:solidFill>
              </a:rPr>
              <a:t>omdat ik heb te veel werk</a:t>
            </a:r>
            <a:r>
              <a:rPr lang="en-US" sz="1700" dirty="0">
                <a:solidFill>
                  <a:schemeClr val="tx1"/>
                </a:solidFill>
              </a:rPr>
              <a:t>).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Jeu de rôle : « Hoe voel je je vandaag? »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2308860" cy="310896"/>
          </a:xfrm>
          <a:prstGeom prst="roundRect">
            <a:avLst>
              <a:gd name="adj" fmla="val 14706"/>
            </a:avLst>
          </a:prstGeom>
          <a:solidFill>
            <a:srgbClr val="6E4A9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MISE EN SITUATION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99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481328"/>
            <a:ext cx="11091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Par deux · 10 min — A demande comment B se sent ; B répond avec </a:t>
            </a:r>
            <a:r>
              <a:rPr lang="en-US" sz="1800" b="1" dirty="0">
                <a:solidFill>
                  <a:schemeClr val="tx1"/>
                </a:solidFill>
              </a:rPr>
              <a:t>une raison vraie</a:t>
            </a:r>
            <a:r>
              <a:rPr lang="en-US" sz="1800" dirty="0">
                <a:solidFill>
                  <a:schemeClr val="tx1"/>
                </a:solidFill>
              </a:rPr>
              <a:t>. Puis on inverse.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548640" y="1993392"/>
            <a:ext cx="1984248" cy="3383280"/>
          </a:xfrm>
          <a:prstGeom prst="roundRect">
            <a:avLst>
              <a:gd name="adj" fmla="val 4608"/>
            </a:avLst>
          </a:prstGeom>
          <a:solidFill>
            <a:schemeClr val="bg2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211580" y="2176272"/>
            <a:ext cx="658368" cy="65836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1211580" y="217627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1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2907792"/>
            <a:ext cx="1764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accent2"/>
                </a:solidFill>
              </a:rPr>
              <a:t>A demande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685800" y="3685032"/>
            <a:ext cx="1709928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700" i="1" dirty="0">
                <a:solidFill>
                  <a:schemeClr val="tx1"/>
                </a:solidFill>
              </a:rPr>
              <a:t>Hoe voel je je vandaag?</a:t>
            </a:r>
            <a:endParaRPr lang="en-US" sz="1700" dirty="0"/>
          </a:p>
          <a:p>
            <a:pPr algn="ctr" indent="0" marL="0">
              <a:spcAft>
                <a:spcPts val="600"/>
              </a:spcAft>
              <a:buNone/>
            </a:pPr>
            <a:r>
              <a:rPr lang="en-US" sz="1700" i="1" dirty="0">
                <a:solidFill>
                  <a:schemeClr val="tx1"/>
                </a:solidFill>
              </a:rPr>
              <a:t>Ben je moe? Gestrest?</a:t>
            </a:r>
            <a:endParaRPr lang="en-US" sz="17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9464" y="2395728"/>
            <a:ext cx="219456" cy="219456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2825496" y="1993392"/>
            <a:ext cx="1984248" cy="3383280"/>
          </a:xfrm>
          <a:prstGeom prst="roundRect">
            <a:avLst>
              <a:gd name="adj" fmla="val 4608"/>
            </a:avLst>
          </a:prstGeom>
          <a:solidFill>
            <a:schemeClr val="bg2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3488436" y="2176272"/>
            <a:ext cx="658368" cy="65836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3488436" y="217627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2</a:t>
            </a:r>
            <a:endParaRPr lang="en-US" sz="2000" dirty="0"/>
          </a:p>
        </p:txBody>
      </p:sp>
      <p:sp>
        <p:nvSpPr>
          <p:cNvPr id="16" name="Text 12"/>
          <p:cNvSpPr txBox="1"/>
          <p:nvPr/>
        </p:nvSpPr>
        <p:spPr>
          <a:xfrm>
            <a:off x="2935224" y="2907792"/>
            <a:ext cx="1764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B répond</a:t>
            </a:r>
            <a:endParaRPr lang="en-US" sz="1700" dirty="0"/>
          </a:p>
        </p:txBody>
      </p:sp>
      <p:sp>
        <p:nvSpPr>
          <p:cNvPr id="17" name="Text 13"/>
          <p:cNvSpPr txBox="1"/>
          <p:nvPr/>
        </p:nvSpPr>
        <p:spPr>
          <a:xfrm>
            <a:off x="2962656" y="3685032"/>
            <a:ext cx="1709928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700" i="1" dirty="0">
                <a:solidFill>
                  <a:schemeClr val="tx1"/>
                </a:solidFill>
              </a:rPr>
              <a:t>Ik ben vrij moe omdat ik te veel werk heb.</a:t>
            </a:r>
            <a:endParaRPr lang="en-US" sz="1700" dirty="0"/>
          </a:p>
        </p:txBody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2395728"/>
            <a:ext cx="219456" cy="219456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5102352" y="1993392"/>
            <a:ext cx="1984248" cy="3383280"/>
          </a:xfrm>
          <a:prstGeom prst="roundRect">
            <a:avLst>
              <a:gd name="adj" fmla="val 4608"/>
            </a:avLst>
          </a:prstGeom>
          <a:solidFill>
            <a:schemeClr val="bg2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5765292" y="2176272"/>
            <a:ext cx="658368" cy="658368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21" name="Text 16"/>
          <p:cNvSpPr txBox="1"/>
          <p:nvPr/>
        </p:nvSpPr>
        <p:spPr>
          <a:xfrm>
            <a:off x="5765292" y="217627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3</a:t>
            </a:r>
            <a:endParaRPr lang="en-US" sz="2000" dirty="0"/>
          </a:p>
        </p:txBody>
      </p:sp>
      <p:sp>
        <p:nvSpPr>
          <p:cNvPr id="22" name="Text 17"/>
          <p:cNvSpPr txBox="1"/>
          <p:nvPr/>
        </p:nvSpPr>
        <p:spPr>
          <a:xfrm>
            <a:off x="5212080" y="2907792"/>
            <a:ext cx="1764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accent3"/>
                </a:solidFill>
              </a:rPr>
              <a:t>A creuse</a:t>
            </a:r>
            <a:endParaRPr lang="en-US" sz="1700" dirty="0"/>
          </a:p>
        </p:txBody>
      </p:sp>
      <p:sp>
        <p:nvSpPr>
          <p:cNvPr id="23" name="Text 18"/>
          <p:cNvSpPr txBox="1"/>
          <p:nvPr/>
        </p:nvSpPr>
        <p:spPr>
          <a:xfrm>
            <a:off x="5239512" y="3685032"/>
            <a:ext cx="1709928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700" i="1" dirty="0">
                <a:solidFill>
                  <a:schemeClr val="tx1"/>
                </a:solidFill>
              </a:rPr>
              <a:t>Waarom voel je je niet goed?</a:t>
            </a:r>
            <a:endParaRPr lang="en-US" sz="1700" dirty="0"/>
          </a:p>
          <a:p>
            <a:pPr algn="ctr" indent="0" marL="0">
              <a:spcAft>
                <a:spcPts val="600"/>
              </a:spcAft>
              <a:buNone/>
            </a:pPr>
            <a:r>
              <a:rPr lang="en-US" sz="1700" i="1" dirty="0">
                <a:solidFill>
                  <a:schemeClr val="tx1"/>
                </a:solidFill>
              </a:rPr>
              <a:t>Ben je vanavond vrij?</a:t>
            </a:r>
            <a:endParaRPr lang="en-US" sz="1700" dirty="0"/>
          </a:p>
        </p:txBody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23176" y="2395728"/>
            <a:ext cx="219456" cy="219456"/>
          </a:xfrm>
          <a:prstGeom prst="rect">
            <a:avLst/>
          </a:prstGeom>
        </p:spPr>
      </p:pic>
      <p:sp>
        <p:nvSpPr>
          <p:cNvPr id="25" name="Shape 19"/>
          <p:cNvSpPr/>
          <p:nvPr/>
        </p:nvSpPr>
        <p:spPr>
          <a:xfrm>
            <a:off x="7379208" y="1993392"/>
            <a:ext cx="1984248" cy="3383280"/>
          </a:xfrm>
          <a:prstGeom prst="roundRect">
            <a:avLst>
              <a:gd name="adj" fmla="val 4608"/>
            </a:avLst>
          </a:prstGeom>
          <a:solidFill>
            <a:schemeClr val="bg2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8042148" y="2176272"/>
            <a:ext cx="658368" cy="658368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27" name="Text 21"/>
          <p:cNvSpPr txBox="1"/>
          <p:nvPr/>
        </p:nvSpPr>
        <p:spPr>
          <a:xfrm>
            <a:off x="8042148" y="217627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4</a:t>
            </a:r>
            <a:endParaRPr lang="en-US" sz="2000" dirty="0"/>
          </a:p>
        </p:txBody>
      </p:sp>
      <p:sp>
        <p:nvSpPr>
          <p:cNvPr id="28" name="Text 22"/>
          <p:cNvSpPr txBox="1"/>
          <p:nvPr/>
        </p:nvSpPr>
        <p:spPr>
          <a:xfrm>
            <a:off x="7488936" y="2907792"/>
            <a:ext cx="1764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accent4"/>
                </a:solidFill>
              </a:rPr>
              <a:t>B conclut</a:t>
            </a:r>
            <a:endParaRPr lang="en-US" sz="1700" dirty="0"/>
          </a:p>
        </p:txBody>
      </p:sp>
      <p:sp>
        <p:nvSpPr>
          <p:cNvPr id="29" name="Text 23"/>
          <p:cNvSpPr txBox="1"/>
          <p:nvPr/>
        </p:nvSpPr>
        <p:spPr>
          <a:xfrm>
            <a:off x="7516368" y="3685032"/>
            <a:ext cx="1709928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700" i="1" dirty="0">
                <a:solidFill>
                  <a:schemeClr val="tx1"/>
                </a:solidFill>
              </a:rPr>
              <a:t>Ik slaap te weinig, daarom ben ik zo moe.</a:t>
            </a:r>
            <a:endParaRPr lang="en-US" sz="1700" dirty="0"/>
          </a:p>
          <a:p>
            <a:pPr algn="ctr" indent="0" marL="0">
              <a:spcAft>
                <a:spcPts val="600"/>
              </a:spcAft>
              <a:buNone/>
            </a:pPr>
            <a:r>
              <a:rPr lang="en-US" sz="1700" i="1" dirty="0">
                <a:solidFill>
                  <a:schemeClr val="tx1"/>
                </a:solidFill>
              </a:rPr>
              <a:t>Maar vanavond ben ik vrij!</a:t>
            </a:r>
            <a:endParaRPr lang="en-US" sz="1700" dirty="0"/>
          </a:p>
        </p:txBody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00032" y="2395728"/>
            <a:ext cx="219456" cy="219456"/>
          </a:xfrm>
          <a:prstGeom prst="rect">
            <a:avLst/>
          </a:prstGeom>
        </p:spPr>
      </p:pic>
      <p:sp>
        <p:nvSpPr>
          <p:cNvPr id="31" name="Shape 24"/>
          <p:cNvSpPr/>
          <p:nvPr/>
        </p:nvSpPr>
        <p:spPr>
          <a:xfrm>
            <a:off x="9656064" y="1993392"/>
            <a:ext cx="1984248" cy="3383280"/>
          </a:xfrm>
          <a:prstGeom prst="roundRect">
            <a:avLst>
              <a:gd name="adj" fmla="val 4608"/>
            </a:avLst>
          </a:prstGeom>
          <a:solidFill>
            <a:schemeClr val="bg2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32" name="Shape 25"/>
          <p:cNvSpPr/>
          <p:nvPr/>
        </p:nvSpPr>
        <p:spPr>
          <a:xfrm>
            <a:off x="10319004" y="2176272"/>
            <a:ext cx="658368" cy="65836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33" name="Text 26"/>
          <p:cNvSpPr txBox="1"/>
          <p:nvPr/>
        </p:nvSpPr>
        <p:spPr>
          <a:xfrm>
            <a:off x="10319004" y="217627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5</a:t>
            </a:r>
            <a:endParaRPr lang="en-US" sz="2000" dirty="0"/>
          </a:p>
        </p:txBody>
      </p:sp>
      <p:sp>
        <p:nvSpPr>
          <p:cNvPr id="34" name="Text 27"/>
          <p:cNvSpPr txBox="1"/>
          <p:nvPr/>
        </p:nvSpPr>
        <p:spPr>
          <a:xfrm>
            <a:off x="9765792" y="2907792"/>
            <a:ext cx="1764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Avec u</a:t>
            </a:r>
            <a:endParaRPr lang="en-US" sz="1700" dirty="0"/>
          </a:p>
        </p:txBody>
      </p:sp>
      <p:sp>
        <p:nvSpPr>
          <p:cNvPr id="35" name="Text 28"/>
          <p:cNvSpPr txBox="1"/>
          <p:nvPr/>
        </p:nvSpPr>
        <p:spPr>
          <a:xfrm>
            <a:off x="9793224" y="3685032"/>
            <a:ext cx="1709928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On rejoue : B = votre chef.</a:t>
            </a:r>
            <a:endParaRPr lang="en-US" sz="1700" dirty="0"/>
          </a:p>
          <a:p>
            <a:pPr algn="ctr" indent="0" marL="0">
              <a:spcAft>
                <a:spcPts val="600"/>
              </a:spcAft>
              <a:buNone/>
            </a:pPr>
            <a:r>
              <a:rPr lang="en-US" sz="1700" i="1" dirty="0">
                <a:solidFill>
                  <a:schemeClr val="tx1"/>
                </a:solidFill>
              </a:rPr>
              <a:t>Hoe voelt u zich vandaag?</a:t>
            </a:r>
            <a:endParaRPr lang="en-US" sz="1700" dirty="0"/>
          </a:p>
        </p:txBody>
      </p:sp>
      <p:sp>
        <p:nvSpPr>
          <p:cNvPr id="36" name="Shape 29"/>
          <p:cNvSpPr/>
          <p:nvPr/>
        </p:nvSpPr>
        <p:spPr>
          <a:xfrm>
            <a:off x="548640" y="5605272"/>
            <a:ext cx="11091672" cy="685800"/>
          </a:xfrm>
          <a:prstGeom prst="roundRect">
            <a:avLst>
              <a:gd name="adj" fmla="val 10667"/>
            </a:avLst>
          </a:prstGeom>
          <a:solidFill>
            <a:schemeClr val="accent3">
              <a:alpha val="10000"/>
            </a:schemeClr>
          </a:solidFill>
          <a:ln w="9525">
            <a:solidFill>
              <a:schemeClr val="accent3">
                <a:alpha val="70000"/>
              </a:schemeClr>
            </a:solidFill>
            <a:prstDash val="solid"/>
          </a:ln>
        </p:spPr>
      </p:sp>
      <p:pic>
        <p:nvPicPr>
          <p:cNvPr id="3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808" y="5783580"/>
            <a:ext cx="329184" cy="329184"/>
          </a:xfrm>
          <a:prstGeom prst="rect">
            <a:avLst/>
          </a:prstGeom>
        </p:spPr>
      </p:pic>
      <p:sp>
        <p:nvSpPr>
          <p:cNvPr id="38" name="Text 30"/>
          <p:cNvSpPr txBox="1"/>
          <p:nvPr/>
        </p:nvSpPr>
        <p:spPr>
          <a:xfrm>
            <a:off x="1234440" y="5641848"/>
            <a:ext cx="102870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3"/>
                </a:solidFill>
              </a:rPr>
              <a:t>Critères — </a:t>
            </a:r>
            <a:r>
              <a:rPr lang="en-US" sz="1700" dirty="0">
                <a:solidFill>
                  <a:schemeClr val="tx1"/>
                </a:solidFill>
              </a:rPr>
              <a:t>au moins </a:t>
            </a:r>
            <a:r>
              <a:rPr lang="en-US" sz="1700" b="1" dirty="0">
                <a:solidFill>
                  <a:schemeClr val="tx1"/>
                </a:solidFill>
              </a:rPr>
              <a:t>un</a:t>
            </a:r>
            <a:r>
              <a:rPr lang="en-US" sz="1700" dirty="0">
                <a:solidFill>
                  <a:schemeClr val="tx1"/>
                </a:solidFill>
              </a:rPr>
              <a:t> </a:t>
            </a:r>
            <a:r>
              <a:rPr lang="en-US" sz="1700" i="1" dirty="0">
                <a:solidFill>
                  <a:schemeClr val="tx1"/>
                </a:solidFill>
              </a:rPr>
              <a:t>omdat</a:t>
            </a:r>
            <a:r>
              <a:rPr lang="en-US" sz="1700" dirty="0">
                <a:solidFill>
                  <a:schemeClr val="tx1"/>
                </a:solidFill>
              </a:rPr>
              <a:t> (verbe à la fin), </a:t>
            </a:r>
            <a:r>
              <a:rPr lang="en-US" sz="1700" b="1" dirty="0">
                <a:solidFill>
                  <a:schemeClr val="tx1"/>
                </a:solidFill>
              </a:rPr>
              <a:t>un</a:t>
            </a:r>
            <a:r>
              <a:rPr lang="en-US" sz="1700" dirty="0">
                <a:solidFill>
                  <a:schemeClr val="tx1"/>
                </a:solidFill>
              </a:rPr>
              <a:t> </a:t>
            </a:r>
            <a:r>
              <a:rPr lang="en-US" sz="1700" i="1" dirty="0">
                <a:solidFill>
                  <a:schemeClr val="tx1"/>
                </a:solidFill>
              </a:rPr>
              <a:t>daarom</a:t>
            </a:r>
            <a:r>
              <a:rPr lang="en-US" sz="1700" dirty="0">
                <a:solidFill>
                  <a:schemeClr val="tx1"/>
                </a:solidFill>
              </a:rPr>
              <a:t> (inversion) et </a:t>
            </a:r>
            <a:r>
              <a:rPr lang="en-US" sz="1700" b="1" dirty="0">
                <a:solidFill>
                  <a:schemeClr val="tx1"/>
                </a:solidFill>
              </a:rPr>
              <a:t>un</a:t>
            </a:r>
            <a:r>
              <a:rPr lang="en-US" sz="1700" dirty="0">
                <a:solidFill>
                  <a:schemeClr val="tx1"/>
                </a:solidFill>
              </a:rPr>
              <a:t> nuanceur (een beetje, vrij, heel, ontzettend).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Tot de volgende keer!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988820" cy="310896"/>
          </a:xfrm>
          <a:prstGeom prst="roundRect">
            <a:avLst>
              <a:gd name="adj" fmla="val 1470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FIN DE SÉANCE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6035040" cy="3108960"/>
          </a:xfrm>
          <a:prstGeom prst="roundRect">
            <a:avLst>
              <a:gd name="adj" fmla="val 2941"/>
            </a:avLst>
          </a:prstGeom>
          <a:solidFill>
            <a:schemeClr val="bg1">
              <a:alpha val="10000"/>
            </a:schemeClr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7373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1"/>
                </a:solidFill>
              </a:rPr>
              <a:t>LA PROCHAINE FOIS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148840"/>
            <a:ext cx="5486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i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Séance 6 : </a:t>
            </a:r>
            <a:r>
              <a:rPr lang="en-US" sz="2400" b="1" i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zijn</a:t>
            </a:r>
            <a:r>
              <a:rPr lang="en-US" sz="2400" i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 et </a:t>
            </a:r>
            <a:r>
              <a:rPr lang="en-US" sz="2400" b="1" i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hebben</a:t>
            </a:r>
            <a:r>
              <a:rPr lang="en-US" sz="2400" i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, les deux verbes de presque toutes vos phrases — et pourquoi on dit </a:t>
            </a:r>
            <a:r>
              <a:rPr lang="en-US" sz="2400" i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Ik </a:t>
            </a:r>
            <a:r>
              <a:rPr lang="en-US" sz="2400" b="1" i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heb</a:t>
            </a:r>
            <a:r>
              <a:rPr lang="en-US" sz="2400" i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 honger</a:t>
            </a:r>
            <a:r>
              <a:rPr lang="en-US" sz="2400" i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 mais </a:t>
            </a:r>
            <a:r>
              <a:rPr lang="en-US" sz="2400" i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Ik </a:t>
            </a:r>
            <a:r>
              <a:rPr lang="en-US" sz="2400" b="1" i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ben</a:t>
            </a:r>
            <a:r>
              <a:rPr lang="en-US" sz="2400" i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 bang</a:t>
            </a:r>
            <a:r>
              <a:rPr lang="en-US" sz="2400" i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.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6903720" y="1554480"/>
            <a:ext cx="4736592" cy="4709160"/>
          </a:xfrm>
          <a:prstGeom prst="roundRect">
            <a:avLst>
              <a:gd name="adj" fmla="val 1942"/>
            </a:avLst>
          </a:prstGeom>
          <a:solidFill>
            <a:schemeClr val="bg1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0" y="1755648"/>
            <a:ext cx="365760" cy="36576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7635240" y="173736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chemeClr val="tx2"/>
                </a:solidFill>
              </a:rPr>
              <a:t>POUR LA PROCHAINE SÉANCE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7132320" y="2286000"/>
            <a:ext cx="42976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Refaire le chrono </a:t>
            </a:r>
            <a:r>
              <a:rPr lang="en-US" sz="1700" b="1" dirty="0">
                <a:solidFill>
                  <a:schemeClr val="tx1"/>
                </a:solidFill>
              </a:rPr>
              <a:t>1.2.7</a:t>
            </a:r>
            <a:r>
              <a:rPr lang="en-US" sz="1700" dirty="0">
                <a:solidFill>
                  <a:schemeClr val="tx1"/>
                </a:solidFill>
              </a:rPr>
              <a:t> et battre votre temps.</a:t>
            </a:r>
            <a:endParaRPr lang="en-US" sz="17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Apprendre </a:t>
            </a:r>
            <a:r>
              <a:rPr lang="en-US" sz="1700" b="1" dirty="0">
                <a:solidFill>
                  <a:schemeClr val="tx1"/>
                </a:solidFill>
              </a:rPr>
              <a:t>zich voelen</a:t>
            </a:r>
            <a:r>
              <a:rPr lang="en-US" sz="1700" dirty="0">
                <a:solidFill>
                  <a:schemeClr val="tx1"/>
                </a:solidFill>
              </a:rPr>
              <a:t> : me · je · zich · ons.</a:t>
            </a:r>
            <a:endParaRPr lang="en-US" sz="17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Écrire </a:t>
            </a:r>
            <a:r>
              <a:rPr lang="en-US" sz="1700" b="1" dirty="0">
                <a:solidFill>
                  <a:schemeClr val="tx1"/>
                </a:solidFill>
              </a:rPr>
              <a:t>5 phrases</a:t>
            </a:r>
            <a:r>
              <a:rPr lang="en-US" sz="1700" dirty="0">
                <a:solidFill>
                  <a:schemeClr val="tx1"/>
                </a:solidFill>
              </a:rPr>
              <a:t> vraies : </a:t>
            </a:r>
            <a:r>
              <a:rPr lang="en-US" sz="1700" i="1" dirty="0">
                <a:solidFill>
                  <a:schemeClr val="tx1"/>
                </a:solidFill>
              </a:rPr>
              <a:t>Ik voel me … omdat …</a:t>
            </a:r>
            <a:r>
              <a:rPr lang="en-US" sz="1700" dirty="0">
                <a:solidFill>
                  <a:schemeClr val="tx1"/>
                </a:solidFill>
              </a:rPr>
              <a:t> et </a:t>
            </a:r>
            <a:r>
              <a:rPr lang="en-US" sz="1700" i="1" dirty="0">
                <a:solidFill>
                  <a:schemeClr val="tx1"/>
                </a:solidFill>
              </a:rPr>
              <a:t>…, daarom …</a:t>
            </a:r>
            <a:endParaRPr lang="en-US" sz="17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Relire la </a:t>
            </a:r>
            <a:r>
              <a:rPr lang="en-US" sz="1700" b="1" dirty="0">
                <a:solidFill>
                  <a:schemeClr val="tx1"/>
                </a:solidFill>
              </a:rPr>
              <a:t>fiche 8</a:t>
            </a:r>
            <a:r>
              <a:rPr lang="en-US" sz="1700" dirty="0">
                <a:solidFill>
                  <a:schemeClr val="tx1"/>
                </a:solidFill>
              </a:rPr>
              <a:t> (p. 99) à voix haute.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548640" y="4892040"/>
            <a:ext cx="6035040" cy="1371600"/>
          </a:xfrm>
          <a:prstGeom prst="roundRect">
            <a:avLst>
              <a:gd name="adj" fmla="val 6667"/>
            </a:avLst>
          </a:prstGeom>
          <a:solidFill>
            <a:schemeClr val="accent1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77240" y="4983480"/>
            <a:ext cx="5623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chemeClr val="bg1"/>
                </a:solidFill>
              </a:rPr>
              <a:t>TICKET DE SORTIE  </a:t>
            </a:r>
            <a:endParaRPr lang="en-US" sz="1300" dirty="0"/>
          </a:p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Comment vous sentez-vous maintenant ? Une phrase avec </a:t>
            </a:r>
            <a:r>
              <a:rPr lang="en-US" sz="1600" b="1" dirty="0">
                <a:solidFill>
                  <a:schemeClr val="bg1"/>
                </a:solidFill>
              </a:rPr>
              <a:t>un nuanceur</a:t>
            </a:r>
            <a:r>
              <a:rPr lang="en-US" sz="1600" dirty="0">
                <a:solidFill>
                  <a:schemeClr val="bg1"/>
                </a:solidFill>
              </a:rPr>
              <a:t> et </a:t>
            </a:r>
            <a:r>
              <a:rPr lang="en-US" sz="1600" b="1" dirty="0">
                <a:solidFill>
                  <a:schemeClr val="bg1"/>
                </a:solidFill>
              </a:rPr>
              <a:t>omdat</a:t>
            </a:r>
            <a:r>
              <a:rPr lang="en-US" sz="1600" dirty="0">
                <a:solidFill>
                  <a:schemeClr val="bg1"/>
                </a:solidFill>
              </a:rPr>
              <a:t>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EEF3F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ederlands in situatie">
  <a:themeElements>
    <a:clrScheme name="Nederlands in situatie">
      <a:dk1>
        <a:srgbClr val="1B2333"/>
      </a:dk1>
      <a:lt1>
        <a:srgbClr val="FFFFFF"/>
      </a:lt1>
      <a:dk2>
        <a:srgbClr val="17375E"/>
      </a:dk2>
      <a:lt2>
        <a:srgbClr val="EEF3F8"/>
      </a:lt2>
      <a:accent1>
        <a:srgbClr val="D9700F"/>
      </a:accent1>
      <a:accent2>
        <a:srgbClr val="2A6FB0"/>
      </a:accent2>
      <a:accent3>
        <a:srgbClr val="2E7D4F"/>
      </a:accent3>
      <a:accent4>
        <a:srgbClr val="B4236A"/>
      </a:accent4>
      <a:accent5>
        <a:srgbClr val="4A5A70"/>
      </a:accent5>
      <a:accent6>
        <a:srgbClr val="B83227"/>
      </a:accent6>
      <a:hlink>
        <a:srgbClr val="2A6FB0"/>
      </a:hlink>
      <a:folHlink>
        <a:srgbClr val="B4236A"/>
      </a:folHlink>
    </a:clrScheme>
    <a:fontScheme name="Nederlands in situati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IRAM — Néerlandais 2 (UE2)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Séance 05 — Hoe voel je je?</dc:title>
  <dc:subject>Néerlandais en situation appliqué à l’enseignement supérieur</dc:subject>
  <dc:creator>A. Jouniaux</dc:creator>
  <cp:lastModifiedBy>A. Jouniaux</cp:lastModifiedBy>
  <cp:revision>1</cp:revision>
  <dcterms:created xsi:type="dcterms:W3CDTF">2026-10-03T21:06:37Z</dcterms:created>
  <dcterms:modified xsi:type="dcterms:W3CDTF">2026-10-03T21:06:37Z</dcterms:modified>
</cp:coreProperties>
</file>