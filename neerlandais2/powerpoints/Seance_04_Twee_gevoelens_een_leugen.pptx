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e15918a-8e79-414d-1d6a-8c51e363242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ôture" id="{a1914057-2b7b-8339-bf68-4ef5a2407778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2 de la séquence 1.2 : production structurée avec le zinnenbouwer ouvert (1.2.3 à 1.2.6). Les étudiants disent comment ils se sentent (Ik ben / Ik voel me + nuance + adjectif + want…), puis jouent une conversation au tutoiement et au vouvoiement. Vocabulaire 11 (Gevoelens, p. 88) et fiche de grammaire 06 (En · maar · want, p. 73).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Le livret prévoit 60 minutes pour 1.2.3 à 1.2.6 ; on gagne du temps sur 1.2.4 et 1.2.5 (10 min chacun). Le vocabulaire des émotions (p. 88) est placé en début de séance : il nourrit toutes les productions de la couche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3 : degrés de formalité (p. 21), zinnenbouwer 1.2 et l’heure (fiche 07). Faire saluer le professeur (vouvoiement) par deux ou trois étudiants, puis les voisins entre eux. Vérifier les devoirs : un mot composé par étudiant (EXTRA Opdracht p.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« Hoe voelt hij zich? » : montrer un numéro, la classe répond par une phrase (Hij is moe. / Ze is bang.). Vocabulaire 11, p. 88. Plusieurs adjectifs sont déjà dans le zinnenbouwer 1.2 (moe, blij, bang, nerveus).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nom dans cette liste : des adjectifs (sans article), un verbe réfléchi (zich vervelen : ik verveel me, hij verveelt zich) et trois expressions. Synonymes : zenuwachtig = nerveus ; blij ≈ gelukkig (plus fort). Si un étudiant demande les noms : het verdriet, de angst, de liefde, de trots, de rust, de ziekte.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immédiat du vocabulaire. Oral, un étudiant par phrase, puis la reformulation avec want (« Ze is trots, want ze heeft 18/20 voor haar examen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7 : accepter aussi « blij » ou « verliefd ». Item 1 : accepter « blij ». 18/20 se lit « achttien op twintig ». Griep = la grippe.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Formule donnée par la consigne de 1.2.3 (p. 24), construite avec la famille C du zinnenbouwer 1.2. La nuance se place toujours devant l’adjectif. Le livret appelle cette nuance un « nuanceur » (mot inhabituel en français : on peut dire « intensificateur »). Ik voel me / jij voelt je / hij voelt zich / wij voelen ons : le verbe réfléchi sera étudié à la séance 5 (fiche Zich wassen).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libre : pas de correction unique. Les phrases d’Anna sont des modèles. Passer dans les rangs : vérifier « me » après voel, la place de la nuance et l’ordre après want. Variante : le voisin pose une question pour démasquer le mensonge (« Werk jij ’s nachts?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structurée, pas de correction unique. Le livret demande que le nouveau bloc existe dans le zinnenbouwer : c’est vérifiable pour la nuance et l’adjectif, mais le zinnenbouwer 1.2 n’a pas de colonne « raison » (want…) : accepter toute raison correcte. Remarque de langue : « Ik ben druk / Wij zijn heel druk » se dit, mais la tournure la plus courante pour « être occupé » est « het druk hebben » : Wij hebben het deze week heel druk.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« vol » oblige à écouter attentivement la phrase du voisin (zinnenbouwer fermé) puis à la reproduire en la modifiant. Vérifier à l’écrit : la nuance devant l’adjectif, me après voel, l’ordre normal après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Modèles possibles, à adapter : les étudiants doivent dire des choses vraies pour eux. A et B échangent les rôles pour la seconde conversation. Dans le vouvoiement, tout passe à u : dank u, En met u?, meneer / mevrouw. Dans le livret, la colonne « Dialoog met « U » » est écrite avec une majuscule ; on écrit « u » en minuscule.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Encadré du bas de la p. 26. En Flandre, on vouvoie volontiers les inconnus, les clients et la hiérarchie ; aux Pays-Bas, on passe plus vite au je. En cas de doute, commencer par u : l’autre proposera « Zeg maar je! » (tu peux me tutoyer).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Faire voter la classe (je ou u ?) avant de corriger. Afspraak = rendez-vous.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Remarquer les verbes : je hebt → heb je (le -t tombe), mais u hebt → hebt u ; jij bent → ben je, mais u bent → bent u. Avec u, on peut aussi dire « heeft u » : les deux formes sont correctes.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06 (p. 73). Les étudiants connaissent déjà want et maar (dialogue, textes de 1.2.1). Faire trouver un exemple personnel avec chaque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Encadré B de la fiche p. 73. À ce stade, on privilégie want à l’oral (ordre normal, plus facile) ; omdat est à reconnaître et à produire à l’écrit. La place du verbe en fin de phrase avec omdat sera reprise dans les mises en situation (phrase-clé omdat).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p. 73. Les phrases 1 et 2 ont le même sens : comparer les deux ordres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Dorst hebben = avoir soif (comme honger hebben, avoir faim). Nog = encore.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ajouté, à faire seul puis à corriger à l’oral. Faire justifier chaque choix (raison, conséquence, opposition, choix, addition).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4 et 8 : accepter aussi « dus blijft ze thuis » et « dus bel ik een vriend ». Item 7 : faire sourire la classe (Pieter n’est pas toujours à l’heure 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Ik voel me een beetje moe, want ik werk veel. » / « Ik ben moe, maar ik ben blij.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image" Target="../media/image-4-9.jpg"/><Relationship Id="rId10" Type="http://schemas.openxmlformats.org/officeDocument/2006/relationships/image" Target="../media/image-4-10.jpg"/><Relationship Id="rId11" Type="http://schemas.openxmlformats.org/officeDocument/2006/relationships/image" Target="../media/image-4-11.jpg"/><Relationship Id="rId12" Type="http://schemas.openxmlformats.org/officeDocument/2006/relationships/image" Target="../media/image-4-12.jpg"/><Relationship Id="rId13" Type="http://schemas.openxmlformats.org/officeDocument/2006/relationships/image" Target="../media/image-4-13.jpg"/><Relationship Id="rId14" Type="http://schemas.openxmlformats.org/officeDocument/2006/relationships/image" Target="../media/image-4-14.jpg"/><Relationship Id="rId15" Type="http://schemas.openxmlformats.org/officeDocument/2006/relationships/image" Target="../media/image-4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image" Target="../media/image-5-10.jpg"/><Relationship Id="rId11" Type="http://schemas.openxmlformats.org/officeDocument/2006/relationships/image" Target="../media/image-5-11.jpg"/><Relationship Id="rId12" Type="http://schemas.openxmlformats.org/officeDocument/2006/relationships/image" Target="../media/image-5-12.jpg"/><Relationship Id="rId13" Type="http://schemas.openxmlformats.org/officeDocument/2006/relationships/image" Target="../media/image-5-13.jpg"/><Relationship Id="rId14" Type="http://schemas.openxmlformats.org/officeDocument/2006/relationships/image" Target="../media/image-5-14.jpg"/><Relationship Id="rId15" Type="http://schemas.openxmlformats.org/officeDocument/2006/relationships/image" Target="../media/image-5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04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Twee gevoelens, één leugen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Dire comment on se sent et pourquoi — au tutoiement et au vouvoiement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24–26 · 73 · 88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7556"/>
            <a:ext cx="5120640" cy="420288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24–26 · 73 · 88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Dire </a:t>
            </a:r>
            <a:r>
              <a:rPr lang="en-US" sz="1500" b="1" dirty="0">
                <a:solidFill>
                  <a:schemeClr val="tx1"/>
                </a:solidFill>
              </a:rPr>
              <a:t>comment je me sens et pourquoi</a:t>
            </a:r>
            <a:r>
              <a:rPr lang="en-US" sz="1500" dirty="0">
                <a:solidFill>
                  <a:schemeClr val="tx1"/>
                </a:solidFill>
              </a:rPr>
              <a:t> (</a:t>
            </a:r>
            <a:r>
              <a:rPr lang="en-US" sz="1500" i="1" dirty="0">
                <a:solidFill>
                  <a:schemeClr val="tx1"/>
                </a:solidFill>
              </a:rPr>
              <a:t>Ik voel me een beetje moe, want…</a:t>
            </a:r>
            <a:r>
              <a:rPr lang="en-US" sz="1500" dirty="0">
                <a:solidFill>
                  <a:schemeClr val="tx1"/>
                </a:solidFill>
              </a:rPr>
              <a:t>), choisir entre </a:t>
            </a:r>
            <a:r>
              <a:rPr lang="en-US" sz="1500" b="1" dirty="0">
                <a:solidFill>
                  <a:schemeClr val="tx1"/>
                </a:solidFill>
              </a:rPr>
              <a:t>je</a:t>
            </a:r>
            <a:r>
              <a:rPr lang="en-US" sz="1500" dirty="0">
                <a:solidFill>
                  <a:schemeClr val="tx1"/>
                </a:solidFill>
              </a:rPr>
              <a:t> et </a:t>
            </a:r>
            <a:r>
              <a:rPr lang="en-US" sz="1500" b="1" dirty="0">
                <a:solidFill>
                  <a:schemeClr val="tx1"/>
                </a:solidFill>
              </a:rPr>
              <a:t>u</a:t>
            </a:r>
            <a:r>
              <a:rPr lang="en-US" sz="1500" dirty="0">
                <a:solidFill>
                  <a:schemeClr val="tx1"/>
                </a:solidFill>
              </a:rPr>
              <a:t>, relier deux idées avec </a:t>
            </a:r>
            <a:r>
              <a:rPr lang="en-US" sz="1500" b="1" dirty="0">
                <a:solidFill>
                  <a:schemeClr val="tx1"/>
                </a:solidFill>
              </a:rPr>
              <a:t>en, maar, want, of, dus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ben / Ik voel me</a:t>
            </a:r>
            <a:r>
              <a:rPr lang="en-US" sz="1800" dirty="0">
                <a:solidFill>
                  <a:schemeClr val="tx1"/>
                </a:solidFill>
              </a:rPr>
              <a:t> + nuance + adjectif + </a:t>
            </a:r>
            <a:r>
              <a:rPr lang="en-US" sz="1800" i="1" dirty="0">
                <a:solidFill>
                  <a:schemeClr val="tx1"/>
                </a:solidFill>
              </a:rPr>
              <a:t>want…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Hoe gaat het met je / met u?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blij · moe · bang · zenuwachtig · trots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Écrire des phrases vraies pour soi · deviner un mensonge · jouer une conversation au tutoiement puis au vouvoiement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je ou u ?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Gevoelens : imagier + bonus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1.2.3 Twee gevoelens, één leugen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1.2.4 Verander één ding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1.2.5 Zinnendief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1.2.6 Twee gesprekken (je / u)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· maar · want (fiche 06)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Hoe gaat het?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Il est </a:t>
            </a:r>
            <a:r>
              <a:rPr lang="en-US" sz="1600" b="1" i="1" dirty="0">
                <a:solidFill>
                  <a:schemeClr val="accent5"/>
                </a:solidFill>
              </a:rPr>
              <a:t>10 h 30</a:t>
            </a:r>
            <a:r>
              <a:rPr lang="en-US" sz="1600" i="1" dirty="0">
                <a:solidFill>
                  <a:schemeClr val="accent5"/>
                </a:solidFill>
              </a:rPr>
              <a:t>. Saluez, demandez comment ça va, répondez avec une </a:t>
            </a:r>
            <a:r>
              <a:rPr lang="en-US" sz="1600" b="1" i="1" dirty="0">
                <a:solidFill>
                  <a:schemeClr val="accent5"/>
                </a:solidFill>
              </a:rPr>
              <a:t>nuance</a:t>
            </a:r>
            <a:r>
              <a:rPr lang="en-US" sz="1600" i="1" dirty="0">
                <a:solidFill>
                  <a:schemeClr val="accent5"/>
                </a:solidFill>
              </a:rPr>
              <a:t>. ① à votre voisin (</a:t>
            </a:r>
            <a:r>
              <a:rPr lang="en-US" sz="1600" b="1" i="1" dirty="0">
                <a:solidFill>
                  <a:schemeClr val="accent5"/>
                </a:solidFill>
              </a:rPr>
              <a:t>je</a:t>
            </a:r>
            <a:r>
              <a:rPr lang="en-US" sz="1600" i="1" dirty="0">
                <a:solidFill>
                  <a:schemeClr val="accent5"/>
                </a:solidFill>
              </a:rPr>
              <a:t>) ② au professeur (</a:t>
            </a:r>
            <a:r>
              <a:rPr lang="en-US" sz="1600" b="1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① Avec votre voisin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«Goedemorgen, Tom! Hoe gaat het met je?» — «Goed, dank je. En met jou?»</a:t>
            </a:r>
            <a:endParaRPr lang="en-US" sz="21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② Avec le professeur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«Goedemorgen, mevrouw! Hoe gaat het met u?» — «Prima, dank u. En met u?»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«Het gaat wel. Ik ben een beetje moe.»</a:t>
            </a:r>
            <a:endParaRPr lang="en-US" sz="21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Et l’heure ?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«Hoe laat is het?» — «Het is half elf.»</a:t>
            </a:r>
            <a:endParaRPr lang="en-US" sz="21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Salutation selon l’</a:t>
            </a:r>
            <a:r>
              <a:rPr lang="en-US" sz="1800" b="1" dirty="0">
                <a:solidFill>
                  <a:schemeClr val="tx1"/>
                </a:solidFill>
              </a:rPr>
              <a:t>heure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je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b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 selon la personne.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Une </a:t>
            </a:r>
            <a:r>
              <a:rPr lang="en-US" sz="1800" b="1" dirty="0">
                <a:solidFill>
                  <a:schemeClr val="tx1"/>
                </a:solidFill>
              </a:rPr>
              <a:t>nuance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een beetje, vrij, heel…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Toute la classe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Gevoelens — sentiments et opinions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content, heure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tris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366" y="1581912"/>
            <a:ext cx="1019085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fâch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1" y="1581912"/>
            <a:ext cx="998990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effrayé (avoir peur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477" y="1581912"/>
            <a:ext cx="945133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fatigu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753" y="1581912"/>
            <a:ext cx="969718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surpr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042" y="3230880"/>
            <a:ext cx="950596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amoureu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nerveux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7934" y="3230880"/>
            <a:ext cx="973085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s’ennuy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6095" y="3230880"/>
            <a:ext cx="953897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fi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045" y="3230880"/>
            <a:ext cx="945133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calm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481" y="4879848"/>
            <a:ext cx="969718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mala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610" y="4879848"/>
            <a:ext cx="950596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J’aime bien.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9651" y="4879848"/>
            <a:ext cx="989650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Je n’aime pas.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5348" y="4879848"/>
            <a:ext cx="1015393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Je ne sais pas.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927" y="4879848"/>
            <a:ext cx="995371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Gevoelens — sentiments et opinions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8" name="illustration" descr="content, heure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16" y="1581912"/>
            <a:ext cx="993249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blij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content, heureux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3" name="illustration" descr="tris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366" y="1581912"/>
            <a:ext cx="1019085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verdrietig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triste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8" name="illustration" descr="fâch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1" y="1581912"/>
            <a:ext cx="998990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fâché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3" name="illustration" descr="effrayé (avoir peur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477" y="1581912"/>
            <a:ext cx="945133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effrayé (avoir peur)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8" name="illustration" descr="fatigu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753" y="1581912"/>
            <a:ext cx="969718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fatigué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3" name="illustration" descr="surpr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042" y="3230880"/>
            <a:ext cx="950596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verrast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surpris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8" name="illustration" descr="amoureu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01" y="3230880"/>
            <a:ext cx="948415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verliefd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amoureux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3" name="illustration" descr="nerveux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7934" y="3230880"/>
            <a:ext cx="973085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zenuwachtig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nerveux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8" name="illustration" descr="s’ennuy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6095" y="3230880"/>
            <a:ext cx="953897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zich vervelen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s’ennuyer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3" name="illustration" descr="fi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045" y="3230880"/>
            <a:ext cx="945133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trots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fier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8" name="illustration" descr="calm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481" y="4879848"/>
            <a:ext cx="969718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rustig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calme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3" name="illustration" descr="mala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610" y="4879848"/>
            <a:ext cx="950596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malade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8" name="illustration" descr="J’aime bien.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9651" y="4879848"/>
            <a:ext cx="989650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vind het leuk.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J’aime bien.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3" name="illustration" descr="Je n’aime pas.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5348" y="4879848"/>
            <a:ext cx="1015393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vind het niet leuk.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 n’aime pas.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8" name="illustration" descr="Je ne sais pas.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927" y="4879848"/>
            <a:ext cx="995371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weet het niet.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 ne sais pas.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voelen ze zich?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Lisez la situation et trouvez l’émotion (vocabulaire p. 88). Puis redites la phrase avec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Emma heeft 18/20 voor haar examen. → Ze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Pieter heeft morgen een presentatie. → Hij is </a:t>
            </a:r>
            <a:r>
              <a:rPr lang="en-US" sz="2200" dirty="0">
                <a:solidFill>
                  <a:schemeClr val="accent5"/>
                </a:solidFill>
              </a:rPr>
              <a:t>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Sarah heeft griep. → Ze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Er is een grote spin in de klas! → Emma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Pieter werkt tot middernacht. → Hij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Het is zondag en Pieter heeft niets te doen. → Hij </a:t>
            </a:r>
            <a:r>
              <a:rPr lang="en-US" sz="2200" dirty="0">
                <a:solidFill>
                  <a:schemeClr val="accent5"/>
                </a:solidFill>
              </a:rPr>
              <a:t>…………………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Emma krijgt bloemen van Pieter. → Ze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Sarah doet yoga. → Ze is heel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</a:t>
            </a:r>
            <a:r>
              <a:rPr lang="en-US" sz="1800" b="1" dirty="0">
                <a:solidFill>
                  <a:schemeClr val="tx1"/>
                </a:solidFill>
              </a:rPr>
              <a:t>adjectif</a:t>
            </a:r>
            <a:r>
              <a:rPr lang="en-US" sz="1800" dirty="0">
                <a:solidFill>
                  <a:schemeClr val="tx1"/>
                </a:solidFill>
              </a:rPr>
              <a:t> de la p. 88.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Puis avec </a:t>
            </a: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: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Ze is trots, </a:t>
            </a:r>
            <a:r>
              <a:rPr lang="en-US" sz="1800" b="1" i="1" dirty="0">
                <a:solidFill>
                  <a:schemeClr val="tx1"/>
                </a:solidFill>
              </a:rPr>
              <a:t>want</a:t>
            </a:r>
            <a:r>
              <a:rPr lang="en-US" sz="1800" i="1" dirty="0">
                <a:solidFill>
                  <a:schemeClr val="tx1"/>
                </a:solidFill>
              </a:rPr>
              <a:t> ze heeft 18/20.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voelen ze zich?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Lisez la situation et trouvez l’émotion (vocabulaire p. 88). Puis redites la phrase avec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Emma heeft 18/20 voor haar examen. → Ze is </a:t>
            </a:r>
            <a:r>
              <a:rPr lang="en-US" sz="2200" b="1" dirty="0">
                <a:solidFill>
                  <a:schemeClr val="accent3"/>
                </a:solidFill>
              </a:rPr>
              <a:t>trots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Pieter heeft morgen een presentatie. → Hij is </a:t>
            </a:r>
            <a:r>
              <a:rPr lang="en-US" sz="2200" b="1" dirty="0">
                <a:solidFill>
                  <a:schemeClr val="accent3"/>
                </a:solidFill>
              </a:rPr>
              <a:t>zenuwachtig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Sarah heeft griep. → Ze is </a:t>
            </a:r>
            <a:r>
              <a:rPr lang="en-US" sz="2200" b="1" dirty="0">
                <a:solidFill>
                  <a:schemeClr val="accent3"/>
                </a:solidFill>
              </a:rPr>
              <a:t>ziek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Er is een grote spin in de klas! → Emma is </a:t>
            </a:r>
            <a:r>
              <a:rPr lang="en-US" sz="2200" b="1" dirty="0">
                <a:solidFill>
                  <a:schemeClr val="accent3"/>
                </a:solidFill>
              </a:rPr>
              <a:t>bang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Pieter werkt tot middernacht. → Hij is </a:t>
            </a:r>
            <a:r>
              <a:rPr lang="en-US" sz="2200" b="1" dirty="0">
                <a:solidFill>
                  <a:schemeClr val="accent3"/>
                </a:solidFill>
              </a:rPr>
              <a:t>moe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Het is zondag en Pieter heeft niets te doen. → Hij </a:t>
            </a:r>
            <a:r>
              <a:rPr lang="en-US" sz="2200" b="1" dirty="0">
                <a:solidFill>
                  <a:schemeClr val="accent3"/>
                </a:solidFill>
              </a:rPr>
              <a:t>verveelt zich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Emma krijgt bloemen van Pieter. → Ze is </a:t>
            </a:r>
            <a:r>
              <a:rPr lang="en-US" sz="2200" b="1" dirty="0">
                <a:solidFill>
                  <a:schemeClr val="accent3"/>
                </a:solidFill>
              </a:rPr>
              <a:t>verrast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Sarah doet yoga. → Ze is heel </a:t>
            </a:r>
            <a:r>
              <a:rPr lang="en-US" sz="2200" b="1" dirty="0">
                <a:solidFill>
                  <a:schemeClr val="accent3"/>
                </a:solidFill>
              </a:rPr>
              <a:t>rustig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vervelen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hij </a:t>
            </a:r>
            <a:r>
              <a:rPr lang="en-US" sz="1800" b="1" i="1" dirty="0">
                <a:solidFill>
                  <a:schemeClr val="tx1"/>
                </a:solidFill>
              </a:rPr>
              <a:t>verveelt zich</a:t>
            </a:r>
            <a:r>
              <a:rPr lang="en-US" sz="1800" dirty="0">
                <a:solidFill>
                  <a:schemeClr val="tx1"/>
                </a:solidFill>
              </a:rPr>
              <a:t> (verbe réfléchi).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Avec </a:t>
            </a: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Emma is bang, </a:t>
            </a:r>
            <a:r>
              <a:rPr lang="en-US" sz="1800" b="1" i="1" dirty="0">
                <a:solidFill>
                  <a:schemeClr val="tx1"/>
                </a:solidFill>
              </a:rPr>
              <a:t>want</a:t>
            </a:r>
            <a:r>
              <a:rPr lang="en-US" sz="1800" i="1" dirty="0">
                <a:solidFill>
                  <a:schemeClr val="tx1"/>
                </a:solidFill>
              </a:rPr>
              <a:t> er is een spin.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Ik voel me … , want 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ZINNENBOUWER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formule de la couche 2 : </a:t>
            </a:r>
            <a:r>
              <a:rPr lang="en-US" sz="1800" b="1" dirty="0">
                <a:solidFill>
                  <a:schemeClr val="tx1"/>
                </a:solidFill>
              </a:rPr>
              <a:t>Ik ben / Ik voel me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nuance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adjectif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+ raison.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Ik ben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nuance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een beetje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18972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adjectif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8972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2630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985256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85256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21832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, want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58152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58152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94728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85368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5368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025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649208" y="194767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raison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649208" y="218541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5784" y="218541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veel werk.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suis un peu fatigué(e), car j’ai beaucoup de travail.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30495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Ik voel me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103120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139696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898648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898648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935224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voel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3760216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me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760216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796792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4555744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nuance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55744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592320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heel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5417312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adjectif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17312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53888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blij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6278880" y="2811780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278880" y="3049524"/>
            <a:ext cx="96316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315456" y="3049524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, want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7351776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351776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388352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8147304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147304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183880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8942832" y="2811780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raison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8942832" y="3049524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979408" y="3049524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goed nieuws.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2103120" y="340614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me sens très content(e), car j’ai une bonne nouvelle.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54864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Hij / zij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2103120" y="3675888"/>
            <a:ext cx="937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2103120" y="3913632"/>
            <a:ext cx="937598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139696" y="3913632"/>
            <a:ext cx="8644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Pieter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3147533" y="3675888"/>
            <a:ext cx="8347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3147533" y="3913632"/>
            <a:ext cx="834739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184109" y="3913632"/>
            <a:ext cx="761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voelt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4089087" y="3675888"/>
            <a:ext cx="73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zich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089087" y="3913632"/>
            <a:ext cx="73188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125663" y="3913632"/>
            <a:ext cx="65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zich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4927782" y="3675888"/>
            <a:ext cx="73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nuance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927782" y="3913632"/>
            <a:ext cx="73188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964358" y="3913632"/>
            <a:ext cx="65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vrij</a:t>
            </a:r>
            <a:endParaRPr lang="en-US" sz="1600" dirty="0"/>
          </a:p>
        </p:txBody>
      </p:sp>
      <p:sp>
        <p:nvSpPr>
          <p:cNvPr id="75" name="Text 72"/>
          <p:cNvSpPr txBox="1"/>
          <p:nvPr/>
        </p:nvSpPr>
        <p:spPr>
          <a:xfrm>
            <a:off x="5766478" y="3675888"/>
            <a:ext cx="10404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adjectif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766478" y="3913632"/>
            <a:ext cx="1040457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803054" y="3913632"/>
            <a:ext cx="9673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nerveus</a:t>
            </a:r>
            <a:endParaRPr lang="en-US" sz="1600" dirty="0"/>
          </a:p>
        </p:txBody>
      </p:sp>
      <p:sp>
        <p:nvSpPr>
          <p:cNvPr id="78" name="Text 75"/>
          <p:cNvSpPr txBox="1"/>
          <p:nvPr/>
        </p:nvSpPr>
        <p:spPr>
          <a:xfrm>
            <a:off x="6913750" y="3675888"/>
            <a:ext cx="937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6913750" y="3913632"/>
            <a:ext cx="93759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6950326" y="3913632"/>
            <a:ext cx="8644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, want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7958163" y="3675888"/>
            <a:ext cx="667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7958163" y="3913632"/>
            <a:ext cx="667594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994739" y="3913632"/>
            <a:ext cx="594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hij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8732571" y="3675888"/>
            <a:ext cx="8347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8732571" y="3913632"/>
            <a:ext cx="834739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8769147" y="3913632"/>
            <a:ext cx="761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heeft</a:t>
            </a:r>
            <a:endParaRPr lang="en-US" sz="1600" dirty="0"/>
          </a:p>
        </p:txBody>
      </p:sp>
      <p:sp>
        <p:nvSpPr>
          <p:cNvPr id="87" name="Text 84"/>
          <p:cNvSpPr txBox="1"/>
          <p:nvPr/>
        </p:nvSpPr>
        <p:spPr>
          <a:xfrm>
            <a:off x="9674125" y="3675888"/>
            <a:ext cx="19661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raison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9674125" y="3913632"/>
            <a:ext cx="1966187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9710701" y="3913632"/>
            <a:ext cx="18930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presentatie.</a:t>
            </a:r>
            <a:endParaRPr lang="en-US" sz="1600" dirty="0"/>
          </a:p>
        </p:txBody>
      </p:sp>
      <p:sp>
        <p:nvSpPr>
          <p:cNvPr id="90" name="Text 87"/>
          <p:cNvSpPr txBox="1"/>
          <p:nvPr/>
        </p:nvSpPr>
        <p:spPr>
          <a:xfrm>
            <a:off x="2103120" y="427024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Pieter se sent assez nerveux, car il a une présentation.</a:t>
            </a:r>
            <a:endParaRPr lang="en-US" sz="1400" dirty="0"/>
          </a:p>
        </p:txBody>
      </p:sp>
      <p:sp>
        <p:nvSpPr>
          <p:cNvPr id="91" name="Text 88"/>
          <p:cNvSpPr txBox="1"/>
          <p:nvPr/>
        </p:nvSpPr>
        <p:spPr>
          <a:xfrm>
            <a:off x="548640" y="47777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Négation</a:t>
            </a:r>
            <a:endParaRPr lang="en-US" sz="1400" dirty="0"/>
          </a:p>
        </p:txBody>
      </p:sp>
      <p:sp>
        <p:nvSpPr>
          <p:cNvPr id="92" name="Text 89"/>
          <p:cNvSpPr txBox="1"/>
          <p:nvPr/>
        </p:nvSpPr>
        <p:spPr>
          <a:xfrm>
            <a:off x="2103120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2103120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139696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Wij</a:t>
            </a:r>
            <a:endParaRPr lang="en-US" sz="1600" dirty="0"/>
          </a:p>
        </p:txBody>
      </p:sp>
      <p:sp>
        <p:nvSpPr>
          <p:cNvPr id="95" name="Text 92"/>
          <p:cNvSpPr txBox="1"/>
          <p:nvPr/>
        </p:nvSpPr>
        <p:spPr>
          <a:xfrm>
            <a:off x="2898648" y="453999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2898648" y="477774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935224" y="477774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zijn</a:t>
            </a:r>
            <a:endParaRPr lang="en-US" sz="1600" dirty="0"/>
          </a:p>
        </p:txBody>
      </p:sp>
      <p:sp>
        <p:nvSpPr>
          <p:cNvPr id="98" name="Text 95"/>
          <p:cNvSpPr txBox="1"/>
          <p:nvPr/>
        </p:nvSpPr>
        <p:spPr>
          <a:xfrm>
            <a:off x="3760216" y="453999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nuance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3760216" y="477774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3796792" y="477774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 zo</a:t>
            </a:r>
            <a:endParaRPr lang="en-US" sz="1600" dirty="0"/>
          </a:p>
        </p:txBody>
      </p:sp>
      <p:sp>
        <p:nvSpPr>
          <p:cNvPr id="101" name="Text 98"/>
          <p:cNvSpPr txBox="1"/>
          <p:nvPr/>
        </p:nvSpPr>
        <p:spPr>
          <a:xfrm>
            <a:off x="4938776" y="453999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adjectif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938776" y="477774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975352" y="477774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gestrest</a:t>
            </a:r>
            <a:endParaRPr lang="en-US" sz="1600" dirty="0"/>
          </a:p>
        </p:txBody>
      </p:sp>
      <p:sp>
        <p:nvSpPr>
          <p:cNvPr id="104" name="Text 101"/>
          <p:cNvSpPr txBox="1"/>
          <p:nvPr/>
        </p:nvSpPr>
        <p:spPr>
          <a:xfrm>
            <a:off x="6223000" y="453999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6223000" y="4777740"/>
            <a:ext cx="96316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259576" y="477774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, want</a:t>
            </a:r>
            <a:endParaRPr lang="en-US" sz="1600" dirty="0"/>
          </a:p>
        </p:txBody>
      </p:sp>
      <p:sp>
        <p:nvSpPr>
          <p:cNvPr id="107" name="Text 104"/>
          <p:cNvSpPr txBox="1"/>
          <p:nvPr/>
        </p:nvSpPr>
        <p:spPr>
          <a:xfrm>
            <a:off x="7295896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7295896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7332472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het</a:t>
            </a:r>
            <a:endParaRPr lang="en-US" sz="1600" dirty="0"/>
          </a:p>
        </p:txBody>
      </p:sp>
      <p:sp>
        <p:nvSpPr>
          <p:cNvPr id="110" name="Text 107"/>
          <p:cNvSpPr txBox="1"/>
          <p:nvPr/>
        </p:nvSpPr>
        <p:spPr>
          <a:xfrm>
            <a:off x="8091424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8091424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8128000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113" name="Text 110"/>
          <p:cNvSpPr txBox="1"/>
          <p:nvPr/>
        </p:nvSpPr>
        <p:spPr>
          <a:xfrm>
            <a:off x="8886952" y="453999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raison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8886952" y="477774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8923528" y="477774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weekend.</a:t>
            </a:r>
            <a:endParaRPr lang="en-US" sz="1600" dirty="0"/>
          </a:p>
        </p:txBody>
      </p:sp>
      <p:sp>
        <p:nvSpPr>
          <p:cNvPr id="116" name="Text 113"/>
          <p:cNvSpPr txBox="1"/>
          <p:nvPr/>
        </p:nvSpPr>
        <p:spPr>
          <a:xfrm>
            <a:off x="2103120" y="513435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Nous ne sommes pas très stressés, car c’est le week-end.</a:t>
            </a:r>
            <a:endParaRPr lang="en-US" sz="1400" dirty="0"/>
          </a:p>
        </p:txBody>
      </p:sp>
      <p:sp>
        <p:nvSpPr>
          <p:cNvPr id="117" name="Shape 11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19" name="Text 11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se sentir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b="1" dirty="0">
                <a:solidFill>
                  <a:schemeClr val="tx1"/>
                </a:solidFill>
              </a:rPr>
              <a:t>zich voelen</a:t>
            </a:r>
            <a:r>
              <a:rPr lang="en-US" sz="1700" dirty="0">
                <a:solidFill>
                  <a:schemeClr val="tx1"/>
                </a:solidFill>
              </a:rPr>
              <a:t> : ✗ </a:t>
            </a:r>
            <a:r>
              <a:rPr lang="en-US" sz="1700" i="1" dirty="0">
                <a:solidFill>
                  <a:schemeClr val="tx1"/>
                </a:solidFill>
              </a:rPr>
              <a:t>Ik voel nerveus</a:t>
            </a:r>
            <a:r>
              <a:rPr lang="en-US" sz="1700" dirty="0">
                <a:solidFill>
                  <a:schemeClr val="tx1"/>
                </a:solidFill>
              </a:rPr>
              <a:t> → ✓ </a:t>
            </a:r>
            <a:r>
              <a:rPr lang="en-US" sz="1700" i="1" dirty="0">
                <a:solidFill>
                  <a:schemeClr val="tx1"/>
                </a:solidFill>
              </a:rPr>
              <a:t>Ik voel </a:t>
            </a:r>
            <a:r>
              <a:rPr lang="en-US" sz="1700" b="1" i="1" dirty="0">
                <a:solidFill>
                  <a:schemeClr val="tx1"/>
                </a:solidFill>
              </a:rPr>
              <a:t>me</a:t>
            </a:r>
            <a:r>
              <a:rPr lang="en-US" sz="1700" i="1" dirty="0">
                <a:solidFill>
                  <a:schemeClr val="tx1"/>
                </a:solidFill>
              </a:rPr>
              <a:t> nerveus</a:t>
            </a:r>
            <a:r>
              <a:rPr lang="en-US" sz="1700" dirty="0">
                <a:solidFill>
                  <a:schemeClr val="tx1"/>
                </a:solidFill>
              </a:rPr>
              <a:t>. Après </a:t>
            </a:r>
            <a:r>
              <a:rPr lang="en-US" sz="1700" b="1" dirty="0">
                <a:solidFill>
                  <a:schemeClr val="tx1"/>
                </a:solidFill>
              </a:rPr>
              <a:t>want</a:t>
            </a:r>
            <a:r>
              <a:rPr lang="en-US" sz="1700" dirty="0">
                <a:solidFill>
                  <a:schemeClr val="tx1"/>
                </a:solidFill>
              </a:rPr>
              <a:t>, l’ordre reste normal : </a:t>
            </a:r>
            <a:r>
              <a:rPr lang="en-US" sz="1700" i="1" dirty="0">
                <a:solidFill>
                  <a:schemeClr val="tx1"/>
                </a:solidFill>
              </a:rPr>
              <a:t>want </a:t>
            </a:r>
            <a:r>
              <a:rPr lang="en-US" sz="1700" b="1" i="1" dirty="0">
                <a:solidFill>
                  <a:schemeClr val="tx1"/>
                </a:solidFill>
              </a:rPr>
              <a:t>ik heb</a:t>
            </a:r>
            <a:r>
              <a:rPr lang="en-US" sz="1700" i="1" dirty="0">
                <a:solidFill>
                  <a:schemeClr val="tx1"/>
                </a:solidFill>
              </a:rPr>
              <a:t>…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1.2.3 Twee gevoelens, één leugen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Écrivez </a:t>
            </a:r>
            <a:r>
              <a:rPr lang="en-US" sz="1600" b="1" i="1" dirty="0">
                <a:solidFill>
                  <a:schemeClr val="accent5"/>
                </a:solidFill>
              </a:rPr>
              <a:t>trois phrases</a:t>
            </a:r>
            <a:r>
              <a:rPr lang="en-US" sz="1600" i="1" dirty="0">
                <a:solidFill>
                  <a:schemeClr val="accent5"/>
                </a:solidFill>
              </a:rPr>
              <a:t> «Ik ben / Ik voel me + nuance + adjectif + want…» : </a:t>
            </a:r>
            <a:r>
              <a:rPr lang="en-US" sz="1600" b="1" i="1" dirty="0">
                <a:solidFill>
                  <a:schemeClr val="accent5"/>
                </a:solidFill>
              </a:rPr>
              <a:t>une est fausse</a:t>
            </a:r>
            <a:r>
              <a:rPr lang="en-US" sz="1600" i="1" dirty="0">
                <a:solidFill>
                  <a:schemeClr val="accent5"/>
                </a:solidFill>
              </a:rPr>
              <a:t>. Votre voisin devine : «Waar!» ou «Niet waar!». Puis on échange.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Exemple : les trois phrases d’Anna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1.</a:t>
            </a:r>
            <a:r>
              <a:rPr lang="en-US" sz="2400" dirty="0">
                <a:solidFill>
                  <a:schemeClr val="tx1"/>
                </a:solidFill>
              </a:rPr>
              <a:t> Ik ben een beetje moe, want ik werk ’s nachts.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</a:rPr>
              <a:t> Ik voel me heel blij, want mijn zus komt op bezoek.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</a:rPr>
              <a:t> Ik ben ontzettend gestrest, want ik heb morgen een examen.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Le voisin devine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«Zin één: waar! Zin twee: niet waar!» — «Ja! De leugen is zin nummer twee.»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 phrases</a:t>
            </a:r>
            <a:r>
              <a:rPr lang="en-US" sz="1800" dirty="0">
                <a:solidFill>
                  <a:schemeClr val="tx1"/>
                </a:solidFill>
              </a:rPr>
              <a:t>, dont </a:t>
            </a:r>
            <a:r>
              <a:rPr lang="en-US" sz="1800" b="1" dirty="0">
                <a:solidFill>
                  <a:schemeClr val="tx1"/>
                </a:solidFill>
              </a:rPr>
              <a:t>1 mensonge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Nuance + adjectif du </a:t>
            </a:r>
            <a:r>
              <a:rPr lang="en-US" sz="1800" b="1" dirty="0">
                <a:solidFill>
                  <a:schemeClr val="tx1"/>
                </a:solidFill>
              </a:rPr>
              <a:t>zinnenbouwer 1.2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Après </a:t>
            </a: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: sujet + verbe.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2 · par deux · 10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1.2.4 Verander één ding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24–25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Vraie pour vous aujourd’hui ? Cochez. Sinon, changez </a:t>
            </a:r>
            <a:r>
              <a:rPr lang="en-US" sz="1600" b="1" i="1" dirty="0">
                <a:solidFill>
                  <a:schemeClr val="accent5"/>
                </a:solidFill>
              </a:rPr>
              <a:t>un seul bloc</a:t>
            </a:r>
            <a:r>
              <a:rPr lang="en-US" sz="1600" i="1" dirty="0">
                <a:solidFill>
                  <a:schemeClr val="accent5"/>
                </a:solidFill>
              </a:rPr>
              <a:t> (nuance, adjectif ou raison) pour qu’elle devienne vraie.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☐  Ik ben een beetje moe, want ik heb veel werk.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☐  Ik voel me ontzettend gestrest.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☐  Ik voel me vrij nerveus voor de presentatie.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☐  Ik ben ontzettend gelukkig in België.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☐  Wij zijn heel druk deze week.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☐  Ik voel me blij, want ik heb goed nieuws.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☐  Ik ben vrij druk, want ik heb morgen een examen.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Exemples : un seul bloc change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→ Ik voel me </a:t>
            </a:r>
            <a:r>
              <a:rPr lang="en-US" sz="2000" b="1" dirty="0">
                <a:solidFill>
                  <a:schemeClr val="tx1"/>
                </a:solidFill>
              </a:rPr>
              <a:t>een beetje</a:t>
            </a:r>
            <a:r>
              <a:rPr lang="en-US" sz="2000" dirty="0">
                <a:solidFill>
                  <a:schemeClr val="tx1"/>
                </a:solidFill>
              </a:rPr>
              <a:t> gestrest.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r>
              <a:rPr lang="en-US" sz="2000" dirty="0">
                <a:solidFill>
                  <a:schemeClr val="tx1"/>
                </a:solidFill>
              </a:rPr>
              <a:t> → Ik voel me vrij </a:t>
            </a:r>
            <a:r>
              <a:rPr lang="en-US" sz="2000" b="1" dirty="0">
                <a:solidFill>
                  <a:schemeClr val="tx1"/>
                </a:solidFill>
              </a:rPr>
              <a:t>ontspannen</a:t>
            </a:r>
            <a:r>
              <a:rPr lang="en-US" sz="2000" dirty="0">
                <a:solidFill>
                  <a:schemeClr val="tx1"/>
                </a:solidFill>
              </a:rPr>
              <a:t> voor de presentatie.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 → Ik ben een beetje moe, want </a:t>
            </a:r>
            <a:r>
              <a:rPr lang="en-US" sz="2000" b="1" dirty="0">
                <a:solidFill>
                  <a:schemeClr val="tx1"/>
                </a:solidFill>
              </a:rPr>
              <a:t>ik werk ’s nachts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Vérification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 nuance et l’adjectif existent-ils dans le </a:t>
            </a:r>
            <a:r>
              <a:rPr lang="en-US" sz="2000" b="1" dirty="0">
                <a:solidFill>
                  <a:schemeClr val="tx1"/>
                </a:solidFill>
              </a:rPr>
              <a:t>zinnenbouwer 1.2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chemeClr val="accent5"/>
                </a:solidFill>
              </a:rPr>
              <a:t>Seul · 15 min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1.2.5 Zinnendief — le voleur de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15 min. Famille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du zinnenbouwer 1.2 : </a:t>
            </a:r>
            <a:r>
              <a:rPr lang="en-US" sz="1800" b="1" dirty="0">
                <a:solidFill>
                  <a:schemeClr val="tx1"/>
                </a:solidFill>
              </a:rPr>
              <a:t>état + raison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Écrire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Zinnenbouwer </a:t>
            </a:r>
            <a:r>
              <a:rPr lang="en-US" sz="1700" b="1" dirty="0">
                <a:solidFill>
                  <a:schemeClr val="tx1"/>
                </a:solidFill>
              </a:rPr>
              <a:t>ouvert</a:t>
            </a:r>
            <a:r>
              <a:rPr lang="en-US" sz="1700" dirty="0">
                <a:solidFill>
                  <a:schemeClr val="tx1"/>
                </a:solidFill>
              </a:rPr>
              <a:t> : 3 phrases.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vrij moe, want ik werk veel.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176272"/>
            <a:ext cx="658368" cy="6583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Fermer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On </a:t>
            </a:r>
            <a:r>
              <a:rPr lang="en-US" sz="1700" b="1" dirty="0">
                <a:solidFill>
                  <a:schemeClr val="tx1"/>
                </a:solidFill>
              </a:rPr>
              <a:t>ferme</a:t>
            </a:r>
            <a:r>
              <a:rPr lang="en-US" sz="1700" dirty="0">
                <a:solidFill>
                  <a:schemeClr val="tx1"/>
                </a:solidFill>
              </a:rPr>
              <a:t> le zinnenbouwer.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voisin </a:t>
            </a:r>
            <a:r>
              <a:rPr lang="en-US" sz="1700" b="1" dirty="0">
                <a:solidFill>
                  <a:schemeClr val="tx1"/>
                </a:solidFill>
              </a:rPr>
              <a:t>lit</a:t>
            </a:r>
            <a:r>
              <a:rPr lang="en-US" sz="1700" dirty="0">
                <a:solidFill>
                  <a:schemeClr val="tx1"/>
                </a:solidFill>
              </a:rPr>
              <a:t> ses 3 phrases à voix haute.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Voler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Vous redites </a:t>
            </a:r>
            <a:r>
              <a:rPr lang="en-US" sz="1700" b="1" dirty="0">
                <a:solidFill>
                  <a:schemeClr val="tx1"/>
                </a:solidFill>
              </a:rPr>
              <a:t>deux</a:t>
            </a:r>
            <a:r>
              <a:rPr lang="en-US" sz="1700" dirty="0">
                <a:solidFill>
                  <a:schemeClr val="tx1"/>
                </a:solidFill>
              </a:rPr>
              <a:t> phrases avec </a:t>
            </a:r>
            <a:r>
              <a:rPr lang="en-US" sz="1700" b="1" dirty="0">
                <a:solidFill>
                  <a:schemeClr val="tx1"/>
                </a:solidFill>
              </a:rPr>
              <a:t>un mot changé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</a:t>
            </a:r>
            <a:r>
              <a:rPr lang="en-US" sz="1700" b="1" i="1" dirty="0">
                <a:solidFill>
                  <a:schemeClr val="tx1"/>
                </a:solidFill>
              </a:rPr>
              <a:t>heel</a:t>
            </a:r>
            <a:r>
              <a:rPr lang="en-US" sz="1700" i="1" dirty="0">
                <a:solidFill>
                  <a:schemeClr val="tx1"/>
                </a:solidFill>
              </a:rPr>
              <a:t> moe, want ik werk veel.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1993392"/>
            <a:ext cx="2553462" cy="3383280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Écrire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685032"/>
            <a:ext cx="22791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Vous </a:t>
            </a:r>
            <a:r>
              <a:rPr lang="en-US" sz="1700" b="1" dirty="0">
                <a:solidFill>
                  <a:schemeClr val="tx1"/>
                </a:solidFill>
              </a:rPr>
              <a:t>écrivez</a:t>
            </a:r>
            <a:r>
              <a:rPr lang="en-US" sz="1700" dirty="0">
                <a:solidFill>
                  <a:schemeClr val="tx1"/>
                </a:solidFill>
              </a:rPr>
              <a:t> les deux phrases volées.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Puis on </a:t>
            </a:r>
            <a:r>
              <a:rPr lang="en-US" sz="1700" b="1" dirty="0">
                <a:solidFill>
                  <a:schemeClr val="tx1"/>
                </a:solidFill>
              </a:rPr>
              <a:t>change</a:t>
            </a:r>
            <a:r>
              <a:rPr lang="en-US" sz="1700" dirty="0">
                <a:solidFill>
                  <a:schemeClr val="tx1"/>
                </a:solidFill>
              </a:rPr>
              <a:t> de rôle.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Changez la </a:t>
            </a:r>
            <a:r>
              <a:rPr lang="en-US" sz="1700" b="1" dirty="0">
                <a:solidFill>
                  <a:schemeClr val="tx1"/>
                </a:solidFill>
              </a:rPr>
              <a:t>nuance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vrij → heel</a:t>
            </a:r>
            <a:r>
              <a:rPr lang="en-US" sz="1700" dirty="0">
                <a:solidFill>
                  <a:schemeClr val="tx1"/>
                </a:solidFill>
              </a:rPr>
              <a:t>), l’</a:t>
            </a:r>
            <a:r>
              <a:rPr lang="en-US" sz="1700" b="1" dirty="0">
                <a:solidFill>
                  <a:schemeClr val="tx1"/>
                </a:solidFill>
              </a:rPr>
              <a:t>adjectif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moe → gestrest</a:t>
            </a:r>
            <a:r>
              <a:rPr lang="en-US" sz="1700" dirty="0">
                <a:solidFill>
                  <a:schemeClr val="tx1"/>
                </a:solidFill>
              </a:rPr>
              <a:t>) ou la </a:t>
            </a:r>
            <a:r>
              <a:rPr lang="en-US" sz="1700" b="1" dirty="0">
                <a:solidFill>
                  <a:schemeClr val="tx1"/>
                </a:solidFill>
              </a:rPr>
              <a:t>raison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want ik heb een examen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1.2.6 Twee gesprekken : je, puis u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20 min. Jouez la conversation </a:t>
            </a:r>
            <a:r>
              <a:rPr lang="en-US" sz="1600" b="1" i="1" dirty="0">
                <a:solidFill>
                  <a:schemeClr val="accent5"/>
                </a:solidFill>
              </a:rPr>
              <a:t>deux fois</a:t>
            </a:r>
            <a:r>
              <a:rPr lang="en-US" sz="1600" i="1" dirty="0">
                <a:solidFill>
                  <a:schemeClr val="accent5"/>
                </a:solidFill>
              </a:rPr>
              <a:t> en suivant les 6 cases. Gesprek 1 : </a:t>
            </a:r>
            <a:r>
              <a:rPr lang="en-US" sz="1600" b="1" i="1" dirty="0">
                <a:solidFill>
                  <a:schemeClr val="accent5"/>
                </a:solidFill>
              </a:rPr>
              <a:t>je</a:t>
            </a:r>
            <a:r>
              <a:rPr lang="en-US" sz="1600" i="1" dirty="0">
                <a:solidFill>
                  <a:schemeClr val="accent5"/>
                </a:solidFill>
              </a:rPr>
              <a:t>. Gesprek 2 : </a:t>
            </a:r>
            <a:r>
              <a:rPr lang="en-US" sz="1600" b="1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 (dank u, meneer / mevrouw). Cochez chaque case réalisée.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560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STAP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GESPREK 1 · JE (modèle)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GESPREK 2 · U (modèle)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 Groeten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saluer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«Goedemorgen, Lisa!»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«Goedemiddag, meneer Claes!»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2 Vragen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demander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«Hoe gaat het met je?»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«Hoe gaat het met u?»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60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3 Antwoorden + reden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«Goed, dank je! Ik voel me heel blij, want ik heb vakantie.»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«Goed, dank u. Ik ben een beetje moe, want ik werk veel.»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4 Terugvragen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retourner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«En met jou?»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«En met u?»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5 Antwoorden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avec nuance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«Ook goed, bedankt!»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 : «Uitstekend, dank u!»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2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6 Reageren + afscheid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«Fantastisch! Nou, tot straks dan!»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 : «Prima! Tot ziens, mevrouw!»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livret donne en contrôle les formules attendues pour chaque case : vérifiez après coup.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Tutoiement ou vouvoiement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225796" cy="3922776"/>
          </a:xfrm>
          <a:prstGeom prst="roundRect">
            <a:avLst>
              <a:gd name="adj" fmla="val 2331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Tutoiement · je / jij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04288"/>
            <a:ext cx="476859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Hoe gaat het met je / jou?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Dank je! · En met jou?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Amis, famille, collègues proches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Enfants, jeunes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14516" y="1481328"/>
            <a:ext cx="5225796" cy="3922776"/>
          </a:xfrm>
          <a:prstGeom prst="roundRect">
            <a:avLst>
              <a:gd name="adj" fmla="val 2331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Vouvoiement · u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43116" y="2304288"/>
            <a:ext cx="476859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Hoe gaat het met u?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Dank u! · En met u? · meneer / mevrouw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Contexte professionnel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Personnes âgées, inconnus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838444" y="3186684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838444" y="31866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je/u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 garde le </a:t>
            </a:r>
            <a:r>
              <a:rPr lang="en-US" sz="1700" b="1" dirty="0">
                <a:solidFill>
                  <a:schemeClr val="tx1"/>
                </a:solidFill>
              </a:rPr>
              <a:t>-t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Werkt </a:t>
            </a:r>
            <a:r>
              <a:rPr lang="en-US" sz="1700" b="1" i="1" dirty="0">
                <a:solidFill>
                  <a:schemeClr val="tx1"/>
                </a:solidFill>
              </a:rPr>
              <a:t>u</a:t>
            </a:r>
            <a:r>
              <a:rPr lang="en-US" sz="1700" i="1" dirty="0">
                <a:solidFill>
                  <a:schemeClr val="tx1"/>
                </a:solidFill>
              </a:rPr>
              <a:t> vandaag?</a:t>
            </a:r>
            <a:r>
              <a:rPr lang="en-US" sz="1700" dirty="0">
                <a:solidFill>
                  <a:schemeClr val="tx1"/>
                </a:solidFill>
              </a:rPr>
              <a:t> — mais </a:t>
            </a:r>
            <a:r>
              <a:rPr lang="en-US" sz="1700" i="1" dirty="0">
                <a:solidFill>
                  <a:schemeClr val="tx1"/>
                </a:solidFill>
              </a:rPr>
              <a:t>Werk </a:t>
            </a:r>
            <a:r>
              <a:rPr lang="en-US" sz="1700" b="1" i="1" dirty="0">
                <a:solidFill>
                  <a:schemeClr val="tx1"/>
                </a:solidFill>
              </a:rPr>
              <a:t>jij</a:t>
            </a:r>
            <a:r>
              <a:rPr lang="en-US" sz="1700" i="1" dirty="0">
                <a:solidFill>
                  <a:schemeClr val="tx1"/>
                </a:solidFill>
              </a:rPr>
              <a:t> vandaag?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 ne change jamais : </a:t>
            </a:r>
            <a:r>
              <a:rPr lang="en-US" sz="1700" i="1" dirty="0">
                <a:solidFill>
                  <a:schemeClr val="tx1"/>
                </a:solidFill>
              </a:rPr>
              <a:t>met u, dank u, voor u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 ou u ? À vous de choisir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Choisissez la bonne forme selon la personne à qui vous parlez.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Meneer Janssens, maître de stage : «Hoe gaat het met </a:t>
            </a:r>
            <a:r>
              <a:rPr lang="en-US" sz="2100" dirty="0">
                <a:solidFill>
                  <a:schemeClr val="tx1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Votre petit frère : «Alles goed? Hoe gaat het met </a:t>
            </a:r>
            <a:r>
              <a:rPr lang="en-US" sz="2100" dirty="0">
                <a:solidFill>
                  <a:schemeClr val="tx1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Une cliente, au bureau : «</a:t>
            </a:r>
            <a:r>
              <a:rPr lang="en-US" sz="2100" dirty="0">
                <a:solidFill>
                  <a:schemeClr val="tx1"/>
                </a:solidFill>
              </a:rPr>
              <a:t>Heb 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Hebt u</a:t>
            </a:r>
            <a:r>
              <a:rPr lang="en-US" sz="2100" dirty="0">
                <a:solidFill>
                  <a:schemeClr val="tx1"/>
                </a:solidFill>
              </a:rPr>
              <a:t> een afspraak?»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Un collègue proche, à la pause : «</a:t>
            </a:r>
            <a:r>
              <a:rPr lang="en-US" sz="2100" dirty="0">
                <a:solidFill>
                  <a:schemeClr val="tx1"/>
                </a:solidFill>
              </a:rPr>
              <a:t>Heb 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Hebt u</a:t>
            </a:r>
            <a:r>
              <a:rPr lang="en-US" sz="2100" dirty="0">
                <a:solidFill>
                  <a:schemeClr val="tx1"/>
                </a:solidFill>
              </a:rPr>
              <a:t> tijd voor een koffie?»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Un inconnu vous aide : «Dank </a:t>
            </a:r>
            <a:r>
              <a:rPr lang="en-US" sz="2100" dirty="0">
                <a:solidFill>
                  <a:schemeClr val="tx1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 wel, meneer!»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Emma à Pieter (tandem) : «</a:t>
            </a:r>
            <a:r>
              <a:rPr lang="en-US" sz="2100" dirty="0">
                <a:solidFill>
                  <a:schemeClr val="tx1"/>
                </a:solidFill>
              </a:rPr>
              <a:t>Bent u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Ben je</a:t>
            </a:r>
            <a:r>
              <a:rPr lang="en-US" sz="2100" dirty="0">
                <a:solidFill>
                  <a:schemeClr val="tx1"/>
                </a:solidFill>
              </a:rPr>
              <a:t> klaar voor de cursus?»</a:t>
            </a:r>
            <a:endParaRPr lang="en-US" sz="21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226" y="1481328"/>
            <a:ext cx="2620579" cy="20116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721608"/>
            <a:ext cx="3593592" cy="2569464"/>
          </a:xfrm>
          <a:prstGeom prst="roundRect">
            <a:avLst>
              <a:gd name="adj" fmla="val 284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9044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38770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315968"/>
            <a:ext cx="326440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Qui</a:t>
            </a:r>
            <a:r>
              <a:rPr lang="en-US" sz="1800" dirty="0">
                <a:solidFill>
                  <a:schemeClr val="tx1"/>
                </a:solidFill>
              </a:rPr>
              <a:t> parle à </a:t>
            </a:r>
            <a:r>
              <a:rPr lang="en-US" sz="1800" b="1" dirty="0">
                <a:solidFill>
                  <a:schemeClr val="tx1"/>
                </a:solidFill>
              </a:rPr>
              <a:t>qui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Âge · relation · contexte.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 ou u ? À vous de choisir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Choisissez la bonne forme selon la personne à qui vous parlez.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Meneer Janssens, maître de stage : «Hoe gaat het met </a:t>
            </a:r>
            <a:r>
              <a:rPr lang="en-US" sz="2100" strike="sngStrike" dirty="0">
                <a:solidFill>
                  <a:schemeClr val="accent6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Votre petit frère : «Alles goed? Hoe gaat het met </a:t>
            </a:r>
            <a:r>
              <a:rPr lang="en-US" sz="2100" b="1" dirty="0">
                <a:solidFill>
                  <a:schemeClr val="accent3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Une cliente, au bureau : «</a:t>
            </a:r>
            <a:r>
              <a:rPr lang="en-US" sz="2100" strike="sngStrike" dirty="0">
                <a:solidFill>
                  <a:schemeClr val="accent6"/>
                </a:solidFill>
              </a:rPr>
              <a:t>Heb 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Hebt u</a:t>
            </a:r>
            <a:r>
              <a:rPr lang="en-US" sz="2100" dirty="0">
                <a:solidFill>
                  <a:schemeClr val="tx1"/>
                </a:solidFill>
              </a:rPr>
              <a:t> een afspraak?»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Un collègue proche, à la pause : «</a:t>
            </a:r>
            <a:r>
              <a:rPr lang="en-US" sz="2100" b="1" dirty="0">
                <a:solidFill>
                  <a:schemeClr val="accent3"/>
                </a:solidFill>
              </a:rPr>
              <a:t>Heb 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Hebt u</a:t>
            </a:r>
            <a:r>
              <a:rPr lang="en-US" sz="2100" dirty="0">
                <a:solidFill>
                  <a:schemeClr val="tx1"/>
                </a:solidFill>
              </a:rPr>
              <a:t> tijd voor een koffie?»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Un inconnu vous aide : «Dank </a:t>
            </a:r>
            <a:r>
              <a:rPr lang="en-US" sz="2100" strike="sngStrike" dirty="0">
                <a:solidFill>
                  <a:schemeClr val="accent6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u</a:t>
            </a:r>
            <a:r>
              <a:rPr lang="en-US" sz="2100" dirty="0">
                <a:solidFill>
                  <a:schemeClr val="tx1"/>
                </a:solidFill>
              </a:rPr>
              <a:t> wel, meneer!»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Emma à Pieter (tandem) : «</a:t>
            </a:r>
            <a:r>
              <a:rPr lang="en-US" sz="2100" strike="sngStrike" dirty="0">
                <a:solidFill>
                  <a:schemeClr val="accent6"/>
                </a:solidFill>
              </a:rPr>
              <a:t>Bent u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Ben je</a:t>
            </a:r>
            <a:r>
              <a:rPr lang="en-US" sz="2100" dirty="0">
                <a:solidFill>
                  <a:schemeClr val="tx1"/>
                </a:solidFill>
              </a:rPr>
              <a:t> klaar voor de cursus?»</a:t>
            </a:r>
            <a:endParaRPr lang="en-US" sz="2100" dirty="0"/>
          </a:p>
        </p:txBody>
      </p:sp>
      <p:pic>
        <p:nvPicPr>
          <p:cNvPr id="9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226" y="1481328"/>
            <a:ext cx="2620579" cy="20116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10" name="aside"/>
          <p:cNvSpPr/>
          <p:nvPr/>
        </p:nvSpPr>
        <p:spPr>
          <a:xfrm>
            <a:off x="8046720" y="3721608"/>
            <a:ext cx="3593592" cy="2569464"/>
          </a:xfrm>
          <a:prstGeom prst="roundRect">
            <a:avLst>
              <a:gd name="adj" fmla="val 2847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9044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13648" y="38770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211312" y="4315968"/>
            <a:ext cx="326440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je</a:t>
            </a:r>
            <a:r>
              <a:rPr lang="en-US" sz="1700" dirty="0">
                <a:solidFill>
                  <a:schemeClr val="tx1"/>
                </a:solidFill>
              </a:rPr>
              <a:t> : amis, famille, enfants, collègues proches.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 : travail, inconnus, personnes âgées.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Doute ? Prenez </a:t>
            </a:r>
            <a:r>
              <a:rPr lang="en-US" sz="1700" b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. On vous dira : </a:t>
            </a:r>
            <a:r>
              <a:rPr lang="en-US" sz="1700" i="1" dirty="0">
                <a:solidFill>
                  <a:schemeClr val="tx1"/>
                </a:solidFill>
              </a:rPr>
              <a:t>Zeg maar je!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 · maar · want : la coordination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Ces 5 mots relient deux phrases </a:t>
            </a:r>
            <a:r>
              <a:rPr lang="en-US" sz="1800" b="1" dirty="0">
                <a:solidFill>
                  <a:schemeClr val="tx1"/>
                </a:solidFill>
              </a:rPr>
              <a:t>sans changer l’ordre</a:t>
            </a:r>
            <a:r>
              <a:rPr lang="en-US" sz="1800" dirty="0">
                <a:solidFill>
                  <a:schemeClr val="tx1"/>
                </a:solidFill>
              </a:rPr>
              <a:t> : sujet + verbe restent à leur place.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1998878" cy="3456432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19988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19988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1633118" cy="3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 = et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20695"/>
            <a:ext cx="1633118" cy="22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Ik werk </a:t>
            </a:r>
            <a:r>
              <a:rPr lang="en-US" sz="1700" b="1" i="1" dirty="0">
                <a:solidFill>
                  <a:schemeClr val="tx1"/>
                </a:solidFill>
              </a:rPr>
              <a:t>en</a:t>
            </a:r>
            <a:r>
              <a:rPr lang="en-US" sz="1700" i="1" dirty="0">
                <a:solidFill>
                  <a:schemeClr val="tx1"/>
                </a:solidFill>
              </a:rPr>
              <a:t> hij studeert.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821838" y="1947672"/>
            <a:ext cx="1998878" cy="3456432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21838" y="1947672"/>
            <a:ext cx="19988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5" name="Shape 12"/>
          <p:cNvSpPr/>
          <p:nvPr/>
        </p:nvSpPr>
        <p:spPr>
          <a:xfrm>
            <a:off x="2821838" y="2267712"/>
            <a:ext cx="19988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04718" y="1947672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MAAR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004718" y="2551176"/>
            <a:ext cx="1633118" cy="3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maar = mais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3004718" y="3020695"/>
            <a:ext cx="1633118" cy="22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Het is koud,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het regent niet.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095037" y="1947672"/>
            <a:ext cx="1998878" cy="3456432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5037" y="1947672"/>
            <a:ext cx="19988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1" name="Shape 18"/>
          <p:cNvSpPr/>
          <p:nvPr/>
        </p:nvSpPr>
        <p:spPr>
          <a:xfrm>
            <a:off x="5095037" y="2267712"/>
            <a:ext cx="19988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77917" y="1947672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WANT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277917" y="2551176"/>
            <a:ext cx="1633118" cy="3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want = car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5277917" y="3020695"/>
            <a:ext cx="1633118" cy="22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Ik blijf thuis, </a:t>
            </a:r>
            <a:r>
              <a:rPr lang="en-US" sz="1700" b="1" i="1" dirty="0">
                <a:solidFill>
                  <a:schemeClr val="tx1"/>
                </a:solidFill>
              </a:rPr>
              <a:t>want</a:t>
            </a:r>
            <a:r>
              <a:rPr lang="en-US" sz="1700" i="1" dirty="0">
                <a:solidFill>
                  <a:schemeClr val="tx1"/>
                </a:solidFill>
              </a:rPr>
              <a:t> ik ben ziek.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368235" y="1947672"/>
            <a:ext cx="1998878" cy="3456432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68235" y="1947672"/>
            <a:ext cx="19988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7" name="Shape 24"/>
          <p:cNvSpPr/>
          <p:nvPr/>
        </p:nvSpPr>
        <p:spPr>
          <a:xfrm>
            <a:off x="7368235" y="2267712"/>
            <a:ext cx="19988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51115" y="1947672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OF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551115" y="2551176"/>
            <a:ext cx="1633118" cy="3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of = ou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7551115" y="3020695"/>
            <a:ext cx="1633118" cy="22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Koffie </a:t>
            </a:r>
            <a:r>
              <a:rPr lang="en-US" sz="1700" b="1" i="1" dirty="0">
                <a:solidFill>
                  <a:schemeClr val="tx1"/>
                </a:solidFill>
              </a:rPr>
              <a:t>of</a:t>
            </a:r>
            <a:r>
              <a:rPr lang="en-US" sz="1700" i="1" dirty="0">
                <a:solidFill>
                  <a:schemeClr val="tx1"/>
                </a:solidFill>
              </a:rPr>
              <a:t> thee?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Ben je moe </a:t>
            </a:r>
            <a:r>
              <a:rPr lang="en-US" sz="1700" b="1" i="1" dirty="0">
                <a:solidFill>
                  <a:schemeClr val="tx1"/>
                </a:solidFill>
              </a:rPr>
              <a:t>of</a:t>
            </a:r>
            <a:r>
              <a:rPr lang="en-US" sz="1700" i="1" dirty="0">
                <a:solidFill>
                  <a:schemeClr val="tx1"/>
                </a:solidFill>
              </a:rPr>
              <a:t> ben je ziek?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641434" y="1947672"/>
            <a:ext cx="1998878" cy="3456432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641434" y="1947672"/>
            <a:ext cx="1998878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33" name="Shape 30"/>
          <p:cNvSpPr/>
          <p:nvPr/>
        </p:nvSpPr>
        <p:spPr>
          <a:xfrm>
            <a:off x="9641434" y="2267712"/>
            <a:ext cx="1998878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824314" y="1947672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DUS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824314" y="2551176"/>
            <a:ext cx="1633118" cy="3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dus = donc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9824314" y="3020695"/>
            <a:ext cx="1633118" cy="22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Het regent, </a:t>
            </a:r>
            <a:r>
              <a:rPr lang="en-US" sz="1700" b="1" i="1" dirty="0">
                <a:solidFill>
                  <a:schemeClr val="tx1"/>
                </a:solidFill>
              </a:rPr>
              <a:t>dus</a:t>
            </a:r>
            <a:r>
              <a:rPr lang="en-US" sz="1700" i="1" dirty="0">
                <a:solidFill>
                  <a:schemeClr val="tx1"/>
                </a:solidFill>
              </a:rPr>
              <a:t> ik neem een paraplu.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= </a:t>
            </a:r>
            <a:r>
              <a:rPr lang="en-US" sz="1700" i="1" dirty="0">
                <a:solidFill>
                  <a:schemeClr val="tx1"/>
                </a:solidFill>
              </a:rPr>
              <a:t>dus </a:t>
            </a:r>
            <a:r>
              <a:rPr lang="en-US" sz="1700" b="1" i="1" dirty="0">
                <a:solidFill>
                  <a:schemeClr val="tx1"/>
                </a:solidFill>
              </a:rPr>
              <a:t>neem ik</a:t>
            </a:r>
            <a:r>
              <a:rPr lang="en-US" sz="1700" dirty="0">
                <a:solidFill>
                  <a:schemeClr val="tx1"/>
                </a:solidFill>
              </a:rPr>
              <a:t> (aussi correct)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À retenir — </a:t>
            </a:r>
            <a:r>
              <a:rPr lang="en-US" sz="1700" dirty="0">
                <a:solidFill>
                  <a:schemeClr val="tx1"/>
                </a:solidFill>
              </a:rPr>
              <a:t>Après </a:t>
            </a:r>
            <a:r>
              <a:rPr lang="en-US" sz="1700" b="1" dirty="0">
                <a:solidFill>
                  <a:schemeClr val="tx1"/>
                </a:solidFill>
              </a:rPr>
              <a:t>en, maar, want, of</a:t>
            </a:r>
            <a:r>
              <a:rPr lang="en-US" sz="1700" dirty="0">
                <a:solidFill>
                  <a:schemeClr val="tx1"/>
                </a:solidFill>
              </a:rPr>
              <a:t> : ordre normal (sujet + verbe). Après </a:t>
            </a:r>
            <a:r>
              <a:rPr lang="en-US" sz="1700" b="1" dirty="0">
                <a:solidFill>
                  <a:schemeClr val="tx1"/>
                </a:solidFill>
              </a:rPr>
              <a:t>dus</a:t>
            </a:r>
            <a:r>
              <a:rPr lang="en-US" sz="1700" dirty="0">
                <a:solidFill>
                  <a:schemeClr val="tx1"/>
                </a:solidFill>
              </a:rPr>
              <a:t> : les deux ordres sont corrects.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Want of omdat ? Même sens, autre ordre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b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= « car / parce que ». Avec </a:t>
            </a: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, rien ne bouge ; avec </a:t>
            </a:r>
            <a:r>
              <a:rPr lang="en-US" sz="1800" b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, le verbe part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want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blijf thuis,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126992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26992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63568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want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98856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8856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513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78408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8408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2066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79616" y="194767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adjectif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79616" y="218541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16192" y="218541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ziek.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reste à la maison, car je suis malade.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495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11780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49524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49524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Ik blijf thuis,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126992" y="2811780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26992" y="3049524"/>
            <a:ext cx="857504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63568" y="3049524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omdat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094224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94224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30800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889752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adjectif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89752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26328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ziek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751320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verbe à la fin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751320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87896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ben.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40614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reste à la maison parce que je suis malade.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maar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3675888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3913632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3913632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is koud,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810000" y="367588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810000" y="3913632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846576" y="391363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maar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71568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671568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708144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het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5467096" y="367588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467096" y="391363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503672" y="391363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regent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6539992" y="3675888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539992" y="3913632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76568" y="3913632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niet.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2103120" y="427024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fait froid, mais il ne pleut pas.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47777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dus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4539996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103120" y="4777740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39696" y="4777740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Het regent,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704336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3704336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740912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dus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4499864" y="453999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499864" y="477774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536440" y="477774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neem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361432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361432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398008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156960" y="4539996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156960" y="4777740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193536" y="4777740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paraplu.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2103120" y="513435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pleut, donc je prends un parapluie. (= </a:t>
            </a:r>
            <a:r>
              <a:rPr lang="en-US" sz="1400" i="1" dirty="0">
                <a:solidFill>
                  <a:schemeClr val="accent5"/>
                </a:solidFill>
              </a:rPr>
              <a:t>dus ik neem</a:t>
            </a:r>
            <a:r>
              <a:rPr lang="en-US" sz="1400" i="1" dirty="0">
                <a:solidFill>
                  <a:schemeClr val="accent5"/>
                </a:solidFill>
              </a:rPr>
              <a:t> : les deux ordres sont corrects)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« parce que » → réflexe </a:t>
            </a:r>
            <a:r>
              <a:rPr lang="en-US" sz="1700" b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: attention, verbe à la </a:t>
            </a:r>
            <a:r>
              <a:rPr lang="en-US" sz="1700" b="1" dirty="0">
                <a:solidFill>
                  <a:schemeClr val="tx1"/>
                </a:solidFill>
              </a:rPr>
              <a:t>fin</a:t>
            </a:r>
            <a:r>
              <a:rPr lang="en-US" sz="1700" dirty="0">
                <a:solidFill>
                  <a:schemeClr val="tx1"/>
                </a:solidFill>
              </a:rPr>
              <a:t> ! ✗ </a:t>
            </a:r>
            <a:r>
              <a:rPr lang="en-US" sz="1700" i="1" dirty="0">
                <a:solidFill>
                  <a:schemeClr val="tx1"/>
                </a:solidFill>
              </a:rPr>
              <a:t>omdat ik ben ziek</a:t>
            </a:r>
            <a:r>
              <a:rPr lang="en-US" sz="1700" dirty="0">
                <a:solidFill>
                  <a:schemeClr val="tx1"/>
                </a:solidFill>
              </a:rPr>
              <a:t> · ✗ </a:t>
            </a:r>
            <a:r>
              <a:rPr lang="en-US" sz="1700" i="1" dirty="0">
                <a:solidFill>
                  <a:schemeClr val="tx1"/>
                </a:solidFill>
              </a:rPr>
              <a:t>want ik ziek ben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termine la phrase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Terminez la phrase avec les mots entre parenthèses. Attention à l’</a:t>
            </a:r>
            <a:r>
              <a:rPr lang="en-US" sz="1600" b="1" i="1" dirty="0">
                <a:solidFill>
                  <a:schemeClr val="accent5"/>
                </a:solidFill>
              </a:rPr>
              <a:t>ordre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komt niet, want zij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(zijn / ziek)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komt niet, omdat zij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(zijn / ziek)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drink water, want ik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(hebben / dorst)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is moe, maar hij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(werken / nog)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Conjuguez</a:t>
            </a:r>
            <a:r>
              <a:rPr lang="en-US" sz="1800" dirty="0">
                <a:solidFill>
                  <a:schemeClr val="tx1"/>
                </a:solidFill>
              </a:rPr>
              <a:t> le verbe.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 / maar</a:t>
            </a:r>
            <a:r>
              <a:rPr lang="en-US" sz="1800" dirty="0">
                <a:solidFill>
                  <a:schemeClr val="tx1"/>
                </a:solidFill>
              </a:rPr>
              <a:t> : ordre normal.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: verbe à la fin.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Seul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termine la phrase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Terminez la phrase avec les mots entre parenthèses. Attention à l’</a:t>
            </a:r>
            <a:r>
              <a:rPr lang="en-US" sz="1600" b="1" i="1" dirty="0">
                <a:solidFill>
                  <a:schemeClr val="accent5"/>
                </a:solidFill>
              </a:rPr>
              <a:t>ordre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komt niet, want zij </a:t>
            </a:r>
            <a:r>
              <a:rPr lang="en-US" sz="2400" b="1" dirty="0">
                <a:solidFill>
                  <a:schemeClr val="accent3"/>
                </a:solidFill>
              </a:rPr>
              <a:t>is ziek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(zijn / ziek)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komt niet, omdat zij </a:t>
            </a:r>
            <a:r>
              <a:rPr lang="en-US" sz="2400" b="1" dirty="0">
                <a:solidFill>
                  <a:schemeClr val="accent3"/>
                </a:solidFill>
              </a:rPr>
              <a:t>ziek is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(zijn / ziek)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drink water, want ik </a:t>
            </a:r>
            <a:r>
              <a:rPr lang="en-US" sz="2400" b="1" dirty="0">
                <a:solidFill>
                  <a:schemeClr val="accent3"/>
                </a:solidFill>
              </a:rPr>
              <a:t>heb dorst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(hebben / dorst)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is moe, maar hij </a:t>
            </a:r>
            <a:r>
              <a:rPr lang="en-US" sz="2400" b="1" dirty="0">
                <a:solidFill>
                  <a:schemeClr val="accent3"/>
                </a:solidFill>
              </a:rPr>
              <a:t>werkt nog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(werken / nog)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zij </a:t>
            </a:r>
            <a:r>
              <a:rPr lang="en-US" sz="1800" b="1" i="1" dirty="0">
                <a:solidFill>
                  <a:schemeClr val="tx1"/>
                </a:solidFill>
              </a:rPr>
              <a:t>is</a:t>
            </a:r>
            <a:r>
              <a:rPr lang="en-US" sz="1800" i="1" dirty="0">
                <a:solidFill>
                  <a:schemeClr val="tx1"/>
                </a:solidFill>
              </a:rPr>
              <a:t> ziek</a:t>
            </a:r>
            <a:r>
              <a:rPr lang="en-US" sz="1800" dirty="0">
                <a:solidFill>
                  <a:schemeClr val="tx1"/>
                </a:solidFill>
              </a:rPr>
              <a:t> (ordre normal).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zij ziek </a:t>
            </a:r>
            <a:r>
              <a:rPr lang="en-US" sz="1800" b="1" i="1" dirty="0">
                <a:solidFill>
                  <a:schemeClr val="tx1"/>
                </a:solidFill>
              </a:rPr>
              <a:t>is</a:t>
            </a:r>
            <a:r>
              <a:rPr lang="en-US" sz="1800" dirty="0">
                <a:solidFill>
                  <a:schemeClr val="tx1"/>
                </a:solidFill>
              </a:rPr>
              <a:t> (verbe à la fin).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Conjuguez : </a:t>
            </a:r>
            <a:r>
              <a:rPr lang="en-US" sz="1800" i="1" dirty="0">
                <a:solidFill>
                  <a:schemeClr val="tx1"/>
                </a:solidFill>
              </a:rPr>
              <a:t>zij is · ik heb · hij werkt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En, maar, want, of ou dus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en · maar · want · of · dus</a:t>
            </a:r>
            <a:r>
              <a:rPr lang="en-US" sz="1600" i="1" dirty="0">
                <a:solidFill>
                  <a:schemeClr val="accent5"/>
                </a:solidFill>
              </a:rPr>
              <a:t>. Réemploi des émotions (p. 88).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Emma is blij,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ze heeft goed nieuws.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Pieter is zenuwachtig,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hij is klaar voor de presentatie.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Ben je moe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ben je ziek?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Sarah is ziek,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ze blijft thuis.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drink koffie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Emma drinkt thee.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Het regent,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ik ben niet boos.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Meneer Janssens is verrast,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Pieter is op tijd.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Ik verveel me,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ik bel een vriend.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= raison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dus</a:t>
            </a:r>
            <a:r>
              <a:rPr lang="en-US" sz="1800" dirty="0">
                <a:solidFill>
                  <a:schemeClr val="tx1"/>
                </a:solidFill>
              </a:rPr>
              <a:t> = conséquence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maar</a:t>
            </a:r>
            <a:r>
              <a:rPr lang="en-US" sz="1800" dirty="0">
                <a:solidFill>
                  <a:schemeClr val="tx1"/>
                </a:solidFill>
              </a:rPr>
              <a:t> = opposition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of</a:t>
            </a:r>
            <a:r>
              <a:rPr lang="en-US" sz="1800" dirty="0">
                <a:solidFill>
                  <a:schemeClr val="tx1"/>
                </a:solidFill>
              </a:rPr>
              <a:t> = choix · </a:t>
            </a:r>
            <a:r>
              <a:rPr lang="en-US" sz="1800" b="1" dirty="0">
                <a:solidFill>
                  <a:schemeClr val="tx1"/>
                </a:solidFill>
              </a:rPr>
              <a:t>en</a:t>
            </a:r>
            <a:r>
              <a:rPr lang="en-US" sz="1800" dirty="0">
                <a:solidFill>
                  <a:schemeClr val="tx1"/>
                </a:solidFill>
              </a:rPr>
              <a:t> = addition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En, maar, want, of ou dus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en · maar · want · of · dus</a:t>
            </a:r>
            <a:r>
              <a:rPr lang="en-US" sz="1600" i="1" dirty="0">
                <a:solidFill>
                  <a:schemeClr val="accent5"/>
                </a:solidFill>
              </a:rPr>
              <a:t>. Réemploi des émotions (p. 88).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Emma is blij, </a:t>
            </a:r>
            <a:r>
              <a:rPr lang="en-US" sz="2400" b="1" dirty="0">
                <a:solidFill>
                  <a:schemeClr val="accent3"/>
                </a:solidFill>
              </a:rPr>
              <a:t>want</a:t>
            </a:r>
            <a:r>
              <a:rPr lang="en-US" sz="2400" dirty="0">
                <a:solidFill>
                  <a:schemeClr val="tx1"/>
                </a:solidFill>
              </a:rPr>
              <a:t> ze heeft goed nieuws.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Pieter is zenuwachtig, </a:t>
            </a:r>
            <a:r>
              <a:rPr lang="en-US" sz="2400" b="1" dirty="0">
                <a:solidFill>
                  <a:schemeClr val="accent3"/>
                </a:solidFill>
              </a:rPr>
              <a:t>maar</a:t>
            </a:r>
            <a:r>
              <a:rPr lang="en-US" sz="2400" dirty="0">
                <a:solidFill>
                  <a:schemeClr val="tx1"/>
                </a:solidFill>
              </a:rPr>
              <a:t> hij is klaar voor de presentatie.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Ben je moe </a:t>
            </a:r>
            <a:r>
              <a:rPr lang="en-US" sz="2400" b="1" dirty="0">
                <a:solidFill>
                  <a:schemeClr val="accent3"/>
                </a:solidFill>
              </a:rPr>
              <a:t>of</a:t>
            </a:r>
            <a:r>
              <a:rPr lang="en-US" sz="2400" dirty="0">
                <a:solidFill>
                  <a:schemeClr val="tx1"/>
                </a:solidFill>
              </a:rPr>
              <a:t> ben je ziek?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Sarah is ziek, </a:t>
            </a:r>
            <a:r>
              <a:rPr lang="en-US" sz="2400" b="1" dirty="0">
                <a:solidFill>
                  <a:schemeClr val="accent3"/>
                </a:solidFill>
              </a:rPr>
              <a:t>dus</a:t>
            </a:r>
            <a:r>
              <a:rPr lang="en-US" sz="2400" dirty="0">
                <a:solidFill>
                  <a:schemeClr val="tx1"/>
                </a:solidFill>
              </a:rPr>
              <a:t> ze blijft thuis.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drink koffie </a:t>
            </a:r>
            <a:r>
              <a:rPr lang="en-US" sz="2400" b="1" dirty="0">
                <a:solidFill>
                  <a:schemeClr val="accent3"/>
                </a:solidFill>
              </a:rPr>
              <a:t>en</a:t>
            </a:r>
            <a:r>
              <a:rPr lang="en-US" sz="2400" dirty="0">
                <a:solidFill>
                  <a:schemeClr val="tx1"/>
                </a:solidFill>
              </a:rPr>
              <a:t> Emma drinkt thee.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Het regent, </a:t>
            </a:r>
            <a:r>
              <a:rPr lang="en-US" sz="2400" b="1" dirty="0">
                <a:solidFill>
                  <a:schemeClr val="accent3"/>
                </a:solidFill>
              </a:rPr>
              <a:t>maar</a:t>
            </a:r>
            <a:r>
              <a:rPr lang="en-US" sz="2400" dirty="0">
                <a:solidFill>
                  <a:schemeClr val="tx1"/>
                </a:solidFill>
              </a:rPr>
              <a:t> ik ben niet boos.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Meneer Janssens is verrast, </a:t>
            </a:r>
            <a:r>
              <a:rPr lang="en-US" sz="2400" b="1" dirty="0">
                <a:solidFill>
                  <a:schemeClr val="accent3"/>
                </a:solidFill>
              </a:rPr>
              <a:t>want</a:t>
            </a:r>
            <a:r>
              <a:rPr lang="en-US" sz="2400" dirty="0">
                <a:solidFill>
                  <a:schemeClr val="tx1"/>
                </a:solidFill>
              </a:rPr>
              <a:t> Pieter is op tijd.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Ik verveel me, </a:t>
            </a:r>
            <a:r>
              <a:rPr lang="en-US" sz="2400" b="1" dirty="0">
                <a:solidFill>
                  <a:schemeClr val="accent3"/>
                </a:solidFill>
              </a:rPr>
              <a:t>dus</a:t>
            </a:r>
            <a:r>
              <a:rPr lang="en-US" sz="2400" dirty="0">
                <a:solidFill>
                  <a:schemeClr val="tx1"/>
                </a:solidFill>
              </a:rPr>
              <a:t> ik bel een vriend.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= raison · </a:t>
            </a:r>
            <a:r>
              <a:rPr lang="en-US" sz="1800" b="1" dirty="0">
                <a:solidFill>
                  <a:schemeClr val="tx1"/>
                </a:solidFill>
              </a:rPr>
              <a:t>dus</a:t>
            </a:r>
            <a:r>
              <a:rPr lang="en-US" sz="1800" dirty="0">
                <a:solidFill>
                  <a:schemeClr val="tx1"/>
                </a:solidFill>
              </a:rPr>
              <a:t> = conséquence.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dus ze blijft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i="1" dirty="0">
                <a:solidFill>
                  <a:schemeClr val="tx1"/>
                </a:solidFill>
              </a:rPr>
              <a:t>dus blijft ze</a:t>
            </a:r>
            <a:r>
              <a:rPr lang="en-US" sz="1800" dirty="0">
                <a:solidFill>
                  <a:schemeClr val="tx1"/>
                </a:solidFill>
              </a:rPr>
              <a:t> : les deux sont corrects.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5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voel je je?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un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speed date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des émotions,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ben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ou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voel me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et comment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intensifier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beetje, heel, ontzettend…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15 expressions </a:t>
            </a:r>
            <a:r>
              <a:rPr lang="en-US" sz="1700" b="1" dirty="0">
                <a:solidFill>
                  <a:schemeClr val="tx1"/>
                </a:solidFill>
              </a:rPr>
              <a:t>Gevoelens</a:t>
            </a:r>
            <a:r>
              <a:rPr lang="en-US" sz="1700" dirty="0">
                <a:solidFill>
                  <a:schemeClr val="tx1"/>
                </a:solidFill>
              </a:rPr>
              <a:t> (p. 88).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Fiche </a:t>
            </a:r>
            <a:r>
              <a:rPr lang="en-US" sz="1700" b="1" dirty="0">
                <a:solidFill>
                  <a:schemeClr val="tx1"/>
                </a:solidFill>
              </a:rPr>
              <a:t>En · maar · want</a:t>
            </a:r>
            <a:r>
              <a:rPr lang="en-US" sz="1700" dirty="0">
                <a:solidFill>
                  <a:schemeClr val="tx1"/>
                </a:solidFill>
              </a:rPr>
              <a:t> (p. 73) : écrire 3 phrases avec </a:t>
            </a:r>
            <a:r>
              <a:rPr lang="en-US" sz="1700" i="1" dirty="0">
                <a:solidFill>
                  <a:schemeClr val="tx1"/>
                </a:solidFill>
              </a:rPr>
              <a:t>want</a:t>
            </a:r>
            <a:r>
              <a:rPr lang="en-US" sz="1700" dirty="0">
                <a:solidFill>
                  <a:schemeClr val="tx1"/>
                </a:solidFill>
              </a:rPr>
              <a:t> et 3 avec </a:t>
            </a:r>
            <a:r>
              <a:rPr lang="en-US" sz="1700" i="1" dirty="0">
                <a:solidFill>
                  <a:schemeClr val="tx1"/>
                </a:solidFill>
              </a:rPr>
              <a:t>maar</a:t>
            </a:r>
            <a:r>
              <a:rPr lang="en-US" sz="1700" dirty="0">
                <a:solidFill>
                  <a:schemeClr val="tx1"/>
                </a:solidFill>
              </a:rPr>
              <a:t>, vraies pour vous.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la conversation </a:t>
            </a:r>
            <a:r>
              <a:rPr lang="en-US" sz="1700" b="1" dirty="0">
                <a:solidFill>
                  <a:schemeClr val="tx1"/>
                </a:solidFill>
              </a:rPr>
              <a:t>1.2.6 avec u</a:t>
            </a:r>
            <a:r>
              <a:rPr lang="en-US" sz="1700" dirty="0">
                <a:solidFill>
                  <a:schemeClr val="tx1"/>
                </a:solidFill>
              </a:rPr>
              <a:t> (6 répliques).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Une phrase vraie : </a:t>
            </a:r>
            <a:r>
              <a:rPr lang="en-US" sz="1600" i="1" dirty="0">
                <a:solidFill>
                  <a:schemeClr val="bg1"/>
                </a:solidFill>
              </a:rPr>
              <a:t>Ik voel me … , want …</a:t>
            </a:r>
            <a:r>
              <a:rPr lang="en-US" sz="1600" dirty="0">
                <a:solidFill>
                  <a:schemeClr val="bg1"/>
                </a:solidFill>
              </a:rPr>
              <a:t> — puis la même idée avec </a:t>
            </a:r>
            <a:r>
              <a:rPr lang="en-US" sz="1600" i="1" dirty="0">
                <a:solidFill>
                  <a:schemeClr val="bg1"/>
                </a:solidFill>
              </a:rPr>
              <a:t>maar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04 — Twee gevoelens, één leugen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