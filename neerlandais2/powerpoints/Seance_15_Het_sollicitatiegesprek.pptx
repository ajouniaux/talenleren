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7838d193-dc8c-81fb-be55-d4d19f4b7a7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Clôture" id="{2d80f710-413e-1c36-a1f4-aefb1533f5be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15. Objectifs : comparer avec -er dan et even … als (fiche A2-09 Groter dan, p. 76), éviter sept nouveaux faux-amis (Valse vrienden 2/3, p. 90), conjuguer et placer kunnen, willen, moeten (ajout : ces trois verbes sont le vocabulaire de la fiche 6), puis passer un entretien d’embauche en vouvoyant (fiche 6, p. 97). Image : un entretien à l’agence pour l’emploi.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Les modaux (kunnen, willen, moeten) ne font pas l’objet d’une fiche de grammaire dans le livret, mais ils forment le vocabulaire de la fiche 6 : on les traite juste avant les Jalons. Si le temps manque, le bonus des deux candidats ou celui des faux-amis se fait à la maison.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14 : fiche A2-02 (perfectum), faux-amis 1/3 et fiche 2. Interroger un étudiant par phrase. Vérifier le devoir : le cv en néerlandais (deux ou trois volontaires lisent une rubrique).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2 : komen → toujours zijn. Phrase 3 : afstuderen, séparable, avec zijn (af-ge-studeerd). Phrase 4 : refuser « Ik heb hier sinds 2020 gewerkt » (= je n’y travaille plus).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Parties A et B de la fiche A2-09 (images : le train et le bus, l’homme devant sa note et les billets). Ligne 4 (minder + adjectif = moins … que) : ajout utile, absent du livret. « Groter als » s’entend beaucoup à l’oral, même chez les néerlandophones, mais la norme est « groter dan ». Question : « Is Gent duurder dan Brussel? » — le verbe ouvre la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C de la fiche : les trois irréguliers goed → beter, veel → meer, weinig → minder ; on ajoute graag → liever (vu à la séance 12 : Ik heb de ochtend liever). L’orthographe suit la même logique que le pluriel et l’adjectif (séance 11) : voyelle courte → consonne double, voyelle longue → une seule voyelle. Devant un nom, le comparatif prend aussi le -e : een snellere trein, maar een groter huis (het + een).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de la fiche A2-09 (p. 76). Faire lire chaque phrase complète à voix haute.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6 : mooi → mooier (pas de changement d’orthographe). Phrase 5 : « meer » sans nom = gagner plus. Faire produire l’inverse : Een fiets is minder snel dan een auto · Tom is even oud als Anna.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Lucas et Julie sont des candidats fictifs (Julie : cv de la séance 14, diplômée en 2019, au travail depuis 2019). Phrase 4 : « dat van Lucas » = celui de Lucas (dat remplace het Nederlands).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Prolongement oral : « Wie kiest u? Waarom? » — « Ik kies Julie, want ze heeft meer ervaring. » / « Ik kies Lucas, want hij is goedkoper. » Phrase 6 : hoog → hoger (une seule o, la syllabe reste ouverte : ho-ger).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chaque paire, faire répéter avec l’article, demander une phrase. Compléments : « in de file staan » = être dans les embouteillages (quotidien en Belgique) ; « gewoon » veut aussi dire « simplement » (Ik ben gewoon moe) ; un spelletje = un petit jeu (diminutif en -je → het). Nuance à signaler sur « de partij » : le livret donne « le lot » (een partij cacaobonen), mais le mot désigne aussi le parti politique, la partie dans un contrat et même une partie de jeu (een partij schaak = une partie d’échecs). Le vrai piège : « une partie » au sens de « un morceau » = een deel.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chaque paire, faire répéter avec l’article, demander une phrase. Compléments : « in de file staan » = être dans les embouteillages (quotidien en Belgique) ; « gewoon » veut aussi dire « simplement » (Ik ben gewoon moe) ; un spelletje = un petit jeu (diminutif en -je → het). Nuance à signaler sur « de partij » : le livret donne « le lot » (een partij cacaobonen), mais le mot désigne aussi le parti politique, la partie dans un contrat et même une partie de jeu (een partij schaak = une partie d’échecs). Le vrai piège : « une partie » au sens de « un morceau » = een deel.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des paires 8 à 14 (la paire spel / partij se travaille à l’oral : « We spelen een spelletje »). La E19 relie Bruxelles et Anvers : embouteillages garantis le matin.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3 : « een gewone dag » (de dag → -e). Faire traduire chaque phrase en français pour vérifier le sens.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Ajout : kennen (connaître), nécessaire pour le Jalon 2 (Je ne connais pas encore toutes les tâches). Approximation du livret : « het bestuur » ne correspond pas bien à « l’administration » de la phrase 2 du Jalon 2 (= le travail administratif) ; on traduit par « de administratie » et on garde « het bestuur » pour la direction d’une organisation ou le secteur public. Coquille du livret : le sommaire de la section 4 (page d’ouverture, avant la p. 92) numérote cette situation « 05 » ; dans le livret, c’est bien la fiche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Ajout hors syllabus, indispensable pour la fiche 6 (kunnen, willen, moeten figurent dans le vocabulaire du Jalon 1). Avec jij et u, les deux formes sont correctes (jij kunt / jij kan, u kunt / u kan) ; à l’écrit formel, préférer « kunt u ». Comme pour les autres verbes, le -t tombe quand je / jij suit le verbe : kun je, wil 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Ligne 4 : niet se place devant l’infinitif final, après le complément de temps. Insister sur le trio savoir / connaître : kunnen (une compétence), weten (une information), kennen (une personne, un lieu, une chose qu’on connaît). « J’aimerais » se dit très souvent « Ik wil graag » (ou « Ik zou graag … willen », plus poli).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transformation systématique. Variante orale : le professeur dit la phrase, l’étudiant ajoute le modal sans regarder.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2 : accepter « Kan u maandag beginnen? » à l’oral (très fréquent en Belgique). Phrase 5 : « Moet je Nederlands spreken op het werk? » s’entend aussi, mais on garde l’infinitif à la fin. Phrase 6 : refuser « Ik kan niet beginnen vandaag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1 : « savoir faire » = kunnen (piège : pas weten).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acceptables : 1 « Wat kunt u goed doen? » ou « Waar bent u goed in? » ; 2 « Wat zou u graag leren? » (plus poli) ; 3 « Vanaf wanneer kunt u beginnen? » ; 4 « Kunt u niet vanaf maandag beginnen? » ; à l’oral, « kan u » (Belgique). Refuser « Wat weet u goed doen? » et « Kunt u niet beginnen maandag?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Coquille du livret (mise en page) : les cases « néerlandais » des phrases 3 et 4 sont fusionnées ; prévoir une ligne par phrase. Phrase 2 : voir la remarque sur « het bestuur » (diapositive du vocabulaire).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acceptables : 1 « Ik kan goed met computers werken » ; 2 « …in het (openbaar) bestuur » s’il s’agit du secteur public ; 3 « Ik organiseer mijn werk graag en communiceer graag met de ploeg » ou « Ik hou ervan om mijn werk te organiseren en met het team te communiceren » (plus avancé) ; 4 « …maar ik leer vlug » ; 5 « Omdat ik ervaring heb, kan ik direct / onmiddellijk beginnen ». Refuser « Ik weet goed werken », « Ik weet nog niet alle taken » et « Aangezien ik heb ervaring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Aangezien (étant donné que) = omdat, en un peu plus soutenu : idéal en entretien. Maar, want, en : ordre normal (sujet + verbe). Faire varier : « Aangezien ik direct beschikbaar ben, kan ik maandag beginnen.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Groupes de trois : C observe et coche les critères. Pour la 2e passe, A ajoute une question négative du Jalon 1 (Kunt u maandag niet beginnen?) et une question avec moeten (Wat moet u nog leren?). Clôture possible : « Bedankt voor het gesprek. We bellen u volgende week.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oral, par exemple : « Ik kan goed organiseren. Ik kan maandag beginnen. Ik heb meer ervaring dan mijn collega.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2 · UE2 · Néerlandais en situation · Séance 15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2 · UE2 · Néerlandais en situation · Séance 15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2 · UE2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image" Target="../media/image-11-6.jpg"/><Relationship Id="rId7" Type="http://schemas.openxmlformats.org/officeDocument/2006/relationships/image" Target="../media/image-11-7.jpg"/><Relationship Id="rId8" Type="http://schemas.openxmlformats.org/officeDocument/2006/relationships/image" Target="../media/image-11-8.jp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image" Target="../media/image-12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15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FICHE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Het sollicitatiegesprek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L’entretien d’embauche — comparer, pouvoir, vouloir, devoir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Section 4 · Mises en situation — Fiche 6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76 · 90 · 97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973387"/>
            <a:ext cx="5120640" cy="2911227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76 · 90 · 97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Passer un </a:t>
            </a:r>
            <a:r>
              <a:rPr lang="en-US" sz="1600" b="1" dirty="0">
                <a:solidFill>
                  <a:schemeClr val="tx1"/>
                </a:solidFill>
              </a:rPr>
              <a:t>entretien d’embauche</a:t>
            </a:r>
            <a:r>
              <a:rPr lang="en-US" sz="1600" dirty="0">
                <a:solidFill>
                  <a:schemeClr val="tx1"/>
                </a:solidFill>
              </a:rPr>
              <a:t> : dire ce que je </a:t>
            </a:r>
            <a:r>
              <a:rPr lang="en-US" sz="1600" b="1" dirty="0">
                <a:solidFill>
                  <a:schemeClr val="tx1"/>
                </a:solidFill>
              </a:rPr>
              <a:t>sais faire</a:t>
            </a:r>
            <a:r>
              <a:rPr lang="en-US" sz="1600" dirty="0">
                <a:solidFill>
                  <a:schemeClr val="tx1"/>
                </a:solidFill>
              </a:rPr>
              <a:t>, ce que je </a:t>
            </a:r>
            <a:r>
              <a:rPr lang="en-US" sz="1600" b="1" dirty="0">
                <a:solidFill>
                  <a:schemeClr val="tx1"/>
                </a:solidFill>
              </a:rPr>
              <a:t>veux</a:t>
            </a:r>
            <a:r>
              <a:rPr lang="en-US" sz="1600" dirty="0">
                <a:solidFill>
                  <a:schemeClr val="tx1"/>
                </a:solidFill>
              </a:rPr>
              <a:t> apprendre, quand je </a:t>
            </a:r>
            <a:r>
              <a:rPr lang="en-US" sz="1600" b="1" dirty="0">
                <a:solidFill>
                  <a:schemeClr val="tx1"/>
                </a:solidFill>
              </a:rPr>
              <a:t>peux</a:t>
            </a:r>
            <a:r>
              <a:rPr lang="en-US" sz="1600" dirty="0">
                <a:solidFill>
                  <a:schemeClr val="tx1"/>
                </a:solidFill>
              </a:rPr>
              <a:t> commencer — et me </a:t>
            </a:r>
            <a:r>
              <a:rPr lang="en-US" sz="1600" b="1" dirty="0">
                <a:solidFill>
                  <a:schemeClr val="tx1"/>
                </a:solidFill>
              </a:rPr>
              <a:t>comparer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Wat kunt u goed? · Wanneer kunt u beginnen? · Ik kan goed met de computer werken · Ik heb meer ervaring dan… · even … als · beter · meer · minder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Comparer avec -er dan / even … als · conjuguer et placer kunnen, willen, moeten · éviter sept faux-amis · jouer un entretien (u)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596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596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Échauffement : la séance 14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51402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5140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42887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Groter dan (p. 76)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42887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30683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306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98323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Valse vrienden 2/3 (p. 90)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98323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6227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622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53758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Fiche 6 : vocabulaire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53758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417709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4177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409194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Kunnen · willen · moeten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409194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73144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7314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64629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Jalon 1 · Jalon 2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64629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52858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5285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520065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Phrase-clé · entretien</a:t>
            </a:r>
            <a:endParaRPr lang="en-US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520065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8401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8401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75500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Bilan</a:t>
            </a:r>
            <a:endParaRPr lang="en-US" sz="16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75500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la séance 14 en six phrases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Mettez au </a:t>
            </a:r>
            <a:r>
              <a:rPr lang="en-US" sz="1600" b="1" i="1" dirty="0">
                <a:solidFill>
                  <a:schemeClr val="accent5"/>
                </a:solidFill>
              </a:rPr>
              <a:t>perfectum</a:t>
            </a:r>
            <a:r>
              <a:rPr lang="en-US" sz="1600" i="1" dirty="0">
                <a:solidFill>
                  <a:schemeClr val="accent5"/>
                </a:solidFill>
              </a:rPr>
              <a:t>, traduisez ou trouvez le mot. Puis lisez à voix haute.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Ik werk in een fabriek. →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……………………………………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Pieter komt naar België. →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……………………………………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In 2019 studeer ik af. →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……………………………………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Je travaille ici depuis 2020. →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…………………………………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cher · rare · la formation →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……………………………………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le bureau (le lieu) · le visage →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……………………………………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la séance 14 en six phrases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53288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Mettez au </a:t>
            </a:r>
            <a:r>
              <a:rPr lang="en-US" sz="1600" b="1" i="1" dirty="0">
                <a:solidFill>
                  <a:schemeClr val="accent5"/>
                </a:solidFill>
              </a:rPr>
              <a:t>perfectum</a:t>
            </a:r>
            <a:r>
              <a:rPr lang="en-US" sz="1600" i="1" dirty="0">
                <a:solidFill>
                  <a:schemeClr val="accent5"/>
                </a:solidFill>
              </a:rPr>
              <a:t>, traduisez ou trouvez le mot. Puis lisez à voix haute.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Ik werk in een fabriek. → </a:t>
            </a:r>
            <a:r>
              <a:rPr lang="en-US" sz="2100" b="1" dirty="0">
                <a:solidFill>
                  <a:schemeClr val="accent3"/>
                </a:solidFill>
              </a:rPr>
              <a:t>Ik heb in een fabriek gewerkt.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Pieter komt naar België. → </a:t>
            </a:r>
            <a:r>
              <a:rPr lang="en-US" sz="2100" b="1" dirty="0">
                <a:solidFill>
                  <a:schemeClr val="accent3"/>
                </a:solidFill>
              </a:rPr>
              <a:t>Pieter is naar België gekomen.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In 2019 studeer ik af. → </a:t>
            </a:r>
            <a:r>
              <a:rPr lang="en-US" sz="2100" b="1" dirty="0">
                <a:solidFill>
                  <a:schemeClr val="accent3"/>
                </a:solidFill>
              </a:rPr>
              <a:t>In 2019 ben ik afgestudeerd.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Je travaille ici depuis 2020. → </a:t>
            </a:r>
            <a:r>
              <a:rPr lang="en-US" sz="2100" b="1" dirty="0">
                <a:solidFill>
                  <a:schemeClr val="accent3"/>
                </a:solidFill>
              </a:rPr>
              <a:t>Ik werk hier sinds 2020.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cher · rare · la formation → </a:t>
            </a:r>
            <a:r>
              <a:rPr lang="en-US" sz="2100" b="1" dirty="0">
                <a:solidFill>
                  <a:schemeClr val="accent3"/>
                </a:solidFill>
              </a:rPr>
              <a:t>duur · zeldzaam · de opleiding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le bureau (le lieu) · le visage → </a:t>
            </a:r>
            <a:r>
              <a:rPr lang="en-US" sz="2100" b="1" dirty="0">
                <a:solidFill>
                  <a:schemeClr val="accent3"/>
                </a:solidFill>
              </a:rPr>
              <a:t>het kantoor · het gezicht</a:t>
            </a:r>
            <a:endParaRPr lang="en-US" sz="21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Déplacement, changement → </a:t>
            </a:r>
            <a:r>
              <a:rPr lang="en-US" sz="1800" b="1" dirty="0">
                <a:solidFill>
                  <a:schemeClr val="tx1"/>
                </a:solidFill>
              </a:rPr>
              <a:t>zijn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sinds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b="1" dirty="0">
                <a:solidFill>
                  <a:schemeClr val="tx1"/>
                </a:solidFill>
              </a:rPr>
              <a:t>présent</a:t>
            </a:r>
            <a:r>
              <a:rPr lang="en-US" sz="1800" dirty="0">
                <a:solidFill>
                  <a:schemeClr val="tx1"/>
                </a:solidFill>
              </a:rPr>
              <a:t> : ça dure encore.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duur</a:t>
            </a:r>
            <a:r>
              <a:rPr lang="en-US" sz="1800" dirty="0">
                <a:solidFill>
                  <a:schemeClr val="tx1"/>
                </a:solidFill>
              </a:rPr>
              <a:t> = cher (dur = </a:t>
            </a:r>
            <a:r>
              <a:rPr lang="en-US" sz="1800" i="1" dirty="0">
                <a:solidFill>
                  <a:schemeClr val="tx1"/>
                </a:solidFill>
              </a:rPr>
              <a:t>hard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kantoor ·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gezicht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Groter dan : comparer deux choses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Plus : adjectif + </a:t>
            </a:r>
            <a:r>
              <a:rPr lang="en-US" sz="1800" b="1" dirty="0">
                <a:solidFill>
                  <a:schemeClr val="tx1"/>
                </a:solidFill>
              </a:rPr>
              <a:t>-er dan</a:t>
            </a:r>
            <a:r>
              <a:rPr lang="en-US" sz="1800" dirty="0">
                <a:solidFill>
                  <a:schemeClr val="tx1"/>
                </a:solidFill>
              </a:rPr>
              <a:t>. Égalité : </a:t>
            </a:r>
            <a:r>
              <a:rPr lang="en-US" sz="1800" b="1" dirty="0">
                <a:solidFill>
                  <a:schemeClr val="tx1"/>
                </a:solidFill>
              </a:rPr>
              <a:t>even … als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  <a:r>
              <a:rPr lang="en-US" sz="1800" b="1" dirty="0">
                <a:solidFill>
                  <a:schemeClr val="tx1"/>
                </a:solidFill>
              </a:rPr>
              <a:t>als</a:t>
            </a:r>
            <a:r>
              <a:rPr lang="en-US" sz="1800" dirty="0">
                <a:solidFill>
                  <a:schemeClr val="tx1"/>
                </a:solidFill>
              </a:rPr>
              <a:t> = pareil · </a:t>
            </a:r>
            <a:r>
              <a:rPr lang="en-US" sz="1800" b="1" dirty="0">
                <a:solidFill>
                  <a:schemeClr val="tx1"/>
                </a:solidFill>
              </a:rPr>
              <a:t>dan</a:t>
            </a:r>
            <a:r>
              <a:rPr lang="en-US" sz="1800" dirty="0">
                <a:solidFill>
                  <a:schemeClr val="tx1"/>
                </a:solidFill>
              </a:rPr>
              <a:t> = différent.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plus … que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 trein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87344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7344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23920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182872" y="1947672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adjectif + -er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82872" y="2185416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19448" y="2185416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sneller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361432" y="1947672"/>
            <a:ext cx="149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dan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61432" y="2185416"/>
            <a:ext cx="1491488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98008" y="2185416"/>
            <a:ext cx="141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dan de bus.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103120" y="254203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 train est plus rapide que le bus.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03961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r → -der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103120" y="2801874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103120" y="3039618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139696" y="3039618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Parijs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3176016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176016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212592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3971544" y="2801874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duur + d + er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971544" y="3039618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008120" y="3039618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duurder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150104" y="280187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dan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150104" y="3039618"/>
            <a:ext cx="128016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86680" y="303961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dan Gent.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2103120" y="339623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Paris est plus cher que Gand.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38938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aussi … que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2103120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103120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139696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Jan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2898648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898648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935224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is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3694176" y="3656076"/>
            <a:ext cx="138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even + adjectif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694176" y="3893820"/>
            <a:ext cx="1385824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730752" y="3893820"/>
            <a:ext cx="131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even groot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5189728" y="36560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als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189728" y="3893820"/>
            <a:ext cx="128016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226304" y="38938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als Piet.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2103120" y="425043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Jan est aussi grand que Piet.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474802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moins … que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2103120" y="4510278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2103120" y="4748022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139696" y="4748022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 bus</a:t>
            </a:r>
            <a:endParaRPr lang="en-US" sz="1600" dirty="0"/>
          </a:p>
        </p:txBody>
      </p:sp>
      <p:sp>
        <p:nvSpPr>
          <p:cNvPr id="53" name="Text 50"/>
          <p:cNvSpPr txBox="1"/>
          <p:nvPr/>
        </p:nvSpPr>
        <p:spPr>
          <a:xfrm>
            <a:off x="3176016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3176016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3212592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is</a:t>
            </a:r>
            <a:endParaRPr lang="en-US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3971544" y="4510278"/>
            <a:ext cx="149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minder + adjectif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3971544" y="4748022"/>
            <a:ext cx="1491488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4008120" y="4748022"/>
            <a:ext cx="141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minder snel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5572760" y="4510278"/>
            <a:ext cx="170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dan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5572760" y="4748022"/>
            <a:ext cx="1702816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609336" y="4748022"/>
            <a:ext cx="162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dan de trein.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2103120" y="510463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 bus est moins rapide que le train.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6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65" name="Text 61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plus grand que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b="1" i="1" dirty="0">
                <a:solidFill>
                  <a:schemeClr val="tx1"/>
                </a:solidFill>
              </a:rPr>
              <a:t>groter dan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meer groot dan</a:t>
            </a:r>
            <a:r>
              <a:rPr lang="en-US" sz="1700" dirty="0">
                <a:solidFill>
                  <a:schemeClr val="tx1"/>
                </a:solidFill>
              </a:rPr>
              <a:t>, ✗ </a:t>
            </a:r>
            <a:r>
              <a:rPr lang="en-US" sz="1700" i="1" dirty="0">
                <a:solidFill>
                  <a:schemeClr val="tx1"/>
                </a:solidFill>
              </a:rPr>
              <a:t>groter als</a:t>
            </a:r>
            <a:r>
              <a:rPr lang="en-US" sz="1700" dirty="0">
                <a:solidFill>
                  <a:schemeClr val="tx1"/>
                </a:solidFill>
              </a:rPr>
              <a:t>). </a:t>
            </a:r>
            <a:r>
              <a:rPr lang="en-US" sz="1700" i="1" dirty="0">
                <a:solidFill>
                  <a:schemeClr val="tx1"/>
                </a:solidFill>
              </a:rPr>
              <a:t>meer</a:t>
            </a:r>
            <a:r>
              <a:rPr lang="en-US" sz="1700" dirty="0">
                <a:solidFill>
                  <a:schemeClr val="tx1"/>
                </a:solidFill>
              </a:rPr>
              <a:t> sert pour une </a:t>
            </a:r>
            <a:r>
              <a:rPr lang="en-US" sz="1700" b="1" dirty="0">
                <a:solidFill>
                  <a:schemeClr val="tx1"/>
                </a:solidFill>
              </a:rPr>
              <a:t>quantité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meer ervaring, meer geld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Former le comparatif : orthographe et irréguliers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2567178" cy="3922776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256717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VOYELLE COURTE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2201418" cy="34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dik → dikker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68956"/>
            <a:ext cx="2201418" cy="272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 </a:t>
            </a:r>
            <a:r>
              <a:rPr lang="en-US" sz="2000" b="1" dirty="0">
                <a:solidFill>
                  <a:schemeClr val="tx1"/>
                </a:solidFill>
              </a:rPr>
              <a:t>double</a:t>
            </a:r>
            <a:r>
              <a:rPr lang="en-US" sz="2000" dirty="0">
                <a:solidFill>
                  <a:schemeClr val="tx1"/>
                </a:solidFill>
              </a:rPr>
              <a:t> la consonne.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snel → sneller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90138" y="1481328"/>
            <a:ext cx="2567178" cy="3922776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90138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14" name="Shape 11"/>
          <p:cNvSpPr/>
          <p:nvPr/>
        </p:nvSpPr>
        <p:spPr>
          <a:xfrm>
            <a:off x="3390138" y="1801368"/>
            <a:ext cx="2567178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73018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VOYELLE LONGUE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573018" y="2084832"/>
            <a:ext cx="2201418" cy="34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groot → groter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3573018" y="2568956"/>
            <a:ext cx="2201418" cy="272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Une seule</a:t>
            </a:r>
            <a:r>
              <a:rPr lang="en-US" sz="2000" dirty="0">
                <a:solidFill>
                  <a:schemeClr val="tx1"/>
                </a:solidFill>
              </a:rPr>
              <a:t> voyelle.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laat → later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231636" y="1481328"/>
            <a:ext cx="2567178" cy="3922776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31636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0" name="Shape 17"/>
          <p:cNvSpPr/>
          <p:nvPr/>
        </p:nvSpPr>
        <p:spPr>
          <a:xfrm>
            <a:off x="6231636" y="1801368"/>
            <a:ext cx="2567178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APRÈS -R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414516" y="2084832"/>
            <a:ext cx="2201418" cy="34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duur → duurder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6414516" y="2568956"/>
            <a:ext cx="2201418" cy="272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 ajoute </a:t>
            </a:r>
            <a:r>
              <a:rPr lang="en-US" sz="2000" b="1" dirty="0">
                <a:solidFill>
                  <a:schemeClr val="tx1"/>
                </a:solidFill>
              </a:rPr>
              <a:t>-der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zwaar → zwaarder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9073134" y="1481328"/>
            <a:ext cx="2567178" cy="3922776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073134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rgbClr val="6E4A9E"/>
          </a:solidFill>
          <a:ln/>
        </p:spPr>
      </p:sp>
      <p:sp>
        <p:nvSpPr>
          <p:cNvPr id="26" name="Shape 23"/>
          <p:cNvSpPr/>
          <p:nvPr/>
        </p:nvSpPr>
        <p:spPr>
          <a:xfrm>
            <a:off x="9073134" y="1801368"/>
            <a:ext cx="2567178" cy="182880"/>
          </a:xfrm>
          <a:prstGeom prst="rect">
            <a:avLst/>
          </a:prstGeom>
          <a:solidFill>
            <a:srgbClr val="6E4A9E"/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56014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IRRÉGULIERS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256014" y="2084832"/>
            <a:ext cx="2201418" cy="34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goed → beter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9256014" y="2568956"/>
            <a:ext cx="2201418" cy="272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veel → meer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weinig → minder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graag → liever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als ou dan ? — </a:t>
            </a:r>
            <a:r>
              <a:rPr lang="en-US" sz="1700" b="1" dirty="0">
                <a:solidFill>
                  <a:schemeClr val="tx1"/>
                </a:solidFill>
              </a:rPr>
              <a:t>=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even oud </a:t>
            </a:r>
            <a:r>
              <a:rPr lang="en-US" sz="1700" b="1" i="1" dirty="0">
                <a:solidFill>
                  <a:schemeClr val="tx1"/>
                </a:solidFill>
              </a:rPr>
              <a:t>als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b="1" dirty="0">
                <a:solidFill>
                  <a:schemeClr val="tx1"/>
                </a:solidFill>
              </a:rPr>
              <a:t>≠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ouder </a:t>
            </a:r>
            <a:r>
              <a:rPr lang="en-US" sz="1700" b="1" i="1" dirty="0">
                <a:solidFill>
                  <a:schemeClr val="tx1"/>
                </a:solidFill>
              </a:rPr>
              <a:t>dan</a:t>
            </a:r>
            <a:r>
              <a:rPr lang="en-US" sz="1700" dirty="0">
                <a:solidFill>
                  <a:schemeClr val="tx1"/>
                </a:solidFill>
              </a:rPr>
              <a:t>. Moyen mnémotechnique : </a:t>
            </a:r>
            <a:r>
              <a:rPr lang="en-US" sz="1700" b="1" dirty="0">
                <a:solidFill>
                  <a:schemeClr val="tx1"/>
                </a:solidFill>
              </a:rPr>
              <a:t>d</a:t>
            </a:r>
            <a:r>
              <a:rPr lang="en-US" sz="1700" dirty="0">
                <a:solidFill>
                  <a:schemeClr val="tx1"/>
                </a:solidFill>
              </a:rPr>
              <a:t>an = </a:t>
            </a:r>
            <a:r>
              <a:rPr lang="en-US" sz="1700" b="1" dirty="0">
                <a:solidFill>
                  <a:schemeClr val="tx1"/>
                </a:solidFill>
              </a:rPr>
              <a:t>d</a:t>
            </a:r>
            <a:r>
              <a:rPr lang="en-US" sz="1700" dirty="0">
                <a:solidFill>
                  <a:schemeClr val="tx1"/>
                </a:solidFill>
              </a:rPr>
              <a:t>ifférent.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-er dan of even … als?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avec le </a:t>
            </a:r>
            <a:r>
              <a:rPr lang="en-US" sz="1600" b="1" i="1" dirty="0">
                <a:solidFill>
                  <a:schemeClr val="accent5"/>
                </a:solidFill>
              </a:rPr>
              <a:t>comparatif</a:t>
            </a:r>
            <a:r>
              <a:rPr lang="en-US" sz="1600" i="1" dirty="0">
                <a:solidFill>
                  <a:schemeClr val="accent5"/>
                </a:solidFill>
              </a:rPr>
              <a:t> de l’adjectif ou avec </a:t>
            </a:r>
            <a:r>
              <a:rPr lang="en-US" sz="1600" b="1" i="1" dirty="0">
                <a:solidFill>
                  <a:schemeClr val="accent5"/>
                </a:solidFill>
              </a:rPr>
              <a:t>als / dan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Een auto is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dan een fiets. </a:t>
            </a:r>
            <a:r>
              <a:rPr lang="en-US" sz="2400" i="1" dirty="0">
                <a:solidFill>
                  <a:schemeClr val="tx1"/>
                </a:solidFill>
              </a:rPr>
              <a:t>(snel)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Dit hotel is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dan dat. </a:t>
            </a:r>
            <a:r>
              <a:rPr lang="en-US" sz="2400" i="1" dirty="0">
                <a:solidFill>
                  <a:schemeClr val="tx1"/>
                </a:solidFill>
              </a:rPr>
              <a:t>(duur)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Anna is even oud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Tom.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Mijn Nederlands is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dan vorig jaar. </a:t>
            </a:r>
            <a:r>
              <a:rPr lang="en-US" sz="2400" i="1" dirty="0">
                <a:solidFill>
                  <a:schemeClr val="tx1"/>
                </a:solidFill>
              </a:rPr>
              <a:t>(goed)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Zij verdient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dan haar collega. </a:t>
            </a:r>
            <a:r>
              <a:rPr lang="en-US" sz="2400" i="1" dirty="0">
                <a:solidFill>
                  <a:schemeClr val="tx1"/>
                </a:solidFill>
              </a:rPr>
              <a:t>(veel)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Deze bloem is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dan die. </a:t>
            </a:r>
            <a:r>
              <a:rPr lang="en-US" sz="2400" i="1" dirty="0">
                <a:solidFill>
                  <a:schemeClr val="tx1"/>
                </a:solidFill>
              </a:rPr>
              <a:t>(mooi)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MÉMO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adjectif + </a:t>
            </a:r>
            <a:r>
              <a:rPr lang="en-US" sz="1800" b="1" dirty="0">
                <a:solidFill>
                  <a:schemeClr val="tx1"/>
                </a:solidFill>
              </a:rPr>
              <a:t>-er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b="1" dirty="0">
                <a:solidFill>
                  <a:schemeClr val="tx1"/>
                </a:solidFill>
              </a:rPr>
              <a:t>dan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even</a:t>
            </a:r>
            <a:r>
              <a:rPr lang="en-US" sz="1800" dirty="0">
                <a:solidFill>
                  <a:schemeClr val="tx1"/>
                </a:solidFill>
              </a:rPr>
              <a:t> + adjectif + </a:t>
            </a:r>
            <a:r>
              <a:rPr lang="en-US" sz="1800" b="1" dirty="0">
                <a:solidFill>
                  <a:schemeClr val="tx1"/>
                </a:solidFill>
              </a:rPr>
              <a:t>als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goed → beter · veel → meer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-er dan of even … als?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avec le </a:t>
            </a:r>
            <a:r>
              <a:rPr lang="en-US" sz="1600" b="1" i="1" dirty="0">
                <a:solidFill>
                  <a:schemeClr val="accent5"/>
                </a:solidFill>
              </a:rPr>
              <a:t>comparatif</a:t>
            </a:r>
            <a:r>
              <a:rPr lang="en-US" sz="1600" i="1" dirty="0">
                <a:solidFill>
                  <a:schemeClr val="accent5"/>
                </a:solidFill>
              </a:rPr>
              <a:t> de l’adjectif ou avec </a:t>
            </a:r>
            <a:r>
              <a:rPr lang="en-US" sz="1600" b="1" i="1" dirty="0">
                <a:solidFill>
                  <a:schemeClr val="accent5"/>
                </a:solidFill>
              </a:rPr>
              <a:t>als / dan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Een auto is </a:t>
            </a:r>
            <a:r>
              <a:rPr lang="en-US" sz="2400" b="1" dirty="0">
                <a:solidFill>
                  <a:schemeClr val="accent3"/>
                </a:solidFill>
              </a:rPr>
              <a:t>sneller</a:t>
            </a:r>
            <a:r>
              <a:rPr lang="en-US" sz="2400" dirty="0">
                <a:solidFill>
                  <a:schemeClr val="tx1"/>
                </a:solidFill>
              </a:rPr>
              <a:t> dan een fiets. </a:t>
            </a:r>
            <a:r>
              <a:rPr lang="en-US" sz="2400" i="1" dirty="0">
                <a:solidFill>
                  <a:schemeClr val="tx1"/>
                </a:solidFill>
              </a:rPr>
              <a:t>(snel)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Dit hotel is </a:t>
            </a:r>
            <a:r>
              <a:rPr lang="en-US" sz="2400" b="1" dirty="0">
                <a:solidFill>
                  <a:schemeClr val="accent3"/>
                </a:solidFill>
              </a:rPr>
              <a:t>duurder</a:t>
            </a:r>
            <a:r>
              <a:rPr lang="en-US" sz="2400" dirty="0">
                <a:solidFill>
                  <a:schemeClr val="tx1"/>
                </a:solidFill>
              </a:rPr>
              <a:t> dan dat. </a:t>
            </a:r>
            <a:r>
              <a:rPr lang="en-US" sz="2400" i="1" dirty="0">
                <a:solidFill>
                  <a:schemeClr val="tx1"/>
                </a:solidFill>
              </a:rPr>
              <a:t>(duur)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Anna is even oud </a:t>
            </a:r>
            <a:r>
              <a:rPr lang="en-US" sz="2400" b="1" dirty="0">
                <a:solidFill>
                  <a:schemeClr val="accent3"/>
                </a:solidFill>
              </a:rPr>
              <a:t>als</a:t>
            </a:r>
            <a:r>
              <a:rPr lang="en-US" sz="2400" dirty="0">
                <a:solidFill>
                  <a:schemeClr val="tx1"/>
                </a:solidFill>
              </a:rPr>
              <a:t> Tom.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Mijn Nederlands is </a:t>
            </a:r>
            <a:r>
              <a:rPr lang="en-US" sz="2400" b="1" dirty="0">
                <a:solidFill>
                  <a:schemeClr val="accent3"/>
                </a:solidFill>
              </a:rPr>
              <a:t>beter</a:t>
            </a:r>
            <a:r>
              <a:rPr lang="en-US" sz="2400" dirty="0">
                <a:solidFill>
                  <a:schemeClr val="tx1"/>
                </a:solidFill>
              </a:rPr>
              <a:t> dan vorig jaar. </a:t>
            </a:r>
            <a:r>
              <a:rPr lang="en-US" sz="2400" i="1" dirty="0">
                <a:solidFill>
                  <a:schemeClr val="tx1"/>
                </a:solidFill>
              </a:rPr>
              <a:t>(goed)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Zij verdient </a:t>
            </a:r>
            <a:r>
              <a:rPr lang="en-US" sz="2400" b="1" dirty="0">
                <a:solidFill>
                  <a:schemeClr val="accent3"/>
                </a:solidFill>
              </a:rPr>
              <a:t>meer</a:t>
            </a:r>
            <a:r>
              <a:rPr lang="en-US" sz="2400" dirty="0">
                <a:solidFill>
                  <a:schemeClr val="tx1"/>
                </a:solidFill>
              </a:rPr>
              <a:t> dan haar collega. </a:t>
            </a:r>
            <a:r>
              <a:rPr lang="en-US" sz="2400" i="1" dirty="0">
                <a:solidFill>
                  <a:schemeClr val="tx1"/>
                </a:solidFill>
              </a:rPr>
              <a:t>(veel)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Deze bloem is </a:t>
            </a:r>
            <a:r>
              <a:rPr lang="en-US" sz="2400" b="1" dirty="0">
                <a:solidFill>
                  <a:schemeClr val="accent3"/>
                </a:solidFill>
              </a:rPr>
              <a:t>mooier</a:t>
            </a:r>
            <a:r>
              <a:rPr lang="en-US" sz="2400" dirty="0">
                <a:solidFill>
                  <a:schemeClr val="tx1"/>
                </a:solidFill>
              </a:rPr>
              <a:t> dan die. </a:t>
            </a:r>
            <a:r>
              <a:rPr lang="en-US" sz="2400" i="1" dirty="0">
                <a:solidFill>
                  <a:schemeClr val="tx1"/>
                </a:solidFill>
              </a:rPr>
              <a:t>(mooi)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2 : </a:t>
            </a:r>
            <a:r>
              <a:rPr lang="en-US" sz="1800" i="1" dirty="0">
                <a:solidFill>
                  <a:schemeClr val="tx1"/>
                </a:solidFill>
              </a:rPr>
              <a:t>duur → duur</a:t>
            </a:r>
            <a:r>
              <a:rPr lang="en-US" sz="1800" b="1" i="1" dirty="0">
                <a:solidFill>
                  <a:schemeClr val="tx1"/>
                </a:solidFill>
              </a:rPr>
              <a:t>d</a:t>
            </a:r>
            <a:r>
              <a:rPr lang="en-US" sz="1800" i="1" dirty="0">
                <a:solidFill>
                  <a:schemeClr val="tx1"/>
                </a:solidFill>
              </a:rPr>
              <a:t>er</a:t>
            </a:r>
            <a:r>
              <a:rPr lang="en-US" sz="1800" dirty="0">
                <a:solidFill>
                  <a:schemeClr val="tx1"/>
                </a:solidFill>
              </a:rPr>
              <a:t> (après r).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3 : égalité → </a:t>
            </a:r>
            <a:r>
              <a:rPr lang="en-US" sz="1800" b="1" dirty="0">
                <a:solidFill>
                  <a:schemeClr val="tx1"/>
                </a:solidFill>
              </a:rPr>
              <a:t>als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4 et 5 : irréguliers </a:t>
            </a:r>
            <a:r>
              <a:rPr lang="en-US" sz="1800" b="1" dirty="0">
                <a:solidFill>
                  <a:schemeClr val="tx1"/>
                </a:solidFill>
              </a:rPr>
              <a:t>beter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b="1" dirty="0">
                <a:solidFill>
                  <a:schemeClr val="tx1"/>
                </a:solidFill>
              </a:rPr>
              <a:t>meer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1 : </a:t>
            </a:r>
            <a:r>
              <a:rPr lang="en-US" sz="1800" i="1" dirty="0">
                <a:solidFill>
                  <a:schemeClr val="tx1"/>
                </a:solidFill>
              </a:rPr>
              <a:t>snel → sne</a:t>
            </a:r>
            <a:r>
              <a:rPr lang="en-US" sz="1800" b="1" i="1" dirty="0">
                <a:solidFill>
                  <a:schemeClr val="tx1"/>
                </a:solidFill>
              </a:rPr>
              <a:t>ll</a:t>
            </a:r>
            <a:r>
              <a:rPr lang="en-US" sz="1800" i="1" dirty="0">
                <a:solidFill>
                  <a:schemeClr val="tx1"/>
                </a:solidFill>
              </a:rPr>
              <a:t>er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Deux candidats : qui choisir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Comparez </a:t>
            </a:r>
            <a:r>
              <a:rPr lang="en-US" sz="1600" b="1" i="1" dirty="0">
                <a:solidFill>
                  <a:schemeClr val="accent5"/>
                </a:solidFill>
              </a:rPr>
              <a:t>Lucas</a:t>
            </a:r>
            <a:r>
              <a:rPr lang="en-US" sz="1600" i="1" dirty="0">
                <a:solidFill>
                  <a:schemeClr val="accent5"/>
                </a:solidFill>
              </a:rPr>
              <a:t> et </a:t>
            </a:r>
            <a:r>
              <a:rPr lang="en-US" sz="1600" b="1" i="1" dirty="0">
                <a:solidFill>
                  <a:schemeClr val="accent5"/>
                </a:solidFill>
              </a:rPr>
              <a:t>Julie</a:t>
            </a:r>
            <a:r>
              <a:rPr lang="en-US" sz="1600" i="1" dirty="0">
                <a:solidFill>
                  <a:schemeClr val="accent5"/>
                </a:solidFill>
              </a:rPr>
              <a:t> (la candidate de la séance 14) avec </a:t>
            </a:r>
            <a:r>
              <a:rPr lang="en-US" sz="1600" i="1" dirty="0">
                <a:solidFill>
                  <a:schemeClr val="accent5"/>
                </a:solidFill>
              </a:rPr>
              <a:t>-er dan · even … als · meer · minder · beter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Julie heeft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ervaring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Lucas.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Lucas is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oud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Julie.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Julie spreekt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talen dan Lucas.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Het Nederlands van Julie is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dan dat van Lucas.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Lucas heeft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ervaring dan Julie.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Julie vraagt een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loon dan Lucas. </a:t>
            </a:r>
            <a:r>
              <a:rPr lang="en-US" sz="2400" i="1" dirty="0">
                <a:solidFill>
                  <a:schemeClr val="tx1"/>
                </a:solidFill>
              </a:rPr>
              <a:t>(hoog)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LES CANDIDATS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Lucas</a:t>
            </a:r>
            <a:r>
              <a:rPr lang="en-US" sz="1800" dirty="0">
                <a:solidFill>
                  <a:schemeClr val="tx1"/>
                </a:solidFill>
              </a:rPr>
              <a:t> : 29 jaar · 3 jaar ervaring · 2 talen · Nederlands A1 · vraagt 2.400 euro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Julie</a:t>
            </a:r>
            <a:r>
              <a:rPr lang="en-US" sz="1800" dirty="0">
                <a:solidFill>
                  <a:schemeClr val="tx1"/>
                </a:solidFill>
              </a:rPr>
              <a:t> : 29 jaar · 7 jaar ervaring · 3 talen · Nederlands A2 · vraagt 2.900 euro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Deux candidats : qui choisir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Comparez </a:t>
            </a:r>
            <a:r>
              <a:rPr lang="en-US" sz="1600" b="1" i="1" dirty="0">
                <a:solidFill>
                  <a:schemeClr val="accent5"/>
                </a:solidFill>
              </a:rPr>
              <a:t>Lucas</a:t>
            </a:r>
            <a:r>
              <a:rPr lang="en-US" sz="1600" i="1" dirty="0">
                <a:solidFill>
                  <a:schemeClr val="accent5"/>
                </a:solidFill>
              </a:rPr>
              <a:t> et </a:t>
            </a:r>
            <a:r>
              <a:rPr lang="en-US" sz="1600" b="1" i="1" dirty="0">
                <a:solidFill>
                  <a:schemeClr val="accent5"/>
                </a:solidFill>
              </a:rPr>
              <a:t>Julie</a:t>
            </a:r>
            <a:r>
              <a:rPr lang="en-US" sz="1600" i="1" dirty="0">
                <a:solidFill>
                  <a:schemeClr val="accent5"/>
                </a:solidFill>
              </a:rPr>
              <a:t> (la candidate de la séance 14) avec </a:t>
            </a:r>
            <a:r>
              <a:rPr lang="en-US" sz="1600" i="1" dirty="0">
                <a:solidFill>
                  <a:schemeClr val="accent5"/>
                </a:solidFill>
              </a:rPr>
              <a:t>-er dan · even … als · meer · minder · beter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Julie heeft </a:t>
            </a:r>
            <a:r>
              <a:rPr lang="en-US" sz="2400" b="1" dirty="0">
                <a:solidFill>
                  <a:schemeClr val="accent3"/>
                </a:solidFill>
              </a:rPr>
              <a:t>meer</a:t>
            </a:r>
            <a:r>
              <a:rPr lang="en-US" sz="2400" dirty="0">
                <a:solidFill>
                  <a:schemeClr val="tx1"/>
                </a:solidFill>
              </a:rPr>
              <a:t> ervaring </a:t>
            </a:r>
            <a:r>
              <a:rPr lang="en-US" sz="2400" b="1" dirty="0">
                <a:solidFill>
                  <a:schemeClr val="accent3"/>
                </a:solidFill>
              </a:rPr>
              <a:t>dan</a:t>
            </a:r>
            <a:r>
              <a:rPr lang="en-US" sz="2400" dirty="0">
                <a:solidFill>
                  <a:schemeClr val="tx1"/>
                </a:solidFill>
              </a:rPr>
              <a:t> Lucas.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Lucas is </a:t>
            </a:r>
            <a:r>
              <a:rPr lang="en-US" sz="2400" b="1" dirty="0">
                <a:solidFill>
                  <a:schemeClr val="accent3"/>
                </a:solidFill>
              </a:rPr>
              <a:t>even</a:t>
            </a:r>
            <a:r>
              <a:rPr lang="en-US" sz="2400" dirty="0">
                <a:solidFill>
                  <a:schemeClr val="tx1"/>
                </a:solidFill>
              </a:rPr>
              <a:t> oud </a:t>
            </a:r>
            <a:r>
              <a:rPr lang="en-US" sz="2400" b="1" dirty="0">
                <a:solidFill>
                  <a:schemeClr val="accent3"/>
                </a:solidFill>
              </a:rPr>
              <a:t>als</a:t>
            </a:r>
            <a:r>
              <a:rPr lang="en-US" sz="2400" dirty="0">
                <a:solidFill>
                  <a:schemeClr val="tx1"/>
                </a:solidFill>
              </a:rPr>
              <a:t> Julie.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Julie spreekt </a:t>
            </a:r>
            <a:r>
              <a:rPr lang="en-US" sz="2400" b="1" dirty="0">
                <a:solidFill>
                  <a:schemeClr val="accent3"/>
                </a:solidFill>
              </a:rPr>
              <a:t>meer</a:t>
            </a:r>
            <a:r>
              <a:rPr lang="en-US" sz="2400" dirty="0">
                <a:solidFill>
                  <a:schemeClr val="tx1"/>
                </a:solidFill>
              </a:rPr>
              <a:t> talen dan Lucas.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Het Nederlands van Julie is </a:t>
            </a:r>
            <a:r>
              <a:rPr lang="en-US" sz="2400" b="1" dirty="0">
                <a:solidFill>
                  <a:schemeClr val="accent3"/>
                </a:solidFill>
              </a:rPr>
              <a:t>beter</a:t>
            </a:r>
            <a:r>
              <a:rPr lang="en-US" sz="2400" dirty="0">
                <a:solidFill>
                  <a:schemeClr val="tx1"/>
                </a:solidFill>
              </a:rPr>
              <a:t> dan dat van Lucas.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Lucas heeft </a:t>
            </a:r>
            <a:r>
              <a:rPr lang="en-US" sz="2400" b="1" dirty="0">
                <a:solidFill>
                  <a:schemeClr val="accent3"/>
                </a:solidFill>
              </a:rPr>
              <a:t>minder</a:t>
            </a:r>
            <a:r>
              <a:rPr lang="en-US" sz="2400" dirty="0">
                <a:solidFill>
                  <a:schemeClr val="tx1"/>
                </a:solidFill>
              </a:rPr>
              <a:t> ervaring dan Julie.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Julie vraagt een </a:t>
            </a:r>
            <a:r>
              <a:rPr lang="en-US" sz="2400" b="1" dirty="0">
                <a:solidFill>
                  <a:schemeClr val="accent3"/>
                </a:solidFill>
              </a:rPr>
              <a:t>hoger</a:t>
            </a:r>
            <a:r>
              <a:rPr lang="en-US" sz="2400" dirty="0">
                <a:solidFill>
                  <a:schemeClr val="tx1"/>
                </a:solidFill>
              </a:rPr>
              <a:t> loon dan Lucas. </a:t>
            </a:r>
            <a:r>
              <a:rPr lang="en-US" sz="2400" i="1" dirty="0">
                <a:solidFill>
                  <a:schemeClr val="tx1"/>
                </a:solidFill>
              </a:rPr>
              <a:t>(hoog)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meer</a:t>
            </a:r>
            <a:r>
              <a:rPr lang="en-US" sz="1800" dirty="0">
                <a:solidFill>
                  <a:schemeClr val="tx1"/>
                </a:solidFill>
              </a:rPr>
              <a:t> + nom : </a:t>
            </a:r>
            <a:r>
              <a:rPr lang="en-US" sz="1800" i="1" dirty="0">
                <a:solidFill>
                  <a:schemeClr val="tx1"/>
                </a:solidFill>
              </a:rPr>
              <a:t>meer </a:t>
            </a:r>
            <a:r>
              <a:rPr lang="en-US" sz="1800" b="1" i="1" dirty="0">
                <a:solidFill>
                  <a:schemeClr val="tx1"/>
                </a:solidFill>
              </a:rPr>
              <a:t>ervaring</a:t>
            </a:r>
            <a:r>
              <a:rPr lang="en-US" sz="1800" i="1" dirty="0">
                <a:solidFill>
                  <a:schemeClr val="tx1"/>
                </a:solidFill>
              </a:rPr>
              <a:t>, meer </a:t>
            </a:r>
            <a:r>
              <a:rPr lang="en-US" sz="1800" b="1" i="1" dirty="0">
                <a:solidFill>
                  <a:schemeClr val="tx1"/>
                </a:solidFill>
              </a:rPr>
              <a:t>talen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een hoger loon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loon + een → pas de -e.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even oud </a:t>
            </a:r>
            <a:r>
              <a:rPr lang="en-US" sz="1800" b="1" i="1" dirty="0">
                <a:solidFill>
                  <a:schemeClr val="tx1"/>
                </a:solidFill>
              </a:rPr>
              <a:t>als</a:t>
            </a:r>
            <a:r>
              <a:rPr lang="en-US" sz="1800" dirty="0">
                <a:solidFill>
                  <a:schemeClr val="tx1"/>
                </a:solidFill>
              </a:rPr>
              <a:t> : égalité.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Valse vrienden 2/3 : les faux-amis 8 à 14 (1/2)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FAUX-AMIS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7" name="illustration" descr="la file (d’attent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04" y="1600200"/>
            <a:ext cx="1178992" cy="8755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270112" y="1554480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rij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file (d’attente)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des personnes l’une derrière l’autre</a:t>
            </a:r>
            <a:endParaRPr lang="en-US" sz="2000" dirty="0"/>
          </a:p>
        </p:txBody>
      </p:sp>
      <p:pic>
        <p:nvPicPr>
          <p:cNvPr id="9" name="illustration" descr="l’embouteill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308" y="1600200"/>
            <a:ext cx="1203865" cy="87553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76552" y="1554480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file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l’embouteillage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des voitures bloquées ≠ la file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5870448" y="1809369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870448" y="180936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548640" y="2750058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4" name="illustration" descr="ordinaire, norm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17" y="2841498"/>
            <a:ext cx="1183966" cy="87553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270112" y="2795778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gewoon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ordinaire, normal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habituel, sans rien de spécial</a:t>
            </a:r>
            <a:endParaRPr lang="en-US" sz="2000" dirty="0"/>
          </a:p>
        </p:txBody>
      </p:sp>
      <p:pic>
        <p:nvPicPr>
          <p:cNvPr id="16" name="illustration" descr="vulgai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877" y="2841498"/>
            <a:ext cx="1042726" cy="87553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076552" y="2795778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ordinair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vulgaire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grossier, sans manières ≠ ordinaire</a:t>
            </a:r>
            <a:endParaRPr lang="en-US" sz="2000" dirty="0"/>
          </a:p>
        </p:txBody>
      </p:sp>
      <p:sp>
        <p:nvSpPr>
          <p:cNvPr id="18" name="Shape 11"/>
          <p:cNvSpPr/>
          <p:nvPr/>
        </p:nvSpPr>
        <p:spPr>
          <a:xfrm>
            <a:off x="5870448" y="3050667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5870448" y="30506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20" name="Shape 13"/>
          <p:cNvSpPr/>
          <p:nvPr/>
        </p:nvSpPr>
        <p:spPr>
          <a:xfrm>
            <a:off x="548640" y="3991356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1" name="illustration" descr="doux, mou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38" y="4082796"/>
            <a:ext cx="1064725" cy="87553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270112" y="4037076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zacht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doux, mou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agréable au toucher</a:t>
            </a:r>
            <a:endParaRPr lang="en-US" sz="2000" dirty="0"/>
          </a:p>
        </p:txBody>
      </p:sp>
      <p:pic>
        <p:nvPicPr>
          <p:cNvPr id="23" name="illustration" descr="fatigu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5677" y="4082796"/>
            <a:ext cx="1047126" cy="87553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076552" y="4037076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moe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fatigué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on a besoin de dormir ≠ mou</a:t>
            </a:r>
            <a:endParaRPr lang="en-US" sz="2000" dirty="0"/>
          </a:p>
        </p:txBody>
      </p:sp>
      <p:sp>
        <p:nvSpPr>
          <p:cNvPr id="25" name="Shape 16"/>
          <p:cNvSpPr/>
          <p:nvPr/>
        </p:nvSpPr>
        <p:spPr>
          <a:xfrm>
            <a:off x="5870448" y="4291965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6" name="Text 17"/>
          <p:cNvSpPr txBox="1"/>
          <p:nvPr/>
        </p:nvSpPr>
        <p:spPr>
          <a:xfrm>
            <a:off x="5870448" y="42919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27" name="Shape 18"/>
          <p:cNvSpPr/>
          <p:nvPr/>
        </p:nvSpPr>
        <p:spPr>
          <a:xfrm>
            <a:off x="548640" y="5232654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8" name="illustration" descr="le jeu, la parti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44" y="5324094"/>
            <a:ext cx="1053312" cy="875538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2270112" y="5278374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 spel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jeu, la partie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on joue : een spelletje kaarten</a:t>
            </a:r>
            <a:endParaRPr lang="en-US" sz="2000" dirty="0"/>
          </a:p>
        </p:txBody>
      </p:sp>
      <p:pic>
        <p:nvPicPr>
          <p:cNvPr id="30" name="illustration" descr="le lo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1473" y="5324094"/>
            <a:ext cx="1075534" cy="875538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8076552" y="5278374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partij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lot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een partij cacaobonen</a:t>
            </a:r>
            <a:endParaRPr lang="en-US" sz="2000" dirty="0"/>
          </a:p>
        </p:txBody>
      </p:sp>
      <p:sp>
        <p:nvSpPr>
          <p:cNvPr id="32" name="Shape 21"/>
          <p:cNvSpPr/>
          <p:nvPr/>
        </p:nvSpPr>
        <p:spPr>
          <a:xfrm>
            <a:off x="5870448" y="5533263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3" name="Text 22"/>
          <p:cNvSpPr txBox="1"/>
          <p:nvPr/>
        </p:nvSpPr>
        <p:spPr>
          <a:xfrm>
            <a:off x="5870448" y="553326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Valse vrienden 2/3 : les faux-amis 8 à 14 (2/2)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FAUX-AMIS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7" name="illustration" descr="la bibliothèque (le lieu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22" y="1600200"/>
            <a:ext cx="1057757" cy="8755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270112" y="1554480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bibliotheek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bibliothèque (le lieu)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on y emprunte des livres</a:t>
            </a:r>
            <a:endParaRPr lang="en-US" sz="2000" dirty="0"/>
          </a:p>
        </p:txBody>
      </p:sp>
      <p:pic>
        <p:nvPicPr>
          <p:cNvPr id="9" name="illustration" descr="la bibliothèque (le meubl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877" y="1600200"/>
            <a:ext cx="1042726" cy="87553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76552" y="1554480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boekenkast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bibliothèque (le meuble)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meuble à livres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5870448" y="1809369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870448" y="180936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548640" y="2750058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4" name="illustration" descr="le magas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38" y="2841498"/>
            <a:ext cx="1064725" cy="87553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270112" y="2795778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winkel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magasin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on y achète</a:t>
            </a:r>
            <a:endParaRPr lang="en-US" sz="2000" dirty="0"/>
          </a:p>
        </p:txBody>
      </p:sp>
      <p:pic>
        <p:nvPicPr>
          <p:cNvPr id="16" name="illustration" descr="l’entrepôt, la réser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677" y="2841498"/>
            <a:ext cx="1047126" cy="87553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076552" y="2795778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 magazijn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l’entrepôt, la réserve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on y stocke ≠ le magasin</a:t>
            </a:r>
            <a:endParaRPr lang="en-US" sz="2000" dirty="0"/>
          </a:p>
        </p:txBody>
      </p:sp>
      <p:sp>
        <p:nvSpPr>
          <p:cNvPr id="18" name="Shape 11"/>
          <p:cNvSpPr/>
          <p:nvPr/>
        </p:nvSpPr>
        <p:spPr>
          <a:xfrm>
            <a:off x="5870448" y="3050667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5870448" y="30506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20" name="Shape 13"/>
          <p:cNvSpPr/>
          <p:nvPr/>
        </p:nvSpPr>
        <p:spPr>
          <a:xfrm>
            <a:off x="548640" y="3991356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1" name="illustration" descr="l’aliment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304" y="4082796"/>
            <a:ext cx="1178992" cy="87553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270112" y="4037076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voeding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l’alimentation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ce que l’on mange</a:t>
            </a:r>
            <a:endParaRPr lang="en-US" sz="2000" dirty="0"/>
          </a:p>
        </p:txBody>
      </p:sp>
      <p:pic>
        <p:nvPicPr>
          <p:cNvPr id="23" name="illustration" descr="la pension alimentair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7257" y="4082796"/>
            <a:ext cx="1183966" cy="87553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076552" y="4037076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alimentatie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pension alimentaire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l’argent versé après un divorce</a:t>
            </a:r>
            <a:endParaRPr lang="en-US" sz="2000" dirty="0"/>
          </a:p>
        </p:txBody>
      </p:sp>
      <p:sp>
        <p:nvSpPr>
          <p:cNvPr id="25" name="Shape 16"/>
          <p:cNvSpPr/>
          <p:nvPr/>
        </p:nvSpPr>
        <p:spPr>
          <a:xfrm>
            <a:off x="5870448" y="4291965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6" name="Text 17"/>
          <p:cNvSpPr txBox="1"/>
          <p:nvPr/>
        </p:nvSpPr>
        <p:spPr>
          <a:xfrm>
            <a:off x="5870448" y="42919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Faux-amis : choisissez le bon mot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Choisissez le bon mot, puis lisez la phrase correcte à voix haute.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Op de E19 staat elke ochtend een lange </a:t>
            </a:r>
            <a:r>
              <a:rPr lang="en-US" sz="2100" dirty="0">
                <a:solidFill>
                  <a:schemeClr val="tx1"/>
                </a:solidFill>
              </a:rPr>
              <a:t>file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rij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Aan de kassa wacht ik in een lange </a:t>
            </a:r>
            <a:r>
              <a:rPr lang="en-US" sz="2100" dirty="0">
                <a:solidFill>
                  <a:schemeClr val="tx1"/>
                </a:solidFill>
              </a:rPr>
              <a:t>file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rij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Het is een </a:t>
            </a:r>
            <a:r>
              <a:rPr lang="en-US" sz="2100" dirty="0">
                <a:solidFill>
                  <a:schemeClr val="tx1"/>
                </a:solidFill>
              </a:rPr>
              <a:t>gewone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ordinaire</a:t>
            </a:r>
            <a:r>
              <a:rPr lang="en-US" sz="2100" dirty="0">
                <a:solidFill>
                  <a:schemeClr val="tx1"/>
                </a:solidFill>
              </a:rPr>
              <a:t> dag: niets bijzonders.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Hij boert aan tafel: hij is echt </a:t>
            </a:r>
            <a:r>
              <a:rPr lang="en-US" sz="2100" dirty="0">
                <a:solidFill>
                  <a:schemeClr val="tx1"/>
                </a:solidFill>
              </a:rPr>
              <a:t>gewoon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ordinair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8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Na tien uur werken ben ik heel </a:t>
            </a:r>
            <a:r>
              <a:rPr lang="en-US" sz="2100" dirty="0">
                <a:solidFill>
                  <a:schemeClr val="tx1"/>
                </a:solidFill>
              </a:rPr>
              <a:t>moe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zacht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Ik leen een boek in de </a:t>
            </a:r>
            <a:r>
              <a:rPr lang="en-US" sz="2100" dirty="0">
                <a:solidFill>
                  <a:schemeClr val="tx1"/>
                </a:solidFill>
              </a:rPr>
              <a:t>bibliotheek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boekenkast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7.  </a:t>
            </a:r>
            <a:r>
              <a:rPr lang="en-US" sz="2100" dirty="0">
                <a:solidFill>
                  <a:schemeClr val="tx1"/>
                </a:solidFill>
              </a:rPr>
              <a:t>Wij kopen brood in </a:t>
            </a:r>
            <a:r>
              <a:rPr lang="en-US" sz="2100" dirty="0">
                <a:solidFill>
                  <a:schemeClr val="tx1"/>
                </a:solidFill>
              </a:rPr>
              <a:t>het magazijn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de winkel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8.  </a:t>
            </a:r>
            <a:r>
              <a:rPr lang="en-US" sz="2100" dirty="0">
                <a:solidFill>
                  <a:schemeClr val="tx1"/>
                </a:solidFill>
              </a:rPr>
              <a:t>Na de scheiding betaalt hij </a:t>
            </a:r>
            <a:r>
              <a:rPr lang="en-US" sz="2100" dirty="0">
                <a:solidFill>
                  <a:schemeClr val="tx1"/>
                </a:solidFill>
              </a:rPr>
              <a:t>alimentatie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voeding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Faux-amis : choisissez le bon mot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Choisissez le bon mot, puis lisez la phrase correcte à voix haute.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Op de E19 staat elke ochtend een lange </a:t>
            </a:r>
            <a:r>
              <a:rPr lang="en-US" sz="2100" b="1" dirty="0">
                <a:solidFill>
                  <a:schemeClr val="accent3"/>
                </a:solidFill>
              </a:rPr>
              <a:t>file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strike="sngStrike" dirty="0">
                <a:solidFill>
                  <a:schemeClr val="accent6"/>
                </a:solidFill>
              </a:rPr>
              <a:t>rij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Aan de kassa wacht ik in een lange </a:t>
            </a:r>
            <a:r>
              <a:rPr lang="en-US" sz="2100" strike="sngStrike" dirty="0">
                <a:solidFill>
                  <a:schemeClr val="accent6"/>
                </a:solidFill>
              </a:rPr>
              <a:t>file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b="1" dirty="0">
                <a:solidFill>
                  <a:schemeClr val="accent3"/>
                </a:solidFill>
              </a:rPr>
              <a:t>rij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Het is een </a:t>
            </a:r>
            <a:r>
              <a:rPr lang="en-US" sz="2100" b="1" dirty="0">
                <a:solidFill>
                  <a:schemeClr val="accent3"/>
                </a:solidFill>
              </a:rPr>
              <a:t>gewone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strike="sngStrike" dirty="0">
                <a:solidFill>
                  <a:schemeClr val="accent6"/>
                </a:solidFill>
              </a:rPr>
              <a:t>ordinaire</a:t>
            </a:r>
            <a:r>
              <a:rPr lang="en-US" sz="2100" dirty="0">
                <a:solidFill>
                  <a:schemeClr val="tx1"/>
                </a:solidFill>
              </a:rPr>
              <a:t> dag: niets bijzonders.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Hij boert aan tafel: hij is echt </a:t>
            </a:r>
            <a:r>
              <a:rPr lang="en-US" sz="2100" strike="sngStrike" dirty="0">
                <a:solidFill>
                  <a:schemeClr val="accent6"/>
                </a:solidFill>
              </a:rPr>
              <a:t>gewoon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b="1" dirty="0">
                <a:solidFill>
                  <a:schemeClr val="accent3"/>
                </a:solidFill>
              </a:rPr>
              <a:t>ordinair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9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Na tien uur werken ben ik heel </a:t>
            </a:r>
            <a:r>
              <a:rPr lang="en-US" sz="2100" b="1" dirty="0">
                <a:solidFill>
                  <a:schemeClr val="accent3"/>
                </a:solidFill>
              </a:rPr>
              <a:t>moe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strike="sngStrike" dirty="0">
                <a:solidFill>
                  <a:schemeClr val="accent6"/>
                </a:solidFill>
              </a:rPr>
              <a:t>zacht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Ik leen een boek in de </a:t>
            </a:r>
            <a:r>
              <a:rPr lang="en-US" sz="2100" b="1" dirty="0">
                <a:solidFill>
                  <a:schemeClr val="accent3"/>
                </a:solidFill>
              </a:rPr>
              <a:t>bibliotheek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strike="sngStrike" dirty="0">
                <a:solidFill>
                  <a:schemeClr val="accent6"/>
                </a:solidFill>
              </a:rPr>
              <a:t>boekenkast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7.  </a:t>
            </a:r>
            <a:r>
              <a:rPr lang="en-US" sz="2100" dirty="0">
                <a:solidFill>
                  <a:schemeClr val="tx1"/>
                </a:solidFill>
              </a:rPr>
              <a:t>Wij kopen brood in </a:t>
            </a:r>
            <a:r>
              <a:rPr lang="en-US" sz="2100" strike="sngStrike" dirty="0">
                <a:solidFill>
                  <a:schemeClr val="accent6"/>
                </a:solidFill>
              </a:rPr>
              <a:t>het magazijn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b="1" dirty="0">
                <a:solidFill>
                  <a:schemeClr val="accent3"/>
                </a:solidFill>
              </a:rPr>
              <a:t>de winkel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8.  </a:t>
            </a:r>
            <a:r>
              <a:rPr lang="en-US" sz="2100" dirty="0">
                <a:solidFill>
                  <a:schemeClr val="tx1"/>
                </a:solidFill>
              </a:rPr>
              <a:t>Na de scheiding betaalt hij </a:t>
            </a:r>
            <a:r>
              <a:rPr lang="en-US" sz="2100" b="1" dirty="0">
                <a:solidFill>
                  <a:schemeClr val="accent3"/>
                </a:solidFill>
              </a:rPr>
              <a:t>alimentatie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strike="sngStrike" dirty="0">
                <a:solidFill>
                  <a:schemeClr val="accent6"/>
                </a:solidFill>
              </a:rPr>
              <a:t>voeding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10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file = l’</a:t>
            </a:r>
            <a:r>
              <a:rPr lang="en-US" sz="1800" b="1" dirty="0">
                <a:solidFill>
                  <a:schemeClr val="tx1"/>
                </a:solidFill>
              </a:rPr>
              <a:t>embouteillage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rij = la </a:t>
            </a:r>
            <a:r>
              <a:rPr lang="en-US" sz="1800" b="1" dirty="0">
                <a:solidFill>
                  <a:schemeClr val="tx1"/>
                </a:solidFill>
              </a:rPr>
              <a:t>file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moe</a:t>
            </a:r>
            <a:r>
              <a:rPr lang="en-US" sz="1800" dirty="0">
                <a:solidFill>
                  <a:schemeClr val="tx1"/>
                </a:solidFill>
              </a:rPr>
              <a:t> = fatigué (mou = </a:t>
            </a:r>
            <a:r>
              <a:rPr lang="en-US" sz="1800" i="1" dirty="0">
                <a:solidFill>
                  <a:schemeClr val="tx1"/>
                </a:solidFill>
              </a:rPr>
              <a:t>zacht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gewoon</a:t>
            </a:r>
            <a:r>
              <a:rPr lang="en-US" sz="1800" dirty="0">
                <a:solidFill>
                  <a:schemeClr val="tx1"/>
                </a:solidFill>
              </a:rPr>
              <a:t> = normal · </a:t>
            </a:r>
            <a:r>
              <a:rPr lang="en-US" sz="1800" i="1" dirty="0">
                <a:solidFill>
                  <a:schemeClr val="tx1"/>
                </a:solidFill>
              </a:rPr>
              <a:t>ordinair</a:t>
            </a:r>
            <a:r>
              <a:rPr lang="en-US" sz="1800" dirty="0">
                <a:solidFill>
                  <a:schemeClr val="tx1"/>
                </a:solidFill>
              </a:rPr>
              <a:t> = vulgaire.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magazijn = l’entrepôt.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6 : L’entretien d’embauche — vocabulaire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Nouveau vocabulaire du </a:t>
            </a:r>
            <a:r>
              <a:rPr lang="en-US" sz="1600" b="1" i="1" dirty="0">
                <a:solidFill>
                  <a:schemeClr val="accent5"/>
                </a:solidFill>
              </a:rPr>
              <a:t>Jalon 1</a:t>
            </a:r>
            <a:r>
              <a:rPr lang="en-US" sz="1600" i="1" dirty="0">
                <a:solidFill>
                  <a:schemeClr val="accent5"/>
                </a:solidFill>
              </a:rPr>
              <a:t> (questions) et du </a:t>
            </a:r>
            <a:r>
              <a:rPr lang="en-US" sz="1600" b="1" i="1" dirty="0">
                <a:solidFill>
                  <a:schemeClr val="accent5"/>
                </a:solidFill>
              </a:rPr>
              <a:t>Jalon 2</a:t>
            </a:r>
            <a:r>
              <a:rPr lang="en-US" sz="1600" i="1" dirty="0">
                <a:solidFill>
                  <a:schemeClr val="accent5"/>
                </a:solidFill>
              </a:rPr>
              <a:t> (réponses). Noms avec leur article.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2651760"/>
                <a:gridCol w="3136392"/>
              </a:tblGrid>
              <a:tr h="4718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JALON 1 · NL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JALON 2 · NL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kunnen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pouvoir, savoir (faire)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meteen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tout de suite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willen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vouloir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taak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· taken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 tâche · les tâches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moeten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devoir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computer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l’ordinateur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leren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apprendre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bestuur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 direction, l’administration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beginnen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commencer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aangezien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étant donné que, comme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goed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bien, bon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organiseren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organiser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graag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volontiers (aimer + verbe)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communiceren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communiquer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nog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encore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bijleren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apprendre (en plus)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vanaf · maandag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à partir de · lundi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kennen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connaître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Pour le </a:t>
            </a:r>
            <a:r>
              <a:rPr lang="en-US" sz="1500" b="1" i="1" dirty="0">
                <a:solidFill>
                  <a:schemeClr val="accent5"/>
                </a:solidFill>
              </a:rPr>
              <a:t>travail administratif</a:t>
            </a:r>
            <a:r>
              <a:rPr lang="en-US" sz="1500" i="1" dirty="0">
                <a:solidFill>
                  <a:schemeClr val="accent5"/>
                </a:solidFill>
              </a:rPr>
              <a:t> : </a:t>
            </a:r>
            <a:r>
              <a:rPr lang="en-US" sz="1500" b="1" i="1" dirty="0">
                <a:solidFill>
                  <a:schemeClr val="accent2"/>
                </a:solidFill>
              </a:rPr>
              <a:t>de</a:t>
            </a:r>
            <a:r>
              <a:rPr lang="en-US" sz="1500" i="1" dirty="0">
                <a:solidFill>
                  <a:schemeClr val="accent5"/>
                </a:solidFill>
              </a:rPr>
              <a:t> administratie. </a:t>
            </a:r>
            <a:r>
              <a:rPr lang="en-US" sz="1500" b="1" i="1" dirty="0">
                <a:solidFill>
                  <a:schemeClr val="accent4"/>
                </a:solidFill>
              </a:rPr>
              <a:t>het</a:t>
            </a:r>
            <a:r>
              <a:rPr lang="en-US" sz="1500" i="1" dirty="0">
                <a:solidFill>
                  <a:schemeClr val="accent5"/>
                </a:solidFill>
              </a:rPr>
              <a:t> bestuur = la </a:t>
            </a:r>
            <a:r>
              <a:rPr lang="en-US" sz="1500" b="1" i="1" dirty="0">
                <a:solidFill>
                  <a:schemeClr val="accent5"/>
                </a:solidFill>
              </a:rPr>
              <a:t>direction</a:t>
            </a:r>
            <a:r>
              <a:rPr lang="en-US" sz="1500" i="1" dirty="0">
                <a:solidFill>
                  <a:schemeClr val="accent5"/>
                </a:solidFill>
              </a:rPr>
              <a:t> ou l’administration </a:t>
            </a:r>
            <a:r>
              <a:rPr lang="en-US" sz="1500" b="1" i="1" dirty="0">
                <a:solidFill>
                  <a:schemeClr val="accent5"/>
                </a:solidFill>
              </a:rPr>
              <a:t>publique</a:t>
            </a:r>
            <a:r>
              <a:rPr lang="en-US" sz="1500" i="1" dirty="0">
                <a:solidFill>
                  <a:schemeClr val="accent5"/>
                </a:solidFill>
              </a:rPr>
              <a:t> (</a:t>
            </a:r>
            <a:r>
              <a:rPr lang="en-US" sz="1500" i="1" dirty="0">
                <a:solidFill>
                  <a:schemeClr val="accent5"/>
                </a:solidFill>
              </a:rPr>
              <a:t>het openbaar bestuur</a:t>
            </a:r>
            <a:r>
              <a:rPr lang="en-US" sz="1500" i="1" dirty="0">
                <a:solidFill>
                  <a:schemeClr val="accent5"/>
                </a:solidFill>
              </a:rPr>
              <a:t>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Kunnen · willen · moeten : la conjugaison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 · fiche 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Les trois verbes clés de l’entretien. </a:t>
            </a:r>
            <a:r>
              <a:rPr lang="en-US" sz="1600" b="1" i="1" dirty="0">
                <a:solidFill>
                  <a:schemeClr val="accent5"/>
                </a:solidFill>
              </a:rPr>
              <a:t>Irréguliers</a:t>
            </a:r>
            <a:r>
              <a:rPr lang="en-US" sz="1600" i="1" dirty="0">
                <a:solidFill>
                  <a:schemeClr val="accent5"/>
                </a:solidFill>
              </a:rPr>
              <a:t> au singulier : à apprendre par cœur.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743200"/>
                <a:gridCol w="286207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PERSONNE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KUNNEN · pouvoir, savoir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WILLEN · vouloir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MOETEN · devoir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ik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kan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wil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moet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jij · je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kunt · kan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wilt · wil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moet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kunt · kan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wilt · wil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moet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hij · zij · het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kan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wil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moet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wij · jullie · zij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kunnen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willen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moeten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inversion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kun je? · kunt u?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wil je? · wilt u?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moet je? · moet u?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Pas de </a:t>
            </a:r>
            <a:r>
              <a:rPr lang="en-US" sz="1500" b="1" i="1" dirty="0">
                <a:solidFill>
                  <a:schemeClr val="accent5"/>
                </a:solidFill>
              </a:rPr>
              <a:t>-t</a:t>
            </a:r>
            <a:r>
              <a:rPr lang="en-US" sz="1500" i="1" dirty="0">
                <a:solidFill>
                  <a:schemeClr val="accent5"/>
                </a:solidFill>
              </a:rPr>
              <a:t> à </a:t>
            </a:r>
            <a:r>
              <a:rPr lang="en-US" sz="1500" i="1" dirty="0">
                <a:solidFill>
                  <a:schemeClr val="accent5"/>
                </a:solidFill>
              </a:rPr>
              <a:t>ik kan, hij kan, ik wil, hij wil</a:t>
            </a:r>
            <a:r>
              <a:rPr lang="en-US" sz="1500" i="1" dirty="0">
                <a:solidFill>
                  <a:schemeClr val="accent5"/>
                </a:solidFill>
              </a:rPr>
              <a:t> ! · </a:t>
            </a:r>
            <a:r>
              <a:rPr lang="en-US" sz="1500" i="1" dirty="0">
                <a:solidFill>
                  <a:schemeClr val="accent5"/>
                </a:solidFill>
              </a:rPr>
              <a:t>kun je?</a:t>
            </a:r>
            <a:r>
              <a:rPr lang="en-US" sz="1500" i="1" dirty="0">
                <a:solidFill>
                  <a:schemeClr val="accent5"/>
                </a:solidFill>
              </a:rPr>
              <a:t> : le -t tombe devant </a:t>
            </a:r>
            <a:r>
              <a:rPr lang="en-US" sz="1500" b="1" i="1" dirty="0">
                <a:solidFill>
                  <a:schemeClr val="accent5"/>
                </a:solidFill>
              </a:rPr>
              <a:t>je</a:t>
            </a:r>
            <a:r>
              <a:rPr lang="en-US" sz="1500" i="1" dirty="0">
                <a:solidFill>
                  <a:schemeClr val="accent5"/>
                </a:solidFill>
              </a:rPr>
              <a:t> (mais </a:t>
            </a:r>
            <a:r>
              <a:rPr lang="en-US" sz="1500" i="1" dirty="0">
                <a:solidFill>
                  <a:schemeClr val="accent5"/>
                </a:solidFill>
              </a:rPr>
              <a:t>kunt u?</a:t>
            </a:r>
            <a:r>
              <a:rPr lang="en-US" sz="1500" i="1" dirty="0">
                <a:solidFill>
                  <a:schemeClr val="accent5"/>
                </a:solidFill>
              </a:rPr>
              <a:t>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Modal en 2e position, infinitif à la fin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 · fiche 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Comme </a:t>
            </a:r>
            <a:r>
              <a:rPr lang="en-US" sz="1800" i="1" dirty="0">
                <a:solidFill>
                  <a:schemeClr val="tx1"/>
                </a:solidFill>
              </a:rPr>
              <a:t>gaan</a:t>
            </a:r>
            <a:r>
              <a:rPr lang="en-US" sz="1800" dirty="0">
                <a:solidFill>
                  <a:schemeClr val="tx1"/>
                </a:solidFill>
              </a:rPr>
              <a:t> (séance 12) : le </a:t>
            </a:r>
            <a:r>
              <a:rPr lang="en-US" sz="1800" b="1" dirty="0">
                <a:solidFill>
                  <a:schemeClr val="tx1"/>
                </a:solidFill>
              </a:rPr>
              <a:t>modal</a:t>
            </a:r>
            <a:r>
              <a:rPr lang="en-US" sz="1800" dirty="0">
                <a:solidFill>
                  <a:schemeClr val="tx1"/>
                </a:solidFill>
              </a:rPr>
              <a:t> conjugué en </a:t>
            </a:r>
            <a:r>
              <a:rPr lang="en-US" sz="1800" b="1" dirty="0">
                <a:solidFill>
                  <a:schemeClr val="tx1"/>
                </a:solidFill>
              </a:rPr>
              <a:t>2e position</a:t>
            </a:r>
            <a:r>
              <a:rPr lang="en-US" sz="1800" dirty="0">
                <a:solidFill>
                  <a:schemeClr val="tx1"/>
                </a:solidFill>
              </a:rPr>
              <a:t>, l’</a:t>
            </a:r>
            <a:r>
              <a:rPr lang="en-US" sz="1800" b="1" dirty="0">
                <a:solidFill>
                  <a:schemeClr val="tx1"/>
                </a:solidFill>
              </a:rPr>
              <a:t>infinitif</a:t>
            </a:r>
            <a:r>
              <a:rPr lang="en-US" sz="1800" dirty="0">
                <a:solidFill>
                  <a:schemeClr val="tx1"/>
                </a:solidFill>
              </a:rPr>
              <a:t> tout à la </a:t>
            </a:r>
            <a:r>
              <a:rPr lang="en-US" sz="1800" b="1" dirty="0">
                <a:solidFill>
                  <a:schemeClr val="tx1"/>
                </a:solidFill>
              </a:rPr>
              <a:t>fin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kunnen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898648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2 · modal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98648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35224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kan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694176" y="1947672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adverbe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94176" y="2185416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30752" y="2185416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goed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555744" y="1947672"/>
            <a:ext cx="191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complément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55744" y="2185416"/>
            <a:ext cx="1914144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92320" y="2185416"/>
            <a:ext cx="1840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met de computer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579616" y="1947672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fin · infinitif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579616" y="2185416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16192" y="2185416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werken.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2103120" y="254203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sais bien travailler avec l’ordinateur.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03961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willen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2103120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103120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139696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2898648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898648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935224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wil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3694176" y="2801874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adverbe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694176" y="3039618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730752" y="3039618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graag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4661408" y="2801874"/>
            <a:ext cx="138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661408" y="3039618"/>
            <a:ext cx="1385824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697984" y="3039618"/>
            <a:ext cx="131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Nederlands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6156960" y="2801874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infinitif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156960" y="3039618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193536" y="3039618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leren.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2103120" y="339623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J’aimerais apprendre le néerlandais.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38938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moeten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2103120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mot W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103120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139696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Wat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2898648" y="3656076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898648" y="3893820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2935224" y="3893820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moet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3760216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3760216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3796792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4555744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encore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4555744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592320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nog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351272" y="3656076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infinitif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5351272" y="3893820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5387848" y="3893820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leren?</a:t>
            </a:r>
            <a:endParaRPr lang="en-US" sz="1600" dirty="0"/>
          </a:p>
        </p:txBody>
      </p:sp>
      <p:sp>
        <p:nvSpPr>
          <p:cNvPr id="57" name="Text 54"/>
          <p:cNvSpPr txBox="1"/>
          <p:nvPr/>
        </p:nvSpPr>
        <p:spPr>
          <a:xfrm>
            <a:off x="2103120" y="425043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Que devez-vous encore apprendre ?</a:t>
            </a:r>
            <a:endParaRPr lang="en-US" sz="1400" dirty="0"/>
          </a:p>
        </p:txBody>
      </p:sp>
      <p:sp>
        <p:nvSpPr>
          <p:cNvPr id="58" name="Text 55"/>
          <p:cNvSpPr txBox="1"/>
          <p:nvPr/>
        </p:nvSpPr>
        <p:spPr>
          <a:xfrm>
            <a:off x="548640" y="474802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négation</a:t>
            </a:r>
            <a:endParaRPr lang="en-US" sz="1400" dirty="0"/>
          </a:p>
        </p:txBody>
      </p:sp>
      <p:sp>
        <p:nvSpPr>
          <p:cNvPr id="59" name="Text 56"/>
          <p:cNvSpPr txBox="1"/>
          <p:nvPr/>
        </p:nvSpPr>
        <p:spPr>
          <a:xfrm>
            <a:off x="2103120" y="4510278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2103120" y="4748022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139696" y="4748022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Kunt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2964688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2964688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3001264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</a:t>
            </a:r>
            <a:endParaRPr lang="en-US" sz="1600" dirty="0"/>
          </a:p>
        </p:txBody>
      </p:sp>
      <p:sp>
        <p:nvSpPr>
          <p:cNvPr id="65" name="Text 62"/>
          <p:cNvSpPr txBox="1"/>
          <p:nvPr/>
        </p:nvSpPr>
        <p:spPr>
          <a:xfrm>
            <a:off x="3760216" y="4510278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3760216" y="4748022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3796792" y="4748022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maandag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4938776" y="4510278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négation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938776" y="4748022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4975352" y="4748022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niet</a:t>
            </a:r>
            <a:endParaRPr lang="en-US" sz="1600" dirty="0"/>
          </a:p>
        </p:txBody>
      </p:sp>
      <p:sp>
        <p:nvSpPr>
          <p:cNvPr id="71" name="Text 68"/>
          <p:cNvSpPr txBox="1"/>
          <p:nvPr/>
        </p:nvSpPr>
        <p:spPr>
          <a:xfrm>
            <a:off x="5800344" y="451027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infinitif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5800344" y="4748022"/>
            <a:ext cx="1280160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5836920" y="4748022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beginnen?</a:t>
            </a:r>
            <a:endParaRPr lang="en-US" sz="1600" dirty="0"/>
          </a:p>
        </p:txBody>
      </p:sp>
      <p:sp>
        <p:nvSpPr>
          <p:cNvPr id="74" name="Text 71"/>
          <p:cNvSpPr txBox="1"/>
          <p:nvPr/>
        </p:nvSpPr>
        <p:spPr>
          <a:xfrm>
            <a:off x="2103120" y="510463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Ne pouvez-vous pas commencer lundi ?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7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77" name="Text 73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Je </a:t>
            </a:r>
            <a:r>
              <a:rPr lang="en-US" sz="1700" b="1" i="1" dirty="0">
                <a:solidFill>
                  <a:schemeClr val="tx1"/>
                </a:solidFill>
              </a:rPr>
              <a:t>sais</a:t>
            </a:r>
            <a:r>
              <a:rPr lang="en-US" sz="1700" i="1" dirty="0">
                <a:solidFill>
                  <a:schemeClr val="tx1"/>
                </a:solidFill>
              </a:rPr>
              <a:t> bien travailler, je </a:t>
            </a:r>
            <a:r>
              <a:rPr lang="en-US" sz="1700" b="1" i="1" dirty="0">
                <a:solidFill>
                  <a:schemeClr val="tx1"/>
                </a:solidFill>
              </a:rPr>
              <a:t>sais</a:t>
            </a:r>
            <a:r>
              <a:rPr lang="en-US" sz="1700" i="1" dirty="0">
                <a:solidFill>
                  <a:schemeClr val="tx1"/>
                </a:solidFill>
              </a:rPr>
              <a:t> nager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b="1" dirty="0">
                <a:solidFill>
                  <a:schemeClr val="tx1"/>
                </a:solidFill>
              </a:rPr>
              <a:t>kunnen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Ik </a:t>
            </a:r>
            <a:r>
              <a:rPr lang="en-US" sz="1700" b="1" i="1" dirty="0">
                <a:solidFill>
                  <a:schemeClr val="tx1"/>
                </a:solidFill>
              </a:rPr>
              <a:t>kan</a:t>
            </a:r>
            <a:r>
              <a:rPr lang="en-US" sz="1700" i="1" dirty="0">
                <a:solidFill>
                  <a:schemeClr val="tx1"/>
                </a:solidFill>
              </a:rPr>
              <a:t> zwemmen.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b="1" dirty="0">
                <a:solidFill>
                  <a:schemeClr val="tx1"/>
                </a:solidFill>
              </a:rPr>
              <a:t>weten</a:t>
            </a:r>
            <a:r>
              <a:rPr lang="en-US" sz="1700" dirty="0">
                <a:solidFill>
                  <a:schemeClr val="tx1"/>
                </a:solidFill>
              </a:rPr>
              <a:t> = savoir </a:t>
            </a:r>
            <a:r>
              <a:rPr lang="en-US" sz="1700" b="1" dirty="0">
                <a:solidFill>
                  <a:schemeClr val="tx1"/>
                </a:solidFill>
              </a:rPr>
              <a:t>une information</a:t>
            </a:r>
            <a:r>
              <a:rPr lang="en-US" sz="1700" dirty="0">
                <a:solidFill>
                  <a:schemeClr val="tx1"/>
                </a:solidFill>
              </a:rPr>
              <a:t> (</a:t>
            </a:r>
            <a:r>
              <a:rPr lang="en-US" sz="1700" i="1" dirty="0">
                <a:solidFill>
                  <a:schemeClr val="tx1"/>
                </a:solidFill>
              </a:rPr>
              <a:t>Ik weet het niet</a:t>
            </a:r>
            <a:r>
              <a:rPr lang="en-US" sz="1700" dirty="0">
                <a:solidFill>
                  <a:schemeClr val="tx1"/>
                </a:solidFill>
              </a:rPr>
              <a:t>) · </a:t>
            </a:r>
            <a:r>
              <a:rPr lang="en-US" sz="1700" b="1" dirty="0">
                <a:solidFill>
                  <a:schemeClr val="tx1"/>
                </a:solidFill>
              </a:rPr>
              <a:t>kennen</a:t>
            </a:r>
            <a:r>
              <a:rPr lang="en-US" sz="1700" dirty="0">
                <a:solidFill>
                  <a:schemeClr val="tx1"/>
                </a:solidFill>
              </a:rPr>
              <a:t> = connaître (</a:t>
            </a:r>
            <a:r>
              <a:rPr lang="en-US" sz="1700" i="1" dirty="0">
                <a:solidFill>
                  <a:schemeClr val="tx1"/>
                </a:solidFill>
              </a:rPr>
              <a:t>Ik ken de taken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Kunnen, willen of moeten ? À l’entretien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Ajoutez le </a:t>
            </a:r>
            <a:r>
              <a:rPr lang="en-US" sz="1600" b="1" i="1" dirty="0">
                <a:solidFill>
                  <a:schemeClr val="accent5"/>
                </a:solidFill>
              </a:rPr>
              <a:t>modal</a:t>
            </a:r>
            <a:r>
              <a:rPr lang="en-US" sz="1600" i="1" dirty="0">
                <a:solidFill>
                  <a:schemeClr val="accent5"/>
                </a:solidFill>
              </a:rPr>
              <a:t> indiqué et réécrivez la phrase. L’</a:t>
            </a:r>
            <a:r>
              <a:rPr lang="en-US" sz="1600" b="1" i="1" dirty="0">
                <a:solidFill>
                  <a:schemeClr val="accent5"/>
                </a:solidFill>
              </a:rPr>
              <a:t>infinitif</a:t>
            </a:r>
            <a:r>
              <a:rPr lang="en-US" sz="1600" i="1" dirty="0">
                <a:solidFill>
                  <a:schemeClr val="accent5"/>
                </a:solidFill>
              </a:rPr>
              <a:t> va à la fin !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1.  </a:t>
            </a:r>
            <a:r>
              <a:rPr lang="en-US" sz="1900" dirty="0">
                <a:solidFill>
                  <a:schemeClr val="tx1"/>
                </a:solidFill>
              </a:rPr>
              <a:t>Ik werk goed met Excel. </a:t>
            </a:r>
            <a:r>
              <a:rPr lang="en-US" sz="1900" i="1" dirty="0">
                <a:solidFill>
                  <a:schemeClr val="tx1"/>
                </a:solidFill>
              </a:rPr>
              <a:t>(kunnen)</a:t>
            </a:r>
            <a:r>
              <a:rPr lang="en-US" sz="1900" dirty="0">
                <a:solidFill>
                  <a:schemeClr val="tx1"/>
                </a:solidFill>
              </a:rPr>
              <a:t> → </a:t>
            </a:r>
            <a:r>
              <a:rPr lang="en-US" sz="1900" dirty="0">
                <a:solidFill>
                  <a:schemeClr val="accent5"/>
                </a:solidFill>
              </a:rPr>
              <a:t>……………………………………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2.  </a:t>
            </a:r>
            <a:r>
              <a:rPr lang="en-US" sz="1900" dirty="0">
                <a:solidFill>
                  <a:schemeClr val="tx1"/>
                </a:solidFill>
              </a:rPr>
              <a:t>Begint u maandag? </a:t>
            </a:r>
            <a:r>
              <a:rPr lang="en-US" sz="1900" i="1" dirty="0">
                <a:solidFill>
                  <a:schemeClr val="tx1"/>
                </a:solidFill>
              </a:rPr>
              <a:t>(kunnen)</a:t>
            </a:r>
            <a:r>
              <a:rPr lang="en-US" sz="1900" dirty="0">
                <a:solidFill>
                  <a:schemeClr val="tx1"/>
                </a:solidFill>
              </a:rPr>
              <a:t> → </a:t>
            </a:r>
            <a:r>
              <a:rPr lang="en-US" sz="1900" dirty="0">
                <a:solidFill>
                  <a:schemeClr val="accent5"/>
                </a:solidFill>
              </a:rPr>
              <a:t>…………………………………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3.  </a:t>
            </a:r>
            <a:r>
              <a:rPr lang="en-US" sz="1900" dirty="0">
                <a:solidFill>
                  <a:schemeClr val="tx1"/>
                </a:solidFill>
              </a:rPr>
              <a:t>Pieter leert nog veel. </a:t>
            </a:r>
            <a:r>
              <a:rPr lang="en-US" sz="1900" i="1" dirty="0">
                <a:solidFill>
                  <a:schemeClr val="tx1"/>
                </a:solidFill>
              </a:rPr>
              <a:t>(moeten)</a:t>
            </a:r>
            <a:r>
              <a:rPr lang="en-US" sz="1900" dirty="0">
                <a:solidFill>
                  <a:schemeClr val="tx1"/>
                </a:solidFill>
              </a:rPr>
              <a:t> → </a:t>
            </a:r>
            <a:r>
              <a:rPr lang="en-US" sz="1900" dirty="0">
                <a:solidFill>
                  <a:schemeClr val="accent5"/>
                </a:solidFill>
              </a:rPr>
              <a:t>……………………………………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4.  </a:t>
            </a:r>
            <a:r>
              <a:rPr lang="en-US" sz="1900" dirty="0">
                <a:solidFill>
                  <a:schemeClr val="tx1"/>
                </a:solidFill>
              </a:rPr>
              <a:t>Wij werken in een team. </a:t>
            </a:r>
            <a:r>
              <a:rPr lang="en-US" sz="1900" i="1" dirty="0">
                <a:solidFill>
                  <a:schemeClr val="tx1"/>
                </a:solidFill>
              </a:rPr>
              <a:t>(willen)</a:t>
            </a:r>
            <a:r>
              <a:rPr lang="en-US" sz="1900" dirty="0">
                <a:solidFill>
                  <a:schemeClr val="tx1"/>
                </a:solidFill>
              </a:rPr>
              <a:t> → </a:t>
            </a:r>
            <a:r>
              <a:rPr lang="en-US" sz="1900" dirty="0">
                <a:solidFill>
                  <a:schemeClr val="accent5"/>
                </a:solidFill>
              </a:rPr>
              <a:t>……………………………………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5.  </a:t>
            </a:r>
            <a:r>
              <a:rPr lang="en-US" sz="1900" dirty="0">
                <a:solidFill>
                  <a:schemeClr val="tx1"/>
                </a:solidFill>
              </a:rPr>
              <a:t>Spreek je op het werk Nederlands? </a:t>
            </a:r>
            <a:r>
              <a:rPr lang="en-US" sz="1900" i="1" dirty="0">
                <a:solidFill>
                  <a:schemeClr val="tx1"/>
                </a:solidFill>
              </a:rPr>
              <a:t>(moeten)</a:t>
            </a:r>
            <a:r>
              <a:rPr lang="en-US" sz="1900" dirty="0">
                <a:solidFill>
                  <a:schemeClr val="tx1"/>
                </a:solidFill>
              </a:rPr>
              <a:t> → </a:t>
            </a:r>
            <a:r>
              <a:rPr lang="en-US" sz="1900" dirty="0">
                <a:solidFill>
                  <a:schemeClr val="accent5"/>
                </a:solidFill>
              </a:rPr>
              <a:t>……………………………………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6.  </a:t>
            </a:r>
            <a:r>
              <a:rPr lang="en-US" sz="1900" dirty="0">
                <a:solidFill>
                  <a:schemeClr val="tx1"/>
                </a:solidFill>
              </a:rPr>
              <a:t>Ik begin vandaag niet. </a:t>
            </a:r>
            <a:r>
              <a:rPr lang="en-US" sz="1900" i="1" dirty="0">
                <a:solidFill>
                  <a:schemeClr val="tx1"/>
                </a:solidFill>
              </a:rPr>
              <a:t>(kunnen)</a:t>
            </a:r>
            <a:r>
              <a:rPr lang="en-US" sz="1900" dirty="0">
                <a:solidFill>
                  <a:schemeClr val="tx1"/>
                </a:solidFill>
              </a:rPr>
              <a:t> → </a:t>
            </a:r>
            <a:r>
              <a:rPr lang="en-US" sz="1900" dirty="0">
                <a:solidFill>
                  <a:schemeClr val="accent5"/>
                </a:solidFill>
              </a:rPr>
              <a:t>……………………………………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Kunnen, willen of moeten ? À l’entretien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Ajoutez le </a:t>
            </a:r>
            <a:r>
              <a:rPr lang="en-US" sz="1600" b="1" i="1" dirty="0">
                <a:solidFill>
                  <a:schemeClr val="accent5"/>
                </a:solidFill>
              </a:rPr>
              <a:t>modal</a:t>
            </a:r>
            <a:r>
              <a:rPr lang="en-US" sz="1600" i="1" dirty="0">
                <a:solidFill>
                  <a:schemeClr val="accent5"/>
                </a:solidFill>
              </a:rPr>
              <a:t> indiqué et réécrivez la phrase. L’</a:t>
            </a:r>
            <a:r>
              <a:rPr lang="en-US" sz="1600" b="1" i="1" dirty="0">
                <a:solidFill>
                  <a:schemeClr val="accent5"/>
                </a:solidFill>
              </a:rPr>
              <a:t>infinitif</a:t>
            </a:r>
            <a:r>
              <a:rPr lang="en-US" sz="1600" i="1" dirty="0">
                <a:solidFill>
                  <a:schemeClr val="accent5"/>
                </a:solidFill>
              </a:rPr>
              <a:t> va à la fin !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1.  </a:t>
            </a:r>
            <a:r>
              <a:rPr lang="en-US" sz="1900" dirty="0">
                <a:solidFill>
                  <a:schemeClr val="tx1"/>
                </a:solidFill>
              </a:rPr>
              <a:t>Ik werk goed met Excel. </a:t>
            </a:r>
            <a:r>
              <a:rPr lang="en-US" sz="1900" i="1" dirty="0">
                <a:solidFill>
                  <a:schemeClr val="tx1"/>
                </a:solidFill>
              </a:rPr>
              <a:t>(kunnen)</a:t>
            </a:r>
            <a:r>
              <a:rPr lang="en-US" sz="1900" dirty="0">
                <a:solidFill>
                  <a:schemeClr val="tx1"/>
                </a:solidFill>
              </a:rPr>
              <a:t> → </a:t>
            </a:r>
            <a:r>
              <a:rPr lang="en-US" sz="1900" b="1" dirty="0">
                <a:solidFill>
                  <a:schemeClr val="accent3"/>
                </a:solidFill>
              </a:rPr>
              <a:t>Ik kan goed met Excel werken.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2.  </a:t>
            </a:r>
            <a:r>
              <a:rPr lang="en-US" sz="1900" dirty="0">
                <a:solidFill>
                  <a:schemeClr val="tx1"/>
                </a:solidFill>
              </a:rPr>
              <a:t>Begint u maandag? </a:t>
            </a:r>
            <a:r>
              <a:rPr lang="en-US" sz="1900" i="1" dirty="0">
                <a:solidFill>
                  <a:schemeClr val="tx1"/>
                </a:solidFill>
              </a:rPr>
              <a:t>(kunnen)</a:t>
            </a:r>
            <a:r>
              <a:rPr lang="en-US" sz="1900" dirty="0">
                <a:solidFill>
                  <a:schemeClr val="tx1"/>
                </a:solidFill>
              </a:rPr>
              <a:t> → </a:t>
            </a:r>
            <a:r>
              <a:rPr lang="en-US" sz="1900" b="1" dirty="0">
                <a:solidFill>
                  <a:schemeClr val="accent3"/>
                </a:solidFill>
              </a:rPr>
              <a:t>Kunt u maandag beginnen?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3.  </a:t>
            </a:r>
            <a:r>
              <a:rPr lang="en-US" sz="1900" dirty="0">
                <a:solidFill>
                  <a:schemeClr val="tx1"/>
                </a:solidFill>
              </a:rPr>
              <a:t>Pieter leert nog veel. </a:t>
            </a:r>
            <a:r>
              <a:rPr lang="en-US" sz="1900" i="1" dirty="0">
                <a:solidFill>
                  <a:schemeClr val="tx1"/>
                </a:solidFill>
              </a:rPr>
              <a:t>(moeten)</a:t>
            </a:r>
            <a:r>
              <a:rPr lang="en-US" sz="1900" dirty="0">
                <a:solidFill>
                  <a:schemeClr val="tx1"/>
                </a:solidFill>
              </a:rPr>
              <a:t> → </a:t>
            </a:r>
            <a:r>
              <a:rPr lang="en-US" sz="1900" b="1" dirty="0">
                <a:solidFill>
                  <a:schemeClr val="accent3"/>
                </a:solidFill>
              </a:rPr>
              <a:t>Pieter moet nog veel leren.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4.  </a:t>
            </a:r>
            <a:r>
              <a:rPr lang="en-US" sz="1900" dirty="0">
                <a:solidFill>
                  <a:schemeClr val="tx1"/>
                </a:solidFill>
              </a:rPr>
              <a:t>Wij werken in een team. </a:t>
            </a:r>
            <a:r>
              <a:rPr lang="en-US" sz="1900" i="1" dirty="0">
                <a:solidFill>
                  <a:schemeClr val="tx1"/>
                </a:solidFill>
              </a:rPr>
              <a:t>(willen)</a:t>
            </a:r>
            <a:r>
              <a:rPr lang="en-US" sz="1900" dirty="0">
                <a:solidFill>
                  <a:schemeClr val="tx1"/>
                </a:solidFill>
              </a:rPr>
              <a:t> → </a:t>
            </a:r>
            <a:r>
              <a:rPr lang="en-US" sz="1900" b="1" dirty="0">
                <a:solidFill>
                  <a:schemeClr val="accent3"/>
                </a:solidFill>
              </a:rPr>
              <a:t>Wij willen in een team werken.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5.  </a:t>
            </a:r>
            <a:r>
              <a:rPr lang="en-US" sz="1900" dirty="0">
                <a:solidFill>
                  <a:schemeClr val="tx1"/>
                </a:solidFill>
              </a:rPr>
              <a:t>Spreek je op het werk Nederlands? </a:t>
            </a:r>
            <a:r>
              <a:rPr lang="en-US" sz="1900" i="1" dirty="0">
                <a:solidFill>
                  <a:schemeClr val="tx1"/>
                </a:solidFill>
              </a:rPr>
              <a:t>(moeten)</a:t>
            </a:r>
            <a:r>
              <a:rPr lang="en-US" sz="1900" dirty="0">
                <a:solidFill>
                  <a:schemeClr val="tx1"/>
                </a:solidFill>
              </a:rPr>
              <a:t> → </a:t>
            </a:r>
            <a:r>
              <a:rPr lang="en-US" sz="1900" b="1" dirty="0">
                <a:solidFill>
                  <a:schemeClr val="accent3"/>
                </a:solidFill>
              </a:rPr>
              <a:t>Moet je op het werk Nederlands spreken?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6.  </a:t>
            </a:r>
            <a:r>
              <a:rPr lang="en-US" sz="1900" dirty="0">
                <a:solidFill>
                  <a:schemeClr val="tx1"/>
                </a:solidFill>
              </a:rPr>
              <a:t>Ik begin vandaag niet. </a:t>
            </a:r>
            <a:r>
              <a:rPr lang="en-US" sz="1900" i="1" dirty="0">
                <a:solidFill>
                  <a:schemeClr val="tx1"/>
                </a:solidFill>
              </a:rPr>
              <a:t>(kunnen)</a:t>
            </a:r>
            <a:r>
              <a:rPr lang="en-US" sz="1900" dirty="0">
                <a:solidFill>
                  <a:schemeClr val="tx1"/>
                </a:solidFill>
              </a:rPr>
              <a:t> → </a:t>
            </a:r>
            <a:r>
              <a:rPr lang="en-US" sz="1900" b="1" dirty="0">
                <a:solidFill>
                  <a:schemeClr val="accent3"/>
                </a:solidFill>
              </a:rPr>
              <a:t>Ik kan vandaag niet beginnen.</a:t>
            </a:r>
            <a:endParaRPr lang="en-US" sz="19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Un seul</a:t>
            </a:r>
            <a:r>
              <a:rPr lang="en-US" sz="1800" dirty="0">
                <a:solidFill>
                  <a:schemeClr val="tx1"/>
                </a:solidFill>
              </a:rPr>
              <a:t> verbe conjugué : le modal.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Infinitif </a:t>
            </a:r>
            <a:r>
              <a:rPr lang="en-US" sz="1800" b="1" dirty="0">
                <a:solidFill>
                  <a:schemeClr val="tx1"/>
                </a:solidFill>
              </a:rPr>
              <a:t>tout à la fin</a:t>
            </a:r>
            <a:r>
              <a:rPr lang="en-US" sz="1800" dirty="0">
                <a:solidFill>
                  <a:schemeClr val="tx1"/>
                </a:solidFill>
              </a:rPr>
              <a:t>, après </a:t>
            </a:r>
            <a:r>
              <a:rPr lang="en-US" sz="1800" i="1" dirty="0">
                <a:solidFill>
                  <a:schemeClr val="tx1"/>
                </a:solidFill>
              </a:rPr>
              <a:t>niet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kunt u?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i="1" dirty="0">
                <a:solidFill>
                  <a:schemeClr val="tx1"/>
                </a:solidFill>
              </a:rPr>
              <a:t>moet je?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6 · Jalon 1 (A1) : les questions d’entretien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I</a:t>
            </a:r>
            <a:r>
              <a:rPr lang="en-US" sz="1600" i="1" dirty="0">
                <a:solidFill>
                  <a:schemeClr val="accent5"/>
                </a:solidFill>
              </a:rPr>
              <a:t> interrogative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 Le recruteur </a:t>
            </a:r>
            <a:r>
              <a:rPr lang="en-US" sz="1600" b="1" i="1" dirty="0">
                <a:solidFill>
                  <a:schemeClr val="accent5"/>
                </a:solidFill>
              </a:rPr>
              <a:t>vouvoie</a:t>
            </a:r>
            <a:r>
              <a:rPr lang="en-US" sz="1600" i="1" dirty="0">
                <a:solidFill>
                  <a:schemeClr val="accent5"/>
                </a:solidFill>
              </a:rPr>
              <a:t> : </a:t>
            </a:r>
            <a:r>
              <a:rPr lang="en-US" sz="1600" i="1" dirty="0">
                <a:solidFill>
                  <a:schemeClr val="accent5"/>
                </a:solidFill>
              </a:rPr>
              <a:t>u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572000"/>
                <a:gridCol w="514807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2362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 savez-vous bien faire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362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Qu’aimeriez-vous apprendre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362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Quand pouvez-vous commencer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362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Ne pouvez-vous pas commencer lundi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362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 devez-vous encore apprendre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Modal en </a:t>
            </a:r>
            <a:r>
              <a:rPr lang="en-US" sz="1500" b="1" i="1" dirty="0">
                <a:solidFill>
                  <a:schemeClr val="accent5"/>
                </a:solidFill>
              </a:rPr>
              <a:t>2e position</a:t>
            </a:r>
            <a:r>
              <a:rPr lang="en-US" sz="1500" i="1" dirty="0">
                <a:solidFill>
                  <a:schemeClr val="accent5"/>
                </a:solidFill>
              </a:rPr>
              <a:t> (en </a:t>
            </a:r>
            <a:r>
              <a:rPr lang="en-US" sz="1500" b="1" i="1" dirty="0">
                <a:solidFill>
                  <a:schemeClr val="accent5"/>
                </a:solidFill>
              </a:rPr>
              <a:t>tête</a:t>
            </a:r>
            <a:r>
              <a:rPr lang="en-US" sz="1500" i="1" dirty="0">
                <a:solidFill>
                  <a:schemeClr val="accent5"/>
                </a:solidFill>
              </a:rPr>
              <a:t> dans une question oui / non), </a:t>
            </a:r>
            <a:r>
              <a:rPr lang="en-US" sz="1500" b="1" i="1" dirty="0">
                <a:solidFill>
                  <a:schemeClr val="accent5"/>
                </a:solidFill>
              </a:rPr>
              <a:t>infinitif à la fin</a:t>
            </a:r>
            <a:r>
              <a:rPr lang="en-US" sz="1500" i="1" dirty="0">
                <a:solidFill>
                  <a:schemeClr val="accent5"/>
                </a:solidFill>
              </a:rPr>
              <a:t>. </a:t>
            </a:r>
            <a:r>
              <a:rPr lang="en-US" sz="1500" i="1" dirty="0">
                <a:solidFill>
                  <a:schemeClr val="accent5"/>
                </a:solidFill>
              </a:rPr>
              <a:t>kunnen</a:t>
            </a:r>
            <a:r>
              <a:rPr lang="en-US" sz="1500" i="1" dirty="0">
                <a:solidFill>
                  <a:schemeClr val="accent5"/>
                </a:solidFill>
              </a:rPr>
              <a:t> peut s’employer seul : </a:t>
            </a:r>
            <a:r>
              <a:rPr lang="en-US" sz="1500" i="1" dirty="0">
                <a:solidFill>
                  <a:schemeClr val="accent5"/>
                </a:solidFill>
              </a:rPr>
              <a:t>Wat kunt u goed?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6 · Jalon 1 (A1) : les questions d’entretien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1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I</a:t>
            </a:r>
            <a:r>
              <a:rPr lang="en-US" sz="1600" i="1" dirty="0">
                <a:solidFill>
                  <a:schemeClr val="accent5"/>
                </a:solidFill>
              </a:rPr>
              <a:t> interrogative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 Le recruteur </a:t>
            </a:r>
            <a:r>
              <a:rPr lang="en-US" sz="1600" b="1" i="1" dirty="0">
                <a:solidFill>
                  <a:schemeClr val="accent5"/>
                </a:solidFill>
              </a:rPr>
              <a:t>vouvoie</a:t>
            </a:r>
            <a:r>
              <a:rPr lang="en-US" sz="1600" i="1" dirty="0">
                <a:solidFill>
                  <a:schemeClr val="accent5"/>
                </a:solidFill>
              </a:rPr>
              <a:t> : </a:t>
            </a:r>
            <a:r>
              <a:rPr lang="en-US" sz="1600" i="1" dirty="0">
                <a:solidFill>
                  <a:schemeClr val="accent5"/>
                </a:solidFill>
              </a:rPr>
              <a:t>u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572000"/>
                <a:gridCol w="514807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2362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 savez-vous bien faire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Wat kunt u goed?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362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Qu’aimeriez-vous apprendre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Wat wilt u graag leren?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362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Quand pouvez-vous commencer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Wanneer kunt u beginnen?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362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Ne pouvez-vous pas commencer lundi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Kunt u maandag niet beginnen?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362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 devez-vous encore apprendre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Wat moet u nog leren?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Modal en </a:t>
            </a:r>
            <a:r>
              <a:rPr lang="en-US" sz="1500" b="1" i="1" dirty="0">
                <a:solidFill>
                  <a:schemeClr val="accent5"/>
                </a:solidFill>
              </a:rPr>
              <a:t>2e position</a:t>
            </a:r>
            <a:r>
              <a:rPr lang="en-US" sz="1500" i="1" dirty="0">
                <a:solidFill>
                  <a:schemeClr val="accent5"/>
                </a:solidFill>
              </a:rPr>
              <a:t> (en </a:t>
            </a:r>
            <a:r>
              <a:rPr lang="en-US" sz="1500" b="1" i="1" dirty="0">
                <a:solidFill>
                  <a:schemeClr val="accent5"/>
                </a:solidFill>
              </a:rPr>
              <a:t>tête</a:t>
            </a:r>
            <a:r>
              <a:rPr lang="en-US" sz="1500" i="1" dirty="0">
                <a:solidFill>
                  <a:schemeClr val="accent5"/>
                </a:solidFill>
              </a:rPr>
              <a:t> dans une question oui / non), </a:t>
            </a:r>
            <a:r>
              <a:rPr lang="en-US" sz="1500" b="1" i="1" dirty="0">
                <a:solidFill>
                  <a:schemeClr val="accent5"/>
                </a:solidFill>
              </a:rPr>
              <a:t>infinitif à la fin</a:t>
            </a:r>
            <a:r>
              <a:rPr lang="en-US" sz="1500" i="1" dirty="0">
                <a:solidFill>
                  <a:schemeClr val="accent5"/>
                </a:solidFill>
              </a:rPr>
              <a:t>. </a:t>
            </a:r>
            <a:r>
              <a:rPr lang="en-US" sz="1500" i="1" dirty="0">
                <a:solidFill>
                  <a:schemeClr val="accent5"/>
                </a:solidFill>
              </a:rPr>
              <a:t>kunnen</a:t>
            </a:r>
            <a:r>
              <a:rPr lang="en-US" sz="1500" i="1" dirty="0">
                <a:solidFill>
                  <a:schemeClr val="accent5"/>
                </a:solidFill>
              </a:rPr>
              <a:t> peut s’employer seul : </a:t>
            </a:r>
            <a:r>
              <a:rPr lang="en-US" sz="1500" i="1" dirty="0">
                <a:solidFill>
                  <a:schemeClr val="accent5"/>
                </a:solidFill>
              </a:rPr>
              <a:t>Wat kunt u goed?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6 · Jalon 2 (A2) : répondre à l’entretien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D</a:t>
            </a:r>
            <a:r>
              <a:rPr lang="en-US" sz="1600" i="1" dirty="0">
                <a:solidFill>
                  <a:schemeClr val="accent5"/>
                </a:solidFill>
              </a:rPr>
              <a:t> déclarative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 Attention à </a:t>
            </a:r>
            <a:r>
              <a:rPr lang="en-US" sz="1600" b="1" i="1" dirty="0">
                <a:solidFill>
                  <a:schemeClr val="accent5"/>
                </a:solidFill>
              </a:rPr>
              <a:t>kunnen</a:t>
            </a:r>
            <a:r>
              <a:rPr lang="en-US" sz="1600" i="1" dirty="0">
                <a:solidFill>
                  <a:schemeClr val="accent5"/>
                </a:solidFill>
              </a:rPr>
              <a:t> + infinitif, </a:t>
            </a:r>
            <a:r>
              <a:rPr lang="en-US" sz="1600" b="1" i="1" dirty="0">
                <a:solidFill>
                  <a:schemeClr val="accent5"/>
                </a:solidFill>
              </a:rPr>
              <a:t>graag</a:t>
            </a:r>
            <a:r>
              <a:rPr lang="en-US" sz="1600" i="1" dirty="0">
                <a:solidFill>
                  <a:schemeClr val="accent5"/>
                </a:solidFill>
              </a:rPr>
              <a:t> et </a:t>
            </a:r>
            <a:r>
              <a:rPr lang="en-US" sz="1600" b="1" i="1" dirty="0">
                <a:solidFill>
                  <a:schemeClr val="accent5"/>
                </a:solidFill>
              </a:rPr>
              <a:t>aangezien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297680"/>
                <a:gridCol w="5422392"/>
              </a:tblGrid>
              <a:tr h="5468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489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sais bien travailler avec l’ordinateur.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J’ai deux ans d’expérience dans l’administration.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J’aime organiser mon travail et communiquer avec l’équipe.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ne connais pas encore toutes les tâches, mais j’apprends vite.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Comme j’ai de l’expérience, je peux commencer tout de suite.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aimer + verbe</a:t>
            </a:r>
            <a:r>
              <a:rPr lang="en-US" sz="1500" i="1" dirty="0">
                <a:solidFill>
                  <a:schemeClr val="accent5"/>
                </a:solidFill>
              </a:rPr>
              <a:t> → verbe + </a:t>
            </a:r>
            <a:r>
              <a:rPr lang="en-US" sz="1500" b="1" i="1" dirty="0">
                <a:solidFill>
                  <a:schemeClr val="accent5"/>
                </a:solidFill>
              </a:rPr>
              <a:t>graag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connaître</a:t>
            </a:r>
            <a:r>
              <a:rPr lang="en-US" sz="1500" i="1" dirty="0">
                <a:solidFill>
                  <a:schemeClr val="accent5"/>
                </a:solidFill>
              </a:rPr>
              <a:t> → </a:t>
            </a:r>
            <a:r>
              <a:rPr lang="en-US" sz="1500" b="1" i="1" dirty="0">
                <a:solidFill>
                  <a:schemeClr val="accent5"/>
                </a:solidFill>
              </a:rPr>
              <a:t>kennen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deux </a:t>
            </a:r>
            <a:r>
              <a:rPr lang="en-US" sz="1500" b="1" i="1" dirty="0">
                <a:solidFill>
                  <a:schemeClr val="accent5"/>
                </a:solidFill>
              </a:rPr>
              <a:t>ans</a:t>
            </a:r>
            <a:r>
              <a:rPr lang="en-US" sz="1500" i="1" dirty="0">
                <a:solidFill>
                  <a:schemeClr val="accent5"/>
                </a:solidFill>
              </a:rPr>
              <a:t> → </a:t>
            </a:r>
            <a:r>
              <a:rPr lang="en-US" sz="1500" i="1" dirty="0">
                <a:solidFill>
                  <a:schemeClr val="accent5"/>
                </a:solidFill>
              </a:rPr>
              <a:t>twee </a:t>
            </a:r>
            <a:r>
              <a:rPr lang="en-US" sz="1500" b="1" i="1" dirty="0">
                <a:solidFill>
                  <a:schemeClr val="accent5"/>
                </a:solidFill>
              </a:rPr>
              <a:t>jaar</a:t>
            </a:r>
            <a:r>
              <a:rPr lang="en-US" sz="1500" i="1" dirty="0">
                <a:solidFill>
                  <a:schemeClr val="accent5"/>
                </a:solidFill>
              </a:rPr>
              <a:t> (singulier après un nombre).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6 · Jalon 2 (A2) : répondre à l’entretien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D</a:t>
            </a:r>
            <a:r>
              <a:rPr lang="en-US" sz="1600" i="1" dirty="0">
                <a:solidFill>
                  <a:schemeClr val="accent5"/>
                </a:solidFill>
              </a:rPr>
              <a:t> déclarative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 Attention à </a:t>
            </a:r>
            <a:r>
              <a:rPr lang="en-US" sz="1600" b="1" i="1" dirty="0">
                <a:solidFill>
                  <a:schemeClr val="accent5"/>
                </a:solidFill>
              </a:rPr>
              <a:t>kunnen</a:t>
            </a:r>
            <a:r>
              <a:rPr lang="en-US" sz="1600" i="1" dirty="0">
                <a:solidFill>
                  <a:schemeClr val="accent5"/>
                </a:solidFill>
              </a:rPr>
              <a:t> + infinitif, </a:t>
            </a:r>
            <a:r>
              <a:rPr lang="en-US" sz="1600" b="1" i="1" dirty="0">
                <a:solidFill>
                  <a:schemeClr val="accent5"/>
                </a:solidFill>
              </a:rPr>
              <a:t>graag</a:t>
            </a:r>
            <a:r>
              <a:rPr lang="en-US" sz="1600" i="1" dirty="0">
                <a:solidFill>
                  <a:schemeClr val="accent5"/>
                </a:solidFill>
              </a:rPr>
              <a:t> et </a:t>
            </a:r>
            <a:r>
              <a:rPr lang="en-US" sz="1600" b="1" i="1" dirty="0">
                <a:solidFill>
                  <a:schemeClr val="accent5"/>
                </a:solidFill>
              </a:rPr>
              <a:t>aangezien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297680"/>
                <a:gridCol w="5422392"/>
              </a:tblGrid>
              <a:tr h="5468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489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sais bien travailler avec l’ordinateur.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Ik kan goed met de computer werken.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J’ai deux ans d’expérience dans l’administration.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Ik heb twee jaar ervaring in de administratie.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J’aime organiser mon travail et communiquer avec l’équipe.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Ik organiseer graag mijn werk en ik communiceer graag met het team.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ne connais pas encore toutes les tâches, mais j’apprends vite.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Ik ken nog niet alle taken, maar ik leer snel.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Comme j’ai de l’expérience, je peux commencer tout de suite.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Aangezien ik ervaring heb, kan ik meteen beginnen.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aimer + verbe</a:t>
            </a:r>
            <a:r>
              <a:rPr lang="en-US" sz="1500" i="1" dirty="0">
                <a:solidFill>
                  <a:schemeClr val="accent5"/>
                </a:solidFill>
              </a:rPr>
              <a:t> → verbe + </a:t>
            </a:r>
            <a:r>
              <a:rPr lang="en-US" sz="1500" b="1" i="1" dirty="0">
                <a:solidFill>
                  <a:schemeClr val="accent5"/>
                </a:solidFill>
              </a:rPr>
              <a:t>graag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connaître</a:t>
            </a:r>
            <a:r>
              <a:rPr lang="en-US" sz="1500" i="1" dirty="0">
                <a:solidFill>
                  <a:schemeClr val="accent5"/>
                </a:solidFill>
              </a:rPr>
              <a:t> → </a:t>
            </a:r>
            <a:r>
              <a:rPr lang="en-US" sz="1500" b="1" i="1" dirty="0">
                <a:solidFill>
                  <a:schemeClr val="accent5"/>
                </a:solidFill>
              </a:rPr>
              <a:t>kennen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deux </a:t>
            </a:r>
            <a:r>
              <a:rPr lang="en-US" sz="1500" b="1" i="1" dirty="0">
                <a:solidFill>
                  <a:schemeClr val="accent5"/>
                </a:solidFill>
              </a:rPr>
              <a:t>ans</a:t>
            </a:r>
            <a:r>
              <a:rPr lang="en-US" sz="1500" i="1" dirty="0">
                <a:solidFill>
                  <a:schemeClr val="accent5"/>
                </a:solidFill>
              </a:rPr>
              <a:t> → </a:t>
            </a:r>
            <a:r>
              <a:rPr lang="en-US" sz="1500" i="1" dirty="0">
                <a:solidFill>
                  <a:schemeClr val="accent5"/>
                </a:solidFill>
              </a:rPr>
              <a:t>twee </a:t>
            </a:r>
            <a:r>
              <a:rPr lang="en-US" sz="1500" b="1" i="1" dirty="0">
                <a:solidFill>
                  <a:schemeClr val="accent5"/>
                </a:solidFill>
              </a:rPr>
              <a:t>jaar</a:t>
            </a:r>
            <a:r>
              <a:rPr lang="en-US" sz="1500" i="1" dirty="0">
                <a:solidFill>
                  <a:schemeClr val="accent5"/>
                </a:solidFill>
              </a:rPr>
              <a:t> (singulier après un nombre).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Phrase-clé : convaincre en entretien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Quatre phrases qui servent </a:t>
            </a:r>
            <a:r>
              <a:rPr lang="en-US" sz="1800" b="1" dirty="0">
                <a:solidFill>
                  <a:schemeClr val="tx1"/>
                </a:solidFill>
              </a:rPr>
              <a:t>dans chaque entretien</a:t>
            </a:r>
            <a:r>
              <a:rPr lang="en-US" sz="1800" dirty="0">
                <a:solidFill>
                  <a:schemeClr val="tx1"/>
                </a:solidFill>
              </a:rPr>
              <a:t> : regardez où va le </a:t>
            </a:r>
            <a:r>
              <a:rPr lang="en-US" sz="1800" b="1" dirty="0">
                <a:solidFill>
                  <a:schemeClr val="tx1"/>
                </a:solidFill>
              </a:rPr>
              <a:t>verbe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savoir-faire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898648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98648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35224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kan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694176" y="1947672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adverbe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94176" y="2185416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30752" y="2185416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goed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555744" y="1947672"/>
            <a:ext cx="191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complément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55744" y="2185416"/>
            <a:ext cx="1914144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92320" y="2185416"/>
            <a:ext cx="1840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met de computer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579616" y="1947672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infinitif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579616" y="2185416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16192" y="2185416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werken.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2103120" y="254203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sais bien travailler avec l’ordinateur.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03961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aimer faire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2103120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103120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139696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2898648" y="2801874"/>
            <a:ext cx="138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898648" y="3039618"/>
            <a:ext cx="1385824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935224" y="3039618"/>
            <a:ext cx="131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organiseer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394200" y="2801874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= j’aime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394200" y="3039618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30776" y="3039618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graag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361432" y="2801874"/>
            <a:ext cx="138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361432" y="3039618"/>
            <a:ext cx="1385824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398008" y="3039618"/>
            <a:ext cx="131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mijn werk.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2103120" y="339623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J’aime organiser mon travail.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38938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maar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2103120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103120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139696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2898648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898648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935224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ken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3694176" y="3656076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pas encore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694176" y="3893820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730752" y="3893820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nog niet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978400" y="3656076"/>
            <a:ext cx="149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978400" y="3893820"/>
            <a:ext cx="1491488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014976" y="3893820"/>
            <a:ext cx="141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alle taken,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6579616" y="3656076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6579616" y="3893820"/>
            <a:ext cx="751840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616192" y="3893820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maar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7441184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7441184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477760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57" name="Text 54"/>
          <p:cNvSpPr txBox="1"/>
          <p:nvPr/>
        </p:nvSpPr>
        <p:spPr>
          <a:xfrm>
            <a:off x="8236712" y="3656076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8236712" y="3893820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273288" y="3893820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leer</a:t>
            </a:r>
            <a:endParaRPr lang="en-US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9098280" y="3656076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9098280" y="3893820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134856" y="3893820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snel.</a:t>
            </a:r>
            <a:endParaRPr lang="en-US" sz="1600" dirty="0"/>
          </a:p>
        </p:txBody>
      </p:sp>
      <p:sp>
        <p:nvSpPr>
          <p:cNvPr id="63" name="Text 60"/>
          <p:cNvSpPr txBox="1"/>
          <p:nvPr/>
        </p:nvSpPr>
        <p:spPr>
          <a:xfrm>
            <a:off x="2103120" y="425043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… mais j’apprends vite. → </a:t>
            </a:r>
            <a:r>
              <a:rPr lang="en-US" sz="1400" i="1" dirty="0">
                <a:solidFill>
                  <a:schemeClr val="accent5"/>
                </a:solidFill>
              </a:rPr>
              <a:t>maar</a:t>
            </a:r>
            <a:r>
              <a:rPr lang="en-US" sz="1400" i="1" dirty="0">
                <a:solidFill>
                  <a:schemeClr val="accent5"/>
                </a:solidFill>
              </a:rPr>
              <a:t> : ordre normal</a:t>
            </a:r>
            <a:endParaRPr lang="en-US" sz="1400" dirty="0"/>
          </a:p>
        </p:txBody>
      </p:sp>
      <p:sp>
        <p:nvSpPr>
          <p:cNvPr id="64" name="Text 61"/>
          <p:cNvSpPr txBox="1"/>
          <p:nvPr/>
        </p:nvSpPr>
        <p:spPr>
          <a:xfrm>
            <a:off x="548640" y="474802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aangezien</a:t>
            </a:r>
            <a:endParaRPr lang="en-US" sz="1400" dirty="0"/>
          </a:p>
        </p:txBody>
      </p:sp>
      <p:sp>
        <p:nvSpPr>
          <p:cNvPr id="65" name="Text 62"/>
          <p:cNvSpPr txBox="1"/>
          <p:nvPr/>
        </p:nvSpPr>
        <p:spPr>
          <a:xfrm>
            <a:off x="2103120" y="4510278"/>
            <a:ext cx="307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position 1 = la subordonnée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2103120" y="4748022"/>
            <a:ext cx="3076448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2139696" y="4748022"/>
            <a:ext cx="3003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Aangezien ik ervaring heb,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5289296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5289296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5325872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kan</a:t>
            </a:r>
            <a:endParaRPr lang="en-US" sz="1600" dirty="0"/>
          </a:p>
        </p:txBody>
      </p:sp>
      <p:sp>
        <p:nvSpPr>
          <p:cNvPr id="71" name="Text 68"/>
          <p:cNvSpPr txBox="1"/>
          <p:nvPr/>
        </p:nvSpPr>
        <p:spPr>
          <a:xfrm>
            <a:off x="6084824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6084824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121400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74" name="Text 71"/>
          <p:cNvSpPr txBox="1"/>
          <p:nvPr/>
        </p:nvSpPr>
        <p:spPr>
          <a:xfrm>
            <a:off x="6880352" y="4510278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6880352" y="4748022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916928" y="4748022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meteen</a:t>
            </a:r>
            <a:endParaRPr lang="en-US" sz="1600" dirty="0"/>
          </a:p>
        </p:txBody>
      </p:sp>
      <p:sp>
        <p:nvSpPr>
          <p:cNvPr id="77" name="Text 74"/>
          <p:cNvSpPr txBox="1"/>
          <p:nvPr/>
        </p:nvSpPr>
        <p:spPr>
          <a:xfrm>
            <a:off x="7953248" y="451027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infinitif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7953248" y="4748022"/>
            <a:ext cx="1280160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7989824" y="4748022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beginnen.</a:t>
            </a:r>
            <a:endParaRPr lang="en-US" sz="1600" dirty="0"/>
          </a:p>
        </p:txBody>
      </p:sp>
      <p:sp>
        <p:nvSpPr>
          <p:cNvPr id="80" name="Text 77"/>
          <p:cNvSpPr txBox="1"/>
          <p:nvPr/>
        </p:nvSpPr>
        <p:spPr>
          <a:xfrm>
            <a:off x="2103120" y="510463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Comme j’ai de l’expérience, je peux commencer tout de suite.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8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83" name="Text 79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J’</a:t>
            </a:r>
            <a:r>
              <a:rPr lang="en-US" sz="1700" b="1" i="1" dirty="0">
                <a:solidFill>
                  <a:schemeClr val="tx1"/>
                </a:solidFill>
              </a:rPr>
              <a:t>aime</a:t>
            </a:r>
            <a:r>
              <a:rPr lang="en-US" sz="1700" i="1" dirty="0">
                <a:solidFill>
                  <a:schemeClr val="tx1"/>
                </a:solidFill>
              </a:rPr>
              <a:t> organiser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Ik organiseer </a:t>
            </a:r>
            <a:r>
              <a:rPr lang="en-US" sz="1700" b="1" i="1" dirty="0">
                <a:solidFill>
                  <a:schemeClr val="tx1"/>
                </a:solidFill>
              </a:rPr>
              <a:t>graag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Ik hou organiseren</a:t>
            </a:r>
            <a:r>
              <a:rPr lang="en-US" sz="1700" dirty="0">
                <a:solidFill>
                  <a:schemeClr val="tx1"/>
                </a:solidFill>
              </a:rPr>
              <a:t>). </a:t>
            </a:r>
            <a:r>
              <a:rPr lang="en-US" sz="1700" i="1" dirty="0">
                <a:solidFill>
                  <a:schemeClr val="tx1"/>
                </a:solidFill>
              </a:rPr>
              <a:t>Aangezien</a:t>
            </a:r>
            <a:r>
              <a:rPr lang="en-US" sz="1700" dirty="0">
                <a:solidFill>
                  <a:schemeClr val="tx1"/>
                </a:solidFill>
              </a:rPr>
              <a:t> fonctionne comme </a:t>
            </a:r>
            <a:r>
              <a:rPr lang="en-US" sz="1700" i="1" dirty="0">
                <a:solidFill>
                  <a:schemeClr val="tx1"/>
                </a:solidFill>
              </a:rPr>
              <a:t>omdat</a:t>
            </a:r>
            <a:r>
              <a:rPr lang="en-US" sz="1700" dirty="0">
                <a:solidFill>
                  <a:schemeClr val="tx1"/>
                </a:solidFill>
              </a:rPr>
              <a:t> : verbe </a:t>
            </a:r>
            <a:r>
              <a:rPr lang="en-US" sz="1700" b="1" dirty="0">
                <a:solidFill>
                  <a:schemeClr val="tx1"/>
                </a:solidFill>
              </a:rPr>
              <a:t>à la fin</a:t>
            </a:r>
            <a:r>
              <a:rPr lang="en-US" sz="1700" dirty="0">
                <a:solidFill>
                  <a:schemeClr val="tx1"/>
                </a:solidFill>
              </a:rPr>
              <a:t> de la subordonnée, puis </a:t>
            </a:r>
            <a:r>
              <a:rPr lang="en-US" sz="1700" b="1" i="1" dirty="0">
                <a:solidFill>
                  <a:schemeClr val="tx1"/>
                </a:solidFill>
              </a:rPr>
              <a:t>kan ik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Jeu de rôle : l’entretien d’embauche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 deux · 10 min — A = recruteur, B = candidat (votre cv). </a:t>
            </a:r>
            <a:r>
              <a:rPr lang="en-US" sz="1800" b="1" dirty="0">
                <a:solidFill>
                  <a:schemeClr val="tx1"/>
                </a:solidFill>
              </a:rPr>
              <a:t>Vouvoiement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Goedemorgen, gaat u zitten.</a:t>
            </a:r>
            <a:r>
              <a:rPr lang="en-US" sz="1800" dirty="0">
                <a:solidFill>
                  <a:schemeClr val="tx1"/>
                </a:solidFill>
              </a:rPr>
              <a:t> Puis on inverse.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67712"/>
            <a:ext cx="2553462" cy="3108960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96187" y="245059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96187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18211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Savoir-faire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959352"/>
            <a:ext cx="227914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: </a:t>
            </a:r>
            <a:r>
              <a:rPr lang="en-US" sz="1700" i="1" dirty="0">
                <a:solidFill>
                  <a:schemeClr val="tx1"/>
                </a:solidFill>
              </a:rPr>
              <a:t>Wat kunt u goed?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Ik kan goed …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8678" y="2670048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94710" y="2267712"/>
            <a:ext cx="2553462" cy="3108960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42257" y="2450592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342257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3504438" y="318211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Expérience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3531870" y="3959352"/>
            <a:ext cx="227914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: </a:t>
            </a:r>
            <a:r>
              <a:rPr lang="en-US" sz="1700" i="1" dirty="0">
                <a:solidFill>
                  <a:schemeClr val="tx1"/>
                </a:solidFill>
              </a:rPr>
              <a:t>Hebt u ervaring?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Ik heb twee jaar in … gewerkt.</a:t>
            </a:r>
            <a:endParaRPr lang="en-US" sz="1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748" y="2670048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40780" y="2267712"/>
            <a:ext cx="2553462" cy="3108960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88327" y="2450592"/>
            <a:ext cx="658368" cy="658368"/>
          </a:xfrm>
          <a:prstGeom prst="ellipse">
            <a:avLst/>
          </a:prstGeom>
          <a:solidFill>
            <a:srgbClr val="6E4A9E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188327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6350508" y="318211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4A9E"/>
                </a:solidFill>
              </a:rPr>
              <a:t>Comparer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6377940" y="3959352"/>
            <a:ext cx="227914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: </a:t>
            </a:r>
            <a:r>
              <a:rPr lang="en-US" sz="1700" i="1" dirty="0">
                <a:solidFill>
                  <a:schemeClr val="tx1"/>
                </a:solidFill>
              </a:rPr>
              <a:t>Waarom moeten we u kiezen?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Ik heb meer ervaring dan…</a:t>
            </a:r>
            <a:endParaRPr lang="en-US" sz="17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818" y="2670048"/>
            <a:ext cx="219456" cy="21945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086850" y="2267712"/>
            <a:ext cx="2553462" cy="3108960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034397" y="2450592"/>
            <a:ext cx="658368" cy="6583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10034397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9196578" y="318211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Début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9224010" y="3959352"/>
            <a:ext cx="227914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: </a:t>
            </a:r>
            <a:r>
              <a:rPr lang="en-US" sz="1700" i="1" dirty="0">
                <a:solidFill>
                  <a:schemeClr val="tx1"/>
                </a:solidFill>
              </a:rPr>
              <a:t>Wanneer kunt u beginnen?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Aangezien …, kan ik meteen beginnen.</a:t>
            </a:r>
            <a:endParaRPr lang="en-US" sz="1700" dirty="0"/>
          </a:p>
        </p:txBody>
      </p:sp>
      <p:sp>
        <p:nvSpPr>
          <p:cNvPr id="30" name="Shape 24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70000"/>
              </a:scheme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Critères — </a:t>
            </a:r>
            <a:r>
              <a:rPr lang="en-US" sz="1700" b="1" dirty="0">
                <a:solidFill>
                  <a:schemeClr val="tx1"/>
                </a:solidFill>
              </a:rPr>
              <a:t>u</a:t>
            </a:r>
            <a:r>
              <a:rPr lang="en-US" sz="1700" dirty="0">
                <a:solidFill>
                  <a:schemeClr val="tx1"/>
                </a:solidFill>
              </a:rPr>
              <a:t> du début à la fin · </a:t>
            </a:r>
            <a:r>
              <a:rPr lang="en-US" sz="1700" b="1" dirty="0">
                <a:solidFill>
                  <a:schemeClr val="tx1"/>
                </a:solidFill>
              </a:rPr>
              <a:t>3 modaux</a:t>
            </a:r>
            <a:r>
              <a:rPr lang="en-US" sz="1700" dirty="0">
                <a:solidFill>
                  <a:schemeClr val="tx1"/>
                </a:solidFill>
              </a:rPr>
              <a:t> (kunnen, willen, moeten) avec l’infinitif à la fin · </a:t>
            </a:r>
            <a:r>
              <a:rPr lang="en-US" sz="1700" b="1" dirty="0">
                <a:solidFill>
                  <a:schemeClr val="tx1"/>
                </a:solidFill>
              </a:rPr>
              <a:t>1 comparatif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b="1" dirty="0">
                <a:solidFill>
                  <a:schemeClr val="tx1"/>
                </a:solidFill>
              </a:rPr>
              <a:t>1 perfectum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16 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Op het werk.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Premier jour dans l’entreprise : se présenter aux collègues, dire dans quel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service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on travaille — et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iemand, niemand, iets, niets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</a:t>
            </a:r>
            <a:r>
              <a:rPr lang="en-US" sz="1700" b="1" dirty="0">
                <a:solidFill>
                  <a:schemeClr val="tx1"/>
                </a:solidFill>
              </a:rPr>
              <a:t>kunnen · willen · moeten</a:t>
            </a:r>
            <a:r>
              <a:rPr lang="en-US" sz="1700" dirty="0">
                <a:solidFill>
                  <a:schemeClr val="tx1"/>
                </a:solidFill>
              </a:rPr>
              <a:t> (tableau de conjugaison).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Écrire </a:t>
            </a:r>
            <a:r>
              <a:rPr lang="en-US" sz="1700" b="1" dirty="0">
                <a:solidFill>
                  <a:schemeClr val="tx1"/>
                </a:solidFill>
              </a:rPr>
              <a:t>5 phrases</a:t>
            </a:r>
            <a:r>
              <a:rPr lang="en-US" sz="1700" dirty="0">
                <a:solidFill>
                  <a:schemeClr val="tx1"/>
                </a:solidFill>
              </a:rPr>
              <a:t> pour votre entretien : </a:t>
            </a:r>
            <a:r>
              <a:rPr lang="en-US" sz="1700" i="1" dirty="0">
                <a:solidFill>
                  <a:schemeClr val="tx1"/>
                </a:solidFill>
              </a:rPr>
              <a:t>Ik kan… · Ik wil graag… · Ik moet nog…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Écrire </a:t>
            </a:r>
            <a:r>
              <a:rPr lang="en-US" sz="1700" b="1" dirty="0">
                <a:solidFill>
                  <a:schemeClr val="tx1"/>
                </a:solidFill>
              </a:rPr>
              <a:t>4 comparaisons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-er dan · even … als · meer · beter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Revoir les </a:t>
            </a:r>
            <a:r>
              <a:rPr lang="en-US" sz="1700" b="1" dirty="0">
                <a:solidFill>
                  <a:schemeClr val="tx1"/>
                </a:solidFill>
              </a:rPr>
              <a:t>faux-amis 8 à 14</a:t>
            </a:r>
            <a:r>
              <a:rPr lang="en-US" sz="1700" dirty="0">
                <a:solidFill>
                  <a:schemeClr val="tx1"/>
                </a:solidFill>
              </a:rPr>
              <a:t> (p. 90).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Recopier les </a:t>
            </a:r>
            <a:r>
              <a:rPr lang="en-US" sz="1700" b="1" dirty="0">
                <a:solidFill>
                  <a:schemeClr val="tx1"/>
                </a:solidFill>
              </a:rPr>
              <a:t>Jalons 1 et 2</a:t>
            </a:r>
            <a:r>
              <a:rPr lang="en-US" sz="1700" dirty="0">
                <a:solidFill>
                  <a:schemeClr val="tx1"/>
                </a:solidFill>
              </a:rPr>
              <a:t> de la fiche 6, corrigés (p. 97).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Répondez : </a:t>
            </a:r>
            <a:r>
              <a:rPr lang="en-US" sz="1600" i="1" dirty="0">
                <a:solidFill>
                  <a:schemeClr val="bg1"/>
                </a:solidFill>
              </a:rPr>
              <a:t>Wat kunt u goed? · Wanneer kunt u beginnen?</a:t>
            </a:r>
            <a:r>
              <a:rPr lang="en-US" sz="1600" dirty="0">
                <a:solidFill>
                  <a:schemeClr val="bg1"/>
                </a:solidFill>
              </a:rPr>
              <a:t> — puis comparez-vous à un collègue avec </a:t>
            </a:r>
            <a:r>
              <a:rPr lang="en-US" sz="1600" b="1" dirty="0">
                <a:solidFill>
                  <a:schemeClr val="bg1"/>
                </a:solidFill>
              </a:rPr>
              <a:t>meer … dan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in situatie">
  <a:themeElements>
    <a:clrScheme name="Nederlands in situatie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in situat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IRAM — Néerlandais 2 (UE2)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15 — Het sollicitatiegesprek</dc:title>
  <dc:subject>Néerlandais en situation appliqué à l’enseignement supérieur</dc:subject>
  <dc:creator>A. Jouniaux</dc:creator>
  <cp:lastModifiedBy>A. Jouniaux</cp:lastModifiedBy>
  <cp:revision>1</cp:revision>
  <dcterms:created xsi:type="dcterms:W3CDTF">2026-10-03T21:06:39Z</dcterms:created>
  <dcterms:modified xsi:type="dcterms:W3CDTF">2026-10-03T21:06:39Z</dcterms:modified>
</cp:coreProperties>
</file>