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fedead8-bf14-3390-c731-ad5b63f3124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ôture" id="{55a373da-1f62-d3d7-2fd9-3c88bea569a1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14. Objectifs : raconter un parcours au passé composé (fiche A2-02 Het perfectum, p. 69), démasquer sept faux-amis (Valse vrienden 1/3, p. 89), puis parler de son CV face à un recruteur (fiche 2, p. 93). Fil rouge : le CV de Julie, une candidate fictive, sert d’exemple pour le perfectum, la fiche et le jeu de rôle. Image : Emma et Pieter révisent 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Le perfectum est le cœur de la séance : la fiche 2 (« J’ai obtenu mon diplôme en 2019… ») en a besoin. Si le temps manque, le bonus faux-amis se fait à la maison ; ne jamais sacrifier les deux Jalons ni le jeu de 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13 : fiche A2-04 (hem · haar · hun), fiche 1 (agence d’intérim) et thème 07 Werk &amp; bedrijf. Interroger un étudiant par phrase. Puis vérifier le devoir : « 3 phrases sur votre expérience » (Ik heb ervaring in / als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à la séance 13, la fiche 1 contenait déjà un passé composé, « Ik heb me ingeschreven ». Aujourd’hui, on apprend à le construire et on raconte tout son parcours au passé.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A de la fiche A2-02 (« Wij hebben de hele dag gewerkt »). Même logique que gaan + infinitif (séance 12) : un verbe conjugué en 2e position, l’autre verbe à la fin. Ligne 4 : l’inversion fonctionne comme au présent (In 2019 ben ik…). Question : « Hebt u in België gewerkt? » — l’auxiliaire ouvre la question, le participe reste à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du livret : ge- + radical + -t ou -d (ge-werk-t, ge-speel-d). Le moyen mnémotechnique « ’t kofschip » : si le radical se termine par t, k, f, s, ch ou p → -t, sinon → -d. À l’oral, -t et -d se prononcent pareil [t] : la règle sert à l’écrit. Cas particuliers : radical déjà en -t ou -d → pas de double lettre (praten → gepraat, antwoorden → geantwoord) ; infinitif en -ven / -zen → -d (leven → geleefd, reizen → gereisd). Sans ge- : aussi les préfixes ge- et er- (gebeuren → gebeurd, erkennen → erkend) ; vertellen → verteld. Les irréguliers de la fiche : lezen, drinken, gaan, worden, zijn, blijven, komen ; de l’exercice : zien, eten, vertrekken.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B de la fiche (images : le journal, le café, la gare, l’homme malade) et encadré « Toujours zijn » : zijn, blijven, komen, worden. Nuance utile : un verbe de mouvement sans destination prend hebben (Ik heb gefietst), avec une destination il prend zijn (Ik ben naar huis gefietst). Afstuderen (= finir ses études) est un changement d’état → zijn. Beginnen aussi : Ik ben begonnen.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A2-02 (p. 69). Faire lire chaque phrase complète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2 : vertrekken = quitter un lieu (déplacement) → zijn. Phrase 3 : zien → gezien (irrégulier). Phrase 6 : eten → gegeten (le ge- est doublé : ge-geten).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Julie est une candidate fictive ; son cv est projeté plus loin (fiche 2) et sert au jeu de rôle. « Stage doen » = faire un stage (Belgique ; aux Pays-Bas : stage lopen).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raconter ensuite le parcours de Julie de mémoire, sans regarder : « Julie heeft … gestudeerd, in 2018 is ze … ». Phrase 6 : worden → geworden + zijn (changement).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paire, faire répéter le mot néerlandais avec son article, demander une phrase avec chacun. Compléments utiles : de duur = la durée (de duur van de cursus) ; hard = aussi « vite, fort » (hard werken = travailler dur, hard rijden = rouler vite) ; figuur : de ou het (les deux existent ; « een goed figuur » = une belle silhouette). En Belgique, on entend « op het bureau » pour « au bureau (lieu) » : calque du français, le standard est « op kantoor ». La formation professionnelle = de opleiding : mot-clé de la fiche 2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paire, faire répéter le mot néerlandais avec son article, demander une phrase avec chacun. Compléments utiles : de duur = la durée (de duur van de cursus) ; hard = aussi « vite, fort » (hard werken = travailler dur, hard rijden = rouler vite) ; figuur : de ou het (les deux existent ; « een goed figuur » = une belle silhouette). En Belgique, on entend « op het bureau » pour « au bureau (lieu) » : calque du français, le standard est « op kantoor ». La formation professionnelle = de opleiding : mot-clé de la fiche 2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des sept paires (la paire route / weg se travaille à l’oral : « De gps kiest de route ; op de weg rijden veel auto’s »). Faire traduire chaque phrase en français pour vérifier le sens.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8 : « een mooi gezicht » (het gezicht + een → pas de -e), « een mooie mond » (de mond). Phrase 7 : uitsteken est séparable (steekt … uit).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liste « talen » au pluriel sans article : de taal · de talen. Ajout : het cv (on dit « het cv », prononcé [sé-vé]). Coquille du livret (mise en page) : la liste du Jalon 1 commence par un « · » isolé. En Belgique, on dit aussi « de firma » pour l’entreprise ; « de onderneming » est plus soutenu.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ajouté (personne fictive) : un cv simple, à la belge, qui reprend le vocabulaire de la fiche (identiteit, opleiding, ervaring, talen, verantwoordelijk voor, buitenland). Questions orales avant les Jalons : Welke opleiding heeft Julie gevolgd? Wanneer is ze afgestudeerd? Waar werkt ze nu? Hoeveel talen spreekt ze? Heeft ze veel ervaring in het buitenland? (Nee, niet veel : drie maanden.)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1 : « on » général → je (ou men, plus formel). Phrase 2 : opleiding est un mot en de → welke.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Wat komt er in de rubriek «identiteit»? » ou « Wat schrijf je in… » ; 2 « Welke opleiding doet u? » ; 4 « Spreekt u wat Nederlands? » ; 5 « Heeft u ervaring? » (fréquent aux Pays-Bas ; « Hebt u » est la forme préférée en Belgique, les deux sont corrects). Refuser « Hebt u de ervaring? » et « Spreek u…? » (u → -t).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du livret (mise en page) : les cases « néerlandais » des phrases 2 et 3 sont fusionnées ; prévoir une ligne par phrase. Laisser chercher la phrase 2 (la plus difficile), puis passer à la diapositive « phrase-clé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In 2019 heb ik mijn diploma behaald / gehaald, na drie jaar studeren » ; 2 « Sinds ik ben afgestudeerd, werk ik… » (les deux ordres sont corrects dans la subordonnée) ou « …bij een bedrijf / in een onderneming » ; 3 « …voor een ploeg van vijf mensen » ; 5 « Aangezien ik drie talen spreek… » ou « …de buitenlandse klanten helpen ». Refuser « Sinds ik afgestudeerd ben, ik werk… » (pas d’inversion), « Ik heb afgestudeerd » et « Omdat ik spreek drie talen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Dans la subordonnée (sinds, omdat), le verbe conjugué va à la fin : « sinds ik afgestudeerd ben », « omdat ik drie talen spreek ». La subordonnée occupe la 1re place : la principale commence donc par le verbe (werk ik, kan ik). Faire transformer : « Ik werk in een bedrijf, sinds ik afgestudeerd ben » → « Sinds ik afgestudeerd ben, werk ik in een bedrijf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Groupes de trois possibles : C observe et compte les participes (hebben / zijn correct ?). Rappel : on vouvoie le recruteur et le candidat (Hebt u…? Bent u…?). Pour le 2e tour, les étudiants peuvent inventer un parcours s’ils préfèrent ne pas parler du leur.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par exemple : « Gisteren heb ik gewerkt en ’s avonds ben ik naar de cursus gegaan. » Vérifier l’auxiliaire et la place du participe.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14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Mijn cv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Parler de son CV — le passé composé et les faux-amis (1/3)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 — Fiche 2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69 · 89 · 93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73387"/>
            <a:ext cx="5120640" cy="291122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69 · 89 · 93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Raconter mon </a:t>
            </a:r>
            <a:r>
              <a:rPr lang="en-US" sz="1800" b="1" dirty="0">
                <a:solidFill>
                  <a:schemeClr val="tx1"/>
                </a:solidFill>
              </a:rPr>
              <a:t>parcours</a:t>
            </a:r>
            <a:r>
              <a:rPr lang="en-US" sz="1800" dirty="0">
                <a:solidFill>
                  <a:schemeClr val="tx1"/>
                </a:solidFill>
              </a:rPr>
              <a:t> (études, diplôme, expérience, langues) au </a:t>
            </a:r>
            <a:r>
              <a:rPr lang="en-US" sz="1800" b="1" dirty="0">
                <a:solidFill>
                  <a:schemeClr val="tx1"/>
                </a:solidFill>
              </a:rPr>
              <a:t>passé composé</a:t>
            </a:r>
            <a:r>
              <a:rPr lang="en-US" sz="1800" dirty="0">
                <a:solidFill>
                  <a:schemeClr val="tx1"/>
                </a:solidFill>
              </a:rPr>
              <a:t> et répondre aux questions sur mon </a:t>
            </a:r>
            <a:r>
              <a:rPr lang="en-US" sz="1800" b="1" dirty="0">
                <a:solidFill>
                  <a:schemeClr val="tx1"/>
                </a:solidFill>
              </a:rPr>
              <a:t>cv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drie jaar gewerkt · Ik ben in 2019 afgestudeerd · Welke opleiding volgt u? · Hebt u ervaring? · Sinds 2022 werk ik…</a:t>
            </a:r>
            <a:r>
              <a:rPr lang="en-US" sz="1500" dirty="0">
                <a:solidFill>
                  <a:schemeClr val="tx1"/>
                </a:solidFill>
              </a:rPr>
              <a:t> — hebben of zijn?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Former le participe passé · choisir hebben ou zijn · éviter sept faux-amis · présenter son cv à un recruteur (jeu de rôle, u)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la séance 13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3288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414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Het perfectum (p. 69)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41448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998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30083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Valse vrienden 1/3 (p. 89)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3008376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6674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753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Fiche 2 : vocabulaire · un cv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75304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23367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142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Jalon 1 · Jalon 2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142232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80060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Phrase-clé · jeu de rôle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709160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3675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760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76088"/>
            <a:ext cx="667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13 en six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Remplacez par un </a:t>
            </a:r>
            <a:r>
              <a:rPr lang="en-US" sz="1600" b="1" i="1" dirty="0">
                <a:solidFill>
                  <a:schemeClr val="accent5"/>
                </a:solidFill>
              </a:rPr>
              <a:t>pronom</a:t>
            </a:r>
            <a:r>
              <a:rPr lang="en-US" sz="1600" i="1" dirty="0">
                <a:solidFill>
                  <a:schemeClr val="accent5"/>
                </a:solidFill>
              </a:rPr>
              <a:t>, traduisez ou trouvez le mot avec son article.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Ik bel </a:t>
            </a:r>
            <a:r>
              <a:rPr lang="en-US" sz="2100" i="1" dirty="0">
                <a:solidFill>
                  <a:schemeClr val="tx1"/>
                </a:solidFill>
              </a:rPr>
              <a:t>de baas</a:t>
            </a:r>
            <a:r>
              <a:rPr lang="en-US" sz="2100" dirty="0">
                <a:solidFill>
                  <a:schemeClr val="tx1"/>
                </a:solidFill>
              </a:rPr>
              <a:t>. → Ik bel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Ik help </a:t>
            </a:r>
            <a:r>
              <a:rPr lang="en-US" sz="2100" i="1" dirty="0">
                <a:solidFill>
                  <a:schemeClr val="tx1"/>
                </a:solidFill>
              </a:rPr>
              <a:t>mijn collega Sarah</a:t>
            </a:r>
            <a:r>
              <a:rPr lang="en-US" sz="2100" dirty="0">
                <a:solidFill>
                  <a:schemeClr val="tx1"/>
                </a:solidFill>
              </a:rPr>
              <a:t>. → Ik help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Ik geef </a:t>
            </a:r>
            <a:r>
              <a:rPr lang="en-US" sz="2100" i="1" dirty="0">
                <a:solidFill>
                  <a:schemeClr val="tx1"/>
                </a:solidFill>
              </a:rPr>
              <a:t>de klanten</a:t>
            </a:r>
            <a:r>
              <a:rPr lang="en-US" sz="2100" dirty="0">
                <a:solidFill>
                  <a:schemeClr val="tx1"/>
                </a:solidFill>
              </a:rPr>
              <a:t> het contract. → Ik geef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het contract.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Cherchez-vous du travail ? → </a:t>
            </a:r>
            <a:r>
              <a:rPr lang="en-US" sz="2100" dirty="0">
                <a:solidFill>
                  <a:schemeClr val="accent5"/>
                </a:solidFill>
              </a:rPr>
              <a:t>…………………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Comme j’ai de l’expérience, je peux commencer demain.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le salaire · l’usine · le client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la séance 13 en six phrases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Remplacez par un </a:t>
            </a:r>
            <a:r>
              <a:rPr lang="en-US" sz="1600" b="1" i="1" dirty="0">
                <a:solidFill>
                  <a:schemeClr val="accent5"/>
                </a:solidFill>
              </a:rPr>
              <a:t>pronom</a:t>
            </a:r>
            <a:r>
              <a:rPr lang="en-US" sz="1600" i="1" dirty="0">
                <a:solidFill>
                  <a:schemeClr val="accent5"/>
                </a:solidFill>
              </a:rPr>
              <a:t>, traduisez ou trouvez le mot avec son article.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Ik bel </a:t>
            </a:r>
            <a:r>
              <a:rPr lang="en-US" sz="2100" i="1" dirty="0">
                <a:solidFill>
                  <a:schemeClr val="tx1"/>
                </a:solidFill>
              </a:rPr>
              <a:t>de baas</a:t>
            </a:r>
            <a:r>
              <a:rPr lang="en-US" sz="2100" dirty="0">
                <a:solidFill>
                  <a:schemeClr val="tx1"/>
                </a:solidFill>
              </a:rPr>
              <a:t>. → Ik bel </a:t>
            </a:r>
            <a:r>
              <a:rPr lang="en-US" sz="2100" b="1" dirty="0">
                <a:solidFill>
                  <a:schemeClr val="accent3"/>
                </a:solidFill>
              </a:rPr>
              <a:t>hem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Ik help </a:t>
            </a:r>
            <a:r>
              <a:rPr lang="en-US" sz="2100" i="1" dirty="0">
                <a:solidFill>
                  <a:schemeClr val="tx1"/>
                </a:solidFill>
              </a:rPr>
              <a:t>mijn collega Sarah</a:t>
            </a:r>
            <a:r>
              <a:rPr lang="en-US" sz="2100" dirty="0">
                <a:solidFill>
                  <a:schemeClr val="tx1"/>
                </a:solidFill>
              </a:rPr>
              <a:t>. → Ik help </a:t>
            </a:r>
            <a:r>
              <a:rPr lang="en-US" sz="2100" b="1" dirty="0">
                <a:solidFill>
                  <a:schemeClr val="accent3"/>
                </a:solidFill>
              </a:rPr>
              <a:t>haar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Ik geef </a:t>
            </a:r>
            <a:r>
              <a:rPr lang="en-US" sz="2100" i="1" dirty="0">
                <a:solidFill>
                  <a:schemeClr val="tx1"/>
                </a:solidFill>
              </a:rPr>
              <a:t>de klanten</a:t>
            </a:r>
            <a:r>
              <a:rPr lang="en-US" sz="2100" dirty="0">
                <a:solidFill>
                  <a:schemeClr val="tx1"/>
                </a:solidFill>
              </a:rPr>
              <a:t> het contract. → Ik geef </a:t>
            </a:r>
            <a:r>
              <a:rPr lang="en-US" sz="2100" b="1" dirty="0">
                <a:solidFill>
                  <a:schemeClr val="accent3"/>
                </a:solidFill>
              </a:rPr>
              <a:t>hun</a:t>
            </a:r>
            <a:r>
              <a:rPr lang="en-US" sz="2100" dirty="0">
                <a:solidFill>
                  <a:schemeClr val="tx1"/>
                </a:solidFill>
              </a:rPr>
              <a:t> het contract.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Cherchez-vous du travail ? → </a:t>
            </a:r>
            <a:r>
              <a:rPr lang="en-US" sz="2100" b="1" dirty="0">
                <a:solidFill>
                  <a:schemeClr val="accent3"/>
                </a:solidFill>
              </a:rPr>
              <a:t>Zoekt u werk?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Comme j’ai de l’expérience, je peux commencer demain. → </a:t>
            </a:r>
            <a:r>
              <a:rPr lang="en-US" sz="2100" b="1" dirty="0">
                <a:solidFill>
                  <a:schemeClr val="accent3"/>
                </a:solidFill>
              </a:rPr>
              <a:t>Omdat ik ervaring heb, kan ik morgen beginnen.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le salaire · l’usine · le client → </a:t>
            </a:r>
            <a:r>
              <a:rPr lang="en-US" sz="2100" b="1" dirty="0">
                <a:solidFill>
                  <a:schemeClr val="accent3"/>
                </a:solidFill>
              </a:rPr>
              <a:t>het loon · de fabriek · de klant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Pronom objet </a:t>
            </a:r>
            <a:r>
              <a:rPr lang="en-US" sz="1800" b="1" dirty="0">
                <a:solidFill>
                  <a:schemeClr val="tx1"/>
                </a:solidFill>
              </a:rPr>
              <a:t>après</a:t>
            </a:r>
            <a:r>
              <a:rPr lang="en-US" sz="1800" dirty="0">
                <a:solidFill>
                  <a:schemeClr val="tx1"/>
                </a:solidFill>
              </a:rPr>
              <a:t> le verbe.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hun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dirty="0">
                <a:solidFill>
                  <a:schemeClr val="tx1"/>
                </a:solidFill>
              </a:rPr>
              <a:t>leur</a:t>
            </a:r>
            <a:r>
              <a:rPr lang="en-US" sz="1800" dirty="0">
                <a:solidFill>
                  <a:schemeClr val="tx1"/>
                </a:solidFill>
              </a:rPr>
              <a:t> (à eux).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Omdat</a:t>
            </a:r>
            <a:r>
              <a:rPr lang="en-US" sz="1800" dirty="0">
                <a:solidFill>
                  <a:schemeClr val="tx1"/>
                </a:solidFill>
              </a:rPr>
              <a:t> … verbe à la fin, </a:t>
            </a:r>
            <a:r>
              <a:rPr lang="en-US" sz="1800" b="1" dirty="0">
                <a:solidFill>
                  <a:schemeClr val="tx1"/>
                </a:solidFill>
              </a:rPr>
              <a:t>puis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i="1" dirty="0">
                <a:solidFill>
                  <a:schemeClr val="tx1"/>
                </a:solidFill>
              </a:rPr>
              <a:t>kan ik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loon ·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fabriek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Het perfectum : auxiliaire en 2e, participe à la fin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hebben</a:t>
            </a:r>
            <a:r>
              <a:rPr lang="en-US" sz="1800" dirty="0">
                <a:solidFill>
                  <a:schemeClr val="tx1"/>
                </a:solidFill>
              </a:rPr>
              <a:t> ou </a:t>
            </a: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 conjugué en </a:t>
            </a:r>
            <a:r>
              <a:rPr lang="en-US" sz="1800" b="1" dirty="0">
                <a:solidFill>
                  <a:schemeClr val="tx1"/>
                </a:solidFill>
              </a:rPr>
              <a:t>2e position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participe passé</a:t>
            </a:r>
            <a:r>
              <a:rPr lang="en-US" sz="1800" dirty="0">
                <a:solidFill>
                  <a:schemeClr val="tx1"/>
                </a:solidFill>
              </a:rPr>
              <a:t> tout à la </a:t>
            </a:r>
            <a:r>
              <a:rPr lang="en-US" sz="1800" b="1" dirty="0">
                <a:solidFill>
                  <a:schemeClr val="tx1"/>
                </a:solidFill>
              </a:rPr>
              <a:t>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La phrase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Wij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2 · auxiliaire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hebben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971544" y="1947672"/>
            <a:ext cx="149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71544" y="2185416"/>
            <a:ext cx="149148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08120" y="2185416"/>
            <a:ext cx="141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hele dag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572760" y="194767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 · participe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2760" y="218541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09336" y="218541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gewerkt.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Nous avons travaillé toute la journée.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hebben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03120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39696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2898648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hebben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898648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35224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694176" y="2801874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94176" y="3039618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30752" y="3039618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 krant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978400" y="2801874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78400" y="3039618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14976" y="3039618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gelezen.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J’ai lu le journal.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zijn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10312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10312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3969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Zij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289864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zijn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89864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93522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3694176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694176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730752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ziek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4555744" y="36560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555744" y="3893820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592320" y="389382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geworden.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Elle est tombée malade.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inversion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2103120" y="4510278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2103120" y="4748022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139696" y="4748022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2019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3281680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281680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318256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07720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07720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11378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4872736" y="4510278"/>
            <a:ext cx="170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872736" y="4748022"/>
            <a:ext cx="1702816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909312" y="4748022"/>
            <a:ext cx="162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afgestudeerd.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En 2019, j’ai obtenu mon diplôme.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5" name="Text 61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colle le participe à l’auxiliaire : </a:t>
            </a:r>
            <a:r>
              <a:rPr lang="en-US" sz="1700" i="1" dirty="0">
                <a:solidFill>
                  <a:schemeClr val="tx1"/>
                </a:solidFill>
              </a:rPr>
              <a:t>j’</a:t>
            </a:r>
            <a:r>
              <a:rPr lang="en-US" sz="1700" b="1" i="1" dirty="0">
                <a:solidFill>
                  <a:schemeClr val="tx1"/>
                </a:solidFill>
              </a:rPr>
              <a:t>ai travaillé</a:t>
            </a:r>
            <a:r>
              <a:rPr lang="en-US" sz="1700" i="1" dirty="0">
                <a:solidFill>
                  <a:schemeClr val="tx1"/>
                </a:solidFill>
              </a:rPr>
              <a:t> toute la journée</a:t>
            </a:r>
            <a:r>
              <a:rPr lang="en-US" sz="1700" dirty="0">
                <a:solidFill>
                  <a:schemeClr val="tx1"/>
                </a:solidFill>
              </a:rPr>
              <a:t>. Le néerlandais les </a:t>
            </a:r>
            <a:r>
              <a:rPr lang="en-US" sz="1700" b="1" dirty="0">
                <a:solidFill>
                  <a:schemeClr val="tx1"/>
                </a:solidFill>
              </a:rPr>
              <a:t>sépare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Wij </a:t>
            </a:r>
            <a:r>
              <a:rPr lang="en-US" sz="1700" b="1" i="1" dirty="0">
                <a:solidFill>
                  <a:schemeClr val="tx1"/>
                </a:solidFill>
              </a:rPr>
              <a:t>hebben</a:t>
            </a:r>
            <a:r>
              <a:rPr lang="en-US" sz="1700" i="1" dirty="0">
                <a:solidFill>
                  <a:schemeClr val="tx1"/>
                </a:solidFill>
              </a:rPr>
              <a:t> de hele dag </a:t>
            </a:r>
            <a:r>
              <a:rPr lang="en-US" sz="1700" b="1" i="1" dirty="0">
                <a:solidFill>
                  <a:schemeClr val="tx1"/>
                </a:solidFill>
              </a:rPr>
              <a:t>gewerkt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Wij hebben gewerkt de hele dag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participe passé : ge- + radical + -t ou -d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-T · ’T KOFSCHIP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werken → gewerkt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83561"/>
            <a:ext cx="3148584" cy="105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Radical en </a:t>
            </a:r>
            <a:r>
              <a:rPr lang="en-US" sz="1700" b="1" dirty="0">
                <a:solidFill>
                  <a:schemeClr val="tx1"/>
                </a:solidFill>
              </a:rPr>
              <a:t>t k f s ch p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maken → gemaakt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-D · TOUS LES AUTRES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spelen → gespeeld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583561"/>
            <a:ext cx="3148584" cy="105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Les autres radicaux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studeren → gestudeerd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IRRÉGULIERS EN -EN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lezen → gelezen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583561"/>
            <a:ext cx="3148584" cy="105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À apprendre par cœur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drinken → gedronken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4343400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SÉPARABLES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626864"/>
            <a:ext cx="3148584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aankomen → aangekomen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125593"/>
            <a:ext cx="3148584" cy="105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ge-</a:t>
            </a:r>
            <a:r>
              <a:rPr lang="en-US" sz="1700" dirty="0">
                <a:solidFill>
                  <a:schemeClr val="tx1"/>
                </a:solidFill>
              </a:rPr>
              <a:t> au milieu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afstuderen → afgestudeerd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4337304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37304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32" name="Shape 29"/>
          <p:cNvSpPr/>
          <p:nvPr/>
        </p:nvSpPr>
        <p:spPr>
          <a:xfrm>
            <a:off x="4337304" y="4343400"/>
            <a:ext cx="3514344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0184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SANS GE-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520184" y="4626864"/>
            <a:ext cx="3148584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vertrekken → vertrokken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4520184" y="5125593"/>
            <a:ext cx="3148584" cy="105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Préfixes </a:t>
            </a:r>
            <a:r>
              <a:rPr lang="en-US" sz="1700" b="1" dirty="0">
                <a:solidFill>
                  <a:schemeClr val="tx1"/>
                </a:solidFill>
              </a:rPr>
              <a:t>be- ver- her- ont-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betalen → betaald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8125968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125968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/>
        </p:spPr>
      </p:sp>
      <p:sp>
        <p:nvSpPr>
          <p:cNvPr id="38" name="Shape 35"/>
          <p:cNvSpPr/>
          <p:nvPr/>
        </p:nvSpPr>
        <p:spPr>
          <a:xfrm>
            <a:off x="8125968" y="4343400"/>
            <a:ext cx="3514344" cy="182880"/>
          </a:xfrm>
          <a:prstGeom prst="rect">
            <a:avLst/>
          </a:prstGeom>
          <a:solidFill>
            <a:srgbClr val="6E4A9E"/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08848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LES INDISPENSABLES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308848" y="4626864"/>
            <a:ext cx="3148584" cy="36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zijn → geweest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8308848" y="5125593"/>
            <a:ext cx="3148584" cy="105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hebben → gehad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doen → gedaan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gaan → gegaan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Hebben of zijn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8249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hebben : la plupart des verbes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heb</a:t>
            </a:r>
            <a:r>
              <a:rPr lang="en-US" sz="2000" i="1" dirty="0">
                <a:solidFill>
                  <a:schemeClr val="tx1"/>
                </a:solidFill>
              </a:rPr>
              <a:t> de krant </a:t>
            </a:r>
            <a:r>
              <a:rPr lang="en-US" sz="2000" b="1" i="1" dirty="0">
                <a:solidFill>
                  <a:schemeClr val="tx1"/>
                </a:solidFill>
              </a:rPr>
              <a:t>gelezen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Zij </a:t>
            </a:r>
            <a:r>
              <a:rPr lang="en-US" sz="2000" b="1" i="1" dirty="0">
                <a:solidFill>
                  <a:schemeClr val="tx1"/>
                </a:solidFill>
              </a:rPr>
              <a:t>heeft</a:t>
            </a:r>
            <a:r>
              <a:rPr lang="en-US" sz="2000" i="1" dirty="0">
                <a:solidFill>
                  <a:schemeClr val="tx1"/>
                </a:solidFill>
              </a:rPr>
              <a:t> koffie </a:t>
            </a:r>
            <a:r>
              <a:rPr lang="en-US" sz="2000" b="1" i="1" dirty="0">
                <a:solidFill>
                  <a:schemeClr val="tx1"/>
                </a:solidFill>
              </a:rPr>
              <a:t>gedronken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Wij </a:t>
            </a:r>
            <a:r>
              <a:rPr lang="en-US" sz="2000" b="1" i="1" dirty="0">
                <a:solidFill>
                  <a:schemeClr val="tx1"/>
                </a:solidFill>
              </a:rPr>
              <a:t>hebben</a:t>
            </a:r>
            <a:r>
              <a:rPr lang="en-US" sz="2000" i="1" dirty="0">
                <a:solidFill>
                  <a:schemeClr val="tx1"/>
                </a:solidFill>
              </a:rPr>
              <a:t> in Gent </a:t>
            </a:r>
            <a:r>
              <a:rPr lang="en-US" sz="2000" b="1" i="1" dirty="0">
                <a:solidFill>
                  <a:schemeClr val="tx1"/>
                </a:solidFill>
              </a:rPr>
              <a:t>gewoond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Hij </a:t>
            </a:r>
            <a:r>
              <a:rPr lang="en-US" sz="2000" b="1" i="1" dirty="0">
                <a:solidFill>
                  <a:schemeClr val="tx1"/>
                </a:solidFill>
              </a:rPr>
              <a:t>heeft</a:t>
            </a:r>
            <a:r>
              <a:rPr lang="en-US" sz="2000" i="1" dirty="0">
                <a:solidFill>
                  <a:schemeClr val="tx1"/>
                </a:solidFill>
              </a:rPr>
              <a:t> een opleiding </a:t>
            </a:r>
            <a:r>
              <a:rPr lang="en-US" sz="2000" b="1" i="1" dirty="0">
                <a:solidFill>
                  <a:schemeClr val="tx1"/>
                </a:solidFill>
              </a:rPr>
              <a:t>gevolgd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14516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4">
              <a:alpha val="8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6824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46036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zijn : A → B · changement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643116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ben</a:t>
            </a:r>
            <a:r>
              <a:rPr lang="en-US" sz="2000" i="1" dirty="0">
                <a:solidFill>
                  <a:schemeClr val="tx1"/>
                </a:solidFill>
              </a:rPr>
              <a:t> naar Gent </a:t>
            </a:r>
            <a:r>
              <a:rPr lang="en-US" sz="2000" b="1" i="1" dirty="0">
                <a:solidFill>
                  <a:schemeClr val="tx1"/>
                </a:solidFill>
              </a:rPr>
              <a:t>gegaan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> (A → B)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Zij </a:t>
            </a:r>
            <a:r>
              <a:rPr lang="en-US" sz="2000" b="1" i="1" dirty="0">
                <a:solidFill>
                  <a:schemeClr val="tx1"/>
                </a:solidFill>
              </a:rPr>
              <a:t>is</a:t>
            </a:r>
            <a:r>
              <a:rPr lang="en-US" sz="2000" i="1" dirty="0">
                <a:solidFill>
                  <a:schemeClr val="tx1"/>
                </a:solidFill>
              </a:rPr>
              <a:t> ziek </a:t>
            </a:r>
            <a:r>
              <a:rPr lang="en-US" sz="2000" b="1" i="1" dirty="0">
                <a:solidFill>
                  <a:schemeClr val="tx1"/>
                </a:solidFill>
              </a:rPr>
              <a:t>geworden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> (changement)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Toujours </a:t>
            </a:r>
            <a:r>
              <a:rPr lang="en-US" sz="2000" b="1" dirty="0">
                <a:solidFill>
                  <a:schemeClr val="tx1"/>
                </a:solidFill>
              </a:rPr>
              <a:t>zijn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ik ben </a:t>
            </a:r>
            <a:r>
              <a:rPr lang="en-US" sz="2000" b="1" i="1" dirty="0">
                <a:solidFill>
                  <a:schemeClr val="tx1"/>
                </a:solidFill>
              </a:rPr>
              <a:t>geweest</a:t>
            </a:r>
            <a:r>
              <a:rPr lang="en-US" sz="2000" i="1" dirty="0">
                <a:solidFill>
                  <a:schemeClr val="tx1"/>
                </a:solidFill>
              </a:rPr>
              <a:t> · gebleven · gekomen · geworden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ben</a:t>
            </a:r>
            <a:r>
              <a:rPr lang="en-US" sz="2000" i="1" dirty="0">
                <a:solidFill>
                  <a:schemeClr val="tx1"/>
                </a:solidFill>
              </a:rPr>
              <a:t> in 2019 </a:t>
            </a:r>
            <a:r>
              <a:rPr lang="en-US" sz="2000" b="1" i="1" dirty="0">
                <a:solidFill>
                  <a:schemeClr val="tx1"/>
                </a:solidFill>
              </a:rPr>
              <a:t>afgestudeerd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838444" y="316687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838444" y="3166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J’</a:t>
            </a:r>
            <a:r>
              <a:rPr lang="en-US" sz="1700" b="1" i="1" dirty="0">
                <a:solidFill>
                  <a:schemeClr val="tx1"/>
                </a:solidFill>
              </a:rPr>
              <a:t>ai été</a:t>
            </a:r>
            <a:r>
              <a:rPr lang="en-US" sz="1700" i="1" dirty="0">
                <a:solidFill>
                  <a:schemeClr val="tx1"/>
                </a:solidFill>
              </a:rPr>
              <a:t> malade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ben</a:t>
            </a:r>
            <a:r>
              <a:rPr lang="en-US" sz="1700" i="1" dirty="0">
                <a:solidFill>
                  <a:schemeClr val="tx1"/>
                </a:solidFill>
              </a:rPr>
              <a:t> ziek </a:t>
            </a:r>
            <a:r>
              <a:rPr lang="en-US" sz="1700" b="1" i="1" dirty="0">
                <a:solidFill>
                  <a:schemeClr val="tx1"/>
                </a:solidFill>
              </a:rPr>
              <a:t>geweest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Ik heb ziek geweest</a:t>
            </a:r>
            <a:r>
              <a:rPr lang="en-US" sz="1700" dirty="0">
                <a:solidFill>
                  <a:schemeClr val="tx1"/>
                </a:solidFill>
              </a:rPr>
              <a:t>). </a:t>
            </a:r>
            <a:r>
              <a:rPr lang="en-US" sz="1700" i="1" dirty="0">
                <a:solidFill>
                  <a:schemeClr val="tx1"/>
                </a:solidFill>
              </a:rPr>
              <a:t>J’</a:t>
            </a:r>
            <a:r>
              <a:rPr lang="en-US" sz="1700" b="1" i="1" dirty="0">
                <a:solidFill>
                  <a:schemeClr val="tx1"/>
                </a:solidFill>
              </a:rPr>
              <a:t>ai commencé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ben</a:t>
            </a:r>
            <a:r>
              <a:rPr lang="en-US" sz="1700" i="1" dirty="0">
                <a:solidFill>
                  <a:schemeClr val="tx1"/>
                </a:solidFill>
              </a:rPr>
              <a:t> begonnen</a:t>
            </a:r>
            <a:r>
              <a:rPr lang="en-US" sz="1700" dirty="0">
                <a:solidFill>
                  <a:schemeClr val="tx1"/>
                </a:solidFill>
              </a:rPr>
              <a:t> : là où le français dit « avoir », le néerlandais peut dire </a:t>
            </a:r>
            <a:r>
              <a:rPr lang="en-US" sz="1700" b="1" dirty="0">
                <a:solidFill>
                  <a:schemeClr val="tx1"/>
                </a:solidFill>
              </a:rPr>
              <a:t>zijn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hebben of zijn + participe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hebben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zijn</a:t>
            </a:r>
            <a:r>
              <a:rPr lang="en-US" sz="1600" i="1" dirty="0">
                <a:solidFill>
                  <a:schemeClr val="accent5"/>
                </a:solidFill>
              </a:rPr>
              <a:t> conjugué + le </a:t>
            </a:r>
            <a:r>
              <a:rPr lang="en-US" sz="1600" b="1" i="1" dirty="0">
                <a:solidFill>
                  <a:schemeClr val="accent5"/>
                </a:solidFill>
              </a:rPr>
              <a:t>participe passé</a:t>
            </a:r>
            <a:r>
              <a:rPr lang="en-US" sz="1600" i="1" dirty="0">
                <a:solidFill>
                  <a:schemeClr val="accent5"/>
                </a:solidFill>
              </a:rPr>
              <a:t> du verbe.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Zij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veel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(studeren)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trein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al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(vertrekken)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hem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(zien)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thuis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(blijven)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om 8 uur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(aankomen)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Jullie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pizza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(eten)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MÉMO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 : déplacement A → B, changement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Toujours </a:t>
            </a: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zijn, blijven, komen, worden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hebben</a:t>
            </a:r>
            <a:r>
              <a:rPr lang="en-US" sz="1800" dirty="0">
                <a:solidFill>
                  <a:schemeClr val="tx1"/>
                </a:solidFill>
              </a:rPr>
              <a:t> : tous les autres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hebben of zijn + participe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hebben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zijn</a:t>
            </a:r>
            <a:r>
              <a:rPr lang="en-US" sz="1600" i="1" dirty="0">
                <a:solidFill>
                  <a:schemeClr val="accent5"/>
                </a:solidFill>
              </a:rPr>
              <a:t> conjugué + le </a:t>
            </a:r>
            <a:r>
              <a:rPr lang="en-US" sz="1600" b="1" i="1" dirty="0">
                <a:solidFill>
                  <a:schemeClr val="accent5"/>
                </a:solidFill>
              </a:rPr>
              <a:t>participe passé</a:t>
            </a:r>
            <a:r>
              <a:rPr lang="en-US" sz="1600" i="1" dirty="0">
                <a:solidFill>
                  <a:schemeClr val="accent5"/>
                </a:solidFill>
              </a:rPr>
              <a:t> du verbe.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Zij </a:t>
            </a:r>
            <a:r>
              <a:rPr lang="en-US" sz="2400" b="1" dirty="0">
                <a:solidFill>
                  <a:schemeClr val="accent3"/>
                </a:solidFill>
              </a:rPr>
              <a:t>heeft</a:t>
            </a:r>
            <a:r>
              <a:rPr lang="en-US" sz="2400" dirty="0">
                <a:solidFill>
                  <a:schemeClr val="tx1"/>
                </a:solidFill>
              </a:rPr>
              <a:t> veel </a:t>
            </a:r>
            <a:r>
              <a:rPr lang="en-US" sz="2400" b="1" dirty="0">
                <a:solidFill>
                  <a:schemeClr val="accent3"/>
                </a:solidFill>
              </a:rPr>
              <a:t>gestudeerd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(studeren)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trein </a:t>
            </a:r>
            <a:r>
              <a:rPr lang="en-US" sz="2400" b="1" dirty="0">
                <a:solidFill>
                  <a:schemeClr val="accent3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al </a:t>
            </a:r>
            <a:r>
              <a:rPr lang="en-US" sz="2400" b="1" dirty="0">
                <a:solidFill>
                  <a:schemeClr val="accent3"/>
                </a:solidFill>
              </a:rPr>
              <a:t>vertrokken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(vertrekken)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</a:t>
            </a:r>
            <a:r>
              <a:rPr lang="en-US" sz="2400" b="1" dirty="0">
                <a:solidFill>
                  <a:schemeClr val="accent3"/>
                </a:solidFill>
              </a:rPr>
              <a:t>heb</a:t>
            </a:r>
            <a:r>
              <a:rPr lang="en-US" sz="2400" dirty="0">
                <a:solidFill>
                  <a:schemeClr val="tx1"/>
                </a:solidFill>
              </a:rPr>
              <a:t> hem </a:t>
            </a:r>
            <a:r>
              <a:rPr lang="en-US" sz="2400" b="1" dirty="0">
                <a:solidFill>
                  <a:schemeClr val="accent3"/>
                </a:solidFill>
              </a:rPr>
              <a:t>gezien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(zien)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Hij </a:t>
            </a:r>
            <a:r>
              <a:rPr lang="en-US" sz="2400" b="1" dirty="0">
                <a:solidFill>
                  <a:schemeClr val="accent3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thuis </a:t>
            </a:r>
            <a:r>
              <a:rPr lang="en-US" sz="2400" b="1" dirty="0">
                <a:solidFill>
                  <a:schemeClr val="accent3"/>
                </a:solidFill>
              </a:rPr>
              <a:t>gebleven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(blijven)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Wij </a:t>
            </a:r>
            <a:r>
              <a:rPr lang="en-US" sz="2400" b="1" dirty="0">
                <a:solidFill>
                  <a:schemeClr val="accent3"/>
                </a:solidFill>
              </a:rPr>
              <a:t>zijn</a:t>
            </a:r>
            <a:r>
              <a:rPr lang="en-US" sz="2400" dirty="0">
                <a:solidFill>
                  <a:schemeClr val="tx1"/>
                </a:solidFill>
              </a:rPr>
              <a:t> om 8 uur </a:t>
            </a:r>
            <a:r>
              <a:rPr lang="en-US" sz="2400" b="1" dirty="0">
                <a:solidFill>
                  <a:schemeClr val="accent3"/>
                </a:solidFill>
              </a:rPr>
              <a:t>aangekomen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(aankomen)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Jullie </a:t>
            </a:r>
            <a:r>
              <a:rPr lang="en-US" sz="2400" b="1" dirty="0">
                <a:solidFill>
                  <a:schemeClr val="accent3"/>
                </a:solidFill>
              </a:rPr>
              <a:t>hebben</a:t>
            </a:r>
            <a:r>
              <a:rPr lang="en-US" sz="2400" dirty="0">
                <a:solidFill>
                  <a:schemeClr val="tx1"/>
                </a:solidFill>
              </a:rPr>
              <a:t> pizza </a:t>
            </a:r>
            <a:r>
              <a:rPr lang="en-US" sz="2400" b="1" dirty="0">
                <a:solidFill>
                  <a:schemeClr val="accent3"/>
                </a:solidFill>
              </a:rPr>
              <a:t>gegeten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i="1" dirty="0">
                <a:solidFill>
                  <a:schemeClr val="tx1"/>
                </a:solidFill>
              </a:rPr>
              <a:t>(eten)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 : </a:t>
            </a:r>
            <a:r>
              <a:rPr lang="en-US" sz="1800" i="1" dirty="0">
                <a:solidFill>
                  <a:schemeClr val="tx1"/>
                </a:solidFill>
              </a:rPr>
              <a:t>-eren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ge…eer</a:t>
            </a:r>
            <a:r>
              <a:rPr lang="en-US" sz="1800" b="1" i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 : </a:t>
            </a:r>
            <a:r>
              <a:rPr lang="en-US" sz="1800" b="1" dirty="0">
                <a:solidFill>
                  <a:schemeClr val="tx1"/>
                </a:solidFill>
              </a:rPr>
              <a:t>ver-</a:t>
            </a:r>
            <a:r>
              <a:rPr lang="en-US" sz="1800" dirty="0">
                <a:solidFill>
                  <a:schemeClr val="tx1"/>
                </a:solidFill>
              </a:rPr>
              <a:t> → pas de ge- ; départ → </a:t>
            </a: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4 : </a:t>
            </a:r>
            <a:r>
              <a:rPr lang="en-US" sz="1800" i="1" dirty="0">
                <a:solidFill>
                  <a:schemeClr val="tx1"/>
                </a:solidFill>
              </a:rPr>
              <a:t>blijven</a:t>
            </a:r>
            <a:r>
              <a:rPr lang="en-US" sz="1800" dirty="0">
                <a:solidFill>
                  <a:schemeClr val="tx1"/>
                </a:solidFill>
              </a:rPr>
              <a:t> → toujours </a:t>
            </a: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 : séparable → </a:t>
            </a:r>
            <a:r>
              <a:rPr lang="en-US" sz="1800" i="1" dirty="0">
                <a:solidFill>
                  <a:schemeClr val="tx1"/>
                </a:solidFill>
              </a:rPr>
              <a:t>aan</a:t>
            </a:r>
            <a:r>
              <a:rPr lang="en-US" sz="1800" b="1" i="1" dirty="0">
                <a:solidFill>
                  <a:schemeClr val="tx1"/>
                </a:solidFill>
              </a:rPr>
              <a:t>ge</a:t>
            </a:r>
            <a:r>
              <a:rPr lang="en-US" sz="1800" i="1" dirty="0">
                <a:solidFill>
                  <a:schemeClr val="tx1"/>
                </a:solidFill>
              </a:rPr>
              <a:t>komen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parcours de Julie au perfectum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Mettez le parcours de </a:t>
            </a:r>
            <a:r>
              <a:rPr lang="en-US" sz="1600" b="1" i="1" dirty="0">
                <a:solidFill>
                  <a:schemeClr val="accent5"/>
                </a:solidFill>
              </a:rPr>
              <a:t>Julie</a:t>
            </a:r>
            <a:r>
              <a:rPr lang="en-US" sz="1600" i="1" dirty="0">
                <a:solidFill>
                  <a:schemeClr val="accent5"/>
                </a:solidFill>
              </a:rPr>
              <a:t> (une candidate) au </a:t>
            </a:r>
            <a:r>
              <a:rPr lang="en-US" sz="1600" b="1" i="1" dirty="0">
                <a:solidFill>
                  <a:schemeClr val="accent5"/>
                </a:solidFill>
              </a:rPr>
              <a:t>passé composé</a:t>
            </a:r>
            <a:r>
              <a:rPr lang="en-US" sz="1600" i="1" dirty="0">
                <a:solidFill>
                  <a:schemeClr val="accent5"/>
                </a:solidFill>
              </a:rPr>
              <a:t>. Attention à </a:t>
            </a:r>
            <a:r>
              <a:rPr lang="en-US" sz="1600" b="1" i="1" dirty="0">
                <a:solidFill>
                  <a:schemeClr val="accent5"/>
                </a:solidFill>
              </a:rPr>
              <a:t>hebben / zijn</a:t>
            </a:r>
            <a:r>
              <a:rPr lang="en-US" sz="1600" i="1" dirty="0">
                <a:solidFill>
                  <a:schemeClr val="accent5"/>
                </a:solidFill>
              </a:rPr>
              <a:t> et à l’</a:t>
            </a:r>
            <a:r>
              <a:rPr lang="en-US" sz="1600" b="1" i="1" dirty="0">
                <a:solidFill>
                  <a:schemeClr val="accent5"/>
                </a:solidFill>
              </a:rPr>
              <a:t>inversion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Julie studeert drie jaar in Bergen.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In 2018 gaat ze naar Londen.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Ze doet daar drie maanden stage.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In 2019 studeert ze af.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Daarna werkt ze in een transportbedrijf.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In 2022 wordt ze office manager.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parcours de Julie au perfectum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Mettez le parcours de </a:t>
            </a:r>
            <a:r>
              <a:rPr lang="en-US" sz="1600" b="1" i="1" dirty="0">
                <a:solidFill>
                  <a:schemeClr val="accent5"/>
                </a:solidFill>
              </a:rPr>
              <a:t>Julie</a:t>
            </a:r>
            <a:r>
              <a:rPr lang="en-US" sz="1600" i="1" dirty="0">
                <a:solidFill>
                  <a:schemeClr val="accent5"/>
                </a:solidFill>
              </a:rPr>
              <a:t> (une candidate) au </a:t>
            </a:r>
            <a:r>
              <a:rPr lang="en-US" sz="1600" b="1" i="1" dirty="0">
                <a:solidFill>
                  <a:schemeClr val="accent5"/>
                </a:solidFill>
              </a:rPr>
              <a:t>passé composé</a:t>
            </a:r>
            <a:r>
              <a:rPr lang="en-US" sz="1600" i="1" dirty="0">
                <a:solidFill>
                  <a:schemeClr val="accent5"/>
                </a:solidFill>
              </a:rPr>
              <a:t>. Attention à </a:t>
            </a:r>
            <a:r>
              <a:rPr lang="en-US" sz="1600" b="1" i="1" dirty="0">
                <a:solidFill>
                  <a:schemeClr val="accent5"/>
                </a:solidFill>
              </a:rPr>
              <a:t>hebben / zijn</a:t>
            </a:r>
            <a:r>
              <a:rPr lang="en-US" sz="1600" i="1" dirty="0">
                <a:solidFill>
                  <a:schemeClr val="accent5"/>
                </a:solidFill>
              </a:rPr>
              <a:t> et à l’</a:t>
            </a:r>
            <a:r>
              <a:rPr lang="en-US" sz="1600" b="1" i="1" dirty="0">
                <a:solidFill>
                  <a:schemeClr val="accent5"/>
                </a:solidFill>
              </a:rPr>
              <a:t>inversion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Julie studeert drie jaar in Bergen.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Julie heeft drie jaar in Bergen gestudeerd.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In 2018 gaat ze naar Londen.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In 2018 is ze naar Londen gegaan.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Ze doet daar drie maanden stage.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Ze heeft daar drie maanden stage gedaan.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In 2019 studeert ze af.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In 2019 is ze afgestudeerd.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Daarna werkt ze in een transportbedrijf.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Daarna heeft ze in een transportbedrijf gewerkt.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In 2022 wordt ze office manager.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In 2022 is ze office manager geworden.</a:t>
            </a:r>
            <a:endParaRPr lang="en-US" sz="18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Inversion : </a:t>
            </a:r>
            <a:r>
              <a:rPr lang="en-US" sz="1800" i="1" dirty="0">
                <a:solidFill>
                  <a:schemeClr val="tx1"/>
                </a:solidFill>
              </a:rPr>
              <a:t>In 2018 </a:t>
            </a:r>
            <a:r>
              <a:rPr lang="en-US" sz="1800" b="1" i="1" dirty="0">
                <a:solidFill>
                  <a:schemeClr val="tx1"/>
                </a:solidFill>
              </a:rPr>
              <a:t>is ze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Séparable : </a:t>
            </a:r>
            <a:r>
              <a:rPr lang="en-US" sz="1800" i="1" dirty="0">
                <a:solidFill>
                  <a:schemeClr val="tx1"/>
                </a:solidFill>
              </a:rPr>
              <a:t>af</a:t>
            </a:r>
            <a:r>
              <a:rPr lang="en-US" sz="1800" b="1" i="1" dirty="0">
                <a:solidFill>
                  <a:schemeClr val="tx1"/>
                </a:solidFill>
              </a:rPr>
              <a:t>ge</a:t>
            </a:r>
            <a:r>
              <a:rPr lang="en-US" sz="1800" i="1" dirty="0">
                <a:solidFill>
                  <a:schemeClr val="tx1"/>
                </a:solidFill>
              </a:rPr>
              <a:t>studeerd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doen → gedaan</a:t>
            </a:r>
            <a:r>
              <a:rPr lang="en-US" sz="1800" dirty="0">
                <a:solidFill>
                  <a:schemeClr val="tx1"/>
                </a:solidFill>
              </a:rPr>
              <a:t> (irrégulier).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→ B, changement → </a:t>
            </a: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Valse vrienden 1/3 : les faux-amis 1 à 7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FAUX-AMIS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llustration" descr="le bureau (le meubl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04" y="1600200"/>
            <a:ext cx="1178992" cy="8755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7011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bureau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bureau (le meuble)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table de travail</a:t>
            </a:r>
            <a:endParaRPr lang="en-US" sz="2000" dirty="0"/>
          </a:p>
        </p:txBody>
      </p:sp>
      <p:pic>
        <p:nvPicPr>
          <p:cNvPr id="9" name="illustration" descr="le bureau (le lieu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795" y="1600200"/>
            <a:ext cx="1198890" cy="8755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7655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kantoor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bureau (le lieu)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pièce où l’on travaille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870448" y="1809369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870448" y="18093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2750058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llustration" descr="bizarre, étran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17" y="2841498"/>
            <a:ext cx="1183966" cy="8755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7011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raar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bizarre, étrange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≠ rare</a:t>
            </a:r>
            <a:endParaRPr lang="en-US" sz="2000" dirty="0"/>
          </a:p>
        </p:txBody>
      </p:sp>
      <p:pic>
        <p:nvPicPr>
          <p:cNvPr id="16" name="illustration" descr="r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877" y="2841498"/>
            <a:ext cx="1042726" cy="8755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7655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zeldzaam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rare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qu’on voit peu souvent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5870448" y="3050667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870448" y="30506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48640" y="3991356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1" name="illustration" descr="ch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38" y="4082796"/>
            <a:ext cx="1060325" cy="87553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7011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duur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cher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prix est élevé ≠ dur</a:t>
            </a:r>
            <a:endParaRPr lang="en-US" sz="2000" dirty="0"/>
          </a:p>
        </p:txBody>
      </p:sp>
      <p:pic>
        <p:nvPicPr>
          <p:cNvPr id="23" name="illustration" descr="du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677" y="4082796"/>
            <a:ext cx="1047126" cy="87553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07655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hard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dur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solide, qui ne cède pas</a:t>
            </a:r>
            <a:endParaRPr lang="en-US" sz="2000" dirty="0"/>
          </a:p>
        </p:txBody>
      </p:sp>
      <p:sp>
        <p:nvSpPr>
          <p:cNvPr id="25" name="Shape 16"/>
          <p:cNvSpPr/>
          <p:nvPr/>
        </p:nvSpPr>
        <p:spPr>
          <a:xfrm>
            <a:off x="5870448" y="4291965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5870448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7" name="Shape 18"/>
          <p:cNvSpPr/>
          <p:nvPr/>
        </p:nvSpPr>
        <p:spPr>
          <a:xfrm>
            <a:off x="548640" y="5232654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8" name="illustration" descr="insolent, effronté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804" y="5324094"/>
            <a:ext cx="1047992" cy="87553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2270112" y="5278374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brutaal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insolent, effronté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manque de respect ≠ brutal</a:t>
            </a:r>
            <a:endParaRPr lang="en-US" sz="2000" dirty="0"/>
          </a:p>
        </p:txBody>
      </p:sp>
      <p:pic>
        <p:nvPicPr>
          <p:cNvPr id="30" name="illustration" descr="brutal, rud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6400" y="5324094"/>
            <a:ext cx="1065680" cy="87553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076552" y="5278374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ruw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brutal, rude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violent dans les gestes</a:t>
            </a:r>
            <a:endParaRPr lang="en-US" sz="2000" dirty="0"/>
          </a:p>
        </p:txBody>
      </p:sp>
      <p:sp>
        <p:nvSpPr>
          <p:cNvPr id="32" name="Shape 21"/>
          <p:cNvSpPr/>
          <p:nvPr/>
        </p:nvSpPr>
        <p:spPr>
          <a:xfrm>
            <a:off x="5870448" y="5533263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3" name="Text 22"/>
          <p:cNvSpPr txBox="1"/>
          <p:nvPr/>
        </p:nvSpPr>
        <p:spPr>
          <a:xfrm>
            <a:off x="5870448" y="553326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Valse vrienden 1/3 : les faux-amis 1 à 7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FAUX-AMIS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llustration" descr="la composition, le grou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593" y="1600200"/>
            <a:ext cx="1052414" cy="8755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7011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formatie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composition, le groupe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un groupe formé (musique, gouvernement)</a:t>
            </a:r>
            <a:endParaRPr lang="en-US" sz="2000" dirty="0"/>
          </a:p>
        </p:txBody>
      </p:sp>
      <p:pic>
        <p:nvPicPr>
          <p:cNvPr id="9" name="illustration" descr="la form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877" y="1600200"/>
            <a:ext cx="1042726" cy="8755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7655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opleiding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formation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les études, l’apprentissage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870448" y="1809369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870448" y="18093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2750058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llustration" descr="le vis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38" y="2841498"/>
            <a:ext cx="1060325" cy="8755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7011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gezicht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visage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face de la tête</a:t>
            </a:r>
            <a:endParaRPr lang="en-US" sz="2000" dirty="0"/>
          </a:p>
        </p:txBody>
      </p:sp>
      <p:pic>
        <p:nvPicPr>
          <p:cNvPr id="16" name="illustration" descr="la silhou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677" y="2841498"/>
            <a:ext cx="1047126" cy="8755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7655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figuur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silhouette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forme du corps ≠ la figure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5870448" y="3050667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870448" y="30506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48640" y="3991356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1" name="illustration" descr="l’itinéraire, le traj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36" y="4082796"/>
            <a:ext cx="1185729" cy="87553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7011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route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l’itinéraire, le trajet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chemin prévu de A à B</a:t>
            </a:r>
            <a:endParaRPr lang="en-US" sz="2000" dirty="0"/>
          </a:p>
        </p:txBody>
      </p:sp>
      <p:pic>
        <p:nvPicPr>
          <p:cNvPr id="23" name="illustration" descr="la rou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70" y="4082796"/>
            <a:ext cx="1205741" cy="87553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07655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weg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route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 voie où l’on roule</a:t>
            </a:r>
            <a:endParaRPr lang="en-US" sz="2000" dirty="0"/>
          </a:p>
        </p:txBody>
      </p:sp>
      <p:sp>
        <p:nvSpPr>
          <p:cNvPr id="25" name="Shape 16"/>
          <p:cNvSpPr/>
          <p:nvPr/>
        </p:nvSpPr>
        <p:spPr>
          <a:xfrm>
            <a:off x="5870448" y="4291965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5870448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Faux-amis : choisissez le bon mot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Choisissez le bon mot, puis lisez la phrase correcte à voix haute.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Mijn laptop ligt op mijn </a:t>
            </a:r>
            <a:r>
              <a:rPr lang="en-US" sz="2000" dirty="0">
                <a:solidFill>
                  <a:schemeClr val="tx1"/>
                </a:solidFill>
              </a:rPr>
              <a:t>bureau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kantoor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Een Ferrari is heel </a:t>
            </a:r>
            <a:r>
              <a:rPr lang="en-US" sz="2000" dirty="0">
                <a:solidFill>
                  <a:schemeClr val="tx1"/>
                </a:solidFill>
              </a:rPr>
              <a:t>duur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hard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Een steen is </a:t>
            </a:r>
            <a:r>
              <a:rPr lang="en-US" sz="2000" dirty="0">
                <a:solidFill>
                  <a:schemeClr val="tx1"/>
                </a:solidFill>
              </a:rPr>
              <a:t>duur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hard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Een blauwe banaan? Dat is </a:t>
            </a:r>
            <a:r>
              <a:rPr lang="en-US" sz="2000" dirty="0">
                <a:solidFill>
                  <a:schemeClr val="tx1"/>
                </a:solidFill>
              </a:rPr>
              <a:t>raar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zeldzaam</a:t>
            </a:r>
            <a:r>
              <a:rPr lang="en-US" sz="2000" dirty="0">
                <a:solidFill>
                  <a:schemeClr val="tx1"/>
                </a:solidFill>
              </a:rPr>
              <a:t>!</a:t>
            </a:r>
            <a:endParaRPr lang="en-US" sz="20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Die vogel zie je bijna nooit: hij is </a:t>
            </a:r>
            <a:r>
              <a:rPr lang="en-US" sz="2000" dirty="0">
                <a:solidFill>
                  <a:schemeClr val="tx1"/>
                </a:solidFill>
              </a:rPr>
              <a:t>raar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zeldzaam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Ik volg een </a:t>
            </a:r>
            <a:r>
              <a:rPr lang="en-US" sz="2000" dirty="0">
                <a:solidFill>
                  <a:schemeClr val="tx1"/>
                </a:solidFill>
              </a:rPr>
              <a:t>opleiding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formatie</a:t>
            </a:r>
            <a:r>
              <a:rPr lang="en-US" sz="2000" dirty="0">
                <a:solidFill>
                  <a:schemeClr val="tx1"/>
                </a:solidFill>
              </a:rPr>
              <a:t> tot verpleegkundige.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Het kind steekt zijn tong uit: het is </a:t>
            </a:r>
            <a:r>
              <a:rPr lang="en-US" sz="2000" dirty="0">
                <a:solidFill>
                  <a:schemeClr val="tx1"/>
                </a:solidFill>
              </a:rPr>
              <a:t>brutaal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ruw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Ze heeft een mooi </a:t>
            </a:r>
            <a:r>
              <a:rPr lang="en-US" sz="2000" dirty="0">
                <a:solidFill>
                  <a:schemeClr val="tx1"/>
                </a:solidFill>
              </a:rPr>
              <a:t>gezicht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dirty="0">
                <a:solidFill>
                  <a:schemeClr val="tx1"/>
                </a:solidFill>
              </a:rPr>
              <a:t>figuur</a:t>
            </a:r>
            <a:r>
              <a:rPr lang="en-US" sz="2000" dirty="0">
                <a:solidFill>
                  <a:schemeClr val="tx1"/>
                </a:solidFill>
              </a:rPr>
              <a:t>: mooie ogen en een mooie mond.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Faux-amis : choisissez le bon mot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Choisissez le bon mot, puis lisez la phrase correcte à voix haute.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Mijn laptop ligt op mijn </a:t>
            </a:r>
            <a:r>
              <a:rPr lang="en-US" sz="2000" b="1" dirty="0">
                <a:solidFill>
                  <a:schemeClr val="accent3"/>
                </a:solidFill>
              </a:rPr>
              <a:t>bureau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strike="sngStrike" dirty="0">
                <a:solidFill>
                  <a:schemeClr val="accent6"/>
                </a:solidFill>
              </a:rPr>
              <a:t>kantoor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Een Ferrari is heel </a:t>
            </a:r>
            <a:r>
              <a:rPr lang="en-US" sz="2000" b="1" dirty="0">
                <a:solidFill>
                  <a:schemeClr val="accent3"/>
                </a:solidFill>
              </a:rPr>
              <a:t>duur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strike="sngStrike" dirty="0">
                <a:solidFill>
                  <a:schemeClr val="accent6"/>
                </a:solidFill>
              </a:rPr>
              <a:t>hard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Een steen is </a:t>
            </a:r>
            <a:r>
              <a:rPr lang="en-US" sz="2000" strike="sngStrike" dirty="0">
                <a:solidFill>
                  <a:schemeClr val="accent6"/>
                </a:solidFill>
              </a:rPr>
              <a:t>duur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accent3"/>
                </a:solidFill>
              </a:rPr>
              <a:t>hard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Een blauwe banaan? Dat is </a:t>
            </a:r>
            <a:r>
              <a:rPr lang="en-US" sz="2000" b="1" dirty="0">
                <a:solidFill>
                  <a:schemeClr val="accent3"/>
                </a:solidFill>
              </a:rPr>
              <a:t>raar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strike="sngStrike" dirty="0">
                <a:solidFill>
                  <a:schemeClr val="accent6"/>
                </a:solidFill>
              </a:rPr>
              <a:t>zeldzaam</a:t>
            </a:r>
            <a:r>
              <a:rPr lang="en-US" sz="2000" dirty="0">
                <a:solidFill>
                  <a:schemeClr val="tx1"/>
                </a:solidFill>
              </a:rPr>
              <a:t>!</a:t>
            </a:r>
            <a:endParaRPr lang="en-US" sz="20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Die vogel zie je bijna nooit: hij is </a:t>
            </a:r>
            <a:r>
              <a:rPr lang="en-US" sz="2000" strike="sngStrike" dirty="0">
                <a:solidFill>
                  <a:schemeClr val="accent6"/>
                </a:solidFill>
              </a:rPr>
              <a:t>raar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accent3"/>
                </a:solidFill>
              </a:rPr>
              <a:t>zeldzaam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Ik volg een </a:t>
            </a:r>
            <a:r>
              <a:rPr lang="en-US" sz="2000" b="1" dirty="0">
                <a:solidFill>
                  <a:schemeClr val="accent3"/>
                </a:solidFill>
              </a:rPr>
              <a:t>opleiding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strike="sngStrike" dirty="0">
                <a:solidFill>
                  <a:schemeClr val="accent6"/>
                </a:solidFill>
              </a:rPr>
              <a:t>formatie</a:t>
            </a:r>
            <a:r>
              <a:rPr lang="en-US" sz="2000" dirty="0">
                <a:solidFill>
                  <a:schemeClr val="tx1"/>
                </a:solidFill>
              </a:rPr>
              <a:t> tot verpleegkundige.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Het kind steekt zijn tong uit: het is </a:t>
            </a:r>
            <a:r>
              <a:rPr lang="en-US" sz="2000" b="1" dirty="0">
                <a:solidFill>
                  <a:schemeClr val="accent3"/>
                </a:solidFill>
              </a:rPr>
              <a:t>brutaal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strike="sngStrike" dirty="0">
                <a:solidFill>
                  <a:schemeClr val="accent6"/>
                </a:solidFill>
              </a:rPr>
              <a:t>ruw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Ze heeft een mooi </a:t>
            </a:r>
            <a:r>
              <a:rPr lang="en-US" sz="2000" b="1" dirty="0">
                <a:solidFill>
                  <a:schemeClr val="accent3"/>
                </a:solidFill>
              </a:rPr>
              <a:t>gezicht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strike="sngStrike" dirty="0">
                <a:solidFill>
                  <a:schemeClr val="accent6"/>
                </a:solidFill>
              </a:rPr>
              <a:t>figuur</a:t>
            </a:r>
            <a:r>
              <a:rPr lang="en-US" sz="2000" dirty="0">
                <a:solidFill>
                  <a:schemeClr val="tx1"/>
                </a:solidFill>
              </a:rPr>
              <a:t>: mooie ogen en een mooie mond.</a:t>
            </a:r>
            <a:endParaRPr lang="en-US" sz="20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bureau = le </a:t>
            </a:r>
            <a:r>
              <a:rPr lang="en-US" sz="1800" b="1" dirty="0">
                <a:solidFill>
                  <a:schemeClr val="tx1"/>
                </a:solidFill>
              </a:rPr>
              <a:t>meuble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kantoor = le </a:t>
            </a:r>
            <a:r>
              <a:rPr lang="en-US" sz="1800" b="1" dirty="0">
                <a:solidFill>
                  <a:schemeClr val="tx1"/>
                </a:solidFill>
              </a:rPr>
              <a:t>lieu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duur</a:t>
            </a:r>
            <a:r>
              <a:rPr lang="en-US" sz="1800" dirty="0">
                <a:solidFill>
                  <a:schemeClr val="tx1"/>
                </a:solidFill>
              </a:rPr>
              <a:t> = cher · </a:t>
            </a:r>
            <a:r>
              <a:rPr lang="en-US" sz="1800" i="1" dirty="0">
                <a:solidFill>
                  <a:schemeClr val="tx1"/>
                </a:solidFill>
              </a:rPr>
              <a:t>hard</a:t>
            </a:r>
            <a:r>
              <a:rPr lang="en-US" sz="1800" dirty="0">
                <a:solidFill>
                  <a:schemeClr val="tx1"/>
                </a:solidFill>
              </a:rPr>
              <a:t> = dur.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raar</a:t>
            </a:r>
            <a:r>
              <a:rPr lang="en-US" sz="1800" dirty="0">
                <a:solidFill>
                  <a:schemeClr val="tx1"/>
                </a:solidFill>
              </a:rPr>
              <a:t> = bizarre · </a:t>
            </a:r>
            <a:r>
              <a:rPr lang="en-US" sz="1800" i="1" dirty="0">
                <a:solidFill>
                  <a:schemeClr val="tx1"/>
                </a:solidFill>
              </a:rPr>
              <a:t>zeldzaam</a:t>
            </a:r>
            <a:r>
              <a:rPr lang="en-US" sz="1800" dirty="0">
                <a:solidFill>
                  <a:schemeClr val="tx1"/>
                </a:solidFill>
              </a:rPr>
              <a:t> = rare.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opleiding volgen</a:t>
            </a:r>
            <a:r>
              <a:rPr lang="en-US" sz="1800" dirty="0">
                <a:solidFill>
                  <a:schemeClr val="tx1"/>
                </a:solidFill>
              </a:rPr>
              <a:t> = suivre une formation.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2 : Parler de son CV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(questions)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(réponses). Noms avec leur article.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3017520"/>
                <a:gridCol w="2862072"/>
              </a:tblGrid>
              <a:tr h="4864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identiteit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l’identité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diploma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diplôme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ervaring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l’expérience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afstuderen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finir ses études, être diplômé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opleiding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formation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· talen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langue · les langues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rubriek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rubrique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klant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client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volgen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suivre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bedrijf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l’entreprise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werken · spreken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travailler · parler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onderneming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l’entreprise (soutenu)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beroep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métier, la profession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verantwoordelijk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voor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responsable 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cv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CV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buitenland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l’étranger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afstuderen</a:t>
            </a:r>
            <a:r>
              <a:rPr lang="en-US" sz="1500" i="1" dirty="0">
                <a:solidFill>
                  <a:schemeClr val="accent5"/>
                </a:solidFill>
              </a:rPr>
              <a:t> est </a:t>
            </a:r>
            <a:r>
              <a:rPr lang="en-US" sz="1500" b="1" i="1" dirty="0">
                <a:solidFill>
                  <a:schemeClr val="accent5"/>
                </a:solidFill>
              </a:rPr>
              <a:t>séparable</a:t>
            </a:r>
            <a:r>
              <a:rPr lang="en-US" sz="1500" i="1" dirty="0">
                <a:solidFill>
                  <a:schemeClr val="accent5"/>
                </a:solidFill>
              </a:rPr>
              <a:t> et prend </a:t>
            </a:r>
            <a:r>
              <a:rPr lang="en-US" sz="1500" b="1" i="1" dirty="0">
                <a:solidFill>
                  <a:schemeClr val="accent5"/>
                </a:solidFill>
              </a:rPr>
              <a:t>zijn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Ik studeer in juni af.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Ik </a:t>
            </a:r>
            <a:r>
              <a:rPr lang="en-US" sz="1500" b="1" i="1" dirty="0">
                <a:solidFill>
                  <a:schemeClr val="accent5"/>
                </a:solidFill>
              </a:rPr>
              <a:t>ben</a:t>
            </a:r>
            <a:r>
              <a:rPr lang="en-US" sz="1500" i="1" dirty="0">
                <a:solidFill>
                  <a:schemeClr val="accent5"/>
                </a:solidFill>
              </a:rPr>
              <a:t> in 2019 af</a:t>
            </a:r>
            <a:r>
              <a:rPr lang="en-US" sz="1500" b="1" i="1" dirty="0">
                <a:solidFill>
                  <a:schemeClr val="accent5"/>
                </a:solidFill>
              </a:rPr>
              <a:t>ge</a:t>
            </a:r>
            <a:r>
              <a:rPr lang="en-US" sz="1500" i="1" dirty="0">
                <a:solidFill>
                  <a:schemeClr val="accent5"/>
                </a:solidFill>
              </a:rPr>
              <a:t>studeerd.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 cv à la loupe : le cv de Julie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406640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5943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CV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609344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Julie Lambert — curriculum vitae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IDENTITEIT   </a:t>
            </a:r>
            <a:r>
              <a:rPr lang="en-US" sz="2100" dirty="0">
                <a:solidFill>
                  <a:schemeClr val="tx1"/>
                </a:solidFill>
              </a:rPr>
              <a:t>Julie Lambert · geboren in 1997 · woont in Bergen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OPLEIDING   </a:t>
            </a:r>
            <a:r>
              <a:rPr lang="en-US" sz="2100" dirty="0">
                <a:solidFill>
                  <a:schemeClr val="tx1"/>
                </a:solidFill>
              </a:rPr>
              <a:t>2016 – 2019 · bachelor Office Management in Bergen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STAGE   </a:t>
            </a:r>
            <a:r>
              <a:rPr lang="en-US" sz="2100" dirty="0">
                <a:solidFill>
                  <a:schemeClr val="tx1"/>
                </a:solidFill>
              </a:rPr>
              <a:t>2018 · drie maanden stage in Londen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ERVARING   </a:t>
            </a:r>
            <a:r>
              <a:rPr lang="en-US" sz="2100" dirty="0">
                <a:solidFill>
                  <a:schemeClr val="tx1"/>
                </a:solidFill>
              </a:rPr>
              <a:t>2019 – 2022 · secretaresse in een transportbedrijf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NU   </a:t>
            </a:r>
            <a:r>
              <a:rPr lang="en-US" sz="2100" dirty="0">
                <a:solidFill>
                  <a:schemeClr val="tx1"/>
                </a:solidFill>
              </a:rPr>
              <a:t>sinds 2022 · office manager in Brussel, verantwoordelijk voor een team van vijf personen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TALEN   </a:t>
            </a:r>
            <a:r>
              <a:rPr lang="en-US" sz="2100" dirty="0">
                <a:solidFill>
                  <a:schemeClr val="tx1"/>
                </a:solidFill>
              </a:rPr>
              <a:t>Frans (moedertaal) · Engels (goed) · Nederlands (A2)</a:t>
            </a:r>
            <a:endParaRPr lang="en-US" sz="2100" dirty="0"/>
          </a:p>
        </p:txBody>
      </p:sp>
      <p:sp>
        <p:nvSpPr>
          <p:cNvPr id="10" name="aside"/>
          <p:cNvSpPr/>
          <p:nvPr/>
        </p:nvSpPr>
        <p:spPr>
          <a:xfrm>
            <a:off x="8275320" y="1481328"/>
            <a:ext cx="3364992" cy="4809744"/>
          </a:xfrm>
          <a:prstGeom prst="roundRect">
            <a:avLst>
              <a:gd name="adj" fmla="val 217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42248" y="16367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À REPÉRER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439912" y="2075688"/>
            <a:ext cx="30358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</a:t>
            </a:r>
            <a:r>
              <a:rPr lang="en-US" sz="1800" b="1" dirty="0">
                <a:solidFill>
                  <a:schemeClr val="tx1"/>
                </a:solidFill>
              </a:rPr>
              <a:t>rubrieken</a:t>
            </a:r>
            <a:r>
              <a:rPr lang="en-US" sz="1800" dirty="0">
                <a:solidFill>
                  <a:schemeClr val="tx1"/>
                </a:solidFill>
              </a:rPr>
              <a:t> du cv.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C’est fini → </a:t>
            </a:r>
            <a:r>
              <a:rPr lang="en-US" sz="1800" b="1" dirty="0">
                <a:solidFill>
                  <a:schemeClr val="tx1"/>
                </a:solidFill>
              </a:rPr>
              <a:t>perfectum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Ze heeft in Londen stage gedaan.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Ça dure → </a:t>
            </a:r>
            <a:r>
              <a:rPr lang="en-US" sz="1800" b="1" dirty="0">
                <a:solidFill>
                  <a:schemeClr val="tx1"/>
                </a:solidFill>
              </a:rPr>
              <a:t>sinds</a:t>
            </a:r>
            <a:r>
              <a:rPr lang="en-US" sz="1800" dirty="0">
                <a:solidFill>
                  <a:schemeClr val="tx1"/>
                </a:solidFill>
              </a:rPr>
              <a:t> + présent : </a:t>
            </a:r>
            <a:r>
              <a:rPr lang="en-US" sz="1800" i="1" dirty="0">
                <a:solidFill>
                  <a:schemeClr val="tx1"/>
                </a:solidFill>
              </a:rPr>
              <a:t>Sinds 2022 werkt ze in Brussel.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2 · Jalon 1 (A1) : interroger sur le parcours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Traduisez, puis comparez avec votre voisin.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interrogative. Le recruteur </a:t>
            </a:r>
            <a:r>
              <a:rPr lang="en-US" sz="1600" b="1" i="1" dirty="0">
                <a:solidFill>
                  <a:schemeClr val="accent5"/>
                </a:solidFill>
              </a:rPr>
              <a:t>vouvoie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823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met-on dans la rubrique « identité »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Quelle formation suivez-vous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 est votre métier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Parlez-vous un peu néerlandais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Avez-vous de l’expérience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Avec </a:t>
            </a:r>
            <a:r>
              <a:rPr lang="en-US" sz="1500" b="1" i="1" dirty="0">
                <a:solidFill>
                  <a:schemeClr val="accent5"/>
                </a:solidFill>
              </a:rPr>
              <a:t>u</a:t>
            </a:r>
            <a:r>
              <a:rPr lang="en-US" sz="1500" i="1" dirty="0">
                <a:solidFill>
                  <a:schemeClr val="accent5"/>
                </a:solidFill>
              </a:rPr>
              <a:t>, le verbe garde son </a:t>
            </a:r>
            <a:r>
              <a:rPr lang="en-US" sz="1500" b="1" i="1" dirty="0">
                <a:solidFill>
                  <a:schemeClr val="accent5"/>
                </a:solidFill>
              </a:rPr>
              <a:t>-t</a:t>
            </a:r>
            <a:r>
              <a:rPr lang="en-US" sz="1500" i="1" dirty="0">
                <a:solidFill>
                  <a:schemeClr val="accent5"/>
                </a:solidFill>
              </a:rPr>
              <a:t>, même après inversion : </a:t>
            </a:r>
            <a:r>
              <a:rPr lang="en-US" sz="1500" i="1" dirty="0">
                <a:solidFill>
                  <a:schemeClr val="accent5"/>
                </a:solidFill>
              </a:rPr>
              <a:t>Volgt u? Spreekt u?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de l’expérience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ervaring</a:t>
            </a:r>
            <a:r>
              <a:rPr lang="en-US" sz="1500" i="1" dirty="0">
                <a:solidFill>
                  <a:schemeClr val="accent5"/>
                </a:solidFill>
              </a:rPr>
              <a:t> (sans article).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2 · Jalon 1 (A1) : interroger sur le parcours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Traduisez, puis comparez avec votre voisin.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interrogative. Le recruteur </a:t>
            </a:r>
            <a:r>
              <a:rPr lang="en-US" sz="1600" b="1" i="1" dirty="0">
                <a:solidFill>
                  <a:schemeClr val="accent5"/>
                </a:solidFill>
              </a:rPr>
              <a:t>vouvoie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823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 met-on dans la rubrique « identité »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zet je in de rubriek «identiteit»?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Quelle formation suivez-vous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Welke opleiding volgt u?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 est votre métier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is uw beroep?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Parlez-vous un peu néerlandais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Spreekt u een beetje Nederlands?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Avez-vous de l’expérience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Hebt u ervaring?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Avec </a:t>
            </a:r>
            <a:r>
              <a:rPr lang="en-US" sz="1500" b="1" i="1" dirty="0">
                <a:solidFill>
                  <a:schemeClr val="accent5"/>
                </a:solidFill>
              </a:rPr>
              <a:t>u</a:t>
            </a:r>
            <a:r>
              <a:rPr lang="en-US" sz="1500" i="1" dirty="0">
                <a:solidFill>
                  <a:schemeClr val="accent5"/>
                </a:solidFill>
              </a:rPr>
              <a:t>, le verbe garde son </a:t>
            </a:r>
            <a:r>
              <a:rPr lang="en-US" sz="1500" b="1" i="1" dirty="0">
                <a:solidFill>
                  <a:schemeClr val="accent5"/>
                </a:solidFill>
              </a:rPr>
              <a:t>-t</a:t>
            </a:r>
            <a:r>
              <a:rPr lang="en-US" sz="1500" i="1" dirty="0">
                <a:solidFill>
                  <a:schemeClr val="accent5"/>
                </a:solidFill>
              </a:rPr>
              <a:t>, même après inversion : </a:t>
            </a:r>
            <a:r>
              <a:rPr lang="en-US" sz="1500" i="1" dirty="0">
                <a:solidFill>
                  <a:schemeClr val="accent5"/>
                </a:solidFill>
              </a:rPr>
              <a:t>Volgt u? Spreekt u?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de l’expérience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i="1" dirty="0">
                <a:solidFill>
                  <a:schemeClr val="accent5"/>
                </a:solidFill>
              </a:rPr>
              <a:t>ervaring</a:t>
            </a:r>
            <a:r>
              <a:rPr lang="en-US" sz="1500" i="1" dirty="0">
                <a:solidFill>
                  <a:schemeClr val="accent5"/>
                </a:solidFill>
              </a:rPr>
              <a:t> (sans article).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2 · Jalon 2 (A2) : mon profil en détail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Perfectum, </a:t>
            </a:r>
            <a:r>
              <a:rPr lang="en-US" sz="1600" b="1" i="1" dirty="0">
                <a:solidFill>
                  <a:schemeClr val="accent5"/>
                </a:solidFill>
              </a:rPr>
              <a:t>sinds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: attention à la place du verbe !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 obtenu mon diplôme en 2019, après trois années d’études.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Depuis que j’ai terminé mes études, je travaille dans une entreprise.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suis responsable d’une équipe de cinq personnes.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n’ai pas encore beaucoup d’expérience à l’étranger.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je parle trois langues, je peux aider les clients étrangers.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sinds</a:t>
            </a:r>
            <a:r>
              <a:rPr lang="en-US" sz="1500" i="1" dirty="0">
                <a:solidFill>
                  <a:schemeClr val="accent5"/>
                </a:solidFill>
              </a:rPr>
              <a:t> + </a:t>
            </a:r>
            <a:r>
              <a:rPr lang="en-US" sz="1500" b="1" i="1" dirty="0">
                <a:solidFill>
                  <a:schemeClr val="accent5"/>
                </a:solidFill>
              </a:rPr>
              <a:t>présent</a:t>
            </a:r>
            <a:r>
              <a:rPr lang="en-US" sz="1500" i="1" dirty="0">
                <a:solidFill>
                  <a:schemeClr val="accent5"/>
                </a:solidFill>
              </a:rPr>
              <a:t> quand ça dure encore · </a:t>
            </a:r>
            <a:r>
              <a:rPr lang="en-US" sz="1500" i="1" dirty="0">
                <a:solidFill>
                  <a:schemeClr val="accent5"/>
                </a:solidFill>
              </a:rPr>
              <a:t>drie </a:t>
            </a:r>
            <a:r>
              <a:rPr lang="en-US" sz="1500" b="1" i="1" dirty="0">
                <a:solidFill>
                  <a:schemeClr val="accent5"/>
                </a:solidFill>
              </a:rPr>
              <a:t>jaar</a:t>
            </a:r>
            <a:r>
              <a:rPr lang="en-US" sz="1500" i="1" dirty="0">
                <a:solidFill>
                  <a:schemeClr val="accent5"/>
                </a:solidFill>
              </a:rPr>
              <a:t> : singulier après un nombre · </a:t>
            </a:r>
            <a:r>
              <a:rPr lang="en-US" sz="1500" i="1" dirty="0">
                <a:solidFill>
                  <a:schemeClr val="accent5"/>
                </a:solidFill>
              </a:rPr>
              <a:t>verantwoordelijk </a:t>
            </a:r>
            <a:r>
              <a:rPr lang="en-US" sz="1500" b="1" i="1" dirty="0">
                <a:solidFill>
                  <a:schemeClr val="accent5"/>
                </a:solidFill>
              </a:rPr>
              <a:t>voor</a:t>
            </a:r>
            <a:r>
              <a:rPr lang="en-US" sz="1500" i="1" dirty="0">
                <a:solidFill>
                  <a:schemeClr val="accent5"/>
                </a:solidFill>
              </a:rPr>
              <a:t> (✗ </a:t>
            </a:r>
            <a:r>
              <a:rPr lang="en-US" sz="1500" i="1" dirty="0">
                <a:solidFill>
                  <a:schemeClr val="accent5"/>
                </a:solidFill>
              </a:rPr>
              <a:t>van</a:t>
            </a:r>
            <a:r>
              <a:rPr lang="en-US" sz="1500" i="1" dirty="0">
                <a:solidFill>
                  <a:schemeClr val="accent5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2 · Jalon 2 (A2) : mon profil en détail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Perfectum, </a:t>
            </a:r>
            <a:r>
              <a:rPr lang="en-US" sz="1600" b="1" i="1" dirty="0">
                <a:solidFill>
                  <a:schemeClr val="accent5"/>
                </a:solidFill>
              </a:rPr>
              <a:t>sinds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: attention à la place du verbe !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389120"/>
                <a:gridCol w="53309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 obtenu mon diplôme en 2019, après trois années d’études.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ben in 2019 afgestudeerd, na drie jaar studie.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Depuis que j’ai terminé mes études, je travaille dans une entreprise.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Sinds ik afgestudeerd ben, werk ik in een bedrijf.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suis responsable d’une équipe de cinq personnes.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ben verantwoordelijk voor een team van vijf personen.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n’ai pas encore beaucoup d’expérience à l’étranger.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Ik heb nog niet veel ervaring in het buitenland.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8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Comme je parle trois langues, je peux aider les clients étrangers.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Omdat ik drie talen spreek, kan ik buitenlandse klanten helpen.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sinds</a:t>
            </a:r>
            <a:r>
              <a:rPr lang="en-US" sz="1500" i="1" dirty="0">
                <a:solidFill>
                  <a:schemeClr val="accent5"/>
                </a:solidFill>
              </a:rPr>
              <a:t> + </a:t>
            </a:r>
            <a:r>
              <a:rPr lang="en-US" sz="1500" b="1" i="1" dirty="0">
                <a:solidFill>
                  <a:schemeClr val="accent5"/>
                </a:solidFill>
              </a:rPr>
              <a:t>présent</a:t>
            </a:r>
            <a:r>
              <a:rPr lang="en-US" sz="1500" i="1" dirty="0">
                <a:solidFill>
                  <a:schemeClr val="accent5"/>
                </a:solidFill>
              </a:rPr>
              <a:t> quand ça dure encore · </a:t>
            </a:r>
            <a:r>
              <a:rPr lang="en-US" sz="1500" i="1" dirty="0">
                <a:solidFill>
                  <a:schemeClr val="accent5"/>
                </a:solidFill>
              </a:rPr>
              <a:t>drie </a:t>
            </a:r>
            <a:r>
              <a:rPr lang="en-US" sz="1500" b="1" i="1" dirty="0">
                <a:solidFill>
                  <a:schemeClr val="accent5"/>
                </a:solidFill>
              </a:rPr>
              <a:t>jaar</a:t>
            </a:r>
            <a:r>
              <a:rPr lang="en-US" sz="1500" i="1" dirty="0">
                <a:solidFill>
                  <a:schemeClr val="accent5"/>
                </a:solidFill>
              </a:rPr>
              <a:t> : singulier après un nombre · </a:t>
            </a:r>
            <a:r>
              <a:rPr lang="en-US" sz="1500" i="1" dirty="0">
                <a:solidFill>
                  <a:schemeClr val="accent5"/>
                </a:solidFill>
              </a:rPr>
              <a:t>verantwoordelijk </a:t>
            </a:r>
            <a:r>
              <a:rPr lang="en-US" sz="1500" b="1" i="1" dirty="0">
                <a:solidFill>
                  <a:schemeClr val="accent5"/>
                </a:solidFill>
              </a:rPr>
              <a:t>voor</a:t>
            </a:r>
            <a:r>
              <a:rPr lang="en-US" sz="1500" i="1" dirty="0">
                <a:solidFill>
                  <a:schemeClr val="accent5"/>
                </a:solidFill>
              </a:rPr>
              <a:t> (✗ </a:t>
            </a:r>
            <a:r>
              <a:rPr lang="en-US" sz="1500" i="1" dirty="0">
                <a:solidFill>
                  <a:schemeClr val="accent5"/>
                </a:solidFill>
              </a:rPr>
              <a:t>van</a:t>
            </a:r>
            <a:r>
              <a:rPr lang="en-US" sz="1500" i="1" dirty="0">
                <a:solidFill>
                  <a:schemeClr val="accent5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raconter son parcours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C’est </a:t>
            </a:r>
            <a:r>
              <a:rPr lang="en-US" sz="1800" b="1" dirty="0">
                <a:solidFill>
                  <a:schemeClr val="tx1"/>
                </a:solidFill>
              </a:rPr>
              <a:t>fini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perfectum</a:t>
            </a:r>
            <a:r>
              <a:rPr lang="en-US" sz="1800" dirty="0">
                <a:solidFill>
                  <a:schemeClr val="tx1"/>
                </a:solidFill>
              </a:rPr>
              <a:t>. Ça </a:t>
            </a:r>
            <a:r>
              <a:rPr lang="en-US" sz="1800" b="1" dirty="0">
                <a:solidFill>
                  <a:schemeClr val="tx1"/>
                </a:solidFill>
              </a:rPr>
              <a:t>dure encore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sinds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b="1" dirty="0">
                <a:solidFill>
                  <a:schemeClr val="tx1"/>
                </a:solidFill>
              </a:rPr>
              <a:t>présent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perfectum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2019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28168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8168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825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07720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7720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378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72736" y="1947672"/>
            <a:ext cx="170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72736" y="2185416"/>
            <a:ext cx="1702816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09312" y="2185416"/>
            <a:ext cx="162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afgestudeerd.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En 2019, j’ai obtenu mon diplôme.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sinds en tête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801874"/>
            <a:ext cx="307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position 1 = la subordonnée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03120" y="3039618"/>
            <a:ext cx="3076448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39696" y="3039618"/>
            <a:ext cx="3003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Sinds ik afgestudeerd ben,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289296" y="2801874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89296" y="3039618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25872" y="3039618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150864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50864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87440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946392" y="2801874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946392" y="3039618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82968" y="3039618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een bedrijf.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Depuis que j’ai terminé mes études, je travaille dans une entreprise.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 en tête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103120" y="365607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position 1 = la subordonnée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103120" y="3893820"/>
            <a:ext cx="318211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139696" y="38938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Omdat ik drie talen spreek,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394960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394960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31536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kan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619048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19048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2706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6986016" y="365607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986016" y="389382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22592" y="389382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klanten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8164576" y="365607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8164576" y="389382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01152" y="389382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helpen.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Comme je parle trois langues, je peux aider les clients.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nog niet veel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2103120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103120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139696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289864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89864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3522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3694176" y="4510278"/>
            <a:ext cx="170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pas encore beaucoup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694176" y="4748022"/>
            <a:ext cx="1702816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730752" y="4748022"/>
            <a:ext cx="162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nog niet veel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5506720" y="4510278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5506720" y="4748022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543296" y="4748022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ervaring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6790944" y="4510278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790944" y="4748022"/>
            <a:ext cx="2231136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827520" y="474802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het buitenland.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n’ai pas encore beaucoup d’expérience à l’étranger.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Je travaille ici </a:t>
            </a:r>
            <a:r>
              <a:rPr lang="en-US" sz="1700" b="1" i="1" dirty="0">
                <a:solidFill>
                  <a:schemeClr val="tx1"/>
                </a:solidFill>
              </a:rPr>
              <a:t>depuis</a:t>
            </a:r>
            <a:r>
              <a:rPr lang="en-US" sz="1700" i="1" dirty="0">
                <a:solidFill>
                  <a:schemeClr val="tx1"/>
                </a:solidFill>
              </a:rPr>
              <a:t> 2019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werk</a:t>
            </a:r>
            <a:r>
              <a:rPr lang="en-US" sz="1700" i="1" dirty="0">
                <a:solidFill>
                  <a:schemeClr val="tx1"/>
                </a:solidFill>
              </a:rPr>
              <a:t> hier </a:t>
            </a:r>
            <a:r>
              <a:rPr lang="en-US" sz="1700" b="1" i="1" dirty="0">
                <a:solidFill>
                  <a:schemeClr val="tx1"/>
                </a:solidFill>
              </a:rPr>
              <a:t>sinds</a:t>
            </a:r>
            <a:r>
              <a:rPr lang="en-US" sz="1700" i="1" dirty="0">
                <a:solidFill>
                  <a:schemeClr val="tx1"/>
                </a:solidFill>
              </a:rPr>
              <a:t> 2019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b="1" dirty="0">
                <a:solidFill>
                  <a:schemeClr val="tx1"/>
                </a:solidFill>
              </a:rPr>
              <a:t>présent</a:t>
            </a:r>
            <a:r>
              <a:rPr lang="en-US" sz="1700" dirty="0">
                <a:solidFill>
                  <a:schemeClr val="tx1"/>
                </a:solidFill>
              </a:rPr>
              <a:t>, car ça dure encore.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heb</a:t>
            </a:r>
            <a:r>
              <a:rPr lang="en-US" sz="1700" i="1" dirty="0">
                <a:solidFill>
                  <a:schemeClr val="tx1"/>
                </a:solidFill>
              </a:rPr>
              <a:t> hier </a:t>
            </a:r>
            <a:r>
              <a:rPr lang="en-US" sz="1700" b="1" i="1" dirty="0">
                <a:solidFill>
                  <a:schemeClr val="tx1"/>
                </a:solidFill>
              </a:rPr>
              <a:t>gewerkt</a:t>
            </a:r>
            <a:r>
              <a:rPr lang="en-US" sz="1700" dirty="0">
                <a:solidFill>
                  <a:schemeClr val="tx1"/>
                </a:solidFill>
              </a:rPr>
              <a:t> = c’est </a:t>
            </a:r>
            <a:r>
              <a:rPr lang="en-US" sz="1700" b="1" dirty="0">
                <a:solidFill>
                  <a:schemeClr val="tx1"/>
                </a:solidFill>
              </a:rPr>
              <a:t>fini</a:t>
            </a:r>
            <a:r>
              <a:rPr lang="en-US" sz="1700" dirty="0">
                <a:solidFill>
                  <a:schemeClr val="tx1"/>
                </a:solidFill>
              </a:rPr>
              <a:t>, je n’y travaille plus.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parlez-moi de votre cv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10 min — A = recruteur, B = candidat. </a:t>
            </a:r>
            <a:r>
              <a:rPr lang="en-US" sz="1600" b="1" i="1" dirty="0">
                <a:solidFill>
                  <a:schemeClr val="accent5"/>
                </a:solidFill>
              </a:rPr>
              <a:t>Vouvoiement</a:t>
            </a:r>
            <a:r>
              <a:rPr lang="en-US" sz="1600" i="1" dirty="0">
                <a:solidFill>
                  <a:schemeClr val="accent5"/>
                </a:solidFill>
              </a:rPr>
              <a:t>. 1er tour : B joue </a:t>
            </a:r>
            <a:r>
              <a:rPr lang="en-US" sz="1600" b="1" i="1" dirty="0">
                <a:solidFill>
                  <a:schemeClr val="accent5"/>
                </a:solidFill>
              </a:rPr>
              <a:t>Julie</a:t>
            </a:r>
            <a:r>
              <a:rPr lang="en-US" sz="1600" i="1" dirty="0">
                <a:solidFill>
                  <a:schemeClr val="accent5"/>
                </a:solidFill>
              </a:rPr>
              <a:t> (son cv) ; 2e tour : B présente </a:t>
            </a:r>
            <a:r>
              <a:rPr lang="en-US" sz="1600" b="1" i="1" dirty="0">
                <a:solidFill>
                  <a:schemeClr val="accent5"/>
                </a:solidFill>
              </a:rPr>
              <a:t>son propre</a:t>
            </a:r>
            <a:r>
              <a:rPr lang="en-US" sz="1600" i="1" dirty="0">
                <a:solidFill>
                  <a:schemeClr val="accent5"/>
                </a:solidFill>
              </a:rPr>
              <a:t> parcours.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33600"/>
            <a:ext cx="5431536" cy="4157472"/>
          </a:xfrm>
          <a:prstGeom prst="roundRect">
            <a:avLst>
              <a:gd name="adj" fmla="val 176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2707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A6FB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4391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7371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243328"/>
            <a:ext cx="4151376" cy="393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 — le recruteur.</a:t>
            </a:r>
            <a:r>
              <a:rPr lang="en-US" sz="2200" dirty="0">
                <a:solidFill>
                  <a:schemeClr val="tx1"/>
                </a:solidFill>
              </a:rPr>
              <a:t> Saluez, puis posez les questions du </a:t>
            </a:r>
            <a:r>
              <a:rPr lang="en-US" sz="2200" b="1" dirty="0">
                <a:solidFill>
                  <a:schemeClr val="tx1"/>
                </a:solidFill>
              </a:rPr>
              <a:t>Jalon 1</a:t>
            </a:r>
            <a:r>
              <a:rPr lang="en-US" sz="2200" dirty="0">
                <a:solidFill>
                  <a:schemeClr val="tx1"/>
                </a:solidFill>
              </a:rPr>
              <a:t> : opleiding · beroep · Nederlands · ervaring. Ajoutez </a:t>
            </a:r>
            <a:r>
              <a:rPr lang="en-US" sz="2200" b="1" dirty="0">
                <a:solidFill>
                  <a:schemeClr val="tx1"/>
                </a:solidFill>
              </a:rPr>
              <a:t>deux questions au passé</a:t>
            </a:r>
            <a:r>
              <a:rPr lang="en-US" sz="2200" dirty="0">
                <a:solidFill>
                  <a:schemeClr val="tx1"/>
                </a:solidFill>
              </a:rPr>
              <a:t> : </a:t>
            </a:r>
            <a:r>
              <a:rPr lang="en-US" sz="2200" i="1" dirty="0">
                <a:solidFill>
                  <a:schemeClr val="tx1"/>
                </a:solidFill>
              </a:rPr>
              <a:t>Waar hebt u gestudeerd? Wanneer bent u afgestudeerd?</a:t>
            </a:r>
            <a:r>
              <a:rPr lang="en-US" sz="2200" dirty="0">
                <a:solidFill>
                  <a:schemeClr val="tx1"/>
                </a:solidFill>
              </a:rPr>
              <a:t> Pour finir : </a:t>
            </a:r>
            <a:r>
              <a:rPr lang="en-US" sz="2200" i="1" dirty="0">
                <a:solidFill>
                  <a:schemeClr val="tx1"/>
                </a:solidFill>
              </a:rPr>
              <a:t>Bedankt, ik bel u volgende week.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08776" y="2133600"/>
            <a:ext cx="5431536" cy="4157472"/>
          </a:xfrm>
          <a:prstGeom prst="roundRect">
            <a:avLst>
              <a:gd name="adj" fmla="val 176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45936" y="22707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D9700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34391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45936" y="27371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351776" y="2243328"/>
            <a:ext cx="4151376" cy="393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B — le candidat.</a:t>
            </a:r>
            <a:r>
              <a:rPr lang="en-US" sz="2200" dirty="0">
                <a:solidFill>
                  <a:schemeClr val="tx1"/>
                </a:solidFill>
              </a:rPr>
              <a:t> Répondez par des </a:t>
            </a:r>
            <a:r>
              <a:rPr lang="en-US" sz="2200" b="1" dirty="0">
                <a:solidFill>
                  <a:schemeClr val="tx1"/>
                </a:solidFill>
              </a:rPr>
              <a:t>phrases complètes</a:t>
            </a:r>
            <a:r>
              <a:rPr lang="en-US" sz="2200" dirty="0">
                <a:solidFill>
                  <a:schemeClr val="tx1"/>
                </a:solidFill>
              </a:rPr>
              <a:t> : diplôme (</a:t>
            </a:r>
            <a:r>
              <a:rPr lang="en-US" sz="2200" i="1" dirty="0">
                <a:solidFill>
                  <a:schemeClr val="tx1"/>
                </a:solidFill>
              </a:rPr>
              <a:t>Ik ben in … afgestudeerd</a:t>
            </a:r>
            <a:r>
              <a:rPr lang="en-US" sz="2200" dirty="0">
                <a:solidFill>
                  <a:schemeClr val="tx1"/>
                </a:solidFill>
              </a:rPr>
              <a:t>), expérience (</a:t>
            </a:r>
            <a:r>
              <a:rPr lang="en-US" sz="2200" i="1" dirty="0">
                <a:solidFill>
                  <a:schemeClr val="tx1"/>
                </a:solidFill>
              </a:rPr>
              <a:t>Ik heb … gewerkt</a:t>
            </a:r>
            <a:r>
              <a:rPr lang="en-US" sz="2200" dirty="0">
                <a:solidFill>
                  <a:schemeClr val="tx1"/>
                </a:solidFill>
              </a:rPr>
              <a:t>), aujourd’hui (</a:t>
            </a:r>
            <a:r>
              <a:rPr lang="en-US" sz="2200" i="1" dirty="0">
                <a:solidFill>
                  <a:schemeClr val="tx1"/>
                </a:solidFill>
              </a:rPr>
              <a:t>Sinds … werk ik…</a:t>
            </a:r>
            <a:r>
              <a:rPr lang="en-US" sz="2200" dirty="0">
                <a:solidFill>
                  <a:schemeClr val="tx1"/>
                </a:solidFill>
              </a:rPr>
              <a:t>), langues (</a:t>
            </a:r>
            <a:r>
              <a:rPr lang="en-US" sz="2200" i="1" dirty="0">
                <a:solidFill>
                  <a:schemeClr val="tx1"/>
                </a:solidFill>
              </a:rPr>
              <a:t>Omdat ik … talen spreek, …</a:t>
            </a:r>
            <a:r>
              <a:rPr lang="en-US" sz="2200" dirty="0">
                <a:solidFill>
                  <a:schemeClr val="tx1"/>
                </a:solidFill>
              </a:rPr>
              <a:t>). Utilisez au moins </a:t>
            </a:r>
            <a:r>
              <a:rPr lang="en-US" sz="2200" b="1" dirty="0">
                <a:solidFill>
                  <a:schemeClr val="tx1"/>
                </a:solidFill>
              </a:rPr>
              <a:t>trois participes</a:t>
            </a:r>
            <a:r>
              <a:rPr lang="en-US" sz="2200" dirty="0">
                <a:solidFill>
                  <a:schemeClr val="tx1"/>
                </a:solidFill>
              </a:rPr>
              <a:t> différents.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15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sollicitatiegesprek.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Dire ce qu’on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sait faire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goed met de computer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werken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et se comparer aux autres :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heb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meer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ervaring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participes de la p. 69 + </a:t>
            </a:r>
            <a:r>
              <a:rPr lang="en-US" sz="1700" i="1" dirty="0">
                <a:solidFill>
                  <a:schemeClr val="tx1"/>
                </a:solidFill>
              </a:rPr>
              <a:t>zijn → geweest · hebben → gehad · doen → gedaan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votre cv</a:t>
            </a:r>
            <a:r>
              <a:rPr lang="en-US" sz="1700" dirty="0">
                <a:solidFill>
                  <a:schemeClr val="tx1"/>
                </a:solidFill>
              </a:rPr>
              <a:t> en néerlandais : identiteit, opleiding, ervaring, talen.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sur votre parcours au perfectum.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Revoir les </a:t>
            </a:r>
            <a:r>
              <a:rPr lang="en-US" sz="1700" b="1" dirty="0">
                <a:solidFill>
                  <a:schemeClr val="tx1"/>
                </a:solidFill>
              </a:rPr>
              <a:t>faux-amis 1 à 7</a:t>
            </a:r>
            <a:r>
              <a:rPr lang="en-US" sz="1700" dirty="0">
                <a:solidFill>
                  <a:schemeClr val="tx1"/>
                </a:solidFill>
              </a:rPr>
              <a:t> (p. 89).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Recopier les </a:t>
            </a:r>
            <a:r>
              <a:rPr lang="en-US" sz="1700" b="1" dirty="0">
                <a:solidFill>
                  <a:schemeClr val="tx1"/>
                </a:solidFill>
              </a:rPr>
              <a:t>Jalons 1 et 2</a:t>
            </a:r>
            <a:r>
              <a:rPr lang="en-US" sz="1700" dirty="0">
                <a:solidFill>
                  <a:schemeClr val="tx1"/>
                </a:solidFill>
              </a:rPr>
              <a:t> de la fiche 2, corrigés (p. 93).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Dites </a:t>
            </a:r>
            <a:r>
              <a:rPr lang="en-US" sz="1600" b="1" dirty="0">
                <a:solidFill>
                  <a:schemeClr val="bg1"/>
                </a:solidFill>
              </a:rPr>
              <a:t>deux choses</a:t>
            </a:r>
            <a:r>
              <a:rPr lang="en-US" sz="1600" dirty="0">
                <a:solidFill>
                  <a:schemeClr val="bg1"/>
                </a:solidFill>
              </a:rPr>
              <a:t> que vous avez faites hier : une avec </a:t>
            </a:r>
            <a:r>
              <a:rPr lang="en-US" sz="1600" b="1" dirty="0">
                <a:solidFill>
                  <a:schemeClr val="bg1"/>
                </a:solidFill>
              </a:rPr>
              <a:t>hebben</a:t>
            </a:r>
            <a:r>
              <a:rPr lang="en-US" sz="1600" dirty="0">
                <a:solidFill>
                  <a:schemeClr val="bg1"/>
                </a:solidFill>
              </a:rPr>
              <a:t>, une avec </a:t>
            </a:r>
            <a:r>
              <a:rPr lang="en-US" sz="1600" b="1" dirty="0">
                <a:solidFill>
                  <a:schemeClr val="bg1"/>
                </a:solidFill>
              </a:rPr>
              <a:t>zijn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14 — Mijn cv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2026-10-03T21:06:39Z</dcterms:created>
  <dcterms:modified xsi:type="dcterms:W3CDTF">2026-10-03T21:06:39Z</dcterms:modified>
</cp:coreProperties>
</file>