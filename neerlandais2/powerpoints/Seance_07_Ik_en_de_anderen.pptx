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6ed73b8-d8d0-28a1-f08c-16bcef57ac9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afe513d1-4627-af53-fcb3-ee17f5881768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de la séquence 1.3. Objectifs : répondre en phrase complète (ja / nee + niet / geen), traduire et automatiser zijn / hebben (1.3.5, chrono 1.3.6), présenter quelqu’un, maîtriser les pronoms sujets (formes courtes et longues), se présenter en 90 secondes, puis poser des questions avec les mots interrogatifs (fiche A1-05).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La séance clôt la séquence 1.3 (p. 41–50). La fiche A1-05 (mots interrogatifs) termine la séance et prépare la synthèse « Stel jezelf voor » de la séance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6 (zijn/hebben, pièges, niet/geen). Rythme rapide : un étudiant par phrase, il lit la phrase entière.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6 (zijn/hebben, pièges, niet/geen). Rythme rapide : un étudiant par phrase, il lit la phrase entière.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pose les questions 1 à 6 à B, puis on inverse ; les questions 7 à 12 se vérifient dans les textes du livret (p. 38) et le zinnenbouwer. Exiger la phrase complète, pas seulement « ja » ou « nee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 à 6 : deux modèles (oui / non), la réponse dépend du voisin. Question 10 : aucun texte ne parle du temps de Meneer Janssens → « Ik weet het niet ». Question 11 : selon le texte 2 (« Het is koud vandaag ») ; accepter aussi la vraie météo du jour. Rappel : geen + nom (geen auto, geen honger), niet + adjectif / préposition (niet moe, niet uit België).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: une phrase compte si le sens passe ; une « faute de beauté » ne compte pas. Coquille du livret (item 6) : « Il est mon frère » → en français « C’est mon frère » (Dat is / Hij is mijn broer).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Corrections par rapport au livret : item 12, « Zij is druk » → « Zij heeft het druk » ; item 4, le livret écrit « Er zijn veel mensen op straat vandaag » (acceptable à l’oral), l’ordre temps → lieu est plus naturel : « Er zijn vandaag veel mensen op straat ». Item 10 : « Werk je » (inversion, le -t tombe). Items 11–12 : formes longues (jij, zij, wij) pour le contraste — voir p. 49.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3 · par deux · 15 min. Zinnenbouwer fermé : rien de nouveau, seulement plus vite. La diapositive suivante projette les amorces (français) puis la correction.Couche 3 · par deux · 15 min. Zinnenbouwer fermé : rien de nouveau, seulement plus vite. La diapositive suivante projette les amorces (français) puis la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Projeter les amorces pendant le premier passage (livret plié).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14 : « U heeft gelijk » est aussi correct. Item 19 : « vous » à deux amis = jullie. Item 20 : « maar ik niet » (pas « maar ik geen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parle des « lignes 5 et 6 », mais le passage reproduit inclut la ligne 7 (réponse d’Emma). Au passage 2, chacun utilise un objet réel (boek, pen, koffie, gsm…) : « Ja, ik heb mijn … en ik ben er klaar voor!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(ligne E) » renvoie à la famille E du zinnenbouwer 1.3 (questions : Heb je…? Ben je…?). Le livret annonce trois phrases (deux avec hebben, une avec zijn) mais le tableau a quatre lignes : « Dit is … » sert d’introduction et ne compte pas. Typographie : « Stel je buur voor : » (espace avant le deux-points à la française dans du néerlandais).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livret classe « u » en « 3ème (formel) » : u est le pronom de politesse (2e personne), conjugué au singulier (u werkt, u bent, u hebt/heeft). Faire conjuguer « werken » en chaîne : ik werk, jij werkt, u werkt…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reste le même, seul le débit augmente. Chronométrer au signal ; les partenaires cochent « Alles gezegd? ». Fin de la séquence 1.3 : « Vous savez maintenant parler de vous et des autres avec zijn et hebben !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l’oral, la forme longue porte l’accent de phrase. « Je komt uit België » : pas d’inversion, le -t reste ; « Kom je uit België? » : inversion, le -t tombe.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Coquilles du livret : titre du 1er exercice « Vul het juiste persoonlijke naamwoorden » → « Vul het juiste persoonlijk voornaamwoord in » ; titre du 2e « emphatische » → orthographe néerlandaise « emfatische ». Item 1 : la traduction du livret « Il est mon frère » est fautive en français (→ « C’est mon frère » / « Lui, c’est mon frère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Colonne 1 : accepter les deux formes (ze/zij, we/wij) puisqu’aucun contraste n’est demandé ; item 5 : « je » (forme courte demandée, inversion → werk sans -t). Colonne 2 : le contraste (maar ik…, jullie…) impose la forme longue.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de grammaire A1-05. Faire deviner le sens des mots W à partir des exemples, puis poser une question par mot à un voisin. « Welk » + het-mot singulier (welk boek, welk land) ; « welke » ailleurs (welke taal, welke boeken).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« Let op ! » de la fiche : quand je/jij suit le verbe, le -t disparaît (jij drinkt → Drink jij koffie?). Avec u, hij, zij, le -t reste (Woont u…? Drinkt hij…?).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chaque question avec l’intonation montante (oui/non) ou descendante (question ouverte).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lire chaque question avec l’intonation montante (oui/non) ou descendante (question ouverte).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mots W et révision de la séquence 1.3. Ensuite, chaque binôme invente trois questions pour Pieter et y répond à sa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des mots W et révision de la séquence 1.3. Ensuite, chaque binôme invente trois questions pour Pieter et y répond à sa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en chaîne : A interroge B, B répond puis interroge C, etc.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07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07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07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1.3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Ik en de anderen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Parler de soi et des autres — et poser des questions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1 · Premiers pas en néerlandais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41–50 · 62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325880"/>
            <a:ext cx="4206240" cy="4206240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41–50 · 62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Répondre </a:t>
            </a:r>
            <a:r>
              <a:rPr lang="en-US" sz="1500" b="1" dirty="0">
                <a:solidFill>
                  <a:schemeClr val="tx1"/>
                </a:solidFill>
              </a:rPr>
              <a:t>en phrase complète</a:t>
            </a:r>
            <a:r>
              <a:rPr lang="en-US" sz="1500" dirty="0">
                <a:solidFill>
                  <a:schemeClr val="tx1"/>
                </a:solidFill>
              </a:rPr>
              <a:t> (ja / nee + niet / geen), </a:t>
            </a:r>
            <a:r>
              <a:rPr lang="en-US" sz="1500" b="1" dirty="0">
                <a:solidFill>
                  <a:schemeClr val="tx1"/>
                </a:solidFill>
              </a:rPr>
              <a:t>présenter quelqu’un</a:t>
            </a:r>
            <a:r>
              <a:rPr lang="en-US" sz="1500" dirty="0">
                <a:solidFill>
                  <a:schemeClr val="tx1"/>
                </a:solidFill>
              </a:rPr>
              <a:t> avec zijn et hebben, et </a:t>
            </a:r>
            <a:r>
              <a:rPr lang="en-US" sz="1500" b="1" dirty="0">
                <a:solidFill>
                  <a:schemeClr val="tx1"/>
                </a:solidFill>
              </a:rPr>
              <a:t>poser des questions</a:t>
            </a:r>
            <a:r>
              <a:rPr lang="en-US" sz="1500" dirty="0">
                <a:solidFill>
                  <a:schemeClr val="tx1"/>
                </a:solidFill>
              </a:rPr>
              <a:t> (wie, wat, waar…).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Heb je een auto? — Nee, ik heb geen auto.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Waar woon je?</a:t>
            </a:r>
            <a:r>
              <a:rPr lang="en-US" sz="1800" dirty="0">
                <a:solidFill>
                  <a:schemeClr val="tx1"/>
                </a:solidFill>
              </a:rPr>
              <a:t> · ik · jij/je · u · hij · zij/ze · wij/we · jullie · zij/ze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Répondre vite (chrono) · se présenter en 90, 60 puis 45 secondes · choisir entre forme courte et forme longue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Échauffement : niet of geen?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1.3.4 · 1.3.5 Ik ben, ik heb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1.3.6 Chrono · 1.3.7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Jij nu! Twee hebben, één zijn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Pronoms sujets · je ou jij ?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1.3.8 Ik in 90 seconden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Vraagwoorden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zijn of hebben ? niet of geen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5 min — Choisissez le bon mot.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</a:t>
            </a:r>
            <a:r>
              <a:rPr lang="en-US" sz="2400" dirty="0">
                <a:solidFill>
                  <a:schemeClr val="tx1"/>
                </a:solidFill>
              </a:rPr>
              <a:t>heb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ben</a:t>
            </a:r>
            <a:r>
              <a:rPr lang="en-US" sz="2400" dirty="0">
                <a:solidFill>
                  <a:schemeClr val="tx1"/>
                </a:solidFill>
              </a:rPr>
              <a:t> bang voor spinnen.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Pieter </a:t>
            </a:r>
            <a:r>
              <a:rPr lang="en-US" sz="2400" dirty="0">
                <a:solidFill>
                  <a:schemeClr val="tx1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heeft</a:t>
            </a:r>
            <a:r>
              <a:rPr lang="en-US" sz="2400" dirty="0">
                <a:solidFill>
                  <a:schemeClr val="tx1"/>
                </a:solidFill>
              </a:rPr>
              <a:t> honger.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Er </a:t>
            </a:r>
            <a:r>
              <a:rPr lang="en-US" sz="2400" dirty="0">
                <a:solidFill>
                  <a:schemeClr val="tx1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zijn</a:t>
            </a:r>
            <a:r>
              <a:rPr lang="en-US" sz="2400" dirty="0">
                <a:solidFill>
                  <a:schemeClr val="tx1"/>
                </a:solidFill>
              </a:rPr>
              <a:t> veel mensen op school.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Sarah </a:t>
            </a:r>
            <a:r>
              <a:rPr lang="en-US" sz="2400" dirty="0">
                <a:solidFill>
                  <a:schemeClr val="tx1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heeft het</a:t>
            </a:r>
            <a:r>
              <a:rPr lang="en-US" sz="2400" dirty="0">
                <a:solidFill>
                  <a:schemeClr val="tx1"/>
                </a:solidFill>
              </a:rPr>
              <a:t> druk.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dirty="0">
                <a:solidFill>
                  <a:schemeClr val="tx1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auto.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Het is </a:t>
            </a:r>
            <a:r>
              <a:rPr lang="en-US" sz="2400" dirty="0">
                <a:solidFill>
                  <a:schemeClr val="tx1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duur.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Zij is </a:t>
            </a:r>
            <a:r>
              <a:rPr lang="en-US" sz="2400" dirty="0">
                <a:solidFill>
                  <a:schemeClr val="tx1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studente.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Ik werk vandaag </a:t>
            </a:r>
            <a:r>
              <a:rPr lang="en-US" sz="2400" dirty="0">
                <a:solidFill>
                  <a:schemeClr val="tx1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dirty="0">
                <a:solidFill>
                  <a:schemeClr val="tx1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zijn of hebben ? niet of geen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5 min — Choisissez le bon mot.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Ik </a:t>
            </a:r>
            <a:r>
              <a:rPr lang="en-US" sz="2400" strike="sngStrike" dirty="0">
                <a:solidFill>
                  <a:schemeClr val="accent6"/>
                </a:solidFill>
              </a:rPr>
              <a:t>heb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ben</a:t>
            </a:r>
            <a:r>
              <a:rPr lang="en-US" sz="2400" dirty="0">
                <a:solidFill>
                  <a:schemeClr val="tx1"/>
                </a:solidFill>
              </a:rPr>
              <a:t> bang voor spinnen.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Pieter </a:t>
            </a:r>
            <a:r>
              <a:rPr lang="en-US" sz="2400" strike="sngStrike" dirty="0">
                <a:solidFill>
                  <a:schemeClr val="accent6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heeft</a:t>
            </a:r>
            <a:r>
              <a:rPr lang="en-US" sz="2400" dirty="0">
                <a:solidFill>
                  <a:schemeClr val="tx1"/>
                </a:solidFill>
              </a:rPr>
              <a:t> honger.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Er </a:t>
            </a:r>
            <a:r>
              <a:rPr lang="en-US" sz="2400" strike="sngStrike" dirty="0">
                <a:solidFill>
                  <a:schemeClr val="accent6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zijn</a:t>
            </a:r>
            <a:r>
              <a:rPr lang="en-US" sz="2400" dirty="0">
                <a:solidFill>
                  <a:schemeClr val="tx1"/>
                </a:solidFill>
              </a:rPr>
              <a:t> veel mensen op school.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Sarah </a:t>
            </a:r>
            <a:r>
              <a:rPr lang="en-US" sz="2400" strike="sngStrike" dirty="0">
                <a:solidFill>
                  <a:schemeClr val="accent6"/>
                </a:solidFill>
              </a:rPr>
              <a:t>is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heeft het</a:t>
            </a:r>
            <a:r>
              <a:rPr lang="en-US" sz="2400" dirty="0">
                <a:solidFill>
                  <a:schemeClr val="tx1"/>
                </a:solidFill>
              </a:rPr>
              <a:t> druk.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1926336"/>
            <a:ext cx="34061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Ik heb </a:t>
            </a:r>
            <a:r>
              <a:rPr lang="en-US" sz="2400" strike="sngStrike" dirty="0">
                <a:solidFill>
                  <a:schemeClr val="accent6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auto.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Het is </a:t>
            </a:r>
            <a:r>
              <a:rPr lang="en-US" sz="2400" strike="sngStrike" dirty="0">
                <a:solidFill>
                  <a:schemeClr val="accent6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duur.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7.  </a:t>
            </a:r>
            <a:r>
              <a:rPr lang="en-US" sz="2400" dirty="0">
                <a:solidFill>
                  <a:schemeClr val="tx1"/>
                </a:solidFill>
              </a:rPr>
              <a:t>Zij is </a:t>
            </a:r>
            <a:r>
              <a:rPr lang="en-US" sz="2400" strike="sngStrike" dirty="0">
                <a:solidFill>
                  <a:schemeClr val="accent6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studente.</a:t>
            </a:r>
            <a:endParaRPr lang="en-US" sz="2400" dirty="0"/>
          </a:p>
          <a:p>
            <a:pPr indent="0" marL="0">
              <a:spcAft>
                <a:spcPts val="22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8.  </a:t>
            </a:r>
            <a:r>
              <a:rPr lang="en-US" sz="2400" dirty="0">
                <a:solidFill>
                  <a:schemeClr val="tx1"/>
                </a:solidFill>
              </a:rPr>
              <a:t>Ik werk vandaag </a:t>
            </a:r>
            <a:r>
              <a:rPr lang="en-US" sz="2400" strike="sngStrike" dirty="0">
                <a:solidFill>
                  <a:schemeClr val="accent6"/>
                </a:solidFill>
              </a:rPr>
              <a:t>geen</a:t>
            </a:r>
            <a:r>
              <a:rPr lang="en-US" sz="2400" dirty="0">
                <a:solidFill>
                  <a:schemeClr val="tx1"/>
                </a:solidFill>
              </a:rPr>
              <a:t> / </a:t>
            </a:r>
            <a:r>
              <a:rPr lang="en-US" sz="2400" b="1" dirty="0">
                <a:solidFill>
                  <a:schemeClr val="accent3"/>
                </a:solidFill>
              </a:rPr>
              <a:t>niet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endParaRPr lang="en-US" sz="24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avoir peur</a:t>
            </a:r>
            <a:r>
              <a:rPr lang="en-US" sz="1800" dirty="0">
                <a:solidFill>
                  <a:schemeClr val="tx1"/>
                </a:solidFill>
              </a:rPr>
              <a:t> = </a:t>
            </a:r>
            <a:r>
              <a:rPr lang="en-US" sz="1800" b="1" dirty="0">
                <a:solidFill>
                  <a:schemeClr val="tx1"/>
                </a:solidFill>
              </a:rPr>
              <a:t>bang zijn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geen</a:t>
            </a:r>
            <a:r>
              <a:rPr lang="en-US" sz="1800" dirty="0">
                <a:solidFill>
                  <a:schemeClr val="tx1"/>
                </a:solidFill>
              </a:rPr>
              <a:t> + nom (aussi un métier).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niet</a:t>
            </a:r>
            <a:r>
              <a:rPr lang="en-US" sz="1800" dirty="0">
                <a:solidFill>
                  <a:schemeClr val="tx1"/>
                </a:solidFill>
              </a:rPr>
              <a:t> : fin, ou devant l’adjectif.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1.3.4 Ik ben, ik heb — ja of nee?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41–42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15 min — 6 questions sur votre voisin, 6 sur les personnages. Réponse </a:t>
            </a:r>
            <a:r>
              <a:rPr lang="en-US" sz="1600" b="1" i="1" dirty="0">
                <a:solidFill>
                  <a:schemeClr val="accent5"/>
                </a:solidFill>
              </a:rPr>
              <a:t>en phrase complète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Over je buur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Heb je een auto?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Ben je moe vandaag?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Heb je honger?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Kom je uit België?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Heb je een broer?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6.  </a:t>
            </a:r>
            <a:r>
              <a:rPr lang="en-US" sz="2600" dirty="0">
                <a:solidFill>
                  <a:schemeClr val="tx1"/>
                </a:solidFill>
              </a:rPr>
              <a:t>Ben je klaar voor de cursus?</a:t>
            </a:r>
            <a:endParaRPr lang="en-US" sz="26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Over de personages (p. 38)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7.  </a:t>
            </a:r>
            <a:r>
              <a:rPr lang="en-US" sz="2600" dirty="0">
                <a:solidFill>
                  <a:schemeClr val="tx1"/>
                </a:solidFill>
              </a:rPr>
              <a:t>Is Pieter moe?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8.  </a:t>
            </a:r>
            <a:r>
              <a:rPr lang="en-US" sz="2600" dirty="0">
                <a:solidFill>
                  <a:schemeClr val="tx1"/>
                </a:solidFill>
              </a:rPr>
              <a:t>Heeft Emma een broer?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9.  </a:t>
            </a:r>
            <a:r>
              <a:rPr lang="en-US" sz="2600" dirty="0">
                <a:solidFill>
                  <a:schemeClr val="tx1"/>
                </a:solidFill>
              </a:rPr>
              <a:t>Komt Sarah uit Gent?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10.  </a:t>
            </a:r>
            <a:r>
              <a:rPr lang="en-US" sz="2600" dirty="0">
                <a:solidFill>
                  <a:schemeClr val="tx1"/>
                </a:solidFill>
              </a:rPr>
              <a:t>Heeft meneer Janssens tijd?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11.  </a:t>
            </a:r>
            <a:r>
              <a:rPr lang="en-US" sz="2600" dirty="0">
                <a:solidFill>
                  <a:schemeClr val="tx1"/>
                </a:solidFill>
              </a:rPr>
              <a:t>Is het koud vandaag?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12.  </a:t>
            </a:r>
            <a:r>
              <a:rPr lang="en-US" sz="2600" dirty="0">
                <a:solidFill>
                  <a:schemeClr val="tx1"/>
                </a:solidFill>
              </a:rPr>
              <a:t>Heeft Sarah een auto?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1.3.4 Ik ben, ik heb — ja of nee?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41–42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Par deux · 15 min — 6 questions sur votre voisin, 6 sur les personnages. Réponse </a:t>
            </a:r>
            <a:r>
              <a:rPr lang="en-US" sz="1600" b="1" i="1" dirty="0">
                <a:solidFill>
                  <a:schemeClr val="accent5"/>
                </a:solidFill>
              </a:rPr>
              <a:t>en phrase complète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Over je buur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Heb je een auto?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heb een auto. / Nee, ik heb geen auto.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Ben je moe vandaag?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ben moe. / Nee, ik ben niet moe.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3.  </a:t>
            </a:r>
            <a:r>
              <a:rPr lang="en-US" sz="1600" dirty="0">
                <a:solidFill>
                  <a:schemeClr val="tx1"/>
                </a:solidFill>
              </a:rPr>
              <a:t>Heb je honger?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heb honger. / Nee, ik heb geen honger.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4.  </a:t>
            </a:r>
            <a:r>
              <a:rPr lang="en-US" sz="1600" dirty="0">
                <a:solidFill>
                  <a:schemeClr val="tx1"/>
                </a:solidFill>
              </a:rPr>
              <a:t>Kom je uit België?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kom uit België. / Nee, ik kom niet uit België.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5.  </a:t>
            </a:r>
            <a:r>
              <a:rPr lang="en-US" sz="1600" dirty="0">
                <a:solidFill>
                  <a:schemeClr val="tx1"/>
                </a:solidFill>
              </a:rPr>
              <a:t>Heb je een broer?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heb een broer. / Nee, ik heb geen broer.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6.  </a:t>
            </a:r>
            <a:r>
              <a:rPr lang="en-US" sz="1600" dirty="0">
                <a:solidFill>
                  <a:schemeClr val="tx1"/>
                </a:solidFill>
              </a:rPr>
              <a:t>Ben je klaar voor de cursus?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ik ben klaar. / Nee, ik ben niet klaar.</a:t>
            </a:r>
            <a:endParaRPr lang="en-US" sz="16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Over de personages (p. 38)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7.  </a:t>
            </a:r>
            <a:r>
              <a:rPr lang="en-US" sz="1600" dirty="0">
                <a:solidFill>
                  <a:schemeClr val="tx1"/>
                </a:solidFill>
              </a:rPr>
              <a:t>Is Pieter moe?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Nee, Pieter is niet moe. Hij is blij.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8.  </a:t>
            </a:r>
            <a:r>
              <a:rPr lang="en-US" sz="1600" dirty="0">
                <a:solidFill>
                  <a:schemeClr val="tx1"/>
                </a:solidFill>
              </a:rPr>
              <a:t>Heeft Emma een broer?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Emma heeft een broer.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9.  </a:t>
            </a:r>
            <a:r>
              <a:rPr lang="en-US" sz="1600" dirty="0">
                <a:solidFill>
                  <a:schemeClr val="tx1"/>
                </a:solidFill>
              </a:rPr>
              <a:t>Komt Sarah uit Gent?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Sarah komt uit Gent.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10.  </a:t>
            </a:r>
            <a:r>
              <a:rPr lang="en-US" sz="1600" dirty="0">
                <a:solidFill>
                  <a:schemeClr val="tx1"/>
                </a:solidFill>
              </a:rPr>
              <a:t>Heeft meneer Janssens tijd?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Ik weet het niet.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11.  </a:t>
            </a:r>
            <a:r>
              <a:rPr lang="en-US" sz="1600" dirty="0">
                <a:solidFill>
                  <a:schemeClr val="tx1"/>
                </a:solidFill>
              </a:rPr>
              <a:t>Is het koud vandaag?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Ja, het is koud vandaag. (tekst 2)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12.  </a:t>
            </a:r>
            <a:r>
              <a:rPr lang="en-US" sz="1600" dirty="0">
                <a:solidFill>
                  <a:schemeClr val="tx1"/>
                </a:solidFill>
              </a:rPr>
              <a:t>Heeft Sarah een auto?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Nee, Sarah heeft geen auto.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1.3.5 Ik ben, ik heb — douze phrases en 4 minutes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42–43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À deux · 15 min — Pliez la colonne de droite. </a:t>
            </a:r>
            <a:r>
              <a:rPr lang="en-US" sz="1600" b="1" i="1" dirty="0">
                <a:solidFill>
                  <a:schemeClr val="accent5"/>
                </a:solidFill>
              </a:rPr>
              <a:t>4 minutes</a:t>
            </a:r>
            <a:r>
              <a:rPr lang="en-US" sz="1600" i="1" dirty="0">
                <a:solidFill>
                  <a:schemeClr val="accent5"/>
                </a:solidFill>
              </a:rPr>
              <a:t> pour écrire les 12 phrases. Dépliez, corrigez, notez votre score /12, puis cochez les phrases vraies pour vous.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J’ai faim, donc je vais manger.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As-tu peur des araignées ?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Le train a 10 minutes de retard.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Il y a beaucoup de gens dans la rue aujourd’hui.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Tu as raison.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C’est mon frère.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7.  </a:t>
            </a:r>
            <a:r>
              <a:rPr lang="en-US" sz="1800" dirty="0">
                <a:solidFill>
                  <a:schemeClr val="tx1"/>
                </a:solidFill>
              </a:rPr>
              <a:t>Je suis professeur. → </a:t>
            </a:r>
            <a:r>
              <a:rPr lang="en-US" sz="1800" dirty="0">
                <a:solidFill>
                  <a:schemeClr val="accent5"/>
                </a:solidFill>
              </a:rPr>
              <a:t>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8.  </a:t>
            </a:r>
            <a:r>
              <a:rPr lang="en-US" sz="1800" dirty="0">
                <a:solidFill>
                  <a:schemeClr val="tx1"/>
                </a:solidFill>
              </a:rPr>
              <a:t>Elle vient des Pays-Bas.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9.  </a:t>
            </a:r>
            <a:r>
              <a:rPr lang="en-US" sz="1800" dirty="0">
                <a:solidFill>
                  <a:schemeClr val="tx1"/>
                </a:solidFill>
              </a:rPr>
              <a:t>Nous sommes étudiants.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10.  </a:t>
            </a:r>
            <a:r>
              <a:rPr lang="en-US" sz="1800" dirty="0">
                <a:solidFill>
                  <a:schemeClr val="tx1"/>
                </a:solidFill>
              </a:rPr>
              <a:t>Travailles-tu à Amsterdam ? (forme courte)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11.  </a:t>
            </a:r>
            <a:r>
              <a:rPr lang="en-US" sz="1800" dirty="0">
                <a:solidFill>
                  <a:schemeClr val="tx1"/>
                </a:solidFill>
              </a:rPr>
              <a:t>Toi, tu es étudiant, mais moi, je suis professeur.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12.  </a:t>
            </a:r>
            <a:r>
              <a:rPr lang="en-US" sz="1800" dirty="0">
                <a:solidFill>
                  <a:schemeClr val="tx1"/>
                </a:solidFill>
              </a:rPr>
              <a:t>Elle, elle est occupée, mais nous, nous sommes détendus.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1.3.5 Ik ben, ik heb — douze phrases en 4 minutes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42–43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À deux · 15 min — Pliez la colonne de droite. </a:t>
            </a:r>
            <a:r>
              <a:rPr lang="en-US" sz="1600" b="1" i="1" dirty="0">
                <a:solidFill>
                  <a:schemeClr val="accent5"/>
                </a:solidFill>
              </a:rPr>
              <a:t>4 minutes</a:t>
            </a:r>
            <a:r>
              <a:rPr lang="en-US" sz="1600" i="1" dirty="0">
                <a:solidFill>
                  <a:schemeClr val="accent5"/>
                </a:solidFill>
              </a:rPr>
              <a:t> pour écrire les 12 phrases. Dépliez, corrigez, notez votre score /12, puis cochez les phrases vraies pour vous.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J’ai faim, donc je vais manger. → </a:t>
            </a:r>
            <a:r>
              <a:rPr lang="en-US" sz="1800" b="1" dirty="0">
                <a:solidFill>
                  <a:schemeClr val="accent3"/>
                </a:solidFill>
              </a:rPr>
              <a:t>Ik heb honger, dus ik ga eten.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As-tu peur des araignées ? → </a:t>
            </a:r>
            <a:r>
              <a:rPr lang="en-US" sz="1800" b="1" dirty="0">
                <a:solidFill>
                  <a:schemeClr val="accent3"/>
                </a:solidFill>
              </a:rPr>
              <a:t>Ben jij bang voor spinnen?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Le train a 10 minutes de retard. → </a:t>
            </a:r>
            <a:r>
              <a:rPr lang="en-US" sz="1800" b="1" dirty="0">
                <a:solidFill>
                  <a:schemeClr val="accent3"/>
                </a:solidFill>
              </a:rPr>
              <a:t>De trein heeft tien minuten vertraging.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Il y a beaucoup de gens dans la rue aujourd’hui. → </a:t>
            </a:r>
            <a:r>
              <a:rPr lang="en-US" sz="1800" b="1" dirty="0">
                <a:solidFill>
                  <a:schemeClr val="accent3"/>
                </a:solidFill>
              </a:rPr>
              <a:t>Er zijn vandaag veel mensen op straat.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Tu as raison. → </a:t>
            </a:r>
            <a:r>
              <a:rPr lang="en-US" sz="1800" b="1" dirty="0">
                <a:solidFill>
                  <a:schemeClr val="accent3"/>
                </a:solidFill>
              </a:rPr>
              <a:t>Je hebt gelijk. / Jij hebt gelijk.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C’est mon frère. → </a:t>
            </a:r>
            <a:r>
              <a:rPr lang="en-US" sz="1800" b="1" dirty="0">
                <a:solidFill>
                  <a:schemeClr val="accent3"/>
                </a:solidFill>
              </a:rPr>
              <a:t>Dat is mijn broer. / Hij is mijn broer.</a:t>
            </a:r>
            <a:endParaRPr lang="en-US" sz="18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7.  </a:t>
            </a:r>
            <a:r>
              <a:rPr lang="en-US" sz="1800" dirty="0">
                <a:solidFill>
                  <a:schemeClr val="tx1"/>
                </a:solidFill>
              </a:rPr>
              <a:t>Je suis professeur. → </a:t>
            </a:r>
            <a:r>
              <a:rPr lang="en-US" sz="1800" b="1" dirty="0">
                <a:solidFill>
                  <a:schemeClr val="accent3"/>
                </a:solidFill>
              </a:rPr>
              <a:t>Ik ben leraar.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8.  </a:t>
            </a:r>
            <a:r>
              <a:rPr lang="en-US" sz="1800" dirty="0">
                <a:solidFill>
                  <a:schemeClr val="tx1"/>
                </a:solidFill>
              </a:rPr>
              <a:t>Elle vient des Pays-Bas. → </a:t>
            </a:r>
            <a:r>
              <a:rPr lang="en-US" sz="1800" b="1" dirty="0">
                <a:solidFill>
                  <a:schemeClr val="accent3"/>
                </a:solidFill>
              </a:rPr>
              <a:t>Ze komt uit Nederland.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9.  </a:t>
            </a:r>
            <a:r>
              <a:rPr lang="en-US" sz="1800" dirty="0">
                <a:solidFill>
                  <a:schemeClr val="tx1"/>
                </a:solidFill>
              </a:rPr>
              <a:t>Nous sommes étudiants. → </a:t>
            </a:r>
            <a:r>
              <a:rPr lang="en-US" sz="1800" b="1" dirty="0">
                <a:solidFill>
                  <a:schemeClr val="accent3"/>
                </a:solidFill>
              </a:rPr>
              <a:t>We zijn studenten.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10.  </a:t>
            </a:r>
            <a:r>
              <a:rPr lang="en-US" sz="1800" dirty="0">
                <a:solidFill>
                  <a:schemeClr val="tx1"/>
                </a:solidFill>
              </a:rPr>
              <a:t>Travailles-tu à Amsterdam ? (forme courte) → </a:t>
            </a:r>
            <a:r>
              <a:rPr lang="en-US" sz="1800" b="1" dirty="0">
                <a:solidFill>
                  <a:schemeClr val="accent3"/>
                </a:solidFill>
              </a:rPr>
              <a:t>Werk je in Amsterdam?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11.  </a:t>
            </a:r>
            <a:r>
              <a:rPr lang="en-US" sz="1800" dirty="0">
                <a:solidFill>
                  <a:schemeClr val="tx1"/>
                </a:solidFill>
              </a:rPr>
              <a:t>Toi, tu es étudiant, mais moi, je suis professeur. → </a:t>
            </a:r>
            <a:r>
              <a:rPr lang="en-US" sz="1800" b="1" dirty="0">
                <a:solidFill>
                  <a:schemeClr val="accent3"/>
                </a:solidFill>
              </a:rPr>
              <a:t>Jij bent student, maar ik ben leraar.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12.  </a:t>
            </a:r>
            <a:r>
              <a:rPr lang="en-US" sz="1800" dirty="0">
                <a:solidFill>
                  <a:schemeClr val="tx1"/>
                </a:solidFill>
              </a:rPr>
              <a:t>Elle, elle est occupée, mais nous, nous sommes détendus. → </a:t>
            </a:r>
            <a:r>
              <a:rPr lang="en-US" sz="1800" b="1" dirty="0">
                <a:solidFill>
                  <a:schemeClr val="accent3"/>
                </a:solidFill>
              </a:rPr>
              <a:t>Zij heeft het druk, maar wij zijn ontspannen.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1.3.6 Ik ben, ik heb — chrono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43–44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603504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1  </a:t>
            </a:r>
            <a:r>
              <a:rPr lang="en-US" sz="2000" b="1" dirty="0">
                <a:solidFill>
                  <a:schemeClr val="tx1"/>
                </a:solidFill>
              </a:rPr>
              <a:t>Pliez</a:t>
            </a:r>
            <a:r>
              <a:rPr lang="en-US" sz="2000" dirty="0">
                <a:solidFill>
                  <a:schemeClr val="tx1"/>
                </a:solidFill>
              </a:rPr>
              <a:t> la page sur la colonne de droite (néerlandais).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2  </a:t>
            </a:r>
            <a:r>
              <a:rPr lang="en-US" sz="2000" dirty="0">
                <a:solidFill>
                  <a:schemeClr val="tx1"/>
                </a:solidFill>
              </a:rPr>
              <a:t>Votre voisin </a:t>
            </a:r>
            <a:r>
              <a:rPr lang="en-US" sz="2000" b="1" dirty="0">
                <a:solidFill>
                  <a:schemeClr val="tx1"/>
                </a:solidFill>
              </a:rPr>
              <a:t>chronomètre</a:t>
            </a:r>
            <a:r>
              <a:rPr lang="en-US" sz="2000" dirty="0">
                <a:solidFill>
                  <a:schemeClr val="tx1"/>
                </a:solidFill>
              </a:rPr>
              <a:t> : répondez à voix haute aux </a:t>
            </a:r>
            <a:r>
              <a:rPr lang="en-US" sz="2000" b="1" dirty="0">
                <a:solidFill>
                  <a:schemeClr val="tx1"/>
                </a:solidFill>
              </a:rPr>
              <a:t>20 amorces</a:t>
            </a:r>
            <a:r>
              <a:rPr lang="en-US" sz="2000" dirty="0">
                <a:solidFill>
                  <a:schemeClr val="tx1"/>
                </a:solidFill>
              </a:rPr>
              <a:t>, sans vous arrêter.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3  </a:t>
            </a:r>
            <a:r>
              <a:rPr lang="en-US" sz="2000" b="1" dirty="0">
                <a:solidFill>
                  <a:schemeClr val="tx1"/>
                </a:solidFill>
              </a:rPr>
              <a:t>Dépliez, corrigez</a:t>
            </a:r>
            <a:r>
              <a:rPr lang="en-US" sz="2000" dirty="0">
                <a:solidFill>
                  <a:schemeClr val="tx1"/>
                </a:solidFill>
              </a:rPr>
              <a:t>, puis faites un </a:t>
            </a:r>
            <a:r>
              <a:rPr lang="en-US" sz="2000" b="1" dirty="0">
                <a:solidFill>
                  <a:schemeClr val="tx1"/>
                </a:solidFill>
              </a:rPr>
              <a:t>second passage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4  </a:t>
            </a:r>
            <a:r>
              <a:rPr lang="en-US" sz="2000" dirty="0">
                <a:solidFill>
                  <a:schemeClr val="tx1"/>
                </a:solidFill>
              </a:rPr>
              <a:t>Notez vos </a:t>
            </a:r>
            <a:r>
              <a:rPr lang="en-US" sz="2000" b="1" dirty="0">
                <a:solidFill>
                  <a:schemeClr val="tx1"/>
                </a:solidFill>
              </a:rPr>
              <a:t>deux temps</a:t>
            </a:r>
            <a:r>
              <a:rPr lang="en-US" sz="2000" dirty="0">
                <a:solidFill>
                  <a:schemeClr val="tx1"/>
                </a:solidFill>
              </a:rPr>
              <a:t> et votre </a:t>
            </a:r>
            <a:r>
              <a:rPr lang="en-US" sz="2000" b="1" dirty="0">
                <a:solidFill>
                  <a:schemeClr val="tx1"/>
                </a:solidFill>
              </a:rPr>
              <a:t>gain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  <a:r>
              <a:rPr lang="en-US" sz="2000" i="1" dirty="0">
                <a:solidFill>
                  <a:schemeClr val="tx1"/>
                </a:solidFill>
              </a:rPr>
              <a:t>Vouw de pagina. Antwoord snel. Twee keer.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554480"/>
            <a:ext cx="100584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223760" y="2788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0" y="2788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1e keer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9509760" y="2788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…… min …… s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223760" y="3931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3931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2e keer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09760" y="3931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…… min …… 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223760" y="5074920"/>
            <a:ext cx="4416552" cy="960120"/>
          </a:xfrm>
          <a:prstGeom prst="roundRect">
            <a:avLst>
              <a:gd name="adj" fmla="val 7619"/>
            </a:avLst>
          </a:prstGeom>
          <a:solidFill>
            <a:schemeClr val="accent1"/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50749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Winst / gain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950976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…… 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1.3.6 Les 20 amorces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43–44</a:t>
            </a:r>
            <a:endParaRPr lang="en-US" sz="1200" dirty="0"/>
          </a:p>
        </p:txBody>
      </p:sp>
      <p:sp>
        <p:nvSpPr>
          <p:cNvPr id="6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j’ai faim → </a:t>
            </a:r>
            <a:r>
              <a:rPr lang="en-US" sz="1800" dirty="0">
                <a:solidFill>
                  <a:schemeClr val="accent5"/>
                </a:solidFill>
              </a:rPr>
              <a:t>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elle a raison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il y a beaucoup de monde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je suis fatigué(e) → </a:t>
            </a:r>
            <a:r>
              <a:rPr lang="en-US" sz="1800" dirty="0">
                <a:solidFill>
                  <a:schemeClr val="accent5"/>
                </a:solidFill>
              </a:rPr>
              <a:t>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nous avons le temps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tu es prêt(e) ? → </a:t>
            </a:r>
            <a:r>
              <a:rPr lang="en-US" sz="1800" dirty="0">
                <a:solidFill>
                  <a:schemeClr val="accent5"/>
                </a:solidFill>
              </a:rPr>
              <a:t>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7.  </a:t>
            </a:r>
            <a:r>
              <a:rPr lang="en-US" sz="1800" dirty="0">
                <a:solidFill>
                  <a:schemeClr val="tx1"/>
                </a:solidFill>
              </a:rPr>
              <a:t>as-tu une voiture ?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8.  </a:t>
            </a:r>
            <a:r>
              <a:rPr lang="en-US" sz="1800" dirty="0">
                <a:solidFill>
                  <a:schemeClr val="tx1"/>
                </a:solidFill>
              </a:rPr>
              <a:t>il est professeur → </a:t>
            </a:r>
            <a:r>
              <a:rPr lang="en-US" sz="1800" dirty="0">
                <a:solidFill>
                  <a:schemeClr val="accent5"/>
                </a:solidFill>
              </a:rPr>
              <a:t>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9.  </a:t>
            </a:r>
            <a:r>
              <a:rPr lang="en-US" sz="1800" dirty="0">
                <a:solidFill>
                  <a:schemeClr val="tx1"/>
                </a:solidFill>
              </a:rPr>
              <a:t>elle a des enfants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10.  </a:t>
            </a:r>
            <a:r>
              <a:rPr lang="en-US" sz="1800" dirty="0">
                <a:solidFill>
                  <a:schemeClr val="tx1"/>
                </a:solidFill>
              </a:rPr>
              <a:t>c’est important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</a:t>
            </a:r>
            <a:endParaRPr lang="en-US" sz="1800" dirty="0"/>
          </a:p>
        </p:txBody>
      </p:sp>
      <p:sp>
        <p:nvSpPr>
          <p:cNvPr id="7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11.  </a:t>
            </a:r>
            <a:r>
              <a:rPr lang="en-US" sz="1800" dirty="0">
                <a:solidFill>
                  <a:schemeClr val="tx1"/>
                </a:solidFill>
              </a:rPr>
              <a:t>il fait froid → </a:t>
            </a:r>
            <a:r>
              <a:rPr lang="en-US" sz="1800" dirty="0">
                <a:solidFill>
                  <a:schemeClr val="accent5"/>
                </a:solidFill>
              </a:rPr>
              <a:t>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12.  </a:t>
            </a:r>
            <a:r>
              <a:rPr lang="en-US" sz="1800" dirty="0">
                <a:solidFill>
                  <a:schemeClr val="tx1"/>
                </a:solidFill>
              </a:rPr>
              <a:t>il y a un problème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13.  </a:t>
            </a:r>
            <a:r>
              <a:rPr lang="en-US" sz="1800" dirty="0">
                <a:solidFill>
                  <a:schemeClr val="tx1"/>
                </a:solidFill>
              </a:rPr>
              <a:t>nous sommes étudiants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14.  </a:t>
            </a:r>
            <a:r>
              <a:rPr lang="en-US" sz="1800" dirty="0">
                <a:solidFill>
                  <a:schemeClr val="tx1"/>
                </a:solidFill>
              </a:rPr>
              <a:t>vous avez raison (formel) → </a:t>
            </a:r>
            <a:r>
              <a:rPr lang="en-US" sz="1800" dirty="0">
                <a:solidFill>
                  <a:schemeClr val="accent5"/>
                </a:solidFill>
              </a:rPr>
              <a:t>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15.  </a:t>
            </a:r>
            <a:r>
              <a:rPr lang="en-US" sz="1800" dirty="0">
                <a:solidFill>
                  <a:schemeClr val="tx1"/>
                </a:solidFill>
              </a:rPr>
              <a:t>j’ai peur des araignées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16.  </a:t>
            </a:r>
            <a:r>
              <a:rPr lang="en-US" sz="1800" dirty="0">
                <a:solidFill>
                  <a:schemeClr val="tx1"/>
                </a:solidFill>
              </a:rPr>
              <a:t>le train a du retard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17.  </a:t>
            </a:r>
            <a:r>
              <a:rPr lang="en-US" sz="1800" dirty="0">
                <a:solidFill>
                  <a:schemeClr val="tx1"/>
                </a:solidFill>
              </a:rPr>
              <a:t>je n’ai pas le temps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18.  </a:t>
            </a:r>
            <a:r>
              <a:rPr lang="en-US" sz="1800" dirty="0">
                <a:solidFill>
                  <a:schemeClr val="tx1"/>
                </a:solidFill>
              </a:rPr>
              <a:t>ils sont à la maison → </a:t>
            </a:r>
            <a:r>
              <a:rPr lang="en-US" sz="1800" dirty="0">
                <a:solidFill>
                  <a:schemeClr val="accent5"/>
                </a:solidFill>
              </a:rPr>
              <a:t>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19.  </a:t>
            </a:r>
            <a:r>
              <a:rPr lang="en-US" sz="1800" dirty="0">
                <a:solidFill>
                  <a:schemeClr val="tx1"/>
                </a:solidFill>
              </a:rPr>
              <a:t>avez-vous faim ? (à deux amis)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20.  </a:t>
            </a:r>
            <a:r>
              <a:rPr lang="en-US" sz="1800" dirty="0">
                <a:solidFill>
                  <a:schemeClr val="tx1"/>
                </a:solidFill>
              </a:rPr>
              <a:t>toi, tu as le temps, mais moi non → </a:t>
            </a:r>
            <a:r>
              <a:rPr lang="en-US" sz="1800" dirty="0">
                <a:solidFill>
                  <a:schemeClr val="accent5"/>
                </a:solidFill>
              </a:rPr>
              <a:t>……………………………………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1.3.6 Les 20 amorces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43–44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1.  </a:t>
            </a:r>
            <a:r>
              <a:rPr lang="en-US" sz="1800" dirty="0">
                <a:solidFill>
                  <a:schemeClr val="tx1"/>
                </a:solidFill>
              </a:rPr>
              <a:t>j’ai faim → </a:t>
            </a:r>
            <a:r>
              <a:rPr lang="en-US" sz="1800" b="1" dirty="0">
                <a:solidFill>
                  <a:schemeClr val="accent3"/>
                </a:solidFill>
              </a:rPr>
              <a:t>Ik heb honger.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2.  </a:t>
            </a:r>
            <a:r>
              <a:rPr lang="en-US" sz="1800" dirty="0">
                <a:solidFill>
                  <a:schemeClr val="tx1"/>
                </a:solidFill>
              </a:rPr>
              <a:t>elle a raison → </a:t>
            </a:r>
            <a:r>
              <a:rPr lang="en-US" sz="1800" b="1" dirty="0">
                <a:solidFill>
                  <a:schemeClr val="accent3"/>
                </a:solidFill>
              </a:rPr>
              <a:t>Zij heeft gelijk.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3.  </a:t>
            </a:r>
            <a:r>
              <a:rPr lang="en-US" sz="1800" dirty="0">
                <a:solidFill>
                  <a:schemeClr val="tx1"/>
                </a:solidFill>
              </a:rPr>
              <a:t>il y a beaucoup de monde → </a:t>
            </a:r>
            <a:r>
              <a:rPr lang="en-US" sz="1800" b="1" dirty="0">
                <a:solidFill>
                  <a:schemeClr val="accent3"/>
                </a:solidFill>
              </a:rPr>
              <a:t>Er zijn veel mensen.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4.  </a:t>
            </a:r>
            <a:r>
              <a:rPr lang="en-US" sz="1800" dirty="0">
                <a:solidFill>
                  <a:schemeClr val="tx1"/>
                </a:solidFill>
              </a:rPr>
              <a:t>je suis fatigué(e) → </a:t>
            </a:r>
            <a:r>
              <a:rPr lang="en-US" sz="1800" b="1" dirty="0">
                <a:solidFill>
                  <a:schemeClr val="accent3"/>
                </a:solidFill>
              </a:rPr>
              <a:t>Ik ben moe.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5.  </a:t>
            </a:r>
            <a:r>
              <a:rPr lang="en-US" sz="1800" dirty="0">
                <a:solidFill>
                  <a:schemeClr val="tx1"/>
                </a:solidFill>
              </a:rPr>
              <a:t>nous avons le temps → </a:t>
            </a:r>
            <a:r>
              <a:rPr lang="en-US" sz="1800" b="1" dirty="0">
                <a:solidFill>
                  <a:schemeClr val="accent3"/>
                </a:solidFill>
              </a:rPr>
              <a:t>Wij hebben tijd.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6.  </a:t>
            </a:r>
            <a:r>
              <a:rPr lang="en-US" sz="1800" dirty="0">
                <a:solidFill>
                  <a:schemeClr val="tx1"/>
                </a:solidFill>
              </a:rPr>
              <a:t>tu es prêt(e) ? → </a:t>
            </a:r>
            <a:r>
              <a:rPr lang="en-US" sz="1800" b="1" dirty="0">
                <a:solidFill>
                  <a:schemeClr val="accent3"/>
                </a:solidFill>
              </a:rPr>
              <a:t>Ben je klaar?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7.  </a:t>
            </a:r>
            <a:r>
              <a:rPr lang="en-US" sz="1800" dirty="0">
                <a:solidFill>
                  <a:schemeClr val="tx1"/>
                </a:solidFill>
              </a:rPr>
              <a:t>as-tu une voiture ? → </a:t>
            </a:r>
            <a:r>
              <a:rPr lang="en-US" sz="1800" b="1" dirty="0">
                <a:solidFill>
                  <a:schemeClr val="accent3"/>
                </a:solidFill>
              </a:rPr>
              <a:t>Heb je een auto?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8.  </a:t>
            </a:r>
            <a:r>
              <a:rPr lang="en-US" sz="1800" dirty="0">
                <a:solidFill>
                  <a:schemeClr val="tx1"/>
                </a:solidFill>
              </a:rPr>
              <a:t>il est professeur → </a:t>
            </a:r>
            <a:r>
              <a:rPr lang="en-US" sz="1800" b="1" dirty="0">
                <a:solidFill>
                  <a:schemeClr val="accent3"/>
                </a:solidFill>
              </a:rPr>
              <a:t>Hij is leraar.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9.  </a:t>
            </a:r>
            <a:r>
              <a:rPr lang="en-US" sz="1800" dirty="0">
                <a:solidFill>
                  <a:schemeClr val="tx1"/>
                </a:solidFill>
              </a:rPr>
              <a:t>elle a des enfants → </a:t>
            </a:r>
            <a:r>
              <a:rPr lang="en-US" sz="1800" b="1" dirty="0">
                <a:solidFill>
                  <a:schemeClr val="accent3"/>
                </a:solidFill>
              </a:rPr>
              <a:t>Zij heeft kinderen.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10.  </a:t>
            </a:r>
            <a:r>
              <a:rPr lang="en-US" sz="1800" dirty="0">
                <a:solidFill>
                  <a:schemeClr val="tx1"/>
                </a:solidFill>
              </a:rPr>
              <a:t>c’est important → </a:t>
            </a:r>
            <a:r>
              <a:rPr lang="en-US" sz="1800" b="1" dirty="0">
                <a:solidFill>
                  <a:schemeClr val="accent3"/>
                </a:solidFill>
              </a:rPr>
              <a:t>Het is belangrijk.</a:t>
            </a:r>
            <a:endParaRPr lang="en-US" sz="18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481328"/>
            <a:ext cx="5362956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11.  </a:t>
            </a:r>
            <a:r>
              <a:rPr lang="en-US" sz="1800" dirty="0">
                <a:solidFill>
                  <a:schemeClr val="tx1"/>
                </a:solidFill>
              </a:rPr>
              <a:t>il fait froid → </a:t>
            </a:r>
            <a:r>
              <a:rPr lang="en-US" sz="1800" b="1" dirty="0">
                <a:solidFill>
                  <a:schemeClr val="accent3"/>
                </a:solidFill>
              </a:rPr>
              <a:t>Het is koud.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12.  </a:t>
            </a:r>
            <a:r>
              <a:rPr lang="en-US" sz="1800" dirty="0">
                <a:solidFill>
                  <a:schemeClr val="tx1"/>
                </a:solidFill>
              </a:rPr>
              <a:t>il y a un problème → </a:t>
            </a:r>
            <a:r>
              <a:rPr lang="en-US" sz="1800" b="1" dirty="0">
                <a:solidFill>
                  <a:schemeClr val="accent3"/>
                </a:solidFill>
              </a:rPr>
              <a:t>Er is een probleem.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13.  </a:t>
            </a:r>
            <a:r>
              <a:rPr lang="en-US" sz="1800" dirty="0">
                <a:solidFill>
                  <a:schemeClr val="tx1"/>
                </a:solidFill>
              </a:rPr>
              <a:t>nous sommes étudiants → </a:t>
            </a:r>
            <a:r>
              <a:rPr lang="en-US" sz="1800" b="1" dirty="0">
                <a:solidFill>
                  <a:schemeClr val="accent3"/>
                </a:solidFill>
              </a:rPr>
              <a:t>Wij zijn studenten.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14.  </a:t>
            </a:r>
            <a:r>
              <a:rPr lang="en-US" sz="1800" dirty="0">
                <a:solidFill>
                  <a:schemeClr val="tx1"/>
                </a:solidFill>
              </a:rPr>
              <a:t>vous avez raison (formel) → </a:t>
            </a:r>
            <a:r>
              <a:rPr lang="en-US" sz="1800" b="1" dirty="0">
                <a:solidFill>
                  <a:schemeClr val="accent3"/>
                </a:solidFill>
              </a:rPr>
              <a:t>U hebt gelijk.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15.  </a:t>
            </a:r>
            <a:r>
              <a:rPr lang="en-US" sz="1800" dirty="0">
                <a:solidFill>
                  <a:schemeClr val="tx1"/>
                </a:solidFill>
              </a:rPr>
              <a:t>j’ai peur des araignées → </a:t>
            </a:r>
            <a:r>
              <a:rPr lang="en-US" sz="1800" b="1" dirty="0">
                <a:solidFill>
                  <a:schemeClr val="accent3"/>
                </a:solidFill>
              </a:rPr>
              <a:t>Ik ben bang voor spinnen.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16.  </a:t>
            </a:r>
            <a:r>
              <a:rPr lang="en-US" sz="1800" dirty="0">
                <a:solidFill>
                  <a:schemeClr val="tx1"/>
                </a:solidFill>
              </a:rPr>
              <a:t>le train a du retard → </a:t>
            </a:r>
            <a:r>
              <a:rPr lang="en-US" sz="1800" b="1" dirty="0">
                <a:solidFill>
                  <a:schemeClr val="accent3"/>
                </a:solidFill>
              </a:rPr>
              <a:t>De trein heeft vertraging.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17.  </a:t>
            </a:r>
            <a:r>
              <a:rPr lang="en-US" sz="1800" dirty="0">
                <a:solidFill>
                  <a:schemeClr val="tx1"/>
                </a:solidFill>
              </a:rPr>
              <a:t>je n’ai pas le temps → </a:t>
            </a:r>
            <a:r>
              <a:rPr lang="en-US" sz="1800" b="1" dirty="0">
                <a:solidFill>
                  <a:schemeClr val="accent3"/>
                </a:solidFill>
              </a:rPr>
              <a:t>Ik heb geen tijd.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18.  </a:t>
            </a:r>
            <a:r>
              <a:rPr lang="en-US" sz="1800" dirty="0">
                <a:solidFill>
                  <a:schemeClr val="tx1"/>
                </a:solidFill>
              </a:rPr>
              <a:t>ils sont à la maison → </a:t>
            </a:r>
            <a:r>
              <a:rPr lang="en-US" sz="1800" b="1" dirty="0">
                <a:solidFill>
                  <a:schemeClr val="accent3"/>
                </a:solidFill>
              </a:rPr>
              <a:t>Zij zijn thuis.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19.  </a:t>
            </a:r>
            <a:r>
              <a:rPr lang="en-US" sz="1800" dirty="0">
                <a:solidFill>
                  <a:schemeClr val="tx1"/>
                </a:solidFill>
              </a:rPr>
              <a:t>avez-vous faim ? (à deux amis) → </a:t>
            </a:r>
            <a:r>
              <a:rPr lang="en-US" sz="1800" b="1" dirty="0">
                <a:solidFill>
                  <a:schemeClr val="accent3"/>
                </a:solidFill>
              </a:rPr>
              <a:t>Hebben jullie honger?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20.  </a:t>
            </a:r>
            <a:r>
              <a:rPr lang="en-US" sz="1800" dirty="0">
                <a:solidFill>
                  <a:schemeClr val="tx1"/>
                </a:solidFill>
              </a:rPr>
              <a:t>toi, tu as le temps, mais moi non → </a:t>
            </a:r>
            <a:r>
              <a:rPr lang="en-US" sz="1800" b="1" dirty="0">
                <a:solidFill>
                  <a:schemeClr val="accent3"/>
                </a:solidFill>
              </a:rPr>
              <a:t>Jij hebt tijd, maar ik niet.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1.3.7 Zijn jullie klaar?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Rejouez les lignes 5 à 7 du dialogue </a:t>
            </a:r>
            <a:r>
              <a:rPr lang="en-US" sz="1800" b="1" dirty="0">
                <a:solidFill>
                  <a:schemeClr val="tx1"/>
                </a:solidFill>
              </a:rPr>
              <a:t>trois fois</a:t>
            </a:r>
            <a:r>
              <a:rPr lang="en-US" sz="1800" dirty="0">
                <a:solidFill>
                  <a:schemeClr val="tx1"/>
                </a:solidFill>
              </a:rPr>
              <a:t>, chaque fois un peu plus vite. </a:t>
            </a:r>
            <a:r>
              <a:rPr lang="en-US" sz="1800" i="1" dirty="0">
                <a:solidFill>
                  <a:schemeClr val="tx1"/>
                </a:solidFill>
              </a:rPr>
              <a:t>Speel de dialoog drie keer. Elke keer sneller.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70532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7053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Passage 1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Emma et Pieter,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texte sous les yeux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5292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6529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45312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Passage 2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Vos vrais prénoms</a:t>
            </a:r>
            <a:r>
              <a:rPr lang="en-US" sz="1700" dirty="0">
                <a:solidFill>
                  <a:schemeClr val="tx1"/>
                </a:solidFill>
              </a:rPr>
              <a:t>, </a:t>
            </a:r>
            <a:r>
              <a:rPr lang="en-US" sz="1700" b="1" dirty="0">
                <a:solidFill>
                  <a:schemeClr val="tx1"/>
                </a:solidFill>
              </a:rPr>
              <a:t>vos vrais objets</a:t>
            </a:r>
            <a:r>
              <a:rPr lang="en-US" sz="1700" dirty="0">
                <a:solidFill>
                  <a:schemeClr val="tx1"/>
                </a:solidFill>
              </a:rPr>
              <a:t> :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Ja, ik heb mijn pen en ik ben er klaar voor!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60052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56005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Passage 3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Rôles inversés</a:t>
            </a:r>
            <a:r>
              <a:rPr lang="en-US" sz="1700" dirty="0">
                <a:solidFill>
                  <a:schemeClr val="tx1"/>
                </a:solidFill>
              </a:rPr>
              <a:t>,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sans</a:t>
            </a:r>
            <a:r>
              <a:rPr lang="en-US" sz="1700" dirty="0">
                <a:solidFill>
                  <a:schemeClr val="tx1"/>
                </a:solidFill>
              </a:rPr>
              <a:t> le texte.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 texte — </a:t>
            </a:r>
            <a:r>
              <a:rPr lang="en-US" sz="1700" i="1" dirty="0">
                <a:solidFill>
                  <a:schemeClr val="tx1"/>
                </a:solidFill>
              </a:rPr>
              <a:t>Ben je klaar voor de cursus?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Ja, ik heb mijn boek en ik ben er klaar voor! Heb jij ook tijd voor een koffie?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Nee, sorry, ik heb geen tijd. Mijn les begint zo.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Jij nu! Twee hebben, één zijn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JIJ NU!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46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419590" cy="480974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7288270" y="1481328"/>
            <a:ext cx="4352042" cy="4809744"/>
          </a:xfrm>
          <a:prstGeom prst="roundRect">
            <a:avLst>
              <a:gd name="adj" fmla="val 168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150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855198" y="1636776"/>
            <a:ext cx="362052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1"/>
                </a:solidFill>
              </a:rPr>
              <a:t>COMMENT FAIRE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7452862" y="2075688"/>
            <a:ext cx="402285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 deux, puis avec un autre binôme · 15 min.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r>
              <a:rPr lang="en-US" sz="1800" dirty="0">
                <a:solidFill>
                  <a:schemeClr val="tx1"/>
                </a:solidFill>
              </a:rPr>
              <a:t> Interrogez votre voisin (famille E) : </a:t>
            </a:r>
            <a:r>
              <a:rPr lang="en-US" sz="1800" i="1" dirty="0">
                <a:solidFill>
                  <a:schemeClr val="tx1"/>
                </a:solidFill>
              </a:rPr>
              <a:t>Heb je…? Ben je…?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r>
              <a:rPr lang="en-US" sz="1800" dirty="0">
                <a:solidFill>
                  <a:schemeClr val="tx1"/>
                </a:solidFill>
              </a:rPr>
              <a:t> Présentez-le </a:t>
            </a:r>
            <a:r>
              <a:rPr lang="en-US" sz="1800" b="1" dirty="0">
                <a:solidFill>
                  <a:schemeClr val="tx1"/>
                </a:solidFill>
              </a:rPr>
              <a:t>sans notes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Dit is Lucas. Hij heeft twee kinderen. Hij heeft een auto. Hij is vandaag een beetje moe.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r>
              <a:rPr lang="en-US" sz="1800" dirty="0">
                <a:solidFill>
                  <a:schemeClr val="tx1"/>
                </a:solidFill>
              </a:rPr>
              <a:t> L’autre binôme vérifie : </a:t>
            </a:r>
            <a:r>
              <a:rPr lang="en-US" sz="1800" i="1" dirty="0">
                <a:solidFill>
                  <a:schemeClr val="tx1"/>
                </a:solidFill>
              </a:rPr>
              <a:t>Lucas, heb jij een auto?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pronoms personnels sujets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47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2194560"/>
                <a:gridCol w="4599432"/>
              </a:tblGrid>
              <a:tr h="492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PERSONNE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1re pers. sg.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Ik werk.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(Je travaille.)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2e pers. sg. (familier)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tu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jij / je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Jij werkt.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(Tu travailles.)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2e pers. (poli)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vous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 werkt.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(Vous travaillez.)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3e pers. sg. masc.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hij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Hij werkt.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(Il travaille.)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3e pers. sg. fém.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elle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zij / ze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Zij werkt.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(Elle travaille.)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3e pers. sg. neutre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il / elle, ça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het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Het werkt.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(Ça marche.)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1re pers. pl.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nous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wij / we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Wij werken.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(Nous travaillons.)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2e pers. pl.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vous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Jullie werken.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(Vous travaillez.)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9502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3e pers. pl.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ils / elles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zij / ze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Zij werken. </a:t>
                      </a:r>
                      <a:r>
                        <a:rPr lang="en-US" sz="1600" i="1" dirty="0">
                          <a:solidFill>
                            <a:schemeClr val="tx1"/>
                          </a:solidFill>
                        </a:rPr>
                        <a:t>(Ils travaillent.)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Piège : </a:t>
            </a:r>
            <a:r>
              <a:rPr lang="en-US" sz="1500" i="1" dirty="0">
                <a:solidFill>
                  <a:schemeClr val="accent5"/>
                </a:solidFill>
              </a:rPr>
              <a:t>vous</a:t>
            </a:r>
            <a:r>
              <a:rPr lang="en-US" sz="1500" i="1" dirty="0">
                <a:solidFill>
                  <a:schemeClr val="accent5"/>
                </a:solidFill>
              </a:rPr>
              <a:t> = </a:t>
            </a:r>
            <a:r>
              <a:rPr lang="en-US" sz="1500" b="1" i="1" dirty="0">
                <a:solidFill>
                  <a:schemeClr val="accent5"/>
                </a:solidFill>
              </a:rPr>
              <a:t>u</a:t>
            </a:r>
            <a:r>
              <a:rPr lang="en-US" sz="1500" i="1" dirty="0">
                <a:solidFill>
                  <a:schemeClr val="accent5"/>
                </a:solidFill>
              </a:rPr>
              <a:t> (poli, une ou plusieurs personnes) </a:t>
            </a:r>
            <a:r>
              <a:rPr lang="en-US" sz="1500" b="1" i="1" dirty="0">
                <a:solidFill>
                  <a:schemeClr val="accent5"/>
                </a:solidFill>
              </a:rPr>
              <a:t>ou</a:t>
            </a:r>
            <a:r>
              <a:rPr lang="en-US" sz="1500" i="1" dirty="0">
                <a:solidFill>
                  <a:schemeClr val="accent5"/>
                </a:solidFill>
              </a:rPr>
              <a:t> </a:t>
            </a:r>
            <a:r>
              <a:rPr lang="en-US" sz="1500" b="1" i="1" dirty="0">
                <a:solidFill>
                  <a:schemeClr val="accent5"/>
                </a:solidFill>
              </a:rPr>
              <a:t>jullie</a:t>
            </a:r>
            <a:r>
              <a:rPr lang="en-US" sz="1500" i="1" dirty="0">
                <a:solidFill>
                  <a:schemeClr val="accent5"/>
                </a:solidFill>
              </a:rPr>
              <a:t> (plusieurs personnes, familier). </a:t>
            </a:r>
            <a:r>
              <a:rPr lang="en-US" sz="1500" i="1" dirty="0">
                <a:solidFill>
                  <a:schemeClr val="accent5"/>
                </a:solidFill>
              </a:rPr>
              <a:t>Zij</a:t>
            </a:r>
            <a:r>
              <a:rPr lang="en-US" sz="1500" i="1" dirty="0">
                <a:solidFill>
                  <a:schemeClr val="accent5"/>
                </a:solidFill>
              </a:rPr>
              <a:t> = elle </a:t>
            </a:r>
            <a:r>
              <a:rPr lang="en-US" sz="1500" b="1" i="1" dirty="0">
                <a:solidFill>
                  <a:schemeClr val="accent5"/>
                </a:solidFill>
              </a:rPr>
              <a:t>ou</a:t>
            </a:r>
            <a:r>
              <a:rPr lang="en-US" sz="1500" i="1" dirty="0">
                <a:solidFill>
                  <a:schemeClr val="accent5"/>
                </a:solidFill>
              </a:rPr>
              <a:t> ils : le verbe tranche (</a:t>
            </a:r>
            <a:r>
              <a:rPr lang="en-US" sz="1500" i="1" dirty="0">
                <a:solidFill>
                  <a:schemeClr val="accent5"/>
                </a:solidFill>
              </a:rPr>
              <a:t>zij werkt · zij werken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1.3.8 Ik in 90 seconden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48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Trois partenaires · 10 min — </a:t>
            </a:r>
            <a:r>
              <a:rPr lang="en-US" sz="1800" b="1" dirty="0">
                <a:solidFill>
                  <a:schemeClr val="tx1"/>
                </a:solidFill>
              </a:rPr>
              <a:t>Zinnenbouwer fermé</a:t>
            </a:r>
            <a:r>
              <a:rPr lang="en-US" sz="1800" dirty="0">
                <a:solidFill>
                  <a:schemeClr val="tx1"/>
                </a:solidFill>
              </a:rPr>
              <a:t>. Même message, débit de plus en plus rapide. </a:t>
            </a:r>
            <a:r>
              <a:rPr lang="en-US" sz="1800" i="1" dirty="0">
                <a:solidFill>
                  <a:schemeClr val="tx1"/>
                </a:solidFill>
              </a:rPr>
              <a:t>Negentig, zestig, vijfenveertig seconden. Dezelfde zinnen, sneller.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70532" y="245059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7053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90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Partenaire 1 · 90 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Qui vous êtes · d’où vous venez · ce que vous avez · comment vous allez.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67004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5292" y="245059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6529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60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45312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Partenaire 2 · 60 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La même chose</a:t>
            </a:r>
            <a:r>
              <a:rPr lang="en-US" sz="1700" dirty="0">
                <a:solidFill>
                  <a:schemeClr val="tx1"/>
                </a:solidFill>
              </a:rPr>
              <a:t>, plus vite.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67004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2267712"/>
            <a:ext cx="3502152" cy="3069336"/>
          </a:xfrm>
          <a:prstGeom prst="roundRect">
            <a:avLst>
              <a:gd name="adj" fmla="val 2979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60052" y="245059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560052" y="2450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45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318211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Partenaire 3 · 45 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959352"/>
            <a:ext cx="3227832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Tout dire en 45 secondes !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☐ Alles gezegd?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Modèle — </a:t>
            </a:r>
            <a:r>
              <a:rPr lang="en-US" sz="1700" i="1" dirty="0">
                <a:solidFill>
                  <a:schemeClr val="tx1"/>
                </a:solidFill>
              </a:rPr>
              <a:t>Hallo, ik ben Nadia. Ik kom uit Bergen. Ik heb twee kinderen en een auto. Vandaag ben ik een beetje moe, want ik heb veel werk.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 ou jij ? Forme courte, forme longue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3162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À RETENIR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49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Quatre pronoms ont deux formes : </a:t>
            </a:r>
            <a:r>
              <a:rPr lang="en-US" sz="1800" b="1" dirty="0">
                <a:solidFill>
                  <a:schemeClr val="tx1"/>
                </a:solidFill>
              </a:rPr>
              <a:t>je / jij</a:t>
            </a:r>
            <a:r>
              <a:rPr lang="en-US" sz="1800" dirty="0">
                <a:solidFill>
                  <a:schemeClr val="tx1"/>
                </a:solidFill>
              </a:rPr>
              <a:t> (tu) · </a:t>
            </a:r>
            <a:r>
              <a:rPr lang="en-US" sz="1800" b="1" dirty="0">
                <a:solidFill>
                  <a:schemeClr val="tx1"/>
                </a:solidFill>
              </a:rPr>
              <a:t>ze / zij</a:t>
            </a:r>
            <a:r>
              <a:rPr lang="en-US" sz="1800" dirty="0">
                <a:solidFill>
                  <a:schemeClr val="tx1"/>
                </a:solidFill>
              </a:rPr>
              <a:t> (elle) · </a:t>
            </a:r>
            <a:r>
              <a:rPr lang="en-US" sz="1800" b="1" dirty="0">
                <a:solidFill>
                  <a:schemeClr val="tx1"/>
                </a:solidFill>
              </a:rPr>
              <a:t>we / wij</a:t>
            </a:r>
            <a:r>
              <a:rPr lang="en-US" sz="1800" dirty="0">
                <a:solidFill>
                  <a:schemeClr val="tx1"/>
                </a:solidFill>
              </a:rPr>
              <a:t> (nous) · </a:t>
            </a:r>
            <a:r>
              <a:rPr lang="en-US" sz="1800" b="1" dirty="0">
                <a:solidFill>
                  <a:schemeClr val="tx1"/>
                </a:solidFill>
              </a:rPr>
              <a:t>ze / zij</a:t>
            </a:r>
            <a:r>
              <a:rPr lang="en-US" sz="1800" dirty="0">
                <a:solidFill>
                  <a:schemeClr val="tx1"/>
                </a:solidFill>
              </a:rPr>
              <a:t> (ils, elles).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FORME COURTE = neutre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Usage </a:t>
            </a:r>
            <a:r>
              <a:rPr lang="en-US" sz="2000" b="1" dirty="0">
                <a:solidFill>
                  <a:schemeClr val="tx1"/>
                </a:solidFill>
              </a:rPr>
              <a:t>quotidien</a:t>
            </a:r>
            <a:r>
              <a:rPr lang="en-US" sz="2000" dirty="0">
                <a:solidFill>
                  <a:schemeClr val="tx1"/>
                </a:solidFill>
              </a:rPr>
              <a:t>, sans insister.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Je</a:t>
            </a:r>
            <a:r>
              <a:rPr lang="en-US" sz="2000" i="1" dirty="0">
                <a:solidFill>
                  <a:schemeClr val="tx1"/>
                </a:solidFill>
              </a:rPr>
              <a:t> komt uit België.</a:t>
            </a:r>
            <a:r>
              <a:rPr lang="en-US" sz="2000" dirty="0">
                <a:solidFill>
                  <a:schemeClr val="tx1"/>
                </a:solidFill>
              </a:rPr>
              <a:t> — Tu viens de Belgique.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Ze</a:t>
            </a:r>
            <a:r>
              <a:rPr lang="en-US" sz="2000" i="1" dirty="0">
                <a:solidFill>
                  <a:schemeClr val="tx1"/>
                </a:solidFill>
              </a:rPr>
              <a:t> werkt hier.</a:t>
            </a:r>
            <a:r>
              <a:rPr lang="en-US" sz="2000" dirty="0">
                <a:solidFill>
                  <a:schemeClr val="tx1"/>
                </a:solidFill>
              </a:rPr>
              <a:t> — Elle travaille ici.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We</a:t>
            </a:r>
            <a:r>
              <a:rPr lang="en-US" sz="2000" i="1" dirty="0">
                <a:solidFill>
                  <a:schemeClr val="tx1"/>
                </a:solidFill>
              </a:rPr>
              <a:t> wonen in Gent.</a:t>
            </a:r>
            <a:r>
              <a:rPr lang="en-US" sz="2000" dirty="0">
                <a:solidFill>
                  <a:schemeClr val="tx1"/>
                </a:solidFill>
              </a:rPr>
              <a:t> — Nous habitons à Gand.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414516" y="1947672"/>
            <a:ext cx="5225796" cy="3416808"/>
          </a:xfrm>
          <a:prstGeom prst="roundRect">
            <a:avLst>
              <a:gd name="adj" fmla="val 2676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4311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FORME LONGUE = emphase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643116" y="2770632"/>
            <a:ext cx="4768596" cy="245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Pour </a:t>
            </a:r>
            <a:r>
              <a:rPr lang="en-US" sz="2000" b="1" dirty="0">
                <a:solidFill>
                  <a:schemeClr val="tx1"/>
                </a:solidFill>
              </a:rPr>
              <a:t>insister</a:t>
            </a:r>
            <a:r>
              <a:rPr lang="en-US" sz="2000" dirty="0">
                <a:solidFill>
                  <a:schemeClr val="tx1"/>
                </a:solidFill>
              </a:rPr>
              <a:t> ou </a:t>
            </a:r>
            <a:r>
              <a:rPr lang="en-US" sz="2000" b="1" dirty="0">
                <a:solidFill>
                  <a:schemeClr val="tx1"/>
                </a:solidFill>
              </a:rPr>
              <a:t>contraster</a:t>
            </a: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Jij</a:t>
            </a:r>
            <a:r>
              <a:rPr lang="en-US" sz="2000" i="1" dirty="0">
                <a:solidFill>
                  <a:schemeClr val="tx1"/>
                </a:solidFill>
              </a:rPr>
              <a:t> komt uit België, maar ik kom uit Nederland!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Ze werkt hier, maar </a:t>
            </a:r>
            <a:r>
              <a:rPr lang="en-US" sz="2000" b="1" i="1" dirty="0">
                <a:solidFill>
                  <a:schemeClr val="tx1"/>
                </a:solidFill>
              </a:rPr>
              <a:t>wij</a:t>
            </a:r>
            <a:r>
              <a:rPr lang="en-US" sz="2000" i="1" dirty="0">
                <a:solidFill>
                  <a:schemeClr val="tx1"/>
                </a:solidFill>
              </a:rPr>
              <a:t> werken daar.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Zij</a:t>
            </a:r>
            <a:r>
              <a:rPr lang="en-US" sz="2000" i="1" dirty="0">
                <a:solidFill>
                  <a:schemeClr val="tx1"/>
                </a:solidFill>
              </a:rPr>
              <a:t> zijn er, niet </a:t>
            </a:r>
            <a:r>
              <a:rPr lang="en-US" sz="2000" b="1" i="1" dirty="0">
                <a:solidFill>
                  <a:schemeClr val="tx1"/>
                </a:solidFill>
              </a:rPr>
              <a:t>wij</a:t>
            </a:r>
            <a:r>
              <a:rPr lang="en-US" sz="2000" i="1" dirty="0">
                <a:solidFill>
                  <a:schemeClr val="tx1"/>
                </a:solidFill>
              </a:rPr>
              <a:t>!</a:t>
            </a:r>
            <a:r>
              <a:rPr lang="en-US" sz="2000" dirty="0">
                <a:solidFill>
                  <a:schemeClr val="tx1"/>
                </a:solidFill>
              </a:rPr>
              <a:t> — Eux sont là, pas nous !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838444" y="3400044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38444" y="34000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insiste avec </a:t>
            </a:r>
            <a:r>
              <a:rPr lang="en-US" sz="1700" b="1" i="1" dirty="0">
                <a:solidFill>
                  <a:schemeClr val="tx1"/>
                </a:solidFill>
              </a:rPr>
              <a:t>moi</a:t>
            </a:r>
            <a:r>
              <a:rPr lang="en-US" sz="1700" i="1" dirty="0">
                <a:solidFill>
                  <a:schemeClr val="tx1"/>
                </a:solidFill>
              </a:rPr>
              <a:t>, je…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b="1" i="1" dirty="0">
                <a:solidFill>
                  <a:schemeClr val="tx1"/>
                </a:solidFill>
              </a:rPr>
              <a:t>toi</a:t>
            </a:r>
            <a:r>
              <a:rPr lang="en-US" sz="1700" i="1" dirty="0">
                <a:solidFill>
                  <a:schemeClr val="tx1"/>
                </a:solidFill>
              </a:rPr>
              <a:t>, tu…</a:t>
            </a:r>
            <a:r>
              <a:rPr lang="en-US" sz="1700" dirty="0">
                <a:solidFill>
                  <a:schemeClr val="tx1"/>
                </a:solidFill>
              </a:rPr>
              <a:t>. Le néerlandais n’ajoute pas de mot : il prend la </a:t>
            </a:r>
            <a:r>
              <a:rPr lang="en-US" sz="1700" b="1" dirty="0">
                <a:solidFill>
                  <a:schemeClr val="tx1"/>
                </a:solidFill>
              </a:rPr>
              <a:t>forme longue</a:t>
            </a:r>
            <a:r>
              <a:rPr lang="en-US" sz="1700" dirty="0">
                <a:solidFill>
                  <a:schemeClr val="tx1"/>
                </a:solidFill>
              </a:rPr>
              <a:t> et l’accentue. ✗ </a:t>
            </a:r>
            <a:r>
              <a:rPr lang="en-US" sz="1700" i="1" dirty="0">
                <a:solidFill>
                  <a:schemeClr val="tx1"/>
                </a:solidFill>
              </a:rPr>
              <a:t>Mij, ik ben…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i="1" dirty="0">
                <a:solidFill>
                  <a:schemeClr val="tx1"/>
                </a:solidFill>
              </a:rPr>
              <a:t>Ik</a:t>
            </a:r>
            <a:r>
              <a:rPr lang="en-US" sz="1700" i="1" dirty="0">
                <a:solidFill>
                  <a:schemeClr val="tx1"/>
                </a:solidFill>
              </a:rPr>
              <a:t> ben…</a:t>
            </a:r>
            <a:r>
              <a:rPr lang="en-US" sz="1700" dirty="0">
                <a:solidFill>
                  <a:schemeClr val="tx1"/>
                </a:solidFill>
              </a:rPr>
              <a:t> (accentué).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Les pronoms : lequel ? quelle forme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2 × 5 min — Colonne 1 : le pronom sujet qui convient. Colonne 2 : forme </a:t>
            </a:r>
            <a:r>
              <a:rPr lang="en-US" sz="1600" b="1" i="1" dirty="0">
                <a:solidFill>
                  <a:schemeClr val="accent5"/>
                </a:solidFill>
              </a:rPr>
              <a:t>courte</a:t>
            </a:r>
            <a:r>
              <a:rPr lang="en-US" sz="1600" i="1" dirty="0">
                <a:solidFill>
                  <a:schemeClr val="accent5"/>
                </a:solidFill>
              </a:rPr>
              <a:t> (neutre) ou </a:t>
            </a:r>
            <a:r>
              <a:rPr lang="en-US" sz="1600" b="1" i="1" dirty="0">
                <a:solidFill>
                  <a:schemeClr val="accent5"/>
                </a:solidFill>
              </a:rPr>
              <a:t>longue</a:t>
            </a:r>
            <a:r>
              <a:rPr lang="en-US" sz="1600" i="1" dirty="0">
                <a:solidFill>
                  <a:schemeClr val="accent5"/>
                </a:solidFill>
              </a:rPr>
              <a:t> (emphase) ?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Vul het juiste persoonlijk voornaamwoord in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is mijn broer. </a:t>
            </a:r>
            <a:r>
              <a:rPr lang="en-US" sz="2100" i="1" dirty="0">
                <a:solidFill>
                  <a:schemeClr val="tx1"/>
                </a:solidFill>
              </a:rPr>
              <a:t>(Lui, c’est mon frère.)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ben leraar. </a:t>
            </a:r>
            <a:r>
              <a:rPr lang="en-US" sz="2100" i="1" dirty="0">
                <a:solidFill>
                  <a:schemeClr val="tx1"/>
                </a:solidFill>
              </a:rPr>
              <a:t>(Je suis professeur.)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komt uit Nederland. </a:t>
            </a:r>
            <a:r>
              <a:rPr lang="en-US" sz="2100" i="1" dirty="0">
                <a:solidFill>
                  <a:schemeClr val="tx1"/>
                </a:solidFill>
              </a:rPr>
              <a:t>(Elle…)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zijn studenten. </a:t>
            </a:r>
            <a:r>
              <a:rPr lang="en-US" sz="2100" i="1" dirty="0">
                <a:solidFill>
                  <a:schemeClr val="tx1"/>
                </a:solidFill>
              </a:rPr>
              <a:t>(Nous…)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Werk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in Amsterdam? </a:t>
            </a:r>
            <a:r>
              <a:rPr lang="en-US" sz="2100" i="1" dirty="0">
                <a:solidFill>
                  <a:schemeClr val="tx1"/>
                </a:solidFill>
              </a:rPr>
              <a:t>(forme courte)</a:t>
            </a:r>
            <a:endParaRPr lang="en-US" sz="21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Kies tussen de emfatische en de neutrale vorm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Normal :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spreekt Nederlands.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spreekt Nederlands, maar ik spreek Frans.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bent student, maar ik ben leraar.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Normal :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wonen in Amsterdam.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wonen in Amsterdam, jullie in Rotterdam.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EXTRA Les pronoms : lequel ? quelle forme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EXTRA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5956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50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ou à deux · 2 × 5 min — Colonne 1 : le pronom sujet qui convient. Colonne 2 : forme </a:t>
            </a:r>
            <a:r>
              <a:rPr lang="en-US" sz="1600" b="1" i="1" dirty="0">
                <a:solidFill>
                  <a:schemeClr val="accent5"/>
                </a:solidFill>
              </a:rPr>
              <a:t>courte</a:t>
            </a:r>
            <a:r>
              <a:rPr lang="en-US" sz="1600" i="1" dirty="0">
                <a:solidFill>
                  <a:schemeClr val="accent5"/>
                </a:solidFill>
              </a:rPr>
              <a:t> (neutre) ou </a:t>
            </a:r>
            <a:r>
              <a:rPr lang="en-US" sz="1600" b="1" i="1" dirty="0">
                <a:solidFill>
                  <a:schemeClr val="accent5"/>
                </a:solidFill>
              </a:rPr>
              <a:t>longue</a:t>
            </a:r>
            <a:r>
              <a:rPr lang="en-US" sz="1600" i="1" dirty="0">
                <a:solidFill>
                  <a:schemeClr val="accent5"/>
                </a:solidFill>
              </a:rPr>
              <a:t> (emphase) ?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Vul het juiste persoonlijk voornaamwoord in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b="1" dirty="0">
                <a:solidFill>
                  <a:schemeClr val="accent3"/>
                </a:solidFill>
              </a:rPr>
              <a:t>Hij</a:t>
            </a:r>
            <a:r>
              <a:rPr lang="en-US" sz="2100" dirty="0">
                <a:solidFill>
                  <a:schemeClr val="tx1"/>
                </a:solidFill>
              </a:rPr>
              <a:t> is mijn broer. </a:t>
            </a:r>
            <a:r>
              <a:rPr lang="en-US" sz="2100" i="1" dirty="0">
                <a:solidFill>
                  <a:schemeClr val="tx1"/>
                </a:solidFill>
              </a:rPr>
              <a:t>(Lui, c’est mon frère.)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b="1" dirty="0">
                <a:solidFill>
                  <a:schemeClr val="accent3"/>
                </a:solidFill>
              </a:rPr>
              <a:t>Ik</a:t>
            </a:r>
            <a:r>
              <a:rPr lang="en-US" sz="2100" dirty="0">
                <a:solidFill>
                  <a:schemeClr val="tx1"/>
                </a:solidFill>
              </a:rPr>
              <a:t> ben leraar. </a:t>
            </a:r>
            <a:r>
              <a:rPr lang="en-US" sz="2100" i="1" dirty="0">
                <a:solidFill>
                  <a:schemeClr val="tx1"/>
                </a:solidFill>
              </a:rPr>
              <a:t>(Je suis professeur.)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b="1" dirty="0">
                <a:solidFill>
                  <a:schemeClr val="accent3"/>
                </a:solidFill>
              </a:rPr>
              <a:t>Ze / Zij</a:t>
            </a:r>
            <a:r>
              <a:rPr lang="en-US" sz="2100" dirty="0">
                <a:solidFill>
                  <a:schemeClr val="tx1"/>
                </a:solidFill>
              </a:rPr>
              <a:t> komt uit Nederland. </a:t>
            </a:r>
            <a:r>
              <a:rPr lang="en-US" sz="2100" i="1" dirty="0">
                <a:solidFill>
                  <a:schemeClr val="tx1"/>
                </a:solidFill>
              </a:rPr>
              <a:t>(Elle…)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b="1" dirty="0">
                <a:solidFill>
                  <a:schemeClr val="accent3"/>
                </a:solidFill>
              </a:rPr>
              <a:t>We / Wij</a:t>
            </a:r>
            <a:r>
              <a:rPr lang="en-US" sz="2100" dirty="0">
                <a:solidFill>
                  <a:schemeClr val="tx1"/>
                </a:solidFill>
              </a:rPr>
              <a:t> zijn studenten. </a:t>
            </a:r>
            <a:r>
              <a:rPr lang="en-US" sz="2100" i="1" dirty="0">
                <a:solidFill>
                  <a:schemeClr val="tx1"/>
                </a:solidFill>
              </a:rPr>
              <a:t>(Nous…)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Werk </a:t>
            </a:r>
            <a:r>
              <a:rPr lang="en-US" sz="2100" b="1" dirty="0">
                <a:solidFill>
                  <a:schemeClr val="accent3"/>
                </a:solidFill>
              </a:rPr>
              <a:t>je</a:t>
            </a:r>
            <a:r>
              <a:rPr lang="en-US" sz="2100" dirty="0">
                <a:solidFill>
                  <a:schemeClr val="tx1"/>
                </a:solidFill>
              </a:rPr>
              <a:t> in Amsterdam? </a:t>
            </a:r>
            <a:r>
              <a:rPr lang="en-US" sz="2100" i="1" dirty="0">
                <a:solidFill>
                  <a:schemeClr val="tx1"/>
                </a:solidFill>
              </a:rPr>
              <a:t>(forme courte)</a:t>
            </a:r>
            <a:endParaRPr lang="en-US" sz="21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2170176"/>
            <a:ext cx="5362956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Kies tussen de emfatische en de neutrale vorm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Normal : </a:t>
            </a:r>
            <a:r>
              <a:rPr lang="en-US" sz="2100" b="1" dirty="0">
                <a:solidFill>
                  <a:schemeClr val="accent3"/>
                </a:solidFill>
              </a:rPr>
              <a:t>Ze</a:t>
            </a:r>
            <a:r>
              <a:rPr lang="en-US" sz="2100" dirty="0">
                <a:solidFill>
                  <a:schemeClr val="tx1"/>
                </a:solidFill>
              </a:rPr>
              <a:t> spreekt Nederlands.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b="1" dirty="0">
                <a:solidFill>
                  <a:schemeClr val="accent3"/>
                </a:solidFill>
              </a:rPr>
              <a:t>Zij</a:t>
            </a:r>
            <a:r>
              <a:rPr lang="en-US" sz="2100" dirty="0">
                <a:solidFill>
                  <a:schemeClr val="tx1"/>
                </a:solidFill>
              </a:rPr>
              <a:t> spreekt Nederlands, maar ik spreek Frans.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b="1" dirty="0">
                <a:solidFill>
                  <a:schemeClr val="accent3"/>
                </a:solidFill>
              </a:rPr>
              <a:t>Jij</a:t>
            </a:r>
            <a:r>
              <a:rPr lang="en-US" sz="2100" dirty="0">
                <a:solidFill>
                  <a:schemeClr val="tx1"/>
                </a:solidFill>
              </a:rPr>
              <a:t> bent student, maar ik ben leraar.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Normal : </a:t>
            </a:r>
            <a:r>
              <a:rPr lang="en-US" sz="2100" b="1" dirty="0">
                <a:solidFill>
                  <a:schemeClr val="accent3"/>
                </a:solidFill>
              </a:rPr>
              <a:t>We</a:t>
            </a:r>
            <a:r>
              <a:rPr lang="en-US" sz="2100" dirty="0">
                <a:solidFill>
                  <a:schemeClr val="tx1"/>
                </a:solidFill>
              </a:rPr>
              <a:t> wonen in Amsterdam.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Emphase : </a:t>
            </a:r>
            <a:r>
              <a:rPr lang="en-US" sz="2100" b="1" dirty="0">
                <a:solidFill>
                  <a:schemeClr val="accent3"/>
                </a:solidFill>
              </a:rPr>
              <a:t>Wij</a:t>
            </a:r>
            <a:r>
              <a:rPr lang="en-US" sz="2100" dirty="0">
                <a:solidFill>
                  <a:schemeClr val="tx1"/>
                </a:solidFill>
              </a:rPr>
              <a:t> wonen in Amsterdam, jullie in Rotterdam.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Vraagwoorden : les mots interrogatifs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62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2697480"/>
                <a:gridCol w="1463040"/>
                <a:gridCol w="1463040"/>
                <a:gridCol w="263347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MOT W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MOT W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Wie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Wie is dat?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Waarom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pourquoi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Waarom lach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que, quoi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Wat drink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comment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Hoe heet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Waar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où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Waar is het station?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Hoeveel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combien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Hoeveel kost het?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222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Wanneer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quand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Wanneer kom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Welke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quel, quelle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Welke taal spreek je?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À ajouter : </a:t>
            </a:r>
            <a:r>
              <a:rPr lang="en-US" sz="1500" i="1" dirty="0">
                <a:solidFill>
                  <a:schemeClr val="accent5"/>
                </a:solidFill>
              </a:rPr>
              <a:t>Waar kom je </a:t>
            </a:r>
            <a:r>
              <a:rPr lang="en-US" sz="1500" b="1" i="1" dirty="0">
                <a:solidFill>
                  <a:schemeClr val="accent5"/>
                </a:solidFill>
              </a:rPr>
              <a:t>vandaan</a:t>
            </a:r>
            <a:r>
              <a:rPr lang="en-US" sz="1500" i="1" dirty="0">
                <a:solidFill>
                  <a:schemeClr val="accent5"/>
                </a:solidFill>
              </a:rPr>
              <a:t>?</a:t>
            </a:r>
            <a:r>
              <a:rPr lang="en-US" sz="1500" i="1" dirty="0">
                <a:solidFill>
                  <a:schemeClr val="accent5"/>
                </a:solidFill>
              </a:rPr>
              <a:t> (d’où ?) · </a:t>
            </a:r>
            <a:r>
              <a:rPr lang="en-US" sz="1500" b="1" i="1" dirty="0">
                <a:solidFill>
                  <a:schemeClr val="accent5"/>
                </a:solidFill>
              </a:rPr>
              <a:t>Welk</a:t>
            </a:r>
            <a:r>
              <a:rPr lang="en-US" sz="1500" i="1" dirty="0">
                <a:solidFill>
                  <a:schemeClr val="accent5"/>
                </a:solidFill>
              </a:rPr>
              <a:t> boek?</a:t>
            </a:r>
            <a:r>
              <a:rPr lang="en-US" sz="1500" i="1" dirty="0">
                <a:solidFill>
                  <a:schemeClr val="accent5"/>
                </a:solidFill>
              </a:rPr>
              <a:t> (het-mot au singulier) mais </a:t>
            </a:r>
            <a:r>
              <a:rPr lang="en-US" sz="1500" b="1" i="1" dirty="0">
                <a:solidFill>
                  <a:schemeClr val="accent5"/>
                </a:solidFill>
              </a:rPr>
              <a:t>welke</a:t>
            </a:r>
            <a:r>
              <a:rPr lang="en-US" sz="1500" i="1" dirty="0">
                <a:solidFill>
                  <a:schemeClr val="accent5"/>
                </a:solidFill>
              </a:rPr>
              <a:t> taal? welke boeken?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Deux types de questions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Question ouverte : </a:t>
            </a:r>
            <a:r>
              <a:rPr lang="en-US" sz="1800" b="1" dirty="0">
                <a:solidFill>
                  <a:schemeClr val="tx1"/>
                </a:solidFill>
              </a:rPr>
              <a:t>mot W + verbe + sujet</a:t>
            </a:r>
            <a:r>
              <a:rPr lang="en-US" sz="1800" dirty="0">
                <a:solidFill>
                  <a:schemeClr val="tx1"/>
                </a:solidFill>
              </a:rPr>
              <a:t>. Question oui / non : </a:t>
            </a:r>
            <a:r>
              <a:rPr lang="en-US" sz="1800" b="1" dirty="0">
                <a:solidFill>
                  <a:schemeClr val="tx1"/>
                </a:solidFill>
              </a:rPr>
              <a:t>le verbe en premier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ouverte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964688" y="1947672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964688" y="2185416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01264" y="2185416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woon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26256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26256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62832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621784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21784" y="218541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658360" y="218541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254203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Où habites-tu ?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03961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ouverte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280187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103120" y="3039618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139696" y="3039618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2964688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964688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001264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kom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3760216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760216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96792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555744" y="2801874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55744" y="3039618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592320" y="3039618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vandaan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734304" y="280187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734304" y="303961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770880" y="303961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39623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D’où viens-tu ? (vandaan à la fin)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38938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oui / non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365607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389382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389382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Woon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2964688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964688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3001264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je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3760216" y="365607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760216" y="3893820"/>
            <a:ext cx="1068832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796792" y="389382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Gent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938776" y="3656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4938776" y="389382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975352" y="389382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2103120" y="425043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Habites-tu à Gand ?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474802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avec u</a:t>
            </a:r>
            <a:endParaRPr lang="en-US" sz="1400" dirty="0"/>
          </a:p>
        </p:txBody>
      </p:sp>
      <p:sp>
        <p:nvSpPr>
          <p:cNvPr id="53" name="Text 50"/>
          <p:cNvSpPr txBox="1"/>
          <p:nvPr/>
        </p:nvSpPr>
        <p:spPr>
          <a:xfrm>
            <a:off x="2103120" y="4510278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103120" y="4748022"/>
            <a:ext cx="75184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139696" y="4748022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Waar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2964688" y="4510278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2964688" y="4748022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3001264" y="4748022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woont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3931920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931920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968496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727448" y="451027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727448" y="474802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64024" y="474802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?</a:t>
            </a:r>
            <a:endParaRPr lang="en-US" sz="1600" dirty="0"/>
          </a:p>
        </p:txBody>
      </p:sp>
      <p:sp>
        <p:nvSpPr>
          <p:cNvPr id="65" name="Text 62"/>
          <p:cNvSpPr txBox="1"/>
          <p:nvPr/>
        </p:nvSpPr>
        <p:spPr>
          <a:xfrm>
            <a:off x="2103120" y="510463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Où habitez-vous ? (avec u, le -t reste)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6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68" name="Text 64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Pas de « est-ce que » : ✗ </a:t>
            </a:r>
            <a:r>
              <a:rPr lang="en-US" sz="1700" i="1" dirty="0">
                <a:solidFill>
                  <a:schemeClr val="tx1"/>
                </a:solidFill>
              </a:rPr>
              <a:t>Is het dat je in Gent woont?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i="1" dirty="0">
                <a:solidFill>
                  <a:schemeClr val="tx1"/>
                </a:solidFill>
              </a:rPr>
              <a:t>Woon je</a:t>
            </a:r>
            <a:r>
              <a:rPr lang="en-US" sz="1700" i="1" dirty="0">
                <a:solidFill>
                  <a:schemeClr val="tx1"/>
                </a:solidFill>
              </a:rPr>
              <a:t> in Gent?</a:t>
            </a:r>
            <a:r>
              <a:rPr lang="en-US" sz="1700" dirty="0">
                <a:solidFill>
                  <a:schemeClr val="tx1"/>
                </a:solidFill>
              </a:rPr>
              <a:t> Après inversion, </a:t>
            </a:r>
            <a:r>
              <a:rPr lang="en-US" sz="1700" b="1" dirty="0">
                <a:solidFill>
                  <a:schemeClr val="tx1"/>
                </a:solidFill>
              </a:rPr>
              <a:t>je / jij</a:t>
            </a:r>
            <a:r>
              <a:rPr lang="en-US" sz="1700" dirty="0">
                <a:solidFill>
                  <a:schemeClr val="tx1"/>
                </a:solidFill>
              </a:rPr>
              <a:t> perd le -t : </a:t>
            </a:r>
            <a:r>
              <a:rPr lang="en-US" sz="1700" i="1" dirty="0">
                <a:solidFill>
                  <a:schemeClr val="tx1"/>
                </a:solidFill>
              </a:rPr>
              <a:t>jij drinkt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b="1" i="1" dirty="0">
                <a:solidFill>
                  <a:schemeClr val="tx1"/>
                </a:solidFill>
              </a:rPr>
              <a:t>Drink jij</a:t>
            </a:r>
            <a:r>
              <a:rPr lang="en-US" sz="1700" i="1" dirty="0">
                <a:solidFill>
                  <a:schemeClr val="tx1"/>
                </a:solidFill>
              </a:rPr>
              <a:t> koffie?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A1-05 Oefening — Écris la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Remettez les mots dans l’ordre et conjuguez le verbe.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wonen / jullie / in Gent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wie / bellen / hij → </a:t>
            </a:r>
            <a:r>
              <a:rPr lang="en-US" sz="2400" dirty="0">
                <a:solidFill>
                  <a:schemeClr val="accent5"/>
                </a:solidFill>
              </a:rPr>
              <a:t>…………………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hoeveel / broers / hebben / je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werken / jij / vandaag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A1-05 Oefening — Écris la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62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Remettez les mots dans l’ordre et conjuguez le verbe.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wonen / jullie / in Gent → </a:t>
            </a:r>
            <a:r>
              <a:rPr lang="en-US" sz="2400" b="1" dirty="0">
                <a:solidFill>
                  <a:schemeClr val="accent3"/>
                </a:solidFill>
              </a:rPr>
              <a:t>Wonen jullie in Gent?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wie / bellen / hij → </a:t>
            </a:r>
            <a:r>
              <a:rPr lang="en-US" sz="2400" b="1" dirty="0">
                <a:solidFill>
                  <a:schemeClr val="accent3"/>
                </a:solidFill>
              </a:rPr>
              <a:t>Wie belt hij?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hoeveel / broers / hebben / je → </a:t>
            </a:r>
            <a:r>
              <a:rPr lang="en-US" sz="2400" b="1" dirty="0">
                <a:solidFill>
                  <a:schemeClr val="accent3"/>
                </a:solidFill>
              </a:rPr>
              <a:t>Hoeveel broers heb je?</a:t>
            </a:r>
            <a:endParaRPr lang="en-US" sz="24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werken / jij / vandaag → </a:t>
            </a:r>
            <a:r>
              <a:rPr lang="en-US" sz="2400" b="1" dirty="0">
                <a:solidFill>
                  <a:schemeClr val="accent3"/>
                </a:solidFill>
              </a:rPr>
              <a:t>Werk jij vandaag?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jullie</a:t>
            </a:r>
            <a:r>
              <a:rPr lang="en-US" sz="1800" dirty="0">
                <a:solidFill>
                  <a:schemeClr val="tx1"/>
                </a:solidFill>
              </a:rPr>
              <a:t> : verbe au pluriel (</a:t>
            </a:r>
            <a:r>
              <a:rPr lang="en-US" sz="1800" i="1" dirty="0">
                <a:solidFill>
                  <a:schemeClr val="tx1"/>
                </a:solidFill>
              </a:rPr>
              <a:t>wonen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hoeveel broers</a:t>
            </a:r>
            <a:r>
              <a:rPr lang="en-US" sz="1800" dirty="0">
                <a:solidFill>
                  <a:schemeClr val="tx1"/>
                </a:solidFill>
              </a:rPr>
              <a:t> : le groupe W reste ensemble.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Heb je…? Werk jij…?</a:t>
            </a:r>
            <a:r>
              <a:rPr lang="en-US" sz="1800" dirty="0">
                <a:solidFill>
                  <a:schemeClr val="tx1"/>
                </a:solidFill>
              </a:rPr>
              <a:t> : le -t tombe.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Interview d’Emma : posez la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Voici les réponses d’Emma. Trouvez la question (tutoyez-la), puis jouez l’interview à deux.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heet Emma.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kom uit België.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woon in Bergen.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Ja, ik heb een broer.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</a:t>
            </a:r>
            <a:endParaRPr lang="en-US" sz="2000" dirty="0"/>
          </a:p>
        </p:txBody>
      </p:sp>
      <p:sp>
        <p:nvSpPr>
          <p:cNvPr id="8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drink koffie.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ben moe omdat ik veel werk heb.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De les begint om zeven uur.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……………………………………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spreek Frans en Nederlands.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dirty="0">
                <a:solidFill>
                  <a:schemeClr val="accent5"/>
                </a:solidFill>
              </a:rPr>
              <a:t>………………………………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Interview d’Emma : posez la question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Voici les réponses d’Emma. Trouvez la question (tutoyez-la), puis jouez l’interview à deux.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1.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heet Emma.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Hoe heet je?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2.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kom uit België.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Waar kom je vandaan?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3.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woon in Bergen.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Waar woon je?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4.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Ja, ik heb een broer.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Heb je een broer?</a:t>
            </a:r>
            <a:endParaRPr lang="en-US" sz="2000" dirty="0"/>
          </a:p>
        </p:txBody>
      </p:sp>
      <p:sp>
        <p:nvSpPr>
          <p:cNvPr id="9" name="exercise"/>
          <p:cNvSpPr txBox="1"/>
          <p:nvPr/>
        </p:nvSpPr>
        <p:spPr>
          <a:xfrm>
            <a:off x="4320540" y="2170176"/>
            <a:ext cx="34061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5.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drink koffie.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Wat drink je?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6.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ben moe omdat ik veel werk heb.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Waarom ben je moe?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7.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De les begint om zeven uur.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Wanneer begint de les? / Hoe laat begint de les?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8.  </a:t>
            </a:r>
            <a:r>
              <a:rPr lang="en-US" sz="2000" dirty="0">
                <a:solidFill>
                  <a:schemeClr val="tx1"/>
                </a:solidFill>
              </a:rPr>
              <a:t>… ? — </a:t>
            </a:r>
            <a:r>
              <a:rPr lang="en-US" sz="2000" i="1" dirty="0">
                <a:solidFill>
                  <a:schemeClr val="tx1"/>
                </a:solidFill>
              </a:rPr>
              <a:t>Ik spreek Frans en Nederlands.</a:t>
            </a:r>
            <a:r>
              <a:rPr lang="en-US" sz="2000" dirty="0">
                <a:solidFill>
                  <a:schemeClr val="tx1"/>
                </a:solidFill>
              </a:rPr>
              <a:t> → </a:t>
            </a:r>
            <a:r>
              <a:rPr lang="en-US" sz="2000" b="1" dirty="0">
                <a:solidFill>
                  <a:schemeClr val="accent3"/>
                </a:solidFill>
              </a:rPr>
              <a:t>Welke talen spreek je?</a:t>
            </a:r>
            <a:endParaRPr lang="en-US" sz="2000" dirty="0"/>
          </a:p>
        </p:txBody>
      </p:sp>
      <p:sp>
        <p:nvSpPr>
          <p:cNvPr id="10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Réponse </a:t>
            </a:r>
            <a:r>
              <a:rPr lang="en-US" sz="1800" i="1" dirty="0">
                <a:solidFill>
                  <a:schemeClr val="tx1"/>
                </a:solidFill>
              </a:rPr>
              <a:t>ja</a:t>
            </a:r>
            <a:r>
              <a:rPr lang="en-US" sz="1800" dirty="0">
                <a:solidFill>
                  <a:schemeClr val="tx1"/>
                </a:solidFill>
              </a:rPr>
              <a:t> → question </a:t>
            </a:r>
            <a:r>
              <a:rPr lang="en-US" sz="1800" b="1" dirty="0">
                <a:solidFill>
                  <a:schemeClr val="tx1"/>
                </a:solidFill>
              </a:rPr>
              <a:t>sans</a:t>
            </a:r>
            <a:r>
              <a:rPr lang="en-US" sz="1800" dirty="0">
                <a:solidFill>
                  <a:schemeClr val="tx1"/>
                </a:solidFill>
              </a:rPr>
              <a:t> mot W.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Hoe laat?</a:t>
            </a:r>
            <a:r>
              <a:rPr lang="en-US" sz="1800" dirty="0">
                <a:solidFill>
                  <a:schemeClr val="tx1"/>
                </a:solidFill>
              </a:rPr>
              <a:t> = à quelle heure 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Welke talen</a:t>
            </a:r>
            <a:r>
              <a:rPr lang="en-US" sz="1800" dirty="0">
                <a:solidFill>
                  <a:schemeClr val="tx1"/>
                </a:solidFill>
              </a:rPr>
              <a:t> : pluriel → </a:t>
            </a:r>
            <a:r>
              <a:rPr lang="en-US" sz="1800" b="1" dirty="0">
                <a:solidFill>
                  <a:schemeClr val="tx1"/>
                </a:solidFill>
              </a:rPr>
              <a:t>welke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8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prendre congé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 straks! Fijne dag!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) et la grande mise en situation finale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Stel jezelf voor!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Refaire </a:t>
            </a:r>
            <a:r>
              <a:rPr lang="en-US" sz="1700" b="1" dirty="0">
                <a:solidFill>
                  <a:schemeClr val="tx1"/>
                </a:solidFill>
              </a:rPr>
              <a:t>1.3.6</a:t>
            </a:r>
            <a:r>
              <a:rPr lang="en-US" sz="1700" dirty="0">
                <a:solidFill>
                  <a:schemeClr val="tx1"/>
                </a:solidFill>
              </a:rPr>
              <a:t> au chrono : battre votre temps.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Préparer </a:t>
            </a:r>
            <a:r>
              <a:rPr lang="en-US" sz="1700" b="1" dirty="0">
                <a:solidFill>
                  <a:schemeClr val="tx1"/>
                </a:solidFill>
              </a:rPr>
              <a:t>Ik in 90 seconden</a:t>
            </a:r>
            <a:r>
              <a:rPr lang="en-US" sz="1700" dirty="0">
                <a:solidFill>
                  <a:schemeClr val="tx1"/>
                </a:solidFill>
              </a:rPr>
              <a:t> par écrit, puis le dire en 45 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</a:t>
            </a:r>
            <a:r>
              <a:rPr lang="en-US" sz="1700" b="1" dirty="0">
                <a:solidFill>
                  <a:schemeClr val="tx1"/>
                </a:solidFill>
              </a:rPr>
              <a:t>8 mots W</a:t>
            </a:r>
            <a:r>
              <a:rPr lang="en-US" sz="1700" dirty="0">
                <a:solidFill>
                  <a:schemeClr val="tx1"/>
                </a:solidFill>
              </a:rPr>
              <a:t> (p. 62).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Écrire </a:t>
            </a:r>
            <a:r>
              <a:rPr lang="en-US" sz="1700" b="1" dirty="0">
                <a:solidFill>
                  <a:schemeClr val="tx1"/>
                </a:solidFill>
              </a:rPr>
              <a:t>5 questions</a:t>
            </a:r>
            <a:r>
              <a:rPr lang="en-US" sz="1700" dirty="0">
                <a:solidFill>
                  <a:schemeClr val="tx1"/>
                </a:solidFill>
              </a:rPr>
              <a:t> pour Pieter : 3 ouvertes, 2 oui / non.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Posez une question </a:t>
            </a:r>
            <a:r>
              <a:rPr lang="en-US" sz="1600" b="1" dirty="0">
                <a:solidFill>
                  <a:schemeClr val="bg1"/>
                </a:solidFill>
              </a:rPr>
              <a:t>ouverte</a:t>
            </a:r>
            <a:r>
              <a:rPr lang="en-US" sz="1600" dirty="0">
                <a:solidFill>
                  <a:schemeClr val="bg1"/>
                </a:solidFill>
              </a:rPr>
              <a:t> et une question </a:t>
            </a:r>
            <a:r>
              <a:rPr lang="en-US" sz="1600" b="1" dirty="0">
                <a:solidFill>
                  <a:schemeClr val="bg1"/>
                </a:solidFill>
              </a:rPr>
              <a:t>oui / non</a:t>
            </a:r>
            <a:r>
              <a:rPr lang="en-US" sz="1600" dirty="0">
                <a:solidFill>
                  <a:schemeClr val="bg1"/>
                </a:solidFill>
              </a:rPr>
              <a:t> à votre voisin ; il répond en phrase complète.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07 — Ik en de anderen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2026-10-03T21:06:37Z</dcterms:created>
  <dcterms:modified xsi:type="dcterms:W3CDTF">2026-10-03T21:06:37Z</dcterms:modified>
</cp:coreProperties>
</file>