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e180e2ee-cfad-5825-3a00-4c2d904bd90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ôture" id="{e1b7d809-8fb5-62af-975e-1fc258e70a09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charnière : on termine la séquence 1.1 avec les mots composés (p. 15–18, trois EXTRA), puis on ouvre la séquence 1.2 « Prendre des nouvelles » (p. 19–23 : zinnenbouwer 1.2, degrés de formalité, exercices de réception 1.2.1 et 1.2.2). Fiche de grammaire 07 (nombres et heure, p. 64) et vocabulaire 10 (Tijd &amp; weer, p. 87).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L’EXTRA « Opdracht » (5 mots composés, 10 min) peut être donné en devoir si le temps manque. Les textes 1 et 2 de la séquence 1.2 sont lus par le professeur ; le texte 1 se reconstitue entièrement à partir des versions A et B de 1.2.1.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fiche Woordvolgorde (séance 2). Vérifier aussi les devoirs : les 5 phrases commençant par un moment. Si une erreur revient (’s Morgens ik drink…), la corriger au tableau avec les blocs de couleur.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néerlandais colle les mots pour créer un mot nouveau. Faire deviner le sens de chaque mot avant d’afficher la décomposition. Question à la classe : « Êtes-vous un ochtendmens ou un avondmens ? » (Ik ben een ochtendmens.)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règles de l’encadré « Comment former un mot composé ? » (p. 15–16). Comparer avec l’anglais (evening walk, coffee break), qui fonctionne de la même façon. Parfois un -s- ou -e- de liaison apparaît (arbeid-s-ongeschiktheid, zonn-e-bril) : on le verra dans les mots longs.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voter la classe (main levée) pour chaque mot, puis corriger.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Seul « mensavond » est incorrect : le mot principal (mens) doit être à la fin → avondmens. Les articles ajoutés en vert ne sont pas demandés par le livret : ils réactivent la règle de/het.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libre : pas de correction unique. Proposer de faire l’exercice à la maison et de présenter un mot au début de la séance 4. Vérifier l’article avec la règle : het huis → het ziekenhuis ; het bewijs → het rijbewijs ; het verblijf → het kinderdagverblijf ; de gever → de werkgever.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Coquilles du livret : (1) « meervoudigepersoonlijkheidsstoornis » s’écrit en deux mots, « meervoudige persoonlijkheidsstoornis » (adjectif + nom) : ce n’est pas un mot composé ; (2) les décompositions oublient les -s- de liaison (arbeid-s-ongeschiktheid-s-verzekering, vereniging-s-bestuur-s-vergadering) ; (3) la p. 18 se termine par « Vous savez maintenant saluer… » (copie de la p. 14). L’image montre le mot de 53 lettres « kindercarnavalsoptochtvoorbereidingswerkzaamhedenplan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Après avoir salué, la question naturelle est « Hoe gaat het? » (encadré « Pourquoi… » de la p. 19). Réponse à la question : « En met jou? » (et toi ?) ; en vouvoyant : « En met u? ». Le livret annonce qu’on répond « avec la préposition met » : en fait, met apparaît dans la question retournée (En met jou?), pas dans la réponse (Het gaat goed). Petite incohérence : ici Emma dit « Ik ben een beetje moe », dans le dialogue de la p. 3 « Ik ben moe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Coquilles du zinnenbouwer 1.2 : le sous-titre annonce « Cinq familles » mais il y en a quatre (A à D) ; « génère à elle plus de trente phrases » → « à elle seule ». Combinaisons impossibles à signaler : « Hoe maakt u het » + « met u » ; « heel / redelijk » + « wel » ; « Ik ben niet » + « niet zo ». « Het gaat wel » = ça va, sans plus. « Het kan beter » = ça pourrait aller mieux. « Het valt niet mee » = ce n’est pas facile.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du plus familier au plus formel. Faire classer : à qui pose-t-on chaque question ? (un ami, un collègue, le directeur, une personne âgée). « Hoe maakt u het? » se comprend, mais on l’entend peu : préférer « Hoe gaat het met u?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texte 1 n’est pas imprimé dans le livret, mais il se reconstitue entièrement avec les versions A et B : la correction ci-après est le texte complet. Coquille : l’exercice 1.2.1 porte le même titre que 1.1.7 (« Snel groeten ») ; son contenu correspond plutôt à « Hoe gaat het?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relire le texte complet en binôme (Pieter / Janssens). Remarque : « Ik ben vrij druk » se dit, mais la tournure la plus courante pour « je suis assez occupé » est « Ik heb het vrij druk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B pour les étudiants plus avancés, ou en deuxième passage pour tous. Coquilles de ponctuation dans la version B du livret : « dank ___ Ik ben vrij druk » (point manquant après u) et « Dank ___ meneer » (virgule manquante).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mots en, met et u apparaissent deux fois. Want et maar seront approfondis à la séance 4 (fiche En · maar · want).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à reconstruire avec l’ordre du zinnenbouwer 1.2 : amorce + nuance + adjectif + raison. Le texte 2 n’est pas reproduit dans le livret ; la solution se déduit des blocs.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à souligner : la nuance se place devant l’adjectif (een beetje moe, vrij druk) ; après want et maar, l’ordre reste normal (ik heb, het weekend 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de grammaire 07 (p. 64). La carte « Les dizaines » est ajoutée pour pouvoir faire l’exercice (48, 93) : attention à dertig (et non drietig), veertig (et non viertig), tachtig (et non achtig). Le trait d’union de « een-en-twintig » sert seulement à montrer la décomposition : on écrit eenentwintig, en un seul mot. Faire dire l’heure de la salle de cours en début et en fin d’explication.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p. 64. Correction au tableau ; faire lire les nombres à voix haute.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tréma de drieënnegentig / tweeëntwintig indique qu’on prononce les deux voyelles séparément (drie-en, twee-en). Accepter « ’s ochtends » ou « ’s morgens » si un étudiant précise le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« Wat is dit? » : montrer un numéro, la classe répond avec l’article (de zon, het onweer…). Vocabulaire 10, p. 87.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Tous ces mots sont des de-woorden, sauf het onweer. Le titre lui-même : de tijd, het weer. Lien avec les mots composés : de regen + de boog = de regenboog (le dernier mot décide). Verbes utiles : het regent, het sneeuwt, het waait, de zon schijnt.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de la fiche 07 (heure, in + saison) et du vocabulaire Tijd &amp; weer. Oral rapide pour la colonne de gauche, écrit pour la colonne de droite.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à souligner : half + heure suivante (20.30 = half negen) ; « In de lente werk ik… » : le moment en tête entraîne l’inversion (séance 2). Proverbe à offrir : « Na regen komt zonneschijn » = après la pluie, le beau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oral, par exemple : « Het is kwart over negen. — Het gaat goed, dank je. Ik ben een beetje moe.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03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03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6" Type="http://schemas.openxmlformats.org/officeDocument/2006/relationships/image" Target="../media/image-22-6.jpg"/><Relationship Id="rId7" Type="http://schemas.openxmlformats.org/officeDocument/2006/relationships/image" Target="../media/image-22-7.jpg"/><Relationship Id="rId8" Type="http://schemas.openxmlformats.org/officeDocument/2006/relationships/image" Target="../media/image-22-8.jpg"/><Relationship Id="rId9" Type="http://schemas.openxmlformats.org/officeDocument/2006/relationships/image" Target="../media/image-22-9.jpg"/><Relationship Id="rId10" Type="http://schemas.openxmlformats.org/officeDocument/2006/relationships/image" Target="../media/image-22-10.jpg"/><Relationship Id="rId11" Type="http://schemas.openxmlformats.org/officeDocument/2006/relationships/image" Target="../media/image-22-11.jpg"/><Relationship Id="rId12" Type="http://schemas.openxmlformats.org/officeDocument/2006/relationships/image" Target="../media/image-22-12.jpg"/><Relationship Id="rId13" Type="http://schemas.openxmlformats.org/officeDocument/2006/relationships/image" Target="../media/image-22-13.jpg"/><Relationship Id="rId14" Type="http://schemas.openxmlformats.org/officeDocument/2006/relationships/image" Target="../media/image-22-14.jpg"/><Relationship Id="rId15" Type="http://schemas.openxmlformats.org/officeDocument/2006/relationships/image" Target="../media/image-22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image" Target="../media/image-23-5.jpg"/><Relationship Id="rId6" Type="http://schemas.openxmlformats.org/officeDocument/2006/relationships/image" Target="../media/image-23-6.jpg"/><Relationship Id="rId7" Type="http://schemas.openxmlformats.org/officeDocument/2006/relationships/image" Target="../media/image-23-7.jpg"/><Relationship Id="rId8" Type="http://schemas.openxmlformats.org/officeDocument/2006/relationships/image" Target="../media/image-23-8.jpg"/><Relationship Id="rId9" Type="http://schemas.openxmlformats.org/officeDocument/2006/relationships/image" Target="../media/image-23-9.jpg"/><Relationship Id="rId10" Type="http://schemas.openxmlformats.org/officeDocument/2006/relationships/image" Target="../media/image-23-10.jpg"/><Relationship Id="rId11" Type="http://schemas.openxmlformats.org/officeDocument/2006/relationships/image" Target="../media/image-23-11.jpg"/><Relationship Id="rId12" Type="http://schemas.openxmlformats.org/officeDocument/2006/relationships/image" Target="../media/image-23-12.jpg"/><Relationship Id="rId13" Type="http://schemas.openxmlformats.org/officeDocument/2006/relationships/image" Target="../media/image-23-13.jpg"/><Relationship Id="rId14" Type="http://schemas.openxmlformats.org/officeDocument/2006/relationships/image" Target="../media/image-23-14.jpg"/><Relationship Id="rId15" Type="http://schemas.openxmlformats.org/officeDocument/2006/relationships/image" Target="../media/image-23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03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1.2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Hoe gaat het?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Mots composés, prendre des nouvelles, l’heure et la météo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1 · Premiers pas en néerlandais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15–23 · 64 · 87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0799"/>
            <a:ext cx="5120640" cy="341640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15–23 · 64 · 87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Comprendre et former des </a:t>
            </a:r>
            <a:r>
              <a:rPr lang="en-US" sz="1700" b="1" dirty="0">
                <a:solidFill>
                  <a:schemeClr val="tx1"/>
                </a:solidFill>
              </a:rPr>
              <a:t>mots composés</a:t>
            </a:r>
            <a:r>
              <a:rPr lang="en-US" sz="1700" dirty="0">
                <a:solidFill>
                  <a:schemeClr val="tx1"/>
                </a:solidFill>
              </a:rPr>
              <a:t>, demander et répondre à </a:t>
            </a:r>
            <a:r>
              <a:rPr lang="en-US" sz="1700" b="1" dirty="0">
                <a:solidFill>
                  <a:schemeClr val="tx1"/>
                </a:solidFill>
              </a:rPr>
              <a:t>Hoe gaat het?</a:t>
            </a:r>
            <a:r>
              <a:rPr lang="en-US" sz="1700" dirty="0">
                <a:solidFill>
                  <a:schemeClr val="tx1"/>
                </a:solidFill>
              </a:rPr>
              <a:t> selon la formalité, dire l’</a:t>
            </a:r>
            <a:r>
              <a:rPr lang="en-US" sz="1700" b="1" dirty="0">
                <a:solidFill>
                  <a:schemeClr val="tx1"/>
                </a:solidFill>
              </a:rPr>
              <a:t>heure</a:t>
            </a:r>
            <a:r>
              <a:rPr lang="en-US" sz="1700" dirty="0">
                <a:solidFill>
                  <a:schemeClr val="tx1"/>
                </a:solidFill>
              </a:rPr>
              <a:t> et les </a:t>
            </a:r>
            <a:r>
              <a:rPr lang="en-US" sz="1700" b="1" dirty="0">
                <a:solidFill>
                  <a:schemeClr val="tx1"/>
                </a:solidFill>
              </a:rPr>
              <a:t>nombres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ochtendmens · middagdutje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Hoe gaat het (met u)? · Het gaat goed, dank je. · Het kan beter.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half negen · kwart over acht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Repérer des mots dans un texte lu · remettre des blocs dans l’ordre · compter, lire l’heure · parler du temps qu’il fait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ma journée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Les mots composés + EXTRA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Séquence 1.2 · zinnenbouwer 1.2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Degrés de formalité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1.2.1 · 1.2.2 (réception)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Getallen &amp; klok (fiche 07)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Tijd &amp; weer + bonus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ma journée en trois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min. Dites </a:t>
            </a:r>
            <a:r>
              <a:rPr lang="en-US" sz="1600" b="1" i="1" dirty="0">
                <a:solidFill>
                  <a:schemeClr val="accent5"/>
                </a:solidFill>
              </a:rPr>
              <a:t>trois phrases vraies</a:t>
            </a:r>
            <a:r>
              <a:rPr lang="en-US" sz="1600" i="1" dirty="0">
                <a:solidFill>
                  <a:schemeClr val="accent5"/>
                </a:solidFill>
              </a:rPr>
              <a:t> sur votre journée. Chaque phrase </a:t>
            </a:r>
            <a:r>
              <a:rPr lang="en-US" sz="1600" b="1" i="1" dirty="0">
                <a:solidFill>
                  <a:schemeClr val="accent5"/>
                </a:solidFill>
              </a:rPr>
              <a:t>commence par un moment</a:t>
            </a:r>
            <a:r>
              <a:rPr lang="en-US" sz="1600" i="1" dirty="0">
                <a:solidFill>
                  <a:schemeClr val="accent5"/>
                </a:solidFill>
              </a:rPr>
              <a:t>. Le voisin vérifie l’inversion.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Exemples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’s Morgens </a:t>
            </a:r>
            <a:r>
              <a:rPr lang="en-US" sz="2400" b="1" dirty="0">
                <a:solidFill>
                  <a:schemeClr val="tx1"/>
                </a:solidFill>
              </a:rPr>
              <a:t>drink ik</a:t>
            </a:r>
            <a:r>
              <a:rPr lang="en-US" sz="2400" dirty="0">
                <a:solidFill>
                  <a:schemeClr val="tx1"/>
                </a:solidFill>
              </a:rPr>
              <a:t> koffie.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Vanmiddag </a:t>
            </a:r>
            <a:r>
              <a:rPr lang="en-US" sz="2400" b="1" dirty="0">
                <a:solidFill>
                  <a:schemeClr val="tx1"/>
                </a:solidFill>
              </a:rPr>
              <a:t>ga ik</a:t>
            </a:r>
            <a:r>
              <a:rPr lang="en-US" sz="2400" dirty="0">
                <a:solidFill>
                  <a:schemeClr val="tx1"/>
                </a:solidFill>
              </a:rPr>
              <a:t> naar de cursus.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Morgen </a:t>
            </a:r>
            <a:r>
              <a:rPr lang="en-US" sz="2400" b="1" dirty="0">
                <a:solidFill>
                  <a:schemeClr val="tx1"/>
                </a:solidFill>
              </a:rPr>
              <a:t>reis ik</a:t>
            </a:r>
            <a:r>
              <a:rPr lang="en-US" sz="2400" dirty="0">
                <a:solidFill>
                  <a:schemeClr val="tx1"/>
                </a:solidFill>
              </a:rPr>
              <a:t> met de trein naar Gent.</a:t>
            </a:r>
            <a:endParaRPr lang="en-US" sz="24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Le voisin réagit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i="1" dirty="0">
                <a:solidFill>
                  <a:schemeClr val="tx1"/>
                </a:solidFill>
              </a:rPr>
              <a:t>Goed zo!</a:t>
            </a:r>
            <a:r>
              <a:rPr lang="en-US" sz="2400" dirty="0">
                <a:solidFill>
                  <a:schemeClr val="tx1"/>
                </a:solidFill>
              </a:rPr>
              <a:t> — ou — </a:t>
            </a:r>
            <a:r>
              <a:rPr lang="en-US" sz="2400" i="1" dirty="0">
                <a:solidFill>
                  <a:schemeClr val="tx1"/>
                </a:solidFill>
              </a:rPr>
              <a:t>Pas op: het werkwoord!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Moment → </a:t>
            </a:r>
            <a:r>
              <a:rPr lang="en-US" sz="1800" b="1" dirty="0">
                <a:solidFill>
                  <a:schemeClr val="tx1"/>
                </a:solidFill>
              </a:rPr>
              <a:t>verbe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sujet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Ordre </a:t>
            </a:r>
            <a:r>
              <a:rPr lang="en-US" sz="1800" b="1" dirty="0">
                <a:solidFill>
                  <a:schemeClr val="tx1"/>
                </a:solidFill>
              </a:rPr>
              <a:t>T-M-P</a:t>
            </a:r>
            <a:r>
              <a:rPr lang="en-US" sz="1800" dirty="0">
                <a:solidFill>
                  <a:schemeClr val="tx1"/>
                </a:solidFill>
              </a:rPr>
              <a:t> : quand → comment → où.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Avec </a:t>
            </a:r>
            <a:r>
              <a:rPr lang="en-US" sz="1800" i="1" dirty="0">
                <a:solidFill>
                  <a:schemeClr val="tx1"/>
                </a:solidFill>
              </a:rPr>
              <a:t>jij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Werk </a:t>
            </a:r>
            <a:r>
              <a:rPr lang="en-US" sz="1800" b="1" i="1" dirty="0">
                <a:solidFill>
                  <a:schemeClr val="tx1"/>
                </a:solidFill>
              </a:rPr>
              <a:t>jij</a:t>
            </a:r>
            <a:r>
              <a:rPr lang="en-US" sz="1800" i="1" dirty="0">
                <a:solidFill>
                  <a:schemeClr val="tx1"/>
                </a:solidFill>
              </a:rPr>
              <a:t> ook ’s avonds?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Les mots composés en néerlandais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15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360273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MOT 1 + MOT 2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een ochtendmens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ochtend</a:t>
            </a:r>
            <a:r>
              <a:rPr lang="en-US" sz="1800" dirty="0">
                <a:solidFill>
                  <a:schemeClr val="tx1"/>
                </a:solidFill>
              </a:rPr>
              <a:t> (matin) + </a:t>
            </a:r>
            <a:r>
              <a:rPr lang="en-US" sz="1800" i="1" dirty="0">
                <a:solidFill>
                  <a:schemeClr val="tx1"/>
                </a:solidFill>
              </a:rPr>
              <a:t>mens</a:t>
            </a:r>
            <a:r>
              <a:rPr lang="en-US" sz="1800" dirty="0">
                <a:solidFill>
                  <a:schemeClr val="tx1"/>
                </a:solidFill>
              </a:rPr>
              <a:t> (personne) = quelqu’un en forme le matin.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een middagdutje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middag</a:t>
            </a:r>
            <a:r>
              <a:rPr lang="en-US" sz="1800" dirty="0">
                <a:solidFill>
                  <a:schemeClr val="tx1"/>
                </a:solidFill>
              </a:rPr>
              <a:t> (après-midi) + </a:t>
            </a:r>
            <a:r>
              <a:rPr lang="en-US" sz="1800" i="1" dirty="0">
                <a:solidFill>
                  <a:schemeClr val="tx1"/>
                </a:solidFill>
              </a:rPr>
              <a:t>dutje</a:t>
            </a:r>
            <a:r>
              <a:rPr lang="en-US" sz="1800" dirty="0">
                <a:solidFill>
                  <a:schemeClr val="tx1"/>
                </a:solidFill>
              </a:rPr>
              <a:t> (sieste) = une petite sieste.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een avondwandeling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avond</a:t>
            </a:r>
            <a:r>
              <a:rPr lang="en-US" sz="1800" dirty="0">
                <a:solidFill>
                  <a:schemeClr val="tx1"/>
                </a:solidFill>
              </a:rPr>
              <a:t> (soir) + </a:t>
            </a:r>
            <a:r>
              <a:rPr lang="en-US" sz="1800" i="1" dirty="0">
                <a:solidFill>
                  <a:schemeClr val="tx1"/>
                </a:solidFill>
              </a:rPr>
              <a:t>wandeling</a:t>
            </a:r>
            <a:r>
              <a:rPr lang="en-US" sz="1800" dirty="0">
                <a:solidFill>
                  <a:schemeClr val="tx1"/>
                </a:solidFill>
              </a:rPr>
              <a:t> (promenade) = une balade le soir.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een zaklamp</a:t>
            </a:r>
            <a:r>
              <a:rPr lang="en-US" sz="1800" dirty="0">
                <a:solidFill>
                  <a:schemeClr val="tx1"/>
                </a:solidFill>
              </a:rPr>
              <a:t> (image) : </a:t>
            </a:r>
            <a:r>
              <a:rPr lang="en-US" sz="1800" i="1" dirty="0">
                <a:solidFill>
                  <a:schemeClr val="tx1"/>
                </a:solidFill>
              </a:rPr>
              <a:t>zak</a:t>
            </a:r>
            <a:r>
              <a:rPr lang="en-US" sz="1800" dirty="0">
                <a:solidFill>
                  <a:schemeClr val="tx1"/>
                </a:solidFill>
              </a:rPr>
              <a:t> (poche) + </a:t>
            </a:r>
            <a:r>
              <a:rPr lang="en-US" sz="1800" i="1" dirty="0">
                <a:solidFill>
                  <a:schemeClr val="tx1"/>
                </a:solidFill>
              </a:rPr>
              <a:t>lamp</a:t>
            </a:r>
            <a:r>
              <a:rPr lang="en-US" sz="1800" dirty="0">
                <a:solidFill>
                  <a:schemeClr val="tx1"/>
                </a:solidFill>
              </a:rPr>
              <a:t> = une lampe de poche.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Comment former un mot composé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15–16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① LE PRINCIPE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avond + wandeling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 </a:t>
            </a:r>
            <a:r>
              <a:rPr lang="en-US" sz="2000" b="1" dirty="0">
                <a:solidFill>
                  <a:schemeClr val="tx1"/>
                </a:solidFill>
              </a:rPr>
              <a:t>colle</a:t>
            </a:r>
            <a:r>
              <a:rPr lang="en-US" sz="2000" dirty="0">
                <a:solidFill>
                  <a:schemeClr val="tx1"/>
                </a:solidFill>
              </a:rPr>
              <a:t> les mots : ni espace, ni tiret.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= </a:t>
            </a:r>
            <a:r>
              <a:rPr lang="en-US" sz="2000" i="1" dirty="0">
                <a:solidFill>
                  <a:schemeClr val="tx1"/>
                </a:solidFill>
              </a:rPr>
              <a:t>avondwandeling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② L’ORDRE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précision + mot principal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977896"/>
            <a:ext cx="314858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 mot </a:t>
            </a:r>
            <a:r>
              <a:rPr lang="en-US" sz="2000" b="1" dirty="0">
                <a:solidFill>
                  <a:schemeClr val="tx1"/>
                </a:solidFill>
              </a:rPr>
              <a:t>principal</a:t>
            </a:r>
            <a:r>
              <a:rPr lang="en-US" sz="2000" dirty="0">
                <a:solidFill>
                  <a:schemeClr val="tx1"/>
                </a:solidFill>
              </a:rPr>
              <a:t> est à la </a:t>
            </a:r>
            <a:r>
              <a:rPr lang="en-US" sz="2000" b="1" dirty="0">
                <a:solidFill>
                  <a:schemeClr val="tx1"/>
                </a:solidFill>
              </a:rPr>
              <a:t>fin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koffie</a:t>
            </a:r>
            <a:r>
              <a:rPr lang="en-US" sz="2000" b="1" i="1" dirty="0">
                <a:solidFill>
                  <a:schemeClr val="tx1"/>
                </a:solidFill>
              </a:rPr>
              <a:t>pauze</a:t>
            </a:r>
            <a:r>
              <a:rPr lang="en-US" sz="2000" dirty="0">
                <a:solidFill>
                  <a:schemeClr val="tx1"/>
                </a:solidFill>
              </a:rPr>
              <a:t> = une </a:t>
            </a:r>
            <a:r>
              <a:rPr lang="en-US" sz="2000" b="1" dirty="0">
                <a:solidFill>
                  <a:schemeClr val="tx1"/>
                </a:solidFill>
              </a:rPr>
              <a:t>pause</a:t>
            </a:r>
            <a:r>
              <a:rPr lang="en-US" sz="2000" dirty="0">
                <a:solidFill>
                  <a:schemeClr val="tx1"/>
                </a:solidFill>
              </a:rPr>
              <a:t> (café).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③ DE OF HET ?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</a:t>
            </a: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dutje → </a:t>
            </a: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</a:t>
            </a: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middagdutje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977896"/>
            <a:ext cx="314858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 </a:t>
            </a:r>
            <a:r>
              <a:rPr lang="en-US" sz="2000" b="1" dirty="0">
                <a:solidFill>
                  <a:schemeClr val="tx1"/>
                </a:solidFill>
              </a:rPr>
              <a:t>dernier mot</a:t>
            </a:r>
            <a:r>
              <a:rPr lang="en-US" sz="2000" dirty="0">
                <a:solidFill>
                  <a:schemeClr val="tx1"/>
                </a:solidFill>
              </a:rPr>
              <a:t> décide de l’article.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2"/>
                </a:solidFill>
              </a:rPr>
              <a:t>de</a:t>
            </a:r>
            <a:r>
              <a:rPr lang="en-US" sz="2000" dirty="0">
                <a:solidFill>
                  <a:schemeClr val="tx1"/>
                </a:solidFill>
              </a:rPr>
              <a:t> mens → </a:t>
            </a:r>
            <a:r>
              <a:rPr lang="en-US" sz="2000" b="1" dirty="0">
                <a:solidFill>
                  <a:schemeClr val="accent2"/>
                </a:solidFill>
              </a:rPr>
              <a:t>de</a:t>
            </a:r>
            <a:r>
              <a:rPr lang="en-US" sz="2000" dirty="0">
                <a:solidFill>
                  <a:schemeClr val="tx1"/>
                </a:solidFill>
              </a:rPr>
              <a:t> ochtendmens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2"/>
                </a:solidFill>
              </a:rPr>
              <a:t>de</a:t>
            </a:r>
            <a:r>
              <a:rPr lang="en-US" sz="2000" dirty="0">
                <a:solidFill>
                  <a:schemeClr val="tx1"/>
                </a:solidFill>
              </a:rPr>
              <a:t> wandeling → </a:t>
            </a:r>
            <a:r>
              <a:rPr lang="en-US" sz="2000" b="1" dirty="0">
                <a:solidFill>
                  <a:schemeClr val="accent2"/>
                </a:solidFill>
              </a:rPr>
              <a:t>de</a:t>
            </a:r>
            <a:r>
              <a:rPr lang="en-US" sz="2000" dirty="0">
                <a:solidFill>
                  <a:schemeClr val="tx1"/>
                </a:solidFill>
              </a:rPr>
              <a:t> avondwandeling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français commence par le mot principal (</a:t>
            </a:r>
            <a:r>
              <a:rPr lang="en-US" sz="1700" i="1" dirty="0">
                <a:solidFill>
                  <a:schemeClr val="tx1"/>
                </a:solidFill>
              </a:rPr>
              <a:t>une </a:t>
            </a:r>
            <a:r>
              <a:rPr lang="en-US" sz="1700" b="1" i="1" dirty="0">
                <a:solidFill>
                  <a:schemeClr val="tx1"/>
                </a:solidFill>
              </a:rPr>
              <a:t>pause</a:t>
            </a:r>
            <a:r>
              <a:rPr lang="en-US" sz="1700" i="1" dirty="0">
                <a:solidFill>
                  <a:schemeClr val="tx1"/>
                </a:solidFill>
              </a:rPr>
              <a:t> de midi</a:t>
            </a:r>
            <a:r>
              <a:rPr lang="en-US" sz="1700" dirty="0">
                <a:solidFill>
                  <a:schemeClr val="tx1"/>
                </a:solidFill>
              </a:rPr>
              <a:t>) ; le néerlandais le met </a:t>
            </a:r>
            <a:r>
              <a:rPr lang="en-US" sz="1700" b="1" dirty="0">
                <a:solidFill>
                  <a:schemeClr val="tx1"/>
                </a:solidFill>
              </a:rPr>
              <a:t>à la fin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middag</a:t>
            </a:r>
            <a:r>
              <a:rPr lang="en-US" sz="1700" b="1" i="1" dirty="0">
                <a:solidFill>
                  <a:schemeClr val="tx1"/>
                </a:solidFill>
              </a:rPr>
              <a:t>pauze</a:t>
            </a:r>
            <a:r>
              <a:rPr lang="en-US" sz="1700" dirty="0">
                <a:solidFill>
                  <a:schemeClr val="tx1"/>
                </a:solidFill>
              </a:rPr>
              <a:t>. ✗ </a:t>
            </a:r>
            <a:r>
              <a:rPr lang="en-US" sz="1700" i="1" dirty="0">
                <a:solidFill>
                  <a:schemeClr val="tx1"/>
                </a:solidFill>
              </a:rPr>
              <a:t>pauzemiddag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EXTRA Samengestelde woorden herkennen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Correct ou incorrect (ordre des mots) ? Seul · 5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b="1" dirty="0">
                <a:solidFill>
                  <a:schemeClr val="tx1"/>
                </a:solidFill>
              </a:rPr>
              <a:t>mensavond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(personne du soir)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tx1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dirty="0">
                <a:solidFill>
                  <a:schemeClr val="tx1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b="1" dirty="0">
                <a:solidFill>
                  <a:schemeClr val="tx1"/>
                </a:solidFill>
              </a:rPr>
              <a:t>koffiepauze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(pause-café)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tx1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dirty="0">
                <a:solidFill>
                  <a:schemeClr val="tx1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b="1" dirty="0">
                <a:solidFill>
                  <a:schemeClr val="tx1"/>
                </a:solidFill>
              </a:rPr>
              <a:t>werkdag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(jour de travail)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tx1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dirty="0">
                <a:solidFill>
                  <a:schemeClr val="tx1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b="1" dirty="0">
                <a:solidFill>
                  <a:schemeClr val="tx1"/>
                </a:solidFill>
              </a:rPr>
              <a:t>dagwerk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(travail de jour)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tx1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dirty="0">
                <a:solidFill>
                  <a:schemeClr val="tx1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b="1" dirty="0">
                <a:solidFill>
                  <a:schemeClr val="tx1"/>
                </a:solidFill>
              </a:rPr>
              <a:t>middagpauze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(pause de midi)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tx1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dirty="0">
                <a:solidFill>
                  <a:schemeClr val="tx1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endParaRPr lang="en-US" sz="21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Où est le </a:t>
            </a:r>
            <a:r>
              <a:rPr lang="en-US" sz="1800" b="1" dirty="0">
                <a:solidFill>
                  <a:schemeClr val="tx1"/>
                </a:solidFill>
              </a:rPr>
              <a:t>mot principal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Il doit être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Bonus : de ou het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EXTRA Samengestelde woorden herkennen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5956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Correct ou incorrect (ordre des mots) ? Seul · 5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b="1" dirty="0">
                <a:solidFill>
                  <a:schemeClr val="tx1"/>
                </a:solidFill>
              </a:rPr>
              <a:t>mensavond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(personne du soir)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strike="sngStrike" dirty="0">
                <a:solidFill>
                  <a:schemeClr val="accent6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b="1" dirty="0">
                <a:solidFill>
                  <a:schemeClr val="accent3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r>
              <a:rPr lang="en-US" sz="2100" b="1" dirty="0">
                <a:solidFill>
                  <a:schemeClr val="accent3"/>
                </a:solidFill>
              </a:rPr>
              <a:t>→ </a:t>
            </a:r>
            <a:r>
              <a:rPr lang="en-US" sz="2100" b="1" dirty="0">
                <a:solidFill>
                  <a:schemeClr val="accent2"/>
                </a:solidFill>
              </a:rPr>
              <a:t>de</a:t>
            </a:r>
            <a:r>
              <a:rPr lang="en-US" sz="2100" b="1" dirty="0">
                <a:solidFill>
                  <a:schemeClr val="accent3"/>
                </a:solidFill>
              </a:rPr>
              <a:t> avondmens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b="1" dirty="0">
                <a:solidFill>
                  <a:schemeClr val="tx1"/>
                </a:solidFill>
              </a:rPr>
              <a:t>koffiepauze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(pause-café)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strike="sngStrike" dirty="0">
                <a:solidFill>
                  <a:schemeClr val="accent6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r>
              <a:rPr lang="en-US" sz="2100" b="1" dirty="0">
                <a:solidFill>
                  <a:schemeClr val="accent3"/>
                </a:solidFill>
              </a:rPr>
              <a:t>(</a:t>
            </a:r>
            <a:r>
              <a:rPr lang="en-US" sz="2100" b="1" dirty="0">
                <a:solidFill>
                  <a:schemeClr val="accent2"/>
                </a:solidFill>
              </a:rPr>
              <a:t>de</a:t>
            </a:r>
            <a:r>
              <a:rPr lang="en-US" sz="2100" b="1" dirty="0">
                <a:solidFill>
                  <a:schemeClr val="accent3"/>
                </a:solidFill>
              </a:rPr>
              <a:t> koffiepauze)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b="1" dirty="0">
                <a:solidFill>
                  <a:schemeClr val="tx1"/>
                </a:solidFill>
              </a:rPr>
              <a:t>werkdag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(jour de travail)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strike="sngStrike" dirty="0">
                <a:solidFill>
                  <a:schemeClr val="accent6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r>
              <a:rPr lang="en-US" sz="2100" b="1" dirty="0">
                <a:solidFill>
                  <a:schemeClr val="accent3"/>
                </a:solidFill>
              </a:rPr>
              <a:t>(</a:t>
            </a:r>
            <a:r>
              <a:rPr lang="en-US" sz="2100" b="1" dirty="0">
                <a:solidFill>
                  <a:schemeClr val="accent2"/>
                </a:solidFill>
              </a:rPr>
              <a:t>de</a:t>
            </a:r>
            <a:r>
              <a:rPr lang="en-US" sz="2100" b="1" dirty="0">
                <a:solidFill>
                  <a:schemeClr val="accent3"/>
                </a:solidFill>
              </a:rPr>
              <a:t> werkdag)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b="1" dirty="0">
                <a:solidFill>
                  <a:schemeClr val="tx1"/>
                </a:solidFill>
              </a:rPr>
              <a:t>dagwerk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(travail de jour)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strike="sngStrike" dirty="0">
                <a:solidFill>
                  <a:schemeClr val="accent6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r>
              <a:rPr lang="en-US" sz="2100" b="1" dirty="0">
                <a:solidFill>
                  <a:schemeClr val="accent3"/>
                </a:solidFill>
              </a:rPr>
              <a:t>(</a:t>
            </a:r>
            <a:r>
              <a:rPr lang="en-US" sz="2100" b="1" dirty="0">
                <a:solidFill>
                  <a:schemeClr val="accent4"/>
                </a:solidFill>
              </a:rPr>
              <a:t>het</a:t>
            </a:r>
            <a:r>
              <a:rPr lang="en-US" sz="2100" b="1" dirty="0">
                <a:solidFill>
                  <a:schemeClr val="accent3"/>
                </a:solidFill>
              </a:rPr>
              <a:t> dagwerk)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b="1" dirty="0">
                <a:solidFill>
                  <a:schemeClr val="tx1"/>
                </a:solidFill>
              </a:rPr>
              <a:t>middagpauze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(pause de midi)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correct</a:t>
            </a:r>
            <a:r>
              <a:rPr lang="en-US" sz="2100" dirty="0">
                <a:solidFill>
                  <a:schemeClr val="tx1"/>
                </a:solidFill>
              </a:rPr>
              <a:t> · </a:t>
            </a:r>
            <a:r>
              <a:rPr lang="en-US" sz="2100" strike="sngStrike" dirty="0">
                <a:solidFill>
                  <a:schemeClr val="accent6"/>
                </a:solidFill>
              </a:rPr>
              <a:t>incorrect</a:t>
            </a:r>
            <a:r>
              <a:rPr lang="en-US" sz="2100" dirty="0">
                <a:solidFill>
                  <a:schemeClr val="tx1"/>
                </a:solidFill>
              </a:rPr>
              <a:t>  </a:t>
            </a:r>
            <a:r>
              <a:rPr lang="en-US" sz="2100" b="1" dirty="0">
                <a:solidFill>
                  <a:schemeClr val="accent3"/>
                </a:solidFill>
              </a:rPr>
              <a:t>(</a:t>
            </a:r>
            <a:r>
              <a:rPr lang="en-US" sz="2100" b="1" dirty="0">
                <a:solidFill>
                  <a:schemeClr val="accent2"/>
                </a:solidFill>
              </a:rPr>
              <a:t>de</a:t>
            </a:r>
            <a:r>
              <a:rPr lang="en-US" sz="2100" b="1" dirty="0">
                <a:solidFill>
                  <a:schemeClr val="accent3"/>
                </a:solidFill>
              </a:rPr>
              <a:t> middagpauze)</a:t>
            </a:r>
            <a:endParaRPr lang="en-US" sz="21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mot </a:t>
            </a:r>
            <a:r>
              <a:rPr lang="en-US" sz="1800" b="1" dirty="0">
                <a:solidFill>
                  <a:schemeClr val="tx1"/>
                </a:solidFill>
              </a:rPr>
              <a:t>principal</a:t>
            </a:r>
            <a:r>
              <a:rPr lang="en-US" sz="1800" dirty="0">
                <a:solidFill>
                  <a:schemeClr val="tx1"/>
                </a:solidFill>
              </a:rPr>
              <a:t> à la fin : </a:t>
            </a:r>
            <a:r>
              <a:rPr lang="en-US" sz="1800" i="1" dirty="0">
                <a:solidFill>
                  <a:schemeClr val="tx1"/>
                </a:solidFill>
              </a:rPr>
              <a:t>avond</a:t>
            </a:r>
            <a:r>
              <a:rPr lang="en-US" sz="1800" b="1" i="1" dirty="0">
                <a:solidFill>
                  <a:schemeClr val="tx1"/>
                </a:solidFill>
              </a:rPr>
              <a:t>mens</a:t>
            </a:r>
            <a:r>
              <a:rPr lang="en-US" sz="1800" dirty="0">
                <a:solidFill>
                  <a:schemeClr val="tx1"/>
                </a:solidFill>
              </a:rPr>
              <a:t> = une </a:t>
            </a:r>
            <a:r>
              <a:rPr lang="en-US" sz="1800" b="1" dirty="0">
                <a:solidFill>
                  <a:schemeClr val="tx1"/>
                </a:solidFill>
              </a:rPr>
              <a:t>personne</a:t>
            </a:r>
            <a:r>
              <a:rPr lang="en-US" sz="1800" dirty="0">
                <a:solidFill>
                  <a:schemeClr val="tx1"/>
                </a:solidFill>
              </a:rPr>
              <a:t> (du soir).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werkdag</a:t>
            </a:r>
            <a:r>
              <a:rPr lang="en-US" sz="1800" dirty="0">
                <a:solidFill>
                  <a:schemeClr val="tx1"/>
                </a:solidFill>
              </a:rPr>
              <a:t> ≠ </a:t>
            </a:r>
            <a:r>
              <a:rPr lang="en-US" sz="1800" i="1" dirty="0">
                <a:solidFill>
                  <a:schemeClr val="tx1"/>
                </a:solidFill>
              </a:rPr>
              <a:t>dagwerk</a:t>
            </a:r>
            <a:r>
              <a:rPr lang="en-US" sz="1800" dirty="0">
                <a:solidFill>
                  <a:schemeClr val="tx1"/>
                </a:solidFill>
              </a:rPr>
              <a:t> : mêmes mots, </a:t>
            </a:r>
            <a:r>
              <a:rPr lang="en-US" sz="1800" b="1" dirty="0">
                <a:solidFill>
                  <a:schemeClr val="tx1"/>
                </a:solidFill>
              </a:rPr>
              <a:t>autre sens</a:t>
            </a:r>
            <a:r>
              <a:rPr lang="en-US" sz="1800" dirty="0">
                <a:solidFill>
                  <a:schemeClr val="tx1"/>
                </a:solidFill>
              </a:rPr>
              <a:t> 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L’article vient du </a:t>
            </a:r>
            <a:r>
              <a:rPr lang="en-US" sz="1800" b="1" dirty="0">
                <a:solidFill>
                  <a:schemeClr val="tx1"/>
                </a:solidFill>
              </a:rPr>
              <a:t>dernier mot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werk →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dagwerk.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EXTRA Opdracht : mes cinq mots composés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Cherchez </a:t>
            </a:r>
            <a:r>
              <a:rPr lang="en-US" sz="1600" b="1" i="1" dirty="0">
                <a:solidFill>
                  <a:schemeClr val="accent5"/>
                </a:solidFill>
              </a:rPr>
              <a:t>5 mots composés</a:t>
            </a:r>
            <a:r>
              <a:rPr lang="en-US" sz="1600" i="1" dirty="0">
                <a:solidFill>
                  <a:schemeClr val="accent5"/>
                </a:solidFill>
              </a:rPr>
              <a:t> liés à vos études, votre travail ou vos loisirs. Notez la </a:t>
            </a:r>
            <a:r>
              <a:rPr lang="en-US" sz="1600" b="1" i="1" dirty="0">
                <a:solidFill>
                  <a:schemeClr val="accent5"/>
                </a:solidFill>
              </a:rPr>
              <a:t>traduction</a:t>
            </a:r>
            <a:r>
              <a:rPr lang="en-US" sz="1600" i="1" dirty="0">
                <a:solidFill>
                  <a:schemeClr val="accent5"/>
                </a:solidFill>
              </a:rPr>
              <a:t> et la </a:t>
            </a:r>
            <a:r>
              <a:rPr lang="en-US" sz="1600" b="1" i="1" dirty="0">
                <a:solidFill>
                  <a:schemeClr val="accent5"/>
                </a:solidFill>
              </a:rPr>
              <a:t>décomposition</a:t>
            </a:r>
            <a:r>
              <a:rPr lang="en-US" sz="1600" i="1" dirty="0">
                <a:solidFill>
                  <a:schemeClr val="accent5"/>
                </a:solidFill>
              </a:rPr>
              <a:t>. Seul · 10 min (ou à la maison).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Format attendu (livret)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computerwetenschappen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i="1" dirty="0">
                <a:solidFill>
                  <a:schemeClr val="tx1"/>
                </a:solidFill>
              </a:rPr>
              <a:t>(informatique)</a:t>
            </a:r>
            <a:r>
              <a:rPr lang="en-US" sz="1900" dirty="0">
                <a:solidFill>
                  <a:schemeClr val="tx1"/>
                </a:solidFill>
              </a:rPr>
              <a:t> → computer (ordinateur) + wetenschappen (sciences)</a:t>
            </a:r>
            <a:endParaRPr lang="en-US" sz="19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Autres exemples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4"/>
                </a:solidFill>
              </a:rPr>
              <a:t>het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dirty="0">
                <a:solidFill>
                  <a:schemeClr val="tx1"/>
                </a:solidFill>
              </a:rPr>
              <a:t>ziekenhuis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i="1" dirty="0">
                <a:solidFill>
                  <a:schemeClr val="tx1"/>
                </a:solidFill>
              </a:rPr>
              <a:t>(hôpital)</a:t>
            </a:r>
            <a:r>
              <a:rPr lang="en-US" sz="1900" dirty="0">
                <a:solidFill>
                  <a:schemeClr val="tx1"/>
                </a:solidFill>
              </a:rPr>
              <a:t> → zieken (malades) + huis (maison)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de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dirty="0">
                <a:solidFill>
                  <a:schemeClr val="tx1"/>
                </a:solidFill>
              </a:rPr>
              <a:t>werkgever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i="1" dirty="0">
                <a:solidFill>
                  <a:schemeClr val="tx1"/>
                </a:solidFill>
              </a:rPr>
              <a:t>(employeur)</a:t>
            </a:r>
            <a:r>
              <a:rPr lang="en-US" sz="1900" dirty="0">
                <a:solidFill>
                  <a:schemeClr val="tx1"/>
                </a:solidFill>
              </a:rPr>
              <a:t> → werk (travail) + gever (celui qui donne)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4"/>
                </a:solidFill>
              </a:rPr>
              <a:t>het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dirty="0">
                <a:solidFill>
                  <a:schemeClr val="tx1"/>
                </a:solidFill>
              </a:rPr>
              <a:t>rijbewijs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i="1" dirty="0">
                <a:solidFill>
                  <a:schemeClr val="tx1"/>
                </a:solidFill>
              </a:rPr>
              <a:t>(permis de conduire)</a:t>
            </a:r>
            <a:r>
              <a:rPr lang="en-US" sz="1900" dirty="0">
                <a:solidFill>
                  <a:schemeClr val="tx1"/>
                </a:solidFill>
              </a:rPr>
              <a:t> → rij(den) (conduire) + bewijs (preuve)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4"/>
                </a:solidFill>
              </a:rPr>
              <a:t>het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b="1" dirty="0">
                <a:solidFill>
                  <a:schemeClr val="tx1"/>
                </a:solidFill>
              </a:rPr>
              <a:t>kinderdagverblijf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i="1" dirty="0">
                <a:solidFill>
                  <a:schemeClr val="tx1"/>
                </a:solidFill>
              </a:rPr>
              <a:t>(crèche)</a:t>
            </a:r>
            <a:r>
              <a:rPr lang="en-US" sz="1900" dirty="0">
                <a:solidFill>
                  <a:schemeClr val="tx1"/>
                </a:solidFill>
              </a:rPr>
              <a:t> → kinder (enfants) + dag + verblijf (séjour)</a:t>
            </a:r>
            <a:endParaRPr lang="en-US" sz="19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5 mots</a:t>
            </a:r>
            <a:r>
              <a:rPr lang="en-US" sz="1800" dirty="0">
                <a:solidFill>
                  <a:schemeClr val="tx1"/>
                </a:solidFill>
              </a:rPr>
              <a:t> : NL + FR + décomposition.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Bonus</a:t>
            </a:r>
            <a:r>
              <a:rPr lang="en-US" sz="1800" dirty="0">
                <a:solidFill>
                  <a:schemeClr val="tx1"/>
                </a:solidFill>
              </a:rPr>
              <a:t> : l’article (le dernier mot décide).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Vérifiez dans un </a:t>
            </a:r>
            <a:r>
              <a:rPr lang="en-US" sz="1800" b="1" dirty="0">
                <a:solidFill>
                  <a:schemeClr val="tx1"/>
                </a:solidFill>
              </a:rPr>
              <a:t>dictionnaire</a:t>
            </a:r>
            <a:r>
              <a:rPr lang="en-US" sz="1800" dirty="0">
                <a:solidFill>
                  <a:schemeClr val="tx1"/>
                </a:solidFill>
              </a:rPr>
              <a:t> en ligne.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EXTRA Lange samengestelde woorden uitspreken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17–18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Défi chronomètre · à plusieurs · 5 min : </a:t>
            </a:r>
            <a:r>
              <a:rPr lang="en-US" sz="1600" b="1" i="1" dirty="0">
                <a:solidFill>
                  <a:schemeClr val="accent5"/>
                </a:solidFill>
              </a:rPr>
              <a:t>1 minute</a:t>
            </a:r>
            <a:r>
              <a:rPr lang="en-US" sz="1600" i="1" dirty="0">
                <a:solidFill>
                  <a:schemeClr val="accent5"/>
                </a:solidFill>
              </a:rPr>
              <a:t> pour prononcer correctement un maximum de mots. Qui sera le champion ?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b="1" dirty="0">
                <a:solidFill>
                  <a:schemeClr val="tx1"/>
                </a:solidFill>
              </a:rPr>
              <a:t>arbeidsongeschiktheidsverzekering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— assurance invalidité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b="1" dirty="0">
                <a:solidFill>
                  <a:schemeClr val="tx1"/>
                </a:solidFill>
              </a:rPr>
              <a:t>kindercarnavalsoptochtvoorbereidingswerkzaamheden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— préparatifs du défilé de carnaval pour enfants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b="1" dirty="0">
                <a:solidFill>
                  <a:schemeClr val="tx1"/>
                </a:solidFill>
              </a:rPr>
              <a:t>meervoudige persoonlijkheidsstoornis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— trouble de la personnalité multiple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b="1" dirty="0">
                <a:solidFill>
                  <a:schemeClr val="tx1"/>
                </a:solidFill>
              </a:rPr>
              <a:t>afvalwaterzuiveringsinstallatie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— station d’épuration des eaux usées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b="1" dirty="0">
                <a:solidFill>
                  <a:schemeClr val="tx1"/>
                </a:solidFill>
              </a:rPr>
              <a:t>schaatsenrijdersverenigingsbestuursvergadering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i="1" dirty="0">
                <a:solidFill>
                  <a:schemeClr val="tx1"/>
                </a:solidFill>
              </a:rPr>
              <a:t>— réunion du conseil de l’association des patineurs</a:t>
            </a:r>
            <a:endParaRPr lang="en-US" sz="2100" dirty="0"/>
          </a:p>
        </p:txBody>
      </p:sp>
      <p:pic>
        <p:nvPicPr>
          <p:cNvPr id="8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2618" y="1481328"/>
            <a:ext cx="3541796" cy="228600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9" name="aside"/>
          <p:cNvSpPr/>
          <p:nvPr/>
        </p:nvSpPr>
        <p:spPr>
          <a:xfrm>
            <a:off x="8046720" y="3995928"/>
            <a:ext cx="3593592" cy="2295144"/>
          </a:xfrm>
          <a:prstGeom prst="roundRect">
            <a:avLst>
              <a:gd name="adj" fmla="val 3187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7880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13648" y="41513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ASTUCE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211312" y="4590288"/>
            <a:ext cx="326440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Découpez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afval · water · zuiverings · installatie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Puis </a:t>
            </a:r>
            <a:r>
              <a:rPr lang="en-US" sz="1800" b="1" dirty="0">
                <a:solidFill>
                  <a:schemeClr val="tx1"/>
                </a:solidFill>
              </a:rPr>
              <a:t>accélérez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1.2 : prendre des nouvelles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19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647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SÉQUENCE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1.2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Focus : lignes 2–4 du dialogue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Pieter : «</a:t>
            </a:r>
            <a:r>
              <a:rPr lang="en-US" sz="1700" b="1" dirty="0">
                <a:solidFill>
                  <a:schemeClr val="tx1"/>
                </a:solidFill>
              </a:rPr>
              <a:t>Hoe gaat het?</a:t>
            </a:r>
            <a:r>
              <a:rPr lang="en-US" sz="1700" dirty="0">
                <a:solidFill>
                  <a:schemeClr val="tx1"/>
                </a:solidFill>
              </a:rPr>
              <a:t>»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Emma : «Het gaat goed, dank je. Ik ben een beetje moe, want ik heb veel werk. </a:t>
            </a:r>
            <a:r>
              <a:rPr lang="en-US" sz="1700" b="1" dirty="0">
                <a:solidFill>
                  <a:schemeClr val="tx1"/>
                </a:solidFill>
              </a:rPr>
              <a:t>En met jou?</a:t>
            </a:r>
            <a:r>
              <a:rPr lang="en-US" sz="1700" dirty="0">
                <a:solidFill>
                  <a:schemeClr val="tx1"/>
                </a:solidFill>
              </a:rPr>
              <a:t>»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Pieter : «Ook goed, bedankt! Ik ben blij, want vandaag heb ik tijd.»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Comment Emma renvoie-t-elle la question ? Et en vouvoyant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Zinnenbouwer 1.2 — Hoe gaat het?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ZINNENBOUWER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20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3628149" cy="480974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4496829" y="1481328"/>
            <a:ext cx="7143483" cy="4809744"/>
          </a:xfrm>
          <a:prstGeom prst="roundRect">
            <a:avLst>
              <a:gd name="adj" fmla="val 1521"/>
            </a:avLst>
          </a:prstGeom>
          <a:solidFill>
            <a:schemeClr val="tx2">
              <a:alpha val="10000"/>
            </a:schemeClr>
          </a:solidFill>
          <a:ln w="12700">
            <a:solidFill>
              <a:schemeClr val="tx2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709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63757" y="1636776"/>
            <a:ext cx="64119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MODE D’EMPLOI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4661421" y="2075688"/>
            <a:ext cx="6814299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Quatre familles : </a:t>
            </a: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la question · </a:t>
            </a: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Het gaat…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Ik ben / Ik voel me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expressions toutes faites.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Hoe gaat het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i="1" dirty="0">
                <a:solidFill>
                  <a:schemeClr val="tx1"/>
                </a:solidFill>
              </a:rPr>
              <a:t>met u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Hoe gaat het met u?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Het gaat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i="1" dirty="0">
                <a:solidFill>
                  <a:schemeClr val="tx1"/>
                </a:solidFill>
              </a:rPr>
              <a:t>heel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i="1" dirty="0">
                <a:solidFill>
                  <a:schemeClr val="tx1"/>
                </a:solidFill>
              </a:rPr>
              <a:t>goed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Het gaat heel goed.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Ik voel me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i="1" dirty="0">
                <a:solidFill>
                  <a:schemeClr val="tx1"/>
                </a:solidFill>
              </a:rPr>
              <a:t>een beetje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i="1" dirty="0">
                <a:solidFill>
                  <a:schemeClr val="tx1"/>
                </a:solidFill>
              </a:rPr>
              <a:t>moe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Ik voel me een beetje moe.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Het kan beter. · Het valt niet mee. · Uitstekend, dank u.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Toutes les combinaisons ne marchent pas : ✗ </a:t>
            </a:r>
            <a:r>
              <a:rPr lang="en-US" sz="1800" i="1" dirty="0">
                <a:solidFill>
                  <a:schemeClr val="tx1"/>
                </a:solidFill>
              </a:rPr>
              <a:t>Hoe maakt u het met u?</a:t>
            </a:r>
            <a:r>
              <a:rPr lang="en-US" sz="1800" dirty="0">
                <a:solidFill>
                  <a:schemeClr val="tx1"/>
                </a:solidFill>
              </a:rPr>
              <a:t> ✗ </a:t>
            </a:r>
            <a:r>
              <a:rPr lang="en-US" sz="1800" i="1" dirty="0">
                <a:solidFill>
                  <a:schemeClr val="tx1"/>
                </a:solidFill>
              </a:rPr>
              <a:t>Het gaat heel wel.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Degrés de formalité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21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2560320"/>
                <a:gridCol w="3502152"/>
              </a:tblGrid>
              <a:tr h="5440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DEGRÉ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VRAAG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TRADUCTION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CONTEXTE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552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très informel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Gaat het?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Ça va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Très rapide, entre amis (ou : ça va aller ?)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très informel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Alles goed?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Tout va bien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Familier, décontracté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informel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 gaat het met je?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Comment vas-tu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Tutoiement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552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informel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 is het?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Comment ça va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Très courant, entre amis et collègues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neutre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 gaat het?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Comment ça va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Standard, universel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formel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 gaat het met u?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Comment allez-vous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Vouvoiement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formel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 maakt u het?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Comment allez-vous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Très formel, un peu vieilli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Pour remercier : </a:t>
            </a:r>
            <a:r>
              <a:rPr lang="en-US" sz="1500" i="1" dirty="0">
                <a:solidFill>
                  <a:schemeClr val="accent5"/>
                </a:solidFill>
              </a:rPr>
              <a:t>dank je</a:t>
            </a:r>
            <a:r>
              <a:rPr lang="en-US" sz="1500" i="1" dirty="0">
                <a:solidFill>
                  <a:schemeClr val="accent5"/>
                </a:solidFill>
              </a:rPr>
              <a:t> (tutoiement) · </a:t>
            </a:r>
            <a:r>
              <a:rPr lang="en-US" sz="1500" i="1" dirty="0">
                <a:solidFill>
                  <a:schemeClr val="accent5"/>
                </a:solidFill>
              </a:rPr>
              <a:t>dank u</a:t>
            </a:r>
            <a:r>
              <a:rPr lang="en-US" sz="1500" i="1" dirty="0">
                <a:solidFill>
                  <a:schemeClr val="accent5"/>
                </a:solidFill>
              </a:rPr>
              <a:t> (vouvoiement). Pour renvoyer la question : </a:t>
            </a:r>
            <a:r>
              <a:rPr lang="en-US" sz="1500" i="1" dirty="0">
                <a:solidFill>
                  <a:schemeClr val="accent5"/>
                </a:solidFill>
              </a:rPr>
              <a:t>En met jou?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En met u?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1.2.1 «Snel groeten» — versie A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Le professeur lit le </a:t>
            </a:r>
            <a:r>
              <a:rPr lang="en-US" sz="1600" b="1" i="1" dirty="0">
                <a:solidFill>
                  <a:schemeClr val="accent5"/>
                </a:solidFill>
              </a:rPr>
              <a:t>texte 1</a:t>
            </a:r>
            <a:r>
              <a:rPr lang="en-US" sz="1600" i="1" dirty="0">
                <a:solidFill>
                  <a:schemeClr val="accent5"/>
                </a:solidFill>
              </a:rPr>
              <a:t> lentement, deux fois. Version A : les </a:t>
            </a:r>
            <a:r>
              <a:rPr lang="en-US" sz="1600" b="1" i="1" dirty="0">
                <a:solidFill>
                  <a:schemeClr val="accent5"/>
                </a:solidFill>
              </a:rPr>
              <a:t>questions</a:t>
            </a:r>
            <a:r>
              <a:rPr lang="en-US" sz="1600" i="1" dirty="0">
                <a:solidFill>
                  <a:schemeClr val="accent5"/>
                </a:solidFill>
              </a:rPr>
              <a:t>, les </a:t>
            </a:r>
            <a:r>
              <a:rPr lang="en-US" sz="1600" b="1" i="1" dirty="0">
                <a:solidFill>
                  <a:schemeClr val="accent5"/>
                </a:solidFill>
              </a:rPr>
              <a:t>réponses</a:t>
            </a:r>
            <a:r>
              <a:rPr lang="en-US" sz="1600" i="1" dirty="0">
                <a:solidFill>
                  <a:schemeClr val="accent5"/>
                </a:solidFill>
              </a:rPr>
              <a:t> et les </a:t>
            </a:r>
            <a:r>
              <a:rPr lang="en-US" sz="1600" b="1" i="1" dirty="0">
                <a:solidFill>
                  <a:schemeClr val="accent5"/>
                </a:solidFill>
              </a:rPr>
              <a:t>nuances</a:t>
            </a:r>
            <a:r>
              <a:rPr lang="en-US" sz="1600" i="1" dirty="0">
                <a:solidFill>
                  <a:schemeClr val="accent5"/>
                </a:solidFill>
              </a:rPr>
              <a:t> manquent.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Pieter :</a:t>
            </a:r>
            <a:r>
              <a:rPr lang="en-US" sz="2100" dirty="0">
                <a:solidFill>
                  <a:schemeClr val="tx1"/>
                </a:solidFill>
              </a:rPr>
              <a:t> Goedemiddag, meneer Janssens!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</a:t>
            </a:r>
            <a:r>
              <a:rPr lang="en-US" sz="2100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Janssens :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dirty="0">
                <a:solidFill>
                  <a:schemeClr val="accent5"/>
                </a:solidFill>
              </a:rPr>
              <a:t>……………………</a:t>
            </a:r>
            <a:r>
              <a:rPr lang="en-US" sz="2100" dirty="0">
                <a:solidFill>
                  <a:schemeClr val="tx1"/>
                </a:solidFill>
              </a:rPr>
              <a:t>, dank je, Pieter.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Pieter :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dirty="0">
                <a:solidFill>
                  <a:schemeClr val="accent5"/>
                </a:solidFill>
              </a:rPr>
              <a:t>…………………</a:t>
            </a:r>
            <a:r>
              <a:rPr lang="en-US" sz="2100" dirty="0">
                <a:solidFill>
                  <a:schemeClr val="tx1"/>
                </a:solidFill>
              </a:rPr>
              <a:t>. Ik voel me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 nerveus, want ik heb vanmiddag een presentatie.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Janssens :</a:t>
            </a:r>
            <a:r>
              <a:rPr lang="en-US" sz="2100" dirty="0">
                <a:solidFill>
                  <a:schemeClr val="tx1"/>
                </a:solidFill>
              </a:rPr>
              <a:t> Ah, de presentatie! En </a:t>
            </a:r>
            <a:r>
              <a:rPr lang="en-US" sz="2100" dirty="0">
                <a:solidFill>
                  <a:schemeClr val="accent5"/>
                </a:solidFill>
              </a:rPr>
              <a:t>…………………</a:t>
            </a:r>
            <a:r>
              <a:rPr lang="en-US" sz="2100" dirty="0">
                <a:solidFill>
                  <a:schemeClr val="tx1"/>
                </a:solidFill>
              </a:rPr>
              <a:t> met het werk?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Pieter :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dirty="0">
                <a:solidFill>
                  <a:schemeClr val="accent5"/>
                </a:solidFill>
              </a:rPr>
              <a:t>…………………</a:t>
            </a:r>
            <a:r>
              <a:rPr lang="en-US" sz="2100" dirty="0">
                <a:solidFill>
                  <a:schemeClr val="tx1"/>
                </a:solidFill>
              </a:rPr>
              <a:t>, dank u. Ik ben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druk, maar het weekend is rustig.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Janssens :</a:t>
            </a:r>
            <a:r>
              <a:rPr lang="en-US" sz="2100" dirty="0">
                <a:solidFill>
                  <a:schemeClr val="tx1"/>
                </a:solidFill>
              </a:rPr>
              <a:t> Goed zo! Tot straks, Pieter!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Pieter :</a:t>
            </a:r>
            <a:r>
              <a:rPr lang="en-US" sz="2100" dirty="0">
                <a:solidFill>
                  <a:schemeClr val="tx1"/>
                </a:solidFill>
              </a:rPr>
              <a:t> Dank u, meneer. Tot straks!</a:t>
            </a:r>
            <a:endParaRPr lang="en-US" sz="21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Couche 1 · seul · 10 min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1re écoute : </a:t>
            </a:r>
            <a:r>
              <a:rPr lang="en-US" sz="1800" b="1" dirty="0">
                <a:solidFill>
                  <a:schemeClr val="tx1"/>
                </a:solidFill>
              </a:rPr>
              <a:t>complétez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2e écoute : </a:t>
            </a:r>
            <a:r>
              <a:rPr lang="en-US" sz="1800" b="1" dirty="0">
                <a:solidFill>
                  <a:schemeClr val="tx1"/>
                </a:solidFill>
              </a:rPr>
              <a:t>vérifiez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Aide : le </a:t>
            </a:r>
            <a:r>
              <a:rPr lang="en-US" sz="1800" b="1" dirty="0">
                <a:solidFill>
                  <a:schemeClr val="tx1"/>
                </a:solidFill>
              </a:rPr>
              <a:t>zinnenbouwer 1.2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1.2.1 «Snel groeten» — versie A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Le professeur lit le </a:t>
            </a:r>
            <a:r>
              <a:rPr lang="en-US" sz="1600" b="1" i="1" dirty="0">
                <a:solidFill>
                  <a:schemeClr val="accent5"/>
                </a:solidFill>
              </a:rPr>
              <a:t>texte 1</a:t>
            </a:r>
            <a:r>
              <a:rPr lang="en-US" sz="1600" i="1" dirty="0">
                <a:solidFill>
                  <a:schemeClr val="accent5"/>
                </a:solidFill>
              </a:rPr>
              <a:t> lentement, deux fois. Version A : les </a:t>
            </a:r>
            <a:r>
              <a:rPr lang="en-US" sz="1600" b="1" i="1" dirty="0">
                <a:solidFill>
                  <a:schemeClr val="accent5"/>
                </a:solidFill>
              </a:rPr>
              <a:t>questions</a:t>
            </a:r>
            <a:r>
              <a:rPr lang="en-US" sz="1600" i="1" dirty="0">
                <a:solidFill>
                  <a:schemeClr val="accent5"/>
                </a:solidFill>
              </a:rPr>
              <a:t>, les </a:t>
            </a:r>
            <a:r>
              <a:rPr lang="en-US" sz="1600" b="1" i="1" dirty="0">
                <a:solidFill>
                  <a:schemeClr val="accent5"/>
                </a:solidFill>
              </a:rPr>
              <a:t>réponses</a:t>
            </a:r>
            <a:r>
              <a:rPr lang="en-US" sz="1600" i="1" dirty="0">
                <a:solidFill>
                  <a:schemeClr val="accent5"/>
                </a:solidFill>
              </a:rPr>
              <a:t> et les </a:t>
            </a:r>
            <a:r>
              <a:rPr lang="en-US" sz="1600" b="1" i="1" dirty="0">
                <a:solidFill>
                  <a:schemeClr val="accent5"/>
                </a:solidFill>
              </a:rPr>
              <a:t>nuances</a:t>
            </a:r>
            <a:r>
              <a:rPr lang="en-US" sz="1600" i="1" dirty="0">
                <a:solidFill>
                  <a:schemeClr val="accent5"/>
                </a:solidFill>
              </a:rPr>
              <a:t> manquent.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Pieter :</a:t>
            </a:r>
            <a:r>
              <a:rPr lang="en-US" sz="2100" dirty="0">
                <a:solidFill>
                  <a:schemeClr val="tx1"/>
                </a:solidFill>
              </a:rPr>
              <a:t> Goedemiddag, meneer Janssens! </a:t>
            </a:r>
            <a:r>
              <a:rPr lang="en-US" sz="2100" b="1" dirty="0">
                <a:solidFill>
                  <a:schemeClr val="accent3"/>
                </a:solidFill>
              </a:rPr>
              <a:t>Hoe gaat het met u</a:t>
            </a:r>
            <a:r>
              <a:rPr lang="en-US" sz="2100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Janssens :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b="1" dirty="0">
                <a:solidFill>
                  <a:schemeClr val="accent3"/>
                </a:solidFill>
              </a:rPr>
              <a:t>Het gaat prima</a:t>
            </a:r>
            <a:r>
              <a:rPr lang="en-US" sz="2100" dirty="0">
                <a:solidFill>
                  <a:schemeClr val="tx1"/>
                </a:solidFill>
              </a:rPr>
              <a:t>, dank je, Pieter. </a:t>
            </a:r>
            <a:r>
              <a:rPr lang="en-US" sz="2100" b="1" dirty="0">
                <a:solidFill>
                  <a:schemeClr val="accent3"/>
                </a:solidFill>
              </a:rPr>
              <a:t>En met jou</a:t>
            </a:r>
            <a:r>
              <a:rPr lang="en-US" sz="2100" dirty="0">
                <a:solidFill>
                  <a:schemeClr val="tx1"/>
                </a:solidFill>
              </a:rPr>
              <a:t>?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Pieter :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b="1" dirty="0">
                <a:solidFill>
                  <a:schemeClr val="accent3"/>
                </a:solidFill>
              </a:rPr>
              <a:t>Het kan beter</a:t>
            </a:r>
            <a:r>
              <a:rPr lang="en-US" sz="2100" dirty="0">
                <a:solidFill>
                  <a:schemeClr val="tx1"/>
                </a:solidFill>
              </a:rPr>
              <a:t>. Ik voel me </a:t>
            </a:r>
            <a:r>
              <a:rPr lang="en-US" sz="2100" b="1" dirty="0">
                <a:solidFill>
                  <a:schemeClr val="accent3"/>
                </a:solidFill>
              </a:rPr>
              <a:t>een beetje</a:t>
            </a:r>
            <a:r>
              <a:rPr lang="en-US" sz="2100" dirty="0">
                <a:solidFill>
                  <a:schemeClr val="tx1"/>
                </a:solidFill>
              </a:rPr>
              <a:t> nerveus, want ik heb vanmiddag een presentatie.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Janssens :</a:t>
            </a:r>
            <a:r>
              <a:rPr lang="en-US" sz="2100" dirty="0">
                <a:solidFill>
                  <a:schemeClr val="tx1"/>
                </a:solidFill>
              </a:rPr>
              <a:t> Ah, de presentatie! En </a:t>
            </a:r>
            <a:r>
              <a:rPr lang="en-US" sz="2100" b="1" dirty="0">
                <a:solidFill>
                  <a:schemeClr val="accent3"/>
                </a:solidFill>
              </a:rPr>
              <a:t>hoe gaat het</a:t>
            </a:r>
            <a:r>
              <a:rPr lang="en-US" sz="2100" dirty="0">
                <a:solidFill>
                  <a:schemeClr val="tx1"/>
                </a:solidFill>
              </a:rPr>
              <a:t> met het werk?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Pieter :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b="1" dirty="0">
                <a:solidFill>
                  <a:schemeClr val="accent3"/>
                </a:solidFill>
              </a:rPr>
              <a:t>Het gaat wel</a:t>
            </a:r>
            <a:r>
              <a:rPr lang="en-US" sz="2100" dirty="0">
                <a:solidFill>
                  <a:schemeClr val="tx1"/>
                </a:solidFill>
              </a:rPr>
              <a:t>, dank u. Ik ben </a:t>
            </a:r>
            <a:r>
              <a:rPr lang="en-US" sz="2100" b="1" dirty="0">
                <a:solidFill>
                  <a:schemeClr val="accent3"/>
                </a:solidFill>
              </a:rPr>
              <a:t>vrij</a:t>
            </a:r>
            <a:r>
              <a:rPr lang="en-US" sz="2100" dirty="0">
                <a:solidFill>
                  <a:schemeClr val="tx1"/>
                </a:solidFill>
              </a:rPr>
              <a:t> druk, maar het weekend is rustig.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Janssens :</a:t>
            </a:r>
            <a:r>
              <a:rPr lang="en-US" sz="2100" dirty="0">
                <a:solidFill>
                  <a:schemeClr val="tx1"/>
                </a:solidFill>
              </a:rPr>
              <a:t> Goed zo! Tot straks, Pieter!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Pieter :</a:t>
            </a:r>
            <a:r>
              <a:rPr lang="en-US" sz="2100" dirty="0">
                <a:solidFill>
                  <a:schemeClr val="tx1"/>
                </a:solidFill>
              </a:rPr>
              <a:t> Dank u, meneer. Tot straks!</a:t>
            </a:r>
            <a:endParaRPr lang="en-US" sz="21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Janssens dit </a:t>
            </a:r>
            <a:r>
              <a:rPr lang="en-US" sz="1800" b="1" dirty="0">
                <a:solidFill>
                  <a:schemeClr val="tx1"/>
                </a:solidFill>
              </a:rPr>
              <a:t>dank je</a:t>
            </a:r>
            <a:r>
              <a:rPr lang="en-US" sz="1800" dirty="0">
                <a:solidFill>
                  <a:schemeClr val="tx1"/>
                </a:solidFill>
              </a:rPr>
              <a:t> à Pieter, Pieter dit </a:t>
            </a:r>
            <a:r>
              <a:rPr lang="en-US" sz="1800" b="1" dirty="0">
                <a:solidFill>
                  <a:schemeClr val="tx1"/>
                </a:solidFill>
              </a:rPr>
              <a:t>dank u</a:t>
            </a:r>
            <a:r>
              <a:rPr lang="en-US" sz="1800" dirty="0">
                <a:solidFill>
                  <a:schemeClr val="tx1"/>
                </a:solidFill>
              </a:rPr>
              <a:t> à Janssens : âge et hiérarchie.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Het kan beter</a:t>
            </a:r>
            <a:r>
              <a:rPr lang="en-US" sz="1800" dirty="0">
                <a:solidFill>
                  <a:schemeClr val="tx1"/>
                </a:solidFill>
              </a:rPr>
              <a:t> = ça pourrait aller mieux.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Het gaat wel</a:t>
            </a:r>
            <a:r>
              <a:rPr lang="en-US" sz="1800" dirty="0">
                <a:solidFill>
                  <a:schemeClr val="tx1"/>
                </a:solidFill>
              </a:rPr>
              <a:t> = ça va, sans plus.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1.2.1 «Snel groeten» — versie B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Même texte. Version B : les </a:t>
            </a:r>
            <a:r>
              <a:rPr lang="en-US" sz="1600" b="1" i="1" dirty="0">
                <a:solidFill>
                  <a:schemeClr val="accent5"/>
                </a:solidFill>
              </a:rPr>
              <a:t>petits mots</a:t>
            </a:r>
            <a:r>
              <a:rPr lang="en-US" sz="1600" i="1" dirty="0">
                <a:solidFill>
                  <a:schemeClr val="accent5"/>
                </a:solidFill>
              </a:rPr>
              <a:t> manquent : </a:t>
            </a:r>
            <a:r>
              <a:rPr lang="en-US" sz="1600" i="1" dirty="0">
                <a:solidFill>
                  <a:schemeClr val="accent5"/>
                </a:solidFill>
              </a:rPr>
              <a:t>met, en, want, dank, maar, u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Pieter :</a:t>
            </a:r>
            <a:r>
              <a:rPr lang="en-US" sz="1900" dirty="0">
                <a:solidFill>
                  <a:schemeClr val="tx1"/>
                </a:solidFill>
              </a:rPr>
              <a:t> Goedemiddag, meneer Janssens! Hoe gaat het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u?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Janssens :</a:t>
            </a:r>
            <a:r>
              <a:rPr lang="en-US" sz="1900" dirty="0">
                <a:solidFill>
                  <a:schemeClr val="tx1"/>
                </a:solidFill>
              </a:rPr>
              <a:t> Het gaat prima,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je, Pieter.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met jou?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Pieter :</a:t>
            </a:r>
            <a:r>
              <a:rPr lang="en-US" sz="1900" dirty="0">
                <a:solidFill>
                  <a:schemeClr val="tx1"/>
                </a:solidFill>
              </a:rPr>
              <a:t> Het kan beter. Ik voel me een beetje nerveus,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ik heb vanmiddag een presentatie.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Janssens :</a:t>
            </a:r>
            <a:r>
              <a:rPr lang="en-US" sz="1900" dirty="0">
                <a:solidFill>
                  <a:schemeClr val="tx1"/>
                </a:solidFill>
              </a:rPr>
              <a:t> Ah, de presentatie!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hoe gaat het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het werk?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Pieter :</a:t>
            </a:r>
            <a:r>
              <a:rPr lang="en-US" sz="1900" dirty="0">
                <a:solidFill>
                  <a:schemeClr val="tx1"/>
                </a:solidFill>
              </a:rPr>
              <a:t> Het gaat wel, dank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. Ik ben vrij druk,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het weekend is rustig.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Janssens :</a:t>
            </a:r>
            <a:r>
              <a:rPr lang="en-US" sz="1900" dirty="0">
                <a:solidFill>
                  <a:schemeClr val="tx1"/>
                </a:solidFill>
              </a:rPr>
              <a:t> Goed zo! Tot straks, Pieter!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Pieter :</a:t>
            </a:r>
            <a:r>
              <a:rPr lang="en-US" sz="1900" dirty="0">
                <a:solidFill>
                  <a:schemeClr val="tx1"/>
                </a:solidFill>
              </a:rPr>
              <a:t> Dank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, meneer. Tot straks!</a:t>
            </a:r>
            <a:endParaRPr lang="en-US" sz="19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Six mots possibles : </a:t>
            </a:r>
            <a:r>
              <a:rPr lang="en-US" sz="1800" i="1" dirty="0">
                <a:solidFill>
                  <a:schemeClr val="tx1"/>
                </a:solidFill>
              </a:rPr>
              <a:t>met · en · want · dank · maar · u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Certains servent </a:t>
            </a:r>
            <a:r>
              <a:rPr lang="en-US" sz="1800" b="1" dirty="0">
                <a:solidFill>
                  <a:schemeClr val="tx1"/>
                </a:solidFill>
              </a:rPr>
              <a:t>deux fois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1.2.1 «Snel groeten» — versie B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Même texte. Version B : les </a:t>
            </a:r>
            <a:r>
              <a:rPr lang="en-US" sz="1600" b="1" i="1" dirty="0">
                <a:solidFill>
                  <a:schemeClr val="accent5"/>
                </a:solidFill>
              </a:rPr>
              <a:t>petits mots</a:t>
            </a:r>
            <a:r>
              <a:rPr lang="en-US" sz="1600" i="1" dirty="0">
                <a:solidFill>
                  <a:schemeClr val="accent5"/>
                </a:solidFill>
              </a:rPr>
              <a:t> manquent : </a:t>
            </a:r>
            <a:r>
              <a:rPr lang="en-US" sz="1600" i="1" dirty="0">
                <a:solidFill>
                  <a:schemeClr val="accent5"/>
                </a:solidFill>
              </a:rPr>
              <a:t>met, en, want, dank, maar, u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Pieter :</a:t>
            </a:r>
            <a:r>
              <a:rPr lang="en-US" sz="1900" dirty="0">
                <a:solidFill>
                  <a:schemeClr val="tx1"/>
                </a:solidFill>
              </a:rPr>
              <a:t> Goedemiddag, meneer Janssens! Hoe gaat het </a:t>
            </a:r>
            <a:r>
              <a:rPr lang="en-US" sz="1900" b="1" dirty="0">
                <a:solidFill>
                  <a:schemeClr val="accent3"/>
                </a:solidFill>
              </a:rPr>
              <a:t>met</a:t>
            </a:r>
            <a:r>
              <a:rPr lang="en-US" sz="1900" dirty="0">
                <a:solidFill>
                  <a:schemeClr val="tx1"/>
                </a:solidFill>
              </a:rPr>
              <a:t> u?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Janssens :</a:t>
            </a:r>
            <a:r>
              <a:rPr lang="en-US" sz="1900" dirty="0">
                <a:solidFill>
                  <a:schemeClr val="tx1"/>
                </a:solidFill>
              </a:rPr>
              <a:t> Het gaat prima, </a:t>
            </a:r>
            <a:r>
              <a:rPr lang="en-US" sz="1900" b="1" dirty="0">
                <a:solidFill>
                  <a:schemeClr val="accent3"/>
                </a:solidFill>
              </a:rPr>
              <a:t>dank</a:t>
            </a:r>
            <a:r>
              <a:rPr lang="en-US" sz="1900" dirty="0">
                <a:solidFill>
                  <a:schemeClr val="tx1"/>
                </a:solidFill>
              </a:rPr>
              <a:t> je, Pieter. </a:t>
            </a:r>
            <a:r>
              <a:rPr lang="en-US" sz="1900" b="1" dirty="0">
                <a:solidFill>
                  <a:schemeClr val="accent3"/>
                </a:solidFill>
              </a:rPr>
              <a:t>En</a:t>
            </a:r>
            <a:r>
              <a:rPr lang="en-US" sz="1900" dirty="0">
                <a:solidFill>
                  <a:schemeClr val="tx1"/>
                </a:solidFill>
              </a:rPr>
              <a:t> met jou?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Pieter :</a:t>
            </a:r>
            <a:r>
              <a:rPr lang="en-US" sz="1900" dirty="0">
                <a:solidFill>
                  <a:schemeClr val="tx1"/>
                </a:solidFill>
              </a:rPr>
              <a:t> Het kan beter. Ik voel me een beetje nerveus, </a:t>
            </a:r>
            <a:r>
              <a:rPr lang="en-US" sz="1900" b="1" dirty="0">
                <a:solidFill>
                  <a:schemeClr val="accent3"/>
                </a:solidFill>
              </a:rPr>
              <a:t>want</a:t>
            </a:r>
            <a:r>
              <a:rPr lang="en-US" sz="1900" dirty="0">
                <a:solidFill>
                  <a:schemeClr val="tx1"/>
                </a:solidFill>
              </a:rPr>
              <a:t> ik heb vanmiddag een presentatie.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Janssens :</a:t>
            </a:r>
            <a:r>
              <a:rPr lang="en-US" sz="1900" dirty="0">
                <a:solidFill>
                  <a:schemeClr val="tx1"/>
                </a:solidFill>
              </a:rPr>
              <a:t> Ah, de presentatie! </a:t>
            </a:r>
            <a:r>
              <a:rPr lang="en-US" sz="1900" b="1" dirty="0">
                <a:solidFill>
                  <a:schemeClr val="accent3"/>
                </a:solidFill>
              </a:rPr>
              <a:t>En</a:t>
            </a:r>
            <a:r>
              <a:rPr lang="en-US" sz="1900" dirty="0">
                <a:solidFill>
                  <a:schemeClr val="tx1"/>
                </a:solidFill>
              </a:rPr>
              <a:t> hoe gaat het </a:t>
            </a:r>
            <a:r>
              <a:rPr lang="en-US" sz="1900" b="1" dirty="0">
                <a:solidFill>
                  <a:schemeClr val="accent3"/>
                </a:solidFill>
              </a:rPr>
              <a:t>met</a:t>
            </a:r>
            <a:r>
              <a:rPr lang="en-US" sz="1900" dirty="0">
                <a:solidFill>
                  <a:schemeClr val="tx1"/>
                </a:solidFill>
              </a:rPr>
              <a:t> het werk?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Pieter :</a:t>
            </a:r>
            <a:r>
              <a:rPr lang="en-US" sz="1900" dirty="0">
                <a:solidFill>
                  <a:schemeClr val="tx1"/>
                </a:solidFill>
              </a:rPr>
              <a:t> Het gaat wel, dank </a:t>
            </a:r>
            <a:r>
              <a:rPr lang="en-US" sz="1900" b="1" dirty="0">
                <a:solidFill>
                  <a:schemeClr val="accent3"/>
                </a:solidFill>
              </a:rPr>
              <a:t>u</a:t>
            </a:r>
            <a:r>
              <a:rPr lang="en-US" sz="1900" dirty="0">
                <a:solidFill>
                  <a:schemeClr val="tx1"/>
                </a:solidFill>
              </a:rPr>
              <a:t>. Ik ben vrij druk, </a:t>
            </a:r>
            <a:r>
              <a:rPr lang="en-US" sz="1900" b="1" dirty="0">
                <a:solidFill>
                  <a:schemeClr val="accent3"/>
                </a:solidFill>
              </a:rPr>
              <a:t>maar</a:t>
            </a:r>
            <a:r>
              <a:rPr lang="en-US" sz="1900" dirty="0">
                <a:solidFill>
                  <a:schemeClr val="tx1"/>
                </a:solidFill>
              </a:rPr>
              <a:t> het weekend is rustig.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Janssens :</a:t>
            </a:r>
            <a:r>
              <a:rPr lang="en-US" sz="1900" dirty="0">
                <a:solidFill>
                  <a:schemeClr val="tx1"/>
                </a:solidFill>
              </a:rPr>
              <a:t> Goed zo! Tot straks, Pieter!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Pieter :</a:t>
            </a:r>
            <a:r>
              <a:rPr lang="en-US" sz="1900" dirty="0">
                <a:solidFill>
                  <a:schemeClr val="tx1"/>
                </a:solidFill>
              </a:rPr>
              <a:t> Dank </a:t>
            </a:r>
            <a:r>
              <a:rPr lang="en-US" sz="1900" b="1" dirty="0">
                <a:solidFill>
                  <a:schemeClr val="accent3"/>
                </a:solidFill>
              </a:rPr>
              <a:t>u</a:t>
            </a:r>
            <a:r>
              <a:rPr lang="en-US" sz="1900" dirty="0">
                <a:solidFill>
                  <a:schemeClr val="tx1"/>
                </a:solidFill>
              </a:rPr>
              <a:t>, meneer. Tot straks!</a:t>
            </a:r>
            <a:endParaRPr lang="en-US" sz="19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+ raison (</a:t>
            </a:r>
            <a:r>
              <a:rPr lang="en-US" sz="1800" i="1" dirty="0">
                <a:solidFill>
                  <a:schemeClr val="tx1"/>
                </a:solidFill>
              </a:rPr>
              <a:t>want ik heb…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maar</a:t>
            </a:r>
            <a:r>
              <a:rPr lang="en-US" sz="1800" dirty="0">
                <a:solidFill>
                  <a:schemeClr val="tx1"/>
                </a:solidFill>
              </a:rPr>
              <a:t> + opposition (</a:t>
            </a:r>
            <a:r>
              <a:rPr lang="en-US" sz="1800" i="1" dirty="0">
                <a:solidFill>
                  <a:schemeClr val="tx1"/>
                </a:solidFill>
              </a:rPr>
              <a:t>maar het weekend is rustig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met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Hoe gaat het met u? · met het werk?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1.2.2 Zinnenpuzzel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Six répliques des textes 1 et 2, découpées en blocs. Remettez-les dans l’ordre et écrivez la phrase. Par deux · 5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een beetje  |  Ik ben  |  , want ik heb veel werk  |  moe</a:t>
            </a:r>
            <a:endParaRPr lang="en-US" sz="2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blij  |  Ik voel me  |  , want ik heb goed nieuws</a:t>
            </a:r>
            <a:endParaRPr lang="en-US" sz="2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met u  |  Hoe gaat het  |  ?</a:t>
            </a:r>
            <a:endParaRPr lang="en-US" sz="26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een beetje  |  nerveus  |  Ik voel me  |  , want ik heb vanmiddag een presentatie</a:t>
            </a:r>
            <a:endParaRPr lang="en-US" sz="2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druk  |  vrij  |  Ik ben  |  , maar het weekend is rustig</a:t>
            </a:r>
            <a:endParaRPr lang="en-US" sz="2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6.  </a:t>
            </a:r>
            <a:r>
              <a:rPr lang="en-US" sz="2600" dirty="0">
                <a:solidFill>
                  <a:schemeClr val="tx1"/>
                </a:solidFill>
              </a:rPr>
              <a:t>dank u  |  Het gaat  |  wel  |  ,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1.2.2 Zinnenpuzzel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Six répliques des textes 1 et 2, découpées en blocs. Remettez-les dans l’ordre et écrivez la phrase. Par deux · 5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een beetje  |  Ik ben  |  , want ik heb veel werk  |  moe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Ik ben een beetje moe, want ik heb veel werk.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blij  |  Ik voel me  |  , want ik heb goed nieuws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Ik voel me blij, want ik heb goed nieuws.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met u  |  Hoe gaat het  |  ?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Hoe gaat het met u?</a:t>
            </a:r>
            <a:endParaRPr lang="en-US" sz="22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een beetje  |  nerveus  |  Ik voel me  |  , want ik heb vanmiddag een presentatie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Ik voel me een beetje nerveus, want ik heb vanmiddag een presentatie.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druk  |  vrij  |  Ik ben  |  , maar het weekend is rustig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Ik ben vrij druk, maar het weekend is rustig.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dank u  |  Het gaat  |  wel  |  ,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Het gaat wel, dank u.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Getallen &amp; klok : nombres, heure, date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À partir de 21 : l’</a:t>
            </a:r>
            <a:r>
              <a:rPr lang="en-US" sz="1800" b="1" dirty="0">
                <a:solidFill>
                  <a:schemeClr val="tx1"/>
                </a:solidFill>
              </a:rPr>
              <a:t>unité d’abord</a:t>
            </a:r>
            <a:r>
              <a:rPr lang="en-US" sz="1800" dirty="0">
                <a:solidFill>
                  <a:schemeClr val="tx1"/>
                </a:solidFill>
              </a:rPr>
              <a:t> (21 = een-</a:t>
            </a:r>
            <a:r>
              <a:rPr lang="en-US" sz="1800" b="1" dirty="0">
                <a:solidFill>
                  <a:schemeClr val="tx1"/>
                </a:solidFill>
              </a:rPr>
              <a:t>en</a:t>
            </a:r>
            <a:r>
              <a:rPr lang="en-US" sz="1800" dirty="0">
                <a:solidFill>
                  <a:schemeClr val="tx1"/>
                </a:solidFill>
              </a:rPr>
              <a:t>-twintig). Pour l’heure, </a:t>
            </a:r>
            <a:r>
              <a:rPr lang="en-US" sz="1800" b="1" dirty="0">
                <a:solidFill>
                  <a:schemeClr val="tx1"/>
                </a:solidFill>
              </a:rPr>
              <a:t>half</a:t>
            </a:r>
            <a:r>
              <a:rPr lang="en-US" sz="1800" dirty="0">
                <a:solidFill>
                  <a:schemeClr val="tx1"/>
                </a:solidFill>
              </a:rPr>
              <a:t> regarde vers l’heure </a:t>
            </a:r>
            <a:r>
              <a:rPr lang="en-US" sz="1800" b="1" dirty="0">
                <a:solidFill>
                  <a:schemeClr val="tx1"/>
                </a:solidFill>
              </a:rPr>
              <a:t>suivante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2567178" cy="345643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67712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 · LES NOMBRES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51176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een-en-twintig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93720"/>
            <a:ext cx="2201418" cy="220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21 </a:t>
            </a:r>
            <a:r>
              <a:rPr lang="en-US" sz="1600" b="1" dirty="0">
                <a:solidFill>
                  <a:schemeClr val="tx1"/>
                </a:solidFill>
              </a:rPr>
              <a:t>eenentwintig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35 </a:t>
            </a:r>
            <a:r>
              <a:rPr lang="en-US" sz="1600" b="1" dirty="0">
                <a:solidFill>
                  <a:schemeClr val="tx1"/>
                </a:solidFill>
              </a:rPr>
              <a:t>vijfendertig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74 </a:t>
            </a:r>
            <a:r>
              <a:rPr lang="en-US" sz="1600" b="1" dirty="0">
                <a:solidFill>
                  <a:schemeClr val="tx1"/>
                </a:solidFill>
              </a:rPr>
              <a:t>vierenzeventig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156 </a:t>
            </a:r>
            <a:r>
              <a:rPr lang="en-US" sz="1600" b="1" dirty="0">
                <a:solidFill>
                  <a:schemeClr val="tx1"/>
                </a:solidFill>
              </a:rPr>
              <a:t>honderdzesenvijftig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90138" y="1947672"/>
            <a:ext cx="2567178" cy="345643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90138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5" name="Shape 12"/>
          <p:cNvSpPr/>
          <p:nvPr/>
        </p:nvSpPr>
        <p:spPr>
          <a:xfrm>
            <a:off x="3390138" y="2267712"/>
            <a:ext cx="256717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73018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LES DIZAINES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573018" y="2551176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 → 100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573018" y="3093720"/>
            <a:ext cx="2201418" cy="220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 twintig · 30 </a:t>
            </a:r>
            <a:r>
              <a:rPr lang="en-US" sz="1600" b="1" dirty="0">
                <a:solidFill>
                  <a:schemeClr val="tx1"/>
                </a:solidFill>
              </a:rPr>
              <a:t>dertig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40 </a:t>
            </a:r>
            <a:r>
              <a:rPr lang="en-US" sz="1600" b="1" dirty="0">
                <a:solidFill>
                  <a:schemeClr val="tx1"/>
                </a:solidFill>
              </a:rPr>
              <a:t>veertig</a:t>
            </a:r>
            <a:r>
              <a:rPr lang="en-US" sz="1600" dirty="0">
                <a:solidFill>
                  <a:schemeClr val="tx1"/>
                </a:solidFill>
              </a:rPr>
              <a:t> · 50 vijftig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60 zestig · 70 zeventig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80 </a:t>
            </a:r>
            <a:r>
              <a:rPr lang="en-US" sz="1600" b="1" dirty="0">
                <a:solidFill>
                  <a:schemeClr val="tx1"/>
                </a:solidFill>
              </a:rPr>
              <a:t>tachtig</a:t>
            </a:r>
            <a:r>
              <a:rPr lang="en-US" sz="1600" dirty="0">
                <a:solidFill>
                  <a:schemeClr val="tx1"/>
                </a:solidFill>
              </a:rPr>
              <a:t> · 90 negentig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100 honderd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31636" y="1947672"/>
            <a:ext cx="2567178" cy="345643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31636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1" name="Shape 18"/>
          <p:cNvSpPr/>
          <p:nvPr/>
        </p:nvSpPr>
        <p:spPr>
          <a:xfrm>
            <a:off x="6231636" y="2267712"/>
            <a:ext cx="2567178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14516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B · HOE LAAT IS HET?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14516" y="2551176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half negen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6414516" y="3093720"/>
            <a:ext cx="2201418" cy="220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8.00 </a:t>
            </a:r>
            <a:r>
              <a:rPr lang="en-US" sz="1600" b="1" dirty="0">
                <a:solidFill>
                  <a:schemeClr val="tx1"/>
                </a:solidFill>
              </a:rPr>
              <a:t>acht uur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8.15 </a:t>
            </a:r>
            <a:r>
              <a:rPr lang="en-US" sz="1600" b="1" dirty="0">
                <a:solidFill>
                  <a:schemeClr val="tx1"/>
                </a:solidFill>
              </a:rPr>
              <a:t>kwart over acht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8.30 </a:t>
            </a:r>
            <a:r>
              <a:rPr lang="en-US" sz="1600" b="1" dirty="0">
                <a:solidFill>
                  <a:schemeClr val="tx1"/>
                </a:solidFill>
              </a:rPr>
              <a:t>half negen</a:t>
            </a:r>
            <a:r>
              <a:rPr lang="en-US" sz="1600" dirty="0">
                <a:solidFill>
                  <a:schemeClr val="tx1"/>
                </a:solidFill>
              </a:rPr>
              <a:t> !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8.45 </a:t>
            </a:r>
            <a:r>
              <a:rPr lang="en-US" sz="1600" b="1" dirty="0">
                <a:solidFill>
                  <a:schemeClr val="tx1"/>
                </a:solidFill>
              </a:rPr>
              <a:t>kwart voor negen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073134" y="1947672"/>
            <a:ext cx="2567178" cy="345643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073134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rgbClr val="6E4A9E"/>
          </a:solidFill>
          <a:ln/>
        </p:spPr>
      </p:sp>
      <p:sp>
        <p:nvSpPr>
          <p:cNvPr id="27" name="Shape 24"/>
          <p:cNvSpPr/>
          <p:nvPr/>
        </p:nvSpPr>
        <p:spPr>
          <a:xfrm>
            <a:off x="9073134" y="2267712"/>
            <a:ext cx="2567178" cy="182880"/>
          </a:xfrm>
          <a:prstGeom prst="rect">
            <a:avLst/>
          </a:prstGeom>
          <a:solidFill>
            <a:srgbClr val="6E4A9E"/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56014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C · OM · OP · IN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256014" y="2551176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om · op · in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9256014" y="3093720"/>
            <a:ext cx="2201418" cy="220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om</a:t>
            </a:r>
            <a:r>
              <a:rPr lang="en-US" sz="1600" dirty="0">
                <a:solidFill>
                  <a:schemeClr val="tx1"/>
                </a:solidFill>
              </a:rPr>
              <a:t> + heure : </a:t>
            </a:r>
            <a:r>
              <a:rPr lang="en-US" sz="1600" i="1" dirty="0">
                <a:solidFill>
                  <a:schemeClr val="tx1"/>
                </a:solidFill>
              </a:rPr>
              <a:t>om acht uur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op</a:t>
            </a:r>
            <a:r>
              <a:rPr lang="en-US" sz="1600" dirty="0">
                <a:solidFill>
                  <a:schemeClr val="tx1"/>
                </a:solidFill>
              </a:rPr>
              <a:t> + jour, date : </a:t>
            </a:r>
            <a:r>
              <a:rPr lang="en-US" sz="1600" i="1" dirty="0">
                <a:solidFill>
                  <a:schemeClr val="tx1"/>
                </a:solidFill>
              </a:rPr>
              <a:t>op maandag · op 1 mei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in</a:t>
            </a:r>
            <a:r>
              <a:rPr lang="en-US" sz="1600" dirty="0">
                <a:solidFill>
                  <a:schemeClr val="tx1"/>
                </a:solidFill>
              </a:rPr>
              <a:t> + mois, saison : </a:t>
            </a:r>
            <a:r>
              <a:rPr lang="en-US" sz="1600" i="1" dirty="0">
                <a:solidFill>
                  <a:schemeClr val="tx1"/>
                </a:solidFill>
              </a:rPr>
              <a:t>in mei · in de zomer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half drie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b="1" dirty="0">
                <a:solidFill>
                  <a:schemeClr val="tx1"/>
                </a:solidFill>
              </a:rPr>
              <a:t>2 h 30</a:t>
            </a:r>
            <a:r>
              <a:rPr lang="en-US" sz="1700" dirty="0">
                <a:solidFill>
                  <a:schemeClr val="tx1"/>
                </a:solidFill>
              </a:rPr>
              <a:t>, et non 3 h 30 : on est à mi-chemin </a:t>
            </a:r>
            <a:r>
              <a:rPr lang="en-US" sz="1700" b="1" dirty="0">
                <a:solidFill>
                  <a:schemeClr val="tx1"/>
                </a:solidFill>
              </a:rPr>
              <a:t>vers</a:t>
            </a:r>
            <a:r>
              <a:rPr lang="en-US" sz="1700" dirty="0">
                <a:solidFill>
                  <a:schemeClr val="tx1"/>
                </a:solidFill>
              </a:rPr>
              <a:t> trois heures. Et 22 = </a:t>
            </a:r>
            <a:r>
              <a:rPr lang="en-US" sz="1700" i="1" dirty="0">
                <a:solidFill>
                  <a:schemeClr val="tx1"/>
                </a:solidFill>
              </a:rPr>
              <a:t>twee</a:t>
            </a:r>
            <a:r>
              <a:rPr lang="en-US" sz="1700" b="1" i="1" dirty="0">
                <a:solidFill>
                  <a:schemeClr val="tx1"/>
                </a:solidFill>
              </a:rPr>
              <a:t>ë</a:t>
            </a:r>
            <a:r>
              <a:rPr lang="en-US" sz="1700" i="1" dirty="0">
                <a:solidFill>
                  <a:schemeClr val="tx1"/>
                </a:solidFill>
              </a:rPr>
              <a:t>ntwintig</a:t>
            </a:r>
            <a:r>
              <a:rPr lang="en-US" sz="1700" dirty="0">
                <a:solidFill>
                  <a:schemeClr val="tx1"/>
                </a:solidFill>
              </a:rPr>
              <a:t> (tréma).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écris en lettres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Écrivez les nombres et l’heure en lettres ; complétez avec la bonne préposition.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48 →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93 →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22 →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10.30 → Het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10.45 → Het is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zaterdag ·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juli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L’</a:t>
            </a:r>
            <a:r>
              <a:rPr lang="en-US" sz="1800" b="1" dirty="0">
                <a:solidFill>
                  <a:schemeClr val="tx1"/>
                </a:solidFill>
              </a:rPr>
              <a:t>unité</a:t>
            </a:r>
            <a:r>
              <a:rPr lang="en-US" sz="1800" dirty="0">
                <a:solidFill>
                  <a:schemeClr val="tx1"/>
                </a:solidFill>
              </a:rPr>
              <a:t> d’abord, puis </a:t>
            </a:r>
            <a:r>
              <a:rPr lang="en-US" sz="1800" i="1" dirty="0">
                <a:solidFill>
                  <a:schemeClr val="tx1"/>
                </a:solidFill>
              </a:rPr>
              <a:t>en</a:t>
            </a:r>
            <a:r>
              <a:rPr lang="en-US" sz="1800" dirty="0">
                <a:solidFill>
                  <a:schemeClr val="tx1"/>
                </a:solidFill>
              </a:rPr>
              <a:t>, puis la dizaine.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half</a:t>
            </a:r>
            <a:r>
              <a:rPr lang="en-US" sz="1800" dirty="0">
                <a:solidFill>
                  <a:schemeClr val="tx1"/>
                </a:solidFill>
              </a:rPr>
              <a:t> → l’heure suivante.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Seul · 5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écris en lettres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Écrivez les nombres et l’heure en lettres ; complétez avec la bonne préposition.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48 → </a:t>
            </a:r>
            <a:r>
              <a:rPr lang="en-US" sz="2400" b="1" dirty="0">
                <a:solidFill>
                  <a:schemeClr val="accent3"/>
                </a:solidFill>
              </a:rPr>
              <a:t>achtenveertig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93 → </a:t>
            </a:r>
            <a:r>
              <a:rPr lang="en-US" sz="2400" b="1" dirty="0">
                <a:solidFill>
                  <a:schemeClr val="accent3"/>
                </a:solidFill>
              </a:rPr>
              <a:t>drieënnegentig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22 → </a:t>
            </a:r>
            <a:r>
              <a:rPr lang="en-US" sz="2400" b="1" dirty="0">
                <a:solidFill>
                  <a:schemeClr val="accent3"/>
                </a:solidFill>
              </a:rPr>
              <a:t>tweeëntwintig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10.30 → Het is </a:t>
            </a:r>
            <a:r>
              <a:rPr lang="en-US" sz="2400" b="1" dirty="0">
                <a:solidFill>
                  <a:schemeClr val="accent3"/>
                </a:solidFill>
              </a:rPr>
              <a:t>half elf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10.45 → Het is </a:t>
            </a:r>
            <a:r>
              <a:rPr lang="en-US" sz="2400" b="1" dirty="0">
                <a:solidFill>
                  <a:schemeClr val="accent3"/>
                </a:solidFill>
              </a:rPr>
              <a:t>kwart voor elf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b="1" dirty="0">
                <a:solidFill>
                  <a:schemeClr val="accent3"/>
                </a:solidFill>
              </a:rPr>
              <a:t>op</a:t>
            </a:r>
            <a:r>
              <a:rPr lang="en-US" sz="2400" dirty="0">
                <a:solidFill>
                  <a:schemeClr val="tx1"/>
                </a:solidFill>
              </a:rPr>
              <a:t> zaterdag · </a:t>
            </a:r>
            <a:r>
              <a:rPr lang="en-US" sz="2400" b="1" dirty="0">
                <a:solidFill>
                  <a:schemeClr val="accent3"/>
                </a:solidFill>
              </a:rPr>
              <a:t>in</a:t>
            </a:r>
            <a:r>
              <a:rPr lang="en-US" sz="2400" dirty="0">
                <a:solidFill>
                  <a:schemeClr val="tx1"/>
                </a:solidFill>
              </a:rPr>
              <a:t> juli</a:t>
            </a:r>
            <a:endParaRPr lang="en-US" sz="24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Tréma : </a:t>
            </a:r>
            <a:r>
              <a:rPr lang="en-US" sz="1800" i="1" dirty="0">
                <a:solidFill>
                  <a:schemeClr val="tx1"/>
                </a:solidFill>
              </a:rPr>
              <a:t>drie</a:t>
            </a:r>
            <a:r>
              <a:rPr lang="en-US" sz="1800" b="1" i="1" dirty="0">
                <a:solidFill>
                  <a:schemeClr val="tx1"/>
                </a:solidFill>
              </a:rPr>
              <a:t>ë</a:t>
            </a:r>
            <a:r>
              <a:rPr lang="en-US" sz="1800" i="1" dirty="0">
                <a:solidFill>
                  <a:schemeClr val="tx1"/>
                </a:solidFill>
              </a:rPr>
              <a:t>nnegentig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twee</a:t>
            </a:r>
            <a:r>
              <a:rPr lang="en-US" sz="1800" b="1" i="1" dirty="0">
                <a:solidFill>
                  <a:schemeClr val="tx1"/>
                </a:solidFill>
              </a:rPr>
              <a:t>ë</a:t>
            </a:r>
            <a:r>
              <a:rPr lang="en-US" sz="1800" i="1" dirty="0">
                <a:solidFill>
                  <a:schemeClr val="tx1"/>
                </a:solidFill>
              </a:rPr>
              <a:t>ntwintig</a:t>
            </a:r>
            <a:r>
              <a:rPr lang="en-US" sz="1800" dirty="0">
                <a:solidFill>
                  <a:schemeClr val="tx1"/>
                </a:solidFill>
              </a:rPr>
              <a:t> (deux voyelles se suivent).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10.30 = </a:t>
            </a:r>
            <a:r>
              <a:rPr lang="en-US" sz="1800" i="1" dirty="0">
                <a:solidFill>
                  <a:schemeClr val="tx1"/>
                </a:solidFill>
              </a:rPr>
              <a:t>half </a:t>
            </a:r>
            <a:r>
              <a:rPr lang="en-US" sz="1800" b="1" i="1" dirty="0">
                <a:solidFill>
                  <a:schemeClr val="tx1"/>
                </a:solidFill>
              </a:rPr>
              <a:t>elf</a:t>
            </a:r>
            <a:r>
              <a:rPr lang="en-US" sz="1800" dirty="0">
                <a:solidFill>
                  <a:schemeClr val="tx1"/>
                </a:solidFill>
              </a:rPr>
              <a:t> (vers 11 h).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op</a:t>
            </a:r>
            <a:r>
              <a:rPr lang="en-US" sz="1800" dirty="0">
                <a:solidFill>
                  <a:schemeClr val="tx1"/>
                </a:solidFill>
              </a:rPr>
              <a:t> + jour · </a:t>
            </a:r>
            <a:r>
              <a:rPr lang="en-US" sz="1800" b="1" dirty="0">
                <a:solidFill>
                  <a:schemeClr val="tx1"/>
                </a:solidFill>
              </a:rPr>
              <a:t>in</a:t>
            </a:r>
            <a:r>
              <a:rPr lang="en-US" sz="1800" dirty="0">
                <a:solidFill>
                  <a:schemeClr val="tx1"/>
                </a:solidFill>
              </a:rPr>
              <a:t> + mois.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Tijd &amp; weer — le temps et la météo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" name="illustration" descr="le sole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55" y="1581912"/>
            <a:ext cx="995371" cy="789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llustration" descr="la plu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782" y="1581912"/>
            <a:ext cx="1018253" cy="7894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7" name="illustration" descr="le n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60" y="1581912"/>
            <a:ext cx="998231" cy="7894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2" name="illustration" descr="le v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385" y="1581912"/>
            <a:ext cx="947318" cy="7894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7" name="illustration" descr="la nei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064" y="1581912"/>
            <a:ext cx="969096" cy="7894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2" name="illustration" descr="l’or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20" y="3230880"/>
            <a:ext cx="950041" cy="78943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7" name="illustration" descr="l’arc-en-cie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960" y="3230880"/>
            <a:ext cx="953897" cy="78943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2" name="illustration" descr="le brouillar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6563" y="3230880"/>
            <a:ext cx="975826" cy="78943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7" name="illustration" descr="la températur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725" y="3230880"/>
            <a:ext cx="956638" cy="78943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1" name="Shape 39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2" name="illustration" descr="l’horlog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953" y="3230880"/>
            <a:ext cx="947318" cy="78943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6" name="Shape 43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7" name="illustration" descr="le calendri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792" y="4879848"/>
            <a:ext cx="969096" cy="78943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2" name="illustration" descr="le printemp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888" y="4879848"/>
            <a:ext cx="950041" cy="789432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6" name="Shape 51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7" name="illustration" descr="l’été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4124" y="4879848"/>
            <a:ext cx="1060704" cy="789432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9" name="Text 53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0" name="Text 54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1" name="Shape 55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2" name="illustration" descr="l’automn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0" y="4879848"/>
            <a:ext cx="1085088" cy="789432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4" name="Text 57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5" name="Text 58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6" name="Shape 59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7" name="illustration" descr="l’hiver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9736" y="4879848"/>
            <a:ext cx="1063752" cy="789432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0" name="Text 62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Tijd &amp; weer — le temps et la météo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3957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8" name="illustration" descr="le sole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55" y="1581912"/>
            <a:ext cx="995371" cy="789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zon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soleil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3" name="illustration" descr="la plu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782" y="1581912"/>
            <a:ext cx="1018253" cy="7894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regen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pluie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8" name="illustration" descr="le n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360" y="1581912"/>
            <a:ext cx="998231" cy="7894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wolk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nuage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3" name="illustration" descr="le v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385" y="1581912"/>
            <a:ext cx="947318" cy="7894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wind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vent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8" name="illustration" descr="la nei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064" y="1581912"/>
            <a:ext cx="969096" cy="7894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sneeuw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neige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33" name="illustration" descr="l’or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20" y="3230880"/>
            <a:ext cx="950041" cy="7894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onweer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l’orage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8" name="illustration" descr="l’arc-en-cie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960" y="3230880"/>
            <a:ext cx="953897" cy="78943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regenboog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l’arc-en-ciel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3" name="illustration" descr="le brouillar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6563" y="3230880"/>
            <a:ext cx="975826" cy="78943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mist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brouillard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8" name="illustration" descr="la températur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725" y="3230880"/>
            <a:ext cx="956638" cy="7894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temperatuur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température</a:t>
            </a:r>
            <a:endParaRPr lang="en-US" sz="1600" dirty="0"/>
          </a:p>
        </p:txBody>
      </p:sp>
      <p:sp>
        <p:nvSpPr>
          <p:cNvPr id="52" name="Shape 40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3" name="illustration" descr="l’horlog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953" y="3230880"/>
            <a:ext cx="947318" cy="78943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klok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l’horloge</a:t>
            </a:r>
            <a:endParaRPr lang="en-US" sz="1600" dirty="0"/>
          </a:p>
        </p:txBody>
      </p:sp>
      <p:sp>
        <p:nvSpPr>
          <p:cNvPr id="57" name="Shape 44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8" name="illustration" descr="le calendri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792" y="4879848"/>
            <a:ext cx="969096" cy="78943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kalender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calendrier</a:t>
            </a:r>
            <a:endParaRPr lang="en-US" sz="1600" dirty="0"/>
          </a:p>
        </p:txBody>
      </p:sp>
      <p:sp>
        <p:nvSpPr>
          <p:cNvPr id="62" name="Shape 48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3" name="illustration" descr="le printemp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888" y="4879848"/>
            <a:ext cx="950041" cy="789432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lente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printemps</a:t>
            </a:r>
            <a:endParaRPr lang="en-US" sz="1600" dirty="0"/>
          </a:p>
        </p:txBody>
      </p:sp>
      <p:sp>
        <p:nvSpPr>
          <p:cNvPr id="67" name="Shape 52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8" name="illustration" descr="l’été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4124" y="4879848"/>
            <a:ext cx="1060704" cy="789432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0" name="Text 54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zomer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l’été</a:t>
            </a:r>
            <a:endParaRPr lang="en-US" sz="1600" dirty="0"/>
          </a:p>
        </p:txBody>
      </p:sp>
      <p:sp>
        <p:nvSpPr>
          <p:cNvPr id="72" name="Shape 56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3" name="illustration" descr="l’automn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0" y="4879848"/>
            <a:ext cx="1085088" cy="789432"/>
          </a:xfrm>
          <a:prstGeom prst="rect">
            <a:avLst/>
          </a:prstGeom>
        </p:spPr>
      </p:pic>
      <p:sp>
        <p:nvSpPr>
          <p:cNvPr id="74" name="Shape 57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5" name="Text 58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6" name="Text 59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herfst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l’automne</a:t>
            </a:r>
            <a:endParaRPr lang="en-US" sz="1600" dirty="0"/>
          </a:p>
        </p:txBody>
      </p:sp>
      <p:sp>
        <p:nvSpPr>
          <p:cNvPr id="77" name="Shape 60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8" name="illustration" descr="l’hiver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9736" y="4879848"/>
            <a:ext cx="1063752" cy="789432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0" name="Text 62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winter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l’hiver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Hoe laat is het? Welk seizoen?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Dites l’heure en néerlandais, puis traduisez les phrases (fiche 07 + vocabulaire p. 87).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7.15 → Het is </a:t>
            </a:r>
            <a:r>
              <a:rPr lang="en-US" sz="2200" dirty="0">
                <a:solidFill>
                  <a:schemeClr val="accent5"/>
                </a:solidFill>
              </a:rPr>
              <a:t>………………………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9.30 → Het is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12.00 → Het is </a:t>
            </a:r>
            <a:r>
              <a:rPr lang="en-US" sz="2200" dirty="0">
                <a:solidFill>
                  <a:schemeClr val="accent5"/>
                </a:solidFill>
              </a:rPr>
              <a:t>………………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16.45 → Het is </a:t>
            </a:r>
            <a:r>
              <a:rPr lang="en-US" sz="2200" dirty="0">
                <a:solidFill>
                  <a:schemeClr val="accent5"/>
                </a:solidFill>
              </a:rPr>
              <a:t>……………………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20.30 → Het is </a:t>
            </a:r>
            <a:r>
              <a:rPr lang="en-US" sz="2200" dirty="0">
                <a:solidFill>
                  <a:schemeClr val="accent5"/>
                </a:solidFill>
              </a:rPr>
              <a:t>………………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En juillet, c’est l’été.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7.  </a:t>
            </a:r>
            <a:r>
              <a:rPr lang="en-US" sz="2200" dirty="0">
                <a:solidFill>
                  <a:schemeClr val="tx1"/>
                </a:solidFill>
              </a:rPr>
              <a:t>En automne, il y a beaucoup de vent.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8.  </a:t>
            </a:r>
            <a:r>
              <a:rPr lang="en-US" sz="2200" dirty="0">
                <a:solidFill>
                  <a:schemeClr val="tx1"/>
                </a:solidFill>
              </a:rPr>
              <a:t>En hiver, il y a parfois de la neige.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9.  </a:t>
            </a:r>
            <a:r>
              <a:rPr lang="en-US" sz="2200" dirty="0">
                <a:solidFill>
                  <a:schemeClr val="tx1"/>
                </a:solidFill>
              </a:rPr>
              <a:t>Au printemps, je travaille dans le jardin.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10.  </a:t>
            </a:r>
            <a:r>
              <a:rPr lang="en-US" sz="2200" dirty="0">
                <a:solidFill>
                  <a:schemeClr val="tx1"/>
                </a:solidFill>
              </a:rPr>
              <a:t>Après la pluie, l’arc-en-ciel !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Hoe laat is het? Welk seizoen?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Dites l’heure en néerlandais, puis traduisez les phrases (fiche 07 + vocabulaire p. 87).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7.15 → Het is </a:t>
            </a:r>
            <a:r>
              <a:rPr lang="en-US" sz="2200" b="1" dirty="0">
                <a:solidFill>
                  <a:schemeClr val="accent3"/>
                </a:solidFill>
              </a:rPr>
              <a:t>kwart over zeven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9.30 → Het is </a:t>
            </a:r>
            <a:r>
              <a:rPr lang="en-US" sz="2200" b="1" dirty="0">
                <a:solidFill>
                  <a:schemeClr val="accent3"/>
                </a:solidFill>
              </a:rPr>
              <a:t>half tien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12.00 → Het is </a:t>
            </a:r>
            <a:r>
              <a:rPr lang="en-US" sz="2200" b="1" dirty="0">
                <a:solidFill>
                  <a:schemeClr val="accent3"/>
                </a:solidFill>
              </a:rPr>
              <a:t>twaalf uur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16.45 → Het is </a:t>
            </a:r>
            <a:r>
              <a:rPr lang="en-US" sz="2200" b="1" dirty="0">
                <a:solidFill>
                  <a:schemeClr val="accent3"/>
                </a:solidFill>
              </a:rPr>
              <a:t>kwart voor vijf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20.30 → Het is </a:t>
            </a:r>
            <a:r>
              <a:rPr lang="en-US" sz="2200" b="1" dirty="0">
                <a:solidFill>
                  <a:schemeClr val="accent3"/>
                </a:solidFill>
              </a:rPr>
              <a:t>half negen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En juillet, c’est l’été. → </a:t>
            </a:r>
            <a:r>
              <a:rPr lang="en-US" sz="2200" b="1" dirty="0">
                <a:solidFill>
                  <a:schemeClr val="accent3"/>
                </a:solidFill>
              </a:rPr>
              <a:t>In juli is het zomer.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7.  </a:t>
            </a:r>
            <a:r>
              <a:rPr lang="en-US" sz="2200" dirty="0">
                <a:solidFill>
                  <a:schemeClr val="tx1"/>
                </a:solidFill>
              </a:rPr>
              <a:t>En automne, il y a beaucoup de vent. → </a:t>
            </a:r>
            <a:r>
              <a:rPr lang="en-US" sz="2200" b="1" dirty="0">
                <a:solidFill>
                  <a:schemeClr val="accent3"/>
                </a:solidFill>
              </a:rPr>
              <a:t>In de herfst is er veel wind.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8.  </a:t>
            </a:r>
            <a:r>
              <a:rPr lang="en-US" sz="2200" dirty="0">
                <a:solidFill>
                  <a:schemeClr val="tx1"/>
                </a:solidFill>
              </a:rPr>
              <a:t>En hiver, il y a parfois de la neige. → </a:t>
            </a:r>
            <a:r>
              <a:rPr lang="en-US" sz="2200" b="1" dirty="0">
                <a:solidFill>
                  <a:schemeClr val="accent3"/>
                </a:solidFill>
              </a:rPr>
              <a:t>In de winter is er soms sneeuw.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9.  </a:t>
            </a:r>
            <a:r>
              <a:rPr lang="en-US" sz="2200" dirty="0">
                <a:solidFill>
                  <a:schemeClr val="tx1"/>
                </a:solidFill>
              </a:rPr>
              <a:t>Au printemps, je travaille dans le jardin. → </a:t>
            </a:r>
            <a:r>
              <a:rPr lang="en-US" sz="2200" b="1" dirty="0">
                <a:solidFill>
                  <a:schemeClr val="accent3"/>
                </a:solidFill>
              </a:rPr>
              <a:t>In de lente werk ik in de tuin.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10.  </a:t>
            </a:r>
            <a:r>
              <a:rPr lang="en-US" sz="2200" dirty="0">
                <a:solidFill>
                  <a:schemeClr val="tx1"/>
                </a:solidFill>
              </a:rPr>
              <a:t>Après la pluie, l’arc-en-ciel ! → </a:t>
            </a:r>
            <a:r>
              <a:rPr lang="en-US" sz="2200" b="1" dirty="0">
                <a:solidFill>
                  <a:schemeClr val="accent3"/>
                </a:solidFill>
              </a:rPr>
              <a:t>Na de regen komt de regenboog!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4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deux sentiments, un mensonge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! Dire comment on se sent, et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pourquoi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avec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want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et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maar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… au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tutoiement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et au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vouvoiement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EXTRA p. 17 : trouver </a:t>
            </a:r>
            <a:r>
              <a:rPr lang="en-US" sz="1700" b="1" dirty="0">
                <a:solidFill>
                  <a:schemeClr val="tx1"/>
                </a:solidFill>
              </a:rPr>
              <a:t>5 mots composés</a:t>
            </a:r>
            <a:r>
              <a:rPr lang="en-US" sz="1700" dirty="0">
                <a:solidFill>
                  <a:schemeClr val="tx1"/>
                </a:solidFill>
              </a:rPr>
              <a:t> (traduction + décomposition + de / het).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</a:t>
            </a:r>
            <a:r>
              <a:rPr lang="en-US" sz="1700" b="1" dirty="0">
                <a:solidFill>
                  <a:schemeClr val="tx1"/>
                </a:solidFill>
              </a:rPr>
              <a:t>nombres</a:t>
            </a:r>
            <a:r>
              <a:rPr lang="en-US" sz="1700" dirty="0">
                <a:solidFill>
                  <a:schemeClr val="tx1"/>
                </a:solidFill>
              </a:rPr>
              <a:t> et l’</a:t>
            </a:r>
            <a:r>
              <a:rPr lang="en-US" sz="1700" b="1" dirty="0">
                <a:solidFill>
                  <a:schemeClr val="tx1"/>
                </a:solidFill>
              </a:rPr>
              <a:t>heure</a:t>
            </a:r>
            <a:r>
              <a:rPr lang="en-US" sz="1700" dirty="0">
                <a:solidFill>
                  <a:schemeClr val="tx1"/>
                </a:solidFill>
              </a:rPr>
              <a:t> (fiche p. 64).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Relire à voix haute le </a:t>
            </a:r>
            <a:r>
              <a:rPr lang="en-US" sz="1700" b="1" dirty="0">
                <a:solidFill>
                  <a:schemeClr val="tx1"/>
                </a:solidFill>
              </a:rPr>
              <a:t>texte complet</a:t>
            </a:r>
            <a:r>
              <a:rPr lang="en-US" sz="1700" dirty="0">
                <a:solidFill>
                  <a:schemeClr val="tx1"/>
                </a:solidFill>
              </a:rPr>
              <a:t> de 1.2.1.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15 mots </a:t>
            </a:r>
            <a:r>
              <a:rPr lang="en-US" sz="1700" b="1" dirty="0">
                <a:solidFill>
                  <a:schemeClr val="tx1"/>
                </a:solidFill>
              </a:rPr>
              <a:t>Tijd &amp; weer</a:t>
            </a:r>
            <a:r>
              <a:rPr lang="en-US" sz="1700" dirty="0">
                <a:solidFill>
                  <a:schemeClr val="tx1"/>
                </a:solidFill>
              </a:rPr>
              <a:t> (p. 87) avec l’article.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Dites l’heure qu’il est, puis répondez à </a:t>
            </a:r>
            <a:r>
              <a:rPr lang="en-US" sz="1600" i="1" dirty="0">
                <a:solidFill>
                  <a:schemeClr val="bg1"/>
                </a:solidFill>
              </a:rPr>
              <a:t>Hoe gaat het met je?</a:t>
            </a:r>
            <a:r>
              <a:rPr lang="en-US" sz="1600" dirty="0">
                <a:solidFill>
                  <a:schemeClr val="bg1"/>
                </a:solidFill>
              </a:rPr>
              <a:t> avec une </a:t>
            </a:r>
            <a:r>
              <a:rPr lang="en-US" sz="1600" b="1" dirty="0">
                <a:solidFill>
                  <a:schemeClr val="bg1"/>
                </a:solidFill>
              </a:rPr>
              <a:t>nuance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03 — Hoe gaat het?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2026-10-03T21:06:37Z</dcterms:created>
  <dcterms:modified xsi:type="dcterms:W3CDTF">2026-10-03T21:06:37Z</dcterms:modified>
</cp:coreProperties>
</file>