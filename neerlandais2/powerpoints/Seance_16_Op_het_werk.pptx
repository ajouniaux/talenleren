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7d696f07-27e5-b6b7-7d75-35b2c542a88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lôture" id="{6f884514-4d89-4d34-bb0e-01a9e8871ccd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16. Objectifs : utiliser les pronoms indéfinis sans double négation (fiche A2-05 Iemand · niets, p. 72), réviser le vocabulaire du travail et du téléphone en images (thèmes 07 et 08, p. 84–85), puis se présenter à ses nouveaux collègues en les tutoyant (fiche 7, p. 98). Image : le bandeau des mises en situation du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La fiche A2-05 est courte : on prend le temps du bonus oral (répondre « non » avec un mot en n-), très utile au travail. Le quiz en images réactive les thèmes 07 (séance 13) et 08 (séance 12) avant la fiche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15 : fiche A2-09 (comparatif), modaux, faux-amis 2/3 et fiche 6. Laisser 3 minutes, puis corriger carte par carte.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Accepter : A « Lucas is even oud als Julie » ; B « Wanneer kan u beginnen? » à l’oral ; D « Omdat ik ervaring heb, kan ik direct beginnen ». Vérifier : sneller DAN (pas als), infinitif à la fin, kan ik (inversion après la subordonnée).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A de la fiche A2-05 (six paires). Faire lire en chœur la colonne OUI puis la colonne NON. Vert = oui, rouge = non. « Ooit » : un jour (dans le passé ou le futur) ; en question, il se traduit souvent par « déjà » (Ben je ooit in Spanje geweest? = Es-tu déjà allé en Espagne 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B de la fiche (images : le cornet de frites, le gsm, la tasse de café, le garçon qui s’ennuie) et encadré « Pas de double négation ». Orthographe : l’adjectif garde sa forme de base + s (groot → iets groots, une seule o). Un adjectif qui finit déjà par -s ne change pas : iets vers (quelque chose de frais), iets grijs.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A2-05 (p. 72), titre néerlandais ajouté (« Complète » dans le livret). La phrase 4 réutilise le perfectum (ben … geweest, séance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5 : « iets groots » = quelque chose de grand. Faire produire les phrases contraires : Is er niemand thuis? · Er ligt iets op tafel. · Niemand is welkom. · Ik ben ooit in Spanje geweest (= un jour, déjà). · Ik vind mijn sleutel ergens.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des pronoms indéfinis avec le vocabulaire du travail (vergadering, baas, fabriek, oplader, afdeling). Insister sur l’intonation : la réponse négative doit être nette.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2 : niets se place comme un complément d’objet, avant le participe (Ik heb niets gehoord). Phrase 3 : er = là-bas (in de fabriek). Variante : faire répondre « oui » avec le mot positif (Ja, er is iemand. · Ja, ik heb iets gehoord.).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Réemploi des thèmes 07 Werk &amp; bedrijf et 08 Telefoon &amp; mail. Quiz : montrer les images numérotées ; les étudiants donnent le mot AVEC l’article, puis disent à quoi il sert (Met een nietmachine…). Mélange des thèmes 07 (p. 84) et 08 (p. 85).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mots en het : kantoor, bureau, toetsenbord, wachtwoord, scherm, contract. Rappel faux-ami (séance 14) : het kantoor = le lieu, het bureau = le meuble. Pour aller plus loin : demander le pluriel (kantoren, vergaderingen, schermen, contracten).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petit récit qui combine le vocabulaire des thèmes 07 et 08 et les pronoms indéfinis, pour préparer la fiche 7 (premier jour dans l’entreprise).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6 : « uitkomen » au sens propre (sortir) — er komt niets uit. Prolongement : chacun raconte son premier jour (au présent ou au perfectum : Ik heb de lift genomen…).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livret donne « team » sans article : het team. Ajouts pour les Jalons : de logistiek, de manager (Jalon 1, phrases 3 et 5) et de naam · namen (Jalon 2, phrase 5). En Belgique, le service se dit aussi « de dienst » (de personeelsdienst = le service du personnel). Coquille du livret : le sommaire de la section 4 (page d’ouverture) annonce en 07 « Au téléphone avec un client » : dans le livret, la fiche 7 est bien « Se présenter dans l’entreprise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2 : « op de afdeling » (préposition op). Phrase 4 : question négative sans mot interrogatif → le verbe ouvre la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Ben jij nieuw hier? » (on insiste sur la personne) ou « Ben je hier nieuw? » ; 2 « Bij welke afdeling werk je… » ou « In welke dienst werk je… » (Belgique) ; 3 « Wat doe je bij logistiek? » ; 4 « Werk je niet bij verkoop? » ; 5 « Wie is de baas / de chef? ». Refuser « Werkt je…? » et « Werk je op de verkoopafdeling niet?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2 : même structure que la fiche 2 (séance 14) : verantwoordelijk voor een team van … personen. Phrase 1 : la phrase française du livret est un peu étrange (« ma tâche principale est digitale ») ; on la traduit littéralement, en acceptant une version plus naturelle.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Ik werk op de afdeling marketing en mijn voornaamste taak is digitale marketing » ; 3 « We werken vaak samen aan projecten » ; 4 « …want we zijn een team » ; 5 « Omdat ik nieuw ben, ben ik de namen nog aan het leren » (très naturel) ou « …moet ik de namen nog leren ». Refuser « We samenwerken vaak », « Omdat ik ben nieuw » et « want we een team vormen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 2 : la particule « samen » se place en fin de phrase ; un complément avec préposition (aan de projecten) peut venir après elle, c’est l’ordre le plus naturel. À l’infinitif, la particule se recolle : We gaan samenwerken. Ligne 4 : avec un complément défini (de namen), l’adverbe nog vient après lui (comme « het boek al gelezen », séance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Scène à la koffieautomaat, pendant la pause. Pour conclure : « Leuk je te leren kennen! Tot straks! ». Chaque étudiant joue une fois le nouveau. Distribuer des rôles au hasard (afdeling : marketing, administratie, verkoop, logistiek ; taak ; team de … personen). Les groupes rapides refont la scène en vouvoyant le manager (meneer Janssens) : Op welke afdeling werkt 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avant la clôture : faire lire la colonne de gauche, la classe corrige à voix haute avant de regarder la colonne de droite.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oral, par exemple : « Ik werk op de afdeling administratie. Mijn voornaamste taak is de planning. Ik werk samen met Sarah en Pieter.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16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16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image" Target="../media/image-11-6.jpg"/><Relationship Id="rId7" Type="http://schemas.openxmlformats.org/officeDocument/2006/relationships/image" Target="../media/image-11-7.jpg"/><Relationship Id="rId8" Type="http://schemas.openxmlformats.org/officeDocument/2006/relationships/image" Target="../media/image-11-8.jpg"/><Relationship Id="rId9" Type="http://schemas.openxmlformats.org/officeDocument/2006/relationships/image" Target="../media/image-11-9.jpg"/><Relationship Id="rId10" Type="http://schemas.openxmlformats.org/officeDocument/2006/relationships/image" Target="../media/image-11-10.jpg"/><Relationship Id="rId11" Type="http://schemas.openxmlformats.org/officeDocument/2006/relationships/image" Target="../media/image-11-11.jpg"/><Relationship Id="rId12" Type="http://schemas.openxmlformats.org/officeDocument/2006/relationships/image" Target="../media/image-11-12.jpg"/><Relationship Id="rId13" Type="http://schemas.openxmlformats.org/officeDocument/2006/relationships/image" Target="../media/image-11-13.jpg"/><Relationship Id="rId14" Type="http://schemas.openxmlformats.org/officeDocument/2006/relationships/image" Target="../media/image-11-14.jpg"/><Relationship Id="rId15" Type="http://schemas.openxmlformats.org/officeDocument/2006/relationships/image" Target="../media/image-11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image" Target="../media/image-12-8.jpg"/><Relationship Id="rId9" Type="http://schemas.openxmlformats.org/officeDocument/2006/relationships/image" Target="../media/image-12-9.jpg"/><Relationship Id="rId10" Type="http://schemas.openxmlformats.org/officeDocument/2006/relationships/image" Target="../media/image-12-10.jpg"/><Relationship Id="rId11" Type="http://schemas.openxmlformats.org/officeDocument/2006/relationships/image" Target="../media/image-12-11.jpg"/><Relationship Id="rId12" Type="http://schemas.openxmlformats.org/officeDocument/2006/relationships/image" Target="../media/image-12-12.jpg"/><Relationship Id="rId13" Type="http://schemas.openxmlformats.org/officeDocument/2006/relationships/image" Target="../media/image-12-13.jpg"/><Relationship Id="rId14" Type="http://schemas.openxmlformats.org/officeDocument/2006/relationships/image" Target="../media/image-12-14.jpg"/><Relationship Id="rId15" Type="http://schemas.openxmlformats.org/officeDocument/2006/relationships/image" Target="../media/image-12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16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FICHE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Op het werk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Se présenter dans l’entreprise — iemand, niemand, iets, niets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4 · Mises en situation — Fiche 7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72 · 84–85 · 98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793860"/>
            <a:ext cx="5120640" cy="127028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72 · 84–85 · 98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Me </a:t>
            </a:r>
            <a:r>
              <a:rPr lang="en-US" sz="1700" b="1" dirty="0">
                <a:solidFill>
                  <a:schemeClr val="tx1"/>
                </a:solidFill>
              </a:rPr>
              <a:t>présenter</a:t>
            </a:r>
            <a:r>
              <a:rPr lang="en-US" sz="1700" dirty="0">
                <a:solidFill>
                  <a:schemeClr val="tx1"/>
                </a:solidFill>
              </a:rPr>
              <a:t> à mes nouveaux collègues : dire dans quel </a:t>
            </a:r>
            <a:r>
              <a:rPr lang="en-US" sz="1700" b="1" dirty="0">
                <a:solidFill>
                  <a:schemeClr val="tx1"/>
                </a:solidFill>
              </a:rPr>
              <a:t>service</a:t>
            </a:r>
            <a:r>
              <a:rPr lang="en-US" sz="1700" dirty="0">
                <a:solidFill>
                  <a:schemeClr val="tx1"/>
                </a:solidFill>
              </a:rPr>
              <a:t> je travaille, quelle est ma </a:t>
            </a:r>
            <a:r>
              <a:rPr lang="en-US" sz="1700" b="1" dirty="0">
                <a:solidFill>
                  <a:schemeClr val="tx1"/>
                </a:solidFill>
              </a:rPr>
              <a:t>tâche</a:t>
            </a:r>
            <a:r>
              <a:rPr lang="en-US" sz="1700" dirty="0">
                <a:solidFill>
                  <a:schemeClr val="tx1"/>
                </a:solidFill>
              </a:rPr>
              <a:t> et avec qui je travaille.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Ben je nieuw hier? · Op welke afdeling werk je? · Ik ben verantwoordelijk voor… · We werken vaak samen · iemand ↔ niemand · iets ↔ niets · iets lekkers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Utiliser les pronoms indéfinis sans double négation · réviser le vocabulaire du bureau et du téléphone · se présenter au travail (tutoiement)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la séance 15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3288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414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Iemand · niets (p. 72)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41448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9981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300837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Quiz : bureau &amp; téléphone (p. 84–85)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3008376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6674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753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Fiche 7 : vocabulaire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75304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23367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1422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Jalon 1 · Jalon 2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142232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800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Phrase-clé · jeu de rôle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709160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36752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7608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Bilan · erreurs fréquentes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76088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quatre défis de la séance 15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Chacun prend deux cartes et répond à voix haute. Correction collective ensuite.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A6FB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000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Comparez</a:t>
            </a:r>
            <a:r>
              <a:rPr lang="en-US" sz="2200" dirty="0">
                <a:solidFill>
                  <a:schemeClr val="tx1"/>
                </a:solidFill>
              </a:rPr>
              <a:t> : </a:t>
            </a:r>
            <a:r>
              <a:rPr lang="en-US" sz="2200" i="1" dirty="0">
                <a:solidFill>
                  <a:schemeClr val="tx1"/>
                </a:solidFill>
              </a:rPr>
              <a:t>de trein · de bus (snel)</a:t>
            </a:r>
            <a:r>
              <a:rPr lang="en-US" sz="2200" dirty="0">
                <a:solidFill>
                  <a:schemeClr val="tx1"/>
                </a:solidFill>
              </a:rPr>
              <a:t> — </a:t>
            </a:r>
            <a:r>
              <a:rPr lang="en-US" sz="2200" i="1" dirty="0">
                <a:solidFill>
                  <a:schemeClr val="tx1"/>
                </a:solidFill>
              </a:rPr>
              <a:t>Julie · Lucas : 29 jaar, tous les deux (oud)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08776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45936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D9700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10007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45936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351776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Modaux</a:t>
            </a:r>
            <a:r>
              <a:rPr lang="en-US" sz="2200" dirty="0">
                <a:solidFill>
                  <a:schemeClr val="tx1"/>
                </a:solidFill>
              </a:rPr>
              <a:t> : </a:t>
            </a:r>
            <a:r>
              <a:rPr lang="en-US" sz="2200" i="1" dirty="0">
                <a:solidFill>
                  <a:schemeClr val="tx1"/>
                </a:solidFill>
              </a:rPr>
              <a:t>Quand pouvez-vous commencer ?</a:t>
            </a:r>
            <a:r>
              <a:rPr lang="en-US" sz="2200" dirty="0">
                <a:solidFill>
                  <a:schemeClr val="tx1"/>
                </a:solidFill>
              </a:rPr>
              <a:t> · </a:t>
            </a:r>
            <a:r>
              <a:rPr lang="en-US" sz="2200" i="1" dirty="0">
                <a:solidFill>
                  <a:schemeClr val="tx1"/>
                </a:solidFill>
              </a:rPr>
              <a:t>J’aimerais apprendre le néerlandais.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548640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5800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E7D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41502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5800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Faux-amis</a:t>
            </a:r>
            <a:r>
              <a:rPr lang="en-US" sz="2200" dirty="0">
                <a:solidFill>
                  <a:schemeClr val="tx1"/>
                </a:solidFill>
              </a:rPr>
              <a:t> : l’embouteillage · la file d’attente · fatigué · l’entrepôt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6208776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345936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6E4A9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415028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345936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351776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Fiche 6</a:t>
            </a:r>
            <a:r>
              <a:rPr lang="en-US" sz="2200" dirty="0">
                <a:solidFill>
                  <a:schemeClr val="tx1"/>
                </a:solidFill>
              </a:rPr>
              <a:t> : </a:t>
            </a:r>
            <a:r>
              <a:rPr lang="en-US" sz="2200" i="1" dirty="0">
                <a:solidFill>
                  <a:schemeClr val="tx1"/>
                </a:solidFill>
              </a:rPr>
              <a:t>Comme j’ai de l’expérience, je peux commencer tout de suite.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quatre défis de la séance 15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Chacun prend deux cartes et répond à voix haute. Correction collective ensuite.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A6FB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0007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Comparez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de trein · de bus (snel)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Julie · Lucas : 29 jaar, tous les deux (oud)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i="1" dirty="0">
                <a:solidFill>
                  <a:schemeClr val="accent3"/>
                </a:solidFill>
              </a:rPr>
              <a:t>De trein is sneller dan de bus.</a:t>
            </a:r>
            <a:r>
              <a:rPr lang="en-US" sz="1800" dirty="0">
                <a:solidFill>
                  <a:schemeClr val="accent3"/>
                </a:solidFill>
              </a:rPr>
              <a:t> · </a:t>
            </a:r>
            <a:r>
              <a:rPr lang="en-US" sz="1800" i="1" dirty="0">
                <a:solidFill>
                  <a:schemeClr val="accent3"/>
                </a:solidFill>
              </a:rPr>
              <a:t>Julie is even oud als Lucas.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08776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45936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D9700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10007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45936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7351776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Modaux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Quand pouvez-vous commencer ?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J’aimerais apprendre le néerlandais.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i="1" dirty="0">
                <a:solidFill>
                  <a:schemeClr val="accent3"/>
                </a:solidFill>
              </a:rPr>
              <a:t>Wanneer kunt u beginnen?</a:t>
            </a:r>
            <a:r>
              <a:rPr lang="en-US" sz="1800" dirty="0">
                <a:solidFill>
                  <a:schemeClr val="accent3"/>
                </a:solidFill>
              </a:rPr>
              <a:t> · </a:t>
            </a:r>
            <a:r>
              <a:rPr lang="en-US" sz="1800" i="1" dirty="0">
                <a:solidFill>
                  <a:schemeClr val="accent3"/>
                </a:solidFill>
              </a:rPr>
              <a:t>Ik wil graag Nederlands leren.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E7D4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4150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691640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Faux-amis</a:t>
            </a:r>
            <a:r>
              <a:rPr lang="en-US" sz="1800" dirty="0">
                <a:solidFill>
                  <a:schemeClr val="tx1"/>
                </a:solidFill>
              </a:rPr>
              <a:t> : l’embouteillage · la file d’attente · fatigué · l’entrepôt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accent3"/>
                </a:solidFill>
              </a:rPr>
              <a:t> file ·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accent3"/>
                </a:solidFill>
              </a:rPr>
              <a:t> rij · moe ·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accent3"/>
                </a:solidFill>
              </a:rPr>
              <a:t> magazijn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6208776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45936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6E4A9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415028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345936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351776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Fiche 6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Comme j’ai de l’expérience, je peux commencer tout de suite.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i="1" dirty="0">
                <a:solidFill>
                  <a:schemeClr val="accent3"/>
                </a:solidFill>
              </a:rPr>
              <a:t>Aangezien ik ervaring heb, kan ik meteen beginnen.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Iemand · niets : oui ↔ non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Chaque mot a son </a:t>
            </a:r>
            <a:r>
              <a:rPr lang="en-US" sz="1600" b="1" i="1" dirty="0">
                <a:solidFill>
                  <a:schemeClr val="accent5"/>
                </a:solidFill>
              </a:rPr>
              <a:t>contraire en n-</a:t>
            </a:r>
            <a:r>
              <a:rPr lang="en-US" sz="1600" i="1" dirty="0">
                <a:solidFill>
                  <a:schemeClr val="accent5"/>
                </a:solidFill>
              </a:rPr>
              <a:t> : </a:t>
            </a:r>
            <a:r>
              <a:rPr lang="en-US" sz="1600" i="1" dirty="0">
                <a:solidFill>
                  <a:schemeClr val="accent5"/>
                </a:solidFill>
              </a:rPr>
              <a:t>iemand →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iemand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i="1" dirty="0">
                <a:solidFill>
                  <a:schemeClr val="accent5"/>
                </a:solidFill>
              </a:rPr>
              <a:t>ergens →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ergens</a:t>
            </a:r>
            <a:r>
              <a:rPr lang="en-US" sz="1600" i="1" dirty="0">
                <a:solidFill>
                  <a:schemeClr val="accent5"/>
                </a:solidFill>
              </a:rPr>
              <a:t>. Le </a:t>
            </a:r>
            <a:r>
              <a:rPr lang="en-US" sz="1600" b="1" i="1" dirty="0">
                <a:solidFill>
                  <a:schemeClr val="accent5"/>
                </a:solidFill>
              </a:rPr>
              <a:t>n-</a:t>
            </a:r>
            <a:r>
              <a:rPr lang="en-US" sz="1600" i="1" dirty="0">
                <a:solidFill>
                  <a:schemeClr val="accent5"/>
                </a:solidFill>
              </a:rPr>
              <a:t> dit « non ».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874520"/>
                <a:gridCol w="1600200"/>
                <a:gridCol w="1691640"/>
                <a:gridCol w="4325112"/>
              </a:tblGrid>
              <a:tr h="6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OUI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NON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0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iemand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quelqu’un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niemand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personne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Is er iemand? — Nee, niemand.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0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iets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quelque chose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niets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Wil je iets? — Nee, niets.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0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ergens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quelque part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nergens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nulle part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Mijn gsm ligt nergens!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0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ooit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un jour, déjà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nooit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jamais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Ben je ooit in Gent geweest?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0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alles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tout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niets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Ik heb alles gedaan.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0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iedereen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tout le monde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niemand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personne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Iedereen is welkom!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6928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iedereen, iemand, niemand</a:t>
            </a:r>
            <a:r>
              <a:rPr lang="en-US" sz="1500" i="1" dirty="0">
                <a:solidFill>
                  <a:schemeClr val="accent5"/>
                </a:solidFill>
              </a:rPr>
              <a:t> + verbe au </a:t>
            </a:r>
            <a:r>
              <a:rPr lang="en-US" sz="1500" b="1" i="1" dirty="0">
                <a:solidFill>
                  <a:schemeClr val="accent5"/>
                </a:solidFill>
              </a:rPr>
              <a:t>singulier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i="1" dirty="0">
                <a:solidFill>
                  <a:schemeClr val="accent5"/>
                </a:solidFill>
              </a:rPr>
              <a:t>Iedereen </a:t>
            </a:r>
            <a:r>
              <a:rPr lang="en-US" sz="1500" b="1" i="1" dirty="0">
                <a:solidFill>
                  <a:schemeClr val="accent5"/>
                </a:solidFill>
              </a:rPr>
              <a:t>is</a:t>
            </a:r>
            <a:r>
              <a:rPr lang="en-US" sz="1500" i="1" dirty="0">
                <a:solidFill>
                  <a:schemeClr val="accent5"/>
                </a:solidFill>
              </a:rPr>
              <a:t> welkom.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ooit</a:t>
            </a:r>
            <a:r>
              <a:rPr lang="en-US" sz="1500" i="1" dirty="0">
                <a:solidFill>
                  <a:schemeClr val="accent5"/>
                </a:solidFill>
              </a:rPr>
              <a:t> dans une question = « déjà » (</a:t>
            </a:r>
            <a:r>
              <a:rPr lang="en-US" sz="1500" i="1" dirty="0">
                <a:solidFill>
                  <a:schemeClr val="accent5"/>
                </a:solidFill>
              </a:rPr>
              <a:t>Ben je ooit…?</a:t>
            </a:r>
            <a:r>
              <a:rPr lang="en-US" sz="1500" i="1" dirty="0">
                <a:solidFill>
                  <a:schemeClr val="accent5"/>
                </a:solidFill>
              </a:rPr>
              <a:t> = Es-tu déjà… ?).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Iets + adjectif + -s · une seule négation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Après </a:t>
            </a:r>
            <a:r>
              <a:rPr lang="en-US" sz="1800" b="1" dirty="0">
                <a:solidFill>
                  <a:schemeClr val="tx1"/>
                </a:solidFill>
              </a:rPr>
              <a:t>iets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b="1" dirty="0">
                <a:solidFill>
                  <a:schemeClr val="tx1"/>
                </a:solidFill>
              </a:rPr>
              <a:t>niets</a:t>
            </a:r>
            <a:r>
              <a:rPr lang="en-US" sz="1800" dirty="0">
                <a:solidFill>
                  <a:schemeClr val="tx1"/>
                </a:solidFill>
              </a:rPr>
              <a:t> (et </a:t>
            </a:r>
            <a:r>
              <a:rPr lang="en-US" sz="1800" i="1" dirty="0">
                <a:solidFill>
                  <a:schemeClr val="tx1"/>
                </a:solidFill>
              </a:rPr>
              <a:t>veel, wat</a:t>
            </a:r>
            <a:r>
              <a:rPr lang="en-US" sz="1800" dirty="0">
                <a:solidFill>
                  <a:schemeClr val="tx1"/>
                </a:solidFill>
              </a:rPr>
              <a:t>), l’adjectif prend un </a:t>
            </a:r>
            <a:r>
              <a:rPr lang="en-US" sz="1800" b="1" dirty="0">
                <a:solidFill>
                  <a:schemeClr val="tx1"/>
                </a:solidFill>
              </a:rPr>
              <a:t>-s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quelque chose </a:t>
            </a:r>
            <a:r>
              <a:rPr lang="en-US" sz="1800" b="1" i="1" dirty="0">
                <a:solidFill>
                  <a:schemeClr val="tx1"/>
                </a:solidFill>
              </a:rPr>
              <a:t>de</a:t>
            </a:r>
            <a:r>
              <a:rPr lang="en-US" sz="1800" i="1" dirty="0">
                <a:solidFill>
                  <a:schemeClr val="tx1"/>
                </a:solidFill>
              </a:rPr>
              <a:t> bon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i="1" dirty="0">
                <a:solidFill>
                  <a:schemeClr val="tx1"/>
                </a:solidFill>
              </a:rPr>
              <a:t>iets lekker</a:t>
            </a:r>
            <a:r>
              <a:rPr lang="en-US" sz="1800" b="1" i="1" dirty="0">
                <a:solidFill>
                  <a:schemeClr val="tx1"/>
                </a:solidFill>
              </a:rPr>
              <a:t>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2567178" cy="3416808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267712"/>
            <a:ext cx="2567178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LEKKER + 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51176"/>
            <a:ext cx="2201418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iets lekkers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049905"/>
            <a:ext cx="2201418" cy="2204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quelque chose de bon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Ik wil iets lekkers!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390138" y="1947672"/>
            <a:ext cx="2567178" cy="3416808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90138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5" name="Shape 12"/>
          <p:cNvSpPr/>
          <p:nvPr/>
        </p:nvSpPr>
        <p:spPr>
          <a:xfrm>
            <a:off x="3390138" y="2267712"/>
            <a:ext cx="256717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73018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NIEUW + 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573018" y="2551176"/>
            <a:ext cx="2201418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iets nieuws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3573018" y="3049905"/>
            <a:ext cx="2201418" cy="2204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quelque chose de nouveau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Is er iets nieuws?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231636" y="1947672"/>
            <a:ext cx="2567178" cy="3416808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31636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21" name="Shape 18"/>
          <p:cNvSpPr/>
          <p:nvPr/>
        </p:nvSpPr>
        <p:spPr>
          <a:xfrm>
            <a:off x="6231636" y="2267712"/>
            <a:ext cx="2567178" cy="182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14516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WARM + 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14516" y="2551176"/>
            <a:ext cx="2201418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iets warms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6414516" y="3049905"/>
            <a:ext cx="2201418" cy="2204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quelque chose de chaud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Ik drink iets warms.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9073134" y="1947672"/>
            <a:ext cx="2567178" cy="3416808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073134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rgbClr val="6E4A9E"/>
          </a:solidFill>
          <a:ln/>
        </p:spPr>
      </p:sp>
      <p:sp>
        <p:nvSpPr>
          <p:cNvPr id="27" name="Shape 24"/>
          <p:cNvSpPr/>
          <p:nvPr/>
        </p:nvSpPr>
        <p:spPr>
          <a:xfrm>
            <a:off x="9073134" y="2267712"/>
            <a:ext cx="2567178" cy="182880"/>
          </a:xfrm>
          <a:prstGeom prst="rect">
            <a:avLst/>
          </a:prstGeom>
          <a:solidFill>
            <a:srgbClr val="6E4A9E"/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56014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BIJZONDER + 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256014" y="2551176"/>
            <a:ext cx="2201418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niets bijzonders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9256014" y="3049905"/>
            <a:ext cx="2201418" cy="2204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rien de spécial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Nee, niets bijzonders.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Je </a:t>
            </a:r>
            <a:r>
              <a:rPr lang="en-US" sz="1700" b="1" i="1" dirty="0">
                <a:solidFill>
                  <a:schemeClr val="tx1"/>
                </a:solidFill>
              </a:rPr>
              <a:t>ne</a:t>
            </a:r>
            <a:r>
              <a:rPr lang="en-US" sz="1700" i="1" dirty="0">
                <a:solidFill>
                  <a:schemeClr val="tx1"/>
                </a:solidFill>
              </a:rPr>
              <a:t> vois </a:t>
            </a:r>
            <a:r>
              <a:rPr lang="en-US" sz="1700" b="1" i="1" dirty="0">
                <a:solidFill>
                  <a:schemeClr val="tx1"/>
                </a:solidFill>
              </a:rPr>
              <a:t>personne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Ik zie </a:t>
            </a:r>
            <a:r>
              <a:rPr lang="en-US" sz="1700" b="1" i="1" dirty="0">
                <a:solidFill>
                  <a:schemeClr val="tx1"/>
                </a:solidFill>
              </a:rPr>
              <a:t>niemand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Ik zie niet niemand</a:t>
            </a:r>
            <a:r>
              <a:rPr lang="en-US" sz="1700" dirty="0">
                <a:solidFill>
                  <a:schemeClr val="tx1"/>
                </a:solidFill>
              </a:rPr>
              <a:t>) : </a:t>
            </a:r>
            <a:r>
              <a:rPr lang="en-US" sz="1700" b="1" dirty="0">
                <a:solidFill>
                  <a:schemeClr val="tx1"/>
                </a:solidFill>
              </a:rPr>
              <a:t>une seule</a:t>
            </a:r>
            <a:r>
              <a:rPr lang="en-US" sz="1700" dirty="0">
                <a:solidFill>
                  <a:schemeClr val="tx1"/>
                </a:solidFill>
              </a:rPr>
              <a:t> négation, le mot en </a:t>
            </a:r>
            <a:r>
              <a:rPr lang="en-US" sz="1700" b="1" dirty="0">
                <a:solidFill>
                  <a:schemeClr val="tx1"/>
                </a:solidFill>
              </a:rPr>
              <a:t>n-</a:t>
            </a:r>
            <a:r>
              <a:rPr lang="en-US" sz="1700" dirty="0">
                <a:solidFill>
                  <a:schemeClr val="tx1"/>
                </a:solidFill>
              </a:rPr>
              <a:t> suffit. Et pas de </a:t>
            </a:r>
            <a:r>
              <a:rPr lang="en-US" sz="1700" i="1" dirty="0">
                <a:solidFill>
                  <a:schemeClr val="tx1"/>
                </a:solidFill>
              </a:rPr>
              <a:t>van</a:t>
            </a:r>
            <a:r>
              <a:rPr lang="en-US" sz="1700" dirty="0">
                <a:solidFill>
                  <a:schemeClr val="tx1"/>
                </a:solidFill>
              </a:rPr>
              <a:t> : ✗ </a:t>
            </a:r>
            <a:r>
              <a:rPr lang="en-US" sz="1700" i="1" dirty="0">
                <a:solidFill>
                  <a:schemeClr val="tx1"/>
                </a:solidFill>
              </a:rPr>
              <a:t>iets van nieuw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vul aan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le mot qui correspond au français entre parenthèses.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Is er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thuis? </a:t>
            </a:r>
            <a:r>
              <a:rPr lang="en-US" sz="2400" i="1" dirty="0">
                <a:solidFill>
                  <a:schemeClr val="tx1"/>
                </a:solidFill>
              </a:rPr>
              <a:t>(quelqu’un)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Er ligt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op tafel. </a:t>
            </a:r>
            <a:r>
              <a:rPr lang="en-US" sz="2400" i="1" dirty="0">
                <a:solidFill>
                  <a:schemeClr val="tx1"/>
                </a:solidFill>
              </a:rPr>
              <a:t>(rien)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is welkom! </a:t>
            </a:r>
            <a:r>
              <a:rPr lang="en-US" sz="2400" i="1" dirty="0">
                <a:solidFill>
                  <a:schemeClr val="tx1"/>
                </a:solidFill>
              </a:rPr>
              <a:t>(tout le monde)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Ik ben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in Spanje geweest. </a:t>
            </a:r>
            <a:r>
              <a:rPr lang="en-US" sz="2400" i="1" dirty="0">
                <a:solidFill>
                  <a:schemeClr val="tx1"/>
                </a:solidFill>
              </a:rPr>
              <a:t>(jamais)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We zoeken iets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(groot)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Ik vind mijn sleutel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(nulle part)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MÉMO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n-</a:t>
            </a:r>
            <a:r>
              <a:rPr lang="en-US" sz="1800" dirty="0">
                <a:solidFill>
                  <a:schemeClr val="tx1"/>
                </a:solidFill>
              </a:rPr>
              <a:t> = non : </a:t>
            </a:r>
            <a:r>
              <a:rPr lang="en-US" sz="1800" i="1" dirty="0">
                <a:solidFill>
                  <a:schemeClr val="tx1"/>
                </a:solidFill>
              </a:rPr>
              <a:t>niemand, niets, nergens, nooit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iets</a:t>
            </a:r>
            <a:r>
              <a:rPr lang="en-US" sz="1800" dirty="0">
                <a:solidFill>
                  <a:schemeClr val="tx1"/>
                </a:solidFill>
              </a:rPr>
              <a:t> + adjectif + </a:t>
            </a:r>
            <a:r>
              <a:rPr lang="en-US" sz="1800" b="1" dirty="0">
                <a:solidFill>
                  <a:schemeClr val="tx1"/>
                </a:solidFill>
              </a:rPr>
              <a:t>-s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vul aan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le mot qui correspond au français entre parenthèses.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Is er </a:t>
            </a:r>
            <a:r>
              <a:rPr lang="en-US" sz="2400" b="1" dirty="0">
                <a:solidFill>
                  <a:schemeClr val="accent3"/>
                </a:solidFill>
              </a:rPr>
              <a:t>iemand</a:t>
            </a:r>
            <a:r>
              <a:rPr lang="en-US" sz="2400" dirty="0">
                <a:solidFill>
                  <a:schemeClr val="tx1"/>
                </a:solidFill>
              </a:rPr>
              <a:t> thuis? </a:t>
            </a:r>
            <a:r>
              <a:rPr lang="en-US" sz="2400" i="1" dirty="0">
                <a:solidFill>
                  <a:schemeClr val="tx1"/>
                </a:solidFill>
              </a:rPr>
              <a:t>(quelqu’un)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Er ligt </a:t>
            </a:r>
            <a:r>
              <a:rPr lang="en-US" sz="2400" b="1" dirty="0">
                <a:solidFill>
                  <a:schemeClr val="accent3"/>
                </a:solidFill>
              </a:rPr>
              <a:t>niets</a:t>
            </a:r>
            <a:r>
              <a:rPr lang="en-US" sz="2400" dirty="0">
                <a:solidFill>
                  <a:schemeClr val="tx1"/>
                </a:solidFill>
              </a:rPr>
              <a:t> op tafel. </a:t>
            </a:r>
            <a:r>
              <a:rPr lang="en-US" sz="2400" i="1" dirty="0">
                <a:solidFill>
                  <a:schemeClr val="tx1"/>
                </a:solidFill>
              </a:rPr>
              <a:t>(rien)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b="1" dirty="0">
                <a:solidFill>
                  <a:schemeClr val="accent3"/>
                </a:solidFill>
              </a:rPr>
              <a:t>Iedereen</a:t>
            </a:r>
            <a:r>
              <a:rPr lang="en-US" sz="2400" dirty="0">
                <a:solidFill>
                  <a:schemeClr val="tx1"/>
                </a:solidFill>
              </a:rPr>
              <a:t> is welkom! </a:t>
            </a:r>
            <a:r>
              <a:rPr lang="en-US" sz="2400" i="1" dirty="0">
                <a:solidFill>
                  <a:schemeClr val="tx1"/>
                </a:solidFill>
              </a:rPr>
              <a:t>(tout le monde)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Ik ben </a:t>
            </a:r>
            <a:r>
              <a:rPr lang="en-US" sz="2400" b="1" dirty="0">
                <a:solidFill>
                  <a:schemeClr val="accent3"/>
                </a:solidFill>
              </a:rPr>
              <a:t>nooit</a:t>
            </a:r>
            <a:r>
              <a:rPr lang="en-US" sz="2400" dirty="0">
                <a:solidFill>
                  <a:schemeClr val="tx1"/>
                </a:solidFill>
              </a:rPr>
              <a:t> in Spanje geweest. </a:t>
            </a:r>
            <a:r>
              <a:rPr lang="en-US" sz="2400" i="1" dirty="0">
                <a:solidFill>
                  <a:schemeClr val="tx1"/>
                </a:solidFill>
              </a:rPr>
              <a:t>(jamais)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We zoeken iets </a:t>
            </a:r>
            <a:r>
              <a:rPr lang="en-US" sz="2400" b="1" dirty="0">
                <a:solidFill>
                  <a:schemeClr val="accent3"/>
                </a:solidFill>
              </a:rPr>
              <a:t>groots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(groot)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Ik vind mijn sleutel </a:t>
            </a:r>
            <a:r>
              <a:rPr lang="en-US" sz="2400" b="1" dirty="0">
                <a:solidFill>
                  <a:schemeClr val="accent3"/>
                </a:solidFill>
              </a:rPr>
              <a:t>nergens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(nulle part)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4 : </a:t>
            </a:r>
            <a:r>
              <a:rPr lang="en-US" sz="1800" i="1" dirty="0">
                <a:solidFill>
                  <a:schemeClr val="tx1"/>
                </a:solidFill>
              </a:rPr>
              <a:t>nooit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remplace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niet</a:t>
            </a:r>
            <a:r>
              <a:rPr lang="en-US" sz="1800" dirty="0">
                <a:solidFill>
                  <a:schemeClr val="tx1"/>
                </a:solidFill>
              </a:rPr>
              <a:t> (✗ </a:t>
            </a:r>
            <a:r>
              <a:rPr lang="en-US" sz="1800" i="1" dirty="0">
                <a:solidFill>
                  <a:schemeClr val="tx1"/>
                </a:solidFill>
              </a:rPr>
              <a:t>niet nooit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5 : </a:t>
            </a:r>
            <a:r>
              <a:rPr lang="en-US" sz="1800" i="1" dirty="0">
                <a:solidFill>
                  <a:schemeClr val="tx1"/>
                </a:solidFill>
              </a:rPr>
              <a:t>groot → groot</a:t>
            </a:r>
            <a:r>
              <a:rPr lang="en-US" sz="1800" b="1" i="1" dirty="0">
                <a:solidFill>
                  <a:schemeClr val="tx1"/>
                </a:solidFill>
              </a:rPr>
              <a:t>s</a:t>
            </a:r>
            <a:r>
              <a:rPr lang="en-US" sz="1800" dirty="0">
                <a:solidFill>
                  <a:schemeClr val="tx1"/>
                </a:solidFill>
              </a:rPr>
              <a:t> (une seule o).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3 : </a:t>
            </a:r>
            <a:r>
              <a:rPr lang="en-US" sz="1800" i="1" dirty="0">
                <a:solidFill>
                  <a:schemeClr val="tx1"/>
                </a:solidFill>
              </a:rPr>
              <a:t>iedereen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b="1" dirty="0">
                <a:solidFill>
                  <a:schemeClr val="tx1"/>
                </a:solidFill>
              </a:rPr>
              <a:t>is</a:t>
            </a:r>
            <a:r>
              <a:rPr lang="en-US" sz="1800" dirty="0">
                <a:solidFill>
                  <a:schemeClr val="tx1"/>
                </a:solidFill>
              </a:rPr>
              <a:t> (singulier).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Au bureau : répondez « non » 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A pose la question, B répond </a:t>
            </a:r>
            <a:r>
              <a:rPr lang="en-US" sz="1600" b="1" i="1" dirty="0">
                <a:solidFill>
                  <a:schemeClr val="accent5"/>
                </a:solidFill>
              </a:rPr>
              <a:t>non</a:t>
            </a:r>
            <a:r>
              <a:rPr lang="en-US" sz="1600" i="1" dirty="0">
                <a:solidFill>
                  <a:schemeClr val="accent5"/>
                </a:solidFill>
              </a:rPr>
              <a:t> avec un mot en </a:t>
            </a:r>
            <a:r>
              <a:rPr lang="en-US" sz="1600" b="1" i="1" dirty="0">
                <a:solidFill>
                  <a:schemeClr val="accent5"/>
                </a:solidFill>
              </a:rPr>
              <a:t>n-</a:t>
            </a:r>
            <a:r>
              <a:rPr lang="en-US" sz="1600" i="1" dirty="0">
                <a:solidFill>
                  <a:schemeClr val="accent5"/>
                </a:solidFill>
              </a:rPr>
              <a:t> (ou </a:t>
            </a:r>
            <a:r>
              <a:rPr lang="en-US" sz="1600" i="1" dirty="0">
                <a:solidFill>
                  <a:schemeClr val="accent5"/>
                </a:solidFill>
              </a:rPr>
              <a:t>iets</a:t>
            </a:r>
            <a:r>
              <a:rPr lang="en-US" sz="1600" i="1" dirty="0">
                <a:solidFill>
                  <a:schemeClr val="accent5"/>
                </a:solidFill>
              </a:rPr>
              <a:t> + -s). Puis on inverse.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Is er iemand in de vergaderzaal? — Nee, er is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Heb je iets van de baas gehoord? — Nee, ik heb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gehoord.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Ben je ooit in de fabriek geweest? — Nee, ik ben er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geweest.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Ligt mijn oplader ergens? — Nee, ik zie hem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Ken je iedereen op de afdeling? — Nee, ik ken nog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Wil je iets drinken? — Ja, graag iets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!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Au bureau : répondez « non » 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A pose la question, B répond </a:t>
            </a:r>
            <a:r>
              <a:rPr lang="en-US" sz="1600" b="1" i="1" dirty="0">
                <a:solidFill>
                  <a:schemeClr val="accent5"/>
                </a:solidFill>
              </a:rPr>
              <a:t>non</a:t>
            </a:r>
            <a:r>
              <a:rPr lang="en-US" sz="1600" i="1" dirty="0">
                <a:solidFill>
                  <a:schemeClr val="accent5"/>
                </a:solidFill>
              </a:rPr>
              <a:t> avec un mot en </a:t>
            </a:r>
            <a:r>
              <a:rPr lang="en-US" sz="1600" b="1" i="1" dirty="0">
                <a:solidFill>
                  <a:schemeClr val="accent5"/>
                </a:solidFill>
              </a:rPr>
              <a:t>n-</a:t>
            </a:r>
            <a:r>
              <a:rPr lang="en-US" sz="1600" i="1" dirty="0">
                <a:solidFill>
                  <a:schemeClr val="accent5"/>
                </a:solidFill>
              </a:rPr>
              <a:t> (ou </a:t>
            </a:r>
            <a:r>
              <a:rPr lang="en-US" sz="1600" i="1" dirty="0">
                <a:solidFill>
                  <a:schemeClr val="accent5"/>
                </a:solidFill>
              </a:rPr>
              <a:t>iets</a:t>
            </a:r>
            <a:r>
              <a:rPr lang="en-US" sz="1600" i="1" dirty="0">
                <a:solidFill>
                  <a:schemeClr val="accent5"/>
                </a:solidFill>
              </a:rPr>
              <a:t> + -s). Puis on inverse.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Is er iemand in de vergaderzaal? — Nee, er is </a:t>
            </a:r>
            <a:r>
              <a:rPr lang="en-US" sz="2100" b="1" dirty="0">
                <a:solidFill>
                  <a:schemeClr val="accent3"/>
                </a:solidFill>
              </a:rPr>
              <a:t>niemand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Heb je iets van de baas gehoord? — Nee, ik heb </a:t>
            </a:r>
            <a:r>
              <a:rPr lang="en-US" sz="2100" b="1" dirty="0">
                <a:solidFill>
                  <a:schemeClr val="accent3"/>
                </a:solidFill>
              </a:rPr>
              <a:t>niets</a:t>
            </a:r>
            <a:r>
              <a:rPr lang="en-US" sz="2100" dirty="0">
                <a:solidFill>
                  <a:schemeClr val="tx1"/>
                </a:solidFill>
              </a:rPr>
              <a:t> gehoord.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Ben je ooit in de fabriek geweest? — Nee, ik ben er </a:t>
            </a:r>
            <a:r>
              <a:rPr lang="en-US" sz="2100" b="1" dirty="0">
                <a:solidFill>
                  <a:schemeClr val="accent3"/>
                </a:solidFill>
              </a:rPr>
              <a:t>nooit</a:t>
            </a:r>
            <a:r>
              <a:rPr lang="en-US" sz="2100" dirty="0">
                <a:solidFill>
                  <a:schemeClr val="tx1"/>
                </a:solidFill>
              </a:rPr>
              <a:t> geweest.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Ligt mijn oplader ergens? — Nee, ik zie hem </a:t>
            </a:r>
            <a:r>
              <a:rPr lang="en-US" sz="2100" b="1" dirty="0">
                <a:solidFill>
                  <a:schemeClr val="accent3"/>
                </a:solidFill>
              </a:rPr>
              <a:t>nergens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Ken je iedereen op de afdeling? — Nee, ik ken nog </a:t>
            </a:r>
            <a:r>
              <a:rPr lang="en-US" sz="2100" b="1" dirty="0">
                <a:solidFill>
                  <a:schemeClr val="accent3"/>
                </a:solidFill>
              </a:rPr>
              <a:t>niemand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Wil je iets drinken? — Ja, graag iets </a:t>
            </a:r>
            <a:r>
              <a:rPr lang="en-US" sz="2100" b="1" dirty="0">
                <a:solidFill>
                  <a:schemeClr val="accent3"/>
                </a:solidFill>
              </a:rPr>
              <a:t>warms</a:t>
            </a:r>
            <a:r>
              <a:rPr lang="en-US" sz="2100" dirty="0">
                <a:solidFill>
                  <a:schemeClr val="tx1"/>
                </a:solidFill>
              </a:rPr>
              <a:t>!</a:t>
            </a:r>
            <a:endParaRPr lang="en-US" sz="21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Une seule</a:t>
            </a:r>
            <a:r>
              <a:rPr lang="en-US" sz="1800" dirty="0">
                <a:solidFill>
                  <a:schemeClr val="tx1"/>
                </a:solidFill>
              </a:rPr>
              <a:t> négation : </a:t>
            </a:r>
            <a:r>
              <a:rPr lang="en-US" sz="1800" i="1" dirty="0">
                <a:solidFill>
                  <a:schemeClr val="tx1"/>
                </a:solidFill>
              </a:rPr>
              <a:t>Ik heb </a:t>
            </a:r>
            <a:r>
              <a:rPr lang="en-US" sz="1800" b="1" i="1" dirty="0">
                <a:solidFill>
                  <a:schemeClr val="tx1"/>
                </a:solidFill>
              </a:rPr>
              <a:t>niets</a:t>
            </a:r>
            <a:r>
              <a:rPr lang="en-US" sz="1800" i="1" dirty="0">
                <a:solidFill>
                  <a:schemeClr val="tx1"/>
                </a:solidFill>
              </a:rPr>
              <a:t> gehoord</a:t>
            </a:r>
            <a:r>
              <a:rPr lang="en-US" sz="1800" dirty="0">
                <a:solidFill>
                  <a:schemeClr val="tx1"/>
                </a:solidFill>
              </a:rPr>
              <a:t> (✗ </a:t>
            </a:r>
            <a:r>
              <a:rPr lang="en-US" sz="1800" i="1" dirty="0">
                <a:solidFill>
                  <a:schemeClr val="tx1"/>
                </a:solidFill>
              </a:rPr>
              <a:t>niet niets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hem</a:t>
            </a:r>
            <a:r>
              <a:rPr lang="en-US" sz="1800" dirty="0">
                <a:solidFill>
                  <a:schemeClr val="tx1"/>
                </a:solidFill>
              </a:rPr>
              <a:t> = la chose (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oplader), séance 13.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nog niemand</a:t>
            </a:r>
            <a:r>
              <a:rPr lang="en-US" sz="1800" dirty="0">
                <a:solidFill>
                  <a:schemeClr val="tx1"/>
                </a:solidFill>
              </a:rPr>
              <a:t> = encore personne.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Quiz : au bureau et au téléphone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84–85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" name="illustration" descr="le bureau (le lieu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16" y="1581912"/>
            <a:ext cx="993249" cy="7894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llustration" descr="le bureau (le meubl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236" y="1581912"/>
            <a:ext cx="1013344" cy="7894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7" name="illustration" descr="le clavi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528" y="1581912"/>
            <a:ext cx="953897" cy="7894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2" name="illustration" descr="l’impriman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837" y="1581912"/>
            <a:ext cx="948415" cy="7894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7" name="illustration" descr="la réun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811" y="1581912"/>
            <a:ext cx="967602" cy="78943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2" name="illustration" descr="la pièce join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320" y="3230880"/>
            <a:ext cx="950041" cy="78943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7" name="illustration" descr="le patr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701" y="3230880"/>
            <a:ext cx="948415" cy="78943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1" name="Shape 31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2" name="illustration" descr="le mot de pass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1932" y="3230880"/>
            <a:ext cx="1085088" cy="789432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3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6" name="Shape 35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7" name="illustration" descr="la machine à café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7466" y="3230880"/>
            <a:ext cx="951156" cy="789432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9" name="Text 37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1" name="Shape 39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2" name="illustration" descr="l’écra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3293" y="3230880"/>
            <a:ext cx="956638" cy="789432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4" name="Text 41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6" name="Shape 43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7" name="illustration" descr="l’ascenseu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5932" y="4879848"/>
            <a:ext cx="1062815" cy="789432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9" name="Text 45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0" name="Text 46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1" name="Shape 47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2" name="illustration" descr="le casque-micro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2249" y="4879848"/>
            <a:ext cx="947318" cy="789432"/>
          </a:xfrm>
          <a:prstGeom prst="rect">
            <a:avLst/>
          </a:prstGeom>
        </p:spPr>
      </p:pic>
      <p:sp>
        <p:nvSpPr>
          <p:cNvPr id="63" name="Shape 48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4" name="Text 49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5" name="Text 50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6" name="Shape 51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7" name="illustration" descr="l’agrafeus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1533" y="4879848"/>
            <a:ext cx="1065887" cy="789432"/>
          </a:xfrm>
          <a:prstGeom prst="rect">
            <a:avLst/>
          </a:prstGeom>
        </p:spPr>
      </p:pic>
      <p:sp>
        <p:nvSpPr>
          <p:cNvPr id="68" name="Shape 52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9" name="Text 53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0" name="Text 54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1" name="Shape 55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2" name="illustration" descr="le chargeu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78024" y="4879848"/>
            <a:ext cx="950041" cy="789432"/>
          </a:xfrm>
          <a:prstGeom prst="rect">
            <a:avLst/>
          </a:prstGeom>
        </p:spPr>
      </p:pic>
      <p:sp>
        <p:nvSpPr>
          <p:cNvPr id="73" name="Shape 56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4" name="Text 57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5" name="Text 58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6" name="Shape 59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7" name="illustration" descr="le contrat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37405" y="4879848"/>
            <a:ext cx="948415" cy="789432"/>
          </a:xfrm>
          <a:prstGeom prst="rect">
            <a:avLst/>
          </a:prstGeom>
        </p:spPr>
      </p:pic>
      <p:sp>
        <p:nvSpPr>
          <p:cNvPr id="78" name="Shape 60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0" name="Text 62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Quiz : au bureau et au téléphone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3957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84–85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8" name="illustration" descr="le bureau (le lieu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16" y="1581912"/>
            <a:ext cx="993249" cy="7894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kantoor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bureau (le lieu)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13" name="illustration" descr="le bureau (le meubl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236" y="1581912"/>
            <a:ext cx="1013344" cy="7894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bureau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bureau (le meuble)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18" name="illustration" descr="le clavi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528" y="1581912"/>
            <a:ext cx="953897" cy="7894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toetsenbord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clavier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3" name="illustration" descr="l’impriman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837" y="1581912"/>
            <a:ext cx="948415" cy="7894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printer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l’imprimante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8" name="illustration" descr="la réun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811" y="1581912"/>
            <a:ext cx="967602" cy="78943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vergadering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réunion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3" name="illustration" descr="la pièce join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320" y="3230880"/>
            <a:ext cx="950041" cy="78943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bijlage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pièce jointe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8" name="illustration" descr="le patr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701" y="3230880"/>
            <a:ext cx="948415" cy="78943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baas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patron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43" name="illustration" descr="le mot de pass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1932" y="3230880"/>
            <a:ext cx="1085088" cy="789432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wachtwoord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mot de passe</a:t>
            </a:r>
            <a:endParaRPr lang="en-US" sz="1600" dirty="0"/>
          </a:p>
        </p:txBody>
      </p:sp>
      <p:sp>
        <p:nvSpPr>
          <p:cNvPr id="47" name="Shape 36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48" name="illustration" descr="la machine à café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7466" y="3230880"/>
            <a:ext cx="951156" cy="789432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0" name="Text 38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koffieautomaat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machine à café</a:t>
            </a:r>
            <a:endParaRPr lang="en-US" sz="1600" dirty="0"/>
          </a:p>
        </p:txBody>
      </p:sp>
      <p:sp>
        <p:nvSpPr>
          <p:cNvPr id="52" name="Shape 40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53" name="illustration" descr="l’écra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3293" y="3230880"/>
            <a:ext cx="956638" cy="789432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5" name="Text 42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scherm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l’écran</a:t>
            </a:r>
            <a:endParaRPr lang="en-US" sz="1600" dirty="0"/>
          </a:p>
        </p:txBody>
      </p:sp>
      <p:sp>
        <p:nvSpPr>
          <p:cNvPr id="57" name="Shape 44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58" name="illustration" descr="l’ascenseu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5932" y="4879848"/>
            <a:ext cx="1062815" cy="789432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0" name="Text 46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1" name="Text 47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lift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l’ascenseur</a:t>
            </a:r>
            <a:endParaRPr lang="en-US" sz="1600" dirty="0"/>
          </a:p>
        </p:txBody>
      </p:sp>
      <p:sp>
        <p:nvSpPr>
          <p:cNvPr id="62" name="Shape 48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3" name="illustration" descr="le casque-micro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2249" y="4879848"/>
            <a:ext cx="947318" cy="789432"/>
          </a:xfrm>
          <a:prstGeom prst="rect">
            <a:avLst/>
          </a:prstGeom>
        </p:spPr>
      </p:pic>
      <p:sp>
        <p:nvSpPr>
          <p:cNvPr id="64" name="Shape 49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5" name="Text 50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6" name="Text 51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headset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casque-micro</a:t>
            </a:r>
            <a:endParaRPr lang="en-US" sz="1600" dirty="0"/>
          </a:p>
        </p:txBody>
      </p:sp>
      <p:sp>
        <p:nvSpPr>
          <p:cNvPr id="67" name="Shape 52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8" name="illustration" descr="l’agrafeus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1533" y="4879848"/>
            <a:ext cx="1065887" cy="789432"/>
          </a:xfrm>
          <a:prstGeom prst="rect">
            <a:avLst/>
          </a:prstGeom>
        </p:spPr>
      </p:pic>
      <p:sp>
        <p:nvSpPr>
          <p:cNvPr id="69" name="Shape 53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0" name="Text 54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1" name="Text 55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nietmachine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l’agrafeuse</a:t>
            </a:r>
            <a:endParaRPr lang="en-US" sz="1600" dirty="0"/>
          </a:p>
        </p:txBody>
      </p:sp>
      <p:sp>
        <p:nvSpPr>
          <p:cNvPr id="72" name="Shape 56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73" name="illustration" descr="le chargeu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78024" y="4879848"/>
            <a:ext cx="950041" cy="789432"/>
          </a:xfrm>
          <a:prstGeom prst="rect">
            <a:avLst/>
          </a:prstGeom>
        </p:spPr>
      </p:pic>
      <p:sp>
        <p:nvSpPr>
          <p:cNvPr id="74" name="Shape 57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5" name="Text 58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6" name="Text 59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oplader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chargeur</a:t>
            </a:r>
            <a:endParaRPr lang="en-US" sz="1600" dirty="0"/>
          </a:p>
        </p:txBody>
      </p:sp>
      <p:sp>
        <p:nvSpPr>
          <p:cNvPr id="77" name="Shape 60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78" name="illustration" descr="le contrat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37405" y="4879848"/>
            <a:ext cx="948415" cy="789432"/>
          </a:xfrm>
          <a:prstGeom prst="rect">
            <a:avLst/>
          </a:prstGeom>
        </p:spPr>
      </p:pic>
      <p:sp>
        <p:nvSpPr>
          <p:cNvPr id="79" name="Shape 61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0" name="Text 62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1" name="Text 63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contract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contrat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Mijn eerste dag op kantoor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un mot du </a:t>
            </a:r>
            <a:r>
              <a:rPr lang="en-US" sz="1600" b="1" i="1" dirty="0">
                <a:solidFill>
                  <a:schemeClr val="accent5"/>
                </a:solidFill>
              </a:rPr>
              <a:t>quiz</a:t>
            </a:r>
            <a:r>
              <a:rPr lang="en-US" sz="1600" i="1" dirty="0">
                <a:solidFill>
                  <a:schemeClr val="accent5"/>
                </a:solidFill>
              </a:rPr>
              <a:t> ou un pronom </a:t>
            </a:r>
            <a:r>
              <a:rPr lang="en-US" sz="1600" b="1" i="1" dirty="0">
                <a:solidFill>
                  <a:schemeClr val="accent5"/>
                </a:solidFill>
              </a:rPr>
              <a:t>iemand · niemand · niets · iedereen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Ik neem de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naar de derde verdieping.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Mijn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staat naast het raam.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Om tien uur is er een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r>
              <a:rPr lang="en-US" sz="2400" dirty="0">
                <a:solidFill>
                  <a:schemeClr val="tx1"/>
                </a:solidFill>
              </a:rPr>
              <a:t> met de baas.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Ik ken hier nog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Wat is het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r>
              <a:rPr lang="en-US" sz="2400" dirty="0">
                <a:solidFill>
                  <a:schemeClr val="tx1"/>
                </a:solidFill>
              </a:rPr>
              <a:t> van de wifi?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De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werkt niet: er komt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uit.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Bij de </a:t>
            </a:r>
            <a:r>
              <a:rPr lang="en-US" sz="2400" dirty="0">
                <a:solidFill>
                  <a:schemeClr val="accent5"/>
                </a:solidFill>
              </a:rPr>
              <a:t>……………………</a:t>
            </a:r>
            <a:r>
              <a:rPr lang="en-US" sz="2400" dirty="0">
                <a:solidFill>
                  <a:schemeClr val="tx1"/>
                </a:solidFill>
              </a:rPr>
              <a:t> praat ik met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Mijn eerste dag op kantoor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un mot du </a:t>
            </a:r>
            <a:r>
              <a:rPr lang="en-US" sz="1600" b="1" i="1" dirty="0">
                <a:solidFill>
                  <a:schemeClr val="accent5"/>
                </a:solidFill>
              </a:rPr>
              <a:t>quiz</a:t>
            </a:r>
            <a:r>
              <a:rPr lang="en-US" sz="1600" i="1" dirty="0">
                <a:solidFill>
                  <a:schemeClr val="accent5"/>
                </a:solidFill>
              </a:rPr>
              <a:t> ou un pronom </a:t>
            </a:r>
            <a:r>
              <a:rPr lang="en-US" sz="1600" b="1" i="1" dirty="0">
                <a:solidFill>
                  <a:schemeClr val="accent5"/>
                </a:solidFill>
              </a:rPr>
              <a:t>iemand · niemand · niets · iedereen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Ik neem de </a:t>
            </a:r>
            <a:r>
              <a:rPr lang="en-US" sz="2400" b="1" dirty="0">
                <a:solidFill>
                  <a:schemeClr val="accent3"/>
                </a:solidFill>
              </a:rPr>
              <a:t>lift</a:t>
            </a:r>
            <a:r>
              <a:rPr lang="en-US" sz="2400" dirty="0">
                <a:solidFill>
                  <a:schemeClr val="tx1"/>
                </a:solidFill>
              </a:rPr>
              <a:t> naar de derde verdieping.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Mijn </a:t>
            </a:r>
            <a:r>
              <a:rPr lang="en-US" sz="2400" b="1" dirty="0">
                <a:solidFill>
                  <a:schemeClr val="accent3"/>
                </a:solidFill>
              </a:rPr>
              <a:t>bureau</a:t>
            </a:r>
            <a:r>
              <a:rPr lang="en-US" sz="2400" dirty="0">
                <a:solidFill>
                  <a:schemeClr val="tx1"/>
                </a:solidFill>
              </a:rPr>
              <a:t> staat naast het raam.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Om tien uur is er een </a:t>
            </a:r>
            <a:r>
              <a:rPr lang="en-US" sz="2400" b="1" dirty="0">
                <a:solidFill>
                  <a:schemeClr val="accent3"/>
                </a:solidFill>
              </a:rPr>
              <a:t>vergadering</a:t>
            </a:r>
            <a:r>
              <a:rPr lang="en-US" sz="2400" dirty="0">
                <a:solidFill>
                  <a:schemeClr val="tx1"/>
                </a:solidFill>
              </a:rPr>
              <a:t> met de baas.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Ik ken hier nog </a:t>
            </a:r>
            <a:r>
              <a:rPr lang="en-US" sz="2400" b="1" dirty="0">
                <a:solidFill>
                  <a:schemeClr val="accent3"/>
                </a:solidFill>
              </a:rPr>
              <a:t>niemand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Wat is het </a:t>
            </a:r>
            <a:r>
              <a:rPr lang="en-US" sz="2400" b="1" dirty="0">
                <a:solidFill>
                  <a:schemeClr val="accent3"/>
                </a:solidFill>
              </a:rPr>
              <a:t>wachtwoord</a:t>
            </a:r>
            <a:r>
              <a:rPr lang="en-US" sz="2400" dirty="0">
                <a:solidFill>
                  <a:schemeClr val="tx1"/>
                </a:solidFill>
              </a:rPr>
              <a:t> van de wifi?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De </a:t>
            </a:r>
            <a:r>
              <a:rPr lang="en-US" sz="2400" b="1" dirty="0">
                <a:solidFill>
                  <a:schemeClr val="accent3"/>
                </a:solidFill>
              </a:rPr>
              <a:t>printer</a:t>
            </a:r>
            <a:r>
              <a:rPr lang="en-US" sz="2400" dirty="0">
                <a:solidFill>
                  <a:schemeClr val="tx1"/>
                </a:solidFill>
              </a:rPr>
              <a:t> werkt niet: er komt </a:t>
            </a:r>
            <a:r>
              <a:rPr lang="en-US" sz="2400" b="1" dirty="0">
                <a:solidFill>
                  <a:schemeClr val="accent3"/>
                </a:solidFill>
              </a:rPr>
              <a:t>niets</a:t>
            </a:r>
            <a:r>
              <a:rPr lang="en-US" sz="2400" dirty="0">
                <a:solidFill>
                  <a:schemeClr val="tx1"/>
                </a:solidFill>
              </a:rPr>
              <a:t> uit.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Bij de </a:t>
            </a:r>
            <a:r>
              <a:rPr lang="en-US" sz="2400" b="1" dirty="0">
                <a:solidFill>
                  <a:schemeClr val="accent3"/>
                </a:solidFill>
              </a:rPr>
              <a:t>koffieautomaat</a:t>
            </a:r>
            <a:r>
              <a:rPr lang="en-US" sz="2400" dirty="0">
                <a:solidFill>
                  <a:schemeClr val="tx1"/>
                </a:solidFill>
              </a:rPr>
              <a:t> praat ik met </a:t>
            </a:r>
            <a:r>
              <a:rPr lang="en-US" sz="2400" b="1" dirty="0">
                <a:solidFill>
                  <a:schemeClr val="accent3"/>
                </a:solidFill>
              </a:rPr>
              <a:t>iedereen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bureau (meuble) ≠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kantoor (lieu).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nog niemand</a:t>
            </a:r>
            <a:r>
              <a:rPr lang="en-US" sz="1800" dirty="0">
                <a:solidFill>
                  <a:schemeClr val="tx1"/>
                </a:solidFill>
              </a:rPr>
              <a:t> = encore personne.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er komt niets uit</a:t>
            </a:r>
            <a:r>
              <a:rPr lang="en-US" sz="1800" dirty="0">
                <a:solidFill>
                  <a:schemeClr val="tx1"/>
                </a:solidFill>
              </a:rPr>
              <a:t> : rien ne sort.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7 : Se présenter dans l’entreprise — vocabulaire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Nouveau vocabulaire du </a:t>
            </a:r>
            <a:r>
              <a:rPr lang="en-US" sz="1600" b="1" i="1" dirty="0">
                <a:solidFill>
                  <a:schemeClr val="accent5"/>
                </a:solidFill>
              </a:rPr>
              <a:t>Jalon 1</a:t>
            </a:r>
            <a:r>
              <a:rPr lang="en-US" sz="1600" i="1" dirty="0">
                <a:solidFill>
                  <a:schemeClr val="accent5"/>
                </a:solidFill>
              </a:rPr>
              <a:t> (questions) et du </a:t>
            </a:r>
            <a:r>
              <a:rPr lang="en-US" sz="1600" b="1" i="1" dirty="0">
                <a:solidFill>
                  <a:schemeClr val="accent5"/>
                </a:solidFill>
              </a:rPr>
              <a:t>Jalon 2</a:t>
            </a:r>
            <a:r>
              <a:rPr lang="en-US" sz="1600" i="1" dirty="0">
                <a:solidFill>
                  <a:schemeClr val="accent5"/>
                </a:solidFill>
              </a:rPr>
              <a:t> (réponses). Noms avec leur article.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743200"/>
                <a:gridCol w="2953512"/>
              </a:tblGrid>
              <a:tr h="513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JALON 1 · NL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JALON 2 · NL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nieuw · hier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nouveau · ici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mijn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·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voornaamste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mon, ma · principal(e)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afdeling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service, le département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taak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· taken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tâche · les tâches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werken · doen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travailler · faire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verantwoordelijk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voor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responsable de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marketing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marketing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team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l’équipe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administratie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l’administration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samen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·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samenwerken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ensemble · collaborer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verkoopafdeling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service des ventes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project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projet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logistiek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logistique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alleen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seul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manager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/ la manager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naam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· namen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nom · les noms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samenwerken</a:t>
            </a:r>
            <a:r>
              <a:rPr lang="en-US" sz="1500" i="1" dirty="0">
                <a:solidFill>
                  <a:schemeClr val="accent5"/>
                </a:solidFill>
              </a:rPr>
              <a:t> est </a:t>
            </a:r>
            <a:r>
              <a:rPr lang="en-US" sz="1500" b="1" i="1" dirty="0">
                <a:solidFill>
                  <a:schemeClr val="accent5"/>
                </a:solidFill>
              </a:rPr>
              <a:t>séparable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i="1" dirty="0">
                <a:solidFill>
                  <a:schemeClr val="accent5"/>
                </a:solidFill>
              </a:rPr>
              <a:t>We werken vaak </a:t>
            </a:r>
            <a:r>
              <a:rPr lang="en-US" sz="1500" b="1" i="1" dirty="0">
                <a:solidFill>
                  <a:schemeClr val="accent5"/>
                </a:solidFill>
              </a:rPr>
              <a:t>samen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b="1" i="1" dirty="0">
                <a:solidFill>
                  <a:schemeClr val="accent4"/>
                </a:solidFill>
              </a:rPr>
              <a:t>het</a:t>
            </a:r>
            <a:r>
              <a:rPr lang="en-US" sz="1500" i="1" dirty="0">
                <a:solidFill>
                  <a:schemeClr val="accent5"/>
                </a:solidFill>
              </a:rPr>
              <a:t> team = </a:t>
            </a:r>
            <a:r>
              <a:rPr lang="en-US" sz="1500" b="1" i="1" dirty="0">
                <a:solidFill>
                  <a:schemeClr val="accent2"/>
                </a:solidFill>
              </a:rPr>
              <a:t>de</a:t>
            </a:r>
            <a:r>
              <a:rPr lang="en-US" sz="1500" i="1" dirty="0">
                <a:solidFill>
                  <a:schemeClr val="accent5"/>
                </a:solidFill>
              </a:rPr>
              <a:t> ploeg (même sens, très belge).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7 · Jalon 1 (A1) : se présenter en questions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Entre collègues, on </a:t>
            </a:r>
            <a:r>
              <a:rPr lang="en-US" sz="1600" b="1" i="1" dirty="0">
                <a:solidFill>
                  <a:schemeClr val="accent5"/>
                </a:solidFill>
              </a:rPr>
              <a:t>tutoie</a:t>
            </a:r>
            <a:r>
              <a:rPr lang="en-US" sz="1600" i="1" dirty="0">
                <a:solidFill>
                  <a:schemeClr val="accent5"/>
                </a:solidFill>
              </a:rPr>
              <a:t> : </a:t>
            </a:r>
            <a:r>
              <a:rPr lang="en-US" sz="1600" i="1" dirty="0">
                <a:solidFill>
                  <a:schemeClr val="accent5"/>
                </a:solidFill>
              </a:rPr>
              <a:t>je / jij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572000"/>
                <a:gridCol w="514807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Es-tu nouveau ici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823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Dans quel service travailles-tu, marketing ou administration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 fais-tu à la logistique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Tu ne travailles pas aux ventes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Qui est le manager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werk </a:t>
            </a:r>
            <a:r>
              <a:rPr lang="en-US" sz="1500" b="1" i="1" dirty="0">
                <a:solidFill>
                  <a:schemeClr val="accent5"/>
                </a:solidFill>
              </a:rPr>
              <a:t>je</a:t>
            </a:r>
            <a:r>
              <a:rPr lang="en-US" sz="1500" i="1" dirty="0">
                <a:solidFill>
                  <a:schemeClr val="accent5"/>
                </a:solidFill>
              </a:rPr>
              <a:t>?</a:t>
            </a:r>
            <a:r>
              <a:rPr lang="en-US" sz="1500" i="1" dirty="0">
                <a:solidFill>
                  <a:schemeClr val="accent5"/>
                </a:solidFill>
              </a:rPr>
              <a:t> : pas de </a:t>
            </a:r>
            <a:r>
              <a:rPr lang="en-US" sz="1500" b="1" i="1" dirty="0">
                <a:solidFill>
                  <a:schemeClr val="accent5"/>
                </a:solidFill>
              </a:rPr>
              <a:t>-t</a:t>
            </a:r>
            <a:r>
              <a:rPr lang="en-US" sz="1500" i="1" dirty="0">
                <a:solidFill>
                  <a:schemeClr val="accent5"/>
                </a:solidFill>
              </a:rPr>
              <a:t> quand </a:t>
            </a:r>
            <a:r>
              <a:rPr lang="en-US" sz="1500" i="1" dirty="0">
                <a:solidFill>
                  <a:schemeClr val="accent5"/>
                </a:solidFill>
              </a:rPr>
              <a:t>je / jij</a:t>
            </a:r>
            <a:r>
              <a:rPr lang="en-US" sz="1500" i="1" dirty="0">
                <a:solidFill>
                  <a:schemeClr val="accent5"/>
                </a:solidFill>
              </a:rPr>
              <a:t> suit le verbe · </a:t>
            </a:r>
            <a:r>
              <a:rPr lang="en-US" sz="1500" i="1" dirty="0">
                <a:solidFill>
                  <a:schemeClr val="accent5"/>
                </a:solidFill>
              </a:rPr>
              <a:t>niet</a:t>
            </a:r>
            <a:r>
              <a:rPr lang="en-US" sz="1500" i="1" dirty="0">
                <a:solidFill>
                  <a:schemeClr val="accent5"/>
                </a:solidFill>
              </a:rPr>
              <a:t> </a:t>
            </a:r>
            <a:r>
              <a:rPr lang="en-US" sz="1500" b="1" i="1" dirty="0">
                <a:solidFill>
                  <a:schemeClr val="accent5"/>
                </a:solidFill>
              </a:rPr>
              <a:t>avant</a:t>
            </a:r>
            <a:r>
              <a:rPr lang="en-US" sz="1500" i="1" dirty="0">
                <a:solidFill>
                  <a:schemeClr val="accent5"/>
                </a:solidFill>
              </a:rPr>
              <a:t> le complément de lieu : </a:t>
            </a:r>
            <a:r>
              <a:rPr lang="en-US" sz="1500" i="1" dirty="0">
                <a:solidFill>
                  <a:schemeClr val="accent5"/>
                </a:solidFill>
              </a:rPr>
              <a:t>niet op de verkoopafdeling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7 · Jalon 1 (A1) : se présenter en questions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98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Entre collègues, on </a:t>
            </a:r>
            <a:r>
              <a:rPr lang="en-US" sz="1600" b="1" i="1" dirty="0">
                <a:solidFill>
                  <a:schemeClr val="accent5"/>
                </a:solidFill>
              </a:rPr>
              <a:t>tutoie</a:t>
            </a:r>
            <a:r>
              <a:rPr lang="en-US" sz="1600" i="1" dirty="0">
                <a:solidFill>
                  <a:schemeClr val="accent5"/>
                </a:solidFill>
              </a:rPr>
              <a:t> : </a:t>
            </a:r>
            <a:r>
              <a:rPr lang="en-US" sz="1600" i="1" dirty="0">
                <a:solidFill>
                  <a:schemeClr val="accent5"/>
                </a:solidFill>
              </a:rPr>
              <a:t>je / jij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572000"/>
                <a:gridCol w="514807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Es-tu nouveau ici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Ben je nieuw hier?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823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Dans quel service travailles-tu, marketing ou administration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Op welke afdeling werk je, marketing of administratie?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 fais-tu à la logistique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Wat doe je op de afdeling logistiek?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Tu ne travailles pas aux ventes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Werk je niet op de verkoopafdeling?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Qui est le manager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Wie is de manager?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werk </a:t>
            </a:r>
            <a:r>
              <a:rPr lang="en-US" sz="1500" b="1" i="1" dirty="0">
                <a:solidFill>
                  <a:schemeClr val="accent5"/>
                </a:solidFill>
              </a:rPr>
              <a:t>je</a:t>
            </a:r>
            <a:r>
              <a:rPr lang="en-US" sz="1500" i="1" dirty="0">
                <a:solidFill>
                  <a:schemeClr val="accent5"/>
                </a:solidFill>
              </a:rPr>
              <a:t>?</a:t>
            </a:r>
            <a:r>
              <a:rPr lang="en-US" sz="1500" i="1" dirty="0">
                <a:solidFill>
                  <a:schemeClr val="accent5"/>
                </a:solidFill>
              </a:rPr>
              <a:t> : pas de </a:t>
            </a:r>
            <a:r>
              <a:rPr lang="en-US" sz="1500" b="1" i="1" dirty="0">
                <a:solidFill>
                  <a:schemeClr val="accent5"/>
                </a:solidFill>
              </a:rPr>
              <a:t>-t</a:t>
            </a:r>
            <a:r>
              <a:rPr lang="en-US" sz="1500" i="1" dirty="0">
                <a:solidFill>
                  <a:schemeClr val="accent5"/>
                </a:solidFill>
              </a:rPr>
              <a:t> quand </a:t>
            </a:r>
            <a:r>
              <a:rPr lang="en-US" sz="1500" i="1" dirty="0">
                <a:solidFill>
                  <a:schemeClr val="accent5"/>
                </a:solidFill>
              </a:rPr>
              <a:t>je / jij</a:t>
            </a:r>
            <a:r>
              <a:rPr lang="en-US" sz="1500" i="1" dirty="0">
                <a:solidFill>
                  <a:schemeClr val="accent5"/>
                </a:solidFill>
              </a:rPr>
              <a:t> suit le verbe · </a:t>
            </a:r>
            <a:r>
              <a:rPr lang="en-US" sz="1500" i="1" dirty="0">
                <a:solidFill>
                  <a:schemeClr val="accent5"/>
                </a:solidFill>
              </a:rPr>
              <a:t>niet</a:t>
            </a:r>
            <a:r>
              <a:rPr lang="en-US" sz="1500" i="1" dirty="0">
                <a:solidFill>
                  <a:schemeClr val="accent5"/>
                </a:solidFill>
              </a:rPr>
              <a:t> </a:t>
            </a:r>
            <a:r>
              <a:rPr lang="en-US" sz="1500" b="1" i="1" dirty="0">
                <a:solidFill>
                  <a:schemeClr val="accent5"/>
                </a:solidFill>
              </a:rPr>
              <a:t>avant</a:t>
            </a:r>
            <a:r>
              <a:rPr lang="en-US" sz="1500" i="1" dirty="0">
                <a:solidFill>
                  <a:schemeClr val="accent5"/>
                </a:solidFill>
              </a:rPr>
              <a:t> le complément de lieu : </a:t>
            </a:r>
            <a:r>
              <a:rPr lang="en-US" sz="1500" i="1" dirty="0">
                <a:solidFill>
                  <a:schemeClr val="accent5"/>
                </a:solidFill>
              </a:rPr>
              <a:t>niet op de verkoopafdeling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7 · Jalon 2 (A2) : répondre avec précision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Attention à </a:t>
            </a:r>
            <a:r>
              <a:rPr lang="en-US" sz="1600" b="1" i="1" dirty="0">
                <a:solidFill>
                  <a:schemeClr val="accent5"/>
                </a:solidFill>
              </a:rPr>
              <a:t>samenwerken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want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b="1" i="1" dirty="0">
                <a:solidFill>
                  <a:schemeClr val="accent5"/>
                </a:solidFill>
              </a:rPr>
              <a:t>omdat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389120"/>
                <a:gridCol w="53309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travaille au marketing, et ma tâche principale est digitale.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suis responsable d’une équipe de quatre personnes.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Nous travaillons souvent ensemble sur les projets.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ne travaille pas seul, car nous formons une équipe.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Comme je suis nouveau, j’apprends encore les noms.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werken </a:t>
            </a:r>
            <a:r>
              <a:rPr lang="en-US" sz="1500" b="1" i="1" dirty="0">
                <a:solidFill>
                  <a:schemeClr val="accent5"/>
                </a:solidFill>
              </a:rPr>
              <a:t>aan</a:t>
            </a:r>
            <a:r>
              <a:rPr lang="en-US" sz="1500" i="1" dirty="0">
                <a:solidFill>
                  <a:schemeClr val="accent5"/>
                </a:solidFill>
              </a:rPr>
              <a:t> een project</a:t>
            </a:r>
            <a:r>
              <a:rPr lang="en-US" sz="1500" i="1" dirty="0">
                <a:solidFill>
                  <a:schemeClr val="accent5"/>
                </a:solidFill>
              </a:rPr>
              <a:t> (✗ </a:t>
            </a:r>
            <a:r>
              <a:rPr lang="en-US" sz="1500" i="1" dirty="0">
                <a:solidFill>
                  <a:schemeClr val="accent5"/>
                </a:solidFill>
              </a:rPr>
              <a:t>op</a:t>
            </a:r>
            <a:r>
              <a:rPr lang="en-US" sz="1500" i="1" dirty="0">
                <a:solidFill>
                  <a:schemeClr val="accent5"/>
                </a:solidFill>
              </a:rPr>
              <a:t>) · </a:t>
            </a:r>
            <a:r>
              <a:rPr lang="en-US" sz="1500" i="1" dirty="0">
                <a:solidFill>
                  <a:schemeClr val="accent5"/>
                </a:solidFill>
              </a:rPr>
              <a:t>want</a:t>
            </a:r>
            <a:r>
              <a:rPr lang="en-US" sz="1500" i="1" dirty="0">
                <a:solidFill>
                  <a:schemeClr val="accent5"/>
                </a:solidFill>
              </a:rPr>
              <a:t> + ordre </a:t>
            </a:r>
            <a:r>
              <a:rPr lang="en-US" sz="1500" b="1" i="1" dirty="0">
                <a:solidFill>
                  <a:schemeClr val="accent5"/>
                </a:solidFill>
              </a:rPr>
              <a:t>normal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omdat</a:t>
            </a:r>
            <a:r>
              <a:rPr lang="en-US" sz="1500" i="1" dirty="0">
                <a:solidFill>
                  <a:schemeClr val="accent5"/>
                </a:solidFill>
              </a:rPr>
              <a:t> : verbe </a:t>
            </a:r>
            <a:r>
              <a:rPr lang="en-US" sz="1500" b="1" i="1" dirty="0">
                <a:solidFill>
                  <a:schemeClr val="accent5"/>
                </a:solidFill>
              </a:rPr>
              <a:t>à la fin</a:t>
            </a:r>
            <a:r>
              <a:rPr lang="en-US" sz="1500" i="1" dirty="0">
                <a:solidFill>
                  <a:schemeClr val="accent5"/>
                </a:solidFill>
              </a:rPr>
              <a:t>, puis </a:t>
            </a:r>
            <a:r>
              <a:rPr lang="en-US" sz="1500" b="1" i="1" dirty="0">
                <a:solidFill>
                  <a:schemeClr val="accent5"/>
                </a:solidFill>
              </a:rPr>
              <a:t>leer ik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7 · Jalon 2 (A2) : répondre avec précision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98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Attention à </a:t>
            </a:r>
            <a:r>
              <a:rPr lang="en-US" sz="1600" b="1" i="1" dirty="0">
                <a:solidFill>
                  <a:schemeClr val="accent5"/>
                </a:solidFill>
              </a:rPr>
              <a:t>samenwerken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want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b="1" i="1" dirty="0">
                <a:solidFill>
                  <a:schemeClr val="accent5"/>
                </a:solidFill>
              </a:rPr>
              <a:t>omdat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389120"/>
                <a:gridCol w="53309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travaille au marketing, et ma tâche principale est digitale.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werk bij marketing en mijn voornaamste taak is digitaal.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suis responsable d’une équipe de quatre personnes.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ben verantwoordelijk voor een team van vier personen.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Nous travaillons souvent ensemble sur les projets.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We werken vaak samen aan de projecten.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ne travaille pas seul, car nous formons une équipe.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werk niet alleen, want we vormen een team.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Comme je suis nouveau, j’apprends encore les noms.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Omdat ik nieuw ben, leer ik de namen nog.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werken </a:t>
            </a:r>
            <a:r>
              <a:rPr lang="en-US" sz="1500" b="1" i="1" dirty="0">
                <a:solidFill>
                  <a:schemeClr val="accent5"/>
                </a:solidFill>
              </a:rPr>
              <a:t>aan</a:t>
            </a:r>
            <a:r>
              <a:rPr lang="en-US" sz="1500" i="1" dirty="0">
                <a:solidFill>
                  <a:schemeClr val="accent5"/>
                </a:solidFill>
              </a:rPr>
              <a:t> een project</a:t>
            </a:r>
            <a:r>
              <a:rPr lang="en-US" sz="1500" i="1" dirty="0">
                <a:solidFill>
                  <a:schemeClr val="accent5"/>
                </a:solidFill>
              </a:rPr>
              <a:t> (✗ </a:t>
            </a:r>
            <a:r>
              <a:rPr lang="en-US" sz="1500" i="1" dirty="0">
                <a:solidFill>
                  <a:schemeClr val="accent5"/>
                </a:solidFill>
              </a:rPr>
              <a:t>op</a:t>
            </a:r>
            <a:r>
              <a:rPr lang="en-US" sz="1500" i="1" dirty="0">
                <a:solidFill>
                  <a:schemeClr val="accent5"/>
                </a:solidFill>
              </a:rPr>
              <a:t>) · </a:t>
            </a:r>
            <a:r>
              <a:rPr lang="en-US" sz="1500" i="1" dirty="0">
                <a:solidFill>
                  <a:schemeClr val="accent5"/>
                </a:solidFill>
              </a:rPr>
              <a:t>want</a:t>
            </a:r>
            <a:r>
              <a:rPr lang="en-US" sz="1500" i="1" dirty="0">
                <a:solidFill>
                  <a:schemeClr val="accent5"/>
                </a:solidFill>
              </a:rPr>
              <a:t> + ordre </a:t>
            </a:r>
            <a:r>
              <a:rPr lang="en-US" sz="1500" b="1" i="1" dirty="0">
                <a:solidFill>
                  <a:schemeClr val="accent5"/>
                </a:solidFill>
              </a:rPr>
              <a:t>normal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omdat</a:t>
            </a:r>
            <a:r>
              <a:rPr lang="en-US" sz="1500" i="1" dirty="0">
                <a:solidFill>
                  <a:schemeClr val="accent5"/>
                </a:solidFill>
              </a:rPr>
              <a:t> : verbe </a:t>
            </a:r>
            <a:r>
              <a:rPr lang="en-US" sz="1500" b="1" i="1" dirty="0">
                <a:solidFill>
                  <a:schemeClr val="accent5"/>
                </a:solidFill>
              </a:rPr>
              <a:t>à la fin</a:t>
            </a:r>
            <a:r>
              <a:rPr lang="en-US" sz="1500" i="1" dirty="0">
                <a:solidFill>
                  <a:schemeClr val="accent5"/>
                </a:solidFill>
              </a:rPr>
              <a:t>, puis </a:t>
            </a:r>
            <a:r>
              <a:rPr lang="en-US" sz="1500" b="1" i="1" dirty="0">
                <a:solidFill>
                  <a:schemeClr val="accent5"/>
                </a:solidFill>
              </a:rPr>
              <a:t>leer ik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Phrase-clé : se présenter au travail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Questions de collègues, réponses précises : regardez la </a:t>
            </a:r>
            <a:r>
              <a:rPr lang="en-US" sz="1800" b="1" dirty="0">
                <a:solidFill>
                  <a:schemeClr val="tx1"/>
                </a:solidFill>
              </a:rPr>
              <a:t>place du verbe</a:t>
            </a:r>
            <a:r>
              <a:rPr lang="en-US" sz="1800" dirty="0">
                <a:solidFill>
                  <a:schemeClr val="tx1"/>
                </a:solidFill>
              </a:rPr>
              <a:t> et de la </a:t>
            </a:r>
            <a:r>
              <a:rPr lang="en-US" sz="1800" b="1" dirty="0">
                <a:solidFill>
                  <a:schemeClr val="tx1"/>
                </a:solidFill>
              </a:rPr>
              <a:t>particule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question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2125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mot W + nom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2125472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205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Op welke afdeling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338320" y="1947672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38320" y="2185416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74896" y="2185416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werk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199888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199888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36464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je?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Dans quel service travailles-tu ?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séparable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103120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103120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139696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2898648" y="2801874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898648" y="3039618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935224" y="3039618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werken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3971544" y="2801874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adverbe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971544" y="3039618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08120" y="3039618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vaak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833112" y="2801874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particule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33112" y="3039618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69688" y="3039618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samen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800344" y="2801874"/>
            <a:ext cx="2125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complément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00344" y="3039618"/>
            <a:ext cx="2125472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836920" y="3039618"/>
            <a:ext cx="205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aan de projecten.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Nous travaillons souvent ensemble sur les projets.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want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2103120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103120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139696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2898648" y="365607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898648" y="389382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935224" y="389382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werk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3760216" y="365607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négation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760216" y="389382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796792" y="389382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niet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4621784" y="3656076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621784" y="3893820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658360" y="3893820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alleen,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800344" y="365607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800344" y="3893820"/>
            <a:ext cx="75184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836920" y="389382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want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6661912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661912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698488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7457440" y="3656076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457440" y="3893820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494016" y="3893820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vormen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8530336" y="36560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8530336" y="3893820"/>
            <a:ext cx="128016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566912" y="38938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een team.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… car nous formons une équipe. → </a:t>
            </a:r>
            <a:r>
              <a:rPr lang="en-US" sz="1400" i="1" dirty="0">
                <a:solidFill>
                  <a:schemeClr val="accent5"/>
                </a:solidFill>
              </a:rPr>
              <a:t>want</a:t>
            </a:r>
            <a:r>
              <a:rPr lang="en-US" sz="1400" i="1" dirty="0">
                <a:solidFill>
                  <a:schemeClr val="accent5"/>
                </a:solidFill>
              </a:rPr>
              <a:t> : ordre normal</a:t>
            </a:r>
            <a:endParaRPr lang="en-US" sz="1400" dirty="0"/>
          </a:p>
        </p:txBody>
      </p:sp>
      <p:sp>
        <p:nvSpPr>
          <p:cNvPr id="61" name="Text 58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omdat</a:t>
            </a:r>
            <a:endParaRPr lang="en-US" sz="1400" dirty="0"/>
          </a:p>
        </p:txBody>
      </p:sp>
      <p:sp>
        <p:nvSpPr>
          <p:cNvPr id="62" name="Text 59"/>
          <p:cNvSpPr txBox="1"/>
          <p:nvPr/>
        </p:nvSpPr>
        <p:spPr>
          <a:xfrm>
            <a:off x="2103120" y="4510278"/>
            <a:ext cx="233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position 1 = la subordonnée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2103120" y="4748022"/>
            <a:ext cx="2336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2139696" y="4748022"/>
            <a:ext cx="2263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Omdat ik nieuw ben,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4549648" y="4510278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549648" y="4748022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586224" y="4748022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leer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5411216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5411216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447792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6206744" y="4510278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6206744" y="4748022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243320" y="4748022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 namen</a:t>
            </a:r>
            <a:endParaRPr lang="en-US" sz="1600" dirty="0"/>
          </a:p>
        </p:txBody>
      </p:sp>
      <p:sp>
        <p:nvSpPr>
          <p:cNvPr id="74" name="Text 71"/>
          <p:cNvSpPr txBox="1"/>
          <p:nvPr/>
        </p:nvSpPr>
        <p:spPr>
          <a:xfrm>
            <a:off x="7490968" y="4510278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encore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490968" y="4748022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7527544" y="4748022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nog.</a:t>
            </a:r>
            <a:endParaRPr lang="en-US" sz="1600" dirty="0"/>
          </a:p>
        </p:txBody>
      </p:sp>
      <p:sp>
        <p:nvSpPr>
          <p:cNvPr id="77" name="Text 74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Comme je suis nouveau, j’apprends encore les noms.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7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80" name="Text 76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Nous travaillons ensemble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We werken </a:t>
            </a:r>
            <a:r>
              <a:rPr lang="en-US" sz="1700" b="1" i="1" dirty="0">
                <a:solidFill>
                  <a:schemeClr val="tx1"/>
                </a:solidFill>
              </a:rPr>
              <a:t>samen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We samenwerken</a:t>
            </a:r>
            <a:r>
              <a:rPr lang="en-US" sz="1700" dirty="0">
                <a:solidFill>
                  <a:schemeClr val="tx1"/>
                </a:solidFill>
              </a:rPr>
              <a:t>) : la particule </a:t>
            </a:r>
            <a:r>
              <a:rPr lang="en-US" sz="1700" b="1" dirty="0">
                <a:solidFill>
                  <a:schemeClr val="tx1"/>
                </a:solidFill>
              </a:rPr>
              <a:t>se détache</a:t>
            </a:r>
            <a:r>
              <a:rPr lang="en-US" sz="1700" dirty="0">
                <a:solidFill>
                  <a:schemeClr val="tx1"/>
                </a:solidFill>
              </a:rPr>
              <a:t>. </a:t>
            </a:r>
            <a:r>
              <a:rPr lang="en-US" sz="1700" i="1" dirty="0">
                <a:solidFill>
                  <a:schemeClr val="tx1"/>
                </a:solidFill>
              </a:rPr>
              <a:t>Je suis nouveau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Ik ben nieuw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b="1" dirty="0">
                <a:solidFill>
                  <a:schemeClr val="tx1"/>
                </a:solidFill>
              </a:rPr>
              <a:t>sans article</a:t>
            </a:r>
            <a:r>
              <a:rPr lang="en-US" sz="1700" dirty="0">
                <a:solidFill>
                  <a:schemeClr val="tx1"/>
                </a:solidFill>
              </a:rPr>
              <a:t>, comme </a:t>
            </a:r>
            <a:r>
              <a:rPr lang="en-US" sz="1700" i="1" dirty="0">
                <a:solidFill>
                  <a:schemeClr val="tx1"/>
                </a:solidFill>
              </a:rPr>
              <a:t>Ik ben manager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Jeu de rôle : mon premier jour dans l’entreprise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Groupes de 3 · 10 min — A est </a:t>
            </a:r>
            <a:r>
              <a:rPr lang="en-US" sz="1800" b="1" dirty="0">
                <a:solidFill>
                  <a:schemeClr val="tx1"/>
                </a:solidFill>
              </a:rPr>
              <a:t>nouveau</a:t>
            </a:r>
            <a:r>
              <a:rPr lang="en-US" sz="1800" dirty="0">
                <a:solidFill>
                  <a:schemeClr val="tx1"/>
                </a:solidFill>
              </a:rPr>
              <a:t>, B et C sont ses collègues. On </a:t>
            </a:r>
            <a:r>
              <a:rPr lang="en-US" sz="1800" b="1" dirty="0">
                <a:solidFill>
                  <a:schemeClr val="tx1"/>
                </a:solidFill>
              </a:rPr>
              <a:t>tutoie</a:t>
            </a:r>
            <a:r>
              <a:rPr lang="en-US" sz="1800" dirty="0">
                <a:solidFill>
                  <a:schemeClr val="tx1"/>
                </a:solidFill>
              </a:rPr>
              <a:t>. Puis on tourne.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93392"/>
            <a:ext cx="2553462" cy="334365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96187" y="217627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9618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Se présenter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85032"/>
            <a:ext cx="227914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Hallo, ik ben …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nieuw hier.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Welkom!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678" y="239572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94710" y="1993392"/>
            <a:ext cx="2553462" cy="334365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42257" y="217627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34225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50443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Questionner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531870" y="3685032"/>
            <a:ext cx="227914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Op welke afdeling werk je?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Wie is de manager?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239572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40780" y="1993392"/>
            <a:ext cx="2553462" cy="334365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88327" y="217627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18832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35050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Préciser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377940" y="3685032"/>
            <a:ext cx="227914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Mijn voornaamste taak is …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We werken vaak samen.</a:t>
            </a:r>
            <a:endParaRPr lang="en-US" sz="1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818" y="2395728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086850" y="1993392"/>
            <a:ext cx="2553462" cy="334365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034397" y="2176272"/>
            <a:ext cx="658368" cy="658368"/>
          </a:xfrm>
          <a:prstGeom prst="ellipse">
            <a:avLst/>
          </a:prstGeom>
          <a:solidFill>
            <a:srgbClr val="6E4A9E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1003439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919657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4A9E"/>
                </a:solidFill>
              </a:rPr>
              <a:t>Iemand · niets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224010" y="3685032"/>
            <a:ext cx="227914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Ken je hier al iemand?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Nee, nog niemand!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Critères — </a:t>
            </a:r>
            <a:r>
              <a:rPr lang="en-US" sz="1700" dirty="0">
                <a:solidFill>
                  <a:schemeClr val="tx1"/>
                </a:solidFill>
              </a:rPr>
              <a:t>tutoiement · </a:t>
            </a:r>
            <a:r>
              <a:rPr lang="en-US" sz="1700" b="1" dirty="0">
                <a:solidFill>
                  <a:schemeClr val="tx1"/>
                </a:solidFill>
              </a:rPr>
              <a:t>2 questions</a:t>
            </a:r>
            <a:r>
              <a:rPr lang="en-US" sz="1700" dirty="0">
                <a:solidFill>
                  <a:schemeClr val="tx1"/>
                </a:solidFill>
              </a:rPr>
              <a:t> du Jalon 1 · </a:t>
            </a:r>
            <a:r>
              <a:rPr lang="en-US" sz="1700" b="1" dirty="0">
                <a:solidFill>
                  <a:schemeClr val="tx1"/>
                </a:solidFill>
              </a:rPr>
              <a:t>2 réponses</a:t>
            </a:r>
            <a:r>
              <a:rPr lang="en-US" sz="1700" dirty="0">
                <a:solidFill>
                  <a:schemeClr val="tx1"/>
                </a:solidFill>
              </a:rPr>
              <a:t> du Jalon 2 · </a:t>
            </a:r>
            <a:r>
              <a:rPr lang="en-US" sz="1700" b="1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mot en </a:t>
            </a:r>
            <a:r>
              <a:rPr lang="en-US" sz="1700" b="1" dirty="0">
                <a:solidFill>
                  <a:schemeClr val="tx1"/>
                </a:solidFill>
              </a:rPr>
              <a:t>n-</a:t>
            </a:r>
            <a:r>
              <a:rPr lang="en-US" sz="1700" dirty="0">
                <a:solidFill>
                  <a:schemeClr val="tx1"/>
                </a:solidFill>
              </a:rPr>
              <a:t> sans double négation · </a:t>
            </a:r>
            <a:r>
              <a:rPr lang="en-US" sz="1700" b="1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i="1" dirty="0">
                <a:solidFill>
                  <a:schemeClr val="tx1"/>
                </a:solidFill>
              </a:rPr>
              <a:t>iets</a:t>
            </a:r>
            <a:r>
              <a:rPr lang="en-US" sz="1700" dirty="0">
                <a:solidFill>
                  <a:schemeClr val="tx1"/>
                </a:solidFill>
              </a:rPr>
              <a:t> + adjectif + -s.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Erreurs fréquentes de la séance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PIÈGE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72 · 98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591065"/>
          </a:xfrm>
          <a:prstGeom prst="roundRect">
            <a:avLst>
              <a:gd name="adj" fmla="val 928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6713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508760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zie niet niemand.</a:t>
            </a:r>
            <a:endParaRPr lang="en-US" sz="2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6713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937760" y="1508760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zie niemand.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8458200" y="1508760"/>
            <a:ext cx="3090672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Une seule négation.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2209553"/>
            <a:ext cx="11091672" cy="591065"/>
          </a:xfrm>
          <a:prstGeom prst="roundRect">
            <a:avLst>
              <a:gd name="adj" fmla="val 928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67925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2209553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heb niet niets gedaan.</a:t>
            </a:r>
            <a:endParaRPr lang="en-US" sz="2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67925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937760" y="2209553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heb niets gedaan.</a:t>
            </a:r>
            <a:endParaRPr lang="en-US" sz="2000" dirty="0"/>
          </a:p>
        </p:txBody>
      </p:sp>
      <p:sp>
        <p:nvSpPr>
          <p:cNvPr id="17" name="Text 10"/>
          <p:cNvSpPr txBox="1"/>
          <p:nvPr/>
        </p:nvSpPr>
        <p:spPr>
          <a:xfrm>
            <a:off x="8458200" y="2209553"/>
            <a:ext cx="3090672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niets = « ne … rien ».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548640" y="2910345"/>
            <a:ext cx="11091672" cy="591065"/>
          </a:xfrm>
          <a:prstGeom prst="roundRect">
            <a:avLst>
              <a:gd name="adj" fmla="val 928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68717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51560" y="2910345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wil iets van nieuw.</a:t>
            </a:r>
            <a:endParaRPr lang="en-US" sz="2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068717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4937760" y="2910345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wil iets nieuws.</a:t>
            </a:r>
            <a:endParaRPr lang="en-US" sz="2000" dirty="0"/>
          </a:p>
        </p:txBody>
      </p:sp>
      <p:sp>
        <p:nvSpPr>
          <p:cNvPr id="23" name="Text 14"/>
          <p:cNvSpPr txBox="1"/>
          <p:nvPr/>
        </p:nvSpPr>
        <p:spPr>
          <a:xfrm>
            <a:off x="8458200" y="2910345"/>
            <a:ext cx="3090672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iets + adjectif + -s.</a:t>
            </a:r>
            <a:endParaRPr lang="en-US" sz="1800" dirty="0"/>
          </a:p>
        </p:txBody>
      </p:sp>
      <p:sp>
        <p:nvSpPr>
          <p:cNvPr id="24" name="Shape 15"/>
          <p:cNvSpPr/>
          <p:nvPr/>
        </p:nvSpPr>
        <p:spPr>
          <a:xfrm>
            <a:off x="548640" y="3611138"/>
            <a:ext cx="11091672" cy="934707"/>
          </a:xfrm>
          <a:prstGeom prst="roundRect">
            <a:avLst>
              <a:gd name="adj" fmla="val 5870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41331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51560" y="3611138"/>
            <a:ext cx="3291840" cy="93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We samenwerken vaak.</a:t>
            </a:r>
            <a:endParaRPr lang="en-US" sz="2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941331"/>
            <a:ext cx="274320" cy="27432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4937760" y="3611138"/>
            <a:ext cx="3291840" cy="93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 werken vaak samen.</a:t>
            </a:r>
            <a:endParaRPr lang="en-US" sz="2000" dirty="0"/>
          </a:p>
        </p:txBody>
      </p:sp>
      <p:sp>
        <p:nvSpPr>
          <p:cNvPr id="29" name="Text 18"/>
          <p:cNvSpPr txBox="1"/>
          <p:nvPr/>
        </p:nvSpPr>
        <p:spPr>
          <a:xfrm>
            <a:off x="8458200" y="3611138"/>
            <a:ext cx="3090672" cy="93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La particule va à la fin.</a:t>
            </a:r>
            <a:endParaRPr lang="en-US" sz="1800" dirty="0"/>
          </a:p>
        </p:txBody>
      </p:sp>
      <p:sp>
        <p:nvSpPr>
          <p:cNvPr id="30" name="Shape 19"/>
          <p:cNvSpPr/>
          <p:nvPr/>
        </p:nvSpPr>
        <p:spPr>
          <a:xfrm>
            <a:off x="548640" y="4655573"/>
            <a:ext cx="11091672" cy="591065"/>
          </a:xfrm>
          <a:prstGeom prst="roundRect">
            <a:avLst>
              <a:gd name="adj" fmla="val 928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813945"/>
            <a:ext cx="274320" cy="27432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1051560" y="4655573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Werkt je bij marketing?</a:t>
            </a:r>
            <a:endParaRPr lang="en-US" sz="20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813945"/>
            <a:ext cx="274320" cy="27432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4937760" y="4655573"/>
            <a:ext cx="3291840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Werk je bij marketing?</a:t>
            </a:r>
            <a:endParaRPr lang="en-US" sz="2000" dirty="0"/>
          </a:p>
        </p:txBody>
      </p:sp>
      <p:sp>
        <p:nvSpPr>
          <p:cNvPr id="35" name="Text 22"/>
          <p:cNvSpPr txBox="1"/>
          <p:nvPr/>
        </p:nvSpPr>
        <p:spPr>
          <a:xfrm>
            <a:off x="8458200" y="4655573"/>
            <a:ext cx="3090672" cy="591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Pas de -t devant je.</a:t>
            </a:r>
            <a:endParaRPr lang="en-US" sz="1800" dirty="0"/>
          </a:p>
        </p:txBody>
      </p:sp>
      <p:sp>
        <p:nvSpPr>
          <p:cNvPr id="36" name="Shape 23"/>
          <p:cNvSpPr/>
          <p:nvPr/>
        </p:nvSpPr>
        <p:spPr>
          <a:xfrm>
            <a:off x="548640" y="5356365"/>
            <a:ext cx="11091672" cy="934707"/>
          </a:xfrm>
          <a:prstGeom prst="roundRect">
            <a:avLst>
              <a:gd name="adj" fmla="val 5870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5686559"/>
            <a:ext cx="274320" cy="27432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1051560" y="5356365"/>
            <a:ext cx="3291840" cy="93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Omdat ik ben nieuw, ik leer…</a:t>
            </a:r>
            <a:endParaRPr lang="en-US" sz="20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5686559"/>
            <a:ext cx="274320" cy="274320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4937760" y="5356365"/>
            <a:ext cx="3291840" cy="93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Omdat ik nieuw ben, leer ik…</a:t>
            </a:r>
            <a:endParaRPr lang="en-US" sz="2000" dirty="0"/>
          </a:p>
        </p:txBody>
      </p:sp>
      <p:sp>
        <p:nvSpPr>
          <p:cNvPr id="41" name="Text 26"/>
          <p:cNvSpPr txBox="1"/>
          <p:nvPr/>
        </p:nvSpPr>
        <p:spPr>
          <a:xfrm>
            <a:off x="8458200" y="5356365"/>
            <a:ext cx="3090672" cy="93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Verbe à la fin, puis inversion.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17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Mijn examen.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Raconter son examen au passé avec un nouveau temps, l’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OVT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was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nerveus, de vragen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waren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moeilijk…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et le vocabulaire de la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santé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les </a:t>
            </a:r>
            <a:r>
              <a:rPr lang="en-US" sz="1700" b="1" dirty="0">
                <a:solidFill>
                  <a:schemeClr val="tx1"/>
                </a:solidFill>
              </a:rPr>
              <a:t>six paires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i="1" dirty="0">
                <a:solidFill>
                  <a:schemeClr val="tx1"/>
                </a:solidFill>
              </a:rPr>
              <a:t>iemand ↔ niemand…</a:t>
            </a:r>
            <a:r>
              <a:rPr lang="en-US" sz="1700" dirty="0">
                <a:solidFill>
                  <a:schemeClr val="tx1"/>
                </a:solidFill>
              </a:rPr>
              <a:t> (p. 72).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5 phrases</a:t>
            </a:r>
            <a:r>
              <a:rPr lang="en-US" sz="1700" dirty="0">
                <a:solidFill>
                  <a:schemeClr val="tx1"/>
                </a:solidFill>
              </a:rPr>
              <a:t> sur votre travail ou votre école avec </a:t>
            </a:r>
            <a:r>
              <a:rPr lang="en-US" sz="1700" i="1" dirty="0">
                <a:solidFill>
                  <a:schemeClr val="tx1"/>
                </a:solidFill>
              </a:rPr>
              <a:t>iemand, niemand, iets, niets, nooit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Revoir les mots </a:t>
            </a:r>
            <a:r>
              <a:rPr lang="en-US" sz="1700" b="1" dirty="0">
                <a:solidFill>
                  <a:schemeClr val="tx1"/>
                </a:solidFill>
              </a:rPr>
              <a:t>Werk &amp; bedrijf</a:t>
            </a:r>
            <a:r>
              <a:rPr lang="en-US" sz="1700" dirty="0">
                <a:solidFill>
                  <a:schemeClr val="tx1"/>
                </a:solidFill>
              </a:rPr>
              <a:t> et </a:t>
            </a:r>
            <a:r>
              <a:rPr lang="en-US" sz="1700" b="1" dirty="0">
                <a:solidFill>
                  <a:schemeClr val="tx1"/>
                </a:solidFill>
              </a:rPr>
              <a:t>Telefoon &amp; mail</a:t>
            </a:r>
            <a:r>
              <a:rPr lang="en-US" sz="1700" dirty="0">
                <a:solidFill>
                  <a:schemeClr val="tx1"/>
                </a:solidFill>
              </a:rPr>
              <a:t> (p. 84–85) avec de / het.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Recopier les </a:t>
            </a:r>
            <a:r>
              <a:rPr lang="en-US" sz="1700" b="1" dirty="0">
                <a:solidFill>
                  <a:schemeClr val="tx1"/>
                </a:solidFill>
              </a:rPr>
              <a:t>Jalons 1 et 2</a:t>
            </a:r>
            <a:r>
              <a:rPr lang="en-US" sz="1700" dirty="0">
                <a:solidFill>
                  <a:schemeClr val="tx1"/>
                </a:solidFill>
              </a:rPr>
              <a:t> de la fiche 7, corrigés (p. 98).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Présentez-vous à un « nouveau collègue » en </a:t>
            </a:r>
            <a:r>
              <a:rPr lang="en-US" sz="1600" b="1" dirty="0">
                <a:solidFill>
                  <a:schemeClr val="bg1"/>
                </a:solidFill>
              </a:rPr>
              <a:t>3 phrases</a:t>
            </a:r>
            <a:r>
              <a:rPr lang="en-US" sz="1600" dirty="0">
                <a:solidFill>
                  <a:schemeClr val="bg1"/>
                </a:solidFill>
              </a:rPr>
              <a:t> : votre service, votre tâche principale, avec qui vous travaillez.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16 — Op het werk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2026-10-03T21:06:39Z</dcterms:created>
  <dcterms:modified xsi:type="dcterms:W3CDTF">2026-10-03T21:06:39Z</dcterms:modified>
</cp:coreProperties>
</file>