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f16c7cb6-4954-40a1-6796-f81aa8ad4f5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ôture" id="{80342bfc-ebc7-8162-efc8-bdaf1f8bfecc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12. Objectifs : placer les adverbes de fréquence et de temps (fiche A2-07, p. 74), parler du futur avec gaan + infinitif (fiche A2-10, p. 77), apprendre le vocabulaire du téléphone et du mail (thème 08, p. 85), puis proposer, accepter ou refuser un rendez-vous (fiche 3, p. 94). Image de couverture : Pieter propose un café à Emma.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Les deux fiches de grammaire préparent directement la fiche 3 : on parle de son emploi du temps (altijd, nooit…) et de ses projets (Ik ga …). Si le temps manque, le bonus Telefoon &amp; mail se fait à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: A « Wanneer begint de cursus? · Hoeveel kost hij? · Welke boeken heb ik nodig? ». B de lessen · de boeken · de weken · de euro’s (mais 120 euro) · de kinderen. C een nieuw oefenboek · de snelle trein · goede boeken · het grote lokaal. D het journaal · een mondeling examen · moedig · het café. Corriger au tableau après 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présente l’échelle de 100 % (altijd) à 0 % (nooit) ; ici, de gauche à droite, de 0 à 100 %. Faire répéter, puis demander « Hoe vaak drink jij koffie? » à plusieurs étudiants : réponse en phrase complète (Ik drink vaak koffie). « Nooit » remplace « niet » : Ik drink nooit koffie (✗ niet nooit).Le livret présente l’échelle de 100 % (altijd) à 0 % (nooit) ; ici, de gauche à droite, de 0 à 100 %. Faire répéter, puis demander « Hoe vaak drink jij koffie? » à plusieurs étudiants : réponse en phrase complète (Ik drink vaak koffie). « Nooit » remplace « niet » : Ik drink nooit koffie (✗ niet nooit).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B de la fiche (al · nog · pas · nog niet) avec les images du livret : le train déjà parti, l’homme qui travaille encore (bâillement), le bébé d’un an, la soupe pas encore mangée. Nuance à donner : avec un complément défini (het boek, hem), l’adverbe se place plutôt après ce complément : « Ik heb het boek al gelezen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A2-07 (p. 74).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Simplification du livret : la règle « juste après le verbe conjugué » ne donne pas la bonne réponse pour la phrase 2. Avec un complément défini (het boek), l’adverbe se place après lui : « Wij hebben het boek al gelezen ». Ne pas accepter « Wij hebben al het boek gelezen » (= nous avons lu tout le livre). Phrases 1 et 4 : compléments indéfinis (thee, vlees) → adverbe juste après le verbe.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la partie B de la fiche (al · nog · pas · nog niet) n’a pas d’exercice dans le livret, et « pas » est un vrai piège pour les francophones.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6 : « pas maandag » = seulement lundi, pas avant (= ne … que lundi). Faire traduire chaque phrase en français pour vérifier.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du livret : le calendrier (Morgen werk ik thuis), la soupe (Ik ga nu koken), le téléphone (Ik zal je bellen). Encadré « Au quotidien » : pour le week-end, dire « Wat ga je doen? » ou « Wat doe je dit weekend? » ; « Wat zult u doen? » est trop formel. Attention : « Ik ga naar Gent » = je vais à Gand (déplacement, sans infinitif).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A2-10 (p. 77).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consigne du livret dit « gaan ou zullen ? », mais la phrase 4 demande le présent (« reizen · présent ») : c’est la 1re façon de parler du futur, la plus courante. « jij zal » et « jij zult » sont corrects tous les deux ; « jij zal » est plus fréquent en Belgique.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phrases 5 et 6 = verbes séparables (séances 1 et 11). Erreur fréquente : « Ik ga me vandaag in schrijven » ou « Ik ga schrijven me in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phrases 5 et 6 = verbes séparables (séances 1 et 11). Erreur fréquente : « Ik ga me vandaag in schrijven » ou « Ik ga schrijven me in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: montrer les images numérotées, les étudiants donnent le mot AVEC l’article (de ou het ?). Belgique : « de gsm » (portable) ; aux Pays-Bas « het mobieltje ». « Het berichtje » : les diminutifs en -je sont toujours 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Cadres bleus = de, magenta = het, gris = verbes. Cinq mots en het : berichtje, toetsenbord, scherm, wachtwoord, videogesprek (het gesprek). Prononciation : gsm [Gé-ès-èm], wifi [wi-fi].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du thème 08 en contexte professionnel (prépare les séances 13 à 16). Variante orale : un étudiant mime, la classe trouve le 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du thème 08 en contexte professionnel (prépare les séances 13 à 16). Variante orale : un étudiant mime, la classe trouve le mot.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Ajouts pour les Jalons : de ochtend, de middag, de avond, zeker (mots déjà vus en séance 1). En Belgique, on dit très souvent « de voormiddag » (le matin) et « de namiddag » (l’après-midi) : donderdagvoormiddag, vrijdagnamiddag. « afspreken » est séparable : We spreken maandag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2 : « échanger » est vague en français ; avec le vocabulaire de la fiche, on comprend « se voir pour en parler » → afspreken.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2 « …om 10 uur praten / overleggen? » ou « woensdag volgende week » ; 3 « Kan je je… » (très courant en Belgique) ou « donderdagmorgen / donderdagvoormiddag » ; 4 « Is vrijdagmiddag goed voor jou? » ou « Komt vrijdagmiddag je goed uit? » (Belgique : vrijdagnamiddag) ; 5 « Ben je ’s avonds beschikbaar? ». Phrase 3 : deux « je » — le sujet (je = tu) et le pronom réfléchi (je = 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3 : le moment en tête → inversion (Woensdagmiddag kan ik…). Phrase 4 : als → verbe à la fin (als het je past).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…maar ik heb veel liever de ochtend » ou « …maar ’s ochtends kom ik veel liever » ; 3 « Woensdagmiddag kan ik zeker » ; 4 « Donderdagavond kom ik graag, als het je past » ; 5 « Oké / Goed / Afgesproken, we zien elkaar… ». Refuser « we zien ons » (calque de « on se voit ») et « ik ben niet vrij vrijdag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lire chaque ligne, puis remplacer les jours et les heures. Remarquer : « niet » se place après le complément de temps (vrijdag) et devant l’adjectif (vrij).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d’agenda à dessiner au tableau : ma 9–17 u werken · di ’s avonds sport · do ’s ochtends dokter. Les groupes rapides refont l’activité en vouvoiement (B = meneer Janssens) : Wanneer bent u beschikbaar? Past het u…?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oral, par exemple : « Kunnen we donderdagavond om 7 uur afspreken? — Nee, donderdagavond ben ik niet vrij, want ik ga sporten.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12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12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image" Target="../media/image-15-7.jpg"/><Relationship Id="rId8" Type="http://schemas.openxmlformats.org/officeDocument/2006/relationships/image" Target="../media/image-15-8.jpg"/><Relationship Id="rId9" Type="http://schemas.openxmlformats.org/officeDocument/2006/relationships/image" Target="../media/image-15-9.jpg"/><Relationship Id="rId10" Type="http://schemas.openxmlformats.org/officeDocument/2006/relationships/image" Target="../media/image-15-10.jpg"/><Relationship Id="rId11" Type="http://schemas.openxmlformats.org/officeDocument/2006/relationships/image" Target="../media/image-15-11.jpg"/><Relationship Id="rId12" Type="http://schemas.openxmlformats.org/officeDocument/2006/relationships/image" Target="../media/image-15-12.jpg"/><Relationship Id="rId13" Type="http://schemas.openxmlformats.org/officeDocument/2006/relationships/image" Target="../media/image-15-13.jpg"/><Relationship Id="rId14" Type="http://schemas.openxmlformats.org/officeDocument/2006/relationships/image" Target="../media/image-15-14.jpg"/><Relationship Id="rId15" Type="http://schemas.openxmlformats.org/officeDocument/2006/relationships/image" Target="../media/image-15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image" Target="../media/image-16-6.jpg"/><Relationship Id="rId7" Type="http://schemas.openxmlformats.org/officeDocument/2006/relationships/image" Target="../media/image-16-7.jpg"/><Relationship Id="rId8" Type="http://schemas.openxmlformats.org/officeDocument/2006/relationships/image" Target="../media/image-16-8.jpg"/><Relationship Id="rId9" Type="http://schemas.openxmlformats.org/officeDocument/2006/relationships/image" Target="../media/image-16-9.jpg"/><Relationship Id="rId10" Type="http://schemas.openxmlformats.org/officeDocument/2006/relationships/image" Target="../media/image-16-10.jpg"/><Relationship Id="rId11" Type="http://schemas.openxmlformats.org/officeDocument/2006/relationships/image" Target="../media/image-16-11.jpg"/><Relationship Id="rId12" Type="http://schemas.openxmlformats.org/officeDocument/2006/relationships/image" Target="../media/image-16-12.jpg"/><Relationship Id="rId13" Type="http://schemas.openxmlformats.org/officeDocument/2006/relationships/image" Target="../media/image-16-13.jpg"/><Relationship Id="rId14" Type="http://schemas.openxmlformats.org/officeDocument/2006/relationships/image" Target="../media/image-16-14.jpg"/><Relationship Id="rId15" Type="http://schemas.openxmlformats.org/officeDocument/2006/relationships/image" Target="../media/image-16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12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FICHE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Wanneer ben je beschikbaar?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Parler de ses disponibilités — fréquence, futur proche, téléphone et mail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4 · Mises en situation — Fiche 3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74 · 77 · 85 · 94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2120"/>
            <a:ext cx="5120640" cy="34137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74 · 77 · 85 · 94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Demander et donner mes </a:t>
            </a:r>
            <a:r>
              <a:rPr lang="en-US" sz="1500" b="1" dirty="0">
                <a:solidFill>
                  <a:schemeClr val="tx1"/>
                </a:solidFill>
              </a:rPr>
              <a:t>disponibilités</a:t>
            </a:r>
            <a:r>
              <a:rPr lang="en-US" sz="1500" dirty="0">
                <a:solidFill>
                  <a:schemeClr val="tx1"/>
                </a:solidFill>
              </a:rPr>
              <a:t>, proposer un rendez-vous, dire </a:t>
            </a:r>
            <a:r>
              <a:rPr lang="en-US" sz="1500" b="1" dirty="0">
                <a:solidFill>
                  <a:schemeClr val="tx1"/>
                </a:solidFill>
              </a:rPr>
              <a:t>à quelle fréquence</a:t>
            </a:r>
            <a:r>
              <a:rPr lang="en-US" sz="1500" dirty="0">
                <a:solidFill>
                  <a:schemeClr val="tx1"/>
                </a:solidFill>
              </a:rPr>
              <a:t> je fais quelque chose et ce que je </a:t>
            </a:r>
            <a:r>
              <a:rPr lang="en-US" sz="1500" b="1" dirty="0">
                <a:solidFill>
                  <a:schemeClr val="tx1"/>
                </a:solidFill>
              </a:rPr>
              <a:t>vais</a:t>
            </a:r>
            <a:r>
              <a:rPr lang="en-US" sz="1500" dirty="0">
                <a:solidFill>
                  <a:schemeClr val="tx1"/>
                </a:solidFill>
              </a:rPr>
              <a:t> faire.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Wanneer ben je beschikbaar? · Past het je …? · Ik ga … doen · altijd · vaak · nooit · al · nog niet · we zien elkaar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Placer l’adverbe après le verbe · construire gaan + infinitif · vocabulaire du téléphone et du mail · fixer un rendez-vous (jeu de rôle)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défis de la séance 11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Altijd · nooit · al (p. 74)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Ik ga … doen (p. 77)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Telefoon &amp; mail (p. 85)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Fiche 3 : vocabulaire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Jalon 1 · Jalon 2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Phrase-clé · jeu de rôle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quatre défis de la séance 11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A lit un défi, B répond à voix haute, puis on change de carte. Correction collective ensuite.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A6FB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000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Fiche 4</a:t>
            </a:r>
            <a:r>
              <a:rPr lang="en-US" sz="2200" dirty="0">
                <a:solidFill>
                  <a:schemeClr val="tx1"/>
                </a:solidFill>
              </a:rPr>
              <a:t> — Posez deux questions sur un cours : </a:t>
            </a:r>
            <a:r>
              <a:rPr lang="en-US" sz="2200" i="1" dirty="0">
                <a:solidFill>
                  <a:schemeClr val="tx1"/>
                </a:solidFill>
              </a:rPr>
              <a:t>Wanneer…? · Hoeveel…? · Welke…?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08776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45936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D9700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000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45936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351776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Le pluriel</a:t>
            </a:r>
            <a:r>
              <a:rPr lang="en-US" sz="2200" dirty="0">
                <a:solidFill>
                  <a:schemeClr val="tx1"/>
                </a:solidFill>
              </a:rPr>
              <a:t> — </a:t>
            </a:r>
            <a:r>
              <a:rPr lang="en-US" sz="2200" i="1" dirty="0">
                <a:solidFill>
                  <a:schemeClr val="tx1"/>
                </a:solidFill>
              </a:rPr>
              <a:t>de les · het boek · de week · de euro · het kind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548640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5800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7D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1502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5800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-e ou pas ?</a:t>
            </a:r>
            <a:r>
              <a:rPr lang="en-US" sz="2200" dirty="0">
                <a:solidFill>
                  <a:schemeClr val="tx1"/>
                </a:solidFill>
              </a:rPr>
              <a:t> — </a:t>
            </a:r>
            <a:r>
              <a:rPr lang="en-US" sz="2200" i="1" dirty="0">
                <a:solidFill>
                  <a:schemeClr val="tx1"/>
                </a:solidFill>
              </a:rPr>
              <a:t>een (nieuw) oefenboek · de (snel) trein · (goed) boeken · het (groot) lokaal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6208776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345936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6E4A9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15028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345936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351776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Faux-amis</a:t>
            </a:r>
            <a:r>
              <a:rPr lang="en-US" sz="2200" dirty="0">
                <a:solidFill>
                  <a:schemeClr val="tx1"/>
                </a:solidFill>
              </a:rPr>
              <a:t> — En néerlandais : </a:t>
            </a:r>
            <a:r>
              <a:rPr lang="en-US" sz="2200" i="1" dirty="0">
                <a:solidFill>
                  <a:schemeClr val="tx1"/>
                </a:solidFill>
              </a:rPr>
              <a:t>le journal télévisé · un examen oral · courageux · le bistrot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Altijd · nooit · al — hoe vaak?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2487168"/>
            <a:ext cx="2103120" cy="292608"/>
          </a:xfrm>
          <a:prstGeom prst="rect">
            <a:avLst/>
          </a:prstGeom>
          <a:solidFill>
            <a:schemeClr val="accent6">
              <a:alpha val="6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926080" y="2487168"/>
            <a:ext cx="2103120" cy="292608"/>
          </a:xfrm>
          <a:prstGeom prst="rect">
            <a:avLst/>
          </a:prstGeom>
          <a:solidFill>
            <a:schemeClr val="accent1">
              <a:alpha val="6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0" y="2487168"/>
            <a:ext cx="2103120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0" y="2487168"/>
            <a:ext cx="2103120" cy="292608"/>
          </a:xfrm>
          <a:prstGeom prst="rect">
            <a:avLst/>
          </a:prstGeom>
          <a:solidFill>
            <a:schemeClr val="accent4">
              <a:alpha val="6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235440" y="2487168"/>
            <a:ext cx="2103120" cy="292608"/>
          </a:xfrm>
          <a:prstGeom prst="rect">
            <a:avLst/>
          </a:prstGeom>
          <a:solidFill>
            <a:schemeClr val="accent3">
              <a:alpha val="6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0 %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100 %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Hoe vaak? — à quelle fréquence ?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 rot="10800000">
            <a:off x="694944" y="2212848"/>
            <a:ext cx="256032" cy="219456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nooit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1696212" cy="3063240"/>
          </a:xfrm>
          <a:prstGeom prst="roundRect">
            <a:avLst>
              <a:gd name="adj" fmla="val 431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310128"/>
            <a:ext cx="14218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nooit</a:t>
            </a:r>
            <a:endParaRPr lang="en-US" sz="2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0 %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4114800"/>
            <a:ext cx="14218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Hij eet </a:t>
            </a:r>
            <a:r>
              <a:rPr lang="en-US" sz="1800" b="1" dirty="0">
                <a:solidFill>
                  <a:schemeClr val="tx1"/>
                </a:solidFill>
              </a:rPr>
              <a:t>nooit</a:t>
            </a:r>
            <a:r>
              <a:rPr lang="en-US" sz="1800" dirty="0">
                <a:solidFill>
                  <a:schemeClr val="tx1"/>
                </a:solidFill>
              </a:rPr>
              <a:t> vlees.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jamais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 rot="10800000">
            <a:off x="2798064" y="2212848"/>
            <a:ext cx="256032" cy="219456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19456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zelden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427732" y="3200400"/>
            <a:ext cx="1696212" cy="3063240"/>
          </a:xfrm>
          <a:prstGeom prst="roundRect">
            <a:avLst>
              <a:gd name="adj" fmla="val 431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564892" y="3310128"/>
            <a:ext cx="14218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zelden</a:t>
            </a:r>
            <a:endParaRPr lang="en-US" sz="2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20 %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2564892" y="4114800"/>
            <a:ext cx="14218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Pieter belt </a:t>
            </a:r>
            <a:r>
              <a:rPr lang="en-US" sz="1800" b="1" dirty="0">
                <a:solidFill>
                  <a:schemeClr val="tx1"/>
                </a:solidFill>
              </a:rPr>
              <a:t>zelden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rarement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 rot="10800000">
            <a:off x="4901184" y="2212848"/>
            <a:ext cx="256032" cy="219456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2976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soms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306824" y="3200400"/>
            <a:ext cx="1696212" cy="3063240"/>
          </a:xfrm>
          <a:prstGeom prst="roundRect">
            <a:avLst>
              <a:gd name="adj" fmla="val 431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43984" y="3310128"/>
            <a:ext cx="14218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soms</a:t>
            </a:r>
            <a:endParaRPr lang="en-US" sz="2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40 %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4443984" y="4114800"/>
            <a:ext cx="14218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Emma werkt </a:t>
            </a:r>
            <a:r>
              <a:rPr lang="en-US" sz="1800" b="1" dirty="0">
                <a:solidFill>
                  <a:schemeClr val="tx1"/>
                </a:solidFill>
              </a:rPr>
              <a:t>soms</a:t>
            </a:r>
            <a:r>
              <a:rPr lang="en-US" sz="1800" dirty="0">
                <a:solidFill>
                  <a:schemeClr val="tx1"/>
                </a:solidFill>
              </a:rPr>
              <a:t> thuis.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parfois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 rot="10800000">
            <a:off x="7004304" y="2212848"/>
            <a:ext cx="256032" cy="219456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vaak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200400"/>
            <a:ext cx="1696212" cy="3063240"/>
          </a:xfrm>
          <a:prstGeom prst="roundRect">
            <a:avLst>
              <a:gd name="adj" fmla="val 431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23076" y="3310128"/>
            <a:ext cx="14218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vaak</a:t>
            </a:r>
            <a:endParaRPr lang="en-US" sz="2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60 %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6323076" y="4114800"/>
            <a:ext cx="14218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Zij drinkt </a:t>
            </a:r>
            <a:r>
              <a:rPr lang="en-US" sz="1800" b="1" dirty="0">
                <a:solidFill>
                  <a:schemeClr val="tx1"/>
                </a:solidFill>
              </a:rPr>
              <a:t>vaak</a:t>
            </a:r>
            <a:r>
              <a:rPr lang="en-US" sz="1800" dirty="0">
                <a:solidFill>
                  <a:schemeClr val="tx1"/>
                </a:solidFill>
              </a:rPr>
              <a:t> thee.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souvent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 rot="10800000">
            <a:off x="9107424" y="2212848"/>
            <a:ext cx="256032" cy="219456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50392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meestal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065008" y="3200400"/>
            <a:ext cx="1696212" cy="3063240"/>
          </a:xfrm>
          <a:prstGeom prst="roundRect">
            <a:avLst>
              <a:gd name="adj" fmla="val 431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02168" y="3310128"/>
            <a:ext cx="14218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meestal</a:t>
            </a:r>
            <a:endParaRPr lang="en-US" sz="2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80 %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8202168" y="4114800"/>
            <a:ext cx="14218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Ik neem </a:t>
            </a:r>
            <a:r>
              <a:rPr lang="en-US" sz="1800" b="1" dirty="0">
                <a:solidFill>
                  <a:schemeClr val="tx1"/>
                </a:solidFill>
              </a:rPr>
              <a:t>meestal</a:t>
            </a:r>
            <a:r>
              <a:rPr lang="en-US" sz="1800" dirty="0">
                <a:solidFill>
                  <a:schemeClr val="tx1"/>
                </a:solidFill>
              </a:rPr>
              <a:t> de trein.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d’habitude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 rot="10800000">
            <a:off x="11210544" y="2212848"/>
            <a:ext cx="256032" cy="219456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060704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altijd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9944100" y="3200400"/>
            <a:ext cx="1696212" cy="3063240"/>
          </a:xfrm>
          <a:prstGeom prst="roundRect">
            <a:avLst>
              <a:gd name="adj" fmla="val 4313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081260" y="3310128"/>
            <a:ext cx="14218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altijd</a:t>
            </a:r>
            <a:endParaRPr lang="en-US" sz="2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100 %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10081260" y="4114800"/>
            <a:ext cx="14218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Ik drink </a:t>
            </a:r>
            <a:r>
              <a:rPr lang="en-US" sz="1800" b="1" dirty="0">
                <a:solidFill>
                  <a:schemeClr val="tx1"/>
                </a:solidFill>
              </a:rPr>
              <a:t>altijd</a:t>
            </a:r>
            <a:r>
              <a:rPr lang="en-US" sz="1800" dirty="0">
                <a:solidFill>
                  <a:schemeClr val="tx1"/>
                </a:solidFill>
              </a:rPr>
              <a:t> koffie.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toujours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Où placer l’adverbe ? al · nog · pas · nog niet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L’adverbe se place </a:t>
            </a:r>
            <a:r>
              <a:rPr lang="en-US" sz="1800" b="1" dirty="0">
                <a:solidFill>
                  <a:schemeClr val="tx1"/>
                </a:solidFill>
              </a:rPr>
              <a:t>juste après le verbe conjugué</a:t>
            </a:r>
            <a:r>
              <a:rPr lang="en-US" sz="1800" dirty="0">
                <a:solidFill>
                  <a:schemeClr val="tx1"/>
                </a:solidFill>
              </a:rPr>
              <a:t> — donc après le sujet s’il y a inversion.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altijd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1947672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185416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185416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drink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865880" y="194767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adverbe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65880" y="2185416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02456" y="2185416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altijd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938776" y="194767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38776" y="2185416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75352" y="2185416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koffie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bois </a:t>
            </a:r>
            <a:r>
              <a:rPr lang="en-US" sz="1400" b="1" i="1" dirty="0">
                <a:solidFill>
                  <a:schemeClr val="accent5"/>
                </a:solidFill>
              </a:rPr>
              <a:t>toujours</a:t>
            </a:r>
            <a:r>
              <a:rPr lang="en-US" sz="1400" i="1" dirty="0">
                <a:solidFill>
                  <a:schemeClr val="accent5"/>
                </a:solidFill>
              </a:rPr>
              <a:t> du café.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inversion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2801874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03120" y="3039618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39696" y="3039618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’s Morgens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598672" y="2801874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598672" y="3039618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35248" y="3039618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drink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565904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65904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02480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361432" y="2801874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adverbe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361432" y="3039618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398008" y="3039618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altijd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6434328" y="2801874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34328" y="3039618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70904" y="3039618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koffie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matin, je bois </a:t>
            </a:r>
            <a:r>
              <a:rPr lang="en-US" sz="1400" b="1" i="1" dirty="0">
                <a:solidFill>
                  <a:schemeClr val="accent5"/>
                </a:solidFill>
              </a:rPr>
              <a:t>toujours</a:t>
            </a:r>
            <a:r>
              <a:rPr lang="en-US" sz="1400" i="1" dirty="0">
                <a:solidFill>
                  <a:schemeClr val="accent5"/>
                </a:solidFill>
              </a:rPr>
              <a:t> du café. → adverbe </a:t>
            </a:r>
            <a:r>
              <a:rPr lang="en-US" sz="1400" b="1" i="1" dirty="0">
                <a:solidFill>
                  <a:schemeClr val="accent5"/>
                </a:solidFill>
              </a:rPr>
              <a:t>après</a:t>
            </a:r>
            <a:r>
              <a:rPr lang="en-US" sz="1400" i="1" dirty="0">
                <a:solidFill>
                  <a:schemeClr val="accent5"/>
                </a:solidFill>
              </a:rPr>
              <a:t> le sujet inversé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al = déjà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103120" y="3656076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103120" y="3893820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39696" y="3893820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trein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3387344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387344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423920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4182872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adverbe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182872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219448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978400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978400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014976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weg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train est </a:t>
            </a:r>
            <a:r>
              <a:rPr lang="en-US" sz="1400" b="1" i="1" dirty="0">
                <a:solidFill>
                  <a:schemeClr val="accent5"/>
                </a:solidFill>
              </a:rPr>
              <a:t>déjà</a:t>
            </a:r>
            <a:r>
              <a:rPr lang="en-US" sz="1400" i="1" dirty="0">
                <a:solidFill>
                  <a:schemeClr val="accent5"/>
                </a:solidFill>
              </a:rPr>
              <a:t> parti.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nog niet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2103120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103120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139696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2898648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898648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935224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3694176" y="4510278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pas encore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694176" y="4748022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730752" y="4748022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nog niet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978400" y="4510278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978400" y="4748022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014976" y="4748022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gegeten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n’ai </a:t>
            </a:r>
            <a:r>
              <a:rPr lang="en-US" sz="1400" b="1" i="1" dirty="0">
                <a:solidFill>
                  <a:schemeClr val="accent5"/>
                </a:solidFill>
              </a:rPr>
              <a:t>pas encore</a:t>
            </a:r>
            <a:r>
              <a:rPr lang="en-US" sz="1400" i="1" dirty="0">
                <a:solidFill>
                  <a:schemeClr val="accent5"/>
                </a:solidFill>
              </a:rPr>
              <a:t> mangé. → le participe reste </a:t>
            </a:r>
            <a:r>
              <a:rPr lang="en-US" sz="1400" b="1" i="1" dirty="0">
                <a:solidFill>
                  <a:schemeClr val="accent5"/>
                </a:solidFill>
              </a:rPr>
              <a:t>à la fin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6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68" name="Text 64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pas</a:t>
            </a:r>
            <a:r>
              <a:rPr lang="en-US" sz="1700" dirty="0">
                <a:solidFill>
                  <a:schemeClr val="tx1"/>
                </a:solidFill>
              </a:rPr>
              <a:t> n’est </a:t>
            </a:r>
            <a:r>
              <a:rPr lang="en-US" sz="1700" b="1" dirty="0">
                <a:solidFill>
                  <a:schemeClr val="tx1"/>
                </a:solidFill>
              </a:rPr>
              <a:t>pas</a:t>
            </a:r>
            <a:r>
              <a:rPr lang="en-US" sz="1700" dirty="0">
                <a:solidFill>
                  <a:schemeClr val="tx1"/>
                </a:solidFill>
              </a:rPr>
              <a:t> une négation : </a:t>
            </a:r>
            <a:r>
              <a:rPr lang="en-US" sz="1700" i="1" dirty="0">
                <a:solidFill>
                  <a:schemeClr val="tx1"/>
                </a:solidFill>
              </a:rPr>
              <a:t>Hij is </a:t>
            </a:r>
            <a:r>
              <a:rPr lang="en-US" sz="1700" b="1" i="1" dirty="0">
                <a:solidFill>
                  <a:schemeClr val="tx1"/>
                </a:solidFill>
              </a:rPr>
              <a:t>pas</a:t>
            </a:r>
            <a:r>
              <a:rPr lang="en-US" sz="1700" i="1" dirty="0">
                <a:solidFill>
                  <a:schemeClr val="tx1"/>
                </a:solidFill>
              </a:rPr>
              <a:t> één jaar</a:t>
            </a:r>
            <a:r>
              <a:rPr lang="en-US" sz="1700" dirty="0">
                <a:solidFill>
                  <a:schemeClr val="tx1"/>
                </a:solidFill>
              </a:rPr>
              <a:t> = il n’a </a:t>
            </a:r>
            <a:r>
              <a:rPr lang="en-US" sz="1700" b="1" dirty="0">
                <a:solidFill>
                  <a:schemeClr val="tx1"/>
                </a:solidFill>
              </a:rPr>
              <a:t>qu’</a:t>
            </a:r>
            <a:r>
              <a:rPr lang="en-US" sz="1700" dirty="0">
                <a:solidFill>
                  <a:schemeClr val="tx1"/>
                </a:solidFill>
              </a:rPr>
              <a:t>un an. </a:t>
            </a:r>
            <a:r>
              <a:rPr lang="en-US" sz="1700" i="1" dirty="0">
                <a:solidFill>
                  <a:schemeClr val="tx1"/>
                </a:solidFill>
              </a:rPr>
              <a:t>nog</a:t>
            </a:r>
            <a:r>
              <a:rPr lang="en-US" sz="1700" dirty="0">
                <a:solidFill>
                  <a:schemeClr val="tx1"/>
                </a:solidFill>
              </a:rPr>
              <a:t> = encore : </a:t>
            </a:r>
            <a:r>
              <a:rPr lang="en-US" sz="1700" i="1" dirty="0">
                <a:solidFill>
                  <a:schemeClr val="tx1"/>
                </a:solidFill>
              </a:rPr>
              <a:t>Ik werk </a:t>
            </a:r>
            <a:r>
              <a:rPr lang="en-US" sz="1700" b="1" i="1" dirty="0">
                <a:solidFill>
                  <a:schemeClr val="tx1"/>
                </a:solidFill>
              </a:rPr>
              <a:t>nog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r>
              <a:rPr lang="en-US" sz="1700" dirty="0">
                <a:solidFill>
                  <a:schemeClr val="tx1"/>
                </a:solidFill>
              </a:rPr>
              <a:t> Pour « uniquement » : </a:t>
            </a:r>
            <a:r>
              <a:rPr lang="en-US" sz="1700" i="1" dirty="0">
                <a:solidFill>
                  <a:schemeClr val="tx1"/>
                </a:solidFill>
              </a:rPr>
              <a:t>alleen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Ik wil </a:t>
            </a:r>
            <a:r>
              <a:rPr lang="en-US" sz="1700" b="1" i="1" dirty="0">
                <a:solidFill>
                  <a:schemeClr val="tx1"/>
                </a:solidFill>
              </a:rPr>
              <a:t>alleen</a:t>
            </a:r>
            <a:r>
              <a:rPr lang="en-US" sz="1700" i="1" dirty="0">
                <a:solidFill>
                  <a:schemeClr val="tx1"/>
                </a:solidFill>
              </a:rPr>
              <a:t> koffie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plaats het woord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Placez le mot entre parenthèses et réécrivez la phrase complète.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Zij drinkt thee. </a:t>
            </a:r>
            <a:r>
              <a:rPr lang="en-US" sz="2400" i="1" dirty="0">
                <a:solidFill>
                  <a:schemeClr val="tx1"/>
                </a:solidFill>
              </a:rPr>
              <a:t>(vaak)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Wij hebben het boek gelezen. </a:t>
            </a:r>
            <a:r>
              <a:rPr lang="en-US" sz="2400" i="1" dirty="0">
                <a:solidFill>
                  <a:schemeClr val="tx1"/>
                </a:solidFill>
              </a:rPr>
              <a:t>(al)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De trein is er. </a:t>
            </a:r>
            <a:r>
              <a:rPr lang="en-US" sz="2400" i="1" dirty="0">
                <a:solidFill>
                  <a:schemeClr val="tx1"/>
                </a:solidFill>
              </a:rPr>
              <a:t>(nog niet)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Hij eet vlees. </a:t>
            </a:r>
            <a:r>
              <a:rPr lang="en-US" sz="2400" i="1" dirty="0">
                <a:solidFill>
                  <a:schemeClr val="tx1"/>
                </a:solidFill>
              </a:rPr>
              <a:t>(nooit)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LA RÈGLE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Adverbe </a:t>
            </a:r>
            <a:r>
              <a:rPr lang="en-US" sz="1800" b="1" dirty="0">
                <a:solidFill>
                  <a:schemeClr val="tx1"/>
                </a:solidFill>
              </a:rPr>
              <a:t>juste après le verbe conjugué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drink </a:t>
            </a:r>
            <a:r>
              <a:rPr lang="en-US" sz="1800" b="1" i="1" dirty="0">
                <a:solidFill>
                  <a:schemeClr val="tx1"/>
                </a:solidFill>
              </a:rPr>
              <a:t>altijd</a:t>
            </a:r>
            <a:r>
              <a:rPr lang="en-US" sz="1800" i="1" dirty="0">
                <a:solidFill>
                  <a:schemeClr val="tx1"/>
                </a:solidFill>
              </a:rPr>
              <a:t> koffie.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Participe passé :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b="1" i="1" dirty="0">
                <a:solidFill>
                  <a:schemeClr val="tx1"/>
                </a:solidFill>
              </a:rPr>
              <a:t>nog niet</a:t>
            </a:r>
            <a:r>
              <a:rPr lang="en-US" sz="1800" i="1" dirty="0">
                <a:solidFill>
                  <a:schemeClr val="tx1"/>
                </a:solidFill>
              </a:rPr>
              <a:t> gegeten.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plaats het woord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Placez le mot entre parenthèses et réécrivez la phrase complète.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Zij drinkt thee. </a:t>
            </a:r>
            <a:r>
              <a:rPr lang="en-US" sz="2400" i="1" dirty="0">
                <a:solidFill>
                  <a:schemeClr val="tx1"/>
                </a:solidFill>
              </a:rPr>
              <a:t>(vaak)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Zij drinkt vaak thee.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Wij hebben het boek gelezen. </a:t>
            </a:r>
            <a:r>
              <a:rPr lang="en-US" sz="2400" i="1" dirty="0">
                <a:solidFill>
                  <a:schemeClr val="tx1"/>
                </a:solidFill>
              </a:rPr>
              <a:t>(al)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Wij hebben het boek al gelezen.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De trein is er. </a:t>
            </a:r>
            <a:r>
              <a:rPr lang="en-US" sz="2400" i="1" dirty="0">
                <a:solidFill>
                  <a:schemeClr val="tx1"/>
                </a:solidFill>
              </a:rPr>
              <a:t>(nog niet)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De trein is er nog niet.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Hij eet vlees. </a:t>
            </a:r>
            <a:r>
              <a:rPr lang="en-US" sz="2400" i="1" dirty="0">
                <a:solidFill>
                  <a:schemeClr val="tx1"/>
                </a:solidFill>
              </a:rPr>
              <a:t>(nooit)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Hij eet nooit vlees.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 2 : complément </a:t>
            </a:r>
            <a:r>
              <a:rPr lang="en-US" sz="1800" b="1" dirty="0">
                <a:solidFill>
                  <a:schemeClr val="tx1"/>
                </a:solidFill>
              </a:rPr>
              <a:t>défini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het boek</a:t>
            </a:r>
            <a:r>
              <a:rPr lang="en-US" sz="1800" dirty="0">
                <a:solidFill>
                  <a:schemeClr val="tx1"/>
                </a:solidFill>
              </a:rPr>
              <a:t>) → l’adverbe vient </a:t>
            </a:r>
            <a:r>
              <a:rPr lang="en-US" sz="1800" b="1" dirty="0">
                <a:solidFill>
                  <a:schemeClr val="tx1"/>
                </a:solidFill>
              </a:rPr>
              <a:t>après</a:t>
            </a:r>
            <a:r>
              <a:rPr lang="en-US" sz="1800" dirty="0">
                <a:solidFill>
                  <a:schemeClr val="tx1"/>
                </a:solidFill>
              </a:rPr>
              <a:t> lui.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al het boek</a:t>
            </a:r>
            <a:r>
              <a:rPr lang="en-US" sz="1800" dirty="0">
                <a:solidFill>
                  <a:schemeClr val="tx1"/>
                </a:solidFill>
              </a:rPr>
              <a:t> signifierait « tout le livre » 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 3 : après </a:t>
            </a:r>
            <a:r>
              <a:rPr lang="en-US" sz="1800" i="1" dirty="0">
                <a:solidFill>
                  <a:schemeClr val="tx1"/>
                </a:solidFill>
              </a:rPr>
              <a:t>er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is er </a:t>
            </a:r>
            <a:r>
              <a:rPr lang="en-US" sz="1800" b="1" i="1" dirty="0">
                <a:solidFill>
                  <a:schemeClr val="tx1"/>
                </a:solidFill>
              </a:rPr>
              <a:t>nog niet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 4 : </a:t>
            </a:r>
            <a:r>
              <a:rPr lang="en-US" sz="1800" i="1" dirty="0">
                <a:solidFill>
                  <a:schemeClr val="tx1"/>
                </a:solidFill>
              </a:rPr>
              <a:t>nooit</a:t>
            </a:r>
            <a:r>
              <a:rPr lang="en-US" sz="1800" dirty="0">
                <a:solidFill>
                  <a:schemeClr val="tx1"/>
                </a:solidFill>
              </a:rPr>
              <a:t> remplace </a:t>
            </a:r>
            <a:r>
              <a:rPr lang="en-US" sz="1800" i="1" dirty="0">
                <a:solidFill>
                  <a:schemeClr val="tx1"/>
                </a:solidFill>
              </a:rPr>
              <a:t>niet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al, nog, pas, nog niet ou alleen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Complétez avec </a:t>
            </a:r>
            <a:r>
              <a:rPr lang="en-US" sz="1600" b="1" i="1" dirty="0">
                <a:solidFill>
                  <a:schemeClr val="accent5"/>
                </a:solidFill>
              </a:rPr>
              <a:t>al · nog · pas · nog niet · alleen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Het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zeven uur: de les begint om negen uur.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Ben je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klaar? — Nee, ik ben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klaar.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Pieter woont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bij zijn ouders.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Emma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twintig jaar.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Ik drink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water, geen koffie.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Begint de cursus vandaag? — Nee, hij begint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maandag.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al, nog, pas, nog niet ou alleen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Complétez avec </a:t>
            </a:r>
            <a:r>
              <a:rPr lang="en-US" sz="1600" b="1" i="1" dirty="0">
                <a:solidFill>
                  <a:schemeClr val="accent5"/>
                </a:solidFill>
              </a:rPr>
              <a:t>al · nog · pas · nog niet · alleen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Het is </a:t>
            </a:r>
            <a:r>
              <a:rPr lang="en-US" sz="2400" b="1" dirty="0">
                <a:solidFill>
                  <a:schemeClr val="accent3"/>
                </a:solidFill>
              </a:rPr>
              <a:t>pas</a:t>
            </a:r>
            <a:r>
              <a:rPr lang="en-US" sz="2400" dirty="0">
                <a:solidFill>
                  <a:schemeClr val="tx1"/>
                </a:solidFill>
              </a:rPr>
              <a:t> zeven uur: de les begint om negen uur.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Ben je </a:t>
            </a:r>
            <a:r>
              <a:rPr lang="en-US" sz="2400" b="1" dirty="0">
                <a:solidFill>
                  <a:schemeClr val="accent3"/>
                </a:solidFill>
              </a:rPr>
              <a:t>al</a:t>
            </a:r>
            <a:r>
              <a:rPr lang="en-US" sz="2400" dirty="0">
                <a:solidFill>
                  <a:schemeClr val="tx1"/>
                </a:solidFill>
              </a:rPr>
              <a:t> klaar? — Nee, ik ben </a:t>
            </a:r>
            <a:r>
              <a:rPr lang="en-US" sz="2400" b="1" dirty="0">
                <a:solidFill>
                  <a:schemeClr val="accent3"/>
                </a:solidFill>
              </a:rPr>
              <a:t>nog niet</a:t>
            </a:r>
            <a:r>
              <a:rPr lang="en-US" sz="2400" dirty="0">
                <a:solidFill>
                  <a:schemeClr val="tx1"/>
                </a:solidFill>
              </a:rPr>
              <a:t> klaar.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Pieter woont </a:t>
            </a:r>
            <a:r>
              <a:rPr lang="en-US" sz="2400" b="1" dirty="0">
                <a:solidFill>
                  <a:schemeClr val="accent3"/>
                </a:solidFill>
              </a:rPr>
              <a:t>nog</a:t>
            </a:r>
            <a:r>
              <a:rPr lang="en-US" sz="2400" dirty="0">
                <a:solidFill>
                  <a:schemeClr val="tx1"/>
                </a:solidFill>
              </a:rPr>
              <a:t> bij zijn ouders.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Emma is </a:t>
            </a:r>
            <a:r>
              <a:rPr lang="en-US" sz="2400" b="1" dirty="0">
                <a:solidFill>
                  <a:schemeClr val="accent3"/>
                </a:solidFill>
              </a:rPr>
              <a:t>pas</a:t>
            </a:r>
            <a:r>
              <a:rPr lang="en-US" sz="2400" dirty="0">
                <a:solidFill>
                  <a:schemeClr val="tx1"/>
                </a:solidFill>
              </a:rPr>
              <a:t> twintig jaar.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Ik drink </a:t>
            </a:r>
            <a:r>
              <a:rPr lang="en-US" sz="2400" b="1" dirty="0">
                <a:solidFill>
                  <a:schemeClr val="accent3"/>
                </a:solidFill>
              </a:rPr>
              <a:t>alleen</a:t>
            </a:r>
            <a:r>
              <a:rPr lang="en-US" sz="2400" dirty="0">
                <a:solidFill>
                  <a:schemeClr val="tx1"/>
                </a:solidFill>
              </a:rPr>
              <a:t> water, geen koffie.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Begint de cursus vandaag? — Nee, hij begint </a:t>
            </a:r>
            <a:r>
              <a:rPr lang="en-US" sz="2400" b="1" dirty="0">
                <a:solidFill>
                  <a:schemeClr val="accent3"/>
                </a:solidFill>
              </a:rPr>
              <a:t>pas</a:t>
            </a:r>
            <a:r>
              <a:rPr lang="en-US" sz="2400" dirty="0">
                <a:solidFill>
                  <a:schemeClr val="tx1"/>
                </a:solidFill>
              </a:rPr>
              <a:t> maandag.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pas</a:t>
            </a:r>
            <a:r>
              <a:rPr lang="en-US" sz="1800" dirty="0">
                <a:solidFill>
                  <a:schemeClr val="tx1"/>
                </a:solidFill>
              </a:rPr>
              <a:t> = seulement </a:t>
            </a:r>
            <a:r>
              <a:rPr lang="en-US" sz="1800" b="1" dirty="0">
                <a:solidFill>
                  <a:schemeClr val="tx1"/>
                </a:solidFill>
              </a:rPr>
              <a:t>dans le temps</a:t>
            </a:r>
            <a:r>
              <a:rPr lang="en-US" sz="1800" dirty="0">
                <a:solidFill>
                  <a:schemeClr val="tx1"/>
                </a:solidFill>
              </a:rPr>
              <a:t> (heure, âge, date).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alleen</a:t>
            </a:r>
            <a:r>
              <a:rPr lang="en-US" sz="1800" dirty="0">
                <a:solidFill>
                  <a:schemeClr val="tx1"/>
                </a:solidFill>
              </a:rPr>
              <a:t> = uniquement : </a:t>
            </a:r>
            <a:r>
              <a:rPr lang="en-US" sz="1800" i="1" dirty="0">
                <a:solidFill>
                  <a:schemeClr val="tx1"/>
                </a:solidFill>
              </a:rPr>
              <a:t>alleen water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nog</a:t>
            </a:r>
            <a:r>
              <a:rPr lang="en-US" sz="1800" dirty="0">
                <a:solidFill>
                  <a:schemeClr val="tx1"/>
                </a:solidFill>
              </a:rPr>
              <a:t> = encore, ça continue · </a:t>
            </a:r>
            <a:r>
              <a:rPr lang="en-US" sz="1800" i="1" dirty="0">
                <a:solidFill>
                  <a:schemeClr val="tx1"/>
                </a:solidFill>
              </a:rPr>
              <a:t>nog niet</a:t>
            </a:r>
            <a:r>
              <a:rPr lang="en-US" sz="1800" dirty="0">
                <a:solidFill>
                  <a:schemeClr val="tx1"/>
                </a:solidFill>
              </a:rPr>
              <a:t> = pas encore.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Ik ga … doen : trois façons de parler du futur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gaan</a:t>
            </a:r>
            <a:r>
              <a:rPr lang="en-US" sz="1800" dirty="0">
                <a:solidFill>
                  <a:schemeClr val="tx1"/>
                </a:solidFill>
              </a:rPr>
              <a:t> conjugué en </a:t>
            </a:r>
            <a:r>
              <a:rPr lang="en-US" sz="1800" b="1" dirty="0">
                <a:solidFill>
                  <a:schemeClr val="tx1"/>
                </a:solidFill>
              </a:rPr>
              <a:t>2e position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infinitif à la fin</a:t>
            </a:r>
            <a:r>
              <a:rPr lang="en-US" sz="1800" dirty="0">
                <a:solidFill>
                  <a:schemeClr val="tx1"/>
                </a:solidFill>
              </a:rPr>
              <a:t> = « je vais faire ».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gaan + inf.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2 · gaan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94176" y="194767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94176" y="2185416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30752" y="218541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vanavond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978400" y="194767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78400" y="2185416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14976" y="218541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een film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262624" y="194767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 · infinitif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62624" y="2185416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99200" y="2185416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kijken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vais regarder un film ce soir. → </a:t>
            </a:r>
            <a:r>
              <a:rPr lang="en-US" sz="1400" b="1" i="1" dirty="0">
                <a:solidFill>
                  <a:schemeClr val="accent5"/>
                </a:solidFill>
              </a:rPr>
              <a:t>intention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question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103120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03120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2898648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898648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35224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3694176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694176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730752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je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4489704" y="2801874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489704" y="3039618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526280" y="3039618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dit weekend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090920" y="2801874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 · infinitif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90920" y="3039618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27496" y="3039618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doen?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Qu’est-ce que tu vas faire ce week-end ?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présent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2103120" y="3656076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103120" y="3893820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139696" y="3893820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Morgen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3176016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176016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212592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037584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037584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074160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4833112" y="3656076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833112" y="3893820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869688" y="3893820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thuis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Demain, je travaille à la maison. → </a:t>
            </a:r>
            <a:r>
              <a:rPr lang="en-US" sz="1400" b="1" i="1" dirty="0">
                <a:solidFill>
                  <a:schemeClr val="accent5"/>
                </a:solidFill>
              </a:rPr>
              <a:t>le plus courant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zullen + inf.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2103120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103120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139696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2898648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898648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35224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zal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3694176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3694176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3730752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je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4489704" y="4510278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489704" y="4748022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526280" y="4748022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morgen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5562600" y="4510278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 · infinitif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562600" y="4748022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599176" y="4748022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bellen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t’appellerai demain. → </a:t>
            </a:r>
            <a:r>
              <a:rPr lang="en-US" sz="1400" b="1" i="1" dirty="0">
                <a:solidFill>
                  <a:schemeClr val="accent5"/>
                </a:solidFill>
              </a:rPr>
              <a:t>promesse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74" name="Text 70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français dit </a:t>
            </a:r>
            <a:r>
              <a:rPr lang="en-US" sz="1700" i="1" dirty="0">
                <a:solidFill>
                  <a:schemeClr val="tx1"/>
                </a:solidFill>
              </a:rPr>
              <a:t>je vais </a:t>
            </a:r>
            <a:r>
              <a:rPr lang="en-US" sz="1700" b="1" i="1" dirty="0">
                <a:solidFill>
                  <a:schemeClr val="tx1"/>
                </a:solidFill>
              </a:rPr>
              <a:t>regarder</a:t>
            </a:r>
            <a:r>
              <a:rPr lang="en-US" sz="1700" i="1" dirty="0">
                <a:solidFill>
                  <a:schemeClr val="tx1"/>
                </a:solidFill>
              </a:rPr>
              <a:t> un film</a:t>
            </a:r>
            <a:r>
              <a:rPr lang="en-US" sz="1700" dirty="0">
                <a:solidFill>
                  <a:schemeClr val="tx1"/>
                </a:solidFill>
              </a:rPr>
              <a:t>. En néerlandais, l’infinitif part </a:t>
            </a:r>
            <a:r>
              <a:rPr lang="en-US" sz="1700" b="1" dirty="0">
                <a:solidFill>
                  <a:schemeClr val="tx1"/>
                </a:solidFill>
              </a:rPr>
              <a:t>à la fin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Ik ga een film </a:t>
            </a:r>
            <a:r>
              <a:rPr lang="en-US" sz="1700" b="1" i="1" dirty="0">
                <a:solidFill>
                  <a:schemeClr val="tx1"/>
                </a:solidFill>
              </a:rPr>
              <a:t>kijken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Ik ga kijken een film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gaan of zullen?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Conjuguez </a:t>
            </a:r>
            <a:r>
              <a:rPr lang="en-US" sz="1600" b="1" i="1" dirty="0">
                <a:solidFill>
                  <a:schemeClr val="accent5"/>
                </a:solidFill>
              </a:rPr>
              <a:t>gaan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zullen</a:t>
            </a:r>
            <a:r>
              <a:rPr lang="en-US" sz="1600" i="1" dirty="0">
                <a:solidFill>
                  <a:schemeClr val="accent5"/>
                </a:solidFill>
              </a:rPr>
              <a:t> (ou le </a:t>
            </a:r>
            <a:r>
              <a:rPr lang="en-US" sz="1600" b="1" i="1" dirty="0">
                <a:solidFill>
                  <a:schemeClr val="accent5"/>
                </a:solidFill>
              </a:rPr>
              <a:t>présent</a:t>
            </a:r>
            <a:r>
              <a:rPr lang="en-US" sz="1600" i="1" dirty="0">
                <a:solidFill>
                  <a:schemeClr val="accent5"/>
                </a:solidFill>
              </a:rPr>
              <a:t>) et placez l’infinitif.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Wat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jij vanavond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? </a:t>
            </a:r>
            <a:r>
              <a:rPr lang="en-US" sz="2400" i="1" dirty="0">
                <a:solidFill>
                  <a:schemeClr val="tx1"/>
                </a:solidFill>
              </a:rPr>
              <a:t>(doen · intention)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Zij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een auto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(huren · intention)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Wij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u zeker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(helpen · promesse)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Volgende week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wij naar Gent. </a:t>
            </a:r>
            <a:r>
              <a:rPr lang="en-US" sz="2400" i="1" dirty="0">
                <a:solidFill>
                  <a:schemeClr val="tx1"/>
                </a:solidFill>
              </a:rPr>
              <a:t>(reizen · présent)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CONJUGAISON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gaan</a:t>
            </a:r>
            <a:r>
              <a:rPr lang="en-US" sz="1800" dirty="0">
                <a:solidFill>
                  <a:schemeClr val="tx1"/>
                </a:solidFill>
              </a:rPr>
              <a:t> : ik ga · jij gaat · hij gaat · wij gaan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zullen</a:t>
            </a:r>
            <a:r>
              <a:rPr lang="en-US" sz="1800" dirty="0">
                <a:solidFill>
                  <a:schemeClr val="tx1"/>
                </a:solidFill>
              </a:rPr>
              <a:t> : ik zal · jij zal (zult) · hij zal · wij zullen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gaan of zullen?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Conjuguez </a:t>
            </a:r>
            <a:r>
              <a:rPr lang="en-US" sz="1600" b="1" i="1" dirty="0">
                <a:solidFill>
                  <a:schemeClr val="accent5"/>
                </a:solidFill>
              </a:rPr>
              <a:t>gaan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zullen</a:t>
            </a:r>
            <a:r>
              <a:rPr lang="en-US" sz="1600" i="1" dirty="0">
                <a:solidFill>
                  <a:schemeClr val="accent5"/>
                </a:solidFill>
              </a:rPr>
              <a:t> (ou le </a:t>
            </a:r>
            <a:r>
              <a:rPr lang="en-US" sz="1600" b="1" i="1" dirty="0">
                <a:solidFill>
                  <a:schemeClr val="accent5"/>
                </a:solidFill>
              </a:rPr>
              <a:t>présent</a:t>
            </a:r>
            <a:r>
              <a:rPr lang="en-US" sz="1600" i="1" dirty="0">
                <a:solidFill>
                  <a:schemeClr val="accent5"/>
                </a:solidFill>
              </a:rPr>
              <a:t>) et placez l’infinitif.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Wat </a:t>
            </a:r>
            <a:r>
              <a:rPr lang="en-US" sz="2400" b="1" dirty="0">
                <a:solidFill>
                  <a:schemeClr val="accent3"/>
                </a:solidFill>
              </a:rPr>
              <a:t>ga</a:t>
            </a:r>
            <a:r>
              <a:rPr lang="en-US" sz="2400" dirty="0">
                <a:solidFill>
                  <a:schemeClr val="tx1"/>
                </a:solidFill>
              </a:rPr>
              <a:t> jij vanavond </a:t>
            </a:r>
            <a:r>
              <a:rPr lang="en-US" sz="2400" b="1" dirty="0">
                <a:solidFill>
                  <a:schemeClr val="accent3"/>
                </a:solidFill>
              </a:rPr>
              <a:t>doen</a:t>
            </a:r>
            <a:r>
              <a:rPr lang="en-US" sz="2400" dirty="0">
                <a:solidFill>
                  <a:schemeClr val="tx1"/>
                </a:solidFill>
              </a:rPr>
              <a:t>? </a:t>
            </a:r>
            <a:r>
              <a:rPr lang="en-US" sz="2400" i="1" dirty="0">
                <a:solidFill>
                  <a:schemeClr val="tx1"/>
                </a:solidFill>
              </a:rPr>
              <a:t>(doen · intention)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Zij </a:t>
            </a:r>
            <a:r>
              <a:rPr lang="en-US" sz="2400" b="1" dirty="0">
                <a:solidFill>
                  <a:schemeClr val="accent3"/>
                </a:solidFill>
              </a:rPr>
              <a:t>gaat</a:t>
            </a:r>
            <a:r>
              <a:rPr lang="en-US" sz="2400" dirty="0">
                <a:solidFill>
                  <a:schemeClr val="tx1"/>
                </a:solidFill>
              </a:rPr>
              <a:t> een auto </a:t>
            </a:r>
            <a:r>
              <a:rPr lang="en-US" sz="2400" b="1" dirty="0">
                <a:solidFill>
                  <a:schemeClr val="accent3"/>
                </a:solidFill>
              </a:rPr>
              <a:t>huren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(huren · intention)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Wij </a:t>
            </a:r>
            <a:r>
              <a:rPr lang="en-US" sz="2400" b="1" dirty="0">
                <a:solidFill>
                  <a:schemeClr val="accent3"/>
                </a:solidFill>
              </a:rPr>
              <a:t>zullen</a:t>
            </a:r>
            <a:r>
              <a:rPr lang="en-US" sz="2400" dirty="0">
                <a:solidFill>
                  <a:schemeClr val="tx1"/>
                </a:solidFill>
              </a:rPr>
              <a:t> u zeker </a:t>
            </a:r>
            <a:r>
              <a:rPr lang="en-US" sz="2400" b="1" dirty="0">
                <a:solidFill>
                  <a:schemeClr val="accent3"/>
                </a:solidFill>
              </a:rPr>
              <a:t>helpen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(helpen · promesse)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Volgende week </a:t>
            </a:r>
            <a:r>
              <a:rPr lang="en-US" sz="2400" b="1" dirty="0">
                <a:solidFill>
                  <a:schemeClr val="accent3"/>
                </a:solidFill>
              </a:rPr>
              <a:t>reizen</a:t>
            </a:r>
            <a:r>
              <a:rPr lang="en-US" sz="2400" dirty="0">
                <a:solidFill>
                  <a:schemeClr val="tx1"/>
                </a:solidFill>
              </a:rPr>
              <a:t> wij naar Gent. </a:t>
            </a:r>
            <a:r>
              <a:rPr lang="en-US" sz="2400" i="1" dirty="0">
                <a:solidFill>
                  <a:schemeClr val="tx1"/>
                </a:solidFill>
              </a:rPr>
              <a:t>(reizen · présent)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 1 : </a:t>
            </a:r>
            <a:r>
              <a:rPr lang="en-US" sz="1800" b="1" i="1" dirty="0">
                <a:solidFill>
                  <a:schemeClr val="tx1"/>
                </a:solidFill>
              </a:rPr>
              <a:t>ga</a:t>
            </a:r>
            <a:r>
              <a:rPr lang="en-US" sz="1800" i="1" dirty="0">
                <a:solidFill>
                  <a:schemeClr val="tx1"/>
                </a:solidFill>
              </a:rPr>
              <a:t> jij</a:t>
            </a:r>
            <a:r>
              <a:rPr lang="en-US" sz="1800" dirty="0">
                <a:solidFill>
                  <a:schemeClr val="tx1"/>
                </a:solidFill>
              </a:rPr>
              <a:t> — pas de -t quand </a:t>
            </a:r>
            <a:r>
              <a:rPr lang="en-US" sz="1800" i="1" dirty="0">
                <a:solidFill>
                  <a:schemeClr val="tx1"/>
                </a:solidFill>
              </a:rPr>
              <a:t>jij</a:t>
            </a:r>
            <a:r>
              <a:rPr lang="en-US" sz="1800" dirty="0">
                <a:solidFill>
                  <a:schemeClr val="tx1"/>
                </a:solidFill>
              </a:rPr>
              <a:t> suit le verbe.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 4 : </a:t>
            </a:r>
            <a:r>
              <a:rPr lang="en-US" sz="1800" b="1" dirty="0">
                <a:solidFill>
                  <a:schemeClr val="tx1"/>
                </a:solidFill>
              </a:rPr>
              <a:t>présent</a:t>
            </a:r>
            <a:r>
              <a:rPr lang="en-US" sz="1800" dirty="0">
                <a:solidFill>
                  <a:schemeClr val="tx1"/>
                </a:solidFill>
              </a:rPr>
              <a:t> + mot de temps : ni gaan ni zullen.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u zeker helpen</a:t>
            </a:r>
            <a:r>
              <a:rPr lang="en-US" sz="1800" dirty="0">
                <a:solidFill>
                  <a:schemeClr val="tx1"/>
                </a:solidFill>
              </a:rPr>
              <a:t> : pronom puis adverbe.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Wat ga je doen? Au futur proche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Transformez au </a:t>
            </a:r>
            <a:r>
              <a:rPr lang="en-US" sz="1600" b="1" i="1" dirty="0">
                <a:solidFill>
                  <a:schemeClr val="accent5"/>
                </a:solidFill>
              </a:rPr>
              <a:t>futur proche</a:t>
            </a:r>
            <a:r>
              <a:rPr lang="en-US" sz="1600" i="1" dirty="0">
                <a:solidFill>
                  <a:schemeClr val="accent5"/>
                </a:solidFill>
              </a:rPr>
              <a:t> (gaan + infinitif). Attention aux verbes </a:t>
            </a:r>
            <a:r>
              <a:rPr lang="en-US" sz="1600" b="1" i="1" dirty="0">
                <a:solidFill>
                  <a:schemeClr val="accent5"/>
                </a:solidFill>
              </a:rPr>
              <a:t>séparables</a:t>
            </a:r>
            <a:r>
              <a:rPr lang="en-US" sz="1600" i="1" dirty="0">
                <a:solidFill>
                  <a:schemeClr val="accent5"/>
                </a:solidFill>
              </a:rPr>
              <a:t> !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Ik kook vanavond.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Emma belt haar broer.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Morgen werken we thuis.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Wat doe je zaterdag?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Ik schrijf me vandaag in.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Pieter staat om zes uur op.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Wat ga je doen? Au futur proche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Transformez au </a:t>
            </a:r>
            <a:r>
              <a:rPr lang="en-US" sz="1600" b="1" i="1" dirty="0">
                <a:solidFill>
                  <a:schemeClr val="accent5"/>
                </a:solidFill>
              </a:rPr>
              <a:t>futur proche</a:t>
            </a:r>
            <a:r>
              <a:rPr lang="en-US" sz="1600" i="1" dirty="0">
                <a:solidFill>
                  <a:schemeClr val="accent5"/>
                </a:solidFill>
              </a:rPr>
              <a:t> (gaan + infinitif). Attention aux verbes </a:t>
            </a:r>
            <a:r>
              <a:rPr lang="en-US" sz="1600" b="1" i="1" dirty="0">
                <a:solidFill>
                  <a:schemeClr val="accent5"/>
                </a:solidFill>
              </a:rPr>
              <a:t>séparables</a:t>
            </a:r>
            <a:r>
              <a:rPr lang="en-US" sz="1600" i="1" dirty="0">
                <a:solidFill>
                  <a:schemeClr val="accent5"/>
                </a:solidFill>
              </a:rPr>
              <a:t> !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Ik kook vanavond. → </a:t>
            </a:r>
            <a:r>
              <a:rPr lang="en-US" sz="2200" b="1" dirty="0">
                <a:solidFill>
                  <a:schemeClr val="accent3"/>
                </a:solidFill>
              </a:rPr>
              <a:t>Ik ga vanavond koken.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Emma belt haar broer. → </a:t>
            </a:r>
            <a:r>
              <a:rPr lang="en-US" sz="2200" b="1" dirty="0">
                <a:solidFill>
                  <a:schemeClr val="accent3"/>
                </a:solidFill>
              </a:rPr>
              <a:t>Emma gaat haar broer bellen.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Morgen werken we thuis. → </a:t>
            </a:r>
            <a:r>
              <a:rPr lang="en-US" sz="2200" b="1" dirty="0">
                <a:solidFill>
                  <a:schemeClr val="accent3"/>
                </a:solidFill>
              </a:rPr>
              <a:t>Morgen gaan we thuis werken.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Wat doe je zaterdag? → </a:t>
            </a:r>
            <a:r>
              <a:rPr lang="en-US" sz="2200" b="1" dirty="0">
                <a:solidFill>
                  <a:schemeClr val="accent3"/>
                </a:solidFill>
              </a:rPr>
              <a:t>Wat ga je zaterdag doen?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Ik schrijf me vandaag in. → </a:t>
            </a:r>
            <a:r>
              <a:rPr lang="en-US" sz="2200" b="1" dirty="0">
                <a:solidFill>
                  <a:schemeClr val="accent3"/>
                </a:solidFill>
              </a:rPr>
              <a:t>Ik ga me vandaag inschrijven.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Pieter staat om zes uur op. → </a:t>
            </a:r>
            <a:r>
              <a:rPr lang="en-US" sz="2200" b="1" dirty="0">
                <a:solidFill>
                  <a:schemeClr val="accent3"/>
                </a:solidFill>
              </a:rPr>
              <a:t>Pieter gaat om zes uur opstaan.</a:t>
            </a:r>
            <a:endParaRPr lang="en-US" sz="22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Séparable : à l’infinitif, la particule se </a:t>
            </a:r>
            <a:r>
              <a:rPr lang="en-US" sz="1800" b="1" dirty="0">
                <a:solidFill>
                  <a:schemeClr val="tx1"/>
                </a:solidFill>
              </a:rPr>
              <a:t>recolle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inschrijven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opstaan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Inversion : </a:t>
            </a:r>
            <a:r>
              <a:rPr lang="en-US" sz="1800" i="1" dirty="0">
                <a:solidFill>
                  <a:schemeClr val="tx1"/>
                </a:solidFill>
              </a:rPr>
              <a:t>Morgen </a:t>
            </a:r>
            <a:r>
              <a:rPr lang="en-US" sz="1800" b="1" i="1" dirty="0">
                <a:solidFill>
                  <a:schemeClr val="tx1"/>
                </a:solidFill>
              </a:rPr>
              <a:t>gaan we</a:t>
            </a:r>
            <a:r>
              <a:rPr lang="en-US" sz="1800" i="1" dirty="0">
                <a:solidFill>
                  <a:schemeClr val="tx1"/>
                </a:solidFill>
              </a:rPr>
              <a:t>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seul verbe conjugué : </a:t>
            </a:r>
            <a:r>
              <a:rPr lang="en-US" sz="1800" b="1" dirty="0">
                <a:solidFill>
                  <a:schemeClr val="tx1"/>
                </a:solidFill>
              </a:rPr>
              <a:t>gaan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Telefoon &amp; 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" name="illustration" descr="le télé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55" y="1581912"/>
            <a:ext cx="995371" cy="789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llustration" descr="le por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782" y="1581912"/>
            <a:ext cx="1018253" cy="7894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7" name="illustration" descr="téléphoner, appel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60" y="1581912"/>
            <a:ext cx="998231" cy="7894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2" name="illustration" descr="le message (SMS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385" y="1581912"/>
            <a:ext cx="947318" cy="7894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7" name="illustration" descr="l’e-mai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064" y="1581912"/>
            <a:ext cx="969096" cy="7894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2" name="illustration" descr="la pièce join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20" y="3230880"/>
            <a:ext cx="950041" cy="78943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7" name="illustration" descr="le clavi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960" y="3230880"/>
            <a:ext cx="953897" cy="78943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2" name="illustration" descr="la souri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6563" y="3230880"/>
            <a:ext cx="975826" cy="78943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7" name="illustration" descr="l’écra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725" y="3230880"/>
            <a:ext cx="956638" cy="78943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1" name="Shape 39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2" name="illustration" descr="le casque-micr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953" y="3230880"/>
            <a:ext cx="947318" cy="78943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6" name="Shape 43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7" name="illustration" descr="le wifi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792" y="4879848"/>
            <a:ext cx="969096" cy="78943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2" name="illustration" descr="le chargeu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888" y="4879848"/>
            <a:ext cx="950041" cy="789432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6" name="Shape 51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7" name="illustration" descr="envoy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4124" y="4879848"/>
            <a:ext cx="1060704" cy="789432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9" name="Text 53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0" name="Text 54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1" name="Shape 55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2" name="illustration" descr="le mot de pass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0" y="4879848"/>
            <a:ext cx="1085088" cy="789432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4" name="Text 57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5" name="Text 58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6" name="Shape 59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7" name="illustration" descr="l’appel vidé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9736" y="4879848"/>
            <a:ext cx="1063752" cy="789432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0" name="Text 62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Telefoon &amp; 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3957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8" name="illustration" descr="le télé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55" y="1581912"/>
            <a:ext cx="995371" cy="789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telefoon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téléphone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3" name="illustration" descr="le por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782" y="1581912"/>
            <a:ext cx="1018253" cy="7894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gsm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portable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8" name="illustration" descr="téléphoner, appel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60" y="1581912"/>
            <a:ext cx="998231" cy="7894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bellen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téléphoner, appeler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23" name="illustration" descr="le message (SMS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385" y="1581912"/>
            <a:ext cx="947318" cy="7894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berichtje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message (SMS)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8" name="illustration" descr="l’e-mai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064" y="1581912"/>
            <a:ext cx="969096" cy="7894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e-mail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l’e-mail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3" name="illustration" descr="la pièce join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20" y="3230880"/>
            <a:ext cx="950041" cy="7894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bijlage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pièce jointe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38" name="illustration" descr="le clavi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960" y="3230880"/>
            <a:ext cx="953897" cy="78943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toetsenbord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clavier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3" name="illustration" descr="la souri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6563" y="3230880"/>
            <a:ext cx="975826" cy="78943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muis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souris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48" name="illustration" descr="l’écra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725" y="3230880"/>
            <a:ext cx="956638" cy="7894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scherm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l’écran</a:t>
            </a:r>
            <a:endParaRPr lang="en-US" sz="1600" dirty="0"/>
          </a:p>
        </p:txBody>
      </p:sp>
      <p:sp>
        <p:nvSpPr>
          <p:cNvPr id="52" name="Shape 40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3" name="illustration" descr="le casque-micr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953" y="3230880"/>
            <a:ext cx="947318" cy="78943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headset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casque-micro</a:t>
            </a:r>
            <a:endParaRPr lang="en-US" sz="1600" dirty="0"/>
          </a:p>
        </p:txBody>
      </p:sp>
      <p:sp>
        <p:nvSpPr>
          <p:cNvPr id="57" name="Shape 44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8" name="illustration" descr="le wifi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792" y="4879848"/>
            <a:ext cx="969096" cy="78943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wifi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wifi</a:t>
            </a:r>
            <a:endParaRPr lang="en-US" sz="1600" dirty="0"/>
          </a:p>
        </p:txBody>
      </p:sp>
      <p:sp>
        <p:nvSpPr>
          <p:cNvPr id="62" name="Shape 48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3" name="illustration" descr="le chargeu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888" y="4879848"/>
            <a:ext cx="950041" cy="789432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oplader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chargeur</a:t>
            </a:r>
            <a:endParaRPr lang="en-US" sz="1600" dirty="0"/>
          </a:p>
        </p:txBody>
      </p:sp>
      <p:sp>
        <p:nvSpPr>
          <p:cNvPr id="67" name="Shape 52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8" name="illustration" descr="envoy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4124" y="4879848"/>
            <a:ext cx="1060704" cy="789432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0" name="Text 54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versturen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envoyer</a:t>
            </a:r>
            <a:endParaRPr lang="en-US" sz="1600" dirty="0"/>
          </a:p>
        </p:txBody>
      </p:sp>
      <p:sp>
        <p:nvSpPr>
          <p:cNvPr id="72" name="Shape 56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73" name="illustration" descr="le mot de pass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0" y="4879848"/>
            <a:ext cx="1085088" cy="789432"/>
          </a:xfrm>
          <a:prstGeom prst="rect">
            <a:avLst/>
          </a:prstGeom>
        </p:spPr>
      </p:pic>
      <p:sp>
        <p:nvSpPr>
          <p:cNvPr id="74" name="Shape 57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5" name="Text 58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6" name="Text 59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wachtwoord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mot de passe</a:t>
            </a:r>
            <a:endParaRPr lang="en-US" sz="1600" dirty="0"/>
          </a:p>
        </p:txBody>
      </p:sp>
      <p:sp>
        <p:nvSpPr>
          <p:cNvPr id="77" name="Shape 60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78" name="illustration" descr="l’appel vidé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9736" y="4879848"/>
            <a:ext cx="1063752" cy="789432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0" name="Text 62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videogesprek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l’appel vidéo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Au bureau : le bon mot du téléphone et du 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un mot de l’imagier (conjuguez le verbe si nécessaire).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In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vindt u mijn cv.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Mijn gsm is bijna leeg. Waar is mijn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Ik kan niet inloggen: ik ben mijn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 vergeten.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Pieter heeft om tien uur een </a:t>
            </a:r>
            <a:r>
              <a:rPr lang="en-US" sz="2100" dirty="0">
                <a:solidFill>
                  <a:schemeClr val="accent5"/>
                </a:solidFill>
              </a:rPr>
              <a:t>…………………</a:t>
            </a:r>
            <a:r>
              <a:rPr lang="en-US" sz="2100" dirty="0">
                <a:solidFill>
                  <a:schemeClr val="tx1"/>
                </a:solidFill>
              </a:rPr>
              <a:t> met zijn baas.</a:t>
            </a:r>
            <a:endParaRPr lang="en-US" sz="21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Emma stuurt een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naar Pieter: «Tot straks!»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Ik hoor je niet goed, ik zet mijn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op.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Het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van mijn computer is te klein.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8.  </a:t>
            </a:r>
            <a:r>
              <a:rPr lang="en-US" sz="2100" dirty="0">
                <a:solidFill>
                  <a:schemeClr val="tx1"/>
                </a:solidFill>
              </a:rPr>
              <a:t>Ik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je vanavond, oké?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Au bureau : le bon mot du téléphone et du 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un mot de l’imagier (conjuguez le verbe si nécessaire).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In </a:t>
            </a:r>
            <a:r>
              <a:rPr lang="en-US" sz="2100" b="1" dirty="0">
                <a:solidFill>
                  <a:schemeClr val="accent3"/>
                </a:solidFill>
              </a:rPr>
              <a:t>bijlage</a:t>
            </a:r>
            <a:r>
              <a:rPr lang="en-US" sz="2100" dirty="0">
                <a:solidFill>
                  <a:schemeClr val="tx1"/>
                </a:solidFill>
              </a:rPr>
              <a:t> vindt u mijn cv.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Mijn gsm is bijna leeg. Waar is mijn </a:t>
            </a:r>
            <a:r>
              <a:rPr lang="en-US" sz="2100" b="1" dirty="0">
                <a:solidFill>
                  <a:schemeClr val="accent3"/>
                </a:solidFill>
              </a:rPr>
              <a:t>oplader</a:t>
            </a:r>
            <a:r>
              <a:rPr lang="en-US" sz="2100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Ik kan niet inloggen: ik ben mijn </a:t>
            </a:r>
            <a:r>
              <a:rPr lang="en-US" sz="2100" b="1" dirty="0">
                <a:solidFill>
                  <a:schemeClr val="accent3"/>
                </a:solidFill>
              </a:rPr>
              <a:t>wachtwoord</a:t>
            </a:r>
            <a:r>
              <a:rPr lang="en-US" sz="2100" dirty="0">
                <a:solidFill>
                  <a:schemeClr val="tx1"/>
                </a:solidFill>
              </a:rPr>
              <a:t> vergeten.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Pieter heeft om tien uur een </a:t>
            </a:r>
            <a:r>
              <a:rPr lang="en-US" sz="2100" b="1" dirty="0">
                <a:solidFill>
                  <a:schemeClr val="accent3"/>
                </a:solidFill>
              </a:rPr>
              <a:t>videogesprek</a:t>
            </a:r>
            <a:r>
              <a:rPr lang="en-US" sz="2100" dirty="0">
                <a:solidFill>
                  <a:schemeClr val="tx1"/>
                </a:solidFill>
              </a:rPr>
              <a:t> met zijn baas.</a:t>
            </a:r>
            <a:endParaRPr lang="en-US" sz="21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Emma stuurt een </a:t>
            </a:r>
            <a:r>
              <a:rPr lang="en-US" sz="2100" b="1" dirty="0">
                <a:solidFill>
                  <a:schemeClr val="accent3"/>
                </a:solidFill>
              </a:rPr>
              <a:t>berichtje</a:t>
            </a:r>
            <a:r>
              <a:rPr lang="en-US" sz="2100" dirty="0">
                <a:solidFill>
                  <a:schemeClr val="tx1"/>
                </a:solidFill>
              </a:rPr>
              <a:t> naar Pieter: «Tot straks!»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Ik hoor je niet goed, ik zet mijn </a:t>
            </a:r>
            <a:r>
              <a:rPr lang="en-US" sz="2100" b="1" dirty="0">
                <a:solidFill>
                  <a:schemeClr val="accent3"/>
                </a:solidFill>
              </a:rPr>
              <a:t>headset</a:t>
            </a:r>
            <a:r>
              <a:rPr lang="en-US" sz="2100" dirty="0">
                <a:solidFill>
                  <a:schemeClr val="tx1"/>
                </a:solidFill>
              </a:rPr>
              <a:t> op.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Het </a:t>
            </a:r>
            <a:r>
              <a:rPr lang="en-US" sz="2100" b="1" dirty="0">
                <a:solidFill>
                  <a:schemeClr val="accent3"/>
                </a:solidFill>
              </a:rPr>
              <a:t>scherm</a:t>
            </a:r>
            <a:r>
              <a:rPr lang="en-US" sz="2100" dirty="0">
                <a:solidFill>
                  <a:schemeClr val="tx1"/>
                </a:solidFill>
              </a:rPr>
              <a:t> van mijn computer is te klein.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8.  </a:t>
            </a:r>
            <a:r>
              <a:rPr lang="en-US" sz="2100" dirty="0">
                <a:solidFill>
                  <a:schemeClr val="tx1"/>
                </a:solidFill>
              </a:rPr>
              <a:t>Ik </a:t>
            </a:r>
            <a:r>
              <a:rPr lang="en-US" sz="2100" b="1" dirty="0">
                <a:solidFill>
                  <a:schemeClr val="accent3"/>
                </a:solidFill>
              </a:rPr>
              <a:t>bel</a:t>
            </a:r>
            <a:r>
              <a:rPr lang="en-US" sz="2100" dirty="0">
                <a:solidFill>
                  <a:schemeClr val="tx1"/>
                </a:solidFill>
              </a:rPr>
              <a:t> je vanavond, oké?</a:t>
            </a:r>
            <a:endParaRPr lang="en-US" sz="21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In bijlage vindt u…</a:t>
            </a:r>
            <a:r>
              <a:rPr lang="en-US" sz="1800" dirty="0">
                <a:solidFill>
                  <a:schemeClr val="tx1"/>
                </a:solidFill>
              </a:rPr>
              <a:t> : formule belge courante dans un mail.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berichtje : diminutif en </a:t>
            </a:r>
            <a:r>
              <a:rPr lang="en-US" sz="1800" b="1" dirty="0">
                <a:solidFill>
                  <a:schemeClr val="tx1"/>
                </a:solidFill>
              </a:rPr>
              <a:t>-je</a:t>
            </a:r>
            <a:r>
              <a:rPr lang="en-US" sz="1800" dirty="0">
                <a:solidFill>
                  <a:schemeClr val="tx1"/>
                </a:solidFill>
              </a:rPr>
              <a:t> → toujours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tx1"/>
                </a:solidFill>
              </a:rPr>
              <a:t>bel</a:t>
            </a:r>
            <a:r>
              <a:rPr lang="en-US" sz="1800" i="1" dirty="0">
                <a:solidFill>
                  <a:schemeClr val="tx1"/>
                </a:solidFill>
              </a:rPr>
              <a:t> je</a:t>
            </a:r>
            <a:r>
              <a:rPr lang="en-US" sz="1800" dirty="0">
                <a:solidFill>
                  <a:schemeClr val="tx1"/>
                </a:solidFill>
              </a:rPr>
              <a:t> : bellen → ik bel (un seul l).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3 : Parler de ses disponibilités — vocabulaire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Nouveau vocabulaire du </a:t>
            </a:r>
            <a:r>
              <a:rPr lang="en-US" sz="1600" b="1" i="1" dirty="0">
                <a:solidFill>
                  <a:schemeClr val="accent5"/>
                </a:solidFill>
              </a:rPr>
              <a:t>Jalon 1</a:t>
            </a:r>
            <a:r>
              <a:rPr lang="en-US" sz="1600" i="1" dirty="0">
                <a:solidFill>
                  <a:schemeClr val="accent5"/>
                </a:solidFill>
              </a:rPr>
              <a:t> (demander) et du </a:t>
            </a:r>
            <a:r>
              <a:rPr lang="en-US" sz="1600" b="1" i="1" dirty="0">
                <a:solidFill>
                  <a:schemeClr val="accent5"/>
                </a:solidFill>
              </a:rPr>
              <a:t>Jalon 2</a:t>
            </a:r>
            <a:r>
              <a:rPr lang="en-US" sz="1600" i="1" dirty="0">
                <a:solidFill>
                  <a:schemeClr val="accent5"/>
                </a:solidFill>
              </a:rPr>
              <a:t> (répondre). On </a:t>
            </a:r>
            <a:r>
              <a:rPr lang="en-US" sz="1600" b="1" i="1" dirty="0">
                <a:solidFill>
                  <a:schemeClr val="accent5"/>
                </a:solidFill>
              </a:rPr>
              <a:t>tutoie</a:t>
            </a:r>
            <a:r>
              <a:rPr lang="en-US" sz="1600" i="1" dirty="0">
                <a:solidFill>
                  <a:schemeClr val="accent5"/>
                </a:solidFill>
              </a:rPr>
              <a:t> dans cette fiche.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606040"/>
                <a:gridCol w="2907792"/>
              </a:tblGrid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JALON 1 · NL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JALON 2 · NL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maandag · dinsdag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lundi · mardi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werken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travailler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woensdag · donderdag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mercredi · jeudi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liever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(graag → liever)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plutôt, de préférence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vrijdag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vendredi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elkaar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l’un l’autre, se (réciproque)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beschikbaar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disponible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vrij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libre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afspreken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convenir, fixer un rendez-vous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graag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volontiers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zich vrijmaken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 libérer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ochtend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· </a:t>
                      </a: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middag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le matin · l’après-midi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passen · het past me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convenir · ça me convient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avond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·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zeker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le soir · sûr, certainement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Les jours s’écrivent </a:t>
            </a:r>
            <a:r>
              <a:rPr lang="en-US" sz="1500" b="1" i="1" dirty="0">
                <a:solidFill>
                  <a:schemeClr val="accent5"/>
                </a:solidFill>
              </a:rPr>
              <a:t>sans majuscule</a:t>
            </a:r>
            <a:r>
              <a:rPr lang="en-US" sz="1500" i="1" dirty="0">
                <a:solidFill>
                  <a:schemeClr val="accent5"/>
                </a:solidFill>
              </a:rPr>
              <a:t>. Jour + moment = </a:t>
            </a:r>
            <a:r>
              <a:rPr lang="en-US" sz="1500" b="1" i="1" dirty="0">
                <a:solidFill>
                  <a:schemeClr val="accent5"/>
                </a:solidFill>
              </a:rPr>
              <a:t>un seul mot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donderdag</a:t>
            </a:r>
            <a:r>
              <a:rPr lang="en-US" sz="1500" b="1" i="1" dirty="0">
                <a:solidFill>
                  <a:schemeClr val="accent5"/>
                </a:solidFill>
              </a:rPr>
              <a:t>ochtend</a:t>
            </a:r>
            <a:r>
              <a:rPr lang="en-US" sz="1500" i="1" dirty="0">
                <a:solidFill>
                  <a:schemeClr val="accent5"/>
                </a:solidFill>
              </a:rPr>
              <a:t>, </a:t>
            </a:r>
            <a:r>
              <a:rPr lang="en-US" sz="1500" i="1" dirty="0">
                <a:solidFill>
                  <a:schemeClr val="accent5"/>
                </a:solidFill>
              </a:rPr>
              <a:t>vrijdag</a:t>
            </a:r>
            <a:r>
              <a:rPr lang="en-US" sz="1500" b="1" i="1" dirty="0">
                <a:solidFill>
                  <a:schemeClr val="accent5"/>
                </a:solidFill>
              </a:rPr>
              <a:t>middag</a:t>
            </a:r>
            <a:r>
              <a:rPr lang="en-US" sz="1500" i="1" dirty="0">
                <a:solidFill>
                  <a:schemeClr val="accent5"/>
                </a:solidFill>
              </a:rPr>
              <a:t>, </a:t>
            </a:r>
            <a:r>
              <a:rPr lang="en-US" sz="1500" i="1" dirty="0">
                <a:solidFill>
                  <a:schemeClr val="accent5"/>
                </a:solidFill>
              </a:rPr>
              <a:t>woensdag</a:t>
            </a:r>
            <a:r>
              <a:rPr lang="en-US" sz="1500" b="1" i="1" dirty="0">
                <a:solidFill>
                  <a:schemeClr val="accent5"/>
                </a:solidFill>
              </a:rPr>
              <a:t>avond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3 · Jalon 1 (A1) : demander les disponibilités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Traduisez, puis comparez avec votre voisin.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202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Quand es-tu disponible, lundi ou mardi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02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Pouvons-nous échanger mercredi prochain à 10 heures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Tu ne peux pas te libérer jeudi matin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vendredi après-midi te convient-il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Es-tu libre le soir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Question sans mot interrogatif : le </a:t>
            </a:r>
            <a:r>
              <a:rPr lang="en-US" sz="1500" b="1" i="1" dirty="0">
                <a:solidFill>
                  <a:schemeClr val="accent5"/>
                </a:solidFill>
              </a:rPr>
              <a:t>verbe ouvre</a:t>
            </a:r>
            <a:r>
              <a:rPr lang="en-US" sz="1500" i="1" dirty="0">
                <a:solidFill>
                  <a:schemeClr val="accent5"/>
                </a:solidFill>
              </a:rPr>
              <a:t> la phrase — </a:t>
            </a:r>
            <a:r>
              <a:rPr lang="en-US" sz="1500" b="1" i="1" dirty="0">
                <a:solidFill>
                  <a:schemeClr val="accent5"/>
                </a:solidFill>
              </a:rPr>
              <a:t>Kunnen</a:t>
            </a:r>
            <a:r>
              <a:rPr lang="en-US" sz="1500" i="1" dirty="0">
                <a:solidFill>
                  <a:schemeClr val="accent5"/>
                </a:solidFill>
              </a:rPr>
              <a:t> we…? </a:t>
            </a:r>
            <a:r>
              <a:rPr lang="en-US" sz="1500" b="1" i="1" dirty="0">
                <a:solidFill>
                  <a:schemeClr val="accent5"/>
                </a:solidFill>
              </a:rPr>
              <a:t>Ben</a:t>
            </a:r>
            <a:r>
              <a:rPr lang="en-US" sz="1500" i="1" dirty="0">
                <a:solidFill>
                  <a:schemeClr val="accent5"/>
                </a:solidFill>
              </a:rPr>
              <a:t> je…?</a:t>
            </a:r>
            <a:r>
              <a:rPr lang="en-US" sz="1500" i="1" dirty="0">
                <a:solidFill>
                  <a:schemeClr val="accent5"/>
                </a:solidFill>
              </a:rPr>
              <a:t> Et l’</a:t>
            </a:r>
            <a:r>
              <a:rPr lang="en-US" sz="1500" b="1" i="1" dirty="0">
                <a:solidFill>
                  <a:schemeClr val="accent5"/>
                </a:solidFill>
              </a:rPr>
              <a:t>infinitif</a:t>
            </a:r>
            <a:r>
              <a:rPr lang="en-US" sz="1500" i="1" dirty="0">
                <a:solidFill>
                  <a:schemeClr val="accent5"/>
                </a:solidFill>
              </a:rPr>
              <a:t> va à la fin.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3 · Jalon 1 (A1) : demander les disponibilités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Traduisez, puis comparez avec votre voisin.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202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Quand es-tu disponible, lundi ou mardi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Wanneer ben je beschikbaar, maandag of dinsdag?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02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Pouvons-nous échanger mercredi prochain à 10 heures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Kunnen we volgende woensdag om 10 uur afspreken?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Tu ne peux pas te libérer jeudi matin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Kun je je donderdagochtend niet vrijmaken?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vendredi après-midi te convient-il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Past het je vrijdagmiddag?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Es-tu libre le soir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Ben je ’s avonds vrij?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Question sans mot interrogatif : le </a:t>
            </a:r>
            <a:r>
              <a:rPr lang="en-US" sz="1500" b="1" i="1" dirty="0">
                <a:solidFill>
                  <a:schemeClr val="accent5"/>
                </a:solidFill>
              </a:rPr>
              <a:t>verbe ouvre</a:t>
            </a:r>
            <a:r>
              <a:rPr lang="en-US" sz="1500" i="1" dirty="0">
                <a:solidFill>
                  <a:schemeClr val="accent5"/>
                </a:solidFill>
              </a:rPr>
              <a:t> la phrase — </a:t>
            </a:r>
            <a:r>
              <a:rPr lang="en-US" sz="1500" b="1" i="1" dirty="0">
                <a:solidFill>
                  <a:schemeClr val="accent5"/>
                </a:solidFill>
              </a:rPr>
              <a:t>Kunnen</a:t>
            </a:r>
            <a:r>
              <a:rPr lang="en-US" sz="1500" i="1" dirty="0">
                <a:solidFill>
                  <a:schemeClr val="accent5"/>
                </a:solidFill>
              </a:rPr>
              <a:t> we…? </a:t>
            </a:r>
            <a:r>
              <a:rPr lang="en-US" sz="1500" b="1" i="1" dirty="0">
                <a:solidFill>
                  <a:schemeClr val="accent5"/>
                </a:solidFill>
              </a:rPr>
              <a:t>Ben</a:t>
            </a:r>
            <a:r>
              <a:rPr lang="en-US" sz="1500" i="1" dirty="0">
                <a:solidFill>
                  <a:schemeClr val="accent5"/>
                </a:solidFill>
              </a:rPr>
              <a:t> je…?</a:t>
            </a:r>
            <a:r>
              <a:rPr lang="en-US" sz="1500" i="1" dirty="0">
                <a:solidFill>
                  <a:schemeClr val="accent5"/>
                </a:solidFill>
              </a:rPr>
              <a:t> Et l’</a:t>
            </a:r>
            <a:r>
              <a:rPr lang="en-US" sz="1500" b="1" i="1" dirty="0">
                <a:solidFill>
                  <a:schemeClr val="accent5"/>
                </a:solidFill>
              </a:rPr>
              <a:t>infinitif</a:t>
            </a:r>
            <a:r>
              <a:rPr lang="en-US" sz="1500" i="1" dirty="0">
                <a:solidFill>
                  <a:schemeClr val="accent5"/>
                </a:solidFill>
              </a:rPr>
              <a:t> va à la fin.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3 · Jalon 2 (A2) : répondre sur ses disponibilités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Attention à </a:t>
            </a:r>
            <a:r>
              <a:rPr lang="en-US" sz="1600" b="1" i="1" dirty="0">
                <a:solidFill>
                  <a:schemeClr val="accent5"/>
                </a:solidFill>
              </a:rPr>
              <a:t>want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als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elkaar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389120"/>
                <a:gridCol w="5330952"/>
              </a:tblGrid>
              <a:tr h="5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Oui, mardi me convient bien, mais je préfère de loin le matin.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Non, je ne suis pas libre vendredi, car je travaille.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mercredi après-midi, je peux venir, c’est sûr.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Je viens volontiers jeudi soir si ça te convient.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D’accord, on se voit lundi à 9 heures.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liever hebben</a:t>
            </a:r>
            <a:r>
              <a:rPr lang="en-US" sz="1500" i="1" dirty="0">
                <a:solidFill>
                  <a:schemeClr val="accent5"/>
                </a:solidFill>
              </a:rPr>
              <a:t> fonctionne comme </a:t>
            </a:r>
            <a:r>
              <a:rPr lang="en-US" sz="1500" i="1" dirty="0">
                <a:solidFill>
                  <a:schemeClr val="accent5"/>
                </a:solidFill>
              </a:rPr>
              <a:t>nodig hebben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b="1" i="1" dirty="0">
                <a:solidFill>
                  <a:schemeClr val="accent5"/>
                </a:solidFill>
              </a:rPr>
              <a:t>liever</a:t>
            </a:r>
            <a:r>
              <a:rPr lang="en-US" sz="1500" i="1" dirty="0">
                <a:solidFill>
                  <a:schemeClr val="accent5"/>
                </a:solidFill>
              </a:rPr>
              <a:t> part vers la fin. </a:t>
            </a:r>
            <a:r>
              <a:rPr lang="en-US" sz="1500" i="1" dirty="0">
                <a:solidFill>
                  <a:schemeClr val="accent5"/>
                </a:solidFill>
              </a:rPr>
              <a:t>Akkoord!</a:t>
            </a:r>
            <a:r>
              <a:rPr lang="en-US" sz="1500" i="1" dirty="0">
                <a:solidFill>
                  <a:schemeClr val="accent5"/>
                </a:solidFill>
              </a:rPr>
              <a:t> = « d’accord », très belge.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3 · Jalon 2 (A2) : répondre sur ses disponibilités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Attention à </a:t>
            </a:r>
            <a:r>
              <a:rPr lang="en-US" sz="1600" b="1" i="1" dirty="0">
                <a:solidFill>
                  <a:schemeClr val="accent5"/>
                </a:solidFill>
              </a:rPr>
              <a:t>want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als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b="1" i="1" dirty="0">
                <a:solidFill>
                  <a:schemeClr val="accent5"/>
                </a:solidFill>
              </a:rPr>
              <a:t>elkaar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389120"/>
                <a:gridCol w="5330952"/>
              </a:tblGrid>
              <a:tr h="5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Oui, mardi me convient bien, mais je préfère de loin le matin.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Ja, dinsdag past me goed, maar ik heb de ochtend veel liever.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Non, je ne suis pas libre vendredi, car je travaille.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Nee, ik ben vrijdag niet vrij, want ik werk.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mercredi après-midi, je peux venir, c’est sûr.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Woensdagmiddag kan ik zeker komen.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Je viens volontiers jeudi soir si ça te convient.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Ik kom graag donderdagavond, als het je past.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D’accord, on se voit lundi à 9 heures.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Akkoord, we zien elkaar maandag om 9 uur.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liever hebben</a:t>
            </a:r>
            <a:r>
              <a:rPr lang="en-US" sz="1500" i="1" dirty="0">
                <a:solidFill>
                  <a:schemeClr val="accent5"/>
                </a:solidFill>
              </a:rPr>
              <a:t> fonctionne comme </a:t>
            </a:r>
            <a:r>
              <a:rPr lang="en-US" sz="1500" i="1" dirty="0">
                <a:solidFill>
                  <a:schemeClr val="accent5"/>
                </a:solidFill>
              </a:rPr>
              <a:t>nodig hebben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b="1" i="1" dirty="0">
                <a:solidFill>
                  <a:schemeClr val="accent5"/>
                </a:solidFill>
              </a:rPr>
              <a:t>liever</a:t>
            </a:r>
            <a:r>
              <a:rPr lang="en-US" sz="1500" i="1" dirty="0">
                <a:solidFill>
                  <a:schemeClr val="accent5"/>
                </a:solidFill>
              </a:rPr>
              <a:t> part vers la fin. </a:t>
            </a:r>
            <a:r>
              <a:rPr lang="en-US" sz="1500" i="1" dirty="0">
                <a:solidFill>
                  <a:schemeClr val="accent5"/>
                </a:solidFill>
              </a:rPr>
              <a:t>Akkoord!</a:t>
            </a:r>
            <a:r>
              <a:rPr lang="en-US" sz="1500" i="1" dirty="0">
                <a:solidFill>
                  <a:schemeClr val="accent5"/>
                </a:solidFill>
              </a:rPr>
              <a:t> = « d’accord », très belge.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proposer, refuser, accepter, confirmer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Quatre phrases qui servent </a:t>
            </a:r>
            <a:r>
              <a:rPr lang="en-US" sz="1800" b="1" dirty="0">
                <a:solidFill>
                  <a:schemeClr val="tx1"/>
                </a:solidFill>
              </a:rPr>
              <a:t>toujours</a:t>
            </a:r>
            <a:r>
              <a:rPr lang="en-US" sz="1800" dirty="0">
                <a:solidFill>
                  <a:schemeClr val="tx1"/>
                </a:solidFill>
              </a:rPr>
              <a:t> pour fixer un rendez-vous.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proposer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Kunnen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176016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6016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12592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971544" y="194767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71544" y="2185416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08120" y="218541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woensdag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55768" y="19476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55768" y="2185416"/>
            <a:ext cx="1280160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92344" y="218541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 10 uur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645656" y="1947672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infinitif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45656" y="2185416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82232" y="2185416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afspreken?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Pouvons-nous nous voir mercredi à 10 h ? → verbe 1, </a:t>
            </a:r>
            <a:r>
              <a:rPr lang="en-US" sz="1400" b="1" i="1" dirty="0">
                <a:solidFill>
                  <a:schemeClr val="accent5"/>
                </a:solidFill>
              </a:rPr>
              <a:t>infinitif à la fin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0495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refuser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103120" y="28117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03120" y="30495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304952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2898648" y="28117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898648" y="30495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35224" y="304952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3694176" y="2811780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694176" y="3049524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730752" y="3049524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vrijdag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4872736" y="2811780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négation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872736" y="3049524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09312" y="3049524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niet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5734304" y="2811780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734304" y="3049524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770880" y="3049524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vrij,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6701536" y="2811780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01536" y="3049524"/>
            <a:ext cx="75184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738112" y="3049524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want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563104" y="28117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563104" y="30495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599680" y="304952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8358632" y="2811780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8358632" y="3049524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95208" y="3049524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2103120" y="3406140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ne suis pas libre vendredi, car je travaille. → </a:t>
            </a:r>
            <a:r>
              <a:rPr lang="en-US" sz="1400" b="1" i="1" dirty="0">
                <a:solidFill>
                  <a:schemeClr val="accent5"/>
                </a:solidFill>
              </a:rPr>
              <a:t>want</a:t>
            </a:r>
            <a:r>
              <a:rPr lang="en-US" sz="1400" i="1" dirty="0">
                <a:solidFill>
                  <a:schemeClr val="accent5"/>
                </a:solidFill>
              </a:rPr>
              <a:t> : ordre normal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3913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accepter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2103120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2103120" y="391363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2139696" y="391363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2898648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2898648" y="391363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2935224" y="391363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kom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3694176" y="3675888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adverbe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3694176" y="3913632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3730752" y="3913632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graag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4661408" y="3675888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661408" y="3913632"/>
            <a:ext cx="1914144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697984" y="3913632"/>
            <a:ext cx="184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donderdagavond,</a:t>
            </a:r>
            <a:endParaRPr lang="en-US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6685280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685280" y="3913632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721856" y="391363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als</a:t>
            </a:r>
            <a:endParaRPr lang="en-US" sz="1600" dirty="0"/>
          </a:p>
        </p:txBody>
      </p:sp>
      <p:sp>
        <p:nvSpPr>
          <p:cNvPr id="66" name="Text 63"/>
          <p:cNvSpPr txBox="1"/>
          <p:nvPr/>
        </p:nvSpPr>
        <p:spPr>
          <a:xfrm>
            <a:off x="7480808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7480808" y="391363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7517384" y="391363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het</a:t>
            </a:r>
            <a:endParaRPr lang="en-US" sz="1600" dirty="0"/>
          </a:p>
        </p:txBody>
      </p:sp>
      <p:sp>
        <p:nvSpPr>
          <p:cNvPr id="69" name="Text 66"/>
          <p:cNvSpPr txBox="1"/>
          <p:nvPr/>
        </p:nvSpPr>
        <p:spPr>
          <a:xfrm>
            <a:off x="8276336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8276336" y="391363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312912" y="391363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je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9071864" y="367588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 à la fin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9071864" y="3913632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9108440" y="3913632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past</a:t>
            </a:r>
            <a:endParaRPr lang="en-US" sz="1600" dirty="0"/>
          </a:p>
        </p:txBody>
      </p:sp>
      <p:sp>
        <p:nvSpPr>
          <p:cNvPr id="75" name="Text 72"/>
          <p:cNvSpPr txBox="1"/>
          <p:nvPr/>
        </p:nvSpPr>
        <p:spPr>
          <a:xfrm>
            <a:off x="2103120" y="427024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viens volontiers jeudi soir, si ça te convient. → </a:t>
            </a:r>
            <a:r>
              <a:rPr lang="en-US" sz="1400" b="1" i="1" dirty="0">
                <a:solidFill>
                  <a:schemeClr val="accent5"/>
                </a:solidFill>
              </a:rPr>
              <a:t>als</a:t>
            </a:r>
            <a:r>
              <a:rPr lang="en-US" sz="1400" i="1" dirty="0">
                <a:solidFill>
                  <a:schemeClr val="accent5"/>
                </a:solidFill>
              </a:rPr>
              <a:t> : verbe à la fin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548640" y="47777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confirmer</a:t>
            </a:r>
            <a:endParaRPr lang="en-US" sz="1400" dirty="0"/>
          </a:p>
        </p:txBody>
      </p:sp>
      <p:sp>
        <p:nvSpPr>
          <p:cNvPr id="77" name="Text 74"/>
          <p:cNvSpPr txBox="1"/>
          <p:nvPr/>
        </p:nvSpPr>
        <p:spPr>
          <a:xfrm>
            <a:off x="2103120" y="45399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2103120" y="477774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2139696" y="477774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</a:t>
            </a:r>
            <a:endParaRPr lang="en-US" sz="1600" dirty="0"/>
          </a:p>
        </p:txBody>
      </p:sp>
      <p:sp>
        <p:nvSpPr>
          <p:cNvPr id="80" name="Text 77"/>
          <p:cNvSpPr txBox="1"/>
          <p:nvPr/>
        </p:nvSpPr>
        <p:spPr>
          <a:xfrm>
            <a:off x="2898648" y="453999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2898648" y="477774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2935224" y="477774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zien</a:t>
            </a:r>
            <a:endParaRPr lang="en-US" sz="1600" dirty="0"/>
          </a:p>
        </p:txBody>
      </p:sp>
      <p:sp>
        <p:nvSpPr>
          <p:cNvPr id="83" name="Text 80"/>
          <p:cNvSpPr txBox="1"/>
          <p:nvPr/>
        </p:nvSpPr>
        <p:spPr>
          <a:xfrm>
            <a:off x="3760216" y="4539996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l’un l’autre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3760216" y="4777740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3796792" y="4777740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elkaar</a:t>
            </a:r>
            <a:endParaRPr lang="en-US" sz="1600" dirty="0"/>
          </a:p>
        </p:txBody>
      </p:sp>
      <p:sp>
        <p:nvSpPr>
          <p:cNvPr id="86" name="Text 83"/>
          <p:cNvSpPr txBox="1"/>
          <p:nvPr/>
        </p:nvSpPr>
        <p:spPr>
          <a:xfrm>
            <a:off x="4833112" y="4539996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833112" y="4777740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869688" y="4777740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maandag</a:t>
            </a:r>
            <a:endParaRPr lang="en-US" sz="1600" dirty="0"/>
          </a:p>
        </p:txBody>
      </p:sp>
      <p:sp>
        <p:nvSpPr>
          <p:cNvPr id="89" name="Text 86"/>
          <p:cNvSpPr txBox="1"/>
          <p:nvPr/>
        </p:nvSpPr>
        <p:spPr>
          <a:xfrm>
            <a:off x="6011672" y="4539996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6011672" y="4777740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048248" y="4777740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 9 uur</a:t>
            </a:r>
            <a:endParaRPr lang="en-US" sz="1600" dirty="0"/>
          </a:p>
        </p:txBody>
      </p:sp>
      <p:sp>
        <p:nvSpPr>
          <p:cNvPr id="92" name="Text 89"/>
          <p:cNvSpPr txBox="1"/>
          <p:nvPr/>
        </p:nvSpPr>
        <p:spPr>
          <a:xfrm>
            <a:off x="2103120" y="513435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On se voit lundi à 9 h.</a:t>
            </a:r>
            <a:endParaRPr lang="en-US" sz="1400" dirty="0"/>
          </a:p>
        </p:txBody>
      </p:sp>
      <p:sp>
        <p:nvSpPr>
          <p:cNvPr id="93" name="Shape 90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9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95" name="Text 91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On se voit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We zien </a:t>
            </a:r>
            <a:r>
              <a:rPr lang="en-US" sz="1700" b="1" i="1" dirty="0">
                <a:solidFill>
                  <a:schemeClr val="tx1"/>
                </a:solidFill>
              </a:rPr>
              <a:t>elkaar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We zien ons</a:t>
            </a:r>
            <a:r>
              <a:rPr lang="en-US" sz="1700" dirty="0">
                <a:solidFill>
                  <a:schemeClr val="tx1"/>
                </a:solidFill>
              </a:rPr>
              <a:t>). Et le </a:t>
            </a:r>
            <a:r>
              <a:rPr lang="en-US" sz="1700" b="1" dirty="0">
                <a:solidFill>
                  <a:schemeClr val="tx1"/>
                </a:solidFill>
              </a:rPr>
              <a:t>moment</a:t>
            </a:r>
            <a:r>
              <a:rPr lang="en-US" sz="1700" dirty="0">
                <a:solidFill>
                  <a:schemeClr val="tx1"/>
                </a:solidFill>
              </a:rPr>
              <a:t> vient </a:t>
            </a:r>
            <a:r>
              <a:rPr lang="en-US" sz="1700" b="1" dirty="0">
                <a:solidFill>
                  <a:schemeClr val="tx1"/>
                </a:solidFill>
              </a:rPr>
              <a:t>avant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niet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Ik ben vrijdag </a:t>
            </a:r>
            <a:r>
              <a:rPr lang="en-US" sz="1700" b="1" i="1" dirty="0">
                <a:solidFill>
                  <a:schemeClr val="tx1"/>
                </a:solidFill>
              </a:rPr>
              <a:t>niet</a:t>
            </a:r>
            <a:r>
              <a:rPr lang="en-US" sz="1700" i="1" dirty="0">
                <a:solidFill>
                  <a:schemeClr val="tx1"/>
                </a:solidFill>
              </a:rPr>
              <a:t> vrij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Jeu de rôle : trouver un moment libre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 deux · 10 min — Notez d’abord </a:t>
            </a:r>
            <a:r>
              <a:rPr lang="en-US" sz="1800" b="1" dirty="0">
                <a:solidFill>
                  <a:schemeClr val="tx1"/>
                </a:solidFill>
              </a:rPr>
              <a:t>3 rendez-vous</a:t>
            </a:r>
            <a:r>
              <a:rPr lang="en-US" sz="1800" dirty="0">
                <a:solidFill>
                  <a:schemeClr val="tx1"/>
                </a:solidFill>
              </a:rPr>
              <a:t> dans votre agenda de la semaine, sans le montrer. Puis trouvez </a:t>
            </a:r>
            <a:r>
              <a:rPr lang="en-US" sz="1800" b="1" dirty="0">
                <a:solidFill>
                  <a:schemeClr val="tx1"/>
                </a:solidFill>
              </a:rPr>
              <a:t>un moment libre commun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67712"/>
            <a:ext cx="1984248" cy="31089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1580" y="2450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11580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Demander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959352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Wanneer ben je beschikbaar?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Ben je ’s avonds vrij?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267004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25496" y="2267712"/>
            <a:ext cx="1984248" cy="31089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88436" y="245059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488436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2935224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Proposer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962656" y="3959352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Kunnen we dinsdag om 10 uur afspreken?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7004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02352" y="2267712"/>
            <a:ext cx="1984248" cy="31089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65292" y="2450592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76529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Refuser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239512" y="3959352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Nee, dinsdag ben ik niet vrij, want ik werk.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67004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79208" y="2267712"/>
            <a:ext cx="1984248" cy="31089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2148" y="245059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042148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488936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Accepter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516368" y="3959352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Woensdagmiddag kan ik zeker komen.</a:t>
            </a:r>
            <a:endParaRPr lang="en-US" sz="17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670048"/>
            <a:ext cx="219456" cy="21945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656064" y="2267712"/>
            <a:ext cx="1984248" cy="31089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319004" y="2450592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10319004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9765792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Confirmer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9793224" y="3959352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Akkoord, we zien elkaar woensdag om 14 uur!</a:t>
            </a:r>
            <a:endParaRPr lang="en-US" sz="1700" dirty="0"/>
          </a:p>
        </p:txBody>
      </p:sp>
      <p:sp>
        <p:nvSpPr>
          <p:cNvPr id="36" name="Shape 29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Critères — </a:t>
            </a:r>
            <a:r>
              <a:rPr lang="en-US" sz="1700" dirty="0">
                <a:solidFill>
                  <a:schemeClr val="tx1"/>
                </a:solidFill>
              </a:rPr>
              <a:t>au moins </a:t>
            </a:r>
            <a:r>
              <a:rPr lang="en-US" sz="1700" b="1" dirty="0">
                <a:solidFill>
                  <a:schemeClr val="tx1"/>
                </a:solidFill>
              </a:rPr>
              <a:t>un</a:t>
            </a:r>
            <a:r>
              <a:rPr lang="en-US" sz="1700" dirty="0">
                <a:solidFill>
                  <a:schemeClr val="tx1"/>
                </a:solidFill>
              </a:rPr>
              <a:t> refus avec </a:t>
            </a:r>
            <a:r>
              <a:rPr lang="en-US" sz="1700" i="1" dirty="0">
                <a:solidFill>
                  <a:schemeClr val="tx1"/>
                </a:solidFill>
              </a:rPr>
              <a:t>want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b="1" dirty="0">
                <a:solidFill>
                  <a:schemeClr val="tx1"/>
                </a:solidFill>
              </a:rPr>
              <a:t>un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als het je past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b="1" dirty="0">
                <a:solidFill>
                  <a:schemeClr val="tx1"/>
                </a:solidFill>
              </a:rPr>
              <a:t>un</a:t>
            </a:r>
            <a:r>
              <a:rPr lang="en-US" sz="1700" dirty="0">
                <a:solidFill>
                  <a:schemeClr val="tx1"/>
                </a:solidFill>
              </a:rPr>
              <a:t> adverbe (</a:t>
            </a:r>
            <a:r>
              <a:rPr lang="en-US" sz="1700" i="1" dirty="0">
                <a:solidFill>
                  <a:schemeClr val="tx1"/>
                </a:solidFill>
              </a:rPr>
              <a:t>altijd, nooit, al…</a:t>
            </a:r>
            <a:r>
              <a:rPr lang="en-US" sz="1700" dirty="0">
                <a:solidFill>
                  <a:schemeClr val="tx1"/>
                </a:solidFill>
              </a:rPr>
              <a:t>) et </a:t>
            </a:r>
            <a:r>
              <a:rPr lang="en-US" sz="1700" b="1" dirty="0">
                <a:solidFill>
                  <a:schemeClr val="tx1"/>
                </a:solidFill>
              </a:rPr>
              <a:t>un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Ik ga … doen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13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Bij het interimkantoor.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S’inscrire dans une agence, parler de sa disponibilité et de son expérience — et dire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bel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hem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help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haar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l’échelle </a:t>
            </a:r>
            <a:r>
              <a:rPr lang="en-US" sz="1700" b="1" dirty="0">
                <a:solidFill>
                  <a:schemeClr val="tx1"/>
                </a:solidFill>
              </a:rPr>
              <a:t>nooit → altijd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i="1" dirty="0">
                <a:solidFill>
                  <a:schemeClr val="tx1"/>
                </a:solidFill>
              </a:rPr>
              <a:t>al · nog · pas · nog niet</a:t>
            </a:r>
            <a:r>
              <a:rPr lang="en-US" sz="1700" dirty="0">
                <a:solidFill>
                  <a:schemeClr val="tx1"/>
                </a:solidFill>
              </a:rPr>
              <a:t> (p. 74).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sur la semaine prochaine : </a:t>
            </a:r>
            <a:r>
              <a:rPr lang="en-US" sz="1700" i="1" dirty="0">
                <a:solidFill>
                  <a:schemeClr val="tx1"/>
                </a:solidFill>
              </a:rPr>
              <a:t>Maandag ga ik …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Revoir les </a:t>
            </a:r>
            <a:r>
              <a:rPr lang="en-US" sz="1700" b="1" dirty="0">
                <a:solidFill>
                  <a:schemeClr val="tx1"/>
                </a:solidFill>
              </a:rPr>
              <a:t>15 mots</a:t>
            </a:r>
            <a:r>
              <a:rPr lang="en-US" sz="1700" dirty="0">
                <a:solidFill>
                  <a:schemeClr val="tx1"/>
                </a:solidFill>
              </a:rPr>
              <a:t> Telefoon &amp; mail (p. 85) avec de / het.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Recopier les </a:t>
            </a:r>
            <a:r>
              <a:rPr lang="en-US" sz="1700" b="1" dirty="0">
                <a:solidFill>
                  <a:schemeClr val="tx1"/>
                </a:solidFill>
              </a:rPr>
              <a:t>Jalons 1 et 2</a:t>
            </a:r>
            <a:r>
              <a:rPr lang="en-US" sz="1700" dirty="0">
                <a:solidFill>
                  <a:schemeClr val="tx1"/>
                </a:solidFill>
              </a:rPr>
              <a:t> de la fiche 3, corrigés (p. 94).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Proposez un rendez-vous à votre voisin (</a:t>
            </a:r>
            <a:r>
              <a:rPr lang="en-US" sz="1600" b="1" dirty="0">
                <a:solidFill>
                  <a:schemeClr val="bg1"/>
                </a:solidFill>
              </a:rPr>
              <a:t>jour + moment + heure</a:t>
            </a:r>
            <a:r>
              <a:rPr lang="en-US" sz="1600" dirty="0">
                <a:solidFill>
                  <a:schemeClr val="bg1"/>
                </a:solidFill>
              </a:rPr>
              <a:t>). Il accepte avec </a:t>
            </a:r>
            <a:r>
              <a:rPr lang="en-US" sz="1600" b="1" dirty="0">
                <a:solidFill>
                  <a:schemeClr val="bg1"/>
                </a:solidFill>
              </a:rPr>
              <a:t>als</a:t>
            </a:r>
            <a:r>
              <a:rPr lang="en-US" sz="1600" dirty="0">
                <a:solidFill>
                  <a:schemeClr val="bg1"/>
                </a:solidFill>
              </a:rPr>
              <a:t> ou refuse avec </a:t>
            </a:r>
            <a:r>
              <a:rPr lang="en-US" sz="1600" b="1" dirty="0">
                <a:solidFill>
                  <a:schemeClr val="bg1"/>
                </a:solidFill>
              </a:rPr>
              <a:t>want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12 — Wanneer ben je beschikbaar?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2026-10-03T21:06:38Z</dcterms:created>
  <dcterms:modified xsi:type="dcterms:W3CDTF">2026-10-03T21:06:38Z</dcterms:modified>
</cp:coreProperties>
</file>