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e15142d-6a35-49c7-ad35-cd116d3a1d9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ôture" id="{a0223dec-829e-0b62-cf58-51c7f9723533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séance de la Section 1. Objectifs : toutes les formules de départ (séquence 1.4, p. 51–56), puis la mise en situation finale « Stel jezelf voor » (p. 57) qui mobilise tout le palier. Trois fiches courtes complètent : Lidwoorden (de/het/een, p. 58), De gebiedende wijs (l’impératif poli, p. 67) et le vocabulaire Zich voorstellen (p. 78). Séance dense : 1.4.2 et le bonus vocabulaire peuvent se terminer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Ordre du livret : séquence 1.4 (p. 51–56), synthèse (p. 57), puis les fiches de grammaire (p. 58, p. 67) et le vocabulaire (p. 78). Si le temps manque : 1.4.2 se termine à la maison et le bonus « Mijn visitekaartje » sert de devoir.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7 (1.3.4 à 1.3.8, pronoms sujets, formes courtes/longues, fiche Vraagwoorden). Modèles : A « Dit is Lucas. Hij heeft een zus. Hij is leraar. » — B « Waar woon je? Hoeveel broers heb je? Wanneer werk je? » — C « Jij komt uit Namen, maar ik kom uit Luik. » — D « Ik ben Sofia, ik kom uit Bergen. Ik heb twee kinderen. Vandaag gaat het goed. » Vérifier : -t à la 3e personne (hij heeft, hij is), pas de -t quand jij/je suit le verbe (Woon jij…? Werk je…?), forme longue (jij, wij, zij) seulement pour contraster.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: Tot morgen! / Fijne avond! Coquilles du livret (p. 51) : le titre annonce « Focus : lignes 7–9 du dialogue » mais cite deux répliques qui ne figurent pas dans le dialogue d’ouverture (ce sont les bulles de l’image) ; dans le dialogue p. 3, le congé est aux lignes 8–9 (« Nou, tot straks dan! » / « Ja, tot straks! Dag Pieter! »). L’encadré dit qu’Emma et Pieter se quittent avec « Dag, tot snel! » : c’est Emma qui dit « Dag, Pieter! Tot snel! » ; Pieter répond « Dag, Emma! Fijne dag! ». « Dag » est traduit tantôt « Au revoir », tantôt « Salut » : les deux conviennent, « dag » est neutre. Le livret appelle zijn/hebben des « auxiliaires » : jusqu’ici ce sont des verbes principaux (ils deviendront auxiliaires au perfectum, séance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Coquilles et remarques sur le zinnenbouwer 1.4 : sous-titre « Chaque famille génère à elle plus de trente phrases » → « à elle seule » ; et la famille C ne donne que 4 × 7 = 28 combinaisons. Famille B : la colonne « VERBE » contient des formules (tot straks, tot zo…) et la colonne « FORMULE » est vide — le contenu est décalé d’une colonne. Famille A : « ik zie je » / « ik zie u » seuls ne sont pas une formule de congé ; il faut un moment (Ik zie je morgen / straks — famille C). Famille A mélange les registres : « Dank u wel… Doei! » ou « ik zie je… Dag mevrouw! » sont à éviter. « Ik zie je later » est un calque de l’anglais : préférer « Tot later! » ou « Ik zie je straks ». « Doeg » est familier et typiquement flamand. Le livret écrit « Dag Emma! » sans virgule ici et « Dag, Emma! » p. 51 : les deux se rencontrent.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tableau en chœur, puis faire classer les formules du plus familier (Doei!) au plus formel (Tot ziens!). Coquille du livret : « Tot zo » est traduit « À très bientôt » ; les exercices 1.4.1 et 1.4.3 du livret le définissent comme « dans quelques minutes » = à tout de suite (traduction retenue ici). Avec u, la formule sûre est « Tot ziens! » (ou « Dag meneer / mevrouw! »). « Doeg » est la variante flamande de « Doei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Réception : on associe avant de produire. Laisser 3 minutes seul, 2 minutes de comparaison avec le voisin.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: 1c · 2h · 3a · 4f · 5g · 6b · 7e · 8d. Faire lire chaque formule à voix haute avec l’intonation (montante pour Doei!). Rappel : « tot » + moment = à + moment (tot morgen, tot volgende week, tot vanavond).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structurée, zinnenbouwer ouvert. La formule dépend de la situation ; la raison et l’action sont libres (vraies pour l’étudiant). Chaque étudiant écrit ses six répliques, puis les lit à son voisin qui répond avec la famille B (Ja, tot straks! / Oké, tot zo! / Dank u, tot ziens!).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Seule la formule de congé est déterminée par la situation ; la colonne du milieu donne un exemple parmi d’autres. Variantes acceptables : 1 « Ik zie jullie morgen! » · 4 « Tot vanavond! » (pas dans le zinnenbouwer, mais correct) · 5 « Ik heb zin in koffie. Tot zo! » · 6 « Tot volgende week! » ou « Fijn weekend! ». Carte 3 : vouvoiement du début à la fin (Dank u wel… Tot ziens, meneer!) — pas de « Doei ». « Ik ga even koffie halen » : « even » adoucit (= juste un instant).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Fluidité, zinnenbouwer fermé : rien de nouveau, seulement plus vite. A lit le français, B répond en néerlandais sans regarder ; on note le temps, on corrige, puis second passage. Les amorces 9, 12 et 13 reprennent le dialogue d’ouverture (lignes 7 à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à surveiller : « Ik heb geen tijd » (geen + nom) ; « mijn les begint zo » (begint, -t à la 3e personne) ; « Ik zie je morgen » (pronom après le verbe). Amorce 10 : le français « Je te vois demain ! » est un calque du néerlandais ; en français on dirait plutôt « On se voit demain ! ». « Nou » (bon, eh bien) est surtout néerlandais ; en Belgique on entend aussi « Allee » ou « Goed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synthèse du palier 1 (salutations, zijn/hebben, pronoms, congé). Production libre : pas de correction unique ; passer dans les rangs et vérifier les cinq critères. Pendant les présentations orales, le binôme qui écoute coche les cinq phrases. Remarques sur le livret : « warming up » est un anglicisme (= échauffement). Dans l’illustration, Emma et Pieter se saluent par leur prénom puis se présentent (« Ik ben Emma. ») : incohérent s’ils se connaissent déjà — on peut le faire remarquer à la classe. L’image ne montre que les phrases 1 à 3 (« Ik heb een boek. » / « Ik heb een tas. »). Cours du soir : « Goedenavond » est la salutation attendue.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A1-01. Code couleur du cours : de = bleu, het = magenta. Les trois « repères het » (diminutif, langue, verbe devenu nom) sont sûrs ; pour le reste, il faut mémoriser. Een se prononce avec un e muet [ən] ; écrit avec accents (één), c’est le chiffre « un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01 (six vignettes du livret). Les étudiants donnent l’article oralement, un par 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: de bus · het station · de trein · het museum · de kaas · het water. Ici, aucun des trois repères ne s’applique : il faut mémoriser. Astuce : beaucoup de mots en -um venus du latin sont het (het museum, het centrum, het album). Pluriels : de bussen, de stations, de treinen, de musea (ou museums).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ajouté. Les étudiants associent d’abord chaque mot à sa vignette (le français est donné), puis votent : bras levé = de, bras croisés = het. Pas de règle pour ces mots : on mémorise.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Seulement trois het-woorden : het fornuis, het boek, het raam. Tous les autres sont de (neuf sur douze : la proportion « 3 sur 4 » de la fiche !). De kok : une personne → de. Faire répéter avec een et au pluriel : een boek → de boeken, een raam → de ramen.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A1-10. Le radical s’écrit comme la forme « ik » : ik bel → Bel!, ik lees → Lees!, ik wacht → Wacht! Exception : zijn → Wees! Politesse : en néerlandais, un impératif nu est perçu comme un ordre ; even / eens / maar le rendent aimable. Lien avec la séquence 1.4 : beaucoup de formules de congé sont des impératifs (Slaap lekker! Kom goed thuis! Doe de groeten aan…).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Colonne de gauche : exercice de la fiche 10. Colonne de droite : exercice ajouté qui relie l’impératif aux formules de congé de la séquence 1.4.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: Luister! · Kom maar binnen! · Kijk eens! · Wacht even! (radical = forme de ik). Bonus : « Slaap lekker! » est plus familier que « Welterusten! » ; « Kom goed thuis! » = rentre bien (formule très courante en Belgique) ; « Doe de groeten aan… » = passe le bonjour à… Avec u, on ajoute « alstublieft » ou on passe par une question polie (Kunt u even wachten?).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« Wat is dit? » : montrer un numéro, la classe répond avec l’article (de naam, het adres…). Vocabulaire 01, p. 78. Lien direct avec la fiche Lidwoorden qu’on vient de voir.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het-woorden : het visitekaartje (-je !), het adres, het telefoonnummer (het nummer), het land, het beroep, het meisje (-je !). Mots composés : de identiteit + de kaart → de identiteitskaart ; de telefoon + het nummer → het telefoonnummer (le dernier mot décide). En Belgique, on dit souvent « de identiteitskaart » ou « de eID ». Pluriels utiles : de talen, de landen, de mannen, de vrouwen.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du vocabulaire Zich voorstellen. Après la correction, chacun répond oralement aux questions de l’encadré « Et vous ? » (vraies pour soi). Peut servir de devoir si le temps manque.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Accepter « Mijn verjaardag is op 3 mei ». « verpleegster » (infirmière) : masculin « verpleger ». Question ouverte « Wat is je beroep? » — réponse sans article : « Ik ben leraar » (« Ik ben een leraar » existe, mais pour un métier on omet généralement l’article).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un par un à la porte : chacun choisit une raison différente. Vérifier la formule (tot volgende week / tot donderdag) et le registre (avec le professeur : Tot ziens!).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08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08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image" Target="../media/image-17-8.jpg"/><Relationship Id="rId9" Type="http://schemas.openxmlformats.org/officeDocument/2006/relationships/image" Target="../media/image-17-9.jpg"/><Relationship Id="rId10" Type="http://schemas.openxmlformats.org/officeDocument/2006/relationships/image" Target="../media/image-17-10.jpg"/><Relationship Id="rId11" Type="http://schemas.openxmlformats.org/officeDocument/2006/relationships/image" Target="../media/image-17-11.jpg"/><Relationship Id="rId12" Type="http://schemas.openxmlformats.org/officeDocument/2006/relationships/image" Target="../media/image-17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image" Target="../media/image-18-5.jpg"/><Relationship Id="rId6" Type="http://schemas.openxmlformats.org/officeDocument/2006/relationships/image" Target="../media/image-18-6.jpg"/><Relationship Id="rId7" Type="http://schemas.openxmlformats.org/officeDocument/2006/relationships/image" Target="../media/image-18-7.jpg"/><Relationship Id="rId8" Type="http://schemas.openxmlformats.org/officeDocument/2006/relationships/image" Target="../media/image-18-8.jpg"/><Relationship Id="rId9" Type="http://schemas.openxmlformats.org/officeDocument/2006/relationships/image" Target="../media/image-18-9.jpg"/><Relationship Id="rId10" Type="http://schemas.openxmlformats.org/officeDocument/2006/relationships/image" Target="../media/image-18-10.jpg"/><Relationship Id="rId11" Type="http://schemas.openxmlformats.org/officeDocument/2006/relationships/image" Target="../media/image-18-11.jpg"/><Relationship Id="rId12" Type="http://schemas.openxmlformats.org/officeDocument/2006/relationships/image" Target="../media/image-18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image" Target="../media/image-22-6.jpg"/><Relationship Id="rId7" Type="http://schemas.openxmlformats.org/officeDocument/2006/relationships/image" Target="../media/image-22-7.jpg"/><Relationship Id="rId8" Type="http://schemas.openxmlformats.org/officeDocument/2006/relationships/image" Target="../media/image-22-8.jpg"/><Relationship Id="rId9" Type="http://schemas.openxmlformats.org/officeDocument/2006/relationships/image" Target="../media/image-22-9.jpg"/><Relationship Id="rId10" Type="http://schemas.openxmlformats.org/officeDocument/2006/relationships/image" Target="../media/image-22-10.jpg"/><Relationship Id="rId11" Type="http://schemas.openxmlformats.org/officeDocument/2006/relationships/image" Target="../media/image-22-11.jpg"/><Relationship Id="rId12" Type="http://schemas.openxmlformats.org/officeDocument/2006/relationships/image" Target="../media/image-22-12.jpg"/><Relationship Id="rId13" Type="http://schemas.openxmlformats.org/officeDocument/2006/relationships/image" Target="../media/image-22-13.jpg"/><Relationship Id="rId14" Type="http://schemas.openxmlformats.org/officeDocument/2006/relationships/image" Target="../media/image-22-14.jpg"/><Relationship Id="rId15" Type="http://schemas.openxmlformats.org/officeDocument/2006/relationships/image" Target="../media/image-22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image" Target="../media/image-23-7.jpg"/><Relationship Id="rId8" Type="http://schemas.openxmlformats.org/officeDocument/2006/relationships/image" Target="../media/image-23-8.jpg"/><Relationship Id="rId9" Type="http://schemas.openxmlformats.org/officeDocument/2006/relationships/image" Target="../media/image-23-9.jpg"/><Relationship Id="rId10" Type="http://schemas.openxmlformats.org/officeDocument/2006/relationships/image" Target="../media/image-23-10.jpg"/><Relationship Id="rId11" Type="http://schemas.openxmlformats.org/officeDocument/2006/relationships/image" Target="../media/image-23-11.jpg"/><Relationship Id="rId12" Type="http://schemas.openxmlformats.org/officeDocument/2006/relationships/image" Target="../media/image-23-12.jpg"/><Relationship Id="rId13" Type="http://schemas.openxmlformats.org/officeDocument/2006/relationships/image" Target="../media/image-23-13.jpg"/><Relationship Id="rId14" Type="http://schemas.openxmlformats.org/officeDocument/2006/relationships/image" Target="../media/image-23-14.jpg"/><Relationship Id="rId15" Type="http://schemas.openxmlformats.org/officeDocument/2006/relationships/image" Target="../media/image-23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08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1.4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Tot straks! · Stel jezelf voor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Prendre congé selon le contexte — et se présenter : la synthèse du palier 1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1 · Premiers pas en néerlandais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51–58 · 67 · 78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120"/>
            <a:ext cx="5120640" cy="34137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51–58 · 67 · 78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Prendre </a:t>
            </a:r>
            <a:r>
              <a:rPr lang="en-US" sz="1800" b="1" dirty="0">
                <a:solidFill>
                  <a:schemeClr val="tx1"/>
                </a:solidFill>
              </a:rPr>
              <a:t>congé</a:t>
            </a:r>
            <a:r>
              <a:rPr lang="en-US" sz="1800" dirty="0">
                <a:solidFill>
                  <a:schemeClr val="tx1"/>
                </a:solidFill>
              </a:rPr>
              <a:t> avec la formule qui convient (tot zo, tot straks, tot ziens…) et me </a:t>
            </a:r>
            <a:r>
              <a:rPr lang="en-US" sz="1800" b="1" dirty="0">
                <a:solidFill>
                  <a:schemeClr val="tx1"/>
                </a:solidFill>
              </a:rPr>
              <a:t>présenter en 5 phrases</a:t>
            </a:r>
            <a:r>
              <a:rPr lang="en-US" sz="1800" dirty="0">
                <a:solidFill>
                  <a:schemeClr val="tx1"/>
                </a:solidFill>
              </a:rPr>
              <a:t>, sans notes.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Tot zo · Tot straks · Tot morgen · Tot ziens · Fijne avond · Doei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Ik zie je morgen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Wacht even!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/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/ een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Associer une formule à une situation · répliquer vite (chrono) · se présenter à l’oral · reconnaître de / het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042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042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Échauffement : ik en de anderen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34772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3477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18004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Séquence 1.4 · zinnenbouwer 1.4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18004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79120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7912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761488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Formules de départ · 1.4.1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761488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23469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234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204972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1.4.2 Afscheidskaartjes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204972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6781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6781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648456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1.4.3 Snel afscheid nemen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648456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1216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1216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091940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Stel jezelf voor (synthèse)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091940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56514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5651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535424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Lidwoorden de · het · een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535424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00862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0086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4978908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gebiedende wijs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4978908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45211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4521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422392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Zich voorstellen (vocabulaire)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422392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9" name="Shape 53"/>
          <p:cNvSpPr/>
          <p:nvPr/>
        </p:nvSpPr>
        <p:spPr>
          <a:xfrm>
            <a:off x="6263640" y="589559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6263640" y="58955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61" name="Text 55"/>
          <p:cNvSpPr txBox="1"/>
          <p:nvPr/>
        </p:nvSpPr>
        <p:spPr>
          <a:xfrm>
            <a:off x="6784848" y="5865876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Bilan</a:t>
            </a:r>
            <a:endParaRPr lang="en-US" sz="1500" dirty="0"/>
          </a:p>
        </p:txBody>
      </p:sp>
      <p:sp>
        <p:nvSpPr>
          <p:cNvPr id="62" name="Text 56"/>
          <p:cNvSpPr txBox="1"/>
          <p:nvPr/>
        </p:nvSpPr>
        <p:spPr>
          <a:xfrm>
            <a:off x="10972800" y="5865876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ik en de anderen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Une carte chacun, à l’oral, puis on change de carte.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A6FB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Stel je buur voor</a:t>
            </a:r>
            <a:r>
              <a:rPr lang="en-US" sz="2200" dirty="0">
                <a:solidFill>
                  <a:schemeClr val="tx1"/>
                </a:solidFill>
              </a:rPr>
              <a:t> en trois phrases : </a:t>
            </a:r>
            <a:r>
              <a:rPr lang="en-US" sz="2200" i="1" dirty="0">
                <a:solidFill>
                  <a:schemeClr val="tx1"/>
                </a:solidFill>
              </a:rPr>
              <a:t>Dit is … · Hij / Zij heeft … · Hij / Zij is …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08776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D9700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351776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Vraagwoorden</a:t>
            </a:r>
            <a:r>
              <a:rPr lang="en-US" sz="2200" dirty="0">
                <a:solidFill>
                  <a:schemeClr val="tx1"/>
                </a:solidFill>
              </a:rPr>
              <a:t> : posez trois questions à votre voisin avec </a:t>
            </a:r>
            <a:r>
              <a:rPr lang="en-US" sz="2200" i="1" dirty="0">
                <a:solidFill>
                  <a:schemeClr val="tx1"/>
                </a:solidFill>
              </a:rPr>
              <a:t>Waar…? · Hoeveel…? · Wanneer…?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548640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1502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Je of jij?</a:t>
            </a:r>
            <a:r>
              <a:rPr lang="en-US" sz="2200" dirty="0">
                <a:solidFill>
                  <a:schemeClr val="tx1"/>
                </a:solidFill>
              </a:rPr>
              <a:t> Faites un contraste avec la forme longue : </a:t>
            </a:r>
            <a:r>
              <a:rPr lang="en-US" sz="2200" i="1" dirty="0">
                <a:solidFill>
                  <a:schemeClr val="tx1"/>
                </a:solidFill>
              </a:rPr>
              <a:t>Jij …, maar ik …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6208776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45936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E4A9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5028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45936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351776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Ik in 45 seconden</a:t>
            </a:r>
            <a:r>
              <a:rPr lang="en-US" sz="2200" dirty="0">
                <a:solidFill>
                  <a:schemeClr val="tx1"/>
                </a:solidFill>
              </a:rPr>
              <a:t> : qui vous êtes, d’où vous venez, ce que vous avez, comment vous allez.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1.4 : prendre congé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51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33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SÉQUENCE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1.4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Dernier pilier : </a:t>
            </a:r>
            <a:r>
              <a:rPr lang="en-US" sz="1700" b="1" dirty="0">
                <a:solidFill>
                  <a:schemeClr val="tx1"/>
                </a:solidFill>
              </a:rPr>
              <a:t>terminer</a:t>
            </a:r>
            <a:r>
              <a:rPr lang="en-US" sz="1700" dirty="0">
                <a:solidFill>
                  <a:schemeClr val="tx1"/>
                </a:solidFill>
              </a:rPr>
              <a:t> une conversation poliment.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Emma : «</a:t>
            </a:r>
            <a:r>
              <a:rPr lang="en-US" sz="1700" b="1" dirty="0">
                <a:solidFill>
                  <a:schemeClr val="tx1"/>
                </a:solidFill>
              </a:rPr>
              <a:t>Dag</a:t>
            </a:r>
            <a:r>
              <a:rPr lang="en-US" sz="1700" dirty="0">
                <a:solidFill>
                  <a:schemeClr val="tx1"/>
                </a:solidFill>
              </a:rPr>
              <a:t>, Pieter! </a:t>
            </a:r>
            <a:r>
              <a:rPr lang="en-US" sz="1700" b="1" dirty="0">
                <a:solidFill>
                  <a:schemeClr val="tx1"/>
                </a:solidFill>
              </a:rPr>
              <a:t>Tot snel!</a:t>
            </a:r>
            <a:r>
              <a:rPr lang="en-US" sz="1700" dirty="0">
                <a:solidFill>
                  <a:schemeClr val="tx1"/>
                </a:solidFill>
              </a:rPr>
              <a:t>» — </a:t>
            </a:r>
            <a:r>
              <a:rPr lang="en-US" sz="1700" i="1" dirty="0">
                <a:solidFill>
                  <a:schemeClr val="tx1"/>
                </a:solidFill>
              </a:rPr>
              <a:t>Au revoir ! À bientôt !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Pieter : «</a:t>
            </a:r>
            <a:r>
              <a:rPr lang="en-US" sz="1700" b="1" dirty="0">
                <a:solidFill>
                  <a:schemeClr val="tx1"/>
                </a:solidFill>
              </a:rPr>
              <a:t>Dag</a:t>
            </a:r>
            <a:r>
              <a:rPr lang="en-US" sz="1700" dirty="0">
                <a:solidFill>
                  <a:schemeClr val="tx1"/>
                </a:solidFill>
              </a:rPr>
              <a:t>, Emma! </a:t>
            </a:r>
            <a:r>
              <a:rPr lang="en-US" sz="1700" b="1" dirty="0">
                <a:solidFill>
                  <a:schemeClr val="tx1"/>
                </a:solidFill>
              </a:rPr>
              <a:t>Fijne dag!</a:t>
            </a:r>
            <a:r>
              <a:rPr lang="en-US" sz="1700" dirty="0">
                <a:solidFill>
                  <a:schemeClr val="tx1"/>
                </a:solidFill>
              </a:rPr>
              <a:t>» — </a:t>
            </a:r>
            <a:r>
              <a:rPr lang="en-US" sz="1700" i="1" dirty="0">
                <a:solidFill>
                  <a:schemeClr val="tx1"/>
                </a:solidFill>
              </a:rPr>
              <a:t>Bonne journée !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Dialogue p. 3 : </a:t>
            </a:r>
            <a:r>
              <a:rPr lang="en-US" sz="1700" i="1" dirty="0">
                <a:solidFill>
                  <a:schemeClr val="tx1"/>
                </a:solidFill>
              </a:rPr>
              <a:t>Nou, </a:t>
            </a:r>
            <a:r>
              <a:rPr lang="en-US" sz="1700" b="1" i="1" dirty="0">
                <a:solidFill>
                  <a:schemeClr val="tx1"/>
                </a:solidFill>
              </a:rPr>
              <a:t>tot straks</a:t>
            </a:r>
            <a:r>
              <a:rPr lang="en-US" sz="1700" i="1" dirty="0">
                <a:solidFill>
                  <a:schemeClr val="tx1"/>
                </a:solidFill>
              </a:rPr>
              <a:t> dan!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Comment dit-on « à demain » ? Et « bonne soirée »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Zinnenbouwer 1.4 — Afscheid nemen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ZINNENBOUWER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52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3630398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4499078" y="1481328"/>
            <a:ext cx="7141234" cy="4809744"/>
          </a:xfrm>
          <a:prstGeom prst="roundRect">
            <a:avLst>
              <a:gd name="adj" fmla="val 1521"/>
            </a:avLst>
          </a:prstGeom>
          <a:solidFill>
            <a:schemeClr val="tx2">
              <a:alpha val="10000"/>
            </a:schemeClr>
          </a:solidFill>
          <a:ln w="12700">
            <a:solidFill>
              <a:schemeClr val="tx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958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66006" y="1636776"/>
            <a:ext cx="64097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MODE D’EMPLOI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4663670" y="2075688"/>
            <a:ext cx="681205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Ik ga weg</a:t>
            </a:r>
            <a:r>
              <a:rPr lang="en-US" sz="1800" dirty="0">
                <a:solidFill>
                  <a:schemeClr val="tx1"/>
                </a:solidFill>
              </a:rPr>
              <a:t> : amorce + ce que je fais + formule — </a:t>
            </a:r>
            <a:r>
              <a:rPr lang="en-US" sz="1800" i="1" dirty="0">
                <a:solidFill>
                  <a:schemeClr val="tx1"/>
                </a:solidFill>
              </a:rPr>
              <a:t>Het is laat, ik ga naar huis. Tot morgen!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 Het antwoord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Oké, tot straks!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Dank u, tot ziens!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 Wanneer?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Ik zie je morgen.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We zien elkaar volgende week.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zie je</a:t>
            </a:r>
            <a:r>
              <a:rPr lang="en-US" sz="1800" dirty="0">
                <a:solidFill>
                  <a:schemeClr val="tx1"/>
                </a:solidFill>
              </a:rPr>
              <a:t> demande toujours un </a:t>
            </a:r>
            <a:r>
              <a:rPr lang="en-US" sz="1800" b="1" dirty="0">
                <a:solidFill>
                  <a:schemeClr val="tx1"/>
                </a:solidFill>
              </a:rPr>
              <a:t>moment</a:t>
            </a:r>
            <a:r>
              <a:rPr lang="en-US" sz="1800" dirty="0">
                <a:solidFill>
                  <a:schemeClr val="tx1"/>
                </a:solidFill>
              </a:rPr>
              <a:t> (famille C).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seul registre : ✗ </a:t>
            </a:r>
            <a:r>
              <a:rPr lang="en-US" sz="1800" i="1" dirty="0">
                <a:solidFill>
                  <a:schemeClr val="tx1"/>
                </a:solidFill>
              </a:rPr>
              <a:t>Dank u wel… Doei!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Formules de départ selon le contexte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53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1737360"/>
                <a:gridCol w="4142232"/>
              </a:tblGrid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REGISTRE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QUAND 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Dag!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 revoir · Salut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universel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Toute situation, neutre.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 ziens!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 revoir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formel · neutre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 ne sait pas quand on se revoit.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 straks!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À tout à l’heure · À tantôt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informel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Dans quelques heures.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 zo!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À tout de suite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informel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Dans quelques minutes.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 snel!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À bientôt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neutre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Prochainement.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 morgen!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À demain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neutre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 se voit demain.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 later!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À plus tard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informel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Plus tard dans la journée.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Doei! · Doeg!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Salut · Ciao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très informel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Entre amis proches.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Prettige dag!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Bonne journée 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poli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 souhaite une bonne journée.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Fijne avond!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Bonne soirée 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poli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 d’après-midi, début de soirée.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Aussi : </a:t>
            </a:r>
            <a:r>
              <a:rPr lang="en-US" sz="1500" i="1" dirty="0">
                <a:solidFill>
                  <a:schemeClr val="accent5"/>
                </a:solidFill>
              </a:rPr>
              <a:t>Tot volgende week!</a:t>
            </a:r>
            <a:r>
              <a:rPr lang="en-US" sz="1500" i="1" dirty="0">
                <a:solidFill>
                  <a:schemeClr val="accent5"/>
                </a:solidFill>
              </a:rPr>
              <a:t> (la semaine prochaine) · </a:t>
            </a:r>
            <a:r>
              <a:rPr lang="en-US" sz="1500" i="1" dirty="0">
                <a:solidFill>
                  <a:schemeClr val="accent5"/>
                </a:solidFill>
              </a:rPr>
              <a:t>Welterusten!</a:t>
            </a:r>
            <a:r>
              <a:rPr lang="en-US" sz="1500" i="1" dirty="0">
                <a:solidFill>
                  <a:schemeClr val="accent5"/>
                </a:solidFill>
              </a:rPr>
              <a:t> (quelqu’un va dormir) · </a:t>
            </a:r>
            <a:r>
              <a:rPr lang="en-US" sz="1500" i="1" dirty="0">
                <a:solidFill>
                  <a:schemeClr val="accent5"/>
                </a:solidFill>
              </a:rPr>
              <a:t>Fijne dag!</a:t>
            </a:r>
            <a:r>
              <a:rPr lang="en-US" sz="1500" i="1" dirty="0">
                <a:solidFill>
                  <a:schemeClr val="accent5"/>
                </a:solidFill>
              </a:rPr>
              <a:t> = </a:t>
            </a:r>
            <a:r>
              <a:rPr lang="en-US" sz="1500" i="1" dirty="0">
                <a:solidFill>
                  <a:schemeClr val="accent5"/>
                </a:solidFill>
              </a:rPr>
              <a:t>Prettige dag!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1.4.1 Wanneer zien we elkaar terug?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1 · seul, puis par deux · 5 min — Associez chaque formule à sa situation (écrivez la lettre), puis lisez les formules à voix haute.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1188720"/>
                <a:gridCol w="548640"/>
                <a:gridCol w="597103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FORMULE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LETTRE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SITUATION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zo!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demain.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straks!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Quelqu’un va dormir.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morgen!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dans quelques minutes.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ziens!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Entre amis proches, très familier.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volgende week!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souhaite une bonne soirée.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Welterusten!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ne sait pas quand on se reverra (neutre, poli).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Fijne avond!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la semaine prochaine.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Doei!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plus tard dans la journée (à tantôt).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1.4.1 Wanneer zien we elkaar terug?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1 · seul, puis par deux · 5 min — Associez chaque formule à sa situation (écrivez la lettre), puis lisez les formules à voix haute.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1188720"/>
                <a:gridCol w="548640"/>
                <a:gridCol w="597103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FORMULE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LETTRE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SITUATION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zo!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demain.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straks!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Quelqu’un va dormir.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morgen!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dans quelques minutes.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ziens!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f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Entre amis proches, très familier.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 volgende week!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souhaite une bonne soirée.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Welterusten!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ne sait pas quand on se reverra (neutre, poli).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Fijne avond!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la semaine prochaine.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Doei!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On se revoit plus tard dans la journée (à tantôt).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1.4.2 Afscheidskaartjes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2 · seul, puis par deux · 15 min — Par carte : </a:t>
            </a:r>
            <a:r>
              <a:rPr lang="en-US" sz="1600" b="1" i="1" dirty="0">
                <a:solidFill>
                  <a:schemeClr val="accent5"/>
                </a:solidFill>
              </a:rPr>
              <a:t>raison</a:t>
            </a:r>
            <a:r>
              <a:rPr lang="en-US" sz="1600" i="1" dirty="0">
                <a:solidFill>
                  <a:schemeClr val="accent5"/>
                </a:solidFill>
              </a:rPr>
              <a:t> + </a:t>
            </a:r>
            <a:r>
              <a:rPr lang="en-US" sz="1600" b="1" i="1" dirty="0">
                <a:solidFill>
                  <a:schemeClr val="accent5"/>
                </a:solidFill>
              </a:rPr>
              <a:t>ce que je fais</a:t>
            </a:r>
            <a:r>
              <a:rPr lang="en-US" sz="1600" i="1" dirty="0">
                <a:solidFill>
                  <a:schemeClr val="accent5"/>
                </a:solidFill>
              </a:rPr>
              <a:t> + </a:t>
            </a:r>
            <a:r>
              <a:rPr lang="en-US" sz="1600" b="1" i="1" dirty="0">
                <a:solidFill>
                  <a:schemeClr val="accent5"/>
                </a:solidFill>
              </a:rPr>
              <a:t>formule</a:t>
            </a:r>
            <a:r>
              <a:rPr lang="en-US" sz="1600" i="1" dirty="0">
                <a:solidFill>
                  <a:schemeClr val="accent5"/>
                </a:solidFill>
              </a:rPr>
              <a:t> (familles A et C). Le voisin répond (famille B) : </a:t>
            </a:r>
            <a:r>
              <a:rPr lang="en-US" sz="1600" i="1" dirty="0">
                <a:solidFill>
                  <a:schemeClr val="accent5"/>
                </a:solidFill>
              </a:rPr>
              <a:t>Oké, tot morgen!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840480"/>
                <a:gridCol w="3136392"/>
              </a:tblGrid>
              <a:tr h="5321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SITUATION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RAISON + ACTION (libre, exemple)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 h, je rentre. Collègues : demain.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………………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 cours commence dans 2 min. Pieter : après le cours.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 maître de stage (u). Quand ? Je ne sais pas.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 amis. Je les revois ce soir.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Je vais acheter un café. Retour dans 5 min.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Vendredi. La classe : la semaine prochaine.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1.4.2 Afscheidskaartjes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2 · seul, puis par deux · 15 min — Par carte : </a:t>
            </a:r>
            <a:r>
              <a:rPr lang="en-US" sz="1600" b="1" i="1" dirty="0">
                <a:solidFill>
                  <a:schemeClr val="accent5"/>
                </a:solidFill>
              </a:rPr>
              <a:t>raison</a:t>
            </a:r>
            <a:r>
              <a:rPr lang="en-US" sz="1600" i="1" dirty="0">
                <a:solidFill>
                  <a:schemeClr val="accent5"/>
                </a:solidFill>
              </a:rPr>
              <a:t> + </a:t>
            </a:r>
            <a:r>
              <a:rPr lang="en-US" sz="1600" b="1" i="1" dirty="0">
                <a:solidFill>
                  <a:schemeClr val="accent5"/>
                </a:solidFill>
              </a:rPr>
              <a:t>ce que je fais</a:t>
            </a:r>
            <a:r>
              <a:rPr lang="en-US" sz="1600" i="1" dirty="0">
                <a:solidFill>
                  <a:schemeClr val="accent5"/>
                </a:solidFill>
              </a:rPr>
              <a:t> + </a:t>
            </a:r>
            <a:r>
              <a:rPr lang="en-US" sz="1600" b="1" i="1" dirty="0">
                <a:solidFill>
                  <a:schemeClr val="accent5"/>
                </a:solidFill>
              </a:rPr>
              <a:t>formule</a:t>
            </a:r>
            <a:r>
              <a:rPr lang="en-US" sz="1600" i="1" dirty="0">
                <a:solidFill>
                  <a:schemeClr val="accent5"/>
                </a:solidFill>
              </a:rPr>
              <a:t> (familles A et C). Le voisin répond (famille B) : </a:t>
            </a:r>
            <a:r>
              <a:rPr lang="en-US" sz="1600" i="1" dirty="0">
                <a:solidFill>
                  <a:schemeClr val="accent5"/>
                </a:solidFill>
              </a:rPr>
              <a:t>Oké, tot morgen!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840480"/>
                <a:gridCol w="3136392"/>
              </a:tblGrid>
              <a:tr h="5321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SITUATION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RAISON + ACTION (libre, exemple)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 h, je rentre. Collègues : demain.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Het is laat, ik ga naar huis.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Tot morgen!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 cours commence dans 2 min. Pieter : après le cours.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Sorry, mijn les begint zo.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Tot straks, Pieter!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 maître de stage (u). Quand ? Je ne sais pas.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Dank u wel, ik ga nu.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Tot ziens, meneer!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 amis. Je les revois ce soir.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Nou, ik ga naar het werk.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Ik zie jullie vanavond!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Je vais acheter un café. Retour dans 5 min.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Ik ga even koffie halen.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Tot zo!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Vendredi. La classe : la semaine prochaine.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Het is vrijdag, ik ga naar huis.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We zien elkaar volgende week!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1.4.3 Snel afscheid nemen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3 · par deux · 10 min — Pliez la page · le voisin </a:t>
            </a:r>
            <a:r>
              <a:rPr lang="en-US" sz="1600" b="1" i="1" dirty="0">
                <a:solidFill>
                  <a:schemeClr val="accent5"/>
                </a:solidFill>
              </a:rPr>
              <a:t>chronomètre</a:t>
            </a:r>
            <a:r>
              <a:rPr lang="en-US" sz="1600" i="1" dirty="0">
                <a:solidFill>
                  <a:schemeClr val="accent5"/>
                </a:solidFill>
              </a:rPr>
              <a:t> · les 15 amorces sans vous arrêter · dépliez, corrigez · </a:t>
            </a:r>
            <a:r>
              <a:rPr lang="en-US" sz="1600" b="1" i="1" dirty="0">
                <a:solidFill>
                  <a:schemeClr val="accent5"/>
                </a:solidFill>
              </a:rPr>
              <a:t>second passage</a:t>
            </a:r>
            <a:r>
              <a:rPr lang="en-US" sz="1600" i="1" dirty="0">
                <a:solidFill>
                  <a:schemeClr val="accent5"/>
                </a:solidFill>
              </a:rPr>
              <a:t> (notez 1e keer, 2e keer, winst).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1.  </a:t>
            </a:r>
            <a:r>
              <a:rPr lang="en-US" sz="1700" dirty="0">
                <a:solidFill>
                  <a:schemeClr val="tx1"/>
                </a:solidFill>
              </a:rPr>
              <a:t>À tout à l’heure ! (dans quelques heures) → </a:t>
            </a:r>
            <a:r>
              <a:rPr lang="en-US" sz="1700" dirty="0">
                <a:solidFill>
                  <a:schemeClr val="accent5"/>
                </a:solidFill>
              </a:rPr>
              <a:t>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2.  </a:t>
            </a:r>
            <a:r>
              <a:rPr lang="en-US" sz="1700" dirty="0">
                <a:solidFill>
                  <a:schemeClr val="tx1"/>
                </a:solidFill>
              </a:rPr>
              <a:t>À tout de suite ! (dans quelques minutes) → </a:t>
            </a:r>
            <a:r>
              <a:rPr lang="en-US" sz="1700" dirty="0">
                <a:solidFill>
                  <a:schemeClr val="accent5"/>
                </a:solidFill>
              </a:rPr>
              <a:t>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3.  </a:t>
            </a:r>
            <a:r>
              <a:rPr lang="en-US" sz="1700" dirty="0">
                <a:solidFill>
                  <a:schemeClr val="tx1"/>
                </a:solidFill>
              </a:rPr>
              <a:t>À demain ! → </a:t>
            </a:r>
            <a:r>
              <a:rPr lang="en-US" sz="1700" dirty="0">
                <a:solidFill>
                  <a:schemeClr val="accent5"/>
                </a:solidFill>
              </a:rPr>
              <a:t>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4.  </a:t>
            </a:r>
            <a:r>
              <a:rPr lang="en-US" sz="1700" dirty="0">
                <a:solidFill>
                  <a:schemeClr val="tx1"/>
                </a:solidFill>
              </a:rPr>
              <a:t>Au revoir, monsieur !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5.  </a:t>
            </a:r>
            <a:r>
              <a:rPr lang="en-US" sz="1700" dirty="0">
                <a:solidFill>
                  <a:schemeClr val="tx1"/>
                </a:solidFill>
              </a:rPr>
              <a:t>Bonne soirée ! → </a:t>
            </a:r>
            <a:r>
              <a:rPr lang="en-US" sz="1700" dirty="0">
                <a:solidFill>
                  <a:schemeClr val="accent5"/>
                </a:solidFill>
              </a:rPr>
              <a:t>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6.  </a:t>
            </a:r>
            <a:r>
              <a:rPr lang="en-US" sz="1700" dirty="0">
                <a:solidFill>
                  <a:schemeClr val="tx1"/>
                </a:solidFill>
              </a:rPr>
              <a:t>Bonne journée !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7.  </a:t>
            </a:r>
            <a:r>
              <a:rPr lang="en-US" sz="1700" dirty="0">
                <a:solidFill>
                  <a:schemeClr val="tx1"/>
                </a:solidFill>
              </a:rPr>
              <a:t>Dors bien ! → </a:t>
            </a:r>
            <a:r>
              <a:rPr lang="en-US" sz="1700" dirty="0">
                <a:solidFill>
                  <a:schemeClr val="accent5"/>
                </a:solidFill>
              </a:rPr>
              <a:t>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8.  </a:t>
            </a:r>
            <a:r>
              <a:rPr lang="en-US" sz="1700" dirty="0">
                <a:solidFill>
                  <a:schemeClr val="tx1"/>
                </a:solidFill>
              </a:rPr>
              <a:t>Il est tard, je rentre à la maison.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9.  </a:t>
            </a:r>
            <a:r>
              <a:rPr lang="en-US" sz="1700" dirty="0">
                <a:solidFill>
                  <a:schemeClr val="tx1"/>
                </a:solidFill>
              </a:rPr>
              <a:t>Je n’ai pas le temps, mon cours commence tout de suite.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10.  </a:t>
            </a:r>
            <a:r>
              <a:rPr lang="en-US" sz="1700" dirty="0">
                <a:solidFill>
                  <a:schemeClr val="tx1"/>
                </a:solidFill>
              </a:rPr>
              <a:t>Je te vois demain !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11.  </a:t>
            </a:r>
            <a:r>
              <a:rPr lang="en-US" sz="1700" dirty="0">
                <a:solidFill>
                  <a:schemeClr val="tx1"/>
                </a:solidFill>
              </a:rPr>
              <a:t>On se voit la semaine prochaine !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12.  </a:t>
            </a:r>
            <a:r>
              <a:rPr lang="en-US" sz="1700" dirty="0">
                <a:solidFill>
                  <a:schemeClr val="tx1"/>
                </a:solidFill>
              </a:rPr>
              <a:t>Pas de problème. Bon, à tantôt alors !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13.  </a:t>
            </a:r>
            <a:r>
              <a:rPr lang="en-US" sz="1700" dirty="0">
                <a:solidFill>
                  <a:schemeClr val="tx1"/>
                </a:solidFill>
              </a:rPr>
              <a:t>Oui, à tantôt ! Au revoir, Pieter !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14.  </a:t>
            </a:r>
            <a:r>
              <a:rPr lang="en-US" sz="1700" dirty="0">
                <a:solidFill>
                  <a:schemeClr val="tx1"/>
                </a:solidFill>
              </a:rPr>
              <a:t>Je vais au travail. À plus tard !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……………………………………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15.  </a:t>
            </a:r>
            <a:r>
              <a:rPr lang="en-US" sz="1700" dirty="0">
                <a:solidFill>
                  <a:schemeClr val="tx1"/>
                </a:solidFill>
              </a:rPr>
              <a:t>Salut ! (entre amis, très familier) → </a:t>
            </a:r>
            <a:r>
              <a:rPr lang="en-US" sz="1700" dirty="0">
                <a:solidFill>
                  <a:schemeClr val="accent5"/>
                </a:solidFill>
              </a:rPr>
              <a:t>……………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1.4.3 Snel afscheid nemen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3 · par deux · 10 min — Pliez la page · le voisin </a:t>
            </a:r>
            <a:r>
              <a:rPr lang="en-US" sz="1600" b="1" i="1" dirty="0">
                <a:solidFill>
                  <a:schemeClr val="accent5"/>
                </a:solidFill>
              </a:rPr>
              <a:t>chronomètre</a:t>
            </a:r>
            <a:r>
              <a:rPr lang="en-US" sz="1600" i="1" dirty="0">
                <a:solidFill>
                  <a:schemeClr val="accent5"/>
                </a:solidFill>
              </a:rPr>
              <a:t> · les 15 amorces sans vous arrêter · dépliez, corrigez · </a:t>
            </a:r>
            <a:r>
              <a:rPr lang="en-US" sz="1600" b="1" i="1" dirty="0">
                <a:solidFill>
                  <a:schemeClr val="accent5"/>
                </a:solidFill>
              </a:rPr>
              <a:t>second passage</a:t>
            </a:r>
            <a:r>
              <a:rPr lang="en-US" sz="1600" i="1" dirty="0">
                <a:solidFill>
                  <a:schemeClr val="accent5"/>
                </a:solidFill>
              </a:rPr>
              <a:t> (notez 1e keer, 2e keer, winst).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1.  </a:t>
            </a:r>
            <a:r>
              <a:rPr lang="en-US" sz="1700" dirty="0">
                <a:solidFill>
                  <a:schemeClr val="tx1"/>
                </a:solidFill>
              </a:rPr>
              <a:t>À tout à l’heure ! (dans quelques heures) → </a:t>
            </a:r>
            <a:r>
              <a:rPr lang="en-US" sz="1700" b="1" dirty="0">
                <a:solidFill>
                  <a:schemeClr val="accent3"/>
                </a:solidFill>
              </a:rPr>
              <a:t>Tot straks!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2.  </a:t>
            </a:r>
            <a:r>
              <a:rPr lang="en-US" sz="1700" dirty="0">
                <a:solidFill>
                  <a:schemeClr val="tx1"/>
                </a:solidFill>
              </a:rPr>
              <a:t>À tout de suite ! (dans quelques minutes) → </a:t>
            </a:r>
            <a:r>
              <a:rPr lang="en-US" sz="1700" b="1" dirty="0">
                <a:solidFill>
                  <a:schemeClr val="accent3"/>
                </a:solidFill>
              </a:rPr>
              <a:t>Tot zo!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3.  </a:t>
            </a:r>
            <a:r>
              <a:rPr lang="en-US" sz="1700" dirty="0">
                <a:solidFill>
                  <a:schemeClr val="tx1"/>
                </a:solidFill>
              </a:rPr>
              <a:t>À demain ! → </a:t>
            </a:r>
            <a:r>
              <a:rPr lang="en-US" sz="1700" b="1" dirty="0">
                <a:solidFill>
                  <a:schemeClr val="accent3"/>
                </a:solidFill>
              </a:rPr>
              <a:t>Tot morgen!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4.  </a:t>
            </a:r>
            <a:r>
              <a:rPr lang="en-US" sz="1700" dirty="0">
                <a:solidFill>
                  <a:schemeClr val="tx1"/>
                </a:solidFill>
              </a:rPr>
              <a:t>Au revoir, monsieur ! → </a:t>
            </a:r>
            <a:r>
              <a:rPr lang="en-US" sz="1700" b="1" dirty="0">
                <a:solidFill>
                  <a:schemeClr val="accent3"/>
                </a:solidFill>
              </a:rPr>
              <a:t>Tot ziens, meneer! · Dag meneer!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5.  </a:t>
            </a:r>
            <a:r>
              <a:rPr lang="en-US" sz="1700" dirty="0">
                <a:solidFill>
                  <a:schemeClr val="tx1"/>
                </a:solidFill>
              </a:rPr>
              <a:t>Bonne soirée ! → </a:t>
            </a:r>
            <a:r>
              <a:rPr lang="en-US" sz="1700" b="1" dirty="0">
                <a:solidFill>
                  <a:schemeClr val="accent3"/>
                </a:solidFill>
              </a:rPr>
              <a:t>Fijne avond!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6.  </a:t>
            </a:r>
            <a:r>
              <a:rPr lang="en-US" sz="1700" dirty="0">
                <a:solidFill>
                  <a:schemeClr val="tx1"/>
                </a:solidFill>
              </a:rPr>
              <a:t>Bonne journée ! → </a:t>
            </a:r>
            <a:r>
              <a:rPr lang="en-US" sz="1700" b="1" dirty="0">
                <a:solidFill>
                  <a:schemeClr val="accent3"/>
                </a:solidFill>
              </a:rPr>
              <a:t>Prettige dag! · Fijne dag!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7.  </a:t>
            </a:r>
            <a:r>
              <a:rPr lang="en-US" sz="1700" dirty="0">
                <a:solidFill>
                  <a:schemeClr val="tx1"/>
                </a:solidFill>
              </a:rPr>
              <a:t>Dors bien ! → </a:t>
            </a:r>
            <a:r>
              <a:rPr lang="en-US" sz="1700" b="1" dirty="0">
                <a:solidFill>
                  <a:schemeClr val="accent3"/>
                </a:solidFill>
              </a:rPr>
              <a:t>Welterusten!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8.  </a:t>
            </a:r>
            <a:r>
              <a:rPr lang="en-US" sz="1700" dirty="0">
                <a:solidFill>
                  <a:schemeClr val="tx1"/>
                </a:solidFill>
              </a:rPr>
              <a:t>Il est tard, je rentre à la maison. → </a:t>
            </a:r>
            <a:r>
              <a:rPr lang="en-US" sz="1700" b="1" dirty="0">
                <a:solidFill>
                  <a:schemeClr val="accent3"/>
                </a:solidFill>
              </a:rPr>
              <a:t>Het is laat, ik ga naar huis.</a:t>
            </a:r>
            <a:endParaRPr lang="en-US" sz="17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9.  </a:t>
            </a:r>
            <a:r>
              <a:rPr lang="en-US" sz="1700" dirty="0">
                <a:solidFill>
                  <a:schemeClr val="tx1"/>
                </a:solidFill>
              </a:rPr>
              <a:t>Je n’ai pas le temps, mon cours commence tout de suite. → </a:t>
            </a:r>
            <a:r>
              <a:rPr lang="en-US" sz="1700" b="1" dirty="0">
                <a:solidFill>
                  <a:schemeClr val="accent3"/>
                </a:solidFill>
              </a:rPr>
              <a:t>Ik heb geen tijd, mijn les begint zo.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10.  </a:t>
            </a:r>
            <a:r>
              <a:rPr lang="en-US" sz="1700" dirty="0">
                <a:solidFill>
                  <a:schemeClr val="tx1"/>
                </a:solidFill>
              </a:rPr>
              <a:t>Je te vois demain ! → </a:t>
            </a:r>
            <a:r>
              <a:rPr lang="en-US" sz="1700" b="1" dirty="0">
                <a:solidFill>
                  <a:schemeClr val="accent3"/>
                </a:solidFill>
              </a:rPr>
              <a:t>Ik zie je morgen!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11.  </a:t>
            </a:r>
            <a:r>
              <a:rPr lang="en-US" sz="1700" dirty="0">
                <a:solidFill>
                  <a:schemeClr val="tx1"/>
                </a:solidFill>
              </a:rPr>
              <a:t>On se voit la semaine prochaine ! → </a:t>
            </a:r>
            <a:r>
              <a:rPr lang="en-US" sz="1700" b="1" dirty="0">
                <a:solidFill>
                  <a:schemeClr val="accent3"/>
                </a:solidFill>
              </a:rPr>
              <a:t>We zien elkaar volgende week!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12.  </a:t>
            </a:r>
            <a:r>
              <a:rPr lang="en-US" sz="1700" dirty="0">
                <a:solidFill>
                  <a:schemeClr val="tx1"/>
                </a:solidFill>
              </a:rPr>
              <a:t>Pas de problème. Bon, à tantôt alors ! → </a:t>
            </a:r>
            <a:r>
              <a:rPr lang="en-US" sz="1700" b="1" dirty="0">
                <a:solidFill>
                  <a:schemeClr val="accent3"/>
                </a:solidFill>
              </a:rPr>
              <a:t>Geen probleem. Nou, tot straks dan!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13.  </a:t>
            </a:r>
            <a:r>
              <a:rPr lang="en-US" sz="1700" dirty="0">
                <a:solidFill>
                  <a:schemeClr val="tx1"/>
                </a:solidFill>
              </a:rPr>
              <a:t>Oui, à tantôt ! Au revoir, Pieter ! → </a:t>
            </a:r>
            <a:r>
              <a:rPr lang="en-US" sz="1700" b="1" dirty="0">
                <a:solidFill>
                  <a:schemeClr val="accent3"/>
                </a:solidFill>
              </a:rPr>
              <a:t>Ja, tot straks! Dag Pieter!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14.  </a:t>
            </a:r>
            <a:r>
              <a:rPr lang="en-US" sz="1700" dirty="0">
                <a:solidFill>
                  <a:schemeClr val="tx1"/>
                </a:solidFill>
              </a:rPr>
              <a:t>Je vais au travail. À plus tard ! → </a:t>
            </a:r>
            <a:r>
              <a:rPr lang="en-US" sz="1700" b="1" dirty="0">
                <a:solidFill>
                  <a:schemeClr val="accent3"/>
                </a:solidFill>
              </a:rPr>
              <a:t>Ik ga naar het werk. Tot later!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15.  </a:t>
            </a:r>
            <a:r>
              <a:rPr lang="en-US" sz="1700" dirty="0">
                <a:solidFill>
                  <a:schemeClr val="tx1"/>
                </a:solidFill>
              </a:rPr>
              <a:t>Salut ! (entre amis, très familier) → </a:t>
            </a:r>
            <a:r>
              <a:rPr lang="en-US" sz="1700" b="1" dirty="0">
                <a:solidFill>
                  <a:schemeClr val="accent3"/>
                </a:solidFill>
              </a:rPr>
              <a:t>Doei!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Mise en situation finale : Stel jezelf voor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puis par deux · 15 min — 1 min : relisez vos quatre zinnenbouwers, puis </a:t>
            </a:r>
            <a:r>
              <a:rPr lang="en-US" sz="1600" b="1" i="1" dirty="0">
                <a:solidFill>
                  <a:schemeClr val="accent5"/>
                </a:solidFill>
              </a:rPr>
              <a:t>fermez-les</a:t>
            </a:r>
            <a:r>
              <a:rPr lang="en-US" sz="1600" i="1" dirty="0">
                <a:solidFill>
                  <a:schemeClr val="accent5"/>
                </a:solidFill>
              </a:rPr>
              <a:t>. Écrivez 5 phrases, puis présentez-vous </a:t>
            </a:r>
            <a:r>
              <a:rPr lang="en-US" sz="1600" b="1" i="1" dirty="0">
                <a:solidFill>
                  <a:schemeClr val="accent5"/>
                </a:solidFill>
              </a:rPr>
              <a:t>sans notes</a:t>
            </a:r>
            <a:r>
              <a:rPr lang="en-US" sz="1600" i="1" dirty="0">
                <a:solidFill>
                  <a:schemeClr val="accent5"/>
                </a:solidFill>
              </a:rPr>
              <a:t> à un autre binôme.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Les 5 phrases — un modèle (à adapter : il doit être vrai pour vous !)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 · Saluer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Goedenavond allemaal!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2 · Zijn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Ik ben Sofia en ik kom uit Charleroi.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3 · Hebben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Ik heb twee kinderen en een kat.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4 · Ik / jij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Jij woont in Gent, maar ik woon in Bergen.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5 · Congé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Het is laat, ik ga naar huis. Tot volgende week!</a:t>
            </a:r>
            <a:endParaRPr lang="en-US" sz="2200" dirty="0"/>
          </a:p>
        </p:txBody>
      </p:sp>
      <p:pic>
        <p:nvPicPr>
          <p:cNvPr id="8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910" y="1481328"/>
            <a:ext cx="3257212" cy="182880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aside"/>
          <p:cNvSpPr/>
          <p:nvPr/>
        </p:nvSpPr>
        <p:spPr>
          <a:xfrm>
            <a:off x="8046720" y="3538728"/>
            <a:ext cx="3593592" cy="2752344"/>
          </a:xfrm>
          <a:prstGeom prst="roundRect">
            <a:avLst>
              <a:gd name="adj" fmla="val 2658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72160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13648" y="36941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11312" y="4133088"/>
            <a:ext cx="326440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Salut et congé </a:t>
            </a:r>
            <a:r>
              <a:rPr lang="en-US" sz="1800" b="1" dirty="0">
                <a:solidFill>
                  <a:schemeClr val="tx1"/>
                </a:solidFill>
              </a:rPr>
              <a:t>selon l’heure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ben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ik heb</a:t>
            </a:r>
            <a:r>
              <a:rPr lang="en-US" sz="1800" dirty="0">
                <a:solidFill>
                  <a:schemeClr val="tx1"/>
                </a:solidFill>
              </a:rPr>
              <a:t> + verbe en </a:t>
            </a:r>
            <a:r>
              <a:rPr lang="en-US" sz="1800" b="1" dirty="0">
                <a:solidFill>
                  <a:schemeClr val="tx1"/>
                </a:solidFill>
              </a:rPr>
              <a:t>2e position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Forme </a:t>
            </a:r>
            <a:r>
              <a:rPr lang="en-US" sz="1800" b="1" dirty="0">
                <a:solidFill>
                  <a:schemeClr val="tx1"/>
                </a:solidFill>
              </a:rPr>
              <a:t>longue</a:t>
            </a:r>
            <a:r>
              <a:rPr lang="en-US" sz="1800" dirty="0">
                <a:solidFill>
                  <a:schemeClr val="tx1"/>
                </a:solidFill>
              </a:rPr>
              <a:t> (jij, ik) pour contraster.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À l’oral : </a:t>
            </a:r>
            <a:r>
              <a:rPr lang="en-US" sz="1800" b="1" dirty="0">
                <a:solidFill>
                  <a:schemeClr val="tx1"/>
                </a:solidFill>
              </a:rPr>
              <a:t>sans notes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Lidwoorden : de · het · een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Deux articles définis : </a:t>
            </a:r>
            <a:r>
              <a:rPr lang="en-US" sz="1800" b="1" dirty="0">
                <a:solidFill>
                  <a:schemeClr val="tx1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(± 3 mots sur 4) et </a:t>
            </a:r>
            <a:r>
              <a:rPr lang="en-US" sz="1800" b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. L’article indéfini est toujours </a:t>
            </a:r>
            <a:r>
              <a:rPr lang="en-US" sz="1800" b="1" dirty="0">
                <a:solidFill>
                  <a:schemeClr val="tx1"/>
                </a:solidFill>
              </a:rPr>
              <a:t>een</a:t>
            </a:r>
            <a:r>
              <a:rPr lang="en-US" sz="1800" dirty="0">
                <a:solidFill>
                  <a:schemeClr val="tx1"/>
                </a:solidFill>
              </a:rPr>
              <a:t>. Apprenez </a:t>
            </a:r>
            <a:r>
              <a:rPr lang="en-US" sz="1800" b="1" dirty="0">
                <a:solidFill>
                  <a:schemeClr val="tx1"/>
                </a:solidFill>
              </a:rPr>
              <a:t>chaque mot avec son article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3514344" cy="3142488"/>
          </a:xfrm>
          <a:prstGeom prst="roundRect">
            <a:avLst>
              <a:gd name="adj" fmla="val 291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22199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42032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22199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DE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825496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man · de vrouw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68040"/>
            <a:ext cx="3148584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± 3 mots sur 4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masculin + féminin, les personnes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chemeClr val="tx1"/>
                </a:solidFill>
              </a:rPr>
              <a:t>de fiets · de koffie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pluriel : </a:t>
            </a:r>
            <a:r>
              <a:rPr lang="en-US" sz="1600" b="1" dirty="0">
                <a:solidFill>
                  <a:schemeClr val="tx1"/>
                </a:solidFill>
              </a:rPr>
              <a:t>toujours de</a:t>
            </a:r>
            <a:r>
              <a:rPr lang="en-US" sz="1600" dirty="0">
                <a:solidFill>
                  <a:schemeClr val="tx1"/>
                </a:solidFill>
              </a:rPr>
              <a:t> — </a:t>
            </a:r>
            <a:r>
              <a:rPr lang="en-US" sz="1600" i="1" dirty="0">
                <a:solidFill>
                  <a:schemeClr val="tx1"/>
                </a:solidFill>
              </a:rPr>
              <a:t>de huizen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37304" y="2221992"/>
            <a:ext cx="3514344" cy="3142488"/>
          </a:xfrm>
          <a:prstGeom prst="roundRect">
            <a:avLst>
              <a:gd name="adj" fmla="val 291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222199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15" name="Shape 12"/>
          <p:cNvSpPr/>
          <p:nvPr/>
        </p:nvSpPr>
        <p:spPr>
          <a:xfrm>
            <a:off x="4337304" y="2542032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0184" y="222199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HET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825496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huis · het brood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20184" y="3368040"/>
            <a:ext cx="3148584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neutre : </a:t>
            </a:r>
            <a:r>
              <a:rPr lang="en-US" sz="1600" b="1" dirty="0">
                <a:solidFill>
                  <a:schemeClr val="tx1"/>
                </a:solidFill>
              </a:rPr>
              <a:t>± 1 mot sur 4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-je, -tje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het meisje, het huisje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langues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het Nederlands, het Frans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verbe → nom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het eten, het drinken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25968" y="2221992"/>
            <a:ext cx="3514344" cy="3142488"/>
          </a:xfrm>
          <a:prstGeom prst="roundRect">
            <a:avLst>
              <a:gd name="adj" fmla="val 291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25968" y="222199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5968" y="2542032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8848" y="222199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EEN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825496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man · een huis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8308848" y="3368040"/>
            <a:ext cx="3148584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article indéfini : </a:t>
            </a:r>
            <a:r>
              <a:rPr lang="en-US" sz="1600" b="1" dirty="0">
                <a:solidFill>
                  <a:schemeClr val="tx1"/>
                </a:solidFill>
              </a:rPr>
              <a:t>toujours een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dit « eun » ; </a:t>
            </a:r>
            <a:r>
              <a:rPr lang="en-US" sz="1600" i="1" dirty="0">
                <a:solidFill>
                  <a:schemeClr val="tx1"/>
                </a:solidFill>
              </a:rPr>
              <a:t>één</a:t>
            </a:r>
            <a:r>
              <a:rPr lang="en-US" sz="1600" dirty="0">
                <a:solidFill>
                  <a:schemeClr val="tx1"/>
                </a:solidFill>
              </a:rPr>
              <a:t> = le chiffre 1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 de </a:t>
            </a:r>
            <a:r>
              <a:rPr lang="en-US" sz="1600" i="1" dirty="0">
                <a:solidFill>
                  <a:schemeClr val="tx1"/>
                </a:solidFill>
              </a:rPr>
              <a:t>een</a:t>
            </a:r>
            <a:r>
              <a:rPr lang="en-US" sz="1600" dirty="0">
                <a:solidFill>
                  <a:schemeClr val="tx1"/>
                </a:solidFill>
              </a:rPr>
              <a:t> au pluriel : </a:t>
            </a:r>
            <a:r>
              <a:rPr lang="en-US" sz="1600" i="1" dirty="0">
                <a:solidFill>
                  <a:schemeClr val="tx1"/>
                </a:solidFill>
              </a:rPr>
              <a:t>een kind → kinderen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genre français ne sert à rien : </a:t>
            </a:r>
            <a:r>
              <a:rPr lang="en-US" sz="1700" i="1" dirty="0">
                <a:solidFill>
                  <a:schemeClr val="tx1"/>
                </a:solidFill>
              </a:rPr>
              <a:t>la maison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accent4"/>
                </a:solidFill>
              </a:rPr>
              <a:t>het</a:t>
            </a:r>
            <a:r>
              <a:rPr lang="en-US" sz="1700" dirty="0">
                <a:solidFill>
                  <a:schemeClr val="tx1"/>
                </a:solidFill>
              </a:rPr>
              <a:t> huis · </a:t>
            </a:r>
            <a:r>
              <a:rPr lang="en-US" sz="1700" i="1" dirty="0">
                <a:solidFill>
                  <a:schemeClr val="tx1"/>
                </a:solidFill>
              </a:rPr>
              <a:t>le vélo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accent2"/>
                </a:solidFill>
              </a:rPr>
              <a:t>de</a:t>
            </a:r>
            <a:r>
              <a:rPr lang="en-US" sz="1700" dirty="0">
                <a:solidFill>
                  <a:schemeClr val="tx1"/>
                </a:solidFill>
              </a:rPr>
              <a:t> fiets · </a:t>
            </a:r>
            <a:r>
              <a:rPr lang="en-US" sz="1700" i="1" dirty="0">
                <a:solidFill>
                  <a:schemeClr val="tx1"/>
                </a:solidFill>
              </a:rPr>
              <a:t>la fille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accent4"/>
                </a:solidFill>
              </a:rPr>
              <a:t>het</a:t>
            </a:r>
            <a:r>
              <a:rPr lang="en-US" sz="1700" dirty="0">
                <a:solidFill>
                  <a:schemeClr val="tx1"/>
                </a:solidFill>
              </a:rPr>
              <a:t> meisje. Et au pluriel, tout passe en </a:t>
            </a:r>
            <a:r>
              <a:rPr lang="en-US" sz="1700" b="1" dirty="0">
                <a:solidFill>
                  <a:schemeClr val="tx1"/>
                </a:solidFill>
              </a:rPr>
              <a:t>de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b="1" dirty="0">
                <a:solidFill>
                  <a:schemeClr val="accent4"/>
                </a:solidFill>
              </a:rPr>
              <a:t>het</a:t>
            </a:r>
            <a:r>
              <a:rPr lang="en-US" sz="1700" dirty="0">
                <a:solidFill>
                  <a:schemeClr val="tx1"/>
                </a:solidFill>
              </a:rPr>
              <a:t> huis → </a:t>
            </a:r>
            <a:r>
              <a:rPr lang="en-US" sz="1700" b="1" dirty="0">
                <a:solidFill>
                  <a:schemeClr val="accent2"/>
                </a:solidFill>
              </a:rPr>
              <a:t>de</a:t>
            </a:r>
            <a:r>
              <a:rPr lang="en-US" sz="1700" dirty="0">
                <a:solidFill>
                  <a:schemeClr val="tx1"/>
                </a:solidFill>
              </a:rPr>
              <a:t> huizen.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de of het?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Seul · 3 min — Écrivez l’article dans la bulle, puis dites le mot à voix haute avec son article.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8" name="illustration" descr="le 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394" y="1947672"/>
            <a:ext cx="1624534" cy="12847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…………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37185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3" name="illustration" descr="la g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931" y="1947672"/>
            <a:ext cx="1619879" cy="12847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6329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346329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42671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…………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19506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8" name="illustration" descr="le t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849" y="1947672"/>
            <a:ext cx="1652463" cy="12847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8650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2865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24992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…………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901827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3" name="illustration" descr="le musé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225" y="1947672"/>
            <a:ext cx="1578131" cy="12847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10971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910971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907313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…………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548640" y="4165092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8" name="illustration" descr="le fro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29" y="4238244"/>
            <a:ext cx="1652463" cy="12847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40080" y="425653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40080" y="4256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03504" y="5541264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…………</a:t>
            </a:r>
            <a:endParaRPr lang="en-US" sz="2000" dirty="0"/>
          </a:p>
        </p:txBody>
      </p:sp>
      <p:sp>
        <p:nvSpPr>
          <p:cNvPr id="32" name="Shape 24"/>
          <p:cNvSpPr/>
          <p:nvPr/>
        </p:nvSpPr>
        <p:spPr>
          <a:xfrm>
            <a:off x="3371850" y="4165092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3" name="illustration" descr="l’ea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07" y="4238244"/>
            <a:ext cx="1589128" cy="12847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3463290" y="425653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3463290" y="4256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3426714" y="5541264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…………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de of het?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Seul · 3 min — Écrivez l’article dans la bulle, puis dites le mot à voix haute avec son article.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9" name="illustration" descr="le 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394" y="1947672"/>
            <a:ext cx="1624534" cy="12847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350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de </a:t>
            </a:r>
            <a:r>
              <a:rPr lang="en-US" sz="2000" b="1" dirty="0">
                <a:solidFill>
                  <a:schemeClr val="tx1"/>
                </a:solidFill>
              </a:rPr>
              <a:t>bus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bus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37185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14" name="illustration" descr="la g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931" y="1947672"/>
            <a:ext cx="1619879" cy="12847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46329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46329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42671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het </a:t>
            </a:r>
            <a:r>
              <a:rPr lang="en-US" sz="2000" b="1" dirty="0">
                <a:solidFill>
                  <a:schemeClr val="tx1"/>
                </a:solidFill>
              </a:rPr>
              <a:t>station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gare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19506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9" name="illustration" descr="le t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849" y="1947672"/>
            <a:ext cx="1652463" cy="12847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8650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2865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24992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de </a:t>
            </a:r>
            <a:r>
              <a:rPr lang="en-US" sz="2000" b="1" dirty="0">
                <a:solidFill>
                  <a:schemeClr val="tx1"/>
                </a:solidFill>
              </a:rPr>
              <a:t>trein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train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9018270" y="1874520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24" name="illustration" descr="le musé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225" y="1947672"/>
            <a:ext cx="1578131" cy="128473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10971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910971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073134" y="3250692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het </a:t>
            </a:r>
            <a:r>
              <a:rPr lang="en-US" sz="2000" b="1" dirty="0">
                <a:solidFill>
                  <a:schemeClr val="tx1"/>
                </a:solidFill>
              </a:rPr>
              <a:t>museum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musée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548640" y="4165092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9" name="illustration" descr="le fro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29" y="4238244"/>
            <a:ext cx="1652463" cy="128473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40080" y="425653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640080" y="4256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03504" y="5541264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de </a:t>
            </a:r>
            <a:r>
              <a:rPr lang="en-US" sz="2000" b="1" dirty="0">
                <a:solidFill>
                  <a:schemeClr val="tx1"/>
                </a:solidFill>
              </a:rPr>
              <a:t>kaas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fromage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3371850" y="4165092"/>
            <a:ext cx="2622042" cy="212598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34" name="illustration" descr="l’ea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07" y="4238244"/>
            <a:ext cx="1589128" cy="128473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3463290" y="425653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3463290" y="4256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3426714" y="5541264"/>
            <a:ext cx="25123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het </a:t>
            </a:r>
            <a:r>
              <a:rPr lang="en-US" sz="2000" b="1" dirty="0">
                <a:solidFill>
                  <a:schemeClr val="tx1"/>
                </a:solidFill>
              </a:rPr>
              <a:t>water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l’eau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of het? Douze objets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Mots : vis · boot · tas · rok · kok · envelop · auto · fornuis · pan · boek · raam · doos — </a:t>
            </a:r>
            <a:r>
              <a:rPr lang="en-US" sz="1500" b="1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ou </a:t>
            </a:r>
            <a:r>
              <a:rPr lang="en-US" sz="1500" b="1" i="1" dirty="0">
                <a:solidFill>
                  <a:schemeClr val="accent5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8" name="illustration" descr="le pois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509" y="1947672"/>
            <a:ext cx="837662" cy="6675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poisson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807208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3" name="illustration" descr="le batea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261" y="1947672"/>
            <a:ext cx="857295" cy="66751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bateau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065776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8" name="illustration" descr="le sa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45" y="1947672"/>
            <a:ext cx="837662" cy="66751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sac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324344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3" name="illustration" descr="la ju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784" y="1947672"/>
            <a:ext cx="798519" cy="66751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jupe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9582912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8" name="illustration" descr="le cuisini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2995" y="1947672"/>
            <a:ext cx="817234" cy="66751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cuisinier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48640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3" name="illustration" descr="l’envelopp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080" y="3474720"/>
            <a:ext cx="798519" cy="66751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l’enveloppe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2807208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8" name="illustration" descr="la voitur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2882" y="3474720"/>
            <a:ext cx="806052" cy="66751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voiture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5065776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3" name="illustration" descr="la cuisinièr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2004" y="3474720"/>
            <a:ext cx="824944" cy="66751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cuisinière</a:t>
            </a:r>
            <a:endParaRPr lang="en-US" sz="1300" dirty="0"/>
          </a:p>
        </p:txBody>
      </p:sp>
      <p:sp>
        <p:nvSpPr>
          <p:cNvPr id="47" name="Shape 36"/>
          <p:cNvSpPr/>
          <p:nvPr/>
        </p:nvSpPr>
        <p:spPr>
          <a:xfrm>
            <a:off x="7324344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8" name="illustration" descr="la cassero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0018" y="3474720"/>
            <a:ext cx="806052" cy="66751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casserole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9582912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3" name="illustration" descr="le liv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4824" y="3474720"/>
            <a:ext cx="833576" cy="66751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livre</a:t>
            </a:r>
            <a:endParaRPr lang="en-US" sz="1300" dirty="0"/>
          </a:p>
        </p:txBody>
      </p:sp>
      <p:sp>
        <p:nvSpPr>
          <p:cNvPr id="57" name="Shape 44"/>
          <p:cNvSpPr/>
          <p:nvPr/>
        </p:nvSpPr>
        <p:spPr>
          <a:xfrm>
            <a:off x="548640" y="4928616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8" name="illustration" descr="la fenêtr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0784" y="5001768"/>
            <a:ext cx="853113" cy="66751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502005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fenêtre</a:t>
            </a:r>
            <a:endParaRPr lang="en-US" sz="1300" dirty="0"/>
          </a:p>
        </p:txBody>
      </p:sp>
      <p:sp>
        <p:nvSpPr>
          <p:cNvPr id="62" name="Shape 48"/>
          <p:cNvSpPr/>
          <p:nvPr/>
        </p:nvSpPr>
        <p:spPr>
          <a:xfrm>
            <a:off x="2807208" y="4928616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3" name="illustration" descr="la boît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9120" y="5001768"/>
            <a:ext cx="833576" cy="66751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502005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boîte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of het? Douze objets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Mots : vis · boot · tas · rok · kok · envelop · auto · fornuis · pan · boek · raam · doos — </a:t>
            </a:r>
            <a:r>
              <a:rPr lang="en-US" sz="1500" b="1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ou </a:t>
            </a:r>
            <a:r>
              <a:rPr lang="en-US" sz="1500" b="1" i="1" dirty="0">
                <a:solidFill>
                  <a:schemeClr val="accent5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9" name="illustration" descr="le pois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509" y="1947672"/>
            <a:ext cx="837662" cy="6675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3504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vis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poisson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807208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4" name="illustration" descr="le batea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261" y="1947672"/>
            <a:ext cx="857295" cy="66751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98648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289864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2862072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boot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bateau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065776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9" name="illustration" descr="le sa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45" y="1947672"/>
            <a:ext cx="837662" cy="66751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157216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15721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120640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tas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sac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324344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4" name="illustration" descr="la ju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784" y="1947672"/>
            <a:ext cx="798519" cy="66751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415784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741578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379208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rok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jupe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9582912" y="1874520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9" name="illustration" descr="le cuisini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2995" y="1947672"/>
            <a:ext cx="817234" cy="66751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674352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967435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9637776" y="263347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kok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cuisinier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548640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4" name="illustration" descr="l’envelopp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080" y="3474720"/>
            <a:ext cx="798519" cy="66751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40080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64008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603504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envelop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l’enveloppe</a:t>
            </a:r>
            <a:endParaRPr lang="en-US" sz="1600" dirty="0"/>
          </a:p>
        </p:txBody>
      </p:sp>
      <p:sp>
        <p:nvSpPr>
          <p:cNvPr id="38" name="Shape 29"/>
          <p:cNvSpPr/>
          <p:nvPr/>
        </p:nvSpPr>
        <p:spPr>
          <a:xfrm>
            <a:off x="2807208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9" name="illustration" descr="la voitur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2882" y="3474720"/>
            <a:ext cx="806052" cy="667512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2898648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1" name="Text 31"/>
          <p:cNvSpPr txBox="1"/>
          <p:nvPr/>
        </p:nvSpPr>
        <p:spPr>
          <a:xfrm>
            <a:off x="2898648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2862072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auto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voiture</a:t>
            </a:r>
            <a:endParaRPr lang="en-US" sz="1600" dirty="0"/>
          </a:p>
        </p:txBody>
      </p:sp>
      <p:sp>
        <p:nvSpPr>
          <p:cNvPr id="43" name="Shape 33"/>
          <p:cNvSpPr/>
          <p:nvPr/>
        </p:nvSpPr>
        <p:spPr>
          <a:xfrm>
            <a:off x="5065776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44" name="illustration" descr="la cuisinièr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2004" y="3474720"/>
            <a:ext cx="824944" cy="667512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5157216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6" name="Text 35"/>
          <p:cNvSpPr txBox="1"/>
          <p:nvPr/>
        </p:nvSpPr>
        <p:spPr>
          <a:xfrm>
            <a:off x="5157216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5120640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fornuis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cuisinière</a:t>
            </a:r>
            <a:endParaRPr lang="en-US" sz="1600" dirty="0"/>
          </a:p>
        </p:txBody>
      </p:sp>
      <p:sp>
        <p:nvSpPr>
          <p:cNvPr id="48" name="Shape 37"/>
          <p:cNvSpPr/>
          <p:nvPr/>
        </p:nvSpPr>
        <p:spPr>
          <a:xfrm>
            <a:off x="7324344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9" name="illustration" descr="la cassero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0018" y="3474720"/>
            <a:ext cx="806052" cy="667512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7415784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Text 39"/>
          <p:cNvSpPr txBox="1"/>
          <p:nvPr/>
        </p:nvSpPr>
        <p:spPr>
          <a:xfrm>
            <a:off x="7415784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7379208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pan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casserole</a:t>
            </a:r>
            <a:endParaRPr lang="en-US" sz="1600" dirty="0"/>
          </a:p>
        </p:txBody>
      </p:sp>
      <p:sp>
        <p:nvSpPr>
          <p:cNvPr id="53" name="Shape 41"/>
          <p:cNvSpPr/>
          <p:nvPr/>
        </p:nvSpPr>
        <p:spPr>
          <a:xfrm>
            <a:off x="9582912" y="3401568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54" name="illustration" descr="le liv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4824" y="3474720"/>
            <a:ext cx="833576" cy="667512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9674352" y="349300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43"/>
          <p:cNvSpPr txBox="1"/>
          <p:nvPr/>
        </p:nvSpPr>
        <p:spPr>
          <a:xfrm>
            <a:off x="967435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7" name="Text 44"/>
          <p:cNvSpPr txBox="1"/>
          <p:nvPr/>
        </p:nvSpPr>
        <p:spPr>
          <a:xfrm>
            <a:off x="9637776" y="416052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boek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livre</a:t>
            </a:r>
            <a:endParaRPr lang="en-US" sz="1600" dirty="0"/>
          </a:p>
        </p:txBody>
      </p:sp>
      <p:sp>
        <p:nvSpPr>
          <p:cNvPr id="58" name="Shape 45"/>
          <p:cNvSpPr/>
          <p:nvPr/>
        </p:nvSpPr>
        <p:spPr>
          <a:xfrm>
            <a:off x="548640" y="4928616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59" name="illustration" descr="la fenêtr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0784" y="5001768"/>
            <a:ext cx="853113" cy="667512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640080" y="502005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1" name="Text 47"/>
          <p:cNvSpPr txBox="1"/>
          <p:nvPr/>
        </p:nvSpPr>
        <p:spPr>
          <a:xfrm>
            <a:off x="640080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2" name="Text 48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raam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fenêtre</a:t>
            </a:r>
            <a:endParaRPr lang="en-US" sz="1600" dirty="0"/>
          </a:p>
        </p:txBody>
      </p:sp>
      <p:sp>
        <p:nvSpPr>
          <p:cNvPr id="63" name="Shape 49"/>
          <p:cNvSpPr/>
          <p:nvPr/>
        </p:nvSpPr>
        <p:spPr>
          <a:xfrm>
            <a:off x="2807208" y="4928616"/>
            <a:ext cx="2057400" cy="1362456"/>
          </a:xfrm>
          <a:prstGeom prst="roundRect">
            <a:avLst>
              <a:gd name="adj" fmla="val 5369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4" name="illustration" descr="la boît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9120" y="5001768"/>
            <a:ext cx="833576" cy="667512"/>
          </a:xfrm>
          <a:prstGeom prst="rect">
            <a:avLst/>
          </a:prstGeom>
        </p:spPr>
      </p:pic>
      <p:sp>
        <p:nvSpPr>
          <p:cNvPr id="65" name="Shape 50"/>
          <p:cNvSpPr/>
          <p:nvPr/>
        </p:nvSpPr>
        <p:spPr>
          <a:xfrm>
            <a:off x="2898648" y="502005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6" name="Text 51"/>
          <p:cNvSpPr txBox="1"/>
          <p:nvPr/>
        </p:nvSpPr>
        <p:spPr>
          <a:xfrm>
            <a:off x="2898648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7" name="Text 52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doos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boîte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gebiedende wijs : l’impératif poli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L’impératif = le </a:t>
            </a:r>
            <a:r>
              <a:rPr lang="en-US" sz="1800" b="1" dirty="0">
                <a:solidFill>
                  <a:schemeClr val="tx1"/>
                </a:solidFill>
              </a:rPr>
              <a:t>radical</a:t>
            </a:r>
            <a:r>
              <a:rPr lang="en-US" sz="1800" dirty="0">
                <a:solidFill>
                  <a:schemeClr val="tx1"/>
                </a:solidFill>
              </a:rPr>
              <a:t> du verbe (l’infinitif sans </a:t>
            </a:r>
            <a:r>
              <a:rPr lang="en-US" sz="1800" b="1" dirty="0">
                <a:solidFill>
                  <a:schemeClr val="tx1"/>
                </a:solidFill>
              </a:rPr>
              <a:t>-en</a:t>
            </a:r>
            <a:r>
              <a:rPr lang="en-US" sz="1800" dirty="0">
                <a:solidFill>
                  <a:schemeClr val="tx1"/>
                </a:solidFill>
              </a:rPr>
              <a:t>). </a:t>
            </a:r>
            <a:r>
              <a:rPr lang="en-US" sz="1800" b="1" dirty="0">
                <a:solidFill>
                  <a:schemeClr val="tx1"/>
                </a:solidFill>
              </a:rPr>
              <a:t>Une seule forme</a:t>
            </a:r>
            <a:r>
              <a:rPr lang="en-US" sz="1800" dirty="0">
                <a:solidFill>
                  <a:schemeClr val="tx1"/>
                </a:solidFill>
              </a:rPr>
              <a:t> pour tout le monde.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 · FORMATION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infinitif − en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35300"/>
            <a:ext cx="3148584" cy="221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i="1" dirty="0">
                <a:solidFill>
                  <a:schemeClr val="tx1"/>
                </a:solidFill>
              </a:rPr>
              <a:t>bellen → </a:t>
            </a:r>
            <a:r>
              <a:rPr lang="en-US" sz="1900" b="1" i="1" dirty="0">
                <a:solidFill>
                  <a:schemeClr val="tx1"/>
                </a:solidFill>
              </a:rPr>
              <a:t>Bel</a:t>
            </a:r>
            <a:r>
              <a:rPr lang="en-US" sz="1900" i="1" dirty="0">
                <a:solidFill>
                  <a:schemeClr val="tx1"/>
                </a:solidFill>
              </a:rPr>
              <a:t> me!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i="1" dirty="0">
                <a:solidFill>
                  <a:schemeClr val="tx1"/>
                </a:solidFill>
              </a:rPr>
              <a:t>drinken → </a:t>
            </a:r>
            <a:r>
              <a:rPr lang="en-US" sz="1900" b="1" i="1" dirty="0">
                <a:solidFill>
                  <a:schemeClr val="tx1"/>
                </a:solidFill>
              </a:rPr>
              <a:t>Drink</a:t>
            </a:r>
            <a:r>
              <a:rPr lang="en-US" sz="1900" i="1" dirty="0">
                <a:solidFill>
                  <a:schemeClr val="tx1"/>
                </a:solidFill>
              </a:rPr>
              <a:t> je koffie!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i="1" dirty="0">
                <a:solidFill>
                  <a:schemeClr val="tx1"/>
                </a:solidFill>
              </a:rPr>
              <a:t>lezen → </a:t>
            </a:r>
            <a:r>
              <a:rPr lang="en-US" sz="1900" b="1" i="1" dirty="0">
                <a:solidFill>
                  <a:schemeClr val="tx1"/>
                </a:solidFill>
              </a:rPr>
              <a:t>Lees</a:t>
            </a:r>
            <a:r>
              <a:rPr lang="en-US" sz="1900" i="1" dirty="0">
                <a:solidFill>
                  <a:schemeClr val="tx1"/>
                </a:solidFill>
              </a:rPr>
              <a:t> de krant!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i="1" dirty="0">
                <a:solidFill>
                  <a:schemeClr val="tx1"/>
                </a:solidFill>
              </a:rPr>
              <a:t>zijn → </a:t>
            </a:r>
            <a:r>
              <a:rPr lang="en-US" sz="1900" b="1" i="1" dirty="0">
                <a:solidFill>
                  <a:schemeClr val="tx1"/>
                </a:solidFill>
              </a:rPr>
              <a:t>Wees</a:t>
            </a:r>
            <a:r>
              <a:rPr lang="en-US" sz="1900" i="1" dirty="0">
                <a:solidFill>
                  <a:schemeClr val="tx1"/>
                </a:solidFill>
              </a:rPr>
              <a:t> voorzichtig!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z → s (</a:t>
            </a:r>
            <a:r>
              <a:rPr lang="en-US" sz="1900" i="1" dirty="0">
                <a:solidFill>
                  <a:schemeClr val="tx1"/>
                </a:solidFill>
              </a:rPr>
              <a:t>lees</a:t>
            </a:r>
            <a:r>
              <a:rPr lang="en-US" sz="1900" dirty="0">
                <a:solidFill>
                  <a:schemeClr val="tx1"/>
                </a:solidFill>
              </a:rPr>
              <a:t>) · </a:t>
            </a:r>
            <a:r>
              <a:rPr lang="en-US" sz="1900" i="1" dirty="0">
                <a:solidFill>
                  <a:schemeClr val="tx1"/>
                </a:solidFill>
              </a:rPr>
              <a:t>zijn</a:t>
            </a:r>
            <a:r>
              <a:rPr lang="en-US" sz="1900" dirty="0">
                <a:solidFill>
                  <a:schemeClr val="tx1"/>
                </a:solidFill>
              </a:rPr>
              <a:t> : irrégulier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337304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5" name="Shape 12"/>
          <p:cNvSpPr/>
          <p:nvPr/>
        </p:nvSpPr>
        <p:spPr>
          <a:xfrm>
            <a:off x="4337304" y="2267712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0184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B · PLUS GENTIL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551176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even · eens · maar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520184" y="3035300"/>
            <a:ext cx="3148584" cy="221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i="1" dirty="0">
                <a:solidFill>
                  <a:schemeClr val="tx1"/>
                </a:solidFill>
              </a:rPr>
              <a:t>Wacht </a:t>
            </a:r>
            <a:r>
              <a:rPr lang="en-US" sz="1900" b="1" i="1" dirty="0">
                <a:solidFill>
                  <a:schemeClr val="tx1"/>
                </a:solidFill>
              </a:rPr>
              <a:t>even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r>
              <a:rPr lang="en-US" sz="1900" dirty="0">
                <a:solidFill>
                  <a:schemeClr val="tx1"/>
                </a:solidFill>
              </a:rPr>
              <a:t> — un instant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i="1" dirty="0">
                <a:solidFill>
                  <a:schemeClr val="tx1"/>
                </a:solidFill>
              </a:rPr>
              <a:t>Kijk </a:t>
            </a:r>
            <a:r>
              <a:rPr lang="en-US" sz="1900" b="1" i="1" dirty="0">
                <a:solidFill>
                  <a:schemeClr val="tx1"/>
                </a:solidFill>
              </a:rPr>
              <a:t>eens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r>
              <a:rPr lang="en-US" sz="1900" dirty="0">
                <a:solidFill>
                  <a:schemeClr val="tx1"/>
                </a:solidFill>
              </a:rPr>
              <a:t> — un peu, pour voir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i="1" dirty="0">
                <a:solidFill>
                  <a:schemeClr val="tx1"/>
                </a:solidFill>
              </a:rPr>
              <a:t>Kom </a:t>
            </a:r>
            <a:r>
              <a:rPr lang="en-US" sz="1900" b="1" i="1" dirty="0">
                <a:solidFill>
                  <a:schemeClr val="tx1"/>
                </a:solidFill>
              </a:rPr>
              <a:t>maar</a:t>
            </a:r>
            <a:r>
              <a:rPr lang="en-US" sz="1900" i="1" dirty="0">
                <a:solidFill>
                  <a:schemeClr val="tx1"/>
                </a:solidFill>
              </a:rPr>
              <a:t> binnen!</a:t>
            </a:r>
            <a:r>
              <a:rPr lang="en-US" sz="1900" dirty="0">
                <a:solidFill>
                  <a:schemeClr val="tx1"/>
                </a:solidFill>
              </a:rPr>
              <a:t> — vas-y, je t’en prie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125968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25968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5968" y="2267712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8848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C · S’IL TE / VOUS PLAÎT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551176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alsjeblieft · alstublieft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8308848" y="3035300"/>
            <a:ext cx="3148584" cy="221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tu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i="1" dirty="0">
                <a:solidFill>
                  <a:schemeClr val="tx1"/>
                </a:solidFill>
              </a:rPr>
              <a:t>alsjeblieft</a:t>
            </a:r>
            <a:r>
              <a:rPr lang="en-US" sz="1900" dirty="0">
                <a:solidFill>
                  <a:schemeClr val="tx1"/>
                </a:solidFill>
              </a:rPr>
              <a:t> — </a:t>
            </a:r>
            <a:r>
              <a:rPr lang="en-US" sz="1900" i="1" dirty="0">
                <a:solidFill>
                  <a:schemeClr val="tx1"/>
                </a:solidFill>
              </a:rPr>
              <a:t>Dank je.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i="1" dirty="0">
                <a:solidFill>
                  <a:schemeClr val="tx1"/>
                </a:solidFill>
              </a:rPr>
              <a:t>Graag gedaan.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vous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i="1" dirty="0">
                <a:solidFill>
                  <a:schemeClr val="tx1"/>
                </a:solidFill>
              </a:rPr>
              <a:t>alstublieft</a:t>
            </a:r>
            <a:r>
              <a:rPr lang="en-US" sz="1900" dirty="0">
                <a:solidFill>
                  <a:schemeClr val="tx1"/>
                </a:solidFill>
              </a:rPr>
              <a:t> — </a:t>
            </a:r>
            <a:r>
              <a:rPr lang="en-US" sz="1900" i="1" dirty="0">
                <a:solidFill>
                  <a:schemeClr val="tx1"/>
                </a:solidFill>
              </a:rPr>
              <a:t>Dank u.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i="1" dirty="0">
                <a:solidFill>
                  <a:schemeClr val="tx1"/>
                </a:solidFill>
              </a:rPr>
              <a:t>Geen dank.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Une seule forme pour </a:t>
            </a:r>
            <a:r>
              <a:rPr lang="en-US" sz="1700" i="1" dirty="0">
                <a:solidFill>
                  <a:schemeClr val="tx1"/>
                </a:solidFill>
              </a:rPr>
              <a:t>viens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i="1" dirty="0">
                <a:solidFill>
                  <a:schemeClr val="tx1"/>
                </a:solidFill>
              </a:rPr>
              <a:t>venez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b="1" dirty="0">
                <a:solidFill>
                  <a:schemeClr val="tx1"/>
                </a:solidFill>
              </a:rPr>
              <a:t>Kom!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Komt!</a:t>
            </a:r>
            <a:r>
              <a:rPr lang="en-US" sz="1700" dirty="0">
                <a:solidFill>
                  <a:schemeClr val="tx1"/>
                </a:solidFill>
              </a:rPr>
              <a:t> ✗ </a:t>
            </a:r>
            <a:r>
              <a:rPr lang="en-US" sz="1700" i="1" dirty="0">
                <a:solidFill>
                  <a:schemeClr val="tx1"/>
                </a:solidFill>
              </a:rPr>
              <a:t>Komen!</a:t>
            </a:r>
            <a:r>
              <a:rPr lang="en-US" sz="1700" dirty="0">
                <a:solidFill>
                  <a:schemeClr val="tx1"/>
                </a:solidFill>
              </a:rPr>
              <a:t>). Astuce : impératif = forme de </a:t>
            </a:r>
            <a:r>
              <a:rPr lang="en-US" sz="1700" b="1" dirty="0">
                <a:solidFill>
                  <a:schemeClr val="tx1"/>
                </a:solidFill>
              </a:rPr>
              <a:t>ik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ik kom → Kom!</a:t>
            </a:r>
            <a:r>
              <a:rPr lang="en-US" sz="1700" dirty="0">
                <a:solidFill>
                  <a:schemeClr val="tx1"/>
                </a:solidFill>
              </a:rPr>
              <a:t>). Seul, il paraît </a:t>
            </a:r>
            <a:r>
              <a:rPr lang="en-US" sz="1700" b="1" dirty="0">
                <a:solidFill>
                  <a:schemeClr val="tx1"/>
                </a:solidFill>
              </a:rPr>
              <a:t>sec</a:t>
            </a:r>
            <a:r>
              <a:rPr lang="en-US" sz="1700" dirty="0">
                <a:solidFill>
                  <a:schemeClr val="tx1"/>
                </a:solidFill>
              </a:rPr>
              <a:t> : ajoutez </a:t>
            </a:r>
            <a:r>
              <a:rPr lang="en-US" sz="1700" i="1" dirty="0">
                <a:solidFill>
                  <a:schemeClr val="tx1"/>
                </a:solidFill>
              </a:rPr>
              <a:t>even, eens, maar</a:t>
            </a:r>
            <a:r>
              <a:rPr lang="en-US" sz="1700" dirty="0">
                <a:solidFill>
                  <a:schemeClr val="tx1"/>
                </a:solidFill>
              </a:rPr>
              <a:t> ou </a:t>
            </a:r>
            <a:r>
              <a:rPr lang="en-US" sz="1700" i="1" dirty="0">
                <a:solidFill>
                  <a:schemeClr val="tx1"/>
                </a:solidFill>
              </a:rPr>
              <a:t>alsjeblieft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l’impératif (fiche 10) + BONUS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À gauche, l’exercice de la fiche ; à droite (+ BONUS, hors syllabus), des formules de congé à l’impératif.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Livret p. 67 — écrivez l’impératif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luisteren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komen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maar binnen!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kijken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eens!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wachten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even!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+ BONUS — traduisez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Dors bien !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Sois prudent !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Rentre bien ! →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Appelle-moi ce soir !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Passe le bonjour à ta sœur !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l’impératif (fiche 10) + BONUS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À gauche, l’exercice de la fiche ; à droite (+ BONUS, hors syllabus), des formules de congé à l’impératif.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Livret p. 67 — écrivez l’impératif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luisteren → </a:t>
            </a:r>
            <a:r>
              <a:rPr lang="en-US" sz="2400" b="1" dirty="0">
                <a:solidFill>
                  <a:schemeClr val="accent3"/>
                </a:solidFill>
              </a:rPr>
              <a:t>Luister</a:t>
            </a:r>
            <a:r>
              <a:rPr lang="en-US" sz="2400" dirty="0">
                <a:solidFill>
                  <a:schemeClr val="tx1"/>
                </a:solidFill>
              </a:rPr>
              <a:t>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komen → </a:t>
            </a:r>
            <a:r>
              <a:rPr lang="en-US" sz="2400" b="1" dirty="0">
                <a:solidFill>
                  <a:schemeClr val="accent3"/>
                </a:solidFill>
              </a:rPr>
              <a:t>Kom</a:t>
            </a:r>
            <a:r>
              <a:rPr lang="en-US" sz="2400" dirty="0">
                <a:solidFill>
                  <a:schemeClr val="tx1"/>
                </a:solidFill>
              </a:rPr>
              <a:t> maar binnen!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kijken → </a:t>
            </a:r>
            <a:r>
              <a:rPr lang="en-US" sz="2400" b="1" dirty="0">
                <a:solidFill>
                  <a:schemeClr val="accent3"/>
                </a:solidFill>
              </a:rPr>
              <a:t>Kijk</a:t>
            </a:r>
            <a:r>
              <a:rPr lang="en-US" sz="2400" dirty="0">
                <a:solidFill>
                  <a:schemeClr val="tx1"/>
                </a:solidFill>
              </a:rPr>
              <a:t> eens!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wachten → </a:t>
            </a:r>
            <a:r>
              <a:rPr lang="en-US" sz="2400" b="1" dirty="0">
                <a:solidFill>
                  <a:schemeClr val="accent3"/>
                </a:solidFill>
              </a:rPr>
              <a:t>Wacht</a:t>
            </a:r>
            <a:r>
              <a:rPr lang="en-US" sz="2400" dirty="0">
                <a:solidFill>
                  <a:schemeClr val="tx1"/>
                </a:solidFill>
              </a:rPr>
              <a:t> even!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+ BONUS — traduisez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Dors bien ! → </a:t>
            </a:r>
            <a:r>
              <a:rPr lang="en-US" sz="2400" b="1" dirty="0">
                <a:solidFill>
                  <a:schemeClr val="accent3"/>
                </a:solidFill>
              </a:rPr>
              <a:t>Slaap lekker!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Sois prudent ! → </a:t>
            </a:r>
            <a:r>
              <a:rPr lang="en-US" sz="2400" b="1" dirty="0">
                <a:solidFill>
                  <a:schemeClr val="accent3"/>
                </a:solidFill>
              </a:rPr>
              <a:t>Wees voorzichtig!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Rentre bien ! → </a:t>
            </a:r>
            <a:r>
              <a:rPr lang="en-US" sz="2400" b="1" dirty="0">
                <a:solidFill>
                  <a:schemeClr val="accent3"/>
                </a:solidFill>
              </a:rPr>
              <a:t>Kom goed thuis!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Appelle-moi ce soir ! → </a:t>
            </a:r>
            <a:r>
              <a:rPr lang="en-US" sz="2400" b="1" dirty="0">
                <a:solidFill>
                  <a:schemeClr val="accent3"/>
                </a:solidFill>
              </a:rPr>
              <a:t>Bel me vanavond!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Passe le bonjour à ta sœur ! → </a:t>
            </a:r>
            <a:r>
              <a:rPr lang="en-US" sz="2400" b="1" dirty="0">
                <a:solidFill>
                  <a:schemeClr val="accent3"/>
                </a:solidFill>
              </a:rPr>
              <a:t>Doe de groeten aan je zus!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Zich voorstellen — se présenter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le n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serrer la m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01" y="1581912"/>
            <a:ext cx="1016214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la carte de vis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981" y="1581912"/>
            <a:ext cx="998990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la carte d’identit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07" y="1581912"/>
            <a:ext cx="941874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l’anniversai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786" y="1581912"/>
            <a:ext cx="963651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l’adres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1" y="3230880"/>
            <a:ext cx="947318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le numéro de télépho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384" y="3230880"/>
            <a:ext cx="955047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le pay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911" y="3230880"/>
            <a:ext cx="977129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le mond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760" y="3230880"/>
            <a:ext cx="960568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la langu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la professi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168" y="4879848"/>
            <a:ext cx="970344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l’homm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8960" y="4879848"/>
            <a:ext cx="953897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la femm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9651" y="4879848"/>
            <a:ext cx="989650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le garç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6778" y="4879848"/>
            <a:ext cx="1012532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la fill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927" y="4879848"/>
            <a:ext cx="995371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Zich voorstellen — se présenter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8" name="illustration" descr="le n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naam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nom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3" name="illustration" descr="serrer la m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01" y="1581912"/>
            <a:ext cx="1016214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hand geven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serrer la main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18" name="illustration" descr="la carte de vis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981" y="1581912"/>
            <a:ext cx="998990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visitekaartje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carte de visite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3" name="illustration" descr="la carte d’identit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07" y="1581912"/>
            <a:ext cx="941874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identiteitskaart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carte d’identité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8" name="illustration" descr="l’anniversai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786" y="1581912"/>
            <a:ext cx="963651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verjaardag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l’anniversaire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33" name="illustration" descr="l’adres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1" y="3230880"/>
            <a:ext cx="947318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adres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l’adresse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38" name="illustration" descr="le numéro de télépho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384" y="3230880"/>
            <a:ext cx="955047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telefoonnummer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numéro de téléphone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43" name="illustration" descr="le pay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911" y="3230880"/>
            <a:ext cx="977129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land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pays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8" name="illustration" descr="le mond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760" y="3230880"/>
            <a:ext cx="960568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wereld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monde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3" name="illustration" descr="la langu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taal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langue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58" name="illustration" descr="la professi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168" y="4879848"/>
            <a:ext cx="970344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beroep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profession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3" name="illustration" descr="l’homm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8960" y="4879848"/>
            <a:ext cx="953897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man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l’homme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8" name="illustration" descr="la femm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9651" y="4879848"/>
            <a:ext cx="989650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vrouw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femme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3" name="illustration" descr="le garç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6778" y="4879848"/>
            <a:ext cx="1012532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jongen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garçon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78" name="illustration" descr="la fill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927" y="4879848"/>
            <a:ext cx="995371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meisje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fille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Mijn visitekaartje : qui êtes-vous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un mot de l’imagier, puis dites les phrases </a:t>
            </a:r>
            <a:r>
              <a:rPr lang="en-US" sz="1600" b="1" i="1" dirty="0">
                <a:solidFill>
                  <a:schemeClr val="accent5"/>
                </a:solidFill>
              </a:rPr>
              <a:t>pour vous</a:t>
            </a:r>
            <a:r>
              <a:rPr lang="en-US" sz="1600" i="1" dirty="0">
                <a:solidFill>
                  <a:schemeClr val="accent5"/>
                </a:solidFill>
              </a:rPr>
              <a:t>, à voix haute.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Ik zeg «Goedendag» en ik geef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is Emma.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Ik kom uit België: dat is mijn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Ik spreek twee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: Frans en Nederlands.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is Kerkstraat 12, 7000 Bergen.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dirty="0">
                <a:solidFill>
                  <a:schemeClr val="accent5"/>
                </a:solidFill>
              </a:rPr>
              <a:t>……………………</a:t>
            </a:r>
            <a:r>
              <a:rPr lang="en-US" sz="2300" dirty="0">
                <a:solidFill>
                  <a:schemeClr val="tx1"/>
                </a:solidFill>
              </a:rPr>
              <a:t> is 0470 12 34 56.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Op 3 mei is het mijn </a:t>
            </a:r>
            <a:r>
              <a:rPr lang="en-US" sz="2300" dirty="0">
                <a:solidFill>
                  <a:schemeClr val="accent5"/>
                </a:solidFill>
              </a:rPr>
              <a:t>………………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8.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? Ik ben verpleegster.</a:t>
            </a:r>
            <a:endParaRPr lang="en-US" sz="23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ET VOUS ?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Wat is je naam?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Waar woon je?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Welke talen spreek je?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Wanneer is je verjaardag?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Wat is je beroep?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Mijn visitekaartje : qui êtes-vous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un mot de l’imagier, puis dites les phrases </a:t>
            </a:r>
            <a:r>
              <a:rPr lang="en-US" sz="1600" b="1" i="1" dirty="0">
                <a:solidFill>
                  <a:schemeClr val="accent5"/>
                </a:solidFill>
              </a:rPr>
              <a:t>pour vous</a:t>
            </a:r>
            <a:r>
              <a:rPr lang="en-US" sz="1600" i="1" dirty="0">
                <a:solidFill>
                  <a:schemeClr val="accent5"/>
                </a:solidFill>
              </a:rPr>
              <a:t>, à voix haute.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Ik zeg «Goedendag» en ik geef </a:t>
            </a:r>
            <a:r>
              <a:rPr lang="en-US" sz="2300" b="1" dirty="0">
                <a:solidFill>
                  <a:schemeClr val="accent3"/>
                </a:solidFill>
              </a:rPr>
              <a:t>een hand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b="1" dirty="0">
                <a:solidFill>
                  <a:schemeClr val="accent3"/>
                </a:solidFill>
              </a:rPr>
              <a:t>naam</a:t>
            </a:r>
            <a:r>
              <a:rPr lang="en-US" sz="2300" dirty="0">
                <a:solidFill>
                  <a:schemeClr val="tx1"/>
                </a:solidFill>
              </a:rPr>
              <a:t> is Emma.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Ik kom uit België: dat is mijn </a:t>
            </a:r>
            <a:r>
              <a:rPr lang="en-US" sz="2300" b="1" dirty="0">
                <a:solidFill>
                  <a:schemeClr val="accent3"/>
                </a:solidFill>
              </a:rPr>
              <a:t>land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Ik spreek twee </a:t>
            </a:r>
            <a:r>
              <a:rPr lang="en-US" sz="2300" b="1" dirty="0">
                <a:solidFill>
                  <a:schemeClr val="accent3"/>
                </a:solidFill>
              </a:rPr>
              <a:t>talen</a:t>
            </a:r>
            <a:r>
              <a:rPr lang="en-US" sz="2300" dirty="0">
                <a:solidFill>
                  <a:schemeClr val="tx1"/>
                </a:solidFill>
              </a:rPr>
              <a:t>: Frans en Nederlands.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b="1" dirty="0">
                <a:solidFill>
                  <a:schemeClr val="accent3"/>
                </a:solidFill>
              </a:rPr>
              <a:t>adres</a:t>
            </a:r>
            <a:r>
              <a:rPr lang="en-US" sz="2300" dirty="0">
                <a:solidFill>
                  <a:schemeClr val="tx1"/>
                </a:solidFill>
              </a:rPr>
              <a:t> is Kerkstraat 12, 7000 Bergen.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b="1" dirty="0">
                <a:solidFill>
                  <a:schemeClr val="accent3"/>
                </a:solidFill>
              </a:rPr>
              <a:t>telefoonnummer</a:t>
            </a:r>
            <a:r>
              <a:rPr lang="en-US" sz="2300" dirty="0">
                <a:solidFill>
                  <a:schemeClr val="tx1"/>
                </a:solidFill>
              </a:rPr>
              <a:t> is 0470 12 34 56.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Op 3 mei is het mijn </a:t>
            </a:r>
            <a:r>
              <a:rPr lang="en-US" sz="2300" b="1" dirty="0">
                <a:solidFill>
                  <a:schemeClr val="accent3"/>
                </a:solidFill>
              </a:rPr>
              <a:t>verjaardag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8.  </a:t>
            </a:r>
            <a:r>
              <a:rPr lang="en-US" sz="2300" dirty="0">
                <a:solidFill>
                  <a:schemeClr val="tx1"/>
                </a:solidFill>
              </a:rPr>
              <a:t>Mijn </a:t>
            </a:r>
            <a:r>
              <a:rPr lang="en-US" sz="2300" b="1" dirty="0">
                <a:solidFill>
                  <a:schemeClr val="accent3"/>
                </a:solidFill>
              </a:rPr>
              <a:t>beroep</a:t>
            </a:r>
            <a:r>
              <a:rPr lang="en-US" sz="2300" dirty="0">
                <a:solidFill>
                  <a:schemeClr val="tx1"/>
                </a:solidFill>
              </a:rPr>
              <a:t>? Ik ben verpleegster.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mijn</a:t>
            </a:r>
            <a:r>
              <a:rPr lang="en-US" sz="1800" dirty="0">
                <a:solidFill>
                  <a:schemeClr val="tx1"/>
                </a:solidFill>
              </a:rPr>
              <a:t> remplace l’article :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land → </a:t>
            </a:r>
            <a:r>
              <a:rPr lang="en-US" sz="1800" i="1" dirty="0">
                <a:solidFill>
                  <a:schemeClr val="tx1"/>
                </a:solidFill>
              </a:rPr>
              <a:t>mijn land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Pluriel :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taal → </a:t>
            </a:r>
            <a:r>
              <a:rPr lang="en-US" sz="1800" b="1" dirty="0">
                <a:solidFill>
                  <a:schemeClr val="tx1"/>
                </a:solidFill>
              </a:rPr>
              <a:t>de talen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hand geven</a:t>
            </a:r>
            <a:r>
              <a:rPr lang="en-US" sz="1800" dirty="0">
                <a:solidFill>
                  <a:schemeClr val="tx1"/>
                </a:solidFill>
              </a:rPr>
              <a:t> = serrer la main.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Goedendag</a:t>
            </a:r>
            <a:r>
              <a:rPr lang="en-US" sz="1800" dirty="0">
                <a:solidFill>
                  <a:schemeClr val="tx1"/>
                </a:solidFill>
              </a:rPr>
              <a:t> : salut formel, courant en Belgique.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9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bilan du palier 1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la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famille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la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ville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 et demander son chemin :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Kunt u me zeggen waar lokaal 204 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</a:t>
            </a:r>
            <a:r>
              <a:rPr lang="en-US" sz="1700" b="1" dirty="0">
                <a:solidFill>
                  <a:schemeClr val="tx1"/>
                </a:solidFill>
              </a:rPr>
              <a:t>formules de départ</a:t>
            </a:r>
            <a:r>
              <a:rPr lang="en-US" sz="1700" dirty="0">
                <a:solidFill>
                  <a:schemeClr val="tx1"/>
                </a:solidFill>
              </a:rPr>
              <a:t> (p. 53).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Refaire le chrono </a:t>
            </a:r>
            <a:r>
              <a:rPr lang="en-US" sz="1700" b="1" dirty="0">
                <a:solidFill>
                  <a:schemeClr val="tx1"/>
                </a:solidFill>
              </a:rPr>
              <a:t>1.4.3</a:t>
            </a:r>
            <a:r>
              <a:rPr lang="en-US" sz="1700" dirty="0">
                <a:solidFill>
                  <a:schemeClr val="tx1"/>
                </a:solidFill>
              </a:rPr>
              <a:t> et battre votre temps.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Mettre au propre vos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« Stel jezelf voor » et les dire </a:t>
            </a:r>
            <a:r>
              <a:rPr lang="en-US" sz="1700" b="1" dirty="0">
                <a:solidFill>
                  <a:schemeClr val="tx1"/>
                </a:solidFill>
              </a:rPr>
              <a:t>sans notes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15 mots </a:t>
            </a:r>
            <a:r>
              <a:rPr lang="en-US" sz="1700" b="1" dirty="0">
                <a:solidFill>
                  <a:schemeClr val="tx1"/>
                </a:solidFill>
              </a:rPr>
              <a:t>Zich voorstellen</a:t>
            </a:r>
            <a:r>
              <a:rPr lang="en-US" sz="1700" dirty="0">
                <a:solidFill>
                  <a:schemeClr val="tx1"/>
                </a:solidFill>
              </a:rPr>
              <a:t> (p. 78) </a:t>
            </a:r>
            <a:r>
              <a:rPr lang="en-US" sz="1700" b="1" dirty="0">
                <a:solidFill>
                  <a:schemeClr val="tx1"/>
                </a:solidFill>
              </a:rPr>
              <a:t>avec l’article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Quittez la classe en néerlandais : </a:t>
            </a:r>
            <a:r>
              <a:rPr lang="en-US" sz="1600" b="1" dirty="0">
                <a:solidFill>
                  <a:schemeClr val="bg1"/>
                </a:solidFill>
              </a:rPr>
              <a:t>raison + action + formule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i="1" dirty="0">
                <a:solidFill>
                  <a:schemeClr val="bg1"/>
                </a:solidFill>
              </a:rPr>
              <a:t>Het is laat, ik ga naar huis. Tot volgende week!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08 — Tot straks! · Stel jezelf voor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2026-10-03T21:06:37Z</dcterms:created>
  <dcterms:modified xsi:type="dcterms:W3CDTF">2026-10-03T21:06:37Z</dcterms:modified>
</cp:coreProperties>
</file>