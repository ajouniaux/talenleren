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4e00a296-4eb3-e03c-18d8-5accc9b8195c}">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Lst>
        </p14:section>
        <p14:section name="Clôture" id="{2585313f-c92b-7dc4-ae4c-53a736ad0c2a}">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Séance charnière : on fait le bilan de la Section 1 (quiz + auto-évaluation), puis on ouvre les mises en situation de la Section 4 avec la fiche 9 « Saluer et demander son chemin » (p. 100a). Pour s’y préparer : le vocabulaire de la famille (p. 79) et de la ville (p. 80), et les prépositions de lieu et de temps (fiche A1-08, p. 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Durées indicatives sur 90 minutes. Ordre : bilan de la Section 1, puis vocabulaire (famille, ville), prépositions (qui réutilisent le vocabulaire de la ville) et enfin la fiche 9. Le quiz bilan peut se faire en équipes (points au tableau).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de la séance 8. Modèles : A « Het is laat, ik ga naar huis. Tot morgen! » — B « Wacht even! · Kom maar binnen! · Kijk eens! » — C de naam, het adres, het land, de taal, het beroep, het meisje — D « Goedenavond! Ik ben … Ik heb … Jij …, maar ik … Tot straks! ». Vérifier la formule de congé selon le moment et la forme unique de l’impératif (Wacht even! pour une ou plusieurs personnes).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de synthèse de la Section 1 (ajouté par le plan de cours). Variante ludique : deux équipes, un point par réponse correcte, un point bonus si la prononciation est bonne.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Points de contrôle : 2 inversion après un mot de temps (’s Avonds kijk ik) ; 3 « met u » au vouvoiement ; 4 « Het gaat wel » = ça va (sans plus), « een beetje » = nuanceur ; 5 -t / formes irrégulières à la 3e personne (heeft, is) ; 6 avoir faim = honger hebben, geen + nom ; 8 avec u : Tot ziens! (✗ Doei!). Accepter « Dag meneer Janssens!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Auto-évaluation individuelle, 5 minutes. Ramasser ou faire lever la main par ligne pour repérer ce qui doit être revu (les séances 2 à 8 peuvent être rouvertes). Rassurer : le palier 2 reprend tous ces points dans les mises en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 Wie is dit? » : montrer un numéro, la classe répond avec l’article (de vader, het gezin…). Vocabulaire 02, p. 79. Rappel des personnages : Emma heeft een broer, Pieter heeft een zus, Sarah heeft kinderen.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het-woorden seulement : het gezin, het huwelijk. Les personnes sont toujours de. « de ouders », « de vrienden » : pluriels (de ouder, de vriend) → toujours de. « het gezin » = parents + enfants sous le même toit ; « de familie » = la famille élargie (oncles, cousins…). « de dochter » = la fille (de quelqu’un) ≠ « het meisje » = la fille (jeune personne, p. 78). « de tweeling » = les jumeaux, mais singulier en néerlandais (de tweeling is…). Féminin de buurman : de buurvrouw ; les voisins : de buren.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 réemploi du vocabulaire Familie. Après la correction, interview en binôme avec les questions de l’encadré (vraies pour soi).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Phrase 4 : « hun » = leur (fiche Deze · dit · mijn, séance 10). Phrase 6 : on dit aussi « een tweeling » pour deux sœurs ou un frère et une sœur. Questions de l’encadré : « Ja, ik heb één broer » (één avec accents = le chiffre) ; « Nee, ik heb geen zussen » (geen + nom).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 Wat is dit? » : la classe répond avec l’article. Vocabulaire 03, p. 80. Station, trein, bus et museum ont déjà été vus dans l’exercice de la fiche Lidwoorden (séance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het-woorden : het station, het verkeerslicht (het licht), het museum. Mots composés : het verkeer + het licht → het verkeerslicht ; de bus + de halte → de bushalte (le dernier mot décide, séance 3). « de parking » : usage belge (aux Pays-Bas : de parkeerplaats, de parkeergarage). Prononciation : bibliotheek [bi-bli-jo-teek].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Fiche A1-08. Faire mimer : on bouge → naar ; on est sur place → in / op / bij. Pays et villes : in (Ik woon in Brussel) ; aller vers : naar (Ik ga naar Brussel). Dates : op 3 mei ; années : in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de la fiche 08. Correction orale : faire lire la phrase complète.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 naar · om · bij · in · in · op · op · naar. Phrase 7 : « op maandag » (fiche) ; sans préposition, « Wij komen maandag » est aussi correct et très courant (ce lundi-ci). Phrase 1 : Frankrijk = la France (pays) → naar quand on y va, in quand on y est (Zij woont in Frankrijk).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 réemploi du vocabulaire de la ville avec les prépositions de la fiche 08. Faire ensuite produire une phrase vraie : « Ik woon in … · Ik ga met de bus naar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Variantes acceptables : 1 « aan de bushalte » (très courant en Belgique) ; 5 « op de parking » (usage belge ; aux Pays-Bas « op het parkeerterrein / in de parkeergarage ») ; 7 inversion après « Op zaterdag » (gaan we) ; 8 « in het centrum ». « Fietsen » = aller à vélo : Pieter fietst naar het 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le vocabulaire en chœur. Le sommaire de la Section 4 (page d’ouverture de la section) annonce « 09 Chez le médecin » : la fiche 9 réelle est « Saluer et demander son chemin ». « luisteren naar » figure dans le vocabulaire mais n’apparaît dans aucune phrase des jalons : on l’utilisera dans le jeu de rôle. Le vocabulaire donne « mag ik iets vragen » ; avec u : « Mag ik u iets vragen?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Jalon 1 : des phrases du palier 1, donc rapide. Laisser 5 minutes, puis comparer par deux.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Variantes : 1 « Goedemiddag / Goedenavond / Goedendag » selon l’heure ; 2 « Goed, dank u » (« dank je » entre collègues) ; 3 inversion après Vandaag (gaat het) ; « niet zo goed » = pas très bien (accepter « niet zo best », « niet heel goed ») ; 4 réponse courte très naturelle : « En met u? ». Rappel : niet se place après le verbe et le sujet (Vandaag gaat het niet…).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Ajout hors syllabus : la fiche 9 ne donne que « rechts achteraan » ; ces mots permettent de jouer la scène. Faire mimer : links / rechts / rechtdoor / achteraan. « Hoe kom ik bij het station? » est aussi très courant. En Belgique, le rez-de-chaussée = het gelijkvloers ; l’étage = de verdieping (de eerste, de tweede verdieping). Tous les noms du tableau sont des de-woorden (de trap, de lift, de gang, de verdieping, de straat, de kerk) sauf het 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Jalon 2 : phrases plus longues. Rappeler le vocabulaire de la fiche (mag ik iets vragen, natuurlijk, de hulp, rechts achteraan).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Variantes : 1 « Pardon, mag ik u iets vragen? » (« excuseer » est très belge) ; 2 le futur français « je serai ravi » se rend par le présent : « ik help u graag » / « ik help u met plezier » ; 3 « Kunt u mij zeggen… » ou « lokaal 204 » ; verbe à la fin dans la question indirecte (waar … is) ; 4 « Het is niet links, maar rechts achteraan » ; 5 « Heel erg bedankt voor uw hulp! » / « Bedankt voor uw hulp! ». uw = votre (fiche possessifs, séance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transformer à l’oral des questions directes en questions indirectes : « Waar is de bibliotheek? » → « Kunt u me zeggen waar de bibliotheek is? » ; « Waar is het station? » → « Weet u waar het station is? ». Même logique qu’après omdat (séance 5) : le verbe conjugué part à la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Préparer quatre cartes-destinations (ou les écrire au tableau) : lokaal 204 (2e étage, à droite au fond), de bibliotheek (rez-de-chaussée, à gauche), het secretariaat (1er étage, en face de l’ascenseur), de cafetaria (au fond du couloir). B doit utiliser au moins deux mots de « De weg wijzen » ; A doit utiliser la question indirecte. Pour réemployer « luisteren » du vocabulaire de la fiche, B peut commencer par « Luister, het is heel eenvoudig: … ». Corrigés pour les autres destinations : « De bibliotheek is op het gelijkvloers, links. » · « Het secretariaat is op de eerste verdieping, tegenover de lift. » · « De cafetaria is achteraan in de gang.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Ticket de sortie oral : vérifier « Kunt u me zeggen waar de bibliotheek is? » (verbe à la fin) et « Hartelijk bedankt!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TLAS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2 · UE2 · Néerlandais en situation · Séance 09</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TLAS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2 · UE2 · Néerlandais en situation · Séance 09</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TLAS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7315200" cy="320040"/>
          </a:xfrm>
          <a:prstGeom prst="rect">
            <a:avLst/>
          </a:prstGeom>
          <a:noFill/>
          <a:ln/>
        </p:spPr>
        <p:txBody>
          <a:bodyPr wrap="square" lIns="0" tIns="0" rIns="0" bIns="0" rtlCol="0" anchor="ctr"/>
          <a:lstStyle/>
          <a:p>
            <a:pPr indent="0" marL="0">
              <a:buNone/>
            </a:pPr>
            <a:r>
              <a:rPr lang="en-US" sz="1200" dirty="0">
                <a:solidFill>
                  <a:schemeClr val="bg2"/>
                </a:solidFill>
              </a:rPr>
              <a:t>Néerlandais 2 · UE2 · A. Jouniaux · IRAM — Enseignement pour adultes</a:t>
            </a:r>
            <a:endParaRPr lang="en-US" sz="1200" dirty="0"/>
          </a:p>
        </p:txBody>
      </p:sp>
      <p:sp>
        <p:nvSpPr>
          <p:cNvPr id="3" name="Text 1"/>
          <p:cNvSpPr/>
          <p:nvPr>
            <p:ph idx="101" type="title" hasCustomPrompt="1"/>
          </p:nvPr>
        </p:nvSpPr>
        <p:spPr>
          <a:xfrm>
            <a:off x="548640" y="1874520"/>
            <a:ext cx="576072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548640" y="3794760"/>
            <a:ext cx="5760720" cy="13716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slideLayout" Target="../slideLayouts/slideLayout2.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image" Target="../media/image-7-5.jpg"/><Relationship Id="rId6" Type="http://schemas.openxmlformats.org/officeDocument/2006/relationships/image" Target="../media/image-7-6.jpg"/><Relationship Id="rId7" Type="http://schemas.openxmlformats.org/officeDocument/2006/relationships/image" Target="../media/image-7-7.jpg"/><Relationship Id="rId8" Type="http://schemas.openxmlformats.org/officeDocument/2006/relationships/image" Target="../media/image-7-8.jpg"/><Relationship Id="rId9" Type="http://schemas.openxmlformats.org/officeDocument/2006/relationships/image" Target="../media/image-7-9.jpg"/><Relationship Id="rId10" Type="http://schemas.openxmlformats.org/officeDocument/2006/relationships/image" Target="../media/image-7-10.jpg"/><Relationship Id="rId11" Type="http://schemas.openxmlformats.org/officeDocument/2006/relationships/image" Target="../media/image-7-11.jpg"/><Relationship Id="rId12" Type="http://schemas.openxmlformats.org/officeDocument/2006/relationships/image" Target="../media/image-7-12.jpg"/><Relationship Id="rId13" Type="http://schemas.openxmlformats.org/officeDocument/2006/relationships/image" Target="../media/image-7-13.jpg"/><Relationship Id="rId14" Type="http://schemas.openxmlformats.org/officeDocument/2006/relationships/image" Target="../media/image-7-14.jpg"/><Relationship Id="rId15" Type="http://schemas.openxmlformats.org/officeDocument/2006/relationships/image" Target="../media/image-7-15.jpg"/><Relationship Id="rId16" Type="http://schemas.openxmlformats.org/officeDocument/2006/relationships/slideLayout" Target="../slideLayouts/slideLayout2.xml"/><Relationship Id="rId1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image" Target="../media/image-8-5.jpg"/><Relationship Id="rId6" Type="http://schemas.openxmlformats.org/officeDocument/2006/relationships/image" Target="../media/image-8-6.jpg"/><Relationship Id="rId7" Type="http://schemas.openxmlformats.org/officeDocument/2006/relationships/image" Target="../media/image-8-7.jpg"/><Relationship Id="rId8" Type="http://schemas.openxmlformats.org/officeDocument/2006/relationships/image" Target="../media/image-8-8.jpg"/><Relationship Id="rId9" Type="http://schemas.openxmlformats.org/officeDocument/2006/relationships/image" Target="../media/image-8-9.jpg"/><Relationship Id="rId10" Type="http://schemas.openxmlformats.org/officeDocument/2006/relationships/image" Target="../media/image-8-10.jpg"/><Relationship Id="rId11" Type="http://schemas.openxmlformats.org/officeDocument/2006/relationships/image" Target="../media/image-8-11.jpg"/><Relationship Id="rId12" Type="http://schemas.openxmlformats.org/officeDocument/2006/relationships/image" Target="../media/image-8-12.jpg"/><Relationship Id="rId13" Type="http://schemas.openxmlformats.org/officeDocument/2006/relationships/image" Target="../media/image-8-13.jpg"/><Relationship Id="rId14" Type="http://schemas.openxmlformats.org/officeDocument/2006/relationships/image" Target="../media/image-8-14.jpg"/><Relationship Id="rId15" Type="http://schemas.openxmlformats.org/officeDocument/2006/relationships/image" Target="../media/image-8-15.jpg"/><Relationship Id="rId16" Type="http://schemas.openxmlformats.org/officeDocument/2006/relationships/slideLayout" Target="../slideLayouts/slideLayout2.xml"/><Relationship Id="rId1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image" Target="../media/image-11-5.jpg"/><Relationship Id="rId6" Type="http://schemas.openxmlformats.org/officeDocument/2006/relationships/image" Target="../media/image-11-6.jpg"/><Relationship Id="rId7" Type="http://schemas.openxmlformats.org/officeDocument/2006/relationships/image" Target="../media/image-11-7.jpg"/><Relationship Id="rId8" Type="http://schemas.openxmlformats.org/officeDocument/2006/relationships/image" Target="../media/image-11-8.jpg"/><Relationship Id="rId9" Type="http://schemas.openxmlformats.org/officeDocument/2006/relationships/image" Target="../media/image-11-9.jpg"/><Relationship Id="rId10" Type="http://schemas.openxmlformats.org/officeDocument/2006/relationships/image" Target="../media/image-11-10.jpg"/><Relationship Id="rId11" Type="http://schemas.openxmlformats.org/officeDocument/2006/relationships/image" Target="../media/image-11-11.jpg"/><Relationship Id="rId12" Type="http://schemas.openxmlformats.org/officeDocument/2006/relationships/image" Target="../media/image-11-12.jpg"/><Relationship Id="rId13" Type="http://schemas.openxmlformats.org/officeDocument/2006/relationships/image" Target="../media/image-11-13.jpg"/><Relationship Id="rId14" Type="http://schemas.openxmlformats.org/officeDocument/2006/relationships/image" Target="../media/image-11-14.jpg"/><Relationship Id="rId15" Type="http://schemas.openxmlformats.org/officeDocument/2006/relationships/image" Target="../media/image-11-15.jpg"/><Relationship Id="rId16" Type="http://schemas.openxmlformats.org/officeDocument/2006/relationships/slideLayout" Target="../slideLayouts/slideLayout2.xml"/><Relationship Id="rId1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image" Target="../media/image-12-5.jpg"/><Relationship Id="rId6" Type="http://schemas.openxmlformats.org/officeDocument/2006/relationships/image" Target="../media/image-12-6.jpg"/><Relationship Id="rId7" Type="http://schemas.openxmlformats.org/officeDocument/2006/relationships/image" Target="../media/image-12-7.jpg"/><Relationship Id="rId8" Type="http://schemas.openxmlformats.org/officeDocument/2006/relationships/image" Target="../media/image-12-8.jpg"/><Relationship Id="rId9" Type="http://schemas.openxmlformats.org/officeDocument/2006/relationships/image" Target="../media/image-12-9.jpg"/><Relationship Id="rId10" Type="http://schemas.openxmlformats.org/officeDocument/2006/relationships/image" Target="../media/image-12-10.jpg"/><Relationship Id="rId11" Type="http://schemas.openxmlformats.org/officeDocument/2006/relationships/image" Target="../media/image-12-11.jpg"/><Relationship Id="rId12" Type="http://schemas.openxmlformats.org/officeDocument/2006/relationships/image" Target="../media/image-12-12.jpg"/><Relationship Id="rId13" Type="http://schemas.openxmlformats.org/officeDocument/2006/relationships/image" Target="../media/image-12-13.jpg"/><Relationship Id="rId14" Type="http://schemas.openxmlformats.org/officeDocument/2006/relationships/image" Target="../media/image-12-14.jpg"/><Relationship Id="rId15" Type="http://schemas.openxmlformats.org/officeDocument/2006/relationships/image" Target="../media/image-12-15.jpg"/><Relationship Id="rId16" Type="http://schemas.openxmlformats.org/officeDocument/2006/relationships/slideLayout" Target="../slideLayouts/slideLayout2.xml"/><Relationship Id="rId1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2.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369820"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SÉANCE 09 / 19</a:t>
            </a:r>
            <a:endParaRPr lang="en-US" sz="1400" dirty="0"/>
          </a:p>
        </p:txBody>
      </p:sp>
      <p:sp>
        <p:nvSpPr>
          <p:cNvPr id="3" name="Text 1"/>
          <p:cNvSpPr txBox="1"/>
          <p:nvPr/>
        </p:nvSpPr>
        <p:spPr>
          <a:xfrm>
            <a:off x="548640" y="1188720"/>
            <a:ext cx="2377440" cy="777240"/>
          </a:xfrm>
          <a:prstGeom prst="rect">
            <a:avLst/>
          </a:prstGeom>
          <a:noFill/>
          <a:ln/>
        </p:spPr>
        <p:txBody>
          <a:bodyPr wrap="square" lIns="0" tIns="0" rIns="0" bIns="0" rtlCol="0" anchor="t"/>
          <a:lstStyle/>
          <a:p>
            <a:pPr indent="0" marL="0">
              <a:buNone/>
            </a:pPr>
            <a:r>
              <a:rPr lang="en-US" sz="1300" b="1" spc="200" kern="0" dirty="0">
                <a:solidFill>
                  <a:schemeClr val="bg2"/>
                </a:solidFill>
              </a:rPr>
              <a:t>FICHE</a:t>
            </a:r>
            <a:endParaRPr lang="en-US" sz="1300" dirty="0"/>
          </a:p>
          <a:p>
            <a:pPr indent="0" marL="0">
              <a:buNone/>
            </a:pPr>
            <a:r>
              <a:rPr lang="en-US" sz="3000" b="1" dirty="0">
                <a:solidFill>
                  <a:schemeClr val="bg1"/>
                </a:solidFill>
                <a:latin typeface="+mj-lt" pitchFamily="34" charset="0"/>
                <a:ea typeface="+mj-lt" pitchFamily="34" charset="-122"/>
                <a:cs typeface="+mj-lt" pitchFamily="34" charset="-120"/>
              </a:rPr>
              <a:t>9</a:t>
            </a:r>
            <a:endParaRPr lang="en-US" sz="1300" dirty="0"/>
          </a:p>
        </p:txBody>
      </p:sp>
      <p:sp>
        <p:nvSpPr>
          <p:cNvPr id="4" name="Text 1"/>
          <p:cNvSpPr/>
          <p:nvPr>
            <p:ph idx="101" type="title" hasCustomPrompt="1"/>
          </p:nvPr>
        </p:nvSpPr>
        <p:spPr>
          <a:xfrm>
            <a:off x="548640" y="1874520"/>
            <a:ext cx="5760720" cy="1737360"/>
          </a:xfrm>
          <a:prstGeom prst="rect">
            <a:avLst/>
          </a:prstGeom>
          <a:noFill/>
          <a:ln/>
        </p:spPr>
        <p:txBody>
          <a:bodyPr wrap="square" lIns="0" tIns="0" rIns="0" bIns="0" rtlCol="0" anchor="b"/>
          <a:lstStyle/>
          <a:p>
            <a:pPr algn="l" indent="0" marL="0">
              <a:buNone/>
            </a:pPr>
            <a:r>
              <a:rPr lang="en-US" sz="4000" b="1" dirty="0">
                <a:solidFill>
                  <a:schemeClr val="bg1"/>
                </a:solidFill>
              </a:rPr>
              <a:t>Bilan · De weg vragen</a:t>
            </a:r>
            <a:endParaRPr lang="en-US" sz="4000" dirty="0"/>
          </a:p>
        </p:txBody>
      </p:sp>
      <p:sp>
        <p:nvSpPr>
          <p:cNvPr id="5" name="Text 1"/>
          <p:cNvSpPr/>
          <p:nvPr>
            <p:ph idx="102" type="body" hasCustomPrompt="1"/>
          </p:nvPr>
        </p:nvSpPr>
        <p:spPr>
          <a:xfrm>
            <a:off x="548640" y="3794760"/>
            <a:ext cx="5760720" cy="1371600"/>
          </a:xfrm>
          <a:prstGeom prst="rect">
            <a:avLst/>
          </a:prstGeom>
          <a:noFill/>
          <a:ln/>
        </p:spPr>
        <p:txBody>
          <a:bodyPr wrap="square" lIns="0" tIns="0" rIns="0" bIns="0" rtlCol="0" anchor="t"/>
          <a:lstStyle/>
          <a:p>
            <a:pPr algn="l" indent="0" marL="0">
              <a:spcAft>
                <a:spcPts val="1000"/>
              </a:spcAft>
              <a:buNone/>
            </a:pPr>
            <a:r>
              <a:rPr lang="en-US" sz="1800" i="1" dirty="0">
                <a:solidFill>
                  <a:schemeClr val="bg2"/>
                </a:solidFill>
              </a:rPr>
              <a:t>Bilan du palier 1 — la famille, la ville et demander son chemin</a:t>
            </a:r>
            <a:endParaRPr lang="en-US" sz="1800" dirty="0"/>
          </a:p>
          <a:p>
            <a:pPr algn="l" indent="0" marL="0">
              <a:buNone/>
            </a:pPr>
            <a:r>
              <a:rPr lang="en-US" sz="1800" b="1" dirty="0">
                <a:solidFill>
                  <a:schemeClr val="bg2"/>
                </a:solidFill>
              </a:rPr>
              <a:t>Fin du palier 1 · Section 4 · Mises en situation</a:t>
            </a:r>
            <a:endParaRPr lang="en-US" sz="1800" dirty="0"/>
          </a:p>
          <a:p>
            <a:pPr algn="l" indent="0" marL="0">
              <a:buNone/>
            </a:pPr>
            <a:r>
              <a:rPr lang="en-US" sz="1800" dirty="0">
                <a:solidFill>
                  <a:schemeClr val="bg2"/>
                </a:solidFill>
              </a:rPr>
              <a:t>Livret p. 1–57 · 65 · 79–80 · 100a</a:t>
            </a:r>
            <a:endParaRPr lang="en-US" sz="1800" dirty="0"/>
          </a:p>
        </p:txBody>
      </p:sp>
      <p:pic>
        <p:nvPicPr>
          <p:cNvPr id="6" name="illustration" descr="Illustration du syllabus">    </p:cNvPr>
          <p:cNvPicPr>
            <a:picLocks noChangeAspect="1"/>
          </p:cNvPicPr>
          <p:nvPr/>
        </p:nvPicPr>
        <p:blipFill>
          <a:blip r:embed="rId1"/>
          <a:stretch>
            <a:fillRect/>
          </a:stretch>
        </p:blipFill>
        <p:spPr>
          <a:xfrm>
            <a:off x="6583680" y="2793860"/>
            <a:ext cx="5120640" cy="1270280"/>
          </a:xfrm>
          <a:prstGeom prst="rect">
            <a:avLst/>
          </a:prstGeom>
          <a:effectLst>
            <a:outerShdw sx="100000" sy="100000" kx="0" ky="0" algn="bl" rotWithShape="0" blurRad="101600" dist="25400" dir="36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Mission du jour</a:t>
            </a:r>
            <a:endParaRPr lang="en-US" sz="3200" dirty="0"/>
          </a:p>
        </p:txBody>
      </p:sp>
      <p:sp>
        <p:nvSpPr>
          <p:cNvPr id="3" name="tag"/>
          <p:cNvSpPr/>
          <p:nvPr/>
        </p:nvSpPr>
        <p:spPr>
          <a:xfrm>
            <a:off x="548640" y="237744"/>
            <a:ext cx="8229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PLAN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1–57 · 65 · 79–80 · 100a</a:t>
            </a:r>
            <a:endParaRPr lang="en-US" sz="1200" dirty="0"/>
          </a:p>
        </p:txBody>
      </p:sp>
      <p:sp>
        <p:nvSpPr>
          <p:cNvPr id="6" name="Shape 3"/>
          <p:cNvSpPr/>
          <p:nvPr/>
        </p:nvSpPr>
        <p:spPr>
          <a:xfrm>
            <a:off x="548640" y="1508760"/>
            <a:ext cx="5257800" cy="1463040"/>
          </a:xfrm>
          <a:prstGeom prst="roundRect">
            <a:avLst>
              <a:gd name="adj" fmla="val 5000"/>
            </a:avLst>
          </a:prstGeom>
          <a:solidFill>
            <a:schemeClr val="bg2"/>
          </a:solidFill>
          <a:ln w="9525">
            <a:solidFill>
              <a:srgbClr val="D5DCE6"/>
            </a:solidFill>
            <a:prstDash val="solid"/>
          </a:ln>
        </p:spPr>
      </p:sp>
      <p:sp>
        <p:nvSpPr>
          <p:cNvPr id="7" name="Shape 4"/>
          <p:cNvSpPr/>
          <p:nvPr/>
        </p:nvSpPr>
        <p:spPr>
          <a:xfrm>
            <a:off x="749808" y="1709928"/>
            <a:ext cx="566928" cy="566928"/>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886968" y="1847088"/>
            <a:ext cx="292608" cy="292608"/>
          </a:xfrm>
          <a:prstGeom prst="rect">
            <a:avLst/>
          </a:prstGeom>
        </p:spPr>
      </p:pic>
      <p:sp>
        <p:nvSpPr>
          <p:cNvPr id="9" name="Text 5"/>
          <p:cNvSpPr txBox="1"/>
          <p:nvPr/>
        </p:nvSpPr>
        <p:spPr>
          <a:xfrm>
            <a:off x="1481328" y="1655064"/>
            <a:ext cx="4160520"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EN FIN DE SÉANCE, JE SAIS…</a:t>
            </a:r>
            <a:endParaRPr lang="en-US" sz="1200" dirty="0"/>
          </a:p>
        </p:txBody>
      </p:sp>
      <p:sp>
        <p:nvSpPr>
          <p:cNvPr id="10" name="Text 6"/>
          <p:cNvSpPr txBox="1"/>
          <p:nvPr/>
        </p:nvSpPr>
        <p:spPr>
          <a:xfrm>
            <a:off x="1481328" y="1947672"/>
            <a:ext cx="4160520" cy="932688"/>
          </a:xfrm>
          <a:prstGeom prst="rect">
            <a:avLst/>
          </a:prstGeom>
          <a:noFill/>
          <a:ln/>
        </p:spPr>
        <p:txBody>
          <a:bodyPr wrap="square" lIns="0" tIns="0" rIns="0" bIns="0" rtlCol="0" anchor="t"/>
          <a:lstStyle/>
          <a:p>
            <a:pPr indent="0" marL="0">
              <a:buNone/>
            </a:pPr>
            <a:r>
              <a:rPr lang="en-US" sz="1800" dirty="0">
                <a:solidFill>
                  <a:schemeClr val="tx1"/>
                </a:solidFill>
              </a:rPr>
              <a:t>Faire le </a:t>
            </a:r>
            <a:r>
              <a:rPr lang="en-US" sz="1800" b="1" dirty="0">
                <a:solidFill>
                  <a:schemeClr val="tx1"/>
                </a:solidFill>
              </a:rPr>
              <a:t>bilan du palier 1</a:t>
            </a:r>
            <a:r>
              <a:rPr lang="en-US" sz="1800" dirty="0">
                <a:solidFill>
                  <a:schemeClr val="tx1"/>
                </a:solidFill>
              </a:rPr>
              <a:t>, parler de ma </a:t>
            </a:r>
            <a:r>
              <a:rPr lang="en-US" sz="1800" b="1" dirty="0">
                <a:solidFill>
                  <a:schemeClr val="tx1"/>
                </a:solidFill>
              </a:rPr>
              <a:t>famille</a:t>
            </a:r>
            <a:r>
              <a:rPr lang="en-US" sz="1800" dirty="0">
                <a:solidFill>
                  <a:schemeClr val="tx1"/>
                </a:solidFill>
              </a:rPr>
              <a:t>, situer un lieu </a:t>
            </a:r>
            <a:r>
              <a:rPr lang="en-US" sz="1800" b="1" dirty="0">
                <a:solidFill>
                  <a:schemeClr val="tx1"/>
                </a:solidFill>
              </a:rPr>
              <a:t>en ville</a:t>
            </a:r>
            <a:r>
              <a:rPr lang="en-US" sz="1800" dirty="0">
                <a:solidFill>
                  <a:schemeClr val="tx1"/>
                </a:solidFill>
              </a:rPr>
              <a:t> et </a:t>
            </a:r>
            <a:r>
              <a:rPr lang="en-US" sz="1800" b="1" dirty="0">
                <a:solidFill>
                  <a:schemeClr val="tx1"/>
                </a:solidFill>
              </a:rPr>
              <a:t>demander mon chemin</a:t>
            </a:r>
            <a:r>
              <a:rPr lang="en-US" sz="1800" dirty="0">
                <a:solidFill>
                  <a:schemeClr val="tx1"/>
                </a:solidFill>
              </a:rPr>
              <a:t> poliment (u).</a:t>
            </a:r>
            <a:endParaRPr lang="en-US" sz="1800" dirty="0"/>
          </a:p>
        </p:txBody>
      </p:sp>
      <p:sp>
        <p:nvSpPr>
          <p:cNvPr id="11" name="Shape 7"/>
          <p:cNvSpPr/>
          <p:nvPr/>
        </p:nvSpPr>
        <p:spPr>
          <a:xfrm>
            <a:off x="548640" y="3136392"/>
            <a:ext cx="5257800" cy="1463040"/>
          </a:xfrm>
          <a:prstGeom prst="roundRect">
            <a:avLst>
              <a:gd name="adj" fmla="val 5000"/>
            </a:avLst>
          </a:prstGeom>
          <a:solidFill>
            <a:schemeClr val="bg2"/>
          </a:solidFill>
          <a:ln w="9525">
            <a:solidFill>
              <a:srgbClr val="D5DCE6"/>
            </a:solidFill>
            <a:prstDash val="solid"/>
          </a:ln>
        </p:spPr>
      </p:sp>
      <p:sp>
        <p:nvSpPr>
          <p:cNvPr id="12" name="Shape 8"/>
          <p:cNvSpPr/>
          <p:nvPr/>
        </p:nvSpPr>
        <p:spPr>
          <a:xfrm>
            <a:off x="749808" y="3337560"/>
            <a:ext cx="566928" cy="566928"/>
          </a:xfrm>
          <a:prstGeom prst="ellipse">
            <a:avLst/>
          </a:prstGeom>
          <a:solidFill>
            <a:schemeClr val="accent2"/>
          </a:solidFill>
          <a:ln/>
        </p:spPr>
      </p:sp>
      <p:pic>
        <p:nvPicPr>
          <p:cNvPr id="13" name="Image 1" descr="preencoded.png">    </p:cNvPr>
          <p:cNvPicPr>
            <a:picLocks noChangeAspect="1"/>
          </p:cNvPicPr>
          <p:nvPr/>
        </p:nvPicPr>
        <p:blipFill>
          <a:blip r:embed="rId2"/>
          <a:stretch>
            <a:fillRect/>
          </a:stretch>
        </p:blipFill>
        <p:spPr>
          <a:xfrm>
            <a:off x="886968" y="3474720"/>
            <a:ext cx="292608" cy="292608"/>
          </a:xfrm>
          <a:prstGeom prst="rect">
            <a:avLst/>
          </a:prstGeom>
        </p:spPr>
      </p:pic>
      <p:sp>
        <p:nvSpPr>
          <p:cNvPr id="14" name="Text 9"/>
          <p:cNvSpPr txBox="1"/>
          <p:nvPr/>
        </p:nvSpPr>
        <p:spPr>
          <a:xfrm>
            <a:off x="1481328" y="3282696"/>
            <a:ext cx="4160520" cy="292608"/>
          </a:xfrm>
          <a:prstGeom prst="rect">
            <a:avLst/>
          </a:prstGeom>
          <a:noFill/>
          <a:ln/>
        </p:spPr>
        <p:txBody>
          <a:bodyPr wrap="square" lIns="0" tIns="0" rIns="0" bIns="0" rtlCol="0" anchor="ctr"/>
          <a:lstStyle/>
          <a:p>
            <a:pPr indent="0" marL="0">
              <a:buNone/>
            </a:pPr>
            <a:r>
              <a:rPr lang="en-US" sz="1200" b="1" spc="100" kern="0" dirty="0">
                <a:solidFill>
                  <a:schemeClr val="accent2"/>
                </a:solidFill>
              </a:rPr>
              <a:t>LANGUE CIBLE</a:t>
            </a:r>
            <a:endParaRPr lang="en-US" sz="1200" dirty="0"/>
          </a:p>
        </p:txBody>
      </p:sp>
      <p:sp>
        <p:nvSpPr>
          <p:cNvPr id="15" name="Text 10"/>
          <p:cNvSpPr txBox="1"/>
          <p:nvPr/>
        </p:nvSpPr>
        <p:spPr>
          <a:xfrm>
            <a:off x="1481328" y="3575304"/>
            <a:ext cx="4160520" cy="932688"/>
          </a:xfrm>
          <a:prstGeom prst="rect">
            <a:avLst/>
          </a:prstGeom>
          <a:noFill/>
          <a:ln/>
        </p:spPr>
        <p:txBody>
          <a:bodyPr wrap="square" lIns="0" tIns="0" rIns="0" bIns="0" rtlCol="0" anchor="t"/>
          <a:lstStyle/>
          <a:p>
            <a:pPr indent="0" marL="0">
              <a:buNone/>
            </a:pPr>
            <a:r>
              <a:rPr lang="en-US" sz="1800" b="1" dirty="0">
                <a:solidFill>
                  <a:schemeClr val="accent2"/>
                </a:solidFill>
              </a:rPr>
              <a:t>de</a:t>
            </a:r>
            <a:r>
              <a:rPr lang="en-US" sz="1800" dirty="0">
                <a:solidFill>
                  <a:schemeClr val="tx1"/>
                </a:solidFill>
              </a:rPr>
              <a:t> vader · </a:t>
            </a:r>
            <a:r>
              <a:rPr lang="en-US" sz="1800" b="1" dirty="0">
                <a:solidFill>
                  <a:schemeClr val="accent4"/>
                </a:solidFill>
              </a:rPr>
              <a:t>het</a:t>
            </a:r>
            <a:r>
              <a:rPr lang="en-US" sz="1800" dirty="0">
                <a:solidFill>
                  <a:schemeClr val="tx1"/>
                </a:solidFill>
              </a:rPr>
              <a:t> gezin · </a:t>
            </a:r>
            <a:r>
              <a:rPr lang="en-US" sz="1800" b="1" dirty="0">
                <a:solidFill>
                  <a:schemeClr val="accent4"/>
                </a:solidFill>
              </a:rPr>
              <a:t>het</a:t>
            </a:r>
            <a:r>
              <a:rPr lang="en-US" sz="1800" dirty="0">
                <a:solidFill>
                  <a:schemeClr val="tx1"/>
                </a:solidFill>
              </a:rPr>
              <a:t> station — </a:t>
            </a:r>
            <a:r>
              <a:rPr lang="en-US" sz="1800" i="1" dirty="0">
                <a:solidFill>
                  <a:schemeClr val="tx1"/>
                </a:solidFill>
              </a:rPr>
              <a:t>in · op · naar · bij · om</a:t>
            </a:r>
            <a:r>
              <a:rPr lang="en-US" sz="1800" dirty="0">
                <a:solidFill>
                  <a:schemeClr val="tx1"/>
                </a:solidFill>
              </a:rPr>
              <a:t> — </a:t>
            </a:r>
            <a:r>
              <a:rPr lang="en-US" sz="1800" i="1" dirty="0">
                <a:solidFill>
                  <a:schemeClr val="tx1"/>
                </a:solidFill>
              </a:rPr>
              <a:t>Mag ik u iets vragen? Kunt u me zeggen waar … is?</a:t>
            </a:r>
            <a:endParaRPr lang="en-US" sz="1800" dirty="0"/>
          </a:p>
        </p:txBody>
      </p:sp>
      <p:sp>
        <p:nvSpPr>
          <p:cNvPr id="16" name="Shape 11"/>
          <p:cNvSpPr/>
          <p:nvPr/>
        </p:nvSpPr>
        <p:spPr>
          <a:xfrm>
            <a:off x="548640" y="4764024"/>
            <a:ext cx="5257800" cy="1463040"/>
          </a:xfrm>
          <a:prstGeom prst="roundRect">
            <a:avLst>
              <a:gd name="adj" fmla="val 5000"/>
            </a:avLst>
          </a:prstGeom>
          <a:solidFill>
            <a:schemeClr val="bg2"/>
          </a:solidFill>
          <a:ln w="9525">
            <a:solidFill>
              <a:srgbClr val="D5DCE6"/>
            </a:solidFill>
            <a:prstDash val="solid"/>
          </a:ln>
        </p:spPr>
      </p:sp>
      <p:sp>
        <p:nvSpPr>
          <p:cNvPr id="17" name="Shape 12"/>
          <p:cNvSpPr/>
          <p:nvPr/>
        </p:nvSpPr>
        <p:spPr>
          <a:xfrm>
            <a:off x="749808" y="4965192"/>
            <a:ext cx="566928" cy="566928"/>
          </a:xfrm>
          <a:prstGeom prst="ellipse">
            <a:avLst/>
          </a:prstGeom>
          <a:solidFill>
            <a:schemeClr val="accent3"/>
          </a:solidFill>
          <a:ln/>
        </p:spPr>
      </p:sp>
      <p:pic>
        <p:nvPicPr>
          <p:cNvPr id="18" name="Image 2" descr="preencoded.png">    </p:cNvPr>
          <p:cNvPicPr>
            <a:picLocks noChangeAspect="1"/>
          </p:cNvPicPr>
          <p:nvPr/>
        </p:nvPicPr>
        <p:blipFill>
          <a:blip r:embed="rId3"/>
          <a:stretch>
            <a:fillRect/>
          </a:stretch>
        </p:blipFill>
        <p:spPr>
          <a:xfrm>
            <a:off x="886968" y="5102352"/>
            <a:ext cx="292608" cy="292608"/>
          </a:xfrm>
          <a:prstGeom prst="rect">
            <a:avLst/>
          </a:prstGeom>
        </p:spPr>
      </p:pic>
      <p:sp>
        <p:nvSpPr>
          <p:cNvPr id="19" name="Text 13"/>
          <p:cNvSpPr txBox="1"/>
          <p:nvPr/>
        </p:nvSpPr>
        <p:spPr>
          <a:xfrm>
            <a:off x="1481328" y="4910328"/>
            <a:ext cx="4160520" cy="292608"/>
          </a:xfrm>
          <a:prstGeom prst="rect">
            <a:avLst/>
          </a:prstGeom>
          <a:noFill/>
          <a:ln/>
        </p:spPr>
        <p:txBody>
          <a:bodyPr wrap="square" lIns="0" tIns="0" rIns="0" bIns="0" rtlCol="0" anchor="ctr"/>
          <a:lstStyle/>
          <a:p>
            <a:pPr indent="0" marL="0">
              <a:buNone/>
            </a:pPr>
            <a:r>
              <a:rPr lang="en-US" sz="1200" b="1" spc="100" kern="0" dirty="0">
                <a:solidFill>
                  <a:schemeClr val="accent3"/>
                </a:solidFill>
              </a:rPr>
              <a:t>COMPÉTENCES</a:t>
            </a:r>
            <a:endParaRPr lang="en-US" sz="1200" dirty="0"/>
          </a:p>
        </p:txBody>
      </p:sp>
      <p:sp>
        <p:nvSpPr>
          <p:cNvPr id="20" name="Text 14"/>
          <p:cNvSpPr txBox="1"/>
          <p:nvPr/>
        </p:nvSpPr>
        <p:spPr>
          <a:xfrm>
            <a:off x="1481328" y="5202936"/>
            <a:ext cx="4160520" cy="932688"/>
          </a:xfrm>
          <a:prstGeom prst="rect">
            <a:avLst/>
          </a:prstGeom>
          <a:noFill/>
          <a:ln/>
        </p:spPr>
        <p:txBody>
          <a:bodyPr wrap="square" lIns="0" tIns="0" rIns="0" bIns="0" rtlCol="0" anchor="t"/>
          <a:lstStyle/>
          <a:p>
            <a:pPr indent="0" marL="0">
              <a:buNone/>
            </a:pPr>
            <a:r>
              <a:rPr lang="en-US" sz="1800" dirty="0">
                <a:solidFill>
                  <a:schemeClr val="tx1"/>
                </a:solidFill>
              </a:rPr>
              <a:t>Faire le point · nommer avec l’article · choisir la préposition · jouer un échange à l’accueil</a:t>
            </a:r>
            <a:endParaRPr lang="en-US" sz="1800" dirty="0"/>
          </a:p>
        </p:txBody>
      </p:sp>
      <p:sp>
        <p:nvSpPr>
          <p:cNvPr id="21" name="Text 15"/>
          <p:cNvSpPr txBox="1"/>
          <p:nvPr/>
        </p:nvSpPr>
        <p:spPr>
          <a:xfrm>
            <a:off x="6263640" y="1463040"/>
            <a:ext cx="3657600" cy="320040"/>
          </a:xfrm>
          <a:prstGeom prst="rect">
            <a:avLst/>
          </a:prstGeom>
          <a:noFill/>
          <a:ln/>
        </p:spPr>
        <p:txBody>
          <a:bodyPr wrap="square" lIns="0" tIns="0" rIns="0" bIns="0" rtlCol="0" anchor="ctr"/>
          <a:lstStyle/>
          <a:p>
            <a:pPr indent="0" marL="0">
              <a:buNone/>
            </a:pPr>
            <a:r>
              <a:rPr lang="en-US" sz="1300" b="1" spc="200" kern="0" dirty="0">
                <a:solidFill>
                  <a:schemeClr val="accent5"/>
                </a:solidFill>
              </a:rPr>
              <a:t>DÉROULÉ</a:t>
            </a:r>
            <a:endParaRPr lang="en-US" sz="1300" dirty="0"/>
          </a:p>
        </p:txBody>
      </p:sp>
      <p:sp>
        <p:nvSpPr>
          <p:cNvPr id="22" name="Text 16"/>
          <p:cNvSpPr txBox="1"/>
          <p:nvPr/>
        </p:nvSpPr>
        <p:spPr>
          <a:xfrm>
            <a:off x="8897112" y="1463040"/>
            <a:ext cx="2743200" cy="320040"/>
          </a:xfrm>
          <a:prstGeom prst="rect">
            <a:avLst/>
          </a:prstGeom>
          <a:noFill/>
          <a:ln/>
        </p:spPr>
        <p:txBody>
          <a:bodyPr wrap="square" lIns="0" tIns="0" rIns="0" bIns="0" rtlCol="0" anchor="ctr"/>
          <a:lstStyle/>
          <a:p>
            <a:pPr algn="r" indent="0" marL="0">
              <a:buNone/>
            </a:pPr>
            <a:r>
              <a:rPr lang="en-US" sz="1200" i="1" dirty="0">
                <a:solidFill>
                  <a:schemeClr val="accent5"/>
                </a:solidFill>
              </a:rPr>
              <a:t>≈ 90 min (indicatif)</a:t>
            </a:r>
            <a:endParaRPr lang="en-US" sz="1200" dirty="0"/>
          </a:p>
        </p:txBody>
      </p:sp>
      <p:sp>
        <p:nvSpPr>
          <p:cNvPr id="23" name="Shape 17"/>
          <p:cNvSpPr/>
          <p:nvPr/>
        </p:nvSpPr>
        <p:spPr>
          <a:xfrm>
            <a:off x="6263640" y="1904238"/>
            <a:ext cx="384048" cy="384048"/>
          </a:xfrm>
          <a:prstGeom prst="ellipse">
            <a:avLst/>
          </a:prstGeom>
          <a:solidFill>
            <a:schemeClr val="tx2"/>
          </a:solidFill>
          <a:ln/>
        </p:spPr>
      </p:sp>
      <p:sp>
        <p:nvSpPr>
          <p:cNvPr id="24" name="Text 18"/>
          <p:cNvSpPr txBox="1"/>
          <p:nvPr/>
        </p:nvSpPr>
        <p:spPr>
          <a:xfrm>
            <a:off x="6263640" y="190423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5" name="Text 19"/>
          <p:cNvSpPr txBox="1"/>
          <p:nvPr/>
        </p:nvSpPr>
        <p:spPr>
          <a:xfrm>
            <a:off x="6784848" y="1874520"/>
            <a:ext cx="4114800" cy="443484"/>
          </a:xfrm>
          <a:prstGeom prst="rect">
            <a:avLst/>
          </a:prstGeom>
          <a:noFill/>
          <a:ln/>
        </p:spPr>
        <p:txBody>
          <a:bodyPr wrap="square" lIns="0" tIns="0" rIns="0" bIns="0" rtlCol="0" anchor="ctr"/>
          <a:lstStyle/>
          <a:p>
            <a:pPr indent="0" marL="0">
              <a:buNone/>
            </a:pPr>
            <a:r>
              <a:rPr lang="en-US" sz="1500" dirty="0">
                <a:solidFill>
                  <a:schemeClr val="tx1"/>
                </a:solidFill>
              </a:rPr>
              <a:t>Échauffement : afscheid &amp; ik</a:t>
            </a:r>
            <a:endParaRPr lang="en-US" sz="1500" dirty="0"/>
          </a:p>
        </p:txBody>
      </p:sp>
      <p:sp>
        <p:nvSpPr>
          <p:cNvPr id="26" name="Text 20"/>
          <p:cNvSpPr txBox="1"/>
          <p:nvPr/>
        </p:nvSpPr>
        <p:spPr>
          <a:xfrm>
            <a:off x="10972800" y="1874520"/>
            <a:ext cx="667512" cy="443484"/>
          </a:xfrm>
          <a:prstGeom prst="rect">
            <a:avLst/>
          </a:prstGeom>
          <a:noFill/>
          <a:ln/>
        </p:spPr>
        <p:txBody>
          <a:bodyPr wrap="square" lIns="0" tIns="0" rIns="0" bIns="0" rtlCol="0" anchor="ctr"/>
          <a:lstStyle/>
          <a:p>
            <a:pPr algn="r" indent="0" marL="0">
              <a:buNone/>
            </a:pPr>
            <a:r>
              <a:rPr lang="en-US" sz="1500" b="1" dirty="0">
                <a:solidFill>
                  <a:schemeClr val="accent1"/>
                </a:solidFill>
              </a:rPr>
              <a:t>5'</a:t>
            </a:r>
            <a:endParaRPr lang="en-US" sz="1500" dirty="0"/>
          </a:p>
        </p:txBody>
      </p:sp>
      <p:sp>
        <p:nvSpPr>
          <p:cNvPr id="27" name="Shape 21"/>
          <p:cNvSpPr/>
          <p:nvPr/>
        </p:nvSpPr>
        <p:spPr>
          <a:xfrm>
            <a:off x="6263640" y="2347722"/>
            <a:ext cx="384048" cy="384048"/>
          </a:xfrm>
          <a:prstGeom prst="ellipse">
            <a:avLst/>
          </a:prstGeom>
          <a:solidFill>
            <a:schemeClr val="tx2"/>
          </a:solidFill>
          <a:ln/>
        </p:spPr>
      </p:sp>
      <p:sp>
        <p:nvSpPr>
          <p:cNvPr id="28" name="Text 22"/>
          <p:cNvSpPr txBox="1"/>
          <p:nvPr/>
        </p:nvSpPr>
        <p:spPr>
          <a:xfrm>
            <a:off x="6263640" y="234772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9" name="Text 23"/>
          <p:cNvSpPr txBox="1"/>
          <p:nvPr/>
        </p:nvSpPr>
        <p:spPr>
          <a:xfrm>
            <a:off x="6784848" y="2318004"/>
            <a:ext cx="4114800" cy="443484"/>
          </a:xfrm>
          <a:prstGeom prst="rect">
            <a:avLst/>
          </a:prstGeom>
          <a:noFill/>
          <a:ln/>
        </p:spPr>
        <p:txBody>
          <a:bodyPr wrap="square" lIns="0" tIns="0" rIns="0" bIns="0" rtlCol="0" anchor="ctr"/>
          <a:lstStyle/>
          <a:p>
            <a:pPr indent="0" marL="0">
              <a:buNone/>
            </a:pPr>
            <a:r>
              <a:rPr lang="en-US" sz="1500" dirty="0">
                <a:solidFill>
                  <a:schemeClr val="tx1"/>
                </a:solidFill>
              </a:rPr>
              <a:t>Quiz bilan du palier 1</a:t>
            </a:r>
            <a:endParaRPr lang="en-US" sz="1500" dirty="0"/>
          </a:p>
        </p:txBody>
      </p:sp>
      <p:sp>
        <p:nvSpPr>
          <p:cNvPr id="30" name="Text 24"/>
          <p:cNvSpPr txBox="1"/>
          <p:nvPr/>
        </p:nvSpPr>
        <p:spPr>
          <a:xfrm>
            <a:off x="10972800" y="2318004"/>
            <a:ext cx="667512" cy="443484"/>
          </a:xfrm>
          <a:prstGeom prst="rect">
            <a:avLst/>
          </a:prstGeom>
          <a:noFill/>
          <a:ln/>
        </p:spPr>
        <p:txBody>
          <a:bodyPr wrap="square" lIns="0" tIns="0" rIns="0" bIns="0" rtlCol="0" anchor="ctr"/>
          <a:lstStyle/>
          <a:p>
            <a:pPr algn="r" indent="0" marL="0">
              <a:buNone/>
            </a:pPr>
            <a:r>
              <a:rPr lang="en-US" sz="1500" b="1" dirty="0">
                <a:solidFill>
                  <a:schemeClr val="accent1"/>
                </a:solidFill>
              </a:rPr>
              <a:t>12'</a:t>
            </a:r>
            <a:endParaRPr lang="en-US" sz="1500" dirty="0"/>
          </a:p>
        </p:txBody>
      </p:sp>
      <p:sp>
        <p:nvSpPr>
          <p:cNvPr id="31" name="Shape 25"/>
          <p:cNvSpPr/>
          <p:nvPr/>
        </p:nvSpPr>
        <p:spPr>
          <a:xfrm>
            <a:off x="6263640" y="2791206"/>
            <a:ext cx="384048" cy="384048"/>
          </a:xfrm>
          <a:prstGeom prst="ellipse">
            <a:avLst/>
          </a:prstGeom>
          <a:solidFill>
            <a:schemeClr val="tx2"/>
          </a:solidFill>
          <a:ln/>
        </p:spPr>
      </p:sp>
      <p:sp>
        <p:nvSpPr>
          <p:cNvPr id="32" name="Text 26"/>
          <p:cNvSpPr txBox="1"/>
          <p:nvPr/>
        </p:nvSpPr>
        <p:spPr>
          <a:xfrm>
            <a:off x="6263640" y="279120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3" name="Text 27"/>
          <p:cNvSpPr txBox="1"/>
          <p:nvPr/>
        </p:nvSpPr>
        <p:spPr>
          <a:xfrm>
            <a:off x="6784848" y="2761488"/>
            <a:ext cx="4114800" cy="443484"/>
          </a:xfrm>
          <a:prstGeom prst="rect">
            <a:avLst/>
          </a:prstGeom>
          <a:noFill/>
          <a:ln/>
        </p:spPr>
        <p:txBody>
          <a:bodyPr wrap="square" lIns="0" tIns="0" rIns="0" bIns="0" rtlCol="0" anchor="ctr"/>
          <a:lstStyle/>
          <a:p>
            <a:pPr indent="0" marL="0">
              <a:buNone/>
            </a:pPr>
            <a:r>
              <a:rPr lang="en-US" sz="1500" dirty="0">
                <a:solidFill>
                  <a:schemeClr val="tx1"/>
                </a:solidFill>
              </a:rPr>
              <a:t>Auto-évaluation</a:t>
            </a:r>
            <a:endParaRPr lang="en-US" sz="1500" dirty="0"/>
          </a:p>
        </p:txBody>
      </p:sp>
      <p:sp>
        <p:nvSpPr>
          <p:cNvPr id="34" name="Text 28"/>
          <p:cNvSpPr txBox="1"/>
          <p:nvPr/>
        </p:nvSpPr>
        <p:spPr>
          <a:xfrm>
            <a:off x="10972800" y="2761488"/>
            <a:ext cx="667512" cy="443484"/>
          </a:xfrm>
          <a:prstGeom prst="rect">
            <a:avLst/>
          </a:prstGeom>
          <a:noFill/>
          <a:ln/>
        </p:spPr>
        <p:txBody>
          <a:bodyPr wrap="square" lIns="0" tIns="0" rIns="0" bIns="0" rtlCol="0" anchor="ctr"/>
          <a:lstStyle/>
          <a:p>
            <a:pPr algn="r" indent="0" marL="0">
              <a:buNone/>
            </a:pPr>
            <a:r>
              <a:rPr lang="en-US" sz="1500" b="1" dirty="0">
                <a:solidFill>
                  <a:schemeClr val="accent1"/>
                </a:solidFill>
              </a:rPr>
              <a:t>5'</a:t>
            </a:r>
            <a:endParaRPr lang="en-US" sz="1500" dirty="0"/>
          </a:p>
        </p:txBody>
      </p:sp>
      <p:sp>
        <p:nvSpPr>
          <p:cNvPr id="35" name="Shape 29"/>
          <p:cNvSpPr/>
          <p:nvPr/>
        </p:nvSpPr>
        <p:spPr>
          <a:xfrm>
            <a:off x="6263640" y="3234690"/>
            <a:ext cx="384048" cy="384048"/>
          </a:xfrm>
          <a:prstGeom prst="ellipse">
            <a:avLst/>
          </a:prstGeom>
          <a:solidFill>
            <a:schemeClr val="tx2"/>
          </a:solidFill>
          <a:ln/>
        </p:spPr>
      </p:sp>
      <p:sp>
        <p:nvSpPr>
          <p:cNvPr id="36" name="Text 30"/>
          <p:cNvSpPr txBox="1"/>
          <p:nvPr/>
        </p:nvSpPr>
        <p:spPr>
          <a:xfrm>
            <a:off x="6263640" y="323469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7" name="Text 31"/>
          <p:cNvSpPr txBox="1"/>
          <p:nvPr/>
        </p:nvSpPr>
        <p:spPr>
          <a:xfrm>
            <a:off x="6784848" y="3204972"/>
            <a:ext cx="4114800" cy="443484"/>
          </a:xfrm>
          <a:prstGeom prst="rect">
            <a:avLst/>
          </a:prstGeom>
          <a:noFill/>
          <a:ln/>
        </p:spPr>
        <p:txBody>
          <a:bodyPr wrap="square" lIns="0" tIns="0" rIns="0" bIns="0" rtlCol="0" anchor="ctr"/>
          <a:lstStyle/>
          <a:p>
            <a:pPr indent="0" marL="0">
              <a:buNone/>
            </a:pPr>
            <a:r>
              <a:rPr lang="en-US" sz="1500" dirty="0">
                <a:solidFill>
                  <a:schemeClr val="tx1"/>
                </a:solidFill>
              </a:rPr>
              <a:t>Familie (vocabulaire + bonus)</a:t>
            </a:r>
            <a:endParaRPr lang="en-US" sz="1500" dirty="0"/>
          </a:p>
        </p:txBody>
      </p:sp>
      <p:sp>
        <p:nvSpPr>
          <p:cNvPr id="38" name="Text 32"/>
          <p:cNvSpPr txBox="1"/>
          <p:nvPr/>
        </p:nvSpPr>
        <p:spPr>
          <a:xfrm>
            <a:off x="10972800" y="3204972"/>
            <a:ext cx="667512" cy="443484"/>
          </a:xfrm>
          <a:prstGeom prst="rect">
            <a:avLst/>
          </a:prstGeom>
          <a:noFill/>
          <a:ln/>
        </p:spPr>
        <p:txBody>
          <a:bodyPr wrap="square" lIns="0" tIns="0" rIns="0" bIns="0" rtlCol="0" anchor="ctr"/>
          <a:lstStyle/>
          <a:p>
            <a:pPr algn="r" indent="0" marL="0">
              <a:buNone/>
            </a:pPr>
            <a:r>
              <a:rPr lang="en-US" sz="1500" b="1" dirty="0">
                <a:solidFill>
                  <a:schemeClr val="accent1"/>
                </a:solidFill>
              </a:rPr>
              <a:t>12'</a:t>
            </a:r>
            <a:endParaRPr lang="en-US" sz="1500" dirty="0"/>
          </a:p>
        </p:txBody>
      </p:sp>
      <p:sp>
        <p:nvSpPr>
          <p:cNvPr id="39" name="Shape 33"/>
          <p:cNvSpPr/>
          <p:nvPr/>
        </p:nvSpPr>
        <p:spPr>
          <a:xfrm>
            <a:off x="6263640" y="3678174"/>
            <a:ext cx="384048" cy="384048"/>
          </a:xfrm>
          <a:prstGeom prst="ellipse">
            <a:avLst/>
          </a:prstGeom>
          <a:solidFill>
            <a:schemeClr val="tx2"/>
          </a:solidFill>
          <a:ln/>
        </p:spPr>
      </p:sp>
      <p:sp>
        <p:nvSpPr>
          <p:cNvPr id="40" name="Text 34"/>
          <p:cNvSpPr txBox="1"/>
          <p:nvPr/>
        </p:nvSpPr>
        <p:spPr>
          <a:xfrm>
            <a:off x="6263640" y="367817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1" name="Text 35"/>
          <p:cNvSpPr txBox="1"/>
          <p:nvPr/>
        </p:nvSpPr>
        <p:spPr>
          <a:xfrm>
            <a:off x="6784848" y="3648456"/>
            <a:ext cx="4114800" cy="443484"/>
          </a:xfrm>
          <a:prstGeom prst="rect">
            <a:avLst/>
          </a:prstGeom>
          <a:noFill/>
          <a:ln/>
        </p:spPr>
        <p:txBody>
          <a:bodyPr wrap="square" lIns="0" tIns="0" rIns="0" bIns="0" rtlCol="0" anchor="ctr"/>
          <a:lstStyle/>
          <a:p>
            <a:pPr indent="0" marL="0">
              <a:buNone/>
            </a:pPr>
            <a:r>
              <a:rPr lang="en-US" sz="1500" dirty="0">
                <a:solidFill>
                  <a:schemeClr val="tx1"/>
                </a:solidFill>
              </a:rPr>
              <a:t>In de stad (vocabulaire)</a:t>
            </a:r>
            <a:endParaRPr lang="en-US" sz="1500" dirty="0"/>
          </a:p>
        </p:txBody>
      </p:sp>
      <p:sp>
        <p:nvSpPr>
          <p:cNvPr id="42" name="Text 36"/>
          <p:cNvSpPr txBox="1"/>
          <p:nvPr/>
        </p:nvSpPr>
        <p:spPr>
          <a:xfrm>
            <a:off x="10972800" y="3648456"/>
            <a:ext cx="667512" cy="443484"/>
          </a:xfrm>
          <a:prstGeom prst="rect">
            <a:avLst/>
          </a:prstGeom>
          <a:noFill/>
          <a:ln/>
        </p:spPr>
        <p:txBody>
          <a:bodyPr wrap="square" lIns="0" tIns="0" rIns="0" bIns="0" rtlCol="0" anchor="ctr"/>
          <a:lstStyle/>
          <a:p>
            <a:pPr algn="r" indent="0" marL="0">
              <a:buNone/>
            </a:pPr>
            <a:r>
              <a:rPr lang="en-US" sz="1500" b="1" dirty="0">
                <a:solidFill>
                  <a:schemeClr val="accent1"/>
                </a:solidFill>
              </a:rPr>
              <a:t>8'</a:t>
            </a:r>
            <a:endParaRPr lang="en-US" sz="1500" dirty="0"/>
          </a:p>
        </p:txBody>
      </p:sp>
      <p:sp>
        <p:nvSpPr>
          <p:cNvPr id="43" name="Shape 37"/>
          <p:cNvSpPr/>
          <p:nvPr/>
        </p:nvSpPr>
        <p:spPr>
          <a:xfrm>
            <a:off x="6263640" y="4121658"/>
            <a:ext cx="384048" cy="384048"/>
          </a:xfrm>
          <a:prstGeom prst="ellipse">
            <a:avLst/>
          </a:prstGeom>
          <a:solidFill>
            <a:schemeClr val="tx2"/>
          </a:solidFill>
          <a:ln/>
        </p:spPr>
      </p:sp>
      <p:sp>
        <p:nvSpPr>
          <p:cNvPr id="44" name="Text 38"/>
          <p:cNvSpPr txBox="1"/>
          <p:nvPr/>
        </p:nvSpPr>
        <p:spPr>
          <a:xfrm>
            <a:off x="6263640" y="412165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5" name="Text 39"/>
          <p:cNvSpPr txBox="1"/>
          <p:nvPr/>
        </p:nvSpPr>
        <p:spPr>
          <a:xfrm>
            <a:off x="6784848" y="4091940"/>
            <a:ext cx="4114800" cy="443484"/>
          </a:xfrm>
          <a:prstGeom prst="rect">
            <a:avLst/>
          </a:prstGeom>
          <a:noFill/>
          <a:ln/>
        </p:spPr>
        <p:txBody>
          <a:bodyPr wrap="square" lIns="0" tIns="0" rIns="0" bIns="0" rtlCol="0" anchor="ctr"/>
          <a:lstStyle/>
          <a:p>
            <a:pPr indent="0" marL="0">
              <a:buNone/>
            </a:pPr>
            <a:r>
              <a:rPr lang="en-US" sz="1500" dirty="0">
                <a:solidFill>
                  <a:schemeClr val="tx1"/>
                </a:solidFill>
              </a:rPr>
              <a:t>Voorzetsels + bonus</a:t>
            </a:r>
            <a:endParaRPr lang="en-US" sz="1500" dirty="0"/>
          </a:p>
        </p:txBody>
      </p:sp>
      <p:sp>
        <p:nvSpPr>
          <p:cNvPr id="46" name="Text 40"/>
          <p:cNvSpPr txBox="1"/>
          <p:nvPr/>
        </p:nvSpPr>
        <p:spPr>
          <a:xfrm>
            <a:off x="10972800" y="4091940"/>
            <a:ext cx="667512" cy="443484"/>
          </a:xfrm>
          <a:prstGeom prst="rect">
            <a:avLst/>
          </a:prstGeom>
          <a:noFill/>
          <a:ln/>
        </p:spPr>
        <p:txBody>
          <a:bodyPr wrap="square" lIns="0" tIns="0" rIns="0" bIns="0" rtlCol="0" anchor="ctr"/>
          <a:lstStyle/>
          <a:p>
            <a:pPr algn="r" indent="0" marL="0">
              <a:buNone/>
            </a:pPr>
            <a:r>
              <a:rPr lang="en-US" sz="1500" b="1" dirty="0">
                <a:solidFill>
                  <a:schemeClr val="accent1"/>
                </a:solidFill>
              </a:rPr>
              <a:t>15'</a:t>
            </a:r>
            <a:endParaRPr lang="en-US" sz="1500" dirty="0"/>
          </a:p>
        </p:txBody>
      </p:sp>
      <p:sp>
        <p:nvSpPr>
          <p:cNvPr id="47" name="Shape 41"/>
          <p:cNvSpPr/>
          <p:nvPr/>
        </p:nvSpPr>
        <p:spPr>
          <a:xfrm>
            <a:off x="6263640" y="4565142"/>
            <a:ext cx="384048" cy="384048"/>
          </a:xfrm>
          <a:prstGeom prst="ellipse">
            <a:avLst/>
          </a:prstGeom>
          <a:solidFill>
            <a:schemeClr val="tx2"/>
          </a:solidFill>
          <a:ln/>
        </p:spPr>
      </p:sp>
      <p:sp>
        <p:nvSpPr>
          <p:cNvPr id="48" name="Text 42"/>
          <p:cNvSpPr txBox="1"/>
          <p:nvPr/>
        </p:nvSpPr>
        <p:spPr>
          <a:xfrm>
            <a:off x="6263640" y="456514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9" name="Text 43"/>
          <p:cNvSpPr txBox="1"/>
          <p:nvPr/>
        </p:nvSpPr>
        <p:spPr>
          <a:xfrm>
            <a:off x="6784848" y="4535424"/>
            <a:ext cx="4114800" cy="443484"/>
          </a:xfrm>
          <a:prstGeom prst="rect">
            <a:avLst/>
          </a:prstGeom>
          <a:noFill/>
          <a:ln/>
        </p:spPr>
        <p:txBody>
          <a:bodyPr wrap="square" lIns="0" tIns="0" rIns="0" bIns="0" rtlCol="0" anchor="ctr"/>
          <a:lstStyle/>
          <a:p>
            <a:pPr indent="0" marL="0">
              <a:buNone/>
            </a:pPr>
            <a:r>
              <a:rPr lang="en-US" sz="1500" dirty="0">
                <a:solidFill>
                  <a:schemeClr val="tx1"/>
                </a:solidFill>
              </a:rPr>
              <a:t>Fiche 9 : vocabulaire · Jalon 1</a:t>
            </a:r>
            <a:endParaRPr lang="en-US" sz="1500" dirty="0"/>
          </a:p>
        </p:txBody>
      </p:sp>
      <p:sp>
        <p:nvSpPr>
          <p:cNvPr id="50" name="Text 44"/>
          <p:cNvSpPr txBox="1"/>
          <p:nvPr/>
        </p:nvSpPr>
        <p:spPr>
          <a:xfrm>
            <a:off x="10972800" y="4535424"/>
            <a:ext cx="667512" cy="443484"/>
          </a:xfrm>
          <a:prstGeom prst="rect">
            <a:avLst/>
          </a:prstGeom>
          <a:noFill/>
          <a:ln/>
        </p:spPr>
        <p:txBody>
          <a:bodyPr wrap="square" lIns="0" tIns="0" rIns="0" bIns="0" rtlCol="0" anchor="ctr"/>
          <a:lstStyle/>
          <a:p>
            <a:pPr algn="r" indent="0" marL="0">
              <a:buNone/>
            </a:pPr>
            <a:r>
              <a:rPr lang="en-US" sz="1500" b="1" dirty="0">
                <a:solidFill>
                  <a:schemeClr val="accent1"/>
                </a:solidFill>
              </a:rPr>
              <a:t>8'</a:t>
            </a:r>
            <a:endParaRPr lang="en-US" sz="1500" dirty="0"/>
          </a:p>
        </p:txBody>
      </p:sp>
      <p:sp>
        <p:nvSpPr>
          <p:cNvPr id="51" name="Shape 45"/>
          <p:cNvSpPr/>
          <p:nvPr/>
        </p:nvSpPr>
        <p:spPr>
          <a:xfrm>
            <a:off x="6263640" y="5008626"/>
            <a:ext cx="384048" cy="384048"/>
          </a:xfrm>
          <a:prstGeom prst="ellipse">
            <a:avLst/>
          </a:prstGeom>
          <a:solidFill>
            <a:schemeClr val="tx2"/>
          </a:solidFill>
          <a:ln/>
        </p:spPr>
      </p:sp>
      <p:sp>
        <p:nvSpPr>
          <p:cNvPr id="52" name="Text 46"/>
          <p:cNvSpPr txBox="1"/>
          <p:nvPr/>
        </p:nvSpPr>
        <p:spPr>
          <a:xfrm>
            <a:off x="6263640" y="500862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53" name="Text 47"/>
          <p:cNvSpPr txBox="1"/>
          <p:nvPr/>
        </p:nvSpPr>
        <p:spPr>
          <a:xfrm>
            <a:off x="6784848" y="4978908"/>
            <a:ext cx="4114800" cy="443484"/>
          </a:xfrm>
          <a:prstGeom prst="rect">
            <a:avLst/>
          </a:prstGeom>
          <a:noFill/>
          <a:ln/>
        </p:spPr>
        <p:txBody>
          <a:bodyPr wrap="square" lIns="0" tIns="0" rIns="0" bIns="0" rtlCol="0" anchor="ctr"/>
          <a:lstStyle/>
          <a:p>
            <a:pPr indent="0" marL="0">
              <a:buNone/>
            </a:pPr>
            <a:r>
              <a:rPr lang="en-US" sz="1500" dirty="0">
                <a:solidFill>
                  <a:schemeClr val="tx1"/>
                </a:solidFill>
              </a:rPr>
              <a:t>De weg wijzen · Jalon 2</a:t>
            </a:r>
            <a:endParaRPr lang="en-US" sz="1500" dirty="0"/>
          </a:p>
        </p:txBody>
      </p:sp>
      <p:sp>
        <p:nvSpPr>
          <p:cNvPr id="54" name="Text 48"/>
          <p:cNvSpPr txBox="1"/>
          <p:nvPr/>
        </p:nvSpPr>
        <p:spPr>
          <a:xfrm>
            <a:off x="10972800" y="4978908"/>
            <a:ext cx="667512" cy="443484"/>
          </a:xfrm>
          <a:prstGeom prst="rect">
            <a:avLst/>
          </a:prstGeom>
          <a:noFill/>
          <a:ln/>
        </p:spPr>
        <p:txBody>
          <a:bodyPr wrap="square" lIns="0" tIns="0" rIns="0" bIns="0" rtlCol="0" anchor="ctr"/>
          <a:lstStyle/>
          <a:p>
            <a:pPr algn="r" indent="0" marL="0">
              <a:buNone/>
            </a:pPr>
            <a:r>
              <a:rPr lang="en-US" sz="1500" b="1" dirty="0">
                <a:solidFill>
                  <a:schemeClr val="accent1"/>
                </a:solidFill>
              </a:rPr>
              <a:t>12'</a:t>
            </a:r>
            <a:endParaRPr lang="en-US" sz="1500" dirty="0"/>
          </a:p>
        </p:txBody>
      </p:sp>
      <p:sp>
        <p:nvSpPr>
          <p:cNvPr id="55" name="Shape 49"/>
          <p:cNvSpPr/>
          <p:nvPr/>
        </p:nvSpPr>
        <p:spPr>
          <a:xfrm>
            <a:off x="6263640" y="5452110"/>
            <a:ext cx="384048" cy="384048"/>
          </a:xfrm>
          <a:prstGeom prst="ellipse">
            <a:avLst/>
          </a:prstGeom>
          <a:solidFill>
            <a:schemeClr val="tx2"/>
          </a:solidFill>
          <a:ln/>
        </p:spPr>
      </p:sp>
      <p:sp>
        <p:nvSpPr>
          <p:cNvPr id="56" name="Text 50"/>
          <p:cNvSpPr txBox="1"/>
          <p:nvPr/>
        </p:nvSpPr>
        <p:spPr>
          <a:xfrm>
            <a:off x="6263640" y="545211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9</a:t>
            </a:r>
            <a:endParaRPr lang="en-US" sz="1300" dirty="0"/>
          </a:p>
        </p:txBody>
      </p:sp>
      <p:sp>
        <p:nvSpPr>
          <p:cNvPr id="57" name="Text 51"/>
          <p:cNvSpPr txBox="1"/>
          <p:nvPr/>
        </p:nvSpPr>
        <p:spPr>
          <a:xfrm>
            <a:off x="6784848" y="5422392"/>
            <a:ext cx="4114800" cy="443484"/>
          </a:xfrm>
          <a:prstGeom prst="rect">
            <a:avLst/>
          </a:prstGeom>
          <a:noFill/>
          <a:ln/>
        </p:spPr>
        <p:txBody>
          <a:bodyPr wrap="square" lIns="0" tIns="0" rIns="0" bIns="0" rtlCol="0" anchor="ctr"/>
          <a:lstStyle/>
          <a:p>
            <a:pPr indent="0" marL="0">
              <a:buNone/>
            </a:pPr>
            <a:r>
              <a:rPr lang="en-US" sz="1500" dirty="0">
                <a:solidFill>
                  <a:schemeClr val="tx1"/>
                </a:solidFill>
              </a:rPr>
              <a:t>Jeu de rôle</a:t>
            </a:r>
            <a:endParaRPr lang="en-US" sz="1500" dirty="0"/>
          </a:p>
        </p:txBody>
      </p:sp>
      <p:sp>
        <p:nvSpPr>
          <p:cNvPr id="58" name="Text 52"/>
          <p:cNvSpPr txBox="1"/>
          <p:nvPr/>
        </p:nvSpPr>
        <p:spPr>
          <a:xfrm>
            <a:off x="10972800" y="5422392"/>
            <a:ext cx="667512" cy="443484"/>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59" name="Shape 53"/>
          <p:cNvSpPr/>
          <p:nvPr/>
        </p:nvSpPr>
        <p:spPr>
          <a:xfrm>
            <a:off x="6263640" y="5895594"/>
            <a:ext cx="384048" cy="384048"/>
          </a:xfrm>
          <a:prstGeom prst="ellipse">
            <a:avLst/>
          </a:prstGeom>
          <a:solidFill>
            <a:schemeClr val="tx2"/>
          </a:solidFill>
          <a:ln/>
        </p:spPr>
      </p:sp>
      <p:sp>
        <p:nvSpPr>
          <p:cNvPr id="60" name="Text 54"/>
          <p:cNvSpPr txBox="1"/>
          <p:nvPr/>
        </p:nvSpPr>
        <p:spPr>
          <a:xfrm>
            <a:off x="6263640" y="589559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10</a:t>
            </a:r>
            <a:endParaRPr lang="en-US" sz="1300" dirty="0"/>
          </a:p>
        </p:txBody>
      </p:sp>
      <p:sp>
        <p:nvSpPr>
          <p:cNvPr id="61" name="Text 55"/>
          <p:cNvSpPr txBox="1"/>
          <p:nvPr/>
        </p:nvSpPr>
        <p:spPr>
          <a:xfrm>
            <a:off x="6784848" y="5865876"/>
            <a:ext cx="4114800" cy="443484"/>
          </a:xfrm>
          <a:prstGeom prst="rect">
            <a:avLst/>
          </a:prstGeom>
          <a:noFill/>
          <a:ln/>
        </p:spPr>
        <p:txBody>
          <a:bodyPr wrap="square" lIns="0" tIns="0" rIns="0" bIns="0" rtlCol="0" anchor="ctr"/>
          <a:lstStyle/>
          <a:p>
            <a:pPr indent="0" marL="0">
              <a:buNone/>
            </a:pPr>
            <a:r>
              <a:rPr lang="en-US" sz="1500" dirty="0">
                <a:solidFill>
                  <a:schemeClr val="tx1"/>
                </a:solidFill>
              </a:rPr>
              <a:t>Bilan</a:t>
            </a:r>
            <a:endParaRPr lang="en-US" sz="1500" dirty="0"/>
          </a:p>
        </p:txBody>
      </p:sp>
      <p:sp>
        <p:nvSpPr>
          <p:cNvPr id="62" name="Text 56"/>
          <p:cNvSpPr txBox="1"/>
          <p:nvPr/>
        </p:nvSpPr>
        <p:spPr>
          <a:xfrm>
            <a:off x="10972800" y="5865876"/>
            <a:ext cx="667512" cy="443484"/>
          </a:xfrm>
          <a:prstGeom prst="rect">
            <a:avLst/>
          </a:prstGeom>
          <a:noFill/>
          <a:ln/>
        </p:spPr>
        <p:txBody>
          <a:bodyPr wrap="square" lIns="0" tIns="0" rIns="0" bIns="0" rtlCol="0" anchor="ctr"/>
          <a:lstStyle/>
          <a:p>
            <a:pPr algn="r" indent="0" marL="0">
              <a:buNone/>
            </a:pPr>
            <a:r>
              <a:rPr lang="en-US" sz="1500" b="1" dirty="0">
                <a:solidFill>
                  <a:schemeClr val="accent1"/>
                </a:solidFill>
              </a:rPr>
              <a:t>3'</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Échauffement : afscheid &amp; stel jezelf voor</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Rappel séance 8</a:t>
            </a:r>
            <a:endParaRPr lang="en-US" sz="1200" dirty="0"/>
          </a:p>
        </p:txBody>
      </p:sp>
      <p:sp>
        <p:nvSpPr>
          <p:cNvPr id="6" name="Text 3"/>
          <p:cNvSpPr txBox="1"/>
          <p:nvPr/>
        </p:nvSpPr>
        <p:spPr>
          <a:xfrm>
            <a:off x="548640" y="1481328"/>
            <a:ext cx="11091672" cy="298704"/>
          </a:xfrm>
          <a:prstGeom prst="rect">
            <a:avLst/>
          </a:prstGeom>
          <a:noFill/>
          <a:ln/>
        </p:spPr>
        <p:txBody>
          <a:bodyPr wrap="square" lIns="0" tIns="0" rIns="0" bIns="0" rtlCol="0" anchor="t"/>
          <a:lstStyle/>
          <a:p>
            <a:pPr indent="0" marL="0">
              <a:buNone/>
            </a:pPr>
            <a:r>
              <a:rPr lang="en-US" sz="1600" i="1" dirty="0">
                <a:solidFill>
                  <a:schemeClr val="accent5"/>
                </a:solidFill>
              </a:rPr>
              <a:t>Par deux · 5 min — Une carte chacun, à l’oral, puis on change de carte.</a:t>
            </a:r>
            <a:endParaRPr lang="en-US" sz="1600" dirty="0"/>
          </a:p>
        </p:txBody>
      </p:sp>
      <p:sp>
        <p:nvSpPr>
          <p:cNvPr id="7" name="Shape 4"/>
          <p:cNvSpPr/>
          <p:nvPr/>
        </p:nvSpPr>
        <p:spPr>
          <a:xfrm>
            <a:off x="548640" y="1889760"/>
            <a:ext cx="5431536" cy="2086356"/>
          </a:xfrm>
          <a:prstGeom prst="roundRect">
            <a:avLst>
              <a:gd name="adj" fmla="val 3506"/>
            </a:avLst>
          </a:prstGeom>
          <a:solidFill>
            <a:schemeClr val="bg2"/>
          </a:solidFill>
          <a:ln w="9525">
            <a:solidFill>
              <a:srgbClr val="D5DCE6"/>
            </a:solidFill>
            <a:prstDash val="solid"/>
          </a:ln>
        </p:spPr>
      </p:sp>
      <p:sp>
        <p:nvSpPr>
          <p:cNvPr id="8" name="Shape 5"/>
          <p:cNvSpPr/>
          <p:nvPr/>
        </p:nvSpPr>
        <p:spPr>
          <a:xfrm>
            <a:off x="685800" y="2026920"/>
            <a:ext cx="868680" cy="868680"/>
          </a:xfrm>
          <a:prstGeom prst="roundRect">
            <a:avLst>
              <a:gd name="adj" fmla="val 8421"/>
            </a:avLst>
          </a:prstGeom>
          <a:solidFill>
            <a:srgbClr val="2A6FB0"/>
          </a:solidFill>
          <a:ln/>
        </p:spPr>
      </p:sp>
      <p:pic>
        <p:nvPicPr>
          <p:cNvPr id="9" name="Image 0" descr="preencoded.png">    </p:cNvPr>
          <p:cNvPicPr>
            <a:picLocks noChangeAspect="1"/>
          </p:cNvPicPr>
          <p:nvPr/>
        </p:nvPicPr>
        <p:blipFill>
          <a:blip r:embed="rId1"/>
          <a:stretch>
            <a:fillRect/>
          </a:stretch>
        </p:blipFill>
        <p:spPr>
          <a:xfrm>
            <a:off x="950976" y="2100072"/>
            <a:ext cx="347472" cy="347472"/>
          </a:xfrm>
          <a:prstGeom prst="rect">
            <a:avLst/>
          </a:prstGeom>
        </p:spPr>
      </p:pic>
      <p:sp>
        <p:nvSpPr>
          <p:cNvPr id="10" name="Text 6"/>
          <p:cNvSpPr txBox="1"/>
          <p:nvPr/>
        </p:nvSpPr>
        <p:spPr>
          <a:xfrm>
            <a:off x="685800" y="2493264"/>
            <a:ext cx="868680" cy="329184"/>
          </a:xfrm>
          <a:prstGeom prst="rect">
            <a:avLst/>
          </a:prstGeom>
          <a:no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7"/>
          <p:cNvSpPr txBox="1"/>
          <p:nvPr/>
        </p:nvSpPr>
        <p:spPr>
          <a:xfrm>
            <a:off x="1691640" y="1999488"/>
            <a:ext cx="4151376" cy="1866900"/>
          </a:xfrm>
          <a:prstGeom prst="rect">
            <a:avLst/>
          </a:prstGeom>
          <a:noFill/>
          <a:ln/>
        </p:spPr>
        <p:txBody>
          <a:bodyPr wrap="square" lIns="0" tIns="0" rIns="0" bIns="0" rtlCol="0" anchor="t"/>
          <a:lstStyle/>
          <a:p>
            <a:pPr indent="0" marL="0">
              <a:spcAft>
                <a:spcPts val="600"/>
              </a:spcAft>
              <a:buNone/>
            </a:pPr>
            <a:r>
              <a:rPr lang="en-US" sz="2200" b="1" dirty="0">
                <a:solidFill>
                  <a:schemeClr val="tx1"/>
                </a:solidFill>
              </a:rPr>
              <a:t>Afscheid</a:t>
            </a:r>
            <a:r>
              <a:rPr lang="en-US" sz="2200" dirty="0">
                <a:solidFill>
                  <a:schemeClr val="tx1"/>
                </a:solidFill>
              </a:rPr>
              <a:t> : il est 22 h, vous quittez des amis que vous revoyez demain. Raison + action + formule.</a:t>
            </a:r>
            <a:endParaRPr lang="en-US" sz="2200" dirty="0"/>
          </a:p>
        </p:txBody>
      </p:sp>
      <p:sp>
        <p:nvSpPr>
          <p:cNvPr id="12" name="Shape 8"/>
          <p:cNvSpPr/>
          <p:nvPr/>
        </p:nvSpPr>
        <p:spPr>
          <a:xfrm>
            <a:off x="6208776" y="1889760"/>
            <a:ext cx="5431536" cy="2086356"/>
          </a:xfrm>
          <a:prstGeom prst="roundRect">
            <a:avLst>
              <a:gd name="adj" fmla="val 3506"/>
            </a:avLst>
          </a:prstGeom>
          <a:solidFill>
            <a:schemeClr val="bg2"/>
          </a:solidFill>
          <a:ln w="9525">
            <a:solidFill>
              <a:srgbClr val="D5DCE6"/>
            </a:solidFill>
            <a:prstDash val="solid"/>
          </a:ln>
        </p:spPr>
      </p:sp>
      <p:sp>
        <p:nvSpPr>
          <p:cNvPr id="13" name="Shape 9"/>
          <p:cNvSpPr/>
          <p:nvPr/>
        </p:nvSpPr>
        <p:spPr>
          <a:xfrm>
            <a:off x="6345936" y="2026920"/>
            <a:ext cx="868680" cy="868680"/>
          </a:xfrm>
          <a:prstGeom prst="roundRect">
            <a:avLst>
              <a:gd name="adj" fmla="val 8421"/>
            </a:avLst>
          </a:prstGeom>
          <a:solidFill>
            <a:srgbClr val="D9700F"/>
          </a:solidFill>
          <a:ln/>
        </p:spPr>
      </p:sp>
      <p:pic>
        <p:nvPicPr>
          <p:cNvPr id="14" name="Image 1" descr="preencoded.png">    </p:cNvPr>
          <p:cNvPicPr>
            <a:picLocks noChangeAspect="1"/>
          </p:cNvPicPr>
          <p:nvPr/>
        </p:nvPicPr>
        <p:blipFill>
          <a:blip r:embed="rId2"/>
          <a:stretch>
            <a:fillRect/>
          </a:stretch>
        </p:blipFill>
        <p:spPr>
          <a:xfrm>
            <a:off x="6611112" y="2100072"/>
            <a:ext cx="347472" cy="347472"/>
          </a:xfrm>
          <a:prstGeom prst="rect">
            <a:avLst/>
          </a:prstGeom>
        </p:spPr>
      </p:pic>
      <p:sp>
        <p:nvSpPr>
          <p:cNvPr id="15" name="Text 10"/>
          <p:cNvSpPr txBox="1"/>
          <p:nvPr/>
        </p:nvSpPr>
        <p:spPr>
          <a:xfrm>
            <a:off x="6345936" y="2493264"/>
            <a:ext cx="868680" cy="329184"/>
          </a:xfrm>
          <a:prstGeom prst="rect">
            <a:avLst/>
          </a:prstGeom>
          <a:no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6" name="Text 11"/>
          <p:cNvSpPr txBox="1"/>
          <p:nvPr/>
        </p:nvSpPr>
        <p:spPr>
          <a:xfrm>
            <a:off x="7351776" y="1999488"/>
            <a:ext cx="4151376" cy="1866900"/>
          </a:xfrm>
          <a:prstGeom prst="rect">
            <a:avLst/>
          </a:prstGeom>
          <a:noFill/>
          <a:ln/>
        </p:spPr>
        <p:txBody>
          <a:bodyPr wrap="square" lIns="0" tIns="0" rIns="0" bIns="0" rtlCol="0" anchor="t"/>
          <a:lstStyle/>
          <a:p>
            <a:pPr indent="0" marL="0">
              <a:spcAft>
                <a:spcPts val="600"/>
              </a:spcAft>
              <a:buNone/>
            </a:pPr>
            <a:r>
              <a:rPr lang="en-US" sz="2200" b="1" dirty="0">
                <a:solidFill>
                  <a:schemeClr val="tx1"/>
                </a:solidFill>
              </a:rPr>
              <a:t>Imperatief</a:t>
            </a:r>
            <a:r>
              <a:rPr lang="en-US" sz="2200" dirty="0">
                <a:solidFill>
                  <a:schemeClr val="tx1"/>
                </a:solidFill>
              </a:rPr>
              <a:t> : demandez gentiment à votre voisin d’</a:t>
            </a:r>
            <a:r>
              <a:rPr lang="en-US" sz="2200" b="1" dirty="0">
                <a:solidFill>
                  <a:schemeClr val="tx1"/>
                </a:solidFill>
              </a:rPr>
              <a:t>attendre</a:t>
            </a:r>
            <a:r>
              <a:rPr lang="en-US" sz="2200" dirty="0">
                <a:solidFill>
                  <a:schemeClr val="tx1"/>
                </a:solidFill>
              </a:rPr>
              <a:t>, d’</a:t>
            </a:r>
            <a:r>
              <a:rPr lang="en-US" sz="2200" b="1" dirty="0">
                <a:solidFill>
                  <a:schemeClr val="tx1"/>
                </a:solidFill>
              </a:rPr>
              <a:t>entrer</a:t>
            </a:r>
            <a:r>
              <a:rPr lang="en-US" sz="2200" dirty="0">
                <a:solidFill>
                  <a:schemeClr val="tx1"/>
                </a:solidFill>
              </a:rPr>
              <a:t>, de </a:t>
            </a:r>
            <a:r>
              <a:rPr lang="en-US" sz="2200" b="1" dirty="0">
                <a:solidFill>
                  <a:schemeClr val="tx1"/>
                </a:solidFill>
              </a:rPr>
              <a:t>regarder</a:t>
            </a:r>
            <a:r>
              <a:rPr lang="en-US" sz="2200" dirty="0">
                <a:solidFill>
                  <a:schemeClr val="tx1"/>
                </a:solidFill>
              </a:rPr>
              <a:t>.</a:t>
            </a:r>
            <a:endParaRPr lang="en-US" sz="2200" dirty="0"/>
          </a:p>
        </p:txBody>
      </p:sp>
      <p:sp>
        <p:nvSpPr>
          <p:cNvPr id="17" name="Shape 12"/>
          <p:cNvSpPr/>
          <p:nvPr/>
        </p:nvSpPr>
        <p:spPr>
          <a:xfrm>
            <a:off x="548640" y="4204716"/>
            <a:ext cx="5431536" cy="2086356"/>
          </a:xfrm>
          <a:prstGeom prst="roundRect">
            <a:avLst>
              <a:gd name="adj" fmla="val 3506"/>
            </a:avLst>
          </a:prstGeom>
          <a:solidFill>
            <a:schemeClr val="bg2"/>
          </a:solidFill>
          <a:ln w="9525">
            <a:solidFill>
              <a:srgbClr val="D5DCE6"/>
            </a:solidFill>
            <a:prstDash val="solid"/>
          </a:ln>
        </p:spPr>
      </p:sp>
      <p:sp>
        <p:nvSpPr>
          <p:cNvPr id="18" name="Shape 13"/>
          <p:cNvSpPr/>
          <p:nvPr/>
        </p:nvSpPr>
        <p:spPr>
          <a:xfrm>
            <a:off x="685800" y="4341876"/>
            <a:ext cx="868680" cy="868680"/>
          </a:xfrm>
          <a:prstGeom prst="roundRect">
            <a:avLst>
              <a:gd name="adj" fmla="val 8421"/>
            </a:avLst>
          </a:prstGeom>
          <a:solidFill>
            <a:srgbClr val="2E7D4F"/>
          </a:solidFill>
          <a:ln/>
        </p:spPr>
      </p:sp>
      <p:pic>
        <p:nvPicPr>
          <p:cNvPr id="19" name="Image 2" descr="preencoded.png">    </p:cNvPr>
          <p:cNvPicPr>
            <a:picLocks noChangeAspect="1"/>
          </p:cNvPicPr>
          <p:nvPr/>
        </p:nvPicPr>
        <p:blipFill>
          <a:blip r:embed="rId3"/>
          <a:stretch>
            <a:fillRect/>
          </a:stretch>
        </p:blipFill>
        <p:spPr>
          <a:xfrm>
            <a:off x="950976" y="4415028"/>
            <a:ext cx="347472" cy="347472"/>
          </a:xfrm>
          <a:prstGeom prst="rect">
            <a:avLst/>
          </a:prstGeom>
        </p:spPr>
      </p:pic>
      <p:sp>
        <p:nvSpPr>
          <p:cNvPr id="20" name="Text 14"/>
          <p:cNvSpPr txBox="1"/>
          <p:nvPr/>
        </p:nvSpPr>
        <p:spPr>
          <a:xfrm>
            <a:off x="685800" y="4808220"/>
            <a:ext cx="868680" cy="329184"/>
          </a:xfrm>
          <a:prstGeom prst="rect">
            <a:avLst/>
          </a:prstGeom>
          <a:no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21" name="Text 15"/>
          <p:cNvSpPr txBox="1"/>
          <p:nvPr/>
        </p:nvSpPr>
        <p:spPr>
          <a:xfrm>
            <a:off x="1691640" y="4314444"/>
            <a:ext cx="4151376" cy="1866900"/>
          </a:xfrm>
          <a:prstGeom prst="rect">
            <a:avLst/>
          </a:prstGeom>
          <a:noFill/>
          <a:ln/>
        </p:spPr>
        <p:txBody>
          <a:bodyPr wrap="square" lIns="0" tIns="0" rIns="0" bIns="0" rtlCol="0" anchor="t"/>
          <a:lstStyle/>
          <a:p>
            <a:pPr indent="0" marL="0">
              <a:spcAft>
                <a:spcPts val="600"/>
              </a:spcAft>
              <a:buNone/>
            </a:pPr>
            <a:r>
              <a:rPr lang="en-US" sz="2200" b="1" dirty="0">
                <a:solidFill>
                  <a:schemeClr val="tx1"/>
                </a:solidFill>
              </a:rPr>
              <a:t>De of het?</a:t>
            </a:r>
            <a:r>
              <a:rPr lang="en-US" sz="2200" dirty="0">
                <a:solidFill>
                  <a:schemeClr val="tx1"/>
                </a:solidFill>
              </a:rPr>
              <a:t> naam · adres · land · taal · beroep · meisje</a:t>
            </a:r>
            <a:endParaRPr lang="en-US" sz="2200" dirty="0"/>
          </a:p>
        </p:txBody>
      </p:sp>
      <p:sp>
        <p:nvSpPr>
          <p:cNvPr id="22" name="Shape 16"/>
          <p:cNvSpPr/>
          <p:nvPr/>
        </p:nvSpPr>
        <p:spPr>
          <a:xfrm>
            <a:off x="6208776" y="4204716"/>
            <a:ext cx="5431536" cy="2086356"/>
          </a:xfrm>
          <a:prstGeom prst="roundRect">
            <a:avLst>
              <a:gd name="adj" fmla="val 3506"/>
            </a:avLst>
          </a:prstGeom>
          <a:solidFill>
            <a:schemeClr val="bg2"/>
          </a:solidFill>
          <a:ln w="9525">
            <a:solidFill>
              <a:srgbClr val="D5DCE6"/>
            </a:solidFill>
            <a:prstDash val="solid"/>
          </a:ln>
        </p:spPr>
      </p:sp>
      <p:sp>
        <p:nvSpPr>
          <p:cNvPr id="23" name="Shape 17"/>
          <p:cNvSpPr/>
          <p:nvPr/>
        </p:nvSpPr>
        <p:spPr>
          <a:xfrm>
            <a:off x="6345936" y="4341876"/>
            <a:ext cx="868680" cy="868680"/>
          </a:xfrm>
          <a:prstGeom prst="roundRect">
            <a:avLst>
              <a:gd name="adj" fmla="val 8421"/>
            </a:avLst>
          </a:prstGeom>
          <a:solidFill>
            <a:srgbClr val="6E4A9E"/>
          </a:solidFill>
          <a:ln/>
        </p:spPr>
      </p:sp>
      <p:pic>
        <p:nvPicPr>
          <p:cNvPr id="24" name="Image 3" descr="preencoded.png">    </p:cNvPr>
          <p:cNvPicPr>
            <a:picLocks noChangeAspect="1"/>
          </p:cNvPicPr>
          <p:nvPr/>
        </p:nvPicPr>
        <p:blipFill>
          <a:blip r:embed="rId4"/>
          <a:stretch>
            <a:fillRect/>
          </a:stretch>
        </p:blipFill>
        <p:spPr>
          <a:xfrm>
            <a:off x="6611112" y="4415028"/>
            <a:ext cx="347472" cy="347472"/>
          </a:xfrm>
          <a:prstGeom prst="rect">
            <a:avLst/>
          </a:prstGeom>
        </p:spPr>
      </p:pic>
      <p:sp>
        <p:nvSpPr>
          <p:cNvPr id="25" name="Text 18"/>
          <p:cNvSpPr txBox="1"/>
          <p:nvPr/>
        </p:nvSpPr>
        <p:spPr>
          <a:xfrm>
            <a:off x="6345936" y="4808220"/>
            <a:ext cx="868680" cy="329184"/>
          </a:xfrm>
          <a:prstGeom prst="rect">
            <a:avLst/>
          </a:prstGeom>
          <a:no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6" name="Text 19"/>
          <p:cNvSpPr txBox="1"/>
          <p:nvPr/>
        </p:nvSpPr>
        <p:spPr>
          <a:xfrm>
            <a:off x="7351776" y="4314444"/>
            <a:ext cx="4151376" cy="1866900"/>
          </a:xfrm>
          <a:prstGeom prst="rect">
            <a:avLst/>
          </a:prstGeom>
          <a:noFill/>
          <a:ln/>
        </p:spPr>
        <p:txBody>
          <a:bodyPr wrap="square" lIns="0" tIns="0" rIns="0" bIns="0" rtlCol="0" anchor="t"/>
          <a:lstStyle/>
          <a:p>
            <a:pPr indent="0" marL="0">
              <a:spcAft>
                <a:spcPts val="600"/>
              </a:spcAft>
              <a:buNone/>
            </a:pPr>
            <a:r>
              <a:rPr lang="en-US" sz="2200" b="1" dirty="0">
                <a:solidFill>
                  <a:schemeClr val="tx1"/>
                </a:solidFill>
              </a:rPr>
              <a:t>Stel jezelf voor</a:t>
            </a:r>
            <a:r>
              <a:rPr lang="en-US" sz="2200" dirty="0">
                <a:solidFill>
                  <a:schemeClr val="tx1"/>
                </a:solidFill>
              </a:rPr>
              <a:t> en 5 phrases, sans notes : salut, zijn, hebben, ik / jij, congé.</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Quiz bilan : le palier 1 en huit questions</a:t>
            </a:r>
            <a:endParaRPr lang="en-US" sz="3200" dirty="0"/>
          </a:p>
        </p:txBody>
      </p:sp>
      <p:sp>
        <p:nvSpPr>
          <p:cNvPr id="3" name="tag"/>
          <p:cNvSpPr/>
          <p:nvPr/>
        </p:nvSpPr>
        <p:spPr>
          <a:xfrm>
            <a:off x="548640" y="237744"/>
            <a:ext cx="14173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SYNTHÈSE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1–57</a:t>
            </a:r>
            <a:endParaRPr lang="en-US" sz="1200" dirty="0"/>
          </a:p>
        </p:txBody>
      </p:sp>
      <p:sp>
        <p:nvSpPr>
          <p:cNvPr id="6" name="Text 3"/>
          <p:cNvSpPr txBox="1"/>
          <p:nvPr/>
        </p:nvSpPr>
        <p:spPr>
          <a:xfrm>
            <a:off x="548640" y="1481328"/>
            <a:ext cx="11091672" cy="615696"/>
          </a:xfrm>
          <a:prstGeom prst="rect">
            <a:avLst/>
          </a:prstGeom>
          <a:noFill/>
          <a:ln/>
        </p:spPr>
        <p:txBody>
          <a:bodyPr wrap="square" lIns="0" tIns="0" rIns="0" bIns="0" rtlCol="0" anchor="t"/>
          <a:lstStyle/>
          <a:p>
            <a:pPr indent="0" marL="0">
              <a:buNone/>
            </a:pPr>
            <a:r>
              <a:rPr lang="en-US" sz="1600" i="1" dirty="0">
                <a:solidFill>
                  <a:schemeClr val="accent5"/>
                </a:solidFill>
              </a:rPr>
              <a:t>Seul · 8 min, puis correction collective — une ou deux questions par séquence : saluer (1.1), nouvelles (1.2), zijn / hebben (1.3), congé (1.4).</a:t>
            </a:r>
            <a:endParaRPr lang="en-US" sz="1600" dirty="0"/>
          </a:p>
        </p:txBody>
      </p:sp>
      <p:sp>
        <p:nvSpPr>
          <p:cNvPr id="7" name="exercise"/>
          <p:cNvSpPr txBox="1"/>
          <p:nvPr/>
        </p:nvSpPr>
        <p:spPr>
          <a:xfrm>
            <a:off x="548640" y="2170176"/>
            <a:ext cx="5362956" cy="4120896"/>
          </a:xfrm>
          <a:prstGeom prst="rect">
            <a:avLst/>
          </a:prstGeom>
          <a:noFill/>
          <a:ln/>
        </p:spPr>
        <p:txBody>
          <a:bodyPr wrap="square" lIns="0" tIns="0" rIns="0" bIns="0" rtlCol="0" anchor="t"/>
          <a:lstStyle/>
          <a:p>
            <a:pPr indent="0" marL="0">
              <a:spcAft>
                <a:spcPts val="1200"/>
              </a:spcAft>
              <a:buNone/>
            </a:pPr>
            <a:r>
              <a:rPr lang="en-US" sz="2400" b="1" dirty="0">
                <a:solidFill>
                  <a:schemeClr val="tx2"/>
                </a:solidFill>
              </a:rPr>
              <a:t>1.  </a:t>
            </a:r>
            <a:r>
              <a:rPr lang="en-US" sz="2400" b="1" dirty="0">
                <a:solidFill>
                  <a:schemeClr val="tx1"/>
                </a:solidFill>
              </a:rPr>
              <a:t>1.1</a:t>
            </a:r>
            <a:r>
              <a:rPr lang="en-US" sz="2400" dirty="0">
                <a:solidFill>
                  <a:schemeClr val="tx1"/>
                </a:solidFill>
              </a:rPr>
              <a:t> 19 h 30 · vous saluez Sarah. → </a:t>
            </a:r>
            <a:r>
              <a:rPr lang="en-US" sz="2400" dirty="0">
                <a:solidFill>
                  <a:schemeClr val="accent5"/>
                </a:solidFill>
              </a:rPr>
              <a:t>…………………………</a:t>
            </a:r>
            <a:endParaRPr lang="en-US" sz="2400" dirty="0"/>
          </a:p>
          <a:p>
            <a:pPr indent="0" marL="0">
              <a:spcAft>
                <a:spcPts val="1200"/>
              </a:spcAft>
              <a:buNone/>
            </a:pPr>
            <a:r>
              <a:rPr lang="en-US" sz="2400" b="1" dirty="0">
                <a:solidFill>
                  <a:schemeClr val="tx2"/>
                </a:solidFill>
              </a:rPr>
              <a:t>2.  </a:t>
            </a:r>
            <a:r>
              <a:rPr lang="en-US" sz="2400" b="1" dirty="0">
                <a:solidFill>
                  <a:schemeClr val="tx1"/>
                </a:solidFill>
              </a:rPr>
              <a:t>1.1</a:t>
            </a:r>
            <a:r>
              <a:rPr lang="en-US" sz="2400" dirty="0">
                <a:solidFill>
                  <a:schemeClr val="tx1"/>
                </a:solidFill>
              </a:rPr>
              <a:t> Le soir, je regarde la télé. → </a:t>
            </a:r>
            <a:r>
              <a:rPr lang="en-US" sz="2400" dirty="0">
                <a:solidFill>
                  <a:schemeClr val="accent5"/>
                </a:solidFill>
              </a:rPr>
              <a:t>………………………………</a:t>
            </a:r>
            <a:endParaRPr lang="en-US" sz="2400" dirty="0"/>
          </a:p>
          <a:p>
            <a:pPr indent="0" marL="0">
              <a:spcAft>
                <a:spcPts val="1200"/>
              </a:spcAft>
              <a:buNone/>
            </a:pPr>
            <a:r>
              <a:rPr lang="en-US" sz="2400" b="1" dirty="0">
                <a:solidFill>
                  <a:schemeClr val="tx2"/>
                </a:solidFill>
              </a:rPr>
              <a:t>3.  </a:t>
            </a:r>
            <a:r>
              <a:rPr lang="en-US" sz="2400" b="1" dirty="0">
                <a:solidFill>
                  <a:schemeClr val="tx1"/>
                </a:solidFill>
              </a:rPr>
              <a:t>1.2</a:t>
            </a:r>
            <a:r>
              <a:rPr lang="en-US" sz="2400" dirty="0">
                <a:solidFill>
                  <a:schemeClr val="tx1"/>
                </a:solidFill>
              </a:rPr>
              <a:t> Comment allez-vous, monsieur ? → </a:t>
            </a:r>
            <a:r>
              <a:rPr lang="en-US" sz="2400" dirty="0">
                <a:solidFill>
                  <a:schemeClr val="accent5"/>
                </a:solidFill>
              </a:rPr>
              <a:t>……………………………………</a:t>
            </a:r>
            <a:endParaRPr lang="en-US" sz="2400" dirty="0"/>
          </a:p>
          <a:p>
            <a:pPr indent="0" marL="0">
              <a:spcAft>
                <a:spcPts val="1200"/>
              </a:spcAft>
              <a:buNone/>
            </a:pPr>
            <a:r>
              <a:rPr lang="en-US" sz="2400" b="1" dirty="0">
                <a:solidFill>
                  <a:schemeClr val="tx2"/>
                </a:solidFill>
              </a:rPr>
              <a:t>4.  </a:t>
            </a:r>
            <a:r>
              <a:rPr lang="en-US" sz="2400" b="1" dirty="0">
                <a:solidFill>
                  <a:schemeClr val="tx1"/>
                </a:solidFill>
              </a:rPr>
              <a:t>1.2</a:t>
            </a:r>
            <a:r>
              <a:rPr lang="en-US" sz="2400" dirty="0">
                <a:solidFill>
                  <a:schemeClr val="tx1"/>
                </a:solidFill>
              </a:rPr>
              <a:t> Ça va, mais je suis un peu fatigué(e). → </a:t>
            </a:r>
            <a:r>
              <a:rPr lang="en-US" sz="2400" dirty="0">
                <a:solidFill>
                  <a:schemeClr val="accent5"/>
                </a:solidFill>
              </a:rPr>
              <a:t>……………………………………</a:t>
            </a:r>
            <a:endParaRPr lang="en-US" sz="2400" dirty="0"/>
          </a:p>
        </p:txBody>
      </p:sp>
      <p:sp>
        <p:nvSpPr>
          <p:cNvPr id="8" name="exercise"/>
          <p:cNvSpPr txBox="1"/>
          <p:nvPr/>
        </p:nvSpPr>
        <p:spPr>
          <a:xfrm>
            <a:off x="6277356" y="2170176"/>
            <a:ext cx="5362956" cy="4120896"/>
          </a:xfrm>
          <a:prstGeom prst="rect">
            <a:avLst/>
          </a:prstGeom>
          <a:noFill/>
          <a:ln/>
        </p:spPr>
        <p:txBody>
          <a:bodyPr wrap="square" lIns="0" tIns="0" rIns="0" bIns="0" rtlCol="0" anchor="t"/>
          <a:lstStyle/>
          <a:p>
            <a:pPr indent="0" marL="0">
              <a:spcAft>
                <a:spcPts val="1200"/>
              </a:spcAft>
              <a:buNone/>
            </a:pPr>
            <a:r>
              <a:rPr lang="en-US" sz="2400" b="1" dirty="0">
                <a:solidFill>
                  <a:schemeClr val="tx2"/>
                </a:solidFill>
              </a:rPr>
              <a:t>5.  </a:t>
            </a:r>
            <a:r>
              <a:rPr lang="en-US" sz="2400" b="1" dirty="0">
                <a:solidFill>
                  <a:schemeClr val="tx1"/>
                </a:solidFill>
              </a:rPr>
              <a:t>1.3</a:t>
            </a:r>
            <a:r>
              <a:rPr lang="en-US" sz="2400" dirty="0">
                <a:solidFill>
                  <a:schemeClr val="tx1"/>
                </a:solidFill>
              </a:rPr>
              <a:t> Pieter </a:t>
            </a:r>
            <a:r>
              <a:rPr lang="en-US" sz="2400" dirty="0">
                <a:solidFill>
                  <a:schemeClr val="accent5"/>
                </a:solidFill>
              </a:rPr>
              <a:t>……………</a:t>
            </a:r>
            <a:r>
              <a:rPr lang="en-US" sz="2400" dirty="0">
                <a:solidFill>
                  <a:schemeClr val="tx1"/>
                </a:solidFill>
              </a:rPr>
              <a:t> een zus en hij </a:t>
            </a:r>
            <a:r>
              <a:rPr lang="en-US" sz="2400" dirty="0">
                <a:solidFill>
                  <a:schemeClr val="accent5"/>
                </a:solidFill>
              </a:rPr>
              <a:t>……………</a:t>
            </a:r>
            <a:r>
              <a:rPr lang="en-US" sz="2400" dirty="0">
                <a:solidFill>
                  <a:schemeClr val="tx1"/>
                </a:solidFill>
              </a:rPr>
              <a:t> stagiair.</a:t>
            </a:r>
            <a:endParaRPr lang="en-US" sz="2400" dirty="0"/>
          </a:p>
          <a:p>
            <a:pPr indent="0" marL="0">
              <a:spcAft>
                <a:spcPts val="1200"/>
              </a:spcAft>
              <a:buNone/>
            </a:pPr>
            <a:r>
              <a:rPr lang="en-US" sz="2400" b="1" dirty="0">
                <a:solidFill>
                  <a:schemeClr val="tx2"/>
                </a:solidFill>
              </a:rPr>
              <a:t>6.  </a:t>
            </a:r>
            <a:r>
              <a:rPr lang="en-US" sz="2400" b="1" dirty="0">
                <a:solidFill>
                  <a:schemeClr val="tx1"/>
                </a:solidFill>
              </a:rPr>
              <a:t>1.3</a:t>
            </a:r>
            <a:r>
              <a:rPr lang="en-US" sz="2400" dirty="0">
                <a:solidFill>
                  <a:schemeClr val="tx1"/>
                </a:solidFill>
              </a:rPr>
              <a:t> J’ai faim, mais je n’ai pas le temps. → </a:t>
            </a:r>
            <a:r>
              <a:rPr lang="en-US" sz="2400" dirty="0">
                <a:solidFill>
                  <a:schemeClr val="accent5"/>
                </a:solidFill>
              </a:rPr>
              <a:t>……………………………………</a:t>
            </a:r>
            <a:endParaRPr lang="en-US" sz="2400" dirty="0"/>
          </a:p>
          <a:p>
            <a:pPr indent="0" marL="0">
              <a:spcAft>
                <a:spcPts val="1200"/>
              </a:spcAft>
              <a:buNone/>
            </a:pPr>
            <a:r>
              <a:rPr lang="en-US" sz="2400" b="1" dirty="0">
                <a:solidFill>
                  <a:schemeClr val="tx2"/>
                </a:solidFill>
              </a:rPr>
              <a:t>7.  </a:t>
            </a:r>
            <a:r>
              <a:rPr lang="en-US" sz="2400" b="1" dirty="0">
                <a:solidFill>
                  <a:schemeClr val="tx1"/>
                </a:solidFill>
              </a:rPr>
              <a:t>1.4</a:t>
            </a:r>
            <a:r>
              <a:rPr lang="en-US" sz="2400" dirty="0">
                <a:solidFill>
                  <a:schemeClr val="tx1"/>
                </a:solidFill>
              </a:rPr>
              <a:t> Vous revenez dans cinq minutes. → </a:t>
            </a:r>
            <a:r>
              <a:rPr lang="en-US" sz="2400" dirty="0">
                <a:solidFill>
                  <a:schemeClr val="accent5"/>
                </a:solidFill>
              </a:rPr>
              <a:t>……………</a:t>
            </a:r>
            <a:endParaRPr lang="en-US" sz="2400" dirty="0"/>
          </a:p>
          <a:p>
            <a:pPr indent="0" marL="0">
              <a:spcAft>
                <a:spcPts val="1200"/>
              </a:spcAft>
              <a:buNone/>
            </a:pPr>
            <a:r>
              <a:rPr lang="en-US" sz="2400" b="1" dirty="0">
                <a:solidFill>
                  <a:schemeClr val="tx2"/>
                </a:solidFill>
              </a:rPr>
              <a:t>8.  </a:t>
            </a:r>
            <a:r>
              <a:rPr lang="en-US" sz="2400" b="1" dirty="0">
                <a:solidFill>
                  <a:schemeClr val="tx1"/>
                </a:solidFill>
              </a:rPr>
              <a:t>1.4</a:t>
            </a:r>
            <a:r>
              <a:rPr lang="en-US" sz="2400" dirty="0">
                <a:solidFill>
                  <a:schemeClr val="tx1"/>
                </a:solidFill>
              </a:rPr>
              <a:t> Vous quittez meneer Janssens (u). → </a:t>
            </a:r>
            <a:r>
              <a:rPr lang="en-US" sz="2400" dirty="0">
                <a:solidFill>
                  <a:schemeClr val="accent5"/>
                </a:solidFill>
              </a:rPr>
              <a:t>……………………………………</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Quiz bilan : le palier 1 en huit questions</a:t>
            </a:r>
            <a:endParaRPr lang="en-US" sz="3200" dirty="0"/>
          </a:p>
        </p:txBody>
      </p:sp>
      <p:sp>
        <p:nvSpPr>
          <p:cNvPr id="3" name="tag"/>
          <p:cNvSpPr/>
          <p:nvPr/>
        </p:nvSpPr>
        <p:spPr>
          <a:xfrm>
            <a:off x="548640" y="237744"/>
            <a:ext cx="14173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SYNTHÈSE</a:t>
            </a:r>
            <a:endParaRPr lang="en-US" sz="1200" dirty="0"/>
          </a:p>
        </p:txBody>
      </p:sp>
      <p:sp>
        <p:nvSpPr>
          <p:cNvPr id="4" name="tag"/>
          <p:cNvSpPr/>
          <p:nvPr/>
        </p:nvSpPr>
        <p:spPr>
          <a:xfrm>
            <a:off x="207568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1–57</a:t>
            </a:r>
            <a:endParaRPr lang="en-US" sz="1200" dirty="0"/>
          </a:p>
        </p:txBody>
      </p:sp>
      <p:sp>
        <p:nvSpPr>
          <p:cNvPr id="7" name="Text 4"/>
          <p:cNvSpPr txBox="1"/>
          <p:nvPr/>
        </p:nvSpPr>
        <p:spPr>
          <a:xfrm>
            <a:off x="548640" y="1481328"/>
            <a:ext cx="11091672" cy="615696"/>
          </a:xfrm>
          <a:prstGeom prst="rect">
            <a:avLst/>
          </a:prstGeom>
          <a:noFill/>
          <a:ln/>
        </p:spPr>
        <p:txBody>
          <a:bodyPr wrap="square" lIns="0" tIns="0" rIns="0" bIns="0" rtlCol="0" anchor="t"/>
          <a:lstStyle/>
          <a:p>
            <a:pPr indent="0" marL="0">
              <a:buNone/>
            </a:pPr>
            <a:r>
              <a:rPr lang="en-US" sz="1600" i="1" dirty="0">
                <a:solidFill>
                  <a:schemeClr val="accent5"/>
                </a:solidFill>
              </a:rPr>
              <a:t>Seul · 8 min, puis correction collective — une ou deux questions par séquence : saluer (1.1), nouvelles (1.2), zijn / hebben (1.3), congé (1.4).</a:t>
            </a:r>
            <a:endParaRPr lang="en-US" sz="1600" dirty="0"/>
          </a:p>
        </p:txBody>
      </p:sp>
      <p:sp>
        <p:nvSpPr>
          <p:cNvPr id="8" name="exercise"/>
          <p:cNvSpPr txBox="1"/>
          <p:nvPr/>
        </p:nvSpPr>
        <p:spPr>
          <a:xfrm>
            <a:off x="548640" y="2170176"/>
            <a:ext cx="5362956" cy="4120896"/>
          </a:xfrm>
          <a:prstGeom prst="rect">
            <a:avLst/>
          </a:prstGeom>
          <a:noFill/>
          <a:ln/>
        </p:spPr>
        <p:txBody>
          <a:bodyPr wrap="square" lIns="0" tIns="0" rIns="0" bIns="0" rtlCol="0" anchor="t"/>
          <a:lstStyle/>
          <a:p>
            <a:pPr indent="0" marL="0">
              <a:spcAft>
                <a:spcPts val="1200"/>
              </a:spcAft>
              <a:buNone/>
            </a:pPr>
            <a:r>
              <a:rPr lang="en-US" sz="2400" b="1" dirty="0">
                <a:solidFill>
                  <a:schemeClr val="tx2"/>
                </a:solidFill>
              </a:rPr>
              <a:t>1.  </a:t>
            </a:r>
            <a:r>
              <a:rPr lang="en-US" sz="2400" b="1" dirty="0">
                <a:solidFill>
                  <a:schemeClr val="tx1"/>
                </a:solidFill>
              </a:rPr>
              <a:t>1.1</a:t>
            </a:r>
            <a:r>
              <a:rPr lang="en-US" sz="2400" dirty="0">
                <a:solidFill>
                  <a:schemeClr val="tx1"/>
                </a:solidFill>
              </a:rPr>
              <a:t> 19 h 30 · vous saluez Sarah. → </a:t>
            </a:r>
            <a:r>
              <a:rPr lang="en-US" sz="2400" b="1" dirty="0">
                <a:solidFill>
                  <a:schemeClr val="accent3"/>
                </a:solidFill>
              </a:rPr>
              <a:t>Goedenavond, Sarah!</a:t>
            </a:r>
            <a:endParaRPr lang="en-US" sz="2400" dirty="0"/>
          </a:p>
          <a:p>
            <a:pPr indent="0" marL="0">
              <a:spcAft>
                <a:spcPts val="1200"/>
              </a:spcAft>
              <a:buNone/>
            </a:pPr>
            <a:r>
              <a:rPr lang="en-US" sz="2400" b="1" dirty="0">
                <a:solidFill>
                  <a:schemeClr val="tx2"/>
                </a:solidFill>
              </a:rPr>
              <a:t>2.  </a:t>
            </a:r>
            <a:r>
              <a:rPr lang="en-US" sz="2400" b="1" dirty="0">
                <a:solidFill>
                  <a:schemeClr val="tx1"/>
                </a:solidFill>
              </a:rPr>
              <a:t>1.1</a:t>
            </a:r>
            <a:r>
              <a:rPr lang="en-US" sz="2400" dirty="0">
                <a:solidFill>
                  <a:schemeClr val="tx1"/>
                </a:solidFill>
              </a:rPr>
              <a:t> Le soir, je regarde la télé. → </a:t>
            </a:r>
            <a:r>
              <a:rPr lang="en-US" sz="2400" b="1" dirty="0">
                <a:solidFill>
                  <a:schemeClr val="accent3"/>
                </a:solidFill>
              </a:rPr>
              <a:t>’s Avonds kijk ik tv.</a:t>
            </a:r>
            <a:endParaRPr lang="en-US" sz="2400" dirty="0"/>
          </a:p>
          <a:p>
            <a:pPr indent="0" marL="0">
              <a:spcAft>
                <a:spcPts val="1200"/>
              </a:spcAft>
              <a:buNone/>
            </a:pPr>
            <a:r>
              <a:rPr lang="en-US" sz="2400" b="1" dirty="0">
                <a:solidFill>
                  <a:schemeClr val="tx2"/>
                </a:solidFill>
              </a:rPr>
              <a:t>3.  </a:t>
            </a:r>
            <a:r>
              <a:rPr lang="en-US" sz="2400" b="1" dirty="0">
                <a:solidFill>
                  <a:schemeClr val="tx1"/>
                </a:solidFill>
              </a:rPr>
              <a:t>1.2</a:t>
            </a:r>
            <a:r>
              <a:rPr lang="en-US" sz="2400" dirty="0">
                <a:solidFill>
                  <a:schemeClr val="tx1"/>
                </a:solidFill>
              </a:rPr>
              <a:t> Comment allez-vous, monsieur ? → </a:t>
            </a:r>
            <a:r>
              <a:rPr lang="en-US" sz="2400" b="1" dirty="0">
                <a:solidFill>
                  <a:schemeClr val="accent3"/>
                </a:solidFill>
              </a:rPr>
              <a:t>Hoe gaat het met u, meneer?</a:t>
            </a:r>
            <a:endParaRPr lang="en-US" sz="2400" dirty="0"/>
          </a:p>
          <a:p>
            <a:pPr indent="0" marL="0">
              <a:spcAft>
                <a:spcPts val="1200"/>
              </a:spcAft>
              <a:buNone/>
            </a:pPr>
            <a:r>
              <a:rPr lang="en-US" sz="2400" b="1" dirty="0">
                <a:solidFill>
                  <a:schemeClr val="tx2"/>
                </a:solidFill>
              </a:rPr>
              <a:t>4.  </a:t>
            </a:r>
            <a:r>
              <a:rPr lang="en-US" sz="2400" b="1" dirty="0">
                <a:solidFill>
                  <a:schemeClr val="tx1"/>
                </a:solidFill>
              </a:rPr>
              <a:t>1.2</a:t>
            </a:r>
            <a:r>
              <a:rPr lang="en-US" sz="2400" dirty="0">
                <a:solidFill>
                  <a:schemeClr val="tx1"/>
                </a:solidFill>
              </a:rPr>
              <a:t> Ça va, mais je suis un peu fatigué(e). → </a:t>
            </a:r>
            <a:r>
              <a:rPr lang="en-US" sz="2400" b="1" dirty="0">
                <a:solidFill>
                  <a:schemeClr val="accent3"/>
                </a:solidFill>
              </a:rPr>
              <a:t>Het gaat wel, maar ik ben een beetje moe.</a:t>
            </a:r>
            <a:endParaRPr lang="en-US" sz="2400" dirty="0"/>
          </a:p>
        </p:txBody>
      </p:sp>
      <p:sp>
        <p:nvSpPr>
          <p:cNvPr id="9" name="exercise"/>
          <p:cNvSpPr txBox="1"/>
          <p:nvPr/>
        </p:nvSpPr>
        <p:spPr>
          <a:xfrm>
            <a:off x="6277356" y="2170176"/>
            <a:ext cx="5362956" cy="4120896"/>
          </a:xfrm>
          <a:prstGeom prst="rect">
            <a:avLst/>
          </a:prstGeom>
          <a:noFill/>
          <a:ln/>
        </p:spPr>
        <p:txBody>
          <a:bodyPr wrap="square" lIns="0" tIns="0" rIns="0" bIns="0" rtlCol="0" anchor="t"/>
          <a:lstStyle/>
          <a:p>
            <a:pPr indent="0" marL="0">
              <a:spcAft>
                <a:spcPts val="1200"/>
              </a:spcAft>
              <a:buNone/>
            </a:pPr>
            <a:r>
              <a:rPr lang="en-US" sz="2400" b="1" dirty="0">
                <a:solidFill>
                  <a:schemeClr val="tx2"/>
                </a:solidFill>
              </a:rPr>
              <a:t>5.  </a:t>
            </a:r>
            <a:r>
              <a:rPr lang="en-US" sz="2400" b="1" dirty="0">
                <a:solidFill>
                  <a:schemeClr val="tx1"/>
                </a:solidFill>
              </a:rPr>
              <a:t>1.3</a:t>
            </a:r>
            <a:r>
              <a:rPr lang="en-US" sz="2400" dirty="0">
                <a:solidFill>
                  <a:schemeClr val="tx1"/>
                </a:solidFill>
              </a:rPr>
              <a:t> Pieter </a:t>
            </a:r>
            <a:r>
              <a:rPr lang="en-US" sz="2400" b="1" dirty="0">
                <a:solidFill>
                  <a:schemeClr val="accent3"/>
                </a:solidFill>
              </a:rPr>
              <a:t>heeft</a:t>
            </a:r>
            <a:r>
              <a:rPr lang="en-US" sz="2400" dirty="0">
                <a:solidFill>
                  <a:schemeClr val="tx1"/>
                </a:solidFill>
              </a:rPr>
              <a:t> een zus en hij </a:t>
            </a:r>
            <a:r>
              <a:rPr lang="en-US" sz="2400" b="1" dirty="0">
                <a:solidFill>
                  <a:schemeClr val="accent3"/>
                </a:solidFill>
              </a:rPr>
              <a:t>is</a:t>
            </a:r>
            <a:r>
              <a:rPr lang="en-US" sz="2400" dirty="0">
                <a:solidFill>
                  <a:schemeClr val="tx1"/>
                </a:solidFill>
              </a:rPr>
              <a:t> stagiair.</a:t>
            </a:r>
            <a:endParaRPr lang="en-US" sz="2400" dirty="0"/>
          </a:p>
          <a:p>
            <a:pPr indent="0" marL="0">
              <a:spcAft>
                <a:spcPts val="1200"/>
              </a:spcAft>
              <a:buNone/>
            </a:pPr>
            <a:r>
              <a:rPr lang="en-US" sz="2400" b="1" dirty="0">
                <a:solidFill>
                  <a:schemeClr val="tx2"/>
                </a:solidFill>
              </a:rPr>
              <a:t>6.  </a:t>
            </a:r>
            <a:r>
              <a:rPr lang="en-US" sz="2400" b="1" dirty="0">
                <a:solidFill>
                  <a:schemeClr val="tx1"/>
                </a:solidFill>
              </a:rPr>
              <a:t>1.3</a:t>
            </a:r>
            <a:r>
              <a:rPr lang="en-US" sz="2400" dirty="0">
                <a:solidFill>
                  <a:schemeClr val="tx1"/>
                </a:solidFill>
              </a:rPr>
              <a:t> J’ai faim, mais je n’ai pas le temps. → </a:t>
            </a:r>
            <a:r>
              <a:rPr lang="en-US" sz="2400" b="1" dirty="0">
                <a:solidFill>
                  <a:schemeClr val="accent3"/>
                </a:solidFill>
              </a:rPr>
              <a:t>Ik heb honger, maar ik heb geen tijd.</a:t>
            </a:r>
            <a:endParaRPr lang="en-US" sz="2400" dirty="0"/>
          </a:p>
          <a:p>
            <a:pPr indent="0" marL="0">
              <a:spcAft>
                <a:spcPts val="1200"/>
              </a:spcAft>
              <a:buNone/>
            </a:pPr>
            <a:r>
              <a:rPr lang="en-US" sz="2400" b="1" dirty="0">
                <a:solidFill>
                  <a:schemeClr val="tx2"/>
                </a:solidFill>
              </a:rPr>
              <a:t>7.  </a:t>
            </a:r>
            <a:r>
              <a:rPr lang="en-US" sz="2400" b="1" dirty="0">
                <a:solidFill>
                  <a:schemeClr val="tx1"/>
                </a:solidFill>
              </a:rPr>
              <a:t>1.4</a:t>
            </a:r>
            <a:r>
              <a:rPr lang="en-US" sz="2400" dirty="0">
                <a:solidFill>
                  <a:schemeClr val="tx1"/>
                </a:solidFill>
              </a:rPr>
              <a:t> Vous revenez dans cinq minutes. → </a:t>
            </a:r>
            <a:r>
              <a:rPr lang="en-US" sz="2400" b="1" dirty="0">
                <a:solidFill>
                  <a:schemeClr val="accent3"/>
                </a:solidFill>
              </a:rPr>
              <a:t>Tot zo!</a:t>
            </a:r>
            <a:endParaRPr lang="en-US" sz="2400" dirty="0"/>
          </a:p>
          <a:p>
            <a:pPr indent="0" marL="0">
              <a:spcAft>
                <a:spcPts val="1200"/>
              </a:spcAft>
              <a:buNone/>
            </a:pPr>
            <a:r>
              <a:rPr lang="en-US" sz="2400" b="1" dirty="0">
                <a:solidFill>
                  <a:schemeClr val="tx2"/>
                </a:solidFill>
              </a:rPr>
              <a:t>8.  </a:t>
            </a:r>
            <a:r>
              <a:rPr lang="en-US" sz="2400" b="1" dirty="0">
                <a:solidFill>
                  <a:schemeClr val="tx1"/>
                </a:solidFill>
              </a:rPr>
              <a:t>1.4</a:t>
            </a:r>
            <a:r>
              <a:rPr lang="en-US" sz="2400" dirty="0">
                <a:solidFill>
                  <a:schemeClr val="tx1"/>
                </a:solidFill>
              </a:rPr>
              <a:t> Vous quittez meneer Janssens (u). → </a:t>
            </a:r>
            <a:r>
              <a:rPr lang="en-US" sz="2400" b="1" dirty="0">
                <a:solidFill>
                  <a:schemeClr val="accent3"/>
                </a:solidFill>
              </a:rPr>
              <a:t>Tot ziens, meneer Janssens!</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Auto-évaluation : le palier 1</a:t>
            </a:r>
            <a:endParaRPr lang="en-US" sz="3200" dirty="0"/>
          </a:p>
        </p:txBody>
      </p:sp>
      <p:sp>
        <p:nvSpPr>
          <p:cNvPr id="3" name="tag"/>
          <p:cNvSpPr/>
          <p:nvPr/>
        </p:nvSpPr>
        <p:spPr>
          <a:xfrm>
            <a:off x="548640" y="237744"/>
            <a:ext cx="221742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AUTO-ÉVALUATION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1–57</a:t>
            </a:r>
            <a:endParaRPr lang="en-US" sz="1200" dirty="0"/>
          </a:p>
        </p:txBody>
      </p:sp>
      <p:sp>
        <p:nvSpPr>
          <p:cNvPr id="6" name="Text 3"/>
          <p:cNvSpPr txBox="1"/>
          <p:nvPr/>
        </p:nvSpPr>
        <p:spPr>
          <a:xfrm>
            <a:off x="548640" y="1481328"/>
            <a:ext cx="11091672" cy="313944"/>
          </a:xfrm>
          <a:prstGeom prst="rect">
            <a:avLst/>
          </a:prstGeom>
          <a:noFill/>
          <a:ln/>
        </p:spPr>
        <p:txBody>
          <a:bodyPr wrap="square" lIns="0" tIns="0" rIns="0" bIns="0" rtlCol="0" anchor="t"/>
          <a:lstStyle/>
          <a:p>
            <a:pPr indent="0" marL="0">
              <a:buNone/>
            </a:pPr>
            <a:r>
              <a:rPr lang="en-US" sz="1700" i="1" dirty="0">
                <a:solidFill>
                  <a:schemeClr val="accent5"/>
                </a:solidFill>
              </a:rPr>
              <a:t>Cochez ce que vous savez faire </a:t>
            </a:r>
            <a:r>
              <a:rPr lang="en-US" sz="1700" b="1" i="1" dirty="0">
                <a:solidFill>
                  <a:schemeClr val="accent5"/>
                </a:solidFill>
              </a:rPr>
              <a:t>sans aide</a:t>
            </a:r>
            <a:r>
              <a:rPr lang="en-US" sz="1700" i="1" dirty="0">
                <a:solidFill>
                  <a:schemeClr val="accent5"/>
                </a:solidFill>
              </a:rPr>
              <a:t>. Ce qui reste vide → à revoir (la séquence est indiquée).</a:t>
            </a:r>
            <a:endParaRPr lang="en-US" sz="1700" dirty="0"/>
          </a:p>
        </p:txBody>
      </p:sp>
      <p:sp>
        <p:nvSpPr>
          <p:cNvPr id="7" name="Shape 4"/>
          <p:cNvSpPr/>
          <p:nvPr/>
        </p:nvSpPr>
        <p:spPr>
          <a:xfrm>
            <a:off x="548640" y="1941576"/>
            <a:ext cx="5408676" cy="704088"/>
          </a:xfrm>
          <a:prstGeom prst="roundRect">
            <a:avLst>
              <a:gd name="adj" fmla="val 7792"/>
            </a:avLst>
          </a:prstGeom>
          <a:solidFill>
            <a:schemeClr val="bg2"/>
          </a:solidFill>
          <a:ln w="6350">
            <a:solidFill>
              <a:srgbClr val="D5DCE6"/>
            </a:solidFill>
            <a:prstDash val="solid"/>
          </a:ln>
        </p:spPr>
      </p:sp>
      <p:pic>
        <p:nvPicPr>
          <p:cNvPr id="8" name="Image 0" descr="preencoded.png">    </p:cNvPr>
          <p:cNvPicPr>
            <a:picLocks noChangeAspect="1"/>
          </p:cNvPicPr>
          <p:nvPr/>
        </p:nvPicPr>
        <p:blipFill>
          <a:blip r:embed="rId1"/>
          <a:stretch>
            <a:fillRect/>
          </a:stretch>
        </p:blipFill>
        <p:spPr>
          <a:xfrm>
            <a:off x="731520" y="2138172"/>
            <a:ext cx="310896" cy="310896"/>
          </a:xfrm>
          <a:prstGeom prst="rect">
            <a:avLst/>
          </a:prstGeom>
        </p:spPr>
      </p:pic>
      <p:sp>
        <p:nvSpPr>
          <p:cNvPr id="9" name="Text 5"/>
          <p:cNvSpPr txBox="1"/>
          <p:nvPr/>
        </p:nvSpPr>
        <p:spPr>
          <a:xfrm>
            <a:off x="1207008" y="1941576"/>
            <a:ext cx="4631436" cy="704088"/>
          </a:xfrm>
          <a:prstGeom prst="rect">
            <a:avLst/>
          </a:prstGeom>
          <a:noFill/>
          <a:ln/>
        </p:spPr>
        <p:txBody>
          <a:bodyPr wrap="square" lIns="0" tIns="0" rIns="0" bIns="0" rtlCol="0" anchor="ctr"/>
          <a:lstStyle/>
          <a:p>
            <a:pPr indent="0" marL="0">
              <a:buNone/>
            </a:pPr>
            <a:r>
              <a:rPr lang="en-US" sz="1900" dirty="0">
                <a:solidFill>
                  <a:schemeClr val="tx1"/>
                </a:solidFill>
              </a:rPr>
              <a:t>Je salue selon le </a:t>
            </a:r>
            <a:r>
              <a:rPr lang="en-US" sz="1900" b="1" dirty="0">
                <a:solidFill>
                  <a:schemeClr val="tx1"/>
                </a:solidFill>
              </a:rPr>
              <a:t>moment de la journée</a:t>
            </a:r>
            <a:r>
              <a:rPr lang="en-US" sz="1900" dirty="0">
                <a:solidFill>
                  <a:schemeClr val="tx1"/>
                </a:solidFill>
              </a:rPr>
              <a:t>. — 1.1</a:t>
            </a:r>
            <a:endParaRPr lang="en-US" sz="1900" dirty="0"/>
          </a:p>
        </p:txBody>
      </p:sp>
      <p:sp>
        <p:nvSpPr>
          <p:cNvPr id="10" name="Shape 6"/>
          <p:cNvSpPr/>
          <p:nvPr/>
        </p:nvSpPr>
        <p:spPr>
          <a:xfrm>
            <a:off x="548640" y="2718816"/>
            <a:ext cx="5408676" cy="704088"/>
          </a:xfrm>
          <a:prstGeom prst="roundRect">
            <a:avLst>
              <a:gd name="adj" fmla="val 7792"/>
            </a:avLst>
          </a:prstGeom>
          <a:solidFill>
            <a:schemeClr val="bg1"/>
          </a:solidFill>
          <a:ln w="6350">
            <a:solidFill>
              <a:srgbClr val="D5DCE6"/>
            </a:solidFill>
            <a:prstDash val="solid"/>
          </a:ln>
        </p:spPr>
      </p:sp>
      <p:pic>
        <p:nvPicPr>
          <p:cNvPr id="11" name="Image 1" descr="preencoded.png">    </p:cNvPr>
          <p:cNvPicPr>
            <a:picLocks noChangeAspect="1"/>
          </p:cNvPicPr>
          <p:nvPr/>
        </p:nvPicPr>
        <p:blipFill>
          <a:blip r:embed="rId2"/>
          <a:stretch>
            <a:fillRect/>
          </a:stretch>
        </p:blipFill>
        <p:spPr>
          <a:xfrm>
            <a:off x="731520" y="2915412"/>
            <a:ext cx="310896" cy="310896"/>
          </a:xfrm>
          <a:prstGeom prst="rect">
            <a:avLst/>
          </a:prstGeom>
        </p:spPr>
      </p:pic>
      <p:sp>
        <p:nvSpPr>
          <p:cNvPr id="12" name="Text 7"/>
          <p:cNvSpPr txBox="1"/>
          <p:nvPr/>
        </p:nvSpPr>
        <p:spPr>
          <a:xfrm>
            <a:off x="1207008" y="2718816"/>
            <a:ext cx="4631436" cy="704088"/>
          </a:xfrm>
          <a:prstGeom prst="rect">
            <a:avLst/>
          </a:prstGeom>
          <a:noFill/>
          <a:ln/>
        </p:spPr>
        <p:txBody>
          <a:bodyPr wrap="square" lIns="0" tIns="0" rIns="0" bIns="0" rtlCol="0" anchor="ctr"/>
          <a:lstStyle/>
          <a:p>
            <a:pPr indent="0" marL="0">
              <a:buNone/>
            </a:pPr>
            <a:r>
              <a:rPr lang="en-US" sz="1900" dirty="0">
                <a:solidFill>
                  <a:schemeClr val="tx1"/>
                </a:solidFill>
              </a:rPr>
              <a:t>Je dis </a:t>
            </a:r>
            <a:r>
              <a:rPr lang="en-US" sz="1900" b="1" dirty="0">
                <a:solidFill>
                  <a:schemeClr val="tx1"/>
                </a:solidFill>
              </a:rPr>
              <a:t>quand</a:t>
            </a:r>
            <a:r>
              <a:rPr lang="en-US" sz="1900" dirty="0">
                <a:solidFill>
                  <a:schemeClr val="tx1"/>
                </a:solidFill>
              </a:rPr>
              <a:t> je fais quelque chose, avec l’</a:t>
            </a:r>
            <a:r>
              <a:rPr lang="en-US" sz="1900" b="1" dirty="0">
                <a:solidFill>
                  <a:schemeClr val="tx1"/>
                </a:solidFill>
              </a:rPr>
              <a:t>inversion</a:t>
            </a:r>
            <a:r>
              <a:rPr lang="en-US" sz="1900" dirty="0">
                <a:solidFill>
                  <a:schemeClr val="tx1"/>
                </a:solidFill>
              </a:rPr>
              <a:t> (’s morgens werk ik). — 1.1</a:t>
            </a:r>
            <a:endParaRPr lang="en-US" sz="1900" dirty="0"/>
          </a:p>
        </p:txBody>
      </p:sp>
      <p:sp>
        <p:nvSpPr>
          <p:cNvPr id="13" name="Shape 8"/>
          <p:cNvSpPr/>
          <p:nvPr/>
        </p:nvSpPr>
        <p:spPr>
          <a:xfrm>
            <a:off x="548640" y="3496056"/>
            <a:ext cx="5408676" cy="704088"/>
          </a:xfrm>
          <a:prstGeom prst="roundRect">
            <a:avLst>
              <a:gd name="adj" fmla="val 7792"/>
            </a:avLst>
          </a:prstGeom>
          <a:solidFill>
            <a:schemeClr val="bg2"/>
          </a:solidFill>
          <a:ln w="6350">
            <a:solidFill>
              <a:srgbClr val="D5DCE6"/>
            </a:solidFill>
            <a:prstDash val="solid"/>
          </a:ln>
        </p:spPr>
      </p:sp>
      <p:pic>
        <p:nvPicPr>
          <p:cNvPr id="14" name="Image 2" descr="preencoded.png">    </p:cNvPr>
          <p:cNvPicPr>
            <a:picLocks noChangeAspect="1"/>
          </p:cNvPicPr>
          <p:nvPr/>
        </p:nvPicPr>
        <p:blipFill>
          <a:blip r:embed="rId3"/>
          <a:stretch>
            <a:fillRect/>
          </a:stretch>
        </p:blipFill>
        <p:spPr>
          <a:xfrm>
            <a:off x="731520" y="3692652"/>
            <a:ext cx="310896" cy="310896"/>
          </a:xfrm>
          <a:prstGeom prst="rect">
            <a:avLst/>
          </a:prstGeom>
        </p:spPr>
      </p:pic>
      <p:sp>
        <p:nvSpPr>
          <p:cNvPr id="15" name="Text 9"/>
          <p:cNvSpPr txBox="1"/>
          <p:nvPr/>
        </p:nvSpPr>
        <p:spPr>
          <a:xfrm>
            <a:off x="1207008" y="3496056"/>
            <a:ext cx="4631436" cy="704088"/>
          </a:xfrm>
          <a:prstGeom prst="rect">
            <a:avLst/>
          </a:prstGeom>
          <a:noFill/>
          <a:ln/>
        </p:spPr>
        <p:txBody>
          <a:bodyPr wrap="square" lIns="0" tIns="0" rIns="0" bIns="0" rtlCol="0" anchor="ctr"/>
          <a:lstStyle/>
          <a:p>
            <a:pPr indent="0" marL="0">
              <a:buNone/>
            </a:pPr>
            <a:r>
              <a:rPr lang="en-US" sz="1900" dirty="0">
                <a:solidFill>
                  <a:schemeClr val="tx1"/>
                </a:solidFill>
              </a:rPr>
              <a:t>Je demande et je donne des </a:t>
            </a:r>
            <a:r>
              <a:rPr lang="en-US" sz="1900" b="1" dirty="0">
                <a:solidFill>
                  <a:schemeClr val="tx1"/>
                </a:solidFill>
              </a:rPr>
              <a:t>nouvelles</a:t>
            </a:r>
            <a:r>
              <a:rPr lang="en-US" sz="1900" dirty="0">
                <a:solidFill>
                  <a:schemeClr val="tx1"/>
                </a:solidFill>
              </a:rPr>
              <a:t>, avec une nuance. — 1.2</a:t>
            </a:r>
            <a:endParaRPr lang="en-US" sz="1900" dirty="0"/>
          </a:p>
        </p:txBody>
      </p:sp>
      <p:sp>
        <p:nvSpPr>
          <p:cNvPr id="16" name="Shape 10"/>
          <p:cNvSpPr/>
          <p:nvPr/>
        </p:nvSpPr>
        <p:spPr>
          <a:xfrm>
            <a:off x="548640" y="4273296"/>
            <a:ext cx="5408676" cy="704088"/>
          </a:xfrm>
          <a:prstGeom prst="roundRect">
            <a:avLst>
              <a:gd name="adj" fmla="val 7792"/>
            </a:avLst>
          </a:prstGeom>
          <a:solidFill>
            <a:schemeClr val="bg1"/>
          </a:solidFill>
          <a:ln w="6350">
            <a:solidFill>
              <a:srgbClr val="D5DCE6"/>
            </a:solidFill>
            <a:prstDash val="solid"/>
          </a:ln>
        </p:spPr>
      </p:sp>
      <p:pic>
        <p:nvPicPr>
          <p:cNvPr id="17" name="Image 3" descr="preencoded.png">    </p:cNvPr>
          <p:cNvPicPr>
            <a:picLocks noChangeAspect="1"/>
          </p:cNvPicPr>
          <p:nvPr/>
        </p:nvPicPr>
        <p:blipFill>
          <a:blip r:embed="rId4"/>
          <a:stretch>
            <a:fillRect/>
          </a:stretch>
        </p:blipFill>
        <p:spPr>
          <a:xfrm>
            <a:off x="731520" y="4469892"/>
            <a:ext cx="310896" cy="310896"/>
          </a:xfrm>
          <a:prstGeom prst="rect">
            <a:avLst/>
          </a:prstGeom>
        </p:spPr>
      </p:pic>
      <p:sp>
        <p:nvSpPr>
          <p:cNvPr id="18" name="Text 11"/>
          <p:cNvSpPr txBox="1"/>
          <p:nvPr/>
        </p:nvSpPr>
        <p:spPr>
          <a:xfrm>
            <a:off x="1207008" y="4273296"/>
            <a:ext cx="4631436" cy="704088"/>
          </a:xfrm>
          <a:prstGeom prst="rect">
            <a:avLst/>
          </a:prstGeom>
          <a:noFill/>
          <a:ln/>
        </p:spPr>
        <p:txBody>
          <a:bodyPr wrap="square" lIns="0" tIns="0" rIns="0" bIns="0" rtlCol="0" anchor="ctr"/>
          <a:lstStyle/>
          <a:p>
            <a:pPr indent="0" marL="0">
              <a:buNone/>
            </a:pPr>
            <a:r>
              <a:rPr lang="en-US" sz="1900" dirty="0">
                <a:solidFill>
                  <a:schemeClr val="tx1"/>
                </a:solidFill>
              </a:rPr>
              <a:t>Je choisis </a:t>
            </a:r>
            <a:r>
              <a:rPr lang="en-US" sz="1900" b="1" dirty="0">
                <a:solidFill>
                  <a:schemeClr val="tx1"/>
                </a:solidFill>
              </a:rPr>
              <a:t>je</a:t>
            </a:r>
            <a:r>
              <a:rPr lang="en-US" sz="1900" dirty="0">
                <a:solidFill>
                  <a:schemeClr val="tx1"/>
                </a:solidFill>
              </a:rPr>
              <a:t> ou </a:t>
            </a:r>
            <a:r>
              <a:rPr lang="en-US" sz="1900" b="1" dirty="0">
                <a:solidFill>
                  <a:schemeClr val="tx1"/>
                </a:solidFill>
              </a:rPr>
              <a:t>u</a:t>
            </a:r>
            <a:r>
              <a:rPr lang="en-US" sz="1900" dirty="0">
                <a:solidFill>
                  <a:schemeClr val="tx1"/>
                </a:solidFill>
              </a:rPr>
              <a:t> selon la personne. — 1.2</a:t>
            </a:r>
            <a:endParaRPr lang="en-US" sz="1900" dirty="0"/>
          </a:p>
        </p:txBody>
      </p:sp>
      <p:sp>
        <p:nvSpPr>
          <p:cNvPr id="19" name="Shape 12"/>
          <p:cNvSpPr/>
          <p:nvPr/>
        </p:nvSpPr>
        <p:spPr>
          <a:xfrm>
            <a:off x="548640" y="5050536"/>
            <a:ext cx="5408676" cy="704088"/>
          </a:xfrm>
          <a:prstGeom prst="roundRect">
            <a:avLst>
              <a:gd name="adj" fmla="val 7792"/>
            </a:avLst>
          </a:prstGeom>
          <a:solidFill>
            <a:schemeClr val="bg2"/>
          </a:solidFill>
          <a:ln w="6350">
            <a:solidFill>
              <a:srgbClr val="D5DCE6"/>
            </a:solidFill>
            <a:prstDash val="solid"/>
          </a:ln>
        </p:spPr>
      </p:sp>
      <p:pic>
        <p:nvPicPr>
          <p:cNvPr id="20" name="Image 4" descr="preencoded.png">    </p:cNvPr>
          <p:cNvPicPr>
            <a:picLocks noChangeAspect="1"/>
          </p:cNvPicPr>
          <p:nvPr/>
        </p:nvPicPr>
        <p:blipFill>
          <a:blip r:embed="rId5"/>
          <a:stretch>
            <a:fillRect/>
          </a:stretch>
        </p:blipFill>
        <p:spPr>
          <a:xfrm>
            <a:off x="731520" y="5247132"/>
            <a:ext cx="310896" cy="310896"/>
          </a:xfrm>
          <a:prstGeom prst="rect">
            <a:avLst/>
          </a:prstGeom>
        </p:spPr>
      </p:pic>
      <p:sp>
        <p:nvSpPr>
          <p:cNvPr id="21" name="Text 13"/>
          <p:cNvSpPr txBox="1"/>
          <p:nvPr/>
        </p:nvSpPr>
        <p:spPr>
          <a:xfrm>
            <a:off x="1207008" y="5050536"/>
            <a:ext cx="4631436" cy="704088"/>
          </a:xfrm>
          <a:prstGeom prst="rect">
            <a:avLst/>
          </a:prstGeom>
          <a:noFill/>
          <a:ln/>
        </p:spPr>
        <p:txBody>
          <a:bodyPr wrap="square" lIns="0" tIns="0" rIns="0" bIns="0" rtlCol="0" anchor="ctr"/>
          <a:lstStyle/>
          <a:p>
            <a:pPr indent="0" marL="0">
              <a:buNone/>
            </a:pPr>
            <a:r>
              <a:rPr lang="en-US" sz="1900" dirty="0">
                <a:solidFill>
                  <a:schemeClr val="tx1"/>
                </a:solidFill>
              </a:rPr>
              <a:t>Je dis comment je me sens : </a:t>
            </a:r>
            <a:r>
              <a:rPr lang="en-US" sz="1900" i="1" dirty="0">
                <a:solidFill>
                  <a:schemeClr val="tx1"/>
                </a:solidFill>
              </a:rPr>
              <a:t>Ik ben… · Ik voel me…</a:t>
            </a:r>
            <a:r>
              <a:rPr lang="en-US" sz="1900" dirty="0">
                <a:solidFill>
                  <a:schemeClr val="tx1"/>
                </a:solidFill>
              </a:rPr>
              <a:t> — 1.2</a:t>
            </a:r>
            <a:endParaRPr lang="en-US" sz="1900" dirty="0"/>
          </a:p>
        </p:txBody>
      </p:sp>
      <p:sp>
        <p:nvSpPr>
          <p:cNvPr id="22" name="Shape 14"/>
          <p:cNvSpPr/>
          <p:nvPr/>
        </p:nvSpPr>
        <p:spPr>
          <a:xfrm>
            <a:off x="6231636" y="1941576"/>
            <a:ext cx="5408676" cy="704088"/>
          </a:xfrm>
          <a:prstGeom prst="roundRect">
            <a:avLst>
              <a:gd name="adj" fmla="val 7792"/>
            </a:avLst>
          </a:prstGeom>
          <a:solidFill>
            <a:schemeClr val="bg2"/>
          </a:solidFill>
          <a:ln w="6350">
            <a:solidFill>
              <a:srgbClr val="D5DCE6"/>
            </a:solidFill>
            <a:prstDash val="solid"/>
          </a:ln>
        </p:spPr>
      </p:sp>
      <p:pic>
        <p:nvPicPr>
          <p:cNvPr id="23" name="Image 5" descr="preencoded.png">    </p:cNvPr>
          <p:cNvPicPr>
            <a:picLocks noChangeAspect="1"/>
          </p:cNvPicPr>
          <p:nvPr/>
        </p:nvPicPr>
        <p:blipFill>
          <a:blip r:embed="rId6"/>
          <a:stretch>
            <a:fillRect/>
          </a:stretch>
        </p:blipFill>
        <p:spPr>
          <a:xfrm>
            <a:off x="6414516" y="2138172"/>
            <a:ext cx="310896" cy="310896"/>
          </a:xfrm>
          <a:prstGeom prst="rect">
            <a:avLst/>
          </a:prstGeom>
        </p:spPr>
      </p:pic>
      <p:sp>
        <p:nvSpPr>
          <p:cNvPr id="24" name="Text 15"/>
          <p:cNvSpPr txBox="1"/>
          <p:nvPr/>
        </p:nvSpPr>
        <p:spPr>
          <a:xfrm>
            <a:off x="6890004" y="1941576"/>
            <a:ext cx="4631436" cy="704088"/>
          </a:xfrm>
          <a:prstGeom prst="rect">
            <a:avLst/>
          </a:prstGeom>
          <a:noFill/>
          <a:ln/>
        </p:spPr>
        <p:txBody>
          <a:bodyPr wrap="square" lIns="0" tIns="0" rIns="0" bIns="0" rtlCol="0" anchor="ctr"/>
          <a:lstStyle/>
          <a:p>
            <a:pPr indent="0" marL="0">
              <a:buNone/>
            </a:pPr>
            <a:r>
              <a:rPr lang="en-US" sz="1900" dirty="0">
                <a:solidFill>
                  <a:schemeClr val="tx1"/>
                </a:solidFill>
              </a:rPr>
              <a:t>Je conjugue </a:t>
            </a:r>
            <a:r>
              <a:rPr lang="en-US" sz="1900" b="1" dirty="0">
                <a:solidFill>
                  <a:schemeClr val="tx1"/>
                </a:solidFill>
              </a:rPr>
              <a:t>zijn</a:t>
            </a:r>
            <a:r>
              <a:rPr lang="en-US" sz="1900" dirty="0">
                <a:solidFill>
                  <a:schemeClr val="tx1"/>
                </a:solidFill>
              </a:rPr>
              <a:t> et </a:t>
            </a:r>
            <a:r>
              <a:rPr lang="en-US" sz="1900" b="1" dirty="0">
                <a:solidFill>
                  <a:schemeClr val="tx1"/>
                </a:solidFill>
              </a:rPr>
              <a:t>hebben</a:t>
            </a:r>
            <a:r>
              <a:rPr lang="en-US" sz="1900" dirty="0">
                <a:solidFill>
                  <a:schemeClr val="tx1"/>
                </a:solidFill>
              </a:rPr>
              <a:t> à toutes les personnes. — 1.3</a:t>
            </a:r>
            <a:endParaRPr lang="en-US" sz="1900" dirty="0"/>
          </a:p>
        </p:txBody>
      </p:sp>
      <p:sp>
        <p:nvSpPr>
          <p:cNvPr id="25" name="Shape 16"/>
          <p:cNvSpPr/>
          <p:nvPr/>
        </p:nvSpPr>
        <p:spPr>
          <a:xfrm>
            <a:off x="6231636" y="2718816"/>
            <a:ext cx="5408676" cy="704088"/>
          </a:xfrm>
          <a:prstGeom prst="roundRect">
            <a:avLst>
              <a:gd name="adj" fmla="val 7792"/>
            </a:avLst>
          </a:prstGeom>
          <a:solidFill>
            <a:schemeClr val="bg1"/>
          </a:solidFill>
          <a:ln w="6350">
            <a:solidFill>
              <a:srgbClr val="D5DCE6"/>
            </a:solidFill>
            <a:prstDash val="solid"/>
          </a:ln>
        </p:spPr>
      </p:sp>
      <p:pic>
        <p:nvPicPr>
          <p:cNvPr id="26" name="Image 6" descr="preencoded.png">    </p:cNvPr>
          <p:cNvPicPr>
            <a:picLocks noChangeAspect="1"/>
          </p:cNvPicPr>
          <p:nvPr/>
        </p:nvPicPr>
        <p:blipFill>
          <a:blip r:embed="rId7"/>
          <a:stretch>
            <a:fillRect/>
          </a:stretch>
        </p:blipFill>
        <p:spPr>
          <a:xfrm>
            <a:off x="6414516" y="2915412"/>
            <a:ext cx="310896" cy="310896"/>
          </a:xfrm>
          <a:prstGeom prst="rect">
            <a:avLst/>
          </a:prstGeom>
        </p:spPr>
      </p:pic>
      <p:sp>
        <p:nvSpPr>
          <p:cNvPr id="27" name="Text 17"/>
          <p:cNvSpPr txBox="1"/>
          <p:nvPr/>
        </p:nvSpPr>
        <p:spPr>
          <a:xfrm>
            <a:off x="6890004" y="2718816"/>
            <a:ext cx="4631436" cy="704088"/>
          </a:xfrm>
          <a:prstGeom prst="rect">
            <a:avLst/>
          </a:prstGeom>
          <a:noFill/>
          <a:ln/>
        </p:spPr>
        <p:txBody>
          <a:bodyPr wrap="square" lIns="0" tIns="0" rIns="0" bIns="0" rtlCol="0" anchor="ctr"/>
          <a:lstStyle/>
          <a:p>
            <a:pPr indent="0" marL="0">
              <a:buNone/>
            </a:pPr>
            <a:r>
              <a:rPr lang="en-US" sz="1900" dirty="0">
                <a:solidFill>
                  <a:schemeClr val="tx1"/>
                </a:solidFill>
              </a:rPr>
              <a:t>Je dis non avec </a:t>
            </a:r>
            <a:r>
              <a:rPr lang="en-US" sz="1900" b="1" dirty="0">
                <a:solidFill>
                  <a:schemeClr val="tx1"/>
                </a:solidFill>
              </a:rPr>
              <a:t>niet</a:t>
            </a:r>
            <a:r>
              <a:rPr lang="en-US" sz="1900" dirty="0">
                <a:solidFill>
                  <a:schemeClr val="tx1"/>
                </a:solidFill>
              </a:rPr>
              <a:t> ou </a:t>
            </a:r>
            <a:r>
              <a:rPr lang="en-US" sz="1900" b="1" dirty="0">
                <a:solidFill>
                  <a:schemeClr val="tx1"/>
                </a:solidFill>
              </a:rPr>
              <a:t>geen</a:t>
            </a:r>
            <a:r>
              <a:rPr lang="en-US" sz="1900" dirty="0">
                <a:solidFill>
                  <a:schemeClr val="tx1"/>
                </a:solidFill>
              </a:rPr>
              <a:t>. — 1.3</a:t>
            </a:r>
            <a:endParaRPr lang="en-US" sz="1900" dirty="0"/>
          </a:p>
        </p:txBody>
      </p:sp>
      <p:sp>
        <p:nvSpPr>
          <p:cNvPr id="28" name="Shape 18"/>
          <p:cNvSpPr/>
          <p:nvPr/>
        </p:nvSpPr>
        <p:spPr>
          <a:xfrm>
            <a:off x="6231636" y="3496056"/>
            <a:ext cx="5408676" cy="704088"/>
          </a:xfrm>
          <a:prstGeom prst="roundRect">
            <a:avLst>
              <a:gd name="adj" fmla="val 7792"/>
            </a:avLst>
          </a:prstGeom>
          <a:solidFill>
            <a:schemeClr val="bg2"/>
          </a:solidFill>
          <a:ln w="6350">
            <a:solidFill>
              <a:srgbClr val="D5DCE6"/>
            </a:solidFill>
            <a:prstDash val="solid"/>
          </a:ln>
        </p:spPr>
      </p:sp>
      <p:pic>
        <p:nvPicPr>
          <p:cNvPr id="29" name="Image 7" descr="preencoded.png">    </p:cNvPr>
          <p:cNvPicPr>
            <a:picLocks noChangeAspect="1"/>
          </p:cNvPicPr>
          <p:nvPr/>
        </p:nvPicPr>
        <p:blipFill>
          <a:blip r:embed="rId8"/>
          <a:stretch>
            <a:fillRect/>
          </a:stretch>
        </p:blipFill>
        <p:spPr>
          <a:xfrm>
            <a:off x="6414516" y="3692652"/>
            <a:ext cx="310896" cy="310896"/>
          </a:xfrm>
          <a:prstGeom prst="rect">
            <a:avLst/>
          </a:prstGeom>
        </p:spPr>
      </p:pic>
      <p:sp>
        <p:nvSpPr>
          <p:cNvPr id="30" name="Text 19"/>
          <p:cNvSpPr txBox="1"/>
          <p:nvPr/>
        </p:nvSpPr>
        <p:spPr>
          <a:xfrm>
            <a:off x="6890004" y="3496056"/>
            <a:ext cx="4631436" cy="704088"/>
          </a:xfrm>
          <a:prstGeom prst="rect">
            <a:avLst/>
          </a:prstGeom>
          <a:noFill/>
          <a:ln/>
        </p:spPr>
        <p:txBody>
          <a:bodyPr wrap="square" lIns="0" tIns="0" rIns="0" bIns="0" rtlCol="0" anchor="ctr"/>
          <a:lstStyle/>
          <a:p>
            <a:pPr indent="0" marL="0">
              <a:buNone/>
            </a:pPr>
            <a:r>
              <a:rPr lang="en-US" sz="1900" dirty="0">
                <a:solidFill>
                  <a:schemeClr val="tx1"/>
                </a:solidFill>
              </a:rPr>
              <a:t>Je prends </a:t>
            </a:r>
            <a:r>
              <a:rPr lang="en-US" sz="1900" b="1" dirty="0">
                <a:solidFill>
                  <a:schemeClr val="tx1"/>
                </a:solidFill>
              </a:rPr>
              <a:t>congé</a:t>
            </a:r>
            <a:r>
              <a:rPr lang="en-US" sz="1900" dirty="0">
                <a:solidFill>
                  <a:schemeClr val="tx1"/>
                </a:solidFill>
              </a:rPr>
              <a:t> avec la bonne formule. — 1.4</a:t>
            </a:r>
            <a:endParaRPr lang="en-US" sz="1900" dirty="0"/>
          </a:p>
        </p:txBody>
      </p:sp>
      <p:sp>
        <p:nvSpPr>
          <p:cNvPr id="31" name="Shape 20"/>
          <p:cNvSpPr/>
          <p:nvPr/>
        </p:nvSpPr>
        <p:spPr>
          <a:xfrm>
            <a:off x="6231636" y="4273296"/>
            <a:ext cx="5408676" cy="704088"/>
          </a:xfrm>
          <a:prstGeom prst="roundRect">
            <a:avLst>
              <a:gd name="adj" fmla="val 7792"/>
            </a:avLst>
          </a:prstGeom>
          <a:solidFill>
            <a:schemeClr val="bg1"/>
          </a:solidFill>
          <a:ln w="6350">
            <a:solidFill>
              <a:srgbClr val="D5DCE6"/>
            </a:solidFill>
            <a:prstDash val="solid"/>
          </a:ln>
        </p:spPr>
      </p:sp>
      <p:pic>
        <p:nvPicPr>
          <p:cNvPr id="32" name="Image 8" descr="preencoded.png">    </p:cNvPr>
          <p:cNvPicPr>
            <a:picLocks noChangeAspect="1"/>
          </p:cNvPicPr>
          <p:nvPr/>
        </p:nvPicPr>
        <p:blipFill>
          <a:blip r:embed="rId9"/>
          <a:stretch>
            <a:fillRect/>
          </a:stretch>
        </p:blipFill>
        <p:spPr>
          <a:xfrm>
            <a:off x="6414516" y="4469892"/>
            <a:ext cx="310896" cy="310896"/>
          </a:xfrm>
          <a:prstGeom prst="rect">
            <a:avLst/>
          </a:prstGeom>
        </p:spPr>
      </p:pic>
      <p:sp>
        <p:nvSpPr>
          <p:cNvPr id="33" name="Text 21"/>
          <p:cNvSpPr txBox="1"/>
          <p:nvPr/>
        </p:nvSpPr>
        <p:spPr>
          <a:xfrm>
            <a:off x="6890004" y="4273296"/>
            <a:ext cx="4631436" cy="704088"/>
          </a:xfrm>
          <a:prstGeom prst="rect">
            <a:avLst/>
          </a:prstGeom>
          <a:noFill/>
          <a:ln/>
        </p:spPr>
        <p:txBody>
          <a:bodyPr wrap="square" lIns="0" tIns="0" rIns="0" bIns="0" rtlCol="0" anchor="ctr"/>
          <a:lstStyle/>
          <a:p>
            <a:pPr indent="0" marL="0">
              <a:buNone/>
            </a:pPr>
            <a:r>
              <a:rPr lang="en-US" sz="1900" dirty="0">
                <a:solidFill>
                  <a:schemeClr val="tx1"/>
                </a:solidFill>
              </a:rPr>
              <a:t>Je me </a:t>
            </a:r>
            <a:r>
              <a:rPr lang="en-US" sz="1900" b="1" dirty="0">
                <a:solidFill>
                  <a:schemeClr val="tx1"/>
                </a:solidFill>
              </a:rPr>
              <a:t>présente</a:t>
            </a:r>
            <a:r>
              <a:rPr lang="en-US" sz="1900" dirty="0">
                <a:solidFill>
                  <a:schemeClr val="tx1"/>
                </a:solidFill>
              </a:rPr>
              <a:t> en 5 phrases, sans notes. — synthèse</a:t>
            </a:r>
            <a:endParaRPr lang="en-US" sz="1900" dirty="0"/>
          </a:p>
        </p:txBody>
      </p:sp>
      <p:sp>
        <p:nvSpPr>
          <p:cNvPr id="34" name="Shape 22"/>
          <p:cNvSpPr/>
          <p:nvPr/>
        </p:nvSpPr>
        <p:spPr>
          <a:xfrm>
            <a:off x="6231636" y="5050536"/>
            <a:ext cx="5408676" cy="704088"/>
          </a:xfrm>
          <a:prstGeom prst="roundRect">
            <a:avLst>
              <a:gd name="adj" fmla="val 7792"/>
            </a:avLst>
          </a:prstGeom>
          <a:solidFill>
            <a:schemeClr val="bg2"/>
          </a:solidFill>
          <a:ln w="6350">
            <a:solidFill>
              <a:srgbClr val="D5DCE6"/>
            </a:solidFill>
            <a:prstDash val="solid"/>
          </a:ln>
        </p:spPr>
      </p:sp>
      <p:pic>
        <p:nvPicPr>
          <p:cNvPr id="35" name="Image 9" descr="preencoded.png">    </p:cNvPr>
          <p:cNvPicPr>
            <a:picLocks noChangeAspect="1"/>
          </p:cNvPicPr>
          <p:nvPr/>
        </p:nvPicPr>
        <p:blipFill>
          <a:blip r:embed="rId10"/>
          <a:stretch>
            <a:fillRect/>
          </a:stretch>
        </p:blipFill>
        <p:spPr>
          <a:xfrm>
            <a:off x="6414516" y="5247132"/>
            <a:ext cx="310896" cy="310896"/>
          </a:xfrm>
          <a:prstGeom prst="rect">
            <a:avLst/>
          </a:prstGeom>
        </p:spPr>
      </p:pic>
      <p:sp>
        <p:nvSpPr>
          <p:cNvPr id="36" name="Text 23"/>
          <p:cNvSpPr txBox="1"/>
          <p:nvPr/>
        </p:nvSpPr>
        <p:spPr>
          <a:xfrm>
            <a:off x="6890004" y="5050536"/>
            <a:ext cx="4631436" cy="704088"/>
          </a:xfrm>
          <a:prstGeom prst="rect">
            <a:avLst/>
          </a:prstGeom>
          <a:noFill/>
          <a:ln/>
        </p:spPr>
        <p:txBody>
          <a:bodyPr wrap="square" lIns="0" tIns="0" rIns="0" bIns="0" rtlCol="0" anchor="ctr"/>
          <a:lstStyle/>
          <a:p>
            <a:pPr indent="0" marL="0">
              <a:buNone/>
            </a:pPr>
            <a:r>
              <a:rPr lang="en-US" sz="1900" dirty="0">
                <a:solidFill>
                  <a:schemeClr val="tx1"/>
                </a:solidFill>
              </a:rPr>
              <a:t>Je connais l’</a:t>
            </a:r>
            <a:r>
              <a:rPr lang="en-US" sz="1900" b="1" dirty="0">
                <a:solidFill>
                  <a:schemeClr val="tx1"/>
                </a:solidFill>
              </a:rPr>
              <a:t>article</a:t>
            </a:r>
            <a:r>
              <a:rPr lang="en-US" sz="1900" dirty="0">
                <a:solidFill>
                  <a:schemeClr val="tx1"/>
                </a:solidFill>
              </a:rPr>
              <a:t> (de / het) des mots appris. — fiche 01</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Familie — la famille et les relations</a:t>
            </a:r>
            <a:endParaRPr lang="en-US" sz="3200" dirty="0"/>
          </a:p>
        </p:txBody>
      </p:sp>
      <p:sp>
        <p:nvSpPr>
          <p:cNvPr id="3" name="tag"/>
          <p:cNvSpPr/>
          <p:nvPr/>
        </p:nvSpPr>
        <p:spPr>
          <a:xfrm>
            <a:off x="548640" y="237744"/>
            <a:ext cx="17373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WOORDENSCHAT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79</a:t>
            </a:r>
            <a:endParaRPr lang="en-US" sz="1200" dirty="0"/>
          </a:p>
        </p:txBody>
      </p:sp>
      <p:sp>
        <p:nvSpPr>
          <p:cNvPr id="6" name="Shape 3"/>
          <p:cNvSpPr/>
          <p:nvPr/>
        </p:nvSpPr>
        <p:spPr>
          <a:xfrm>
            <a:off x="548640" y="1508760"/>
            <a:ext cx="2057400" cy="1484376"/>
          </a:xfrm>
          <a:prstGeom prst="roundRect">
            <a:avLst>
              <a:gd name="adj" fmla="val 4928"/>
            </a:avLst>
          </a:prstGeom>
          <a:solidFill>
            <a:schemeClr val="bg1"/>
          </a:solidFill>
          <a:ln w="9525">
            <a:solidFill>
              <a:srgbClr val="D5DCE6"/>
            </a:solidFill>
            <a:prstDash val="solid"/>
          </a:ln>
        </p:spPr>
      </p:sp>
      <p:pic>
        <p:nvPicPr>
          <p:cNvPr id="7" name="illustration" descr="le père">    </p:cNvPr>
          <p:cNvPicPr>
            <a:picLocks noChangeAspect="1"/>
          </p:cNvPicPr>
          <p:nvPr/>
        </p:nvPicPr>
        <p:blipFill>
          <a:blip r:embed="rId1"/>
          <a:stretch>
            <a:fillRect/>
          </a:stretch>
        </p:blipFill>
        <p:spPr>
          <a:xfrm>
            <a:off x="1045932" y="1581912"/>
            <a:ext cx="1062815" cy="789432"/>
          </a:xfrm>
          <a:prstGeom prst="rect">
            <a:avLst/>
          </a:prstGeom>
        </p:spPr>
      </p:pic>
      <p:sp>
        <p:nvSpPr>
          <p:cNvPr id="8" name="Shape 4"/>
          <p:cNvSpPr/>
          <p:nvPr/>
        </p:nvSpPr>
        <p:spPr>
          <a:xfrm>
            <a:off x="640080" y="1600200"/>
            <a:ext cx="365760" cy="365760"/>
          </a:xfrm>
          <a:prstGeom prst="ellipse">
            <a:avLst/>
          </a:prstGeom>
          <a:solidFill>
            <a:schemeClr val="tx2"/>
          </a:solidFill>
          <a:ln/>
        </p:spPr>
      </p:sp>
      <p:sp>
        <p:nvSpPr>
          <p:cNvPr id="9" name="Text 5"/>
          <p:cNvSpPr txBox="1"/>
          <p:nvPr/>
        </p:nvSpPr>
        <p:spPr>
          <a:xfrm>
            <a:off x="640080"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0" name="Text 6"/>
          <p:cNvSpPr txBox="1"/>
          <p:nvPr/>
        </p:nvSpPr>
        <p:spPr>
          <a:xfrm>
            <a:off x="603504"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11" name="Shape 7"/>
          <p:cNvSpPr/>
          <p:nvPr/>
        </p:nvSpPr>
        <p:spPr>
          <a:xfrm>
            <a:off x="2807208" y="1508760"/>
            <a:ext cx="2057400" cy="1484376"/>
          </a:xfrm>
          <a:prstGeom prst="roundRect">
            <a:avLst>
              <a:gd name="adj" fmla="val 4928"/>
            </a:avLst>
          </a:prstGeom>
          <a:solidFill>
            <a:schemeClr val="bg1"/>
          </a:solidFill>
          <a:ln w="9525">
            <a:solidFill>
              <a:srgbClr val="D5DCE6"/>
            </a:solidFill>
            <a:prstDash val="solid"/>
          </a:ln>
        </p:spPr>
      </p:sp>
      <p:pic>
        <p:nvPicPr>
          <p:cNvPr id="12" name="illustration" descr="la mère">    </p:cNvPr>
          <p:cNvPicPr>
            <a:picLocks noChangeAspect="1"/>
          </p:cNvPicPr>
          <p:nvPr/>
        </p:nvPicPr>
        <p:blipFill>
          <a:blip r:embed="rId2"/>
          <a:stretch>
            <a:fillRect/>
          </a:stretch>
        </p:blipFill>
        <p:spPr>
          <a:xfrm>
            <a:off x="3293749" y="1581912"/>
            <a:ext cx="1084317" cy="789432"/>
          </a:xfrm>
          <a:prstGeom prst="rect">
            <a:avLst/>
          </a:prstGeom>
        </p:spPr>
      </p:pic>
      <p:sp>
        <p:nvSpPr>
          <p:cNvPr id="13" name="Shape 8"/>
          <p:cNvSpPr/>
          <p:nvPr/>
        </p:nvSpPr>
        <p:spPr>
          <a:xfrm>
            <a:off x="2898648" y="1600200"/>
            <a:ext cx="365760" cy="365760"/>
          </a:xfrm>
          <a:prstGeom prst="ellipse">
            <a:avLst/>
          </a:prstGeom>
          <a:solidFill>
            <a:schemeClr val="tx2"/>
          </a:solidFill>
          <a:ln/>
        </p:spPr>
      </p:sp>
      <p:sp>
        <p:nvSpPr>
          <p:cNvPr id="14" name="Text 9"/>
          <p:cNvSpPr txBox="1"/>
          <p:nvPr/>
        </p:nvSpPr>
        <p:spPr>
          <a:xfrm>
            <a:off x="2898648"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Text 10"/>
          <p:cNvSpPr txBox="1"/>
          <p:nvPr/>
        </p:nvSpPr>
        <p:spPr>
          <a:xfrm>
            <a:off x="2862072"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16" name="Shape 11"/>
          <p:cNvSpPr/>
          <p:nvPr/>
        </p:nvSpPr>
        <p:spPr>
          <a:xfrm>
            <a:off x="5065776" y="1508760"/>
            <a:ext cx="2057400" cy="1484376"/>
          </a:xfrm>
          <a:prstGeom prst="roundRect">
            <a:avLst>
              <a:gd name="adj" fmla="val 4928"/>
            </a:avLst>
          </a:prstGeom>
          <a:solidFill>
            <a:schemeClr val="bg1"/>
          </a:solidFill>
          <a:ln w="9525">
            <a:solidFill>
              <a:srgbClr val="D5DCE6"/>
            </a:solidFill>
            <a:prstDash val="solid"/>
          </a:ln>
        </p:spPr>
      </p:sp>
      <p:pic>
        <p:nvPicPr>
          <p:cNvPr id="17" name="illustration" descr="les parents">    </p:cNvPr>
          <p:cNvPicPr>
            <a:picLocks noChangeAspect="1"/>
          </p:cNvPicPr>
          <p:nvPr/>
        </p:nvPicPr>
        <p:blipFill>
          <a:blip r:embed="rId3"/>
          <a:stretch>
            <a:fillRect/>
          </a:stretch>
        </p:blipFill>
        <p:spPr>
          <a:xfrm>
            <a:off x="5561533" y="1581912"/>
            <a:ext cx="1065887" cy="789432"/>
          </a:xfrm>
          <a:prstGeom prst="rect">
            <a:avLst/>
          </a:prstGeom>
        </p:spPr>
      </p:pic>
      <p:sp>
        <p:nvSpPr>
          <p:cNvPr id="18" name="Shape 12"/>
          <p:cNvSpPr/>
          <p:nvPr/>
        </p:nvSpPr>
        <p:spPr>
          <a:xfrm>
            <a:off x="5157216" y="1600200"/>
            <a:ext cx="365760" cy="365760"/>
          </a:xfrm>
          <a:prstGeom prst="ellipse">
            <a:avLst/>
          </a:prstGeom>
          <a:solidFill>
            <a:schemeClr val="tx2"/>
          </a:solidFill>
          <a:ln/>
        </p:spPr>
      </p:sp>
      <p:sp>
        <p:nvSpPr>
          <p:cNvPr id="19" name="Text 13"/>
          <p:cNvSpPr txBox="1"/>
          <p:nvPr/>
        </p:nvSpPr>
        <p:spPr>
          <a:xfrm>
            <a:off x="5157216"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0" name="Text 14"/>
          <p:cNvSpPr txBox="1"/>
          <p:nvPr/>
        </p:nvSpPr>
        <p:spPr>
          <a:xfrm>
            <a:off x="5120640"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21" name="Shape 15"/>
          <p:cNvSpPr/>
          <p:nvPr/>
        </p:nvSpPr>
        <p:spPr>
          <a:xfrm>
            <a:off x="7324344" y="1508760"/>
            <a:ext cx="2057400" cy="1484376"/>
          </a:xfrm>
          <a:prstGeom prst="roundRect">
            <a:avLst>
              <a:gd name="adj" fmla="val 4928"/>
            </a:avLst>
          </a:prstGeom>
          <a:solidFill>
            <a:schemeClr val="bg1"/>
          </a:solidFill>
          <a:ln w="9525">
            <a:solidFill>
              <a:srgbClr val="D5DCE6"/>
            </a:solidFill>
            <a:prstDash val="solid"/>
          </a:ln>
        </p:spPr>
      </p:sp>
      <p:pic>
        <p:nvPicPr>
          <p:cNvPr id="22" name="illustration" descr="le fils">    </p:cNvPr>
          <p:cNvPicPr>
            <a:picLocks noChangeAspect="1"/>
          </p:cNvPicPr>
          <p:nvPr/>
        </p:nvPicPr>
        <p:blipFill>
          <a:blip r:embed="rId4"/>
          <a:stretch>
            <a:fillRect/>
          </a:stretch>
        </p:blipFill>
        <p:spPr>
          <a:xfrm>
            <a:off x="7882107" y="1581912"/>
            <a:ext cx="941874" cy="789432"/>
          </a:xfrm>
          <a:prstGeom prst="rect">
            <a:avLst/>
          </a:prstGeom>
        </p:spPr>
      </p:pic>
      <p:sp>
        <p:nvSpPr>
          <p:cNvPr id="23" name="Shape 16"/>
          <p:cNvSpPr/>
          <p:nvPr/>
        </p:nvSpPr>
        <p:spPr>
          <a:xfrm>
            <a:off x="7415784" y="1600200"/>
            <a:ext cx="365760" cy="365760"/>
          </a:xfrm>
          <a:prstGeom prst="ellipse">
            <a:avLst/>
          </a:prstGeom>
          <a:solidFill>
            <a:schemeClr val="tx2"/>
          </a:solidFill>
          <a:ln/>
        </p:spPr>
      </p:sp>
      <p:sp>
        <p:nvSpPr>
          <p:cNvPr id="24" name="Text 17"/>
          <p:cNvSpPr txBox="1"/>
          <p:nvPr/>
        </p:nvSpPr>
        <p:spPr>
          <a:xfrm>
            <a:off x="7415784"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5" name="Text 18"/>
          <p:cNvSpPr txBox="1"/>
          <p:nvPr/>
        </p:nvSpPr>
        <p:spPr>
          <a:xfrm>
            <a:off x="7379208"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26" name="Shape 19"/>
          <p:cNvSpPr/>
          <p:nvPr/>
        </p:nvSpPr>
        <p:spPr>
          <a:xfrm>
            <a:off x="9582912" y="1508760"/>
            <a:ext cx="2057400" cy="1484376"/>
          </a:xfrm>
          <a:prstGeom prst="roundRect">
            <a:avLst>
              <a:gd name="adj" fmla="val 4928"/>
            </a:avLst>
          </a:prstGeom>
          <a:solidFill>
            <a:schemeClr val="bg1"/>
          </a:solidFill>
          <a:ln w="9525">
            <a:solidFill>
              <a:srgbClr val="D5DCE6"/>
            </a:solidFill>
            <a:prstDash val="solid"/>
          </a:ln>
        </p:spPr>
      </p:sp>
      <p:pic>
        <p:nvPicPr>
          <p:cNvPr id="27" name="illustration" descr="la fille">    </p:cNvPr>
          <p:cNvPicPr>
            <a:picLocks noChangeAspect="1"/>
          </p:cNvPicPr>
          <p:nvPr/>
        </p:nvPicPr>
        <p:blipFill>
          <a:blip r:embed="rId5"/>
          <a:stretch>
            <a:fillRect/>
          </a:stretch>
        </p:blipFill>
        <p:spPr>
          <a:xfrm>
            <a:off x="10131147" y="1581912"/>
            <a:ext cx="960929" cy="789432"/>
          </a:xfrm>
          <a:prstGeom prst="rect">
            <a:avLst/>
          </a:prstGeom>
        </p:spPr>
      </p:pic>
      <p:sp>
        <p:nvSpPr>
          <p:cNvPr id="28" name="Shape 20"/>
          <p:cNvSpPr/>
          <p:nvPr/>
        </p:nvSpPr>
        <p:spPr>
          <a:xfrm>
            <a:off x="9674352" y="1600200"/>
            <a:ext cx="365760" cy="365760"/>
          </a:xfrm>
          <a:prstGeom prst="ellipse">
            <a:avLst/>
          </a:prstGeom>
          <a:solidFill>
            <a:schemeClr val="tx2"/>
          </a:solidFill>
          <a:ln/>
        </p:spPr>
      </p:sp>
      <p:sp>
        <p:nvSpPr>
          <p:cNvPr id="29" name="Text 21"/>
          <p:cNvSpPr txBox="1"/>
          <p:nvPr/>
        </p:nvSpPr>
        <p:spPr>
          <a:xfrm>
            <a:off x="9674352"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0" name="Text 22"/>
          <p:cNvSpPr txBox="1"/>
          <p:nvPr/>
        </p:nvSpPr>
        <p:spPr>
          <a:xfrm>
            <a:off x="9637776"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31" name="Shape 23"/>
          <p:cNvSpPr/>
          <p:nvPr/>
        </p:nvSpPr>
        <p:spPr>
          <a:xfrm>
            <a:off x="548640" y="3157728"/>
            <a:ext cx="2057400" cy="1484376"/>
          </a:xfrm>
          <a:prstGeom prst="roundRect">
            <a:avLst>
              <a:gd name="adj" fmla="val 4928"/>
            </a:avLst>
          </a:prstGeom>
          <a:solidFill>
            <a:schemeClr val="bg1"/>
          </a:solidFill>
          <a:ln w="9525">
            <a:solidFill>
              <a:srgbClr val="D5DCE6"/>
            </a:solidFill>
            <a:prstDash val="solid"/>
          </a:ln>
        </p:spPr>
      </p:sp>
      <p:pic>
        <p:nvPicPr>
          <p:cNvPr id="32" name="illustration" descr="le frère">    </p:cNvPr>
          <p:cNvPicPr>
            <a:picLocks noChangeAspect="1"/>
          </p:cNvPicPr>
          <p:nvPr/>
        </p:nvPicPr>
        <p:blipFill>
          <a:blip r:embed="rId6"/>
          <a:stretch>
            <a:fillRect/>
          </a:stretch>
        </p:blipFill>
        <p:spPr>
          <a:xfrm>
            <a:off x="1105042" y="3230880"/>
            <a:ext cx="944596" cy="789432"/>
          </a:xfrm>
          <a:prstGeom prst="rect">
            <a:avLst/>
          </a:prstGeom>
        </p:spPr>
      </p:pic>
      <p:sp>
        <p:nvSpPr>
          <p:cNvPr id="33" name="Shape 24"/>
          <p:cNvSpPr/>
          <p:nvPr/>
        </p:nvSpPr>
        <p:spPr>
          <a:xfrm>
            <a:off x="640080" y="3249168"/>
            <a:ext cx="365760" cy="365760"/>
          </a:xfrm>
          <a:prstGeom prst="ellipse">
            <a:avLst/>
          </a:prstGeom>
          <a:solidFill>
            <a:schemeClr val="tx2"/>
          </a:solidFill>
          <a:ln/>
        </p:spPr>
      </p:sp>
      <p:sp>
        <p:nvSpPr>
          <p:cNvPr id="34" name="Text 25"/>
          <p:cNvSpPr txBox="1"/>
          <p:nvPr/>
        </p:nvSpPr>
        <p:spPr>
          <a:xfrm>
            <a:off x="640080"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5" name="Text 26"/>
          <p:cNvSpPr txBox="1"/>
          <p:nvPr/>
        </p:nvSpPr>
        <p:spPr>
          <a:xfrm>
            <a:off x="603504"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36" name="Shape 27"/>
          <p:cNvSpPr/>
          <p:nvPr/>
        </p:nvSpPr>
        <p:spPr>
          <a:xfrm>
            <a:off x="2807208" y="3157728"/>
            <a:ext cx="2057400" cy="1484376"/>
          </a:xfrm>
          <a:prstGeom prst="roundRect">
            <a:avLst>
              <a:gd name="adj" fmla="val 4928"/>
            </a:avLst>
          </a:prstGeom>
          <a:solidFill>
            <a:schemeClr val="bg1"/>
          </a:solidFill>
          <a:ln w="9525">
            <a:solidFill>
              <a:srgbClr val="D5DCE6"/>
            </a:solidFill>
            <a:prstDash val="solid"/>
          </a:ln>
        </p:spPr>
      </p:sp>
      <p:pic>
        <p:nvPicPr>
          <p:cNvPr id="37" name="illustration" descr="la sœur">    </p:cNvPr>
          <p:cNvPicPr>
            <a:picLocks noChangeAspect="1"/>
          </p:cNvPicPr>
          <p:nvPr/>
        </p:nvPicPr>
        <p:blipFill>
          <a:blip r:embed="rId7"/>
          <a:stretch>
            <a:fillRect/>
          </a:stretch>
        </p:blipFill>
        <p:spPr>
          <a:xfrm>
            <a:off x="3360048" y="3230880"/>
            <a:ext cx="951719" cy="789432"/>
          </a:xfrm>
          <a:prstGeom prst="rect">
            <a:avLst/>
          </a:prstGeom>
        </p:spPr>
      </p:pic>
      <p:sp>
        <p:nvSpPr>
          <p:cNvPr id="38" name="Shape 28"/>
          <p:cNvSpPr/>
          <p:nvPr/>
        </p:nvSpPr>
        <p:spPr>
          <a:xfrm>
            <a:off x="2898648" y="3249168"/>
            <a:ext cx="365760" cy="365760"/>
          </a:xfrm>
          <a:prstGeom prst="ellipse">
            <a:avLst/>
          </a:prstGeom>
          <a:solidFill>
            <a:schemeClr val="tx2"/>
          </a:solidFill>
          <a:ln/>
        </p:spPr>
      </p:sp>
      <p:sp>
        <p:nvSpPr>
          <p:cNvPr id="39" name="Text 29"/>
          <p:cNvSpPr txBox="1"/>
          <p:nvPr/>
        </p:nvSpPr>
        <p:spPr>
          <a:xfrm>
            <a:off x="2898648"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40" name="Text 30"/>
          <p:cNvSpPr txBox="1"/>
          <p:nvPr/>
        </p:nvSpPr>
        <p:spPr>
          <a:xfrm>
            <a:off x="2862072"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41" name="Shape 31"/>
          <p:cNvSpPr/>
          <p:nvPr/>
        </p:nvSpPr>
        <p:spPr>
          <a:xfrm>
            <a:off x="5065776" y="3157728"/>
            <a:ext cx="2057400" cy="1484376"/>
          </a:xfrm>
          <a:prstGeom prst="roundRect">
            <a:avLst>
              <a:gd name="adj" fmla="val 4928"/>
            </a:avLst>
          </a:prstGeom>
          <a:solidFill>
            <a:schemeClr val="bg1"/>
          </a:solidFill>
          <a:ln w="9525">
            <a:solidFill>
              <a:srgbClr val="D5DCE6"/>
            </a:solidFill>
            <a:prstDash val="solid"/>
          </a:ln>
        </p:spPr>
      </p:sp>
      <p:pic>
        <p:nvPicPr>
          <p:cNvPr id="42" name="illustration" descr="le grand-père">    </p:cNvPr>
          <p:cNvPicPr>
            <a:picLocks noChangeAspect="1"/>
          </p:cNvPicPr>
          <p:nvPr/>
        </p:nvPicPr>
        <p:blipFill>
          <a:blip r:embed="rId8"/>
          <a:stretch>
            <a:fillRect/>
          </a:stretch>
        </p:blipFill>
        <p:spPr>
          <a:xfrm>
            <a:off x="5608989" y="3230880"/>
            <a:ext cx="970974" cy="789432"/>
          </a:xfrm>
          <a:prstGeom prst="rect">
            <a:avLst/>
          </a:prstGeom>
        </p:spPr>
      </p:pic>
      <p:sp>
        <p:nvSpPr>
          <p:cNvPr id="43" name="Shape 32"/>
          <p:cNvSpPr/>
          <p:nvPr/>
        </p:nvSpPr>
        <p:spPr>
          <a:xfrm>
            <a:off x="5157216" y="3249168"/>
            <a:ext cx="365760" cy="365760"/>
          </a:xfrm>
          <a:prstGeom prst="ellipse">
            <a:avLst/>
          </a:prstGeom>
          <a:solidFill>
            <a:schemeClr val="tx2"/>
          </a:solidFill>
          <a:ln/>
        </p:spPr>
      </p:sp>
      <p:sp>
        <p:nvSpPr>
          <p:cNvPr id="44" name="Text 33"/>
          <p:cNvSpPr txBox="1"/>
          <p:nvPr/>
        </p:nvSpPr>
        <p:spPr>
          <a:xfrm>
            <a:off x="5157216"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45" name="Text 34"/>
          <p:cNvSpPr txBox="1"/>
          <p:nvPr/>
        </p:nvSpPr>
        <p:spPr>
          <a:xfrm>
            <a:off x="5120640"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46" name="Shape 35"/>
          <p:cNvSpPr/>
          <p:nvPr/>
        </p:nvSpPr>
        <p:spPr>
          <a:xfrm>
            <a:off x="7324344" y="3157728"/>
            <a:ext cx="2057400" cy="1484376"/>
          </a:xfrm>
          <a:prstGeom prst="roundRect">
            <a:avLst>
              <a:gd name="adj" fmla="val 4928"/>
            </a:avLst>
          </a:prstGeom>
          <a:solidFill>
            <a:schemeClr val="bg1"/>
          </a:solidFill>
          <a:ln w="9525">
            <a:solidFill>
              <a:srgbClr val="D5DCE6"/>
            </a:solidFill>
            <a:prstDash val="solid"/>
          </a:ln>
        </p:spPr>
      </p:sp>
      <p:pic>
        <p:nvPicPr>
          <p:cNvPr id="47" name="illustration" descr="la grand-mère">    </p:cNvPr>
          <p:cNvPicPr>
            <a:picLocks noChangeAspect="1"/>
          </p:cNvPicPr>
          <p:nvPr/>
        </p:nvPicPr>
        <p:blipFill>
          <a:blip r:embed="rId9"/>
          <a:stretch>
            <a:fillRect/>
          </a:stretch>
        </p:blipFill>
        <p:spPr>
          <a:xfrm>
            <a:off x="7875809" y="3230880"/>
            <a:ext cx="954470" cy="789432"/>
          </a:xfrm>
          <a:prstGeom prst="rect">
            <a:avLst/>
          </a:prstGeom>
        </p:spPr>
      </p:pic>
      <p:sp>
        <p:nvSpPr>
          <p:cNvPr id="48" name="Shape 36"/>
          <p:cNvSpPr/>
          <p:nvPr/>
        </p:nvSpPr>
        <p:spPr>
          <a:xfrm>
            <a:off x="7415784" y="3249168"/>
            <a:ext cx="365760" cy="365760"/>
          </a:xfrm>
          <a:prstGeom prst="ellipse">
            <a:avLst/>
          </a:prstGeom>
          <a:solidFill>
            <a:schemeClr val="tx2"/>
          </a:solidFill>
          <a:ln/>
        </p:spPr>
      </p:sp>
      <p:sp>
        <p:nvSpPr>
          <p:cNvPr id="49" name="Text 37"/>
          <p:cNvSpPr txBox="1"/>
          <p:nvPr/>
        </p:nvSpPr>
        <p:spPr>
          <a:xfrm>
            <a:off x="7415784"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9</a:t>
            </a:r>
            <a:endParaRPr lang="en-US" sz="1200" dirty="0"/>
          </a:p>
        </p:txBody>
      </p:sp>
      <p:sp>
        <p:nvSpPr>
          <p:cNvPr id="50" name="Text 38"/>
          <p:cNvSpPr txBox="1"/>
          <p:nvPr/>
        </p:nvSpPr>
        <p:spPr>
          <a:xfrm>
            <a:off x="7379208"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51" name="Shape 39"/>
          <p:cNvSpPr/>
          <p:nvPr/>
        </p:nvSpPr>
        <p:spPr>
          <a:xfrm>
            <a:off x="9582912" y="3157728"/>
            <a:ext cx="2057400" cy="1484376"/>
          </a:xfrm>
          <a:prstGeom prst="roundRect">
            <a:avLst>
              <a:gd name="adj" fmla="val 4928"/>
            </a:avLst>
          </a:prstGeom>
          <a:solidFill>
            <a:schemeClr val="bg1"/>
          </a:solidFill>
          <a:ln w="9525">
            <a:solidFill>
              <a:srgbClr val="D5DCE6"/>
            </a:solidFill>
            <a:prstDash val="solid"/>
          </a:ln>
        </p:spPr>
      </p:sp>
      <p:pic>
        <p:nvPicPr>
          <p:cNvPr id="52" name="illustration" descr="le bébé">    </p:cNvPr>
          <p:cNvPicPr>
            <a:picLocks noChangeAspect="1"/>
          </p:cNvPicPr>
          <p:nvPr/>
        </p:nvPicPr>
        <p:blipFill>
          <a:blip r:embed="rId10"/>
          <a:stretch>
            <a:fillRect/>
          </a:stretch>
        </p:blipFill>
        <p:spPr>
          <a:xfrm>
            <a:off x="10139045" y="3230880"/>
            <a:ext cx="945133" cy="789432"/>
          </a:xfrm>
          <a:prstGeom prst="rect">
            <a:avLst/>
          </a:prstGeom>
        </p:spPr>
      </p:pic>
      <p:sp>
        <p:nvSpPr>
          <p:cNvPr id="53" name="Shape 40"/>
          <p:cNvSpPr/>
          <p:nvPr/>
        </p:nvSpPr>
        <p:spPr>
          <a:xfrm>
            <a:off x="9674352" y="3249168"/>
            <a:ext cx="365760" cy="365760"/>
          </a:xfrm>
          <a:prstGeom prst="ellipse">
            <a:avLst/>
          </a:prstGeom>
          <a:solidFill>
            <a:schemeClr val="tx2"/>
          </a:solidFill>
          <a:ln/>
        </p:spPr>
      </p:sp>
      <p:sp>
        <p:nvSpPr>
          <p:cNvPr id="54" name="Text 41"/>
          <p:cNvSpPr txBox="1"/>
          <p:nvPr/>
        </p:nvSpPr>
        <p:spPr>
          <a:xfrm>
            <a:off x="9674352"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10</a:t>
            </a:r>
            <a:endParaRPr lang="en-US" sz="1200" dirty="0"/>
          </a:p>
        </p:txBody>
      </p:sp>
      <p:sp>
        <p:nvSpPr>
          <p:cNvPr id="55" name="Text 42"/>
          <p:cNvSpPr txBox="1"/>
          <p:nvPr/>
        </p:nvSpPr>
        <p:spPr>
          <a:xfrm>
            <a:off x="9637776"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56" name="Shape 43"/>
          <p:cNvSpPr/>
          <p:nvPr/>
        </p:nvSpPr>
        <p:spPr>
          <a:xfrm>
            <a:off x="548640" y="4806696"/>
            <a:ext cx="2057400" cy="1484376"/>
          </a:xfrm>
          <a:prstGeom prst="roundRect">
            <a:avLst>
              <a:gd name="adj" fmla="val 4928"/>
            </a:avLst>
          </a:prstGeom>
          <a:solidFill>
            <a:schemeClr val="bg1"/>
          </a:solidFill>
          <a:ln w="9525">
            <a:solidFill>
              <a:srgbClr val="D5DCE6"/>
            </a:solidFill>
            <a:prstDash val="solid"/>
          </a:ln>
        </p:spPr>
      </p:sp>
      <p:pic>
        <p:nvPicPr>
          <p:cNvPr id="57" name="illustration" descr="la famille (le ménage)">    </p:cNvPr>
          <p:cNvPicPr>
            <a:picLocks noChangeAspect="1"/>
          </p:cNvPicPr>
          <p:nvPr/>
        </p:nvPicPr>
        <p:blipFill>
          <a:blip r:embed="rId11"/>
          <a:stretch>
            <a:fillRect/>
          </a:stretch>
        </p:blipFill>
        <p:spPr>
          <a:xfrm>
            <a:off x="1095213" y="4879848"/>
            <a:ext cx="964254" cy="789432"/>
          </a:xfrm>
          <a:prstGeom prst="rect">
            <a:avLst/>
          </a:prstGeom>
        </p:spPr>
      </p:pic>
      <p:sp>
        <p:nvSpPr>
          <p:cNvPr id="58" name="Shape 44"/>
          <p:cNvSpPr/>
          <p:nvPr/>
        </p:nvSpPr>
        <p:spPr>
          <a:xfrm>
            <a:off x="640080" y="4898136"/>
            <a:ext cx="365760" cy="365760"/>
          </a:xfrm>
          <a:prstGeom prst="ellipse">
            <a:avLst/>
          </a:prstGeom>
          <a:solidFill>
            <a:schemeClr val="tx2"/>
          </a:solidFill>
          <a:ln/>
        </p:spPr>
      </p:sp>
      <p:sp>
        <p:nvSpPr>
          <p:cNvPr id="59" name="Text 45"/>
          <p:cNvSpPr txBox="1"/>
          <p:nvPr/>
        </p:nvSpPr>
        <p:spPr>
          <a:xfrm>
            <a:off x="640080"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11</a:t>
            </a:r>
            <a:endParaRPr lang="en-US" sz="1200" dirty="0"/>
          </a:p>
        </p:txBody>
      </p:sp>
      <p:sp>
        <p:nvSpPr>
          <p:cNvPr id="60" name="Text 46"/>
          <p:cNvSpPr txBox="1"/>
          <p:nvPr/>
        </p:nvSpPr>
        <p:spPr>
          <a:xfrm>
            <a:off x="603504"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61" name="Shape 47"/>
          <p:cNvSpPr/>
          <p:nvPr/>
        </p:nvSpPr>
        <p:spPr>
          <a:xfrm>
            <a:off x="2807208" y="4806696"/>
            <a:ext cx="2057400" cy="1484376"/>
          </a:xfrm>
          <a:prstGeom prst="roundRect">
            <a:avLst>
              <a:gd name="adj" fmla="val 4928"/>
            </a:avLst>
          </a:prstGeom>
          <a:solidFill>
            <a:schemeClr val="bg1"/>
          </a:solidFill>
          <a:ln w="9525">
            <a:solidFill>
              <a:srgbClr val="D5DCE6"/>
            </a:solidFill>
            <a:prstDash val="solid"/>
          </a:ln>
        </p:spPr>
      </p:sp>
      <p:pic>
        <p:nvPicPr>
          <p:cNvPr id="62" name="illustration" descr="le mariage">    </p:cNvPr>
          <p:cNvPicPr>
            <a:picLocks noChangeAspect="1"/>
          </p:cNvPicPr>
          <p:nvPr/>
        </p:nvPicPr>
        <p:blipFill>
          <a:blip r:embed="rId12"/>
          <a:stretch>
            <a:fillRect/>
          </a:stretch>
        </p:blipFill>
        <p:spPr>
          <a:xfrm>
            <a:off x="3361976" y="4879848"/>
            <a:ext cx="947865" cy="789432"/>
          </a:xfrm>
          <a:prstGeom prst="rect">
            <a:avLst/>
          </a:prstGeom>
        </p:spPr>
      </p:pic>
      <p:sp>
        <p:nvSpPr>
          <p:cNvPr id="63" name="Shape 48"/>
          <p:cNvSpPr/>
          <p:nvPr/>
        </p:nvSpPr>
        <p:spPr>
          <a:xfrm>
            <a:off x="2898648" y="4898136"/>
            <a:ext cx="365760" cy="365760"/>
          </a:xfrm>
          <a:prstGeom prst="ellipse">
            <a:avLst/>
          </a:prstGeom>
          <a:solidFill>
            <a:schemeClr val="tx2"/>
          </a:solidFill>
          <a:ln/>
        </p:spPr>
      </p:sp>
      <p:sp>
        <p:nvSpPr>
          <p:cNvPr id="64" name="Text 49"/>
          <p:cNvSpPr txBox="1"/>
          <p:nvPr/>
        </p:nvSpPr>
        <p:spPr>
          <a:xfrm>
            <a:off x="2898648"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12</a:t>
            </a:r>
            <a:endParaRPr lang="en-US" sz="1200" dirty="0"/>
          </a:p>
        </p:txBody>
      </p:sp>
      <p:sp>
        <p:nvSpPr>
          <p:cNvPr id="65" name="Text 50"/>
          <p:cNvSpPr txBox="1"/>
          <p:nvPr/>
        </p:nvSpPr>
        <p:spPr>
          <a:xfrm>
            <a:off x="2862072"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66" name="Shape 51"/>
          <p:cNvSpPr/>
          <p:nvPr/>
        </p:nvSpPr>
        <p:spPr>
          <a:xfrm>
            <a:off x="5065776" y="4806696"/>
            <a:ext cx="2057400" cy="1484376"/>
          </a:xfrm>
          <a:prstGeom prst="roundRect">
            <a:avLst>
              <a:gd name="adj" fmla="val 4928"/>
            </a:avLst>
          </a:prstGeom>
          <a:solidFill>
            <a:schemeClr val="bg1"/>
          </a:solidFill>
          <a:ln w="9525">
            <a:solidFill>
              <a:srgbClr val="D5DCE6"/>
            </a:solidFill>
            <a:prstDash val="solid"/>
          </a:ln>
        </p:spPr>
      </p:sp>
      <p:pic>
        <p:nvPicPr>
          <p:cNvPr id="67" name="illustration" descr="les amis">    </p:cNvPr>
          <p:cNvPicPr>
            <a:picLocks noChangeAspect="1"/>
          </p:cNvPicPr>
          <p:nvPr/>
        </p:nvPicPr>
        <p:blipFill>
          <a:blip r:embed="rId13"/>
          <a:stretch>
            <a:fillRect/>
          </a:stretch>
        </p:blipFill>
        <p:spPr>
          <a:xfrm>
            <a:off x="5563068" y="4879848"/>
            <a:ext cx="1062815" cy="789432"/>
          </a:xfrm>
          <a:prstGeom prst="rect">
            <a:avLst/>
          </a:prstGeom>
        </p:spPr>
      </p:pic>
      <p:sp>
        <p:nvSpPr>
          <p:cNvPr id="68" name="Shape 52"/>
          <p:cNvSpPr/>
          <p:nvPr/>
        </p:nvSpPr>
        <p:spPr>
          <a:xfrm>
            <a:off x="5157216" y="4898136"/>
            <a:ext cx="365760" cy="365760"/>
          </a:xfrm>
          <a:prstGeom prst="ellipse">
            <a:avLst/>
          </a:prstGeom>
          <a:solidFill>
            <a:schemeClr val="tx2"/>
          </a:solidFill>
          <a:ln/>
        </p:spPr>
      </p:sp>
      <p:sp>
        <p:nvSpPr>
          <p:cNvPr id="69" name="Text 53"/>
          <p:cNvSpPr txBox="1"/>
          <p:nvPr/>
        </p:nvSpPr>
        <p:spPr>
          <a:xfrm>
            <a:off x="5157216"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13</a:t>
            </a:r>
            <a:endParaRPr lang="en-US" sz="1200" dirty="0"/>
          </a:p>
        </p:txBody>
      </p:sp>
      <p:sp>
        <p:nvSpPr>
          <p:cNvPr id="70" name="Text 54"/>
          <p:cNvSpPr txBox="1"/>
          <p:nvPr/>
        </p:nvSpPr>
        <p:spPr>
          <a:xfrm>
            <a:off x="5120640"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71" name="Shape 55"/>
          <p:cNvSpPr/>
          <p:nvPr/>
        </p:nvSpPr>
        <p:spPr>
          <a:xfrm>
            <a:off x="7324344" y="4806696"/>
            <a:ext cx="2057400" cy="1484376"/>
          </a:xfrm>
          <a:prstGeom prst="roundRect">
            <a:avLst>
              <a:gd name="adj" fmla="val 4928"/>
            </a:avLst>
          </a:prstGeom>
          <a:solidFill>
            <a:schemeClr val="bg1"/>
          </a:solidFill>
          <a:ln w="9525">
            <a:solidFill>
              <a:srgbClr val="D5DCE6"/>
            </a:solidFill>
            <a:prstDash val="solid"/>
          </a:ln>
        </p:spPr>
      </p:sp>
      <p:pic>
        <p:nvPicPr>
          <p:cNvPr id="72" name="illustration" descr="le voisin">    </p:cNvPr>
          <p:cNvPicPr>
            <a:picLocks noChangeAspect="1"/>
          </p:cNvPicPr>
          <p:nvPr/>
        </p:nvPicPr>
        <p:blipFill>
          <a:blip r:embed="rId14"/>
          <a:stretch>
            <a:fillRect/>
          </a:stretch>
        </p:blipFill>
        <p:spPr>
          <a:xfrm>
            <a:off x="7810885" y="4879848"/>
            <a:ext cx="1084317" cy="789432"/>
          </a:xfrm>
          <a:prstGeom prst="rect">
            <a:avLst/>
          </a:prstGeom>
        </p:spPr>
      </p:pic>
      <p:sp>
        <p:nvSpPr>
          <p:cNvPr id="73" name="Shape 56"/>
          <p:cNvSpPr/>
          <p:nvPr/>
        </p:nvSpPr>
        <p:spPr>
          <a:xfrm>
            <a:off x="7415784" y="4898136"/>
            <a:ext cx="365760" cy="365760"/>
          </a:xfrm>
          <a:prstGeom prst="ellipse">
            <a:avLst/>
          </a:prstGeom>
          <a:solidFill>
            <a:schemeClr val="tx2"/>
          </a:solidFill>
          <a:ln/>
        </p:spPr>
      </p:sp>
      <p:sp>
        <p:nvSpPr>
          <p:cNvPr id="74" name="Text 57"/>
          <p:cNvSpPr txBox="1"/>
          <p:nvPr/>
        </p:nvSpPr>
        <p:spPr>
          <a:xfrm>
            <a:off x="7415784"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14</a:t>
            </a:r>
            <a:endParaRPr lang="en-US" sz="1200" dirty="0"/>
          </a:p>
        </p:txBody>
      </p:sp>
      <p:sp>
        <p:nvSpPr>
          <p:cNvPr id="75" name="Text 58"/>
          <p:cNvSpPr txBox="1"/>
          <p:nvPr/>
        </p:nvSpPr>
        <p:spPr>
          <a:xfrm>
            <a:off x="7379208"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76" name="Shape 59"/>
          <p:cNvSpPr/>
          <p:nvPr/>
        </p:nvSpPr>
        <p:spPr>
          <a:xfrm>
            <a:off x="9582912" y="4806696"/>
            <a:ext cx="2057400" cy="1484376"/>
          </a:xfrm>
          <a:prstGeom prst="roundRect">
            <a:avLst>
              <a:gd name="adj" fmla="val 4928"/>
            </a:avLst>
          </a:prstGeom>
          <a:solidFill>
            <a:schemeClr val="bg1"/>
          </a:solidFill>
          <a:ln w="9525">
            <a:solidFill>
              <a:srgbClr val="D5DCE6"/>
            </a:solidFill>
            <a:prstDash val="solid"/>
          </a:ln>
        </p:spPr>
      </p:sp>
      <p:pic>
        <p:nvPicPr>
          <p:cNvPr id="77" name="illustration" descr="les jumeaux">    </p:cNvPr>
          <p:cNvPicPr>
            <a:picLocks noChangeAspect="1"/>
          </p:cNvPicPr>
          <p:nvPr/>
        </p:nvPicPr>
        <p:blipFill>
          <a:blip r:embed="rId15"/>
          <a:stretch>
            <a:fillRect/>
          </a:stretch>
        </p:blipFill>
        <p:spPr>
          <a:xfrm>
            <a:off x="10078669" y="4879848"/>
            <a:ext cx="1065887" cy="789432"/>
          </a:xfrm>
          <a:prstGeom prst="rect">
            <a:avLst/>
          </a:prstGeom>
        </p:spPr>
      </p:pic>
      <p:sp>
        <p:nvSpPr>
          <p:cNvPr id="78" name="Shape 60"/>
          <p:cNvSpPr/>
          <p:nvPr/>
        </p:nvSpPr>
        <p:spPr>
          <a:xfrm>
            <a:off x="9674352" y="4898136"/>
            <a:ext cx="365760" cy="365760"/>
          </a:xfrm>
          <a:prstGeom prst="ellipse">
            <a:avLst/>
          </a:prstGeom>
          <a:solidFill>
            <a:schemeClr val="tx2"/>
          </a:solidFill>
          <a:ln/>
        </p:spPr>
      </p:sp>
      <p:sp>
        <p:nvSpPr>
          <p:cNvPr id="79" name="Text 61"/>
          <p:cNvSpPr txBox="1"/>
          <p:nvPr/>
        </p:nvSpPr>
        <p:spPr>
          <a:xfrm>
            <a:off x="9674352"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15</a:t>
            </a:r>
            <a:endParaRPr lang="en-US" sz="1200" dirty="0"/>
          </a:p>
        </p:txBody>
      </p:sp>
      <p:sp>
        <p:nvSpPr>
          <p:cNvPr id="80" name="Text 62"/>
          <p:cNvSpPr txBox="1"/>
          <p:nvPr/>
        </p:nvSpPr>
        <p:spPr>
          <a:xfrm>
            <a:off x="9637776"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Familie — la famille et les relations</a:t>
            </a:r>
            <a:endParaRPr lang="en-US" sz="3200" dirty="0"/>
          </a:p>
        </p:txBody>
      </p:sp>
      <p:sp>
        <p:nvSpPr>
          <p:cNvPr id="3" name="tag"/>
          <p:cNvSpPr/>
          <p:nvPr/>
        </p:nvSpPr>
        <p:spPr>
          <a:xfrm>
            <a:off x="548640" y="237744"/>
            <a:ext cx="17373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WOORDENSCHAT</a:t>
            </a:r>
            <a:endParaRPr lang="en-US" sz="1200" dirty="0"/>
          </a:p>
        </p:txBody>
      </p:sp>
      <p:sp>
        <p:nvSpPr>
          <p:cNvPr id="4" name="tag"/>
          <p:cNvSpPr/>
          <p:nvPr/>
        </p:nvSpPr>
        <p:spPr>
          <a:xfrm>
            <a:off x="23957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79</a:t>
            </a:r>
            <a:endParaRPr lang="en-US" sz="1200" dirty="0"/>
          </a:p>
        </p:txBody>
      </p:sp>
      <p:sp>
        <p:nvSpPr>
          <p:cNvPr id="7" name="Shape 4"/>
          <p:cNvSpPr/>
          <p:nvPr/>
        </p:nvSpPr>
        <p:spPr>
          <a:xfrm>
            <a:off x="548640" y="1508760"/>
            <a:ext cx="2057400" cy="1484376"/>
          </a:xfrm>
          <a:prstGeom prst="roundRect">
            <a:avLst>
              <a:gd name="adj" fmla="val 4928"/>
            </a:avLst>
          </a:prstGeom>
          <a:solidFill>
            <a:schemeClr val="bg1"/>
          </a:solidFill>
          <a:ln w="19050">
            <a:solidFill>
              <a:srgbClr val="2A6FB0"/>
            </a:solidFill>
            <a:prstDash val="solid"/>
          </a:ln>
        </p:spPr>
      </p:sp>
      <p:pic>
        <p:nvPicPr>
          <p:cNvPr id="8" name="illustration" descr="le père">    </p:cNvPr>
          <p:cNvPicPr>
            <a:picLocks noChangeAspect="1"/>
          </p:cNvPicPr>
          <p:nvPr/>
        </p:nvPicPr>
        <p:blipFill>
          <a:blip r:embed="rId1"/>
          <a:stretch>
            <a:fillRect/>
          </a:stretch>
        </p:blipFill>
        <p:spPr>
          <a:xfrm>
            <a:off x="1045932" y="1581912"/>
            <a:ext cx="1062815" cy="789432"/>
          </a:xfrm>
          <a:prstGeom prst="rect">
            <a:avLst/>
          </a:prstGeom>
        </p:spPr>
      </p:pic>
      <p:sp>
        <p:nvSpPr>
          <p:cNvPr id="9" name="Shape 5"/>
          <p:cNvSpPr/>
          <p:nvPr/>
        </p:nvSpPr>
        <p:spPr>
          <a:xfrm>
            <a:off x="640080" y="1600200"/>
            <a:ext cx="365760" cy="365760"/>
          </a:xfrm>
          <a:prstGeom prst="ellipse">
            <a:avLst/>
          </a:prstGeom>
          <a:solidFill>
            <a:schemeClr val="tx2"/>
          </a:solidFill>
          <a:ln/>
        </p:spPr>
      </p:sp>
      <p:sp>
        <p:nvSpPr>
          <p:cNvPr id="10" name="Text 6"/>
          <p:cNvSpPr txBox="1"/>
          <p:nvPr/>
        </p:nvSpPr>
        <p:spPr>
          <a:xfrm>
            <a:off x="640080"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1" name="Text 7"/>
          <p:cNvSpPr txBox="1"/>
          <p:nvPr/>
        </p:nvSpPr>
        <p:spPr>
          <a:xfrm>
            <a:off x="603504"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vader</a:t>
            </a:r>
            <a:endParaRPr lang="en-US" sz="1600" dirty="0"/>
          </a:p>
          <a:p>
            <a:pPr algn="ctr" indent="0" marL="0">
              <a:buNone/>
            </a:pPr>
            <a:r>
              <a:rPr lang="en-US" sz="1100" i="1" dirty="0">
                <a:solidFill>
                  <a:schemeClr val="accent5"/>
                </a:solidFill>
              </a:rPr>
              <a:t>le père</a:t>
            </a:r>
            <a:endParaRPr lang="en-US" sz="1600" dirty="0"/>
          </a:p>
        </p:txBody>
      </p:sp>
      <p:sp>
        <p:nvSpPr>
          <p:cNvPr id="12" name="Shape 8"/>
          <p:cNvSpPr/>
          <p:nvPr/>
        </p:nvSpPr>
        <p:spPr>
          <a:xfrm>
            <a:off x="2807208" y="1508760"/>
            <a:ext cx="2057400" cy="1484376"/>
          </a:xfrm>
          <a:prstGeom prst="roundRect">
            <a:avLst>
              <a:gd name="adj" fmla="val 4928"/>
            </a:avLst>
          </a:prstGeom>
          <a:solidFill>
            <a:schemeClr val="bg1"/>
          </a:solidFill>
          <a:ln w="19050">
            <a:solidFill>
              <a:srgbClr val="2A6FB0"/>
            </a:solidFill>
            <a:prstDash val="solid"/>
          </a:ln>
        </p:spPr>
      </p:sp>
      <p:pic>
        <p:nvPicPr>
          <p:cNvPr id="13" name="illustration" descr="la mère">    </p:cNvPr>
          <p:cNvPicPr>
            <a:picLocks noChangeAspect="1"/>
          </p:cNvPicPr>
          <p:nvPr/>
        </p:nvPicPr>
        <p:blipFill>
          <a:blip r:embed="rId2"/>
          <a:stretch>
            <a:fillRect/>
          </a:stretch>
        </p:blipFill>
        <p:spPr>
          <a:xfrm>
            <a:off x="3293749" y="1581912"/>
            <a:ext cx="1084317" cy="789432"/>
          </a:xfrm>
          <a:prstGeom prst="rect">
            <a:avLst/>
          </a:prstGeom>
        </p:spPr>
      </p:pic>
      <p:sp>
        <p:nvSpPr>
          <p:cNvPr id="14" name="Shape 9"/>
          <p:cNvSpPr/>
          <p:nvPr/>
        </p:nvSpPr>
        <p:spPr>
          <a:xfrm>
            <a:off x="2898648" y="1600200"/>
            <a:ext cx="365760" cy="365760"/>
          </a:xfrm>
          <a:prstGeom prst="ellipse">
            <a:avLst/>
          </a:prstGeom>
          <a:solidFill>
            <a:schemeClr val="tx2"/>
          </a:solidFill>
          <a:ln/>
        </p:spPr>
      </p:sp>
      <p:sp>
        <p:nvSpPr>
          <p:cNvPr id="15" name="Text 10"/>
          <p:cNvSpPr txBox="1"/>
          <p:nvPr/>
        </p:nvSpPr>
        <p:spPr>
          <a:xfrm>
            <a:off x="2898648"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6" name="Text 11"/>
          <p:cNvSpPr txBox="1"/>
          <p:nvPr/>
        </p:nvSpPr>
        <p:spPr>
          <a:xfrm>
            <a:off x="2862072"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moeder</a:t>
            </a:r>
            <a:endParaRPr lang="en-US" sz="1600" dirty="0"/>
          </a:p>
          <a:p>
            <a:pPr algn="ctr" indent="0" marL="0">
              <a:buNone/>
            </a:pPr>
            <a:r>
              <a:rPr lang="en-US" sz="1100" i="1" dirty="0">
                <a:solidFill>
                  <a:schemeClr val="accent5"/>
                </a:solidFill>
              </a:rPr>
              <a:t>la mère</a:t>
            </a:r>
            <a:endParaRPr lang="en-US" sz="1600" dirty="0"/>
          </a:p>
        </p:txBody>
      </p:sp>
      <p:sp>
        <p:nvSpPr>
          <p:cNvPr id="17" name="Shape 12"/>
          <p:cNvSpPr/>
          <p:nvPr/>
        </p:nvSpPr>
        <p:spPr>
          <a:xfrm>
            <a:off x="5065776" y="1508760"/>
            <a:ext cx="2057400" cy="1484376"/>
          </a:xfrm>
          <a:prstGeom prst="roundRect">
            <a:avLst>
              <a:gd name="adj" fmla="val 4928"/>
            </a:avLst>
          </a:prstGeom>
          <a:solidFill>
            <a:schemeClr val="bg1"/>
          </a:solidFill>
          <a:ln w="19050">
            <a:solidFill>
              <a:srgbClr val="2A6FB0"/>
            </a:solidFill>
            <a:prstDash val="solid"/>
          </a:ln>
        </p:spPr>
      </p:sp>
      <p:pic>
        <p:nvPicPr>
          <p:cNvPr id="18" name="illustration" descr="les parents">    </p:cNvPr>
          <p:cNvPicPr>
            <a:picLocks noChangeAspect="1"/>
          </p:cNvPicPr>
          <p:nvPr/>
        </p:nvPicPr>
        <p:blipFill>
          <a:blip r:embed="rId3"/>
          <a:stretch>
            <a:fillRect/>
          </a:stretch>
        </p:blipFill>
        <p:spPr>
          <a:xfrm>
            <a:off x="5561533" y="1581912"/>
            <a:ext cx="1065887" cy="789432"/>
          </a:xfrm>
          <a:prstGeom prst="rect">
            <a:avLst/>
          </a:prstGeom>
        </p:spPr>
      </p:pic>
      <p:sp>
        <p:nvSpPr>
          <p:cNvPr id="19" name="Shape 13"/>
          <p:cNvSpPr/>
          <p:nvPr/>
        </p:nvSpPr>
        <p:spPr>
          <a:xfrm>
            <a:off x="5157216" y="1600200"/>
            <a:ext cx="365760" cy="365760"/>
          </a:xfrm>
          <a:prstGeom prst="ellipse">
            <a:avLst/>
          </a:prstGeom>
          <a:solidFill>
            <a:schemeClr val="tx2"/>
          </a:solidFill>
          <a:ln/>
        </p:spPr>
      </p:sp>
      <p:sp>
        <p:nvSpPr>
          <p:cNvPr id="20" name="Text 14"/>
          <p:cNvSpPr txBox="1"/>
          <p:nvPr/>
        </p:nvSpPr>
        <p:spPr>
          <a:xfrm>
            <a:off x="5157216"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1" name="Text 15"/>
          <p:cNvSpPr txBox="1"/>
          <p:nvPr/>
        </p:nvSpPr>
        <p:spPr>
          <a:xfrm>
            <a:off x="5120640"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ouders</a:t>
            </a:r>
            <a:endParaRPr lang="en-US" sz="1600" dirty="0"/>
          </a:p>
          <a:p>
            <a:pPr algn="ctr" indent="0" marL="0">
              <a:buNone/>
            </a:pPr>
            <a:r>
              <a:rPr lang="en-US" sz="1100" i="1" dirty="0">
                <a:solidFill>
                  <a:schemeClr val="accent5"/>
                </a:solidFill>
              </a:rPr>
              <a:t>les parents</a:t>
            </a:r>
            <a:endParaRPr lang="en-US" sz="1600" dirty="0"/>
          </a:p>
        </p:txBody>
      </p:sp>
      <p:sp>
        <p:nvSpPr>
          <p:cNvPr id="22" name="Shape 16"/>
          <p:cNvSpPr/>
          <p:nvPr/>
        </p:nvSpPr>
        <p:spPr>
          <a:xfrm>
            <a:off x="7324344" y="1508760"/>
            <a:ext cx="2057400" cy="1484376"/>
          </a:xfrm>
          <a:prstGeom prst="roundRect">
            <a:avLst>
              <a:gd name="adj" fmla="val 4928"/>
            </a:avLst>
          </a:prstGeom>
          <a:solidFill>
            <a:schemeClr val="bg1"/>
          </a:solidFill>
          <a:ln w="19050">
            <a:solidFill>
              <a:srgbClr val="2A6FB0"/>
            </a:solidFill>
            <a:prstDash val="solid"/>
          </a:ln>
        </p:spPr>
      </p:sp>
      <p:pic>
        <p:nvPicPr>
          <p:cNvPr id="23" name="illustration" descr="le fils">    </p:cNvPr>
          <p:cNvPicPr>
            <a:picLocks noChangeAspect="1"/>
          </p:cNvPicPr>
          <p:nvPr/>
        </p:nvPicPr>
        <p:blipFill>
          <a:blip r:embed="rId4"/>
          <a:stretch>
            <a:fillRect/>
          </a:stretch>
        </p:blipFill>
        <p:spPr>
          <a:xfrm>
            <a:off x="7882107" y="1581912"/>
            <a:ext cx="941874" cy="789432"/>
          </a:xfrm>
          <a:prstGeom prst="rect">
            <a:avLst/>
          </a:prstGeom>
        </p:spPr>
      </p:pic>
      <p:sp>
        <p:nvSpPr>
          <p:cNvPr id="24" name="Shape 17"/>
          <p:cNvSpPr/>
          <p:nvPr/>
        </p:nvSpPr>
        <p:spPr>
          <a:xfrm>
            <a:off x="7415784" y="1600200"/>
            <a:ext cx="365760" cy="365760"/>
          </a:xfrm>
          <a:prstGeom prst="ellipse">
            <a:avLst/>
          </a:prstGeom>
          <a:solidFill>
            <a:schemeClr val="tx2"/>
          </a:solidFill>
          <a:ln/>
        </p:spPr>
      </p:sp>
      <p:sp>
        <p:nvSpPr>
          <p:cNvPr id="25" name="Text 18"/>
          <p:cNvSpPr txBox="1"/>
          <p:nvPr/>
        </p:nvSpPr>
        <p:spPr>
          <a:xfrm>
            <a:off x="7415784"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6" name="Text 19"/>
          <p:cNvSpPr txBox="1"/>
          <p:nvPr/>
        </p:nvSpPr>
        <p:spPr>
          <a:xfrm>
            <a:off x="7379208"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zoon</a:t>
            </a:r>
            <a:endParaRPr lang="en-US" sz="1600" dirty="0"/>
          </a:p>
          <a:p>
            <a:pPr algn="ctr" indent="0" marL="0">
              <a:buNone/>
            </a:pPr>
            <a:r>
              <a:rPr lang="en-US" sz="1100" i="1" dirty="0">
                <a:solidFill>
                  <a:schemeClr val="accent5"/>
                </a:solidFill>
              </a:rPr>
              <a:t>le fils</a:t>
            </a:r>
            <a:endParaRPr lang="en-US" sz="1600" dirty="0"/>
          </a:p>
        </p:txBody>
      </p:sp>
      <p:sp>
        <p:nvSpPr>
          <p:cNvPr id="27" name="Shape 20"/>
          <p:cNvSpPr/>
          <p:nvPr/>
        </p:nvSpPr>
        <p:spPr>
          <a:xfrm>
            <a:off x="9582912" y="1508760"/>
            <a:ext cx="2057400" cy="1484376"/>
          </a:xfrm>
          <a:prstGeom prst="roundRect">
            <a:avLst>
              <a:gd name="adj" fmla="val 4928"/>
            </a:avLst>
          </a:prstGeom>
          <a:solidFill>
            <a:schemeClr val="bg1"/>
          </a:solidFill>
          <a:ln w="19050">
            <a:solidFill>
              <a:srgbClr val="2A6FB0"/>
            </a:solidFill>
            <a:prstDash val="solid"/>
          </a:ln>
        </p:spPr>
      </p:sp>
      <p:pic>
        <p:nvPicPr>
          <p:cNvPr id="28" name="illustration" descr="la fille">    </p:cNvPr>
          <p:cNvPicPr>
            <a:picLocks noChangeAspect="1"/>
          </p:cNvPicPr>
          <p:nvPr/>
        </p:nvPicPr>
        <p:blipFill>
          <a:blip r:embed="rId5"/>
          <a:stretch>
            <a:fillRect/>
          </a:stretch>
        </p:blipFill>
        <p:spPr>
          <a:xfrm>
            <a:off x="10131147" y="1581912"/>
            <a:ext cx="960929" cy="789432"/>
          </a:xfrm>
          <a:prstGeom prst="rect">
            <a:avLst/>
          </a:prstGeom>
        </p:spPr>
      </p:pic>
      <p:sp>
        <p:nvSpPr>
          <p:cNvPr id="29" name="Shape 21"/>
          <p:cNvSpPr/>
          <p:nvPr/>
        </p:nvSpPr>
        <p:spPr>
          <a:xfrm>
            <a:off x="9674352" y="1600200"/>
            <a:ext cx="365760" cy="365760"/>
          </a:xfrm>
          <a:prstGeom prst="ellipse">
            <a:avLst/>
          </a:prstGeom>
          <a:solidFill>
            <a:schemeClr val="tx2"/>
          </a:solidFill>
          <a:ln/>
        </p:spPr>
      </p:sp>
      <p:sp>
        <p:nvSpPr>
          <p:cNvPr id="30" name="Text 22"/>
          <p:cNvSpPr txBox="1"/>
          <p:nvPr/>
        </p:nvSpPr>
        <p:spPr>
          <a:xfrm>
            <a:off x="9674352"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1" name="Text 23"/>
          <p:cNvSpPr txBox="1"/>
          <p:nvPr/>
        </p:nvSpPr>
        <p:spPr>
          <a:xfrm>
            <a:off x="9637776"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dochter</a:t>
            </a:r>
            <a:endParaRPr lang="en-US" sz="1600" dirty="0"/>
          </a:p>
          <a:p>
            <a:pPr algn="ctr" indent="0" marL="0">
              <a:buNone/>
            </a:pPr>
            <a:r>
              <a:rPr lang="en-US" sz="1100" i="1" dirty="0">
                <a:solidFill>
                  <a:schemeClr val="accent5"/>
                </a:solidFill>
              </a:rPr>
              <a:t>la fille</a:t>
            </a:r>
            <a:endParaRPr lang="en-US" sz="1600" dirty="0"/>
          </a:p>
        </p:txBody>
      </p:sp>
      <p:sp>
        <p:nvSpPr>
          <p:cNvPr id="32" name="Shape 24"/>
          <p:cNvSpPr/>
          <p:nvPr/>
        </p:nvSpPr>
        <p:spPr>
          <a:xfrm>
            <a:off x="548640" y="3157728"/>
            <a:ext cx="2057400" cy="1484376"/>
          </a:xfrm>
          <a:prstGeom prst="roundRect">
            <a:avLst>
              <a:gd name="adj" fmla="val 4928"/>
            </a:avLst>
          </a:prstGeom>
          <a:solidFill>
            <a:schemeClr val="bg1"/>
          </a:solidFill>
          <a:ln w="19050">
            <a:solidFill>
              <a:srgbClr val="2A6FB0"/>
            </a:solidFill>
            <a:prstDash val="solid"/>
          </a:ln>
        </p:spPr>
      </p:sp>
      <p:pic>
        <p:nvPicPr>
          <p:cNvPr id="33" name="illustration" descr="le frère">    </p:cNvPr>
          <p:cNvPicPr>
            <a:picLocks noChangeAspect="1"/>
          </p:cNvPicPr>
          <p:nvPr/>
        </p:nvPicPr>
        <p:blipFill>
          <a:blip r:embed="rId6"/>
          <a:stretch>
            <a:fillRect/>
          </a:stretch>
        </p:blipFill>
        <p:spPr>
          <a:xfrm>
            <a:off x="1105042" y="3230880"/>
            <a:ext cx="944596" cy="789432"/>
          </a:xfrm>
          <a:prstGeom prst="rect">
            <a:avLst/>
          </a:prstGeom>
        </p:spPr>
      </p:pic>
      <p:sp>
        <p:nvSpPr>
          <p:cNvPr id="34" name="Shape 25"/>
          <p:cNvSpPr/>
          <p:nvPr/>
        </p:nvSpPr>
        <p:spPr>
          <a:xfrm>
            <a:off x="640080" y="3249168"/>
            <a:ext cx="365760" cy="365760"/>
          </a:xfrm>
          <a:prstGeom prst="ellipse">
            <a:avLst/>
          </a:prstGeom>
          <a:solidFill>
            <a:schemeClr val="tx2"/>
          </a:solidFill>
          <a:ln/>
        </p:spPr>
      </p:sp>
      <p:sp>
        <p:nvSpPr>
          <p:cNvPr id="35" name="Text 26"/>
          <p:cNvSpPr txBox="1"/>
          <p:nvPr/>
        </p:nvSpPr>
        <p:spPr>
          <a:xfrm>
            <a:off x="640080"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6" name="Text 27"/>
          <p:cNvSpPr txBox="1"/>
          <p:nvPr/>
        </p:nvSpPr>
        <p:spPr>
          <a:xfrm>
            <a:off x="603504"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broer</a:t>
            </a:r>
            <a:endParaRPr lang="en-US" sz="1600" dirty="0"/>
          </a:p>
          <a:p>
            <a:pPr algn="ctr" indent="0" marL="0">
              <a:buNone/>
            </a:pPr>
            <a:r>
              <a:rPr lang="en-US" sz="1100" i="1" dirty="0">
                <a:solidFill>
                  <a:schemeClr val="accent5"/>
                </a:solidFill>
              </a:rPr>
              <a:t>le frère</a:t>
            </a:r>
            <a:endParaRPr lang="en-US" sz="1600" dirty="0"/>
          </a:p>
        </p:txBody>
      </p:sp>
      <p:sp>
        <p:nvSpPr>
          <p:cNvPr id="37" name="Shape 28"/>
          <p:cNvSpPr/>
          <p:nvPr/>
        </p:nvSpPr>
        <p:spPr>
          <a:xfrm>
            <a:off x="2807208" y="3157728"/>
            <a:ext cx="2057400" cy="1484376"/>
          </a:xfrm>
          <a:prstGeom prst="roundRect">
            <a:avLst>
              <a:gd name="adj" fmla="val 4928"/>
            </a:avLst>
          </a:prstGeom>
          <a:solidFill>
            <a:schemeClr val="bg1"/>
          </a:solidFill>
          <a:ln w="19050">
            <a:solidFill>
              <a:srgbClr val="2A6FB0"/>
            </a:solidFill>
            <a:prstDash val="solid"/>
          </a:ln>
        </p:spPr>
      </p:sp>
      <p:pic>
        <p:nvPicPr>
          <p:cNvPr id="38" name="illustration" descr="la sœur">    </p:cNvPr>
          <p:cNvPicPr>
            <a:picLocks noChangeAspect="1"/>
          </p:cNvPicPr>
          <p:nvPr/>
        </p:nvPicPr>
        <p:blipFill>
          <a:blip r:embed="rId7"/>
          <a:stretch>
            <a:fillRect/>
          </a:stretch>
        </p:blipFill>
        <p:spPr>
          <a:xfrm>
            <a:off x="3360048" y="3230880"/>
            <a:ext cx="951719" cy="789432"/>
          </a:xfrm>
          <a:prstGeom prst="rect">
            <a:avLst/>
          </a:prstGeom>
        </p:spPr>
      </p:pic>
      <p:sp>
        <p:nvSpPr>
          <p:cNvPr id="39" name="Shape 29"/>
          <p:cNvSpPr/>
          <p:nvPr/>
        </p:nvSpPr>
        <p:spPr>
          <a:xfrm>
            <a:off x="2898648" y="3249168"/>
            <a:ext cx="365760" cy="365760"/>
          </a:xfrm>
          <a:prstGeom prst="ellipse">
            <a:avLst/>
          </a:prstGeom>
          <a:solidFill>
            <a:schemeClr val="tx2"/>
          </a:solidFill>
          <a:ln/>
        </p:spPr>
      </p:sp>
      <p:sp>
        <p:nvSpPr>
          <p:cNvPr id="40" name="Text 30"/>
          <p:cNvSpPr txBox="1"/>
          <p:nvPr/>
        </p:nvSpPr>
        <p:spPr>
          <a:xfrm>
            <a:off x="2898648"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41" name="Text 31"/>
          <p:cNvSpPr txBox="1"/>
          <p:nvPr/>
        </p:nvSpPr>
        <p:spPr>
          <a:xfrm>
            <a:off x="2862072"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zus</a:t>
            </a:r>
            <a:endParaRPr lang="en-US" sz="1600" dirty="0"/>
          </a:p>
          <a:p>
            <a:pPr algn="ctr" indent="0" marL="0">
              <a:buNone/>
            </a:pPr>
            <a:r>
              <a:rPr lang="en-US" sz="1100" i="1" dirty="0">
                <a:solidFill>
                  <a:schemeClr val="accent5"/>
                </a:solidFill>
              </a:rPr>
              <a:t>la sœur</a:t>
            </a:r>
            <a:endParaRPr lang="en-US" sz="1600" dirty="0"/>
          </a:p>
        </p:txBody>
      </p:sp>
      <p:sp>
        <p:nvSpPr>
          <p:cNvPr id="42" name="Shape 32"/>
          <p:cNvSpPr/>
          <p:nvPr/>
        </p:nvSpPr>
        <p:spPr>
          <a:xfrm>
            <a:off x="5065776" y="3157728"/>
            <a:ext cx="2057400" cy="1484376"/>
          </a:xfrm>
          <a:prstGeom prst="roundRect">
            <a:avLst>
              <a:gd name="adj" fmla="val 4928"/>
            </a:avLst>
          </a:prstGeom>
          <a:solidFill>
            <a:schemeClr val="bg1"/>
          </a:solidFill>
          <a:ln w="19050">
            <a:solidFill>
              <a:srgbClr val="2A6FB0"/>
            </a:solidFill>
            <a:prstDash val="solid"/>
          </a:ln>
        </p:spPr>
      </p:sp>
      <p:pic>
        <p:nvPicPr>
          <p:cNvPr id="43" name="illustration" descr="le grand-père">    </p:cNvPr>
          <p:cNvPicPr>
            <a:picLocks noChangeAspect="1"/>
          </p:cNvPicPr>
          <p:nvPr/>
        </p:nvPicPr>
        <p:blipFill>
          <a:blip r:embed="rId8"/>
          <a:stretch>
            <a:fillRect/>
          </a:stretch>
        </p:blipFill>
        <p:spPr>
          <a:xfrm>
            <a:off x="5608989" y="3230880"/>
            <a:ext cx="970974" cy="789432"/>
          </a:xfrm>
          <a:prstGeom prst="rect">
            <a:avLst/>
          </a:prstGeom>
        </p:spPr>
      </p:pic>
      <p:sp>
        <p:nvSpPr>
          <p:cNvPr id="44" name="Shape 33"/>
          <p:cNvSpPr/>
          <p:nvPr/>
        </p:nvSpPr>
        <p:spPr>
          <a:xfrm>
            <a:off x="5157216" y="3249168"/>
            <a:ext cx="365760" cy="365760"/>
          </a:xfrm>
          <a:prstGeom prst="ellipse">
            <a:avLst/>
          </a:prstGeom>
          <a:solidFill>
            <a:schemeClr val="tx2"/>
          </a:solidFill>
          <a:ln/>
        </p:spPr>
      </p:sp>
      <p:sp>
        <p:nvSpPr>
          <p:cNvPr id="45" name="Text 34"/>
          <p:cNvSpPr txBox="1"/>
          <p:nvPr/>
        </p:nvSpPr>
        <p:spPr>
          <a:xfrm>
            <a:off x="5157216"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46" name="Text 35"/>
          <p:cNvSpPr txBox="1"/>
          <p:nvPr/>
        </p:nvSpPr>
        <p:spPr>
          <a:xfrm>
            <a:off x="5120640"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opa</a:t>
            </a:r>
            <a:endParaRPr lang="en-US" sz="1600" dirty="0"/>
          </a:p>
          <a:p>
            <a:pPr algn="ctr" indent="0" marL="0">
              <a:buNone/>
            </a:pPr>
            <a:r>
              <a:rPr lang="en-US" sz="1100" i="1" dirty="0">
                <a:solidFill>
                  <a:schemeClr val="accent5"/>
                </a:solidFill>
              </a:rPr>
              <a:t>le grand-père</a:t>
            </a:r>
            <a:endParaRPr lang="en-US" sz="1600" dirty="0"/>
          </a:p>
        </p:txBody>
      </p:sp>
      <p:sp>
        <p:nvSpPr>
          <p:cNvPr id="47" name="Shape 36"/>
          <p:cNvSpPr/>
          <p:nvPr/>
        </p:nvSpPr>
        <p:spPr>
          <a:xfrm>
            <a:off x="7324344" y="3157728"/>
            <a:ext cx="2057400" cy="1484376"/>
          </a:xfrm>
          <a:prstGeom prst="roundRect">
            <a:avLst>
              <a:gd name="adj" fmla="val 4928"/>
            </a:avLst>
          </a:prstGeom>
          <a:solidFill>
            <a:schemeClr val="bg1"/>
          </a:solidFill>
          <a:ln w="19050">
            <a:solidFill>
              <a:srgbClr val="2A6FB0"/>
            </a:solidFill>
            <a:prstDash val="solid"/>
          </a:ln>
        </p:spPr>
      </p:sp>
      <p:pic>
        <p:nvPicPr>
          <p:cNvPr id="48" name="illustration" descr="la grand-mère">    </p:cNvPr>
          <p:cNvPicPr>
            <a:picLocks noChangeAspect="1"/>
          </p:cNvPicPr>
          <p:nvPr/>
        </p:nvPicPr>
        <p:blipFill>
          <a:blip r:embed="rId9"/>
          <a:stretch>
            <a:fillRect/>
          </a:stretch>
        </p:blipFill>
        <p:spPr>
          <a:xfrm>
            <a:off x="7875809" y="3230880"/>
            <a:ext cx="954470" cy="789432"/>
          </a:xfrm>
          <a:prstGeom prst="rect">
            <a:avLst/>
          </a:prstGeom>
        </p:spPr>
      </p:pic>
      <p:sp>
        <p:nvSpPr>
          <p:cNvPr id="49" name="Shape 37"/>
          <p:cNvSpPr/>
          <p:nvPr/>
        </p:nvSpPr>
        <p:spPr>
          <a:xfrm>
            <a:off x="7415784" y="3249168"/>
            <a:ext cx="365760" cy="365760"/>
          </a:xfrm>
          <a:prstGeom prst="ellipse">
            <a:avLst/>
          </a:prstGeom>
          <a:solidFill>
            <a:schemeClr val="tx2"/>
          </a:solidFill>
          <a:ln/>
        </p:spPr>
      </p:sp>
      <p:sp>
        <p:nvSpPr>
          <p:cNvPr id="50" name="Text 38"/>
          <p:cNvSpPr txBox="1"/>
          <p:nvPr/>
        </p:nvSpPr>
        <p:spPr>
          <a:xfrm>
            <a:off x="7415784"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9</a:t>
            </a:r>
            <a:endParaRPr lang="en-US" sz="1200" dirty="0"/>
          </a:p>
        </p:txBody>
      </p:sp>
      <p:sp>
        <p:nvSpPr>
          <p:cNvPr id="51" name="Text 39"/>
          <p:cNvSpPr txBox="1"/>
          <p:nvPr/>
        </p:nvSpPr>
        <p:spPr>
          <a:xfrm>
            <a:off x="7379208"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oma</a:t>
            </a:r>
            <a:endParaRPr lang="en-US" sz="1600" dirty="0"/>
          </a:p>
          <a:p>
            <a:pPr algn="ctr" indent="0" marL="0">
              <a:buNone/>
            </a:pPr>
            <a:r>
              <a:rPr lang="en-US" sz="1100" i="1" dirty="0">
                <a:solidFill>
                  <a:schemeClr val="accent5"/>
                </a:solidFill>
              </a:rPr>
              <a:t>la grand-mère</a:t>
            </a:r>
            <a:endParaRPr lang="en-US" sz="1600" dirty="0"/>
          </a:p>
        </p:txBody>
      </p:sp>
      <p:sp>
        <p:nvSpPr>
          <p:cNvPr id="52" name="Shape 40"/>
          <p:cNvSpPr/>
          <p:nvPr/>
        </p:nvSpPr>
        <p:spPr>
          <a:xfrm>
            <a:off x="9582912" y="3157728"/>
            <a:ext cx="2057400" cy="1484376"/>
          </a:xfrm>
          <a:prstGeom prst="roundRect">
            <a:avLst>
              <a:gd name="adj" fmla="val 4928"/>
            </a:avLst>
          </a:prstGeom>
          <a:solidFill>
            <a:schemeClr val="bg1"/>
          </a:solidFill>
          <a:ln w="19050">
            <a:solidFill>
              <a:srgbClr val="2A6FB0"/>
            </a:solidFill>
            <a:prstDash val="solid"/>
          </a:ln>
        </p:spPr>
      </p:sp>
      <p:pic>
        <p:nvPicPr>
          <p:cNvPr id="53" name="illustration" descr="le bébé">    </p:cNvPr>
          <p:cNvPicPr>
            <a:picLocks noChangeAspect="1"/>
          </p:cNvPicPr>
          <p:nvPr/>
        </p:nvPicPr>
        <p:blipFill>
          <a:blip r:embed="rId10"/>
          <a:stretch>
            <a:fillRect/>
          </a:stretch>
        </p:blipFill>
        <p:spPr>
          <a:xfrm>
            <a:off x="10139045" y="3230880"/>
            <a:ext cx="945133" cy="789432"/>
          </a:xfrm>
          <a:prstGeom prst="rect">
            <a:avLst/>
          </a:prstGeom>
        </p:spPr>
      </p:pic>
      <p:sp>
        <p:nvSpPr>
          <p:cNvPr id="54" name="Shape 41"/>
          <p:cNvSpPr/>
          <p:nvPr/>
        </p:nvSpPr>
        <p:spPr>
          <a:xfrm>
            <a:off x="9674352" y="3249168"/>
            <a:ext cx="365760" cy="365760"/>
          </a:xfrm>
          <a:prstGeom prst="ellipse">
            <a:avLst/>
          </a:prstGeom>
          <a:solidFill>
            <a:schemeClr val="tx2"/>
          </a:solidFill>
          <a:ln/>
        </p:spPr>
      </p:sp>
      <p:sp>
        <p:nvSpPr>
          <p:cNvPr id="55" name="Text 42"/>
          <p:cNvSpPr txBox="1"/>
          <p:nvPr/>
        </p:nvSpPr>
        <p:spPr>
          <a:xfrm>
            <a:off x="9674352"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10</a:t>
            </a:r>
            <a:endParaRPr lang="en-US" sz="1200" dirty="0"/>
          </a:p>
        </p:txBody>
      </p:sp>
      <p:sp>
        <p:nvSpPr>
          <p:cNvPr id="56" name="Text 43"/>
          <p:cNvSpPr txBox="1"/>
          <p:nvPr/>
        </p:nvSpPr>
        <p:spPr>
          <a:xfrm>
            <a:off x="9637776"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baby</a:t>
            </a:r>
            <a:endParaRPr lang="en-US" sz="1600" dirty="0"/>
          </a:p>
          <a:p>
            <a:pPr algn="ctr" indent="0" marL="0">
              <a:buNone/>
            </a:pPr>
            <a:r>
              <a:rPr lang="en-US" sz="1100" i="1" dirty="0">
                <a:solidFill>
                  <a:schemeClr val="accent5"/>
                </a:solidFill>
              </a:rPr>
              <a:t>le bébé</a:t>
            </a:r>
            <a:endParaRPr lang="en-US" sz="1600" dirty="0"/>
          </a:p>
        </p:txBody>
      </p:sp>
      <p:sp>
        <p:nvSpPr>
          <p:cNvPr id="57" name="Shape 44"/>
          <p:cNvSpPr/>
          <p:nvPr/>
        </p:nvSpPr>
        <p:spPr>
          <a:xfrm>
            <a:off x="548640" y="4806696"/>
            <a:ext cx="2057400" cy="1484376"/>
          </a:xfrm>
          <a:prstGeom prst="roundRect">
            <a:avLst>
              <a:gd name="adj" fmla="val 4928"/>
            </a:avLst>
          </a:prstGeom>
          <a:solidFill>
            <a:schemeClr val="bg1"/>
          </a:solidFill>
          <a:ln w="19050">
            <a:solidFill>
              <a:srgbClr val="B4236A"/>
            </a:solidFill>
            <a:prstDash val="solid"/>
          </a:ln>
        </p:spPr>
      </p:sp>
      <p:pic>
        <p:nvPicPr>
          <p:cNvPr id="58" name="illustration" descr="la famille (le ménage)">    </p:cNvPr>
          <p:cNvPicPr>
            <a:picLocks noChangeAspect="1"/>
          </p:cNvPicPr>
          <p:nvPr/>
        </p:nvPicPr>
        <p:blipFill>
          <a:blip r:embed="rId11"/>
          <a:stretch>
            <a:fillRect/>
          </a:stretch>
        </p:blipFill>
        <p:spPr>
          <a:xfrm>
            <a:off x="1095213" y="4879848"/>
            <a:ext cx="964254" cy="789432"/>
          </a:xfrm>
          <a:prstGeom prst="rect">
            <a:avLst/>
          </a:prstGeom>
        </p:spPr>
      </p:pic>
      <p:sp>
        <p:nvSpPr>
          <p:cNvPr id="59" name="Shape 45"/>
          <p:cNvSpPr/>
          <p:nvPr/>
        </p:nvSpPr>
        <p:spPr>
          <a:xfrm>
            <a:off x="640080" y="4898136"/>
            <a:ext cx="365760" cy="365760"/>
          </a:xfrm>
          <a:prstGeom prst="ellipse">
            <a:avLst/>
          </a:prstGeom>
          <a:solidFill>
            <a:schemeClr val="tx2"/>
          </a:solidFill>
          <a:ln/>
        </p:spPr>
      </p:sp>
      <p:sp>
        <p:nvSpPr>
          <p:cNvPr id="60" name="Text 46"/>
          <p:cNvSpPr txBox="1"/>
          <p:nvPr/>
        </p:nvSpPr>
        <p:spPr>
          <a:xfrm>
            <a:off x="640080"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11</a:t>
            </a:r>
            <a:endParaRPr lang="en-US" sz="1200" dirty="0"/>
          </a:p>
        </p:txBody>
      </p:sp>
      <p:sp>
        <p:nvSpPr>
          <p:cNvPr id="61" name="Text 47"/>
          <p:cNvSpPr txBox="1"/>
          <p:nvPr/>
        </p:nvSpPr>
        <p:spPr>
          <a:xfrm>
            <a:off x="603504"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gezin</a:t>
            </a:r>
            <a:endParaRPr lang="en-US" sz="1600" dirty="0"/>
          </a:p>
          <a:p>
            <a:pPr algn="ctr" indent="0" marL="0">
              <a:buNone/>
            </a:pPr>
            <a:r>
              <a:rPr lang="en-US" sz="1100" i="1" dirty="0">
                <a:solidFill>
                  <a:schemeClr val="accent5"/>
                </a:solidFill>
              </a:rPr>
              <a:t>la famille (le ménage)</a:t>
            </a:r>
            <a:endParaRPr lang="en-US" sz="1600" dirty="0"/>
          </a:p>
        </p:txBody>
      </p:sp>
      <p:sp>
        <p:nvSpPr>
          <p:cNvPr id="62" name="Shape 48"/>
          <p:cNvSpPr/>
          <p:nvPr/>
        </p:nvSpPr>
        <p:spPr>
          <a:xfrm>
            <a:off x="2807208" y="4806696"/>
            <a:ext cx="2057400" cy="1484376"/>
          </a:xfrm>
          <a:prstGeom prst="roundRect">
            <a:avLst>
              <a:gd name="adj" fmla="val 4928"/>
            </a:avLst>
          </a:prstGeom>
          <a:solidFill>
            <a:schemeClr val="bg1"/>
          </a:solidFill>
          <a:ln w="19050">
            <a:solidFill>
              <a:srgbClr val="B4236A"/>
            </a:solidFill>
            <a:prstDash val="solid"/>
          </a:ln>
        </p:spPr>
      </p:sp>
      <p:pic>
        <p:nvPicPr>
          <p:cNvPr id="63" name="illustration" descr="le mariage">    </p:cNvPr>
          <p:cNvPicPr>
            <a:picLocks noChangeAspect="1"/>
          </p:cNvPicPr>
          <p:nvPr/>
        </p:nvPicPr>
        <p:blipFill>
          <a:blip r:embed="rId12"/>
          <a:stretch>
            <a:fillRect/>
          </a:stretch>
        </p:blipFill>
        <p:spPr>
          <a:xfrm>
            <a:off x="3361976" y="4879848"/>
            <a:ext cx="947865" cy="789432"/>
          </a:xfrm>
          <a:prstGeom prst="rect">
            <a:avLst/>
          </a:prstGeom>
        </p:spPr>
      </p:pic>
      <p:sp>
        <p:nvSpPr>
          <p:cNvPr id="64" name="Shape 49"/>
          <p:cNvSpPr/>
          <p:nvPr/>
        </p:nvSpPr>
        <p:spPr>
          <a:xfrm>
            <a:off x="2898648" y="4898136"/>
            <a:ext cx="365760" cy="365760"/>
          </a:xfrm>
          <a:prstGeom prst="ellipse">
            <a:avLst/>
          </a:prstGeom>
          <a:solidFill>
            <a:schemeClr val="tx2"/>
          </a:solidFill>
          <a:ln/>
        </p:spPr>
      </p:sp>
      <p:sp>
        <p:nvSpPr>
          <p:cNvPr id="65" name="Text 50"/>
          <p:cNvSpPr txBox="1"/>
          <p:nvPr/>
        </p:nvSpPr>
        <p:spPr>
          <a:xfrm>
            <a:off x="2898648"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12</a:t>
            </a:r>
            <a:endParaRPr lang="en-US" sz="1200" dirty="0"/>
          </a:p>
        </p:txBody>
      </p:sp>
      <p:sp>
        <p:nvSpPr>
          <p:cNvPr id="66" name="Text 51"/>
          <p:cNvSpPr txBox="1"/>
          <p:nvPr/>
        </p:nvSpPr>
        <p:spPr>
          <a:xfrm>
            <a:off x="2862072"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huwelijk</a:t>
            </a:r>
            <a:endParaRPr lang="en-US" sz="1600" dirty="0"/>
          </a:p>
          <a:p>
            <a:pPr algn="ctr" indent="0" marL="0">
              <a:buNone/>
            </a:pPr>
            <a:r>
              <a:rPr lang="en-US" sz="1100" i="1" dirty="0">
                <a:solidFill>
                  <a:schemeClr val="accent5"/>
                </a:solidFill>
              </a:rPr>
              <a:t>le mariage</a:t>
            </a:r>
            <a:endParaRPr lang="en-US" sz="1600" dirty="0"/>
          </a:p>
        </p:txBody>
      </p:sp>
      <p:sp>
        <p:nvSpPr>
          <p:cNvPr id="67" name="Shape 52"/>
          <p:cNvSpPr/>
          <p:nvPr/>
        </p:nvSpPr>
        <p:spPr>
          <a:xfrm>
            <a:off x="5065776" y="4806696"/>
            <a:ext cx="2057400" cy="1484376"/>
          </a:xfrm>
          <a:prstGeom prst="roundRect">
            <a:avLst>
              <a:gd name="adj" fmla="val 4928"/>
            </a:avLst>
          </a:prstGeom>
          <a:solidFill>
            <a:schemeClr val="bg1"/>
          </a:solidFill>
          <a:ln w="19050">
            <a:solidFill>
              <a:srgbClr val="2A6FB0"/>
            </a:solidFill>
            <a:prstDash val="solid"/>
          </a:ln>
        </p:spPr>
      </p:sp>
      <p:pic>
        <p:nvPicPr>
          <p:cNvPr id="68" name="illustration" descr="les amis">    </p:cNvPr>
          <p:cNvPicPr>
            <a:picLocks noChangeAspect="1"/>
          </p:cNvPicPr>
          <p:nvPr/>
        </p:nvPicPr>
        <p:blipFill>
          <a:blip r:embed="rId13"/>
          <a:stretch>
            <a:fillRect/>
          </a:stretch>
        </p:blipFill>
        <p:spPr>
          <a:xfrm>
            <a:off x="5563068" y="4879848"/>
            <a:ext cx="1062815" cy="789432"/>
          </a:xfrm>
          <a:prstGeom prst="rect">
            <a:avLst/>
          </a:prstGeom>
        </p:spPr>
      </p:pic>
      <p:sp>
        <p:nvSpPr>
          <p:cNvPr id="69" name="Shape 53"/>
          <p:cNvSpPr/>
          <p:nvPr/>
        </p:nvSpPr>
        <p:spPr>
          <a:xfrm>
            <a:off x="5157216" y="4898136"/>
            <a:ext cx="365760" cy="365760"/>
          </a:xfrm>
          <a:prstGeom prst="ellipse">
            <a:avLst/>
          </a:prstGeom>
          <a:solidFill>
            <a:schemeClr val="tx2"/>
          </a:solidFill>
          <a:ln/>
        </p:spPr>
      </p:sp>
      <p:sp>
        <p:nvSpPr>
          <p:cNvPr id="70" name="Text 54"/>
          <p:cNvSpPr txBox="1"/>
          <p:nvPr/>
        </p:nvSpPr>
        <p:spPr>
          <a:xfrm>
            <a:off x="5157216"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13</a:t>
            </a:r>
            <a:endParaRPr lang="en-US" sz="1200" dirty="0"/>
          </a:p>
        </p:txBody>
      </p:sp>
      <p:sp>
        <p:nvSpPr>
          <p:cNvPr id="71" name="Text 55"/>
          <p:cNvSpPr txBox="1"/>
          <p:nvPr/>
        </p:nvSpPr>
        <p:spPr>
          <a:xfrm>
            <a:off x="5120640"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vrienden</a:t>
            </a:r>
            <a:endParaRPr lang="en-US" sz="1600" dirty="0"/>
          </a:p>
          <a:p>
            <a:pPr algn="ctr" indent="0" marL="0">
              <a:buNone/>
            </a:pPr>
            <a:r>
              <a:rPr lang="en-US" sz="1100" i="1" dirty="0">
                <a:solidFill>
                  <a:schemeClr val="accent5"/>
                </a:solidFill>
              </a:rPr>
              <a:t>les amis</a:t>
            </a:r>
            <a:endParaRPr lang="en-US" sz="1600" dirty="0"/>
          </a:p>
        </p:txBody>
      </p:sp>
      <p:sp>
        <p:nvSpPr>
          <p:cNvPr id="72" name="Shape 56"/>
          <p:cNvSpPr/>
          <p:nvPr/>
        </p:nvSpPr>
        <p:spPr>
          <a:xfrm>
            <a:off x="7324344" y="4806696"/>
            <a:ext cx="2057400" cy="1484376"/>
          </a:xfrm>
          <a:prstGeom prst="roundRect">
            <a:avLst>
              <a:gd name="adj" fmla="val 4928"/>
            </a:avLst>
          </a:prstGeom>
          <a:solidFill>
            <a:schemeClr val="bg1"/>
          </a:solidFill>
          <a:ln w="19050">
            <a:solidFill>
              <a:srgbClr val="2A6FB0"/>
            </a:solidFill>
            <a:prstDash val="solid"/>
          </a:ln>
        </p:spPr>
      </p:sp>
      <p:pic>
        <p:nvPicPr>
          <p:cNvPr id="73" name="illustration" descr="le voisin">    </p:cNvPr>
          <p:cNvPicPr>
            <a:picLocks noChangeAspect="1"/>
          </p:cNvPicPr>
          <p:nvPr/>
        </p:nvPicPr>
        <p:blipFill>
          <a:blip r:embed="rId14"/>
          <a:stretch>
            <a:fillRect/>
          </a:stretch>
        </p:blipFill>
        <p:spPr>
          <a:xfrm>
            <a:off x="7810885" y="4879848"/>
            <a:ext cx="1084317" cy="789432"/>
          </a:xfrm>
          <a:prstGeom prst="rect">
            <a:avLst/>
          </a:prstGeom>
        </p:spPr>
      </p:pic>
      <p:sp>
        <p:nvSpPr>
          <p:cNvPr id="74" name="Shape 57"/>
          <p:cNvSpPr/>
          <p:nvPr/>
        </p:nvSpPr>
        <p:spPr>
          <a:xfrm>
            <a:off x="7415784" y="4898136"/>
            <a:ext cx="365760" cy="365760"/>
          </a:xfrm>
          <a:prstGeom prst="ellipse">
            <a:avLst/>
          </a:prstGeom>
          <a:solidFill>
            <a:schemeClr val="tx2"/>
          </a:solidFill>
          <a:ln/>
        </p:spPr>
      </p:sp>
      <p:sp>
        <p:nvSpPr>
          <p:cNvPr id="75" name="Text 58"/>
          <p:cNvSpPr txBox="1"/>
          <p:nvPr/>
        </p:nvSpPr>
        <p:spPr>
          <a:xfrm>
            <a:off x="7415784"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14</a:t>
            </a:r>
            <a:endParaRPr lang="en-US" sz="1200" dirty="0"/>
          </a:p>
        </p:txBody>
      </p:sp>
      <p:sp>
        <p:nvSpPr>
          <p:cNvPr id="76" name="Text 59"/>
          <p:cNvSpPr txBox="1"/>
          <p:nvPr/>
        </p:nvSpPr>
        <p:spPr>
          <a:xfrm>
            <a:off x="7379208"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buurman</a:t>
            </a:r>
            <a:endParaRPr lang="en-US" sz="1600" dirty="0"/>
          </a:p>
          <a:p>
            <a:pPr algn="ctr" indent="0" marL="0">
              <a:buNone/>
            </a:pPr>
            <a:r>
              <a:rPr lang="en-US" sz="1100" i="1" dirty="0">
                <a:solidFill>
                  <a:schemeClr val="accent5"/>
                </a:solidFill>
              </a:rPr>
              <a:t>le voisin</a:t>
            </a:r>
            <a:endParaRPr lang="en-US" sz="1600" dirty="0"/>
          </a:p>
        </p:txBody>
      </p:sp>
      <p:sp>
        <p:nvSpPr>
          <p:cNvPr id="77" name="Shape 60"/>
          <p:cNvSpPr/>
          <p:nvPr/>
        </p:nvSpPr>
        <p:spPr>
          <a:xfrm>
            <a:off x="9582912" y="4806696"/>
            <a:ext cx="2057400" cy="1484376"/>
          </a:xfrm>
          <a:prstGeom prst="roundRect">
            <a:avLst>
              <a:gd name="adj" fmla="val 4928"/>
            </a:avLst>
          </a:prstGeom>
          <a:solidFill>
            <a:schemeClr val="bg1"/>
          </a:solidFill>
          <a:ln w="19050">
            <a:solidFill>
              <a:srgbClr val="2A6FB0"/>
            </a:solidFill>
            <a:prstDash val="solid"/>
          </a:ln>
        </p:spPr>
      </p:sp>
      <p:pic>
        <p:nvPicPr>
          <p:cNvPr id="78" name="illustration" descr="les jumeaux">    </p:cNvPr>
          <p:cNvPicPr>
            <a:picLocks noChangeAspect="1"/>
          </p:cNvPicPr>
          <p:nvPr/>
        </p:nvPicPr>
        <p:blipFill>
          <a:blip r:embed="rId15"/>
          <a:stretch>
            <a:fillRect/>
          </a:stretch>
        </p:blipFill>
        <p:spPr>
          <a:xfrm>
            <a:off x="10078669" y="4879848"/>
            <a:ext cx="1065887" cy="789432"/>
          </a:xfrm>
          <a:prstGeom prst="rect">
            <a:avLst/>
          </a:prstGeom>
        </p:spPr>
      </p:pic>
      <p:sp>
        <p:nvSpPr>
          <p:cNvPr id="79" name="Shape 61"/>
          <p:cNvSpPr/>
          <p:nvPr/>
        </p:nvSpPr>
        <p:spPr>
          <a:xfrm>
            <a:off x="9674352" y="4898136"/>
            <a:ext cx="365760" cy="365760"/>
          </a:xfrm>
          <a:prstGeom prst="ellipse">
            <a:avLst/>
          </a:prstGeom>
          <a:solidFill>
            <a:schemeClr val="tx2"/>
          </a:solidFill>
          <a:ln/>
        </p:spPr>
      </p:sp>
      <p:sp>
        <p:nvSpPr>
          <p:cNvPr id="80" name="Text 62"/>
          <p:cNvSpPr txBox="1"/>
          <p:nvPr/>
        </p:nvSpPr>
        <p:spPr>
          <a:xfrm>
            <a:off x="9674352"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15</a:t>
            </a:r>
            <a:endParaRPr lang="en-US" sz="1200" dirty="0"/>
          </a:p>
        </p:txBody>
      </p:sp>
      <p:sp>
        <p:nvSpPr>
          <p:cNvPr id="81" name="Text 63"/>
          <p:cNvSpPr txBox="1"/>
          <p:nvPr/>
        </p:nvSpPr>
        <p:spPr>
          <a:xfrm>
            <a:off x="9637776"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tweeling</a:t>
            </a:r>
            <a:endParaRPr lang="en-US" sz="1600" dirty="0"/>
          </a:p>
          <a:p>
            <a:pPr algn="ctr" indent="0" marL="0">
              <a:buNone/>
            </a:pPr>
            <a:r>
              <a:rPr lang="en-US" sz="1100" i="1" dirty="0">
                <a:solidFill>
                  <a:schemeClr val="accent5"/>
                </a:solidFill>
              </a:rPr>
              <a:t>les jumeaux</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Wie is wie in de familie?</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Complétez avec un mot de l’imagier. Puis répondez pour vous aux questions de l’encadré.</a:t>
            </a:r>
            <a:endParaRPr lang="en-US" sz="1600" dirty="0"/>
          </a:p>
        </p:txBody>
      </p:sp>
      <p:sp>
        <p:nvSpPr>
          <p:cNvPr id="7"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1000"/>
              </a:spcAft>
              <a:buNone/>
            </a:pPr>
            <a:r>
              <a:rPr lang="en-US" sz="2000" b="1" dirty="0">
                <a:solidFill>
                  <a:schemeClr val="tx2"/>
                </a:solidFill>
              </a:rPr>
              <a:t>1.  </a:t>
            </a:r>
            <a:r>
              <a:rPr lang="en-US" sz="2000" dirty="0">
                <a:solidFill>
                  <a:schemeClr val="tx1"/>
                </a:solidFill>
              </a:rPr>
              <a:t>De vader van mijn vader is mijn </a:t>
            </a:r>
            <a:r>
              <a:rPr lang="en-US" sz="2000" dirty="0">
                <a:solidFill>
                  <a:schemeClr val="accent5"/>
                </a:solidFill>
              </a:rPr>
              <a:t>……………</a:t>
            </a:r>
            <a:r>
              <a:rPr lang="en-US" sz="2000" dirty="0">
                <a:solidFill>
                  <a:schemeClr val="tx1"/>
                </a:solidFill>
              </a:rPr>
              <a:t>.</a:t>
            </a:r>
            <a:endParaRPr lang="en-US" sz="2000" dirty="0"/>
          </a:p>
          <a:p>
            <a:pPr indent="0" marL="0">
              <a:spcAft>
                <a:spcPts val="1000"/>
              </a:spcAft>
              <a:buNone/>
            </a:pPr>
            <a:r>
              <a:rPr lang="en-US" sz="2000" b="1" dirty="0">
                <a:solidFill>
                  <a:schemeClr val="tx2"/>
                </a:solidFill>
              </a:rPr>
              <a:t>2.  </a:t>
            </a:r>
            <a:r>
              <a:rPr lang="en-US" sz="2000" dirty="0">
                <a:solidFill>
                  <a:schemeClr val="tx1"/>
                </a:solidFill>
              </a:rPr>
              <a:t>De moeder van mijn moeder is mijn </a:t>
            </a:r>
            <a:r>
              <a:rPr lang="en-US" sz="2000" dirty="0">
                <a:solidFill>
                  <a:schemeClr val="accent5"/>
                </a:solidFill>
              </a:rPr>
              <a:t>……………</a:t>
            </a:r>
            <a:r>
              <a:rPr lang="en-US" sz="2000" dirty="0">
                <a:solidFill>
                  <a:schemeClr val="tx1"/>
                </a:solidFill>
              </a:rPr>
              <a:t>.</a:t>
            </a:r>
            <a:endParaRPr lang="en-US" sz="2000" dirty="0"/>
          </a:p>
          <a:p>
            <a:pPr indent="0" marL="0">
              <a:spcAft>
                <a:spcPts val="1000"/>
              </a:spcAft>
              <a:buNone/>
            </a:pPr>
            <a:r>
              <a:rPr lang="en-US" sz="2000" b="1" dirty="0">
                <a:solidFill>
                  <a:schemeClr val="tx2"/>
                </a:solidFill>
              </a:rPr>
              <a:t>3.  </a:t>
            </a:r>
            <a:r>
              <a:rPr lang="en-US" sz="2000" dirty="0">
                <a:solidFill>
                  <a:schemeClr val="tx1"/>
                </a:solidFill>
              </a:rPr>
              <a:t>Mijn vader en mijn moeder zijn mijn </a:t>
            </a:r>
            <a:r>
              <a:rPr lang="en-US" sz="2000" dirty="0">
                <a:solidFill>
                  <a:schemeClr val="accent5"/>
                </a:solidFill>
              </a:rPr>
              <a:t>……………</a:t>
            </a:r>
            <a:r>
              <a:rPr lang="en-US" sz="2000" dirty="0">
                <a:solidFill>
                  <a:schemeClr val="tx1"/>
                </a:solidFill>
              </a:rPr>
              <a:t>.</a:t>
            </a:r>
            <a:endParaRPr lang="en-US" sz="2000" dirty="0"/>
          </a:p>
          <a:p>
            <a:pPr indent="0" marL="0">
              <a:spcAft>
                <a:spcPts val="1000"/>
              </a:spcAft>
              <a:buNone/>
            </a:pPr>
            <a:r>
              <a:rPr lang="en-US" sz="2000" b="1" dirty="0">
                <a:solidFill>
                  <a:schemeClr val="tx2"/>
                </a:solidFill>
              </a:rPr>
              <a:t>4.  </a:t>
            </a:r>
            <a:r>
              <a:rPr lang="en-US" sz="2000" dirty="0">
                <a:solidFill>
                  <a:schemeClr val="tx1"/>
                </a:solidFill>
              </a:rPr>
              <a:t>Een jongen is de </a:t>
            </a:r>
            <a:r>
              <a:rPr lang="en-US" sz="2000" dirty="0">
                <a:solidFill>
                  <a:schemeClr val="accent5"/>
                </a:solidFill>
              </a:rPr>
              <a:t>……………</a:t>
            </a:r>
            <a:r>
              <a:rPr lang="en-US" sz="2000" dirty="0">
                <a:solidFill>
                  <a:schemeClr val="tx1"/>
                </a:solidFill>
              </a:rPr>
              <a:t> van zijn ouders, een meisje is hun </a:t>
            </a:r>
            <a:r>
              <a:rPr lang="en-US" sz="2000" dirty="0">
                <a:solidFill>
                  <a:schemeClr val="accent5"/>
                </a:solidFill>
              </a:rPr>
              <a:t>……………</a:t>
            </a:r>
            <a:r>
              <a:rPr lang="en-US" sz="2000" dirty="0">
                <a:solidFill>
                  <a:schemeClr val="tx1"/>
                </a:solidFill>
              </a:rPr>
              <a:t>.</a:t>
            </a:r>
            <a:endParaRPr lang="en-US" sz="2000" dirty="0"/>
          </a:p>
          <a:p>
            <a:pPr indent="0" marL="0">
              <a:spcAft>
                <a:spcPts val="1000"/>
              </a:spcAft>
              <a:buNone/>
            </a:pPr>
            <a:r>
              <a:rPr lang="en-US" sz="2000" b="1" dirty="0">
                <a:solidFill>
                  <a:schemeClr val="tx2"/>
                </a:solidFill>
              </a:rPr>
              <a:t>5.  </a:t>
            </a:r>
            <a:r>
              <a:rPr lang="en-US" sz="2000" dirty="0">
                <a:solidFill>
                  <a:schemeClr val="tx1"/>
                </a:solidFill>
              </a:rPr>
              <a:t>Emma heeft een </a:t>
            </a:r>
            <a:r>
              <a:rPr lang="en-US" sz="2000" dirty="0">
                <a:solidFill>
                  <a:schemeClr val="accent5"/>
                </a:solidFill>
              </a:rPr>
              <a:t>……………</a:t>
            </a:r>
            <a:r>
              <a:rPr lang="en-US" sz="2000" dirty="0">
                <a:solidFill>
                  <a:schemeClr val="tx1"/>
                </a:solidFill>
              </a:rPr>
              <a:t>, Pieter heeft een </a:t>
            </a:r>
            <a:r>
              <a:rPr lang="en-US" sz="2000" dirty="0">
                <a:solidFill>
                  <a:schemeClr val="accent5"/>
                </a:solidFill>
              </a:rPr>
              <a:t>……………</a:t>
            </a:r>
            <a:r>
              <a:rPr lang="en-US" sz="2000" dirty="0">
                <a:solidFill>
                  <a:schemeClr val="tx1"/>
                </a:solidFill>
              </a:rPr>
              <a:t>.</a:t>
            </a:r>
            <a:endParaRPr lang="en-US" sz="2000" dirty="0"/>
          </a:p>
          <a:p>
            <a:pPr indent="0" marL="0">
              <a:spcAft>
                <a:spcPts val="1000"/>
              </a:spcAft>
              <a:buNone/>
            </a:pPr>
            <a:r>
              <a:rPr lang="en-US" sz="2000" b="1" dirty="0">
                <a:solidFill>
                  <a:schemeClr val="tx2"/>
                </a:solidFill>
              </a:rPr>
              <a:t>6.  </a:t>
            </a:r>
            <a:r>
              <a:rPr lang="en-US" sz="2000" dirty="0">
                <a:solidFill>
                  <a:schemeClr val="tx1"/>
                </a:solidFill>
              </a:rPr>
              <a:t>Twee broers, geboren op dezelfde dag: een </a:t>
            </a:r>
            <a:r>
              <a:rPr lang="en-US" sz="2000" dirty="0">
                <a:solidFill>
                  <a:schemeClr val="accent5"/>
                </a:solidFill>
              </a:rPr>
              <a:t>……………</a:t>
            </a:r>
            <a:r>
              <a:rPr lang="en-US" sz="2000" dirty="0">
                <a:solidFill>
                  <a:schemeClr val="tx1"/>
                </a:solidFill>
              </a:rPr>
              <a:t>.</a:t>
            </a:r>
            <a:endParaRPr lang="en-US" sz="2000" dirty="0"/>
          </a:p>
          <a:p>
            <a:pPr indent="0" marL="0">
              <a:spcAft>
                <a:spcPts val="1000"/>
              </a:spcAft>
              <a:buNone/>
            </a:pPr>
            <a:r>
              <a:rPr lang="en-US" sz="2000" b="1" dirty="0">
                <a:solidFill>
                  <a:schemeClr val="tx2"/>
                </a:solidFill>
              </a:rPr>
              <a:t>7.  </a:t>
            </a:r>
            <a:r>
              <a:rPr lang="en-US" sz="2000" dirty="0">
                <a:solidFill>
                  <a:schemeClr val="tx1"/>
                </a:solidFill>
              </a:rPr>
              <a:t>Hij woont naast ons: hij is onze </a:t>
            </a:r>
            <a:r>
              <a:rPr lang="en-US" sz="2000" dirty="0">
                <a:solidFill>
                  <a:schemeClr val="accent5"/>
                </a:solidFill>
              </a:rPr>
              <a:t>……………</a:t>
            </a:r>
            <a:r>
              <a:rPr lang="en-US" sz="2000" dirty="0">
                <a:solidFill>
                  <a:schemeClr val="tx1"/>
                </a:solidFill>
              </a:rPr>
              <a:t>.</a:t>
            </a:r>
            <a:endParaRPr lang="en-US" sz="2000" dirty="0"/>
          </a:p>
          <a:p>
            <a:pPr indent="0" marL="0">
              <a:spcAft>
                <a:spcPts val="1000"/>
              </a:spcAft>
              <a:buNone/>
            </a:pPr>
            <a:r>
              <a:rPr lang="en-US" sz="2000" b="1" dirty="0">
                <a:solidFill>
                  <a:schemeClr val="tx2"/>
                </a:solidFill>
              </a:rPr>
              <a:t>8.  </a:t>
            </a:r>
            <a:r>
              <a:rPr lang="en-US" sz="2000" dirty="0">
                <a:solidFill>
                  <a:schemeClr val="tx1"/>
                </a:solidFill>
              </a:rPr>
              <a:t>Mijn ouders, mijn zus en ik: wij zijn een </a:t>
            </a:r>
            <a:r>
              <a:rPr lang="en-US" sz="2000" dirty="0">
                <a:solidFill>
                  <a:schemeClr val="accent5"/>
                </a:solidFill>
              </a:rPr>
              <a:t>……………</a:t>
            </a:r>
            <a:r>
              <a:rPr lang="en-US" sz="2000" dirty="0">
                <a:solidFill>
                  <a:schemeClr val="tx1"/>
                </a:solidFill>
              </a:rPr>
              <a:t> van vier.</a:t>
            </a:r>
            <a:endParaRPr lang="en-US" sz="2000" dirty="0"/>
          </a:p>
        </p:txBody>
      </p:sp>
      <p:sp>
        <p:nvSpPr>
          <p:cNvPr id="8" name="aside"/>
          <p:cNvSpPr/>
          <p:nvPr/>
        </p:nvSpPr>
        <p:spPr>
          <a:xfrm>
            <a:off x="8046720" y="1481328"/>
            <a:ext cx="3593592" cy="4809744"/>
          </a:xfrm>
          <a:prstGeom prst="roundRect">
            <a:avLst>
              <a:gd name="adj" fmla="val 2036"/>
            </a:avLst>
          </a:prstGeom>
          <a:solidFill>
            <a:schemeClr val="accent2">
              <a:alpha val="10000"/>
            </a:schemeClr>
          </a:solidFill>
          <a:ln w="12700">
            <a:solidFill>
              <a:schemeClr val="accent2">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0" name="Text 6"/>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2"/>
                </a:solidFill>
              </a:rPr>
              <a:t>ET VOUS ?</a:t>
            </a:r>
            <a:endParaRPr lang="en-US" sz="1400" dirty="0"/>
          </a:p>
        </p:txBody>
      </p:sp>
      <p:sp>
        <p:nvSpPr>
          <p:cNvPr id="11" name="Text 7"/>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i="1" dirty="0">
                <a:solidFill>
                  <a:schemeClr val="tx1"/>
                </a:solidFill>
              </a:rPr>
              <a:t>Heb je broers of zussen?</a:t>
            </a:r>
            <a:endParaRPr lang="en-US" sz="1800" dirty="0"/>
          </a:p>
          <a:p>
            <a:pPr marL="177800" indent="-177800">
              <a:spcAft>
                <a:spcPts val="600"/>
              </a:spcAft>
              <a:buSzPct val="100000"/>
              <a:buChar char="•"/>
            </a:pPr>
            <a:r>
              <a:rPr lang="en-US" sz="1800" i="1" dirty="0">
                <a:solidFill>
                  <a:schemeClr val="tx1"/>
                </a:solidFill>
              </a:rPr>
              <a:t>Ja, ik heb één broer.</a:t>
            </a:r>
            <a:endParaRPr lang="en-US" sz="1800" dirty="0"/>
          </a:p>
          <a:p>
            <a:pPr marL="177800" indent="-177800">
              <a:spcAft>
                <a:spcPts val="600"/>
              </a:spcAft>
              <a:buSzPct val="100000"/>
              <a:buChar char="•"/>
            </a:pPr>
            <a:r>
              <a:rPr lang="en-US" sz="1800" i="1" dirty="0">
                <a:solidFill>
                  <a:schemeClr val="tx1"/>
                </a:solidFill>
              </a:rPr>
              <a:t>Nee, ik heb geen zussen.</a:t>
            </a:r>
            <a:endParaRPr lang="en-US" sz="1800" dirty="0"/>
          </a:p>
          <a:p>
            <a:pPr marL="177800" indent="-177800">
              <a:spcAft>
                <a:spcPts val="600"/>
              </a:spcAft>
              <a:buSzPct val="100000"/>
              <a:buChar char="•"/>
            </a:pPr>
            <a:r>
              <a:rPr lang="en-US" sz="1800" i="1" dirty="0">
                <a:solidFill>
                  <a:schemeClr val="tx1"/>
                </a:solidFill>
              </a:rPr>
              <a:t>Hoe heet je moeder?</a:t>
            </a:r>
            <a:endParaRPr lang="en-US" sz="1800" dirty="0"/>
          </a:p>
          <a:p>
            <a:pPr marL="177800" indent="-177800">
              <a:spcAft>
                <a:spcPts val="600"/>
              </a:spcAft>
              <a:buSzPct val="100000"/>
              <a:buChar char="•"/>
            </a:pPr>
            <a:r>
              <a:rPr lang="en-US" sz="1800" i="1" dirty="0">
                <a:solidFill>
                  <a:schemeClr val="tx1"/>
                </a:solidFill>
              </a:rPr>
              <a:t>Heb je kinderen?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Wie is wie in de familie?</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ag"/>
          <p:cNvSpPr/>
          <p:nvPr/>
        </p:nvSpPr>
        <p:spPr>
          <a:xfrm>
            <a:off x="18242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7" name="Text 4"/>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Complétez avec un mot de l’imagier. Puis répondez pour vous aux questions de l’encadré.</a:t>
            </a:r>
            <a:endParaRPr lang="en-US" sz="1600" dirty="0"/>
          </a:p>
        </p:txBody>
      </p:sp>
      <p:sp>
        <p:nvSpPr>
          <p:cNvPr id="8"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1000"/>
              </a:spcAft>
              <a:buNone/>
            </a:pPr>
            <a:r>
              <a:rPr lang="en-US" sz="2000" b="1" dirty="0">
                <a:solidFill>
                  <a:schemeClr val="tx2"/>
                </a:solidFill>
              </a:rPr>
              <a:t>1.  </a:t>
            </a:r>
            <a:r>
              <a:rPr lang="en-US" sz="2000" dirty="0">
                <a:solidFill>
                  <a:schemeClr val="tx1"/>
                </a:solidFill>
              </a:rPr>
              <a:t>De vader van mijn vader is mijn </a:t>
            </a:r>
            <a:r>
              <a:rPr lang="en-US" sz="2000" b="1" dirty="0">
                <a:solidFill>
                  <a:schemeClr val="accent3"/>
                </a:solidFill>
              </a:rPr>
              <a:t>opa</a:t>
            </a:r>
            <a:r>
              <a:rPr lang="en-US" sz="2000" dirty="0">
                <a:solidFill>
                  <a:schemeClr val="tx1"/>
                </a:solidFill>
              </a:rPr>
              <a:t>.</a:t>
            </a:r>
            <a:endParaRPr lang="en-US" sz="2000" dirty="0"/>
          </a:p>
          <a:p>
            <a:pPr indent="0" marL="0">
              <a:spcAft>
                <a:spcPts val="1000"/>
              </a:spcAft>
              <a:buNone/>
            </a:pPr>
            <a:r>
              <a:rPr lang="en-US" sz="2000" b="1" dirty="0">
                <a:solidFill>
                  <a:schemeClr val="tx2"/>
                </a:solidFill>
              </a:rPr>
              <a:t>2.  </a:t>
            </a:r>
            <a:r>
              <a:rPr lang="en-US" sz="2000" dirty="0">
                <a:solidFill>
                  <a:schemeClr val="tx1"/>
                </a:solidFill>
              </a:rPr>
              <a:t>De moeder van mijn moeder is mijn </a:t>
            </a:r>
            <a:r>
              <a:rPr lang="en-US" sz="2000" b="1" dirty="0">
                <a:solidFill>
                  <a:schemeClr val="accent3"/>
                </a:solidFill>
              </a:rPr>
              <a:t>oma</a:t>
            </a:r>
            <a:r>
              <a:rPr lang="en-US" sz="2000" dirty="0">
                <a:solidFill>
                  <a:schemeClr val="tx1"/>
                </a:solidFill>
              </a:rPr>
              <a:t>.</a:t>
            </a:r>
            <a:endParaRPr lang="en-US" sz="2000" dirty="0"/>
          </a:p>
          <a:p>
            <a:pPr indent="0" marL="0">
              <a:spcAft>
                <a:spcPts val="1000"/>
              </a:spcAft>
              <a:buNone/>
            </a:pPr>
            <a:r>
              <a:rPr lang="en-US" sz="2000" b="1" dirty="0">
                <a:solidFill>
                  <a:schemeClr val="tx2"/>
                </a:solidFill>
              </a:rPr>
              <a:t>3.  </a:t>
            </a:r>
            <a:r>
              <a:rPr lang="en-US" sz="2000" dirty="0">
                <a:solidFill>
                  <a:schemeClr val="tx1"/>
                </a:solidFill>
              </a:rPr>
              <a:t>Mijn vader en mijn moeder zijn mijn </a:t>
            </a:r>
            <a:r>
              <a:rPr lang="en-US" sz="2000" b="1" dirty="0">
                <a:solidFill>
                  <a:schemeClr val="accent3"/>
                </a:solidFill>
              </a:rPr>
              <a:t>ouders</a:t>
            </a:r>
            <a:r>
              <a:rPr lang="en-US" sz="2000" dirty="0">
                <a:solidFill>
                  <a:schemeClr val="tx1"/>
                </a:solidFill>
              </a:rPr>
              <a:t>.</a:t>
            </a:r>
            <a:endParaRPr lang="en-US" sz="2000" dirty="0"/>
          </a:p>
          <a:p>
            <a:pPr indent="0" marL="0">
              <a:spcAft>
                <a:spcPts val="1000"/>
              </a:spcAft>
              <a:buNone/>
            </a:pPr>
            <a:r>
              <a:rPr lang="en-US" sz="2000" b="1" dirty="0">
                <a:solidFill>
                  <a:schemeClr val="tx2"/>
                </a:solidFill>
              </a:rPr>
              <a:t>4.  </a:t>
            </a:r>
            <a:r>
              <a:rPr lang="en-US" sz="2000" dirty="0">
                <a:solidFill>
                  <a:schemeClr val="tx1"/>
                </a:solidFill>
              </a:rPr>
              <a:t>Een jongen is de </a:t>
            </a:r>
            <a:r>
              <a:rPr lang="en-US" sz="2000" b="1" dirty="0">
                <a:solidFill>
                  <a:schemeClr val="accent3"/>
                </a:solidFill>
              </a:rPr>
              <a:t>zoon</a:t>
            </a:r>
            <a:r>
              <a:rPr lang="en-US" sz="2000" dirty="0">
                <a:solidFill>
                  <a:schemeClr val="tx1"/>
                </a:solidFill>
              </a:rPr>
              <a:t> van zijn ouders, een meisje is hun </a:t>
            </a:r>
            <a:r>
              <a:rPr lang="en-US" sz="2000" b="1" dirty="0">
                <a:solidFill>
                  <a:schemeClr val="accent3"/>
                </a:solidFill>
              </a:rPr>
              <a:t>dochter</a:t>
            </a:r>
            <a:r>
              <a:rPr lang="en-US" sz="2000" dirty="0">
                <a:solidFill>
                  <a:schemeClr val="tx1"/>
                </a:solidFill>
              </a:rPr>
              <a:t>.</a:t>
            </a:r>
            <a:endParaRPr lang="en-US" sz="2000" dirty="0"/>
          </a:p>
          <a:p>
            <a:pPr indent="0" marL="0">
              <a:spcAft>
                <a:spcPts val="1000"/>
              </a:spcAft>
              <a:buNone/>
            </a:pPr>
            <a:r>
              <a:rPr lang="en-US" sz="2000" b="1" dirty="0">
                <a:solidFill>
                  <a:schemeClr val="tx2"/>
                </a:solidFill>
              </a:rPr>
              <a:t>5.  </a:t>
            </a:r>
            <a:r>
              <a:rPr lang="en-US" sz="2000" dirty="0">
                <a:solidFill>
                  <a:schemeClr val="tx1"/>
                </a:solidFill>
              </a:rPr>
              <a:t>Emma heeft een </a:t>
            </a:r>
            <a:r>
              <a:rPr lang="en-US" sz="2000" b="1" dirty="0">
                <a:solidFill>
                  <a:schemeClr val="accent3"/>
                </a:solidFill>
              </a:rPr>
              <a:t>broer</a:t>
            </a:r>
            <a:r>
              <a:rPr lang="en-US" sz="2000" dirty="0">
                <a:solidFill>
                  <a:schemeClr val="tx1"/>
                </a:solidFill>
              </a:rPr>
              <a:t>, Pieter heeft een </a:t>
            </a:r>
            <a:r>
              <a:rPr lang="en-US" sz="2000" b="1" dirty="0">
                <a:solidFill>
                  <a:schemeClr val="accent3"/>
                </a:solidFill>
              </a:rPr>
              <a:t>zus</a:t>
            </a:r>
            <a:r>
              <a:rPr lang="en-US" sz="2000" dirty="0">
                <a:solidFill>
                  <a:schemeClr val="tx1"/>
                </a:solidFill>
              </a:rPr>
              <a:t>.</a:t>
            </a:r>
            <a:endParaRPr lang="en-US" sz="2000" dirty="0"/>
          </a:p>
          <a:p>
            <a:pPr indent="0" marL="0">
              <a:spcAft>
                <a:spcPts val="1000"/>
              </a:spcAft>
              <a:buNone/>
            </a:pPr>
            <a:r>
              <a:rPr lang="en-US" sz="2000" b="1" dirty="0">
                <a:solidFill>
                  <a:schemeClr val="tx2"/>
                </a:solidFill>
              </a:rPr>
              <a:t>6.  </a:t>
            </a:r>
            <a:r>
              <a:rPr lang="en-US" sz="2000" dirty="0">
                <a:solidFill>
                  <a:schemeClr val="tx1"/>
                </a:solidFill>
              </a:rPr>
              <a:t>Twee broers, geboren op dezelfde dag: een </a:t>
            </a:r>
            <a:r>
              <a:rPr lang="en-US" sz="2000" b="1" dirty="0">
                <a:solidFill>
                  <a:schemeClr val="accent3"/>
                </a:solidFill>
              </a:rPr>
              <a:t>tweeling</a:t>
            </a:r>
            <a:r>
              <a:rPr lang="en-US" sz="2000" dirty="0">
                <a:solidFill>
                  <a:schemeClr val="tx1"/>
                </a:solidFill>
              </a:rPr>
              <a:t>.</a:t>
            </a:r>
            <a:endParaRPr lang="en-US" sz="2000" dirty="0"/>
          </a:p>
          <a:p>
            <a:pPr indent="0" marL="0">
              <a:spcAft>
                <a:spcPts val="1000"/>
              </a:spcAft>
              <a:buNone/>
            </a:pPr>
            <a:r>
              <a:rPr lang="en-US" sz="2000" b="1" dirty="0">
                <a:solidFill>
                  <a:schemeClr val="tx2"/>
                </a:solidFill>
              </a:rPr>
              <a:t>7.  </a:t>
            </a:r>
            <a:r>
              <a:rPr lang="en-US" sz="2000" dirty="0">
                <a:solidFill>
                  <a:schemeClr val="tx1"/>
                </a:solidFill>
              </a:rPr>
              <a:t>Hij woont naast ons: hij is onze </a:t>
            </a:r>
            <a:r>
              <a:rPr lang="en-US" sz="2000" b="1" dirty="0">
                <a:solidFill>
                  <a:schemeClr val="accent3"/>
                </a:solidFill>
              </a:rPr>
              <a:t>buurman</a:t>
            </a:r>
            <a:r>
              <a:rPr lang="en-US" sz="2000" dirty="0">
                <a:solidFill>
                  <a:schemeClr val="tx1"/>
                </a:solidFill>
              </a:rPr>
              <a:t>.</a:t>
            </a:r>
            <a:endParaRPr lang="en-US" sz="2000" dirty="0"/>
          </a:p>
          <a:p>
            <a:pPr indent="0" marL="0">
              <a:spcAft>
                <a:spcPts val="1000"/>
              </a:spcAft>
              <a:buNone/>
            </a:pPr>
            <a:r>
              <a:rPr lang="en-US" sz="2000" b="1" dirty="0">
                <a:solidFill>
                  <a:schemeClr val="tx2"/>
                </a:solidFill>
              </a:rPr>
              <a:t>8.  </a:t>
            </a:r>
            <a:r>
              <a:rPr lang="en-US" sz="2000" dirty="0">
                <a:solidFill>
                  <a:schemeClr val="tx1"/>
                </a:solidFill>
              </a:rPr>
              <a:t>Mijn ouders, mijn zus en ik: wij zijn een </a:t>
            </a:r>
            <a:r>
              <a:rPr lang="en-US" sz="2000" b="1" dirty="0">
                <a:solidFill>
                  <a:schemeClr val="accent3"/>
                </a:solidFill>
              </a:rPr>
              <a:t>gezin</a:t>
            </a:r>
            <a:r>
              <a:rPr lang="en-US" sz="2000" dirty="0">
                <a:solidFill>
                  <a:schemeClr val="tx1"/>
                </a:solidFill>
              </a:rPr>
              <a:t> van vier.</a:t>
            </a:r>
            <a:endParaRPr lang="en-US" sz="20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het</a:t>
            </a:r>
            <a:r>
              <a:rPr lang="en-US" sz="1800" dirty="0">
                <a:solidFill>
                  <a:schemeClr val="tx1"/>
                </a:solidFill>
              </a:rPr>
              <a:t> gezin · </a:t>
            </a:r>
            <a:r>
              <a:rPr lang="en-US" sz="1800" b="1" dirty="0">
                <a:solidFill>
                  <a:schemeClr val="tx1"/>
                </a:solidFill>
              </a:rPr>
              <a:t>het</a:t>
            </a:r>
            <a:r>
              <a:rPr lang="en-US" sz="1800" dirty="0">
                <a:solidFill>
                  <a:schemeClr val="tx1"/>
                </a:solidFill>
              </a:rPr>
              <a:t> huwelijk : les seuls het-woorden.</a:t>
            </a:r>
            <a:endParaRPr lang="en-US" sz="1800" dirty="0"/>
          </a:p>
          <a:p>
            <a:pPr marL="177800" indent="-177800">
              <a:spcAft>
                <a:spcPts val="600"/>
              </a:spcAft>
              <a:buSzPct val="100000"/>
              <a:buChar char="•"/>
            </a:pPr>
            <a:r>
              <a:rPr lang="en-US" sz="1800" i="1" dirty="0">
                <a:solidFill>
                  <a:schemeClr val="tx1"/>
                </a:solidFill>
              </a:rPr>
              <a:t>mijn</a:t>
            </a:r>
            <a:r>
              <a:rPr lang="en-US" sz="1800" dirty="0">
                <a:solidFill>
                  <a:schemeClr val="tx1"/>
                </a:solidFill>
              </a:rPr>
              <a:t> remplace l’article : </a:t>
            </a:r>
            <a:r>
              <a:rPr lang="en-US" sz="1800" i="1" dirty="0">
                <a:solidFill>
                  <a:schemeClr val="tx1"/>
                </a:solidFill>
              </a:rPr>
              <a:t>mijn vader</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Pluriel : </a:t>
            </a:r>
            <a:r>
              <a:rPr lang="en-US" sz="1800" i="1" dirty="0">
                <a:solidFill>
                  <a:schemeClr val="tx1"/>
                </a:solidFill>
              </a:rPr>
              <a:t>de broers, de zussen, de ouders</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In de stad — en ville et déplacements</a:t>
            </a:r>
            <a:endParaRPr lang="en-US" sz="3200" dirty="0"/>
          </a:p>
        </p:txBody>
      </p:sp>
      <p:sp>
        <p:nvSpPr>
          <p:cNvPr id="3" name="tag"/>
          <p:cNvSpPr/>
          <p:nvPr/>
        </p:nvSpPr>
        <p:spPr>
          <a:xfrm>
            <a:off x="548640" y="237744"/>
            <a:ext cx="17373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WOORDENSCHAT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80</a:t>
            </a:r>
            <a:endParaRPr lang="en-US" sz="1200" dirty="0"/>
          </a:p>
        </p:txBody>
      </p:sp>
      <p:sp>
        <p:nvSpPr>
          <p:cNvPr id="6" name="Shape 3"/>
          <p:cNvSpPr/>
          <p:nvPr/>
        </p:nvSpPr>
        <p:spPr>
          <a:xfrm>
            <a:off x="548640" y="1508760"/>
            <a:ext cx="2057400" cy="1484376"/>
          </a:xfrm>
          <a:prstGeom prst="roundRect">
            <a:avLst>
              <a:gd name="adj" fmla="val 4928"/>
            </a:avLst>
          </a:prstGeom>
          <a:solidFill>
            <a:schemeClr val="bg1"/>
          </a:solidFill>
          <a:ln w="9525">
            <a:solidFill>
              <a:srgbClr val="D5DCE6"/>
            </a:solidFill>
            <a:prstDash val="solid"/>
          </a:ln>
        </p:spPr>
      </p:sp>
      <p:pic>
        <p:nvPicPr>
          <p:cNvPr id="7" name="illustration" descr="la gare">    </p:cNvPr>
          <p:cNvPicPr>
            <a:picLocks noChangeAspect="1"/>
          </p:cNvPicPr>
          <p:nvPr/>
        </p:nvPicPr>
        <p:blipFill>
          <a:blip r:embed="rId1"/>
          <a:stretch>
            <a:fillRect/>
          </a:stretch>
        </p:blipFill>
        <p:spPr>
          <a:xfrm>
            <a:off x="1079655" y="1581912"/>
            <a:ext cx="995371" cy="789432"/>
          </a:xfrm>
          <a:prstGeom prst="rect">
            <a:avLst/>
          </a:prstGeom>
        </p:spPr>
      </p:pic>
      <p:sp>
        <p:nvSpPr>
          <p:cNvPr id="8" name="Shape 4"/>
          <p:cNvSpPr/>
          <p:nvPr/>
        </p:nvSpPr>
        <p:spPr>
          <a:xfrm>
            <a:off x="640080" y="1600200"/>
            <a:ext cx="365760" cy="365760"/>
          </a:xfrm>
          <a:prstGeom prst="ellipse">
            <a:avLst/>
          </a:prstGeom>
          <a:solidFill>
            <a:schemeClr val="tx2"/>
          </a:solidFill>
          <a:ln/>
        </p:spPr>
      </p:sp>
      <p:sp>
        <p:nvSpPr>
          <p:cNvPr id="9" name="Text 5"/>
          <p:cNvSpPr txBox="1"/>
          <p:nvPr/>
        </p:nvSpPr>
        <p:spPr>
          <a:xfrm>
            <a:off x="640080"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0" name="Text 6"/>
          <p:cNvSpPr txBox="1"/>
          <p:nvPr/>
        </p:nvSpPr>
        <p:spPr>
          <a:xfrm>
            <a:off x="603504"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11" name="Shape 7"/>
          <p:cNvSpPr/>
          <p:nvPr/>
        </p:nvSpPr>
        <p:spPr>
          <a:xfrm>
            <a:off x="2807208" y="1508760"/>
            <a:ext cx="2057400" cy="1484376"/>
          </a:xfrm>
          <a:prstGeom prst="roundRect">
            <a:avLst>
              <a:gd name="adj" fmla="val 4928"/>
            </a:avLst>
          </a:prstGeom>
          <a:solidFill>
            <a:schemeClr val="bg1"/>
          </a:solidFill>
          <a:ln w="9525">
            <a:solidFill>
              <a:srgbClr val="D5DCE6"/>
            </a:solidFill>
            <a:prstDash val="solid"/>
          </a:ln>
        </p:spPr>
      </p:sp>
      <p:pic>
        <p:nvPicPr>
          <p:cNvPr id="12" name="illustration" descr="le train">    </p:cNvPr>
          <p:cNvPicPr>
            <a:picLocks noChangeAspect="1"/>
          </p:cNvPicPr>
          <p:nvPr/>
        </p:nvPicPr>
        <p:blipFill>
          <a:blip r:embed="rId2"/>
          <a:stretch>
            <a:fillRect/>
          </a:stretch>
        </p:blipFill>
        <p:spPr>
          <a:xfrm>
            <a:off x="3328212" y="1581912"/>
            <a:ext cx="1015393" cy="789432"/>
          </a:xfrm>
          <a:prstGeom prst="rect">
            <a:avLst/>
          </a:prstGeom>
        </p:spPr>
      </p:pic>
      <p:sp>
        <p:nvSpPr>
          <p:cNvPr id="13" name="Shape 8"/>
          <p:cNvSpPr/>
          <p:nvPr/>
        </p:nvSpPr>
        <p:spPr>
          <a:xfrm>
            <a:off x="2898648" y="1600200"/>
            <a:ext cx="365760" cy="365760"/>
          </a:xfrm>
          <a:prstGeom prst="ellipse">
            <a:avLst/>
          </a:prstGeom>
          <a:solidFill>
            <a:schemeClr val="tx2"/>
          </a:solidFill>
          <a:ln/>
        </p:spPr>
      </p:sp>
      <p:sp>
        <p:nvSpPr>
          <p:cNvPr id="14" name="Text 9"/>
          <p:cNvSpPr txBox="1"/>
          <p:nvPr/>
        </p:nvSpPr>
        <p:spPr>
          <a:xfrm>
            <a:off x="2898648"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Text 10"/>
          <p:cNvSpPr txBox="1"/>
          <p:nvPr/>
        </p:nvSpPr>
        <p:spPr>
          <a:xfrm>
            <a:off x="2862072"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16" name="Shape 11"/>
          <p:cNvSpPr/>
          <p:nvPr/>
        </p:nvSpPr>
        <p:spPr>
          <a:xfrm>
            <a:off x="5065776" y="1508760"/>
            <a:ext cx="2057400" cy="1484376"/>
          </a:xfrm>
          <a:prstGeom prst="roundRect">
            <a:avLst>
              <a:gd name="adj" fmla="val 4928"/>
            </a:avLst>
          </a:prstGeom>
          <a:solidFill>
            <a:schemeClr val="bg1"/>
          </a:solidFill>
          <a:ln w="9525">
            <a:solidFill>
              <a:srgbClr val="D5DCE6"/>
            </a:solidFill>
            <a:prstDash val="solid"/>
          </a:ln>
        </p:spPr>
      </p:sp>
      <p:pic>
        <p:nvPicPr>
          <p:cNvPr id="17" name="illustration" descr="le bus">    </p:cNvPr>
          <p:cNvPicPr>
            <a:picLocks noChangeAspect="1"/>
          </p:cNvPicPr>
          <p:nvPr/>
        </p:nvPicPr>
        <p:blipFill>
          <a:blip r:embed="rId3"/>
          <a:stretch>
            <a:fillRect/>
          </a:stretch>
        </p:blipFill>
        <p:spPr>
          <a:xfrm>
            <a:off x="5595360" y="1581912"/>
            <a:ext cx="998231" cy="789432"/>
          </a:xfrm>
          <a:prstGeom prst="rect">
            <a:avLst/>
          </a:prstGeom>
        </p:spPr>
      </p:pic>
      <p:sp>
        <p:nvSpPr>
          <p:cNvPr id="18" name="Shape 12"/>
          <p:cNvSpPr/>
          <p:nvPr/>
        </p:nvSpPr>
        <p:spPr>
          <a:xfrm>
            <a:off x="5157216" y="1600200"/>
            <a:ext cx="365760" cy="365760"/>
          </a:xfrm>
          <a:prstGeom prst="ellipse">
            <a:avLst/>
          </a:prstGeom>
          <a:solidFill>
            <a:schemeClr val="tx2"/>
          </a:solidFill>
          <a:ln/>
        </p:spPr>
      </p:sp>
      <p:sp>
        <p:nvSpPr>
          <p:cNvPr id="19" name="Text 13"/>
          <p:cNvSpPr txBox="1"/>
          <p:nvPr/>
        </p:nvSpPr>
        <p:spPr>
          <a:xfrm>
            <a:off x="5157216"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0" name="Text 14"/>
          <p:cNvSpPr txBox="1"/>
          <p:nvPr/>
        </p:nvSpPr>
        <p:spPr>
          <a:xfrm>
            <a:off x="5120640"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21" name="Shape 15"/>
          <p:cNvSpPr/>
          <p:nvPr/>
        </p:nvSpPr>
        <p:spPr>
          <a:xfrm>
            <a:off x="7324344" y="1508760"/>
            <a:ext cx="2057400" cy="1484376"/>
          </a:xfrm>
          <a:prstGeom prst="roundRect">
            <a:avLst>
              <a:gd name="adj" fmla="val 4928"/>
            </a:avLst>
          </a:prstGeom>
          <a:solidFill>
            <a:schemeClr val="bg1"/>
          </a:solidFill>
          <a:ln w="9525">
            <a:solidFill>
              <a:srgbClr val="D5DCE6"/>
            </a:solidFill>
            <a:prstDash val="solid"/>
          </a:ln>
        </p:spPr>
      </p:sp>
      <p:pic>
        <p:nvPicPr>
          <p:cNvPr id="22" name="illustration" descr="le tram">    </p:cNvPr>
          <p:cNvPicPr>
            <a:picLocks noChangeAspect="1"/>
          </p:cNvPicPr>
          <p:nvPr/>
        </p:nvPicPr>
        <p:blipFill>
          <a:blip r:embed="rId4"/>
          <a:stretch>
            <a:fillRect/>
          </a:stretch>
        </p:blipFill>
        <p:spPr>
          <a:xfrm>
            <a:off x="7877746" y="1581912"/>
            <a:ext cx="950596" cy="789432"/>
          </a:xfrm>
          <a:prstGeom prst="rect">
            <a:avLst/>
          </a:prstGeom>
        </p:spPr>
      </p:pic>
      <p:sp>
        <p:nvSpPr>
          <p:cNvPr id="23" name="Shape 16"/>
          <p:cNvSpPr/>
          <p:nvPr/>
        </p:nvSpPr>
        <p:spPr>
          <a:xfrm>
            <a:off x="7415784" y="1600200"/>
            <a:ext cx="365760" cy="365760"/>
          </a:xfrm>
          <a:prstGeom prst="ellipse">
            <a:avLst/>
          </a:prstGeom>
          <a:solidFill>
            <a:schemeClr val="tx2"/>
          </a:solidFill>
          <a:ln/>
        </p:spPr>
      </p:sp>
      <p:sp>
        <p:nvSpPr>
          <p:cNvPr id="24" name="Text 17"/>
          <p:cNvSpPr txBox="1"/>
          <p:nvPr/>
        </p:nvSpPr>
        <p:spPr>
          <a:xfrm>
            <a:off x="7415784"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5" name="Text 18"/>
          <p:cNvSpPr txBox="1"/>
          <p:nvPr/>
        </p:nvSpPr>
        <p:spPr>
          <a:xfrm>
            <a:off x="7379208"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26" name="Shape 19"/>
          <p:cNvSpPr/>
          <p:nvPr/>
        </p:nvSpPr>
        <p:spPr>
          <a:xfrm>
            <a:off x="9582912" y="1508760"/>
            <a:ext cx="2057400" cy="1484376"/>
          </a:xfrm>
          <a:prstGeom prst="roundRect">
            <a:avLst>
              <a:gd name="adj" fmla="val 4928"/>
            </a:avLst>
          </a:prstGeom>
          <a:solidFill>
            <a:schemeClr val="bg1"/>
          </a:solidFill>
          <a:ln w="9525">
            <a:solidFill>
              <a:srgbClr val="D5DCE6"/>
            </a:solidFill>
            <a:prstDash val="solid"/>
          </a:ln>
        </p:spPr>
      </p:sp>
      <p:pic>
        <p:nvPicPr>
          <p:cNvPr id="27" name="illustration" descr="le vélo">    </p:cNvPr>
          <p:cNvPicPr>
            <a:picLocks noChangeAspect="1"/>
          </p:cNvPicPr>
          <p:nvPr/>
        </p:nvPicPr>
        <p:blipFill>
          <a:blip r:embed="rId5"/>
          <a:stretch>
            <a:fillRect/>
          </a:stretch>
        </p:blipFill>
        <p:spPr>
          <a:xfrm>
            <a:off x="10126753" y="1581912"/>
            <a:ext cx="969718" cy="789432"/>
          </a:xfrm>
          <a:prstGeom prst="rect">
            <a:avLst/>
          </a:prstGeom>
        </p:spPr>
      </p:pic>
      <p:sp>
        <p:nvSpPr>
          <p:cNvPr id="28" name="Shape 20"/>
          <p:cNvSpPr/>
          <p:nvPr/>
        </p:nvSpPr>
        <p:spPr>
          <a:xfrm>
            <a:off x="9674352" y="1600200"/>
            <a:ext cx="365760" cy="365760"/>
          </a:xfrm>
          <a:prstGeom prst="ellipse">
            <a:avLst/>
          </a:prstGeom>
          <a:solidFill>
            <a:schemeClr val="tx2"/>
          </a:solidFill>
          <a:ln/>
        </p:spPr>
      </p:sp>
      <p:sp>
        <p:nvSpPr>
          <p:cNvPr id="29" name="Text 21"/>
          <p:cNvSpPr txBox="1"/>
          <p:nvPr/>
        </p:nvSpPr>
        <p:spPr>
          <a:xfrm>
            <a:off x="9674352"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0" name="Text 22"/>
          <p:cNvSpPr txBox="1"/>
          <p:nvPr/>
        </p:nvSpPr>
        <p:spPr>
          <a:xfrm>
            <a:off x="9637776" y="2389632"/>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31" name="Shape 23"/>
          <p:cNvSpPr/>
          <p:nvPr/>
        </p:nvSpPr>
        <p:spPr>
          <a:xfrm>
            <a:off x="548640" y="3157728"/>
            <a:ext cx="2057400" cy="1484376"/>
          </a:xfrm>
          <a:prstGeom prst="roundRect">
            <a:avLst>
              <a:gd name="adj" fmla="val 4928"/>
            </a:avLst>
          </a:prstGeom>
          <a:solidFill>
            <a:schemeClr val="bg1"/>
          </a:solidFill>
          <a:ln w="9525">
            <a:solidFill>
              <a:srgbClr val="D5DCE6"/>
            </a:solidFill>
            <a:prstDash val="solid"/>
          </a:ln>
        </p:spPr>
      </p:sp>
      <p:pic>
        <p:nvPicPr>
          <p:cNvPr id="32" name="illustration" descr="la voiture">    </p:cNvPr>
          <p:cNvPicPr>
            <a:picLocks noChangeAspect="1"/>
          </p:cNvPicPr>
          <p:nvPr/>
        </p:nvPicPr>
        <p:blipFill>
          <a:blip r:embed="rId6"/>
          <a:stretch>
            <a:fillRect/>
          </a:stretch>
        </p:blipFill>
        <p:spPr>
          <a:xfrm>
            <a:off x="1100676" y="3230880"/>
            <a:ext cx="953328" cy="789432"/>
          </a:xfrm>
          <a:prstGeom prst="rect">
            <a:avLst/>
          </a:prstGeom>
        </p:spPr>
      </p:pic>
      <p:sp>
        <p:nvSpPr>
          <p:cNvPr id="33" name="Shape 24"/>
          <p:cNvSpPr/>
          <p:nvPr/>
        </p:nvSpPr>
        <p:spPr>
          <a:xfrm>
            <a:off x="640080" y="3249168"/>
            <a:ext cx="365760" cy="365760"/>
          </a:xfrm>
          <a:prstGeom prst="ellipse">
            <a:avLst/>
          </a:prstGeom>
          <a:solidFill>
            <a:schemeClr val="tx2"/>
          </a:solidFill>
          <a:ln/>
        </p:spPr>
      </p:sp>
      <p:sp>
        <p:nvSpPr>
          <p:cNvPr id="34" name="Text 25"/>
          <p:cNvSpPr txBox="1"/>
          <p:nvPr/>
        </p:nvSpPr>
        <p:spPr>
          <a:xfrm>
            <a:off x="640080"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5" name="Text 26"/>
          <p:cNvSpPr txBox="1"/>
          <p:nvPr/>
        </p:nvSpPr>
        <p:spPr>
          <a:xfrm>
            <a:off x="603504"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36" name="Shape 27"/>
          <p:cNvSpPr/>
          <p:nvPr/>
        </p:nvSpPr>
        <p:spPr>
          <a:xfrm>
            <a:off x="2807208" y="3157728"/>
            <a:ext cx="2057400" cy="1484376"/>
          </a:xfrm>
          <a:prstGeom prst="roundRect">
            <a:avLst>
              <a:gd name="adj" fmla="val 4928"/>
            </a:avLst>
          </a:prstGeom>
          <a:solidFill>
            <a:schemeClr val="bg1"/>
          </a:solidFill>
          <a:ln w="9525">
            <a:solidFill>
              <a:srgbClr val="D5DCE6"/>
            </a:solidFill>
            <a:prstDash val="solid"/>
          </a:ln>
        </p:spPr>
      </p:sp>
      <p:pic>
        <p:nvPicPr>
          <p:cNvPr id="37" name="illustration" descr="la rue">    </p:cNvPr>
          <p:cNvPicPr>
            <a:picLocks noChangeAspect="1"/>
          </p:cNvPicPr>
          <p:nvPr/>
        </p:nvPicPr>
        <p:blipFill>
          <a:blip r:embed="rId7"/>
          <a:stretch>
            <a:fillRect/>
          </a:stretch>
        </p:blipFill>
        <p:spPr>
          <a:xfrm>
            <a:off x="3360610" y="3230880"/>
            <a:ext cx="950596" cy="789432"/>
          </a:xfrm>
          <a:prstGeom prst="rect">
            <a:avLst/>
          </a:prstGeom>
        </p:spPr>
      </p:pic>
      <p:sp>
        <p:nvSpPr>
          <p:cNvPr id="38" name="Shape 28"/>
          <p:cNvSpPr/>
          <p:nvPr/>
        </p:nvSpPr>
        <p:spPr>
          <a:xfrm>
            <a:off x="2898648" y="3249168"/>
            <a:ext cx="365760" cy="365760"/>
          </a:xfrm>
          <a:prstGeom prst="ellipse">
            <a:avLst/>
          </a:prstGeom>
          <a:solidFill>
            <a:schemeClr val="tx2"/>
          </a:solidFill>
          <a:ln/>
        </p:spPr>
      </p:sp>
      <p:sp>
        <p:nvSpPr>
          <p:cNvPr id="39" name="Text 29"/>
          <p:cNvSpPr txBox="1"/>
          <p:nvPr/>
        </p:nvSpPr>
        <p:spPr>
          <a:xfrm>
            <a:off x="2898648"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40" name="Text 30"/>
          <p:cNvSpPr txBox="1"/>
          <p:nvPr/>
        </p:nvSpPr>
        <p:spPr>
          <a:xfrm>
            <a:off x="2862072"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41" name="Shape 31"/>
          <p:cNvSpPr/>
          <p:nvPr/>
        </p:nvSpPr>
        <p:spPr>
          <a:xfrm>
            <a:off x="5065776" y="3157728"/>
            <a:ext cx="2057400" cy="1484376"/>
          </a:xfrm>
          <a:prstGeom prst="roundRect">
            <a:avLst>
              <a:gd name="adj" fmla="val 4928"/>
            </a:avLst>
          </a:prstGeom>
          <a:solidFill>
            <a:schemeClr val="bg1"/>
          </a:solidFill>
          <a:ln w="9525">
            <a:solidFill>
              <a:srgbClr val="D5DCE6"/>
            </a:solidFill>
            <a:prstDash val="solid"/>
          </a:ln>
        </p:spPr>
      </p:sp>
      <p:pic>
        <p:nvPicPr>
          <p:cNvPr id="42" name="illustration" descr="le feu (de signalisation)">    </p:cNvPr>
          <p:cNvPicPr>
            <a:picLocks noChangeAspect="1"/>
          </p:cNvPicPr>
          <p:nvPr/>
        </p:nvPicPr>
        <p:blipFill>
          <a:blip r:embed="rId8"/>
          <a:stretch>
            <a:fillRect/>
          </a:stretch>
        </p:blipFill>
        <p:spPr>
          <a:xfrm>
            <a:off x="5609617" y="3230880"/>
            <a:ext cx="969718" cy="789432"/>
          </a:xfrm>
          <a:prstGeom prst="rect">
            <a:avLst/>
          </a:prstGeom>
        </p:spPr>
      </p:pic>
      <p:sp>
        <p:nvSpPr>
          <p:cNvPr id="43" name="Shape 32"/>
          <p:cNvSpPr/>
          <p:nvPr/>
        </p:nvSpPr>
        <p:spPr>
          <a:xfrm>
            <a:off x="5157216" y="3249168"/>
            <a:ext cx="365760" cy="365760"/>
          </a:xfrm>
          <a:prstGeom prst="ellipse">
            <a:avLst/>
          </a:prstGeom>
          <a:solidFill>
            <a:schemeClr val="tx2"/>
          </a:solidFill>
          <a:ln/>
        </p:spPr>
      </p:sp>
      <p:sp>
        <p:nvSpPr>
          <p:cNvPr id="44" name="Text 33"/>
          <p:cNvSpPr txBox="1"/>
          <p:nvPr/>
        </p:nvSpPr>
        <p:spPr>
          <a:xfrm>
            <a:off x="5157216"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45" name="Text 34"/>
          <p:cNvSpPr txBox="1"/>
          <p:nvPr/>
        </p:nvSpPr>
        <p:spPr>
          <a:xfrm>
            <a:off x="5120640"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46" name="Shape 35"/>
          <p:cNvSpPr/>
          <p:nvPr/>
        </p:nvSpPr>
        <p:spPr>
          <a:xfrm>
            <a:off x="7324344" y="3157728"/>
            <a:ext cx="2057400" cy="1484376"/>
          </a:xfrm>
          <a:prstGeom prst="roundRect">
            <a:avLst>
              <a:gd name="adj" fmla="val 4928"/>
            </a:avLst>
          </a:prstGeom>
          <a:solidFill>
            <a:schemeClr val="bg1"/>
          </a:solidFill>
          <a:ln w="9525">
            <a:solidFill>
              <a:srgbClr val="D5DCE6"/>
            </a:solidFill>
            <a:prstDash val="solid"/>
          </a:ln>
        </p:spPr>
      </p:sp>
      <p:pic>
        <p:nvPicPr>
          <p:cNvPr id="47" name="illustration" descr="le pont">    </p:cNvPr>
          <p:cNvPicPr>
            <a:picLocks noChangeAspect="1"/>
          </p:cNvPicPr>
          <p:nvPr/>
        </p:nvPicPr>
        <p:blipFill>
          <a:blip r:embed="rId9"/>
          <a:stretch>
            <a:fillRect/>
          </a:stretch>
        </p:blipFill>
        <p:spPr>
          <a:xfrm>
            <a:off x="7876380" y="3230880"/>
            <a:ext cx="953328" cy="789432"/>
          </a:xfrm>
          <a:prstGeom prst="rect">
            <a:avLst/>
          </a:prstGeom>
        </p:spPr>
      </p:pic>
      <p:sp>
        <p:nvSpPr>
          <p:cNvPr id="48" name="Shape 36"/>
          <p:cNvSpPr/>
          <p:nvPr/>
        </p:nvSpPr>
        <p:spPr>
          <a:xfrm>
            <a:off x="7415784" y="3249168"/>
            <a:ext cx="365760" cy="365760"/>
          </a:xfrm>
          <a:prstGeom prst="ellipse">
            <a:avLst/>
          </a:prstGeom>
          <a:solidFill>
            <a:schemeClr val="tx2"/>
          </a:solidFill>
          <a:ln/>
        </p:spPr>
      </p:sp>
      <p:sp>
        <p:nvSpPr>
          <p:cNvPr id="49" name="Text 37"/>
          <p:cNvSpPr txBox="1"/>
          <p:nvPr/>
        </p:nvSpPr>
        <p:spPr>
          <a:xfrm>
            <a:off x="7415784"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9</a:t>
            </a:r>
            <a:endParaRPr lang="en-US" sz="1200" dirty="0"/>
          </a:p>
        </p:txBody>
      </p:sp>
      <p:sp>
        <p:nvSpPr>
          <p:cNvPr id="50" name="Text 38"/>
          <p:cNvSpPr txBox="1"/>
          <p:nvPr/>
        </p:nvSpPr>
        <p:spPr>
          <a:xfrm>
            <a:off x="7379208"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51" name="Shape 39"/>
          <p:cNvSpPr/>
          <p:nvPr/>
        </p:nvSpPr>
        <p:spPr>
          <a:xfrm>
            <a:off x="9582912" y="3157728"/>
            <a:ext cx="2057400" cy="1484376"/>
          </a:xfrm>
          <a:prstGeom prst="roundRect">
            <a:avLst>
              <a:gd name="adj" fmla="val 4928"/>
            </a:avLst>
          </a:prstGeom>
          <a:solidFill>
            <a:schemeClr val="bg1"/>
          </a:solidFill>
          <a:ln w="9525">
            <a:solidFill>
              <a:srgbClr val="D5DCE6"/>
            </a:solidFill>
            <a:prstDash val="solid"/>
          </a:ln>
        </p:spPr>
      </p:sp>
      <p:pic>
        <p:nvPicPr>
          <p:cNvPr id="52" name="illustration" descr="l’église">    </p:cNvPr>
          <p:cNvPicPr>
            <a:picLocks noChangeAspect="1"/>
          </p:cNvPicPr>
          <p:nvPr/>
        </p:nvPicPr>
        <p:blipFill>
          <a:blip r:embed="rId10"/>
          <a:stretch>
            <a:fillRect/>
          </a:stretch>
        </p:blipFill>
        <p:spPr>
          <a:xfrm>
            <a:off x="10136314" y="3230880"/>
            <a:ext cx="950596" cy="789432"/>
          </a:xfrm>
          <a:prstGeom prst="rect">
            <a:avLst/>
          </a:prstGeom>
        </p:spPr>
      </p:pic>
      <p:sp>
        <p:nvSpPr>
          <p:cNvPr id="53" name="Shape 40"/>
          <p:cNvSpPr/>
          <p:nvPr/>
        </p:nvSpPr>
        <p:spPr>
          <a:xfrm>
            <a:off x="9674352" y="3249168"/>
            <a:ext cx="365760" cy="365760"/>
          </a:xfrm>
          <a:prstGeom prst="ellipse">
            <a:avLst/>
          </a:prstGeom>
          <a:solidFill>
            <a:schemeClr val="tx2"/>
          </a:solidFill>
          <a:ln/>
        </p:spPr>
      </p:sp>
      <p:sp>
        <p:nvSpPr>
          <p:cNvPr id="54" name="Text 41"/>
          <p:cNvSpPr txBox="1"/>
          <p:nvPr/>
        </p:nvSpPr>
        <p:spPr>
          <a:xfrm>
            <a:off x="9674352"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10</a:t>
            </a:r>
            <a:endParaRPr lang="en-US" sz="1200" dirty="0"/>
          </a:p>
        </p:txBody>
      </p:sp>
      <p:sp>
        <p:nvSpPr>
          <p:cNvPr id="55" name="Text 42"/>
          <p:cNvSpPr txBox="1"/>
          <p:nvPr/>
        </p:nvSpPr>
        <p:spPr>
          <a:xfrm>
            <a:off x="9637776" y="4038600"/>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56" name="Shape 43"/>
          <p:cNvSpPr/>
          <p:nvPr/>
        </p:nvSpPr>
        <p:spPr>
          <a:xfrm>
            <a:off x="548640" y="4806696"/>
            <a:ext cx="2057400" cy="1484376"/>
          </a:xfrm>
          <a:prstGeom prst="roundRect">
            <a:avLst>
              <a:gd name="adj" fmla="val 4928"/>
            </a:avLst>
          </a:prstGeom>
          <a:solidFill>
            <a:schemeClr val="bg1"/>
          </a:solidFill>
          <a:ln w="9525">
            <a:solidFill>
              <a:srgbClr val="D5DCE6"/>
            </a:solidFill>
            <a:prstDash val="solid"/>
          </a:ln>
        </p:spPr>
      </p:sp>
      <p:pic>
        <p:nvPicPr>
          <p:cNvPr id="57" name="illustration" descr="le musée">    </p:cNvPr>
          <p:cNvPicPr>
            <a:picLocks noChangeAspect="1"/>
          </p:cNvPicPr>
          <p:nvPr/>
        </p:nvPicPr>
        <p:blipFill>
          <a:blip r:embed="rId11"/>
          <a:stretch>
            <a:fillRect/>
          </a:stretch>
        </p:blipFill>
        <p:spPr>
          <a:xfrm>
            <a:off x="1092481" y="4879848"/>
            <a:ext cx="969718" cy="789432"/>
          </a:xfrm>
          <a:prstGeom prst="rect">
            <a:avLst/>
          </a:prstGeom>
        </p:spPr>
      </p:pic>
      <p:sp>
        <p:nvSpPr>
          <p:cNvPr id="58" name="Shape 44"/>
          <p:cNvSpPr/>
          <p:nvPr/>
        </p:nvSpPr>
        <p:spPr>
          <a:xfrm>
            <a:off x="640080" y="4898136"/>
            <a:ext cx="365760" cy="365760"/>
          </a:xfrm>
          <a:prstGeom prst="ellipse">
            <a:avLst/>
          </a:prstGeom>
          <a:solidFill>
            <a:schemeClr val="tx2"/>
          </a:solidFill>
          <a:ln/>
        </p:spPr>
      </p:sp>
      <p:sp>
        <p:nvSpPr>
          <p:cNvPr id="59" name="Text 45"/>
          <p:cNvSpPr txBox="1"/>
          <p:nvPr/>
        </p:nvSpPr>
        <p:spPr>
          <a:xfrm>
            <a:off x="640080"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11</a:t>
            </a:r>
            <a:endParaRPr lang="en-US" sz="1200" dirty="0"/>
          </a:p>
        </p:txBody>
      </p:sp>
      <p:sp>
        <p:nvSpPr>
          <p:cNvPr id="60" name="Text 46"/>
          <p:cNvSpPr txBox="1"/>
          <p:nvPr/>
        </p:nvSpPr>
        <p:spPr>
          <a:xfrm>
            <a:off x="603504"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61" name="Shape 47"/>
          <p:cNvSpPr/>
          <p:nvPr/>
        </p:nvSpPr>
        <p:spPr>
          <a:xfrm>
            <a:off x="2807208" y="4806696"/>
            <a:ext cx="2057400" cy="1484376"/>
          </a:xfrm>
          <a:prstGeom prst="roundRect">
            <a:avLst>
              <a:gd name="adj" fmla="val 4928"/>
            </a:avLst>
          </a:prstGeom>
          <a:solidFill>
            <a:schemeClr val="bg1"/>
          </a:solidFill>
          <a:ln w="9525">
            <a:solidFill>
              <a:srgbClr val="D5DCE6"/>
            </a:solidFill>
            <a:prstDash val="solid"/>
          </a:ln>
        </p:spPr>
      </p:sp>
      <p:pic>
        <p:nvPicPr>
          <p:cNvPr id="62" name="illustration" descr="la bibliothèque">    </p:cNvPr>
          <p:cNvPicPr>
            <a:picLocks noChangeAspect="1"/>
          </p:cNvPicPr>
          <p:nvPr/>
        </p:nvPicPr>
        <p:blipFill>
          <a:blip r:embed="rId12"/>
          <a:stretch>
            <a:fillRect/>
          </a:stretch>
        </p:blipFill>
        <p:spPr>
          <a:xfrm>
            <a:off x="3359244" y="4879848"/>
            <a:ext cx="953328" cy="789432"/>
          </a:xfrm>
          <a:prstGeom prst="rect">
            <a:avLst/>
          </a:prstGeom>
        </p:spPr>
      </p:pic>
      <p:sp>
        <p:nvSpPr>
          <p:cNvPr id="63" name="Shape 48"/>
          <p:cNvSpPr/>
          <p:nvPr/>
        </p:nvSpPr>
        <p:spPr>
          <a:xfrm>
            <a:off x="2898648" y="4898136"/>
            <a:ext cx="365760" cy="365760"/>
          </a:xfrm>
          <a:prstGeom prst="ellipse">
            <a:avLst/>
          </a:prstGeom>
          <a:solidFill>
            <a:schemeClr val="tx2"/>
          </a:solidFill>
          <a:ln/>
        </p:spPr>
      </p:sp>
      <p:sp>
        <p:nvSpPr>
          <p:cNvPr id="64" name="Text 49"/>
          <p:cNvSpPr txBox="1"/>
          <p:nvPr/>
        </p:nvSpPr>
        <p:spPr>
          <a:xfrm>
            <a:off x="2898648"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12</a:t>
            </a:r>
            <a:endParaRPr lang="en-US" sz="1200" dirty="0"/>
          </a:p>
        </p:txBody>
      </p:sp>
      <p:sp>
        <p:nvSpPr>
          <p:cNvPr id="65" name="Text 50"/>
          <p:cNvSpPr txBox="1"/>
          <p:nvPr/>
        </p:nvSpPr>
        <p:spPr>
          <a:xfrm>
            <a:off x="2862072"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66" name="Shape 51"/>
          <p:cNvSpPr/>
          <p:nvPr/>
        </p:nvSpPr>
        <p:spPr>
          <a:xfrm>
            <a:off x="5065776" y="4806696"/>
            <a:ext cx="2057400" cy="1484376"/>
          </a:xfrm>
          <a:prstGeom prst="roundRect">
            <a:avLst>
              <a:gd name="adj" fmla="val 4928"/>
            </a:avLst>
          </a:prstGeom>
          <a:solidFill>
            <a:schemeClr val="bg1"/>
          </a:solidFill>
          <a:ln w="9525">
            <a:solidFill>
              <a:srgbClr val="D5DCE6"/>
            </a:solidFill>
            <a:prstDash val="solid"/>
          </a:ln>
        </p:spPr>
      </p:sp>
      <p:pic>
        <p:nvPicPr>
          <p:cNvPr id="67" name="illustration" descr="le plan (de ville)">    </p:cNvPr>
          <p:cNvPicPr>
            <a:picLocks noChangeAspect="1"/>
          </p:cNvPicPr>
          <p:nvPr/>
        </p:nvPicPr>
        <p:blipFill>
          <a:blip r:embed="rId13"/>
          <a:stretch>
            <a:fillRect/>
          </a:stretch>
        </p:blipFill>
        <p:spPr>
          <a:xfrm>
            <a:off x="5596791" y="4879848"/>
            <a:ext cx="995371" cy="789432"/>
          </a:xfrm>
          <a:prstGeom prst="rect">
            <a:avLst/>
          </a:prstGeom>
        </p:spPr>
      </p:pic>
      <p:sp>
        <p:nvSpPr>
          <p:cNvPr id="68" name="Shape 52"/>
          <p:cNvSpPr/>
          <p:nvPr/>
        </p:nvSpPr>
        <p:spPr>
          <a:xfrm>
            <a:off x="5157216" y="4898136"/>
            <a:ext cx="365760" cy="365760"/>
          </a:xfrm>
          <a:prstGeom prst="ellipse">
            <a:avLst/>
          </a:prstGeom>
          <a:solidFill>
            <a:schemeClr val="tx2"/>
          </a:solidFill>
          <a:ln/>
        </p:spPr>
      </p:sp>
      <p:sp>
        <p:nvSpPr>
          <p:cNvPr id="69" name="Text 53"/>
          <p:cNvSpPr txBox="1"/>
          <p:nvPr/>
        </p:nvSpPr>
        <p:spPr>
          <a:xfrm>
            <a:off x="5157216"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13</a:t>
            </a:r>
            <a:endParaRPr lang="en-US" sz="1200" dirty="0"/>
          </a:p>
        </p:txBody>
      </p:sp>
      <p:sp>
        <p:nvSpPr>
          <p:cNvPr id="70" name="Text 54"/>
          <p:cNvSpPr txBox="1"/>
          <p:nvPr/>
        </p:nvSpPr>
        <p:spPr>
          <a:xfrm>
            <a:off x="5120640"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71" name="Shape 55"/>
          <p:cNvSpPr/>
          <p:nvPr/>
        </p:nvSpPr>
        <p:spPr>
          <a:xfrm>
            <a:off x="7324344" y="4806696"/>
            <a:ext cx="2057400" cy="1484376"/>
          </a:xfrm>
          <a:prstGeom prst="roundRect">
            <a:avLst>
              <a:gd name="adj" fmla="val 4928"/>
            </a:avLst>
          </a:prstGeom>
          <a:solidFill>
            <a:schemeClr val="bg1"/>
          </a:solidFill>
          <a:ln w="9525">
            <a:solidFill>
              <a:srgbClr val="D5DCE6"/>
            </a:solidFill>
            <a:prstDash val="solid"/>
          </a:ln>
        </p:spPr>
      </p:sp>
      <p:pic>
        <p:nvPicPr>
          <p:cNvPr id="72" name="illustration" descr="l’arrêt de bus">    </p:cNvPr>
          <p:cNvPicPr>
            <a:picLocks noChangeAspect="1"/>
          </p:cNvPicPr>
          <p:nvPr/>
        </p:nvPicPr>
        <p:blipFill>
          <a:blip r:embed="rId14"/>
          <a:stretch>
            <a:fillRect/>
          </a:stretch>
        </p:blipFill>
        <p:spPr>
          <a:xfrm>
            <a:off x="7845348" y="4879848"/>
            <a:ext cx="1015393" cy="789432"/>
          </a:xfrm>
          <a:prstGeom prst="rect">
            <a:avLst/>
          </a:prstGeom>
        </p:spPr>
      </p:pic>
      <p:sp>
        <p:nvSpPr>
          <p:cNvPr id="73" name="Shape 56"/>
          <p:cNvSpPr/>
          <p:nvPr/>
        </p:nvSpPr>
        <p:spPr>
          <a:xfrm>
            <a:off x="7415784" y="4898136"/>
            <a:ext cx="365760" cy="365760"/>
          </a:xfrm>
          <a:prstGeom prst="ellipse">
            <a:avLst/>
          </a:prstGeom>
          <a:solidFill>
            <a:schemeClr val="tx2"/>
          </a:solidFill>
          <a:ln/>
        </p:spPr>
      </p:sp>
      <p:sp>
        <p:nvSpPr>
          <p:cNvPr id="74" name="Text 57"/>
          <p:cNvSpPr txBox="1"/>
          <p:nvPr/>
        </p:nvSpPr>
        <p:spPr>
          <a:xfrm>
            <a:off x="7415784"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14</a:t>
            </a:r>
            <a:endParaRPr lang="en-US" sz="1200" dirty="0"/>
          </a:p>
        </p:txBody>
      </p:sp>
      <p:sp>
        <p:nvSpPr>
          <p:cNvPr id="75" name="Text 58"/>
          <p:cNvSpPr txBox="1"/>
          <p:nvPr/>
        </p:nvSpPr>
        <p:spPr>
          <a:xfrm>
            <a:off x="7379208"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76" name="Shape 59"/>
          <p:cNvSpPr/>
          <p:nvPr/>
        </p:nvSpPr>
        <p:spPr>
          <a:xfrm>
            <a:off x="9582912" y="4806696"/>
            <a:ext cx="2057400" cy="1484376"/>
          </a:xfrm>
          <a:prstGeom prst="roundRect">
            <a:avLst>
              <a:gd name="adj" fmla="val 4928"/>
            </a:avLst>
          </a:prstGeom>
          <a:solidFill>
            <a:schemeClr val="bg1"/>
          </a:solidFill>
          <a:ln w="9525">
            <a:solidFill>
              <a:srgbClr val="D5DCE6"/>
            </a:solidFill>
            <a:prstDash val="solid"/>
          </a:ln>
        </p:spPr>
      </p:sp>
      <p:pic>
        <p:nvPicPr>
          <p:cNvPr id="77" name="illustration" descr="le parking">    </p:cNvPr>
          <p:cNvPicPr>
            <a:picLocks noChangeAspect="1"/>
          </p:cNvPicPr>
          <p:nvPr/>
        </p:nvPicPr>
        <p:blipFill>
          <a:blip r:embed="rId15"/>
          <a:stretch>
            <a:fillRect/>
          </a:stretch>
        </p:blipFill>
        <p:spPr>
          <a:xfrm>
            <a:off x="10112496" y="4879848"/>
            <a:ext cx="998231" cy="789432"/>
          </a:xfrm>
          <a:prstGeom prst="rect">
            <a:avLst/>
          </a:prstGeom>
        </p:spPr>
      </p:pic>
      <p:sp>
        <p:nvSpPr>
          <p:cNvPr id="78" name="Shape 60"/>
          <p:cNvSpPr/>
          <p:nvPr/>
        </p:nvSpPr>
        <p:spPr>
          <a:xfrm>
            <a:off x="9674352" y="4898136"/>
            <a:ext cx="365760" cy="365760"/>
          </a:xfrm>
          <a:prstGeom prst="ellipse">
            <a:avLst/>
          </a:prstGeom>
          <a:solidFill>
            <a:schemeClr val="tx2"/>
          </a:solidFill>
          <a:ln/>
        </p:spPr>
      </p:sp>
      <p:sp>
        <p:nvSpPr>
          <p:cNvPr id="79" name="Text 61"/>
          <p:cNvSpPr txBox="1"/>
          <p:nvPr/>
        </p:nvSpPr>
        <p:spPr>
          <a:xfrm>
            <a:off x="9674352"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15</a:t>
            </a:r>
            <a:endParaRPr lang="en-US" sz="1200" dirty="0"/>
          </a:p>
        </p:txBody>
      </p:sp>
      <p:sp>
        <p:nvSpPr>
          <p:cNvPr id="80" name="Text 62"/>
          <p:cNvSpPr txBox="1"/>
          <p:nvPr/>
        </p:nvSpPr>
        <p:spPr>
          <a:xfrm>
            <a:off x="9637776" y="5687568"/>
            <a:ext cx="1947672" cy="566928"/>
          </a:xfrm>
          <a:prstGeom prst="rect">
            <a:avLst/>
          </a:prstGeom>
          <a:noFill/>
          <a:ln/>
        </p:spPr>
        <p:txBody>
          <a:bodyPr wrap="square" lIns="0" tIns="0" rIns="0" bIns="0" rtlCol="0" anchor="ctr"/>
          <a:lstStyle/>
          <a:p>
            <a:pPr algn="ctr" indent="0" marL="0">
              <a:buNone/>
            </a:pPr>
            <a:r>
              <a:rPr lang="en-US" sz="1600" dirty="0">
                <a:solidFill>
                  <a:schemeClr val="accent5"/>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In de stad — en ville et déplacements</a:t>
            </a:r>
            <a:endParaRPr lang="en-US" sz="3200" dirty="0"/>
          </a:p>
        </p:txBody>
      </p:sp>
      <p:sp>
        <p:nvSpPr>
          <p:cNvPr id="3" name="tag"/>
          <p:cNvSpPr/>
          <p:nvPr/>
        </p:nvSpPr>
        <p:spPr>
          <a:xfrm>
            <a:off x="548640" y="237744"/>
            <a:ext cx="17373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WOORDENSCHAT</a:t>
            </a:r>
            <a:endParaRPr lang="en-US" sz="1200" dirty="0"/>
          </a:p>
        </p:txBody>
      </p:sp>
      <p:sp>
        <p:nvSpPr>
          <p:cNvPr id="4" name="tag"/>
          <p:cNvSpPr/>
          <p:nvPr/>
        </p:nvSpPr>
        <p:spPr>
          <a:xfrm>
            <a:off x="23957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80</a:t>
            </a:r>
            <a:endParaRPr lang="en-US" sz="1200" dirty="0"/>
          </a:p>
        </p:txBody>
      </p:sp>
      <p:sp>
        <p:nvSpPr>
          <p:cNvPr id="7" name="Shape 4"/>
          <p:cNvSpPr/>
          <p:nvPr/>
        </p:nvSpPr>
        <p:spPr>
          <a:xfrm>
            <a:off x="548640" y="1508760"/>
            <a:ext cx="2057400" cy="1484376"/>
          </a:xfrm>
          <a:prstGeom prst="roundRect">
            <a:avLst>
              <a:gd name="adj" fmla="val 4928"/>
            </a:avLst>
          </a:prstGeom>
          <a:solidFill>
            <a:schemeClr val="bg1"/>
          </a:solidFill>
          <a:ln w="19050">
            <a:solidFill>
              <a:srgbClr val="B4236A"/>
            </a:solidFill>
            <a:prstDash val="solid"/>
          </a:ln>
        </p:spPr>
      </p:sp>
      <p:pic>
        <p:nvPicPr>
          <p:cNvPr id="8" name="illustration" descr="la gare">    </p:cNvPr>
          <p:cNvPicPr>
            <a:picLocks noChangeAspect="1"/>
          </p:cNvPicPr>
          <p:nvPr/>
        </p:nvPicPr>
        <p:blipFill>
          <a:blip r:embed="rId1"/>
          <a:stretch>
            <a:fillRect/>
          </a:stretch>
        </p:blipFill>
        <p:spPr>
          <a:xfrm>
            <a:off x="1079655" y="1581912"/>
            <a:ext cx="995371" cy="789432"/>
          </a:xfrm>
          <a:prstGeom prst="rect">
            <a:avLst/>
          </a:prstGeom>
        </p:spPr>
      </p:pic>
      <p:sp>
        <p:nvSpPr>
          <p:cNvPr id="9" name="Shape 5"/>
          <p:cNvSpPr/>
          <p:nvPr/>
        </p:nvSpPr>
        <p:spPr>
          <a:xfrm>
            <a:off x="640080" y="1600200"/>
            <a:ext cx="365760" cy="365760"/>
          </a:xfrm>
          <a:prstGeom prst="ellipse">
            <a:avLst/>
          </a:prstGeom>
          <a:solidFill>
            <a:schemeClr val="tx2"/>
          </a:solidFill>
          <a:ln/>
        </p:spPr>
      </p:sp>
      <p:sp>
        <p:nvSpPr>
          <p:cNvPr id="10" name="Text 6"/>
          <p:cNvSpPr txBox="1"/>
          <p:nvPr/>
        </p:nvSpPr>
        <p:spPr>
          <a:xfrm>
            <a:off x="640080"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1" name="Text 7"/>
          <p:cNvSpPr txBox="1"/>
          <p:nvPr/>
        </p:nvSpPr>
        <p:spPr>
          <a:xfrm>
            <a:off x="603504"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station</a:t>
            </a:r>
            <a:endParaRPr lang="en-US" sz="1600" dirty="0"/>
          </a:p>
          <a:p>
            <a:pPr algn="ctr" indent="0" marL="0">
              <a:buNone/>
            </a:pPr>
            <a:r>
              <a:rPr lang="en-US" sz="1100" i="1" dirty="0">
                <a:solidFill>
                  <a:schemeClr val="accent5"/>
                </a:solidFill>
              </a:rPr>
              <a:t>la gare</a:t>
            </a:r>
            <a:endParaRPr lang="en-US" sz="1600" dirty="0"/>
          </a:p>
        </p:txBody>
      </p:sp>
      <p:sp>
        <p:nvSpPr>
          <p:cNvPr id="12" name="Shape 8"/>
          <p:cNvSpPr/>
          <p:nvPr/>
        </p:nvSpPr>
        <p:spPr>
          <a:xfrm>
            <a:off x="2807208" y="1508760"/>
            <a:ext cx="2057400" cy="1484376"/>
          </a:xfrm>
          <a:prstGeom prst="roundRect">
            <a:avLst>
              <a:gd name="adj" fmla="val 4928"/>
            </a:avLst>
          </a:prstGeom>
          <a:solidFill>
            <a:schemeClr val="bg1"/>
          </a:solidFill>
          <a:ln w="19050">
            <a:solidFill>
              <a:srgbClr val="2A6FB0"/>
            </a:solidFill>
            <a:prstDash val="solid"/>
          </a:ln>
        </p:spPr>
      </p:sp>
      <p:pic>
        <p:nvPicPr>
          <p:cNvPr id="13" name="illustration" descr="le train">    </p:cNvPr>
          <p:cNvPicPr>
            <a:picLocks noChangeAspect="1"/>
          </p:cNvPicPr>
          <p:nvPr/>
        </p:nvPicPr>
        <p:blipFill>
          <a:blip r:embed="rId2"/>
          <a:stretch>
            <a:fillRect/>
          </a:stretch>
        </p:blipFill>
        <p:spPr>
          <a:xfrm>
            <a:off x="3328212" y="1581912"/>
            <a:ext cx="1015393" cy="789432"/>
          </a:xfrm>
          <a:prstGeom prst="rect">
            <a:avLst/>
          </a:prstGeom>
        </p:spPr>
      </p:pic>
      <p:sp>
        <p:nvSpPr>
          <p:cNvPr id="14" name="Shape 9"/>
          <p:cNvSpPr/>
          <p:nvPr/>
        </p:nvSpPr>
        <p:spPr>
          <a:xfrm>
            <a:off x="2898648" y="1600200"/>
            <a:ext cx="365760" cy="365760"/>
          </a:xfrm>
          <a:prstGeom prst="ellipse">
            <a:avLst/>
          </a:prstGeom>
          <a:solidFill>
            <a:schemeClr val="tx2"/>
          </a:solidFill>
          <a:ln/>
        </p:spPr>
      </p:sp>
      <p:sp>
        <p:nvSpPr>
          <p:cNvPr id="15" name="Text 10"/>
          <p:cNvSpPr txBox="1"/>
          <p:nvPr/>
        </p:nvSpPr>
        <p:spPr>
          <a:xfrm>
            <a:off x="2898648"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6" name="Text 11"/>
          <p:cNvSpPr txBox="1"/>
          <p:nvPr/>
        </p:nvSpPr>
        <p:spPr>
          <a:xfrm>
            <a:off x="2862072"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trein</a:t>
            </a:r>
            <a:endParaRPr lang="en-US" sz="1600" dirty="0"/>
          </a:p>
          <a:p>
            <a:pPr algn="ctr" indent="0" marL="0">
              <a:buNone/>
            </a:pPr>
            <a:r>
              <a:rPr lang="en-US" sz="1100" i="1" dirty="0">
                <a:solidFill>
                  <a:schemeClr val="accent5"/>
                </a:solidFill>
              </a:rPr>
              <a:t>le train</a:t>
            </a:r>
            <a:endParaRPr lang="en-US" sz="1600" dirty="0"/>
          </a:p>
        </p:txBody>
      </p:sp>
      <p:sp>
        <p:nvSpPr>
          <p:cNvPr id="17" name="Shape 12"/>
          <p:cNvSpPr/>
          <p:nvPr/>
        </p:nvSpPr>
        <p:spPr>
          <a:xfrm>
            <a:off x="5065776" y="1508760"/>
            <a:ext cx="2057400" cy="1484376"/>
          </a:xfrm>
          <a:prstGeom prst="roundRect">
            <a:avLst>
              <a:gd name="adj" fmla="val 4928"/>
            </a:avLst>
          </a:prstGeom>
          <a:solidFill>
            <a:schemeClr val="bg1"/>
          </a:solidFill>
          <a:ln w="19050">
            <a:solidFill>
              <a:srgbClr val="2A6FB0"/>
            </a:solidFill>
            <a:prstDash val="solid"/>
          </a:ln>
        </p:spPr>
      </p:sp>
      <p:pic>
        <p:nvPicPr>
          <p:cNvPr id="18" name="illustration" descr="le bus">    </p:cNvPr>
          <p:cNvPicPr>
            <a:picLocks noChangeAspect="1"/>
          </p:cNvPicPr>
          <p:nvPr/>
        </p:nvPicPr>
        <p:blipFill>
          <a:blip r:embed="rId3"/>
          <a:stretch>
            <a:fillRect/>
          </a:stretch>
        </p:blipFill>
        <p:spPr>
          <a:xfrm>
            <a:off x="5595360" y="1581912"/>
            <a:ext cx="998231" cy="789432"/>
          </a:xfrm>
          <a:prstGeom prst="rect">
            <a:avLst/>
          </a:prstGeom>
        </p:spPr>
      </p:pic>
      <p:sp>
        <p:nvSpPr>
          <p:cNvPr id="19" name="Shape 13"/>
          <p:cNvSpPr/>
          <p:nvPr/>
        </p:nvSpPr>
        <p:spPr>
          <a:xfrm>
            <a:off x="5157216" y="1600200"/>
            <a:ext cx="365760" cy="365760"/>
          </a:xfrm>
          <a:prstGeom prst="ellipse">
            <a:avLst/>
          </a:prstGeom>
          <a:solidFill>
            <a:schemeClr val="tx2"/>
          </a:solidFill>
          <a:ln/>
        </p:spPr>
      </p:sp>
      <p:sp>
        <p:nvSpPr>
          <p:cNvPr id="20" name="Text 14"/>
          <p:cNvSpPr txBox="1"/>
          <p:nvPr/>
        </p:nvSpPr>
        <p:spPr>
          <a:xfrm>
            <a:off x="5157216"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1" name="Text 15"/>
          <p:cNvSpPr txBox="1"/>
          <p:nvPr/>
        </p:nvSpPr>
        <p:spPr>
          <a:xfrm>
            <a:off x="5120640"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bus</a:t>
            </a:r>
            <a:endParaRPr lang="en-US" sz="1600" dirty="0"/>
          </a:p>
          <a:p>
            <a:pPr algn="ctr" indent="0" marL="0">
              <a:buNone/>
            </a:pPr>
            <a:r>
              <a:rPr lang="en-US" sz="1100" i="1" dirty="0">
                <a:solidFill>
                  <a:schemeClr val="accent5"/>
                </a:solidFill>
              </a:rPr>
              <a:t>le bus</a:t>
            </a:r>
            <a:endParaRPr lang="en-US" sz="1600" dirty="0"/>
          </a:p>
        </p:txBody>
      </p:sp>
      <p:sp>
        <p:nvSpPr>
          <p:cNvPr id="22" name="Shape 16"/>
          <p:cNvSpPr/>
          <p:nvPr/>
        </p:nvSpPr>
        <p:spPr>
          <a:xfrm>
            <a:off x="7324344" y="1508760"/>
            <a:ext cx="2057400" cy="1484376"/>
          </a:xfrm>
          <a:prstGeom prst="roundRect">
            <a:avLst>
              <a:gd name="adj" fmla="val 4928"/>
            </a:avLst>
          </a:prstGeom>
          <a:solidFill>
            <a:schemeClr val="bg1"/>
          </a:solidFill>
          <a:ln w="19050">
            <a:solidFill>
              <a:srgbClr val="2A6FB0"/>
            </a:solidFill>
            <a:prstDash val="solid"/>
          </a:ln>
        </p:spPr>
      </p:sp>
      <p:pic>
        <p:nvPicPr>
          <p:cNvPr id="23" name="illustration" descr="le tram">    </p:cNvPr>
          <p:cNvPicPr>
            <a:picLocks noChangeAspect="1"/>
          </p:cNvPicPr>
          <p:nvPr/>
        </p:nvPicPr>
        <p:blipFill>
          <a:blip r:embed="rId4"/>
          <a:stretch>
            <a:fillRect/>
          </a:stretch>
        </p:blipFill>
        <p:spPr>
          <a:xfrm>
            <a:off x="7877746" y="1581912"/>
            <a:ext cx="950596" cy="789432"/>
          </a:xfrm>
          <a:prstGeom prst="rect">
            <a:avLst/>
          </a:prstGeom>
        </p:spPr>
      </p:pic>
      <p:sp>
        <p:nvSpPr>
          <p:cNvPr id="24" name="Shape 17"/>
          <p:cNvSpPr/>
          <p:nvPr/>
        </p:nvSpPr>
        <p:spPr>
          <a:xfrm>
            <a:off x="7415784" y="1600200"/>
            <a:ext cx="365760" cy="365760"/>
          </a:xfrm>
          <a:prstGeom prst="ellipse">
            <a:avLst/>
          </a:prstGeom>
          <a:solidFill>
            <a:schemeClr val="tx2"/>
          </a:solidFill>
          <a:ln/>
        </p:spPr>
      </p:sp>
      <p:sp>
        <p:nvSpPr>
          <p:cNvPr id="25" name="Text 18"/>
          <p:cNvSpPr txBox="1"/>
          <p:nvPr/>
        </p:nvSpPr>
        <p:spPr>
          <a:xfrm>
            <a:off x="7415784"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6" name="Text 19"/>
          <p:cNvSpPr txBox="1"/>
          <p:nvPr/>
        </p:nvSpPr>
        <p:spPr>
          <a:xfrm>
            <a:off x="7379208"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tram</a:t>
            </a:r>
            <a:endParaRPr lang="en-US" sz="1600" dirty="0"/>
          </a:p>
          <a:p>
            <a:pPr algn="ctr" indent="0" marL="0">
              <a:buNone/>
            </a:pPr>
            <a:r>
              <a:rPr lang="en-US" sz="1100" i="1" dirty="0">
                <a:solidFill>
                  <a:schemeClr val="accent5"/>
                </a:solidFill>
              </a:rPr>
              <a:t>le tram</a:t>
            </a:r>
            <a:endParaRPr lang="en-US" sz="1600" dirty="0"/>
          </a:p>
        </p:txBody>
      </p:sp>
      <p:sp>
        <p:nvSpPr>
          <p:cNvPr id="27" name="Shape 20"/>
          <p:cNvSpPr/>
          <p:nvPr/>
        </p:nvSpPr>
        <p:spPr>
          <a:xfrm>
            <a:off x="9582912" y="1508760"/>
            <a:ext cx="2057400" cy="1484376"/>
          </a:xfrm>
          <a:prstGeom prst="roundRect">
            <a:avLst>
              <a:gd name="adj" fmla="val 4928"/>
            </a:avLst>
          </a:prstGeom>
          <a:solidFill>
            <a:schemeClr val="bg1"/>
          </a:solidFill>
          <a:ln w="19050">
            <a:solidFill>
              <a:srgbClr val="2A6FB0"/>
            </a:solidFill>
            <a:prstDash val="solid"/>
          </a:ln>
        </p:spPr>
      </p:sp>
      <p:pic>
        <p:nvPicPr>
          <p:cNvPr id="28" name="illustration" descr="le vélo">    </p:cNvPr>
          <p:cNvPicPr>
            <a:picLocks noChangeAspect="1"/>
          </p:cNvPicPr>
          <p:nvPr/>
        </p:nvPicPr>
        <p:blipFill>
          <a:blip r:embed="rId5"/>
          <a:stretch>
            <a:fillRect/>
          </a:stretch>
        </p:blipFill>
        <p:spPr>
          <a:xfrm>
            <a:off x="10126753" y="1581912"/>
            <a:ext cx="969718" cy="789432"/>
          </a:xfrm>
          <a:prstGeom prst="rect">
            <a:avLst/>
          </a:prstGeom>
        </p:spPr>
      </p:pic>
      <p:sp>
        <p:nvSpPr>
          <p:cNvPr id="29" name="Shape 21"/>
          <p:cNvSpPr/>
          <p:nvPr/>
        </p:nvSpPr>
        <p:spPr>
          <a:xfrm>
            <a:off x="9674352" y="1600200"/>
            <a:ext cx="365760" cy="365760"/>
          </a:xfrm>
          <a:prstGeom prst="ellipse">
            <a:avLst/>
          </a:prstGeom>
          <a:solidFill>
            <a:schemeClr val="tx2"/>
          </a:solidFill>
          <a:ln/>
        </p:spPr>
      </p:sp>
      <p:sp>
        <p:nvSpPr>
          <p:cNvPr id="30" name="Text 22"/>
          <p:cNvSpPr txBox="1"/>
          <p:nvPr/>
        </p:nvSpPr>
        <p:spPr>
          <a:xfrm>
            <a:off x="9674352" y="160020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1" name="Text 23"/>
          <p:cNvSpPr txBox="1"/>
          <p:nvPr/>
        </p:nvSpPr>
        <p:spPr>
          <a:xfrm>
            <a:off x="9637776" y="2389632"/>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fiets</a:t>
            </a:r>
            <a:endParaRPr lang="en-US" sz="1600" dirty="0"/>
          </a:p>
          <a:p>
            <a:pPr algn="ctr" indent="0" marL="0">
              <a:buNone/>
            </a:pPr>
            <a:r>
              <a:rPr lang="en-US" sz="1100" i="1" dirty="0">
                <a:solidFill>
                  <a:schemeClr val="accent5"/>
                </a:solidFill>
              </a:rPr>
              <a:t>le vélo</a:t>
            </a:r>
            <a:endParaRPr lang="en-US" sz="1600" dirty="0"/>
          </a:p>
        </p:txBody>
      </p:sp>
      <p:sp>
        <p:nvSpPr>
          <p:cNvPr id="32" name="Shape 24"/>
          <p:cNvSpPr/>
          <p:nvPr/>
        </p:nvSpPr>
        <p:spPr>
          <a:xfrm>
            <a:off x="548640" y="3157728"/>
            <a:ext cx="2057400" cy="1484376"/>
          </a:xfrm>
          <a:prstGeom prst="roundRect">
            <a:avLst>
              <a:gd name="adj" fmla="val 4928"/>
            </a:avLst>
          </a:prstGeom>
          <a:solidFill>
            <a:schemeClr val="bg1"/>
          </a:solidFill>
          <a:ln w="19050">
            <a:solidFill>
              <a:srgbClr val="2A6FB0"/>
            </a:solidFill>
            <a:prstDash val="solid"/>
          </a:ln>
        </p:spPr>
      </p:sp>
      <p:pic>
        <p:nvPicPr>
          <p:cNvPr id="33" name="illustration" descr="la voiture">    </p:cNvPr>
          <p:cNvPicPr>
            <a:picLocks noChangeAspect="1"/>
          </p:cNvPicPr>
          <p:nvPr/>
        </p:nvPicPr>
        <p:blipFill>
          <a:blip r:embed="rId6"/>
          <a:stretch>
            <a:fillRect/>
          </a:stretch>
        </p:blipFill>
        <p:spPr>
          <a:xfrm>
            <a:off x="1100676" y="3230880"/>
            <a:ext cx="953328" cy="789432"/>
          </a:xfrm>
          <a:prstGeom prst="rect">
            <a:avLst/>
          </a:prstGeom>
        </p:spPr>
      </p:pic>
      <p:sp>
        <p:nvSpPr>
          <p:cNvPr id="34" name="Shape 25"/>
          <p:cNvSpPr/>
          <p:nvPr/>
        </p:nvSpPr>
        <p:spPr>
          <a:xfrm>
            <a:off x="640080" y="3249168"/>
            <a:ext cx="365760" cy="365760"/>
          </a:xfrm>
          <a:prstGeom prst="ellipse">
            <a:avLst/>
          </a:prstGeom>
          <a:solidFill>
            <a:schemeClr val="tx2"/>
          </a:solidFill>
          <a:ln/>
        </p:spPr>
      </p:sp>
      <p:sp>
        <p:nvSpPr>
          <p:cNvPr id="35" name="Text 26"/>
          <p:cNvSpPr txBox="1"/>
          <p:nvPr/>
        </p:nvSpPr>
        <p:spPr>
          <a:xfrm>
            <a:off x="640080"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6" name="Text 27"/>
          <p:cNvSpPr txBox="1"/>
          <p:nvPr/>
        </p:nvSpPr>
        <p:spPr>
          <a:xfrm>
            <a:off x="603504"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auto</a:t>
            </a:r>
            <a:endParaRPr lang="en-US" sz="1600" dirty="0"/>
          </a:p>
          <a:p>
            <a:pPr algn="ctr" indent="0" marL="0">
              <a:buNone/>
            </a:pPr>
            <a:r>
              <a:rPr lang="en-US" sz="1100" i="1" dirty="0">
                <a:solidFill>
                  <a:schemeClr val="accent5"/>
                </a:solidFill>
              </a:rPr>
              <a:t>la voiture</a:t>
            </a:r>
            <a:endParaRPr lang="en-US" sz="1600" dirty="0"/>
          </a:p>
        </p:txBody>
      </p:sp>
      <p:sp>
        <p:nvSpPr>
          <p:cNvPr id="37" name="Shape 28"/>
          <p:cNvSpPr/>
          <p:nvPr/>
        </p:nvSpPr>
        <p:spPr>
          <a:xfrm>
            <a:off x="2807208" y="3157728"/>
            <a:ext cx="2057400" cy="1484376"/>
          </a:xfrm>
          <a:prstGeom prst="roundRect">
            <a:avLst>
              <a:gd name="adj" fmla="val 4928"/>
            </a:avLst>
          </a:prstGeom>
          <a:solidFill>
            <a:schemeClr val="bg1"/>
          </a:solidFill>
          <a:ln w="19050">
            <a:solidFill>
              <a:srgbClr val="2A6FB0"/>
            </a:solidFill>
            <a:prstDash val="solid"/>
          </a:ln>
        </p:spPr>
      </p:sp>
      <p:pic>
        <p:nvPicPr>
          <p:cNvPr id="38" name="illustration" descr="la rue">    </p:cNvPr>
          <p:cNvPicPr>
            <a:picLocks noChangeAspect="1"/>
          </p:cNvPicPr>
          <p:nvPr/>
        </p:nvPicPr>
        <p:blipFill>
          <a:blip r:embed="rId7"/>
          <a:stretch>
            <a:fillRect/>
          </a:stretch>
        </p:blipFill>
        <p:spPr>
          <a:xfrm>
            <a:off x="3360610" y="3230880"/>
            <a:ext cx="950596" cy="789432"/>
          </a:xfrm>
          <a:prstGeom prst="rect">
            <a:avLst/>
          </a:prstGeom>
        </p:spPr>
      </p:pic>
      <p:sp>
        <p:nvSpPr>
          <p:cNvPr id="39" name="Shape 29"/>
          <p:cNvSpPr/>
          <p:nvPr/>
        </p:nvSpPr>
        <p:spPr>
          <a:xfrm>
            <a:off x="2898648" y="3249168"/>
            <a:ext cx="365760" cy="365760"/>
          </a:xfrm>
          <a:prstGeom prst="ellipse">
            <a:avLst/>
          </a:prstGeom>
          <a:solidFill>
            <a:schemeClr val="tx2"/>
          </a:solidFill>
          <a:ln/>
        </p:spPr>
      </p:sp>
      <p:sp>
        <p:nvSpPr>
          <p:cNvPr id="40" name="Text 30"/>
          <p:cNvSpPr txBox="1"/>
          <p:nvPr/>
        </p:nvSpPr>
        <p:spPr>
          <a:xfrm>
            <a:off x="2898648"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41" name="Text 31"/>
          <p:cNvSpPr txBox="1"/>
          <p:nvPr/>
        </p:nvSpPr>
        <p:spPr>
          <a:xfrm>
            <a:off x="2862072"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straat</a:t>
            </a:r>
            <a:endParaRPr lang="en-US" sz="1600" dirty="0"/>
          </a:p>
          <a:p>
            <a:pPr algn="ctr" indent="0" marL="0">
              <a:buNone/>
            </a:pPr>
            <a:r>
              <a:rPr lang="en-US" sz="1100" i="1" dirty="0">
                <a:solidFill>
                  <a:schemeClr val="accent5"/>
                </a:solidFill>
              </a:rPr>
              <a:t>la rue</a:t>
            </a:r>
            <a:endParaRPr lang="en-US" sz="1600" dirty="0"/>
          </a:p>
        </p:txBody>
      </p:sp>
      <p:sp>
        <p:nvSpPr>
          <p:cNvPr id="42" name="Shape 32"/>
          <p:cNvSpPr/>
          <p:nvPr/>
        </p:nvSpPr>
        <p:spPr>
          <a:xfrm>
            <a:off x="5065776" y="3157728"/>
            <a:ext cx="2057400" cy="1484376"/>
          </a:xfrm>
          <a:prstGeom prst="roundRect">
            <a:avLst>
              <a:gd name="adj" fmla="val 4928"/>
            </a:avLst>
          </a:prstGeom>
          <a:solidFill>
            <a:schemeClr val="bg1"/>
          </a:solidFill>
          <a:ln w="19050">
            <a:solidFill>
              <a:srgbClr val="B4236A"/>
            </a:solidFill>
            <a:prstDash val="solid"/>
          </a:ln>
        </p:spPr>
      </p:sp>
      <p:pic>
        <p:nvPicPr>
          <p:cNvPr id="43" name="illustration" descr="le feu (de signalisation)">    </p:cNvPr>
          <p:cNvPicPr>
            <a:picLocks noChangeAspect="1"/>
          </p:cNvPicPr>
          <p:nvPr/>
        </p:nvPicPr>
        <p:blipFill>
          <a:blip r:embed="rId8"/>
          <a:stretch>
            <a:fillRect/>
          </a:stretch>
        </p:blipFill>
        <p:spPr>
          <a:xfrm>
            <a:off x="5609617" y="3230880"/>
            <a:ext cx="969718" cy="789432"/>
          </a:xfrm>
          <a:prstGeom prst="rect">
            <a:avLst/>
          </a:prstGeom>
        </p:spPr>
      </p:pic>
      <p:sp>
        <p:nvSpPr>
          <p:cNvPr id="44" name="Shape 33"/>
          <p:cNvSpPr/>
          <p:nvPr/>
        </p:nvSpPr>
        <p:spPr>
          <a:xfrm>
            <a:off x="5157216" y="3249168"/>
            <a:ext cx="365760" cy="365760"/>
          </a:xfrm>
          <a:prstGeom prst="ellipse">
            <a:avLst/>
          </a:prstGeom>
          <a:solidFill>
            <a:schemeClr val="tx2"/>
          </a:solidFill>
          <a:ln/>
        </p:spPr>
      </p:sp>
      <p:sp>
        <p:nvSpPr>
          <p:cNvPr id="45" name="Text 34"/>
          <p:cNvSpPr txBox="1"/>
          <p:nvPr/>
        </p:nvSpPr>
        <p:spPr>
          <a:xfrm>
            <a:off x="5157216"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46" name="Text 35"/>
          <p:cNvSpPr txBox="1"/>
          <p:nvPr/>
        </p:nvSpPr>
        <p:spPr>
          <a:xfrm>
            <a:off x="5120640"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verkeerslicht</a:t>
            </a:r>
            <a:endParaRPr lang="en-US" sz="1600" dirty="0"/>
          </a:p>
          <a:p>
            <a:pPr algn="ctr" indent="0" marL="0">
              <a:buNone/>
            </a:pPr>
            <a:r>
              <a:rPr lang="en-US" sz="1100" i="1" dirty="0">
                <a:solidFill>
                  <a:schemeClr val="accent5"/>
                </a:solidFill>
              </a:rPr>
              <a:t>le feu (de signalisation)</a:t>
            </a:r>
            <a:endParaRPr lang="en-US" sz="1600" dirty="0"/>
          </a:p>
        </p:txBody>
      </p:sp>
      <p:sp>
        <p:nvSpPr>
          <p:cNvPr id="47" name="Shape 36"/>
          <p:cNvSpPr/>
          <p:nvPr/>
        </p:nvSpPr>
        <p:spPr>
          <a:xfrm>
            <a:off x="7324344" y="3157728"/>
            <a:ext cx="2057400" cy="1484376"/>
          </a:xfrm>
          <a:prstGeom prst="roundRect">
            <a:avLst>
              <a:gd name="adj" fmla="val 4928"/>
            </a:avLst>
          </a:prstGeom>
          <a:solidFill>
            <a:schemeClr val="bg1"/>
          </a:solidFill>
          <a:ln w="19050">
            <a:solidFill>
              <a:srgbClr val="2A6FB0"/>
            </a:solidFill>
            <a:prstDash val="solid"/>
          </a:ln>
        </p:spPr>
      </p:sp>
      <p:pic>
        <p:nvPicPr>
          <p:cNvPr id="48" name="illustration" descr="le pont">    </p:cNvPr>
          <p:cNvPicPr>
            <a:picLocks noChangeAspect="1"/>
          </p:cNvPicPr>
          <p:nvPr/>
        </p:nvPicPr>
        <p:blipFill>
          <a:blip r:embed="rId9"/>
          <a:stretch>
            <a:fillRect/>
          </a:stretch>
        </p:blipFill>
        <p:spPr>
          <a:xfrm>
            <a:off x="7876380" y="3230880"/>
            <a:ext cx="953328" cy="789432"/>
          </a:xfrm>
          <a:prstGeom prst="rect">
            <a:avLst/>
          </a:prstGeom>
        </p:spPr>
      </p:pic>
      <p:sp>
        <p:nvSpPr>
          <p:cNvPr id="49" name="Shape 37"/>
          <p:cNvSpPr/>
          <p:nvPr/>
        </p:nvSpPr>
        <p:spPr>
          <a:xfrm>
            <a:off x="7415784" y="3249168"/>
            <a:ext cx="365760" cy="365760"/>
          </a:xfrm>
          <a:prstGeom prst="ellipse">
            <a:avLst/>
          </a:prstGeom>
          <a:solidFill>
            <a:schemeClr val="tx2"/>
          </a:solidFill>
          <a:ln/>
        </p:spPr>
      </p:sp>
      <p:sp>
        <p:nvSpPr>
          <p:cNvPr id="50" name="Text 38"/>
          <p:cNvSpPr txBox="1"/>
          <p:nvPr/>
        </p:nvSpPr>
        <p:spPr>
          <a:xfrm>
            <a:off x="7415784"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9</a:t>
            </a:r>
            <a:endParaRPr lang="en-US" sz="1200" dirty="0"/>
          </a:p>
        </p:txBody>
      </p:sp>
      <p:sp>
        <p:nvSpPr>
          <p:cNvPr id="51" name="Text 39"/>
          <p:cNvSpPr txBox="1"/>
          <p:nvPr/>
        </p:nvSpPr>
        <p:spPr>
          <a:xfrm>
            <a:off x="7379208"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brug</a:t>
            </a:r>
            <a:endParaRPr lang="en-US" sz="1600" dirty="0"/>
          </a:p>
          <a:p>
            <a:pPr algn="ctr" indent="0" marL="0">
              <a:buNone/>
            </a:pPr>
            <a:r>
              <a:rPr lang="en-US" sz="1100" i="1" dirty="0">
                <a:solidFill>
                  <a:schemeClr val="accent5"/>
                </a:solidFill>
              </a:rPr>
              <a:t>le pont</a:t>
            </a:r>
            <a:endParaRPr lang="en-US" sz="1600" dirty="0"/>
          </a:p>
        </p:txBody>
      </p:sp>
      <p:sp>
        <p:nvSpPr>
          <p:cNvPr id="52" name="Shape 40"/>
          <p:cNvSpPr/>
          <p:nvPr/>
        </p:nvSpPr>
        <p:spPr>
          <a:xfrm>
            <a:off x="9582912" y="3157728"/>
            <a:ext cx="2057400" cy="1484376"/>
          </a:xfrm>
          <a:prstGeom prst="roundRect">
            <a:avLst>
              <a:gd name="adj" fmla="val 4928"/>
            </a:avLst>
          </a:prstGeom>
          <a:solidFill>
            <a:schemeClr val="bg1"/>
          </a:solidFill>
          <a:ln w="19050">
            <a:solidFill>
              <a:srgbClr val="2A6FB0"/>
            </a:solidFill>
            <a:prstDash val="solid"/>
          </a:ln>
        </p:spPr>
      </p:sp>
      <p:pic>
        <p:nvPicPr>
          <p:cNvPr id="53" name="illustration" descr="l’église">    </p:cNvPr>
          <p:cNvPicPr>
            <a:picLocks noChangeAspect="1"/>
          </p:cNvPicPr>
          <p:nvPr/>
        </p:nvPicPr>
        <p:blipFill>
          <a:blip r:embed="rId10"/>
          <a:stretch>
            <a:fillRect/>
          </a:stretch>
        </p:blipFill>
        <p:spPr>
          <a:xfrm>
            <a:off x="10136314" y="3230880"/>
            <a:ext cx="950596" cy="789432"/>
          </a:xfrm>
          <a:prstGeom prst="rect">
            <a:avLst/>
          </a:prstGeom>
        </p:spPr>
      </p:pic>
      <p:sp>
        <p:nvSpPr>
          <p:cNvPr id="54" name="Shape 41"/>
          <p:cNvSpPr/>
          <p:nvPr/>
        </p:nvSpPr>
        <p:spPr>
          <a:xfrm>
            <a:off x="9674352" y="3249168"/>
            <a:ext cx="365760" cy="365760"/>
          </a:xfrm>
          <a:prstGeom prst="ellipse">
            <a:avLst/>
          </a:prstGeom>
          <a:solidFill>
            <a:schemeClr val="tx2"/>
          </a:solidFill>
          <a:ln/>
        </p:spPr>
      </p:sp>
      <p:sp>
        <p:nvSpPr>
          <p:cNvPr id="55" name="Text 42"/>
          <p:cNvSpPr txBox="1"/>
          <p:nvPr/>
        </p:nvSpPr>
        <p:spPr>
          <a:xfrm>
            <a:off x="9674352" y="324916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10</a:t>
            </a:r>
            <a:endParaRPr lang="en-US" sz="1200" dirty="0"/>
          </a:p>
        </p:txBody>
      </p:sp>
      <p:sp>
        <p:nvSpPr>
          <p:cNvPr id="56" name="Text 43"/>
          <p:cNvSpPr txBox="1"/>
          <p:nvPr/>
        </p:nvSpPr>
        <p:spPr>
          <a:xfrm>
            <a:off x="9637776" y="4038600"/>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kerk</a:t>
            </a:r>
            <a:endParaRPr lang="en-US" sz="1600" dirty="0"/>
          </a:p>
          <a:p>
            <a:pPr algn="ctr" indent="0" marL="0">
              <a:buNone/>
            </a:pPr>
            <a:r>
              <a:rPr lang="en-US" sz="1100" i="1" dirty="0">
                <a:solidFill>
                  <a:schemeClr val="accent5"/>
                </a:solidFill>
              </a:rPr>
              <a:t>l’église</a:t>
            </a:r>
            <a:endParaRPr lang="en-US" sz="1600" dirty="0"/>
          </a:p>
        </p:txBody>
      </p:sp>
      <p:sp>
        <p:nvSpPr>
          <p:cNvPr id="57" name="Shape 44"/>
          <p:cNvSpPr/>
          <p:nvPr/>
        </p:nvSpPr>
        <p:spPr>
          <a:xfrm>
            <a:off x="548640" y="4806696"/>
            <a:ext cx="2057400" cy="1484376"/>
          </a:xfrm>
          <a:prstGeom prst="roundRect">
            <a:avLst>
              <a:gd name="adj" fmla="val 4928"/>
            </a:avLst>
          </a:prstGeom>
          <a:solidFill>
            <a:schemeClr val="bg1"/>
          </a:solidFill>
          <a:ln w="19050">
            <a:solidFill>
              <a:srgbClr val="B4236A"/>
            </a:solidFill>
            <a:prstDash val="solid"/>
          </a:ln>
        </p:spPr>
      </p:sp>
      <p:pic>
        <p:nvPicPr>
          <p:cNvPr id="58" name="illustration" descr="le musée">    </p:cNvPr>
          <p:cNvPicPr>
            <a:picLocks noChangeAspect="1"/>
          </p:cNvPicPr>
          <p:nvPr/>
        </p:nvPicPr>
        <p:blipFill>
          <a:blip r:embed="rId11"/>
          <a:stretch>
            <a:fillRect/>
          </a:stretch>
        </p:blipFill>
        <p:spPr>
          <a:xfrm>
            <a:off x="1092481" y="4879848"/>
            <a:ext cx="969718" cy="789432"/>
          </a:xfrm>
          <a:prstGeom prst="rect">
            <a:avLst/>
          </a:prstGeom>
        </p:spPr>
      </p:pic>
      <p:sp>
        <p:nvSpPr>
          <p:cNvPr id="59" name="Shape 45"/>
          <p:cNvSpPr/>
          <p:nvPr/>
        </p:nvSpPr>
        <p:spPr>
          <a:xfrm>
            <a:off x="640080" y="4898136"/>
            <a:ext cx="365760" cy="365760"/>
          </a:xfrm>
          <a:prstGeom prst="ellipse">
            <a:avLst/>
          </a:prstGeom>
          <a:solidFill>
            <a:schemeClr val="tx2"/>
          </a:solidFill>
          <a:ln/>
        </p:spPr>
      </p:sp>
      <p:sp>
        <p:nvSpPr>
          <p:cNvPr id="60" name="Text 46"/>
          <p:cNvSpPr txBox="1"/>
          <p:nvPr/>
        </p:nvSpPr>
        <p:spPr>
          <a:xfrm>
            <a:off x="640080"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11</a:t>
            </a:r>
            <a:endParaRPr lang="en-US" sz="1200" dirty="0"/>
          </a:p>
        </p:txBody>
      </p:sp>
      <p:sp>
        <p:nvSpPr>
          <p:cNvPr id="61" name="Text 47"/>
          <p:cNvSpPr txBox="1"/>
          <p:nvPr/>
        </p:nvSpPr>
        <p:spPr>
          <a:xfrm>
            <a:off x="603504"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4"/>
                </a:solidFill>
              </a:rPr>
              <a:t>het </a:t>
            </a:r>
            <a:r>
              <a:rPr lang="en-US" sz="1600" b="1" dirty="0">
                <a:solidFill>
                  <a:schemeClr val="tx1"/>
                </a:solidFill>
              </a:rPr>
              <a:t>museum</a:t>
            </a:r>
            <a:endParaRPr lang="en-US" sz="1600" dirty="0"/>
          </a:p>
          <a:p>
            <a:pPr algn="ctr" indent="0" marL="0">
              <a:buNone/>
            </a:pPr>
            <a:r>
              <a:rPr lang="en-US" sz="1100" i="1" dirty="0">
                <a:solidFill>
                  <a:schemeClr val="accent5"/>
                </a:solidFill>
              </a:rPr>
              <a:t>le musée</a:t>
            </a:r>
            <a:endParaRPr lang="en-US" sz="1600" dirty="0"/>
          </a:p>
        </p:txBody>
      </p:sp>
      <p:sp>
        <p:nvSpPr>
          <p:cNvPr id="62" name="Shape 48"/>
          <p:cNvSpPr/>
          <p:nvPr/>
        </p:nvSpPr>
        <p:spPr>
          <a:xfrm>
            <a:off x="2807208" y="4806696"/>
            <a:ext cx="2057400" cy="1484376"/>
          </a:xfrm>
          <a:prstGeom prst="roundRect">
            <a:avLst>
              <a:gd name="adj" fmla="val 4928"/>
            </a:avLst>
          </a:prstGeom>
          <a:solidFill>
            <a:schemeClr val="bg1"/>
          </a:solidFill>
          <a:ln w="19050">
            <a:solidFill>
              <a:srgbClr val="2A6FB0"/>
            </a:solidFill>
            <a:prstDash val="solid"/>
          </a:ln>
        </p:spPr>
      </p:sp>
      <p:pic>
        <p:nvPicPr>
          <p:cNvPr id="63" name="illustration" descr="la bibliothèque">    </p:cNvPr>
          <p:cNvPicPr>
            <a:picLocks noChangeAspect="1"/>
          </p:cNvPicPr>
          <p:nvPr/>
        </p:nvPicPr>
        <p:blipFill>
          <a:blip r:embed="rId12"/>
          <a:stretch>
            <a:fillRect/>
          </a:stretch>
        </p:blipFill>
        <p:spPr>
          <a:xfrm>
            <a:off x="3359244" y="4879848"/>
            <a:ext cx="953328" cy="789432"/>
          </a:xfrm>
          <a:prstGeom prst="rect">
            <a:avLst/>
          </a:prstGeom>
        </p:spPr>
      </p:pic>
      <p:sp>
        <p:nvSpPr>
          <p:cNvPr id="64" name="Shape 49"/>
          <p:cNvSpPr/>
          <p:nvPr/>
        </p:nvSpPr>
        <p:spPr>
          <a:xfrm>
            <a:off x="2898648" y="4898136"/>
            <a:ext cx="365760" cy="365760"/>
          </a:xfrm>
          <a:prstGeom prst="ellipse">
            <a:avLst/>
          </a:prstGeom>
          <a:solidFill>
            <a:schemeClr val="tx2"/>
          </a:solidFill>
          <a:ln/>
        </p:spPr>
      </p:sp>
      <p:sp>
        <p:nvSpPr>
          <p:cNvPr id="65" name="Text 50"/>
          <p:cNvSpPr txBox="1"/>
          <p:nvPr/>
        </p:nvSpPr>
        <p:spPr>
          <a:xfrm>
            <a:off x="2898648"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12</a:t>
            </a:r>
            <a:endParaRPr lang="en-US" sz="1200" dirty="0"/>
          </a:p>
        </p:txBody>
      </p:sp>
      <p:sp>
        <p:nvSpPr>
          <p:cNvPr id="66" name="Text 51"/>
          <p:cNvSpPr txBox="1"/>
          <p:nvPr/>
        </p:nvSpPr>
        <p:spPr>
          <a:xfrm>
            <a:off x="2862072"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bibliotheek</a:t>
            </a:r>
            <a:endParaRPr lang="en-US" sz="1600" dirty="0"/>
          </a:p>
          <a:p>
            <a:pPr algn="ctr" indent="0" marL="0">
              <a:buNone/>
            </a:pPr>
            <a:r>
              <a:rPr lang="en-US" sz="1100" i="1" dirty="0">
                <a:solidFill>
                  <a:schemeClr val="accent5"/>
                </a:solidFill>
              </a:rPr>
              <a:t>la bibliothèque</a:t>
            </a:r>
            <a:endParaRPr lang="en-US" sz="1600" dirty="0"/>
          </a:p>
        </p:txBody>
      </p:sp>
      <p:sp>
        <p:nvSpPr>
          <p:cNvPr id="67" name="Shape 52"/>
          <p:cNvSpPr/>
          <p:nvPr/>
        </p:nvSpPr>
        <p:spPr>
          <a:xfrm>
            <a:off x="5065776" y="4806696"/>
            <a:ext cx="2057400" cy="1484376"/>
          </a:xfrm>
          <a:prstGeom prst="roundRect">
            <a:avLst>
              <a:gd name="adj" fmla="val 4928"/>
            </a:avLst>
          </a:prstGeom>
          <a:solidFill>
            <a:schemeClr val="bg1"/>
          </a:solidFill>
          <a:ln w="19050">
            <a:solidFill>
              <a:srgbClr val="2A6FB0"/>
            </a:solidFill>
            <a:prstDash val="solid"/>
          </a:ln>
        </p:spPr>
      </p:sp>
      <p:pic>
        <p:nvPicPr>
          <p:cNvPr id="68" name="illustration" descr="le plan (de ville)">    </p:cNvPr>
          <p:cNvPicPr>
            <a:picLocks noChangeAspect="1"/>
          </p:cNvPicPr>
          <p:nvPr/>
        </p:nvPicPr>
        <p:blipFill>
          <a:blip r:embed="rId13"/>
          <a:stretch>
            <a:fillRect/>
          </a:stretch>
        </p:blipFill>
        <p:spPr>
          <a:xfrm>
            <a:off x="5596791" y="4879848"/>
            <a:ext cx="995371" cy="789432"/>
          </a:xfrm>
          <a:prstGeom prst="rect">
            <a:avLst/>
          </a:prstGeom>
        </p:spPr>
      </p:pic>
      <p:sp>
        <p:nvSpPr>
          <p:cNvPr id="69" name="Shape 53"/>
          <p:cNvSpPr/>
          <p:nvPr/>
        </p:nvSpPr>
        <p:spPr>
          <a:xfrm>
            <a:off x="5157216" y="4898136"/>
            <a:ext cx="365760" cy="365760"/>
          </a:xfrm>
          <a:prstGeom prst="ellipse">
            <a:avLst/>
          </a:prstGeom>
          <a:solidFill>
            <a:schemeClr val="tx2"/>
          </a:solidFill>
          <a:ln/>
        </p:spPr>
      </p:sp>
      <p:sp>
        <p:nvSpPr>
          <p:cNvPr id="70" name="Text 54"/>
          <p:cNvSpPr txBox="1"/>
          <p:nvPr/>
        </p:nvSpPr>
        <p:spPr>
          <a:xfrm>
            <a:off x="5157216"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13</a:t>
            </a:r>
            <a:endParaRPr lang="en-US" sz="1200" dirty="0"/>
          </a:p>
        </p:txBody>
      </p:sp>
      <p:sp>
        <p:nvSpPr>
          <p:cNvPr id="71" name="Text 55"/>
          <p:cNvSpPr txBox="1"/>
          <p:nvPr/>
        </p:nvSpPr>
        <p:spPr>
          <a:xfrm>
            <a:off x="5120640"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plattegrond</a:t>
            </a:r>
            <a:endParaRPr lang="en-US" sz="1600" dirty="0"/>
          </a:p>
          <a:p>
            <a:pPr algn="ctr" indent="0" marL="0">
              <a:buNone/>
            </a:pPr>
            <a:r>
              <a:rPr lang="en-US" sz="1100" i="1" dirty="0">
                <a:solidFill>
                  <a:schemeClr val="accent5"/>
                </a:solidFill>
              </a:rPr>
              <a:t>le plan (de ville)</a:t>
            </a:r>
            <a:endParaRPr lang="en-US" sz="1600" dirty="0"/>
          </a:p>
        </p:txBody>
      </p:sp>
      <p:sp>
        <p:nvSpPr>
          <p:cNvPr id="72" name="Shape 56"/>
          <p:cNvSpPr/>
          <p:nvPr/>
        </p:nvSpPr>
        <p:spPr>
          <a:xfrm>
            <a:off x="7324344" y="4806696"/>
            <a:ext cx="2057400" cy="1484376"/>
          </a:xfrm>
          <a:prstGeom prst="roundRect">
            <a:avLst>
              <a:gd name="adj" fmla="val 4928"/>
            </a:avLst>
          </a:prstGeom>
          <a:solidFill>
            <a:schemeClr val="bg1"/>
          </a:solidFill>
          <a:ln w="19050">
            <a:solidFill>
              <a:srgbClr val="2A6FB0"/>
            </a:solidFill>
            <a:prstDash val="solid"/>
          </a:ln>
        </p:spPr>
      </p:sp>
      <p:pic>
        <p:nvPicPr>
          <p:cNvPr id="73" name="illustration" descr="l’arrêt de bus">    </p:cNvPr>
          <p:cNvPicPr>
            <a:picLocks noChangeAspect="1"/>
          </p:cNvPicPr>
          <p:nvPr/>
        </p:nvPicPr>
        <p:blipFill>
          <a:blip r:embed="rId14"/>
          <a:stretch>
            <a:fillRect/>
          </a:stretch>
        </p:blipFill>
        <p:spPr>
          <a:xfrm>
            <a:off x="7845348" y="4879848"/>
            <a:ext cx="1015393" cy="789432"/>
          </a:xfrm>
          <a:prstGeom prst="rect">
            <a:avLst/>
          </a:prstGeom>
        </p:spPr>
      </p:pic>
      <p:sp>
        <p:nvSpPr>
          <p:cNvPr id="74" name="Shape 57"/>
          <p:cNvSpPr/>
          <p:nvPr/>
        </p:nvSpPr>
        <p:spPr>
          <a:xfrm>
            <a:off x="7415784" y="4898136"/>
            <a:ext cx="365760" cy="365760"/>
          </a:xfrm>
          <a:prstGeom prst="ellipse">
            <a:avLst/>
          </a:prstGeom>
          <a:solidFill>
            <a:schemeClr val="tx2"/>
          </a:solidFill>
          <a:ln/>
        </p:spPr>
      </p:sp>
      <p:sp>
        <p:nvSpPr>
          <p:cNvPr id="75" name="Text 58"/>
          <p:cNvSpPr txBox="1"/>
          <p:nvPr/>
        </p:nvSpPr>
        <p:spPr>
          <a:xfrm>
            <a:off x="7415784"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14</a:t>
            </a:r>
            <a:endParaRPr lang="en-US" sz="1200" dirty="0"/>
          </a:p>
        </p:txBody>
      </p:sp>
      <p:sp>
        <p:nvSpPr>
          <p:cNvPr id="76" name="Text 59"/>
          <p:cNvSpPr txBox="1"/>
          <p:nvPr/>
        </p:nvSpPr>
        <p:spPr>
          <a:xfrm>
            <a:off x="7379208"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bushalte</a:t>
            </a:r>
            <a:endParaRPr lang="en-US" sz="1600" dirty="0"/>
          </a:p>
          <a:p>
            <a:pPr algn="ctr" indent="0" marL="0">
              <a:buNone/>
            </a:pPr>
            <a:r>
              <a:rPr lang="en-US" sz="1100" i="1" dirty="0">
                <a:solidFill>
                  <a:schemeClr val="accent5"/>
                </a:solidFill>
              </a:rPr>
              <a:t>l’arrêt de bus</a:t>
            </a:r>
            <a:endParaRPr lang="en-US" sz="1600" dirty="0"/>
          </a:p>
        </p:txBody>
      </p:sp>
      <p:sp>
        <p:nvSpPr>
          <p:cNvPr id="77" name="Shape 60"/>
          <p:cNvSpPr/>
          <p:nvPr/>
        </p:nvSpPr>
        <p:spPr>
          <a:xfrm>
            <a:off x="9582912" y="4806696"/>
            <a:ext cx="2057400" cy="1484376"/>
          </a:xfrm>
          <a:prstGeom prst="roundRect">
            <a:avLst>
              <a:gd name="adj" fmla="val 4928"/>
            </a:avLst>
          </a:prstGeom>
          <a:solidFill>
            <a:schemeClr val="bg1"/>
          </a:solidFill>
          <a:ln w="19050">
            <a:solidFill>
              <a:srgbClr val="2A6FB0"/>
            </a:solidFill>
            <a:prstDash val="solid"/>
          </a:ln>
        </p:spPr>
      </p:sp>
      <p:pic>
        <p:nvPicPr>
          <p:cNvPr id="78" name="illustration" descr="le parking">    </p:cNvPr>
          <p:cNvPicPr>
            <a:picLocks noChangeAspect="1"/>
          </p:cNvPicPr>
          <p:nvPr/>
        </p:nvPicPr>
        <p:blipFill>
          <a:blip r:embed="rId15"/>
          <a:stretch>
            <a:fillRect/>
          </a:stretch>
        </p:blipFill>
        <p:spPr>
          <a:xfrm>
            <a:off x="10112496" y="4879848"/>
            <a:ext cx="998231" cy="789432"/>
          </a:xfrm>
          <a:prstGeom prst="rect">
            <a:avLst/>
          </a:prstGeom>
        </p:spPr>
      </p:pic>
      <p:sp>
        <p:nvSpPr>
          <p:cNvPr id="79" name="Shape 61"/>
          <p:cNvSpPr/>
          <p:nvPr/>
        </p:nvSpPr>
        <p:spPr>
          <a:xfrm>
            <a:off x="9674352" y="4898136"/>
            <a:ext cx="365760" cy="365760"/>
          </a:xfrm>
          <a:prstGeom prst="ellipse">
            <a:avLst/>
          </a:prstGeom>
          <a:solidFill>
            <a:schemeClr val="tx2"/>
          </a:solidFill>
          <a:ln/>
        </p:spPr>
      </p:sp>
      <p:sp>
        <p:nvSpPr>
          <p:cNvPr id="80" name="Text 62"/>
          <p:cNvSpPr txBox="1"/>
          <p:nvPr/>
        </p:nvSpPr>
        <p:spPr>
          <a:xfrm>
            <a:off x="9674352" y="489813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15</a:t>
            </a:r>
            <a:endParaRPr lang="en-US" sz="1200" dirty="0"/>
          </a:p>
        </p:txBody>
      </p:sp>
      <p:sp>
        <p:nvSpPr>
          <p:cNvPr id="81" name="Text 63"/>
          <p:cNvSpPr txBox="1"/>
          <p:nvPr/>
        </p:nvSpPr>
        <p:spPr>
          <a:xfrm>
            <a:off x="9637776" y="5687568"/>
            <a:ext cx="1947672" cy="566928"/>
          </a:xfrm>
          <a:prstGeom prst="rect">
            <a:avLst/>
          </a:prstGeom>
          <a:noFill/>
          <a:ln/>
        </p:spPr>
        <p:txBody>
          <a:bodyPr wrap="square" lIns="0" tIns="0" rIns="0" bIns="0" rtlCol="0" anchor="ctr"/>
          <a:lstStyle/>
          <a:p>
            <a:pPr algn="ctr" indent="0" marL="0">
              <a:buNone/>
            </a:pPr>
            <a:r>
              <a:rPr lang="en-US" sz="1600" b="1" dirty="0">
                <a:solidFill>
                  <a:schemeClr val="accent2"/>
                </a:solidFill>
              </a:rPr>
              <a:t>de </a:t>
            </a:r>
            <a:r>
              <a:rPr lang="en-US" sz="1600" b="1" dirty="0">
                <a:solidFill>
                  <a:schemeClr val="tx1"/>
                </a:solidFill>
              </a:rPr>
              <a:t>parking</a:t>
            </a:r>
            <a:endParaRPr lang="en-US" sz="1600" dirty="0"/>
          </a:p>
          <a:p>
            <a:pPr algn="ctr" indent="0" marL="0">
              <a:buNone/>
            </a:pPr>
            <a:r>
              <a:rPr lang="en-US" sz="1100" i="1" dirty="0">
                <a:solidFill>
                  <a:schemeClr val="accent5"/>
                </a:solidFill>
              </a:rPr>
              <a:t>le parking</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Voorzetsels : où ? quand ?</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65</a:t>
            </a:r>
            <a:endParaRPr lang="en-US" sz="1200" dirty="0"/>
          </a:p>
        </p:txBody>
      </p:sp>
      <p:sp>
        <p:nvSpPr>
          <p:cNvPr id="6" name="Text 3"/>
          <p:cNvSpPr txBox="1"/>
          <p:nvPr/>
        </p:nvSpPr>
        <p:spPr>
          <a:xfrm>
            <a:off x="548640" y="1481328"/>
            <a:ext cx="11091672" cy="329184"/>
          </a:xfrm>
          <a:prstGeom prst="rect">
            <a:avLst/>
          </a:prstGeom>
          <a:noFill/>
          <a:ln/>
        </p:spPr>
        <p:txBody>
          <a:bodyPr wrap="square" lIns="0" tIns="0" rIns="0" bIns="0" rtlCol="0" anchor="t"/>
          <a:lstStyle/>
          <a:p>
            <a:pPr indent="0" marL="0">
              <a:buNone/>
            </a:pPr>
            <a:r>
              <a:rPr lang="en-US" sz="1800" b="1" dirty="0">
                <a:solidFill>
                  <a:schemeClr val="tx1"/>
                </a:solidFill>
              </a:rPr>
              <a:t>Où ?</a:t>
            </a:r>
            <a:r>
              <a:rPr lang="en-US" sz="1800" dirty="0">
                <a:solidFill>
                  <a:schemeClr val="tx1"/>
                </a:solidFill>
              </a:rPr>
              <a:t> in · op · naar · bij — </a:t>
            </a:r>
            <a:r>
              <a:rPr lang="en-US" sz="1800" b="1" dirty="0">
                <a:solidFill>
                  <a:schemeClr val="tx1"/>
                </a:solidFill>
              </a:rPr>
              <a:t>Quand ?</a:t>
            </a:r>
            <a:r>
              <a:rPr lang="en-US" sz="1800" dirty="0">
                <a:solidFill>
                  <a:schemeClr val="tx1"/>
                </a:solidFill>
              </a:rPr>
              <a:t> om · op · in · van … tot. (→) = avec mouvement.</a:t>
            </a:r>
            <a:endParaRPr lang="en-US" sz="1800" dirty="0"/>
          </a:p>
        </p:txBody>
      </p:sp>
      <p:sp>
        <p:nvSpPr>
          <p:cNvPr id="7" name="Shape 4"/>
          <p:cNvSpPr/>
          <p:nvPr/>
        </p:nvSpPr>
        <p:spPr>
          <a:xfrm>
            <a:off x="548640" y="1947672"/>
            <a:ext cx="3514344" cy="3416808"/>
          </a:xfrm>
          <a:prstGeom prst="roundRect">
            <a:avLst>
              <a:gd name="adj" fmla="val 2676"/>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8" name="Shape 5"/>
          <p:cNvSpPr/>
          <p:nvPr/>
        </p:nvSpPr>
        <p:spPr>
          <a:xfrm>
            <a:off x="548640" y="1947672"/>
            <a:ext cx="3514344" cy="502920"/>
          </a:xfrm>
          <a:prstGeom prst="roundRect">
            <a:avLst>
              <a:gd name="adj" fmla="val 18182"/>
            </a:avLst>
          </a:prstGeom>
          <a:solidFill>
            <a:schemeClr val="accent4"/>
          </a:solidFill>
          <a:ln/>
        </p:spPr>
      </p:sp>
      <p:sp>
        <p:nvSpPr>
          <p:cNvPr id="9" name="Shape 6"/>
          <p:cNvSpPr/>
          <p:nvPr/>
        </p:nvSpPr>
        <p:spPr>
          <a:xfrm>
            <a:off x="548640" y="2267712"/>
            <a:ext cx="3514344" cy="182880"/>
          </a:xfrm>
          <a:prstGeom prst="rect">
            <a:avLst/>
          </a:prstGeom>
          <a:solidFill>
            <a:schemeClr val="accent4"/>
          </a:solidFill>
          <a:ln w="12700">
            <a:solidFill>
              <a:schemeClr val="accent4"/>
            </a:solidFill>
            <a:prstDash val="solid"/>
          </a:ln>
        </p:spPr>
      </p:sp>
      <p:sp>
        <p:nvSpPr>
          <p:cNvPr id="10" name="Text 7"/>
          <p:cNvSpPr txBox="1"/>
          <p:nvPr/>
        </p:nvSpPr>
        <p:spPr>
          <a:xfrm>
            <a:off x="731520" y="1947672"/>
            <a:ext cx="3148584" cy="502920"/>
          </a:xfrm>
          <a:prstGeom prst="rect">
            <a:avLst/>
          </a:prstGeom>
          <a:noFill/>
          <a:ln/>
        </p:spPr>
        <p:txBody>
          <a:bodyPr wrap="square" lIns="0" tIns="0" rIns="0" bIns="0" rtlCol="0" anchor="ctr"/>
          <a:lstStyle/>
          <a:p>
            <a:pPr indent="0" marL="0">
              <a:buNone/>
            </a:pPr>
            <a:r>
              <a:rPr lang="en-US" sz="1500" b="1" spc="100" kern="0" dirty="0">
                <a:solidFill>
                  <a:schemeClr val="bg1"/>
                </a:solidFill>
              </a:rPr>
              <a:t>WAAR ? — OÙ</a:t>
            </a:r>
            <a:endParaRPr lang="en-US" sz="1500" dirty="0"/>
          </a:p>
        </p:txBody>
      </p:sp>
      <p:sp>
        <p:nvSpPr>
          <p:cNvPr id="11" name="Text 8"/>
          <p:cNvSpPr txBox="1"/>
          <p:nvPr/>
        </p:nvSpPr>
        <p:spPr>
          <a:xfrm>
            <a:off x="731520" y="2551176"/>
            <a:ext cx="3148584" cy="361569"/>
          </a:xfrm>
          <a:prstGeom prst="rect">
            <a:avLst/>
          </a:prstGeom>
          <a:noFill/>
          <a:ln/>
        </p:spPr>
        <p:txBody>
          <a:bodyPr wrap="square" lIns="0" tIns="0" rIns="0" bIns="0" rtlCol="0" anchor="t"/>
          <a:lstStyle/>
          <a:p>
            <a:pPr indent="0" marL="0">
              <a:buNone/>
            </a:pPr>
            <a:r>
              <a:rPr lang="en-US" sz="2100" b="1" dirty="0">
                <a:solidFill>
                  <a:schemeClr val="accent4"/>
                </a:solidFill>
                <a:latin typeface="+mj-lt" pitchFamily="34" charset="0"/>
                <a:ea typeface="+mj-lt" pitchFamily="34" charset="-122"/>
                <a:cs typeface="+mj-lt" pitchFamily="34" charset="-120"/>
              </a:rPr>
              <a:t>in · op · naar · bij</a:t>
            </a:r>
            <a:endParaRPr lang="en-US" sz="2100" dirty="0"/>
          </a:p>
        </p:txBody>
      </p:sp>
      <p:sp>
        <p:nvSpPr>
          <p:cNvPr id="12" name="Text 9"/>
          <p:cNvSpPr txBox="1"/>
          <p:nvPr/>
        </p:nvSpPr>
        <p:spPr>
          <a:xfrm>
            <a:off x="731520" y="3049905"/>
            <a:ext cx="3148584" cy="2204847"/>
          </a:xfrm>
          <a:prstGeom prst="rect">
            <a:avLst/>
          </a:prstGeom>
          <a:noFill/>
          <a:ln/>
        </p:spPr>
        <p:txBody>
          <a:bodyPr wrap="square" lIns="0" tIns="0" rIns="0" bIns="0" rtlCol="0" anchor="t"/>
          <a:lstStyle/>
          <a:p>
            <a:pPr marL="177800" indent="-177800">
              <a:spcAft>
                <a:spcPts val="600"/>
              </a:spcAft>
              <a:buSzPct val="100000"/>
              <a:buChar char="•"/>
            </a:pPr>
            <a:r>
              <a:rPr lang="en-US" sz="2000" b="1" dirty="0">
                <a:solidFill>
                  <a:schemeClr val="tx1"/>
                </a:solidFill>
              </a:rPr>
              <a:t>in</a:t>
            </a:r>
            <a:r>
              <a:rPr lang="en-US" sz="2000" dirty="0">
                <a:solidFill>
                  <a:schemeClr val="tx1"/>
                </a:solidFill>
              </a:rPr>
              <a:t> : </a:t>
            </a:r>
            <a:r>
              <a:rPr lang="en-US" sz="2000" i="1" dirty="0">
                <a:solidFill>
                  <a:schemeClr val="tx1"/>
                </a:solidFill>
              </a:rPr>
              <a:t>in de bibliotheek, in Gent</a:t>
            </a:r>
            <a:endParaRPr lang="en-US" sz="2000" dirty="0"/>
          </a:p>
          <a:p>
            <a:pPr marL="177800" indent="-177800">
              <a:spcAft>
                <a:spcPts val="600"/>
              </a:spcAft>
              <a:buSzPct val="100000"/>
              <a:buChar char="•"/>
            </a:pPr>
            <a:r>
              <a:rPr lang="en-US" sz="2000" b="1" dirty="0">
                <a:solidFill>
                  <a:schemeClr val="tx1"/>
                </a:solidFill>
              </a:rPr>
              <a:t>op</a:t>
            </a:r>
            <a:r>
              <a:rPr lang="en-US" sz="2000" dirty="0">
                <a:solidFill>
                  <a:schemeClr val="tx1"/>
                </a:solidFill>
              </a:rPr>
              <a:t> : </a:t>
            </a:r>
            <a:r>
              <a:rPr lang="en-US" sz="2000" i="1" dirty="0">
                <a:solidFill>
                  <a:schemeClr val="tx1"/>
                </a:solidFill>
              </a:rPr>
              <a:t>op het bureau</a:t>
            </a:r>
            <a:endParaRPr lang="en-US" sz="2000" dirty="0"/>
          </a:p>
          <a:p>
            <a:pPr marL="177800" indent="-177800">
              <a:spcAft>
                <a:spcPts val="600"/>
              </a:spcAft>
              <a:buSzPct val="100000"/>
              <a:buChar char="•"/>
            </a:pPr>
            <a:r>
              <a:rPr lang="en-US" sz="2000" b="1" dirty="0">
                <a:solidFill>
                  <a:schemeClr val="tx1"/>
                </a:solidFill>
              </a:rPr>
              <a:t>naar</a:t>
            </a:r>
            <a:r>
              <a:rPr lang="en-US" sz="2000" dirty="0">
                <a:solidFill>
                  <a:schemeClr val="tx1"/>
                </a:solidFill>
              </a:rPr>
              <a:t> (→) : </a:t>
            </a:r>
            <a:r>
              <a:rPr lang="en-US" sz="2000" i="1" dirty="0">
                <a:solidFill>
                  <a:schemeClr val="tx1"/>
                </a:solidFill>
              </a:rPr>
              <a:t>naar het station</a:t>
            </a:r>
            <a:endParaRPr lang="en-US" sz="2000" dirty="0"/>
          </a:p>
          <a:p>
            <a:pPr marL="177800" indent="-177800">
              <a:spcAft>
                <a:spcPts val="600"/>
              </a:spcAft>
              <a:buSzPct val="100000"/>
              <a:buChar char="•"/>
            </a:pPr>
            <a:r>
              <a:rPr lang="en-US" sz="2000" b="1" dirty="0">
                <a:solidFill>
                  <a:schemeClr val="tx1"/>
                </a:solidFill>
              </a:rPr>
              <a:t>bij</a:t>
            </a:r>
            <a:r>
              <a:rPr lang="en-US" sz="2000" dirty="0">
                <a:solidFill>
                  <a:schemeClr val="tx1"/>
                </a:solidFill>
              </a:rPr>
              <a:t> : </a:t>
            </a:r>
            <a:r>
              <a:rPr lang="en-US" sz="2000" i="1" dirty="0">
                <a:solidFill>
                  <a:schemeClr val="tx1"/>
                </a:solidFill>
              </a:rPr>
              <a:t>bij de dokter</a:t>
            </a:r>
            <a:r>
              <a:rPr lang="en-US" sz="2000" dirty="0">
                <a:solidFill>
                  <a:schemeClr val="tx1"/>
                </a:solidFill>
              </a:rPr>
              <a:t> (chez)</a:t>
            </a:r>
            <a:endParaRPr lang="en-US" sz="2000" dirty="0"/>
          </a:p>
        </p:txBody>
      </p:sp>
      <p:sp>
        <p:nvSpPr>
          <p:cNvPr id="13" name="Shape 10"/>
          <p:cNvSpPr/>
          <p:nvPr/>
        </p:nvSpPr>
        <p:spPr>
          <a:xfrm>
            <a:off x="4337304" y="1947672"/>
            <a:ext cx="3514344" cy="3416808"/>
          </a:xfrm>
          <a:prstGeom prst="roundRect">
            <a:avLst>
              <a:gd name="adj" fmla="val 2676"/>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4" name="Shape 11"/>
          <p:cNvSpPr/>
          <p:nvPr/>
        </p:nvSpPr>
        <p:spPr>
          <a:xfrm>
            <a:off x="4337304" y="1947672"/>
            <a:ext cx="3514344" cy="502920"/>
          </a:xfrm>
          <a:prstGeom prst="roundRect">
            <a:avLst>
              <a:gd name="adj" fmla="val 18182"/>
            </a:avLst>
          </a:prstGeom>
          <a:solidFill>
            <a:schemeClr val="accent2"/>
          </a:solidFill>
          <a:ln/>
        </p:spPr>
      </p:sp>
      <p:sp>
        <p:nvSpPr>
          <p:cNvPr id="15" name="Shape 12"/>
          <p:cNvSpPr/>
          <p:nvPr/>
        </p:nvSpPr>
        <p:spPr>
          <a:xfrm>
            <a:off x="4337304" y="2267712"/>
            <a:ext cx="3514344" cy="182880"/>
          </a:xfrm>
          <a:prstGeom prst="rect">
            <a:avLst/>
          </a:prstGeom>
          <a:solidFill>
            <a:schemeClr val="accent2"/>
          </a:solidFill>
          <a:ln w="12700">
            <a:solidFill>
              <a:schemeClr val="accent2"/>
            </a:solidFill>
            <a:prstDash val="solid"/>
          </a:ln>
        </p:spPr>
      </p:sp>
      <p:sp>
        <p:nvSpPr>
          <p:cNvPr id="16" name="Text 13"/>
          <p:cNvSpPr txBox="1"/>
          <p:nvPr/>
        </p:nvSpPr>
        <p:spPr>
          <a:xfrm>
            <a:off x="4520184" y="1947672"/>
            <a:ext cx="3148584" cy="502920"/>
          </a:xfrm>
          <a:prstGeom prst="rect">
            <a:avLst/>
          </a:prstGeom>
          <a:noFill/>
          <a:ln/>
        </p:spPr>
        <p:txBody>
          <a:bodyPr wrap="square" lIns="0" tIns="0" rIns="0" bIns="0" rtlCol="0" anchor="ctr"/>
          <a:lstStyle/>
          <a:p>
            <a:pPr indent="0" marL="0">
              <a:buNone/>
            </a:pPr>
            <a:r>
              <a:rPr lang="en-US" sz="1500" b="1" spc="100" kern="0" dirty="0">
                <a:solidFill>
                  <a:schemeClr val="bg1"/>
                </a:solidFill>
              </a:rPr>
              <a:t>WANNEER ? — QUAND</a:t>
            </a:r>
            <a:endParaRPr lang="en-US" sz="1500" dirty="0"/>
          </a:p>
        </p:txBody>
      </p:sp>
      <p:sp>
        <p:nvSpPr>
          <p:cNvPr id="17" name="Text 14"/>
          <p:cNvSpPr txBox="1"/>
          <p:nvPr/>
        </p:nvSpPr>
        <p:spPr>
          <a:xfrm>
            <a:off x="4520184" y="2551176"/>
            <a:ext cx="3148584" cy="361569"/>
          </a:xfrm>
          <a:prstGeom prst="rect">
            <a:avLst/>
          </a:prstGeom>
          <a:noFill/>
          <a:ln/>
        </p:spPr>
        <p:txBody>
          <a:bodyPr wrap="square" lIns="0" tIns="0" rIns="0" bIns="0" rtlCol="0" anchor="t"/>
          <a:lstStyle/>
          <a:p>
            <a:pPr indent="0" marL="0">
              <a:buNone/>
            </a:pPr>
            <a:r>
              <a:rPr lang="en-US" sz="2100" b="1" dirty="0">
                <a:solidFill>
                  <a:schemeClr val="accent2"/>
                </a:solidFill>
                <a:latin typeface="+mj-lt" pitchFamily="34" charset="0"/>
                <a:ea typeface="+mj-lt" pitchFamily="34" charset="-122"/>
                <a:cs typeface="+mj-lt" pitchFamily="34" charset="-120"/>
              </a:rPr>
              <a:t>om · op · in · van … tot</a:t>
            </a:r>
            <a:endParaRPr lang="en-US" sz="2100" dirty="0"/>
          </a:p>
        </p:txBody>
      </p:sp>
      <p:sp>
        <p:nvSpPr>
          <p:cNvPr id="18" name="Text 15"/>
          <p:cNvSpPr txBox="1"/>
          <p:nvPr/>
        </p:nvSpPr>
        <p:spPr>
          <a:xfrm>
            <a:off x="4520184" y="3049905"/>
            <a:ext cx="3148584" cy="2204847"/>
          </a:xfrm>
          <a:prstGeom prst="rect">
            <a:avLst/>
          </a:prstGeom>
          <a:noFill/>
          <a:ln/>
        </p:spPr>
        <p:txBody>
          <a:bodyPr wrap="square" lIns="0" tIns="0" rIns="0" bIns="0" rtlCol="0" anchor="t"/>
          <a:lstStyle/>
          <a:p>
            <a:pPr marL="177800" indent="-177800">
              <a:spcAft>
                <a:spcPts val="600"/>
              </a:spcAft>
              <a:buSzPct val="100000"/>
              <a:buChar char="•"/>
            </a:pPr>
            <a:r>
              <a:rPr lang="en-US" sz="2000" b="1" dirty="0">
                <a:solidFill>
                  <a:schemeClr val="tx1"/>
                </a:solidFill>
              </a:rPr>
              <a:t>om</a:t>
            </a:r>
            <a:r>
              <a:rPr lang="en-US" sz="2000" dirty="0">
                <a:solidFill>
                  <a:schemeClr val="tx1"/>
                </a:solidFill>
              </a:rPr>
              <a:t> : </a:t>
            </a:r>
            <a:r>
              <a:rPr lang="en-US" sz="2000" i="1" dirty="0">
                <a:solidFill>
                  <a:schemeClr val="tx1"/>
                </a:solidFill>
              </a:rPr>
              <a:t>om negen uur</a:t>
            </a:r>
            <a:endParaRPr lang="en-US" sz="2000" dirty="0"/>
          </a:p>
          <a:p>
            <a:pPr marL="177800" indent="-177800">
              <a:spcAft>
                <a:spcPts val="600"/>
              </a:spcAft>
              <a:buSzPct val="100000"/>
              <a:buChar char="•"/>
            </a:pPr>
            <a:r>
              <a:rPr lang="en-US" sz="2000" b="1" dirty="0">
                <a:solidFill>
                  <a:schemeClr val="tx1"/>
                </a:solidFill>
              </a:rPr>
              <a:t>op</a:t>
            </a:r>
            <a:r>
              <a:rPr lang="en-US" sz="2000" dirty="0">
                <a:solidFill>
                  <a:schemeClr val="tx1"/>
                </a:solidFill>
              </a:rPr>
              <a:t> : </a:t>
            </a:r>
            <a:r>
              <a:rPr lang="en-US" sz="2000" i="1" dirty="0">
                <a:solidFill>
                  <a:schemeClr val="tx1"/>
                </a:solidFill>
              </a:rPr>
              <a:t>op zaterdag</a:t>
            </a:r>
            <a:endParaRPr lang="en-US" sz="2000" dirty="0"/>
          </a:p>
          <a:p>
            <a:pPr marL="177800" indent="-177800">
              <a:spcAft>
                <a:spcPts val="600"/>
              </a:spcAft>
              <a:buSzPct val="100000"/>
              <a:buChar char="•"/>
            </a:pPr>
            <a:r>
              <a:rPr lang="en-US" sz="2000" b="1" dirty="0">
                <a:solidFill>
                  <a:schemeClr val="tx1"/>
                </a:solidFill>
              </a:rPr>
              <a:t>in</a:t>
            </a:r>
            <a:r>
              <a:rPr lang="en-US" sz="2000" dirty="0">
                <a:solidFill>
                  <a:schemeClr val="tx1"/>
                </a:solidFill>
              </a:rPr>
              <a:t> : </a:t>
            </a:r>
            <a:r>
              <a:rPr lang="en-US" sz="2000" i="1" dirty="0">
                <a:solidFill>
                  <a:schemeClr val="tx1"/>
                </a:solidFill>
              </a:rPr>
              <a:t>in juli, in de winter</a:t>
            </a:r>
            <a:endParaRPr lang="en-US" sz="2000" dirty="0"/>
          </a:p>
          <a:p>
            <a:pPr marL="177800" indent="-177800">
              <a:spcAft>
                <a:spcPts val="600"/>
              </a:spcAft>
              <a:buSzPct val="100000"/>
              <a:buChar char="•"/>
            </a:pPr>
            <a:r>
              <a:rPr lang="en-US" sz="2000" b="1" dirty="0">
                <a:solidFill>
                  <a:schemeClr val="tx1"/>
                </a:solidFill>
              </a:rPr>
              <a:t>van … tot</a:t>
            </a:r>
            <a:r>
              <a:rPr lang="en-US" sz="2000" dirty="0">
                <a:solidFill>
                  <a:schemeClr val="tx1"/>
                </a:solidFill>
              </a:rPr>
              <a:t> : </a:t>
            </a:r>
            <a:r>
              <a:rPr lang="en-US" sz="2000" i="1" dirty="0">
                <a:solidFill>
                  <a:schemeClr val="tx1"/>
                </a:solidFill>
              </a:rPr>
              <a:t>van 9 tot 5</a:t>
            </a:r>
            <a:endParaRPr lang="en-US" sz="2000" dirty="0"/>
          </a:p>
        </p:txBody>
      </p:sp>
      <p:sp>
        <p:nvSpPr>
          <p:cNvPr id="19" name="Shape 16"/>
          <p:cNvSpPr/>
          <p:nvPr/>
        </p:nvSpPr>
        <p:spPr>
          <a:xfrm>
            <a:off x="8125968" y="1947672"/>
            <a:ext cx="3514344" cy="3416808"/>
          </a:xfrm>
          <a:prstGeom prst="roundRect">
            <a:avLst>
              <a:gd name="adj" fmla="val 2676"/>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20" name="Shape 17"/>
          <p:cNvSpPr/>
          <p:nvPr/>
        </p:nvSpPr>
        <p:spPr>
          <a:xfrm>
            <a:off x="8125968" y="1947672"/>
            <a:ext cx="3514344" cy="502920"/>
          </a:xfrm>
          <a:prstGeom prst="roundRect">
            <a:avLst>
              <a:gd name="adj" fmla="val 18182"/>
            </a:avLst>
          </a:prstGeom>
          <a:solidFill>
            <a:schemeClr val="accent3"/>
          </a:solidFill>
          <a:ln/>
        </p:spPr>
      </p:sp>
      <p:sp>
        <p:nvSpPr>
          <p:cNvPr id="21" name="Shape 18"/>
          <p:cNvSpPr/>
          <p:nvPr/>
        </p:nvSpPr>
        <p:spPr>
          <a:xfrm>
            <a:off x="8125968" y="2267712"/>
            <a:ext cx="3514344" cy="182880"/>
          </a:xfrm>
          <a:prstGeom prst="rect">
            <a:avLst/>
          </a:prstGeom>
          <a:solidFill>
            <a:schemeClr val="accent3"/>
          </a:solidFill>
          <a:ln w="12700">
            <a:solidFill>
              <a:schemeClr val="accent3"/>
            </a:solidFill>
            <a:prstDash val="solid"/>
          </a:ln>
        </p:spPr>
      </p:sp>
      <p:sp>
        <p:nvSpPr>
          <p:cNvPr id="22" name="Text 19"/>
          <p:cNvSpPr txBox="1"/>
          <p:nvPr/>
        </p:nvSpPr>
        <p:spPr>
          <a:xfrm>
            <a:off x="8308848" y="1947672"/>
            <a:ext cx="3148584" cy="502920"/>
          </a:xfrm>
          <a:prstGeom prst="rect">
            <a:avLst/>
          </a:prstGeom>
          <a:noFill/>
          <a:ln/>
        </p:spPr>
        <p:txBody>
          <a:bodyPr wrap="square" lIns="0" tIns="0" rIns="0" bIns="0" rtlCol="0" anchor="ctr"/>
          <a:lstStyle/>
          <a:p>
            <a:pPr indent="0" marL="0">
              <a:buNone/>
            </a:pPr>
            <a:r>
              <a:rPr lang="en-US" sz="1500" b="1" spc="100" kern="0" dirty="0">
                <a:solidFill>
                  <a:schemeClr val="bg1"/>
                </a:solidFill>
              </a:rPr>
              <a:t>À LA MAISON</a:t>
            </a:r>
            <a:endParaRPr lang="en-US" sz="1500" dirty="0"/>
          </a:p>
        </p:txBody>
      </p:sp>
      <p:sp>
        <p:nvSpPr>
          <p:cNvPr id="23" name="Text 20"/>
          <p:cNvSpPr txBox="1"/>
          <p:nvPr/>
        </p:nvSpPr>
        <p:spPr>
          <a:xfrm>
            <a:off x="8308848" y="2551176"/>
            <a:ext cx="3148584" cy="361569"/>
          </a:xfrm>
          <a:prstGeom prst="rect">
            <a:avLst/>
          </a:prstGeom>
          <a:noFill/>
          <a:ln/>
        </p:spPr>
        <p:txBody>
          <a:bodyPr wrap="square" lIns="0" tIns="0" rIns="0" bIns="0" rtlCol="0" anchor="t"/>
          <a:lstStyle/>
          <a:p>
            <a:pPr indent="0" marL="0">
              <a:buNone/>
            </a:pPr>
            <a:r>
              <a:rPr lang="en-US" sz="2100" b="1" dirty="0">
                <a:solidFill>
                  <a:schemeClr val="accent3"/>
                </a:solidFill>
                <a:latin typeface="+mj-lt" pitchFamily="34" charset="0"/>
                <a:ea typeface="+mj-lt" pitchFamily="34" charset="-122"/>
                <a:cs typeface="+mj-lt" pitchFamily="34" charset="-120"/>
              </a:rPr>
              <a:t>thuis ≠ naar huis</a:t>
            </a:r>
            <a:endParaRPr lang="en-US" sz="2100" dirty="0"/>
          </a:p>
        </p:txBody>
      </p:sp>
      <p:sp>
        <p:nvSpPr>
          <p:cNvPr id="24" name="Text 21"/>
          <p:cNvSpPr txBox="1"/>
          <p:nvPr/>
        </p:nvSpPr>
        <p:spPr>
          <a:xfrm>
            <a:off x="8308848" y="3049905"/>
            <a:ext cx="3148584" cy="2204847"/>
          </a:xfrm>
          <a:prstGeom prst="rect">
            <a:avLst/>
          </a:prstGeom>
          <a:noFill/>
          <a:ln/>
        </p:spPr>
        <p:txBody>
          <a:bodyPr wrap="square" lIns="0" tIns="0" rIns="0" bIns="0" rtlCol="0" anchor="t"/>
          <a:lstStyle/>
          <a:p>
            <a:pPr marL="177800" indent="-177800">
              <a:spcAft>
                <a:spcPts val="600"/>
              </a:spcAft>
              <a:buSzPct val="100000"/>
              <a:buChar char="•"/>
            </a:pPr>
            <a:r>
              <a:rPr lang="en-US" sz="2000" b="1" dirty="0">
                <a:solidFill>
                  <a:schemeClr val="tx1"/>
                </a:solidFill>
              </a:rPr>
              <a:t>thuis</a:t>
            </a:r>
            <a:r>
              <a:rPr lang="en-US" sz="2000" dirty="0">
                <a:solidFill>
                  <a:schemeClr val="tx1"/>
                </a:solidFill>
              </a:rPr>
              <a:t> : </a:t>
            </a:r>
            <a:r>
              <a:rPr lang="en-US" sz="2000" i="1" dirty="0">
                <a:solidFill>
                  <a:schemeClr val="tx1"/>
                </a:solidFill>
              </a:rPr>
              <a:t>Ik blijf thuis.</a:t>
            </a:r>
            <a:endParaRPr lang="en-US" sz="2000" dirty="0"/>
          </a:p>
          <a:p>
            <a:pPr marL="177800" indent="-177800">
              <a:spcAft>
                <a:spcPts val="600"/>
              </a:spcAft>
              <a:buSzPct val="100000"/>
              <a:buChar char="•"/>
            </a:pPr>
            <a:r>
              <a:rPr lang="en-US" sz="2000" b="1" dirty="0">
                <a:solidFill>
                  <a:schemeClr val="tx1"/>
                </a:solidFill>
              </a:rPr>
              <a:t>naar huis</a:t>
            </a:r>
            <a:r>
              <a:rPr lang="en-US" sz="2000" dirty="0">
                <a:solidFill>
                  <a:schemeClr val="tx1"/>
                </a:solidFill>
              </a:rPr>
              <a:t> (→) : </a:t>
            </a:r>
            <a:r>
              <a:rPr lang="en-US" sz="2000" i="1" dirty="0">
                <a:solidFill>
                  <a:schemeClr val="tx1"/>
                </a:solidFill>
              </a:rPr>
              <a:t>Ik ga naar huis.</a:t>
            </a:r>
            <a:endParaRPr lang="en-US" sz="2000" dirty="0"/>
          </a:p>
        </p:txBody>
      </p:sp>
      <p:sp>
        <p:nvSpPr>
          <p:cNvPr id="25" name="Shape 22"/>
          <p:cNvSpPr/>
          <p:nvPr/>
        </p:nvSpPr>
        <p:spPr>
          <a:xfrm>
            <a:off x="548640" y="5565648"/>
            <a:ext cx="11091672" cy="725424"/>
          </a:xfrm>
          <a:prstGeom prst="roundRect">
            <a:avLst>
              <a:gd name="adj" fmla="val 10084"/>
            </a:avLst>
          </a:prstGeom>
          <a:solidFill>
            <a:schemeClr val="accent6">
              <a:alpha val="10000"/>
            </a:schemeClr>
          </a:solidFill>
          <a:ln w="9525">
            <a:solidFill>
              <a:schemeClr val="accent6">
                <a:alpha val="70000"/>
              </a:schemeClr>
            </a:solidFill>
            <a:prstDash val="solid"/>
          </a:ln>
        </p:spPr>
      </p:sp>
      <p:pic>
        <p:nvPicPr>
          <p:cNvPr id="26" name="Image 0" descr="preencoded.png">    </p:cNvPr>
          <p:cNvPicPr>
            <a:picLocks noChangeAspect="1"/>
          </p:cNvPicPr>
          <p:nvPr/>
        </p:nvPicPr>
        <p:blipFill>
          <a:blip r:embed="rId1"/>
          <a:stretch>
            <a:fillRect/>
          </a:stretch>
        </p:blipFill>
        <p:spPr>
          <a:xfrm>
            <a:off x="749808" y="5763768"/>
            <a:ext cx="329184" cy="329184"/>
          </a:xfrm>
          <a:prstGeom prst="rect">
            <a:avLst/>
          </a:prstGeom>
        </p:spPr>
      </p:pic>
      <p:sp>
        <p:nvSpPr>
          <p:cNvPr id="27" name="Text 23"/>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6"/>
                </a:solidFill>
              </a:rPr>
              <a:t>Piège pour francophones — </a:t>
            </a:r>
            <a:r>
              <a:rPr lang="en-US" sz="1700" dirty="0">
                <a:solidFill>
                  <a:schemeClr val="tx1"/>
                </a:solidFill>
              </a:rPr>
              <a:t>« </a:t>
            </a:r>
            <a:r>
              <a:rPr lang="en-US" sz="1700" b="1" dirty="0">
                <a:solidFill>
                  <a:schemeClr val="tx1"/>
                </a:solidFill>
              </a:rPr>
              <a:t>à</a:t>
            </a:r>
            <a:r>
              <a:rPr lang="en-US" sz="1700" dirty="0">
                <a:solidFill>
                  <a:schemeClr val="tx1"/>
                </a:solidFill>
              </a:rPr>
              <a:t> » partout en français : </a:t>
            </a:r>
            <a:r>
              <a:rPr lang="en-US" sz="1700" i="1" dirty="0">
                <a:solidFill>
                  <a:schemeClr val="tx1"/>
                </a:solidFill>
              </a:rPr>
              <a:t>à 9 h</a:t>
            </a:r>
            <a:r>
              <a:rPr lang="en-US" sz="1700" dirty="0">
                <a:solidFill>
                  <a:schemeClr val="tx1"/>
                </a:solidFill>
              </a:rPr>
              <a:t> = </a:t>
            </a:r>
            <a:r>
              <a:rPr lang="en-US" sz="1700" b="1" dirty="0">
                <a:solidFill>
                  <a:schemeClr val="tx1"/>
                </a:solidFill>
              </a:rPr>
              <a:t>om</a:t>
            </a:r>
            <a:r>
              <a:rPr lang="en-US" sz="1700" dirty="0">
                <a:solidFill>
                  <a:schemeClr val="tx1"/>
                </a:solidFill>
              </a:rPr>
              <a:t> negen uur · </a:t>
            </a:r>
            <a:r>
              <a:rPr lang="en-US" sz="1700" i="1" dirty="0">
                <a:solidFill>
                  <a:schemeClr val="tx1"/>
                </a:solidFill>
              </a:rPr>
              <a:t>à Gand</a:t>
            </a:r>
            <a:r>
              <a:rPr lang="en-US" sz="1700" dirty="0">
                <a:solidFill>
                  <a:schemeClr val="tx1"/>
                </a:solidFill>
              </a:rPr>
              <a:t> = </a:t>
            </a:r>
            <a:r>
              <a:rPr lang="en-US" sz="1700" b="1" dirty="0">
                <a:solidFill>
                  <a:schemeClr val="tx1"/>
                </a:solidFill>
              </a:rPr>
              <a:t>in</a:t>
            </a:r>
            <a:r>
              <a:rPr lang="en-US" sz="1700" dirty="0">
                <a:solidFill>
                  <a:schemeClr val="tx1"/>
                </a:solidFill>
              </a:rPr>
              <a:t> Gent · </a:t>
            </a:r>
            <a:r>
              <a:rPr lang="en-US" sz="1700" i="1" dirty="0">
                <a:solidFill>
                  <a:schemeClr val="tx1"/>
                </a:solidFill>
              </a:rPr>
              <a:t>je vais à Gand</a:t>
            </a:r>
            <a:r>
              <a:rPr lang="en-US" sz="1700" dirty="0">
                <a:solidFill>
                  <a:schemeClr val="tx1"/>
                </a:solidFill>
              </a:rPr>
              <a:t> = </a:t>
            </a:r>
            <a:r>
              <a:rPr lang="en-US" sz="1700" b="1" dirty="0">
                <a:solidFill>
                  <a:schemeClr val="tx1"/>
                </a:solidFill>
              </a:rPr>
              <a:t>naar</a:t>
            </a:r>
            <a:r>
              <a:rPr lang="en-US" sz="1700" dirty="0">
                <a:solidFill>
                  <a:schemeClr val="tx1"/>
                </a:solidFill>
              </a:rPr>
              <a:t> Gent. </a:t>
            </a:r>
            <a:r>
              <a:rPr lang="en-US" sz="1700" i="1" dirty="0">
                <a:solidFill>
                  <a:schemeClr val="tx1"/>
                </a:solidFill>
              </a:rPr>
              <a:t>Je vais </a:t>
            </a:r>
            <a:r>
              <a:rPr lang="en-US" sz="1700" b="1" i="1" dirty="0">
                <a:solidFill>
                  <a:schemeClr val="tx1"/>
                </a:solidFill>
              </a:rPr>
              <a:t>chez</a:t>
            </a:r>
            <a:r>
              <a:rPr lang="en-US" sz="1700" i="1" dirty="0">
                <a:solidFill>
                  <a:schemeClr val="tx1"/>
                </a:solidFill>
              </a:rPr>
              <a:t> le médecin</a:t>
            </a:r>
            <a:r>
              <a:rPr lang="en-US" sz="1700" dirty="0">
                <a:solidFill>
                  <a:schemeClr val="tx1"/>
                </a:solidFill>
              </a:rPr>
              <a:t> = </a:t>
            </a:r>
            <a:r>
              <a:rPr lang="en-US" sz="1700" i="1" dirty="0">
                <a:solidFill>
                  <a:schemeClr val="tx1"/>
                </a:solidFill>
              </a:rPr>
              <a:t>ik ga </a:t>
            </a:r>
            <a:r>
              <a:rPr lang="en-US" sz="1700" b="1" i="1" dirty="0">
                <a:solidFill>
                  <a:schemeClr val="tx1"/>
                </a:solidFill>
              </a:rPr>
              <a:t>naar</a:t>
            </a:r>
            <a:r>
              <a:rPr lang="en-US" sz="1700" i="1" dirty="0">
                <a:solidFill>
                  <a:schemeClr val="tx1"/>
                </a:solidFill>
              </a:rPr>
              <a:t> de dokter</a:t>
            </a:r>
            <a:r>
              <a:rPr lang="en-US" sz="1700" dirty="0">
                <a:solidFill>
                  <a:schemeClr val="tx1"/>
                </a:solidFill>
              </a:rPr>
              <a:t> (</a:t>
            </a:r>
            <a:r>
              <a:rPr lang="en-US" sz="1700" i="1" dirty="0">
                <a:solidFill>
                  <a:schemeClr val="tx1"/>
                </a:solidFill>
              </a:rPr>
              <a:t>ik ben </a:t>
            </a:r>
            <a:r>
              <a:rPr lang="en-US" sz="1700" b="1" i="1" dirty="0">
                <a:solidFill>
                  <a:schemeClr val="tx1"/>
                </a:solidFill>
              </a:rPr>
              <a:t>bij</a:t>
            </a:r>
            <a:r>
              <a:rPr lang="en-US" sz="1700" i="1" dirty="0">
                <a:solidFill>
                  <a:schemeClr val="tx1"/>
                </a:solidFill>
              </a:rPr>
              <a:t> de dokter</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Oefening : in, op, naar, om of bij?</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65</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Seul · 5 min — Complétez avec </a:t>
            </a:r>
            <a:r>
              <a:rPr lang="en-US" sz="1600" b="1" i="1" dirty="0">
                <a:solidFill>
                  <a:schemeClr val="accent5"/>
                </a:solidFill>
              </a:rPr>
              <a:t>in · op · naar · om</a:t>
            </a:r>
            <a:r>
              <a:rPr lang="en-US" sz="1600" i="1" dirty="0">
                <a:solidFill>
                  <a:schemeClr val="accent5"/>
                </a:solidFill>
              </a:rPr>
              <a:t> ou </a:t>
            </a:r>
            <a:r>
              <a:rPr lang="en-US" sz="1600" b="1" i="1" dirty="0">
                <a:solidFill>
                  <a:schemeClr val="accent5"/>
                </a:solidFill>
              </a:rPr>
              <a:t>bij</a:t>
            </a:r>
            <a:r>
              <a:rPr lang="en-US" sz="1600" i="1" dirty="0">
                <a:solidFill>
                  <a:schemeClr val="accent5"/>
                </a:solidFill>
              </a:rPr>
              <a:t>.</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1.  </a:t>
            </a:r>
            <a:r>
              <a:rPr lang="en-US" sz="2400" dirty="0">
                <a:solidFill>
                  <a:schemeClr val="tx1"/>
                </a:solidFill>
              </a:rPr>
              <a:t>Zij reist morgen </a:t>
            </a:r>
            <a:r>
              <a:rPr lang="en-US" sz="2400" dirty="0">
                <a:solidFill>
                  <a:schemeClr val="accent5"/>
                </a:solidFill>
              </a:rPr>
              <a:t>……………</a:t>
            </a:r>
            <a:r>
              <a:rPr lang="en-US" sz="2400" dirty="0">
                <a:solidFill>
                  <a:schemeClr val="tx1"/>
                </a:solidFill>
              </a:rPr>
              <a:t> Frankrijk.</a:t>
            </a:r>
            <a:endParaRPr lang="en-US" sz="2400" dirty="0"/>
          </a:p>
          <a:p>
            <a:pPr indent="0" marL="0">
              <a:spcAft>
                <a:spcPts val="1000"/>
              </a:spcAft>
              <a:buNone/>
            </a:pPr>
            <a:r>
              <a:rPr lang="en-US" sz="2400" b="1" dirty="0">
                <a:solidFill>
                  <a:schemeClr val="tx2"/>
                </a:solidFill>
              </a:rPr>
              <a:t>2.  </a:t>
            </a:r>
            <a:r>
              <a:rPr lang="en-US" sz="2400" dirty="0">
                <a:solidFill>
                  <a:schemeClr val="tx1"/>
                </a:solidFill>
              </a:rPr>
              <a:t>De trein vertrekt </a:t>
            </a:r>
            <a:r>
              <a:rPr lang="en-US" sz="2400" dirty="0">
                <a:solidFill>
                  <a:schemeClr val="accent5"/>
                </a:solidFill>
              </a:rPr>
              <a:t>……………</a:t>
            </a:r>
            <a:r>
              <a:rPr lang="en-US" sz="2400" dirty="0">
                <a:solidFill>
                  <a:schemeClr val="tx1"/>
                </a:solidFill>
              </a:rPr>
              <a:t> tien uur.</a:t>
            </a:r>
            <a:endParaRPr lang="en-US" sz="2400" dirty="0"/>
          </a:p>
          <a:p>
            <a:pPr indent="0" marL="0">
              <a:spcAft>
                <a:spcPts val="1000"/>
              </a:spcAft>
              <a:buNone/>
            </a:pPr>
            <a:r>
              <a:rPr lang="en-US" sz="2400" b="1" dirty="0">
                <a:solidFill>
                  <a:schemeClr val="tx2"/>
                </a:solidFill>
              </a:rPr>
              <a:t>3.  </a:t>
            </a:r>
            <a:r>
              <a:rPr lang="en-US" sz="2400" dirty="0">
                <a:solidFill>
                  <a:schemeClr val="tx1"/>
                </a:solidFill>
              </a:rPr>
              <a:t>Ik ben </a:t>
            </a:r>
            <a:r>
              <a:rPr lang="en-US" sz="2400" dirty="0">
                <a:solidFill>
                  <a:schemeClr val="accent5"/>
                </a:solidFill>
              </a:rPr>
              <a:t>……………</a:t>
            </a:r>
            <a:r>
              <a:rPr lang="en-US" sz="2400" dirty="0">
                <a:solidFill>
                  <a:schemeClr val="tx1"/>
                </a:solidFill>
              </a:rPr>
              <a:t> mijn ouders.</a:t>
            </a:r>
            <a:endParaRPr lang="en-US" sz="2400" dirty="0"/>
          </a:p>
          <a:p>
            <a:pPr indent="0" marL="0">
              <a:spcAft>
                <a:spcPts val="1000"/>
              </a:spcAft>
              <a:buNone/>
            </a:pPr>
            <a:r>
              <a:rPr lang="en-US" sz="2400" b="1" dirty="0">
                <a:solidFill>
                  <a:schemeClr val="tx2"/>
                </a:solidFill>
              </a:rPr>
              <a:t>4.  </a:t>
            </a:r>
            <a:r>
              <a:rPr lang="en-US" sz="2400" dirty="0">
                <a:solidFill>
                  <a:schemeClr val="tx1"/>
                </a:solidFill>
              </a:rPr>
              <a:t>Het is warm </a:t>
            </a:r>
            <a:r>
              <a:rPr lang="en-US" sz="2400" dirty="0">
                <a:solidFill>
                  <a:schemeClr val="accent5"/>
                </a:solidFill>
              </a:rPr>
              <a:t>……………</a:t>
            </a:r>
            <a:r>
              <a:rPr lang="en-US" sz="2400" dirty="0">
                <a:solidFill>
                  <a:schemeClr val="tx1"/>
                </a:solidFill>
              </a:rPr>
              <a:t> juli.</a:t>
            </a:r>
            <a:endParaRPr lang="en-US" sz="2400" dirty="0"/>
          </a:p>
          <a:p>
            <a:pPr indent="0" marL="0">
              <a:spcAft>
                <a:spcPts val="1000"/>
              </a:spcAft>
              <a:buNone/>
            </a:pPr>
            <a:r>
              <a:rPr lang="en-US" sz="2400" b="1" dirty="0">
                <a:solidFill>
                  <a:schemeClr val="tx2"/>
                </a:solidFill>
              </a:rPr>
              <a:t>5.  </a:t>
            </a:r>
            <a:r>
              <a:rPr lang="en-US" sz="2400" dirty="0">
                <a:solidFill>
                  <a:schemeClr val="tx1"/>
                </a:solidFill>
              </a:rPr>
              <a:t>Ik woon </a:t>
            </a:r>
            <a:r>
              <a:rPr lang="en-US" sz="2400" dirty="0">
                <a:solidFill>
                  <a:schemeClr val="accent5"/>
                </a:solidFill>
              </a:rPr>
              <a:t>……………</a:t>
            </a:r>
            <a:r>
              <a:rPr lang="en-US" sz="2400" dirty="0">
                <a:solidFill>
                  <a:schemeClr val="tx1"/>
                </a:solidFill>
              </a:rPr>
              <a:t> België.</a:t>
            </a:r>
            <a:endParaRPr lang="en-US" sz="2400" dirty="0"/>
          </a:p>
          <a:p>
            <a:pPr indent="0" marL="0">
              <a:spcAft>
                <a:spcPts val="1000"/>
              </a:spcAft>
              <a:buNone/>
            </a:pPr>
            <a:r>
              <a:rPr lang="en-US" sz="2400" b="1" dirty="0">
                <a:solidFill>
                  <a:schemeClr val="tx2"/>
                </a:solidFill>
              </a:rPr>
              <a:t>6.  </a:t>
            </a:r>
            <a:r>
              <a:rPr lang="en-US" sz="2400" dirty="0">
                <a:solidFill>
                  <a:schemeClr val="tx1"/>
                </a:solidFill>
              </a:rPr>
              <a:t>Het boek ligt </a:t>
            </a:r>
            <a:r>
              <a:rPr lang="en-US" sz="2400" dirty="0">
                <a:solidFill>
                  <a:schemeClr val="accent5"/>
                </a:solidFill>
              </a:rPr>
              <a:t>……………</a:t>
            </a:r>
            <a:r>
              <a:rPr lang="en-US" sz="2400" dirty="0">
                <a:solidFill>
                  <a:schemeClr val="tx1"/>
                </a:solidFill>
              </a:rPr>
              <a:t> de tafel.</a:t>
            </a:r>
            <a:endParaRPr lang="en-US" sz="2400" dirty="0"/>
          </a:p>
          <a:p>
            <a:pPr indent="0" marL="0">
              <a:spcAft>
                <a:spcPts val="1000"/>
              </a:spcAft>
              <a:buNone/>
            </a:pPr>
            <a:r>
              <a:rPr lang="en-US" sz="2400" b="1" dirty="0">
                <a:solidFill>
                  <a:schemeClr val="tx2"/>
                </a:solidFill>
              </a:rPr>
              <a:t>7.  </a:t>
            </a:r>
            <a:r>
              <a:rPr lang="en-US" sz="2400" dirty="0">
                <a:solidFill>
                  <a:schemeClr val="tx1"/>
                </a:solidFill>
              </a:rPr>
              <a:t>Wij komen </a:t>
            </a:r>
            <a:r>
              <a:rPr lang="en-US" sz="2400" dirty="0">
                <a:solidFill>
                  <a:schemeClr val="accent5"/>
                </a:solidFill>
              </a:rPr>
              <a:t>……………</a:t>
            </a:r>
            <a:r>
              <a:rPr lang="en-US" sz="2400" dirty="0">
                <a:solidFill>
                  <a:schemeClr val="tx1"/>
                </a:solidFill>
              </a:rPr>
              <a:t> maandag.</a:t>
            </a:r>
            <a:endParaRPr lang="en-US" sz="2400" dirty="0"/>
          </a:p>
          <a:p>
            <a:pPr indent="0" marL="0">
              <a:spcAft>
                <a:spcPts val="1000"/>
              </a:spcAft>
              <a:buNone/>
            </a:pPr>
            <a:r>
              <a:rPr lang="en-US" sz="2400" b="1" dirty="0">
                <a:solidFill>
                  <a:schemeClr val="tx2"/>
                </a:solidFill>
              </a:rPr>
              <a:t>8.  </a:t>
            </a:r>
            <a:r>
              <a:rPr lang="en-US" sz="2400" dirty="0">
                <a:solidFill>
                  <a:schemeClr val="tx1"/>
                </a:solidFill>
              </a:rPr>
              <a:t>Ik ga </a:t>
            </a:r>
            <a:r>
              <a:rPr lang="en-US" sz="2400" dirty="0">
                <a:solidFill>
                  <a:schemeClr val="accent5"/>
                </a:solidFill>
              </a:rPr>
              <a:t>……………</a:t>
            </a:r>
            <a:r>
              <a:rPr lang="en-US" sz="2400" dirty="0">
                <a:solidFill>
                  <a:schemeClr val="tx1"/>
                </a:solidFill>
              </a:rPr>
              <a:t> huis.</a:t>
            </a:r>
            <a:endParaRPr lang="en-US" sz="2400" dirty="0"/>
          </a:p>
        </p:txBody>
      </p:sp>
      <p:sp>
        <p:nvSpPr>
          <p:cNvPr id="8" name="aside"/>
          <p:cNvSpPr/>
          <p:nvPr/>
        </p:nvSpPr>
        <p:spPr>
          <a:xfrm>
            <a:off x="8046720" y="1481328"/>
            <a:ext cx="3593592" cy="4809744"/>
          </a:xfrm>
          <a:prstGeom prst="roundRect">
            <a:avLst>
              <a:gd name="adj" fmla="val 2036"/>
            </a:avLst>
          </a:prstGeom>
          <a:solidFill>
            <a:schemeClr val="accent5">
              <a:alpha val="10000"/>
            </a:schemeClr>
          </a:solidFill>
          <a:ln w="12700">
            <a:solidFill>
              <a:schemeClr val="accent5">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0" name="Text 6"/>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ATTENDU</a:t>
            </a:r>
            <a:endParaRPr lang="en-US" sz="1400" dirty="0"/>
          </a:p>
        </p:txBody>
      </p:sp>
      <p:sp>
        <p:nvSpPr>
          <p:cNvPr id="11" name="Text 7"/>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Mouvement → </a:t>
            </a:r>
            <a:r>
              <a:rPr lang="en-US" sz="1800" b="1" dirty="0">
                <a:solidFill>
                  <a:schemeClr val="tx1"/>
                </a:solidFill>
              </a:rPr>
              <a:t>naar</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Heure → </a:t>
            </a:r>
            <a:r>
              <a:rPr lang="en-US" sz="1800" b="1" dirty="0">
                <a:solidFill>
                  <a:schemeClr val="tx1"/>
                </a:solidFill>
              </a:rPr>
              <a:t>om</a:t>
            </a:r>
            <a:r>
              <a:rPr lang="en-US" sz="1800" dirty="0">
                <a:solidFill>
                  <a:schemeClr val="tx1"/>
                </a:solidFill>
              </a:rPr>
              <a:t> · jour → </a:t>
            </a:r>
            <a:r>
              <a:rPr lang="en-US" sz="1800" b="1" dirty="0">
                <a:solidFill>
                  <a:schemeClr val="tx1"/>
                </a:solidFill>
              </a:rPr>
              <a:t>op</a:t>
            </a:r>
            <a:r>
              <a:rPr lang="en-US" sz="1800" dirty="0">
                <a:solidFill>
                  <a:schemeClr val="tx1"/>
                </a:solidFill>
              </a:rPr>
              <a:t> · mois → </a:t>
            </a:r>
            <a:r>
              <a:rPr lang="en-US" sz="1800" b="1" dirty="0">
                <a:solidFill>
                  <a:schemeClr val="tx1"/>
                </a:solidFill>
              </a:rPr>
              <a:t>in</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Seul · 5 min</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Oefening : in, op, naar, om of bij?</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ag"/>
          <p:cNvSpPr/>
          <p:nvPr/>
        </p:nvSpPr>
        <p:spPr>
          <a:xfrm>
            <a:off x="21671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65</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Seul · 5 min — Complétez avec </a:t>
            </a:r>
            <a:r>
              <a:rPr lang="en-US" sz="1600" b="1" i="1" dirty="0">
                <a:solidFill>
                  <a:schemeClr val="accent5"/>
                </a:solidFill>
              </a:rPr>
              <a:t>in · op · naar · om</a:t>
            </a:r>
            <a:r>
              <a:rPr lang="en-US" sz="1600" i="1" dirty="0">
                <a:solidFill>
                  <a:schemeClr val="accent5"/>
                </a:solidFill>
              </a:rPr>
              <a:t> ou </a:t>
            </a:r>
            <a:r>
              <a:rPr lang="en-US" sz="1600" b="1" i="1" dirty="0">
                <a:solidFill>
                  <a:schemeClr val="accent5"/>
                </a:solidFill>
              </a:rPr>
              <a:t>bij</a:t>
            </a:r>
            <a:r>
              <a:rPr lang="en-US" sz="1600" i="1" dirty="0">
                <a:solidFill>
                  <a:schemeClr val="accent5"/>
                </a:solidFill>
              </a:rPr>
              <a:t>.</a:t>
            </a:r>
            <a:endParaRPr lang="en-US" sz="1600" dirty="0"/>
          </a:p>
        </p:txBody>
      </p:sp>
      <p:sp>
        <p:nvSpPr>
          <p:cNvPr id="8"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1.  </a:t>
            </a:r>
            <a:r>
              <a:rPr lang="en-US" sz="2400" dirty="0">
                <a:solidFill>
                  <a:schemeClr val="tx1"/>
                </a:solidFill>
              </a:rPr>
              <a:t>Zij reist morgen </a:t>
            </a:r>
            <a:r>
              <a:rPr lang="en-US" sz="2400" b="1" dirty="0">
                <a:solidFill>
                  <a:schemeClr val="accent3"/>
                </a:solidFill>
              </a:rPr>
              <a:t>naar</a:t>
            </a:r>
            <a:r>
              <a:rPr lang="en-US" sz="2400" dirty="0">
                <a:solidFill>
                  <a:schemeClr val="tx1"/>
                </a:solidFill>
              </a:rPr>
              <a:t> Frankrijk.</a:t>
            </a:r>
            <a:endParaRPr lang="en-US" sz="2400" dirty="0"/>
          </a:p>
          <a:p>
            <a:pPr indent="0" marL="0">
              <a:spcAft>
                <a:spcPts val="1000"/>
              </a:spcAft>
              <a:buNone/>
            </a:pPr>
            <a:r>
              <a:rPr lang="en-US" sz="2400" b="1" dirty="0">
                <a:solidFill>
                  <a:schemeClr val="tx2"/>
                </a:solidFill>
              </a:rPr>
              <a:t>2.  </a:t>
            </a:r>
            <a:r>
              <a:rPr lang="en-US" sz="2400" dirty="0">
                <a:solidFill>
                  <a:schemeClr val="tx1"/>
                </a:solidFill>
              </a:rPr>
              <a:t>De trein vertrekt </a:t>
            </a:r>
            <a:r>
              <a:rPr lang="en-US" sz="2400" b="1" dirty="0">
                <a:solidFill>
                  <a:schemeClr val="accent3"/>
                </a:solidFill>
              </a:rPr>
              <a:t>om</a:t>
            </a:r>
            <a:r>
              <a:rPr lang="en-US" sz="2400" dirty="0">
                <a:solidFill>
                  <a:schemeClr val="tx1"/>
                </a:solidFill>
              </a:rPr>
              <a:t> tien uur.</a:t>
            </a:r>
            <a:endParaRPr lang="en-US" sz="2400" dirty="0"/>
          </a:p>
          <a:p>
            <a:pPr indent="0" marL="0">
              <a:spcAft>
                <a:spcPts val="1000"/>
              </a:spcAft>
              <a:buNone/>
            </a:pPr>
            <a:r>
              <a:rPr lang="en-US" sz="2400" b="1" dirty="0">
                <a:solidFill>
                  <a:schemeClr val="tx2"/>
                </a:solidFill>
              </a:rPr>
              <a:t>3.  </a:t>
            </a:r>
            <a:r>
              <a:rPr lang="en-US" sz="2400" dirty="0">
                <a:solidFill>
                  <a:schemeClr val="tx1"/>
                </a:solidFill>
              </a:rPr>
              <a:t>Ik ben </a:t>
            </a:r>
            <a:r>
              <a:rPr lang="en-US" sz="2400" b="1" dirty="0">
                <a:solidFill>
                  <a:schemeClr val="accent3"/>
                </a:solidFill>
              </a:rPr>
              <a:t>bij</a:t>
            </a:r>
            <a:r>
              <a:rPr lang="en-US" sz="2400" dirty="0">
                <a:solidFill>
                  <a:schemeClr val="tx1"/>
                </a:solidFill>
              </a:rPr>
              <a:t> mijn ouders.</a:t>
            </a:r>
            <a:endParaRPr lang="en-US" sz="2400" dirty="0"/>
          </a:p>
          <a:p>
            <a:pPr indent="0" marL="0">
              <a:spcAft>
                <a:spcPts val="1000"/>
              </a:spcAft>
              <a:buNone/>
            </a:pPr>
            <a:r>
              <a:rPr lang="en-US" sz="2400" b="1" dirty="0">
                <a:solidFill>
                  <a:schemeClr val="tx2"/>
                </a:solidFill>
              </a:rPr>
              <a:t>4.  </a:t>
            </a:r>
            <a:r>
              <a:rPr lang="en-US" sz="2400" dirty="0">
                <a:solidFill>
                  <a:schemeClr val="tx1"/>
                </a:solidFill>
              </a:rPr>
              <a:t>Het is warm </a:t>
            </a:r>
            <a:r>
              <a:rPr lang="en-US" sz="2400" b="1" dirty="0">
                <a:solidFill>
                  <a:schemeClr val="accent3"/>
                </a:solidFill>
              </a:rPr>
              <a:t>in</a:t>
            </a:r>
            <a:r>
              <a:rPr lang="en-US" sz="2400" dirty="0">
                <a:solidFill>
                  <a:schemeClr val="tx1"/>
                </a:solidFill>
              </a:rPr>
              <a:t> juli.</a:t>
            </a:r>
            <a:endParaRPr lang="en-US" sz="2400" dirty="0"/>
          </a:p>
          <a:p>
            <a:pPr indent="0" marL="0">
              <a:spcAft>
                <a:spcPts val="1000"/>
              </a:spcAft>
              <a:buNone/>
            </a:pPr>
            <a:r>
              <a:rPr lang="en-US" sz="2400" b="1" dirty="0">
                <a:solidFill>
                  <a:schemeClr val="tx2"/>
                </a:solidFill>
              </a:rPr>
              <a:t>5.  </a:t>
            </a:r>
            <a:r>
              <a:rPr lang="en-US" sz="2400" dirty="0">
                <a:solidFill>
                  <a:schemeClr val="tx1"/>
                </a:solidFill>
              </a:rPr>
              <a:t>Ik woon </a:t>
            </a:r>
            <a:r>
              <a:rPr lang="en-US" sz="2400" b="1" dirty="0">
                <a:solidFill>
                  <a:schemeClr val="accent3"/>
                </a:solidFill>
              </a:rPr>
              <a:t>in</a:t>
            </a:r>
            <a:r>
              <a:rPr lang="en-US" sz="2400" dirty="0">
                <a:solidFill>
                  <a:schemeClr val="tx1"/>
                </a:solidFill>
              </a:rPr>
              <a:t> België.</a:t>
            </a:r>
            <a:endParaRPr lang="en-US" sz="2400" dirty="0"/>
          </a:p>
          <a:p>
            <a:pPr indent="0" marL="0">
              <a:spcAft>
                <a:spcPts val="1000"/>
              </a:spcAft>
              <a:buNone/>
            </a:pPr>
            <a:r>
              <a:rPr lang="en-US" sz="2400" b="1" dirty="0">
                <a:solidFill>
                  <a:schemeClr val="tx2"/>
                </a:solidFill>
              </a:rPr>
              <a:t>6.  </a:t>
            </a:r>
            <a:r>
              <a:rPr lang="en-US" sz="2400" dirty="0">
                <a:solidFill>
                  <a:schemeClr val="tx1"/>
                </a:solidFill>
              </a:rPr>
              <a:t>Het boek ligt </a:t>
            </a:r>
            <a:r>
              <a:rPr lang="en-US" sz="2400" b="1" dirty="0">
                <a:solidFill>
                  <a:schemeClr val="accent3"/>
                </a:solidFill>
              </a:rPr>
              <a:t>op</a:t>
            </a:r>
            <a:r>
              <a:rPr lang="en-US" sz="2400" dirty="0">
                <a:solidFill>
                  <a:schemeClr val="tx1"/>
                </a:solidFill>
              </a:rPr>
              <a:t> de tafel.</a:t>
            </a:r>
            <a:endParaRPr lang="en-US" sz="2400" dirty="0"/>
          </a:p>
          <a:p>
            <a:pPr indent="0" marL="0">
              <a:spcAft>
                <a:spcPts val="1000"/>
              </a:spcAft>
              <a:buNone/>
            </a:pPr>
            <a:r>
              <a:rPr lang="en-US" sz="2400" b="1" dirty="0">
                <a:solidFill>
                  <a:schemeClr val="tx2"/>
                </a:solidFill>
              </a:rPr>
              <a:t>7.  </a:t>
            </a:r>
            <a:r>
              <a:rPr lang="en-US" sz="2400" dirty="0">
                <a:solidFill>
                  <a:schemeClr val="tx1"/>
                </a:solidFill>
              </a:rPr>
              <a:t>Wij komen </a:t>
            </a:r>
            <a:r>
              <a:rPr lang="en-US" sz="2400" b="1" dirty="0">
                <a:solidFill>
                  <a:schemeClr val="accent3"/>
                </a:solidFill>
              </a:rPr>
              <a:t>op</a:t>
            </a:r>
            <a:r>
              <a:rPr lang="en-US" sz="2400" dirty="0">
                <a:solidFill>
                  <a:schemeClr val="tx1"/>
                </a:solidFill>
              </a:rPr>
              <a:t> maandag.</a:t>
            </a:r>
            <a:endParaRPr lang="en-US" sz="2400" dirty="0"/>
          </a:p>
          <a:p>
            <a:pPr indent="0" marL="0">
              <a:spcAft>
                <a:spcPts val="1000"/>
              </a:spcAft>
              <a:buNone/>
            </a:pPr>
            <a:r>
              <a:rPr lang="en-US" sz="2400" b="1" dirty="0">
                <a:solidFill>
                  <a:schemeClr val="tx2"/>
                </a:solidFill>
              </a:rPr>
              <a:t>8.  </a:t>
            </a:r>
            <a:r>
              <a:rPr lang="en-US" sz="2400" dirty="0">
                <a:solidFill>
                  <a:schemeClr val="tx1"/>
                </a:solidFill>
              </a:rPr>
              <a:t>Ik ga </a:t>
            </a:r>
            <a:r>
              <a:rPr lang="en-US" sz="2400" b="1" dirty="0">
                <a:solidFill>
                  <a:schemeClr val="accent3"/>
                </a:solidFill>
              </a:rPr>
              <a:t>naar</a:t>
            </a:r>
            <a:r>
              <a:rPr lang="en-US" sz="2400" dirty="0">
                <a:solidFill>
                  <a:schemeClr val="tx1"/>
                </a:solidFill>
              </a:rPr>
              <a:t> huis.</a:t>
            </a:r>
            <a:endParaRPr lang="en-US" sz="24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3 : </a:t>
            </a:r>
            <a:r>
              <a:rPr lang="en-US" sz="1800" i="1" dirty="0">
                <a:solidFill>
                  <a:schemeClr val="tx1"/>
                </a:solidFill>
              </a:rPr>
              <a:t>bij mijn ouders</a:t>
            </a:r>
            <a:r>
              <a:rPr lang="en-US" sz="1800" dirty="0">
                <a:solidFill>
                  <a:schemeClr val="tx1"/>
                </a:solidFill>
              </a:rPr>
              <a:t> = chez mes parents.</a:t>
            </a:r>
            <a:endParaRPr lang="en-US" sz="1800" dirty="0"/>
          </a:p>
          <a:p>
            <a:pPr marL="177800" indent="-177800">
              <a:spcAft>
                <a:spcPts val="600"/>
              </a:spcAft>
              <a:buSzPct val="100000"/>
              <a:buChar char="•"/>
            </a:pPr>
            <a:r>
              <a:rPr lang="en-US" sz="1800" dirty="0">
                <a:solidFill>
                  <a:schemeClr val="tx1"/>
                </a:solidFill>
              </a:rPr>
              <a:t>7 : on dit aussi </a:t>
            </a:r>
            <a:r>
              <a:rPr lang="en-US" sz="1800" i="1" dirty="0">
                <a:solidFill>
                  <a:schemeClr val="tx1"/>
                </a:solidFill>
              </a:rPr>
              <a:t>Wij komen maandag.</a:t>
            </a:r>
            <a:endParaRPr lang="en-US" sz="1800" dirty="0"/>
          </a:p>
          <a:p>
            <a:pPr marL="177800" indent="-177800">
              <a:spcAft>
                <a:spcPts val="600"/>
              </a:spcAft>
              <a:buSzPct val="100000"/>
              <a:buChar char="•"/>
            </a:pPr>
            <a:r>
              <a:rPr lang="en-US" sz="1800" dirty="0">
                <a:solidFill>
                  <a:schemeClr val="tx1"/>
                </a:solidFill>
              </a:rPr>
              <a:t>8 : </a:t>
            </a:r>
            <a:r>
              <a:rPr lang="en-US" sz="1800" i="1" dirty="0">
                <a:solidFill>
                  <a:schemeClr val="tx1"/>
                </a:solidFill>
              </a:rPr>
              <a:t>naar huis</a:t>
            </a:r>
            <a:r>
              <a:rPr lang="en-US" sz="1800" dirty="0">
                <a:solidFill>
                  <a:schemeClr val="tx1"/>
                </a:solidFill>
              </a:rPr>
              <a:t> ≠ </a:t>
            </a:r>
            <a:r>
              <a:rPr lang="en-US" sz="1800" i="1" dirty="0">
                <a:solidFill>
                  <a:schemeClr val="tx1"/>
                </a:solidFill>
              </a:rPr>
              <a:t>thuis</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Waar? Wanneer? En ville</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11091672" cy="371856"/>
          </a:xfrm>
          <a:prstGeom prst="rect">
            <a:avLst/>
          </a:prstGeom>
          <a:noFill/>
          <a:ln/>
        </p:spPr>
        <p:txBody>
          <a:bodyPr wrap="square" lIns="0" tIns="0" rIns="0" bIns="0" rtlCol="0" anchor="t"/>
          <a:lstStyle/>
          <a:p>
            <a:pPr indent="0" marL="0">
              <a:buNone/>
            </a:pPr>
            <a:r>
              <a:rPr lang="en-US" sz="1600" i="1" dirty="0">
                <a:solidFill>
                  <a:schemeClr val="accent5"/>
                </a:solidFill>
              </a:rPr>
              <a:t>Complétez avec </a:t>
            </a:r>
            <a:r>
              <a:rPr lang="en-US" sz="1600" b="1" i="1" dirty="0">
                <a:solidFill>
                  <a:schemeClr val="accent5"/>
                </a:solidFill>
              </a:rPr>
              <a:t>in · op · naar · bij · om · van … tot</a:t>
            </a:r>
            <a:r>
              <a:rPr lang="en-US" sz="1600" i="1" dirty="0">
                <a:solidFill>
                  <a:schemeClr val="accent5"/>
                </a:solidFill>
              </a:rPr>
              <a:t> — vocabulaire </a:t>
            </a:r>
            <a:r>
              <a:rPr lang="en-US" sz="1600" b="1" i="1" dirty="0">
                <a:solidFill>
                  <a:schemeClr val="accent5"/>
                </a:solidFill>
              </a:rPr>
              <a:t>In de stad</a:t>
            </a:r>
            <a:r>
              <a:rPr lang="en-US" sz="1600" i="1" dirty="0">
                <a:solidFill>
                  <a:schemeClr val="accent5"/>
                </a:solidFill>
              </a:rPr>
              <a:t> (p. 80).</a:t>
            </a:r>
            <a:endParaRPr lang="en-US" sz="1600" dirty="0"/>
          </a:p>
        </p:txBody>
      </p:sp>
      <p:sp>
        <p:nvSpPr>
          <p:cNvPr id="7" name="exercise"/>
          <p:cNvSpPr txBox="1"/>
          <p:nvPr/>
        </p:nvSpPr>
        <p:spPr>
          <a:xfrm>
            <a:off x="548640" y="1926336"/>
            <a:ext cx="5362956" cy="4364736"/>
          </a:xfrm>
          <a:prstGeom prst="rect">
            <a:avLst/>
          </a:prstGeom>
          <a:noFill/>
          <a:ln/>
        </p:spPr>
        <p:txBody>
          <a:bodyPr wrap="square" lIns="0" tIns="0" rIns="0" bIns="0" rtlCol="0" anchor="t"/>
          <a:lstStyle/>
          <a:p>
            <a:pPr indent="0" marL="0">
              <a:spcAft>
                <a:spcPts val="1600"/>
              </a:spcAft>
              <a:buNone/>
            </a:pPr>
            <a:r>
              <a:rPr lang="en-US" sz="2400" b="1" dirty="0">
                <a:solidFill>
                  <a:schemeClr val="tx2"/>
                </a:solidFill>
              </a:rPr>
              <a:t>1.  </a:t>
            </a:r>
            <a:r>
              <a:rPr lang="en-US" sz="2400" dirty="0">
                <a:solidFill>
                  <a:schemeClr val="tx1"/>
                </a:solidFill>
              </a:rPr>
              <a:t>Ik wacht </a:t>
            </a:r>
            <a:r>
              <a:rPr lang="en-US" sz="2400" dirty="0">
                <a:solidFill>
                  <a:schemeClr val="accent5"/>
                </a:solidFill>
              </a:rPr>
              <a:t>……………</a:t>
            </a:r>
            <a:r>
              <a:rPr lang="en-US" sz="2400" dirty="0">
                <a:solidFill>
                  <a:schemeClr val="tx1"/>
                </a:solidFill>
              </a:rPr>
              <a:t> de bushalte.</a:t>
            </a:r>
            <a:endParaRPr lang="en-US" sz="2400" dirty="0"/>
          </a:p>
          <a:p>
            <a:pPr indent="0" marL="0">
              <a:spcAft>
                <a:spcPts val="1600"/>
              </a:spcAft>
              <a:buNone/>
            </a:pPr>
            <a:r>
              <a:rPr lang="en-US" sz="2400" b="1" dirty="0">
                <a:solidFill>
                  <a:schemeClr val="tx2"/>
                </a:solidFill>
              </a:rPr>
              <a:t>2.  </a:t>
            </a:r>
            <a:r>
              <a:rPr lang="en-US" sz="2400" dirty="0">
                <a:solidFill>
                  <a:schemeClr val="tx1"/>
                </a:solidFill>
              </a:rPr>
              <a:t>De bus vertrekt </a:t>
            </a:r>
            <a:r>
              <a:rPr lang="en-US" sz="2400" dirty="0">
                <a:solidFill>
                  <a:schemeClr val="accent5"/>
                </a:solidFill>
              </a:rPr>
              <a:t>……………</a:t>
            </a:r>
            <a:r>
              <a:rPr lang="en-US" sz="2400" dirty="0">
                <a:solidFill>
                  <a:schemeClr val="tx1"/>
                </a:solidFill>
              </a:rPr>
              <a:t> kwart over acht.</a:t>
            </a:r>
            <a:endParaRPr lang="en-US" sz="2400" dirty="0"/>
          </a:p>
          <a:p>
            <a:pPr indent="0" marL="0">
              <a:spcAft>
                <a:spcPts val="1600"/>
              </a:spcAft>
              <a:buNone/>
            </a:pPr>
            <a:r>
              <a:rPr lang="en-US" sz="2400" b="1" dirty="0">
                <a:solidFill>
                  <a:schemeClr val="tx2"/>
                </a:solidFill>
              </a:rPr>
              <a:t>3.  </a:t>
            </a:r>
            <a:r>
              <a:rPr lang="en-US" sz="2400" dirty="0">
                <a:solidFill>
                  <a:schemeClr val="tx1"/>
                </a:solidFill>
              </a:rPr>
              <a:t>Emma woont </a:t>
            </a:r>
            <a:r>
              <a:rPr lang="en-US" sz="2400" dirty="0">
                <a:solidFill>
                  <a:schemeClr val="accent5"/>
                </a:solidFill>
              </a:rPr>
              <a:t>……………</a:t>
            </a:r>
            <a:r>
              <a:rPr lang="en-US" sz="2400" dirty="0">
                <a:solidFill>
                  <a:schemeClr val="tx1"/>
                </a:solidFill>
              </a:rPr>
              <a:t> de Stationsstraat.</a:t>
            </a:r>
            <a:endParaRPr lang="en-US" sz="2400" dirty="0"/>
          </a:p>
          <a:p>
            <a:pPr indent="0" marL="0">
              <a:spcAft>
                <a:spcPts val="1600"/>
              </a:spcAft>
              <a:buNone/>
            </a:pPr>
            <a:r>
              <a:rPr lang="en-US" sz="2400" b="1" dirty="0">
                <a:solidFill>
                  <a:schemeClr val="tx2"/>
                </a:solidFill>
              </a:rPr>
              <a:t>4.  </a:t>
            </a:r>
            <a:r>
              <a:rPr lang="en-US" sz="2400" dirty="0">
                <a:solidFill>
                  <a:schemeClr val="tx1"/>
                </a:solidFill>
              </a:rPr>
              <a:t>Pieter fietst </a:t>
            </a:r>
            <a:r>
              <a:rPr lang="en-US" sz="2400" dirty="0">
                <a:solidFill>
                  <a:schemeClr val="accent5"/>
                </a:solidFill>
              </a:rPr>
              <a:t>……………</a:t>
            </a:r>
            <a:r>
              <a:rPr lang="en-US" sz="2400" dirty="0">
                <a:solidFill>
                  <a:schemeClr val="tx1"/>
                </a:solidFill>
              </a:rPr>
              <a:t> het station.</a:t>
            </a:r>
            <a:endParaRPr lang="en-US" sz="2400" dirty="0"/>
          </a:p>
        </p:txBody>
      </p:sp>
      <p:sp>
        <p:nvSpPr>
          <p:cNvPr id="8" name="exercise"/>
          <p:cNvSpPr txBox="1"/>
          <p:nvPr/>
        </p:nvSpPr>
        <p:spPr>
          <a:xfrm>
            <a:off x="6277356" y="1926336"/>
            <a:ext cx="5362956" cy="4364736"/>
          </a:xfrm>
          <a:prstGeom prst="rect">
            <a:avLst/>
          </a:prstGeom>
          <a:noFill/>
          <a:ln/>
        </p:spPr>
        <p:txBody>
          <a:bodyPr wrap="square" lIns="0" tIns="0" rIns="0" bIns="0" rtlCol="0" anchor="t"/>
          <a:lstStyle/>
          <a:p>
            <a:pPr indent="0" marL="0">
              <a:spcAft>
                <a:spcPts val="1600"/>
              </a:spcAft>
              <a:buNone/>
            </a:pPr>
            <a:r>
              <a:rPr lang="en-US" sz="2400" b="1" dirty="0">
                <a:solidFill>
                  <a:schemeClr val="tx2"/>
                </a:solidFill>
              </a:rPr>
              <a:t>5.  </a:t>
            </a:r>
            <a:r>
              <a:rPr lang="en-US" sz="2400" dirty="0">
                <a:solidFill>
                  <a:schemeClr val="tx1"/>
                </a:solidFill>
              </a:rPr>
              <a:t>Mijn auto staat </a:t>
            </a:r>
            <a:r>
              <a:rPr lang="en-US" sz="2400" dirty="0">
                <a:solidFill>
                  <a:schemeClr val="accent5"/>
                </a:solidFill>
              </a:rPr>
              <a:t>……………</a:t>
            </a:r>
            <a:r>
              <a:rPr lang="en-US" sz="2400" dirty="0">
                <a:solidFill>
                  <a:schemeClr val="tx1"/>
                </a:solidFill>
              </a:rPr>
              <a:t> de parking.</a:t>
            </a:r>
            <a:endParaRPr lang="en-US" sz="2400" dirty="0"/>
          </a:p>
          <a:p>
            <a:pPr indent="0" marL="0">
              <a:spcAft>
                <a:spcPts val="1600"/>
              </a:spcAft>
              <a:buNone/>
            </a:pPr>
            <a:r>
              <a:rPr lang="en-US" sz="2400" b="1" dirty="0">
                <a:solidFill>
                  <a:schemeClr val="tx2"/>
                </a:solidFill>
              </a:rPr>
              <a:t>6.  </a:t>
            </a:r>
            <a:r>
              <a:rPr lang="en-US" sz="2400" dirty="0">
                <a:solidFill>
                  <a:schemeClr val="tx1"/>
                </a:solidFill>
              </a:rPr>
              <a:t>Het museum is open </a:t>
            </a:r>
            <a:r>
              <a:rPr lang="en-US" sz="2400" dirty="0">
                <a:solidFill>
                  <a:schemeClr val="accent5"/>
                </a:solidFill>
              </a:rPr>
              <a:t>……………</a:t>
            </a:r>
            <a:r>
              <a:rPr lang="en-US" sz="2400" dirty="0">
                <a:solidFill>
                  <a:schemeClr val="tx1"/>
                </a:solidFill>
              </a:rPr>
              <a:t> tien </a:t>
            </a:r>
            <a:r>
              <a:rPr lang="en-US" sz="2400" dirty="0">
                <a:solidFill>
                  <a:schemeClr val="accent5"/>
                </a:solidFill>
              </a:rPr>
              <a:t>……………</a:t>
            </a:r>
            <a:r>
              <a:rPr lang="en-US" sz="2400" dirty="0">
                <a:solidFill>
                  <a:schemeClr val="tx1"/>
                </a:solidFill>
              </a:rPr>
              <a:t> vijf.</a:t>
            </a:r>
            <a:endParaRPr lang="en-US" sz="2400" dirty="0"/>
          </a:p>
          <a:p>
            <a:pPr indent="0" marL="0">
              <a:spcAft>
                <a:spcPts val="1600"/>
              </a:spcAft>
              <a:buNone/>
            </a:pPr>
            <a:r>
              <a:rPr lang="en-US" sz="2400" b="1" dirty="0">
                <a:solidFill>
                  <a:schemeClr val="tx2"/>
                </a:solidFill>
              </a:rPr>
              <a:t>7.  </a:t>
            </a:r>
            <a:r>
              <a:rPr lang="en-US" sz="2400" dirty="0">
                <a:solidFill>
                  <a:schemeClr val="accent5"/>
                </a:solidFill>
              </a:rPr>
              <a:t>……………</a:t>
            </a:r>
            <a:r>
              <a:rPr lang="en-US" sz="2400" dirty="0">
                <a:solidFill>
                  <a:schemeClr val="tx1"/>
                </a:solidFill>
              </a:rPr>
              <a:t> zaterdag gaan we </a:t>
            </a:r>
            <a:r>
              <a:rPr lang="en-US" sz="2400" dirty="0">
                <a:solidFill>
                  <a:schemeClr val="accent5"/>
                </a:solidFill>
              </a:rPr>
              <a:t>……………</a:t>
            </a:r>
            <a:r>
              <a:rPr lang="en-US" sz="2400" dirty="0">
                <a:solidFill>
                  <a:schemeClr val="tx1"/>
                </a:solidFill>
              </a:rPr>
              <a:t> de bibliotheek.</a:t>
            </a:r>
            <a:endParaRPr lang="en-US" sz="2400" dirty="0"/>
          </a:p>
          <a:p>
            <a:pPr indent="0" marL="0">
              <a:spcAft>
                <a:spcPts val="1600"/>
              </a:spcAft>
              <a:buNone/>
            </a:pPr>
            <a:r>
              <a:rPr lang="en-US" sz="2400" b="1" dirty="0">
                <a:solidFill>
                  <a:schemeClr val="tx2"/>
                </a:solidFill>
              </a:rPr>
              <a:t>8.  </a:t>
            </a:r>
            <a:r>
              <a:rPr lang="en-US" sz="2400" dirty="0">
                <a:solidFill>
                  <a:schemeClr val="tx1"/>
                </a:solidFill>
              </a:rPr>
              <a:t>De kerk staat </a:t>
            </a:r>
            <a:r>
              <a:rPr lang="en-US" sz="2400" dirty="0">
                <a:solidFill>
                  <a:schemeClr val="accent5"/>
                </a:solidFill>
              </a:rPr>
              <a:t>……………</a:t>
            </a:r>
            <a:r>
              <a:rPr lang="en-US" sz="2400" dirty="0">
                <a:solidFill>
                  <a:schemeClr val="tx1"/>
                </a:solidFill>
              </a:rPr>
              <a:t> het centrum.</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Waar? Wanneer? En ville</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ag"/>
          <p:cNvSpPr/>
          <p:nvPr/>
        </p:nvSpPr>
        <p:spPr>
          <a:xfrm>
            <a:off x="18242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7" name="Text 4"/>
          <p:cNvSpPr txBox="1"/>
          <p:nvPr/>
        </p:nvSpPr>
        <p:spPr>
          <a:xfrm>
            <a:off x="548640" y="1481328"/>
            <a:ext cx="11091672" cy="371856"/>
          </a:xfrm>
          <a:prstGeom prst="rect">
            <a:avLst/>
          </a:prstGeom>
          <a:noFill/>
          <a:ln/>
        </p:spPr>
        <p:txBody>
          <a:bodyPr wrap="square" lIns="0" tIns="0" rIns="0" bIns="0" rtlCol="0" anchor="t"/>
          <a:lstStyle/>
          <a:p>
            <a:pPr indent="0" marL="0">
              <a:buNone/>
            </a:pPr>
            <a:r>
              <a:rPr lang="en-US" sz="1600" i="1" dirty="0">
                <a:solidFill>
                  <a:schemeClr val="accent5"/>
                </a:solidFill>
              </a:rPr>
              <a:t>Complétez avec </a:t>
            </a:r>
            <a:r>
              <a:rPr lang="en-US" sz="1600" b="1" i="1" dirty="0">
                <a:solidFill>
                  <a:schemeClr val="accent5"/>
                </a:solidFill>
              </a:rPr>
              <a:t>in · op · naar · bij · om · van … tot</a:t>
            </a:r>
            <a:r>
              <a:rPr lang="en-US" sz="1600" i="1" dirty="0">
                <a:solidFill>
                  <a:schemeClr val="accent5"/>
                </a:solidFill>
              </a:rPr>
              <a:t> — vocabulaire </a:t>
            </a:r>
            <a:r>
              <a:rPr lang="en-US" sz="1600" b="1" i="1" dirty="0">
                <a:solidFill>
                  <a:schemeClr val="accent5"/>
                </a:solidFill>
              </a:rPr>
              <a:t>In de stad</a:t>
            </a:r>
            <a:r>
              <a:rPr lang="en-US" sz="1600" i="1" dirty="0">
                <a:solidFill>
                  <a:schemeClr val="accent5"/>
                </a:solidFill>
              </a:rPr>
              <a:t> (p. 80).</a:t>
            </a:r>
            <a:endParaRPr lang="en-US" sz="1600" dirty="0"/>
          </a:p>
        </p:txBody>
      </p:sp>
      <p:sp>
        <p:nvSpPr>
          <p:cNvPr id="8" name="exercise"/>
          <p:cNvSpPr txBox="1"/>
          <p:nvPr/>
        </p:nvSpPr>
        <p:spPr>
          <a:xfrm>
            <a:off x="548640" y="1926336"/>
            <a:ext cx="5362956" cy="4364736"/>
          </a:xfrm>
          <a:prstGeom prst="rect">
            <a:avLst/>
          </a:prstGeom>
          <a:noFill/>
          <a:ln/>
        </p:spPr>
        <p:txBody>
          <a:bodyPr wrap="square" lIns="0" tIns="0" rIns="0" bIns="0" rtlCol="0" anchor="t"/>
          <a:lstStyle/>
          <a:p>
            <a:pPr indent="0" marL="0">
              <a:spcAft>
                <a:spcPts val="1600"/>
              </a:spcAft>
              <a:buNone/>
            </a:pPr>
            <a:r>
              <a:rPr lang="en-US" sz="2400" b="1" dirty="0">
                <a:solidFill>
                  <a:schemeClr val="tx2"/>
                </a:solidFill>
              </a:rPr>
              <a:t>1.  </a:t>
            </a:r>
            <a:r>
              <a:rPr lang="en-US" sz="2400" dirty="0">
                <a:solidFill>
                  <a:schemeClr val="tx1"/>
                </a:solidFill>
              </a:rPr>
              <a:t>Ik wacht </a:t>
            </a:r>
            <a:r>
              <a:rPr lang="en-US" sz="2400" b="1" dirty="0">
                <a:solidFill>
                  <a:schemeClr val="accent3"/>
                </a:solidFill>
              </a:rPr>
              <a:t>bij</a:t>
            </a:r>
            <a:r>
              <a:rPr lang="en-US" sz="2400" dirty="0">
                <a:solidFill>
                  <a:schemeClr val="tx1"/>
                </a:solidFill>
              </a:rPr>
              <a:t> de bushalte.</a:t>
            </a:r>
            <a:endParaRPr lang="en-US" sz="2400" dirty="0"/>
          </a:p>
          <a:p>
            <a:pPr indent="0" marL="0">
              <a:spcAft>
                <a:spcPts val="1600"/>
              </a:spcAft>
              <a:buNone/>
            </a:pPr>
            <a:r>
              <a:rPr lang="en-US" sz="2400" b="1" dirty="0">
                <a:solidFill>
                  <a:schemeClr val="tx2"/>
                </a:solidFill>
              </a:rPr>
              <a:t>2.  </a:t>
            </a:r>
            <a:r>
              <a:rPr lang="en-US" sz="2400" dirty="0">
                <a:solidFill>
                  <a:schemeClr val="tx1"/>
                </a:solidFill>
              </a:rPr>
              <a:t>De bus vertrekt </a:t>
            </a:r>
            <a:r>
              <a:rPr lang="en-US" sz="2400" b="1" dirty="0">
                <a:solidFill>
                  <a:schemeClr val="accent3"/>
                </a:solidFill>
              </a:rPr>
              <a:t>om</a:t>
            </a:r>
            <a:r>
              <a:rPr lang="en-US" sz="2400" dirty="0">
                <a:solidFill>
                  <a:schemeClr val="tx1"/>
                </a:solidFill>
              </a:rPr>
              <a:t> kwart over acht.</a:t>
            </a:r>
            <a:endParaRPr lang="en-US" sz="2400" dirty="0"/>
          </a:p>
          <a:p>
            <a:pPr indent="0" marL="0">
              <a:spcAft>
                <a:spcPts val="1600"/>
              </a:spcAft>
              <a:buNone/>
            </a:pPr>
            <a:r>
              <a:rPr lang="en-US" sz="2400" b="1" dirty="0">
                <a:solidFill>
                  <a:schemeClr val="tx2"/>
                </a:solidFill>
              </a:rPr>
              <a:t>3.  </a:t>
            </a:r>
            <a:r>
              <a:rPr lang="en-US" sz="2400" dirty="0">
                <a:solidFill>
                  <a:schemeClr val="tx1"/>
                </a:solidFill>
              </a:rPr>
              <a:t>Emma woont </a:t>
            </a:r>
            <a:r>
              <a:rPr lang="en-US" sz="2400" b="1" dirty="0">
                <a:solidFill>
                  <a:schemeClr val="accent3"/>
                </a:solidFill>
              </a:rPr>
              <a:t>in</a:t>
            </a:r>
            <a:r>
              <a:rPr lang="en-US" sz="2400" dirty="0">
                <a:solidFill>
                  <a:schemeClr val="tx1"/>
                </a:solidFill>
              </a:rPr>
              <a:t> de Stationsstraat.</a:t>
            </a:r>
            <a:endParaRPr lang="en-US" sz="2400" dirty="0"/>
          </a:p>
          <a:p>
            <a:pPr indent="0" marL="0">
              <a:spcAft>
                <a:spcPts val="1600"/>
              </a:spcAft>
              <a:buNone/>
            </a:pPr>
            <a:r>
              <a:rPr lang="en-US" sz="2400" b="1" dirty="0">
                <a:solidFill>
                  <a:schemeClr val="tx2"/>
                </a:solidFill>
              </a:rPr>
              <a:t>4.  </a:t>
            </a:r>
            <a:r>
              <a:rPr lang="en-US" sz="2400" dirty="0">
                <a:solidFill>
                  <a:schemeClr val="tx1"/>
                </a:solidFill>
              </a:rPr>
              <a:t>Pieter fietst </a:t>
            </a:r>
            <a:r>
              <a:rPr lang="en-US" sz="2400" b="1" dirty="0">
                <a:solidFill>
                  <a:schemeClr val="accent3"/>
                </a:solidFill>
              </a:rPr>
              <a:t>naar</a:t>
            </a:r>
            <a:r>
              <a:rPr lang="en-US" sz="2400" dirty="0">
                <a:solidFill>
                  <a:schemeClr val="tx1"/>
                </a:solidFill>
              </a:rPr>
              <a:t> het station.</a:t>
            </a:r>
            <a:endParaRPr lang="en-US" sz="2400" dirty="0"/>
          </a:p>
        </p:txBody>
      </p:sp>
      <p:sp>
        <p:nvSpPr>
          <p:cNvPr id="9" name="exercise"/>
          <p:cNvSpPr txBox="1"/>
          <p:nvPr/>
        </p:nvSpPr>
        <p:spPr>
          <a:xfrm>
            <a:off x="6277356" y="1926336"/>
            <a:ext cx="5362956" cy="4364736"/>
          </a:xfrm>
          <a:prstGeom prst="rect">
            <a:avLst/>
          </a:prstGeom>
          <a:noFill/>
          <a:ln/>
        </p:spPr>
        <p:txBody>
          <a:bodyPr wrap="square" lIns="0" tIns="0" rIns="0" bIns="0" rtlCol="0" anchor="t"/>
          <a:lstStyle/>
          <a:p>
            <a:pPr indent="0" marL="0">
              <a:spcAft>
                <a:spcPts val="1600"/>
              </a:spcAft>
              <a:buNone/>
            </a:pPr>
            <a:r>
              <a:rPr lang="en-US" sz="2400" b="1" dirty="0">
                <a:solidFill>
                  <a:schemeClr val="tx2"/>
                </a:solidFill>
              </a:rPr>
              <a:t>5.  </a:t>
            </a:r>
            <a:r>
              <a:rPr lang="en-US" sz="2400" dirty="0">
                <a:solidFill>
                  <a:schemeClr val="tx1"/>
                </a:solidFill>
              </a:rPr>
              <a:t>Mijn auto staat </a:t>
            </a:r>
            <a:r>
              <a:rPr lang="en-US" sz="2400" b="1" dirty="0">
                <a:solidFill>
                  <a:schemeClr val="accent3"/>
                </a:solidFill>
              </a:rPr>
              <a:t>op</a:t>
            </a:r>
            <a:r>
              <a:rPr lang="en-US" sz="2400" dirty="0">
                <a:solidFill>
                  <a:schemeClr val="tx1"/>
                </a:solidFill>
              </a:rPr>
              <a:t> de parking.</a:t>
            </a:r>
            <a:endParaRPr lang="en-US" sz="2400" dirty="0"/>
          </a:p>
          <a:p>
            <a:pPr indent="0" marL="0">
              <a:spcAft>
                <a:spcPts val="1600"/>
              </a:spcAft>
              <a:buNone/>
            </a:pPr>
            <a:r>
              <a:rPr lang="en-US" sz="2400" b="1" dirty="0">
                <a:solidFill>
                  <a:schemeClr val="tx2"/>
                </a:solidFill>
              </a:rPr>
              <a:t>6.  </a:t>
            </a:r>
            <a:r>
              <a:rPr lang="en-US" sz="2400" dirty="0">
                <a:solidFill>
                  <a:schemeClr val="tx1"/>
                </a:solidFill>
              </a:rPr>
              <a:t>Het museum is open </a:t>
            </a:r>
            <a:r>
              <a:rPr lang="en-US" sz="2400" b="1" dirty="0">
                <a:solidFill>
                  <a:schemeClr val="accent3"/>
                </a:solidFill>
              </a:rPr>
              <a:t>van</a:t>
            </a:r>
            <a:r>
              <a:rPr lang="en-US" sz="2400" dirty="0">
                <a:solidFill>
                  <a:schemeClr val="tx1"/>
                </a:solidFill>
              </a:rPr>
              <a:t> tien </a:t>
            </a:r>
            <a:r>
              <a:rPr lang="en-US" sz="2400" b="1" dirty="0">
                <a:solidFill>
                  <a:schemeClr val="accent3"/>
                </a:solidFill>
              </a:rPr>
              <a:t>tot</a:t>
            </a:r>
            <a:r>
              <a:rPr lang="en-US" sz="2400" dirty="0">
                <a:solidFill>
                  <a:schemeClr val="tx1"/>
                </a:solidFill>
              </a:rPr>
              <a:t> vijf.</a:t>
            </a:r>
            <a:endParaRPr lang="en-US" sz="2400" dirty="0"/>
          </a:p>
          <a:p>
            <a:pPr indent="0" marL="0">
              <a:spcAft>
                <a:spcPts val="1600"/>
              </a:spcAft>
              <a:buNone/>
            </a:pPr>
            <a:r>
              <a:rPr lang="en-US" sz="2400" b="1" dirty="0">
                <a:solidFill>
                  <a:schemeClr val="tx2"/>
                </a:solidFill>
              </a:rPr>
              <a:t>7.  </a:t>
            </a:r>
            <a:r>
              <a:rPr lang="en-US" sz="2400" b="1" dirty="0">
                <a:solidFill>
                  <a:schemeClr val="accent3"/>
                </a:solidFill>
              </a:rPr>
              <a:t>Op</a:t>
            </a:r>
            <a:r>
              <a:rPr lang="en-US" sz="2400" dirty="0">
                <a:solidFill>
                  <a:schemeClr val="tx1"/>
                </a:solidFill>
              </a:rPr>
              <a:t> zaterdag gaan we </a:t>
            </a:r>
            <a:r>
              <a:rPr lang="en-US" sz="2400" b="1" dirty="0">
                <a:solidFill>
                  <a:schemeClr val="accent3"/>
                </a:solidFill>
              </a:rPr>
              <a:t>naar</a:t>
            </a:r>
            <a:r>
              <a:rPr lang="en-US" sz="2400" dirty="0">
                <a:solidFill>
                  <a:schemeClr val="tx1"/>
                </a:solidFill>
              </a:rPr>
              <a:t> de bibliotheek.</a:t>
            </a:r>
            <a:endParaRPr lang="en-US" sz="2400" dirty="0"/>
          </a:p>
          <a:p>
            <a:pPr indent="0" marL="0">
              <a:spcAft>
                <a:spcPts val="1600"/>
              </a:spcAft>
              <a:buNone/>
            </a:pPr>
            <a:r>
              <a:rPr lang="en-US" sz="2400" b="1" dirty="0">
                <a:solidFill>
                  <a:schemeClr val="tx2"/>
                </a:solidFill>
              </a:rPr>
              <a:t>8.  </a:t>
            </a:r>
            <a:r>
              <a:rPr lang="en-US" sz="2400" dirty="0">
                <a:solidFill>
                  <a:schemeClr val="tx1"/>
                </a:solidFill>
              </a:rPr>
              <a:t>De kerk staat </a:t>
            </a:r>
            <a:r>
              <a:rPr lang="en-US" sz="2400" b="1" dirty="0">
                <a:solidFill>
                  <a:schemeClr val="accent3"/>
                </a:solidFill>
              </a:rPr>
              <a:t>in</a:t>
            </a:r>
            <a:r>
              <a:rPr lang="en-US" sz="2400" dirty="0">
                <a:solidFill>
                  <a:schemeClr val="tx1"/>
                </a:solidFill>
              </a:rPr>
              <a:t> het centrum.</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Fiche 9 : Saluer et demander son chemin</a:t>
            </a:r>
            <a:endParaRPr lang="en-US" sz="3200" dirty="0"/>
          </a:p>
        </p:txBody>
      </p:sp>
      <p:sp>
        <p:nvSpPr>
          <p:cNvPr id="3" name="tag"/>
          <p:cNvSpPr/>
          <p:nvPr/>
        </p:nvSpPr>
        <p:spPr>
          <a:xfrm>
            <a:off x="548640" y="237744"/>
            <a:ext cx="23088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MISE EN SITUATION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100a</a:t>
            </a:r>
            <a:endParaRPr lang="en-US" sz="1200" dirty="0"/>
          </a:p>
        </p:txBody>
      </p:sp>
      <p:sp>
        <p:nvSpPr>
          <p:cNvPr id="6" name="Text 3"/>
          <p:cNvSpPr txBox="1"/>
          <p:nvPr/>
        </p:nvSpPr>
        <p:spPr>
          <a:xfrm>
            <a:off x="548640" y="1481328"/>
            <a:ext cx="11091672" cy="344424"/>
          </a:xfrm>
          <a:prstGeom prst="rect">
            <a:avLst/>
          </a:prstGeom>
          <a:noFill/>
          <a:ln/>
        </p:spPr>
        <p:txBody>
          <a:bodyPr wrap="square" lIns="0" tIns="0" rIns="0" bIns="0" rtlCol="0" anchor="t"/>
          <a:lstStyle/>
          <a:p>
            <a:pPr indent="0" marL="0">
              <a:buNone/>
            </a:pPr>
            <a:r>
              <a:rPr lang="en-US" sz="1600" i="1" dirty="0">
                <a:solidFill>
                  <a:schemeClr val="accent5"/>
                </a:solidFill>
              </a:rPr>
              <a:t>Nouveau vocabulaire du </a:t>
            </a:r>
            <a:r>
              <a:rPr lang="en-US" sz="1600" b="1" i="1" dirty="0">
                <a:solidFill>
                  <a:schemeClr val="accent5"/>
                </a:solidFill>
              </a:rPr>
              <a:t>Jalon 1</a:t>
            </a:r>
            <a:r>
              <a:rPr lang="en-US" sz="1600" i="1" dirty="0">
                <a:solidFill>
                  <a:schemeClr val="accent5"/>
                </a:solidFill>
              </a:rPr>
              <a:t> (saluer, prendre des nouvelles) et du </a:t>
            </a:r>
            <a:r>
              <a:rPr lang="en-US" sz="1600" b="1" i="1" dirty="0">
                <a:solidFill>
                  <a:schemeClr val="accent5"/>
                </a:solidFill>
              </a:rPr>
              <a:t>Jalon 2</a:t>
            </a:r>
            <a:r>
              <a:rPr lang="en-US" sz="1600" i="1" dirty="0">
                <a:solidFill>
                  <a:schemeClr val="accent5"/>
                </a:solidFill>
              </a:rPr>
              <a:t> (demander son chemin et répondre).</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917192"/>
          <a:ext cx="11091672" cy="914400"/>
        </p:xfrm>
        <a:graphic>
          <a:graphicData uri="http://schemas.openxmlformats.org/drawingml/2006/table">
            <a:tbl>
              <a:tblPr/>
              <a:tblGrid>
                <a:gridCol w="2377440"/>
                <a:gridCol w="2651760"/>
                <a:gridCol w="2743200"/>
                <a:gridCol w="3319272"/>
              </a:tblGrid>
              <a:tr h="555955">
                <a:tc>
                  <a:txBody>
                    <a:bodyPr/>
                    <a:lstStyle/>
                    <a:p>
                      <a:pPr algn="l" indent="0" marL="0">
                        <a:buNone/>
                      </a:pPr>
                      <a:r>
                        <a:rPr lang="en-US" sz="1800" b="1" dirty="0">
                          <a:solidFill>
                            <a:schemeClr val="bg1"/>
                          </a:solidFill>
                        </a:rPr>
                        <a:t>JALON 1 · NL</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FRANÇAIS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JALON 2 · NL</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FRANÇAIS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767182">
                <a:tc>
                  <a:txBody>
                    <a:bodyPr/>
                    <a:lstStyle/>
                    <a:p>
                      <a:pPr algn="l" indent="0" marL="0">
                        <a:buNone/>
                      </a:pPr>
                      <a:r>
                        <a:rPr lang="en-US" sz="2000" b="1" dirty="0">
                          <a:solidFill>
                            <a:schemeClr val="tx1"/>
                          </a:solidFill>
                        </a:rPr>
                        <a:t>Goedemorgen!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Bonjour ! (le matin)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tx1"/>
                          </a:solidFill>
                        </a:rPr>
                        <a:t>Mag ik iets vragen?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Puis-je demander quelque chose ?</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57200">
                <a:tc>
                  <a:txBody>
                    <a:bodyPr/>
                    <a:lstStyle/>
                    <a:p>
                      <a:pPr algn="l" indent="0" marL="0">
                        <a:buNone/>
                      </a:pPr>
                      <a:r>
                        <a:rPr lang="en-US" sz="2000" b="1" dirty="0">
                          <a:solidFill>
                            <a:schemeClr val="tx1"/>
                          </a:solidFill>
                        </a:rPr>
                        <a:t>Hoe gaat het?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Comment ça va ?</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accent2"/>
                          </a:solidFill>
                        </a:rPr>
                        <a:t>de</a:t>
                      </a:r>
                      <a:r>
                        <a:rPr lang="en-US" sz="2000" b="1" dirty="0">
                          <a:solidFill>
                            <a:schemeClr val="tx1"/>
                          </a:solidFill>
                        </a:rPr>
                        <a:t> hulp</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l’aide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57200">
                <a:tc>
                  <a:txBody>
                    <a:bodyPr/>
                    <a:lstStyle/>
                    <a:p>
                      <a:pPr algn="l" indent="0" marL="0">
                        <a:buNone/>
                      </a:pPr>
                      <a:r>
                        <a:rPr lang="en-US" sz="2000" b="1" dirty="0">
                          <a:solidFill>
                            <a:schemeClr val="tx1"/>
                          </a:solidFill>
                        </a:rPr>
                        <a:t>Het gaat goed.</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Ça va bien.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tx1"/>
                          </a:solidFill>
                        </a:rPr>
                        <a:t>luisteren naar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écouter (qqn, qqch)</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67182">
                <a:tc>
                  <a:txBody>
                    <a:bodyPr/>
                    <a:lstStyle/>
                    <a:p>
                      <a:pPr algn="l" indent="0" marL="0">
                        <a:buNone/>
                      </a:pPr>
                      <a:r>
                        <a:rPr lang="en-US" sz="2000" b="1" dirty="0">
                          <a:solidFill>
                            <a:schemeClr val="tx1"/>
                          </a:solidFill>
                        </a:rPr>
                        <a:t>Dank u.</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Merci. (vous)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accent4"/>
                          </a:solidFill>
                        </a:rPr>
                        <a:t>het</a:t>
                      </a:r>
                      <a:r>
                        <a:rPr lang="en-US" sz="2000" b="1" dirty="0">
                          <a:solidFill>
                            <a:schemeClr val="tx1"/>
                          </a:solidFill>
                        </a:rPr>
                        <a:t> klaslokaal</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la salle de classe, le local</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57200">
                <a:tc>
                  <a:txBody>
                    <a:bodyPr/>
                    <a:lstStyle/>
                    <a:p>
                      <a:pPr algn="l" indent="0" marL="0">
                        <a:buNone/>
                      </a:pPr>
                      <a:r>
                        <a:rPr lang="en-US" sz="2000" b="1" dirty="0">
                          <a:solidFill>
                            <a:schemeClr val="tx1"/>
                          </a:solidFill>
                        </a:rPr>
                        <a:t>Tot straks!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À tout à l’heure !</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tx1"/>
                          </a:solidFill>
                        </a:rPr>
                        <a:t>natuurlijk</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bien sûr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57200">
                <a:tc>
                  <a:txBody>
                    <a:bodyPr/>
                    <a:lstStyle/>
                    <a:p>
                      <a:pPr algn="l" indent="0" marL="0">
                        <a:buNone/>
                      </a:pP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tx1"/>
                          </a:solidFill>
                        </a:rPr>
                        <a:t>bedankt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merci</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57200">
                <a:tc>
                  <a:txBody>
                    <a:bodyPr/>
                    <a:lstStyle/>
                    <a:p>
                      <a:pPr algn="l" indent="0" marL="0">
                        <a:buNone/>
                      </a:pP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tx1"/>
                          </a:solidFill>
                        </a:rPr>
                        <a:t>rechts achteraan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à droite au fond</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Fiche 9 · Jalon 1 : saluer, prendre des nouvelles</a:t>
            </a:r>
            <a:endParaRPr lang="en-US" sz="3200" dirty="0"/>
          </a:p>
        </p:txBody>
      </p:sp>
      <p:sp>
        <p:nvSpPr>
          <p:cNvPr id="3" name="tag"/>
          <p:cNvSpPr/>
          <p:nvPr/>
        </p:nvSpPr>
        <p:spPr>
          <a:xfrm>
            <a:off x="548640" y="237744"/>
            <a:ext cx="11658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JALON 1</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100a</a:t>
            </a:r>
            <a:endParaRPr lang="en-US" sz="1200" dirty="0"/>
          </a:p>
        </p:txBody>
      </p:sp>
      <p:sp>
        <p:nvSpPr>
          <p:cNvPr id="6" name="Text 3"/>
          <p:cNvSpPr txBox="1"/>
          <p:nvPr/>
        </p:nvSpPr>
        <p:spPr>
          <a:xfrm>
            <a:off x="548640" y="1481328"/>
            <a:ext cx="11091672" cy="344424"/>
          </a:xfrm>
          <a:prstGeom prst="rect">
            <a:avLst/>
          </a:prstGeom>
          <a:noFill/>
          <a:ln/>
        </p:spPr>
        <p:txBody>
          <a:bodyPr wrap="square" lIns="0" tIns="0" rIns="0" bIns="0" rtlCol="0" anchor="t"/>
          <a:lstStyle/>
          <a:p>
            <a:pPr indent="0" marL="0">
              <a:buNone/>
            </a:pPr>
            <a:r>
              <a:rPr lang="en-US" sz="1600" i="1" dirty="0">
                <a:solidFill>
                  <a:schemeClr val="accent5"/>
                </a:solidFill>
              </a:rPr>
              <a:t>Niveau A1 · seul 5 min, puis par deux — </a:t>
            </a:r>
            <a:r>
              <a:rPr lang="en-US" sz="1600" b="1" i="1" dirty="0">
                <a:solidFill>
                  <a:schemeClr val="accent5"/>
                </a:solidFill>
              </a:rPr>
              <a:t>I</a:t>
            </a:r>
            <a:r>
              <a:rPr lang="en-US" sz="1600" i="1" dirty="0">
                <a:solidFill>
                  <a:schemeClr val="accent5"/>
                </a:solidFill>
              </a:rPr>
              <a:t> interrogative · </a:t>
            </a:r>
            <a:r>
              <a:rPr lang="en-US" sz="1600" b="1" i="1" dirty="0">
                <a:solidFill>
                  <a:schemeClr val="accent5"/>
                </a:solidFill>
              </a:rPr>
              <a:t>D</a:t>
            </a:r>
            <a:r>
              <a:rPr lang="en-US" sz="1600" i="1" dirty="0">
                <a:solidFill>
                  <a:schemeClr val="accent5"/>
                </a:solidFill>
              </a:rPr>
              <a:t> déclarative · </a:t>
            </a:r>
            <a:r>
              <a:rPr lang="en-US" sz="1600" b="1" i="1" dirty="0">
                <a:solidFill>
                  <a:schemeClr val="accent5"/>
                </a:solidFill>
              </a:rPr>
              <a:t>N</a:t>
            </a:r>
            <a:r>
              <a:rPr lang="en-US" sz="1600" i="1" dirty="0">
                <a:solidFill>
                  <a:schemeClr val="accent5"/>
                </a:solidFill>
              </a:rPr>
              <a:t> négative. Vouvoiement : </a:t>
            </a:r>
            <a:r>
              <a:rPr lang="en-US" sz="1600" b="1" i="1" dirty="0">
                <a:solidFill>
                  <a:schemeClr val="accent5"/>
                </a:solidFill>
              </a:rPr>
              <a:t>u</a:t>
            </a:r>
            <a:r>
              <a:rPr lang="en-US" sz="1600" i="1" dirty="0">
                <a:solidFill>
                  <a:schemeClr val="accent5"/>
                </a:solidFill>
              </a:rPr>
              <a:t>.</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917192"/>
          <a:ext cx="11091672" cy="914400"/>
        </p:xfrm>
        <a:graphic>
          <a:graphicData uri="http://schemas.openxmlformats.org/drawingml/2006/table">
            <a:tbl>
              <a:tblPr/>
              <a:tblGrid>
                <a:gridCol w="640080"/>
                <a:gridCol w="822960"/>
                <a:gridCol w="4572000"/>
                <a:gridCol w="5056632"/>
              </a:tblGrid>
              <a:tr h="628193">
                <a:tc>
                  <a:txBody>
                    <a:bodyPr/>
                    <a:lstStyle/>
                    <a:p>
                      <a:pPr algn="l" indent="0" marL="0">
                        <a:buNone/>
                      </a:pPr>
                      <a:r>
                        <a:rPr lang="en-US" sz="1800" b="1" dirty="0">
                          <a:solidFill>
                            <a:schemeClr val="bg1"/>
                          </a:solidFill>
                        </a:rPr>
                        <a:t>N°</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TYPE</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FRANÇAIS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NEDERLANDS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712318">
                <a:tc>
                  <a:txBody>
                    <a:bodyPr/>
                    <a:lstStyle/>
                    <a:p>
                      <a:pPr algn="ctr" indent="0" marL="0">
                        <a:buNone/>
                      </a:pPr>
                      <a:r>
                        <a:rPr lang="en-US" sz="2000" dirty="0">
                          <a:solidFill>
                            <a:schemeClr val="tx1"/>
                          </a:solidFill>
                        </a:rPr>
                        <a:t>1</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I</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Bonjour, comment ça va ?</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12318">
                <a:tc>
                  <a:txBody>
                    <a:bodyPr/>
                    <a:lstStyle/>
                    <a:p>
                      <a:pPr algn="ctr" indent="0" marL="0">
                        <a:buNone/>
                      </a:pPr>
                      <a:r>
                        <a:rPr lang="en-US" sz="2000" dirty="0">
                          <a:solidFill>
                            <a:schemeClr val="tx1"/>
                          </a:solidFill>
                        </a:rPr>
                        <a:t>2</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D</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Ça va bien, merci.</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712318">
                <a:tc>
                  <a:txBody>
                    <a:bodyPr/>
                    <a:lstStyle/>
                    <a:p>
                      <a:pPr algn="ctr" indent="0" marL="0">
                        <a:buNone/>
                      </a:pPr>
                      <a:r>
                        <a:rPr lang="en-US" sz="2000" dirty="0">
                          <a:solidFill>
                            <a:schemeClr val="tx1"/>
                          </a:solidFill>
                        </a:rPr>
                        <a:t>3</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Aujourd’hui, ça ne va pas très bien.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12318">
                <a:tc>
                  <a:txBody>
                    <a:bodyPr/>
                    <a:lstStyle/>
                    <a:p>
                      <a:pPr algn="ctr" indent="0" marL="0">
                        <a:buNone/>
                      </a:pPr>
                      <a:r>
                        <a:rPr lang="en-US" sz="2000" dirty="0">
                          <a:solidFill>
                            <a:schemeClr val="tx1"/>
                          </a:solidFill>
                        </a:rPr>
                        <a:t>4</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I</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Et vous, comment allez-vous ?</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712318">
                <a:tc>
                  <a:txBody>
                    <a:bodyPr/>
                    <a:lstStyle/>
                    <a:p>
                      <a:pPr algn="ctr" indent="0" marL="0">
                        <a:buNone/>
                      </a:pPr>
                      <a:r>
                        <a:rPr lang="en-US" sz="2000" dirty="0">
                          <a:solidFill>
                            <a:schemeClr val="tx1"/>
                          </a:solidFill>
                        </a:rPr>
                        <a:t>5</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D</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À tout à l’heure !</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Fiche 9 · Jalon 1 : saluer, prendre des nouvelles</a:t>
            </a:r>
            <a:endParaRPr lang="en-US" sz="3200" dirty="0"/>
          </a:p>
        </p:txBody>
      </p:sp>
      <p:sp>
        <p:nvSpPr>
          <p:cNvPr id="3" name="tag"/>
          <p:cNvSpPr/>
          <p:nvPr/>
        </p:nvSpPr>
        <p:spPr>
          <a:xfrm>
            <a:off x="548640" y="237744"/>
            <a:ext cx="11658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JALON 1</a:t>
            </a:r>
            <a:endParaRPr lang="en-US" sz="1200" dirty="0"/>
          </a:p>
        </p:txBody>
      </p:sp>
      <p:sp>
        <p:nvSpPr>
          <p:cNvPr id="4" name="tag"/>
          <p:cNvSpPr/>
          <p:nvPr/>
        </p:nvSpPr>
        <p:spPr>
          <a:xfrm>
            <a:off x="18242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100a</a:t>
            </a:r>
            <a:endParaRPr lang="en-US" sz="1200" dirty="0"/>
          </a:p>
        </p:txBody>
      </p:sp>
      <p:sp>
        <p:nvSpPr>
          <p:cNvPr id="7" name="Text 4"/>
          <p:cNvSpPr txBox="1"/>
          <p:nvPr/>
        </p:nvSpPr>
        <p:spPr>
          <a:xfrm>
            <a:off x="548640" y="1481328"/>
            <a:ext cx="11091672" cy="344424"/>
          </a:xfrm>
          <a:prstGeom prst="rect">
            <a:avLst/>
          </a:prstGeom>
          <a:noFill/>
          <a:ln/>
        </p:spPr>
        <p:txBody>
          <a:bodyPr wrap="square" lIns="0" tIns="0" rIns="0" bIns="0" rtlCol="0" anchor="t"/>
          <a:lstStyle/>
          <a:p>
            <a:pPr indent="0" marL="0">
              <a:buNone/>
            </a:pPr>
            <a:r>
              <a:rPr lang="en-US" sz="1600" i="1" dirty="0">
                <a:solidFill>
                  <a:schemeClr val="accent5"/>
                </a:solidFill>
              </a:rPr>
              <a:t>Niveau A1 · seul 5 min, puis par deux — </a:t>
            </a:r>
            <a:r>
              <a:rPr lang="en-US" sz="1600" b="1" i="1" dirty="0">
                <a:solidFill>
                  <a:schemeClr val="accent5"/>
                </a:solidFill>
              </a:rPr>
              <a:t>I</a:t>
            </a:r>
            <a:r>
              <a:rPr lang="en-US" sz="1600" i="1" dirty="0">
                <a:solidFill>
                  <a:schemeClr val="accent5"/>
                </a:solidFill>
              </a:rPr>
              <a:t> interrogative · </a:t>
            </a:r>
            <a:r>
              <a:rPr lang="en-US" sz="1600" b="1" i="1" dirty="0">
                <a:solidFill>
                  <a:schemeClr val="accent5"/>
                </a:solidFill>
              </a:rPr>
              <a:t>D</a:t>
            </a:r>
            <a:r>
              <a:rPr lang="en-US" sz="1600" i="1" dirty="0">
                <a:solidFill>
                  <a:schemeClr val="accent5"/>
                </a:solidFill>
              </a:rPr>
              <a:t> déclarative · </a:t>
            </a:r>
            <a:r>
              <a:rPr lang="en-US" sz="1600" b="1" i="1" dirty="0">
                <a:solidFill>
                  <a:schemeClr val="accent5"/>
                </a:solidFill>
              </a:rPr>
              <a:t>N</a:t>
            </a:r>
            <a:r>
              <a:rPr lang="en-US" sz="1600" i="1" dirty="0">
                <a:solidFill>
                  <a:schemeClr val="accent5"/>
                </a:solidFill>
              </a:rPr>
              <a:t> négative. Vouvoiement : </a:t>
            </a:r>
            <a:r>
              <a:rPr lang="en-US" sz="1600" b="1" i="1" dirty="0">
                <a:solidFill>
                  <a:schemeClr val="accent5"/>
                </a:solidFill>
              </a:rPr>
              <a:t>u</a:t>
            </a:r>
            <a:r>
              <a:rPr lang="en-US" sz="1600" i="1" dirty="0">
                <a:solidFill>
                  <a:schemeClr val="accent5"/>
                </a:solidFill>
              </a:rPr>
              <a:t>.</a:t>
            </a:r>
            <a:endParaRPr lang="en-US" sz="1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917192"/>
          <a:ext cx="11091672" cy="914400"/>
        </p:xfrm>
        <a:graphic>
          <a:graphicData uri="http://schemas.openxmlformats.org/drawingml/2006/table">
            <a:tbl>
              <a:tblPr/>
              <a:tblGrid>
                <a:gridCol w="640080"/>
                <a:gridCol w="822960"/>
                <a:gridCol w="4572000"/>
                <a:gridCol w="5056632"/>
              </a:tblGrid>
              <a:tr h="628193">
                <a:tc>
                  <a:txBody>
                    <a:bodyPr/>
                    <a:lstStyle/>
                    <a:p>
                      <a:pPr algn="l" indent="0" marL="0">
                        <a:buNone/>
                      </a:pPr>
                      <a:r>
                        <a:rPr lang="en-US" sz="1800" b="1" dirty="0">
                          <a:solidFill>
                            <a:schemeClr val="bg1"/>
                          </a:solidFill>
                        </a:rPr>
                        <a:t>N°</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TYPE</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FRANÇAIS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NEDERLANDS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712318">
                <a:tc>
                  <a:txBody>
                    <a:bodyPr/>
                    <a:lstStyle/>
                    <a:p>
                      <a:pPr algn="ctr" indent="0" marL="0">
                        <a:buNone/>
                      </a:pPr>
                      <a:r>
                        <a:rPr lang="en-US" sz="2000" dirty="0">
                          <a:solidFill>
                            <a:schemeClr val="tx1"/>
                          </a:solidFill>
                        </a:rPr>
                        <a:t>1</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I</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Bonjour, comment ça va ?</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3"/>
                          </a:solidFill>
                        </a:rPr>
                        <a:t>Goedemorgen, hoe gaat het?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12318">
                <a:tc>
                  <a:txBody>
                    <a:bodyPr/>
                    <a:lstStyle/>
                    <a:p>
                      <a:pPr algn="ctr" indent="0" marL="0">
                        <a:buNone/>
                      </a:pPr>
                      <a:r>
                        <a:rPr lang="en-US" sz="2000" dirty="0">
                          <a:solidFill>
                            <a:schemeClr val="tx1"/>
                          </a:solidFill>
                        </a:rPr>
                        <a:t>2</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D</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Ça va bien, merci.</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accent3"/>
                          </a:solidFill>
                        </a:rPr>
                        <a:t>Het gaat goed, dank u.</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712318">
                <a:tc>
                  <a:txBody>
                    <a:bodyPr/>
                    <a:lstStyle/>
                    <a:p>
                      <a:pPr algn="ctr" indent="0" marL="0">
                        <a:buNone/>
                      </a:pPr>
                      <a:r>
                        <a:rPr lang="en-US" sz="2000" dirty="0">
                          <a:solidFill>
                            <a:schemeClr val="tx1"/>
                          </a:solidFill>
                        </a:rPr>
                        <a:t>3</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Aujourd’hui, ça ne va pas très bien.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3"/>
                          </a:solidFill>
                        </a:rPr>
                        <a:t>Vandaag gaat het niet zo goed.</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712318">
                <a:tc>
                  <a:txBody>
                    <a:bodyPr/>
                    <a:lstStyle/>
                    <a:p>
                      <a:pPr algn="ctr" indent="0" marL="0">
                        <a:buNone/>
                      </a:pPr>
                      <a:r>
                        <a:rPr lang="en-US" sz="2000" dirty="0">
                          <a:solidFill>
                            <a:schemeClr val="tx1"/>
                          </a:solidFill>
                        </a:rPr>
                        <a:t>4</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I</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Et vous, comment allez-vous ?</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accent3"/>
                          </a:solidFill>
                        </a:rPr>
                        <a:t>En hoe gaat het met u?</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712318">
                <a:tc>
                  <a:txBody>
                    <a:bodyPr/>
                    <a:lstStyle/>
                    <a:p>
                      <a:pPr algn="ctr" indent="0" marL="0">
                        <a:buNone/>
                      </a:pPr>
                      <a:r>
                        <a:rPr lang="en-US" sz="2000" dirty="0">
                          <a:solidFill>
                            <a:schemeClr val="tx1"/>
                          </a:solidFill>
                        </a:rPr>
                        <a:t>5</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D</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À tout à l’heure !</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3"/>
                          </a:solidFill>
                        </a:rPr>
                        <a:t>Tot straks!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De weg wijzen : les mots pour s’orienter</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11091672" cy="344424"/>
          </a:xfrm>
          <a:prstGeom prst="rect">
            <a:avLst/>
          </a:prstGeom>
          <a:noFill/>
          <a:ln/>
        </p:spPr>
        <p:txBody>
          <a:bodyPr wrap="square" lIns="0" tIns="0" rIns="0" bIns="0" rtlCol="0" anchor="t"/>
          <a:lstStyle/>
          <a:p>
            <a:pPr indent="0" marL="0">
              <a:buNone/>
            </a:pPr>
            <a:r>
              <a:rPr lang="en-US" sz="1600" i="1" dirty="0">
                <a:solidFill>
                  <a:schemeClr val="accent5"/>
                </a:solidFill>
              </a:rPr>
              <a:t>Pour comprendre la réponse (Jalon 2) et jouer la scène : la </a:t>
            </a:r>
            <a:r>
              <a:rPr lang="en-US" sz="1600" b="1" i="1" dirty="0">
                <a:solidFill>
                  <a:schemeClr val="accent5"/>
                </a:solidFill>
              </a:rPr>
              <a:t>direction</a:t>
            </a:r>
            <a:r>
              <a:rPr lang="en-US" sz="1600" i="1" dirty="0">
                <a:solidFill>
                  <a:schemeClr val="accent5"/>
                </a:solidFill>
              </a:rPr>
              <a:t>, la </a:t>
            </a:r>
            <a:r>
              <a:rPr lang="en-US" sz="1600" b="1" i="1" dirty="0">
                <a:solidFill>
                  <a:schemeClr val="accent5"/>
                </a:solidFill>
              </a:rPr>
              <a:t>position</a:t>
            </a:r>
            <a:r>
              <a:rPr lang="en-US" sz="1600" i="1" dirty="0">
                <a:solidFill>
                  <a:schemeClr val="accent5"/>
                </a:solidFill>
              </a:rPr>
              <a:t>, le </a:t>
            </a:r>
            <a:r>
              <a:rPr lang="en-US" sz="1600" b="1" i="1" dirty="0">
                <a:solidFill>
                  <a:schemeClr val="accent5"/>
                </a:solidFill>
              </a:rPr>
              <a:t>bâtiment</a:t>
            </a:r>
            <a:r>
              <a:rPr lang="en-US" sz="1600" i="1" dirty="0">
                <a:solidFill>
                  <a:schemeClr val="accent5"/>
                </a:solidFill>
              </a:rPr>
              <a:t>.</a:t>
            </a:r>
            <a:endParaRPr lang="en-US" sz="1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917192"/>
          <a:ext cx="11091672" cy="914400"/>
        </p:xfrm>
        <a:graphic>
          <a:graphicData uri="http://schemas.openxmlformats.org/drawingml/2006/table">
            <a:tbl>
              <a:tblPr/>
              <a:tblGrid>
                <a:gridCol w="3017520"/>
                <a:gridCol w="2606040"/>
                <a:gridCol w="3017520"/>
                <a:gridCol w="2450592"/>
              </a:tblGrid>
              <a:tr h="530352">
                <a:tc>
                  <a:txBody>
                    <a:bodyPr/>
                    <a:lstStyle/>
                    <a:p>
                      <a:pPr algn="l" indent="0" marL="0">
                        <a:buNone/>
                      </a:pPr>
                      <a:r>
                        <a:rPr lang="en-US" sz="1700" b="1" dirty="0">
                          <a:solidFill>
                            <a:schemeClr val="bg1"/>
                          </a:solidFill>
                        </a:rPr>
                        <a:t>RICHTING · PLAATS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700" b="1" dirty="0">
                          <a:solidFill>
                            <a:schemeClr val="bg1"/>
                          </a:solidFill>
                        </a:rPr>
                        <a:t>FRANÇAIS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700" b="1" dirty="0">
                          <a:solidFill>
                            <a:schemeClr val="bg1"/>
                          </a:solidFill>
                        </a:rPr>
                        <a:t>GEBOUW · VRAGEN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700" b="1" dirty="0">
                          <a:solidFill>
                            <a:schemeClr val="bg1"/>
                          </a:solidFill>
                        </a:rPr>
                        <a:t>FRANÇAIS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431597">
                <a:tc>
                  <a:txBody>
                    <a:bodyPr/>
                    <a:lstStyle/>
                    <a:p>
                      <a:pPr algn="l" indent="0" marL="0">
                        <a:buNone/>
                      </a:pPr>
                      <a:r>
                        <a:rPr lang="en-US" sz="1900" b="1" dirty="0">
                          <a:solidFill>
                            <a:schemeClr val="tx1"/>
                          </a:solidFill>
                        </a:rPr>
                        <a:t>links · rechts</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900" dirty="0">
                          <a:solidFill>
                            <a:schemeClr val="tx1"/>
                          </a:solidFill>
                        </a:rPr>
                        <a:t>à gauche · à droite</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900" b="1" dirty="0">
                          <a:solidFill>
                            <a:schemeClr val="accent2"/>
                          </a:solidFill>
                        </a:rPr>
                        <a:t>de</a:t>
                      </a:r>
                      <a:r>
                        <a:rPr lang="en-US" sz="1900" dirty="0">
                          <a:solidFill>
                            <a:schemeClr val="tx1"/>
                          </a:solidFill>
                        </a:rPr>
                        <a:t> </a:t>
                      </a:r>
                      <a:r>
                        <a:rPr lang="en-US" sz="1900" b="1" dirty="0">
                          <a:solidFill>
                            <a:schemeClr val="tx1"/>
                          </a:solidFill>
                        </a:rPr>
                        <a:t>trap</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900" dirty="0">
                          <a:solidFill>
                            <a:schemeClr val="tx1"/>
                          </a:solidFill>
                        </a:rPr>
                        <a:t>l’escalier</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31597">
                <a:tc>
                  <a:txBody>
                    <a:bodyPr/>
                    <a:lstStyle/>
                    <a:p>
                      <a:pPr algn="l" indent="0" marL="0">
                        <a:buNone/>
                      </a:pPr>
                      <a:r>
                        <a:rPr lang="en-US" sz="1900" b="1" dirty="0">
                          <a:solidFill>
                            <a:schemeClr val="tx1"/>
                          </a:solidFill>
                        </a:rPr>
                        <a:t>rechtdoor</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900" dirty="0">
                          <a:solidFill>
                            <a:schemeClr val="tx1"/>
                          </a:solidFill>
                        </a:rPr>
                        <a:t>tout droit</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900" b="1" dirty="0">
                          <a:solidFill>
                            <a:schemeClr val="accent2"/>
                          </a:solidFill>
                        </a:rPr>
                        <a:t>de</a:t>
                      </a:r>
                      <a:r>
                        <a:rPr lang="en-US" sz="1900" dirty="0">
                          <a:solidFill>
                            <a:schemeClr val="tx1"/>
                          </a:solidFill>
                        </a:rPr>
                        <a:t> </a:t>
                      </a:r>
                      <a:r>
                        <a:rPr lang="en-US" sz="1900" b="1" dirty="0">
                          <a:solidFill>
                            <a:schemeClr val="tx1"/>
                          </a:solidFill>
                        </a:rPr>
                        <a:t>lift</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900" dirty="0">
                          <a:solidFill>
                            <a:schemeClr val="tx1"/>
                          </a:solidFill>
                        </a:rPr>
                        <a:t>l’ascenseur</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31597">
                <a:tc>
                  <a:txBody>
                    <a:bodyPr/>
                    <a:lstStyle/>
                    <a:p>
                      <a:pPr algn="l" indent="0" marL="0">
                        <a:buNone/>
                      </a:pPr>
                      <a:r>
                        <a:rPr lang="en-US" sz="1900" b="1" dirty="0">
                          <a:solidFill>
                            <a:schemeClr val="tx1"/>
                          </a:solidFill>
                        </a:rPr>
                        <a:t>vooraan · achteraan</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900" dirty="0">
                          <a:solidFill>
                            <a:schemeClr val="tx1"/>
                          </a:solidFill>
                        </a:rPr>
                        <a:t>devant · au fond</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900" b="1" dirty="0">
                          <a:solidFill>
                            <a:schemeClr val="accent2"/>
                          </a:solidFill>
                        </a:rPr>
                        <a:t>de</a:t>
                      </a:r>
                      <a:r>
                        <a:rPr lang="en-US" sz="1900" dirty="0">
                          <a:solidFill>
                            <a:schemeClr val="tx1"/>
                          </a:solidFill>
                        </a:rPr>
                        <a:t> </a:t>
                      </a:r>
                      <a:r>
                        <a:rPr lang="en-US" sz="1900" b="1" dirty="0">
                          <a:solidFill>
                            <a:schemeClr val="tx1"/>
                          </a:solidFill>
                        </a:rPr>
                        <a:t>gang</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900" dirty="0">
                          <a:solidFill>
                            <a:schemeClr val="tx1"/>
                          </a:solidFill>
                        </a:rPr>
                        <a:t>le couloir</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31597">
                <a:tc>
                  <a:txBody>
                    <a:bodyPr/>
                    <a:lstStyle/>
                    <a:p>
                      <a:pPr algn="l" indent="0" marL="0">
                        <a:buNone/>
                      </a:pPr>
                      <a:r>
                        <a:rPr lang="en-US" sz="1900" b="1" dirty="0">
                          <a:solidFill>
                            <a:schemeClr val="tx1"/>
                          </a:solidFill>
                        </a:rPr>
                        <a:t>naast de kerk</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900" dirty="0">
                          <a:solidFill>
                            <a:schemeClr val="tx1"/>
                          </a:solidFill>
                        </a:rPr>
                        <a:t>à côté de l’église</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900" b="1" dirty="0">
                          <a:solidFill>
                            <a:schemeClr val="tx1"/>
                          </a:solidFill>
                        </a:rPr>
                        <a:t>op de eerste verdieping</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900" dirty="0">
                          <a:solidFill>
                            <a:schemeClr val="tx1"/>
                          </a:solidFill>
                        </a:rPr>
                        <a:t>au premier étage</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31597">
                <a:tc>
                  <a:txBody>
                    <a:bodyPr/>
                    <a:lstStyle/>
                    <a:p>
                      <a:pPr algn="l" indent="0" marL="0">
                        <a:buNone/>
                      </a:pPr>
                      <a:r>
                        <a:rPr lang="en-US" sz="1900" b="1" dirty="0">
                          <a:solidFill>
                            <a:schemeClr val="tx1"/>
                          </a:solidFill>
                        </a:rPr>
                        <a:t>tegenover het station</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900" dirty="0">
                          <a:solidFill>
                            <a:schemeClr val="tx1"/>
                          </a:solidFill>
                        </a:rPr>
                        <a:t>en face de la gare</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900" b="1" dirty="0">
                          <a:solidFill>
                            <a:schemeClr val="tx1"/>
                          </a:solidFill>
                        </a:rPr>
                        <a:t>Hoe kom ik naar …?</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900" dirty="0">
                          <a:solidFill>
                            <a:schemeClr val="tx1"/>
                          </a:solidFill>
                        </a:rPr>
                        <a:t>Comment aller à … ?</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31597">
                <a:tc>
                  <a:txBody>
                    <a:bodyPr/>
                    <a:lstStyle/>
                    <a:p>
                      <a:pPr algn="l" indent="0" marL="0">
                        <a:buNone/>
                      </a:pPr>
                      <a:r>
                        <a:rPr lang="en-US" sz="1900" b="1" dirty="0">
                          <a:solidFill>
                            <a:schemeClr val="tx1"/>
                          </a:solidFill>
                        </a:rPr>
                        <a:t>Ga rechtdoor.</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900" dirty="0">
                          <a:solidFill>
                            <a:schemeClr val="tx1"/>
                          </a:solidFill>
                        </a:rPr>
                        <a:t>Allez tout droit.</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900" b="1" dirty="0">
                          <a:solidFill>
                            <a:schemeClr val="tx1"/>
                          </a:solidFill>
                        </a:rPr>
                        <a:t>Is het ver?</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900" dirty="0">
                          <a:solidFill>
                            <a:schemeClr val="tx1"/>
                          </a:solidFill>
                        </a:rPr>
                        <a:t>C’est loin ?</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726034">
                <a:tc>
                  <a:txBody>
                    <a:bodyPr/>
                    <a:lstStyle/>
                    <a:p>
                      <a:pPr algn="l" indent="0" marL="0">
                        <a:buNone/>
                      </a:pPr>
                      <a:r>
                        <a:rPr lang="en-US" sz="1900" b="1" dirty="0">
                          <a:solidFill>
                            <a:schemeClr val="tx1"/>
                          </a:solidFill>
                        </a:rPr>
                        <a:t>Neem de eerste straat links.</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900" dirty="0">
                          <a:solidFill>
                            <a:schemeClr val="tx1"/>
                          </a:solidFill>
                        </a:rPr>
                        <a:t>Prenez la 1re rue à gauche.</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900" b="1" dirty="0">
                          <a:solidFill>
                            <a:schemeClr val="tx1"/>
                          </a:solidFill>
                        </a:rPr>
                        <a:t>Vijf minuten te voet.</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900" dirty="0">
                          <a:solidFill>
                            <a:schemeClr val="tx1"/>
                          </a:solidFill>
                        </a:rPr>
                        <a:t>Cinq minutes à pied.</a:t>
                      </a:r>
                      <a:endParaRPr lang="en-US" sz="19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8" name="Text 4"/>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Pour indiquer le chemin : l’</a:t>
            </a:r>
            <a:r>
              <a:rPr lang="en-US" sz="1500" b="1" i="1" dirty="0">
                <a:solidFill>
                  <a:schemeClr val="accent5"/>
                </a:solidFill>
              </a:rPr>
              <a:t>impératif</a:t>
            </a:r>
            <a:r>
              <a:rPr lang="en-US" sz="1500" i="1" dirty="0">
                <a:solidFill>
                  <a:schemeClr val="accent5"/>
                </a:solidFill>
              </a:rPr>
              <a:t> (séance 8) — </a:t>
            </a:r>
            <a:r>
              <a:rPr lang="en-US" sz="1500" i="1" dirty="0">
                <a:solidFill>
                  <a:schemeClr val="accent5"/>
                </a:solidFill>
              </a:rPr>
              <a:t>Ga… · Neem…</a:t>
            </a:r>
            <a:r>
              <a:rPr lang="en-US" sz="1500" i="1" dirty="0">
                <a:solidFill>
                  <a:schemeClr val="accent5"/>
                </a:solidFill>
              </a:rPr>
              <a:t> ; avec </a:t>
            </a:r>
            <a:r>
              <a:rPr lang="en-US" sz="1500" i="1" dirty="0">
                <a:solidFill>
                  <a:schemeClr val="accent5"/>
                </a:solidFill>
              </a:rPr>
              <a:t>maar</a:t>
            </a:r>
            <a:r>
              <a:rPr lang="en-US" sz="1500" i="1" dirty="0">
                <a:solidFill>
                  <a:schemeClr val="accent5"/>
                </a:solidFill>
              </a:rPr>
              <a:t>, c’est plus aimable : </a:t>
            </a:r>
            <a:r>
              <a:rPr lang="en-US" sz="1500" i="1" dirty="0">
                <a:solidFill>
                  <a:schemeClr val="accent5"/>
                </a:solidFill>
              </a:rPr>
              <a:t>Ga maar rechtdoor.</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Fiche 9 · Jalon 2 : demander son chemin</a:t>
            </a:r>
            <a:endParaRPr lang="en-US" sz="3200" dirty="0"/>
          </a:p>
        </p:txBody>
      </p:sp>
      <p:sp>
        <p:nvSpPr>
          <p:cNvPr id="3" name="tag"/>
          <p:cNvSpPr/>
          <p:nvPr/>
        </p:nvSpPr>
        <p:spPr>
          <a:xfrm>
            <a:off x="548640" y="237744"/>
            <a:ext cx="11658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JALON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100a</a:t>
            </a:r>
            <a:endParaRPr lang="en-US" sz="1200" dirty="0"/>
          </a:p>
        </p:txBody>
      </p:sp>
      <p:sp>
        <p:nvSpPr>
          <p:cNvPr id="6" name="Text 3"/>
          <p:cNvSpPr txBox="1"/>
          <p:nvPr/>
        </p:nvSpPr>
        <p:spPr>
          <a:xfrm>
            <a:off x="548640" y="1481328"/>
            <a:ext cx="11091672" cy="344424"/>
          </a:xfrm>
          <a:prstGeom prst="rect">
            <a:avLst/>
          </a:prstGeom>
          <a:noFill/>
          <a:ln/>
        </p:spPr>
        <p:txBody>
          <a:bodyPr wrap="square" lIns="0" tIns="0" rIns="0" bIns="0" rtlCol="0" anchor="t"/>
          <a:lstStyle/>
          <a:p>
            <a:pPr indent="0" marL="0">
              <a:buNone/>
            </a:pPr>
            <a:r>
              <a:rPr lang="en-US" sz="1600" i="1" dirty="0">
                <a:solidFill>
                  <a:schemeClr val="accent5"/>
                </a:solidFill>
              </a:rPr>
              <a:t>Niveau A2 · seul 8 min, puis par deux — vouvoiement (</a:t>
            </a:r>
            <a:r>
              <a:rPr lang="en-US" sz="1600" b="1" i="1" dirty="0">
                <a:solidFill>
                  <a:schemeClr val="accent5"/>
                </a:solidFill>
              </a:rPr>
              <a:t>u</a:t>
            </a:r>
            <a:r>
              <a:rPr lang="en-US" sz="1600" i="1" dirty="0">
                <a:solidFill>
                  <a:schemeClr val="accent5"/>
                </a:solidFill>
              </a:rPr>
              <a:t>). Attention à la question 3 : la question est </a:t>
            </a:r>
            <a:r>
              <a:rPr lang="en-US" sz="1600" b="1" i="1" dirty="0">
                <a:solidFill>
                  <a:schemeClr val="accent5"/>
                </a:solidFill>
              </a:rPr>
              <a:t>indirecte</a:t>
            </a:r>
            <a:r>
              <a:rPr lang="en-US" sz="1600" i="1" dirty="0">
                <a:solidFill>
                  <a:schemeClr val="accent5"/>
                </a:solidFill>
              </a:rPr>
              <a:t>.</a:t>
            </a:r>
            <a:endParaRPr lang="en-US" sz="1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917192"/>
          <a:ext cx="11091672" cy="914400"/>
        </p:xfrm>
        <a:graphic>
          <a:graphicData uri="http://schemas.openxmlformats.org/drawingml/2006/table">
            <a:tbl>
              <a:tblPr/>
              <a:tblGrid>
                <a:gridCol w="640080"/>
                <a:gridCol w="822960"/>
                <a:gridCol w="4572000"/>
                <a:gridCol w="5056632"/>
              </a:tblGrid>
              <a:tr h="628193">
                <a:tc>
                  <a:txBody>
                    <a:bodyPr/>
                    <a:lstStyle/>
                    <a:p>
                      <a:pPr algn="l" indent="0" marL="0">
                        <a:buNone/>
                      </a:pPr>
                      <a:r>
                        <a:rPr lang="en-US" sz="1800" b="1" dirty="0">
                          <a:solidFill>
                            <a:schemeClr val="bg1"/>
                          </a:solidFill>
                        </a:rPr>
                        <a:t>N°</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TYPE</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FRANÇAIS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NEDERLANDS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867766">
                <a:tc>
                  <a:txBody>
                    <a:bodyPr/>
                    <a:lstStyle/>
                    <a:p>
                      <a:pPr algn="ctr" indent="0" marL="0">
                        <a:buNone/>
                      </a:pPr>
                      <a:r>
                        <a:rPr lang="en-US" sz="2000" dirty="0">
                          <a:solidFill>
                            <a:schemeClr val="tx1"/>
                          </a:solidFill>
                        </a:rPr>
                        <a:t>1</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I</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Excusez-moi, puis-je vous poser une question ?</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557784">
                <a:tc>
                  <a:txBody>
                    <a:bodyPr/>
                    <a:lstStyle/>
                    <a:p>
                      <a:pPr algn="ctr" indent="0" marL="0">
                        <a:buNone/>
                      </a:pPr>
                      <a:r>
                        <a:rPr lang="en-US" sz="2000" dirty="0">
                          <a:solidFill>
                            <a:schemeClr val="tx1"/>
                          </a:solidFill>
                        </a:rPr>
                        <a:t>2</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D</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Bien sûr, je serai ravi de vous aider.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867766">
                <a:tc>
                  <a:txBody>
                    <a:bodyPr/>
                    <a:lstStyle/>
                    <a:p>
                      <a:pPr algn="ctr" indent="0" marL="0">
                        <a:buNone/>
                      </a:pPr>
                      <a:r>
                        <a:rPr lang="en-US" sz="2000" dirty="0">
                          <a:solidFill>
                            <a:schemeClr val="tx1"/>
                          </a:solidFill>
                        </a:rPr>
                        <a:t>3</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I</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Pouvez-vous me dire où est le local 204, s’il vous plaît ?</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867766">
                <a:tc>
                  <a:txBody>
                    <a:bodyPr/>
                    <a:lstStyle/>
                    <a:p>
                      <a:pPr algn="ctr" indent="0" marL="0">
                        <a:buNone/>
                      </a:pPr>
                      <a:r>
                        <a:rPr lang="en-US" sz="2000" dirty="0">
                          <a:solidFill>
                            <a:schemeClr val="tx1"/>
                          </a:solidFill>
                        </a:rPr>
                        <a:t>4</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Ce n’est pas à gauche, c’est à droite au fond.</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557784">
                <a:tc>
                  <a:txBody>
                    <a:bodyPr/>
                    <a:lstStyle/>
                    <a:p>
                      <a:pPr algn="ctr" indent="0" marL="0">
                        <a:buNone/>
                      </a:pPr>
                      <a:r>
                        <a:rPr lang="en-US" sz="2000" dirty="0">
                          <a:solidFill>
                            <a:schemeClr val="tx1"/>
                          </a:solidFill>
                        </a:rPr>
                        <a:t>5</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D</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Merci beaucoup pour votre aide !</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accent5"/>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Fiche 9 · Jalon 2 : demander son chemin</a:t>
            </a:r>
            <a:endParaRPr lang="en-US" sz="3200" dirty="0"/>
          </a:p>
        </p:txBody>
      </p:sp>
      <p:sp>
        <p:nvSpPr>
          <p:cNvPr id="3" name="tag"/>
          <p:cNvSpPr/>
          <p:nvPr/>
        </p:nvSpPr>
        <p:spPr>
          <a:xfrm>
            <a:off x="548640" y="237744"/>
            <a:ext cx="11658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JALON 2</a:t>
            </a:r>
            <a:endParaRPr lang="en-US" sz="1200" dirty="0"/>
          </a:p>
        </p:txBody>
      </p:sp>
      <p:sp>
        <p:nvSpPr>
          <p:cNvPr id="4" name="tag"/>
          <p:cNvSpPr/>
          <p:nvPr/>
        </p:nvSpPr>
        <p:spPr>
          <a:xfrm>
            <a:off x="18242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100a</a:t>
            </a:r>
            <a:endParaRPr lang="en-US" sz="1200" dirty="0"/>
          </a:p>
        </p:txBody>
      </p:sp>
      <p:sp>
        <p:nvSpPr>
          <p:cNvPr id="7" name="Text 4"/>
          <p:cNvSpPr txBox="1"/>
          <p:nvPr/>
        </p:nvSpPr>
        <p:spPr>
          <a:xfrm>
            <a:off x="548640" y="1481328"/>
            <a:ext cx="11091672" cy="344424"/>
          </a:xfrm>
          <a:prstGeom prst="rect">
            <a:avLst/>
          </a:prstGeom>
          <a:noFill/>
          <a:ln/>
        </p:spPr>
        <p:txBody>
          <a:bodyPr wrap="square" lIns="0" tIns="0" rIns="0" bIns="0" rtlCol="0" anchor="t"/>
          <a:lstStyle/>
          <a:p>
            <a:pPr indent="0" marL="0">
              <a:buNone/>
            </a:pPr>
            <a:r>
              <a:rPr lang="en-US" sz="1600" i="1" dirty="0">
                <a:solidFill>
                  <a:schemeClr val="accent5"/>
                </a:solidFill>
              </a:rPr>
              <a:t>Niveau A2 · seul 8 min, puis par deux — vouvoiement (</a:t>
            </a:r>
            <a:r>
              <a:rPr lang="en-US" sz="1600" b="1" i="1" dirty="0">
                <a:solidFill>
                  <a:schemeClr val="accent5"/>
                </a:solidFill>
              </a:rPr>
              <a:t>u</a:t>
            </a:r>
            <a:r>
              <a:rPr lang="en-US" sz="1600" i="1" dirty="0">
                <a:solidFill>
                  <a:schemeClr val="accent5"/>
                </a:solidFill>
              </a:rPr>
              <a:t>). Attention à la question 3 : la question est </a:t>
            </a:r>
            <a:r>
              <a:rPr lang="en-US" sz="1600" b="1" i="1" dirty="0">
                <a:solidFill>
                  <a:schemeClr val="accent5"/>
                </a:solidFill>
              </a:rPr>
              <a:t>indirecte</a:t>
            </a:r>
            <a:r>
              <a:rPr lang="en-US" sz="1600" i="1" dirty="0">
                <a:solidFill>
                  <a:schemeClr val="accent5"/>
                </a:solidFill>
              </a:rPr>
              <a:t>.</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917192"/>
          <a:ext cx="11091672" cy="914400"/>
        </p:xfrm>
        <a:graphic>
          <a:graphicData uri="http://schemas.openxmlformats.org/drawingml/2006/table">
            <a:tbl>
              <a:tblPr/>
              <a:tblGrid>
                <a:gridCol w="640080"/>
                <a:gridCol w="822960"/>
                <a:gridCol w="4572000"/>
                <a:gridCol w="5056632"/>
              </a:tblGrid>
              <a:tr h="628193">
                <a:tc>
                  <a:txBody>
                    <a:bodyPr/>
                    <a:lstStyle/>
                    <a:p>
                      <a:pPr algn="l" indent="0" marL="0">
                        <a:buNone/>
                      </a:pPr>
                      <a:r>
                        <a:rPr lang="en-US" sz="1800" b="1" dirty="0">
                          <a:solidFill>
                            <a:schemeClr val="bg1"/>
                          </a:solidFill>
                        </a:rPr>
                        <a:t>N°</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TYPE</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FRANÇAIS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NEDERLANDS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867766">
                <a:tc>
                  <a:txBody>
                    <a:bodyPr/>
                    <a:lstStyle/>
                    <a:p>
                      <a:pPr algn="ctr" indent="0" marL="0">
                        <a:buNone/>
                      </a:pPr>
                      <a:r>
                        <a:rPr lang="en-US" sz="2000" dirty="0">
                          <a:solidFill>
                            <a:schemeClr val="tx1"/>
                          </a:solidFill>
                        </a:rPr>
                        <a:t>1</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I</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Excusez-moi, puis-je vous poser une question ?</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3"/>
                          </a:solidFill>
                        </a:rPr>
                        <a:t>Excuseer, mag ik u iets vragen?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557784">
                <a:tc>
                  <a:txBody>
                    <a:bodyPr/>
                    <a:lstStyle/>
                    <a:p>
                      <a:pPr algn="ctr" indent="0" marL="0">
                        <a:buNone/>
                      </a:pPr>
                      <a:r>
                        <a:rPr lang="en-US" sz="2000" dirty="0">
                          <a:solidFill>
                            <a:schemeClr val="tx1"/>
                          </a:solidFill>
                        </a:rPr>
                        <a:t>2</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D</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Bien sûr, je serai ravi de vous aider.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accent3"/>
                          </a:solidFill>
                        </a:rPr>
                        <a:t>Natuurlijk, ik help u graag.</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867766">
                <a:tc>
                  <a:txBody>
                    <a:bodyPr/>
                    <a:lstStyle/>
                    <a:p>
                      <a:pPr algn="ctr" indent="0" marL="0">
                        <a:buNone/>
                      </a:pPr>
                      <a:r>
                        <a:rPr lang="en-US" sz="2000" dirty="0">
                          <a:solidFill>
                            <a:schemeClr val="tx1"/>
                          </a:solidFill>
                        </a:rPr>
                        <a:t>3</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I</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Pouvez-vous me dire où est le local 204, s’il vous plaît ?</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3"/>
                          </a:solidFill>
                        </a:rPr>
                        <a:t>Kunt u me zeggen waar klaslokaal 204 is, alstublieft?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867766">
                <a:tc>
                  <a:txBody>
                    <a:bodyPr/>
                    <a:lstStyle/>
                    <a:p>
                      <a:pPr algn="ctr" indent="0" marL="0">
                        <a:buNone/>
                      </a:pPr>
                      <a:r>
                        <a:rPr lang="en-US" sz="2000" dirty="0">
                          <a:solidFill>
                            <a:schemeClr val="tx1"/>
                          </a:solidFill>
                        </a:rPr>
                        <a:t>4</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Ce n’est pas à gauche, c’est à droite au fond.</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b="1" dirty="0">
                          <a:solidFill>
                            <a:schemeClr val="accent3"/>
                          </a:solidFill>
                        </a:rPr>
                        <a:t>Het is niet links, het is rechts achteraan.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557784">
                <a:tc>
                  <a:txBody>
                    <a:bodyPr/>
                    <a:lstStyle/>
                    <a:p>
                      <a:pPr algn="ctr" indent="0" marL="0">
                        <a:buNone/>
                      </a:pPr>
                      <a:r>
                        <a:rPr lang="en-US" sz="2000" dirty="0">
                          <a:solidFill>
                            <a:schemeClr val="tx1"/>
                          </a:solidFill>
                        </a:rPr>
                        <a:t>5</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D</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Merci beaucoup pour votre aide !</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b="1" dirty="0">
                          <a:solidFill>
                            <a:schemeClr val="accent3"/>
                          </a:solidFill>
                        </a:rPr>
                        <a:t>Hartelijk bedankt voor uw hulp!</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Phrase-clé : la question indirecte (waar … is)</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100a</a:t>
            </a:r>
            <a:endParaRPr lang="en-US" sz="1200" dirty="0"/>
          </a:p>
        </p:txBody>
      </p:sp>
      <p:sp>
        <p:nvSpPr>
          <p:cNvPr id="6" name="Text 3"/>
          <p:cNvSpPr txBox="1"/>
          <p:nvPr/>
        </p:nvSpPr>
        <p:spPr>
          <a:xfrm>
            <a:off x="548640" y="1481328"/>
            <a:ext cx="11091672" cy="603504"/>
          </a:xfrm>
          <a:prstGeom prst="rect">
            <a:avLst/>
          </a:prstGeom>
          <a:noFill/>
          <a:ln/>
        </p:spPr>
        <p:txBody>
          <a:bodyPr wrap="square" lIns="0" tIns="0" rIns="0" bIns="0" rtlCol="0" anchor="t"/>
          <a:lstStyle/>
          <a:p>
            <a:pPr indent="0" marL="0">
              <a:buNone/>
            </a:pPr>
            <a:r>
              <a:rPr lang="en-US" sz="1800" dirty="0">
                <a:solidFill>
                  <a:schemeClr val="tx1"/>
                </a:solidFill>
              </a:rPr>
              <a:t>Question </a:t>
            </a:r>
            <a:r>
              <a:rPr lang="en-US" sz="1800" b="1" dirty="0">
                <a:solidFill>
                  <a:schemeClr val="tx1"/>
                </a:solidFill>
              </a:rPr>
              <a:t>directe</a:t>
            </a:r>
            <a:r>
              <a:rPr lang="en-US" sz="1800" dirty="0">
                <a:solidFill>
                  <a:schemeClr val="tx1"/>
                </a:solidFill>
              </a:rPr>
              <a:t> : le verbe suit le mot interrogatif. Question </a:t>
            </a:r>
            <a:r>
              <a:rPr lang="en-US" sz="1800" b="1" dirty="0">
                <a:solidFill>
                  <a:schemeClr val="tx1"/>
                </a:solidFill>
              </a:rPr>
              <a:t>indirecte</a:t>
            </a:r>
            <a:r>
              <a:rPr lang="en-US" sz="1800" dirty="0">
                <a:solidFill>
                  <a:schemeClr val="tx1"/>
                </a:solidFill>
              </a:rPr>
              <a:t> (après </a:t>
            </a:r>
            <a:r>
              <a:rPr lang="en-US" sz="1800" i="1" dirty="0">
                <a:solidFill>
                  <a:schemeClr val="tx1"/>
                </a:solidFill>
              </a:rPr>
              <a:t>Kunt u me zeggen…</a:t>
            </a:r>
            <a:r>
              <a:rPr lang="en-US" sz="1800" dirty="0">
                <a:solidFill>
                  <a:schemeClr val="tx1"/>
                </a:solidFill>
              </a:rPr>
              <a:t>) : le verbe va </a:t>
            </a:r>
            <a:r>
              <a:rPr lang="en-US" sz="1800" b="1" dirty="0">
                <a:solidFill>
                  <a:schemeClr val="tx1"/>
                </a:solidFill>
              </a:rPr>
              <a:t>à la fin</a:t>
            </a:r>
            <a:r>
              <a:rPr lang="en-US" sz="1800" dirty="0">
                <a:solidFill>
                  <a:schemeClr val="tx1"/>
                </a:solidFill>
              </a:rPr>
              <a:t>.</a:t>
            </a:r>
            <a:endParaRPr lang="en-US" sz="1800" dirty="0"/>
          </a:p>
        </p:txBody>
      </p:sp>
      <p:sp>
        <p:nvSpPr>
          <p:cNvPr id="7" name="Text 4"/>
          <p:cNvSpPr txBox="1"/>
          <p:nvPr/>
        </p:nvSpPr>
        <p:spPr>
          <a:xfrm>
            <a:off x="548640" y="2459736"/>
            <a:ext cx="1463040" cy="498856"/>
          </a:xfrm>
          <a:prstGeom prst="rect">
            <a:avLst/>
          </a:prstGeom>
          <a:noFill/>
          <a:ln/>
        </p:spPr>
        <p:txBody>
          <a:bodyPr wrap="square" lIns="0" tIns="0" rIns="0" bIns="0" rtlCol="0" anchor="ctr"/>
          <a:lstStyle/>
          <a:p>
            <a:pPr indent="0" marL="0">
              <a:buNone/>
            </a:pPr>
            <a:r>
              <a:rPr lang="en-US" sz="1400" b="1" dirty="0">
                <a:solidFill>
                  <a:schemeClr val="accent5"/>
                </a:solidFill>
              </a:rPr>
              <a:t>Directe</a:t>
            </a:r>
            <a:endParaRPr lang="en-US" sz="1400" dirty="0"/>
          </a:p>
        </p:txBody>
      </p:sp>
      <p:sp>
        <p:nvSpPr>
          <p:cNvPr id="8" name="Text 5"/>
          <p:cNvSpPr txBox="1"/>
          <p:nvPr/>
        </p:nvSpPr>
        <p:spPr>
          <a:xfrm>
            <a:off x="2103120" y="2221992"/>
            <a:ext cx="831088" cy="219456"/>
          </a:xfrm>
          <a:prstGeom prst="rect">
            <a:avLst/>
          </a:prstGeom>
          <a:noFill/>
          <a:ln/>
        </p:spPr>
        <p:txBody>
          <a:bodyPr wrap="square" lIns="0" tIns="0" rIns="0" bIns="0" rtlCol="0" anchor="b"/>
          <a:lstStyle/>
          <a:p>
            <a:pPr algn="ctr" indent="0" marL="0">
              <a:buNone/>
            </a:pPr>
            <a:r>
              <a:rPr lang="en-US" sz="1000" b="1" dirty="0">
                <a:solidFill>
                  <a:srgbClr val="6E4A9E"/>
                </a:solidFill>
              </a:rPr>
              <a:t>mot W</a:t>
            </a:r>
            <a:endParaRPr lang="en-US" sz="1000" dirty="0"/>
          </a:p>
        </p:txBody>
      </p:sp>
      <p:sp>
        <p:nvSpPr>
          <p:cNvPr id="9" name="Shape 6"/>
          <p:cNvSpPr/>
          <p:nvPr/>
        </p:nvSpPr>
        <p:spPr>
          <a:xfrm>
            <a:off x="2103120" y="2459736"/>
            <a:ext cx="831088" cy="498856"/>
          </a:xfrm>
          <a:prstGeom prst="roundRect">
            <a:avLst>
              <a:gd name="adj" fmla="val 10998"/>
            </a:avLst>
          </a:prstGeom>
          <a:solidFill>
            <a:srgbClr val="6E4A9E">
              <a:alpha val="88000"/>
            </a:srgbClr>
          </a:solidFill>
          <a:ln w="12700">
            <a:solidFill>
              <a:srgbClr val="6E4A9E"/>
            </a:solidFill>
            <a:prstDash val="solid"/>
          </a:ln>
        </p:spPr>
      </p:sp>
      <p:sp>
        <p:nvSpPr>
          <p:cNvPr id="10" name="Text 7"/>
          <p:cNvSpPr txBox="1"/>
          <p:nvPr/>
        </p:nvSpPr>
        <p:spPr>
          <a:xfrm>
            <a:off x="2139696" y="2459736"/>
            <a:ext cx="757936" cy="498856"/>
          </a:xfrm>
          <a:prstGeom prst="rect">
            <a:avLst/>
          </a:prstGeom>
          <a:noFill/>
          <a:ln/>
        </p:spPr>
        <p:txBody>
          <a:bodyPr wrap="square" lIns="0" tIns="0" rIns="0" bIns="0" rtlCol="0" anchor="ctr"/>
          <a:lstStyle/>
          <a:p>
            <a:pPr algn="ctr" indent="0" marL="0">
              <a:buNone/>
            </a:pPr>
            <a:r>
              <a:rPr lang="en-US" sz="1900" b="1" dirty="0">
                <a:solidFill>
                  <a:schemeClr val="bg1"/>
                </a:solidFill>
              </a:rPr>
              <a:t>Waar</a:t>
            </a:r>
            <a:endParaRPr lang="en-US" sz="1900" dirty="0"/>
          </a:p>
        </p:txBody>
      </p:sp>
      <p:sp>
        <p:nvSpPr>
          <p:cNvPr id="11" name="Text 8"/>
          <p:cNvSpPr txBox="1"/>
          <p:nvPr/>
        </p:nvSpPr>
        <p:spPr>
          <a:xfrm>
            <a:off x="3043936" y="2221992"/>
            <a:ext cx="68580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12" name="Shape 9"/>
          <p:cNvSpPr/>
          <p:nvPr/>
        </p:nvSpPr>
        <p:spPr>
          <a:xfrm>
            <a:off x="3043936" y="2459736"/>
            <a:ext cx="685800" cy="498856"/>
          </a:xfrm>
          <a:prstGeom prst="roundRect">
            <a:avLst>
              <a:gd name="adj" fmla="val 10998"/>
            </a:avLst>
          </a:prstGeom>
          <a:solidFill>
            <a:schemeClr val="accent6">
              <a:alpha val="88000"/>
            </a:schemeClr>
          </a:solidFill>
          <a:ln w="12700">
            <a:solidFill>
              <a:srgbClr val="B83227"/>
            </a:solidFill>
            <a:prstDash val="solid"/>
          </a:ln>
        </p:spPr>
      </p:sp>
      <p:sp>
        <p:nvSpPr>
          <p:cNvPr id="13" name="Text 10"/>
          <p:cNvSpPr txBox="1"/>
          <p:nvPr/>
        </p:nvSpPr>
        <p:spPr>
          <a:xfrm>
            <a:off x="3080512" y="2459736"/>
            <a:ext cx="612648" cy="498856"/>
          </a:xfrm>
          <a:prstGeom prst="rect">
            <a:avLst/>
          </a:prstGeom>
          <a:noFill/>
          <a:ln/>
        </p:spPr>
        <p:txBody>
          <a:bodyPr wrap="square" lIns="0" tIns="0" rIns="0" bIns="0" rtlCol="0" anchor="ctr"/>
          <a:lstStyle/>
          <a:p>
            <a:pPr algn="ctr" indent="0" marL="0">
              <a:buNone/>
            </a:pPr>
            <a:r>
              <a:rPr lang="en-US" sz="1900" b="1" dirty="0">
                <a:solidFill>
                  <a:schemeClr val="bg1"/>
                </a:solidFill>
              </a:rPr>
              <a:t>is</a:t>
            </a:r>
            <a:endParaRPr lang="en-US" sz="1900" dirty="0"/>
          </a:p>
        </p:txBody>
      </p:sp>
      <p:sp>
        <p:nvSpPr>
          <p:cNvPr id="14" name="Text 11"/>
          <p:cNvSpPr txBox="1"/>
          <p:nvPr/>
        </p:nvSpPr>
        <p:spPr>
          <a:xfrm>
            <a:off x="3839464" y="2221992"/>
            <a:ext cx="2211324"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15" name="Shape 12"/>
          <p:cNvSpPr/>
          <p:nvPr/>
        </p:nvSpPr>
        <p:spPr>
          <a:xfrm>
            <a:off x="3839464" y="2459736"/>
            <a:ext cx="2211324" cy="498856"/>
          </a:xfrm>
          <a:prstGeom prst="roundRect">
            <a:avLst>
              <a:gd name="adj" fmla="val 10998"/>
            </a:avLst>
          </a:prstGeom>
          <a:solidFill>
            <a:schemeClr val="tx2">
              <a:alpha val="88000"/>
            </a:schemeClr>
          </a:solidFill>
          <a:ln w="12700">
            <a:solidFill>
              <a:srgbClr val="17375E"/>
            </a:solidFill>
            <a:prstDash val="solid"/>
          </a:ln>
        </p:spPr>
      </p:sp>
      <p:sp>
        <p:nvSpPr>
          <p:cNvPr id="16" name="Text 13"/>
          <p:cNvSpPr txBox="1"/>
          <p:nvPr/>
        </p:nvSpPr>
        <p:spPr>
          <a:xfrm>
            <a:off x="3876040" y="2459736"/>
            <a:ext cx="2138172" cy="498856"/>
          </a:xfrm>
          <a:prstGeom prst="rect">
            <a:avLst/>
          </a:prstGeom>
          <a:noFill/>
          <a:ln/>
        </p:spPr>
        <p:txBody>
          <a:bodyPr wrap="square" lIns="0" tIns="0" rIns="0" bIns="0" rtlCol="0" anchor="ctr"/>
          <a:lstStyle/>
          <a:p>
            <a:pPr algn="ctr" indent="0" marL="0">
              <a:buNone/>
            </a:pPr>
            <a:r>
              <a:rPr lang="en-US" sz="1900" b="1" dirty="0">
                <a:solidFill>
                  <a:schemeClr val="bg1"/>
                </a:solidFill>
              </a:rPr>
              <a:t>klaslokaal 204?</a:t>
            </a:r>
            <a:endParaRPr lang="en-US" sz="1900" dirty="0"/>
          </a:p>
        </p:txBody>
      </p:sp>
      <p:sp>
        <p:nvSpPr>
          <p:cNvPr id="17" name="Text 14"/>
          <p:cNvSpPr txBox="1"/>
          <p:nvPr/>
        </p:nvSpPr>
        <p:spPr>
          <a:xfrm>
            <a:off x="2103120" y="2986024"/>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Où est le local 204 ?</a:t>
            </a:r>
            <a:endParaRPr lang="en-US" sz="1400" dirty="0"/>
          </a:p>
        </p:txBody>
      </p:sp>
      <p:sp>
        <p:nvSpPr>
          <p:cNvPr id="18" name="Text 15"/>
          <p:cNvSpPr txBox="1"/>
          <p:nvPr/>
        </p:nvSpPr>
        <p:spPr>
          <a:xfrm>
            <a:off x="548640" y="3507232"/>
            <a:ext cx="1463040" cy="498856"/>
          </a:xfrm>
          <a:prstGeom prst="rect">
            <a:avLst/>
          </a:prstGeom>
          <a:noFill/>
          <a:ln/>
        </p:spPr>
        <p:txBody>
          <a:bodyPr wrap="square" lIns="0" tIns="0" rIns="0" bIns="0" rtlCol="0" anchor="ctr"/>
          <a:lstStyle/>
          <a:p>
            <a:pPr indent="0" marL="0">
              <a:buNone/>
            </a:pPr>
            <a:r>
              <a:rPr lang="en-US" sz="1400" b="1" dirty="0">
                <a:solidFill>
                  <a:schemeClr val="accent5"/>
                </a:solidFill>
              </a:rPr>
              <a:t>Indirecte</a:t>
            </a:r>
            <a:endParaRPr lang="en-US" sz="1400" dirty="0"/>
          </a:p>
        </p:txBody>
      </p:sp>
      <p:sp>
        <p:nvSpPr>
          <p:cNvPr id="19" name="Text 16"/>
          <p:cNvSpPr txBox="1"/>
          <p:nvPr/>
        </p:nvSpPr>
        <p:spPr>
          <a:xfrm>
            <a:off x="2103120" y="3269488"/>
            <a:ext cx="831088"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20" name="Shape 17"/>
          <p:cNvSpPr/>
          <p:nvPr/>
        </p:nvSpPr>
        <p:spPr>
          <a:xfrm>
            <a:off x="2103120" y="3507232"/>
            <a:ext cx="831088" cy="498856"/>
          </a:xfrm>
          <a:prstGeom prst="roundRect">
            <a:avLst>
              <a:gd name="adj" fmla="val 10998"/>
            </a:avLst>
          </a:prstGeom>
          <a:solidFill>
            <a:schemeClr val="accent6">
              <a:alpha val="88000"/>
            </a:schemeClr>
          </a:solidFill>
          <a:ln w="12700">
            <a:solidFill>
              <a:srgbClr val="B83227"/>
            </a:solidFill>
            <a:prstDash val="solid"/>
          </a:ln>
        </p:spPr>
      </p:sp>
      <p:sp>
        <p:nvSpPr>
          <p:cNvPr id="21" name="Text 18"/>
          <p:cNvSpPr txBox="1"/>
          <p:nvPr/>
        </p:nvSpPr>
        <p:spPr>
          <a:xfrm>
            <a:off x="2139696" y="3507232"/>
            <a:ext cx="757936" cy="498856"/>
          </a:xfrm>
          <a:prstGeom prst="rect">
            <a:avLst/>
          </a:prstGeom>
          <a:noFill/>
          <a:ln/>
        </p:spPr>
        <p:txBody>
          <a:bodyPr wrap="square" lIns="0" tIns="0" rIns="0" bIns="0" rtlCol="0" anchor="ctr"/>
          <a:lstStyle/>
          <a:p>
            <a:pPr algn="ctr" indent="0" marL="0">
              <a:buNone/>
            </a:pPr>
            <a:r>
              <a:rPr lang="en-US" sz="1900" b="1" dirty="0">
                <a:solidFill>
                  <a:schemeClr val="bg1"/>
                </a:solidFill>
              </a:rPr>
              <a:t>Kunt</a:t>
            </a:r>
            <a:endParaRPr lang="en-US" sz="1900" dirty="0"/>
          </a:p>
        </p:txBody>
      </p:sp>
      <p:sp>
        <p:nvSpPr>
          <p:cNvPr id="22" name="Text 19"/>
          <p:cNvSpPr txBox="1"/>
          <p:nvPr/>
        </p:nvSpPr>
        <p:spPr>
          <a:xfrm>
            <a:off x="3043936" y="3269488"/>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23" name="Shape 20"/>
          <p:cNvSpPr/>
          <p:nvPr/>
        </p:nvSpPr>
        <p:spPr>
          <a:xfrm>
            <a:off x="3043936" y="3507232"/>
            <a:ext cx="685800" cy="498856"/>
          </a:xfrm>
          <a:prstGeom prst="roundRect">
            <a:avLst>
              <a:gd name="adj" fmla="val 10998"/>
            </a:avLst>
          </a:prstGeom>
          <a:solidFill>
            <a:schemeClr val="tx2">
              <a:alpha val="88000"/>
            </a:schemeClr>
          </a:solidFill>
          <a:ln w="12700">
            <a:solidFill>
              <a:srgbClr val="17375E"/>
            </a:solidFill>
            <a:prstDash val="solid"/>
          </a:ln>
        </p:spPr>
      </p:sp>
      <p:sp>
        <p:nvSpPr>
          <p:cNvPr id="24" name="Text 21"/>
          <p:cNvSpPr txBox="1"/>
          <p:nvPr/>
        </p:nvSpPr>
        <p:spPr>
          <a:xfrm>
            <a:off x="3080512" y="3507232"/>
            <a:ext cx="612648" cy="498856"/>
          </a:xfrm>
          <a:prstGeom prst="rect">
            <a:avLst/>
          </a:prstGeom>
          <a:noFill/>
          <a:ln/>
        </p:spPr>
        <p:txBody>
          <a:bodyPr wrap="square" lIns="0" tIns="0" rIns="0" bIns="0" rtlCol="0" anchor="ctr"/>
          <a:lstStyle/>
          <a:p>
            <a:pPr algn="ctr" indent="0" marL="0">
              <a:buNone/>
            </a:pPr>
            <a:r>
              <a:rPr lang="en-US" sz="1900" b="1" dirty="0">
                <a:solidFill>
                  <a:schemeClr val="bg1"/>
                </a:solidFill>
              </a:rPr>
              <a:t>u</a:t>
            </a:r>
            <a:endParaRPr lang="en-US" sz="1900" dirty="0"/>
          </a:p>
        </p:txBody>
      </p:sp>
      <p:sp>
        <p:nvSpPr>
          <p:cNvPr id="25" name="Text 22"/>
          <p:cNvSpPr txBox="1"/>
          <p:nvPr/>
        </p:nvSpPr>
        <p:spPr>
          <a:xfrm>
            <a:off x="3839464" y="3269488"/>
            <a:ext cx="685800"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26" name="Shape 23"/>
          <p:cNvSpPr/>
          <p:nvPr/>
        </p:nvSpPr>
        <p:spPr>
          <a:xfrm>
            <a:off x="3839464" y="3507232"/>
            <a:ext cx="685800" cy="498856"/>
          </a:xfrm>
          <a:prstGeom prst="roundRect">
            <a:avLst>
              <a:gd name="adj" fmla="val 10998"/>
            </a:avLst>
          </a:prstGeom>
          <a:solidFill>
            <a:schemeClr val="accent5">
              <a:alpha val="25000"/>
            </a:schemeClr>
          </a:solidFill>
          <a:ln w="12700">
            <a:solidFill>
              <a:srgbClr val="4A5A70"/>
            </a:solidFill>
            <a:prstDash val="solid"/>
          </a:ln>
        </p:spPr>
      </p:sp>
      <p:sp>
        <p:nvSpPr>
          <p:cNvPr id="27" name="Text 24"/>
          <p:cNvSpPr txBox="1"/>
          <p:nvPr/>
        </p:nvSpPr>
        <p:spPr>
          <a:xfrm>
            <a:off x="3876040" y="3507232"/>
            <a:ext cx="612648" cy="498856"/>
          </a:xfrm>
          <a:prstGeom prst="rect">
            <a:avLst/>
          </a:prstGeom>
          <a:noFill/>
          <a:ln/>
        </p:spPr>
        <p:txBody>
          <a:bodyPr wrap="square" lIns="0" tIns="0" rIns="0" bIns="0" rtlCol="0" anchor="ctr"/>
          <a:lstStyle/>
          <a:p>
            <a:pPr algn="ctr" indent="0" marL="0">
              <a:buNone/>
            </a:pPr>
            <a:r>
              <a:rPr lang="en-US" sz="1900" b="1" dirty="0">
                <a:solidFill>
                  <a:schemeClr val="tx1"/>
                </a:solidFill>
              </a:rPr>
              <a:t>me</a:t>
            </a:r>
            <a:endParaRPr lang="en-US" sz="1900" dirty="0"/>
          </a:p>
        </p:txBody>
      </p:sp>
      <p:sp>
        <p:nvSpPr>
          <p:cNvPr id="28" name="Text 25"/>
          <p:cNvSpPr txBox="1"/>
          <p:nvPr/>
        </p:nvSpPr>
        <p:spPr>
          <a:xfrm>
            <a:off x="4634992" y="3269488"/>
            <a:ext cx="1082040" cy="219456"/>
          </a:xfrm>
          <a:prstGeom prst="rect">
            <a:avLst/>
          </a:prstGeom>
          <a:noFill/>
          <a:ln/>
        </p:spPr>
        <p:txBody>
          <a:bodyPr wrap="square" lIns="0" tIns="0" rIns="0" bIns="0" rtlCol="0" anchor="b"/>
          <a:lstStyle/>
          <a:p>
            <a:pPr algn="ctr" indent="0" marL="0">
              <a:buNone/>
            </a:pPr>
            <a:r>
              <a:rPr lang="en-US" sz="1000" b="1" dirty="0">
                <a:solidFill>
                  <a:schemeClr val="accent1"/>
                </a:solidFill>
              </a:rPr>
              <a:t>infinitif</a:t>
            </a:r>
            <a:endParaRPr lang="en-US" sz="1000" dirty="0"/>
          </a:p>
        </p:txBody>
      </p:sp>
      <p:sp>
        <p:nvSpPr>
          <p:cNvPr id="29" name="Shape 26"/>
          <p:cNvSpPr/>
          <p:nvPr/>
        </p:nvSpPr>
        <p:spPr>
          <a:xfrm>
            <a:off x="4634992" y="3507232"/>
            <a:ext cx="1082040" cy="498856"/>
          </a:xfrm>
          <a:prstGeom prst="roundRect">
            <a:avLst>
              <a:gd name="adj" fmla="val 10998"/>
            </a:avLst>
          </a:prstGeom>
          <a:solidFill>
            <a:schemeClr val="accent1">
              <a:alpha val="88000"/>
            </a:schemeClr>
          </a:solidFill>
          <a:ln w="12700">
            <a:solidFill>
              <a:srgbClr val="D9700F"/>
            </a:solidFill>
            <a:prstDash val="solid"/>
          </a:ln>
        </p:spPr>
      </p:sp>
      <p:sp>
        <p:nvSpPr>
          <p:cNvPr id="30" name="Text 27"/>
          <p:cNvSpPr txBox="1"/>
          <p:nvPr/>
        </p:nvSpPr>
        <p:spPr>
          <a:xfrm>
            <a:off x="4671568" y="3507232"/>
            <a:ext cx="1008888" cy="498856"/>
          </a:xfrm>
          <a:prstGeom prst="rect">
            <a:avLst/>
          </a:prstGeom>
          <a:noFill/>
          <a:ln/>
        </p:spPr>
        <p:txBody>
          <a:bodyPr wrap="square" lIns="0" tIns="0" rIns="0" bIns="0" rtlCol="0" anchor="ctr"/>
          <a:lstStyle/>
          <a:p>
            <a:pPr algn="ctr" indent="0" marL="0">
              <a:buNone/>
            </a:pPr>
            <a:r>
              <a:rPr lang="en-US" sz="1900" b="1" dirty="0">
                <a:solidFill>
                  <a:schemeClr val="bg1"/>
                </a:solidFill>
              </a:rPr>
              <a:t>zeggen</a:t>
            </a:r>
            <a:endParaRPr lang="en-US" sz="1900" dirty="0"/>
          </a:p>
        </p:txBody>
      </p:sp>
      <p:sp>
        <p:nvSpPr>
          <p:cNvPr id="31" name="Text 28"/>
          <p:cNvSpPr txBox="1"/>
          <p:nvPr/>
        </p:nvSpPr>
        <p:spPr>
          <a:xfrm>
            <a:off x="5826760" y="3269488"/>
            <a:ext cx="831088" cy="219456"/>
          </a:xfrm>
          <a:prstGeom prst="rect">
            <a:avLst/>
          </a:prstGeom>
          <a:noFill/>
          <a:ln/>
        </p:spPr>
        <p:txBody>
          <a:bodyPr wrap="square" lIns="0" tIns="0" rIns="0" bIns="0" rtlCol="0" anchor="b"/>
          <a:lstStyle/>
          <a:p>
            <a:pPr algn="ctr" indent="0" marL="0">
              <a:buNone/>
            </a:pPr>
            <a:r>
              <a:rPr lang="en-US" sz="1000" b="1" dirty="0">
                <a:solidFill>
                  <a:srgbClr val="6E4A9E"/>
                </a:solidFill>
              </a:rPr>
              <a:t>mot W</a:t>
            </a:r>
            <a:endParaRPr lang="en-US" sz="1000" dirty="0"/>
          </a:p>
        </p:txBody>
      </p:sp>
      <p:sp>
        <p:nvSpPr>
          <p:cNvPr id="32" name="Shape 29"/>
          <p:cNvSpPr/>
          <p:nvPr/>
        </p:nvSpPr>
        <p:spPr>
          <a:xfrm>
            <a:off x="5826760" y="3507232"/>
            <a:ext cx="831088" cy="498856"/>
          </a:xfrm>
          <a:prstGeom prst="roundRect">
            <a:avLst>
              <a:gd name="adj" fmla="val 10998"/>
            </a:avLst>
          </a:prstGeom>
          <a:solidFill>
            <a:srgbClr val="6E4A9E">
              <a:alpha val="88000"/>
            </a:srgbClr>
          </a:solidFill>
          <a:ln w="12700">
            <a:solidFill>
              <a:srgbClr val="6E4A9E"/>
            </a:solidFill>
            <a:prstDash val="solid"/>
          </a:ln>
        </p:spPr>
      </p:sp>
      <p:sp>
        <p:nvSpPr>
          <p:cNvPr id="33" name="Text 30"/>
          <p:cNvSpPr txBox="1"/>
          <p:nvPr/>
        </p:nvSpPr>
        <p:spPr>
          <a:xfrm>
            <a:off x="5863336" y="3507232"/>
            <a:ext cx="757936" cy="498856"/>
          </a:xfrm>
          <a:prstGeom prst="rect">
            <a:avLst/>
          </a:prstGeom>
          <a:noFill/>
          <a:ln/>
        </p:spPr>
        <p:txBody>
          <a:bodyPr wrap="square" lIns="0" tIns="0" rIns="0" bIns="0" rtlCol="0" anchor="ctr"/>
          <a:lstStyle/>
          <a:p>
            <a:pPr algn="ctr" indent="0" marL="0">
              <a:buNone/>
            </a:pPr>
            <a:r>
              <a:rPr lang="en-US" sz="1900" b="1" dirty="0">
                <a:solidFill>
                  <a:schemeClr val="bg1"/>
                </a:solidFill>
              </a:rPr>
              <a:t>waar</a:t>
            </a:r>
            <a:endParaRPr lang="en-US" sz="1900" dirty="0"/>
          </a:p>
        </p:txBody>
      </p:sp>
      <p:sp>
        <p:nvSpPr>
          <p:cNvPr id="34" name="Text 31"/>
          <p:cNvSpPr txBox="1"/>
          <p:nvPr/>
        </p:nvSpPr>
        <p:spPr>
          <a:xfrm>
            <a:off x="6767576" y="3269488"/>
            <a:ext cx="2085848"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35" name="Shape 32"/>
          <p:cNvSpPr/>
          <p:nvPr/>
        </p:nvSpPr>
        <p:spPr>
          <a:xfrm>
            <a:off x="6767576" y="3507232"/>
            <a:ext cx="2085848" cy="498856"/>
          </a:xfrm>
          <a:prstGeom prst="roundRect">
            <a:avLst>
              <a:gd name="adj" fmla="val 10998"/>
            </a:avLst>
          </a:prstGeom>
          <a:solidFill>
            <a:schemeClr val="tx2">
              <a:alpha val="88000"/>
            </a:schemeClr>
          </a:solidFill>
          <a:ln w="12700">
            <a:solidFill>
              <a:srgbClr val="17375E"/>
            </a:solidFill>
            <a:prstDash val="solid"/>
          </a:ln>
        </p:spPr>
      </p:sp>
      <p:sp>
        <p:nvSpPr>
          <p:cNvPr id="36" name="Text 33"/>
          <p:cNvSpPr txBox="1"/>
          <p:nvPr/>
        </p:nvSpPr>
        <p:spPr>
          <a:xfrm>
            <a:off x="6804152" y="3507232"/>
            <a:ext cx="2012696" cy="498856"/>
          </a:xfrm>
          <a:prstGeom prst="rect">
            <a:avLst/>
          </a:prstGeom>
          <a:noFill/>
          <a:ln/>
        </p:spPr>
        <p:txBody>
          <a:bodyPr wrap="square" lIns="0" tIns="0" rIns="0" bIns="0" rtlCol="0" anchor="ctr"/>
          <a:lstStyle/>
          <a:p>
            <a:pPr algn="ctr" indent="0" marL="0">
              <a:buNone/>
            </a:pPr>
            <a:r>
              <a:rPr lang="en-US" sz="1900" b="1" dirty="0">
                <a:solidFill>
                  <a:schemeClr val="bg1"/>
                </a:solidFill>
              </a:rPr>
              <a:t>klaslokaal 204</a:t>
            </a:r>
            <a:endParaRPr lang="en-US" sz="1900" dirty="0"/>
          </a:p>
        </p:txBody>
      </p:sp>
      <p:sp>
        <p:nvSpPr>
          <p:cNvPr id="37" name="Text 34"/>
          <p:cNvSpPr txBox="1"/>
          <p:nvPr/>
        </p:nvSpPr>
        <p:spPr>
          <a:xfrm>
            <a:off x="8963152" y="3269488"/>
            <a:ext cx="705612"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 à la fin</a:t>
            </a:r>
            <a:endParaRPr lang="en-US" sz="1000" dirty="0"/>
          </a:p>
        </p:txBody>
      </p:sp>
      <p:sp>
        <p:nvSpPr>
          <p:cNvPr id="38" name="Shape 35"/>
          <p:cNvSpPr/>
          <p:nvPr/>
        </p:nvSpPr>
        <p:spPr>
          <a:xfrm>
            <a:off x="8963152" y="3507232"/>
            <a:ext cx="705612" cy="498856"/>
          </a:xfrm>
          <a:prstGeom prst="roundRect">
            <a:avLst>
              <a:gd name="adj" fmla="val 10998"/>
            </a:avLst>
          </a:prstGeom>
          <a:solidFill>
            <a:schemeClr val="accent6">
              <a:alpha val="88000"/>
            </a:schemeClr>
          </a:solidFill>
          <a:ln w="12700">
            <a:solidFill>
              <a:srgbClr val="B83227"/>
            </a:solidFill>
            <a:prstDash val="solid"/>
          </a:ln>
        </p:spPr>
      </p:sp>
      <p:sp>
        <p:nvSpPr>
          <p:cNvPr id="39" name="Text 36"/>
          <p:cNvSpPr txBox="1"/>
          <p:nvPr/>
        </p:nvSpPr>
        <p:spPr>
          <a:xfrm>
            <a:off x="8999728" y="3507232"/>
            <a:ext cx="632460" cy="498856"/>
          </a:xfrm>
          <a:prstGeom prst="rect">
            <a:avLst/>
          </a:prstGeom>
          <a:noFill/>
          <a:ln/>
        </p:spPr>
        <p:txBody>
          <a:bodyPr wrap="square" lIns="0" tIns="0" rIns="0" bIns="0" rtlCol="0" anchor="ctr"/>
          <a:lstStyle/>
          <a:p>
            <a:pPr algn="ctr" indent="0" marL="0">
              <a:buNone/>
            </a:pPr>
            <a:r>
              <a:rPr lang="en-US" sz="1900" b="1" dirty="0">
                <a:solidFill>
                  <a:schemeClr val="bg1"/>
                </a:solidFill>
              </a:rPr>
              <a:t>is?</a:t>
            </a:r>
            <a:endParaRPr lang="en-US" sz="1900" dirty="0"/>
          </a:p>
        </p:txBody>
      </p:sp>
      <p:sp>
        <p:nvSpPr>
          <p:cNvPr id="40" name="Text 37"/>
          <p:cNvSpPr txBox="1"/>
          <p:nvPr/>
        </p:nvSpPr>
        <p:spPr>
          <a:xfrm>
            <a:off x="2103120" y="4033520"/>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Pouvez-vous me dire où est le local 204 ?</a:t>
            </a:r>
            <a:endParaRPr lang="en-US" sz="1400" dirty="0"/>
          </a:p>
        </p:txBody>
      </p:sp>
      <p:sp>
        <p:nvSpPr>
          <p:cNvPr id="41" name="Text 38"/>
          <p:cNvSpPr txBox="1"/>
          <p:nvPr/>
        </p:nvSpPr>
        <p:spPr>
          <a:xfrm>
            <a:off x="548640" y="4554728"/>
            <a:ext cx="1463040" cy="498856"/>
          </a:xfrm>
          <a:prstGeom prst="rect">
            <a:avLst/>
          </a:prstGeom>
          <a:noFill/>
          <a:ln/>
        </p:spPr>
        <p:txBody>
          <a:bodyPr wrap="square" lIns="0" tIns="0" rIns="0" bIns="0" rtlCol="0" anchor="ctr"/>
          <a:lstStyle/>
          <a:p>
            <a:pPr indent="0" marL="0">
              <a:buNone/>
            </a:pPr>
            <a:r>
              <a:rPr lang="en-US" sz="1400" b="1" dirty="0">
                <a:solidFill>
                  <a:schemeClr val="accent5"/>
                </a:solidFill>
              </a:rPr>
              <a:t>Modal</a:t>
            </a:r>
            <a:endParaRPr lang="en-US" sz="1400" dirty="0"/>
          </a:p>
        </p:txBody>
      </p:sp>
      <p:sp>
        <p:nvSpPr>
          <p:cNvPr id="42" name="Text 39"/>
          <p:cNvSpPr txBox="1"/>
          <p:nvPr/>
        </p:nvSpPr>
        <p:spPr>
          <a:xfrm>
            <a:off x="2103120" y="4316984"/>
            <a:ext cx="705612"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43" name="Shape 40"/>
          <p:cNvSpPr/>
          <p:nvPr/>
        </p:nvSpPr>
        <p:spPr>
          <a:xfrm>
            <a:off x="2103120" y="4554728"/>
            <a:ext cx="705612" cy="498856"/>
          </a:xfrm>
          <a:prstGeom prst="roundRect">
            <a:avLst>
              <a:gd name="adj" fmla="val 10998"/>
            </a:avLst>
          </a:prstGeom>
          <a:solidFill>
            <a:schemeClr val="accent6">
              <a:alpha val="88000"/>
            </a:schemeClr>
          </a:solidFill>
          <a:ln w="12700">
            <a:solidFill>
              <a:srgbClr val="B83227"/>
            </a:solidFill>
            <a:prstDash val="solid"/>
          </a:ln>
        </p:spPr>
      </p:sp>
      <p:sp>
        <p:nvSpPr>
          <p:cNvPr id="44" name="Text 41"/>
          <p:cNvSpPr txBox="1"/>
          <p:nvPr/>
        </p:nvSpPr>
        <p:spPr>
          <a:xfrm>
            <a:off x="2139696" y="4554728"/>
            <a:ext cx="632460" cy="498856"/>
          </a:xfrm>
          <a:prstGeom prst="rect">
            <a:avLst/>
          </a:prstGeom>
          <a:noFill/>
          <a:ln/>
        </p:spPr>
        <p:txBody>
          <a:bodyPr wrap="square" lIns="0" tIns="0" rIns="0" bIns="0" rtlCol="0" anchor="ctr"/>
          <a:lstStyle/>
          <a:p>
            <a:pPr algn="ctr" indent="0" marL="0">
              <a:buNone/>
            </a:pPr>
            <a:r>
              <a:rPr lang="en-US" sz="1900" b="1" dirty="0">
                <a:solidFill>
                  <a:schemeClr val="bg1"/>
                </a:solidFill>
              </a:rPr>
              <a:t>Mag</a:t>
            </a:r>
            <a:endParaRPr lang="en-US" sz="1900" dirty="0"/>
          </a:p>
        </p:txBody>
      </p:sp>
      <p:sp>
        <p:nvSpPr>
          <p:cNvPr id="45" name="Text 42"/>
          <p:cNvSpPr txBox="1"/>
          <p:nvPr/>
        </p:nvSpPr>
        <p:spPr>
          <a:xfrm>
            <a:off x="2918460" y="4316984"/>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46" name="Shape 43"/>
          <p:cNvSpPr/>
          <p:nvPr/>
        </p:nvSpPr>
        <p:spPr>
          <a:xfrm>
            <a:off x="2918460" y="4554728"/>
            <a:ext cx="685800" cy="498856"/>
          </a:xfrm>
          <a:prstGeom prst="roundRect">
            <a:avLst>
              <a:gd name="adj" fmla="val 10998"/>
            </a:avLst>
          </a:prstGeom>
          <a:solidFill>
            <a:schemeClr val="tx2">
              <a:alpha val="88000"/>
            </a:schemeClr>
          </a:solidFill>
          <a:ln w="12700">
            <a:solidFill>
              <a:srgbClr val="17375E"/>
            </a:solidFill>
            <a:prstDash val="solid"/>
          </a:ln>
        </p:spPr>
      </p:sp>
      <p:sp>
        <p:nvSpPr>
          <p:cNvPr id="47" name="Text 44"/>
          <p:cNvSpPr txBox="1"/>
          <p:nvPr/>
        </p:nvSpPr>
        <p:spPr>
          <a:xfrm>
            <a:off x="2955036" y="4554728"/>
            <a:ext cx="612648" cy="498856"/>
          </a:xfrm>
          <a:prstGeom prst="rect">
            <a:avLst/>
          </a:prstGeom>
          <a:noFill/>
          <a:ln/>
        </p:spPr>
        <p:txBody>
          <a:bodyPr wrap="square" lIns="0" tIns="0" rIns="0" bIns="0" rtlCol="0" anchor="ctr"/>
          <a:lstStyle/>
          <a:p>
            <a:pPr algn="ctr" indent="0" marL="0">
              <a:buNone/>
            </a:pPr>
            <a:r>
              <a:rPr lang="en-US" sz="1900" b="1" dirty="0">
                <a:solidFill>
                  <a:schemeClr val="bg1"/>
                </a:solidFill>
              </a:rPr>
              <a:t>ik</a:t>
            </a:r>
            <a:endParaRPr lang="en-US" sz="1900" dirty="0"/>
          </a:p>
        </p:txBody>
      </p:sp>
      <p:sp>
        <p:nvSpPr>
          <p:cNvPr id="48" name="Text 45"/>
          <p:cNvSpPr txBox="1"/>
          <p:nvPr/>
        </p:nvSpPr>
        <p:spPr>
          <a:xfrm>
            <a:off x="3713988" y="4316984"/>
            <a:ext cx="685800"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49" name="Shape 46"/>
          <p:cNvSpPr/>
          <p:nvPr/>
        </p:nvSpPr>
        <p:spPr>
          <a:xfrm>
            <a:off x="3713988" y="4554728"/>
            <a:ext cx="685800" cy="498856"/>
          </a:xfrm>
          <a:prstGeom prst="roundRect">
            <a:avLst>
              <a:gd name="adj" fmla="val 10998"/>
            </a:avLst>
          </a:prstGeom>
          <a:solidFill>
            <a:schemeClr val="accent5">
              <a:alpha val="25000"/>
            </a:schemeClr>
          </a:solidFill>
          <a:ln w="12700">
            <a:solidFill>
              <a:srgbClr val="4A5A70"/>
            </a:solidFill>
            <a:prstDash val="solid"/>
          </a:ln>
        </p:spPr>
      </p:sp>
      <p:sp>
        <p:nvSpPr>
          <p:cNvPr id="50" name="Text 47"/>
          <p:cNvSpPr txBox="1"/>
          <p:nvPr/>
        </p:nvSpPr>
        <p:spPr>
          <a:xfrm>
            <a:off x="3750564" y="4554728"/>
            <a:ext cx="612648" cy="498856"/>
          </a:xfrm>
          <a:prstGeom prst="rect">
            <a:avLst/>
          </a:prstGeom>
          <a:noFill/>
          <a:ln/>
        </p:spPr>
        <p:txBody>
          <a:bodyPr wrap="square" lIns="0" tIns="0" rIns="0" bIns="0" rtlCol="0" anchor="ctr"/>
          <a:lstStyle/>
          <a:p>
            <a:pPr algn="ctr" indent="0" marL="0">
              <a:buNone/>
            </a:pPr>
            <a:r>
              <a:rPr lang="en-US" sz="1900" b="1" dirty="0">
                <a:solidFill>
                  <a:schemeClr val="tx1"/>
                </a:solidFill>
              </a:rPr>
              <a:t>u</a:t>
            </a:r>
            <a:endParaRPr lang="en-US" sz="1900" dirty="0"/>
          </a:p>
        </p:txBody>
      </p:sp>
      <p:sp>
        <p:nvSpPr>
          <p:cNvPr id="51" name="Text 48"/>
          <p:cNvSpPr txBox="1"/>
          <p:nvPr/>
        </p:nvSpPr>
        <p:spPr>
          <a:xfrm>
            <a:off x="4509516" y="4316984"/>
            <a:ext cx="831088"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52" name="Shape 49"/>
          <p:cNvSpPr/>
          <p:nvPr/>
        </p:nvSpPr>
        <p:spPr>
          <a:xfrm>
            <a:off x="4509516" y="4554728"/>
            <a:ext cx="831088" cy="498856"/>
          </a:xfrm>
          <a:prstGeom prst="roundRect">
            <a:avLst>
              <a:gd name="adj" fmla="val 10998"/>
            </a:avLst>
          </a:prstGeom>
          <a:solidFill>
            <a:schemeClr val="accent5">
              <a:alpha val="25000"/>
            </a:schemeClr>
          </a:solidFill>
          <a:ln w="12700">
            <a:solidFill>
              <a:srgbClr val="4A5A70"/>
            </a:solidFill>
            <a:prstDash val="solid"/>
          </a:ln>
        </p:spPr>
      </p:sp>
      <p:sp>
        <p:nvSpPr>
          <p:cNvPr id="53" name="Text 50"/>
          <p:cNvSpPr txBox="1"/>
          <p:nvPr/>
        </p:nvSpPr>
        <p:spPr>
          <a:xfrm>
            <a:off x="4546092" y="4554728"/>
            <a:ext cx="757936" cy="498856"/>
          </a:xfrm>
          <a:prstGeom prst="rect">
            <a:avLst/>
          </a:prstGeom>
          <a:noFill/>
          <a:ln/>
        </p:spPr>
        <p:txBody>
          <a:bodyPr wrap="square" lIns="0" tIns="0" rIns="0" bIns="0" rtlCol="0" anchor="ctr"/>
          <a:lstStyle/>
          <a:p>
            <a:pPr algn="ctr" indent="0" marL="0">
              <a:buNone/>
            </a:pPr>
            <a:r>
              <a:rPr lang="en-US" sz="1900" b="1" dirty="0">
                <a:solidFill>
                  <a:schemeClr val="tx1"/>
                </a:solidFill>
              </a:rPr>
              <a:t>iets</a:t>
            </a:r>
            <a:endParaRPr lang="en-US" sz="1900" dirty="0"/>
          </a:p>
        </p:txBody>
      </p:sp>
      <p:sp>
        <p:nvSpPr>
          <p:cNvPr id="54" name="Text 51"/>
          <p:cNvSpPr txBox="1"/>
          <p:nvPr/>
        </p:nvSpPr>
        <p:spPr>
          <a:xfrm>
            <a:off x="5450332" y="4316984"/>
            <a:ext cx="1207516" cy="219456"/>
          </a:xfrm>
          <a:prstGeom prst="rect">
            <a:avLst/>
          </a:prstGeom>
          <a:noFill/>
          <a:ln/>
        </p:spPr>
        <p:txBody>
          <a:bodyPr wrap="square" lIns="0" tIns="0" rIns="0" bIns="0" rtlCol="0" anchor="b"/>
          <a:lstStyle/>
          <a:p>
            <a:pPr algn="ctr" indent="0" marL="0">
              <a:buNone/>
            </a:pPr>
            <a:r>
              <a:rPr lang="en-US" sz="1000" b="1" dirty="0">
                <a:solidFill>
                  <a:schemeClr val="accent1"/>
                </a:solidFill>
              </a:rPr>
              <a:t>infinitif</a:t>
            </a:r>
            <a:endParaRPr lang="en-US" sz="1000" dirty="0"/>
          </a:p>
        </p:txBody>
      </p:sp>
      <p:sp>
        <p:nvSpPr>
          <p:cNvPr id="55" name="Shape 52"/>
          <p:cNvSpPr/>
          <p:nvPr/>
        </p:nvSpPr>
        <p:spPr>
          <a:xfrm>
            <a:off x="5450332" y="4554728"/>
            <a:ext cx="1207516" cy="498856"/>
          </a:xfrm>
          <a:prstGeom prst="roundRect">
            <a:avLst>
              <a:gd name="adj" fmla="val 10998"/>
            </a:avLst>
          </a:prstGeom>
          <a:solidFill>
            <a:schemeClr val="accent1">
              <a:alpha val="88000"/>
            </a:schemeClr>
          </a:solidFill>
          <a:ln w="12700">
            <a:solidFill>
              <a:srgbClr val="D9700F"/>
            </a:solidFill>
            <a:prstDash val="solid"/>
          </a:ln>
        </p:spPr>
      </p:sp>
      <p:sp>
        <p:nvSpPr>
          <p:cNvPr id="56" name="Text 53"/>
          <p:cNvSpPr txBox="1"/>
          <p:nvPr/>
        </p:nvSpPr>
        <p:spPr>
          <a:xfrm>
            <a:off x="5486908" y="4554728"/>
            <a:ext cx="1134364" cy="498856"/>
          </a:xfrm>
          <a:prstGeom prst="rect">
            <a:avLst/>
          </a:prstGeom>
          <a:noFill/>
          <a:ln/>
        </p:spPr>
        <p:txBody>
          <a:bodyPr wrap="square" lIns="0" tIns="0" rIns="0" bIns="0" rtlCol="0" anchor="ctr"/>
          <a:lstStyle/>
          <a:p>
            <a:pPr algn="ctr" indent="0" marL="0">
              <a:buNone/>
            </a:pPr>
            <a:r>
              <a:rPr lang="en-US" sz="1900" b="1" dirty="0">
                <a:solidFill>
                  <a:schemeClr val="bg1"/>
                </a:solidFill>
              </a:rPr>
              <a:t>vragen?</a:t>
            </a:r>
            <a:endParaRPr lang="en-US" sz="1900" dirty="0"/>
          </a:p>
        </p:txBody>
      </p:sp>
      <p:sp>
        <p:nvSpPr>
          <p:cNvPr id="57" name="Text 54"/>
          <p:cNvSpPr txBox="1"/>
          <p:nvPr/>
        </p:nvSpPr>
        <p:spPr>
          <a:xfrm>
            <a:off x="2103120" y="5081016"/>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Puis-je vous demander quelque chose ? (infinitif à la fin)</a:t>
            </a:r>
            <a:endParaRPr lang="en-US" sz="1400" dirty="0"/>
          </a:p>
        </p:txBody>
      </p:sp>
      <p:sp>
        <p:nvSpPr>
          <p:cNvPr id="58" name="Shape 55"/>
          <p:cNvSpPr/>
          <p:nvPr/>
        </p:nvSpPr>
        <p:spPr>
          <a:xfrm>
            <a:off x="548640" y="5565648"/>
            <a:ext cx="11091672" cy="725424"/>
          </a:xfrm>
          <a:prstGeom prst="roundRect">
            <a:avLst>
              <a:gd name="adj" fmla="val 10084"/>
            </a:avLst>
          </a:prstGeom>
          <a:solidFill>
            <a:schemeClr val="accent6">
              <a:alpha val="10000"/>
            </a:schemeClr>
          </a:solidFill>
          <a:ln w="9525">
            <a:solidFill>
              <a:schemeClr val="accent6">
                <a:alpha val="70000"/>
              </a:schemeClr>
            </a:solidFill>
            <a:prstDash val="solid"/>
          </a:ln>
        </p:spPr>
      </p:sp>
      <p:pic>
        <p:nvPicPr>
          <p:cNvPr id="59" name="Image 0" descr="preencoded.png">    </p:cNvPr>
          <p:cNvPicPr>
            <a:picLocks noChangeAspect="1"/>
          </p:cNvPicPr>
          <p:nvPr/>
        </p:nvPicPr>
        <p:blipFill>
          <a:blip r:embed="rId1"/>
          <a:stretch>
            <a:fillRect/>
          </a:stretch>
        </p:blipFill>
        <p:spPr>
          <a:xfrm>
            <a:off x="749808" y="5763768"/>
            <a:ext cx="329184" cy="329184"/>
          </a:xfrm>
          <a:prstGeom prst="rect">
            <a:avLst/>
          </a:prstGeom>
        </p:spPr>
      </p:pic>
      <p:sp>
        <p:nvSpPr>
          <p:cNvPr id="60" name="Text 56"/>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6"/>
                </a:solidFill>
              </a:rPr>
              <a:t>Piège pour francophones — </a:t>
            </a:r>
            <a:r>
              <a:rPr lang="en-US" sz="1700" dirty="0">
                <a:solidFill>
                  <a:schemeClr val="tx1"/>
                </a:solidFill>
              </a:rPr>
              <a:t>Le français garde « où </a:t>
            </a:r>
            <a:r>
              <a:rPr lang="en-US" sz="1700" b="1" dirty="0">
                <a:solidFill>
                  <a:schemeClr val="tx1"/>
                </a:solidFill>
              </a:rPr>
              <a:t>est</a:t>
            </a:r>
            <a:r>
              <a:rPr lang="en-US" sz="1700" dirty="0">
                <a:solidFill>
                  <a:schemeClr val="tx1"/>
                </a:solidFill>
              </a:rPr>
              <a:t> le local ». En néerlandais, après </a:t>
            </a:r>
            <a:r>
              <a:rPr lang="en-US" sz="1700" i="1" dirty="0">
                <a:solidFill>
                  <a:schemeClr val="tx1"/>
                </a:solidFill>
              </a:rPr>
              <a:t>Kunt u me zeggen…</a:t>
            </a:r>
            <a:r>
              <a:rPr lang="en-US" sz="1700" dirty="0">
                <a:solidFill>
                  <a:schemeClr val="tx1"/>
                </a:solidFill>
              </a:rPr>
              <a:t>, le verbe part à la fin : </a:t>
            </a:r>
            <a:r>
              <a:rPr lang="en-US" sz="1700" i="1" dirty="0">
                <a:solidFill>
                  <a:schemeClr val="tx1"/>
                </a:solidFill>
              </a:rPr>
              <a:t>…waar het lokaal </a:t>
            </a:r>
            <a:r>
              <a:rPr lang="en-US" sz="1700" b="1" i="1" dirty="0">
                <a:solidFill>
                  <a:schemeClr val="tx1"/>
                </a:solidFill>
              </a:rPr>
              <a:t>is</a:t>
            </a:r>
            <a:r>
              <a:rPr lang="en-US" sz="1700" dirty="0">
                <a:solidFill>
                  <a:schemeClr val="tx1"/>
                </a:solidFill>
              </a:rPr>
              <a:t> (✗ </a:t>
            </a:r>
            <a:r>
              <a:rPr lang="en-US" sz="1700" i="1" dirty="0">
                <a:solidFill>
                  <a:schemeClr val="tx1"/>
                </a:solidFill>
              </a:rPr>
              <a:t>…waar is het lokaal</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Jeu de rôle : « Waar is lokaal 204? »</a:t>
            </a:r>
            <a:endParaRPr lang="en-US" sz="3200" dirty="0"/>
          </a:p>
        </p:txBody>
      </p:sp>
      <p:sp>
        <p:nvSpPr>
          <p:cNvPr id="3" name="tag"/>
          <p:cNvSpPr/>
          <p:nvPr/>
        </p:nvSpPr>
        <p:spPr>
          <a:xfrm>
            <a:off x="548640" y="237744"/>
            <a:ext cx="23088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MISE EN SITUATION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100a</a:t>
            </a:r>
            <a:endParaRPr lang="en-US" sz="1200" dirty="0"/>
          </a:p>
        </p:txBody>
      </p:sp>
      <p:sp>
        <p:nvSpPr>
          <p:cNvPr id="6" name="Text 3"/>
          <p:cNvSpPr txBox="1"/>
          <p:nvPr/>
        </p:nvSpPr>
        <p:spPr>
          <a:xfrm>
            <a:off x="548640" y="1481328"/>
            <a:ext cx="11091672" cy="329184"/>
          </a:xfrm>
          <a:prstGeom prst="rect">
            <a:avLst/>
          </a:prstGeom>
          <a:noFill/>
          <a:ln/>
        </p:spPr>
        <p:txBody>
          <a:bodyPr wrap="square" lIns="0" tIns="0" rIns="0" bIns="0" rtlCol="0" anchor="t"/>
          <a:lstStyle/>
          <a:p>
            <a:pPr indent="0" marL="0">
              <a:buNone/>
            </a:pPr>
            <a:r>
              <a:rPr lang="en-US" sz="1800" dirty="0">
                <a:solidFill>
                  <a:schemeClr val="tx1"/>
                </a:solidFill>
              </a:rPr>
              <a:t>Par deux · 10 min — A cherche un local, B travaille à l’accueil (</a:t>
            </a:r>
            <a:r>
              <a:rPr lang="en-US" sz="1800" b="1" dirty="0">
                <a:solidFill>
                  <a:schemeClr val="tx1"/>
                </a:solidFill>
              </a:rPr>
              <a:t>u</a:t>
            </a:r>
            <a:r>
              <a:rPr lang="en-US" sz="1800" dirty="0">
                <a:solidFill>
                  <a:schemeClr val="tx1"/>
                </a:solidFill>
              </a:rPr>
              <a:t>). Puis on inverse.</a:t>
            </a:r>
            <a:endParaRPr lang="en-US" sz="1800" dirty="0"/>
          </a:p>
        </p:txBody>
      </p:sp>
      <p:sp>
        <p:nvSpPr>
          <p:cNvPr id="7" name="Shape 4"/>
          <p:cNvSpPr/>
          <p:nvPr/>
        </p:nvSpPr>
        <p:spPr>
          <a:xfrm>
            <a:off x="548640" y="1993392"/>
            <a:ext cx="2553462" cy="3383280"/>
          </a:xfrm>
          <a:prstGeom prst="roundRect">
            <a:avLst>
              <a:gd name="adj" fmla="val 3581"/>
            </a:avLst>
          </a:prstGeom>
          <a:solidFill>
            <a:schemeClr val="bg2"/>
          </a:solidFill>
          <a:ln w="9525">
            <a:solidFill>
              <a:srgbClr val="D5DCE6"/>
            </a:solidFill>
            <a:prstDash val="solid"/>
          </a:ln>
        </p:spPr>
      </p:sp>
      <p:sp>
        <p:nvSpPr>
          <p:cNvPr id="8" name="Shape 5"/>
          <p:cNvSpPr/>
          <p:nvPr/>
        </p:nvSpPr>
        <p:spPr>
          <a:xfrm>
            <a:off x="1496187" y="2176272"/>
            <a:ext cx="658368" cy="658368"/>
          </a:xfrm>
          <a:prstGeom prst="ellipse">
            <a:avLst/>
          </a:prstGeom>
          <a:solidFill>
            <a:schemeClr val="accent2"/>
          </a:solidFill>
          <a:ln/>
        </p:spPr>
      </p:sp>
      <p:sp>
        <p:nvSpPr>
          <p:cNvPr id="9" name="Text 6"/>
          <p:cNvSpPr txBox="1"/>
          <p:nvPr/>
        </p:nvSpPr>
        <p:spPr>
          <a:xfrm>
            <a:off x="1496187" y="217627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0" name="Text 7"/>
          <p:cNvSpPr txBox="1"/>
          <p:nvPr/>
        </p:nvSpPr>
        <p:spPr>
          <a:xfrm>
            <a:off x="658368" y="2907792"/>
            <a:ext cx="2334006" cy="685800"/>
          </a:xfrm>
          <a:prstGeom prst="rect">
            <a:avLst/>
          </a:prstGeom>
          <a:noFill/>
          <a:ln/>
        </p:spPr>
        <p:txBody>
          <a:bodyPr wrap="square" lIns="0" tIns="0" rIns="0" bIns="0" rtlCol="0" anchor="ctr"/>
          <a:lstStyle/>
          <a:p>
            <a:pPr algn="ctr" indent="0" marL="0">
              <a:buNone/>
            </a:pPr>
            <a:r>
              <a:rPr lang="en-US" sz="1700" b="1" dirty="0">
                <a:solidFill>
                  <a:schemeClr val="accent2"/>
                </a:solidFill>
              </a:rPr>
              <a:t>A salue</a:t>
            </a:r>
            <a:endParaRPr lang="en-US" sz="1700" dirty="0"/>
          </a:p>
        </p:txBody>
      </p:sp>
      <p:sp>
        <p:nvSpPr>
          <p:cNvPr id="11" name="Text 8"/>
          <p:cNvSpPr txBox="1"/>
          <p:nvPr/>
        </p:nvSpPr>
        <p:spPr>
          <a:xfrm>
            <a:off x="685800" y="3685032"/>
            <a:ext cx="2279142" cy="1600200"/>
          </a:xfrm>
          <a:prstGeom prst="rect">
            <a:avLst/>
          </a:prstGeom>
          <a:noFill/>
          <a:ln/>
        </p:spPr>
        <p:txBody>
          <a:bodyPr wrap="square" lIns="0" tIns="0" rIns="0" bIns="0" rtlCol="0" anchor="t"/>
          <a:lstStyle/>
          <a:p>
            <a:pPr algn="ctr" indent="0" marL="0">
              <a:spcAft>
                <a:spcPts val="600"/>
              </a:spcAft>
              <a:buNone/>
            </a:pPr>
            <a:r>
              <a:rPr lang="en-US" sz="1700" i="1" dirty="0">
                <a:solidFill>
                  <a:schemeClr val="tx1"/>
                </a:solidFill>
              </a:rPr>
              <a:t>Goedemiddag! Hoe gaat het?</a:t>
            </a:r>
            <a:endParaRPr lang="en-US" sz="1700" dirty="0"/>
          </a:p>
          <a:p>
            <a:pPr algn="ctr" indent="0" marL="0">
              <a:spcAft>
                <a:spcPts val="600"/>
              </a:spcAft>
              <a:buNone/>
            </a:pPr>
            <a:r>
              <a:rPr lang="en-US" sz="1700" dirty="0">
                <a:solidFill>
                  <a:schemeClr val="tx1"/>
                </a:solidFill>
              </a:rPr>
              <a:t>B : </a:t>
            </a:r>
            <a:r>
              <a:rPr lang="en-US" sz="1700" i="1" dirty="0">
                <a:solidFill>
                  <a:schemeClr val="tx1"/>
                </a:solidFill>
              </a:rPr>
              <a:t>Goed, dank u. En met u?</a:t>
            </a:r>
            <a:endParaRPr lang="en-US" sz="1700" dirty="0"/>
          </a:p>
        </p:txBody>
      </p:sp>
      <p:pic>
        <p:nvPicPr>
          <p:cNvPr id="12" name="Image 0" descr="preencoded.png">    </p:cNvPr>
          <p:cNvPicPr>
            <a:picLocks noChangeAspect="1"/>
          </p:cNvPicPr>
          <p:nvPr/>
        </p:nvPicPr>
        <p:blipFill>
          <a:blip r:embed="rId1"/>
          <a:stretch>
            <a:fillRect/>
          </a:stretch>
        </p:blipFill>
        <p:spPr>
          <a:xfrm>
            <a:off x="3138678" y="2395728"/>
            <a:ext cx="219456" cy="219456"/>
          </a:xfrm>
          <a:prstGeom prst="rect">
            <a:avLst/>
          </a:prstGeom>
        </p:spPr>
      </p:pic>
      <p:sp>
        <p:nvSpPr>
          <p:cNvPr id="13" name="Shape 9"/>
          <p:cNvSpPr/>
          <p:nvPr/>
        </p:nvSpPr>
        <p:spPr>
          <a:xfrm>
            <a:off x="3394710" y="1993392"/>
            <a:ext cx="2553462" cy="3383280"/>
          </a:xfrm>
          <a:prstGeom prst="roundRect">
            <a:avLst>
              <a:gd name="adj" fmla="val 3581"/>
            </a:avLst>
          </a:prstGeom>
          <a:solidFill>
            <a:schemeClr val="bg2"/>
          </a:solidFill>
          <a:ln w="9525">
            <a:solidFill>
              <a:srgbClr val="D5DCE6"/>
            </a:solidFill>
            <a:prstDash val="solid"/>
          </a:ln>
        </p:spPr>
      </p:sp>
      <p:sp>
        <p:nvSpPr>
          <p:cNvPr id="14" name="Shape 10"/>
          <p:cNvSpPr/>
          <p:nvPr/>
        </p:nvSpPr>
        <p:spPr>
          <a:xfrm>
            <a:off x="4342257" y="2176272"/>
            <a:ext cx="658368" cy="658368"/>
          </a:xfrm>
          <a:prstGeom prst="ellipse">
            <a:avLst/>
          </a:prstGeom>
          <a:solidFill>
            <a:schemeClr val="accent1"/>
          </a:solidFill>
          <a:ln/>
        </p:spPr>
      </p:sp>
      <p:sp>
        <p:nvSpPr>
          <p:cNvPr id="15" name="Text 11"/>
          <p:cNvSpPr txBox="1"/>
          <p:nvPr/>
        </p:nvSpPr>
        <p:spPr>
          <a:xfrm>
            <a:off x="4342257" y="217627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6" name="Text 12"/>
          <p:cNvSpPr txBox="1"/>
          <p:nvPr/>
        </p:nvSpPr>
        <p:spPr>
          <a:xfrm>
            <a:off x="3504438" y="2907792"/>
            <a:ext cx="2334006" cy="685800"/>
          </a:xfrm>
          <a:prstGeom prst="rect">
            <a:avLst/>
          </a:prstGeom>
          <a:noFill/>
          <a:ln/>
        </p:spPr>
        <p:txBody>
          <a:bodyPr wrap="square" lIns="0" tIns="0" rIns="0" bIns="0" rtlCol="0" anchor="ctr"/>
          <a:lstStyle/>
          <a:p>
            <a:pPr algn="ctr" indent="0" marL="0">
              <a:buNone/>
            </a:pPr>
            <a:r>
              <a:rPr lang="en-US" sz="1700" b="1" dirty="0">
                <a:solidFill>
                  <a:schemeClr val="accent1"/>
                </a:solidFill>
              </a:rPr>
              <a:t>A demande</a:t>
            </a:r>
            <a:endParaRPr lang="en-US" sz="1700" dirty="0"/>
          </a:p>
        </p:txBody>
      </p:sp>
      <p:sp>
        <p:nvSpPr>
          <p:cNvPr id="17" name="Text 13"/>
          <p:cNvSpPr txBox="1"/>
          <p:nvPr/>
        </p:nvSpPr>
        <p:spPr>
          <a:xfrm>
            <a:off x="3531870" y="3685032"/>
            <a:ext cx="2279142" cy="1600200"/>
          </a:xfrm>
          <a:prstGeom prst="rect">
            <a:avLst/>
          </a:prstGeom>
          <a:noFill/>
          <a:ln/>
        </p:spPr>
        <p:txBody>
          <a:bodyPr wrap="square" lIns="0" tIns="0" rIns="0" bIns="0" rtlCol="0" anchor="t"/>
          <a:lstStyle/>
          <a:p>
            <a:pPr algn="ctr" indent="0" marL="0">
              <a:spcAft>
                <a:spcPts val="600"/>
              </a:spcAft>
              <a:buNone/>
            </a:pPr>
            <a:r>
              <a:rPr lang="en-US" sz="1700" i="1" dirty="0">
                <a:solidFill>
                  <a:schemeClr val="tx1"/>
                </a:solidFill>
              </a:rPr>
              <a:t>Excuseer, mag ik u iets vragen?</a:t>
            </a:r>
            <a:endParaRPr lang="en-US" sz="1700" dirty="0"/>
          </a:p>
          <a:p>
            <a:pPr algn="ctr" indent="0" marL="0">
              <a:spcAft>
                <a:spcPts val="600"/>
              </a:spcAft>
              <a:buNone/>
            </a:pPr>
            <a:r>
              <a:rPr lang="en-US" sz="1700" i="1" dirty="0">
                <a:solidFill>
                  <a:schemeClr val="tx1"/>
                </a:solidFill>
              </a:rPr>
              <a:t>Kunt u me zeggen waar lokaal 204 is?</a:t>
            </a:r>
            <a:endParaRPr lang="en-US" sz="1700" dirty="0"/>
          </a:p>
        </p:txBody>
      </p:sp>
      <p:pic>
        <p:nvPicPr>
          <p:cNvPr id="18" name="Image 1" descr="preencoded.png">    </p:cNvPr>
          <p:cNvPicPr>
            <a:picLocks noChangeAspect="1"/>
          </p:cNvPicPr>
          <p:nvPr/>
        </p:nvPicPr>
        <p:blipFill>
          <a:blip r:embed="rId2"/>
          <a:stretch>
            <a:fillRect/>
          </a:stretch>
        </p:blipFill>
        <p:spPr>
          <a:xfrm>
            <a:off x="5984748" y="2395728"/>
            <a:ext cx="219456" cy="219456"/>
          </a:xfrm>
          <a:prstGeom prst="rect">
            <a:avLst/>
          </a:prstGeom>
        </p:spPr>
      </p:pic>
      <p:sp>
        <p:nvSpPr>
          <p:cNvPr id="19" name="Shape 14"/>
          <p:cNvSpPr/>
          <p:nvPr/>
        </p:nvSpPr>
        <p:spPr>
          <a:xfrm>
            <a:off x="6240780" y="1993392"/>
            <a:ext cx="2553462" cy="3383280"/>
          </a:xfrm>
          <a:prstGeom prst="roundRect">
            <a:avLst>
              <a:gd name="adj" fmla="val 3581"/>
            </a:avLst>
          </a:prstGeom>
          <a:solidFill>
            <a:schemeClr val="bg2"/>
          </a:solidFill>
          <a:ln w="9525">
            <a:solidFill>
              <a:srgbClr val="D5DCE6"/>
            </a:solidFill>
            <a:prstDash val="solid"/>
          </a:ln>
        </p:spPr>
      </p:sp>
      <p:sp>
        <p:nvSpPr>
          <p:cNvPr id="20" name="Shape 15"/>
          <p:cNvSpPr/>
          <p:nvPr/>
        </p:nvSpPr>
        <p:spPr>
          <a:xfrm>
            <a:off x="7188327" y="2176272"/>
            <a:ext cx="658368" cy="658368"/>
          </a:xfrm>
          <a:prstGeom prst="ellipse">
            <a:avLst/>
          </a:prstGeom>
          <a:solidFill>
            <a:schemeClr val="accent3"/>
          </a:solidFill>
          <a:ln/>
        </p:spPr>
      </p:sp>
      <p:sp>
        <p:nvSpPr>
          <p:cNvPr id="21" name="Text 16"/>
          <p:cNvSpPr txBox="1"/>
          <p:nvPr/>
        </p:nvSpPr>
        <p:spPr>
          <a:xfrm>
            <a:off x="7188327" y="217627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2" name="Text 17"/>
          <p:cNvSpPr txBox="1"/>
          <p:nvPr/>
        </p:nvSpPr>
        <p:spPr>
          <a:xfrm>
            <a:off x="6350508" y="2907792"/>
            <a:ext cx="2334006" cy="685800"/>
          </a:xfrm>
          <a:prstGeom prst="rect">
            <a:avLst/>
          </a:prstGeom>
          <a:noFill/>
          <a:ln/>
        </p:spPr>
        <p:txBody>
          <a:bodyPr wrap="square" lIns="0" tIns="0" rIns="0" bIns="0" rtlCol="0" anchor="ctr"/>
          <a:lstStyle/>
          <a:p>
            <a:pPr algn="ctr" indent="0" marL="0">
              <a:buNone/>
            </a:pPr>
            <a:r>
              <a:rPr lang="en-US" sz="1700" b="1" dirty="0">
                <a:solidFill>
                  <a:schemeClr val="accent3"/>
                </a:solidFill>
              </a:rPr>
              <a:t>B explique</a:t>
            </a:r>
            <a:endParaRPr lang="en-US" sz="1700" dirty="0"/>
          </a:p>
        </p:txBody>
      </p:sp>
      <p:sp>
        <p:nvSpPr>
          <p:cNvPr id="23" name="Text 18"/>
          <p:cNvSpPr txBox="1"/>
          <p:nvPr/>
        </p:nvSpPr>
        <p:spPr>
          <a:xfrm>
            <a:off x="6377940" y="3685032"/>
            <a:ext cx="2279142" cy="1600200"/>
          </a:xfrm>
          <a:prstGeom prst="rect">
            <a:avLst/>
          </a:prstGeom>
          <a:noFill/>
          <a:ln/>
        </p:spPr>
        <p:txBody>
          <a:bodyPr wrap="square" lIns="0" tIns="0" rIns="0" bIns="0" rtlCol="0" anchor="t"/>
          <a:lstStyle/>
          <a:p>
            <a:pPr algn="ctr" indent="0" marL="0">
              <a:spcAft>
                <a:spcPts val="600"/>
              </a:spcAft>
              <a:buNone/>
            </a:pPr>
            <a:r>
              <a:rPr lang="en-US" sz="1700" i="1" dirty="0">
                <a:solidFill>
                  <a:schemeClr val="tx1"/>
                </a:solidFill>
              </a:rPr>
              <a:t>Natuurlijk! Neem de trap naar de tweede verdieping.</a:t>
            </a:r>
            <a:endParaRPr lang="en-US" sz="1700" dirty="0"/>
          </a:p>
          <a:p>
            <a:pPr algn="ctr" indent="0" marL="0">
              <a:spcAft>
                <a:spcPts val="600"/>
              </a:spcAft>
              <a:buNone/>
            </a:pPr>
            <a:r>
              <a:rPr lang="en-US" sz="1700" i="1" dirty="0">
                <a:solidFill>
                  <a:schemeClr val="tx1"/>
                </a:solidFill>
              </a:rPr>
              <a:t>Het is rechts achteraan.</a:t>
            </a:r>
            <a:endParaRPr lang="en-US" sz="1700" dirty="0"/>
          </a:p>
        </p:txBody>
      </p:sp>
      <p:pic>
        <p:nvPicPr>
          <p:cNvPr id="24" name="Image 2" descr="preencoded.png">    </p:cNvPr>
          <p:cNvPicPr>
            <a:picLocks noChangeAspect="1"/>
          </p:cNvPicPr>
          <p:nvPr/>
        </p:nvPicPr>
        <p:blipFill>
          <a:blip r:embed="rId3"/>
          <a:stretch>
            <a:fillRect/>
          </a:stretch>
        </p:blipFill>
        <p:spPr>
          <a:xfrm>
            <a:off x="8830818" y="2395728"/>
            <a:ext cx="219456" cy="219456"/>
          </a:xfrm>
          <a:prstGeom prst="rect">
            <a:avLst/>
          </a:prstGeom>
        </p:spPr>
      </p:pic>
      <p:sp>
        <p:nvSpPr>
          <p:cNvPr id="25" name="Shape 19"/>
          <p:cNvSpPr/>
          <p:nvPr/>
        </p:nvSpPr>
        <p:spPr>
          <a:xfrm>
            <a:off x="9086850" y="1993392"/>
            <a:ext cx="2553462" cy="3383280"/>
          </a:xfrm>
          <a:prstGeom prst="roundRect">
            <a:avLst>
              <a:gd name="adj" fmla="val 3581"/>
            </a:avLst>
          </a:prstGeom>
          <a:solidFill>
            <a:schemeClr val="bg2"/>
          </a:solidFill>
          <a:ln w="9525">
            <a:solidFill>
              <a:srgbClr val="D5DCE6"/>
            </a:solidFill>
            <a:prstDash val="solid"/>
          </a:ln>
        </p:spPr>
      </p:sp>
      <p:sp>
        <p:nvSpPr>
          <p:cNvPr id="26" name="Shape 20"/>
          <p:cNvSpPr/>
          <p:nvPr/>
        </p:nvSpPr>
        <p:spPr>
          <a:xfrm>
            <a:off x="10034397" y="2176272"/>
            <a:ext cx="658368" cy="658368"/>
          </a:xfrm>
          <a:prstGeom prst="ellipse">
            <a:avLst/>
          </a:prstGeom>
          <a:solidFill>
            <a:schemeClr val="accent4"/>
          </a:solidFill>
          <a:ln/>
        </p:spPr>
      </p:sp>
      <p:sp>
        <p:nvSpPr>
          <p:cNvPr id="27" name="Text 21"/>
          <p:cNvSpPr txBox="1"/>
          <p:nvPr/>
        </p:nvSpPr>
        <p:spPr>
          <a:xfrm>
            <a:off x="10034397" y="217627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8" name="Text 22"/>
          <p:cNvSpPr txBox="1"/>
          <p:nvPr/>
        </p:nvSpPr>
        <p:spPr>
          <a:xfrm>
            <a:off x="9196578" y="2907792"/>
            <a:ext cx="2334006" cy="685800"/>
          </a:xfrm>
          <a:prstGeom prst="rect">
            <a:avLst/>
          </a:prstGeom>
          <a:noFill/>
          <a:ln/>
        </p:spPr>
        <p:txBody>
          <a:bodyPr wrap="square" lIns="0" tIns="0" rIns="0" bIns="0" rtlCol="0" anchor="ctr"/>
          <a:lstStyle/>
          <a:p>
            <a:pPr algn="ctr" indent="0" marL="0">
              <a:buNone/>
            </a:pPr>
            <a:r>
              <a:rPr lang="en-US" sz="1700" b="1" dirty="0">
                <a:solidFill>
                  <a:schemeClr val="accent4"/>
                </a:solidFill>
              </a:rPr>
              <a:t>A remercie</a:t>
            </a:r>
            <a:endParaRPr lang="en-US" sz="1700" dirty="0"/>
          </a:p>
        </p:txBody>
      </p:sp>
      <p:sp>
        <p:nvSpPr>
          <p:cNvPr id="29" name="Text 23"/>
          <p:cNvSpPr txBox="1"/>
          <p:nvPr/>
        </p:nvSpPr>
        <p:spPr>
          <a:xfrm>
            <a:off x="9224010" y="3685032"/>
            <a:ext cx="2279142" cy="1600200"/>
          </a:xfrm>
          <a:prstGeom prst="rect">
            <a:avLst/>
          </a:prstGeom>
          <a:noFill/>
          <a:ln/>
        </p:spPr>
        <p:txBody>
          <a:bodyPr wrap="square" lIns="0" tIns="0" rIns="0" bIns="0" rtlCol="0" anchor="t"/>
          <a:lstStyle/>
          <a:p>
            <a:pPr algn="ctr" indent="0" marL="0">
              <a:spcAft>
                <a:spcPts val="600"/>
              </a:spcAft>
              <a:buNone/>
            </a:pPr>
            <a:r>
              <a:rPr lang="en-US" sz="1700" i="1" dirty="0">
                <a:solidFill>
                  <a:schemeClr val="tx1"/>
                </a:solidFill>
              </a:rPr>
              <a:t>Hartelijk bedankt voor uw hulp!</a:t>
            </a:r>
            <a:endParaRPr lang="en-US" sz="1700" dirty="0"/>
          </a:p>
          <a:p>
            <a:pPr algn="ctr" indent="0" marL="0">
              <a:spcAft>
                <a:spcPts val="600"/>
              </a:spcAft>
              <a:buNone/>
            </a:pPr>
            <a:r>
              <a:rPr lang="en-US" sz="1700" dirty="0">
                <a:solidFill>
                  <a:schemeClr val="tx1"/>
                </a:solidFill>
              </a:rPr>
              <a:t>B : </a:t>
            </a:r>
            <a:r>
              <a:rPr lang="en-US" sz="1700" i="1" dirty="0">
                <a:solidFill>
                  <a:schemeClr val="tx1"/>
                </a:solidFill>
              </a:rPr>
              <a:t>Graag gedaan. Tot ziens!</a:t>
            </a:r>
            <a:endParaRPr lang="en-US" sz="1700" dirty="0"/>
          </a:p>
        </p:txBody>
      </p:sp>
      <p:sp>
        <p:nvSpPr>
          <p:cNvPr id="30" name="Shape 24"/>
          <p:cNvSpPr/>
          <p:nvPr/>
        </p:nvSpPr>
        <p:spPr>
          <a:xfrm>
            <a:off x="548640" y="5605272"/>
            <a:ext cx="11091672" cy="685800"/>
          </a:xfrm>
          <a:prstGeom prst="roundRect">
            <a:avLst>
              <a:gd name="adj" fmla="val 10667"/>
            </a:avLst>
          </a:prstGeom>
          <a:solidFill>
            <a:schemeClr val="accent3">
              <a:alpha val="10000"/>
            </a:schemeClr>
          </a:solidFill>
          <a:ln w="9525">
            <a:solidFill>
              <a:schemeClr val="accent3">
                <a:alpha val="70000"/>
              </a:schemeClr>
            </a:solidFill>
            <a:prstDash val="solid"/>
          </a:ln>
        </p:spPr>
      </p:sp>
      <p:pic>
        <p:nvPicPr>
          <p:cNvPr id="31" name="Image 3" descr="preencoded.png">    </p:cNvPr>
          <p:cNvPicPr>
            <a:picLocks noChangeAspect="1"/>
          </p:cNvPicPr>
          <p:nvPr/>
        </p:nvPicPr>
        <p:blipFill>
          <a:blip r:embed="rId4"/>
          <a:stretch>
            <a:fillRect/>
          </a:stretch>
        </p:blipFill>
        <p:spPr>
          <a:xfrm>
            <a:off x="749808" y="5783580"/>
            <a:ext cx="329184" cy="329184"/>
          </a:xfrm>
          <a:prstGeom prst="rect">
            <a:avLst/>
          </a:prstGeom>
        </p:spPr>
      </p:pic>
      <p:sp>
        <p:nvSpPr>
          <p:cNvPr id="32" name="Text 25"/>
          <p:cNvSpPr txBox="1"/>
          <p:nvPr/>
        </p:nvSpPr>
        <p:spPr>
          <a:xfrm>
            <a:off x="1234440" y="5641848"/>
            <a:ext cx="10287000" cy="612648"/>
          </a:xfrm>
          <a:prstGeom prst="rect">
            <a:avLst/>
          </a:prstGeom>
          <a:noFill/>
          <a:ln/>
        </p:spPr>
        <p:txBody>
          <a:bodyPr wrap="square" lIns="0" tIns="0" rIns="0" bIns="0" rtlCol="0" anchor="ctr"/>
          <a:lstStyle/>
          <a:p>
            <a:pPr indent="0" marL="0">
              <a:buNone/>
            </a:pPr>
            <a:r>
              <a:rPr lang="en-US" sz="1700" b="1" dirty="0">
                <a:solidFill>
                  <a:schemeClr val="accent3"/>
                </a:solidFill>
              </a:rPr>
              <a:t>Destinations — </a:t>
            </a:r>
            <a:r>
              <a:rPr lang="en-US" sz="1700" b="1" dirty="0">
                <a:solidFill>
                  <a:schemeClr val="tx1"/>
                </a:solidFill>
              </a:rPr>
              <a:t>lokaal 204</a:t>
            </a:r>
            <a:r>
              <a:rPr lang="en-US" sz="1700" dirty="0">
                <a:solidFill>
                  <a:schemeClr val="tx1"/>
                </a:solidFill>
              </a:rPr>
              <a:t> · </a:t>
            </a:r>
            <a:r>
              <a:rPr lang="en-US" sz="1700" b="1" dirty="0">
                <a:solidFill>
                  <a:schemeClr val="accent2"/>
                </a:solidFill>
              </a:rPr>
              <a:t>de</a:t>
            </a:r>
            <a:r>
              <a:rPr lang="en-US" sz="1700" dirty="0">
                <a:solidFill>
                  <a:schemeClr val="tx1"/>
                </a:solidFill>
              </a:rPr>
              <a:t> </a:t>
            </a:r>
            <a:r>
              <a:rPr lang="en-US" sz="1700" b="1" dirty="0">
                <a:solidFill>
                  <a:schemeClr val="tx1"/>
                </a:solidFill>
              </a:rPr>
              <a:t>bibliotheek</a:t>
            </a:r>
            <a:r>
              <a:rPr lang="en-US" sz="1700" dirty="0">
                <a:solidFill>
                  <a:schemeClr val="tx1"/>
                </a:solidFill>
              </a:rPr>
              <a:t> · </a:t>
            </a:r>
            <a:r>
              <a:rPr lang="en-US" sz="1700" b="1" dirty="0">
                <a:solidFill>
                  <a:schemeClr val="accent4"/>
                </a:solidFill>
              </a:rPr>
              <a:t>het</a:t>
            </a:r>
            <a:r>
              <a:rPr lang="en-US" sz="1700" dirty="0">
                <a:solidFill>
                  <a:schemeClr val="tx1"/>
                </a:solidFill>
              </a:rPr>
              <a:t> </a:t>
            </a:r>
            <a:r>
              <a:rPr lang="en-US" sz="1700" b="1" dirty="0">
                <a:solidFill>
                  <a:schemeClr val="tx1"/>
                </a:solidFill>
              </a:rPr>
              <a:t>secretariaat</a:t>
            </a:r>
            <a:r>
              <a:rPr lang="en-US" sz="1700" dirty="0">
                <a:solidFill>
                  <a:schemeClr val="tx1"/>
                </a:solidFill>
              </a:rPr>
              <a:t> · </a:t>
            </a:r>
            <a:r>
              <a:rPr lang="en-US" sz="1700" b="1" dirty="0">
                <a:solidFill>
                  <a:schemeClr val="accent2"/>
                </a:solidFill>
              </a:rPr>
              <a:t>de</a:t>
            </a:r>
            <a:r>
              <a:rPr lang="en-US" sz="1700" dirty="0">
                <a:solidFill>
                  <a:schemeClr val="tx1"/>
                </a:solidFill>
              </a:rPr>
              <a:t> </a:t>
            </a:r>
            <a:r>
              <a:rPr lang="en-US" sz="1700" b="1" dirty="0">
                <a:solidFill>
                  <a:schemeClr val="tx1"/>
                </a:solidFill>
              </a:rPr>
              <a:t>cafetaria</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bg1"/>
                </a:solidFill>
              </a:rPr>
              <a:t>Tot de volgende keer!</a:t>
            </a:r>
            <a:endParaRPr lang="en-US" sz="3200" dirty="0"/>
          </a:p>
        </p:txBody>
      </p:sp>
      <p:sp>
        <p:nvSpPr>
          <p:cNvPr id="3" name="tag"/>
          <p:cNvSpPr/>
          <p:nvPr/>
        </p:nvSpPr>
        <p:spPr>
          <a:xfrm>
            <a:off x="548640" y="237744"/>
            <a:ext cx="19888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FIN DE SÉANCE</a:t>
            </a:r>
            <a:endParaRPr lang="en-US" sz="1200" dirty="0"/>
          </a:p>
        </p:txBody>
      </p:sp>
      <p:sp>
        <p:nvSpPr>
          <p:cNvPr id="4" name="Shape 2"/>
          <p:cNvSpPr/>
          <p:nvPr/>
        </p:nvSpPr>
        <p:spPr>
          <a:xfrm>
            <a:off x="548640" y="1554480"/>
            <a:ext cx="6035040" cy="3108960"/>
          </a:xfrm>
          <a:prstGeom prst="roundRect">
            <a:avLst>
              <a:gd name="adj" fmla="val 2941"/>
            </a:avLst>
          </a:prstGeom>
          <a:solidFill>
            <a:schemeClr val="bg1">
              <a:alpha val="10000"/>
            </a:schemeClr>
          </a:solidFill>
          <a:ln w="12700">
            <a:solidFill>
              <a:srgbClr val="EEF3F8"/>
            </a:solidFill>
            <a:prstDash val="solid"/>
          </a:ln>
        </p:spPr>
      </p:sp>
      <p:sp>
        <p:nvSpPr>
          <p:cNvPr id="5" name="Text 3"/>
          <p:cNvSpPr txBox="1"/>
          <p:nvPr/>
        </p:nvSpPr>
        <p:spPr>
          <a:xfrm>
            <a:off x="822960" y="173736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LA PROCHAINE FOIS</a:t>
            </a:r>
            <a:endParaRPr lang="en-US" sz="1300" dirty="0"/>
          </a:p>
        </p:txBody>
      </p:sp>
      <p:sp>
        <p:nvSpPr>
          <p:cNvPr id="6" name="Text 4"/>
          <p:cNvSpPr txBox="1"/>
          <p:nvPr/>
        </p:nvSpPr>
        <p:spPr>
          <a:xfrm>
            <a:off x="822960" y="2148840"/>
            <a:ext cx="5486400" cy="2377440"/>
          </a:xfrm>
          <a:prstGeom prst="rect">
            <a:avLst/>
          </a:prstGeom>
          <a:noFill/>
          <a:ln/>
        </p:spPr>
        <p:txBody>
          <a:bodyPr wrap="square" lIns="0" tIns="0" rIns="0" bIns="0" rtlCol="0" anchor="t"/>
          <a:lstStyle/>
          <a:p>
            <a:pPr indent="0" marL="0">
              <a:buNone/>
            </a:pPr>
            <a:r>
              <a:rPr lang="en-US" sz="2400" i="1" dirty="0">
                <a:solidFill>
                  <a:schemeClr val="bg1"/>
                </a:solidFill>
                <a:latin typeface="+mj-lt" pitchFamily="34" charset="0"/>
                <a:ea typeface="+mj-lt" pitchFamily="34" charset="-122"/>
                <a:cs typeface="+mj-lt" pitchFamily="34" charset="-120"/>
              </a:rPr>
              <a:t>Séance 10 : </a:t>
            </a:r>
            <a:r>
              <a:rPr lang="en-US" sz="2400" b="1" i="1" dirty="0">
                <a:solidFill>
                  <a:schemeClr val="bg1"/>
                </a:solidFill>
                <a:latin typeface="+mj-lt" pitchFamily="34" charset="0"/>
                <a:ea typeface="+mj-lt" pitchFamily="34" charset="-122"/>
                <a:cs typeface="+mj-lt" pitchFamily="34" charset="-120"/>
              </a:rPr>
              <a:t>remplir un formulaire</a:t>
            </a:r>
            <a:r>
              <a:rPr lang="en-US" sz="2400" i="1" dirty="0">
                <a:solidFill>
                  <a:schemeClr val="bg1"/>
                </a:solidFill>
                <a:latin typeface="+mj-lt" pitchFamily="34" charset="0"/>
                <a:ea typeface="+mj-lt" pitchFamily="34" charset="-122"/>
                <a:cs typeface="+mj-lt" pitchFamily="34" charset="-120"/>
              </a:rPr>
              <a:t> — nom, adresse, numéro… et </a:t>
            </a:r>
            <a:r>
              <a:rPr lang="en-US" sz="2400" i="1" dirty="0">
                <a:solidFill>
                  <a:schemeClr val="bg1"/>
                </a:solidFill>
                <a:latin typeface="+mj-lt" pitchFamily="34" charset="0"/>
                <a:ea typeface="+mj-lt" pitchFamily="34" charset="-122"/>
                <a:cs typeface="+mj-lt" pitchFamily="34" charset="-120"/>
              </a:rPr>
              <a:t>Van wie is </a:t>
            </a:r>
            <a:r>
              <a:rPr lang="en-US" sz="2400" b="1" i="1" dirty="0">
                <a:solidFill>
                  <a:schemeClr val="bg1"/>
                </a:solidFill>
                <a:latin typeface="+mj-lt" pitchFamily="34" charset="0"/>
                <a:ea typeface="+mj-lt" pitchFamily="34" charset="-122"/>
                <a:cs typeface="+mj-lt" pitchFamily="34" charset="-120"/>
              </a:rPr>
              <a:t>deze</a:t>
            </a:r>
            <a:r>
              <a:rPr lang="en-US" sz="2400" i="1" dirty="0">
                <a:solidFill>
                  <a:schemeClr val="bg1"/>
                </a:solidFill>
                <a:latin typeface="+mj-lt" pitchFamily="34" charset="0"/>
                <a:ea typeface="+mj-lt" pitchFamily="34" charset="-122"/>
                <a:cs typeface="+mj-lt" pitchFamily="34" charset="-120"/>
              </a:rPr>
              <a:t> kaart?</a:t>
            </a:r>
            <a:r>
              <a:rPr lang="en-US" sz="2400" i="1" dirty="0">
                <a:solidFill>
                  <a:schemeClr val="bg1"/>
                </a:solidFill>
                <a:latin typeface="+mj-lt" pitchFamily="34" charset="0"/>
                <a:ea typeface="+mj-lt" pitchFamily="34" charset="-122"/>
                <a:cs typeface="+mj-lt" pitchFamily="34" charset="-120"/>
              </a:rPr>
              <a:t> : les démonstratifs et les possessifs.</a:t>
            </a:r>
            <a:endParaRPr lang="en-US" sz="2400" dirty="0"/>
          </a:p>
        </p:txBody>
      </p:sp>
      <p:sp>
        <p:nvSpPr>
          <p:cNvPr id="7" name="Shape 5"/>
          <p:cNvSpPr/>
          <p:nvPr/>
        </p:nvSpPr>
        <p:spPr>
          <a:xfrm>
            <a:off x="6903720" y="1554480"/>
            <a:ext cx="4736592" cy="4709160"/>
          </a:xfrm>
          <a:prstGeom prst="roundRect">
            <a:avLst>
              <a:gd name="adj" fmla="val 1942"/>
            </a:avLst>
          </a:prstGeom>
          <a:solidFill>
            <a:schemeClr val="bg1"/>
          </a:solidFill>
          <a:ln/>
        </p:spPr>
      </p:sp>
      <p:pic>
        <p:nvPicPr>
          <p:cNvPr id="8" name="Image 0" descr="preencoded.png">    </p:cNvPr>
          <p:cNvPicPr>
            <a:picLocks noChangeAspect="1"/>
          </p:cNvPicPr>
          <p:nvPr/>
        </p:nvPicPr>
        <p:blipFill>
          <a:blip r:embed="rId1"/>
          <a:stretch>
            <a:fillRect/>
          </a:stretch>
        </p:blipFill>
        <p:spPr>
          <a:xfrm>
            <a:off x="7132320" y="1755648"/>
            <a:ext cx="365760" cy="365760"/>
          </a:xfrm>
          <a:prstGeom prst="rect">
            <a:avLst/>
          </a:prstGeom>
        </p:spPr>
      </p:pic>
      <p:sp>
        <p:nvSpPr>
          <p:cNvPr id="9" name="Text 6"/>
          <p:cNvSpPr txBox="1"/>
          <p:nvPr/>
        </p:nvSpPr>
        <p:spPr>
          <a:xfrm>
            <a:off x="7635240" y="1737360"/>
            <a:ext cx="3840480" cy="384048"/>
          </a:xfrm>
          <a:prstGeom prst="rect">
            <a:avLst/>
          </a:prstGeom>
          <a:noFill/>
          <a:ln/>
        </p:spPr>
        <p:txBody>
          <a:bodyPr wrap="square" lIns="0" tIns="0" rIns="0" bIns="0" rtlCol="0" anchor="ctr"/>
          <a:lstStyle/>
          <a:p>
            <a:pPr indent="0" marL="0">
              <a:buNone/>
            </a:pPr>
            <a:r>
              <a:rPr lang="en-US" sz="1400" b="1" spc="100" kern="0" dirty="0">
                <a:solidFill>
                  <a:schemeClr val="tx2"/>
                </a:solidFill>
              </a:rPr>
              <a:t>POUR LA PROCHAINE SÉANCE</a:t>
            </a:r>
            <a:endParaRPr lang="en-US" sz="1400" dirty="0"/>
          </a:p>
        </p:txBody>
      </p:sp>
      <p:sp>
        <p:nvSpPr>
          <p:cNvPr id="10" name="Text 7"/>
          <p:cNvSpPr txBox="1"/>
          <p:nvPr/>
        </p:nvSpPr>
        <p:spPr>
          <a:xfrm>
            <a:off x="7132320" y="2286000"/>
            <a:ext cx="4297680" cy="3840480"/>
          </a:xfrm>
          <a:prstGeom prst="rect">
            <a:avLst/>
          </a:prstGeom>
          <a:noFill/>
          <a:ln/>
        </p:spPr>
        <p:txBody>
          <a:bodyPr wrap="square" lIns="0" tIns="0" rIns="0" bIns="0" rtlCol="0" anchor="t"/>
          <a:lstStyle/>
          <a:p>
            <a:pPr marL="190500" indent="-190500">
              <a:spcAft>
                <a:spcPts val="800"/>
              </a:spcAft>
              <a:buSzPct val="100000"/>
              <a:buChar char="•"/>
            </a:pPr>
            <a:r>
              <a:rPr lang="en-US" sz="1700" dirty="0">
                <a:solidFill>
                  <a:schemeClr val="tx1"/>
                </a:solidFill>
              </a:rPr>
              <a:t>Apprendre </a:t>
            </a:r>
            <a:r>
              <a:rPr lang="en-US" sz="1700" b="1" dirty="0">
                <a:solidFill>
                  <a:schemeClr val="tx1"/>
                </a:solidFill>
              </a:rPr>
              <a:t>Familie</a:t>
            </a:r>
            <a:r>
              <a:rPr lang="en-US" sz="1700" dirty="0">
                <a:solidFill>
                  <a:schemeClr val="tx1"/>
                </a:solidFill>
              </a:rPr>
              <a:t> (p. 79) et </a:t>
            </a:r>
            <a:r>
              <a:rPr lang="en-US" sz="1700" b="1" dirty="0">
                <a:solidFill>
                  <a:schemeClr val="tx1"/>
                </a:solidFill>
              </a:rPr>
              <a:t>In de stad</a:t>
            </a:r>
            <a:r>
              <a:rPr lang="en-US" sz="1700" dirty="0">
                <a:solidFill>
                  <a:schemeClr val="tx1"/>
                </a:solidFill>
              </a:rPr>
              <a:t> (p. 80) </a:t>
            </a:r>
            <a:r>
              <a:rPr lang="en-US" sz="1700" b="1" dirty="0">
                <a:solidFill>
                  <a:schemeClr val="tx1"/>
                </a:solidFill>
              </a:rPr>
              <a:t>avec l’article</a:t>
            </a:r>
            <a:r>
              <a:rPr lang="en-US" sz="1700" dirty="0">
                <a:solidFill>
                  <a:schemeClr val="tx1"/>
                </a:solidFill>
              </a:rPr>
              <a:t>.</a:t>
            </a:r>
            <a:endParaRPr lang="en-US" sz="1700" dirty="0"/>
          </a:p>
          <a:p>
            <a:pPr marL="190500" indent="-190500">
              <a:spcAft>
                <a:spcPts val="800"/>
              </a:spcAft>
              <a:buSzPct val="100000"/>
              <a:buChar char="•"/>
            </a:pPr>
            <a:r>
              <a:rPr lang="en-US" sz="1700" dirty="0">
                <a:solidFill>
                  <a:schemeClr val="tx1"/>
                </a:solidFill>
              </a:rPr>
              <a:t>Relire la fiche </a:t>
            </a:r>
            <a:r>
              <a:rPr lang="en-US" sz="1700" b="1" dirty="0">
                <a:solidFill>
                  <a:schemeClr val="tx1"/>
                </a:solidFill>
              </a:rPr>
              <a:t>Voorzetsels</a:t>
            </a:r>
            <a:r>
              <a:rPr lang="en-US" sz="1700" dirty="0">
                <a:solidFill>
                  <a:schemeClr val="tx1"/>
                </a:solidFill>
              </a:rPr>
              <a:t> (p. 65) : où ? quand ?</a:t>
            </a:r>
            <a:endParaRPr lang="en-US" sz="1700" dirty="0"/>
          </a:p>
          <a:p>
            <a:pPr marL="190500" indent="-190500">
              <a:spcAft>
                <a:spcPts val="800"/>
              </a:spcAft>
              <a:buSzPct val="100000"/>
              <a:buChar char="•"/>
            </a:pPr>
            <a:r>
              <a:rPr lang="en-US" sz="1700" dirty="0">
                <a:solidFill>
                  <a:schemeClr val="tx1"/>
                </a:solidFill>
              </a:rPr>
              <a:t>Fiche 9 : dire les </a:t>
            </a:r>
            <a:r>
              <a:rPr lang="en-US" sz="1700" b="1" dirty="0">
                <a:solidFill>
                  <a:schemeClr val="tx1"/>
                </a:solidFill>
              </a:rPr>
              <a:t>10 phrases</a:t>
            </a:r>
            <a:r>
              <a:rPr lang="en-US" sz="1700" dirty="0">
                <a:solidFill>
                  <a:schemeClr val="tx1"/>
                </a:solidFill>
              </a:rPr>
              <a:t> des jalons sans regarder.</a:t>
            </a:r>
            <a:endParaRPr lang="en-US" sz="1700" dirty="0"/>
          </a:p>
          <a:p>
            <a:pPr marL="190500" indent="-190500">
              <a:spcAft>
                <a:spcPts val="800"/>
              </a:spcAft>
              <a:buSzPct val="100000"/>
              <a:buChar char="•"/>
            </a:pPr>
            <a:r>
              <a:rPr lang="en-US" sz="1700" dirty="0">
                <a:solidFill>
                  <a:schemeClr val="tx1"/>
                </a:solidFill>
              </a:rPr>
              <a:t>Revoir ce qui n’est </a:t>
            </a:r>
            <a:r>
              <a:rPr lang="en-US" sz="1700" b="1" dirty="0">
                <a:solidFill>
                  <a:schemeClr val="tx1"/>
                </a:solidFill>
              </a:rPr>
              <a:t>pas coché</a:t>
            </a:r>
            <a:r>
              <a:rPr lang="en-US" sz="1700" dirty="0">
                <a:solidFill>
                  <a:schemeClr val="tx1"/>
                </a:solidFill>
              </a:rPr>
              <a:t> dans l’auto-évaluation.</a:t>
            </a:r>
            <a:endParaRPr lang="en-US" sz="1700" dirty="0"/>
          </a:p>
        </p:txBody>
      </p:sp>
      <p:sp>
        <p:nvSpPr>
          <p:cNvPr id="11" name="Shape 8"/>
          <p:cNvSpPr/>
          <p:nvPr/>
        </p:nvSpPr>
        <p:spPr>
          <a:xfrm>
            <a:off x="548640" y="4892040"/>
            <a:ext cx="6035040" cy="1371600"/>
          </a:xfrm>
          <a:prstGeom prst="roundRect">
            <a:avLst>
              <a:gd name="adj" fmla="val 6667"/>
            </a:avLst>
          </a:prstGeom>
          <a:solidFill>
            <a:schemeClr val="accent1"/>
          </a:solidFill>
          <a:ln/>
        </p:spPr>
      </p:sp>
      <p:sp>
        <p:nvSpPr>
          <p:cNvPr id="12" name="Text 9"/>
          <p:cNvSpPr txBox="1"/>
          <p:nvPr/>
        </p:nvSpPr>
        <p:spPr>
          <a:xfrm>
            <a:off x="777240" y="4983480"/>
            <a:ext cx="5623560" cy="1188720"/>
          </a:xfrm>
          <a:prstGeom prst="rect">
            <a:avLst/>
          </a:prstGeom>
          <a:noFill/>
          <a:ln/>
        </p:spPr>
        <p:txBody>
          <a:bodyPr wrap="square" lIns="0" tIns="0" rIns="0" bIns="0" rtlCol="0" anchor="ctr"/>
          <a:lstStyle/>
          <a:p>
            <a:pPr indent="0" marL="0">
              <a:buNone/>
            </a:pPr>
            <a:r>
              <a:rPr lang="en-US" sz="1300" b="1" spc="100" kern="0" dirty="0">
                <a:solidFill>
                  <a:schemeClr val="bg1"/>
                </a:solidFill>
              </a:rPr>
              <a:t>TICKET DE SORTIE  </a:t>
            </a:r>
            <a:endParaRPr lang="en-US" sz="1300" dirty="0"/>
          </a:p>
          <a:p>
            <a:pPr indent="0" marL="0">
              <a:buNone/>
            </a:pPr>
            <a:r>
              <a:rPr lang="en-US" sz="1600" dirty="0">
                <a:solidFill>
                  <a:schemeClr val="bg1"/>
                </a:solidFill>
              </a:rPr>
              <a:t>Demandez poliment où est la bibliothèque, puis remerciez : </a:t>
            </a:r>
            <a:r>
              <a:rPr lang="en-US" sz="1600" i="1" dirty="0">
                <a:solidFill>
                  <a:schemeClr val="bg1"/>
                </a:solidFill>
              </a:rPr>
              <a:t>Excuseer… Kunt u me zeggen waar … ?</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Nederlands in situatie">
  <a:themeElements>
    <a:clrScheme name="Nederlands in situatie">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in situati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IRAM — Néerlandais 2 (UE2)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09 — Bilan · De weg vragen</dc:title>
  <dc:subject>Néerlandais en situation appliqué à l’enseignement supérieur</dc:subject>
  <dc:creator>A. Jouniaux</dc:creator>
  <cp:lastModifiedBy>A. Jouniaux</cp:lastModifiedBy>
  <cp:revision>1</cp:revision>
  <dcterms:created xsi:type="dcterms:W3CDTF">2026-10-03T21:06:38Z</dcterms:created>
  <dcterms:modified xsi:type="dcterms:W3CDTF">2026-10-03T21:06:38Z</dcterms:modified>
</cp:coreProperties>
</file>