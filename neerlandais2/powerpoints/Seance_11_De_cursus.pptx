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72907dda-c4b9-96e2-638f-c751d0d2ba2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Clôture" id="{ce4206fc-087f-572a-ed95-b3e28515357d}">
          <p14:sldIdLst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Séance 11. Objectifs : former le pluriel (fiche A1-02, p. 59), accorder l’adjectif (fiche A1-04, p. 61), terminer les faux-amis (3/3, p. 91), puis s’informer sur un cours au secrétariat d’une école (fiche 4, p. 95). Fil rouge : tout le vocabulaire des exercices ajoutés vient de l’école (les, boek, klaslokaal, cursus…), pour préparer la fiche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Durées indicatives sur 90 minutes. Deux fiches de grammaire courtes (A1 : rappels), puis la fiche 4. Si le temps manque, le bonus faux-amis peut se faire à la maison ; ne jamais sacrifier les deux Jalons.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Rappel de la séance 10 : fiche A1-03 (p. 60) et vocabulaire Administratie (p. 86). Interroger vite, un étudiant par phrase. Phrase 4 : « postzegels » est un pluriel → transition naturelle vers la fiche du jour (het meervoud).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justifier chaque réponse : de ou het ? ici ou là ? singulier ou pluriel ? Phrase 8 : accepter « je » non accentué (Waar is je identiteitskaart?).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Règle du livret : -en en général ; -s après -el, -er, -en, -je ; -’s après a, o, u, i, y. Partie B : l’orthographe change pour garder le même son (bus → bussen, straat → straten, huis → huizen). Irréguliers en -eren : het kind → kinderen, het ei → eieren. À ajouter à l’oral : beaucoup de mots empruntés prennent -s (de tram → trams, de film → films) — utile pour l’exercice qui suit. Exemples « de euro » et « het meisje » ajoutés pour préparer la fiche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de la fiche A1-02 (p. 59), avec les images du livret (bouteille, tram, main, œil, grand-mère, médecin). Faire lire chaque pluriel à voix haute.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 de tram → trams » : forme correcte en néerlandais standard, mais elle ne suit pas la règle -en de la fiche (mot d’origine anglaise, comme films, clubs) : le signaler, c’est un piège du livret. « ogen » : une seule o, car la syllabe reste ouverte (o-gen).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ajouté : réemploi du pluriel avec le vocabulaire de la fiche 4 (weken, euro, boeken, klaslokaal…). Insister sur les voyelles longues : week → weken, klaslokaal → klaslokalen, taal → talen, leraar → leraren.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Piège utile pour le Jalon 2 : « Hij kost 120 euro » (et non « 120 euro’s ») — après un nombre, euro reste au singulier ; on dit en revanche « tien weken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Mémo du livret : een groot huis · het grote huis · een grote man · grote huizen. L’orthographe suit la même logique que le pluriel : voyelle longue → une seule voyelle (rood → rode, groot → grote), voyelle courte → consonne double (snel → snelle). Le livret ne cite que « een / geen » pour l’exception ; or l’exercice contient « … water » sans article : préciser que l’exception vaut aussi sans article (koud water, lekker brood).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de la fiche A1-04 (p. 61). Images du livret : bébé, train, verre d’eau, vélo, musée, frites.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Lacune du livret : la règle de l’exception cite seulement « een / geen » ; la phrase 3 (… water, sans article) demande pourtant « koud water » sans -e. Règle complète : pas de -e devant un mot en het, au singulier, quand il n’y a pas d’article défini (een, geen, rien, veel, elk…).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ajouté, oral : chaque étudiant lit la phrase avec la forme choisie et donne la raison (de / het ? een / het ? après le verbe ?).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Justifications : 1 de cursus → -e ; 2 après le verbe ; 3 het + een + singulier ; 4 article défini het → -e ; 5 pluriel → -e ; 6 het idee + geen ; 7 après le verbe ; 8 de cursus → -e (goedkoop → goedkope).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Lire chaque paire, faire répéter le mot néerlandais, demander une phrase avec chacun. En Belgique, beaucoup d’écoles secondaires portent le nom « college » (Sint-Jozefscollege…) : dans un nom propre, c’est une école ; le mot courant « het college » reste le cours magistral à l’université. « De leerkracht » (l’enseignant·e) est très courant en Flandre. Pas d’erreur relevée sur cette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Lire chaque paire, faire répéter le mot néerlandais, demander une phrase avec chacun. En Belgique, beaucoup d’écoles secondaires portent le nom « college » (Sint-Jozefscollege…) : dans un nom propre, c’est une école ; le mot courant « het college » reste le cours magistral à l’université. « De leerkracht » (l’enseignant·e) est très courant en Flandre. Pas d’erreur relevée sur cette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ajouté : réemploi des sept paires. Faire traduire chaque phrase en français pour vérifier le sens.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Phrase 5 : lien avec la fiche de l’adjectif (een mondeling examen, mais het mondelinge examen). Phrase 8 : « college geven » = donner un cours magistral à l’université.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livret liste « euro » sans article et « weken » au pluriel : on donne ici de euro, de week · weken. Ajouts pour les Jalons : de cursus (en Belgique, « de cursus » désigne aussi le syllabus, les notes de cours !) et zich inschrijven (je schrijf me in). « welk / welke » suit la logique de deze / dit (séance 10). Sommaire de la section 4 (page d’ouverture) : il annonce « 04 Remplir le formulaire » et « 06 S’informer sur le cours » ; la fiche réelle p. 95 est bien la fiche 4 « S’informer sur le cours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Rappeler l’ordre des mots de la question (séance 7 : vraagwoorden). Laisser chercher « falloir » : en néerlandais, on dit « avoir besoin de » = nodig hebben.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Variantes acceptables : 1 « Wanneer begint de les? » (de les = une séance de cours) ; 3 « …en hoe lang duurt die? » ou « hoe lang duurt het? » (familier) ; 5 « Welke boeken zijn nodig? ». Phrase 4 : niet se place devant le complément avec préposition (niet in september).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Phrase 4 = la phrase la plus difficile de la fiche : laisser chercher, puis passer à la diapositive « phrase-clé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Variantes acceptables : 1 « …begint op maandag… » ; 2 « Hij kost 120 euro, het boek inbegrepen » ou « Het kost 120 euro, met het boek erbij » ; 5 « Voor maandag heb ik een boek en een oefenboek nodig ». Le livret traduit « cahier » par « het oefenboek » (cahier d’exercices) ; « het schrift » = le cahier ordinaire. Refuser « 120 euro’s » et « omdat de cursus begint binnenkort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Rappel : dans la subordonnée avec omdat, le verbe est à la fin (omdat de cursus binnenkort begint). Faire transformer à l’oral : « Ik schrijf me vandaag in, omdat de cursus binnenkort begint » → « Omdat de cursus binnenkort begint, schrijf ik me vandaag in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Variante pour le 2e tour : B invente une autre fiche (Engels, 8 weken, 95 euro, eerste verdieping…). Observer : inversion dans les questions, « 120 euro » sans s, « nodig » à la fin. B peut vouvoyer (« Wat kan ik voor u doen? »).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Ticket de sortie oral, par exemple : « Welke boeken heb ik nodig? — Je hebt een nieuw oefenboek en twee goede woordenboeken nodig.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Néerlandais 2 · UE2 · Néerlandais en situation · Séance 11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DARK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Néerlandais 2 · UE2 · Néerlandais en situation · Séance 11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VER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Néerlandais 2 · UE2 · A. Jouniaux · IRAM — Enseignement pour adultes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image" Target="../media/image-15-3.jpg"/><Relationship Id="rId4" Type="http://schemas.openxmlformats.org/officeDocument/2006/relationships/image" Target="../media/image-15-4.jpg"/><Relationship Id="rId5" Type="http://schemas.openxmlformats.org/officeDocument/2006/relationships/image" Target="../media/image-15-5.jpg"/><Relationship Id="rId6" Type="http://schemas.openxmlformats.org/officeDocument/2006/relationships/image" Target="../media/image-15-6.jpg"/><Relationship Id="rId7" Type="http://schemas.openxmlformats.org/officeDocument/2006/relationships/image" Target="../media/image-15-7.jpg"/><Relationship Id="rId8" Type="http://schemas.openxmlformats.org/officeDocument/2006/relationships/image" Target="../media/image-15-8.jp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image" Target="../media/image-16-3.jpg"/><Relationship Id="rId4" Type="http://schemas.openxmlformats.org/officeDocument/2006/relationships/image" Target="../media/image-16-4.jpg"/><Relationship Id="rId5" Type="http://schemas.openxmlformats.org/officeDocument/2006/relationships/image" Target="../media/image-16-5.jpg"/><Relationship Id="rId6" Type="http://schemas.openxmlformats.org/officeDocument/2006/relationships/image" Target="../media/image-16-6.jp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40080"/>
            <a:ext cx="2369820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SÉANCE 11 / 19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bg2"/>
                </a:solidFill>
              </a:rPr>
              <a:t>FICHE</a:t>
            </a:r>
            <a:endParaRPr lang="en-US" sz="1300" dirty="0"/>
          </a:p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De cursus</a:t>
            </a:r>
            <a:endParaRPr lang="en-US" sz="4000" dirty="0"/>
          </a:p>
        </p:txBody>
      </p:sp>
      <p:sp>
        <p:nvSpPr>
          <p:cNvPr id="5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i="1" dirty="0">
                <a:solidFill>
                  <a:schemeClr val="bg2"/>
                </a:solidFill>
              </a:rPr>
              <a:t>S’informer sur le cours — le pluriel, l’adjectif et les faux-amis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Section 4 · Mises en situation — Fiche 4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Livret p. 59 · 61 · 91 · 95</a:t>
            </a:r>
            <a:endParaRPr lang="en-US" sz="1800" dirty="0"/>
          </a:p>
        </p:txBody>
      </p:sp>
      <p:pic>
        <p:nvPicPr>
          <p:cNvPr id="6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973387"/>
            <a:ext cx="5120640" cy="2911227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Mission du jour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8229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PLAN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59 · 61 · 91 · 95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70992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47088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81328" y="165506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EN FIN DE SÉANCE, JE SAIS…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1481328" y="1947672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Poser des questions sur un </a:t>
            </a:r>
            <a:r>
              <a:rPr lang="en-US" sz="1600" b="1" dirty="0">
                <a:solidFill>
                  <a:schemeClr val="tx1"/>
                </a:solidFill>
              </a:rPr>
              <a:t>cours</a:t>
            </a:r>
            <a:r>
              <a:rPr lang="en-US" sz="1600" dirty="0">
                <a:solidFill>
                  <a:schemeClr val="tx1"/>
                </a:solidFill>
              </a:rPr>
              <a:t> (quand, où, combien, quels livres) et y répondre ; mettre un nom au </a:t>
            </a:r>
            <a:r>
              <a:rPr lang="en-US" sz="1600" b="1" dirty="0">
                <a:solidFill>
                  <a:schemeClr val="tx1"/>
                </a:solidFill>
              </a:rPr>
              <a:t>pluriel</a:t>
            </a:r>
            <a:r>
              <a:rPr lang="en-US" sz="1600" dirty="0">
                <a:solidFill>
                  <a:schemeClr val="tx1"/>
                </a:solidFill>
              </a:rPr>
              <a:t> et accorder l’</a:t>
            </a:r>
            <a:r>
              <a:rPr lang="en-US" sz="1600" b="1" dirty="0">
                <a:solidFill>
                  <a:schemeClr val="tx1"/>
                </a:solidFill>
              </a:rPr>
              <a:t>adjectif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48640" y="3136392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333756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47472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81328" y="328269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LANGUE CIBLE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1481328" y="3575304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Wanneer begint de cursus? · Hoeveel kost hij? · Welke boeken heb ik nodig?</a:t>
            </a:r>
            <a:r>
              <a:rPr lang="en-US" sz="1600" dirty="0">
                <a:solidFill>
                  <a:schemeClr val="tx1"/>
                </a:solidFill>
              </a:rPr>
              <a:t> — boeken, weken, euro’s — </a:t>
            </a:r>
            <a:r>
              <a:rPr lang="en-US" sz="1600" i="1" dirty="0">
                <a:solidFill>
                  <a:schemeClr val="tx1"/>
                </a:solidFill>
              </a:rPr>
              <a:t>een groot huis · het grote huis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48640" y="4764024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49808" y="4965192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5102352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81328" y="491032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3"/>
                </a:solidFill>
              </a:rPr>
              <a:t>COMPÉTENCES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1481328" y="5202936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Appliquer une règle d’orthographe · éviter sept faux-amis · s’informer au secrétariat d’une école (jeu de rôle)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626364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5"/>
                </a:solidFill>
              </a:rPr>
              <a:t>DÉROULÉ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8897112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≈ 90 min (indicatif)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263640" y="195967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6263640" y="19596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6784848" y="187452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Échauffement : deze · dit · onze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10972800" y="187452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6263640" y="2514029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6263640" y="251402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6784848" y="242887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Het meervoud (p. 59)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10972800" y="242887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15'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6263640" y="306838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6263640" y="3068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6784848" y="298323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Het adjectief (p. 61)</a:t>
            </a:r>
            <a:endParaRPr lang="en-US" sz="1600" dirty="0"/>
          </a:p>
        </p:txBody>
      </p:sp>
      <p:sp>
        <p:nvSpPr>
          <p:cNvPr id="34" name="Text 28"/>
          <p:cNvSpPr txBox="1"/>
          <p:nvPr/>
        </p:nvSpPr>
        <p:spPr>
          <a:xfrm>
            <a:off x="10972800" y="298323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15'</a:t>
            </a:r>
            <a:endParaRPr lang="en-US" sz="1500" dirty="0"/>
          </a:p>
        </p:txBody>
      </p:sp>
      <p:sp>
        <p:nvSpPr>
          <p:cNvPr id="35" name="Shape 29"/>
          <p:cNvSpPr/>
          <p:nvPr/>
        </p:nvSpPr>
        <p:spPr>
          <a:xfrm>
            <a:off x="6263640" y="362273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6263640" y="362273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7" name="Text 31"/>
          <p:cNvSpPr txBox="1"/>
          <p:nvPr/>
        </p:nvSpPr>
        <p:spPr>
          <a:xfrm>
            <a:off x="6784848" y="353758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Valse vrienden 3/3 (p. 91)</a:t>
            </a:r>
            <a:endParaRPr lang="en-US" sz="1600" dirty="0"/>
          </a:p>
        </p:txBody>
      </p:sp>
      <p:sp>
        <p:nvSpPr>
          <p:cNvPr id="38" name="Text 32"/>
          <p:cNvSpPr txBox="1"/>
          <p:nvPr/>
        </p:nvSpPr>
        <p:spPr>
          <a:xfrm>
            <a:off x="10972800" y="353758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39" name="Shape 33"/>
          <p:cNvSpPr/>
          <p:nvPr/>
        </p:nvSpPr>
        <p:spPr>
          <a:xfrm>
            <a:off x="6263640" y="4177093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0" name="Text 34"/>
          <p:cNvSpPr txBox="1"/>
          <p:nvPr/>
        </p:nvSpPr>
        <p:spPr>
          <a:xfrm>
            <a:off x="6263640" y="41770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41" name="Text 35"/>
          <p:cNvSpPr txBox="1"/>
          <p:nvPr/>
        </p:nvSpPr>
        <p:spPr>
          <a:xfrm>
            <a:off x="6784848" y="409194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Fiche 4 : vocabulaire</a:t>
            </a:r>
            <a:endParaRPr lang="en-US" sz="1600" dirty="0"/>
          </a:p>
        </p:txBody>
      </p:sp>
      <p:sp>
        <p:nvSpPr>
          <p:cNvPr id="42" name="Text 36"/>
          <p:cNvSpPr txBox="1"/>
          <p:nvPr/>
        </p:nvSpPr>
        <p:spPr>
          <a:xfrm>
            <a:off x="10972800" y="409194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43" name="Shape 37"/>
          <p:cNvSpPr/>
          <p:nvPr/>
        </p:nvSpPr>
        <p:spPr>
          <a:xfrm>
            <a:off x="6263640" y="4731449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4" name="Text 38"/>
          <p:cNvSpPr txBox="1"/>
          <p:nvPr/>
        </p:nvSpPr>
        <p:spPr>
          <a:xfrm>
            <a:off x="6263640" y="473144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5" name="Text 39"/>
          <p:cNvSpPr txBox="1"/>
          <p:nvPr/>
        </p:nvSpPr>
        <p:spPr>
          <a:xfrm>
            <a:off x="6784848" y="464629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Jalon 1 · Jalon 2</a:t>
            </a:r>
            <a:endParaRPr lang="en-US" sz="1600" dirty="0"/>
          </a:p>
        </p:txBody>
      </p:sp>
      <p:sp>
        <p:nvSpPr>
          <p:cNvPr id="46" name="Text 40"/>
          <p:cNvSpPr txBox="1"/>
          <p:nvPr/>
        </p:nvSpPr>
        <p:spPr>
          <a:xfrm>
            <a:off x="10972800" y="464629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20'</a:t>
            </a:r>
            <a:endParaRPr lang="en-US" sz="1500" dirty="0"/>
          </a:p>
        </p:txBody>
      </p:sp>
      <p:sp>
        <p:nvSpPr>
          <p:cNvPr id="47" name="Shape 41"/>
          <p:cNvSpPr/>
          <p:nvPr/>
        </p:nvSpPr>
        <p:spPr>
          <a:xfrm>
            <a:off x="6263640" y="528580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8" name="Text 42"/>
          <p:cNvSpPr txBox="1"/>
          <p:nvPr/>
        </p:nvSpPr>
        <p:spPr>
          <a:xfrm>
            <a:off x="6263640" y="52858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49" name="Text 43"/>
          <p:cNvSpPr txBox="1"/>
          <p:nvPr/>
        </p:nvSpPr>
        <p:spPr>
          <a:xfrm>
            <a:off x="6784848" y="520065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Phrase-clé · jeu de rôle</a:t>
            </a:r>
            <a:endParaRPr lang="en-US" sz="1600" dirty="0"/>
          </a:p>
        </p:txBody>
      </p:sp>
      <p:sp>
        <p:nvSpPr>
          <p:cNvPr id="50" name="Text 44"/>
          <p:cNvSpPr txBox="1"/>
          <p:nvPr/>
        </p:nvSpPr>
        <p:spPr>
          <a:xfrm>
            <a:off x="10972800" y="520065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15'</a:t>
            </a:r>
            <a:endParaRPr lang="en-US" sz="1500" dirty="0"/>
          </a:p>
        </p:txBody>
      </p:sp>
      <p:sp>
        <p:nvSpPr>
          <p:cNvPr id="51" name="Shape 45"/>
          <p:cNvSpPr/>
          <p:nvPr/>
        </p:nvSpPr>
        <p:spPr>
          <a:xfrm>
            <a:off x="6263640" y="584015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2" name="Text 46"/>
          <p:cNvSpPr txBox="1"/>
          <p:nvPr/>
        </p:nvSpPr>
        <p:spPr>
          <a:xfrm>
            <a:off x="6263640" y="58401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53" name="Text 47"/>
          <p:cNvSpPr txBox="1"/>
          <p:nvPr/>
        </p:nvSpPr>
        <p:spPr>
          <a:xfrm>
            <a:off x="6784848" y="575500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Bilan</a:t>
            </a:r>
            <a:endParaRPr lang="en-US" sz="1600" dirty="0"/>
          </a:p>
        </p:txBody>
      </p:sp>
      <p:sp>
        <p:nvSpPr>
          <p:cNvPr id="54" name="Text 48"/>
          <p:cNvSpPr txBox="1"/>
          <p:nvPr/>
        </p:nvSpPr>
        <p:spPr>
          <a:xfrm>
            <a:off x="10972800" y="575500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Échauffement : deze, dit, die, dat · ons, onze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Rappel séance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5 min — Complétez avec </a:t>
            </a:r>
            <a:r>
              <a:rPr lang="en-US" sz="1600" b="1" i="1" dirty="0">
                <a:solidFill>
                  <a:schemeClr val="accent5"/>
                </a:solidFill>
              </a:rPr>
              <a:t>deze / dit / die / dat</a:t>
            </a:r>
            <a:r>
              <a:rPr lang="en-US" sz="1600" i="1" dirty="0">
                <a:solidFill>
                  <a:schemeClr val="accent5"/>
                </a:solidFill>
              </a:rPr>
              <a:t> (ici ou là ?) ou avec le </a:t>
            </a:r>
            <a:r>
              <a:rPr lang="en-US" sz="1600" b="1" i="1" dirty="0">
                <a:solidFill>
                  <a:schemeClr val="accent5"/>
                </a:solidFill>
              </a:rPr>
              <a:t>possessif</a:t>
            </a:r>
            <a:r>
              <a:rPr lang="en-US" sz="1600" i="1" dirty="0">
                <a:solidFill>
                  <a:schemeClr val="accent5"/>
                </a:solidFill>
              </a:rPr>
              <a:t> indiqué. Mots de la séance 10.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34061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formulier </a:t>
            </a:r>
            <a:r>
              <a:rPr lang="en-US" sz="2400" i="1" dirty="0">
                <a:solidFill>
                  <a:schemeClr val="tx1"/>
                </a:solidFill>
              </a:rPr>
              <a:t>(ici)</a:t>
            </a:r>
            <a:r>
              <a:rPr lang="en-US" sz="2400" dirty="0">
                <a:solidFill>
                  <a:schemeClr val="tx1"/>
                </a:solidFill>
              </a:rPr>
              <a:t> is voor de cursus.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handtekening </a:t>
            </a:r>
            <a:r>
              <a:rPr lang="en-US" sz="2400" i="1" dirty="0">
                <a:solidFill>
                  <a:schemeClr val="tx1"/>
                </a:solidFill>
              </a:rPr>
              <a:t>(ici)</a:t>
            </a:r>
            <a:r>
              <a:rPr lang="en-US" sz="2400" dirty="0">
                <a:solidFill>
                  <a:schemeClr val="tx1"/>
                </a:solidFill>
              </a:rPr>
              <a:t> is van mij.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loket </a:t>
            </a:r>
            <a:r>
              <a:rPr lang="en-US" sz="2400" i="1" dirty="0">
                <a:solidFill>
                  <a:schemeClr val="tx1"/>
                </a:solidFill>
              </a:rPr>
              <a:t>(là)</a:t>
            </a:r>
            <a:r>
              <a:rPr lang="en-US" sz="2400" dirty="0">
                <a:solidFill>
                  <a:schemeClr val="tx1"/>
                </a:solidFill>
              </a:rPr>
              <a:t> is gesloten.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postzegels </a:t>
            </a:r>
            <a:r>
              <a:rPr lang="en-US" sz="2400" i="1" dirty="0">
                <a:solidFill>
                  <a:schemeClr val="tx1"/>
                </a:solidFill>
              </a:rPr>
              <a:t>(là)</a:t>
            </a:r>
            <a:r>
              <a:rPr lang="en-US" sz="2400" dirty="0">
                <a:solidFill>
                  <a:schemeClr val="tx1"/>
                </a:solidFill>
              </a:rPr>
              <a:t> zijn voor Pieter.</a:t>
            </a:r>
            <a:endParaRPr lang="en-US" sz="2400" dirty="0"/>
          </a:p>
        </p:txBody>
      </p:sp>
      <p:sp>
        <p:nvSpPr>
          <p:cNvPr id="8" name="exercise"/>
          <p:cNvSpPr txBox="1"/>
          <p:nvPr/>
        </p:nvSpPr>
        <p:spPr>
          <a:xfrm>
            <a:off x="4320540" y="2170176"/>
            <a:ext cx="34061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Is dit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paspoort, meneer? </a:t>
            </a:r>
            <a:r>
              <a:rPr lang="en-US" sz="2400" i="1" dirty="0">
                <a:solidFill>
                  <a:schemeClr val="tx1"/>
                </a:solidFill>
              </a:rPr>
              <a:t>(u)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dossier is klaar. </a:t>
            </a:r>
            <a:r>
              <a:rPr lang="en-US" sz="2400" i="1" dirty="0">
                <a:solidFill>
                  <a:schemeClr val="tx1"/>
                </a:solidFill>
              </a:rPr>
              <a:t>(wij)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7. 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afspraak is om tien uur. </a:t>
            </a:r>
            <a:r>
              <a:rPr lang="en-US" sz="2400" i="1" dirty="0">
                <a:solidFill>
                  <a:schemeClr val="tx1"/>
                </a:solidFill>
              </a:rPr>
              <a:t>(wij)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8.  </a:t>
            </a:r>
            <a:r>
              <a:rPr lang="en-US" sz="2400" dirty="0">
                <a:solidFill>
                  <a:schemeClr val="tx1"/>
                </a:solidFill>
              </a:rPr>
              <a:t>Waar is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identiteitskaart? </a:t>
            </a:r>
            <a:r>
              <a:rPr lang="en-US" sz="2400" i="1" dirty="0">
                <a:solidFill>
                  <a:schemeClr val="tx1"/>
                </a:solidFill>
              </a:rPr>
              <a:t>(jij)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Échauffement : deze, dit, die, dat · ons, onze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53288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Rappel séance 10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5 min — Complétez avec </a:t>
            </a:r>
            <a:r>
              <a:rPr lang="en-US" sz="1600" b="1" i="1" dirty="0">
                <a:solidFill>
                  <a:schemeClr val="accent5"/>
                </a:solidFill>
              </a:rPr>
              <a:t>deze / dit / die / dat</a:t>
            </a:r>
            <a:r>
              <a:rPr lang="en-US" sz="1600" i="1" dirty="0">
                <a:solidFill>
                  <a:schemeClr val="accent5"/>
                </a:solidFill>
              </a:rPr>
              <a:t> (ici ou là ?) ou avec le </a:t>
            </a:r>
            <a:r>
              <a:rPr lang="en-US" sz="1600" b="1" i="1" dirty="0">
                <a:solidFill>
                  <a:schemeClr val="accent5"/>
                </a:solidFill>
              </a:rPr>
              <a:t>possessif</a:t>
            </a:r>
            <a:r>
              <a:rPr lang="en-US" sz="1600" i="1" dirty="0">
                <a:solidFill>
                  <a:schemeClr val="accent5"/>
                </a:solidFill>
              </a:rPr>
              <a:t> indiqué. Mots de la séance 10.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2170176"/>
            <a:ext cx="34061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b="1" dirty="0">
                <a:solidFill>
                  <a:schemeClr val="accent3"/>
                </a:solidFill>
              </a:rPr>
              <a:t>Dit</a:t>
            </a:r>
            <a:r>
              <a:rPr lang="en-US" sz="2400" dirty="0">
                <a:solidFill>
                  <a:schemeClr val="tx1"/>
                </a:solidFill>
              </a:rPr>
              <a:t> formulier </a:t>
            </a:r>
            <a:r>
              <a:rPr lang="en-US" sz="2400" i="1" dirty="0">
                <a:solidFill>
                  <a:schemeClr val="tx1"/>
                </a:solidFill>
              </a:rPr>
              <a:t>(ici)</a:t>
            </a:r>
            <a:r>
              <a:rPr lang="en-US" sz="2400" dirty="0">
                <a:solidFill>
                  <a:schemeClr val="tx1"/>
                </a:solidFill>
              </a:rPr>
              <a:t> is voor de cursus.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b="1" dirty="0">
                <a:solidFill>
                  <a:schemeClr val="accent3"/>
                </a:solidFill>
              </a:rPr>
              <a:t>Deze</a:t>
            </a:r>
            <a:r>
              <a:rPr lang="en-US" sz="2400" dirty="0">
                <a:solidFill>
                  <a:schemeClr val="tx1"/>
                </a:solidFill>
              </a:rPr>
              <a:t> handtekening </a:t>
            </a:r>
            <a:r>
              <a:rPr lang="en-US" sz="2400" i="1" dirty="0">
                <a:solidFill>
                  <a:schemeClr val="tx1"/>
                </a:solidFill>
              </a:rPr>
              <a:t>(ici)</a:t>
            </a:r>
            <a:r>
              <a:rPr lang="en-US" sz="2400" dirty="0">
                <a:solidFill>
                  <a:schemeClr val="tx1"/>
                </a:solidFill>
              </a:rPr>
              <a:t> is van mij.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b="1" dirty="0">
                <a:solidFill>
                  <a:schemeClr val="accent3"/>
                </a:solidFill>
              </a:rPr>
              <a:t>Dat</a:t>
            </a:r>
            <a:r>
              <a:rPr lang="en-US" sz="2400" dirty="0">
                <a:solidFill>
                  <a:schemeClr val="tx1"/>
                </a:solidFill>
              </a:rPr>
              <a:t> loket </a:t>
            </a:r>
            <a:r>
              <a:rPr lang="en-US" sz="2400" i="1" dirty="0">
                <a:solidFill>
                  <a:schemeClr val="tx1"/>
                </a:solidFill>
              </a:rPr>
              <a:t>(là)</a:t>
            </a:r>
            <a:r>
              <a:rPr lang="en-US" sz="2400" dirty="0">
                <a:solidFill>
                  <a:schemeClr val="tx1"/>
                </a:solidFill>
              </a:rPr>
              <a:t> is gesloten.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b="1" dirty="0">
                <a:solidFill>
                  <a:schemeClr val="accent3"/>
                </a:solidFill>
              </a:rPr>
              <a:t>Die</a:t>
            </a:r>
            <a:r>
              <a:rPr lang="en-US" sz="2400" dirty="0">
                <a:solidFill>
                  <a:schemeClr val="tx1"/>
                </a:solidFill>
              </a:rPr>
              <a:t> postzegels </a:t>
            </a:r>
            <a:r>
              <a:rPr lang="en-US" sz="2400" i="1" dirty="0">
                <a:solidFill>
                  <a:schemeClr val="tx1"/>
                </a:solidFill>
              </a:rPr>
              <a:t>(là)</a:t>
            </a:r>
            <a:r>
              <a:rPr lang="en-US" sz="2400" dirty="0">
                <a:solidFill>
                  <a:schemeClr val="tx1"/>
                </a:solidFill>
              </a:rPr>
              <a:t> zijn voor Pieter.</a:t>
            </a:r>
            <a:endParaRPr lang="en-US" sz="2400" dirty="0"/>
          </a:p>
        </p:txBody>
      </p:sp>
      <p:sp>
        <p:nvSpPr>
          <p:cNvPr id="9" name="exercise"/>
          <p:cNvSpPr txBox="1"/>
          <p:nvPr/>
        </p:nvSpPr>
        <p:spPr>
          <a:xfrm>
            <a:off x="4320540" y="2170176"/>
            <a:ext cx="34061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Is dit </a:t>
            </a:r>
            <a:r>
              <a:rPr lang="en-US" sz="2400" b="1" dirty="0">
                <a:solidFill>
                  <a:schemeClr val="accent3"/>
                </a:solidFill>
              </a:rPr>
              <a:t>uw</a:t>
            </a:r>
            <a:r>
              <a:rPr lang="en-US" sz="2400" dirty="0">
                <a:solidFill>
                  <a:schemeClr val="tx1"/>
                </a:solidFill>
              </a:rPr>
              <a:t> paspoort, meneer? </a:t>
            </a:r>
            <a:r>
              <a:rPr lang="en-US" sz="2400" i="1" dirty="0">
                <a:solidFill>
                  <a:schemeClr val="tx1"/>
                </a:solidFill>
              </a:rPr>
              <a:t>(u)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b="1" dirty="0">
                <a:solidFill>
                  <a:schemeClr val="accent3"/>
                </a:solidFill>
              </a:rPr>
              <a:t>Ons</a:t>
            </a:r>
            <a:r>
              <a:rPr lang="en-US" sz="2400" dirty="0">
                <a:solidFill>
                  <a:schemeClr val="tx1"/>
                </a:solidFill>
              </a:rPr>
              <a:t> dossier is klaar. </a:t>
            </a:r>
            <a:r>
              <a:rPr lang="en-US" sz="2400" i="1" dirty="0">
                <a:solidFill>
                  <a:schemeClr val="tx1"/>
                </a:solidFill>
              </a:rPr>
              <a:t>(wij)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7.  </a:t>
            </a:r>
            <a:r>
              <a:rPr lang="en-US" sz="2400" b="1" dirty="0">
                <a:solidFill>
                  <a:schemeClr val="accent3"/>
                </a:solidFill>
              </a:rPr>
              <a:t>Onze</a:t>
            </a:r>
            <a:r>
              <a:rPr lang="en-US" sz="2400" dirty="0">
                <a:solidFill>
                  <a:schemeClr val="tx1"/>
                </a:solidFill>
              </a:rPr>
              <a:t> afspraak is om tien uur. </a:t>
            </a:r>
            <a:r>
              <a:rPr lang="en-US" sz="2400" i="1" dirty="0">
                <a:solidFill>
                  <a:schemeClr val="tx1"/>
                </a:solidFill>
              </a:rPr>
              <a:t>(wij)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8.  </a:t>
            </a:r>
            <a:r>
              <a:rPr lang="en-US" sz="2400" dirty="0">
                <a:solidFill>
                  <a:schemeClr val="tx1"/>
                </a:solidFill>
              </a:rPr>
              <a:t>Waar is </a:t>
            </a:r>
            <a:r>
              <a:rPr lang="en-US" sz="2400" b="1" dirty="0">
                <a:solidFill>
                  <a:schemeClr val="accent3"/>
                </a:solidFill>
              </a:rPr>
              <a:t>jouw</a:t>
            </a:r>
            <a:r>
              <a:rPr lang="en-US" sz="2400" dirty="0">
                <a:solidFill>
                  <a:schemeClr val="tx1"/>
                </a:solidFill>
              </a:rPr>
              <a:t> identiteitskaart? </a:t>
            </a:r>
            <a:r>
              <a:rPr lang="en-US" sz="2400" i="1" dirty="0">
                <a:solidFill>
                  <a:schemeClr val="tx1"/>
                </a:solidFill>
              </a:rPr>
              <a:t>(jij)</a:t>
            </a:r>
            <a:endParaRPr lang="en-US" sz="2400" dirty="0"/>
          </a:p>
        </p:txBody>
      </p:sp>
      <p:sp>
        <p:nvSpPr>
          <p:cNvPr id="10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Pluriel : toujours </a:t>
            </a:r>
            <a:r>
              <a:rPr lang="en-US" sz="1800" b="1" dirty="0">
                <a:solidFill>
                  <a:schemeClr val="tx1"/>
                </a:solidFill>
              </a:rPr>
              <a:t>deze / die</a:t>
            </a:r>
            <a:r>
              <a:rPr lang="en-US" sz="1800" dirty="0">
                <a:solidFill>
                  <a:schemeClr val="tx1"/>
                </a:solidFill>
              </a:rPr>
              <a:t> (comme les mots en </a:t>
            </a:r>
            <a:r>
              <a:rPr lang="en-US" sz="1800" b="1" dirty="0">
                <a:solidFill>
                  <a:schemeClr val="accent2"/>
                </a:solidFill>
              </a:rPr>
              <a:t>de</a:t>
            </a:r>
            <a:r>
              <a:rPr lang="en-US" sz="1800" dirty="0">
                <a:solidFill>
                  <a:schemeClr val="tx1"/>
                </a:solidFill>
              </a:rPr>
              <a:t>).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ons</a:t>
            </a:r>
            <a:r>
              <a:rPr lang="en-US" sz="1800" dirty="0">
                <a:solidFill>
                  <a:schemeClr val="tx1"/>
                </a:solidFill>
              </a:rPr>
              <a:t> seulement devant un mot en </a:t>
            </a:r>
            <a:r>
              <a:rPr lang="en-US" sz="1800" b="1" dirty="0">
                <a:solidFill>
                  <a:schemeClr val="accent4"/>
                </a:solidFill>
              </a:rPr>
              <a:t>het</a:t>
            </a:r>
            <a:r>
              <a:rPr lang="en-US" sz="1800" dirty="0">
                <a:solidFill>
                  <a:schemeClr val="tx1"/>
                </a:solidFill>
              </a:rPr>
              <a:t> au singulier : </a:t>
            </a:r>
            <a:r>
              <a:rPr lang="en-US" sz="1800" i="1" dirty="0">
                <a:solidFill>
                  <a:schemeClr val="tx1"/>
                </a:solidFill>
              </a:rPr>
              <a:t>ons dossier</a:t>
            </a:r>
            <a:r>
              <a:rPr lang="en-US" sz="1800" dirty="0">
                <a:solidFill>
                  <a:schemeClr val="tx1"/>
                </a:solidFill>
              </a:rPr>
              <a:t> · </a:t>
            </a:r>
            <a:r>
              <a:rPr lang="en-US" sz="1800" i="1" dirty="0">
                <a:solidFill>
                  <a:schemeClr val="tx1"/>
                </a:solidFill>
              </a:rPr>
              <a:t>onze afspraak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4"/>
                </a:solidFill>
              </a:rPr>
              <a:t>het</a:t>
            </a:r>
            <a:r>
              <a:rPr lang="en-US" sz="1800" dirty="0">
                <a:solidFill>
                  <a:schemeClr val="tx1"/>
                </a:solidFill>
              </a:rPr>
              <a:t> formulier · </a:t>
            </a:r>
            <a:r>
              <a:rPr lang="en-US" sz="1800" b="1" dirty="0">
                <a:solidFill>
                  <a:schemeClr val="accent4"/>
                </a:solidFill>
              </a:rPr>
              <a:t>het</a:t>
            </a:r>
            <a:r>
              <a:rPr lang="en-US" sz="1800" dirty="0">
                <a:solidFill>
                  <a:schemeClr val="tx1"/>
                </a:solidFill>
              </a:rPr>
              <a:t> loket · </a:t>
            </a:r>
            <a:r>
              <a:rPr lang="en-US" sz="1800" b="1" dirty="0">
                <a:solidFill>
                  <a:schemeClr val="accent4"/>
                </a:solidFill>
              </a:rPr>
              <a:t>het</a:t>
            </a:r>
            <a:r>
              <a:rPr lang="en-US" sz="1800" dirty="0">
                <a:solidFill>
                  <a:schemeClr val="tx1"/>
                </a:solidFill>
              </a:rPr>
              <a:t> paspoort · </a:t>
            </a:r>
            <a:r>
              <a:rPr lang="en-US" sz="1800" b="1" dirty="0">
                <a:solidFill>
                  <a:schemeClr val="accent4"/>
                </a:solidFill>
              </a:rPr>
              <a:t>het</a:t>
            </a:r>
            <a:r>
              <a:rPr lang="en-US" sz="1800" dirty="0">
                <a:solidFill>
                  <a:schemeClr val="tx1"/>
                </a:solidFill>
              </a:rPr>
              <a:t> dossier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Het meervoud : trois terminaisons, trois réflexes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59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3514344" cy="1804416"/>
          </a:xfrm>
          <a:prstGeom prst="roundRect">
            <a:avLst>
              <a:gd name="adj" fmla="val 5068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481328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801368"/>
            <a:ext cx="3514344" cy="1828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481328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-EN · LA PLUPART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084832"/>
            <a:ext cx="314858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trein → treinen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627376"/>
            <a:ext cx="3148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b="1" dirty="0">
                <a:solidFill>
                  <a:schemeClr val="accent2"/>
                </a:solidFill>
              </a:rPr>
              <a:t>de</a:t>
            </a:r>
            <a:r>
              <a:rPr lang="en-US" sz="1900" dirty="0">
                <a:solidFill>
                  <a:schemeClr val="tx1"/>
                </a:solidFill>
              </a:rPr>
              <a:t> kerk → kerken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4337304" y="1481328"/>
            <a:ext cx="3514344" cy="1804416"/>
          </a:xfrm>
          <a:prstGeom prst="roundRect">
            <a:avLst>
              <a:gd name="adj" fmla="val 5068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37304" y="1481328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/>
        </p:spPr>
      </p:sp>
      <p:sp>
        <p:nvSpPr>
          <p:cNvPr id="14" name="Shape 11"/>
          <p:cNvSpPr/>
          <p:nvPr/>
        </p:nvSpPr>
        <p:spPr>
          <a:xfrm>
            <a:off x="4337304" y="1801368"/>
            <a:ext cx="3514344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20184" y="1481328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-S · -EL -ER -EN -JE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520184" y="2084832"/>
            <a:ext cx="314858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jongen → jongens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4520184" y="2627376"/>
            <a:ext cx="3148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b="1" dirty="0">
                <a:solidFill>
                  <a:schemeClr val="accent4"/>
                </a:solidFill>
              </a:rPr>
              <a:t>het</a:t>
            </a:r>
            <a:r>
              <a:rPr lang="en-US" sz="1900" dirty="0">
                <a:solidFill>
                  <a:schemeClr val="tx1"/>
                </a:solidFill>
              </a:rPr>
              <a:t> meisje → meisjes</a:t>
            </a:r>
            <a:endParaRPr lang="en-US" sz="1900" dirty="0"/>
          </a:p>
        </p:txBody>
      </p:sp>
      <p:sp>
        <p:nvSpPr>
          <p:cNvPr id="18" name="Shape 15"/>
          <p:cNvSpPr/>
          <p:nvPr/>
        </p:nvSpPr>
        <p:spPr>
          <a:xfrm>
            <a:off x="8125968" y="1481328"/>
            <a:ext cx="3514344" cy="1804416"/>
          </a:xfrm>
          <a:prstGeom prst="roundRect">
            <a:avLst>
              <a:gd name="adj" fmla="val 5068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125968" y="1481328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20" name="Shape 17"/>
          <p:cNvSpPr/>
          <p:nvPr/>
        </p:nvSpPr>
        <p:spPr>
          <a:xfrm>
            <a:off x="8125968" y="1801368"/>
            <a:ext cx="3514344" cy="1828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08848" y="1481328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-’S · A O U I Y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308848" y="2084832"/>
            <a:ext cx="314858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auto → auto’s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8308848" y="2627376"/>
            <a:ext cx="3148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b="1" dirty="0">
                <a:solidFill>
                  <a:schemeClr val="accent2"/>
                </a:solidFill>
              </a:rPr>
              <a:t>de</a:t>
            </a:r>
            <a:r>
              <a:rPr lang="en-US" sz="1900" dirty="0">
                <a:solidFill>
                  <a:schemeClr val="tx1"/>
                </a:solidFill>
              </a:rPr>
              <a:t> euro → euro’s</a:t>
            </a:r>
            <a:endParaRPr lang="en-US" sz="1900" dirty="0"/>
          </a:p>
        </p:txBody>
      </p:sp>
      <p:sp>
        <p:nvSpPr>
          <p:cNvPr id="24" name="Shape 21"/>
          <p:cNvSpPr/>
          <p:nvPr/>
        </p:nvSpPr>
        <p:spPr>
          <a:xfrm>
            <a:off x="548640" y="3560064"/>
            <a:ext cx="3514344" cy="1804416"/>
          </a:xfrm>
          <a:prstGeom prst="roundRect">
            <a:avLst>
              <a:gd name="adj" fmla="val 5068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48640" y="3560064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/>
        </p:spPr>
      </p:sp>
      <p:sp>
        <p:nvSpPr>
          <p:cNvPr id="26" name="Shape 23"/>
          <p:cNvSpPr/>
          <p:nvPr/>
        </p:nvSpPr>
        <p:spPr>
          <a:xfrm>
            <a:off x="548640" y="3880104"/>
            <a:ext cx="3514344" cy="18288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31520" y="3560064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VOYELLE COURTE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731520" y="4163568"/>
            <a:ext cx="314858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bus → bussen</a:t>
            </a:r>
            <a:endParaRPr lang="en-US" sz="2400" dirty="0"/>
          </a:p>
        </p:txBody>
      </p:sp>
      <p:sp>
        <p:nvSpPr>
          <p:cNvPr id="29" name="Text 26"/>
          <p:cNvSpPr txBox="1"/>
          <p:nvPr/>
        </p:nvSpPr>
        <p:spPr>
          <a:xfrm>
            <a:off x="731520" y="4706112"/>
            <a:ext cx="3148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On </a:t>
            </a:r>
            <a:r>
              <a:rPr lang="en-US" sz="1900" b="1" dirty="0">
                <a:solidFill>
                  <a:schemeClr val="tx1"/>
                </a:solidFill>
              </a:rPr>
              <a:t>double</a:t>
            </a:r>
            <a:r>
              <a:rPr lang="en-US" sz="1900" dirty="0">
                <a:solidFill>
                  <a:schemeClr val="tx1"/>
                </a:solidFill>
              </a:rPr>
              <a:t> la consonne.</a:t>
            </a:r>
            <a:endParaRPr lang="en-US" sz="1900" dirty="0"/>
          </a:p>
        </p:txBody>
      </p:sp>
      <p:sp>
        <p:nvSpPr>
          <p:cNvPr id="30" name="Shape 27"/>
          <p:cNvSpPr/>
          <p:nvPr/>
        </p:nvSpPr>
        <p:spPr>
          <a:xfrm>
            <a:off x="4337304" y="3560064"/>
            <a:ext cx="3514344" cy="1804416"/>
          </a:xfrm>
          <a:prstGeom prst="roundRect">
            <a:avLst>
              <a:gd name="adj" fmla="val 5068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37304" y="3560064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4"/>
          </a:solidFill>
          <a:ln/>
        </p:spPr>
      </p:sp>
      <p:sp>
        <p:nvSpPr>
          <p:cNvPr id="32" name="Shape 29"/>
          <p:cNvSpPr/>
          <p:nvPr/>
        </p:nvSpPr>
        <p:spPr>
          <a:xfrm>
            <a:off x="4337304" y="3880104"/>
            <a:ext cx="3514344" cy="1828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520184" y="3560064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VOYELLE LONGUE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4520184" y="4163568"/>
            <a:ext cx="314858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straat → straten</a:t>
            </a:r>
            <a:endParaRPr lang="en-US" sz="2400" dirty="0"/>
          </a:p>
        </p:txBody>
      </p:sp>
      <p:sp>
        <p:nvSpPr>
          <p:cNvPr id="35" name="Text 32"/>
          <p:cNvSpPr txBox="1"/>
          <p:nvPr/>
        </p:nvSpPr>
        <p:spPr>
          <a:xfrm>
            <a:off x="4520184" y="4706112"/>
            <a:ext cx="3148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Une seule</a:t>
            </a:r>
            <a:r>
              <a:rPr lang="en-US" sz="1900" dirty="0">
                <a:solidFill>
                  <a:schemeClr val="tx1"/>
                </a:solidFill>
              </a:rPr>
              <a:t> voyelle.</a:t>
            </a:r>
            <a:endParaRPr lang="en-US" sz="1900" dirty="0"/>
          </a:p>
        </p:txBody>
      </p:sp>
      <p:sp>
        <p:nvSpPr>
          <p:cNvPr id="36" name="Shape 33"/>
          <p:cNvSpPr/>
          <p:nvPr/>
        </p:nvSpPr>
        <p:spPr>
          <a:xfrm>
            <a:off x="8125968" y="3560064"/>
            <a:ext cx="3514344" cy="1804416"/>
          </a:xfrm>
          <a:prstGeom prst="roundRect">
            <a:avLst>
              <a:gd name="adj" fmla="val 5068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8125968" y="3560064"/>
            <a:ext cx="3514344" cy="502920"/>
          </a:xfrm>
          <a:prstGeom prst="roundRect">
            <a:avLst>
              <a:gd name="adj" fmla="val 18182"/>
            </a:avLst>
          </a:prstGeom>
          <a:solidFill>
            <a:srgbClr val="6E4A9E"/>
          </a:solidFill>
          <a:ln/>
        </p:spPr>
      </p:sp>
      <p:sp>
        <p:nvSpPr>
          <p:cNvPr id="38" name="Shape 35"/>
          <p:cNvSpPr/>
          <p:nvPr/>
        </p:nvSpPr>
        <p:spPr>
          <a:xfrm>
            <a:off x="8125968" y="3880104"/>
            <a:ext cx="3514344" cy="182880"/>
          </a:xfrm>
          <a:prstGeom prst="rect">
            <a:avLst/>
          </a:prstGeom>
          <a:solidFill>
            <a:srgbClr val="6E4A9E"/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308848" y="3560064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F → V · S → Z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8308848" y="4163568"/>
            <a:ext cx="314858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6E4A9E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huis → huizen</a:t>
            </a:r>
            <a:endParaRPr lang="en-US" sz="2400" dirty="0"/>
          </a:p>
        </p:txBody>
      </p:sp>
      <p:sp>
        <p:nvSpPr>
          <p:cNvPr id="41" name="Text 38"/>
          <p:cNvSpPr txBox="1"/>
          <p:nvPr/>
        </p:nvSpPr>
        <p:spPr>
          <a:xfrm>
            <a:off x="8308848" y="4706112"/>
            <a:ext cx="3148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Irrégulier : </a:t>
            </a:r>
            <a:r>
              <a:rPr lang="en-US" sz="1900" i="1" dirty="0">
                <a:solidFill>
                  <a:schemeClr val="tx1"/>
                </a:solidFill>
              </a:rPr>
              <a:t>kind → kinderen</a:t>
            </a:r>
            <a:endParaRPr lang="en-US" sz="1900" dirty="0"/>
          </a:p>
        </p:txBody>
      </p:sp>
      <p:sp>
        <p:nvSpPr>
          <p:cNvPr id="42" name="Shape 39"/>
          <p:cNvSpPr/>
          <p:nvPr/>
        </p:nvSpPr>
        <p:spPr>
          <a:xfrm>
            <a:off x="548640" y="5565648"/>
            <a:ext cx="11091672" cy="725424"/>
          </a:xfrm>
          <a:prstGeom prst="roundRect">
            <a:avLst>
              <a:gd name="adj" fmla="val 10084"/>
            </a:avLst>
          </a:prstGeom>
          <a:solidFill>
            <a:schemeClr val="accent6">
              <a:alpha val="10000"/>
            </a:schemeClr>
          </a:solidFill>
          <a:ln w="9525">
            <a:solidFill>
              <a:schemeClr val="accent6">
                <a:alpha val="70000"/>
              </a:schemeClr>
            </a:solidFill>
            <a:prstDash val="solid"/>
          </a:ln>
        </p:spPr>
      </p:sp>
      <p:pic>
        <p:nvPicPr>
          <p:cNvPr id="4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63768"/>
            <a:ext cx="329184" cy="329184"/>
          </a:xfrm>
          <a:prstGeom prst="rect">
            <a:avLst/>
          </a:prstGeom>
        </p:spPr>
      </p:pic>
      <p:sp>
        <p:nvSpPr>
          <p:cNvPr id="44" name="Text 40"/>
          <p:cNvSpPr txBox="1"/>
          <p:nvPr/>
        </p:nvSpPr>
        <p:spPr>
          <a:xfrm>
            <a:off x="1234440" y="5602224"/>
            <a:ext cx="102870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Piège pour francophones — </a:t>
            </a:r>
            <a:r>
              <a:rPr lang="en-US" sz="1700" dirty="0">
                <a:solidFill>
                  <a:schemeClr val="tx1"/>
                </a:solidFill>
              </a:rPr>
              <a:t>Au pluriel, l’article est </a:t>
            </a:r>
            <a:r>
              <a:rPr lang="en-US" sz="1700" b="1" dirty="0">
                <a:solidFill>
                  <a:schemeClr val="tx1"/>
                </a:solidFill>
              </a:rPr>
              <a:t>toujours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en-US" sz="1700" b="1" dirty="0">
                <a:solidFill>
                  <a:schemeClr val="accent2"/>
                </a:solidFill>
              </a:rPr>
              <a:t>de</a:t>
            </a:r>
            <a:r>
              <a:rPr lang="en-US" sz="1700" dirty="0">
                <a:solidFill>
                  <a:schemeClr val="tx1"/>
                </a:solidFill>
              </a:rPr>
              <a:t> : </a:t>
            </a:r>
            <a:r>
              <a:rPr lang="en-US" sz="1700" b="1" dirty="0">
                <a:solidFill>
                  <a:schemeClr val="accent4"/>
                </a:solidFill>
              </a:rPr>
              <a:t>het</a:t>
            </a:r>
            <a:r>
              <a:rPr lang="en-US" sz="1700" dirty="0">
                <a:solidFill>
                  <a:schemeClr val="tx1"/>
                </a:solidFill>
              </a:rPr>
              <a:t> huis → </a:t>
            </a:r>
            <a:r>
              <a:rPr lang="en-US" sz="1700" b="1" dirty="0">
                <a:solidFill>
                  <a:schemeClr val="accent2"/>
                </a:solidFill>
              </a:rPr>
              <a:t>de</a:t>
            </a:r>
            <a:r>
              <a:rPr lang="en-US" sz="1700" dirty="0">
                <a:solidFill>
                  <a:schemeClr val="tx1"/>
                </a:solidFill>
              </a:rPr>
              <a:t> huizen. Et la fin du pluriel </a:t>
            </a:r>
            <a:r>
              <a:rPr lang="en-US" sz="1700" b="1" dirty="0">
                <a:solidFill>
                  <a:schemeClr val="tx1"/>
                </a:solidFill>
              </a:rPr>
              <a:t>se prononce</a:t>
            </a:r>
            <a:r>
              <a:rPr lang="en-US" sz="1700" dirty="0">
                <a:solidFill>
                  <a:schemeClr val="tx1"/>
                </a:solidFill>
              </a:rPr>
              <a:t> — pas de -s muet comme en français.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Oefening : schrijf het meervoud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59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5 min — Écrivez le pluriel </a:t>
            </a:r>
            <a:r>
              <a:rPr lang="en-US" sz="1600" b="1" i="1" dirty="0">
                <a:solidFill>
                  <a:schemeClr val="accent5"/>
                </a:solidFill>
              </a:rPr>
              <a:t>avec l’article</a:t>
            </a:r>
            <a:r>
              <a:rPr lang="en-US" sz="1600" i="1" dirty="0">
                <a:solidFill>
                  <a:schemeClr val="accent5"/>
                </a:solidFill>
              </a:rPr>
              <a:t>. Puis dites quelle règle vous avez appliquée.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b="1" dirty="0">
                <a:solidFill>
                  <a:schemeClr val="accent2"/>
                </a:solidFill>
              </a:rPr>
              <a:t>de</a:t>
            </a:r>
            <a:r>
              <a:rPr lang="en-US" sz="2400" dirty="0">
                <a:solidFill>
                  <a:schemeClr val="tx1"/>
                </a:solidFill>
              </a:rPr>
              <a:t> fles → </a:t>
            </a:r>
            <a:r>
              <a:rPr lang="en-US" sz="2400" dirty="0">
                <a:solidFill>
                  <a:schemeClr val="accent5"/>
                </a:solidFill>
              </a:rPr>
              <a:t>………………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b="1" dirty="0">
                <a:solidFill>
                  <a:schemeClr val="accent2"/>
                </a:solidFill>
              </a:rPr>
              <a:t>de</a:t>
            </a:r>
            <a:r>
              <a:rPr lang="en-US" sz="2400" dirty="0">
                <a:solidFill>
                  <a:schemeClr val="tx1"/>
                </a:solidFill>
              </a:rPr>
              <a:t> tram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b="1" dirty="0">
                <a:solidFill>
                  <a:schemeClr val="accent2"/>
                </a:solidFill>
              </a:rPr>
              <a:t>de</a:t>
            </a:r>
            <a:r>
              <a:rPr lang="en-US" sz="2400" dirty="0">
                <a:solidFill>
                  <a:schemeClr val="tx1"/>
                </a:solidFill>
              </a:rPr>
              <a:t> hand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b="1" dirty="0">
                <a:solidFill>
                  <a:schemeClr val="accent4"/>
                </a:solidFill>
              </a:rPr>
              <a:t>het</a:t>
            </a:r>
            <a:r>
              <a:rPr lang="en-US" sz="2400" dirty="0">
                <a:solidFill>
                  <a:schemeClr val="tx1"/>
                </a:solidFill>
              </a:rPr>
              <a:t> oog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b="1" dirty="0">
                <a:solidFill>
                  <a:schemeClr val="accent2"/>
                </a:solidFill>
              </a:rPr>
              <a:t>de</a:t>
            </a:r>
            <a:r>
              <a:rPr lang="en-US" sz="2400" dirty="0">
                <a:solidFill>
                  <a:schemeClr val="tx1"/>
                </a:solidFill>
              </a:rPr>
              <a:t> oma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b="1" dirty="0">
                <a:solidFill>
                  <a:schemeClr val="accent2"/>
                </a:solidFill>
              </a:rPr>
              <a:t>de</a:t>
            </a:r>
            <a:r>
              <a:rPr lang="en-US" sz="2400" dirty="0">
                <a:solidFill>
                  <a:schemeClr val="tx1"/>
                </a:solidFill>
              </a:rPr>
              <a:t> dokter → </a:t>
            </a:r>
            <a:r>
              <a:rPr lang="en-US" sz="2400" dirty="0">
                <a:solidFill>
                  <a:schemeClr val="accent5"/>
                </a:solidFill>
              </a:rPr>
              <a:t>………………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endParaRPr lang="en-US" sz="2400" dirty="0"/>
          </a:p>
        </p:txBody>
      </p:sp>
      <p:sp>
        <p:nvSpPr>
          <p:cNvPr id="8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5"/>
                </a:solidFill>
              </a:rPr>
              <a:t>RÈGLES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-en</a:t>
            </a:r>
            <a:r>
              <a:rPr lang="en-US" sz="1800" dirty="0">
                <a:solidFill>
                  <a:schemeClr val="tx1"/>
                </a:solidFill>
              </a:rPr>
              <a:t> : la plupart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-s</a:t>
            </a:r>
            <a:r>
              <a:rPr lang="en-US" sz="1800" dirty="0">
                <a:solidFill>
                  <a:schemeClr val="tx1"/>
                </a:solidFill>
              </a:rPr>
              <a:t> : -el, -er, -en, -je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-’s</a:t>
            </a:r>
            <a:r>
              <a:rPr lang="en-US" sz="1800" dirty="0">
                <a:solidFill>
                  <a:schemeClr val="tx1"/>
                </a:solidFill>
              </a:rPr>
              <a:t> : a, o, u, i, y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Voyelle courte → </a:t>
            </a:r>
            <a:r>
              <a:rPr lang="en-US" sz="1800" b="1" dirty="0">
                <a:solidFill>
                  <a:schemeClr val="tx1"/>
                </a:solidFill>
              </a:rPr>
              <a:t>double</a:t>
            </a:r>
            <a:r>
              <a:rPr lang="en-US" sz="1800" dirty="0">
                <a:solidFill>
                  <a:schemeClr val="tx1"/>
                </a:solidFill>
              </a:rPr>
              <a:t> consonne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Voyelle longue → </a:t>
            </a:r>
            <a:r>
              <a:rPr lang="en-US" sz="1800" b="1" dirty="0">
                <a:solidFill>
                  <a:schemeClr val="tx1"/>
                </a:solidFill>
              </a:rPr>
              <a:t>une</a:t>
            </a:r>
            <a:r>
              <a:rPr lang="en-US" sz="1800" dirty="0">
                <a:solidFill>
                  <a:schemeClr val="tx1"/>
                </a:solidFill>
              </a:rPr>
              <a:t> voyelle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Oefening : schrijf het meervoud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1671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59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5 min — Écrivez le pluriel </a:t>
            </a:r>
            <a:r>
              <a:rPr lang="en-US" sz="1600" b="1" i="1" dirty="0">
                <a:solidFill>
                  <a:schemeClr val="accent5"/>
                </a:solidFill>
              </a:rPr>
              <a:t>avec l’article</a:t>
            </a:r>
            <a:r>
              <a:rPr lang="en-US" sz="1600" i="1" dirty="0">
                <a:solidFill>
                  <a:schemeClr val="accent5"/>
                </a:solidFill>
              </a:rPr>
              <a:t>. Puis dites quelle règle vous avez appliquée.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b="1" dirty="0">
                <a:solidFill>
                  <a:schemeClr val="accent2"/>
                </a:solidFill>
              </a:rPr>
              <a:t>de</a:t>
            </a:r>
            <a:r>
              <a:rPr lang="en-US" sz="2400" dirty="0">
                <a:solidFill>
                  <a:schemeClr val="tx1"/>
                </a:solidFill>
              </a:rPr>
              <a:t> fles → </a:t>
            </a:r>
            <a:r>
              <a:rPr lang="en-US" sz="2400" b="1" dirty="0">
                <a:solidFill>
                  <a:schemeClr val="accent3"/>
                </a:solidFill>
              </a:rPr>
              <a:t>de flessen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chemeClr val="accent3"/>
                </a:solidFill>
              </a:rPr>
              <a:t>(e courte → ss)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b="1" dirty="0">
                <a:solidFill>
                  <a:schemeClr val="accent2"/>
                </a:solidFill>
              </a:rPr>
              <a:t>de</a:t>
            </a:r>
            <a:r>
              <a:rPr lang="en-US" sz="2400" dirty="0">
                <a:solidFill>
                  <a:schemeClr val="tx1"/>
                </a:solidFill>
              </a:rPr>
              <a:t> tram → </a:t>
            </a:r>
            <a:r>
              <a:rPr lang="en-US" sz="2400" b="1" dirty="0">
                <a:solidFill>
                  <a:schemeClr val="accent3"/>
                </a:solidFill>
              </a:rPr>
              <a:t>de trams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chemeClr val="accent3"/>
                </a:solidFill>
              </a:rPr>
              <a:t>(mot emprunté → -s)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b="1" dirty="0">
                <a:solidFill>
                  <a:schemeClr val="accent2"/>
                </a:solidFill>
              </a:rPr>
              <a:t>de</a:t>
            </a:r>
            <a:r>
              <a:rPr lang="en-US" sz="2400" dirty="0">
                <a:solidFill>
                  <a:schemeClr val="tx1"/>
                </a:solidFill>
              </a:rPr>
              <a:t> hand → </a:t>
            </a:r>
            <a:r>
              <a:rPr lang="en-US" sz="2400" b="1" dirty="0">
                <a:solidFill>
                  <a:schemeClr val="accent3"/>
                </a:solidFill>
              </a:rPr>
              <a:t>de handen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chemeClr val="accent3"/>
                </a:solidFill>
              </a:rPr>
              <a:t>(-en)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b="1" dirty="0">
                <a:solidFill>
                  <a:schemeClr val="accent4"/>
                </a:solidFill>
              </a:rPr>
              <a:t>het</a:t>
            </a:r>
            <a:r>
              <a:rPr lang="en-US" sz="2400" dirty="0">
                <a:solidFill>
                  <a:schemeClr val="tx1"/>
                </a:solidFill>
              </a:rPr>
              <a:t> oog → </a:t>
            </a:r>
            <a:r>
              <a:rPr lang="en-US" sz="2400" b="1" dirty="0">
                <a:solidFill>
                  <a:schemeClr val="accent3"/>
                </a:solidFill>
              </a:rPr>
              <a:t>de ogen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chemeClr val="accent3"/>
                </a:solidFill>
              </a:rPr>
              <a:t>(oo longue → o)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b="1" dirty="0">
                <a:solidFill>
                  <a:schemeClr val="accent2"/>
                </a:solidFill>
              </a:rPr>
              <a:t>de</a:t>
            </a:r>
            <a:r>
              <a:rPr lang="en-US" sz="2400" dirty="0">
                <a:solidFill>
                  <a:schemeClr val="tx1"/>
                </a:solidFill>
              </a:rPr>
              <a:t> oma → </a:t>
            </a:r>
            <a:r>
              <a:rPr lang="en-US" sz="2400" b="1" dirty="0">
                <a:solidFill>
                  <a:schemeClr val="accent3"/>
                </a:solidFill>
              </a:rPr>
              <a:t>de oma’s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chemeClr val="accent3"/>
                </a:solidFill>
              </a:rPr>
              <a:t>(a → -’s)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b="1" dirty="0">
                <a:solidFill>
                  <a:schemeClr val="accent2"/>
                </a:solidFill>
              </a:rPr>
              <a:t>de</a:t>
            </a:r>
            <a:r>
              <a:rPr lang="en-US" sz="2400" dirty="0">
                <a:solidFill>
                  <a:schemeClr val="tx1"/>
                </a:solidFill>
              </a:rPr>
              <a:t> dokter → </a:t>
            </a:r>
            <a:r>
              <a:rPr lang="en-US" sz="2400" b="1" dirty="0">
                <a:solidFill>
                  <a:schemeClr val="accent3"/>
                </a:solidFill>
              </a:rPr>
              <a:t>de dokters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chemeClr val="accent3"/>
                </a:solidFill>
              </a:rPr>
              <a:t>(-er → -s)</a:t>
            </a:r>
            <a:endParaRPr lang="en-US" sz="24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4"/>
                </a:solidFill>
              </a:rPr>
              <a:t>het</a:t>
            </a:r>
            <a:r>
              <a:rPr lang="en-US" sz="1800" dirty="0">
                <a:solidFill>
                  <a:schemeClr val="tx1"/>
                </a:solidFill>
              </a:rPr>
              <a:t> oog → </a:t>
            </a:r>
            <a:r>
              <a:rPr lang="en-US" sz="1800" b="1" dirty="0">
                <a:solidFill>
                  <a:schemeClr val="accent2"/>
                </a:solidFill>
              </a:rPr>
              <a:t>de</a:t>
            </a:r>
            <a:r>
              <a:rPr lang="en-US" sz="1800" dirty="0">
                <a:solidFill>
                  <a:schemeClr val="tx1"/>
                </a:solidFill>
              </a:rPr>
              <a:t> ogen : l’article devient </a:t>
            </a:r>
            <a:r>
              <a:rPr lang="en-US" sz="1800" b="1" dirty="0">
                <a:solidFill>
                  <a:schemeClr val="tx1"/>
                </a:solidFill>
              </a:rPr>
              <a:t>de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tram</a:t>
            </a:r>
            <a:r>
              <a:rPr lang="en-US" sz="1800" dirty="0">
                <a:solidFill>
                  <a:schemeClr val="tx1"/>
                </a:solidFill>
              </a:rPr>
              <a:t> : mot emprunté → </a:t>
            </a:r>
            <a:r>
              <a:rPr lang="en-US" sz="1800" b="1" dirty="0">
                <a:solidFill>
                  <a:schemeClr val="tx1"/>
                </a:solidFill>
              </a:rPr>
              <a:t>trams</a:t>
            </a:r>
            <a:r>
              <a:rPr lang="en-US" sz="1800" dirty="0">
                <a:solidFill>
                  <a:schemeClr val="tx1"/>
                </a:solidFill>
              </a:rPr>
              <a:t> (la règle -en ne marche pas).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fles</a:t>
            </a:r>
            <a:r>
              <a:rPr lang="en-US" sz="1800" dirty="0">
                <a:solidFill>
                  <a:schemeClr val="tx1"/>
                </a:solidFill>
              </a:rPr>
              <a:t> : sans double s, on lirait « flé-zen ».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Le vocabulaire du cours au pluriel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Par deux · 5 min — Mettez au pluriel les mots de la </a:t>
            </a:r>
            <a:r>
              <a:rPr lang="en-US" sz="1600" b="1" i="1" dirty="0">
                <a:solidFill>
                  <a:schemeClr val="accent5"/>
                </a:solidFill>
              </a:rPr>
              <a:t>fiche 4</a:t>
            </a:r>
            <a:r>
              <a:rPr lang="en-US" sz="1600" i="1" dirty="0">
                <a:solidFill>
                  <a:schemeClr val="accent5"/>
                </a:solidFill>
              </a:rPr>
              <a:t>. A dit le singulier, B le pluriel, puis on inverse.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34061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b="1" dirty="0">
                <a:solidFill>
                  <a:schemeClr val="accent2"/>
                </a:solidFill>
              </a:rPr>
              <a:t>de</a:t>
            </a:r>
            <a:r>
              <a:rPr lang="en-US" sz="2400" dirty="0">
                <a:solidFill>
                  <a:schemeClr val="tx1"/>
                </a:solidFill>
              </a:rPr>
              <a:t> les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b="1" dirty="0">
                <a:solidFill>
                  <a:schemeClr val="accent4"/>
                </a:solidFill>
              </a:rPr>
              <a:t>het</a:t>
            </a:r>
            <a:r>
              <a:rPr lang="en-US" sz="2400" dirty="0">
                <a:solidFill>
                  <a:schemeClr val="tx1"/>
                </a:solidFill>
              </a:rPr>
              <a:t> boek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b="1" dirty="0">
                <a:solidFill>
                  <a:schemeClr val="accent2"/>
                </a:solidFill>
              </a:rPr>
              <a:t>de</a:t>
            </a:r>
            <a:r>
              <a:rPr lang="en-US" sz="2400" dirty="0">
                <a:solidFill>
                  <a:schemeClr val="tx1"/>
                </a:solidFill>
              </a:rPr>
              <a:t> week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b="1" dirty="0">
                <a:solidFill>
                  <a:schemeClr val="accent2"/>
                </a:solidFill>
              </a:rPr>
              <a:t>de</a:t>
            </a:r>
            <a:r>
              <a:rPr lang="en-US" sz="2400" dirty="0">
                <a:solidFill>
                  <a:schemeClr val="tx1"/>
                </a:solidFill>
              </a:rPr>
              <a:t> euro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b="1" dirty="0">
                <a:solidFill>
                  <a:schemeClr val="accent4"/>
                </a:solidFill>
              </a:rPr>
              <a:t>het</a:t>
            </a:r>
            <a:r>
              <a:rPr lang="en-US" sz="2400" dirty="0">
                <a:solidFill>
                  <a:schemeClr val="tx1"/>
                </a:solidFill>
              </a:rPr>
              <a:t> klaslokaal → </a:t>
            </a:r>
            <a:r>
              <a:rPr lang="en-US" sz="2400" dirty="0">
                <a:solidFill>
                  <a:schemeClr val="accent5"/>
                </a:solidFill>
              </a:rPr>
              <a:t>……………………</a:t>
            </a:r>
            <a:endParaRPr lang="en-US" sz="2400" dirty="0"/>
          </a:p>
        </p:txBody>
      </p:sp>
      <p:sp>
        <p:nvSpPr>
          <p:cNvPr id="8" name="exercise"/>
          <p:cNvSpPr txBox="1"/>
          <p:nvPr/>
        </p:nvSpPr>
        <p:spPr>
          <a:xfrm>
            <a:off x="4320540" y="2170176"/>
            <a:ext cx="34061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b="1" dirty="0">
                <a:solidFill>
                  <a:schemeClr val="accent2"/>
                </a:solidFill>
              </a:rPr>
              <a:t>de</a:t>
            </a:r>
            <a:r>
              <a:rPr lang="en-US" sz="2400" dirty="0">
                <a:solidFill>
                  <a:schemeClr val="tx1"/>
                </a:solidFill>
              </a:rPr>
              <a:t> cursus → </a:t>
            </a:r>
            <a:r>
              <a:rPr lang="en-US" sz="2400" dirty="0">
                <a:solidFill>
                  <a:schemeClr val="accent5"/>
                </a:solidFill>
              </a:rPr>
              <a:t>…………………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7.  </a:t>
            </a:r>
            <a:r>
              <a:rPr lang="en-US" sz="2400" b="1" dirty="0">
                <a:solidFill>
                  <a:schemeClr val="accent2"/>
                </a:solidFill>
              </a:rPr>
              <a:t>de</a:t>
            </a:r>
            <a:r>
              <a:rPr lang="en-US" sz="2400" dirty="0">
                <a:solidFill>
                  <a:schemeClr val="tx1"/>
                </a:solidFill>
              </a:rPr>
              <a:t> leraar → </a:t>
            </a:r>
            <a:r>
              <a:rPr lang="en-US" sz="2400" dirty="0">
                <a:solidFill>
                  <a:schemeClr val="accent5"/>
                </a:solidFill>
              </a:rPr>
              <a:t>………………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8.  </a:t>
            </a:r>
            <a:r>
              <a:rPr lang="en-US" sz="2400" b="1" dirty="0">
                <a:solidFill>
                  <a:schemeClr val="accent4"/>
                </a:solidFill>
              </a:rPr>
              <a:t>het</a:t>
            </a:r>
            <a:r>
              <a:rPr lang="en-US" sz="2400" dirty="0">
                <a:solidFill>
                  <a:schemeClr val="tx1"/>
                </a:solidFill>
              </a:rPr>
              <a:t> oefenboek → </a:t>
            </a:r>
            <a:r>
              <a:rPr lang="en-US" sz="2400" dirty="0">
                <a:solidFill>
                  <a:schemeClr val="accent5"/>
                </a:solidFill>
              </a:rPr>
              <a:t>……………………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9.  </a:t>
            </a:r>
            <a:r>
              <a:rPr lang="en-US" sz="2400" b="1" dirty="0">
                <a:solidFill>
                  <a:schemeClr val="accent4"/>
                </a:solidFill>
              </a:rPr>
              <a:t>het</a:t>
            </a:r>
            <a:r>
              <a:rPr lang="en-US" sz="2400" dirty="0">
                <a:solidFill>
                  <a:schemeClr val="tx1"/>
                </a:solidFill>
              </a:rPr>
              <a:t> kind → </a:t>
            </a:r>
            <a:r>
              <a:rPr lang="en-US" sz="2400" dirty="0">
                <a:solidFill>
                  <a:schemeClr val="accent5"/>
                </a:solidFill>
              </a:rPr>
              <a:t>………………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10.  </a:t>
            </a:r>
            <a:r>
              <a:rPr lang="en-US" sz="2400" b="1" dirty="0">
                <a:solidFill>
                  <a:schemeClr val="accent2"/>
                </a:solidFill>
              </a:rPr>
              <a:t>de</a:t>
            </a:r>
            <a:r>
              <a:rPr lang="en-US" sz="2400" dirty="0">
                <a:solidFill>
                  <a:schemeClr val="tx1"/>
                </a:solidFill>
              </a:rPr>
              <a:t> taal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Le vocabulaire du cours au pluriel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Par deux · 5 min — Mettez au pluriel les mots de la </a:t>
            </a:r>
            <a:r>
              <a:rPr lang="en-US" sz="1600" b="1" i="1" dirty="0">
                <a:solidFill>
                  <a:schemeClr val="accent5"/>
                </a:solidFill>
              </a:rPr>
              <a:t>fiche 4</a:t>
            </a:r>
            <a:r>
              <a:rPr lang="en-US" sz="1600" i="1" dirty="0">
                <a:solidFill>
                  <a:schemeClr val="accent5"/>
                </a:solidFill>
              </a:rPr>
              <a:t>. A dit le singulier, B le pluriel, puis on inverse.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2170176"/>
            <a:ext cx="34061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b="1" dirty="0">
                <a:solidFill>
                  <a:schemeClr val="accent2"/>
                </a:solidFill>
              </a:rPr>
              <a:t>de</a:t>
            </a:r>
            <a:r>
              <a:rPr lang="en-US" sz="2400" dirty="0">
                <a:solidFill>
                  <a:schemeClr val="tx1"/>
                </a:solidFill>
              </a:rPr>
              <a:t> les → </a:t>
            </a:r>
            <a:r>
              <a:rPr lang="en-US" sz="2400" b="1" dirty="0">
                <a:solidFill>
                  <a:schemeClr val="accent3"/>
                </a:solidFill>
              </a:rPr>
              <a:t>de lessen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b="1" dirty="0">
                <a:solidFill>
                  <a:schemeClr val="accent4"/>
                </a:solidFill>
              </a:rPr>
              <a:t>het</a:t>
            </a:r>
            <a:r>
              <a:rPr lang="en-US" sz="2400" dirty="0">
                <a:solidFill>
                  <a:schemeClr val="tx1"/>
                </a:solidFill>
              </a:rPr>
              <a:t> boek → </a:t>
            </a:r>
            <a:r>
              <a:rPr lang="en-US" sz="2400" b="1" dirty="0">
                <a:solidFill>
                  <a:schemeClr val="accent3"/>
                </a:solidFill>
              </a:rPr>
              <a:t>de boeken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b="1" dirty="0">
                <a:solidFill>
                  <a:schemeClr val="accent2"/>
                </a:solidFill>
              </a:rPr>
              <a:t>de</a:t>
            </a:r>
            <a:r>
              <a:rPr lang="en-US" sz="2400" dirty="0">
                <a:solidFill>
                  <a:schemeClr val="tx1"/>
                </a:solidFill>
              </a:rPr>
              <a:t> week → </a:t>
            </a:r>
            <a:r>
              <a:rPr lang="en-US" sz="2400" b="1" dirty="0">
                <a:solidFill>
                  <a:schemeClr val="accent3"/>
                </a:solidFill>
              </a:rPr>
              <a:t>de weken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b="1" dirty="0">
                <a:solidFill>
                  <a:schemeClr val="accent2"/>
                </a:solidFill>
              </a:rPr>
              <a:t>de</a:t>
            </a:r>
            <a:r>
              <a:rPr lang="en-US" sz="2400" dirty="0">
                <a:solidFill>
                  <a:schemeClr val="tx1"/>
                </a:solidFill>
              </a:rPr>
              <a:t> euro → </a:t>
            </a:r>
            <a:r>
              <a:rPr lang="en-US" sz="2400" b="1" dirty="0">
                <a:solidFill>
                  <a:schemeClr val="accent3"/>
                </a:solidFill>
              </a:rPr>
              <a:t>de euro’s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b="1" dirty="0">
                <a:solidFill>
                  <a:schemeClr val="accent4"/>
                </a:solidFill>
              </a:rPr>
              <a:t>het</a:t>
            </a:r>
            <a:r>
              <a:rPr lang="en-US" sz="2400" dirty="0">
                <a:solidFill>
                  <a:schemeClr val="tx1"/>
                </a:solidFill>
              </a:rPr>
              <a:t> klaslokaal → </a:t>
            </a:r>
            <a:r>
              <a:rPr lang="en-US" sz="2400" b="1" dirty="0">
                <a:solidFill>
                  <a:schemeClr val="accent3"/>
                </a:solidFill>
              </a:rPr>
              <a:t>de klaslokalen</a:t>
            </a:r>
            <a:endParaRPr lang="en-US" sz="2400" dirty="0"/>
          </a:p>
        </p:txBody>
      </p:sp>
      <p:sp>
        <p:nvSpPr>
          <p:cNvPr id="9" name="exercise"/>
          <p:cNvSpPr txBox="1"/>
          <p:nvPr/>
        </p:nvSpPr>
        <p:spPr>
          <a:xfrm>
            <a:off x="4320540" y="2170176"/>
            <a:ext cx="34061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b="1" dirty="0">
                <a:solidFill>
                  <a:schemeClr val="accent2"/>
                </a:solidFill>
              </a:rPr>
              <a:t>de</a:t>
            </a:r>
            <a:r>
              <a:rPr lang="en-US" sz="2400" dirty="0">
                <a:solidFill>
                  <a:schemeClr val="tx1"/>
                </a:solidFill>
              </a:rPr>
              <a:t> cursus → </a:t>
            </a:r>
            <a:r>
              <a:rPr lang="en-US" sz="2400" b="1" dirty="0">
                <a:solidFill>
                  <a:schemeClr val="accent3"/>
                </a:solidFill>
              </a:rPr>
              <a:t>de cursussen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7.  </a:t>
            </a:r>
            <a:r>
              <a:rPr lang="en-US" sz="2400" b="1" dirty="0">
                <a:solidFill>
                  <a:schemeClr val="accent2"/>
                </a:solidFill>
              </a:rPr>
              <a:t>de</a:t>
            </a:r>
            <a:r>
              <a:rPr lang="en-US" sz="2400" dirty="0">
                <a:solidFill>
                  <a:schemeClr val="tx1"/>
                </a:solidFill>
              </a:rPr>
              <a:t> leraar → </a:t>
            </a:r>
            <a:r>
              <a:rPr lang="en-US" sz="2400" b="1" dirty="0">
                <a:solidFill>
                  <a:schemeClr val="accent3"/>
                </a:solidFill>
              </a:rPr>
              <a:t>de leraren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8.  </a:t>
            </a:r>
            <a:r>
              <a:rPr lang="en-US" sz="2400" b="1" dirty="0">
                <a:solidFill>
                  <a:schemeClr val="accent4"/>
                </a:solidFill>
              </a:rPr>
              <a:t>het</a:t>
            </a:r>
            <a:r>
              <a:rPr lang="en-US" sz="2400" dirty="0">
                <a:solidFill>
                  <a:schemeClr val="tx1"/>
                </a:solidFill>
              </a:rPr>
              <a:t> oefenboek → </a:t>
            </a:r>
            <a:r>
              <a:rPr lang="en-US" sz="2400" b="1" dirty="0">
                <a:solidFill>
                  <a:schemeClr val="accent3"/>
                </a:solidFill>
              </a:rPr>
              <a:t>de oefenboeken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9.  </a:t>
            </a:r>
            <a:r>
              <a:rPr lang="en-US" sz="2400" b="1" dirty="0">
                <a:solidFill>
                  <a:schemeClr val="accent4"/>
                </a:solidFill>
              </a:rPr>
              <a:t>het</a:t>
            </a:r>
            <a:r>
              <a:rPr lang="en-US" sz="2400" dirty="0">
                <a:solidFill>
                  <a:schemeClr val="tx1"/>
                </a:solidFill>
              </a:rPr>
              <a:t> kind → </a:t>
            </a:r>
            <a:r>
              <a:rPr lang="en-US" sz="2400" b="1" dirty="0">
                <a:solidFill>
                  <a:schemeClr val="accent3"/>
                </a:solidFill>
              </a:rPr>
              <a:t>de kinderen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10.  </a:t>
            </a:r>
            <a:r>
              <a:rPr lang="en-US" sz="2400" b="1" dirty="0">
                <a:solidFill>
                  <a:schemeClr val="accent2"/>
                </a:solidFill>
              </a:rPr>
              <a:t>de</a:t>
            </a:r>
            <a:r>
              <a:rPr lang="en-US" sz="2400" dirty="0">
                <a:solidFill>
                  <a:schemeClr val="tx1"/>
                </a:solidFill>
              </a:rPr>
              <a:t> taal → </a:t>
            </a:r>
            <a:r>
              <a:rPr lang="en-US" sz="2400" b="1" dirty="0">
                <a:solidFill>
                  <a:schemeClr val="accent3"/>
                </a:solidFill>
              </a:rPr>
              <a:t>de talen</a:t>
            </a:r>
            <a:endParaRPr lang="en-US" sz="2400" dirty="0"/>
          </a:p>
        </p:txBody>
      </p:sp>
      <p:sp>
        <p:nvSpPr>
          <p:cNvPr id="10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Après un nombre, </a:t>
            </a:r>
            <a:r>
              <a:rPr lang="en-US" sz="1800" i="1" dirty="0">
                <a:solidFill>
                  <a:schemeClr val="tx1"/>
                </a:solidFill>
              </a:rPr>
              <a:t>euro</a:t>
            </a:r>
            <a:r>
              <a:rPr lang="en-US" sz="1800" dirty="0">
                <a:solidFill>
                  <a:schemeClr val="tx1"/>
                </a:solidFill>
              </a:rPr>
              <a:t>, </a:t>
            </a:r>
            <a:r>
              <a:rPr lang="en-US" sz="1800" i="1" dirty="0">
                <a:solidFill>
                  <a:schemeClr val="tx1"/>
                </a:solidFill>
              </a:rPr>
              <a:t>uur</a:t>
            </a:r>
            <a:r>
              <a:rPr lang="en-US" sz="1800" dirty="0">
                <a:solidFill>
                  <a:schemeClr val="tx1"/>
                </a:solidFill>
              </a:rPr>
              <a:t>, </a:t>
            </a:r>
            <a:r>
              <a:rPr lang="en-US" sz="1800" i="1" dirty="0">
                <a:solidFill>
                  <a:schemeClr val="tx1"/>
                </a:solidFill>
              </a:rPr>
              <a:t>jaar</a:t>
            </a:r>
            <a:r>
              <a:rPr lang="en-US" sz="1800" dirty="0">
                <a:solidFill>
                  <a:schemeClr val="tx1"/>
                </a:solidFill>
              </a:rPr>
              <a:t> restent au </a:t>
            </a:r>
            <a:r>
              <a:rPr lang="en-US" sz="1800" b="1" dirty="0">
                <a:solidFill>
                  <a:schemeClr val="tx1"/>
                </a:solidFill>
              </a:rPr>
              <a:t>singulier</a:t>
            </a:r>
            <a:r>
              <a:rPr lang="en-US" sz="1800" dirty="0">
                <a:solidFill>
                  <a:schemeClr val="tx1"/>
                </a:solidFill>
              </a:rPr>
              <a:t> : </a:t>
            </a:r>
            <a:r>
              <a:rPr lang="en-US" sz="1800" i="1" dirty="0">
                <a:solidFill>
                  <a:schemeClr val="tx1"/>
                </a:solidFill>
              </a:rPr>
              <a:t>120 euro</a:t>
            </a:r>
            <a:r>
              <a:rPr lang="en-US" sz="1800" dirty="0">
                <a:solidFill>
                  <a:schemeClr val="tx1"/>
                </a:solidFill>
              </a:rPr>
              <a:t>, </a:t>
            </a:r>
            <a:r>
              <a:rPr lang="en-US" sz="1800" i="1" dirty="0">
                <a:solidFill>
                  <a:schemeClr val="tx1"/>
                </a:solidFill>
              </a:rPr>
              <a:t>drie uur</a:t>
            </a:r>
            <a:r>
              <a:rPr lang="en-US" sz="1800" dirty="0">
                <a:solidFill>
                  <a:schemeClr val="tx1"/>
                </a:solidFill>
              </a:rPr>
              <a:t> — mais </a:t>
            </a:r>
            <a:r>
              <a:rPr lang="en-US" sz="1800" i="1" dirty="0">
                <a:solidFill>
                  <a:schemeClr val="tx1"/>
                </a:solidFill>
              </a:rPr>
              <a:t>tien </a:t>
            </a:r>
            <a:r>
              <a:rPr lang="en-US" sz="1800" b="1" i="1" dirty="0">
                <a:solidFill>
                  <a:schemeClr val="tx1"/>
                </a:solidFill>
              </a:rPr>
              <a:t>weken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leraren</a:t>
            </a:r>
            <a:r>
              <a:rPr lang="en-US" sz="1800" dirty="0">
                <a:solidFill>
                  <a:schemeClr val="tx1"/>
                </a:solidFill>
              </a:rPr>
              <a:t> ou </a:t>
            </a:r>
            <a:r>
              <a:rPr lang="en-US" sz="1800" i="1" dirty="0">
                <a:solidFill>
                  <a:schemeClr val="tx1"/>
                </a:solidFill>
              </a:rPr>
              <a:t>leraars</a:t>
            </a:r>
            <a:r>
              <a:rPr lang="en-US" sz="1800" dirty="0">
                <a:solidFill>
                  <a:schemeClr val="tx1"/>
                </a:solidFill>
              </a:rPr>
              <a:t> : les deux sont corrects.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4"/>
                </a:solidFill>
              </a:rPr>
              <a:t>het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b="1" dirty="0">
                <a:solidFill>
                  <a:schemeClr val="accent2"/>
                </a:solidFill>
              </a:rPr>
              <a:t>de</a:t>
            </a:r>
            <a:r>
              <a:rPr lang="en-US" sz="1800" dirty="0">
                <a:solidFill>
                  <a:schemeClr val="tx1"/>
                </a:solidFill>
              </a:rPr>
              <a:t> au pluriel, toujours.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Het adjectief : -e ou pas de -e 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61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3514344" cy="3883152"/>
          </a:xfrm>
          <a:prstGeom prst="roundRect">
            <a:avLst>
              <a:gd name="adj" fmla="val 260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481328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801368"/>
            <a:ext cx="3514344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481328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APRÈS LE VERBE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084832"/>
            <a:ext cx="314858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 auto is rood.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627376"/>
            <a:ext cx="3148584" cy="2627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Après </a:t>
            </a:r>
            <a:r>
              <a:rPr lang="en-US" sz="2000" i="1" dirty="0">
                <a:solidFill>
                  <a:schemeClr val="tx1"/>
                </a:solidFill>
              </a:rPr>
              <a:t>is, zijn</a:t>
            </a:r>
            <a:r>
              <a:rPr lang="en-US" sz="2000" dirty="0">
                <a:solidFill>
                  <a:schemeClr val="tx1"/>
                </a:solidFill>
              </a:rPr>
              <a:t> : </a:t>
            </a:r>
            <a:r>
              <a:rPr lang="en-US" sz="2000" b="1" dirty="0">
                <a:solidFill>
                  <a:schemeClr val="tx1"/>
                </a:solidFill>
              </a:rPr>
              <a:t>jamais</a:t>
            </a:r>
            <a:r>
              <a:rPr lang="en-US" sz="2000" dirty="0">
                <a:solidFill>
                  <a:schemeClr val="tx1"/>
                </a:solidFill>
              </a:rPr>
              <a:t> de -e.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Het huis is groot.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De frieten zijn lekker.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337304" y="1481328"/>
            <a:ext cx="3514344" cy="3883152"/>
          </a:xfrm>
          <a:prstGeom prst="roundRect">
            <a:avLst>
              <a:gd name="adj" fmla="val 260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37304" y="1481328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/>
        </p:spPr>
      </p:sp>
      <p:sp>
        <p:nvSpPr>
          <p:cNvPr id="14" name="Shape 11"/>
          <p:cNvSpPr/>
          <p:nvPr/>
        </p:nvSpPr>
        <p:spPr>
          <a:xfrm>
            <a:off x="4337304" y="1801368"/>
            <a:ext cx="3514344" cy="1828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20184" y="1481328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DEVANT LE NOM : -E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520184" y="2084832"/>
            <a:ext cx="314858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 rode auto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4520184" y="2627376"/>
            <a:ext cx="3148584" cy="2627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Devant le nom : </a:t>
            </a:r>
            <a:r>
              <a:rPr lang="en-US" sz="2000" b="1" dirty="0">
                <a:solidFill>
                  <a:schemeClr val="tx1"/>
                </a:solidFill>
              </a:rPr>
              <a:t>-e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het grote huis</a:t>
            </a:r>
            <a:r>
              <a:rPr lang="en-US" sz="2000" dirty="0">
                <a:solidFill>
                  <a:schemeClr val="tx1"/>
                </a:solidFill>
              </a:rPr>
              <a:t> · </a:t>
            </a:r>
            <a:r>
              <a:rPr lang="en-US" sz="2000" i="1" dirty="0">
                <a:solidFill>
                  <a:schemeClr val="tx1"/>
                </a:solidFill>
              </a:rPr>
              <a:t>grote huizen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Orthographe : </a:t>
            </a:r>
            <a:r>
              <a:rPr lang="en-US" sz="2000" i="1" dirty="0">
                <a:solidFill>
                  <a:schemeClr val="tx1"/>
                </a:solidFill>
              </a:rPr>
              <a:t>rood → rode</a:t>
            </a:r>
            <a:r>
              <a:rPr lang="en-US" sz="2000" dirty="0">
                <a:solidFill>
                  <a:schemeClr val="tx1"/>
                </a:solidFill>
              </a:rPr>
              <a:t>, </a:t>
            </a:r>
            <a:r>
              <a:rPr lang="en-US" sz="2000" i="1" dirty="0">
                <a:solidFill>
                  <a:schemeClr val="tx1"/>
                </a:solidFill>
              </a:rPr>
              <a:t>snel → snelle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8125968" y="1481328"/>
            <a:ext cx="3514344" cy="3883152"/>
          </a:xfrm>
          <a:prstGeom prst="roundRect">
            <a:avLst>
              <a:gd name="adj" fmla="val 260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125968" y="1481328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4"/>
          </a:solidFill>
          <a:ln/>
        </p:spPr>
      </p:sp>
      <p:sp>
        <p:nvSpPr>
          <p:cNvPr id="20" name="Shape 17"/>
          <p:cNvSpPr/>
          <p:nvPr/>
        </p:nvSpPr>
        <p:spPr>
          <a:xfrm>
            <a:off x="8125968" y="1801368"/>
            <a:ext cx="3514344" cy="1828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08848" y="1481328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EXCEPTION : PAS DE -E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308848" y="2084832"/>
            <a:ext cx="314858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een groot huis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8308848" y="2627376"/>
            <a:ext cx="3148584" cy="2627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① mot en </a:t>
            </a:r>
            <a:r>
              <a:rPr lang="en-US" sz="2000" b="1" dirty="0">
                <a:solidFill>
                  <a:schemeClr val="accent4"/>
                </a:solidFill>
              </a:rPr>
              <a:t>het</a:t>
            </a:r>
            <a:r>
              <a:rPr lang="en-US" sz="2000" dirty="0">
                <a:solidFill>
                  <a:schemeClr val="tx1"/>
                </a:solidFill>
              </a:rPr>
              <a:t> + ② </a:t>
            </a:r>
            <a:r>
              <a:rPr lang="en-US" sz="2000" b="1" dirty="0">
                <a:solidFill>
                  <a:schemeClr val="tx1"/>
                </a:solidFill>
              </a:rPr>
              <a:t>een / geen</a:t>
            </a:r>
            <a:r>
              <a:rPr lang="en-US" sz="2000" dirty="0">
                <a:solidFill>
                  <a:schemeClr val="tx1"/>
                </a:solidFill>
              </a:rPr>
              <a:t> + ③ </a:t>
            </a:r>
            <a:r>
              <a:rPr lang="en-US" sz="2000" b="1" dirty="0">
                <a:solidFill>
                  <a:schemeClr val="tx1"/>
                </a:solidFill>
              </a:rPr>
              <a:t>singulier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een groot huis</a:t>
            </a:r>
            <a:r>
              <a:rPr lang="en-US" sz="2000" dirty="0">
                <a:solidFill>
                  <a:schemeClr val="tx1"/>
                </a:solidFill>
              </a:rPr>
              <a:t> mais </a:t>
            </a:r>
            <a:r>
              <a:rPr lang="en-US" sz="2000" i="1" dirty="0">
                <a:solidFill>
                  <a:schemeClr val="tx1"/>
                </a:solidFill>
              </a:rPr>
              <a:t>een grote man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Sans article aussi : </a:t>
            </a:r>
            <a:r>
              <a:rPr lang="en-US" sz="2000" i="1" dirty="0">
                <a:solidFill>
                  <a:schemeClr val="tx1"/>
                </a:solidFill>
              </a:rPr>
              <a:t>koud water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548640" y="5565648"/>
            <a:ext cx="11091672" cy="725424"/>
          </a:xfrm>
          <a:prstGeom prst="roundRect">
            <a:avLst>
              <a:gd name="adj" fmla="val 10084"/>
            </a:avLst>
          </a:prstGeom>
          <a:solidFill>
            <a:schemeClr val="accent6">
              <a:alpha val="10000"/>
            </a:schemeClr>
          </a:solidFill>
          <a:ln w="9525">
            <a:solidFill>
              <a:schemeClr val="accent6">
                <a:alpha val="70000"/>
              </a:schemeClr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63768"/>
            <a:ext cx="329184" cy="329184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1234440" y="5602224"/>
            <a:ext cx="102870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Piège pour francophones — </a:t>
            </a:r>
            <a:r>
              <a:rPr lang="en-US" sz="1700" dirty="0">
                <a:solidFill>
                  <a:schemeClr val="tx1"/>
                </a:solidFill>
              </a:rPr>
              <a:t>En français, l’adjectif suit souvent le nom : </a:t>
            </a:r>
            <a:r>
              <a:rPr lang="en-US" sz="1700" i="1" dirty="0">
                <a:solidFill>
                  <a:schemeClr val="tx1"/>
                </a:solidFill>
              </a:rPr>
              <a:t>une voiture </a:t>
            </a:r>
            <a:r>
              <a:rPr lang="en-US" sz="1700" b="1" i="1" dirty="0">
                <a:solidFill>
                  <a:schemeClr val="tx1"/>
                </a:solidFill>
              </a:rPr>
              <a:t>rouge</a:t>
            </a:r>
            <a:r>
              <a:rPr lang="en-US" sz="1700" dirty="0">
                <a:solidFill>
                  <a:schemeClr val="tx1"/>
                </a:solidFill>
              </a:rPr>
              <a:t>. En néerlandais, il est </a:t>
            </a:r>
            <a:r>
              <a:rPr lang="en-US" sz="1700" b="1" dirty="0">
                <a:solidFill>
                  <a:schemeClr val="tx1"/>
                </a:solidFill>
              </a:rPr>
              <a:t>toujours avant</a:t>
            </a:r>
            <a:r>
              <a:rPr lang="en-US" sz="1700" dirty="0">
                <a:solidFill>
                  <a:schemeClr val="tx1"/>
                </a:solidFill>
              </a:rPr>
              <a:t> le nom : </a:t>
            </a:r>
            <a:r>
              <a:rPr lang="en-US" sz="1700" i="1" dirty="0">
                <a:solidFill>
                  <a:schemeClr val="tx1"/>
                </a:solidFill>
              </a:rPr>
              <a:t>een </a:t>
            </a:r>
            <a:r>
              <a:rPr lang="en-US" sz="1700" b="1" i="1" dirty="0">
                <a:solidFill>
                  <a:schemeClr val="tx1"/>
                </a:solidFill>
              </a:rPr>
              <a:t>rode</a:t>
            </a:r>
            <a:r>
              <a:rPr lang="en-US" sz="1700" i="1" dirty="0">
                <a:solidFill>
                  <a:schemeClr val="tx1"/>
                </a:solidFill>
              </a:rPr>
              <a:t> auto</a:t>
            </a:r>
            <a:r>
              <a:rPr lang="en-US" sz="1700" dirty="0">
                <a:solidFill>
                  <a:schemeClr val="tx1"/>
                </a:solidFill>
              </a:rPr>
              <a:t> (✗ </a:t>
            </a:r>
            <a:r>
              <a:rPr lang="en-US" sz="1700" i="1" dirty="0">
                <a:solidFill>
                  <a:schemeClr val="tx1"/>
                </a:solidFill>
              </a:rPr>
              <a:t>een auto rode</a:t>
            </a:r>
            <a:r>
              <a:rPr lang="en-US" sz="1700" dirty="0">
                <a:solidFill>
                  <a:schemeClr val="tx1"/>
                </a:solidFill>
              </a:rPr>
              <a:t>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Oefening : met of zonder -e?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61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5 min — Écrivez l’adjectif entre parenthèses, </a:t>
            </a:r>
            <a:r>
              <a:rPr lang="en-US" sz="1600" b="1" i="1" dirty="0">
                <a:solidFill>
                  <a:schemeClr val="accent5"/>
                </a:solidFill>
              </a:rPr>
              <a:t>avec ou sans -e</a:t>
            </a:r>
            <a:r>
              <a:rPr lang="en-US" sz="1600" i="1" dirty="0">
                <a:solidFill>
                  <a:schemeClr val="accent5"/>
                </a:solidFill>
              </a:rPr>
              <a:t>, puis justifiez.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1.  </a:t>
            </a:r>
            <a:r>
              <a:rPr lang="en-US" sz="2100" dirty="0">
                <a:solidFill>
                  <a:schemeClr val="tx1"/>
                </a:solidFill>
              </a:rPr>
              <a:t>een … kind </a:t>
            </a:r>
            <a:r>
              <a:rPr lang="en-US" sz="2100" i="1" dirty="0">
                <a:solidFill>
                  <a:schemeClr val="tx1"/>
                </a:solidFill>
              </a:rPr>
              <a:t>(klein)</a:t>
            </a:r>
            <a:r>
              <a:rPr lang="en-US" sz="2100" dirty="0">
                <a:solidFill>
                  <a:schemeClr val="tx1"/>
                </a:solidFill>
              </a:rPr>
              <a:t> → </a:t>
            </a:r>
            <a:r>
              <a:rPr lang="en-US" sz="2100" dirty="0">
                <a:solidFill>
                  <a:schemeClr val="accent5"/>
                </a:solidFill>
              </a:rPr>
              <a:t>……………………</a:t>
            </a:r>
            <a:r>
              <a:rPr lang="en-US" sz="2100" dirty="0">
                <a:solidFill>
                  <a:schemeClr val="tx1"/>
                </a:solidFill>
              </a:rPr>
              <a:t> </a:t>
            </a:r>
            <a:endParaRPr lang="en-US" sz="2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2.  </a:t>
            </a:r>
            <a:r>
              <a:rPr lang="en-US" sz="2100" dirty="0">
                <a:solidFill>
                  <a:schemeClr val="tx1"/>
                </a:solidFill>
              </a:rPr>
              <a:t>de … trein </a:t>
            </a:r>
            <a:r>
              <a:rPr lang="en-US" sz="2100" i="1" dirty="0">
                <a:solidFill>
                  <a:schemeClr val="tx1"/>
                </a:solidFill>
              </a:rPr>
              <a:t>(snel)</a:t>
            </a:r>
            <a:r>
              <a:rPr lang="en-US" sz="2100" dirty="0">
                <a:solidFill>
                  <a:schemeClr val="tx1"/>
                </a:solidFill>
              </a:rPr>
              <a:t> → </a:t>
            </a:r>
            <a:r>
              <a:rPr lang="en-US" sz="2100" dirty="0">
                <a:solidFill>
                  <a:schemeClr val="accent5"/>
                </a:solidFill>
              </a:rPr>
              <a:t>……………………</a:t>
            </a:r>
            <a:r>
              <a:rPr lang="en-US" sz="2100" dirty="0">
                <a:solidFill>
                  <a:schemeClr val="tx1"/>
                </a:solidFill>
              </a:rPr>
              <a:t> </a:t>
            </a:r>
            <a:endParaRPr lang="en-US" sz="2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3.  </a:t>
            </a:r>
            <a:r>
              <a:rPr lang="en-US" sz="2100" dirty="0">
                <a:solidFill>
                  <a:schemeClr val="tx1"/>
                </a:solidFill>
              </a:rPr>
              <a:t>… water </a:t>
            </a:r>
            <a:r>
              <a:rPr lang="en-US" sz="2100" i="1" dirty="0">
                <a:solidFill>
                  <a:schemeClr val="tx1"/>
                </a:solidFill>
              </a:rPr>
              <a:t>(koud)</a:t>
            </a:r>
            <a:r>
              <a:rPr lang="en-US" sz="2100" dirty="0">
                <a:solidFill>
                  <a:schemeClr val="tx1"/>
                </a:solidFill>
              </a:rPr>
              <a:t> → </a:t>
            </a:r>
            <a:r>
              <a:rPr lang="en-US" sz="2100" dirty="0">
                <a:solidFill>
                  <a:schemeClr val="accent5"/>
                </a:solidFill>
              </a:rPr>
              <a:t>………………</a:t>
            </a:r>
            <a:r>
              <a:rPr lang="en-US" sz="2100" dirty="0">
                <a:solidFill>
                  <a:schemeClr val="tx1"/>
                </a:solidFill>
              </a:rPr>
              <a:t> </a:t>
            </a:r>
            <a:endParaRPr lang="en-US" sz="2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4.  </a:t>
            </a:r>
            <a:r>
              <a:rPr lang="en-US" sz="2100" dirty="0">
                <a:solidFill>
                  <a:schemeClr val="tx1"/>
                </a:solidFill>
              </a:rPr>
              <a:t>een … fiets </a:t>
            </a:r>
            <a:r>
              <a:rPr lang="en-US" sz="2100" i="1" dirty="0">
                <a:solidFill>
                  <a:schemeClr val="tx1"/>
                </a:solidFill>
              </a:rPr>
              <a:t>(nieuw)</a:t>
            </a:r>
            <a:r>
              <a:rPr lang="en-US" sz="2100" dirty="0">
                <a:solidFill>
                  <a:schemeClr val="tx1"/>
                </a:solidFill>
              </a:rPr>
              <a:t> → </a:t>
            </a:r>
            <a:r>
              <a:rPr lang="en-US" sz="2100" dirty="0">
                <a:solidFill>
                  <a:schemeClr val="accent5"/>
                </a:solidFill>
              </a:rPr>
              <a:t>………………………</a:t>
            </a:r>
            <a:r>
              <a:rPr lang="en-US" sz="2100" dirty="0">
                <a:solidFill>
                  <a:schemeClr val="tx1"/>
                </a:solidFill>
              </a:rPr>
              <a:t> </a:t>
            </a:r>
            <a:endParaRPr lang="en-US" sz="2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5.  </a:t>
            </a:r>
            <a:r>
              <a:rPr lang="en-US" sz="2100" dirty="0">
                <a:solidFill>
                  <a:schemeClr val="tx1"/>
                </a:solidFill>
              </a:rPr>
              <a:t>het … museum </a:t>
            </a:r>
            <a:r>
              <a:rPr lang="en-US" sz="2100" i="1" dirty="0">
                <a:solidFill>
                  <a:schemeClr val="tx1"/>
                </a:solidFill>
              </a:rPr>
              <a:t>(oud)</a:t>
            </a:r>
            <a:r>
              <a:rPr lang="en-US" sz="2100" dirty="0">
                <a:solidFill>
                  <a:schemeClr val="tx1"/>
                </a:solidFill>
              </a:rPr>
              <a:t> → </a:t>
            </a:r>
            <a:r>
              <a:rPr lang="en-US" sz="2100" dirty="0">
                <a:solidFill>
                  <a:schemeClr val="accent5"/>
                </a:solidFill>
              </a:rPr>
              <a:t>……………………</a:t>
            </a:r>
            <a:r>
              <a:rPr lang="en-US" sz="2100" dirty="0">
                <a:solidFill>
                  <a:schemeClr val="tx1"/>
                </a:solidFill>
              </a:rPr>
              <a:t> </a:t>
            </a:r>
            <a:endParaRPr lang="en-US" sz="2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6.  </a:t>
            </a:r>
            <a:r>
              <a:rPr lang="en-US" sz="2100" dirty="0">
                <a:solidFill>
                  <a:schemeClr val="tx1"/>
                </a:solidFill>
              </a:rPr>
              <a:t>De frieten zijn … </a:t>
            </a:r>
            <a:r>
              <a:rPr lang="en-US" sz="2100" i="1" dirty="0">
                <a:solidFill>
                  <a:schemeClr val="tx1"/>
                </a:solidFill>
              </a:rPr>
              <a:t>(lekker)</a:t>
            </a:r>
            <a:r>
              <a:rPr lang="en-US" sz="2100" dirty="0">
                <a:solidFill>
                  <a:schemeClr val="tx1"/>
                </a:solidFill>
              </a:rPr>
              <a:t> → </a:t>
            </a:r>
            <a:r>
              <a:rPr lang="en-US" sz="2100" dirty="0">
                <a:solidFill>
                  <a:schemeClr val="accent5"/>
                </a:solidFill>
              </a:rPr>
              <a:t>…………………………………</a:t>
            </a:r>
            <a:r>
              <a:rPr lang="en-US" sz="2100" dirty="0">
                <a:solidFill>
                  <a:schemeClr val="tx1"/>
                </a:solidFill>
              </a:rPr>
              <a:t> </a:t>
            </a:r>
            <a:endParaRPr lang="en-US" sz="2100" dirty="0"/>
          </a:p>
        </p:txBody>
      </p:sp>
      <p:pic>
        <p:nvPicPr>
          <p:cNvPr id="8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4030" y="1481328"/>
            <a:ext cx="2298972" cy="1920240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sp>
        <p:nvSpPr>
          <p:cNvPr id="9" name="aside"/>
          <p:cNvSpPr/>
          <p:nvPr/>
        </p:nvSpPr>
        <p:spPr>
          <a:xfrm>
            <a:off x="8046720" y="3630168"/>
            <a:ext cx="3593592" cy="2660904"/>
          </a:xfrm>
          <a:prstGeom prst="roundRect">
            <a:avLst>
              <a:gd name="adj" fmla="val 2749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3813048"/>
            <a:ext cx="292608" cy="29260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613648" y="378561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5"/>
                </a:solidFill>
              </a:rPr>
              <a:t>MÉMO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8211312" y="4224528"/>
            <a:ext cx="3264408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een </a:t>
            </a:r>
            <a:r>
              <a:rPr lang="en-US" sz="1800" b="1" i="1" dirty="0">
                <a:solidFill>
                  <a:schemeClr val="tx1"/>
                </a:solidFill>
              </a:rPr>
              <a:t>groot</a:t>
            </a:r>
            <a:r>
              <a:rPr lang="en-US" sz="1800" i="1" dirty="0">
                <a:solidFill>
                  <a:schemeClr val="tx1"/>
                </a:solidFill>
              </a:rPr>
              <a:t> huis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het </a:t>
            </a:r>
            <a:r>
              <a:rPr lang="en-US" sz="1800" b="1" i="1" dirty="0">
                <a:solidFill>
                  <a:schemeClr val="tx1"/>
                </a:solidFill>
              </a:rPr>
              <a:t>grote</a:t>
            </a:r>
            <a:r>
              <a:rPr lang="en-US" sz="1800" i="1" dirty="0">
                <a:solidFill>
                  <a:schemeClr val="tx1"/>
                </a:solidFill>
              </a:rPr>
              <a:t> huis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een </a:t>
            </a:r>
            <a:r>
              <a:rPr lang="en-US" sz="1800" b="1" i="1" dirty="0">
                <a:solidFill>
                  <a:schemeClr val="tx1"/>
                </a:solidFill>
              </a:rPr>
              <a:t>grote</a:t>
            </a:r>
            <a:r>
              <a:rPr lang="en-US" sz="1800" i="1" dirty="0">
                <a:solidFill>
                  <a:schemeClr val="tx1"/>
                </a:solidFill>
              </a:rPr>
              <a:t> man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i="1" dirty="0">
                <a:solidFill>
                  <a:schemeClr val="tx1"/>
                </a:solidFill>
              </a:rPr>
              <a:t>grote</a:t>
            </a:r>
            <a:r>
              <a:rPr lang="en-US" sz="1800" i="1" dirty="0">
                <a:solidFill>
                  <a:schemeClr val="tx1"/>
                </a:solidFill>
              </a:rPr>
              <a:t> huizen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Oefening : met of zonder -e?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1671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61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5 min — Écrivez l’adjectif entre parenthèses, </a:t>
            </a:r>
            <a:r>
              <a:rPr lang="en-US" sz="1600" b="1" i="1" dirty="0">
                <a:solidFill>
                  <a:schemeClr val="accent5"/>
                </a:solidFill>
              </a:rPr>
              <a:t>avec ou sans -e</a:t>
            </a:r>
            <a:r>
              <a:rPr lang="en-US" sz="1600" i="1" dirty="0">
                <a:solidFill>
                  <a:schemeClr val="accent5"/>
                </a:solidFill>
              </a:rPr>
              <a:t>, puis justifiez.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1.  </a:t>
            </a:r>
            <a:r>
              <a:rPr lang="en-US" sz="2100" dirty="0">
                <a:solidFill>
                  <a:schemeClr val="tx1"/>
                </a:solidFill>
              </a:rPr>
              <a:t>een … kind </a:t>
            </a:r>
            <a:r>
              <a:rPr lang="en-US" sz="2100" i="1" dirty="0">
                <a:solidFill>
                  <a:schemeClr val="tx1"/>
                </a:solidFill>
              </a:rPr>
              <a:t>(klein)</a:t>
            </a:r>
            <a:r>
              <a:rPr lang="en-US" sz="2100" dirty="0">
                <a:solidFill>
                  <a:schemeClr val="tx1"/>
                </a:solidFill>
              </a:rPr>
              <a:t> → </a:t>
            </a:r>
            <a:r>
              <a:rPr lang="en-US" sz="2100" b="1" dirty="0">
                <a:solidFill>
                  <a:schemeClr val="accent3"/>
                </a:solidFill>
              </a:rPr>
              <a:t>een klein kind</a:t>
            </a:r>
            <a:r>
              <a:rPr lang="en-US" sz="2100" dirty="0">
                <a:solidFill>
                  <a:schemeClr val="tx1"/>
                </a:solidFill>
              </a:rPr>
              <a:t> </a:t>
            </a:r>
            <a:r>
              <a:rPr lang="en-US" sz="2100" b="1" dirty="0">
                <a:solidFill>
                  <a:schemeClr val="accent3"/>
                </a:solidFill>
              </a:rPr>
              <a:t>· het + een + singulier</a:t>
            </a:r>
            <a:endParaRPr lang="en-US" sz="2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2.  </a:t>
            </a:r>
            <a:r>
              <a:rPr lang="en-US" sz="2100" dirty="0">
                <a:solidFill>
                  <a:schemeClr val="tx1"/>
                </a:solidFill>
              </a:rPr>
              <a:t>de … trein </a:t>
            </a:r>
            <a:r>
              <a:rPr lang="en-US" sz="2100" i="1" dirty="0">
                <a:solidFill>
                  <a:schemeClr val="tx1"/>
                </a:solidFill>
              </a:rPr>
              <a:t>(snel)</a:t>
            </a:r>
            <a:r>
              <a:rPr lang="en-US" sz="2100" dirty="0">
                <a:solidFill>
                  <a:schemeClr val="tx1"/>
                </a:solidFill>
              </a:rPr>
              <a:t> → </a:t>
            </a:r>
            <a:r>
              <a:rPr lang="en-US" sz="2100" b="1" dirty="0">
                <a:solidFill>
                  <a:schemeClr val="accent3"/>
                </a:solidFill>
              </a:rPr>
              <a:t>de snelle trein</a:t>
            </a:r>
            <a:r>
              <a:rPr lang="en-US" sz="2100" dirty="0">
                <a:solidFill>
                  <a:schemeClr val="tx1"/>
                </a:solidFill>
              </a:rPr>
              <a:t> </a:t>
            </a:r>
            <a:r>
              <a:rPr lang="en-US" sz="2100" b="1" dirty="0">
                <a:solidFill>
                  <a:schemeClr val="accent3"/>
                </a:solidFill>
              </a:rPr>
              <a:t>· de-woord, ll</a:t>
            </a:r>
            <a:endParaRPr lang="en-US" sz="2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3.  </a:t>
            </a:r>
            <a:r>
              <a:rPr lang="en-US" sz="2100" dirty="0">
                <a:solidFill>
                  <a:schemeClr val="tx1"/>
                </a:solidFill>
              </a:rPr>
              <a:t>… water </a:t>
            </a:r>
            <a:r>
              <a:rPr lang="en-US" sz="2100" i="1" dirty="0">
                <a:solidFill>
                  <a:schemeClr val="tx1"/>
                </a:solidFill>
              </a:rPr>
              <a:t>(koud)</a:t>
            </a:r>
            <a:r>
              <a:rPr lang="en-US" sz="2100" dirty="0">
                <a:solidFill>
                  <a:schemeClr val="tx1"/>
                </a:solidFill>
              </a:rPr>
              <a:t> → </a:t>
            </a:r>
            <a:r>
              <a:rPr lang="en-US" sz="2100" b="1" dirty="0">
                <a:solidFill>
                  <a:schemeClr val="accent3"/>
                </a:solidFill>
              </a:rPr>
              <a:t>koud water</a:t>
            </a:r>
            <a:r>
              <a:rPr lang="en-US" sz="2100" dirty="0">
                <a:solidFill>
                  <a:schemeClr val="tx1"/>
                </a:solidFill>
              </a:rPr>
              <a:t> </a:t>
            </a:r>
            <a:r>
              <a:rPr lang="en-US" sz="2100" b="1" dirty="0">
                <a:solidFill>
                  <a:schemeClr val="accent3"/>
                </a:solidFill>
              </a:rPr>
              <a:t>· het, sans article, singulier</a:t>
            </a:r>
            <a:endParaRPr lang="en-US" sz="2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4.  </a:t>
            </a:r>
            <a:r>
              <a:rPr lang="en-US" sz="2100" dirty="0">
                <a:solidFill>
                  <a:schemeClr val="tx1"/>
                </a:solidFill>
              </a:rPr>
              <a:t>een … fiets </a:t>
            </a:r>
            <a:r>
              <a:rPr lang="en-US" sz="2100" i="1" dirty="0">
                <a:solidFill>
                  <a:schemeClr val="tx1"/>
                </a:solidFill>
              </a:rPr>
              <a:t>(nieuw)</a:t>
            </a:r>
            <a:r>
              <a:rPr lang="en-US" sz="2100" dirty="0">
                <a:solidFill>
                  <a:schemeClr val="tx1"/>
                </a:solidFill>
              </a:rPr>
              <a:t> → </a:t>
            </a:r>
            <a:r>
              <a:rPr lang="en-US" sz="2100" b="1" dirty="0">
                <a:solidFill>
                  <a:schemeClr val="accent3"/>
                </a:solidFill>
              </a:rPr>
              <a:t>een nieuwe fiets</a:t>
            </a:r>
            <a:r>
              <a:rPr lang="en-US" sz="2100" dirty="0">
                <a:solidFill>
                  <a:schemeClr val="tx1"/>
                </a:solidFill>
              </a:rPr>
              <a:t> </a:t>
            </a:r>
            <a:r>
              <a:rPr lang="en-US" sz="2100" b="1" dirty="0">
                <a:solidFill>
                  <a:schemeClr val="accent3"/>
                </a:solidFill>
              </a:rPr>
              <a:t>· de fiets</a:t>
            </a:r>
            <a:endParaRPr lang="en-US" sz="2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5.  </a:t>
            </a:r>
            <a:r>
              <a:rPr lang="en-US" sz="2100" dirty="0">
                <a:solidFill>
                  <a:schemeClr val="tx1"/>
                </a:solidFill>
              </a:rPr>
              <a:t>het … museum </a:t>
            </a:r>
            <a:r>
              <a:rPr lang="en-US" sz="2100" i="1" dirty="0">
                <a:solidFill>
                  <a:schemeClr val="tx1"/>
                </a:solidFill>
              </a:rPr>
              <a:t>(oud)</a:t>
            </a:r>
            <a:r>
              <a:rPr lang="en-US" sz="2100" dirty="0">
                <a:solidFill>
                  <a:schemeClr val="tx1"/>
                </a:solidFill>
              </a:rPr>
              <a:t> → </a:t>
            </a:r>
            <a:r>
              <a:rPr lang="en-US" sz="2100" b="1" dirty="0">
                <a:solidFill>
                  <a:schemeClr val="accent3"/>
                </a:solidFill>
              </a:rPr>
              <a:t>het oude museum</a:t>
            </a:r>
            <a:r>
              <a:rPr lang="en-US" sz="2100" dirty="0">
                <a:solidFill>
                  <a:schemeClr val="tx1"/>
                </a:solidFill>
              </a:rPr>
              <a:t> </a:t>
            </a:r>
            <a:r>
              <a:rPr lang="en-US" sz="2100" b="1" dirty="0">
                <a:solidFill>
                  <a:schemeClr val="accent3"/>
                </a:solidFill>
              </a:rPr>
              <a:t>· article het</a:t>
            </a:r>
            <a:endParaRPr lang="en-US" sz="2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6.  </a:t>
            </a:r>
            <a:r>
              <a:rPr lang="en-US" sz="2100" dirty="0">
                <a:solidFill>
                  <a:schemeClr val="tx1"/>
                </a:solidFill>
              </a:rPr>
              <a:t>De frieten zijn … </a:t>
            </a:r>
            <a:r>
              <a:rPr lang="en-US" sz="2100" i="1" dirty="0">
                <a:solidFill>
                  <a:schemeClr val="tx1"/>
                </a:solidFill>
              </a:rPr>
              <a:t>(lekker)</a:t>
            </a:r>
            <a:r>
              <a:rPr lang="en-US" sz="2100" dirty="0">
                <a:solidFill>
                  <a:schemeClr val="tx1"/>
                </a:solidFill>
              </a:rPr>
              <a:t> → </a:t>
            </a:r>
            <a:r>
              <a:rPr lang="en-US" sz="2100" b="1" dirty="0">
                <a:solidFill>
                  <a:schemeClr val="accent3"/>
                </a:solidFill>
              </a:rPr>
              <a:t>De frieten zijn lekker.</a:t>
            </a:r>
            <a:r>
              <a:rPr lang="en-US" sz="2100" dirty="0">
                <a:solidFill>
                  <a:schemeClr val="tx1"/>
                </a:solidFill>
              </a:rPr>
              <a:t> </a:t>
            </a:r>
            <a:r>
              <a:rPr lang="en-US" sz="2100" b="1" dirty="0">
                <a:solidFill>
                  <a:schemeClr val="accent3"/>
                </a:solidFill>
              </a:rPr>
              <a:t>· après le verbe</a:t>
            </a:r>
            <a:endParaRPr lang="en-US" sz="2100" dirty="0"/>
          </a:p>
        </p:txBody>
      </p:sp>
      <p:pic>
        <p:nvPicPr>
          <p:cNvPr id="9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4030" y="1481328"/>
            <a:ext cx="2298972" cy="1920240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sp>
        <p:nvSpPr>
          <p:cNvPr id="10" name="aside"/>
          <p:cNvSpPr/>
          <p:nvPr/>
        </p:nvSpPr>
        <p:spPr>
          <a:xfrm>
            <a:off x="8046720" y="3630168"/>
            <a:ext cx="3593592" cy="2660904"/>
          </a:xfrm>
          <a:prstGeom prst="roundRect">
            <a:avLst>
              <a:gd name="adj" fmla="val 2749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3813048"/>
            <a:ext cx="292608" cy="29260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613648" y="378561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8211312" y="4224528"/>
            <a:ext cx="3264408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Phrase 3 : </a:t>
            </a:r>
            <a:r>
              <a:rPr lang="en-US" sz="1700" b="1" dirty="0">
                <a:solidFill>
                  <a:schemeClr val="tx1"/>
                </a:solidFill>
              </a:rPr>
              <a:t>pas d’article</a:t>
            </a:r>
            <a:r>
              <a:rPr lang="en-US" sz="1700" dirty="0">
                <a:solidFill>
                  <a:schemeClr val="tx1"/>
                </a:solidFill>
              </a:rPr>
              <a:t> → même exception que </a:t>
            </a:r>
            <a:r>
              <a:rPr lang="en-US" sz="1700" i="1" dirty="0">
                <a:solidFill>
                  <a:schemeClr val="tx1"/>
                </a:solidFill>
              </a:rPr>
              <a:t>een</a:t>
            </a:r>
            <a:r>
              <a:rPr lang="en-US" sz="1700" dirty="0">
                <a:solidFill>
                  <a:schemeClr val="tx1"/>
                </a:solidFill>
              </a:rPr>
              <a:t> : </a:t>
            </a:r>
            <a:r>
              <a:rPr lang="en-US" sz="1700" i="1" dirty="0">
                <a:solidFill>
                  <a:schemeClr val="tx1"/>
                </a:solidFill>
              </a:rPr>
              <a:t>koud water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Phrase 2 : </a:t>
            </a:r>
            <a:r>
              <a:rPr lang="en-US" sz="1700" i="1" dirty="0">
                <a:solidFill>
                  <a:schemeClr val="tx1"/>
                </a:solidFill>
              </a:rPr>
              <a:t>snel → sne</a:t>
            </a:r>
            <a:r>
              <a:rPr lang="en-US" sz="1700" b="1" i="1" dirty="0">
                <a:solidFill>
                  <a:schemeClr val="tx1"/>
                </a:solidFill>
              </a:rPr>
              <a:t>ll</a:t>
            </a:r>
            <a:r>
              <a:rPr lang="en-US" sz="1700" i="1" dirty="0">
                <a:solidFill>
                  <a:schemeClr val="tx1"/>
                </a:solidFill>
              </a:rPr>
              <a:t>e</a:t>
            </a:r>
            <a:r>
              <a:rPr lang="en-US" sz="1700" dirty="0">
                <a:solidFill>
                  <a:schemeClr val="tx1"/>
                </a:solidFill>
              </a:rPr>
              <a:t> (voyelle courte).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Phrase 1 : </a:t>
            </a:r>
            <a:r>
              <a:rPr lang="en-US" sz="1700" i="1" dirty="0">
                <a:solidFill>
                  <a:schemeClr val="tx1"/>
                </a:solidFill>
              </a:rPr>
              <a:t>het </a:t>
            </a:r>
            <a:r>
              <a:rPr lang="en-US" sz="1700" b="1" i="1" dirty="0">
                <a:solidFill>
                  <a:schemeClr val="tx1"/>
                </a:solidFill>
              </a:rPr>
              <a:t>kleine</a:t>
            </a:r>
            <a:r>
              <a:rPr lang="en-US" sz="1700" i="1" dirty="0">
                <a:solidFill>
                  <a:schemeClr val="tx1"/>
                </a:solidFill>
              </a:rPr>
              <a:t> kind</a:t>
            </a:r>
            <a:r>
              <a:rPr lang="en-US" sz="1700" dirty="0">
                <a:solidFill>
                  <a:schemeClr val="tx1"/>
                </a:solidFill>
              </a:rPr>
              <a:t> — avec het, le -e revient.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Mijn cursus : met of zonder -e?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Choisissez la bonne forme. Pensez aux </a:t>
            </a:r>
            <a:r>
              <a:rPr lang="en-US" sz="1600" b="1" i="1" dirty="0">
                <a:solidFill>
                  <a:schemeClr val="accent5"/>
                </a:solidFill>
              </a:rPr>
              <a:t>trois conditions</a:t>
            </a:r>
            <a:r>
              <a:rPr lang="en-US" sz="1600" i="1" dirty="0">
                <a:solidFill>
                  <a:schemeClr val="accent5"/>
                </a:solidFill>
              </a:rPr>
              <a:t> : mot en </a:t>
            </a:r>
            <a:r>
              <a:rPr lang="en-US" sz="1600" b="1" i="1" dirty="0">
                <a:solidFill>
                  <a:schemeClr val="accent4"/>
                </a:solidFill>
              </a:rPr>
              <a:t>het</a:t>
            </a:r>
            <a:r>
              <a:rPr lang="en-US" sz="1600" i="1" dirty="0">
                <a:solidFill>
                  <a:schemeClr val="accent5"/>
                </a:solidFill>
              </a:rPr>
              <a:t> + een / geen + singulier.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34061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1.  </a:t>
            </a:r>
            <a:r>
              <a:rPr lang="en-US" sz="2200" dirty="0">
                <a:solidFill>
                  <a:schemeClr val="tx1"/>
                </a:solidFill>
              </a:rPr>
              <a:t>Ik volg een </a:t>
            </a:r>
            <a:r>
              <a:rPr lang="en-US" sz="2200" dirty="0">
                <a:solidFill>
                  <a:schemeClr val="tx1"/>
                </a:solidFill>
              </a:rPr>
              <a:t>interessante</a:t>
            </a:r>
            <a:r>
              <a:rPr lang="en-US" sz="2200" dirty="0">
                <a:solidFill>
                  <a:schemeClr val="tx1"/>
                </a:solidFill>
              </a:rPr>
              <a:t> / </a:t>
            </a:r>
            <a:r>
              <a:rPr lang="en-US" sz="2200" dirty="0">
                <a:solidFill>
                  <a:schemeClr val="tx1"/>
                </a:solidFill>
              </a:rPr>
              <a:t>interessant</a:t>
            </a:r>
            <a:r>
              <a:rPr lang="en-US" sz="2200" dirty="0">
                <a:solidFill>
                  <a:schemeClr val="tx1"/>
                </a:solidFill>
              </a:rPr>
              <a:t> cursus.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2.  </a:t>
            </a:r>
            <a:r>
              <a:rPr lang="en-US" sz="2200" dirty="0">
                <a:solidFill>
                  <a:schemeClr val="tx1"/>
                </a:solidFill>
              </a:rPr>
              <a:t>Het klaslokaal is </a:t>
            </a:r>
            <a:r>
              <a:rPr lang="en-US" sz="2200" dirty="0">
                <a:solidFill>
                  <a:schemeClr val="tx1"/>
                </a:solidFill>
              </a:rPr>
              <a:t>grote</a:t>
            </a:r>
            <a:r>
              <a:rPr lang="en-US" sz="2200" dirty="0">
                <a:solidFill>
                  <a:schemeClr val="tx1"/>
                </a:solidFill>
              </a:rPr>
              <a:t> / </a:t>
            </a:r>
            <a:r>
              <a:rPr lang="en-US" sz="2200" dirty="0">
                <a:solidFill>
                  <a:schemeClr val="tx1"/>
                </a:solidFill>
              </a:rPr>
              <a:t>groot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3.  </a:t>
            </a:r>
            <a:r>
              <a:rPr lang="en-US" sz="2200" dirty="0">
                <a:solidFill>
                  <a:schemeClr val="tx1"/>
                </a:solidFill>
              </a:rPr>
              <a:t>We hebben een </a:t>
            </a:r>
            <a:r>
              <a:rPr lang="en-US" sz="2200" dirty="0">
                <a:solidFill>
                  <a:schemeClr val="tx1"/>
                </a:solidFill>
              </a:rPr>
              <a:t>nieuw</a:t>
            </a:r>
            <a:r>
              <a:rPr lang="en-US" sz="2200" dirty="0">
                <a:solidFill>
                  <a:schemeClr val="tx1"/>
                </a:solidFill>
              </a:rPr>
              <a:t> / </a:t>
            </a:r>
            <a:r>
              <a:rPr lang="en-US" sz="2200" dirty="0">
                <a:solidFill>
                  <a:schemeClr val="tx1"/>
                </a:solidFill>
              </a:rPr>
              <a:t>nieuwe</a:t>
            </a:r>
            <a:r>
              <a:rPr lang="en-US" sz="2200" dirty="0">
                <a:solidFill>
                  <a:schemeClr val="tx1"/>
                </a:solidFill>
              </a:rPr>
              <a:t> oefenboek.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4.  </a:t>
            </a:r>
            <a:r>
              <a:rPr lang="en-US" sz="2200" dirty="0">
                <a:solidFill>
                  <a:schemeClr val="tx1"/>
                </a:solidFill>
              </a:rPr>
              <a:t>Het </a:t>
            </a:r>
            <a:r>
              <a:rPr lang="en-US" sz="2200" dirty="0">
                <a:solidFill>
                  <a:schemeClr val="tx1"/>
                </a:solidFill>
              </a:rPr>
              <a:t>nieuw</a:t>
            </a:r>
            <a:r>
              <a:rPr lang="en-US" sz="2200" dirty="0">
                <a:solidFill>
                  <a:schemeClr val="tx1"/>
                </a:solidFill>
              </a:rPr>
              <a:t> / </a:t>
            </a:r>
            <a:r>
              <a:rPr lang="en-US" sz="2200" dirty="0">
                <a:solidFill>
                  <a:schemeClr val="tx1"/>
                </a:solidFill>
              </a:rPr>
              <a:t>nieuwe</a:t>
            </a:r>
            <a:r>
              <a:rPr lang="en-US" sz="2200" dirty="0">
                <a:solidFill>
                  <a:schemeClr val="tx1"/>
                </a:solidFill>
              </a:rPr>
              <a:t> oefenboek kost 20 euro.</a:t>
            </a:r>
            <a:endParaRPr lang="en-US" sz="2200" dirty="0"/>
          </a:p>
        </p:txBody>
      </p:sp>
      <p:sp>
        <p:nvSpPr>
          <p:cNvPr id="8" name="exercise"/>
          <p:cNvSpPr txBox="1"/>
          <p:nvPr/>
        </p:nvSpPr>
        <p:spPr>
          <a:xfrm>
            <a:off x="4320540" y="2170176"/>
            <a:ext cx="34061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5.  </a:t>
            </a:r>
            <a:r>
              <a:rPr lang="en-US" sz="2200" dirty="0">
                <a:solidFill>
                  <a:schemeClr val="tx1"/>
                </a:solidFill>
              </a:rPr>
              <a:t>Ik heb </a:t>
            </a:r>
            <a:r>
              <a:rPr lang="en-US" sz="2200" dirty="0">
                <a:solidFill>
                  <a:schemeClr val="tx1"/>
                </a:solidFill>
              </a:rPr>
              <a:t>goede</a:t>
            </a:r>
            <a:r>
              <a:rPr lang="en-US" sz="2200" dirty="0">
                <a:solidFill>
                  <a:schemeClr val="tx1"/>
                </a:solidFill>
              </a:rPr>
              <a:t> / </a:t>
            </a:r>
            <a:r>
              <a:rPr lang="en-US" sz="2200" dirty="0">
                <a:solidFill>
                  <a:schemeClr val="tx1"/>
                </a:solidFill>
              </a:rPr>
              <a:t>goed</a:t>
            </a:r>
            <a:r>
              <a:rPr lang="en-US" sz="2200" dirty="0">
                <a:solidFill>
                  <a:schemeClr val="tx1"/>
                </a:solidFill>
              </a:rPr>
              <a:t> boeken nodig.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6.  </a:t>
            </a:r>
            <a:r>
              <a:rPr lang="en-US" sz="2200" dirty="0">
                <a:solidFill>
                  <a:schemeClr val="tx1"/>
                </a:solidFill>
              </a:rPr>
              <a:t>Dat is geen </a:t>
            </a:r>
            <a:r>
              <a:rPr lang="en-US" sz="2200" dirty="0">
                <a:solidFill>
                  <a:schemeClr val="tx1"/>
                </a:solidFill>
              </a:rPr>
              <a:t>goed</a:t>
            </a:r>
            <a:r>
              <a:rPr lang="en-US" sz="2200" dirty="0">
                <a:solidFill>
                  <a:schemeClr val="tx1"/>
                </a:solidFill>
              </a:rPr>
              <a:t> / </a:t>
            </a:r>
            <a:r>
              <a:rPr lang="en-US" sz="2200" dirty="0">
                <a:solidFill>
                  <a:schemeClr val="tx1"/>
                </a:solidFill>
              </a:rPr>
              <a:t>goede</a:t>
            </a:r>
            <a:r>
              <a:rPr lang="en-US" sz="2200" dirty="0">
                <a:solidFill>
                  <a:schemeClr val="tx1"/>
                </a:solidFill>
              </a:rPr>
              <a:t> idee.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7.  </a:t>
            </a:r>
            <a:r>
              <a:rPr lang="en-US" sz="2200" dirty="0">
                <a:solidFill>
                  <a:schemeClr val="tx1"/>
                </a:solidFill>
              </a:rPr>
              <a:t>De leraar is heel </a:t>
            </a:r>
            <a:r>
              <a:rPr lang="en-US" sz="2200" dirty="0">
                <a:solidFill>
                  <a:schemeClr val="tx1"/>
                </a:solidFill>
              </a:rPr>
              <a:t>vriendelijk</a:t>
            </a:r>
            <a:r>
              <a:rPr lang="en-US" sz="2200" dirty="0">
                <a:solidFill>
                  <a:schemeClr val="tx1"/>
                </a:solidFill>
              </a:rPr>
              <a:t> / </a:t>
            </a:r>
            <a:r>
              <a:rPr lang="en-US" sz="2200" dirty="0">
                <a:solidFill>
                  <a:schemeClr val="tx1"/>
                </a:solidFill>
              </a:rPr>
              <a:t>vriendelijke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8.  </a:t>
            </a:r>
            <a:r>
              <a:rPr lang="en-US" sz="2200" dirty="0">
                <a:solidFill>
                  <a:schemeClr val="tx1"/>
                </a:solidFill>
              </a:rPr>
              <a:t>Pieter zoekt een </a:t>
            </a:r>
            <a:r>
              <a:rPr lang="en-US" sz="2200" dirty="0">
                <a:solidFill>
                  <a:schemeClr val="tx1"/>
                </a:solidFill>
              </a:rPr>
              <a:t>goedkoop</a:t>
            </a:r>
            <a:r>
              <a:rPr lang="en-US" sz="2200" dirty="0">
                <a:solidFill>
                  <a:schemeClr val="tx1"/>
                </a:solidFill>
              </a:rPr>
              <a:t> / </a:t>
            </a:r>
            <a:r>
              <a:rPr lang="en-US" sz="2200" dirty="0">
                <a:solidFill>
                  <a:schemeClr val="tx1"/>
                </a:solidFill>
              </a:rPr>
              <a:t>goedkope</a:t>
            </a:r>
            <a:r>
              <a:rPr lang="en-US" sz="2200" dirty="0">
                <a:solidFill>
                  <a:schemeClr val="tx1"/>
                </a:solidFill>
              </a:rPr>
              <a:t> cursus.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Mijn cursus : met of zonder -e?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Choisissez la bonne forme. Pensez aux </a:t>
            </a:r>
            <a:r>
              <a:rPr lang="en-US" sz="1600" b="1" i="1" dirty="0">
                <a:solidFill>
                  <a:schemeClr val="accent5"/>
                </a:solidFill>
              </a:rPr>
              <a:t>trois conditions</a:t>
            </a:r>
            <a:r>
              <a:rPr lang="en-US" sz="1600" i="1" dirty="0">
                <a:solidFill>
                  <a:schemeClr val="accent5"/>
                </a:solidFill>
              </a:rPr>
              <a:t> : mot en </a:t>
            </a:r>
            <a:r>
              <a:rPr lang="en-US" sz="1600" b="1" i="1" dirty="0">
                <a:solidFill>
                  <a:schemeClr val="accent4"/>
                </a:solidFill>
              </a:rPr>
              <a:t>het</a:t>
            </a:r>
            <a:r>
              <a:rPr lang="en-US" sz="1600" i="1" dirty="0">
                <a:solidFill>
                  <a:schemeClr val="accent5"/>
                </a:solidFill>
              </a:rPr>
              <a:t> + een / geen + singulier.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2170176"/>
            <a:ext cx="34061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1.  </a:t>
            </a:r>
            <a:r>
              <a:rPr lang="en-US" sz="2200" dirty="0">
                <a:solidFill>
                  <a:schemeClr val="tx1"/>
                </a:solidFill>
              </a:rPr>
              <a:t>Ik volg een </a:t>
            </a:r>
            <a:r>
              <a:rPr lang="en-US" sz="2200" b="1" dirty="0">
                <a:solidFill>
                  <a:schemeClr val="accent3"/>
                </a:solidFill>
              </a:rPr>
              <a:t>interessante</a:t>
            </a:r>
            <a:r>
              <a:rPr lang="en-US" sz="2200" dirty="0">
                <a:solidFill>
                  <a:schemeClr val="tx1"/>
                </a:solidFill>
              </a:rPr>
              <a:t> / </a:t>
            </a:r>
            <a:r>
              <a:rPr lang="en-US" sz="2200" strike="sngStrike" dirty="0">
                <a:solidFill>
                  <a:schemeClr val="accent6"/>
                </a:solidFill>
              </a:rPr>
              <a:t>interessant</a:t>
            </a:r>
            <a:r>
              <a:rPr lang="en-US" sz="2200" dirty="0">
                <a:solidFill>
                  <a:schemeClr val="tx1"/>
                </a:solidFill>
              </a:rPr>
              <a:t> cursus.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2.  </a:t>
            </a:r>
            <a:r>
              <a:rPr lang="en-US" sz="2200" dirty="0">
                <a:solidFill>
                  <a:schemeClr val="tx1"/>
                </a:solidFill>
              </a:rPr>
              <a:t>Het klaslokaal is </a:t>
            </a:r>
            <a:r>
              <a:rPr lang="en-US" sz="2200" strike="sngStrike" dirty="0">
                <a:solidFill>
                  <a:schemeClr val="accent6"/>
                </a:solidFill>
              </a:rPr>
              <a:t>grote</a:t>
            </a:r>
            <a:r>
              <a:rPr lang="en-US" sz="2200" dirty="0">
                <a:solidFill>
                  <a:schemeClr val="tx1"/>
                </a:solidFill>
              </a:rPr>
              <a:t> / </a:t>
            </a:r>
            <a:r>
              <a:rPr lang="en-US" sz="2200" b="1" dirty="0">
                <a:solidFill>
                  <a:schemeClr val="accent3"/>
                </a:solidFill>
              </a:rPr>
              <a:t>groot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3.  </a:t>
            </a:r>
            <a:r>
              <a:rPr lang="en-US" sz="2200" dirty="0">
                <a:solidFill>
                  <a:schemeClr val="tx1"/>
                </a:solidFill>
              </a:rPr>
              <a:t>We hebben een </a:t>
            </a:r>
            <a:r>
              <a:rPr lang="en-US" sz="2200" b="1" dirty="0">
                <a:solidFill>
                  <a:schemeClr val="accent3"/>
                </a:solidFill>
              </a:rPr>
              <a:t>nieuw</a:t>
            </a:r>
            <a:r>
              <a:rPr lang="en-US" sz="2200" dirty="0">
                <a:solidFill>
                  <a:schemeClr val="tx1"/>
                </a:solidFill>
              </a:rPr>
              <a:t> / </a:t>
            </a:r>
            <a:r>
              <a:rPr lang="en-US" sz="2200" strike="sngStrike" dirty="0">
                <a:solidFill>
                  <a:schemeClr val="accent6"/>
                </a:solidFill>
              </a:rPr>
              <a:t>nieuwe</a:t>
            </a:r>
            <a:r>
              <a:rPr lang="en-US" sz="2200" dirty="0">
                <a:solidFill>
                  <a:schemeClr val="tx1"/>
                </a:solidFill>
              </a:rPr>
              <a:t> oefenboek.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4.  </a:t>
            </a:r>
            <a:r>
              <a:rPr lang="en-US" sz="2200" dirty="0">
                <a:solidFill>
                  <a:schemeClr val="tx1"/>
                </a:solidFill>
              </a:rPr>
              <a:t>Het </a:t>
            </a:r>
            <a:r>
              <a:rPr lang="en-US" sz="2200" strike="sngStrike" dirty="0">
                <a:solidFill>
                  <a:schemeClr val="accent6"/>
                </a:solidFill>
              </a:rPr>
              <a:t>nieuw</a:t>
            </a:r>
            <a:r>
              <a:rPr lang="en-US" sz="2200" dirty="0">
                <a:solidFill>
                  <a:schemeClr val="tx1"/>
                </a:solidFill>
              </a:rPr>
              <a:t> / </a:t>
            </a:r>
            <a:r>
              <a:rPr lang="en-US" sz="2200" b="1" dirty="0">
                <a:solidFill>
                  <a:schemeClr val="accent3"/>
                </a:solidFill>
              </a:rPr>
              <a:t>nieuwe</a:t>
            </a:r>
            <a:r>
              <a:rPr lang="en-US" sz="2200" dirty="0">
                <a:solidFill>
                  <a:schemeClr val="tx1"/>
                </a:solidFill>
              </a:rPr>
              <a:t> oefenboek kost 20 euro.</a:t>
            </a:r>
            <a:endParaRPr lang="en-US" sz="2200" dirty="0"/>
          </a:p>
        </p:txBody>
      </p:sp>
      <p:sp>
        <p:nvSpPr>
          <p:cNvPr id="9" name="exercise"/>
          <p:cNvSpPr txBox="1"/>
          <p:nvPr/>
        </p:nvSpPr>
        <p:spPr>
          <a:xfrm>
            <a:off x="4320540" y="2170176"/>
            <a:ext cx="34061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5.  </a:t>
            </a:r>
            <a:r>
              <a:rPr lang="en-US" sz="2200" dirty="0">
                <a:solidFill>
                  <a:schemeClr val="tx1"/>
                </a:solidFill>
              </a:rPr>
              <a:t>Ik heb </a:t>
            </a:r>
            <a:r>
              <a:rPr lang="en-US" sz="2200" b="1" dirty="0">
                <a:solidFill>
                  <a:schemeClr val="accent3"/>
                </a:solidFill>
              </a:rPr>
              <a:t>goede</a:t>
            </a:r>
            <a:r>
              <a:rPr lang="en-US" sz="2200" dirty="0">
                <a:solidFill>
                  <a:schemeClr val="tx1"/>
                </a:solidFill>
              </a:rPr>
              <a:t> / </a:t>
            </a:r>
            <a:r>
              <a:rPr lang="en-US" sz="2200" strike="sngStrike" dirty="0">
                <a:solidFill>
                  <a:schemeClr val="accent6"/>
                </a:solidFill>
              </a:rPr>
              <a:t>goed</a:t>
            </a:r>
            <a:r>
              <a:rPr lang="en-US" sz="2200" dirty="0">
                <a:solidFill>
                  <a:schemeClr val="tx1"/>
                </a:solidFill>
              </a:rPr>
              <a:t> boeken nodig.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6.  </a:t>
            </a:r>
            <a:r>
              <a:rPr lang="en-US" sz="2200" dirty="0">
                <a:solidFill>
                  <a:schemeClr val="tx1"/>
                </a:solidFill>
              </a:rPr>
              <a:t>Dat is geen </a:t>
            </a:r>
            <a:r>
              <a:rPr lang="en-US" sz="2200" b="1" dirty="0">
                <a:solidFill>
                  <a:schemeClr val="accent3"/>
                </a:solidFill>
              </a:rPr>
              <a:t>goed</a:t>
            </a:r>
            <a:r>
              <a:rPr lang="en-US" sz="2200" dirty="0">
                <a:solidFill>
                  <a:schemeClr val="tx1"/>
                </a:solidFill>
              </a:rPr>
              <a:t> / </a:t>
            </a:r>
            <a:r>
              <a:rPr lang="en-US" sz="2200" strike="sngStrike" dirty="0">
                <a:solidFill>
                  <a:schemeClr val="accent6"/>
                </a:solidFill>
              </a:rPr>
              <a:t>goede</a:t>
            </a:r>
            <a:r>
              <a:rPr lang="en-US" sz="2200" dirty="0">
                <a:solidFill>
                  <a:schemeClr val="tx1"/>
                </a:solidFill>
              </a:rPr>
              <a:t> idee.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7.  </a:t>
            </a:r>
            <a:r>
              <a:rPr lang="en-US" sz="2200" dirty="0">
                <a:solidFill>
                  <a:schemeClr val="tx1"/>
                </a:solidFill>
              </a:rPr>
              <a:t>De leraar is heel </a:t>
            </a:r>
            <a:r>
              <a:rPr lang="en-US" sz="2200" b="1" dirty="0">
                <a:solidFill>
                  <a:schemeClr val="accent3"/>
                </a:solidFill>
              </a:rPr>
              <a:t>vriendelijk</a:t>
            </a:r>
            <a:r>
              <a:rPr lang="en-US" sz="2200" dirty="0">
                <a:solidFill>
                  <a:schemeClr val="tx1"/>
                </a:solidFill>
              </a:rPr>
              <a:t> / </a:t>
            </a:r>
            <a:r>
              <a:rPr lang="en-US" sz="2200" strike="sngStrike" dirty="0">
                <a:solidFill>
                  <a:schemeClr val="accent6"/>
                </a:solidFill>
              </a:rPr>
              <a:t>vriendelijke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8.  </a:t>
            </a:r>
            <a:r>
              <a:rPr lang="en-US" sz="2200" dirty="0">
                <a:solidFill>
                  <a:schemeClr val="tx1"/>
                </a:solidFill>
              </a:rPr>
              <a:t>Pieter zoekt een </a:t>
            </a:r>
            <a:r>
              <a:rPr lang="en-US" sz="2200" strike="sngStrike" dirty="0">
                <a:solidFill>
                  <a:schemeClr val="accent6"/>
                </a:solidFill>
              </a:rPr>
              <a:t>goedkoop</a:t>
            </a:r>
            <a:r>
              <a:rPr lang="en-US" sz="2200" dirty="0">
                <a:solidFill>
                  <a:schemeClr val="tx1"/>
                </a:solidFill>
              </a:rPr>
              <a:t> / </a:t>
            </a:r>
            <a:r>
              <a:rPr lang="en-US" sz="2200" b="1" dirty="0">
                <a:solidFill>
                  <a:schemeClr val="accent3"/>
                </a:solidFill>
              </a:rPr>
              <a:t>goedkope</a:t>
            </a:r>
            <a:r>
              <a:rPr lang="en-US" sz="2200" dirty="0">
                <a:solidFill>
                  <a:schemeClr val="tx1"/>
                </a:solidFill>
              </a:rPr>
              <a:t> cursus.</a:t>
            </a:r>
            <a:endParaRPr lang="en-US" sz="2200" dirty="0"/>
          </a:p>
        </p:txBody>
      </p:sp>
      <p:sp>
        <p:nvSpPr>
          <p:cNvPr id="10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4"/>
                </a:solidFill>
              </a:rPr>
              <a:t>het</a:t>
            </a:r>
            <a:r>
              <a:rPr lang="en-US" sz="1800" dirty="0">
                <a:solidFill>
                  <a:schemeClr val="tx1"/>
                </a:solidFill>
              </a:rPr>
              <a:t> oefenboek · </a:t>
            </a:r>
            <a:r>
              <a:rPr lang="en-US" sz="1800" b="1" dirty="0">
                <a:solidFill>
                  <a:schemeClr val="accent4"/>
                </a:solidFill>
              </a:rPr>
              <a:t>het</a:t>
            </a:r>
            <a:r>
              <a:rPr lang="en-US" sz="1800" dirty="0">
                <a:solidFill>
                  <a:schemeClr val="tx1"/>
                </a:solidFill>
              </a:rPr>
              <a:t> idee : pas de -e après </a:t>
            </a:r>
            <a:r>
              <a:rPr lang="en-US" sz="1800" i="1" dirty="0">
                <a:solidFill>
                  <a:schemeClr val="tx1"/>
                </a:solidFill>
              </a:rPr>
              <a:t>een / geen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2"/>
                </a:solidFill>
              </a:rPr>
              <a:t>de</a:t>
            </a:r>
            <a:r>
              <a:rPr lang="en-US" sz="1800" dirty="0">
                <a:solidFill>
                  <a:schemeClr val="tx1"/>
                </a:solidFill>
              </a:rPr>
              <a:t> cursus : toujours -e devant le nom.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goedkoop → goedkope</a:t>
            </a:r>
            <a:r>
              <a:rPr lang="en-US" sz="1800" dirty="0">
                <a:solidFill>
                  <a:schemeClr val="tx1"/>
                </a:solidFill>
              </a:rPr>
              <a:t> : une seule 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Valse vrienden 3/3 : les faux-amis 15 à 21 (1/2)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94460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FAUX-AMIS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91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11091672" cy="1058418"/>
          </a:xfrm>
          <a:prstGeom prst="roundRect">
            <a:avLst>
              <a:gd name="adj" fmla="val 6911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7" name="illustration" descr="tris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268" y="1600200"/>
            <a:ext cx="1175064" cy="87553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270112" y="1554480"/>
            <a:ext cx="349060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verdrietig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triste</a:t>
            </a:r>
            <a:endParaRPr lang="en-US" sz="20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on a du chagrin</a:t>
            </a:r>
            <a:endParaRPr lang="en-US" sz="2000" dirty="0"/>
          </a:p>
        </p:txBody>
      </p:sp>
      <p:pic>
        <p:nvPicPr>
          <p:cNvPr id="9" name="illustration" descr="grincheux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7884" y="1600200"/>
            <a:ext cx="1202713" cy="87553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076552" y="1554480"/>
            <a:ext cx="349060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chagrijnig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grincheux</a:t>
            </a:r>
            <a:endParaRPr lang="en-US" sz="20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de mauvaise humeur ≠ chagrin</a:t>
            </a:r>
            <a:endParaRPr lang="en-US" sz="2000" dirty="0"/>
          </a:p>
        </p:txBody>
      </p:sp>
      <p:sp>
        <p:nvSpPr>
          <p:cNvPr id="11" name="Shape 6"/>
          <p:cNvSpPr/>
          <p:nvPr/>
        </p:nvSpPr>
        <p:spPr>
          <a:xfrm>
            <a:off x="5870448" y="1809369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5870448" y="180936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≠</a:t>
            </a:r>
            <a:endParaRPr lang="en-US" sz="2000" dirty="0"/>
          </a:p>
        </p:txBody>
      </p:sp>
      <p:sp>
        <p:nvSpPr>
          <p:cNvPr id="13" name="Shape 8"/>
          <p:cNvSpPr/>
          <p:nvPr/>
        </p:nvSpPr>
        <p:spPr>
          <a:xfrm>
            <a:off x="548640" y="2750058"/>
            <a:ext cx="11091672" cy="1058418"/>
          </a:xfrm>
          <a:prstGeom prst="roundRect">
            <a:avLst>
              <a:gd name="adj" fmla="val 6911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14" name="illustration" descr="sage, obéissan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268" y="2841498"/>
            <a:ext cx="1175064" cy="87553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2270112" y="2795778"/>
            <a:ext cx="349060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braaf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sage, obéissant</a:t>
            </a:r>
            <a:endParaRPr lang="en-US" sz="20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fait ce qu’on lui dit ≠ brave</a:t>
            </a:r>
            <a:endParaRPr lang="en-US" sz="2000" dirty="0"/>
          </a:p>
        </p:txBody>
      </p:sp>
      <p:pic>
        <p:nvPicPr>
          <p:cNvPr id="16" name="illustration" descr="brave, courageux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7600" y="2841498"/>
            <a:ext cx="1043281" cy="875538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076552" y="2795778"/>
            <a:ext cx="349060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moedig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brave, courageux</a:t>
            </a:r>
            <a:endParaRPr lang="en-US" sz="20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n’a pas peur du danger</a:t>
            </a:r>
            <a:endParaRPr lang="en-US" sz="2000" dirty="0"/>
          </a:p>
        </p:txBody>
      </p:sp>
      <p:sp>
        <p:nvSpPr>
          <p:cNvPr id="18" name="Shape 11"/>
          <p:cNvSpPr/>
          <p:nvPr/>
        </p:nvSpPr>
        <p:spPr>
          <a:xfrm>
            <a:off x="5870448" y="3050667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9" name="Text 12"/>
          <p:cNvSpPr txBox="1"/>
          <p:nvPr/>
        </p:nvSpPr>
        <p:spPr>
          <a:xfrm>
            <a:off x="5870448" y="305066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≠</a:t>
            </a:r>
            <a:endParaRPr lang="en-US" sz="2000" dirty="0"/>
          </a:p>
        </p:txBody>
      </p:sp>
      <p:sp>
        <p:nvSpPr>
          <p:cNvPr id="20" name="Shape 13"/>
          <p:cNvSpPr/>
          <p:nvPr/>
        </p:nvSpPr>
        <p:spPr>
          <a:xfrm>
            <a:off x="548640" y="3991356"/>
            <a:ext cx="11091672" cy="1058418"/>
          </a:xfrm>
          <a:prstGeom prst="roundRect">
            <a:avLst>
              <a:gd name="adj" fmla="val 6911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21" name="illustration" descr="par voie ora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886" y="4082796"/>
            <a:ext cx="1067829" cy="875538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2270112" y="4037076"/>
            <a:ext cx="349060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oraal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par voie orale</a:t>
            </a:r>
            <a:endParaRPr lang="en-US" sz="20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par la bouche (médicament)</a:t>
            </a:r>
            <a:endParaRPr lang="en-US" sz="2000" dirty="0"/>
          </a:p>
        </p:txBody>
      </p:sp>
      <p:pic>
        <p:nvPicPr>
          <p:cNvPr id="23" name="illustration" descr="oral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7600" y="4082796"/>
            <a:ext cx="1043281" cy="87553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8076552" y="4037076"/>
            <a:ext cx="349060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mondeling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oral</a:t>
            </a:r>
            <a:endParaRPr lang="en-US" sz="20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een mondeling examen</a:t>
            </a:r>
            <a:endParaRPr lang="en-US" sz="2000" dirty="0"/>
          </a:p>
        </p:txBody>
      </p:sp>
      <p:sp>
        <p:nvSpPr>
          <p:cNvPr id="25" name="Shape 16"/>
          <p:cNvSpPr/>
          <p:nvPr/>
        </p:nvSpPr>
        <p:spPr>
          <a:xfrm>
            <a:off x="5870448" y="4291965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6" name="Text 17"/>
          <p:cNvSpPr txBox="1"/>
          <p:nvPr/>
        </p:nvSpPr>
        <p:spPr>
          <a:xfrm>
            <a:off x="5870448" y="429196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≠</a:t>
            </a:r>
            <a:endParaRPr lang="en-US" sz="2000" dirty="0"/>
          </a:p>
        </p:txBody>
      </p:sp>
      <p:sp>
        <p:nvSpPr>
          <p:cNvPr id="27" name="Shape 18"/>
          <p:cNvSpPr/>
          <p:nvPr/>
        </p:nvSpPr>
        <p:spPr>
          <a:xfrm>
            <a:off x="548640" y="5232654"/>
            <a:ext cx="11091672" cy="1058418"/>
          </a:xfrm>
          <a:prstGeom prst="roundRect">
            <a:avLst>
              <a:gd name="adj" fmla="val 6911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28" name="illustration" descr="le café (la boisson)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711" y="5324094"/>
            <a:ext cx="1048179" cy="875538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2270112" y="5278374"/>
            <a:ext cx="349060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 koffie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 café (la boisson)</a:t>
            </a:r>
            <a:endParaRPr lang="en-US" sz="20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on la boit</a:t>
            </a:r>
            <a:endParaRPr lang="en-US" sz="2000" dirty="0"/>
          </a:p>
        </p:txBody>
      </p:sp>
      <p:pic>
        <p:nvPicPr>
          <p:cNvPr id="30" name="illustration" descr="le café, le bistro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2819" y="5324094"/>
            <a:ext cx="1072842" cy="875538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8076552" y="5278374"/>
            <a:ext cx="349060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het café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 café, le bistrot</a:t>
            </a:r>
            <a:endParaRPr lang="en-US" sz="20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on y boit un verre</a:t>
            </a:r>
            <a:endParaRPr lang="en-US" sz="2000" dirty="0"/>
          </a:p>
        </p:txBody>
      </p:sp>
      <p:sp>
        <p:nvSpPr>
          <p:cNvPr id="32" name="Shape 21"/>
          <p:cNvSpPr/>
          <p:nvPr/>
        </p:nvSpPr>
        <p:spPr>
          <a:xfrm>
            <a:off x="5870448" y="5533263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33" name="Text 22"/>
          <p:cNvSpPr txBox="1"/>
          <p:nvPr/>
        </p:nvSpPr>
        <p:spPr>
          <a:xfrm>
            <a:off x="5870448" y="553326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≠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Valse vrienden 3/3 : les faux-amis 15 à 21 (2/2)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94460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FAUX-AMIS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91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11091672" cy="1058418"/>
          </a:xfrm>
          <a:prstGeom prst="roundRect">
            <a:avLst>
              <a:gd name="adj" fmla="val 6911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7" name="illustration" descr="le cours (à l’université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711" y="1600200"/>
            <a:ext cx="1048179" cy="87553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270112" y="1554480"/>
            <a:ext cx="349060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het college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 cours (à l’université)</a:t>
            </a:r>
            <a:endParaRPr lang="en-US" sz="20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≠ le collège</a:t>
            </a:r>
            <a:endParaRPr lang="en-US" sz="2000" dirty="0"/>
          </a:p>
        </p:txBody>
      </p:sp>
      <p:pic>
        <p:nvPicPr>
          <p:cNvPr id="9" name="illustration" descr="l’éco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151" y="1600200"/>
            <a:ext cx="1048179" cy="87553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076552" y="1554480"/>
            <a:ext cx="349060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 school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l’école</a:t>
            </a:r>
            <a:endParaRPr lang="en-US" sz="20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le collège = de middelbare school</a:t>
            </a:r>
            <a:endParaRPr lang="en-US" sz="2000" dirty="0"/>
          </a:p>
        </p:txBody>
      </p:sp>
      <p:sp>
        <p:nvSpPr>
          <p:cNvPr id="11" name="Shape 6"/>
          <p:cNvSpPr/>
          <p:nvPr/>
        </p:nvSpPr>
        <p:spPr>
          <a:xfrm>
            <a:off x="5870448" y="1809369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5870448" y="180936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≠</a:t>
            </a:r>
            <a:endParaRPr lang="en-US" sz="2000" dirty="0"/>
          </a:p>
        </p:txBody>
      </p:sp>
      <p:sp>
        <p:nvSpPr>
          <p:cNvPr id="13" name="Shape 8"/>
          <p:cNvSpPr/>
          <p:nvPr/>
        </p:nvSpPr>
        <p:spPr>
          <a:xfrm>
            <a:off x="548640" y="2750058"/>
            <a:ext cx="11091672" cy="1058418"/>
          </a:xfrm>
          <a:prstGeom prst="roundRect">
            <a:avLst>
              <a:gd name="adj" fmla="val 6911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14" name="illustration" descr="le journa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379" y="2841498"/>
            <a:ext cx="1072842" cy="87553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2270112" y="2795778"/>
            <a:ext cx="349060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 krant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 journal</a:t>
            </a:r>
            <a:endParaRPr lang="en-US" sz="20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imprimé sur papier</a:t>
            </a:r>
            <a:endParaRPr lang="en-US" sz="2000" dirty="0"/>
          </a:p>
        </p:txBody>
      </p:sp>
      <p:pic>
        <p:nvPicPr>
          <p:cNvPr id="16" name="illustration" descr="le journal télévisé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151" y="2841498"/>
            <a:ext cx="1048179" cy="875538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076552" y="2795778"/>
            <a:ext cx="349060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het journaal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 journal télévisé</a:t>
            </a:r>
            <a:endParaRPr lang="en-US" sz="20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les infos à la télé</a:t>
            </a:r>
            <a:endParaRPr lang="en-US" sz="2000" dirty="0"/>
          </a:p>
        </p:txBody>
      </p:sp>
      <p:sp>
        <p:nvSpPr>
          <p:cNvPr id="18" name="Shape 11"/>
          <p:cNvSpPr/>
          <p:nvPr/>
        </p:nvSpPr>
        <p:spPr>
          <a:xfrm>
            <a:off x="5870448" y="3050667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9" name="Text 12"/>
          <p:cNvSpPr txBox="1"/>
          <p:nvPr/>
        </p:nvSpPr>
        <p:spPr>
          <a:xfrm>
            <a:off x="5870448" y="305066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≠</a:t>
            </a:r>
            <a:endParaRPr lang="en-US" sz="2000" dirty="0"/>
          </a:p>
        </p:txBody>
      </p:sp>
      <p:sp>
        <p:nvSpPr>
          <p:cNvPr id="20" name="Shape 13"/>
          <p:cNvSpPr/>
          <p:nvPr/>
        </p:nvSpPr>
        <p:spPr>
          <a:xfrm>
            <a:off x="548640" y="3991356"/>
            <a:ext cx="11091672" cy="1058418"/>
          </a:xfrm>
          <a:prstGeom prst="roundRect">
            <a:avLst>
              <a:gd name="adj" fmla="val 6911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21" name="illustration" descr="le professeu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893" y="4082796"/>
            <a:ext cx="1099814" cy="875538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2270112" y="4037076"/>
            <a:ext cx="349060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 leraar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 professeur</a:t>
            </a:r>
            <a:endParaRPr lang="en-US" sz="20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à l’école, au lycée</a:t>
            </a:r>
            <a:endParaRPr lang="en-US" sz="2000" dirty="0"/>
          </a:p>
        </p:txBody>
      </p:sp>
      <p:pic>
        <p:nvPicPr>
          <p:cNvPr id="23" name="illustration" descr="le professeur d’université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6394" y="4082796"/>
            <a:ext cx="1125692" cy="87553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8076552" y="4037076"/>
            <a:ext cx="3490608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 professor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 professeur d’université</a:t>
            </a:r>
            <a:endParaRPr lang="en-US" sz="20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titre universitaire</a:t>
            </a:r>
            <a:endParaRPr lang="en-US" sz="2000" dirty="0"/>
          </a:p>
        </p:txBody>
      </p:sp>
      <p:sp>
        <p:nvSpPr>
          <p:cNvPr id="25" name="Shape 16"/>
          <p:cNvSpPr/>
          <p:nvPr/>
        </p:nvSpPr>
        <p:spPr>
          <a:xfrm>
            <a:off x="5870448" y="4291965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6" name="Text 17"/>
          <p:cNvSpPr txBox="1"/>
          <p:nvPr/>
        </p:nvSpPr>
        <p:spPr>
          <a:xfrm>
            <a:off x="5870448" y="429196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≠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Faux-amis : choisissez le bon mot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5 min — Barrez le faux-ami. Lisez ensuite la phrase correcte à voix haute.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34061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1.  </a:t>
            </a:r>
            <a:r>
              <a:rPr lang="en-US" sz="2100" dirty="0">
                <a:solidFill>
                  <a:schemeClr val="tx1"/>
                </a:solidFill>
              </a:rPr>
              <a:t>Elke ochtend lees ik </a:t>
            </a:r>
            <a:r>
              <a:rPr lang="en-US" sz="2100" dirty="0">
                <a:solidFill>
                  <a:schemeClr val="tx1"/>
                </a:solidFill>
              </a:rPr>
              <a:t>de krant</a:t>
            </a:r>
            <a:r>
              <a:rPr lang="en-US" sz="2100" dirty="0">
                <a:solidFill>
                  <a:schemeClr val="tx1"/>
                </a:solidFill>
              </a:rPr>
              <a:t> / </a:t>
            </a:r>
            <a:r>
              <a:rPr lang="en-US" sz="2100" dirty="0">
                <a:solidFill>
                  <a:schemeClr val="tx1"/>
                </a:solidFill>
              </a:rPr>
              <a:t>het journaal</a:t>
            </a:r>
            <a:r>
              <a:rPr lang="en-US" sz="2100" dirty="0">
                <a:solidFill>
                  <a:schemeClr val="tx1"/>
                </a:solidFill>
              </a:rPr>
              <a:t> bij het ontbijt.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2.  </a:t>
            </a:r>
            <a:r>
              <a:rPr lang="en-US" sz="2100" dirty="0">
                <a:solidFill>
                  <a:schemeClr val="tx1"/>
                </a:solidFill>
              </a:rPr>
              <a:t>Om zeven uur kijk ik naar </a:t>
            </a:r>
            <a:r>
              <a:rPr lang="en-US" sz="2100" dirty="0">
                <a:solidFill>
                  <a:schemeClr val="tx1"/>
                </a:solidFill>
              </a:rPr>
              <a:t>de krant</a:t>
            </a:r>
            <a:r>
              <a:rPr lang="en-US" sz="2100" dirty="0">
                <a:solidFill>
                  <a:schemeClr val="tx1"/>
                </a:solidFill>
              </a:rPr>
              <a:t> / </a:t>
            </a:r>
            <a:r>
              <a:rPr lang="en-US" sz="2100" dirty="0">
                <a:solidFill>
                  <a:schemeClr val="tx1"/>
                </a:solidFill>
              </a:rPr>
              <a:t>het journaal</a:t>
            </a:r>
            <a:r>
              <a:rPr lang="en-US" sz="2100" dirty="0">
                <a:solidFill>
                  <a:schemeClr val="tx1"/>
                </a:solidFill>
              </a:rPr>
              <a:t> op tv.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3.  </a:t>
            </a:r>
            <a:r>
              <a:rPr lang="en-US" sz="2100" dirty="0">
                <a:solidFill>
                  <a:schemeClr val="tx1"/>
                </a:solidFill>
              </a:rPr>
              <a:t>Mijn hond is lief en </a:t>
            </a:r>
            <a:r>
              <a:rPr lang="en-US" sz="2100" dirty="0">
                <a:solidFill>
                  <a:schemeClr val="tx1"/>
                </a:solidFill>
              </a:rPr>
              <a:t>braaf</a:t>
            </a:r>
            <a:r>
              <a:rPr lang="en-US" sz="2100" dirty="0">
                <a:solidFill>
                  <a:schemeClr val="tx1"/>
                </a:solidFill>
              </a:rPr>
              <a:t> / </a:t>
            </a:r>
            <a:r>
              <a:rPr lang="en-US" sz="2100" dirty="0">
                <a:solidFill>
                  <a:schemeClr val="tx1"/>
                </a:solidFill>
              </a:rPr>
              <a:t>moedig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4.  </a:t>
            </a:r>
            <a:r>
              <a:rPr lang="en-US" sz="2100" dirty="0">
                <a:solidFill>
                  <a:schemeClr val="tx1"/>
                </a:solidFill>
              </a:rPr>
              <a:t>De brandweerman is heel </a:t>
            </a:r>
            <a:r>
              <a:rPr lang="en-US" sz="2100" dirty="0">
                <a:solidFill>
                  <a:schemeClr val="tx1"/>
                </a:solidFill>
              </a:rPr>
              <a:t>braaf</a:t>
            </a:r>
            <a:r>
              <a:rPr lang="en-US" sz="2100" dirty="0">
                <a:solidFill>
                  <a:schemeClr val="tx1"/>
                </a:solidFill>
              </a:rPr>
              <a:t> / </a:t>
            </a:r>
            <a:r>
              <a:rPr lang="en-US" sz="2100" dirty="0">
                <a:solidFill>
                  <a:schemeClr val="tx1"/>
                </a:solidFill>
              </a:rPr>
              <a:t>moedig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</p:txBody>
      </p:sp>
      <p:sp>
        <p:nvSpPr>
          <p:cNvPr id="8" name="exercise"/>
          <p:cNvSpPr txBox="1"/>
          <p:nvPr/>
        </p:nvSpPr>
        <p:spPr>
          <a:xfrm>
            <a:off x="4320540" y="2170176"/>
            <a:ext cx="34061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5.  </a:t>
            </a:r>
            <a:r>
              <a:rPr lang="en-US" sz="2100" dirty="0">
                <a:solidFill>
                  <a:schemeClr val="tx1"/>
                </a:solidFill>
              </a:rPr>
              <a:t>Morgen heb ik een </a:t>
            </a:r>
            <a:r>
              <a:rPr lang="en-US" sz="2100" dirty="0">
                <a:solidFill>
                  <a:schemeClr val="tx1"/>
                </a:solidFill>
              </a:rPr>
              <a:t>mondeling</a:t>
            </a:r>
            <a:r>
              <a:rPr lang="en-US" sz="2100" dirty="0">
                <a:solidFill>
                  <a:schemeClr val="tx1"/>
                </a:solidFill>
              </a:rPr>
              <a:t> / </a:t>
            </a:r>
            <a:r>
              <a:rPr lang="en-US" sz="2100" dirty="0">
                <a:solidFill>
                  <a:schemeClr val="tx1"/>
                </a:solidFill>
              </a:rPr>
              <a:t>oraal</a:t>
            </a:r>
            <a:r>
              <a:rPr lang="en-US" sz="2100" dirty="0">
                <a:solidFill>
                  <a:schemeClr val="tx1"/>
                </a:solidFill>
              </a:rPr>
              <a:t> examen.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6.  </a:t>
            </a:r>
            <a:r>
              <a:rPr lang="en-US" sz="2100" dirty="0">
                <a:solidFill>
                  <a:schemeClr val="tx1"/>
                </a:solidFill>
              </a:rPr>
              <a:t>Na de les drinken we iets in </a:t>
            </a:r>
            <a:r>
              <a:rPr lang="en-US" sz="2100" dirty="0">
                <a:solidFill>
                  <a:schemeClr val="tx1"/>
                </a:solidFill>
              </a:rPr>
              <a:t>de koffie</a:t>
            </a:r>
            <a:r>
              <a:rPr lang="en-US" sz="2100" dirty="0">
                <a:solidFill>
                  <a:schemeClr val="tx1"/>
                </a:solidFill>
              </a:rPr>
              <a:t> / </a:t>
            </a:r>
            <a:r>
              <a:rPr lang="en-US" sz="2100" dirty="0">
                <a:solidFill>
                  <a:schemeClr val="tx1"/>
                </a:solidFill>
              </a:rPr>
              <a:t>het café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7.  </a:t>
            </a:r>
            <a:r>
              <a:rPr lang="en-US" sz="2100" dirty="0">
                <a:solidFill>
                  <a:schemeClr val="tx1"/>
                </a:solidFill>
              </a:rPr>
              <a:t>Mijn oma is ziek: ik ben </a:t>
            </a:r>
            <a:r>
              <a:rPr lang="en-US" sz="2100" dirty="0">
                <a:solidFill>
                  <a:schemeClr val="tx1"/>
                </a:solidFill>
              </a:rPr>
              <a:t>verdrietig</a:t>
            </a:r>
            <a:r>
              <a:rPr lang="en-US" sz="2100" dirty="0">
                <a:solidFill>
                  <a:schemeClr val="tx1"/>
                </a:solidFill>
              </a:rPr>
              <a:t> / </a:t>
            </a:r>
            <a:r>
              <a:rPr lang="en-US" sz="2100" dirty="0">
                <a:solidFill>
                  <a:schemeClr val="tx1"/>
                </a:solidFill>
              </a:rPr>
              <a:t>chagrijnig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8.  </a:t>
            </a:r>
            <a:r>
              <a:rPr lang="en-US" sz="2100" dirty="0">
                <a:solidFill>
                  <a:schemeClr val="tx1"/>
                </a:solidFill>
              </a:rPr>
              <a:t>Aan de universiteit geeft </a:t>
            </a:r>
            <a:r>
              <a:rPr lang="en-US" sz="2100" dirty="0">
                <a:solidFill>
                  <a:schemeClr val="tx1"/>
                </a:solidFill>
              </a:rPr>
              <a:t>de leraar</a:t>
            </a:r>
            <a:r>
              <a:rPr lang="en-US" sz="2100" dirty="0">
                <a:solidFill>
                  <a:schemeClr val="tx1"/>
                </a:solidFill>
              </a:rPr>
              <a:t> / </a:t>
            </a:r>
            <a:r>
              <a:rPr lang="en-US" sz="2100" dirty="0">
                <a:solidFill>
                  <a:schemeClr val="tx1"/>
                </a:solidFill>
              </a:rPr>
              <a:t>de professor</a:t>
            </a:r>
            <a:r>
              <a:rPr lang="en-US" sz="2100" dirty="0">
                <a:solidFill>
                  <a:schemeClr val="tx1"/>
                </a:solidFill>
              </a:rPr>
              <a:t> college.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Faux-amis : choisissez le bon mot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5 min — Barrez le faux-ami. Lisez ensuite la phrase correcte à voix haute.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2170176"/>
            <a:ext cx="34061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1.  </a:t>
            </a:r>
            <a:r>
              <a:rPr lang="en-US" sz="2100" dirty="0">
                <a:solidFill>
                  <a:schemeClr val="tx1"/>
                </a:solidFill>
              </a:rPr>
              <a:t>Elke ochtend lees ik </a:t>
            </a:r>
            <a:r>
              <a:rPr lang="en-US" sz="2100" b="1" dirty="0">
                <a:solidFill>
                  <a:schemeClr val="accent3"/>
                </a:solidFill>
              </a:rPr>
              <a:t>de krant</a:t>
            </a:r>
            <a:r>
              <a:rPr lang="en-US" sz="2100" dirty="0">
                <a:solidFill>
                  <a:schemeClr val="tx1"/>
                </a:solidFill>
              </a:rPr>
              <a:t> / </a:t>
            </a:r>
            <a:r>
              <a:rPr lang="en-US" sz="2100" strike="sngStrike" dirty="0">
                <a:solidFill>
                  <a:schemeClr val="accent6"/>
                </a:solidFill>
              </a:rPr>
              <a:t>het journaal</a:t>
            </a:r>
            <a:r>
              <a:rPr lang="en-US" sz="2100" dirty="0">
                <a:solidFill>
                  <a:schemeClr val="tx1"/>
                </a:solidFill>
              </a:rPr>
              <a:t> bij het ontbijt.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2.  </a:t>
            </a:r>
            <a:r>
              <a:rPr lang="en-US" sz="2100" dirty="0">
                <a:solidFill>
                  <a:schemeClr val="tx1"/>
                </a:solidFill>
              </a:rPr>
              <a:t>Om zeven uur kijk ik naar </a:t>
            </a:r>
            <a:r>
              <a:rPr lang="en-US" sz="2100" strike="sngStrike" dirty="0">
                <a:solidFill>
                  <a:schemeClr val="accent6"/>
                </a:solidFill>
              </a:rPr>
              <a:t>de krant</a:t>
            </a:r>
            <a:r>
              <a:rPr lang="en-US" sz="2100" dirty="0">
                <a:solidFill>
                  <a:schemeClr val="tx1"/>
                </a:solidFill>
              </a:rPr>
              <a:t> / </a:t>
            </a:r>
            <a:r>
              <a:rPr lang="en-US" sz="2100" b="1" dirty="0">
                <a:solidFill>
                  <a:schemeClr val="accent3"/>
                </a:solidFill>
              </a:rPr>
              <a:t>het journaal</a:t>
            </a:r>
            <a:r>
              <a:rPr lang="en-US" sz="2100" dirty="0">
                <a:solidFill>
                  <a:schemeClr val="tx1"/>
                </a:solidFill>
              </a:rPr>
              <a:t> op tv.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3.  </a:t>
            </a:r>
            <a:r>
              <a:rPr lang="en-US" sz="2100" dirty="0">
                <a:solidFill>
                  <a:schemeClr val="tx1"/>
                </a:solidFill>
              </a:rPr>
              <a:t>Mijn hond is lief en </a:t>
            </a:r>
            <a:r>
              <a:rPr lang="en-US" sz="2100" b="1" dirty="0">
                <a:solidFill>
                  <a:schemeClr val="accent3"/>
                </a:solidFill>
              </a:rPr>
              <a:t>braaf</a:t>
            </a:r>
            <a:r>
              <a:rPr lang="en-US" sz="2100" dirty="0">
                <a:solidFill>
                  <a:schemeClr val="tx1"/>
                </a:solidFill>
              </a:rPr>
              <a:t> / </a:t>
            </a:r>
            <a:r>
              <a:rPr lang="en-US" sz="2100" strike="sngStrike" dirty="0">
                <a:solidFill>
                  <a:schemeClr val="accent6"/>
                </a:solidFill>
              </a:rPr>
              <a:t>moedig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4.  </a:t>
            </a:r>
            <a:r>
              <a:rPr lang="en-US" sz="2100" dirty="0">
                <a:solidFill>
                  <a:schemeClr val="tx1"/>
                </a:solidFill>
              </a:rPr>
              <a:t>De brandweerman is heel </a:t>
            </a:r>
            <a:r>
              <a:rPr lang="en-US" sz="2100" strike="sngStrike" dirty="0">
                <a:solidFill>
                  <a:schemeClr val="accent6"/>
                </a:solidFill>
              </a:rPr>
              <a:t>braaf</a:t>
            </a:r>
            <a:r>
              <a:rPr lang="en-US" sz="2100" dirty="0">
                <a:solidFill>
                  <a:schemeClr val="tx1"/>
                </a:solidFill>
              </a:rPr>
              <a:t> / </a:t>
            </a:r>
            <a:r>
              <a:rPr lang="en-US" sz="2100" b="1" dirty="0">
                <a:solidFill>
                  <a:schemeClr val="accent3"/>
                </a:solidFill>
              </a:rPr>
              <a:t>moedig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</p:txBody>
      </p:sp>
      <p:sp>
        <p:nvSpPr>
          <p:cNvPr id="9" name="exercise"/>
          <p:cNvSpPr txBox="1"/>
          <p:nvPr/>
        </p:nvSpPr>
        <p:spPr>
          <a:xfrm>
            <a:off x="4320540" y="2170176"/>
            <a:ext cx="34061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5.  </a:t>
            </a:r>
            <a:r>
              <a:rPr lang="en-US" sz="2100" dirty="0">
                <a:solidFill>
                  <a:schemeClr val="tx1"/>
                </a:solidFill>
              </a:rPr>
              <a:t>Morgen heb ik een </a:t>
            </a:r>
            <a:r>
              <a:rPr lang="en-US" sz="2100" b="1" dirty="0">
                <a:solidFill>
                  <a:schemeClr val="accent3"/>
                </a:solidFill>
              </a:rPr>
              <a:t>mondeling</a:t>
            </a:r>
            <a:r>
              <a:rPr lang="en-US" sz="2100" dirty="0">
                <a:solidFill>
                  <a:schemeClr val="tx1"/>
                </a:solidFill>
              </a:rPr>
              <a:t> / </a:t>
            </a:r>
            <a:r>
              <a:rPr lang="en-US" sz="2100" strike="sngStrike" dirty="0">
                <a:solidFill>
                  <a:schemeClr val="accent6"/>
                </a:solidFill>
              </a:rPr>
              <a:t>oraal</a:t>
            </a:r>
            <a:r>
              <a:rPr lang="en-US" sz="2100" dirty="0">
                <a:solidFill>
                  <a:schemeClr val="tx1"/>
                </a:solidFill>
              </a:rPr>
              <a:t> examen.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6.  </a:t>
            </a:r>
            <a:r>
              <a:rPr lang="en-US" sz="2100" dirty="0">
                <a:solidFill>
                  <a:schemeClr val="tx1"/>
                </a:solidFill>
              </a:rPr>
              <a:t>Na de les drinken we iets in </a:t>
            </a:r>
            <a:r>
              <a:rPr lang="en-US" sz="2100" strike="sngStrike" dirty="0">
                <a:solidFill>
                  <a:schemeClr val="accent6"/>
                </a:solidFill>
              </a:rPr>
              <a:t>de koffie</a:t>
            </a:r>
            <a:r>
              <a:rPr lang="en-US" sz="2100" dirty="0">
                <a:solidFill>
                  <a:schemeClr val="tx1"/>
                </a:solidFill>
              </a:rPr>
              <a:t> / </a:t>
            </a:r>
            <a:r>
              <a:rPr lang="en-US" sz="2100" b="1" dirty="0">
                <a:solidFill>
                  <a:schemeClr val="accent3"/>
                </a:solidFill>
              </a:rPr>
              <a:t>het café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7.  </a:t>
            </a:r>
            <a:r>
              <a:rPr lang="en-US" sz="2100" dirty="0">
                <a:solidFill>
                  <a:schemeClr val="tx1"/>
                </a:solidFill>
              </a:rPr>
              <a:t>Mijn oma is ziek: ik ben </a:t>
            </a:r>
            <a:r>
              <a:rPr lang="en-US" sz="2100" b="1" dirty="0">
                <a:solidFill>
                  <a:schemeClr val="accent3"/>
                </a:solidFill>
              </a:rPr>
              <a:t>verdrietig</a:t>
            </a:r>
            <a:r>
              <a:rPr lang="en-US" sz="2100" dirty="0">
                <a:solidFill>
                  <a:schemeClr val="tx1"/>
                </a:solidFill>
              </a:rPr>
              <a:t> / </a:t>
            </a:r>
            <a:r>
              <a:rPr lang="en-US" sz="2100" strike="sngStrike" dirty="0">
                <a:solidFill>
                  <a:schemeClr val="accent6"/>
                </a:solidFill>
              </a:rPr>
              <a:t>chagrijnig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8.  </a:t>
            </a:r>
            <a:r>
              <a:rPr lang="en-US" sz="2100" dirty="0">
                <a:solidFill>
                  <a:schemeClr val="tx1"/>
                </a:solidFill>
              </a:rPr>
              <a:t>Aan de universiteit geeft </a:t>
            </a:r>
            <a:r>
              <a:rPr lang="en-US" sz="2100" strike="sngStrike" dirty="0">
                <a:solidFill>
                  <a:schemeClr val="accent6"/>
                </a:solidFill>
              </a:rPr>
              <a:t>de leraar</a:t>
            </a:r>
            <a:r>
              <a:rPr lang="en-US" sz="2100" dirty="0">
                <a:solidFill>
                  <a:schemeClr val="tx1"/>
                </a:solidFill>
              </a:rPr>
              <a:t> / </a:t>
            </a:r>
            <a:r>
              <a:rPr lang="en-US" sz="2100" b="1" dirty="0">
                <a:solidFill>
                  <a:schemeClr val="accent3"/>
                </a:solidFill>
              </a:rPr>
              <a:t>de professor</a:t>
            </a:r>
            <a:r>
              <a:rPr lang="en-US" sz="2100" dirty="0">
                <a:solidFill>
                  <a:schemeClr val="tx1"/>
                </a:solidFill>
              </a:rPr>
              <a:t> college.</a:t>
            </a:r>
            <a:endParaRPr lang="en-US" sz="2100" dirty="0"/>
          </a:p>
        </p:txBody>
      </p:sp>
      <p:sp>
        <p:nvSpPr>
          <p:cNvPr id="10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een mondeling examen</a:t>
            </a:r>
            <a:r>
              <a:rPr lang="en-US" sz="1800" dirty="0">
                <a:solidFill>
                  <a:schemeClr val="tx1"/>
                </a:solidFill>
              </a:rPr>
              <a:t> : </a:t>
            </a:r>
            <a:r>
              <a:rPr lang="en-US" sz="1800" b="1" dirty="0">
                <a:solidFill>
                  <a:schemeClr val="accent4"/>
                </a:solidFill>
              </a:rPr>
              <a:t>het</a:t>
            </a:r>
            <a:r>
              <a:rPr lang="en-US" sz="1800" dirty="0">
                <a:solidFill>
                  <a:schemeClr val="tx1"/>
                </a:solidFill>
              </a:rPr>
              <a:t> examen + een → pas de -e (fiche p. 61) !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braaf</a:t>
            </a:r>
            <a:r>
              <a:rPr lang="en-US" sz="1800" dirty="0">
                <a:solidFill>
                  <a:schemeClr val="tx1"/>
                </a:solidFill>
              </a:rPr>
              <a:t> = sage · </a:t>
            </a:r>
            <a:r>
              <a:rPr lang="en-US" sz="1800" i="1" dirty="0">
                <a:solidFill>
                  <a:schemeClr val="tx1"/>
                </a:solidFill>
              </a:rPr>
              <a:t>moedig</a:t>
            </a:r>
            <a:r>
              <a:rPr lang="en-US" sz="1800" dirty="0">
                <a:solidFill>
                  <a:schemeClr val="tx1"/>
                </a:solidFill>
              </a:rPr>
              <a:t> = courageux.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4"/>
                </a:solidFill>
              </a:rPr>
              <a:t>het</a:t>
            </a:r>
            <a:r>
              <a:rPr lang="en-US" sz="1800" dirty="0">
                <a:solidFill>
                  <a:schemeClr val="tx1"/>
                </a:solidFill>
              </a:rPr>
              <a:t> café (lieu) ≠ </a:t>
            </a:r>
            <a:r>
              <a:rPr lang="en-US" sz="1800" b="1" dirty="0">
                <a:solidFill>
                  <a:schemeClr val="accent2"/>
                </a:solidFill>
              </a:rPr>
              <a:t>de</a:t>
            </a:r>
            <a:r>
              <a:rPr lang="en-US" sz="1800" dirty="0">
                <a:solidFill>
                  <a:schemeClr val="tx1"/>
                </a:solidFill>
              </a:rPr>
              <a:t> koffie (boisson).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Fiche 4 : S’informer sur le cours — vocabulaire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308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MISE EN SITUATION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Nouveau vocabulaire du </a:t>
            </a:r>
            <a:r>
              <a:rPr lang="en-US" sz="1600" b="1" i="1" dirty="0">
                <a:solidFill>
                  <a:schemeClr val="accent5"/>
                </a:solidFill>
              </a:rPr>
              <a:t>Jalon 1</a:t>
            </a:r>
            <a:r>
              <a:rPr lang="en-US" sz="1600" i="1" dirty="0">
                <a:solidFill>
                  <a:schemeClr val="accent5"/>
                </a:solidFill>
              </a:rPr>
              <a:t> (questions) et du </a:t>
            </a:r>
            <a:r>
              <a:rPr lang="en-US" sz="1600" b="1" i="1" dirty="0">
                <a:solidFill>
                  <a:schemeClr val="accent5"/>
                </a:solidFill>
              </a:rPr>
              <a:t>Jalon 2</a:t>
            </a:r>
            <a:r>
              <a:rPr lang="en-US" sz="1600" i="1" dirty="0">
                <a:solidFill>
                  <a:schemeClr val="accent5"/>
                </a:solidFill>
              </a:rPr>
              <a:t> (réponses). Noms avec leur article.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2651760"/>
                <a:gridCol w="3017520"/>
                <a:gridCol w="2816352"/>
              </a:tblGrid>
              <a:tr h="4718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JALON 1 · NL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JALON 2 · NL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wanneer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quand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maandag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lundi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4"/>
                          </a:solidFill>
                        </a:rPr>
                        <a:t>het</a:t>
                      </a: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 klaslokaal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la salle de classe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nodig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hebben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avoir besoin de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 les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le cours, la leçon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4"/>
                          </a:solidFill>
                        </a:rPr>
                        <a:t>het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oefenboek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le cahier d’exercices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hoeveel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combien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euro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· 120 euro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l’euro · 120 euros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hoe lang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combien de temps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week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· tien weken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la semaine · dix semaines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welke · welk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quel(le)s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verdieping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l’étage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beginnen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commencer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vandaag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aujourd’hui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kosten · duren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coûter · durer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binnenkort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bientôt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 cursus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le cours (la formation)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zich </a:t>
                      </a: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inschrijven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s’inscrire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welk</a:t>
            </a:r>
            <a:r>
              <a:rPr lang="en-US" sz="1500" i="1" dirty="0">
                <a:solidFill>
                  <a:schemeClr val="accent5"/>
                </a:solidFill>
              </a:rPr>
              <a:t> devant un mot en </a:t>
            </a:r>
            <a:r>
              <a:rPr lang="en-US" sz="1500" b="1" i="1" dirty="0">
                <a:solidFill>
                  <a:schemeClr val="accent4"/>
                </a:solidFill>
              </a:rPr>
              <a:t>het</a:t>
            </a:r>
            <a:r>
              <a:rPr lang="en-US" sz="1500" i="1" dirty="0">
                <a:solidFill>
                  <a:schemeClr val="accent5"/>
                </a:solidFill>
              </a:rPr>
              <a:t> au singulier (</a:t>
            </a:r>
            <a:r>
              <a:rPr lang="en-US" sz="1500" i="1" dirty="0">
                <a:solidFill>
                  <a:schemeClr val="accent5"/>
                </a:solidFill>
              </a:rPr>
              <a:t>welk lokaal?</a:t>
            </a:r>
            <a:r>
              <a:rPr lang="en-US" sz="1500" i="1" dirty="0">
                <a:solidFill>
                  <a:schemeClr val="accent5"/>
                </a:solidFill>
              </a:rPr>
              <a:t>) ; </a:t>
            </a:r>
            <a:r>
              <a:rPr lang="en-US" sz="1500" i="1" dirty="0">
                <a:solidFill>
                  <a:schemeClr val="accent5"/>
                </a:solidFill>
              </a:rPr>
              <a:t>welke</a:t>
            </a:r>
            <a:r>
              <a:rPr lang="en-US" sz="1500" i="1" dirty="0">
                <a:solidFill>
                  <a:schemeClr val="accent5"/>
                </a:solidFill>
              </a:rPr>
              <a:t> partout ailleurs (</a:t>
            </a:r>
            <a:r>
              <a:rPr lang="en-US" sz="1500" i="1" dirty="0">
                <a:solidFill>
                  <a:schemeClr val="accent5"/>
                </a:solidFill>
              </a:rPr>
              <a:t>welke boeken?</a:t>
            </a:r>
            <a:r>
              <a:rPr lang="en-US" sz="1500" i="1" dirty="0">
                <a:solidFill>
                  <a:schemeClr val="accent5"/>
                </a:solidFill>
              </a:rPr>
              <a:t>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Fiche 4 · Jalon 1 (A1) : questionner sur le cours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JALON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10 min — Traduisez, puis comparez avec votre voisin. </a:t>
            </a:r>
            <a:r>
              <a:rPr lang="en-US" sz="1600" b="1" i="1" dirty="0">
                <a:solidFill>
                  <a:schemeClr val="accent5"/>
                </a:solidFill>
              </a:rPr>
              <a:t>I</a:t>
            </a:r>
            <a:r>
              <a:rPr lang="en-US" sz="1600" i="1" dirty="0">
                <a:solidFill>
                  <a:schemeClr val="accent5"/>
                </a:solidFill>
              </a:rPr>
              <a:t> interrogative · </a:t>
            </a:r>
            <a:r>
              <a:rPr lang="en-US" sz="1600" b="1" i="1" dirty="0">
                <a:solidFill>
                  <a:schemeClr val="accent5"/>
                </a:solidFill>
              </a:rPr>
              <a:t>N</a:t>
            </a:r>
            <a:r>
              <a:rPr lang="en-US" sz="1600" i="1" dirty="0">
                <a:solidFill>
                  <a:schemeClr val="accent5"/>
                </a:solidFill>
              </a:rPr>
              <a:t> négative.</a:t>
            </a:r>
            <a:endParaRPr lang="en-US" sz="1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731520"/>
                <a:gridCol w="4572000"/>
                <a:gridCol w="5148072"/>
              </a:tblGrid>
              <a:tr h="6199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N°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NEDERLANDS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Quand commence le cours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Où est la salle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302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Combien coûte le cours et combien de temps dure-t-il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302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Le cours ne commence pas en septembre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Quels livres faut-il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Mot interrogatif + </a:t>
            </a:r>
            <a:r>
              <a:rPr lang="en-US" sz="1500" b="1" i="1" dirty="0">
                <a:solidFill>
                  <a:schemeClr val="accent5"/>
                </a:solidFill>
              </a:rPr>
              <a:t>verbe</a:t>
            </a:r>
            <a:r>
              <a:rPr lang="en-US" sz="1500" i="1" dirty="0">
                <a:solidFill>
                  <a:schemeClr val="accent5"/>
                </a:solidFill>
              </a:rPr>
              <a:t> + sujet : </a:t>
            </a:r>
            <a:r>
              <a:rPr lang="en-US" sz="1500" i="1" dirty="0">
                <a:solidFill>
                  <a:schemeClr val="accent5"/>
                </a:solidFill>
              </a:rPr>
              <a:t>Wanneer </a:t>
            </a:r>
            <a:r>
              <a:rPr lang="en-US" sz="1500" b="1" i="1" dirty="0">
                <a:solidFill>
                  <a:schemeClr val="accent5"/>
                </a:solidFill>
              </a:rPr>
              <a:t>begint</a:t>
            </a:r>
            <a:r>
              <a:rPr lang="en-US" sz="1500" i="1" dirty="0">
                <a:solidFill>
                  <a:schemeClr val="accent5"/>
                </a:solidFill>
              </a:rPr>
              <a:t> de cursus?</a:t>
            </a:r>
            <a:r>
              <a:rPr lang="en-US" sz="1500" i="1" dirty="0">
                <a:solidFill>
                  <a:schemeClr val="accent5"/>
                </a:solidFill>
              </a:rPr>
              <a:t> — sans mot interrogatif, le verbe ouvre la question.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Fiche 4 · Jalon 1 (A1) : questionner sur le cours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JALON 1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95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10 min — Traduisez, puis comparez avec votre voisin. </a:t>
            </a:r>
            <a:r>
              <a:rPr lang="en-US" sz="1600" b="1" i="1" dirty="0">
                <a:solidFill>
                  <a:schemeClr val="accent5"/>
                </a:solidFill>
              </a:rPr>
              <a:t>I</a:t>
            </a:r>
            <a:r>
              <a:rPr lang="en-US" sz="1600" i="1" dirty="0">
                <a:solidFill>
                  <a:schemeClr val="accent5"/>
                </a:solidFill>
              </a:rPr>
              <a:t> interrogative · </a:t>
            </a:r>
            <a:r>
              <a:rPr lang="en-US" sz="1600" b="1" i="1" dirty="0">
                <a:solidFill>
                  <a:schemeClr val="accent5"/>
                </a:solidFill>
              </a:rPr>
              <a:t>N</a:t>
            </a:r>
            <a:r>
              <a:rPr lang="en-US" sz="1600" i="1" dirty="0">
                <a:solidFill>
                  <a:schemeClr val="accent5"/>
                </a:solidFill>
              </a:rPr>
              <a:t> négative.</a:t>
            </a:r>
            <a:endParaRPr lang="en-US" sz="1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731520"/>
                <a:gridCol w="4572000"/>
                <a:gridCol w="5148072"/>
              </a:tblGrid>
              <a:tr h="6199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N°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NEDERLANDS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Quand commence le cours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Wanneer begint de cursus?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Où est la salle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Waar is het klaslokaal?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302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Combien coûte le cours et combien de temps dure-t-il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Hoeveel kost de cursus en hoe lang duurt hij?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302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Le cours ne commence pas en septembre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Begint de cursus niet in september?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Quels livres faut-il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Welke boeken heb ik nodig?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Mot interrogatif + </a:t>
            </a:r>
            <a:r>
              <a:rPr lang="en-US" sz="1500" b="1" i="1" dirty="0">
                <a:solidFill>
                  <a:schemeClr val="accent5"/>
                </a:solidFill>
              </a:rPr>
              <a:t>verbe</a:t>
            </a:r>
            <a:r>
              <a:rPr lang="en-US" sz="1500" i="1" dirty="0">
                <a:solidFill>
                  <a:schemeClr val="accent5"/>
                </a:solidFill>
              </a:rPr>
              <a:t> + sujet : </a:t>
            </a:r>
            <a:r>
              <a:rPr lang="en-US" sz="1500" i="1" dirty="0">
                <a:solidFill>
                  <a:schemeClr val="accent5"/>
                </a:solidFill>
              </a:rPr>
              <a:t>Wanneer </a:t>
            </a:r>
            <a:r>
              <a:rPr lang="en-US" sz="1500" b="1" i="1" dirty="0">
                <a:solidFill>
                  <a:schemeClr val="accent5"/>
                </a:solidFill>
              </a:rPr>
              <a:t>begint</a:t>
            </a:r>
            <a:r>
              <a:rPr lang="en-US" sz="1500" i="1" dirty="0">
                <a:solidFill>
                  <a:schemeClr val="accent5"/>
                </a:solidFill>
              </a:rPr>
              <a:t> de cursus?</a:t>
            </a:r>
            <a:r>
              <a:rPr lang="en-US" sz="1500" i="1" dirty="0">
                <a:solidFill>
                  <a:schemeClr val="accent5"/>
                </a:solidFill>
              </a:rPr>
              <a:t> — sans mot interrogatif, le verbe ouvre la question.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Fiche 4 · Jalon 2 (A2) : répondre sur le cours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JALON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10 min — Traduisez. </a:t>
            </a:r>
            <a:r>
              <a:rPr lang="en-US" sz="1600" b="1" i="1" dirty="0">
                <a:solidFill>
                  <a:schemeClr val="accent5"/>
                </a:solidFill>
              </a:rPr>
              <a:t>D</a:t>
            </a:r>
            <a:r>
              <a:rPr lang="en-US" sz="1600" i="1" dirty="0">
                <a:solidFill>
                  <a:schemeClr val="accent5"/>
                </a:solidFill>
              </a:rPr>
              <a:t> déclarative · </a:t>
            </a:r>
            <a:r>
              <a:rPr lang="en-US" sz="1600" b="1" i="1" dirty="0">
                <a:solidFill>
                  <a:schemeClr val="accent5"/>
                </a:solidFill>
              </a:rPr>
              <a:t>N</a:t>
            </a:r>
            <a:r>
              <a:rPr lang="en-US" sz="1600" i="1" dirty="0">
                <a:solidFill>
                  <a:schemeClr val="accent5"/>
                </a:solidFill>
              </a:rPr>
              <a:t> négative. Attention au </a:t>
            </a:r>
            <a:r>
              <a:rPr lang="en-US" sz="1600" b="1" i="1" dirty="0">
                <a:solidFill>
                  <a:schemeClr val="accent5"/>
                </a:solidFill>
              </a:rPr>
              <a:t>pluriel</a:t>
            </a:r>
            <a:r>
              <a:rPr lang="en-US" sz="1600" i="1" dirty="0">
                <a:solidFill>
                  <a:schemeClr val="accent5"/>
                </a:solidFill>
              </a:rPr>
              <a:t> et à la </a:t>
            </a:r>
            <a:r>
              <a:rPr lang="en-US" sz="1600" b="1" i="1" dirty="0">
                <a:solidFill>
                  <a:schemeClr val="accent5"/>
                </a:solidFill>
              </a:rPr>
              <a:t>place du verbe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731520"/>
                <a:gridCol w="4206240"/>
                <a:gridCol w="5513832"/>
              </a:tblGrid>
              <a:tr h="5266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N°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NEDERLANDS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Le cours commence lundi et dure dix semaines.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Il coûte 120 euros, livre compris.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La salle n’est pas au premier étage, mais au deuxième.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Comme le cours commence bientôt, je m’inscris aujourd’hui.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J’ai besoin d’un livre et d’un cahier pour lundi.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120 </a:t>
            </a:r>
            <a:r>
              <a:rPr lang="en-US" sz="1500" b="1" i="1" dirty="0">
                <a:solidFill>
                  <a:schemeClr val="accent5"/>
                </a:solidFill>
              </a:rPr>
              <a:t>euro</a:t>
            </a:r>
            <a:r>
              <a:rPr lang="en-US" sz="1500" i="1" dirty="0">
                <a:solidFill>
                  <a:schemeClr val="accent5"/>
                </a:solidFill>
              </a:rPr>
              <a:t> mais </a:t>
            </a:r>
            <a:r>
              <a:rPr lang="en-US" sz="1500" i="1" dirty="0">
                <a:solidFill>
                  <a:schemeClr val="accent5"/>
                </a:solidFill>
              </a:rPr>
              <a:t>tien </a:t>
            </a:r>
            <a:r>
              <a:rPr lang="en-US" sz="1500" b="1" i="1" dirty="0">
                <a:solidFill>
                  <a:schemeClr val="accent5"/>
                </a:solidFill>
              </a:rPr>
              <a:t>weken</a:t>
            </a:r>
            <a:r>
              <a:rPr lang="en-US" sz="1500" i="1" dirty="0">
                <a:solidFill>
                  <a:schemeClr val="accent5"/>
                </a:solidFill>
              </a:rPr>
              <a:t> · </a:t>
            </a:r>
            <a:r>
              <a:rPr lang="en-US" sz="1500" i="1" dirty="0">
                <a:solidFill>
                  <a:schemeClr val="accent5"/>
                </a:solidFill>
              </a:rPr>
              <a:t>nodig hebben</a:t>
            </a:r>
            <a:r>
              <a:rPr lang="en-US" sz="1500" i="1" dirty="0">
                <a:solidFill>
                  <a:schemeClr val="accent5"/>
                </a:solidFill>
              </a:rPr>
              <a:t> : </a:t>
            </a:r>
            <a:r>
              <a:rPr lang="en-US" sz="1500" b="1" i="1" dirty="0">
                <a:solidFill>
                  <a:schemeClr val="accent5"/>
                </a:solidFill>
              </a:rPr>
              <a:t>nodig</a:t>
            </a:r>
            <a:r>
              <a:rPr lang="en-US" sz="1500" i="1" dirty="0">
                <a:solidFill>
                  <a:schemeClr val="accent5"/>
                </a:solidFill>
              </a:rPr>
              <a:t> part vers la fin · phrase 4 : voir la diapositive suivante.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Fiche 4 · Jalon 2 (A2) : répondre sur le cours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JALON 2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95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10 min — Traduisez. </a:t>
            </a:r>
            <a:r>
              <a:rPr lang="en-US" sz="1600" b="1" i="1" dirty="0">
                <a:solidFill>
                  <a:schemeClr val="accent5"/>
                </a:solidFill>
              </a:rPr>
              <a:t>D</a:t>
            </a:r>
            <a:r>
              <a:rPr lang="en-US" sz="1600" i="1" dirty="0">
                <a:solidFill>
                  <a:schemeClr val="accent5"/>
                </a:solidFill>
              </a:rPr>
              <a:t> déclarative · </a:t>
            </a:r>
            <a:r>
              <a:rPr lang="en-US" sz="1600" b="1" i="1" dirty="0">
                <a:solidFill>
                  <a:schemeClr val="accent5"/>
                </a:solidFill>
              </a:rPr>
              <a:t>N</a:t>
            </a:r>
            <a:r>
              <a:rPr lang="en-US" sz="1600" i="1" dirty="0">
                <a:solidFill>
                  <a:schemeClr val="accent5"/>
                </a:solidFill>
              </a:rPr>
              <a:t> négative. Attention au </a:t>
            </a:r>
            <a:r>
              <a:rPr lang="en-US" sz="1600" b="1" i="1" dirty="0">
                <a:solidFill>
                  <a:schemeClr val="accent5"/>
                </a:solidFill>
              </a:rPr>
              <a:t>pluriel</a:t>
            </a:r>
            <a:r>
              <a:rPr lang="en-US" sz="1600" i="1" dirty="0">
                <a:solidFill>
                  <a:schemeClr val="accent5"/>
                </a:solidFill>
              </a:rPr>
              <a:t> et à la </a:t>
            </a:r>
            <a:r>
              <a:rPr lang="en-US" sz="1600" b="1" i="1" dirty="0">
                <a:solidFill>
                  <a:schemeClr val="accent5"/>
                </a:solidFill>
              </a:rPr>
              <a:t>place du verbe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731520"/>
                <a:gridCol w="4206240"/>
                <a:gridCol w="5513832"/>
              </a:tblGrid>
              <a:tr h="5266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N°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NEDERLANDS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Le cours commence lundi et dure dix semaines.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accent3"/>
                          </a:solidFill>
                        </a:rPr>
                        <a:t>De cursus begint maandag en duurt tien weken.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Il coûte 120 euros, livre compris.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accent3"/>
                          </a:solidFill>
                        </a:rPr>
                        <a:t>Hij kost 120 euro, inclusief het boek.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La salle n’est pas au premier étage, mais au deuxième.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accent3"/>
                          </a:solidFill>
                        </a:rPr>
                        <a:t>Het klaslokaal is niet op de eerste verdieping, maar op de tweede.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Comme le cours commence bientôt, je m’inscris aujourd’hui.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accent3"/>
                          </a:solidFill>
                        </a:rPr>
                        <a:t>Omdat de cursus binnenkort begint, schrijf ik me vandaag in.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J’ai besoin d’un livre et d’un cahier pour lundi.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accent3"/>
                          </a:solidFill>
                        </a:rPr>
                        <a:t>Ik heb een boek en een oefenboek nodig voor maandag.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120 </a:t>
            </a:r>
            <a:r>
              <a:rPr lang="en-US" sz="1500" b="1" i="1" dirty="0">
                <a:solidFill>
                  <a:schemeClr val="accent5"/>
                </a:solidFill>
              </a:rPr>
              <a:t>euro</a:t>
            </a:r>
            <a:r>
              <a:rPr lang="en-US" sz="1500" i="1" dirty="0">
                <a:solidFill>
                  <a:schemeClr val="accent5"/>
                </a:solidFill>
              </a:rPr>
              <a:t> mais </a:t>
            </a:r>
            <a:r>
              <a:rPr lang="en-US" sz="1500" i="1" dirty="0">
                <a:solidFill>
                  <a:schemeClr val="accent5"/>
                </a:solidFill>
              </a:rPr>
              <a:t>tien </a:t>
            </a:r>
            <a:r>
              <a:rPr lang="en-US" sz="1500" b="1" i="1" dirty="0">
                <a:solidFill>
                  <a:schemeClr val="accent5"/>
                </a:solidFill>
              </a:rPr>
              <a:t>weken</a:t>
            </a:r>
            <a:r>
              <a:rPr lang="en-US" sz="1500" i="1" dirty="0">
                <a:solidFill>
                  <a:schemeClr val="accent5"/>
                </a:solidFill>
              </a:rPr>
              <a:t> · </a:t>
            </a:r>
            <a:r>
              <a:rPr lang="en-US" sz="1500" i="1" dirty="0">
                <a:solidFill>
                  <a:schemeClr val="accent5"/>
                </a:solidFill>
              </a:rPr>
              <a:t>nodig hebben</a:t>
            </a:r>
            <a:r>
              <a:rPr lang="en-US" sz="1500" i="1" dirty="0">
                <a:solidFill>
                  <a:schemeClr val="accent5"/>
                </a:solidFill>
              </a:rPr>
              <a:t> : </a:t>
            </a:r>
            <a:r>
              <a:rPr lang="en-US" sz="1500" b="1" i="1" dirty="0">
                <a:solidFill>
                  <a:schemeClr val="accent5"/>
                </a:solidFill>
              </a:rPr>
              <a:t>nodig</a:t>
            </a:r>
            <a:r>
              <a:rPr lang="en-US" sz="1500" i="1" dirty="0">
                <a:solidFill>
                  <a:schemeClr val="accent5"/>
                </a:solidFill>
              </a:rPr>
              <a:t> part vers la fin · phrase 4 : voir la diapositive suivante.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Phrase-clé : nodig hebben et zich inschrijven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Le verbe en </a:t>
            </a:r>
            <a:r>
              <a:rPr lang="en-US" sz="1800" b="1" dirty="0">
                <a:solidFill>
                  <a:schemeClr val="tx1"/>
                </a:solidFill>
              </a:rPr>
              <a:t>2e position</a:t>
            </a:r>
            <a:r>
              <a:rPr lang="en-US" sz="1800" dirty="0">
                <a:solidFill>
                  <a:schemeClr val="tx1"/>
                </a:solidFill>
              </a:rPr>
              <a:t>, le reste (</a:t>
            </a:r>
            <a:r>
              <a:rPr lang="en-US" sz="1800" b="1" dirty="0">
                <a:solidFill>
                  <a:schemeClr val="tx1"/>
                </a:solidFill>
              </a:rPr>
              <a:t>nodig</a:t>
            </a:r>
            <a:r>
              <a:rPr lang="en-US" sz="1800" dirty="0">
                <a:solidFill>
                  <a:schemeClr val="tx1"/>
                </a:solidFill>
              </a:rPr>
              <a:t>, la </a:t>
            </a:r>
            <a:r>
              <a:rPr lang="en-US" sz="1800" b="1" dirty="0">
                <a:solidFill>
                  <a:schemeClr val="tx1"/>
                </a:solidFill>
              </a:rPr>
              <a:t>particule</a:t>
            </a:r>
            <a:r>
              <a:rPr lang="en-US" sz="1800" dirty="0">
                <a:solidFill>
                  <a:schemeClr val="tx1"/>
                </a:solidFill>
              </a:rPr>
              <a:t>) part </a:t>
            </a:r>
            <a:r>
              <a:rPr lang="en-US" sz="1800" b="1" dirty="0">
                <a:solidFill>
                  <a:schemeClr val="tx1"/>
                </a:solidFill>
              </a:rPr>
              <a:t>à la fin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8541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nodig hebben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2103120" y="194767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3120" y="2185416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139696" y="2185416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Ik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2898648" y="194767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898648" y="2185416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935224" y="2185416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heb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694176" y="1947672"/>
            <a:ext cx="1174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objet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94176" y="2185416"/>
            <a:ext cx="1174496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730752" y="2185416"/>
            <a:ext cx="1101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een boek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978400" y="1947672"/>
            <a:ext cx="857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fin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978400" y="2185416"/>
            <a:ext cx="857504" cy="329184"/>
          </a:xfrm>
          <a:prstGeom prst="roundRect">
            <a:avLst>
              <a:gd name="adj" fmla="val 16667"/>
            </a:avLst>
          </a:prstGeom>
          <a:solidFill>
            <a:schemeClr val="accent1">
              <a:alpha val="88000"/>
            </a:schemeClr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14976" y="2185416"/>
            <a:ext cx="784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nodig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2103120" y="2542032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J’ai besoin d’un livre.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303961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zich inschrijven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2103120" y="280187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103120" y="3039618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139696" y="3039618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Ik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2898648" y="2801874"/>
            <a:ext cx="106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898648" y="3039618"/>
            <a:ext cx="1068832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935224" y="3039618"/>
            <a:ext cx="99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schrijf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4077208" y="280187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pronom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077208" y="3039618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113784" y="3039618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4872736" y="2801874"/>
            <a:ext cx="106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tijd · quand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872736" y="3039618"/>
            <a:ext cx="1068832" cy="329184"/>
          </a:xfrm>
          <a:prstGeom prst="roundRect">
            <a:avLst>
              <a:gd name="adj" fmla="val 16667"/>
            </a:avLst>
          </a:prstGeom>
          <a:solidFill>
            <a:schemeClr val="accent2">
              <a:alpha val="88000"/>
            </a:schemeClr>
          </a:solidFill>
          <a:ln w="12700">
            <a:solidFill>
              <a:srgbClr val="2A6FB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909312" y="3039618"/>
            <a:ext cx="99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vandaag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6051296" y="280187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particule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051296" y="3039618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1">
              <a:alpha val="88000"/>
            </a:schemeClr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087872" y="3039618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2103120" y="3396234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Je m’inscris aujourd’hui.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38938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omdat en tête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2103120" y="3656076"/>
            <a:ext cx="392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position 1 = toute la subordonnée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2103120" y="3893820"/>
            <a:ext cx="3921760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2139696" y="3893820"/>
            <a:ext cx="384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Omdat de cursus binnenkort begint,</a:t>
            </a:r>
            <a:endParaRPr lang="en-US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6134608" y="3656076"/>
            <a:ext cx="106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134608" y="3893820"/>
            <a:ext cx="1068832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171184" y="3893820"/>
            <a:ext cx="99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schrijf</a:t>
            </a:r>
            <a:endParaRPr lang="en-US" sz="1600" dirty="0"/>
          </a:p>
        </p:txBody>
      </p:sp>
      <p:sp>
        <p:nvSpPr>
          <p:cNvPr id="45" name="Text 42"/>
          <p:cNvSpPr txBox="1"/>
          <p:nvPr/>
        </p:nvSpPr>
        <p:spPr>
          <a:xfrm>
            <a:off x="7313168" y="365607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7313168" y="3893820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7349744" y="3893820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ik</a:t>
            </a:r>
            <a:endParaRPr lang="en-US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8108696" y="3656076"/>
            <a:ext cx="1385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8108696" y="3893820"/>
            <a:ext cx="1385824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145272" y="3893820"/>
            <a:ext cx="1312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 vandaag</a:t>
            </a:r>
            <a:endParaRPr lang="en-US" sz="1600" dirty="0"/>
          </a:p>
        </p:txBody>
      </p:sp>
      <p:sp>
        <p:nvSpPr>
          <p:cNvPr id="51" name="Text 48"/>
          <p:cNvSpPr txBox="1"/>
          <p:nvPr/>
        </p:nvSpPr>
        <p:spPr>
          <a:xfrm>
            <a:off x="9604248" y="365607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particule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9604248" y="3893820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1">
              <a:alpha val="88000"/>
            </a:schemeClr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9640824" y="3893820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</a:t>
            </a:r>
            <a:endParaRPr lang="en-US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2103120" y="4250436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Comme le cours commence bientôt, je m’inscris aujourd’hui.</a:t>
            </a:r>
            <a:endParaRPr lang="en-US" sz="1400" dirty="0"/>
          </a:p>
        </p:txBody>
      </p:sp>
      <p:sp>
        <p:nvSpPr>
          <p:cNvPr id="55" name="Text 52"/>
          <p:cNvSpPr txBox="1"/>
          <p:nvPr/>
        </p:nvSpPr>
        <p:spPr>
          <a:xfrm>
            <a:off x="548640" y="474802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welke</a:t>
            </a:r>
            <a:endParaRPr lang="en-US" sz="1400" dirty="0"/>
          </a:p>
        </p:txBody>
      </p:sp>
      <p:sp>
        <p:nvSpPr>
          <p:cNvPr id="56" name="Text 53"/>
          <p:cNvSpPr txBox="1"/>
          <p:nvPr/>
        </p:nvSpPr>
        <p:spPr>
          <a:xfrm>
            <a:off x="2103120" y="4510278"/>
            <a:ext cx="1597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4A9E"/>
                </a:solidFill>
              </a:rPr>
              <a:t>mot W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2103120" y="4748022"/>
            <a:ext cx="1597152" cy="329184"/>
          </a:xfrm>
          <a:prstGeom prst="roundRect">
            <a:avLst>
              <a:gd name="adj" fmla="val 16667"/>
            </a:avLst>
          </a:prstGeom>
          <a:solidFill>
            <a:srgbClr val="6E4A9E">
              <a:alpha val="88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2139696" y="4748022"/>
            <a:ext cx="152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Welke boeken</a:t>
            </a:r>
            <a:endParaRPr lang="en-US" sz="1600" dirty="0"/>
          </a:p>
        </p:txBody>
      </p:sp>
      <p:sp>
        <p:nvSpPr>
          <p:cNvPr id="59" name="Text 56"/>
          <p:cNvSpPr txBox="1"/>
          <p:nvPr/>
        </p:nvSpPr>
        <p:spPr>
          <a:xfrm>
            <a:off x="3810000" y="451027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3810000" y="4748022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3846576" y="4748022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heb</a:t>
            </a:r>
            <a:endParaRPr lang="en-US" sz="1600" dirty="0"/>
          </a:p>
        </p:txBody>
      </p:sp>
      <p:sp>
        <p:nvSpPr>
          <p:cNvPr id="62" name="Text 59"/>
          <p:cNvSpPr txBox="1"/>
          <p:nvPr/>
        </p:nvSpPr>
        <p:spPr>
          <a:xfrm>
            <a:off x="4605528" y="451027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4605528" y="4748022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4642104" y="4748022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ik</a:t>
            </a:r>
            <a:endParaRPr lang="en-US" sz="1600" dirty="0"/>
          </a:p>
        </p:txBody>
      </p:sp>
      <p:sp>
        <p:nvSpPr>
          <p:cNvPr id="65" name="Text 62"/>
          <p:cNvSpPr txBox="1"/>
          <p:nvPr/>
        </p:nvSpPr>
        <p:spPr>
          <a:xfrm>
            <a:off x="5401056" y="4510278"/>
            <a:ext cx="96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fin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5401056" y="4748022"/>
            <a:ext cx="963168" cy="329184"/>
          </a:xfrm>
          <a:prstGeom prst="roundRect">
            <a:avLst>
              <a:gd name="adj" fmla="val 16667"/>
            </a:avLst>
          </a:prstGeom>
          <a:solidFill>
            <a:schemeClr val="accent1">
              <a:alpha val="88000"/>
            </a:schemeClr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5437632" y="4748022"/>
            <a:ext cx="89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nodig?</a:t>
            </a:r>
            <a:endParaRPr lang="en-US" sz="1600" dirty="0"/>
          </a:p>
        </p:txBody>
      </p:sp>
      <p:sp>
        <p:nvSpPr>
          <p:cNvPr id="68" name="Text 65"/>
          <p:cNvSpPr txBox="1"/>
          <p:nvPr/>
        </p:nvSpPr>
        <p:spPr>
          <a:xfrm>
            <a:off x="2103120" y="5104638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De quels livres ai-je besoin ?</a:t>
            </a:r>
            <a:endParaRPr lang="en-US" sz="1400" dirty="0"/>
          </a:p>
        </p:txBody>
      </p:sp>
      <p:sp>
        <p:nvSpPr>
          <p:cNvPr id="69" name="Shape 66"/>
          <p:cNvSpPr/>
          <p:nvPr/>
        </p:nvSpPr>
        <p:spPr>
          <a:xfrm>
            <a:off x="548640" y="5565648"/>
            <a:ext cx="11091672" cy="725424"/>
          </a:xfrm>
          <a:prstGeom prst="roundRect">
            <a:avLst>
              <a:gd name="adj" fmla="val 10084"/>
            </a:avLst>
          </a:prstGeom>
          <a:solidFill>
            <a:schemeClr val="accent6">
              <a:alpha val="10000"/>
            </a:schemeClr>
          </a:solidFill>
          <a:ln w="9525">
            <a:solidFill>
              <a:schemeClr val="accent6">
                <a:alpha val="70000"/>
              </a:schemeClr>
            </a:solidFill>
            <a:prstDash val="solid"/>
          </a:ln>
        </p:spPr>
      </p:sp>
      <p:pic>
        <p:nvPicPr>
          <p:cNvPr id="7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63768"/>
            <a:ext cx="329184" cy="329184"/>
          </a:xfrm>
          <a:prstGeom prst="rect">
            <a:avLst/>
          </a:prstGeom>
        </p:spPr>
      </p:pic>
      <p:sp>
        <p:nvSpPr>
          <p:cNvPr id="71" name="Text 67"/>
          <p:cNvSpPr txBox="1"/>
          <p:nvPr/>
        </p:nvSpPr>
        <p:spPr>
          <a:xfrm>
            <a:off x="1234440" y="5602224"/>
            <a:ext cx="102870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Piège pour francophones — </a:t>
            </a:r>
            <a:r>
              <a:rPr lang="en-US" sz="1600" dirty="0">
                <a:solidFill>
                  <a:schemeClr val="tx1"/>
                </a:solidFill>
              </a:rPr>
              <a:t>Le français dit </a:t>
            </a:r>
            <a:r>
              <a:rPr lang="en-US" sz="1600" i="1" dirty="0">
                <a:solidFill>
                  <a:schemeClr val="tx1"/>
                </a:solidFill>
              </a:rPr>
              <a:t>Comme le cours commence bientôt, </a:t>
            </a:r>
            <a:r>
              <a:rPr lang="en-US" sz="1600" b="1" i="1" dirty="0">
                <a:solidFill>
                  <a:schemeClr val="tx1"/>
                </a:solidFill>
              </a:rPr>
              <a:t>je m’inscris</a:t>
            </a:r>
            <a:r>
              <a:rPr lang="en-US" sz="1600" dirty="0">
                <a:solidFill>
                  <a:schemeClr val="tx1"/>
                </a:solidFill>
              </a:rPr>
              <a:t>. En néerlandais, la subordonnée prend la 1re place : le verbe suit </a:t>
            </a:r>
            <a:r>
              <a:rPr lang="en-US" sz="1600" b="1" dirty="0">
                <a:solidFill>
                  <a:schemeClr val="tx1"/>
                </a:solidFill>
              </a:rPr>
              <a:t>tout de suite</a:t>
            </a:r>
            <a:r>
              <a:rPr lang="en-US" sz="1600" dirty="0">
                <a:solidFill>
                  <a:schemeClr val="tx1"/>
                </a:solidFill>
              </a:rPr>
              <a:t> — </a:t>
            </a:r>
            <a:r>
              <a:rPr lang="en-US" sz="1600" i="1" dirty="0">
                <a:solidFill>
                  <a:schemeClr val="tx1"/>
                </a:solidFill>
              </a:rPr>
              <a:t>…, </a:t>
            </a:r>
            <a:r>
              <a:rPr lang="en-US" sz="1600" b="1" i="1" dirty="0">
                <a:solidFill>
                  <a:schemeClr val="tx1"/>
                </a:solidFill>
              </a:rPr>
              <a:t>schrijf ik</a:t>
            </a:r>
            <a:r>
              <a:rPr lang="en-US" sz="1600" i="1" dirty="0">
                <a:solidFill>
                  <a:schemeClr val="tx1"/>
                </a:solidFill>
              </a:rPr>
              <a:t> me vandaag in</a:t>
            </a:r>
            <a:r>
              <a:rPr lang="en-US" sz="1600" dirty="0">
                <a:solidFill>
                  <a:schemeClr val="tx1"/>
                </a:solidFill>
              </a:rPr>
              <a:t> (✗ </a:t>
            </a:r>
            <a:r>
              <a:rPr lang="en-US" sz="1600" i="1" dirty="0">
                <a:solidFill>
                  <a:schemeClr val="tx1"/>
                </a:solidFill>
              </a:rPr>
              <a:t>…, ik schrijf me in</a:t>
            </a:r>
            <a:r>
              <a:rPr lang="en-US" sz="1600" dirty="0">
                <a:solidFill>
                  <a:schemeClr val="tx1"/>
                </a:solidFill>
              </a:rPr>
              <a:t>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Jeu de rôle : au secrétariat de l’école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308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MISE EN SITUATION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Par deux · 10 min — A s’informe sur le cours, B répond avec la fiche du secrétariat. Puis on inverse les rôles.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1889760"/>
            <a:ext cx="5431536" cy="4401312"/>
          </a:xfrm>
          <a:prstGeom prst="roundRect">
            <a:avLst>
              <a:gd name="adj" fmla="val 1662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800" y="202692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2A6FB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100072"/>
            <a:ext cx="347472" cy="34747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5800" y="249326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1999488"/>
            <a:ext cx="4151376" cy="418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A — futur·e étudiant·e.</a:t>
            </a:r>
            <a:r>
              <a:rPr lang="en-US" sz="2200" dirty="0">
                <a:solidFill>
                  <a:schemeClr val="tx1"/>
                </a:solidFill>
              </a:rPr>
              <a:t> Saluez, puis demandez : </a:t>
            </a:r>
            <a:r>
              <a:rPr lang="en-US" sz="2200" b="1" dirty="0">
                <a:solidFill>
                  <a:schemeClr val="tx1"/>
                </a:solidFill>
              </a:rPr>
              <a:t>quand</a:t>
            </a:r>
            <a:r>
              <a:rPr lang="en-US" sz="2200" dirty="0">
                <a:solidFill>
                  <a:schemeClr val="tx1"/>
                </a:solidFill>
              </a:rPr>
              <a:t> le cours commence, </a:t>
            </a:r>
            <a:r>
              <a:rPr lang="en-US" sz="2200" b="1" dirty="0">
                <a:solidFill>
                  <a:schemeClr val="tx1"/>
                </a:solidFill>
              </a:rPr>
              <a:t>combien de temps</a:t>
            </a:r>
            <a:r>
              <a:rPr lang="en-US" sz="2200" dirty="0">
                <a:solidFill>
                  <a:schemeClr val="tx1"/>
                </a:solidFill>
              </a:rPr>
              <a:t> il dure, </a:t>
            </a:r>
            <a:r>
              <a:rPr lang="en-US" sz="2200" b="1" dirty="0">
                <a:solidFill>
                  <a:schemeClr val="tx1"/>
                </a:solidFill>
              </a:rPr>
              <a:t>combien</a:t>
            </a:r>
            <a:r>
              <a:rPr lang="en-US" sz="2200" dirty="0">
                <a:solidFill>
                  <a:schemeClr val="tx1"/>
                </a:solidFill>
              </a:rPr>
              <a:t> il coûte, </a:t>
            </a:r>
            <a:r>
              <a:rPr lang="en-US" sz="2200" b="1" dirty="0">
                <a:solidFill>
                  <a:schemeClr val="tx1"/>
                </a:solidFill>
              </a:rPr>
              <a:t>où</a:t>
            </a:r>
            <a:r>
              <a:rPr lang="en-US" sz="2200" dirty="0">
                <a:solidFill>
                  <a:schemeClr val="tx1"/>
                </a:solidFill>
              </a:rPr>
              <a:t> est la salle, </a:t>
            </a:r>
            <a:r>
              <a:rPr lang="en-US" sz="2200" b="1" dirty="0">
                <a:solidFill>
                  <a:schemeClr val="tx1"/>
                </a:solidFill>
              </a:rPr>
              <a:t>quels livres</a:t>
            </a:r>
            <a:r>
              <a:rPr lang="en-US" sz="2200" dirty="0">
                <a:solidFill>
                  <a:schemeClr val="tx1"/>
                </a:solidFill>
              </a:rPr>
              <a:t> il faut. Pour finir, inscrivez-vous : </a:t>
            </a:r>
            <a:r>
              <a:rPr lang="en-US" sz="2200" i="1" dirty="0">
                <a:solidFill>
                  <a:schemeClr val="tx1"/>
                </a:solidFill>
              </a:rPr>
              <a:t>Omdat de cursus binnenkort begint, schrijf ik me vandaag in.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6208776" y="1889760"/>
            <a:ext cx="5431536" cy="4401312"/>
          </a:xfrm>
          <a:prstGeom prst="roundRect">
            <a:avLst>
              <a:gd name="adj" fmla="val 1662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345936" y="202692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D9700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2100072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345936" y="249326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7351776" y="1999488"/>
            <a:ext cx="4151376" cy="418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B — le secrétariat.</a:t>
            </a:r>
            <a:r>
              <a:rPr lang="en-US" sz="2200" dirty="0">
                <a:solidFill>
                  <a:schemeClr val="tx1"/>
                </a:solidFill>
              </a:rPr>
              <a:t> Fiche du cours : </a:t>
            </a:r>
            <a:r>
              <a:rPr lang="en-US" sz="2200" b="1" dirty="0">
                <a:solidFill>
                  <a:schemeClr val="tx1"/>
                </a:solidFill>
              </a:rPr>
              <a:t>Nederlands 2</a:t>
            </a:r>
            <a:r>
              <a:rPr lang="en-US" sz="2200" dirty="0">
                <a:solidFill>
                  <a:schemeClr val="tx1"/>
                </a:solidFill>
              </a:rPr>
              <a:t> · start </a:t>
            </a:r>
            <a:r>
              <a:rPr lang="en-US" sz="2200" b="1" dirty="0">
                <a:solidFill>
                  <a:schemeClr val="tx1"/>
                </a:solidFill>
              </a:rPr>
              <a:t>maandag</a:t>
            </a:r>
            <a:r>
              <a:rPr lang="en-US" sz="2200" dirty="0">
                <a:solidFill>
                  <a:schemeClr val="tx1"/>
                </a:solidFill>
              </a:rPr>
              <a:t> · </a:t>
            </a:r>
            <a:r>
              <a:rPr lang="en-US" sz="2200" b="1" dirty="0">
                <a:solidFill>
                  <a:schemeClr val="tx1"/>
                </a:solidFill>
              </a:rPr>
              <a:t>tien weken</a:t>
            </a:r>
            <a:r>
              <a:rPr lang="en-US" sz="2200" dirty="0">
                <a:solidFill>
                  <a:schemeClr val="tx1"/>
                </a:solidFill>
              </a:rPr>
              <a:t> · </a:t>
            </a:r>
            <a:r>
              <a:rPr lang="en-US" sz="2200" b="1" dirty="0">
                <a:solidFill>
                  <a:schemeClr val="tx1"/>
                </a:solidFill>
              </a:rPr>
              <a:t>120 euro</a:t>
            </a:r>
            <a:r>
              <a:rPr lang="en-US" sz="2200" dirty="0">
                <a:solidFill>
                  <a:schemeClr val="tx1"/>
                </a:solidFill>
              </a:rPr>
              <a:t>, inclusief het boek · lokaal 2.14, </a:t>
            </a:r>
            <a:r>
              <a:rPr lang="en-US" sz="2200" b="1" dirty="0">
                <a:solidFill>
                  <a:schemeClr val="tx1"/>
                </a:solidFill>
              </a:rPr>
              <a:t>tweede verdieping</a:t>
            </a:r>
            <a:r>
              <a:rPr lang="en-US" sz="2200" dirty="0">
                <a:solidFill>
                  <a:schemeClr val="tx1"/>
                </a:solidFill>
              </a:rPr>
              <a:t> · nodig : </a:t>
            </a:r>
            <a:r>
              <a:rPr lang="en-US" sz="2200" b="1" dirty="0">
                <a:solidFill>
                  <a:schemeClr val="tx1"/>
                </a:solidFill>
              </a:rPr>
              <a:t>een boek en een oefenboek</a:t>
            </a:r>
            <a:r>
              <a:rPr lang="en-US" sz="2200" dirty="0">
                <a:solidFill>
                  <a:schemeClr val="tx1"/>
                </a:solidFill>
              </a:rPr>
              <a:t>. Répondez par des phrases complètes : </a:t>
            </a:r>
            <a:r>
              <a:rPr lang="en-US" sz="2200" i="1" dirty="0">
                <a:solidFill>
                  <a:schemeClr val="tx1"/>
                </a:solidFill>
              </a:rPr>
              <a:t>De cursus begint maandag.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Tot de volgende keer!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98882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FIN DE SÉANCE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0" cy="3108960"/>
          </a:xfrm>
          <a:prstGeom prst="roundRect">
            <a:avLst>
              <a:gd name="adj" fmla="val 2941"/>
            </a:avLst>
          </a:prstGeom>
          <a:solidFill>
            <a:schemeClr val="bg1">
              <a:alpha val="10000"/>
            </a:schemeClr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LA PROCHAINE FOIS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Séance 12 :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Wanneer ben je beschikbaar?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Proposer un rendez-vous, dire 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altijd, nooit, al, nog niet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— et parler de demain : 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Ik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ga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je morgen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bellen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903720" y="1554480"/>
            <a:ext cx="4736592" cy="4709160"/>
          </a:xfrm>
          <a:prstGeom prst="roundRect">
            <a:avLst>
              <a:gd name="adj" fmla="val 1942"/>
            </a:avLst>
          </a:prstGeom>
          <a:solidFill>
            <a:schemeClr val="bg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755648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635240" y="1737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POUR LA PROCHAINE SÉANCE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2286000"/>
            <a:ext cx="4297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Écrire </a:t>
            </a:r>
            <a:r>
              <a:rPr lang="en-US" sz="1700" b="1" dirty="0">
                <a:solidFill>
                  <a:schemeClr val="tx1"/>
                </a:solidFill>
              </a:rPr>
              <a:t>10 mots</a:t>
            </a:r>
            <a:r>
              <a:rPr lang="en-US" sz="1700" dirty="0">
                <a:solidFill>
                  <a:schemeClr val="tx1"/>
                </a:solidFill>
              </a:rPr>
              <a:t> du cours au pluriel, avec l’article (p. 59).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Écrire </a:t>
            </a:r>
            <a:r>
              <a:rPr lang="en-US" sz="1700" b="1" dirty="0">
                <a:solidFill>
                  <a:schemeClr val="tx1"/>
                </a:solidFill>
              </a:rPr>
              <a:t>5 groupes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en-US" sz="1700" i="1" dirty="0">
                <a:solidFill>
                  <a:schemeClr val="tx1"/>
                </a:solidFill>
              </a:rPr>
              <a:t>een … / het …</a:t>
            </a:r>
            <a:r>
              <a:rPr lang="en-US" sz="1700" dirty="0">
                <a:solidFill>
                  <a:schemeClr val="tx1"/>
                </a:solidFill>
              </a:rPr>
              <a:t> avec un adjectif (p. 61).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Revoir les </a:t>
            </a:r>
            <a:r>
              <a:rPr lang="en-US" sz="1700" b="1" dirty="0">
                <a:solidFill>
                  <a:schemeClr val="tx1"/>
                </a:solidFill>
              </a:rPr>
              <a:t>faux-amis 15 à 21</a:t>
            </a:r>
            <a:r>
              <a:rPr lang="en-US" sz="1700" dirty="0">
                <a:solidFill>
                  <a:schemeClr val="tx1"/>
                </a:solidFill>
              </a:rPr>
              <a:t> (p. 91).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Recopier les </a:t>
            </a:r>
            <a:r>
              <a:rPr lang="en-US" sz="1700" b="1" dirty="0">
                <a:solidFill>
                  <a:schemeClr val="tx1"/>
                </a:solidFill>
              </a:rPr>
              <a:t>Jalons 1 et 2</a:t>
            </a:r>
            <a:r>
              <a:rPr lang="en-US" sz="1700" dirty="0">
                <a:solidFill>
                  <a:schemeClr val="tx1"/>
                </a:solidFill>
              </a:rPr>
              <a:t> de la fiche 4, corrigés (p. 95).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4892040"/>
            <a:ext cx="603504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4983480"/>
            <a:ext cx="5623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bg1"/>
                </a:solidFill>
              </a:rPr>
              <a:t>TICKET DE SORTIE  </a:t>
            </a:r>
            <a:endParaRPr lang="en-US" sz="13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Posez une question sur le cours avec </a:t>
            </a:r>
            <a:r>
              <a:rPr lang="en-US" sz="1600" b="1" dirty="0">
                <a:solidFill>
                  <a:schemeClr val="bg1"/>
                </a:solidFill>
              </a:rPr>
              <a:t>welke</a:t>
            </a:r>
            <a:r>
              <a:rPr lang="en-US" sz="1600" dirty="0">
                <a:solidFill>
                  <a:schemeClr val="bg1"/>
                </a:solidFill>
              </a:rPr>
              <a:t> + un nom au </a:t>
            </a:r>
            <a:r>
              <a:rPr lang="en-US" sz="1600" b="1" dirty="0">
                <a:solidFill>
                  <a:schemeClr val="bg1"/>
                </a:solidFill>
              </a:rPr>
              <a:t>pluriel</a:t>
            </a:r>
            <a:r>
              <a:rPr lang="en-US" sz="1600" dirty="0">
                <a:solidFill>
                  <a:schemeClr val="bg1"/>
                </a:solidFill>
              </a:rPr>
              <a:t>, puis répondez avec un </a:t>
            </a:r>
            <a:r>
              <a:rPr lang="en-US" sz="1600" b="1" dirty="0">
                <a:solidFill>
                  <a:schemeClr val="bg1"/>
                </a:solidFill>
              </a:rPr>
              <a:t>adjectif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derlands in situatie">
  <a:themeElements>
    <a:clrScheme name="Nederlands in situatie">
      <a:dk1>
        <a:srgbClr val="1B2333"/>
      </a:dk1>
      <a:lt1>
        <a:srgbClr val="FFFFFF"/>
      </a:lt1>
      <a:dk2>
        <a:srgbClr val="17375E"/>
      </a:dk2>
      <a:lt2>
        <a:srgbClr val="EEF3F8"/>
      </a:lt2>
      <a:accent1>
        <a:srgbClr val="D9700F"/>
      </a:accent1>
      <a:accent2>
        <a:srgbClr val="2A6FB0"/>
      </a:accent2>
      <a:accent3>
        <a:srgbClr val="2E7D4F"/>
      </a:accent3>
      <a:accent4>
        <a:srgbClr val="B4236A"/>
      </a:accent4>
      <a:accent5>
        <a:srgbClr val="4A5A70"/>
      </a:accent5>
      <a:accent6>
        <a:srgbClr val="B83227"/>
      </a:accent6>
      <a:hlink>
        <a:srgbClr val="2A6FB0"/>
      </a:hlink>
      <a:folHlink>
        <a:srgbClr val="B4236A"/>
      </a:folHlink>
    </a:clrScheme>
    <a:fontScheme name="Nederlands in situati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IRAM — Néerlandais 2 (UE2)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11 — De cursus</dc:title>
  <dc:subject>Néerlandais en situation appliqué à l’enseignement supérieur</dc:subject>
  <dc:creator>A. Jouniaux</dc:creator>
  <cp:lastModifiedBy>A. Jouniaux</cp:lastModifiedBy>
  <cp:revision>1</cp:revision>
  <dcterms:created xsi:type="dcterms:W3CDTF">2026-10-03T21:06:38Z</dcterms:created>
  <dcterms:modified xsi:type="dcterms:W3CDTF">2026-10-03T21:06:38Z</dcterms:modified>
</cp:coreProperties>
</file>