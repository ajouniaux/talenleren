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w it works" id="{41ce8ad7-dde0-9a02-e6ed-e9dea1a393df}">
          <p14:sldIdLst>
            <p14:sldId id="257"/>
            <p14:sldId id="258"/>
            <p14:sldId id="259"/>
          </p14:sldIdLst>
        </p14:section>
        <p14:section name="Three tasks" id="{4cbc24c7-4ccd-61df-719f-0a456e5cdd2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Before you hand in" id="{be4190b3-c307-73e3-74f3-a9437fdb68d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les trois productions et le jalon supplémentaire.
Trois productions courtes pour vérifier ce qui reste du cours 1. Annoncez la règle du jeu : cinq phrases pour tout le monde, une sixième pour qui veut viser plus haut.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Expliquer les quatre étapes, les étiquettes et le jalon.
Le modèle n’est pas « la » réponse : toute phrase qui respecte la consigne est juste. Demandez aux étudiant·es de souligner eux-mêmes et elles-mêmes, dans leur texte, la bribe qui répond à chaque consigne avant de le rendre.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Montrer ce que chaque production évalue (lexique et grammaire du cours 1).
Les trois productions couvrent tout le cours 1 ; les points de comparaison past simple / present perfect (diapo « Please mind the differences ») ne sont exigés que dans le jalon.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une grille commune, avec un bonus pour le jalon.
Une consigne est respectée si l’élément demandé est présent et correct (par exemple : by pour une date limite, pas until). Le bonus n’est accordé que si la phrase 6 est entièrement juste ; il permet de repérer les étudiant·es déjà au-delà du B1.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1 · Le message de 06 h 58 (livret p. 3–4) : écrire ou dire 5 phrases à l’écrit en respectant les 5 consignes, puis, au choix, une 6e plus difficile.
Production écrite, 10 min, juste après la prise de notes de la messagerie. Attendus : called, found, went off (le fait daté est au past simple) ; at + heure précise ; by + date limite (≠ until). Négation : didn’t + base verbale (✗ didn’t heard). Mark demande « for a quarter past eight » : « at 8.15 » est juste (l’heure du rendez-vous), mais la consigne 4 exige by + date limite. ★ Challenge : la phrase honnête de la p. 4 du livret. On ne devine pas la durée (✗ all night) ; on cite une source vérifiable : le journal d’alarme, des photos horodatées, les images de vidéosurveillance (CCTV), le relevé des badges. « how long the water has been running » reprend la correction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1 · Le message de 06 h 58 (livret p. 3–4) : écrire ou dire 5 phrases à l’écrit en respectant les 5 consignes, puis, au choix, une 6e plus difficile.
Production écrite, 10 min, juste après la prise de notes de la messagerie. Attendus : called, found, went off (le fait daté est au past simple) ; at + heure précise ; by + date limite (≠ until). Négation : didn’t + base verbale (✗ didn’t heard). Mark demande « for a quarter past eight » : « at 8.15 » est juste (l’heure du rendez-vous), mais la consigne 4 exige by + date limite. ★ Challenge : la phrase honnête de la p. 4 du livret. On ne devine pas la durée (✗ all night) ; on cite une source vérifiable : le journal d’alarme, des photos horodatées, les images de vidéosurveillance (CCTV), le relevé des badges. « how long the water has been running » reprend la correction du livret.
GRANDE IMAGE — laissez les étudiant·es observer et décrire avant de produire : Where are we? Who can you see? What has happened? What time is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1 · Le message de 06 h 58 (livret p. 3–4) : écrire ou dire 5 phrases à l’écrit en respectant les 5 consignes, puis, au choix, une 6e plus difficile.
Production écrite, 10 min, juste après la prise de notes de la messagerie. Attendus : called, found, went off (le fait daté est au past simple) ; at + heure précise ; by + date limite (≠ until). Négation : didn’t + base verbale (✗ didn’t heard). Mark demande « for a quarter past eight » : « at 8.15 » est juste (l’heure du rendez-vous), mais la consigne 4 exige by + date limite. ★ Challenge : la phrase honnête de la p. 4 du livret. On ne devine pas la durée (✗ all night) ; on cite une source vérifiable : le journal d’alarme, des photos horodatées, les images de vidéosurveillance (CCTV), le relevé des badges. « how long the water has been running » reprend la correction du livret.
EXEMPLE — chaque étiquette verte renvoie à une consigne (Sentence 1 à Sentence 5) ; le cadre doré est le jalon ★ Challenge (Sentence 6).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2 · Atlas House, 8 h 15 (livret p. 3–7 · role play) : écrire ou dire 5 phrases à l’oral en respectant les 5 consignes, puis, au choix, une 6e plus difficile.
Production orale en binôme : B joue Mark et relance (« Who found it? », « Are you sure? », « How do you know? »). Attendus : between … and … ; Did + sujet + base verbale (✗ Did the guard heard) ; turn up et call out conjugués (turned up, called out ; avec un pronom : call him out). In = dans (un moment à venir : in twenty minutes ; attention, delay = retard), for = pendant (une durée) ; avec le present perfect, for = depuis (✗ since two hours). Until = jusqu’à (ça continue) ≠ by = au plus tard. Le support du cours écrit tantôt 11.40, tantôt 11.41 (23 h 40 ou 23 h 41) : acceptez les deux. ★ Challenge : la comparaison « Please mind the differences ». Le résultat visible maintenant (has damaged) ≠ le fait daté (found at 6.50) ; ✗ The cleaners have found the leak at 6.50.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2 · Atlas House, 8 h 15 (livret p. 3–7 · role play) : écrire ou dire 5 phrases à l’oral en respectant les 5 consignes, puis, au choix, une 6e plus difficile.
Production orale en binôme : B joue Mark et relance (« Who found it? », « Are you sure? », « How do you know? »). Attendus : between … and … ; Did + sujet + base verbale (✗ Did the guard heard) ; turn up et call out conjugués (turned up, called out ; avec un pronom : call him out). In = dans (un moment à venir : in twenty minutes ; attention, delay = retard), for = pendant (une durée) ; avec le present perfect, for = depuis (✗ since two hours). Until = jusqu’à (ça continue) ≠ by = au plus tard. Le support du cours écrit tantôt 11.40, tantôt 11.41 (23 h 40 ou 23 h 41) : acceptez les deux. ★ Challenge : la comparaison « Please mind the differences ». Le résultat visible maintenant (has damaged) ≠ le fait daté (found at 6.50) ; ✗ The cleaners have found the leak at 6.50.
GRANDE IMAGE — laissez les étudiant·es observer et décrire avant de produire : Where are we? Who can you see? What has happened? What time is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2 · Atlas House, 8 h 15 (livret p. 3–7 · role play) : écrire ou dire 5 phrases à l’oral en respectant les 5 consignes, puis, au choix, une 6e plus difficile.
Production orale en binôme : B joue Mark et relance (« Who found it? », « Are you sure? », « How do you know? »). Attendus : between … and … ; Did + sujet + base verbale (✗ Did the guard heard) ; turn up et call out conjugués (turned up, called out ; avec un pronom : call him out). In = dans (un moment à venir : in twenty minutes ; attention, delay = retard), for = pendant (une durée) ; avec le present perfect, for = depuis (✗ since two hours). Until = jusqu’à (ça continue) ≠ by = au plus tard. Le support du cours écrit tantôt 11.40, tantôt 11.41 (23 h 40 ou 23 h 41) : acceptez les deux. ★ Challenge : la comparaison « Please mind the differences ». Le résultat visible maintenant (has damaged) ≠ le fait daté (found at 6.50) ; ✗ The cleaners have found the leak at 6.50.
EXEMPLE — chaque étiquette verte renvoie à une consigne (Sentence 1 à Sentence 5) ; le cadre doré est le jalon ★ Challenge (Sentence 6).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3 · Une chronologie pour 9 h (livret p. 4–7) : écrire ou dire 5 phrases à l’écrit en respectant les 5 consignes, puis, au choix, une 6e plus difficile.
Production écrite, 15 min, à rendre « by nine ». Attendus : une heure vérifiable et sa source (✗ around eleven, ✗ late last night : refusés par l’expert d’assurance) ; broke down, shut down (break → broke, shut → shut). Mots de la carte mentale : people (the plumber, the cleaners, the insurer, the contractor, the witness, the assessor) · evidence (the voicemail, the alarm log, the CCTV, the timestamp, the receipt, the statement) · paperwork (the report, the claim, the timeline, the invoice, the message). Négation et question : didn’t + base, Did + sujet + base. Look into est inséparable (look into it) ; sort out est séparable (sort it out). ★ Challenge : un moment terminé et daté (last November, two days ago, in 2019) appelle le past simple ; une expérience jusqu’à maintenant (never, ever) appelle le present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3 · Une chronologie pour 9 h (livret p. 4–7) : écrire ou dire 5 phrases à l’écrit en respectant les 5 consignes, puis, au choix, une 6e plus difficile.
Production écrite, 15 min, à rendre « by nine ». Attendus : une heure vérifiable et sa source (✗ around eleven, ✗ late last night : refusés par l’expert d’assurance) ; broke down, shut down (break → broke, shut → shut). Mots de la carte mentale : people (the plumber, the cleaners, the insurer, the contractor, the witness, the assessor) · evidence (the voicemail, the alarm log, the CCTV, the timestamp, the receipt, the statement) · paperwork (the report, the claim, the timeline, the invoice, the message). Négation et question : didn’t + base, Did + sujet + base. Look into est inséparable (look into it) ; sort out est séparable (sort it out). ★ Challenge : un moment terminé et daté (last November, two days ago, in 2019) appelle le past simple ; une expérience jusqu’à maintenant (never, ever) appelle le present perfect.
GRANDE IMAGE — laissez les étudiant·es observer et décrire avant de produire : Where are we? Who can you see? What has happened? What time is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Production 3 · Une chronologie pour 9 h (livret p. 4–7) : écrire ou dire 5 phrases à l’écrit en respectant les 5 consignes, puis, au choix, une 6e plus difficile.
Production écrite, 15 min, à rendre « by nine ». Attendus : une heure vérifiable et sa source (✗ around eleven, ✗ late last night : refusés par l’expert d’assurance) ; broke down, shut down (break → broke, shut → shut). Mots de la carte mentale : people (the plumber, the cleaners, the insurer, the contractor, the witness, the assessor) · evidence (the voicemail, the alarm log, the CCTV, the timestamp, the receipt, the statement) · paperwork (the report, the claim, the timeline, the invoice, the message). Négation et question : didn’t + base, Did + sujet + base. Look into est inséparable (look into it) ; sort out est séparable (sort it out). ★ Challenge : un moment terminé et daté (last November, two days ago, in 2019) appelle le past simple ; une expérience jusqu’à maintenant (never, ever) appelle le present perfect.
EXEMPLE — chaque étiquette verte renvoie à une consigne (Sentence 1 à Sentence 5) ; le cadre doré est le jalon ★ Challenge (Sentence 6). Faites retrouver, pour chaque bribe, la consigne à laquelle elle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Faire relire sa production avec une liste de vérification issue du cours 1.
Deux minutes de relecture avant de rendre, puis échange des copies : le ou la partenaire coche la liste sur la production de l’autre. Les erreurs barrées (✗) sont celles du cours 1 (« Piège pour francophones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English · UE3 · Lesson 1 · In five sentences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English · UE3 · Lesson 1 · In five sentences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English · UE3 · Lesson 1 · Guided production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Z_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</a:rPr>
              <a:t>English · UE3 · Lesson 1 · In five sentences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rgbClr val="2B2F38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Z_LE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</a:rPr>
              <a:t>English · UE3 · Lesson 1 · In five sentences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B2F38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Z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448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2"/>
                </a:solidFill>
              </a:rPr>
              <a:t>English · UE3 · Lesson 1 · Guided production · A. Jouniaux · IRAM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554480" y="1234440"/>
            <a:ext cx="5212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2B2F38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1234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B2F38"/>
                </a:solidFill>
              </a:rPr>
              <a:t>In five sentences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72768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writing &amp; speaking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572768" y="3017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UE3 · Lesson 1 · The message, the room, the timeline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572768" y="36118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7276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at 06.58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written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572768" y="40690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7276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4069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House, 8.15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spoken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572768" y="4526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F3A6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572768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timeline by nine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written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572768" y="5120640"/>
            <a:ext cx="4846320" cy="566928"/>
          </a:xfrm>
          <a:prstGeom prst="roundRect">
            <a:avLst>
              <a:gd name="adj" fmla="val 22581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55648" y="5120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Sentence 6 · </a:t>
            </a: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harder, optional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 rot="-240000">
            <a:off x="7016191" y="706831"/>
            <a:ext cx="3341218" cy="214106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20" name="Image 0" descr="/home/user/talenleren/neerlandais1/generateur/img/vijfzinnen/en_messag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240000">
            <a:off x="7086600" y="777240"/>
            <a:ext cx="3200400" cy="200025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 rot="300000">
            <a:off x="8664123" y="2171883"/>
            <a:ext cx="3245754" cy="2079894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22" name="Image 1" descr="/home/user/talenleren/neerlandais1/generateur/img/vijfzinnen/en_room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00000">
            <a:off x="8732520" y="2240280"/>
            <a:ext cx="3108960" cy="19431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 rot="-120000">
            <a:off x="6883055" y="3865535"/>
            <a:ext cx="3150291" cy="2018721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24" name="Image 2" descr="/home/user/talenleren/neerlandais1/generateur/img/vijfzinnen/en_timeline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">
            <a:off x="6949440" y="3931920"/>
            <a:ext cx="301752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How does it work?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EF1F6"/>
          </a:solidFill>
          <a:ln w="28575">
            <a:solidFill>
              <a:srgbClr val="9AA6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325880"/>
            <a:ext cx="238887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83080" y="1536192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8" name="Image 0" descr="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700784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48990" y="153619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28600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2651760"/>
            <a:ext cx="1931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see? Where? Who? What time is it?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171950" y="1325880"/>
            <a:ext cx="238887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00550" y="1536192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14" name="Image 1" descr="List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142" y="1700784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66460" y="153619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1"/>
          <p:cNvSpPr txBox="1"/>
          <p:nvPr/>
        </p:nvSpPr>
        <p:spPr>
          <a:xfrm>
            <a:off x="4400550" y="228600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400550" y="2651760"/>
            <a:ext cx="1931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instructions: Sentence 1 to Sentence 5, one sentence each.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789420" y="1325880"/>
            <a:ext cx="238887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18020" y="1536192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20" name="Image 2" descr="PenNi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2" y="1700784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583930" y="153619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7018020" y="228600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 speak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018020" y="2651760"/>
            <a:ext cx="1931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sentences in ten minutes, with today’s grammar and words.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9406890" y="1325880"/>
            <a:ext cx="238887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35490" y="1536192"/>
            <a:ext cx="658368" cy="658368"/>
          </a:xfrm>
          <a:prstGeom prst="ellipse">
            <a:avLst/>
          </a:prstGeom>
          <a:solidFill>
            <a:srgbClr val="EAF5EC"/>
          </a:solidFill>
          <a:ln w="19050">
            <a:solidFill>
              <a:srgbClr val="5FA873"/>
            </a:solidFill>
            <a:prstDash val="solid"/>
          </a:ln>
        </p:spPr>
      </p:sp>
      <p:pic>
        <p:nvPicPr>
          <p:cNvPr id="26" name="Image 3" descr="UserFrien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82" y="17007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201400" y="153619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1"/>
          <p:cNvSpPr txBox="1"/>
          <p:nvPr/>
        </p:nvSpPr>
        <p:spPr>
          <a:xfrm>
            <a:off x="9635490" y="2286000"/>
            <a:ext cx="19316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9635490" y="2651760"/>
            <a:ext cx="1931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text to your partner, then compare it with the example.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554480" y="3566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example, each green label sits on the words that answer the instruction: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1737360" y="4315968"/>
            <a:ext cx="135483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Shaw</a:t>
            </a:r>
            <a:endParaRPr lang="en-US" sz="2000" dirty="0"/>
          </a:p>
        </p:txBody>
      </p:sp>
      <p:sp>
        <p:nvSpPr>
          <p:cNvPr id="32" name="Shape 25"/>
          <p:cNvSpPr/>
          <p:nvPr/>
        </p:nvSpPr>
        <p:spPr>
          <a:xfrm>
            <a:off x="2985008" y="4326128"/>
            <a:ext cx="149479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2985008" y="4315968"/>
            <a:ext cx="14947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at 6.58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4555490" y="4315968"/>
            <a:ext cx="51084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morning and left a voicemail. The cleaners</a:t>
            </a:r>
            <a:endParaRPr lang="en-US" sz="2000" dirty="0"/>
          </a:p>
        </p:txBody>
      </p:sp>
      <p:sp>
        <p:nvSpPr>
          <p:cNvPr id="35" name="Shape 28"/>
          <p:cNvSpPr/>
          <p:nvPr/>
        </p:nvSpPr>
        <p:spPr>
          <a:xfrm>
            <a:off x="9556750" y="4326128"/>
            <a:ext cx="717550" cy="309880"/>
          </a:xfrm>
          <a:prstGeom prst="roundRect">
            <a:avLst>
              <a:gd name="adj" fmla="val 14754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556750" y="4315968"/>
            <a:ext cx="71755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2000" dirty="0"/>
          </a:p>
        </p:txBody>
      </p:sp>
      <p:sp>
        <p:nvSpPr>
          <p:cNvPr id="37" name="Text 30"/>
          <p:cNvSpPr txBox="1"/>
          <p:nvPr/>
        </p:nvSpPr>
        <p:spPr>
          <a:xfrm>
            <a:off x="10349992" y="4315968"/>
            <a:ext cx="106883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at</a:t>
            </a:r>
            <a:endParaRPr lang="en-US" sz="2000" dirty="0"/>
          </a:p>
        </p:txBody>
      </p:sp>
      <p:sp>
        <p:nvSpPr>
          <p:cNvPr id="38" name="Shape 31"/>
          <p:cNvSpPr/>
          <p:nvPr/>
        </p:nvSpPr>
        <p:spPr>
          <a:xfrm>
            <a:off x="3732403" y="4251960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3331051" y="4005072"/>
            <a:ext cx="80270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3331051" y="4005072"/>
            <a:ext cx="8027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 TIME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9915525" y="4251960"/>
            <a:ext cx="914" cy="74168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9473101" y="4005072"/>
            <a:ext cx="88484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9473101" y="4005072"/>
            <a:ext cx="88484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1737360" y="4792472"/>
            <a:ext cx="32334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6.50, and it was still running.</a:t>
            </a:r>
            <a:endParaRPr lang="en-US" sz="2000" dirty="0"/>
          </a:p>
        </p:txBody>
      </p:sp>
      <p:sp>
        <p:nvSpPr>
          <p:cNvPr id="45" name="Shape 38"/>
          <p:cNvSpPr/>
          <p:nvPr/>
        </p:nvSpPr>
        <p:spPr>
          <a:xfrm>
            <a:off x="2377440" y="5486400"/>
            <a:ext cx="8595360" cy="731520"/>
          </a:xfrm>
          <a:prstGeom prst="roundRect">
            <a:avLst>
              <a:gd name="adj" fmla="val 17500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2377440" y="54864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Sentence 6 · Challenge   </a:t>
            </a:r>
            <a:r>
              <a:rPr lang="en-US" sz="16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and optional: try it if you feel ready!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Lesson 1 in three tasks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EF1F6"/>
          </a:solidFill>
          <a:ln w="28575">
            <a:solidFill>
              <a:srgbClr val="9AA6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7150608" y="1161288"/>
            <a:ext cx="1335024" cy="854964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en_messag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188720"/>
            <a:ext cx="1280160" cy="8001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40880" y="2057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message at 06.58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750808" y="1161288"/>
            <a:ext cx="1335024" cy="854964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25000"/>
              </a:srgbClr>
            </a:outerShdw>
          </a:effectLst>
        </p:spPr>
      </p:sp>
      <p:pic>
        <p:nvPicPr>
          <p:cNvPr id="10" name="Image 1" descr="/home/user/talenleren/neerlandais1/generateur/img/vijfzinnen/en_room_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188720"/>
            <a:ext cx="1280160" cy="8001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41080" y="2057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Atlas House, 8.15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10351008" y="1161288"/>
            <a:ext cx="1335024" cy="854964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50800" dist="25400" dir="5400000">
              <a:srgbClr val="1B2430">
                <a:alpha val="25000"/>
              </a:srgbClr>
            </a:outerShdw>
          </a:effectLst>
        </p:spPr>
      </p:sp>
      <p:pic>
        <p:nvPicPr>
          <p:cNvPr id="13" name="Image 2" descr="/home/user/talenleren/neerlandais1/generateur/img/vijfzinnen/en_timeline_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188720"/>
            <a:ext cx="1280160" cy="8001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41280" y="2057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 timeline by nine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1554480" y="2487168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37360" y="24871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of time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4251960" y="248716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· by · until · between · in · for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644384" y="2578608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644384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244584" y="2578608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9244584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10844784" y="2578608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10844784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1554480" y="3090672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737360" y="309067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simple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251960" y="309067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&amp; irregular · didn’t · Did …?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7644384" y="3182112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64438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244584" y="3182112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24458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10844784" y="3182112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84478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1554480" y="3694176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737360" y="36941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Phrasal verbs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4251960" y="369417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up · call out · break down · shut down · look into · put off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244584" y="3785616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9244584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10844784" y="3785616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0844784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1554480" y="4297680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737360" y="42976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of the incident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4251960" y="4297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 · the people · the evidence · the paperwork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644384" y="4389120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644384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10844784" y="4389120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0844784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1"/>
          <p:cNvSpPr/>
          <p:nvPr/>
        </p:nvSpPr>
        <p:spPr>
          <a:xfrm>
            <a:off x="1554480" y="4901184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4F6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737360" y="490118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≠ guess</a:t>
            </a:r>
            <a:endParaRPr lang="en-US" sz="1500" dirty="0"/>
          </a:p>
        </p:txBody>
      </p:sp>
      <p:sp>
        <p:nvSpPr>
          <p:cNvPr id="49" name="Text 43"/>
          <p:cNvSpPr txBox="1"/>
          <p:nvPr/>
        </p:nvSpPr>
        <p:spPr>
          <a:xfrm>
            <a:off x="4251960" y="490118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time and its source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7644384" y="4992624"/>
            <a:ext cx="347472" cy="347472"/>
          </a:xfrm>
          <a:prstGeom prst="ellipse">
            <a:avLst/>
          </a:prstGeom>
          <a:solidFill>
            <a:srgbClr val="C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644384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52" name="Shape 46"/>
          <p:cNvSpPr/>
          <p:nvPr/>
        </p:nvSpPr>
        <p:spPr>
          <a:xfrm>
            <a:off x="10844784" y="4992624"/>
            <a:ext cx="347472" cy="347472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10844784" y="4992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Shape 48"/>
          <p:cNvSpPr/>
          <p:nvPr/>
        </p:nvSpPr>
        <p:spPr>
          <a:xfrm>
            <a:off x="1554480" y="5504688"/>
            <a:ext cx="102412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1737360" y="550468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 ≠ present perfect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4251960" y="5504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time · the result now · never / ever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9244584" y="5596128"/>
            <a:ext cx="347472" cy="347472"/>
          </a:xfrm>
          <a:prstGeom prst="ellipse">
            <a:avLst/>
          </a:prstGeom>
          <a:solidFill>
            <a:srgbClr val="C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9244584" y="5596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59" name="Shape 53"/>
          <p:cNvSpPr/>
          <p:nvPr/>
        </p:nvSpPr>
        <p:spPr>
          <a:xfrm>
            <a:off x="10844784" y="5596128"/>
            <a:ext cx="347472" cy="347472"/>
          </a:xfrm>
          <a:prstGeom prst="ellipse">
            <a:avLst/>
          </a:prstGeom>
          <a:solidFill>
            <a:srgbClr val="C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10844784" y="5596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61" name="Shape 55"/>
          <p:cNvSpPr/>
          <p:nvPr/>
        </p:nvSpPr>
        <p:spPr>
          <a:xfrm>
            <a:off x="1737360" y="6199632"/>
            <a:ext cx="237744" cy="237744"/>
          </a:xfrm>
          <a:prstGeom prst="ellipse">
            <a:avLst/>
          </a:prstGeom>
          <a:solidFill>
            <a:srgbClr val="5FA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2057400" y="61447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Sentences 1 to 5</a:t>
            </a:r>
            <a:endParaRPr lang="en-US" sz="1200" dirty="0"/>
          </a:p>
        </p:txBody>
      </p:sp>
      <p:sp>
        <p:nvSpPr>
          <p:cNvPr id="63" name="Shape 57"/>
          <p:cNvSpPr/>
          <p:nvPr/>
        </p:nvSpPr>
        <p:spPr>
          <a:xfrm>
            <a:off x="4343400" y="6199632"/>
            <a:ext cx="237744" cy="237744"/>
          </a:xfrm>
          <a:prstGeom prst="ellipse">
            <a:avLst/>
          </a:prstGeom>
          <a:solidFill>
            <a:srgbClr val="C99A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4663440" y="6144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★ Challenge (Sentence 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Marking a production: 10 points + 2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EF1F6"/>
          </a:solidFill>
          <a:ln w="28575">
            <a:solidFill>
              <a:srgbClr val="9AA6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554480" y="1325880"/>
            <a:ext cx="7955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91640" y="143560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40280" y="13258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per sentence: the item is there, and it is correct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132588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554480" y="2057400"/>
            <a:ext cx="7955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91640" y="21671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A7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40280" y="20574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20574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 forms (found · didn’t + base) and prepositions (at · by · until)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0574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554480" y="2788920"/>
            <a:ext cx="7955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691640" y="28986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40280" y="27889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278892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phrasal verbs and incident words, used precisely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27889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554480" y="3520440"/>
            <a:ext cx="7955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691640" y="36301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8E6C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40280" y="3520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E6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352044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sentences tell one story, in the right order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549640" y="35204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6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554480" y="4251960"/>
            <a:ext cx="79552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691640" y="436168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21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240280" y="42519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206240" y="425196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5 surprises the reader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549640" y="42519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1554480" y="5074920"/>
            <a:ext cx="7955280" cy="658368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737360" y="50749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Challenge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4206240" y="50749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6 correct = bonus points, and a B1+ mention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549640" y="50749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9921240" y="507492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921240" y="470916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921240" y="434340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921240" y="397764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21240" y="361188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921240" y="324612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4A7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21240" y="288036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4A7B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921240" y="251460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D982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921240" y="214884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8E6C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921240" y="178308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C21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921240" y="105156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9921240" y="1417320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dash"/>
          </a:ln>
        </p:spPr>
      </p:sp>
      <p:sp>
        <p:nvSpPr>
          <p:cNvPr id="47" name="Text 44"/>
          <p:cNvSpPr txBox="1"/>
          <p:nvPr/>
        </p:nvSpPr>
        <p:spPr>
          <a:xfrm>
            <a:off x="10789920" y="4983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2800" dirty="0"/>
          </a:p>
        </p:txBody>
      </p:sp>
      <p:sp>
        <p:nvSpPr>
          <p:cNvPr id="48" name="Text 45"/>
          <p:cNvSpPr txBox="1"/>
          <p:nvPr/>
        </p:nvSpPr>
        <p:spPr>
          <a:xfrm>
            <a:off x="10789920" y="1051560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</a:t>
            </a:r>
            <a:endParaRPr lang="en-US" sz="2000" dirty="0"/>
          </a:p>
        </p:txBody>
      </p:sp>
      <p:sp>
        <p:nvSpPr>
          <p:cNvPr id="49" name="Text 46"/>
          <p:cNvSpPr txBox="1"/>
          <p:nvPr/>
        </p:nvSpPr>
        <p:spPr>
          <a:xfrm>
            <a:off x="1554480" y="5989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tasks: pronunciation and fluency replace spelling.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Use this picture as inspiration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message at 06.58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 message de 06 h 58</a:t>
            </a: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livret p. 3–4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en_messag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Shaw left you a voicemail at 06.58. Before you leave the house, write a short message to your team.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517904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51790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790688" y="146304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Who called, and when? </a:t>
            </a:r>
            <a:r>
              <a:rPr lang="en-US" sz="1450" b="1" dirty="0">
                <a:solidFill>
                  <a:srgbClr val="2B2F38"/>
                </a:solidFill>
              </a:rPr>
              <a:t>PAST SIMPLE</a:t>
            </a:r>
            <a:r>
              <a:rPr lang="en-US" sz="1450" dirty="0">
                <a:solidFill>
                  <a:srgbClr val="2B2F38"/>
                </a:solidFill>
              </a:rPr>
              <a:t> + </a:t>
            </a:r>
            <a:r>
              <a:rPr lang="en-US" sz="1450" b="1" dirty="0">
                <a:solidFill>
                  <a:srgbClr val="2B2F38"/>
                </a:solidFill>
              </a:rPr>
              <a:t>AT</a:t>
            </a:r>
            <a:r>
              <a:rPr lang="en-US" sz="1450" dirty="0">
                <a:solidFill>
                  <a:srgbClr val="2B2F38"/>
                </a:solidFill>
              </a:rPr>
              <a:t> + a time.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07568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07568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790688" y="2020824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What happened? An </a:t>
            </a:r>
            <a:r>
              <a:rPr lang="en-US" sz="1450" b="1" dirty="0">
                <a:solidFill>
                  <a:srgbClr val="2B2F38"/>
                </a:solidFill>
              </a:rPr>
              <a:t>IRREGULAR</a:t>
            </a:r>
            <a:r>
              <a:rPr lang="en-US" sz="1450" dirty="0">
                <a:solidFill>
                  <a:srgbClr val="2B2F38"/>
                </a:solidFill>
              </a:rPr>
              <a:t> verb: </a:t>
            </a:r>
            <a:r>
              <a:rPr lang="en-US" sz="1450" b="1" dirty="0">
                <a:solidFill>
                  <a:srgbClr val="2B2F38"/>
                </a:solidFill>
              </a:rPr>
              <a:t>FOUND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WENT OFF</a:t>
            </a:r>
            <a:r>
              <a:rPr lang="en-US" sz="1450" dirty="0">
                <a:solidFill>
                  <a:srgbClr val="2B2F38"/>
                </a:solidFill>
              </a:rPr>
              <a:t>, </a:t>
            </a:r>
            <a:r>
              <a:rPr lang="en-US" sz="1450" b="1" dirty="0">
                <a:solidFill>
                  <a:srgbClr val="2B2F38"/>
                </a:solidFill>
              </a:rPr>
              <a:t>HEARD</a:t>
            </a:r>
            <a:r>
              <a:rPr lang="en-US" sz="1450" dirty="0">
                <a:solidFill>
                  <a:srgbClr val="2B2F38"/>
                </a:solidFill>
              </a:rPr>
              <a:t>…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633472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790688" y="2578608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Where exactly? Two </a:t>
            </a:r>
            <a:r>
              <a:rPr lang="en-US" sz="1450" b="1" dirty="0">
                <a:solidFill>
                  <a:srgbClr val="2B2F38"/>
                </a:solidFill>
              </a:rPr>
              <a:t>PLACE</a:t>
            </a:r>
            <a:r>
              <a:rPr lang="en-US" sz="1450" dirty="0">
                <a:solidFill>
                  <a:srgbClr val="2B2F38"/>
                </a:solidFill>
              </a:rPr>
              <a:t> words from the mind map: the technical room, the floor, the ceiling…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191256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19125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90688" y="313639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What must the team bring, and when? </a:t>
            </a:r>
            <a:r>
              <a:rPr lang="en-US" sz="1450" b="1" dirty="0">
                <a:solidFill>
                  <a:srgbClr val="2B2F38"/>
                </a:solidFill>
              </a:rPr>
              <a:t>BY</a:t>
            </a:r>
            <a:r>
              <a:rPr lang="en-US" sz="1450" dirty="0">
                <a:solidFill>
                  <a:srgbClr val="2B2F38"/>
                </a:solidFill>
              </a:rPr>
              <a:t> + a deadline.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3749040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37490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790688" y="3694176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 twist: a </a:t>
            </a:r>
            <a:r>
              <a:rPr lang="en-US" sz="1450" b="1" dirty="0">
                <a:solidFill>
                  <a:srgbClr val="2B2F38"/>
                </a:solidFill>
              </a:rPr>
              <a:t>NEGATIVE</a:t>
            </a:r>
            <a:r>
              <a:rPr lang="en-US" sz="1450" dirty="0">
                <a:solidFill>
                  <a:srgbClr val="2B2F38"/>
                </a:solidFill>
              </a:rPr>
              <a:t> in the past simple, </a:t>
            </a:r>
            <a:r>
              <a:rPr lang="en-US" sz="1450" b="1" dirty="0">
                <a:solidFill>
                  <a:srgbClr val="2B2F38"/>
                </a:solidFill>
              </a:rPr>
              <a:t>DIDN’T</a:t>
            </a:r>
            <a:r>
              <a:rPr lang="en-US" sz="1450" dirty="0">
                <a:solidFill>
                  <a:srgbClr val="2B2F38"/>
                </a:solidFill>
              </a:rPr>
              <a:t> + base form.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6236208" y="4370832"/>
            <a:ext cx="5650992" cy="932688"/>
          </a:xfrm>
          <a:prstGeom prst="roundRect">
            <a:avLst>
              <a:gd name="adj" fmla="val 9804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55080" y="463600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355080" y="463600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6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790688" y="43891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CHALLENGE  ·  optional · harder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7790688" y="4645152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F38"/>
                </a:solidFill>
              </a:rPr>
              <a:t>The honest sentence: what we </a:t>
            </a:r>
            <a:r>
              <a:rPr lang="en-US" sz="1350" b="1" dirty="0">
                <a:solidFill>
                  <a:srgbClr val="2B2F38"/>
                </a:solidFill>
              </a:rPr>
              <a:t>DON’T KNOW YET</a:t>
            </a:r>
            <a:r>
              <a:rPr lang="en-US" sz="1350" dirty="0">
                <a:solidFill>
                  <a:srgbClr val="2B2F38"/>
                </a:solidFill>
              </a:rPr>
              <a:t>, and what would </a:t>
            </a:r>
            <a:r>
              <a:rPr lang="en-US" sz="1350" b="1" dirty="0">
                <a:solidFill>
                  <a:srgbClr val="2B2F38"/>
                </a:solidFill>
              </a:rPr>
              <a:t>PROVE</a:t>
            </a:r>
            <a:r>
              <a:rPr lang="en-US" sz="1350" dirty="0">
                <a:solidFill>
                  <a:srgbClr val="2B2F38"/>
                </a:solidFill>
              </a:rPr>
              <a:t> it.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34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text to your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think?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The message at 06.58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en_mess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Here is an example of what you could have thought and written…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en_messag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2092147"/>
            <a:ext cx="123946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Shaw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2818181" y="2101291"/>
            <a:ext cx="1354455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18181" y="2092147"/>
            <a:ext cx="135445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at 6.58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242587" y="2092147"/>
            <a:ext cx="462869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morning and left a voicemail. The cleaners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758352" y="2101291"/>
            <a:ext cx="654939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758352" y="2092147"/>
            <a:ext cx="65493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9483242" y="2092147"/>
            <a:ext cx="21330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at 6.50, and it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495408" y="2028139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094057" y="1781251"/>
            <a:ext cx="80270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094057" y="1781251"/>
            <a:ext cx="8027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 TIME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085821" y="2028139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43398" y="1781251"/>
            <a:ext cx="88484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43398" y="1781251"/>
            <a:ext cx="88484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91640" y="2846527"/>
            <a:ext cx="322028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still running. There is water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799000" y="2855671"/>
            <a:ext cx="1213180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99000" y="2846527"/>
            <a:ext cx="12131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082132" y="2846527"/>
            <a:ext cx="75346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722669" y="2855671"/>
            <a:ext cx="1512418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722669" y="2846527"/>
            <a:ext cx="151241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room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8235086" y="2846527"/>
            <a:ext cx="344911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 the second floor. Please bring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5405590" y="2782519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987265" y="2535631"/>
            <a:ext cx="83665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987265" y="2535631"/>
            <a:ext cx="83665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478878" y="2782519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060552" y="2535631"/>
            <a:ext cx="83665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060552" y="2535631"/>
            <a:ext cx="83665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1691640" y="3600907"/>
            <a:ext cx="487009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on the November incident to Atlas House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6448806" y="3610051"/>
            <a:ext cx="782955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48806" y="3600907"/>
            <a:ext cx="78295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8.15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7231761" y="3600907"/>
            <a:ext cx="24048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6840284" y="3536899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295949" y="3290011"/>
            <a:ext cx="108866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295949" y="3290011"/>
            <a:ext cx="108866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+ DEADLINE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3843909" y="4556455"/>
            <a:ext cx="85610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I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4587088" y="4565599"/>
            <a:ext cx="1137742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587088" y="4556455"/>
            <a:ext cx="113774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didn’t hear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5794781" y="4556455"/>
            <a:ext cx="39401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phone at 6.58: I was in the shower!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5155959" y="4492447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25943" y="4245559"/>
            <a:ext cx="106003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4625943" y="4245559"/>
            <a:ext cx="106003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DIDN’T + BASE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1508760" y="5338267"/>
            <a:ext cx="10332720" cy="827532"/>
          </a:xfrm>
          <a:prstGeom prst="roundRect">
            <a:avLst>
              <a:gd name="adj" fmla="val 8840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645920" y="5182819"/>
            <a:ext cx="2200224" cy="274320"/>
          </a:xfrm>
          <a:prstGeom prst="roundRect">
            <a:avLst>
              <a:gd name="adj" fmla="val 20000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1645920" y="5182819"/>
            <a:ext cx="220022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CHALLENGE  ·  optional · harder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1691640" y="5795467"/>
            <a:ext cx="1903781" cy="278892"/>
          </a:xfrm>
          <a:prstGeom prst="roundRect">
            <a:avLst>
              <a:gd name="adj" fmla="val 16393"/>
            </a:avLst>
          </a:prstGeom>
          <a:solidFill>
            <a:srgbClr val="FFF1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1691640" y="5786323"/>
            <a:ext cx="190378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know yet</a:t>
            </a:r>
            <a:endParaRPr lang="en-US" sz="1800" dirty="0"/>
          </a:p>
        </p:txBody>
      </p:sp>
      <p:sp>
        <p:nvSpPr>
          <p:cNvPr id="53" name="Text 49"/>
          <p:cNvSpPr txBox="1"/>
          <p:nvPr/>
        </p:nvSpPr>
        <p:spPr>
          <a:xfrm>
            <a:off x="3665372" y="5786323"/>
            <a:ext cx="421126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water has been running, but</a:t>
            </a:r>
            <a:endParaRPr lang="en-US" sz="1800" dirty="0"/>
          </a:p>
        </p:txBody>
      </p:sp>
      <p:sp>
        <p:nvSpPr>
          <p:cNvPr id="54" name="Shape 50"/>
          <p:cNvSpPr/>
          <p:nvPr/>
        </p:nvSpPr>
        <p:spPr>
          <a:xfrm>
            <a:off x="7763713" y="5795467"/>
            <a:ext cx="1348511" cy="278892"/>
          </a:xfrm>
          <a:prstGeom prst="roundRect">
            <a:avLst>
              <a:gd name="adj" fmla="val 16393"/>
            </a:avLst>
          </a:prstGeom>
          <a:solidFill>
            <a:srgbClr val="FFF1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763713" y="5786323"/>
            <a:ext cx="134851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log</a:t>
            </a:r>
            <a:endParaRPr lang="en-US" sz="1800" dirty="0"/>
          </a:p>
        </p:txBody>
      </p:sp>
      <p:sp>
        <p:nvSpPr>
          <p:cNvPr id="56" name="Text 52"/>
          <p:cNvSpPr txBox="1"/>
          <p:nvPr/>
        </p:nvSpPr>
        <p:spPr>
          <a:xfrm>
            <a:off x="9182176" y="5786323"/>
            <a:ext cx="264695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show when it started.</a:t>
            </a:r>
            <a:endParaRPr lang="en-US" sz="1800" dirty="0"/>
          </a:p>
        </p:txBody>
      </p:sp>
      <p:sp>
        <p:nvSpPr>
          <p:cNvPr id="57" name="Shape 53"/>
          <p:cNvSpPr/>
          <p:nvPr/>
        </p:nvSpPr>
        <p:spPr>
          <a:xfrm>
            <a:off x="2643530" y="5722315"/>
            <a:ext cx="914" cy="73152"/>
          </a:xfrm>
          <a:prstGeom prst="line">
            <a:avLst/>
          </a:prstGeom>
          <a:noFill/>
          <a:ln w="15875">
            <a:solidFill>
              <a:srgbClr val="C99A06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2012652" y="5475427"/>
            <a:ext cx="1261758" cy="246888"/>
          </a:xfrm>
          <a:prstGeom prst="roundRect">
            <a:avLst>
              <a:gd name="adj" fmla="val 14815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2012652" y="5475427"/>
            <a:ext cx="126175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KNOW YET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8437969" y="5722315"/>
            <a:ext cx="914" cy="73152"/>
          </a:xfrm>
          <a:prstGeom prst="line">
            <a:avLst/>
          </a:prstGeom>
          <a:noFill/>
          <a:ln w="15875">
            <a:solidFill>
              <a:srgbClr val="C99A06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125257" y="5475427"/>
            <a:ext cx="625424" cy="246888"/>
          </a:xfrm>
          <a:prstGeom prst="roundRect">
            <a:avLst>
              <a:gd name="adj" fmla="val 14815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125257" y="5475427"/>
            <a:ext cx="62542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Use this picture as inspiration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Atlas House, 8.15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Atlas House, 8 h 15</a:t>
            </a: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livret p. 3–7 · role play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en_room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DF1E6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at Atlas House. Mark wants facts, not guesses. Tell him what you know and what happens next.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517904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51790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790688" y="146304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The night: </a:t>
            </a:r>
            <a:r>
              <a:rPr lang="en-US" sz="1450" b="1" dirty="0">
                <a:solidFill>
                  <a:srgbClr val="2B2F38"/>
                </a:solidFill>
              </a:rPr>
              <a:t>BETWEEN</a:t>
            </a:r>
            <a:r>
              <a:rPr lang="en-US" sz="1450" dirty="0">
                <a:solidFill>
                  <a:srgbClr val="2B2F38"/>
                </a:solidFill>
              </a:rPr>
              <a:t> … </a:t>
            </a:r>
            <a:r>
              <a:rPr lang="en-US" sz="1450" b="1" dirty="0">
                <a:solidFill>
                  <a:srgbClr val="2B2F38"/>
                </a:solidFill>
              </a:rPr>
              <a:t>AND</a:t>
            </a:r>
            <a:r>
              <a:rPr lang="en-US" sz="1450" dirty="0">
                <a:solidFill>
                  <a:srgbClr val="2B2F38"/>
                </a:solidFill>
              </a:rPr>
              <a:t> … + a fact in the past simple.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07568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07568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790688" y="2020824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Ask a question in the past simple: </a:t>
            </a:r>
            <a:r>
              <a:rPr lang="en-US" sz="1450" b="1" dirty="0">
                <a:solidFill>
                  <a:srgbClr val="2B2F38"/>
                </a:solidFill>
              </a:rPr>
              <a:t>DID</a:t>
            </a:r>
            <a:r>
              <a:rPr lang="en-US" sz="1450" dirty="0">
                <a:solidFill>
                  <a:srgbClr val="2B2F38"/>
                </a:solidFill>
              </a:rPr>
              <a:t> + subject + base form?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633472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790688" y="2578608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Use </a:t>
            </a:r>
            <a:r>
              <a:rPr lang="en-US" sz="1450" b="1" dirty="0">
                <a:solidFill>
                  <a:srgbClr val="2B2F38"/>
                </a:solidFill>
              </a:rPr>
              <a:t>TURN UP</a:t>
            </a:r>
            <a:r>
              <a:rPr lang="en-US" sz="1450" dirty="0">
                <a:solidFill>
                  <a:srgbClr val="2B2F38"/>
                </a:solidFill>
              </a:rPr>
              <a:t> or </a:t>
            </a:r>
            <a:r>
              <a:rPr lang="en-US" sz="1450" b="1" dirty="0">
                <a:solidFill>
                  <a:srgbClr val="2B2F38"/>
                </a:solidFill>
              </a:rPr>
              <a:t>CALL OUT</a:t>
            </a:r>
            <a:r>
              <a:rPr lang="en-US" sz="1450" dirty="0">
                <a:solidFill>
                  <a:srgbClr val="2B2F38"/>
                </a:solidFill>
              </a:rPr>
              <a:t> in the right form.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191256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19125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90688" y="313639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 time from now or a duration: </a:t>
            </a:r>
            <a:r>
              <a:rPr lang="en-US" sz="1450" b="1" dirty="0">
                <a:solidFill>
                  <a:srgbClr val="2B2F38"/>
                </a:solidFill>
              </a:rPr>
              <a:t>IN</a:t>
            </a:r>
            <a:r>
              <a:rPr lang="en-US" sz="1450" dirty="0">
                <a:solidFill>
                  <a:srgbClr val="2B2F38"/>
                </a:solidFill>
              </a:rPr>
              <a:t> twenty minutes, </a:t>
            </a:r>
            <a:r>
              <a:rPr lang="en-US" sz="1450" b="1" dirty="0">
                <a:solidFill>
                  <a:srgbClr val="2B2F38"/>
                </a:solidFill>
              </a:rPr>
              <a:t>FOR</a:t>
            </a:r>
            <a:r>
              <a:rPr lang="en-US" sz="1450" dirty="0">
                <a:solidFill>
                  <a:srgbClr val="2B2F38"/>
                </a:solidFill>
              </a:rPr>
              <a:t> two hours…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3749040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37490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790688" y="3694176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 twist with </a:t>
            </a:r>
            <a:r>
              <a:rPr lang="en-US" sz="1450" b="1" dirty="0">
                <a:solidFill>
                  <a:srgbClr val="2B2F38"/>
                </a:solidFill>
              </a:rPr>
              <a:t>UNTIL</a:t>
            </a:r>
            <a:r>
              <a:rPr lang="en-US" sz="1450" dirty="0">
                <a:solidFill>
                  <a:srgbClr val="2B2F38"/>
                </a:solidFill>
              </a:rPr>
              <a:t> or </a:t>
            </a:r>
            <a:r>
              <a:rPr lang="en-US" sz="1450" b="1" dirty="0">
                <a:solidFill>
                  <a:srgbClr val="2B2F38"/>
                </a:solidFill>
              </a:rPr>
              <a:t>BY</a:t>
            </a:r>
            <a:r>
              <a:rPr lang="en-US" sz="1450" dirty="0">
                <a:solidFill>
                  <a:srgbClr val="2B2F38"/>
                </a:solidFill>
              </a:rPr>
              <a:t>: choose the right one!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6236208" y="4370832"/>
            <a:ext cx="5650992" cy="932688"/>
          </a:xfrm>
          <a:prstGeom prst="roundRect">
            <a:avLst>
              <a:gd name="adj" fmla="val 9804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55080" y="463600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355080" y="463600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6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790688" y="43891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CHALLENGE  ·  optional · harder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7790688" y="4645152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F38"/>
                </a:solidFill>
              </a:rPr>
              <a:t>Contrast the </a:t>
            </a:r>
            <a:r>
              <a:rPr lang="en-US" sz="1350" b="1" dirty="0">
                <a:solidFill>
                  <a:srgbClr val="2B2F38"/>
                </a:solidFill>
              </a:rPr>
              <a:t>PRESENT PERFECT</a:t>
            </a:r>
            <a:r>
              <a:rPr lang="en-US" sz="1350" dirty="0">
                <a:solidFill>
                  <a:srgbClr val="2B2F38"/>
                </a:solidFill>
              </a:rPr>
              <a:t> (the result now) and the </a:t>
            </a:r>
            <a:r>
              <a:rPr lang="en-US" sz="1350" b="1" dirty="0">
                <a:solidFill>
                  <a:srgbClr val="2B2F38"/>
                </a:solidFill>
              </a:rPr>
              <a:t>PAST SIMPLE</a:t>
            </a:r>
            <a:r>
              <a:rPr lang="en-US" sz="1350" dirty="0">
                <a:solidFill>
                  <a:srgbClr val="2B2F38"/>
                </a:solidFill>
              </a:rPr>
              <a:t> (the dated fact).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34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partner what you would say.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think?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Atlas House, 8.15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en_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Here is an example of what you could have thought and said…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en_room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691640" y="1971243"/>
            <a:ext cx="2893263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691640" y="1960067"/>
            <a:ext cx="289326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23.41 and 6.47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584903" y="1960067"/>
            <a:ext cx="679574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nobody went into the technical room: the badge record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3138272" y="1896059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529605" y="1649171"/>
            <a:ext cx="121733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529605" y="1649171"/>
            <a:ext cx="121733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… AND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2780487"/>
            <a:ext cx="120477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it.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2794965" y="2791663"/>
            <a:ext cx="2260702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94965" y="2780487"/>
            <a:ext cx="2260702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guard hear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137099" y="2780487"/>
            <a:ext cx="487057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last night? The plumber didn’t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9906229" y="2791663"/>
            <a:ext cx="95087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906229" y="2780487"/>
            <a:ext cx="95087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up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10857103" y="2780487"/>
            <a:ext cx="74249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3925316" y="2716479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595351" y="2469591"/>
            <a:ext cx="659930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595351" y="2469591"/>
            <a:ext cx="65993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… ?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0381666" y="2716479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834467" y="2469591"/>
            <a:ext cx="109439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834467" y="2469591"/>
            <a:ext cx="109439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PHRASAL VERB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691640" y="3612083"/>
            <a:ext cx="1234745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691640" y="3600907"/>
            <a:ext cx="123474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out</a:t>
            </a:r>
            <a:endParaRPr lang="en-US" sz="2200" dirty="0"/>
          </a:p>
        </p:txBody>
      </p:sp>
      <p:sp>
        <p:nvSpPr>
          <p:cNvPr id="29" name="Text 25"/>
          <p:cNvSpPr txBox="1"/>
          <p:nvPr/>
        </p:nvSpPr>
        <p:spPr>
          <a:xfrm>
            <a:off x="3007817" y="3600907"/>
            <a:ext cx="323667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one. He’ll be here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143041" y="3612083"/>
            <a:ext cx="220649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143041" y="3600907"/>
            <a:ext cx="220649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twenty minutes</a:t>
            </a:r>
            <a:endParaRPr lang="en-US" sz="2200" dirty="0"/>
          </a:p>
        </p:txBody>
      </p:sp>
      <p:sp>
        <p:nvSpPr>
          <p:cNvPr id="32" name="Text 28"/>
          <p:cNvSpPr txBox="1"/>
          <p:nvPr/>
        </p:nvSpPr>
        <p:spPr>
          <a:xfrm>
            <a:off x="8349539" y="3600907"/>
            <a:ext cx="253289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33" name="Shape 29"/>
          <p:cNvSpPr/>
          <p:nvPr/>
        </p:nvSpPr>
        <p:spPr>
          <a:xfrm>
            <a:off x="2309012" y="3536899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761814" y="3290011"/>
            <a:ext cx="109439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761814" y="3290011"/>
            <a:ext cx="109439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PHRASAL VERB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246290" y="3536899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891668" y="3290011"/>
            <a:ext cx="70924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891668" y="3290011"/>
            <a:ext cx="7092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FOR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2496007" y="4622495"/>
            <a:ext cx="3558667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can’t put the timeline off</a:t>
            </a:r>
            <a:endParaRPr lang="en-US" sz="2200" dirty="0"/>
          </a:p>
        </p:txBody>
      </p:sp>
      <p:sp>
        <p:nvSpPr>
          <p:cNvPr id="40" name="Shape 36"/>
          <p:cNvSpPr/>
          <p:nvPr/>
        </p:nvSpPr>
        <p:spPr>
          <a:xfrm>
            <a:off x="5953227" y="4633671"/>
            <a:ext cx="1405738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953227" y="4622495"/>
            <a:ext cx="140573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Friday</a:t>
            </a:r>
            <a:endParaRPr lang="en-US" sz="2200" dirty="0"/>
          </a:p>
        </p:txBody>
      </p:sp>
      <p:sp>
        <p:nvSpPr>
          <p:cNvPr id="42" name="Text 38"/>
          <p:cNvSpPr txBox="1"/>
          <p:nvPr/>
        </p:nvSpPr>
        <p:spPr>
          <a:xfrm>
            <a:off x="7358964" y="4622495"/>
            <a:ext cx="260494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insurer wants it</a:t>
            </a:r>
            <a:endParaRPr lang="en-US" sz="2200" dirty="0"/>
          </a:p>
        </p:txBody>
      </p:sp>
      <p:sp>
        <p:nvSpPr>
          <p:cNvPr id="43" name="Shape 39"/>
          <p:cNvSpPr/>
          <p:nvPr/>
        </p:nvSpPr>
        <p:spPr>
          <a:xfrm>
            <a:off x="9862464" y="4633671"/>
            <a:ext cx="946404" cy="340868"/>
          </a:xfrm>
          <a:prstGeom prst="roundRect">
            <a:avLst>
              <a:gd name="adj" fmla="val 1341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862464" y="4622495"/>
            <a:ext cx="94640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nine</a:t>
            </a:r>
            <a:endParaRPr lang="en-US" sz="2200" dirty="0"/>
          </a:p>
        </p:txBody>
      </p:sp>
      <p:sp>
        <p:nvSpPr>
          <p:cNvPr id="45" name="Text 41"/>
          <p:cNvSpPr txBox="1"/>
          <p:nvPr/>
        </p:nvSpPr>
        <p:spPr>
          <a:xfrm>
            <a:off x="10808868" y="4622495"/>
            <a:ext cx="27396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46" name="Shape 42"/>
          <p:cNvSpPr/>
          <p:nvPr/>
        </p:nvSpPr>
        <p:spPr>
          <a:xfrm>
            <a:off x="6656095" y="4558487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371952" y="4311599"/>
            <a:ext cx="56828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371952" y="4311599"/>
            <a:ext cx="56828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10335666" y="4558487"/>
            <a:ext cx="914" cy="75184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150431" y="4311599"/>
            <a:ext cx="37047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10150431" y="4311599"/>
            <a:ext cx="37047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1508760" y="5470347"/>
            <a:ext cx="10332720" cy="893572"/>
          </a:xfrm>
          <a:prstGeom prst="roundRect">
            <a:avLst>
              <a:gd name="adj" fmla="val 8186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645920" y="5314899"/>
            <a:ext cx="2200224" cy="274320"/>
          </a:xfrm>
          <a:prstGeom prst="roundRect">
            <a:avLst>
              <a:gd name="adj" fmla="val 20000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1645920" y="5314899"/>
            <a:ext cx="220022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CHALLENGE  ·  optional · harder</a:t>
            </a:r>
            <a:endParaRPr lang="en-US" sz="1100" dirty="0"/>
          </a:p>
        </p:txBody>
      </p:sp>
      <p:sp>
        <p:nvSpPr>
          <p:cNvPr id="55" name="Text 51"/>
          <p:cNvSpPr txBox="1"/>
          <p:nvPr/>
        </p:nvSpPr>
        <p:spPr>
          <a:xfrm>
            <a:off x="1691640" y="5918403"/>
            <a:ext cx="135006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</a:t>
            </a:r>
            <a:endParaRPr lang="en-US" sz="2200" dirty="0"/>
          </a:p>
        </p:txBody>
      </p:sp>
      <p:sp>
        <p:nvSpPr>
          <p:cNvPr id="56" name="Shape 52"/>
          <p:cNvSpPr/>
          <p:nvPr/>
        </p:nvSpPr>
        <p:spPr>
          <a:xfrm>
            <a:off x="2940253" y="5929579"/>
            <a:ext cx="1630375" cy="340868"/>
          </a:xfrm>
          <a:prstGeom prst="roundRect">
            <a:avLst>
              <a:gd name="adj" fmla="val 13413"/>
            </a:avLst>
          </a:prstGeom>
          <a:solidFill>
            <a:srgbClr val="FFF1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2940253" y="5918403"/>
            <a:ext cx="1630375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damaged</a:t>
            </a:r>
            <a:endParaRPr lang="en-US" sz="2200" dirty="0"/>
          </a:p>
        </p:txBody>
      </p:sp>
      <p:sp>
        <p:nvSpPr>
          <p:cNvPr id="58" name="Text 54"/>
          <p:cNvSpPr txBox="1"/>
          <p:nvPr/>
        </p:nvSpPr>
        <p:spPr>
          <a:xfrm>
            <a:off x="4652061" y="5918403"/>
            <a:ext cx="3966870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ceiling, but the cleaners only</a:t>
            </a:r>
            <a:endParaRPr lang="en-US" sz="2200" dirty="0"/>
          </a:p>
        </p:txBody>
      </p:sp>
      <p:sp>
        <p:nvSpPr>
          <p:cNvPr id="59" name="Shape 55"/>
          <p:cNvSpPr/>
          <p:nvPr/>
        </p:nvSpPr>
        <p:spPr>
          <a:xfrm>
            <a:off x="8517484" y="5929579"/>
            <a:ext cx="780161" cy="340868"/>
          </a:xfrm>
          <a:prstGeom prst="roundRect">
            <a:avLst>
              <a:gd name="adj" fmla="val 13413"/>
            </a:avLst>
          </a:prstGeom>
          <a:solidFill>
            <a:srgbClr val="FFF1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8517484" y="5918403"/>
            <a:ext cx="780161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2200" dirty="0"/>
          </a:p>
        </p:txBody>
      </p:sp>
      <p:sp>
        <p:nvSpPr>
          <p:cNvPr id="61" name="Text 57"/>
          <p:cNvSpPr txBox="1"/>
          <p:nvPr/>
        </p:nvSpPr>
        <p:spPr>
          <a:xfrm>
            <a:off x="9379077" y="5918403"/>
            <a:ext cx="2263673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at 6.50.</a:t>
            </a:r>
            <a:endParaRPr lang="en-US" sz="2200" dirty="0"/>
          </a:p>
        </p:txBody>
      </p:sp>
      <p:sp>
        <p:nvSpPr>
          <p:cNvPr id="62" name="Shape 58"/>
          <p:cNvSpPr/>
          <p:nvPr/>
        </p:nvSpPr>
        <p:spPr>
          <a:xfrm>
            <a:off x="3755441" y="5854395"/>
            <a:ext cx="914" cy="75184"/>
          </a:xfrm>
          <a:prstGeom prst="line">
            <a:avLst/>
          </a:prstGeom>
          <a:noFill/>
          <a:ln w="15875">
            <a:solidFill>
              <a:srgbClr val="C99A06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123375" y="5607507"/>
            <a:ext cx="1264133" cy="246888"/>
          </a:xfrm>
          <a:prstGeom prst="roundRect">
            <a:avLst>
              <a:gd name="adj" fmla="val 14815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3123375" y="5607507"/>
            <a:ext cx="126413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</a:t>
            </a:r>
            <a:endParaRPr lang="en-US" sz="1100" dirty="0"/>
          </a:p>
        </p:txBody>
      </p:sp>
      <p:sp>
        <p:nvSpPr>
          <p:cNvPr id="65" name="Shape 61"/>
          <p:cNvSpPr/>
          <p:nvPr/>
        </p:nvSpPr>
        <p:spPr>
          <a:xfrm>
            <a:off x="8907564" y="5854395"/>
            <a:ext cx="914" cy="75184"/>
          </a:xfrm>
          <a:prstGeom prst="line">
            <a:avLst/>
          </a:prstGeom>
          <a:noFill/>
          <a:ln w="15875">
            <a:solidFill>
              <a:srgbClr val="C99A06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8421414" y="5607507"/>
            <a:ext cx="972299" cy="246888"/>
          </a:xfrm>
          <a:prstGeom prst="roundRect">
            <a:avLst>
              <a:gd name="adj" fmla="val 14815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8421414" y="5607507"/>
            <a:ext cx="97229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Use this picture as inspiration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 timeline by nine</a:t>
            </a: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Une chronologie pour 9 h</a:t>
            </a: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livret p. 4–7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96085" y="1504645"/>
            <a:ext cx="4534510" cy="2905735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27000" dist="50800" dir="5400000">
              <a:srgbClr val="1B2430">
                <a:alpha val="25000"/>
              </a:srgbClr>
            </a:outerShdw>
          </a:effectLst>
        </p:spPr>
      </p:sp>
      <p:pic>
        <p:nvPicPr>
          <p:cNvPr id="8" name="Image 0" descr="/home/user/talenleren/neerlandais1/generateur/img/vijfzinnen/en_timelin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00200"/>
            <a:ext cx="4343400" cy="27146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91640" y="457200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4A7BD0"/>
            </a:solidFill>
            <a:prstDash val="solid"/>
          </a:ln>
        </p:spPr>
      </p:sp>
      <p:pic>
        <p:nvPicPr>
          <p:cNvPr id="10" name="Image 1" descr="PenNi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6" y="465429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75688" y="45720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A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needs a written timeline of the night by nine. Facts only: every time must be verifiable.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55080" y="1517904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1517904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790688" y="146304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 </a:t>
            </a:r>
            <a:r>
              <a:rPr lang="en-US" sz="1450" b="1" dirty="0">
                <a:solidFill>
                  <a:srgbClr val="2B2F38"/>
                </a:solidFill>
              </a:rPr>
              <a:t>VERIFIABLE</a:t>
            </a:r>
            <a:r>
              <a:rPr lang="en-US" sz="1450" dirty="0">
                <a:solidFill>
                  <a:srgbClr val="2B2F38"/>
                </a:solidFill>
              </a:rPr>
              <a:t> time: past simple + </a:t>
            </a:r>
            <a:r>
              <a:rPr lang="en-US" sz="1450" b="1" dirty="0">
                <a:solidFill>
                  <a:srgbClr val="2B2F38"/>
                </a:solidFill>
              </a:rPr>
              <a:t>AT</a:t>
            </a:r>
            <a:r>
              <a:rPr lang="en-US" sz="1450" dirty="0">
                <a:solidFill>
                  <a:srgbClr val="2B2F38"/>
                </a:solidFill>
              </a:rPr>
              <a:t> + its source (the alarm log, the CCTV…).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207568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355080" y="207568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790688" y="2020824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Two phrasal verbs from the lesson: </a:t>
            </a:r>
            <a:r>
              <a:rPr lang="en-US" sz="1450" b="1" dirty="0">
                <a:solidFill>
                  <a:srgbClr val="2B2F38"/>
                </a:solidFill>
              </a:rPr>
              <a:t>BREAK DOWN</a:t>
            </a:r>
            <a:r>
              <a:rPr lang="en-US" sz="1450" dirty="0">
                <a:solidFill>
                  <a:srgbClr val="2B2F38"/>
                </a:solidFill>
              </a:rPr>
              <a:t> and </a:t>
            </a:r>
            <a:r>
              <a:rPr lang="en-US" sz="1450" b="1" dirty="0">
                <a:solidFill>
                  <a:srgbClr val="2B2F38"/>
                </a:solidFill>
              </a:rPr>
              <a:t>SHUT DOWN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55080" y="2633472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55080" y="26334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790688" y="2578608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Three words from the mind map: a </a:t>
            </a:r>
            <a:r>
              <a:rPr lang="en-US" sz="1450" b="1" dirty="0">
                <a:solidFill>
                  <a:srgbClr val="2B2F38"/>
                </a:solidFill>
              </a:rPr>
              <a:t>PERSON</a:t>
            </a:r>
            <a:r>
              <a:rPr lang="en-US" sz="1450" dirty="0">
                <a:solidFill>
                  <a:srgbClr val="2B2F38"/>
                </a:solidFill>
              </a:rPr>
              <a:t>, some </a:t>
            </a:r>
            <a:r>
              <a:rPr lang="en-US" sz="1450" b="1" dirty="0">
                <a:solidFill>
                  <a:srgbClr val="2B2F38"/>
                </a:solidFill>
              </a:rPr>
              <a:t>EVIDENCE</a:t>
            </a:r>
            <a:r>
              <a:rPr lang="en-US" sz="1450" dirty="0">
                <a:solidFill>
                  <a:srgbClr val="2B2F38"/>
                </a:solidFill>
              </a:rPr>
              <a:t>, some </a:t>
            </a:r>
            <a:r>
              <a:rPr lang="en-US" sz="1450" b="1" dirty="0">
                <a:solidFill>
                  <a:srgbClr val="2B2F38"/>
                </a:solidFill>
              </a:rPr>
              <a:t>PAPERWORK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3191256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355080" y="3191256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90688" y="313639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 </a:t>
            </a:r>
            <a:r>
              <a:rPr lang="en-US" sz="1450" b="1" dirty="0">
                <a:solidFill>
                  <a:srgbClr val="2B2F38"/>
                </a:solidFill>
              </a:rPr>
              <a:t>NEGATIVE</a:t>
            </a:r>
            <a:r>
              <a:rPr lang="en-US" sz="1450" dirty="0">
                <a:solidFill>
                  <a:srgbClr val="2B2F38"/>
                </a:solidFill>
              </a:rPr>
              <a:t>, and a </a:t>
            </a:r>
            <a:r>
              <a:rPr lang="en-US" sz="1450" b="1" dirty="0">
                <a:solidFill>
                  <a:srgbClr val="2B2F38"/>
                </a:solidFill>
              </a:rPr>
              <a:t>QUESTION</a:t>
            </a:r>
            <a:r>
              <a:rPr lang="en-US" sz="1450" dirty="0">
                <a:solidFill>
                  <a:srgbClr val="2B2F38"/>
                </a:solidFill>
              </a:rPr>
              <a:t> for Mark, in the past simple.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355080" y="3749040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5FA87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55080" y="37490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790688" y="3694176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2B2F38"/>
                </a:solidFill>
              </a:rPr>
              <a:t>A twist: what happens next, with </a:t>
            </a:r>
            <a:r>
              <a:rPr lang="en-US" sz="1450" b="1" dirty="0">
                <a:solidFill>
                  <a:srgbClr val="2B2F38"/>
                </a:solidFill>
              </a:rPr>
              <a:t>LOOK INTO</a:t>
            </a:r>
            <a:r>
              <a:rPr lang="en-US" sz="1450" dirty="0">
                <a:solidFill>
                  <a:srgbClr val="2B2F38"/>
                </a:solidFill>
              </a:rPr>
              <a:t> or </a:t>
            </a:r>
            <a:r>
              <a:rPr lang="en-US" sz="1450" b="1" dirty="0">
                <a:solidFill>
                  <a:srgbClr val="2B2F38"/>
                </a:solidFill>
              </a:rPr>
              <a:t>SORT OUT</a:t>
            </a:r>
            <a:r>
              <a:rPr lang="en-US" sz="1450" dirty="0">
                <a:solidFill>
                  <a:srgbClr val="2B2F38"/>
                </a:solidFill>
              </a:rPr>
              <a:t>.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6236208" y="4370832"/>
            <a:ext cx="5650992" cy="932688"/>
          </a:xfrm>
          <a:prstGeom prst="roundRect">
            <a:avLst>
              <a:gd name="adj" fmla="val 9804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55080" y="4636008"/>
            <a:ext cx="1298448" cy="402336"/>
          </a:xfrm>
          <a:prstGeom prst="roundRect">
            <a:avLst>
              <a:gd name="adj" fmla="val 13636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355080" y="463600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6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790688" y="43891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C99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CHALLENGE  ·  optional · harder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7790688" y="4645152"/>
            <a:ext cx="4005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F38"/>
                </a:solidFill>
              </a:rPr>
              <a:t>A </a:t>
            </a:r>
            <a:r>
              <a:rPr lang="en-US" sz="1350" b="1" dirty="0">
                <a:solidFill>
                  <a:srgbClr val="2B2F38"/>
                </a:solidFill>
              </a:rPr>
              <a:t>FINISHED TIME</a:t>
            </a:r>
            <a:r>
              <a:rPr lang="en-US" sz="1350" dirty="0">
                <a:solidFill>
                  <a:srgbClr val="2B2F38"/>
                </a:solidFill>
              </a:rPr>
              <a:t> (last…, … ago) </a:t>
            </a:r>
            <a:r>
              <a:rPr lang="en-US" sz="1350" b="1" dirty="0">
                <a:solidFill>
                  <a:srgbClr val="2B2F38"/>
                </a:solidFill>
              </a:rPr>
              <a:t>and</a:t>
            </a:r>
            <a:r>
              <a:rPr lang="en-US" sz="1350" dirty="0">
                <a:solidFill>
                  <a:srgbClr val="2B2F38"/>
                </a:solidFill>
              </a:rPr>
              <a:t> a present perfect with </a:t>
            </a:r>
            <a:r>
              <a:rPr lang="en-US" sz="1350" b="1" dirty="0">
                <a:solidFill>
                  <a:srgbClr val="2B2F38"/>
                </a:solidFill>
              </a:rPr>
              <a:t>NEVER</a:t>
            </a:r>
            <a:r>
              <a:rPr lang="en-US" sz="1350" dirty="0">
                <a:solidFill>
                  <a:srgbClr val="2B2F38"/>
                </a:solidFill>
              </a:rPr>
              <a:t> or </a:t>
            </a:r>
            <a:r>
              <a:rPr lang="en-US" sz="1350" b="1" dirty="0">
                <a:solidFill>
                  <a:srgbClr val="2B2F38"/>
                </a:solidFill>
              </a:rPr>
              <a:t>EVER</a:t>
            </a:r>
            <a:r>
              <a:rPr lang="en-US" sz="1350" dirty="0">
                <a:solidFill>
                  <a:srgbClr val="2B2F38"/>
                </a:solidFill>
              </a:rPr>
              <a:t>.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3246120" y="5440680"/>
            <a:ext cx="6858000" cy="822960"/>
          </a:xfrm>
          <a:prstGeom prst="roundRect">
            <a:avLst>
              <a:gd name="adj" fmla="val 17778"/>
            </a:avLst>
          </a:prstGeom>
          <a:solidFill>
            <a:srgbClr val="EAF5EC"/>
          </a:solidFill>
          <a:ln w="15875">
            <a:solidFill>
              <a:srgbClr val="5FA873"/>
            </a:solidFill>
            <a:prstDash val="solid"/>
          </a:ln>
        </p:spPr>
      </p:sp>
      <p:pic>
        <p:nvPicPr>
          <p:cNvPr id="34" name="Image 2" descr="UserFrie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5660136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4114800" y="5440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text to your partner.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think?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A timeline by nine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2519172" y="1124712"/>
            <a:ext cx="8311896" cy="5277231"/>
          </a:xfrm>
          <a:prstGeom prst="roundRect">
            <a:avLst>
              <a:gd name="adj" fmla="val 693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177800" dist="635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en_tim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900" y="1234440"/>
            <a:ext cx="8092440" cy="50577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691640" y="34747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F38"/>
                </a:solidFill>
              </a:rPr>
              <a:t>Here is an example of what you could have thought and written…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0058400" y="246888"/>
            <a:ext cx="1691640" cy="1091565"/>
          </a:xfrm>
          <a:prstGeom prst="roundRect">
            <a:avLst>
              <a:gd name="adj" fmla="val 3351"/>
            </a:avLst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25000"/>
              </a:srgbClr>
            </a:outerShdw>
          </a:effectLst>
        </p:spPr>
      </p:sp>
      <p:pic>
        <p:nvPicPr>
          <p:cNvPr id="7" name="Image 0" descr="/home/user/talenleren/neerlandais1/generateur/img/vijfzinnen/en_timeline_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292608"/>
            <a:ext cx="1600200" cy="1000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14754"/>
            <a:ext cx="200573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went off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584448" y="1923898"/>
            <a:ext cx="859993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584448" y="1914754"/>
            <a:ext cx="85999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23.41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444441" y="1914754"/>
            <a:ext cx="24414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75658" y="1923898"/>
            <a:ext cx="1348511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5658" y="1914754"/>
            <a:ext cx="134851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log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994121" y="1914754"/>
            <a:ext cx="439666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it. During the night, two cooling units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0277856" y="1923898"/>
            <a:ext cx="1233526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277856" y="1914754"/>
            <a:ext cx="123352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down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014445" y="185074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13093" y="1603858"/>
            <a:ext cx="80270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613093" y="1603858"/>
            <a:ext cx="80270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+ TIME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249913" y="185074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03953" y="1603858"/>
            <a:ext cx="69192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903953" y="1603858"/>
            <a:ext cx="69192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0894619" y="185074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375430" y="1603858"/>
            <a:ext cx="1038377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375430" y="1603858"/>
            <a:ext cx="1038377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691640" y="2669134"/>
            <a:ext cx="131056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rack A2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2889275" y="2678278"/>
            <a:ext cx="1097966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889275" y="2669134"/>
            <a:ext cx="109796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4057193" y="2669134"/>
            <a:ext cx="191841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automatically. The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862676" y="2678278"/>
            <a:ext cx="881253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862676" y="2669134"/>
            <a:ext cx="88125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cleaners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6813880" y="2669134"/>
            <a:ext cx="336887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water at 6.50 and took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3438258" y="260512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954903" y="2358238"/>
            <a:ext cx="966711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954903" y="2358238"/>
            <a:ext cx="966711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DOWN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303302" y="260512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956713" y="2358238"/>
            <a:ext cx="693179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956713" y="2358238"/>
            <a:ext cx="69317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1691640" y="3432658"/>
            <a:ext cx="2071345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691640" y="3423514"/>
            <a:ext cx="207134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photos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3832936" y="3423514"/>
            <a:ext cx="83324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4553255" y="3432658"/>
            <a:ext cx="598246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553255" y="3423514"/>
            <a:ext cx="59824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5151501" y="3423514"/>
            <a:ext cx="151447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plumber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6553048" y="3432658"/>
            <a:ext cx="1409090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553048" y="3423514"/>
            <a:ext cx="140909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didn’t turn up</a:t>
            </a:r>
            <a:endParaRPr lang="en-US" sz="1800" dirty="0"/>
          </a:p>
        </p:txBody>
      </p:sp>
      <p:sp>
        <p:nvSpPr>
          <p:cNvPr id="47" name="Text 43"/>
          <p:cNvSpPr txBox="1"/>
          <p:nvPr/>
        </p:nvSpPr>
        <p:spPr>
          <a:xfrm>
            <a:off x="8032090" y="3423514"/>
            <a:ext cx="133342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8.15.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9252585" y="3432658"/>
            <a:ext cx="414452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252585" y="3423514"/>
            <a:ext cx="41445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800" dirty="0"/>
          </a:p>
        </p:txBody>
      </p:sp>
      <p:sp>
        <p:nvSpPr>
          <p:cNvPr id="50" name="Text 46"/>
          <p:cNvSpPr txBox="1"/>
          <p:nvPr/>
        </p:nvSpPr>
        <p:spPr>
          <a:xfrm>
            <a:off x="9736988" y="3423514"/>
            <a:ext cx="136131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anybody call</a:t>
            </a:r>
            <a:endParaRPr lang="en-US" sz="1800" dirty="0"/>
          </a:p>
        </p:txBody>
      </p:sp>
      <p:sp>
        <p:nvSpPr>
          <p:cNvPr id="51" name="Shape 47"/>
          <p:cNvSpPr/>
          <p:nvPr/>
        </p:nvSpPr>
        <p:spPr>
          <a:xfrm>
            <a:off x="2727312" y="335950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2328405" y="3112618"/>
            <a:ext cx="79781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2328405" y="3112618"/>
            <a:ext cx="79781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4852378" y="335950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364552" y="3112618"/>
            <a:ext cx="975652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4364552" y="3112618"/>
            <a:ext cx="97565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7257593" y="335950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42576" y="3112618"/>
            <a:ext cx="630034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942576" y="3112618"/>
            <a:ext cx="63003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DIDN’T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9459811" y="3359506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9243422" y="3112618"/>
            <a:ext cx="432778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9243422" y="3112618"/>
            <a:ext cx="43277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endParaRPr lang="en-US" sz="1100" dirty="0"/>
          </a:p>
        </p:txBody>
      </p:sp>
      <p:sp>
        <p:nvSpPr>
          <p:cNvPr id="63" name="Text 59"/>
          <p:cNvSpPr txBox="1"/>
          <p:nvPr/>
        </p:nvSpPr>
        <p:spPr>
          <a:xfrm>
            <a:off x="1691640" y="3866998"/>
            <a:ext cx="260992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 out during the night?</a:t>
            </a:r>
            <a:endParaRPr lang="en-US" sz="1800" dirty="0"/>
          </a:p>
        </p:txBody>
      </p:sp>
      <p:sp>
        <p:nvSpPr>
          <p:cNvPr id="64" name="Text 60"/>
          <p:cNvSpPr txBox="1"/>
          <p:nvPr/>
        </p:nvSpPr>
        <p:spPr>
          <a:xfrm>
            <a:off x="2677363" y="4822546"/>
            <a:ext cx="162694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Mark will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4191381" y="4831690"/>
            <a:ext cx="936346" cy="278892"/>
          </a:xfrm>
          <a:prstGeom prst="roundRect">
            <a:avLst>
              <a:gd name="adj" fmla="val 16393"/>
            </a:avLst>
          </a:prstGeom>
          <a:solidFill>
            <a:srgbClr val="E6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4191381" y="4822546"/>
            <a:ext cx="93634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into</a:t>
            </a:r>
            <a:endParaRPr lang="en-US" sz="1800" dirty="0"/>
          </a:p>
        </p:txBody>
      </p:sp>
      <p:sp>
        <p:nvSpPr>
          <p:cNvPr id="67" name="Text 63"/>
          <p:cNvSpPr txBox="1"/>
          <p:nvPr/>
        </p:nvSpPr>
        <p:spPr>
          <a:xfrm>
            <a:off x="5197678" y="4822546"/>
            <a:ext cx="570379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record… before the insurer’s assessor turns up!</a:t>
            </a:r>
            <a:endParaRPr lang="en-US" sz="1800" dirty="0"/>
          </a:p>
        </p:txBody>
      </p:sp>
      <p:sp>
        <p:nvSpPr>
          <p:cNvPr id="68" name="Shape 64"/>
          <p:cNvSpPr/>
          <p:nvPr/>
        </p:nvSpPr>
        <p:spPr>
          <a:xfrm>
            <a:off x="4659554" y="4758538"/>
            <a:ext cx="914" cy="73152"/>
          </a:xfrm>
          <a:prstGeom prst="line">
            <a:avLst/>
          </a:prstGeom>
          <a:noFill/>
          <a:ln w="15875">
            <a:solidFill>
              <a:srgbClr val="7AB648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225373" y="4511650"/>
            <a:ext cx="868363" cy="246888"/>
          </a:xfrm>
          <a:prstGeom prst="roundRect">
            <a:avLst>
              <a:gd name="adj" fmla="val 14815"/>
            </a:avLst>
          </a:prstGeom>
          <a:solidFill>
            <a:srgbClr val="7AB6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4225373" y="4511650"/>
            <a:ext cx="8683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INTO</a:t>
            </a:r>
            <a:endParaRPr lang="en-US" sz="1100" dirty="0"/>
          </a:p>
        </p:txBody>
      </p:sp>
      <p:sp>
        <p:nvSpPr>
          <p:cNvPr id="71" name="Shape 67"/>
          <p:cNvSpPr/>
          <p:nvPr/>
        </p:nvSpPr>
        <p:spPr>
          <a:xfrm>
            <a:off x="1508760" y="5604358"/>
            <a:ext cx="10332720" cy="827532"/>
          </a:xfrm>
          <a:prstGeom prst="roundRect">
            <a:avLst>
              <a:gd name="adj" fmla="val 8840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1645920" y="5448910"/>
            <a:ext cx="2200224" cy="274320"/>
          </a:xfrm>
          <a:prstGeom prst="roundRect">
            <a:avLst>
              <a:gd name="adj" fmla="val 20000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1645920" y="5448910"/>
            <a:ext cx="220022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CHALLENGE  ·  optional · harder</a:t>
            </a:r>
            <a:endParaRPr lang="en-US" sz="1100" dirty="0"/>
          </a:p>
        </p:txBody>
      </p:sp>
      <p:sp>
        <p:nvSpPr>
          <p:cNvPr id="74" name="Text 70"/>
          <p:cNvSpPr txBox="1"/>
          <p:nvPr/>
        </p:nvSpPr>
        <p:spPr>
          <a:xfrm>
            <a:off x="1691640" y="6052414"/>
            <a:ext cx="227571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an incident</a:t>
            </a:r>
            <a:endParaRPr lang="en-US" sz="1800" dirty="0"/>
          </a:p>
        </p:txBody>
      </p:sp>
      <p:sp>
        <p:nvSpPr>
          <p:cNvPr id="75" name="Shape 71"/>
          <p:cNvSpPr/>
          <p:nvPr/>
        </p:nvSpPr>
        <p:spPr>
          <a:xfrm>
            <a:off x="3854425" y="6061558"/>
            <a:ext cx="1484300" cy="278892"/>
          </a:xfrm>
          <a:prstGeom prst="roundRect">
            <a:avLst>
              <a:gd name="adj" fmla="val 16393"/>
            </a:avLst>
          </a:prstGeom>
          <a:solidFill>
            <a:srgbClr val="FFF1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3854425" y="6052414"/>
            <a:ext cx="14843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November</a:t>
            </a:r>
            <a:endParaRPr lang="en-US" sz="1800" dirty="0"/>
          </a:p>
        </p:txBody>
      </p:sp>
      <p:sp>
        <p:nvSpPr>
          <p:cNvPr id="77" name="Text 73"/>
          <p:cNvSpPr txBox="1"/>
          <p:nvPr/>
        </p:nvSpPr>
        <p:spPr>
          <a:xfrm>
            <a:off x="5338724" y="6052414"/>
            <a:ext cx="140474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rack A2</a:t>
            </a:r>
            <a:endParaRPr lang="en-US" sz="1800" dirty="0"/>
          </a:p>
        </p:txBody>
      </p:sp>
      <p:sp>
        <p:nvSpPr>
          <p:cNvPr id="78" name="Shape 74"/>
          <p:cNvSpPr/>
          <p:nvPr/>
        </p:nvSpPr>
        <p:spPr>
          <a:xfrm>
            <a:off x="6630543" y="6061558"/>
            <a:ext cx="2070202" cy="278892"/>
          </a:xfrm>
          <a:prstGeom prst="roundRect">
            <a:avLst>
              <a:gd name="adj" fmla="val 16393"/>
            </a:avLst>
          </a:prstGeom>
          <a:solidFill>
            <a:srgbClr val="FFF1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6630543" y="6052414"/>
            <a:ext cx="207020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never shut down</a:t>
            </a:r>
            <a:endParaRPr lang="en-US" sz="1800" dirty="0"/>
          </a:p>
        </p:txBody>
      </p:sp>
      <p:sp>
        <p:nvSpPr>
          <p:cNvPr id="80" name="Text 76"/>
          <p:cNvSpPr txBox="1"/>
          <p:nvPr/>
        </p:nvSpPr>
        <p:spPr>
          <a:xfrm>
            <a:off x="8770696" y="6052414"/>
            <a:ext cx="85816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before.</a:t>
            </a:r>
            <a:endParaRPr lang="en-US" sz="1800" dirty="0"/>
          </a:p>
        </p:txBody>
      </p:sp>
      <p:sp>
        <p:nvSpPr>
          <p:cNvPr id="81" name="Shape 77"/>
          <p:cNvSpPr/>
          <p:nvPr/>
        </p:nvSpPr>
        <p:spPr>
          <a:xfrm>
            <a:off x="4596575" y="5988406"/>
            <a:ext cx="914" cy="73152"/>
          </a:xfrm>
          <a:prstGeom prst="line">
            <a:avLst/>
          </a:prstGeom>
          <a:noFill/>
          <a:ln w="15875">
            <a:solidFill>
              <a:srgbClr val="C99A06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4052100" y="5741518"/>
            <a:ext cx="1088949" cy="246888"/>
          </a:xfrm>
          <a:prstGeom prst="roundRect">
            <a:avLst>
              <a:gd name="adj" fmla="val 14815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4052100" y="5741518"/>
            <a:ext cx="1088949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TIME</a:t>
            </a:r>
            <a:endParaRPr lang="en-US" sz="1100" dirty="0"/>
          </a:p>
        </p:txBody>
      </p:sp>
      <p:sp>
        <p:nvSpPr>
          <p:cNvPr id="84" name="Shape 80"/>
          <p:cNvSpPr/>
          <p:nvPr/>
        </p:nvSpPr>
        <p:spPr>
          <a:xfrm>
            <a:off x="7665644" y="5988406"/>
            <a:ext cx="914" cy="73152"/>
          </a:xfrm>
          <a:prstGeom prst="line">
            <a:avLst/>
          </a:prstGeom>
          <a:noFill/>
          <a:ln w="15875">
            <a:solidFill>
              <a:srgbClr val="C99A06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7033578" y="5741518"/>
            <a:ext cx="1264133" cy="246888"/>
          </a:xfrm>
          <a:prstGeom prst="roundRect">
            <a:avLst>
              <a:gd name="adj" fmla="val 14815"/>
            </a:avLst>
          </a:prstGeom>
          <a:solidFill>
            <a:srgbClr val="C99A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7033578" y="5741518"/>
            <a:ext cx="126413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554480" y="3840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8"/>
                </a:solidFill>
              </a:rPr>
              <a:t>Before you hand in: check!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365760" y="365760"/>
            <a:ext cx="868680" cy="5989320"/>
          </a:xfrm>
          <a:prstGeom prst="roundRect">
            <a:avLst>
              <a:gd name="adj" fmla="val 12632"/>
            </a:avLst>
          </a:prstGeom>
          <a:solidFill>
            <a:srgbClr val="E8EEF7"/>
          </a:solidFill>
          <a:ln w="28575">
            <a:solidFill>
              <a:srgbClr val="1F3A6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 rot="16200000">
            <a:off x="-2125980" y="29489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1F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Lesson 1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737360" y="14630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5FA87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1371600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8"/>
                </a:solidFill>
              </a:rPr>
              <a:t>Every time has its preposition:</a:t>
            </a:r>
            <a:r>
              <a:rPr lang="en-US" sz="1700" dirty="0">
                <a:solidFill>
                  <a:srgbClr val="2B2F38"/>
                </a:solidFill>
              </a:rPr>
              <a:t> </a:t>
            </a:r>
            <a:r>
              <a:rPr lang="en-US" sz="1700" b="1" dirty="0">
                <a:solidFill>
                  <a:srgbClr val="2B2F38"/>
                </a:solidFill>
              </a:rPr>
              <a:t>at</a:t>
            </a:r>
            <a:r>
              <a:rPr lang="en-US" sz="1700" dirty="0">
                <a:solidFill>
                  <a:srgbClr val="2B2F38"/>
                </a:solidFill>
              </a:rPr>
              <a:t> 6.50 · </a:t>
            </a:r>
            <a:r>
              <a:rPr lang="en-US" sz="1700" b="1" dirty="0">
                <a:solidFill>
                  <a:srgbClr val="2B2F38"/>
                </a:solidFill>
              </a:rPr>
              <a:t>by</a:t>
            </a:r>
            <a:r>
              <a:rPr lang="en-US" sz="1700" dirty="0">
                <a:solidFill>
                  <a:srgbClr val="2B2F38"/>
                </a:solidFill>
              </a:rPr>
              <a:t> nine · </a:t>
            </a:r>
            <a:r>
              <a:rPr lang="en-US" sz="1700" b="1" dirty="0">
                <a:solidFill>
                  <a:srgbClr val="2B2F38"/>
                </a:solidFill>
              </a:rPr>
              <a:t>until</a:t>
            </a:r>
            <a:r>
              <a:rPr lang="en-US" sz="1700" dirty="0">
                <a:solidFill>
                  <a:srgbClr val="2B2F38"/>
                </a:solidFill>
              </a:rPr>
              <a:t> eight · </a:t>
            </a:r>
            <a:r>
              <a:rPr lang="en-US" sz="1700" b="1" dirty="0">
                <a:solidFill>
                  <a:srgbClr val="2B2F38"/>
                </a:solidFill>
              </a:rPr>
              <a:t>in</a:t>
            </a:r>
            <a:r>
              <a:rPr lang="en-US" sz="1700" dirty="0">
                <a:solidFill>
                  <a:srgbClr val="2B2F38"/>
                </a:solidFill>
              </a:rPr>
              <a:t> twenty minutes.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737360" y="20848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5FA8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86000" y="1993392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8"/>
                </a:solidFill>
              </a:rPr>
              <a:t>A dated fact → past simple:</a:t>
            </a:r>
            <a:r>
              <a:rPr lang="en-US" sz="1700" dirty="0">
                <a:solidFill>
                  <a:srgbClr val="2B2F38"/>
                </a:solidFill>
              </a:rPr>
              <a:t> </a:t>
            </a:r>
            <a:r>
              <a:rPr lang="en-US" sz="1700" b="1" dirty="0">
                <a:solidFill>
                  <a:srgbClr val="2B2F38"/>
                </a:solidFill>
              </a:rPr>
              <a:t>found</a:t>
            </a:r>
            <a:r>
              <a:rPr lang="en-US" sz="1700" dirty="0">
                <a:solidFill>
                  <a:srgbClr val="2B2F38"/>
                </a:solidFill>
              </a:rPr>
              <a:t>, </a:t>
            </a:r>
            <a:r>
              <a:rPr lang="en-US" sz="1700" b="1" dirty="0">
                <a:solidFill>
                  <a:srgbClr val="2B2F38"/>
                </a:solidFill>
              </a:rPr>
              <a:t>went off</a:t>
            </a:r>
            <a:r>
              <a:rPr lang="en-US" sz="1700" dirty="0">
                <a:solidFill>
                  <a:srgbClr val="2B2F38"/>
                </a:solidFill>
              </a:rPr>
              <a:t>, </a:t>
            </a:r>
            <a:r>
              <a:rPr lang="en-US" sz="1700" b="1" dirty="0">
                <a:solidFill>
                  <a:srgbClr val="2B2F38"/>
                </a:solidFill>
              </a:rPr>
              <a:t>called</a:t>
            </a:r>
            <a:r>
              <a:rPr lang="en-US" sz="1700" dirty="0">
                <a:solidFill>
                  <a:srgbClr val="2B2F38"/>
                </a:solidFill>
              </a:rPr>
              <a:t> (✗ have found at 6.50).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737360" y="2706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5FA8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2615184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8"/>
                </a:solidFill>
              </a:rPr>
              <a:t>Negative:</a:t>
            </a:r>
            <a:r>
              <a:rPr lang="en-US" sz="1700" dirty="0">
                <a:solidFill>
                  <a:srgbClr val="2B2F38"/>
                </a:solidFill>
              </a:rPr>
              <a:t> </a:t>
            </a:r>
            <a:r>
              <a:rPr lang="en-US" sz="1700" b="1" dirty="0">
                <a:solidFill>
                  <a:srgbClr val="2B2F38"/>
                </a:solidFill>
              </a:rPr>
              <a:t>didn’t</a:t>
            </a:r>
            <a:r>
              <a:rPr lang="en-US" sz="1700" dirty="0">
                <a:solidFill>
                  <a:srgbClr val="2B2F38"/>
                </a:solidFill>
              </a:rPr>
              <a:t> + base form (✗ didn’t found).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737360" y="332841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5FA87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86000" y="3236976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8"/>
                </a:solidFill>
              </a:rPr>
              <a:t>Question:</a:t>
            </a:r>
            <a:r>
              <a:rPr lang="en-US" sz="1700" dirty="0">
                <a:solidFill>
                  <a:srgbClr val="2B2F38"/>
                </a:solidFill>
              </a:rPr>
              <a:t> </a:t>
            </a:r>
            <a:r>
              <a:rPr lang="en-US" sz="1700" b="1" dirty="0">
                <a:solidFill>
                  <a:srgbClr val="2B2F38"/>
                </a:solidFill>
              </a:rPr>
              <a:t>Did</a:t>
            </a:r>
            <a:r>
              <a:rPr lang="en-US" sz="1700" dirty="0">
                <a:solidFill>
                  <a:srgbClr val="2B2F38"/>
                </a:solidFill>
              </a:rPr>
              <a:t> + subject + base form? (✗ Did you found…?)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737360" y="39502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5FA87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86000" y="3858768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8"/>
                </a:solidFill>
              </a:rPr>
              <a:t>Phrasal verbs keep their particle:</a:t>
            </a:r>
            <a:r>
              <a:rPr lang="en-US" sz="1700" dirty="0">
                <a:solidFill>
                  <a:srgbClr val="2B2F38"/>
                </a:solidFill>
              </a:rPr>
              <a:t> went </a:t>
            </a:r>
            <a:r>
              <a:rPr lang="en-US" sz="1700" b="1" dirty="0">
                <a:solidFill>
                  <a:srgbClr val="2B2F38"/>
                </a:solidFill>
              </a:rPr>
              <a:t>off</a:t>
            </a:r>
            <a:r>
              <a:rPr lang="en-US" sz="1700" dirty="0">
                <a:solidFill>
                  <a:srgbClr val="2B2F38"/>
                </a:solidFill>
              </a:rPr>
              <a:t>, turned </a:t>
            </a:r>
            <a:r>
              <a:rPr lang="en-US" sz="1700" b="1" dirty="0">
                <a:solidFill>
                  <a:srgbClr val="2B2F38"/>
                </a:solidFill>
              </a:rPr>
              <a:t>up</a:t>
            </a:r>
            <a:r>
              <a:rPr lang="en-US" sz="1700" dirty="0">
                <a:solidFill>
                  <a:srgbClr val="2B2F38"/>
                </a:solidFill>
              </a:rPr>
              <a:t>, broke </a:t>
            </a:r>
            <a:r>
              <a:rPr lang="en-US" sz="1700" b="1" dirty="0">
                <a:solidFill>
                  <a:srgbClr val="2B2F38"/>
                </a:solidFill>
              </a:rPr>
              <a:t>down</a:t>
            </a:r>
            <a:r>
              <a:rPr lang="en-US" sz="1700" dirty="0">
                <a:solidFill>
                  <a:srgbClr val="2B2F38"/>
                </a:solidFill>
              </a:rPr>
              <a:t>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737360" y="4572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5FA87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86000" y="4480560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8"/>
                </a:solidFill>
              </a:rPr>
              <a:t>A fact, not a guess:</a:t>
            </a:r>
            <a:r>
              <a:rPr lang="en-US" sz="1700" dirty="0">
                <a:solidFill>
                  <a:srgbClr val="2B2F38"/>
                </a:solidFill>
              </a:rPr>
              <a:t> is your time </a:t>
            </a:r>
            <a:r>
              <a:rPr lang="en-US" sz="1700" b="1" dirty="0">
                <a:solidFill>
                  <a:srgbClr val="2B2F38"/>
                </a:solidFill>
              </a:rPr>
              <a:t>verifiable</a:t>
            </a:r>
            <a:r>
              <a:rPr lang="en-US" sz="1700" dirty="0">
                <a:solidFill>
                  <a:srgbClr val="2B2F38"/>
                </a:solidFill>
              </a:rPr>
              <a:t>? (✗ around eleven)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600200" y="5157216"/>
            <a:ext cx="10149840" cy="658368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 w="15875">
            <a:solidFill>
              <a:srgbClr val="C99A0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737360" y="53218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99A0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86000" y="5157216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B2F38"/>
                </a:solidFill>
              </a:rPr>
              <a:t>★ Challenge:</a:t>
            </a:r>
            <a:r>
              <a:rPr lang="en-US" sz="1700" dirty="0">
                <a:solidFill>
                  <a:srgbClr val="2B2F38"/>
                </a:solidFill>
              </a:rPr>
              <a:t> finished time → </a:t>
            </a:r>
            <a:r>
              <a:rPr lang="en-US" sz="1700" b="1" dirty="0">
                <a:solidFill>
                  <a:srgbClr val="2B2F38"/>
                </a:solidFill>
              </a:rPr>
              <a:t>past simple</a:t>
            </a:r>
            <a:r>
              <a:rPr lang="en-US" sz="1700" dirty="0">
                <a:solidFill>
                  <a:srgbClr val="2B2F38"/>
                </a:solidFill>
              </a:rPr>
              <a:t> · result now, never / ever → </a:t>
            </a:r>
            <a:r>
              <a:rPr lang="en-US" sz="1700" b="1" dirty="0">
                <a:solidFill>
                  <a:srgbClr val="2B2F38"/>
                </a:solidFill>
              </a:rPr>
              <a:t>present perfect</a:t>
            </a:r>
            <a:r>
              <a:rPr lang="en-US" sz="1700" dirty="0">
                <a:solidFill>
                  <a:srgbClr val="2B2F38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9AA3B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IRAM — English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five sentences (+1) — UE3 · Lesson 1 · Guided production (B1)</dc:title>
  <dc:subject>English UE3 — guided writing and speaking after lesson 1</dc:subject>
  <dc:creator>A. Jouniaux</dc:creator>
  <cp:lastModifiedBy>A. Jouniaux</cp:lastModifiedBy>
  <cp:revision>1</cp:revision>
  <dcterms:created xsi:type="dcterms:W3CDTF">2026-10-11T07:48:56Z</dcterms:created>
  <dcterms:modified xsi:type="dcterms:W3CDTF">2026-10-11T07:48:56Z</dcterms:modified>
</cp:coreProperties>
</file>