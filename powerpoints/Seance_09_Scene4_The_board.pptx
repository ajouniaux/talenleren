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3762560c-85a2-0b68-9f97-23d0e6bcfbed}">
          <p14:sldIdLst>
            <p14:sldId id="256"/>
          </p14:sldIdLst>
        </p14:section>
        <p14:section name="Warm-up" id="{85f9ff9e-4a6c-54fb-0ea0-12ebafcc0915}">
          <p14:sldIdLst>
            <p14:sldId id="257"/>
            <p14:sldId id="258"/>
          </p14:sldIdLst>
        </p14:section>
        <p14:section name="The board" id="{ea18adec-4b0e-fbf3-c638-e4c64a02ca07}">
          <p14:sldIdLst>
            <p14:sldId id="259"/>
            <p14:sldId id="260"/>
          </p14:sldIdLst>
        </p14:section>
        <p14:section name="The present perfect" id="{bdaa0c1f-cca5-abe0-8790-55dfeef0511d}">
          <p14:sldIdLst>
            <p14:sldId id="261"/>
            <p14:sldId id="262"/>
            <p14:sldId id="263"/>
          </p14:sldIdLst>
        </p14:section>
        <p14:section name="Fill the board" id="{2411da03-5606-db61-2a48-5bae1cfbb969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Energizer and games" id="{08b6d4c2-052e-59e3-9526-fd839c635c3a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ôture" id="{4d490f5a-c424-f1d3-10fe-5e0db3914b40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9 — Scène 4 (09.40), livret p. 18–19 : le tableau DONE / NOT YET.
Objectifs : present perfect (have / has + participe) = un résultat maintenant ; already / yet / just ; present perfect ou prétérit (WHEN? ou SO WHAT?).
Nouveautés : dominos de participes · carte de métro de la grammaire (ponts S2 → S9) · train de la phrase · post-its à classer sur le tableau · « où va le petit mot ? » · ENERGIZER debout / assis · vente aux enchères d’erreurs · Find someone who…
Déroulé indicatif (90 min) : dominos (5') · scène + carte de métro (10') · train + frise + arbre (15') · post-its p. 18 (15') · already / yet / just + placement (15') · Dry run A (5') · ENERGIZER (5') · enchères (10') · Find someone who (10').
Les diapositives GAME, ENERGIZER et + EXTRA sont facultatives : les garder pour relancer l’attention en milieu ou fin de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binôme, 3 minutes : remettre la chaîne dans l’ordre (à l’oral ou en recopiant les numéros). Rappel des familles de la séance 7 : A·B·C (take · took · taken) et A·B·B (send · sent · sent).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binôme, 3 minutes : remettre la chaîne dans l’ordre (à l’oral ou en recopiant les numéros). Rappel des familles de la séance 7 : A·B·C (take · took · taken) et A·B·B (send · sent · sent).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Bulles : « Ten o’clock update. Everybody is waiting for it. » / « Which column does the basement go in? » → NOT YET : personne n’a encore vérifié le sous-sol.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 entre les séances : faire retrouver un exemple du dossier pour chaque station déjà passée. Les stations en pointillé sont à 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train montre l’ordre fixe des mots : already et just montent dans le wagon du milieu, yet reste en queue de train. Les wagons vides sont aussi importants que les pleins.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Verbaliser : « Iris has taken the photographs » (résultat visible à 09.40) ; « Nobody has told the insurer yet » (situation encore ouverte) ; « The alarm went off at 23.41 » (point daté).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Individuellement (5 min) : écrire la phrase complète sur une feuille ou un post-it réel, puis venir la coller au tableau (DONE / NOT YET). Livret p.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vérifier trois points : has après un sujet singulier ; hasn’t / haven’t + participe ; participes irréguliers (taken, broken, written). « Nobody has told » : nobody est déjà négatif.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Dry run B (livret p. 19), version visuelle : les élèves lèvent le nombre de doigts correspondant à l’emplacement. Les deux derniers items sont ajoutés.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Dry run B (livret p. 19), version visuelle : les élèves lèvent le nombre de doigts correspondant à l’emplacement. Les deux derniers items sont ajoutés.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mots dans le désordre, vite. Piège final : « this morning » dépend de l’heure — à 9.40 la matinée n’est pas finie (present perfect), à 15 h elle l’est (past simple).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tableau des enchères se tient au tableau blanc (une colonne par équipe). Révéler les phrases une par une. 7 : il est 9.40, la matinée n’est pas finie → present perfect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tableau des enchères se tient au tableau blanc (une colonne par équipe). Révéler les phrases une par une. 7 : il est 9.40, la matinée n’est pas finie → present perfect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 debout. Un nom différent par case. Mise en commun : « Lina has never broken a phone. Tom has been to London — he went there in 2024.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85800"/>
            <a:ext cx="2236470" cy="365760"/>
          </a:xfrm>
          <a:prstGeom prst="roundRect">
            <a:avLst>
              <a:gd name="adj" fmla="val 1250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SÉANCE 09 / 19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SCENE 4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09.40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The board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Two columns, one marker and nine people waiting for your update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 File 01 — The night nobody heard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Livret p. 18–19</a:t>
            </a:r>
            <a:endParaRPr lang="en-US" sz="1600" dirty="0"/>
          </a:p>
        </p:txBody>
      </p:sp>
      <p:pic>
        <p:nvPicPr>
          <p:cNvPr id="8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49146"/>
            <a:ext cx="5010912" cy="334258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the participle dominoes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Chain the nine dominoes: the </a:t>
            </a:r>
            <a:r>
              <a:rPr lang="en-US" sz="1600" b="1" i="1" dirty="0">
                <a:solidFill>
                  <a:schemeClr val="accent5"/>
                </a:solidFill>
              </a:rPr>
              <a:t>participle</a:t>
            </a:r>
            <a:r>
              <a:rPr lang="en-US" sz="1600" i="1" dirty="0">
                <a:solidFill>
                  <a:schemeClr val="accent5"/>
                </a:solidFill>
              </a:rPr>
              <a:t> on the left matches the </a:t>
            </a:r>
            <a:r>
              <a:rPr lang="en-US" sz="1600" b="1" i="1" dirty="0">
                <a:solidFill>
                  <a:schemeClr val="accent5"/>
                </a:solidFill>
              </a:rPr>
              <a:t>verb</a:t>
            </a:r>
            <a:r>
              <a:rPr lang="en-US" sz="1600" i="1" dirty="0">
                <a:solidFill>
                  <a:schemeClr val="accent5"/>
                </a:solidFill>
              </a:rPr>
              <a:t> at the end of the previous tile. Start with START.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90572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6564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seen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382012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break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52544" y="223723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94476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0468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43984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4236A"/>
                </a:solidFill>
              </a:rPr>
              <a:t>START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85916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take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156448" y="223723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898380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34372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47888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told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989820" y="223723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347167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290572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26564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0080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written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2382012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send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4352544" y="347167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94476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30468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443984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been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185916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4236A"/>
                </a:solidFill>
              </a:rPr>
              <a:t>FINISH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56448" y="347167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898380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834372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47888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broken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9989820" y="347167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go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48640" y="470611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290572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26564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40080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taken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2382012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write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4352544" y="470611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094476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030468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443984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gone</a:t>
            </a:r>
            <a:endParaRPr lang="en-US" sz="2000" dirty="0"/>
          </a:p>
        </p:txBody>
      </p:sp>
      <p:sp>
        <p:nvSpPr>
          <p:cNvPr id="46" name="Text 43"/>
          <p:cNvSpPr txBox="1"/>
          <p:nvPr/>
        </p:nvSpPr>
        <p:spPr>
          <a:xfrm>
            <a:off x="6185916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tell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8156448" y="4706112"/>
            <a:ext cx="348386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898380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834372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247888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sent</a:t>
            </a:r>
            <a:endParaRPr lang="en-US" sz="2000" dirty="0"/>
          </a:p>
        </p:txBody>
      </p:sp>
      <p:sp>
        <p:nvSpPr>
          <p:cNvPr id="51" name="Text 48"/>
          <p:cNvSpPr txBox="1"/>
          <p:nvPr/>
        </p:nvSpPr>
        <p:spPr>
          <a:xfrm>
            <a:off x="9989820" y="4706112"/>
            <a:ext cx="15590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the participle dominoes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Each verb becomes its participle on the next tile — the participles of today’s present perfect.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60092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96084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4236A"/>
                </a:solidFill>
              </a:rPr>
              <a:t>START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351532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take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38912" y="212750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2984" y="2607564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83024" y="223723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94476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0468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474464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taken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6185916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write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273296" y="212750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368" y="2607564"/>
            <a:ext cx="219456" cy="21945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17408" y="223723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28860" y="234696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864852" y="265328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308848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written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10020300" y="223723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send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8107680" y="212750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347167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260092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196084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40080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sent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2351532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see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438912" y="336194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984" y="3842004"/>
            <a:ext cx="219456" cy="219456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383024" y="347167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094476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030468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4474464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seen</a:t>
            </a:r>
            <a:endParaRPr lang="en-US" sz="2000" dirty="0"/>
          </a:p>
        </p:txBody>
      </p:sp>
      <p:sp>
        <p:nvSpPr>
          <p:cNvPr id="39" name="Text 33"/>
          <p:cNvSpPr txBox="1"/>
          <p:nvPr/>
        </p:nvSpPr>
        <p:spPr>
          <a:xfrm>
            <a:off x="6185916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break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4273296" y="336194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368" y="3842004"/>
            <a:ext cx="219456" cy="219456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8217408" y="347167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9928860" y="358140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864852" y="388772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8308848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broken</a:t>
            </a:r>
            <a:endParaRPr lang="en-US" sz="2000" dirty="0"/>
          </a:p>
        </p:txBody>
      </p:sp>
      <p:sp>
        <p:nvSpPr>
          <p:cNvPr id="46" name="Text 39"/>
          <p:cNvSpPr txBox="1"/>
          <p:nvPr/>
        </p:nvSpPr>
        <p:spPr>
          <a:xfrm>
            <a:off x="10020300" y="347167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go</a:t>
            </a:r>
            <a:endParaRPr lang="en-US" sz="2000" dirty="0"/>
          </a:p>
        </p:txBody>
      </p:sp>
      <p:sp>
        <p:nvSpPr>
          <p:cNvPr id="47" name="Text 40"/>
          <p:cNvSpPr/>
          <p:nvPr/>
        </p:nvSpPr>
        <p:spPr>
          <a:xfrm>
            <a:off x="8107680" y="336194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48640" y="470611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2260092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2196084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40080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gone</a:t>
            </a:r>
            <a:endParaRPr lang="en-US" sz="2000" dirty="0"/>
          </a:p>
        </p:txBody>
      </p:sp>
      <p:sp>
        <p:nvSpPr>
          <p:cNvPr id="52" name="Text 45"/>
          <p:cNvSpPr txBox="1"/>
          <p:nvPr/>
        </p:nvSpPr>
        <p:spPr>
          <a:xfrm>
            <a:off x="2351532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tell</a:t>
            </a:r>
            <a:endParaRPr lang="en-US" sz="2000" dirty="0"/>
          </a:p>
        </p:txBody>
      </p:sp>
      <p:sp>
        <p:nvSpPr>
          <p:cNvPr id="53" name="Text 46"/>
          <p:cNvSpPr/>
          <p:nvPr/>
        </p:nvSpPr>
        <p:spPr>
          <a:xfrm>
            <a:off x="438912" y="459638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84" y="5076444"/>
            <a:ext cx="219456" cy="219456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4383024" y="470611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6094476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6030468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4474464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told</a:t>
            </a:r>
            <a:endParaRPr lang="en-US" sz="2000" dirty="0"/>
          </a:p>
        </p:txBody>
      </p:sp>
      <p:sp>
        <p:nvSpPr>
          <p:cNvPr id="59" name="Text 51"/>
          <p:cNvSpPr txBox="1"/>
          <p:nvPr/>
        </p:nvSpPr>
        <p:spPr>
          <a:xfrm>
            <a:off x="6185916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</a:t>
            </a:r>
            <a:endParaRPr lang="en-US" sz="2000" dirty="0"/>
          </a:p>
        </p:txBody>
      </p:sp>
      <p:sp>
        <p:nvSpPr>
          <p:cNvPr id="60" name="Text 52"/>
          <p:cNvSpPr/>
          <p:nvPr/>
        </p:nvSpPr>
        <p:spPr>
          <a:xfrm>
            <a:off x="4273296" y="459638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368" y="5076444"/>
            <a:ext cx="219456" cy="219456"/>
          </a:xfrm>
          <a:prstGeom prst="rect">
            <a:avLst/>
          </a:prstGeom>
        </p:spPr>
      </p:pic>
      <p:sp>
        <p:nvSpPr>
          <p:cNvPr id="62" name="Shape 53"/>
          <p:cNvSpPr/>
          <p:nvPr/>
        </p:nvSpPr>
        <p:spPr>
          <a:xfrm>
            <a:off x="8217408" y="4706112"/>
            <a:ext cx="342290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9928860" y="4815840"/>
            <a:ext cx="0" cy="74066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9864852" y="5122164"/>
            <a:ext cx="128016" cy="12801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8308848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been</a:t>
            </a:r>
            <a:endParaRPr lang="en-US" sz="2000" dirty="0"/>
          </a:p>
        </p:txBody>
      </p:sp>
      <p:sp>
        <p:nvSpPr>
          <p:cNvPr id="66" name="Text 57"/>
          <p:cNvSpPr txBox="1"/>
          <p:nvPr/>
        </p:nvSpPr>
        <p:spPr>
          <a:xfrm>
            <a:off x="10020300" y="4706112"/>
            <a:ext cx="1528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4236A"/>
                </a:solidFill>
              </a:rPr>
              <a:t>FINISH</a:t>
            </a:r>
            <a:endParaRPr lang="en-US" sz="1400" dirty="0"/>
          </a:p>
        </p:txBody>
      </p:sp>
      <p:sp>
        <p:nvSpPr>
          <p:cNvPr id="67" name="Text 58"/>
          <p:cNvSpPr/>
          <p:nvPr/>
        </p:nvSpPr>
        <p:spPr>
          <a:xfrm>
            <a:off x="8107680" y="4596384"/>
            <a:ext cx="292608" cy="292608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9372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18</a:t>
            </a:r>
            <a:endParaRPr lang="en-US" sz="1200" dirty="0"/>
          </a:p>
        </p:txBody>
      </p:sp>
      <p:pic>
        <p:nvPicPr>
          <p:cNvPr id="6" name="illustration" descr="Mark hands the marker to the narrator in front of a whiteboard with two columns, DONE and NOT Y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4025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783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4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09.40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880360"/>
            <a:ext cx="4645152" cy="158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Mark draws a vertical line down the middle of the whiteboard. On the left he writes </a:t>
            </a:r>
            <a:r>
              <a:rPr lang="en-US" sz="1600" b="1" dirty="0">
                <a:solidFill>
                  <a:schemeClr val="tx1"/>
                </a:solidFill>
              </a:rPr>
              <a:t>DONE</a:t>
            </a:r>
            <a:r>
              <a:rPr lang="en-US" sz="1600" dirty="0">
                <a:solidFill>
                  <a:schemeClr val="tx1"/>
                </a:solidFill>
              </a:rPr>
              <a:t>. On the right he writes </a:t>
            </a:r>
            <a:r>
              <a:rPr lang="en-US" sz="1600" b="1" dirty="0">
                <a:solidFill>
                  <a:schemeClr val="tx1"/>
                </a:solidFill>
              </a:rPr>
              <a:t>NOT YET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Then he hands you the marker. </a:t>
            </a:r>
            <a:r>
              <a:rPr lang="en-US" sz="1600" i="1" dirty="0">
                <a:solidFill>
                  <a:schemeClr val="tx1"/>
                </a:solidFill>
              </a:rPr>
              <a:t>“Ten o’clock update,”</a:t>
            </a:r>
            <a:r>
              <a:rPr lang="en-US" sz="1600" dirty="0">
                <a:solidFill>
                  <a:schemeClr val="tx1"/>
                </a:solidFill>
              </a:rPr>
              <a:t> he says. </a:t>
            </a:r>
            <a:r>
              <a:rPr lang="en-US" sz="1600" i="1" dirty="0">
                <a:solidFill>
                  <a:schemeClr val="tx1"/>
                </a:solidFill>
              </a:rPr>
              <a:t>“Everybody is waiting for it.”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995160" y="4651248"/>
            <a:ext cx="4645152" cy="1658112"/>
          </a:xfrm>
          <a:prstGeom prst="roundRect">
            <a:avLst>
              <a:gd name="adj" fmla="val 4412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96328" y="476097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96328" y="5053584"/>
            <a:ext cx="4242816" cy="120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board will be photographed and sent to nine people. Must each line say </a:t>
            </a:r>
            <a:r>
              <a:rPr lang="en-US" sz="1700" b="1" dirty="0">
                <a:solidFill>
                  <a:schemeClr val="tx1"/>
                </a:solidFill>
              </a:rPr>
              <a:t>what happened yesterday</a:t>
            </a:r>
            <a:r>
              <a:rPr lang="en-US" sz="1700" dirty="0">
                <a:solidFill>
                  <a:schemeClr val="tx1"/>
                </a:solidFill>
              </a:rPr>
              <a:t> — or </a:t>
            </a:r>
            <a:r>
              <a:rPr lang="en-US" sz="1700" b="1" dirty="0">
                <a:solidFill>
                  <a:schemeClr val="tx1"/>
                </a:solidFill>
              </a:rPr>
              <a:t>where we stand now</a:t>
            </a:r>
            <a:r>
              <a:rPr lang="en-US" sz="1700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Your grammar line so far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Séances 2 → 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41870" y="3480816"/>
            <a:ext cx="6932295" cy="12801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4"/>
          <p:cNvSpPr/>
          <p:nvPr/>
        </p:nvSpPr>
        <p:spPr>
          <a:xfrm>
            <a:off x="8174165" y="3544824"/>
            <a:ext cx="3138678" cy="0"/>
          </a:xfrm>
          <a:prstGeom prst="line">
            <a:avLst/>
          </a:prstGeom>
          <a:noFill/>
          <a:ln w="76200">
            <a:solidFill>
              <a:srgbClr val="B8C1CE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077278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1870" y="3133344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1783080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" y="1837944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2075688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Telling the time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" y="2560320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at 6.58 · by nine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63737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28329" y="3709416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89963" y="3956304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81403" y="401116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081403" y="4248912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Past simple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081403" y="4733544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The alarm went off at 23:41.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850196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14788" y="3133344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76422" y="1783080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67862" y="1837944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SÉANCES 4–5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467862" y="2075688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Past continuous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467862" y="2560320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Water was running when…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236655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01247" y="3709416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62881" y="3956304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54321" y="401116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6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854321" y="4248912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Reporting verbs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854321" y="4733544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The log confirms that…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623114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F766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87706" y="3133344"/>
            <a:ext cx="0" cy="24688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49340" y="1783080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0F766E">
              <a:alpha val="600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40780" y="1837944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</a:rPr>
              <a:t>SÉANCE 7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240780" y="2075688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Participles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40780" y="2560320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found · taken · seen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790117" y="3160776"/>
            <a:ext cx="768096" cy="768096"/>
          </a:xfrm>
          <a:prstGeom prst="ellipse">
            <a:avLst/>
          </a:prstGeom>
          <a:solidFill>
            <a:srgbClr val="B4236A">
              <a:alpha val="2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936421" y="3307080"/>
            <a:ext cx="475488" cy="475488"/>
          </a:xfrm>
          <a:prstGeom prst="ellipse">
            <a:avLst/>
          </a:prstGeom>
          <a:solidFill>
            <a:srgbClr val="B4236A"/>
          </a:solidFill>
          <a:ln w="444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74165" y="3782568"/>
            <a:ext cx="0" cy="173736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535799" y="3956304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B4236A">
              <a:alpha val="12000"/>
            </a:srgbClr>
          </a:solidFill>
          <a:ln w="25400">
            <a:solidFill>
              <a:srgbClr val="B4236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627239" y="401116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4236A"/>
                </a:solidFill>
              </a:rPr>
              <a:t>SÉANCE 9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7627239" y="4248912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Present perfect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27239" y="4733544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Iris has taken the photos.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7351205" y="2831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4236A"/>
                </a:solidFill>
              </a:rPr>
              <a:t>YOU ARE HERE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396032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B8C1C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560624" y="3133344"/>
            <a:ext cx="0" cy="246888"/>
          </a:xfrm>
          <a:prstGeom prst="line">
            <a:avLst/>
          </a:prstGeom>
          <a:noFill/>
          <a:ln w="12700">
            <a:solidFill>
              <a:srgbClr val="B8C1C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922258" y="1783080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44546A">
              <a:alpha val="6000"/>
            </a:srgbClr>
          </a:solidFill>
          <a:ln w="9525">
            <a:solidFill>
              <a:srgbClr val="44546A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9013698" y="1837944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SÉANCE 13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9013698" y="2075688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 / since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9013698" y="2560320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It has been closed since 6.50.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0782491" y="3380232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B8C1C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947083" y="3709416"/>
            <a:ext cx="0" cy="246888"/>
          </a:xfrm>
          <a:prstGeom prst="line">
            <a:avLst/>
          </a:prstGeom>
          <a:noFill/>
          <a:ln w="12700">
            <a:solidFill>
              <a:srgbClr val="B8C1C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308717" y="3956304"/>
            <a:ext cx="1276731" cy="1350264"/>
          </a:xfrm>
          <a:prstGeom prst="roundRect">
            <a:avLst>
              <a:gd name="adj" fmla="val 5730"/>
            </a:avLst>
          </a:prstGeom>
          <a:solidFill>
            <a:srgbClr val="44546A">
              <a:alpha val="6000"/>
            </a:srgbClr>
          </a:solidFill>
          <a:ln w="9525">
            <a:solidFill>
              <a:srgbClr val="44546A"/>
            </a:solidFill>
            <a:prstDash val="dash"/>
          </a:ln>
        </p:spPr>
      </p:sp>
      <p:sp>
        <p:nvSpPr>
          <p:cNvPr id="55" name="Text 52"/>
          <p:cNvSpPr txBox="1"/>
          <p:nvPr/>
        </p:nvSpPr>
        <p:spPr>
          <a:xfrm>
            <a:off x="10400157" y="4011168"/>
            <a:ext cx="1093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SÉANCE 14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400157" y="4248912"/>
            <a:ext cx="1093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Modals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10400157" y="4733544"/>
            <a:ext cx="109385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It might be the pipe.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60" name="Text 56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Today’s connection — </a:t>
            </a: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</a:rPr>
              <a:t>participles</a:t>
            </a:r>
            <a:r>
              <a:rPr lang="en-US" sz="1800" dirty="0">
                <a:solidFill>
                  <a:schemeClr val="tx1"/>
                </a:solidFill>
              </a:rPr>
              <a:t> of Séance 7 + </a:t>
            </a:r>
            <a:r>
              <a:rPr lang="en-US" sz="1800" b="1" dirty="0">
                <a:solidFill>
                  <a:schemeClr val="tx1"/>
                </a:solidFill>
              </a:rPr>
              <a:t>have / has</a:t>
            </a:r>
            <a:r>
              <a:rPr lang="en-US" sz="1800" dirty="0">
                <a:solidFill>
                  <a:schemeClr val="tx1"/>
                </a:solidFill>
              </a:rPr>
              <a:t> = the present perfect. The question changes: no longer </a:t>
            </a:r>
            <a:r>
              <a:rPr lang="en-US" sz="1800" b="1" dirty="0">
                <a:solidFill>
                  <a:schemeClr val="tx1"/>
                </a:solidFill>
              </a:rPr>
              <a:t>WHEN?</a:t>
            </a:r>
            <a:r>
              <a:rPr lang="en-US" sz="1800" dirty="0">
                <a:solidFill>
                  <a:schemeClr val="tx1"/>
                </a:solidFill>
              </a:rPr>
              <a:t> but </a:t>
            </a:r>
            <a:r>
              <a:rPr lang="en-US" sz="1800" b="1" dirty="0">
                <a:solidFill>
                  <a:schemeClr val="tx1"/>
                </a:solidFill>
              </a:rPr>
              <a:t>SO WHAT — now?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present perfect, wagon by wagon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18–19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" y="180136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43100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35608" y="1783080"/>
            <a:ext cx="951462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SUBJECT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562634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095452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61288" y="2057400"/>
            <a:ext cx="274320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96798" y="1783080"/>
            <a:ext cx="1268616" cy="548640"/>
          </a:xfrm>
          <a:prstGeom prst="roundRect">
            <a:avLst>
              <a:gd name="adj" fmla="val 13333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HAVE / HAS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693598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04023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387070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75142" y="1783080"/>
            <a:ext cx="634308" cy="548640"/>
          </a:xfrm>
          <a:prstGeom prst="roundRect">
            <a:avLst>
              <a:gd name="adj" fmla="val 13333"/>
            </a:avLst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NOT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932394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87606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65414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19178" y="1783080"/>
            <a:ext cx="1776063" cy="548640"/>
          </a:xfrm>
          <a:prstGeom prst="roundRect">
            <a:avLst>
              <a:gd name="adj" fmla="val 13333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ALREADY · JUST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27616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22211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09450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04969" y="1783080"/>
            <a:ext cx="1427193" cy="548640"/>
          </a:xfrm>
          <a:prstGeom prst="roundRect">
            <a:avLst>
              <a:gd name="adj" fmla="val 13333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PARTICIPLE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736655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535883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395241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1890" y="1783080"/>
            <a:ext cx="2854386" cy="548640"/>
          </a:xfrm>
          <a:prstGeom prst="roundRect">
            <a:avLst>
              <a:gd name="adj" fmla="val 13333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THE REST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587559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0186015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932162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006004" y="1783080"/>
            <a:ext cx="634308" cy="548640"/>
          </a:xfrm>
          <a:prstGeom prst="roundRect">
            <a:avLst>
              <a:gd name="adj" fmla="val 13333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YET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11063256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418468" y="2276856"/>
            <a:ext cx="164592" cy="164592"/>
          </a:xfrm>
          <a:prstGeom prst="ellipse">
            <a:avLst/>
          </a:prstGeom>
          <a:solidFill>
            <a:srgbClr val="1B2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0896276" y="2057400"/>
            <a:ext cx="109728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04088" y="2752725"/>
            <a:ext cx="365760" cy="36576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+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1435608" y="2651760"/>
            <a:ext cx="951462" cy="567690"/>
          </a:xfrm>
          <a:prstGeom prst="roundRect">
            <a:avLst>
              <a:gd name="adj" fmla="val 12886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Iris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2496798" y="2651760"/>
            <a:ext cx="1268616" cy="567690"/>
          </a:xfrm>
          <a:prstGeom prst="roundRect">
            <a:avLst>
              <a:gd name="adj" fmla="val 12886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has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3875142" y="2651760"/>
            <a:ext cx="634308" cy="567690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40" name="Text 36"/>
          <p:cNvSpPr/>
          <p:nvPr/>
        </p:nvSpPr>
        <p:spPr>
          <a:xfrm>
            <a:off x="4619178" y="2651760"/>
            <a:ext cx="1776063" cy="567690"/>
          </a:xfrm>
          <a:prstGeom prst="roundRect">
            <a:avLst>
              <a:gd name="adj" fmla="val 12886"/>
            </a:avLst>
          </a:prstGeom>
          <a:solidFill>
            <a:srgbClr val="C0752A">
              <a:alpha val="14000"/>
            </a:srgbClr>
          </a:solidFill>
          <a:ln w="15875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already</a:t>
            </a:r>
            <a:endParaRPr lang="en-US" sz="2000" dirty="0"/>
          </a:p>
        </p:txBody>
      </p:sp>
      <p:sp>
        <p:nvSpPr>
          <p:cNvPr id="41" name="Text 37"/>
          <p:cNvSpPr/>
          <p:nvPr/>
        </p:nvSpPr>
        <p:spPr>
          <a:xfrm>
            <a:off x="6504969" y="2651760"/>
            <a:ext cx="1427193" cy="567690"/>
          </a:xfrm>
          <a:prstGeom prst="roundRect">
            <a:avLst>
              <a:gd name="adj" fmla="val 12886"/>
            </a:avLst>
          </a:prstGeom>
          <a:solidFill>
            <a:srgbClr val="3C7A3C">
              <a:alpha val="14000"/>
            </a:srgbClr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taken</a:t>
            </a:r>
            <a:endParaRPr lang="en-US" sz="2000" dirty="0"/>
          </a:p>
        </p:txBody>
      </p:sp>
      <p:sp>
        <p:nvSpPr>
          <p:cNvPr id="42" name="Text 38"/>
          <p:cNvSpPr/>
          <p:nvPr/>
        </p:nvSpPr>
        <p:spPr>
          <a:xfrm>
            <a:off x="8041890" y="2651760"/>
            <a:ext cx="2854386" cy="567690"/>
          </a:xfrm>
          <a:prstGeom prst="roundRect">
            <a:avLst>
              <a:gd name="adj" fmla="val 12886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photos</a:t>
            </a:r>
            <a:endParaRPr lang="en-US" sz="2000" dirty="0"/>
          </a:p>
        </p:txBody>
      </p:sp>
      <p:sp>
        <p:nvSpPr>
          <p:cNvPr id="43" name="Shape 39"/>
          <p:cNvSpPr/>
          <p:nvPr/>
        </p:nvSpPr>
        <p:spPr>
          <a:xfrm>
            <a:off x="11006004" y="2651760"/>
            <a:ext cx="634308" cy="567690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44" name="Text 40"/>
          <p:cNvSpPr/>
          <p:nvPr/>
        </p:nvSpPr>
        <p:spPr>
          <a:xfrm>
            <a:off x="704088" y="3448431"/>
            <a:ext cx="365760" cy="36576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+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1435608" y="3347466"/>
            <a:ext cx="951462" cy="567690"/>
          </a:xfrm>
          <a:prstGeom prst="roundRect">
            <a:avLst>
              <a:gd name="adj" fmla="val 12886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Samuel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2496798" y="3347466"/>
            <a:ext cx="1268616" cy="567690"/>
          </a:xfrm>
          <a:prstGeom prst="roundRect">
            <a:avLst>
              <a:gd name="adj" fmla="val 12886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has</a:t>
            </a:r>
            <a:endParaRPr lang="en-US" sz="2000" dirty="0"/>
          </a:p>
        </p:txBody>
      </p:sp>
      <p:sp>
        <p:nvSpPr>
          <p:cNvPr id="47" name="Shape 43"/>
          <p:cNvSpPr/>
          <p:nvPr/>
        </p:nvSpPr>
        <p:spPr>
          <a:xfrm>
            <a:off x="3875142" y="3347466"/>
            <a:ext cx="634308" cy="567690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48" name="Text 44"/>
          <p:cNvSpPr/>
          <p:nvPr/>
        </p:nvSpPr>
        <p:spPr>
          <a:xfrm>
            <a:off x="4619178" y="3347466"/>
            <a:ext cx="1776063" cy="567690"/>
          </a:xfrm>
          <a:prstGeom prst="roundRect">
            <a:avLst>
              <a:gd name="adj" fmla="val 12886"/>
            </a:avLst>
          </a:prstGeom>
          <a:solidFill>
            <a:srgbClr val="C0752A">
              <a:alpha val="14000"/>
            </a:srgbClr>
          </a:solidFill>
          <a:ln w="15875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just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6504969" y="3347466"/>
            <a:ext cx="1427193" cy="567690"/>
          </a:xfrm>
          <a:prstGeom prst="roundRect">
            <a:avLst>
              <a:gd name="adj" fmla="val 12886"/>
            </a:avLst>
          </a:prstGeom>
          <a:solidFill>
            <a:srgbClr val="3C7A3C">
              <a:alpha val="14000"/>
            </a:srgbClr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come back</a:t>
            </a:r>
            <a:endParaRPr lang="en-US" sz="2000" dirty="0"/>
          </a:p>
        </p:txBody>
      </p:sp>
      <p:sp>
        <p:nvSpPr>
          <p:cNvPr id="50" name="Text 46"/>
          <p:cNvSpPr/>
          <p:nvPr/>
        </p:nvSpPr>
        <p:spPr>
          <a:xfrm>
            <a:off x="8041890" y="3347466"/>
            <a:ext cx="2854386" cy="567690"/>
          </a:xfrm>
          <a:prstGeom prst="roundRect">
            <a:avLst>
              <a:gd name="adj" fmla="val 12886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from the 2nd floor</a:t>
            </a:r>
            <a:endParaRPr lang="en-US" sz="2000" dirty="0"/>
          </a:p>
        </p:txBody>
      </p:sp>
      <p:sp>
        <p:nvSpPr>
          <p:cNvPr id="51" name="Shape 47"/>
          <p:cNvSpPr/>
          <p:nvPr/>
        </p:nvSpPr>
        <p:spPr>
          <a:xfrm>
            <a:off x="11006004" y="3347466"/>
            <a:ext cx="634308" cy="567690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52" name="Text 48"/>
          <p:cNvSpPr/>
          <p:nvPr/>
        </p:nvSpPr>
        <p:spPr>
          <a:xfrm>
            <a:off x="704088" y="4144137"/>
            <a:ext cx="365760" cy="36576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–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1435608" y="4043172"/>
            <a:ext cx="951462" cy="567690"/>
          </a:xfrm>
          <a:prstGeom prst="roundRect">
            <a:avLst>
              <a:gd name="adj" fmla="val 12886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</a:t>
            </a:r>
            <a:endParaRPr lang="en-US" sz="2000" dirty="0"/>
          </a:p>
        </p:txBody>
      </p:sp>
      <p:sp>
        <p:nvSpPr>
          <p:cNvPr id="54" name="Text 50"/>
          <p:cNvSpPr/>
          <p:nvPr/>
        </p:nvSpPr>
        <p:spPr>
          <a:xfrm>
            <a:off x="2496798" y="4043172"/>
            <a:ext cx="1268616" cy="567690"/>
          </a:xfrm>
          <a:prstGeom prst="roundRect">
            <a:avLst>
              <a:gd name="adj" fmla="val 12886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have</a:t>
            </a:r>
            <a:endParaRPr lang="en-US" sz="2000" dirty="0"/>
          </a:p>
        </p:txBody>
      </p:sp>
      <p:sp>
        <p:nvSpPr>
          <p:cNvPr id="55" name="Text 51"/>
          <p:cNvSpPr/>
          <p:nvPr/>
        </p:nvSpPr>
        <p:spPr>
          <a:xfrm>
            <a:off x="3875142" y="4043172"/>
            <a:ext cx="634308" cy="567690"/>
          </a:xfrm>
          <a:prstGeom prst="roundRect">
            <a:avLst>
              <a:gd name="adj" fmla="val 12886"/>
            </a:avLst>
          </a:prstGeom>
          <a:solidFill>
            <a:srgbClr val="B03A2E">
              <a:alpha val="14000"/>
            </a:srgbClr>
          </a:solidFill>
          <a:ln w="15875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</a:t>
            </a:r>
            <a:endParaRPr lang="en-US" sz="2000" dirty="0"/>
          </a:p>
        </p:txBody>
      </p:sp>
      <p:sp>
        <p:nvSpPr>
          <p:cNvPr id="56" name="Shape 52"/>
          <p:cNvSpPr/>
          <p:nvPr/>
        </p:nvSpPr>
        <p:spPr>
          <a:xfrm>
            <a:off x="4619178" y="4043172"/>
            <a:ext cx="1776063" cy="567690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57" name="Text 53"/>
          <p:cNvSpPr/>
          <p:nvPr/>
        </p:nvSpPr>
        <p:spPr>
          <a:xfrm>
            <a:off x="6504969" y="4043172"/>
            <a:ext cx="1427193" cy="567690"/>
          </a:xfrm>
          <a:prstGeom prst="roundRect">
            <a:avLst>
              <a:gd name="adj" fmla="val 12886"/>
            </a:avLst>
          </a:prstGeom>
          <a:solidFill>
            <a:srgbClr val="3C7A3C">
              <a:alpha val="14000"/>
            </a:srgbClr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received</a:t>
            </a:r>
            <a:endParaRPr lang="en-US" sz="2000" dirty="0"/>
          </a:p>
        </p:txBody>
      </p:sp>
      <p:sp>
        <p:nvSpPr>
          <p:cNvPr id="58" name="Text 54"/>
          <p:cNvSpPr/>
          <p:nvPr/>
        </p:nvSpPr>
        <p:spPr>
          <a:xfrm>
            <a:off x="8041890" y="4043172"/>
            <a:ext cx="2854386" cy="567690"/>
          </a:xfrm>
          <a:prstGeom prst="roundRect">
            <a:avLst>
              <a:gd name="adj" fmla="val 12886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estimate</a:t>
            </a:r>
            <a:endParaRPr lang="en-US" sz="2000" dirty="0"/>
          </a:p>
        </p:txBody>
      </p:sp>
      <p:sp>
        <p:nvSpPr>
          <p:cNvPr id="59" name="Text 55"/>
          <p:cNvSpPr/>
          <p:nvPr/>
        </p:nvSpPr>
        <p:spPr>
          <a:xfrm>
            <a:off x="11006004" y="4043172"/>
            <a:ext cx="634308" cy="567690"/>
          </a:xfrm>
          <a:prstGeom prst="roundRect">
            <a:avLst>
              <a:gd name="adj" fmla="val 12886"/>
            </a:avLst>
          </a:prstGeom>
          <a:solidFill>
            <a:srgbClr val="6E4A9E">
              <a:alpha val="14000"/>
            </a:srgbClr>
          </a:solidFill>
          <a:ln w="15875">
            <a:solidFill>
              <a:srgbClr val="6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yet</a:t>
            </a:r>
            <a:endParaRPr lang="en-US" sz="2000" dirty="0"/>
          </a:p>
        </p:txBody>
      </p:sp>
      <p:sp>
        <p:nvSpPr>
          <p:cNvPr id="60" name="Text 56"/>
          <p:cNvSpPr/>
          <p:nvPr/>
        </p:nvSpPr>
        <p:spPr>
          <a:xfrm>
            <a:off x="704088" y="4839843"/>
            <a:ext cx="365760" cy="36576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–</a:t>
            </a:r>
            <a:endParaRPr lang="en-US" sz="1600" dirty="0"/>
          </a:p>
        </p:txBody>
      </p:sp>
      <p:sp>
        <p:nvSpPr>
          <p:cNvPr id="61" name="Text 57"/>
          <p:cNvSpPr/>
          <p:nvPr/>
        </p:nvSpPr>
        <p:spPr>
          <a:xfrm>
            <a:off x="1435608" y="4738878"/>
            <a:ext cx="951462" cy="567690"/>
          </a:xfrm>
          <a:prstGeom prst="roundRect">
            <a:avLst>
              <a:gd name="adj" fmla="val 12886"/>
            </a:avLst>
          </a:prstGeom>
          <a:solidFill>
            <a:srgbClr val="1F3864">
              <a:alpha val="14000"/>
            </a:srgbClr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Nobody</a:t>
            </a:r>
            <a:endParaRPr lang="en-US" sz="2000" dirty="0"/>
          </a:p>
        </p:txBody>
      </p:sp>
      <p:sp>
        <p:nvSpPr>
          <p:cNvPr id="62" name="Text 58"/>
          <p:cNvSpPr/>
          <p:nvPr/>
        </p:nvSpPr>
        <p:spPr>
          <a:xfrm>
            <a:off x="2496798" y="4738878"/>
            <a:ext cx="1268616" cy="567690"/>
          </a:xfrm>
          <a:prstGeom prst="roundRect">
            <a:avLst>
              <a:gd name="adj" fmla="val 12886"/>
            </a:avLst>
          </a:prstGeom>
          <a:solidFill>
            <a:srgbClr val="2E75B6">
              <a:alpha val="14000"/>
            </a:srgbClr>
          </a:solidFill>
          <a:ln w="15875">
            <a:solidFill>
              <a:srgbClr val="2E75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has</a:t>
            </a:r>
            <a:endParaRPr lang="en-US" sz="2000" dirty="0"/>
          </a:p>
        </p:txBody>
      </p:sp>
      <p:sp>
        <p:nvSpPr>
          <p:cNvPr id="63" name="Shape 59"/>
          <p:cNvSpPr/>
          <p:nvPr/>
        </p:nvSpPr>
        <p:spPr>
          <a:xfrm>
            <a:off x="3875142" y="4738878"/>
            <a:ext cx="634308" cy="567690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64" name="Shape 60"/>
          <p:cNvSpPr/>
          <p:nvPr/>
        </p:nvSpPr>
        <p:spPr>
          <a:xfrm>
            <a:off x="4619178" y="4738878"/>
            <a:ext cx="1776063" cy="567690"/>
          </a:xfrm>
          <a:prstGeom prst="roundRect">
            <a:avLst>
              <a:gd name="adj" fmla="val 1288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dash"/>
          </a:ln>
        </p:spPr>
      </p:sp>
      <p:sp>
        <p:nvSpPr>
          <p:cNvPr id="65" name="Text 61"/>
          <p:cNvSpPr/>
          <p:nvPr/>
        </p:nvSpPr>
        <p:spPr>
          <a:xfrm>
            <a:off x="6504969" y="4738878"/>
            <a:ext cx="1427193" cy="567690"/>
          </a:xfrm>
          <a:prstGeom prst="roundRect">
            <a:avLst>
              <a:gd name="adj" fmla="val 12886"/>
            </a:avLst>
          </a:prstGeom>
          <a:solidFill>
            <a:srgbClr val="3C7A3C">
              <a:alpha val="14000"/>
            </a:srgbClr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told</a:t>
            </a:r>
            <a:endParaRPr lang="en-US" sz="2000" dirty="0"/>
          </a:p>
        </p:txBody>
      </p:sp>
      <p:sp>
        <p:nvSpPr>
          <p:cNvPr id="66" name="Text 62"/>
          <p:cNvSpPr/>
          <p:nvPr/>
        </p:nvSpPr>
        <p:spPr>
          <a:xfrm>
            <a:off x="8041890" y="4738878"/>
            <a:ext cx="2854386" cy="567690"/>
          </a:xfrm>
          <a:prstGeom prst="roundRect">
            <a:avLst>
              <a:gd name="adj" fmla="val 12886"/>
            </a:avLst>
          </a:prstGeom>
          <a:solidFill>
            <a:srgbClr val="44546A">
              <a:alpha val="14000"/>
            </a:srgbClr>
          </a:solidFill>
          <a:ln w="15875">
            <a:solidFill>
              <a:srgbClr val="4454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insurer</a:t>
            </a:r>
            <a:endParaRPr lang="en-US" sz="2000" dirty="0"/>
          </a:p>
        </p:txBody>
      </p:sp>
      <p:sp>
        <p:nvSpPr>
          <p:cNvPr id="67" name="Text 63"/>
          <p:cNvSpPr/>
          <p:nvPr/>
        </p:nvSpPr>
        <p:spPr>
          <a:xfrm>
            <a:off x="11006004" y="4738878"/>
            <a:ext cx="634308" cy="567690"/>
          </a:xfrm>
          <a:prstGeom prst="roundRect">
            <a:avLst>
              <a:gd name="adj" fmla="val 12886"/>
            </a:avLst>
          </a:prstGeom>
          <a:solidFill>
            <a:srgbClr val="6E4A9E">
              <a:alpha val="14000"/>
            </a:srgbClr>
          </a:solidFill>
          <a:ln w="15875">
            <a:solidFill>
              <a:srgbClr val="6E4A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yet</a:t>
            </a:r>
            <a:endParaRPr lang="en-US" sz="2000" dirty="0"/>
          </a:p>
        </p:txBody>
      </p:sp>
      <p:sp>
        <p:nvSpPr>
          <p:cNvPr id="68" name="Shape 64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6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70" name="Text 65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Question — </a:t>
            </a:r>
            <a:r>
              <a:rPr lang="en-US" sz="1800" b="1" dirty="0">
                <a:solidFill>
                  <a:schemeClr val="tx1"/>
                </a:solidFill>
              </a:rPr>
              <a:t>Has</a:t>
            </a:r>
            <a:r>
              <a:rPr lang="en-US" sz="1800" dirty="0">
                <a:solidFill>
                  <a:schemeClr val="tx1"/>
                </a:solidFill>
              </a:rPr>
              <a:t> + subject + participle … </a:t>
            </a:r>
            <a:r>
              <a:rPr lang="en-US" sz="1800" b="1" dirty="0">
                <a:solidFill>
                  <a:schemeClr val="tx1"/>
                </a:solidFill>
              </a:rPr>
              <a:t>yet</a:t>
            </a:r>
            <a:r>
              <a:rPr lang="en-US" sz="1800" dirty="0">
                <a:solidFill>
                  <a:schemeClr val="tx1"/>
                </a:solidFill>
              </a:rPr>
              <a:t>? → </a:t>
            </a:r>
            <a:r>
              <a:rPr lang="en-US" sz="1800" b="1" i="1" dirty="0">
                <a:solidFill>
                  <a:schemeClr val="tx1"/>
                </a:solidFill>
              </a:rPr>
              <a:t>Has</a:t>
            </a:r>
            <a:r>
              <a:rPr lang="en-US" sz="1800" i="1" dirty="0">
                <a:solidFill>
                  <a:schemeClr val="tx1"/>
                </a:solidFill>
              </a:rPr>
              <a:t> anyone </a:t>
            </a:r>
            <a:r>
              <a:rPr lang="en-US" sz="1800" b="1" i="1" dirty="0">
                <a:solidFill>
                  <a:schemeClr val="tx1"/>
                </a:solidFill>
              </a:rPr>
              <a:t>told</a:t>
            </a:r>
            <a:r>
              <a:rPr lang="en-US" sz="1800" i="1" dirty="0">
                <a:solidFill>
                  <a:schemeClr val="tx1"/>
                </a:solidFill>
              </a:rPr>
              <a:t> the insurer </a:t>
            </a:r>
            <a:r>
              <a:rPr lang="en-US" sz="1800" b="1" i="1" dirty="0">
                <a:solidFill>
                  <a:schemeClr val="tx1"/>
                </a:solidFill>
              </a:rPr>
              <a:t>yet</a:t>
            </a:r>
            <a:r>
              <a:rPr lang="en-US" sz="1800" i="1" dirty="0">
                <a:solidFill>
                  <a:schemeClr val="tx1"/>
                </a:solidFill>
              </a:rPr>
              <a:t>?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nobody</a:t>
            </a:r>
            <a:r>
              <a:rPr lang="en-US" sz="1800" dirty="0">
                <a:solidFill>
                  <a:schemeClr val="tx1"/>
                </a:solidFill>
              </a:rPr>
              <a:t> is already negative: no </a:t>
            </a:r>
            <a:r>
              <a:rPr lang="en-US" sz="1800" i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Looking at the night from 09.40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18–19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dot</a:t>
            </a:r>
            <a:r>
              <a:rPr lang="en-US" sz="1800" dirty="0">
                <a:solidFill>
                  <a:schemeClr val="tx1"/>
                </a:solidFill>
              </a:rPr>
              <a:t> with a clock time → past simple. A </a:t>
            </a:r>
            <a:r>
              <a:rPr lang="en-US" sz="1800" b="1" dirty="0">
                <a:solidFill>
                  <a:schemeClr val="tx1"/>
                </a:solidFill>
              </a:rPr>
              <a:t>bar</a:t>
            </a:r>
            <a:r>
              <a:rPr lang="en-US" sz="1800" dirty="0">
                <a:solidFill>
                  <a:schemeClr val="tx1"/>
                </a:solidFill>
              </a:rPr>
              <a:t> that reaches </a:t>
            </a:r>
            <a:r>
              <a:rPr lang="en-US" sz="1800" b="1" dirty="0">
                <a:solidFill>
                  <a:schemeClr val="tx1"/>
                </a:solidFill>
              </a:rPr>
              <a:t>NOW</a:t>
            </a:r>
            <a:r>
              <a:rPr lang="en-US" sz="1800" dirty="0">
                <a:solidFill>
                  <a:schemeClr val="tx1"/>
                </a:solidFill>
              </a:rPr>
              <a:t>, with no time → present perfect.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832117" y="3177540"/>
            <a:ext cx="931391" cy="420624"/>
          </a:xfrm>
          <a:prstGeom prst="roundRect">
            <a:avLst>
              <a:gd name="adj" fmla="val 21739"/>
            </a:avLst>
          </a:prstGeom>
          <a:solidFill>
            <a:srgbClr val="3C7A3C">
              <a:alpha val="92000"/>
            </a:srgbClr>
          </a:solidFill>
          <a:ln w="15875">
            <a:solidFill>
              <a:srgbClr val="3C7A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45177" y="3177540"/>
            <a:ext cx="2095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chemeClr val="accent3"/>
                </a:solidFill>
              </a:rPr>
              <a:t>photos taken → result now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789516" y="2628900"/>
            <a:ext cx="1973992" cy="420624"/>
          </a:xfrm>
          <a:prstGeom prst="roundRect">
            <a:avLst>
              <a:gd name="adj" fmla="val 21739"/>
            </a:avLst>
          </a:prstGeom>
          <a:solidFill>
            <a:srgbClr val="B03A2E">
              <a:alpha val="40000"/>
            </a:srgbClr>
          </a:solidFill>
          <a:ln w="15875">
            <a:solidFill>
              <a:srgbClr val="B03A2E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8862668" y="2628900"/>
            <a:ext cx="182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insurer still not told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3872484"/>
            <a:ext cx="1088136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261934" y="3808476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734" y="39639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20.00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42204" y="3808476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85004" y="39639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00.00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22474" y="3808476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65274" y="39639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04.00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602745" y="3808476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5545" y="39639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08.00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763507" y="2427732"/>
            <a:ext cx="0" cy="1261872"/>
          </a:xfrm>
          <a:prstGeom prst="line">
            <a:avLst/>
          </a:prstGeom>
          <a:noFill/>
          <a:ln w="19050">
            <a:solidFill>
              <a:srgbClr val="B03A2E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717787" y="3689604"/>
            <a:ext cx="91440" cy="365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123427" y="21534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NOW 09.40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819782" y="3963924"/>
            <a:ext cx="0" cy="365760"/>
          </a:xfrm>
          <a:prstGeom prst="line">
            <a:avLst/>
          </a:prstGeom>
          <a:noFill/>
          <a:ln w="12700">
            <a:solidFill>
              <a:srgbClr val="C075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94817" y="4329684"/>
            <a:ext cx="2649931" cy="384048"/>
          </a:xfrm>
          <a:prstGeom prst="roundRect">
            <a:avLst>
              <a:gd name="adj" fmla="val 2381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the alarm went off (23:41)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700910" y="3753612"/>
            <a:ext cx="237744" cy="237744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89516" y="3963924"/>
            <a:ext cx="0" cy="932688"/>
          </a:xfrm>
          <a:prstGeom prst="line">
            <a:avLst/>
          </a:prstGeom>
          <a:noFill/>
          <a:ln w="12700">
            <a:solidFill>
              <a:srgbClr val="C075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61300" y="4896612"/>
            <a:ext cx="3456432" cy="384048"/>
          </a:xfrm>
          <a:prstGeom prst="roundRect">
            <a:avLst>
              <a:gd name="adj" fmla="val 2381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the cleaners found the water (6.50)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670644" y="3753612"/>
            <a:ext cx="237744" cy="237744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1520" y="5943600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3C7A3C">
              <a:alpha val="92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417320" y="5852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bar up to NOW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b="1" dirty="0">
                <a:solidFill>
                  <a:schemeClr val="accent3"/>
                </a:solidFill>
              </a:rPr>
              <a:t>has taken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b="1" dirty="0">
                <a:solidFill>
                  <a:schemeClr val="accent6"/>
                </a:solidFill>
              </a:rPr>
              <a:t>hasn’t told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55080" y="5961888"/>
            <a:ext cx="237744" cy="237744"/>
          </a:xfrm>
          <a:prstGeom prst="ellipse">
            <a:avLst/>
          </a:prstGeom>
          <a:solidFill>
            <a:srgbClr val="6E4A9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766560" y="5852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dot with a time</a:t>
            </a:r>
            <a:r>
              <a:rPr lang="en-US" sz="1600" dirty="0">
                <a:solidFill>
                  <a:schemeClr val="tx1"/>
                </a:solidFill>
              </a:rPr>
              <a:t> → </a:t>
            </a:r>
            <a:r>
              <a:rPr lang="en-US" sz="1600" b="1" dirty="0">
                <a:solidFill>
                  <a:srgbClr val="B4236A"/>
                </a:solidFill>
              </a:rPr>
              <a:t>went off · found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WHEN? or SO WHAT?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18–19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61872" y="1737360"/>
            <a:ext cx="3282696" cy="384048"/>
          </a:xfrm>
          <a:prstGeom prst="roundRect">
            <a:avLst>
              <a:gd name="adj" fmla="val 47619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past action on the board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03220" y="2139696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4709160" cy="598424"/>
          </a:xfrm>
          <a:prstGeom prst="roundRect">
            <a:avLst>
              <a:gd name="adj" fmla="val 12224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548636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65836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505456"/>
            <a:ext cx="3867912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 there a </a:t>
            </a:r>
            <a:r>
              <a:rPr lang="en-US" sz="1700" b="1" dirty="0">
                <a:solidFill>
                  <a:schemeClr val="tx2"/>
                </a:solidFill>
              </a:rPr>
              <a:t>finished time</a:t>
            </a:r>
            <a:r>
              <a:rPr lang="en-US" sz="1700" b="1" dirty="0">
                <a:solidFill>
                  <a:schemeClr val="tx2"/>
                </a:solidFill>
              </a:rPr>
              <a:t>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at 23:41 · yesterday · last night · two hours ago · When…?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276088" y="2768092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5257800" y="24571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468880"/>
            <a:ext cx="5468112" cy="598424"/>
          </a:xfrm>
          <a:prstGeom prst="roundRect">
            <a:avLst>
              <a:gd name="adj" fmla="val 12224"/>
            </a:avLst>
          </a:prstGeom>
          <a:solidFill>
            <a:srgbClr val="B4236A">
              <a:alpha val="12000"/>
            </a:srgb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792" y="2505456"/>
            <a:ext cx="5138928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B4236A"/>
                </a:solidFill>
              </a:rPr>
              <a:t>PAST SIMPLE — the answer to WHEN?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alarm </a:t>
            </a:r>
            <a:r>
              <a:rPr lang="en-US" sz="1300" b="1" dirty="0">
                <a:solidFill>
                  <a:srgbClr val="B4236A"/>
                </a:solidFill>
              </a:rPr>
              <a:t>went off</a:t>
            </a:r>
            <a:r>
              <a:rPr lang="en-US" sz="1300" dirty="0">
                <a:solidFill>
                  <a:schemeClr val="tx1"/>
                </a:solidFill>
              </a:rPr>
              <a:t> at 23:41. I </a:t>
            </a:r>
            <a:r>
              <a:rPr lang="en-US" sz="1300" b="1" dirty="0">
                <a:solidFill>
                  <a:srgbClr val="B4236A"/>
                </a:solidFill>
              </a:rPr>
              <a:t>wrote</a:t>
            </a:r>
            <a:r>
              <a:rPr lang="en-US" sz="1300" dirty="0">
                <a:solidFill>
                  <a:schemeClr val="tx1"/>
                </a:solidFill>
              </a:rPr>
              <a:t> to him yesterday.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903220" y="3085592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994660" y="30673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414776"/>
            <a:ext cx="4709160" cy="598424"/>
          </a:xfrm>
          <a:prstGeom prst="roundRect">
            <a:avLst>
              <a:gd name="adj" fmla="val 12224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4944" y="3494532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04260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61872" y="3451352"/>
            <a:ext cx="3867912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Does the </a:t>
            </a:r>
            <a:r>
              <a:rPr lang="en-US" sz="1700" b="1" dirty="0">
                <a:solidFill>
                  <a:schemeClr val="tx2"/>
                </a:solidFill>
              </a:rPr>
              <a:t>result</a:t>
            </a:r>
            <a:r>
              <a:rPr lang="en-US" sz="1700" b="1" dirty="0">
                <a:solidFill>
                  <a:schemeClr val="tx2"/>
                </a:solidFill>
              </a:rPr>
              <a:t> matter </a:t>
            </a:r>
            <a:r>
              <a:rPr lang="en-US" sz="1700" b="1" dirty="0">
                <a:solidFill>
                  <a:schemeClr val="tx2"/>
                </a:solidFill>
              </a:rPr>
              <a:t>now</a:t>
            </a:r>
            <a:r>
              <a:rPr lang="en-US" sz="1700" b="1" dirty="0">
                <a:solidFill>
                  <a:schemeClr val="tx2"/>
                </a:solidFill>
              </a:rPr>
              <a:t>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or the period is still open: already · yet · so far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276088" y="3713988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5257800" y="34030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72200" y="3414776"/>
            <a:ext cx="5468112" cy="598424"/>
          </a:xfrm>
          <a:prstGeom prst="roundRect">
            <a:avLst>
              <a:gd name="adj" fmla="val 12224"/>
            </a:avLst>
          </a:prstGeom>
          <a:solidFill>
            <a:srgbClr val="3C7A3C">
              <a:alpha val="12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36792" y="3451352"/>
            <a:ext cx="5138928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chemeClr val="accent3"/>
                </a:solidFill>
              </a:rPr>
              <a:t>PRESENT PERFECT — the answer to SO WHAT?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Iris </a:t>
            </a:r>
            <a:r>
              <a:rPr lang="en-US" sz="1300" b="1" dirty="0">
                <a:solidFill>
                  <a:schemeClr val="tx1"/>
                </a:solidFill>
              </a:rPr>
              <a:t>has </a:t>
            </a:r>
            <a:r>
              <a:rPr lang="en-US" sz="1300" b="1" dirty="0">
                <a:solidFill>
                  <a:schemeClr val="accent3"/>
                </a:solidFill>
              </a:rPr>
              <a:t>taken</a:t>
            </a:r>
            <a:r>
              <a:rPr lang="en-US" sz="1300" dirty="0">
                <a:solidFill>
                  <a:schemeClr val="tx1"/>
                </a:solidFill>
              </a:rPr>
              <a:t> the photos → they are on the board.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2903220" y="4031488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2994660" y="40132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4360672"/>
            <a:ext cx="4709160" cy="598424"/>
          </a:xfrm>
          <a:prstGeom prst="roundRect">
            <a:avLst>
              <a:gd name="adj" fmla="val 12224"/>
            </a:avLst>
          </a:prstGeom>
          <a:solidFill>
            <a:srgbClr val="1F3864">
              <a:alpha val="12000"/>
            </a:srgbClr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13232" y="4397248"/>
            <a:ext cx="4379976" cy="52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chemeClr val="tx2"/>
                </a:solidFill>
              </a:rPr>
              <a:t>A STORY IN ORDER → past simple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 the team </a:t>
            </a:r>
            <a:r>
              <a:rPr lang="en-US" sz="1300" b="1" dirty="0">
                <a:solidFill>
                  <a:srgbClr val="B4236A"/>
                </a:solidFill>
              </a:rPr>
              <a:t>left</a:t>
            </a:r>
            <a:r>
              <a:rPr lang="en-US" sz="1300" dirty="0">
                <a:solidFill>
                  <a:schemeClr val="tx1"/>
                </a:solidFill>
              </a:rPr>
              <a:t>, then the alarm </a:t>
            </a:r>
            <a:r>
              <a:rPr lang="en-US" sz="1300" b="1" dirty="0">
                <a:solidFill>
                  <a:srgbClr val="B4236A"/>
                </a:solidFill>
              </a:rPr>
              <a:t>went off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800" dirty="0">
                <a:solidFill>
                  <a:schemeClr val="tx1"/>
                </a:solidFill>
              </a:rPr>
              <a:t>le passé composé ≠ present perfect : </a:t>
            </a:r>
            <a:r>
              <a:rPr lang="en-US" sz="1800" i="1" dirty="0">
                <a:solidFill>
                  <a:schemeClr val="tx1"/>
                </a:solidFill>
              </a:rPr>
              <a:t>J’ai pris les photos à 8 h 20</a:t>
            </a:r>
            <a:r>
              <a:rPr lang="en-US" sz="1800" dirty="0">
                <a:solidFill>
                  <a:schemeClr val="tx1"/>
                </a:solidFill>
              </a:rPr>
              <a:t> → I </a:t>
            </a:r>
            <a:r>
              <a:rPr lang="en-US" sz="1800" b="1" dirty="0">
                <a:solidFill>
                  <a:schemeClr val="tx1"/>
                </a:solidFill>
              </a:rPr>
              <a:t>took</a:t>
            </a:r>
            <a:r>
              <a:rPr lang="en-US" sz="1800" dirty="0">
                <a:solidFill>
                  <a:schemeClr val="tx1"/>
                </a:solidFill>
              </a:rPr>
              <a:t> them at 8.20 · </a:t>
            </a:r>
            <a:r>
              <a:rPr lang="en-US" sz="1800" i="1" dirty="0">
                <a:solidFill>
                  <a:schemeClr val="tx1"/>
                </a:solidFill>
              </a:rPr>
              <a:t>J’ai pris les photos</a:t>
            </a:r>
            <a:r>
              <a:rPr lang="en-US" sz="1800" dirty="0">
                <a:solidFill>
                  <a:schemeClr val="tx1"/>
                </a:solidFill>
              </a:rPr>
              <a:t> (résultat, sans date) → I </a:t>
            </a:r>
            <a:r>
              <a:rPr lang="en-US" sz="1800" b="1" dirty="0">
                <a:solidFill>
                  <a:schemeClr val="tx1"/>
                </a:solidFill>
              </a:rPr>
              <a:t>have taken</a:t>
            </a:r>
            <a:r>
              <a:rPr lang="en-US" sz="1800" dirty="0">
                <a:solidFill>
                  <a:schemeClr val="tx1"/>
                </a:solidFill>
              </a:rPr>
              <a:t>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Fill the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Write each post-it as a full sentence that says </a:t>
            </a:r>
            <a:r>
              <a:rPr lang="en-US" sz="1600" b="1" i="1" dirty="0">
                <a:solidFill>
                  <a:schemeClr val="accent5"/>
                </a:solidFill>
              </a:rPr>
              <a:t>where we stand now</a:t>
            </a:r>
            <a:r>
              <a:rPr lang="en-US" sz="1600" i="1" dirty="0">
                <a:solidFill>
                  <a:schemeClr val="accent5"/>
                </a:solidFill>
              </a:rPr>
              <a:t> — then stick it in the right column.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00600" y="2237232"/>
            <a:ext cx="6839712" cy="4072128"/>
          </a:xfrm>
          <a:prstGeom prst="rect">
            <a:avLst/>
          </a:prstGeom>
          <a:solidFill>
            <a:srgbClr val="FFFFFF"/>
          </a:solidFill>
          <a:ln w="635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2328672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DONE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0456" y="2328672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 YET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220456" y="2401824"/>
            <a:ext cx="0" cy="3130296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-180000">
            <a:off x="548640" y="2237232"/>
            <a:ext cx="1897380" cy="914400"/>
          </a:xfrm>
          <a:prstGeom prst="rect">
            <a:avLst/>
          </a:prstGeom>
          <a:solidFill>
            <a:srgbClr val="FFF1A6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Iris · </a:t>
            </a:r>
            <a:r>
              <a:rPr lang="en-US" sz="1500" b="1" dirty="0">
                <a:solidFill>
                  <a:schemeClr val="tx1"/>
                </a:solidFill>
              </a:rPr>
              <a:t>take</a:t>
            </a:r>
            <a:r>
              <a:rPr lang="en-US" sz="1500" dirty="0">
                <a:solidFill>
                  <a:schemeClr val="tx1"/>
                </a:solidFill>
              </a:rPr>
              <a:t> · the photographs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 rot="120000">
            <a:off x="2628900" y="2237232"/>
            <a:ext cx="1897380" cy="914400"/>
          </a:xfrm>
          <a:prstGeom prst="rect">
            <a:avLst/>
          </a:prstGeom>
          <a:solidFill>
            <a:srgbClr val="FDD8E1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Samuel · </a:t>
            </a:r>
            <a:r>
              <a:rPr lang="en-US" sz="1500" b="1" dirty="0">
                <a:solidFill>
                  <a:schemeClr val="tx1"/>
                </a:solidFill>
              </a:rPr>
              <a:t>look at</a:t>
            </a:r>
            <a:r>
              <a:rPr lang="en-US" sz="1500" dirty="0">
                <a:solidFill>
                  <a:schemeClr val="tx1"/>
                </a:solidFill>
              </a:rPr>
              <a:t> · the logs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 rot="-90000">
            <a:off x="548640" y="3288792"/>
            <a:ext cx="1897380" cy="914400"/>
          </a:xfrm>
          <a:prstGeom prst="rect">
            <a:avLst/>
          </a:prstGeom>
          <a:solidFill>
            <a:srgbClr val="D9EFCB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Samuel · </a:t>
            </a:r>
            <a:r>
              <a:rPr lang="en-US" sz="1500" b="1" dirty="0">
                <a:solidFill>
                  <a:schemeClr val="tx1"/>
                </a:solidFill>
              </a:rPr>
              <a:t>not check</a:t>
            </a:r>
            <a:r>
              <a:rPr lang="en-US" sz="1500" dirty="0">
                <a:solidFill>
                  <a:schemeClr val="tx1"/>
                </a:solidFill>
              </a:rPr>
              <a:t> · the basement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 rot="150000">
            <a:off x="2628900" y="3288792"/>
            <a:ext cx="1897380" cy="914400"/>
          </a:xfrm>
          <a:prstGeom prst="rect">
            <a:avLst/>
          </a:prstGeom>
          <a:solidFill>
            <a:srgbClr val="D5E8F8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Nobody · </a:t>
            </a:r>
            <a:r>
              <a:rPr lang="en-US" sz="1500" b="1" dirty="0">
                <a:solidFill>
                  <a:schemeClr val="tx1"/>
                </a:solidFill>
              </a:rPr>
              <a:t>tell</a:t>
            </a:r>
            <a:r>
              <a:rPr lang="en-US" sz="1500" dirty="0">
                <a:solidFill>
                  <a:schemeClr val="tx1"/>
                </a:solidFill>
              </a:rPr>
              <a:t> · the insurer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 rot="-120000">
            <a:off x="548640" y="4340352"/>
            <a:ext cx="1897380" cy="914400"/>
          </a:xfrm>
          <a:prstGeom prst="rect">
            <a:avLst/>
          </a:prstGeom>
          <a:solidFill>
            <a:srgbClr val="FFF1A6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contractor · </a:t>
            </a:r>
            <a:r>
              <a:rPr lang="en-US" sz="1500" b="1" dirty="0">
                <a:solidFill>
                  <a:schemeClr val="tx1"/>
                </a:solidFill>
              </a:rPr>
              <a:t>not send</a:t>
            </a:r>
            <a:r>
              <a:rPr lang="en-US" sz="1500" dirty="0">
                <a:solidFill>
                  <a:schemeClr val="tx1"/>
                </a:solidFill>
              </a:rPr>
              <a:t> · a written statement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 rot="90000">
            <a:off x="2628900" y="4340352"/>
            <a:ext cx="1897380" cy="914400"/>
          </a:xfrm>
          <a:prstGeom prst="rect">
            <a:avLst/>
          </a:prstGeom>
          <a:solidFill>
            <a:srgbClr val="FDD8E1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units · </a:t>
            </a:r>
            <a:r>
              <a:rPr lang="en-US" sz="1500" b="1" dirty="0">
                <a:solidFill>
                  <a:schemeClr val="tx1"/>
                </a:solidFill>
              </a:rPr>
              <a:t>break</a:t>
            </a:r>
            <a:r>
              <a:rPr lang="en-US" sz="1500" dirty="0">
                <a:solidFill>
                  <a:schemeClr val="tx1"/>
                </a:solidFill>
              </a:rPr>
              <a:t> down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 rot="-60000">
            <a:off x="548640" y="5391912"/>
            <a:ext cx="1897380" cy="914400"/>
          </a:xfrm>
          <a:prstGeom prst="rect">
            <a:avLst/>
          </a:prstGeom>
          <a:solidFill>
            <a:srgbClr val="D9EFCB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 · </a:t>
            </a:r>
            <a:r>
              <a:rPr lang="en-US" sz="1500" b="1" dirty="0">
                <a:solidFill>
                  <a:schemeClr val="tx1"/>
                </a:solidFill>
              </a:rPr>
              <a:t>not receive</a:t>
            </a:r>
            <a:r>
              <a:rPr lang="en-US" sz="1500" dirty="0">
                <a:solidFill>
                  <a:schemeClr val="tx1"/>
                </a:solidFill>
              </a:rPr>
              <a:t> · the estimate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 rot="180000">
            <a:off x="2628900" y="5391912"/>
            <a:ext cx="1897380" cy="914400"/>
          </a:xfrm>
          <a:prstGeom prst="rect">
            <a:avLst/>
          </a:prstGeom>
          <a:solidFill>
            <a:srgbClr val="D5E8F8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· </a:t>
            </a:r>
            <a:r>
              <a:rPr lang="en-US" sz="1500" b="1" dirty="0">
                <a:solidFill>
                  <a:schemeClr val="tx1"/>
                </a:solidFill>
              </a:rPr>
              <a:t>write</a:t>
            </a:r>
            <a:r>
              <a:rPr lang="en-US" sz="1500" dirty="0">
                <a:solidFill>
                  <a:schemeClr val="tx1"/>
                </a:solidFill>
              </a:rPr>
              <a:t> · to the site manager twice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5623560"/>
            <a:ext cx="6291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DONE</a:t>
            </a:r>
            <a:r>
              <a:rPr lang="en-US" sz="1500" i="1" dirty="0">
                <a:solidFill>
                  <a:schemeClr val="accent5"/>
                </a:solidFill>
              </a:rPr>
              <a:t> → has / have + participle · </a:t>
            </a:r>
            <a:r>
              <a:rPr lang="en-US" sz="1500" b="1" i="1" dirty="0">
                <a:solidFill>
                  <a:schemeClr val="accent5"/>
                </a:solidFill>
              </a:rPr>
              <a:t>NOT YET</a:t>
            </a:r>
            <a:r>
              <a:rPr lang="en-US" sz="1500" i="1" dirty="0">
                <a:solidFill>
                  <a:schemeClr val="accent5"/>
                </a:solidFill>
              </a:rPr>
              <a:t> → hasn’t / haven’t … yet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Fill the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DONE = </a:t>
            </a:r>
            <a:r>
              <a:rPr lang="en-US" sz="1600" b="1" i="1" dirty="0">
                <a:solidFill>
                  <a:schemeClr val="accent5"/>
                </a:solidFill>
              </a:rPr>
              <a:t>has / have + participle</a:t>
            </a:r>
            <a:r>
              <a:rPr lang="en-US" sz="1600" i="1" dirty="0">
                <a:solidFill>
                  <a:schemeClr val="accent5"/>
                </a:solidFill>
              </a:rPr>
              <a:t> · NOT YET = </a:t>
            </a:r>
            <a:r>
              <a:rPr lang="en-US" sz="1600" b="1" i="1" dirty="0">
                <a:solidFill>
                  <a:schemeClr val="accent5"/>
                </a:solidFill>
              </a:rPr>
              <a:t>hasn’t / haven’t + participle (yet)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solidFill>
            <a:srgbClr val="FFFFFF"/>
          </a:solidFill>
          <a:ln w="635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2328672"/>
            <a:ext cx="5545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DONE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094476" y="2328672"/>
            <a:ext cx="5545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 YET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094476" y="2401824"/>
            <a:ext cx="0" cy="3742944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 rot="-180000">
            <a:off x="685800" y="3014472"/>
            <a:ext cx="2544318" cy="1143000"/>
          </a:xfrm>
          <a:prstGeom prst="rect">
            <a:avLst/>
          </a:prstGeom>
          <a:solidFill>
            <a:srgbClr val="FFF1A6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Iris </a:t>
            </a:r>
            <a:r>
              <a:rPr lang="en-US" sz="1500" b="1" dirty="0">
                <a:solidFill>
                  <a:schemeClr val="tx1"/>
                </a:solidFill>
              </a:rPr>
              <a:t>has taken</a:t>
            </a:r>
            <a:r>
              <a:rPr lang="en-US" sz="1500" dirty="0">
                <a:solidFill>
                  <a:schemeClr val="tx1"/>
                </a:solidFill>
              </a:rPr>
              <a:t> the photographs.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 rot="120000">
            <a:off x="3412998" y="3014472"/>
            <a:ext cx="2544318" cy="1143000"/>
          </a:xfrm>
          <a:prstGeom prst="rect">
            <a:avLst/>
          </a:prstGeom>
          <a:solidFill>
            <a:srgbClr val="FDD8E1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Samuel </a:t>
            </a:r>
            <a:r>
              <a:rPr lang="en-US" sz="1500" b="1" dirty="0">
                <a:solidFill>
                  <a:schemeClr val="tx1"/>
                </a:solidFill>
              </a:rPr>
              <a:t>has looked at</a:t>
            </a:r>
            <a:r>
              <a:rPr lang="en-US" sz="1500" dirty="0">
                <a:solidFill>
                  <a:schemeClr val="tx1"/>
                </a:solidFill>
              </a:rPr>
              <a:t> the logs.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 rot="90000">
            <a:off x="685800" y="4322064"/>
            <a:ext cx="2544318" cy="1143000"/>
          </a:xfrm>
          <a:prstGeom prst="rect">
            <a:avLst/>
          </a:prstGeom>
          <a:solidFill>
            <a:srgbClr val="FDD8E1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units </a:t>
            </a:r>
            <a:r>
              <a:rPr lang="en-US" sz="1500" b="1" dirty="0">
                <a:solidFill>
                  <a:schemeClr val="tx1"/>
                </a:solidFill>
              </a:rPr>
              <a:t>have broken</a:t>
            </a:r>
            <a:r>
              <a:rPr lang="en-US" sz="1500" dirty="0">
                <a:solidFill>
                  <a:schemeClr val="tx1"/>
                </a:solidFill>
              </a:rPr>
              <a:t> down.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 rot="180000">
            <a:off x="3412998" y="4322064"/>
            <a:ext cx="2544318" cy="1143000"/>
          </a:xfrm>
          <a:prstGeom prst="rect">
            <a:avLst/>
          </a:prstGeom>
          <a:solidFill>
            <a:srgbClr val="D5E8F8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</a:t>
            </a:r>
            <a:r>
              <a:rPr lang="en-US" sz="1500" b="1" dirty="0">
                <a:solidFill>
                  <a:schemeClr val="tx1"/>
                </a:solidFill>
              </a:rPr>
              <a:t>have written</a:t>
            </a:r>
            <a:r>
              <a:rPr lang="en-US" sz="1500" dirty="0">
                <a:solidFill>
                  <a:schemeClr val="tx1"/>
                </a:solidFill>
              </a:rPr>
              <a:t> to the site manager twice.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 rot="-90000">
            <a:off x="6231636" y="3014472"/>
            <a:ext cx="2544318" cy="1143000"/>
          </a:xfrm>
          <a:prstGeom prst="rect">
            <a:avLst/>
          </a:prstGeom>
          <a:solidFill>
            <a:srgbClr val="D9EFCB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Samuel </a:t>
            </a:r>
            <a:r>
              <a:rPr lang="en-US" sz="1500" b="1" dirty="0">
                <a:solidFill>
                  <a:schemeClr val="tx1"/>
                </a:solidFill>
              </a:rPr>
              <a:t>hasn’t checked</a:t>
            </a:r>
            <a:r>
              <a:rPr lang="en-US" sz="1500" dirty="0">
                <a:solidFill>
                  <a:schemeClr val="tx1"/>
                </a:solidFill>
              </a:rPr>
              <a:t> the basement.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 rot="150000">
            <a:off x="8958834" y="3014472"/>
            <a:ext cx="2544318" cy="1143000"/>
          </a:xfrm>
          <a:prstGeom prst="rect">
            <a:avLst/>
          </a:prstGeom>
          <a:solidFill>
            <a:srgbClr val="D5E8F8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Nobody </a:t>
            </a:r>
            <a:r>
              <a:rPr lang="en-US" sz="1500" b="1" dirty="0">
                <a:solidFill>
                  <a:schemeClr val="tx1"/>
                </a:solidFill>
              </a:rPr>
              <a:t>has told</a:t>
            </a:r>
            <a:r>
              <a:rPr lang="en-US" sz="1500" dirty="0">
                <a:solidFill>
                  <a:schemeClr val="tx1"/>
                </a:solidFill>
              </a:rPr>
              <a:t> the insurer.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 rot="-120000">
            <a:off x="6231636" y="4322064"/>
            <a:ext cx="2544318" cy="1143000"/>
          </a:xfrm>
          <a:prstGeom prst="rect">
            <a:avLst/>
          </a:prstGeom>
          <a:solidFill>
            <a:srgbClr val="FFF1A6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contractor </a:t>
            </a:r>
            <a:r>
              <a:rPr lang="en-US" sz="1500" b="1" dirty="0">
                <a:solidFill>
                  <a:schemeClr val="tx1"/>
                </a:solidFill>
              </a:rPr>
              <a:t>hasn’t sent</a:t>
            </a:r>
            <a:r>
              <a:rPr lang="en-US" sz="1500" dirty="0">
                <a:solidFill>
                  <a:schemeClr val="tx1"/>
                </a:solidFill>
              </a:rPr>
              <a:t> a written statement.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 rot="-60000">
            <a:off x="8958834" y="4322064"/>
            <a:ext cx="2544318" cy="1143000"/>
          </a:xfrm>
          <a:prstGeom prst="rect">
            <a:avLst/>
          </a:prstGeom>
          <a:solidFill>
            <a:srgbClr val="D9EFCB"/>
          </a:solidFill>
          <a:ln/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 </a:t>
            </a:r>
            <a:r>
              <a:rPr lang="en-US" sz="1500" b="1" dirty="0">
                <a:solidFill>
                  <a:schemeClr val="tx1"/>
                </a:solidFill>
              </a:rPr>
              <a:t>haven’t received</a:t>
            </a:r>
            <a:r>
              <a:rPr lang="en-US" sz="1500" dirty="0">
                <a:solidFill>
                  <a:schemeClr val="tx1"/>
                </a:solidFill>
              </a:rPr>
              <a:t> the estimate.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Already, yet, just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</a:t>
            </a:r>
            <a:endParaRPr lang="en-US" sz="1200" dirty="0"/>
          </a:p>
        </p:txBody>
      </p:sp>
      <p:pic>
        <p:nvPicPr>
          <p:cNvPr id="5" name="illustration" descr="Mark explains already, yet and just on a whiteboard to the 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4020919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949440" y="1783080"/>
            <a:ext cx="4690872" cy="994410"/>
          </a:xfrm>
          <a:prstGeom prst="roundRect">
            <a:avLst>
              <a:gd name="adj" fmla="val 7356"/>
            </a:avLst>
          </a:prstGeom>
          <a:solidFill>
            <a:srgbClr val="3C7A3C">
              <a:alpha val="9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29384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16368" y="1892808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ALREADY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150608" y="2258568"/>
            <a:ext cx="428853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between </a:t>
            </a:r>
            <a:r>
              <a:rPr lang="en-US" sz="1400" i="1" dirty="0">
                <a:solidFill>
                  <a:schemeClr val="tx1"/>
                </a:solidFill>
              </a:rPr>
              <a:t>have</a:t>
            </a:r>
            <a:r>
              <a:rPr lang="en-US" sz="1400" dirty="0">
                <a:solidFill>
                  <a:schemeClr val="tx1"/>
                </a:solidFill>
              </a:rPr>
              <a:t> and the participle: </a:t>
            </a:r>
            <a:r>
              <a:rPr lang="en-US" sz="1400" i="1" dirty="0">
                <a:solidFill>
                  <a:schemeClr val="tx1"/>
                </a:solidFill>
              </a:rPr>
              <a:t>Iris has </a:t>
            </a:r>
            <a:r>
              <a:rPr lang="en-US" sz="1400" b="1" i="1" dirty="0">
                <a:solidFill>
                  <a:schemeClr val="tx1"/>
                </a:solidFill>
              </a:rPr>
              <a:t>already</a:t>
            </a:r>
            <a:r>
              <a:rPr lang="en-US" sz="1400" i="1" dirty="0">
                <a:solidFill>
                  <a:schemeClr val="tx1"/>
                </a:solidFill>
              </a:rPr>
              <a:t> taken the photographs.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949440" y="2960370"/>
            <a:ext cx="4690872" cy="994410"/>
          </a:xfrm>
          <a:prstGeom prst="roundRect">
            <a:avLst>
              <a:gd name="adj" fmla="val 7356"/>
            </a:avLst>
          </a:prstGeom>
          <a:solidFill>
            <a:srgbClr val="B03A2E">
              <a:alpha val="9000"/>
            </a:srgbClr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10667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16368" y="3070098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YET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7150608" y="3435858"/>
            <a:ext cx="428853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the end — negatives and questions: </a:t>
            </a:r>
            <a:r>
              <a:rPr lang="en-US" sz="1400" i="1" dirty="0">
                <a:solidFill>
                  <a:schemeClr val="tx1"/>
                </a:solidFill>
              </a:rPr>
              <a:t>Has anyone told the insurer </a:t>
            </a:r>
            <a:r>
              <a:rPr lang="en-US" sz="1400" b="1" i="1" dirty="0">
                <a:solidFill>
                  <a:schemeClr val="tx1"/>
                </a:solidFill>
              </a:rPr>
              <a:t>yet</a:t>
            </a:r>
            <a:r>
              <a:rPr lang="en-US" sz="1400" i="1" dirty="0">
                <a:solidFill>
                  <a:schemeClr val="tx1"/>
                </a:solidFill>
              </a:rPr>
              <a:t>? — Not yet.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949440" y="4137660"/>
            <a:ext cx="4690872" cy="994410"/>
          </a:xfrm>
          <a:prstGeom prst="roundRect">
            <a:avLst>
              <a:gd name="adj" fmla="val 7356"/>
            </a:avLst>
          </a:prstGeom>
          <a:solidFill>
            <a:srgbClr val="2E75B6">
              <a:alpha val="9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8396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516368" y="4247388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JUST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7150608" y="4613148"/>
            <a:ext cx="428853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between </a:t>
            </a:r>
            <a:r>
              <a:rPr lang="en-US" sz="1400" i="1" dirty="0">
                <a:solidFill>
                  <a:schemeClr val="tx1"/>
                </a:solidFill>
              </a:rPr>
              <a:t>have</a:t>
            </a:r>
            <a:r>
              <a:rPr lang="en-US" sz="1400" dirty="0">
                <a:solidFill>
                  <a:schemeClr val="tx1"/>
                </a:solidFill>
              </a:rPr>
              <a:t> and the participle (= very recently): </a:t>
            </a:r>
            <a:r>
              <a:rPr lang="en-US" sz="1400" i="1" dirty="0">
                <a:solidFill>
                  <a:schemeClr val="tx1"/>
                </a:solidFill>
              </a:rPr>
              <a:t>I’ve </a:t>
            </a:r>
            <a:r>
              <a:rPr lang="en-US" sz="1400" b="1" i="1" dirty="0">
                <a:solidFill>
                  <a:schemeClr val="tx1"/>
                </a:solidFill>
              </a:rPr>
              <a:t>just</a:t>
            </a:r>
            <a:r>
              <a:rPr lang="en-US" sz="1400" i="1" dirty="0">
                <a:solidFill>
                  <a:schemeClr val="tx1"/>
                </a:solidFill>
              </a:rPr>
              <a:t> come back.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949440" y="5314950"/>
            <a:ext cx="4690872" cy="994410"/>
          </a:xfrm>
          <a:prstGeom prst="roundRect">
            <a:avLst>
              <a:gd name="adj" fmla="val 7356"/>
            </a:avLst>
          </a:prstGeom>
          <a:solidFill>
            <a:srgbClr val="C0752A">
              <a:alpha val="9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5461254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516368" y="5424678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FRENCH TRAP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7150608" y="5790438"/>
            <a:ext cx="428853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✗ </a:t>
            </a:r>
            <a:r>
              <a:rPr lang="en-US" sz="1400" i="1" dirty="0">
                <a:solidFill>
                  <a:schemeClr val="tx1"/>
                </a:solidFill>
              </a:rPr>
              <a:t>has taken </a:t>
            </a:r>
            <a:r>
              <a:rPr lang="en-US" sz="1400" b="1" i="1" dirty="0">
                <a:solidFill>
                  <a:schemeClr val="tx1"/>
                </a:solidFill>
              </a:rPr>
              <a:t>already</a:t>
            </a:r>
            <a:r>
              <a:rPr lang="en-US" sz="1400" dirty="0">
                <a:solidFill>
                  <a:schemeClr val="tx1"/>
                </a:solidFill>
              </a:rPr>
              <a:t> → ✓ </a:t>
            </a:r>
            <a:r>
              <a:rPr lang="en-US" sz="1400" i="1" dirty="0">
                <a:solidFill>
                  <a:schemeClr val="tx1"/>
                </a:solidFill>
              </a:rPr>
              <a:t>has </a:t>
            </a:r>
            <a:r>
              <a:rPr lang="en-US" sz="1400" b="1" i="1" dirty="0">
                <a:solidFill>
                  <a:schemeClr val="tx1"/>
                </a:solidFill>
              </a:rPr>
              <a:t>already</a:t>
            </a:r>
            <a:r>
              <a:rPr lang="en-US" sz="1400" i="1" dirty="0">
                <a:solidFill>
                  <a:schemeClr val="tx1"/>
                </a:solidFill>
              </a:rPr>
              <a:t> taken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does the little word go?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Choose the number where the word goes. Show it with your fingers!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397557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2342693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already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461565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34640" y="2342693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Iris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94176" y="2424989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078224" y="2342693"/>
            <a:ext cx="6537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23460" y="2424989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07508" y="2342693"/>
            <a:ext cx="16824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photographed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981444" y="2424989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365492" y="2342693"/>
            <a:ext cx="15681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ceiling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025128" y="2424989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409176" y="2342693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248558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51560" y="3193694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yet</a:t>
            </a:r>
            <a:endParaRPr lang="en-US" sz="17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312566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834640" y="3193694"/>
            <a:ext cx="6537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3579876" y="3275990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963924" y="3193694"/>
            <a:ext cx="19110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contractor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5966460" y="3275990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50508" y="3193694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answered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7667244" y="3275990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051292" y="3193694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548640" y="409956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051560" y="4044696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just</a:t>
            </a:r>
            <a:endParaRPr lang="en-US" sz="17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4163568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834640" y="4044696"/>
            <a:ext cx="9966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Samuel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3922776" y="4126992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306824" y="4044696"/>
            <a:ext cx="6537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5052060" y="4126992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36108" y="4044696"/>
            <a:ext cx="13395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come back</a:t>
            </a:r>
            <a:endParaRPr lang="en-US" sz="1800" dirty="0"/>
          </a:p>
        </p:txBody>
      </p:sp>
      <p:sp>
        <p:nvSpPr>
          <p:cNvPr id="37" name="Text 31"/>
          <p:cNvSpPr/>
          <p:nvPr/>
        </p:nvSpPr>
        <p:spPr>
          <a:xfrm>
            <a:off x="6867144" y="4126992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7251192" y="4044696"/>
            <a:ext cx="22539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from the basement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9596628" y="4126992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9980676" y="4044696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548640" y="4950562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1051560" y="489569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yet</a:t>
            </a:r>
            <a:endParaRPr lang="en-US" sz="17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5014570"/>
            <a:ext cx="219456" cy="21945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2834640" y="4895698"/>
            <a:ext cx="5394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</a:t>
            </a:r>
            <a:endParaRPr lang="en-US" sz="1800" dirty="0"/>
          </a:p>
        </p:txBody>
      </p:sp>
      <p:sp>
        <p:nvSpPr>
          <p:cNvPr id="45" name="Text 38"/>
          <p:cNvSpPr/>
          <p:nvPr/>
        </p:nvSpPr>
        <p:spPr>
          <a:xfrm>
            <a:off x="3465576" y="4895698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have not</a:t>
            </a:r>
            <a:endParaRPr lang="en-US" sz="1800" dirty="0"/>
          </a:p>
        </p:txBody>
      </p:sp>
      <p:sp>
        <p:nvSpPr>
          <p:cNvPr id="46" name="Text 39"/>
          <p:cNvSpPr/>
          <p:nvPr/>
        </p:nvSpPr>
        <p:spPr>
          <a:xfrm>
            <a:off x="4782312" y="4977994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5166360" y="4895698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received</a:t>
            </a:r>
            <a:endParaRPr lang="en-US" sz="1800" dirty="0"/>
          </a:p>
        </p:txBody>
      </p:sp>
      <p:sp>
        <p:nvSpPr>
          <p:cNvPr id="48" name="Text 41"/>
          <p:cNvSpPr/>
          <p:nvPr/>
        </p:nvSpPr>
        <p:spPr>
          <a:xfrm>
            <a:off x="6483096" y="4977994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6867144" y="4895698"/>
            <a:ext cx="16824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estimate</a:t>
            </a:r>
            <a:endParaRPr lang="en-US" sz="1800" dirty="0"/>
          </a:p>
        </p:txBody>
      </p:sp>
      <p:sp>
        <p:nvSpPr>
          <p:cNvPr id="50" name="Text 43"/>
          <p:cNvSpPr/>
          <p:nvPr/>
        </p:nvSpPr>
        <p:spPr>
          <a:xfrm>
            <a:off x="8641080" y="4977994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9025128" y="4895698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52" name="Text 45"/>
          <p:cNvSpPr/>
          <p:nvPr/>
        </p:nvSpPr>
        <p:spPr>
          <a:xfrm>
            <a:off x="548640" y="5801563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53" name="Text 46"/>
          <p:cNvSpPr/>
          <p:nvPr/>
        </p:nvSpPr>
        <p:spPr>
          <a:xfrm>
            <a:off x="1051560" y="5746699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already</a:t>
            </a:r>
            <a:endParaRPr lang="en-US" sz="1700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5865571"/>
            <a:ext cx="219456" cy="219456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2834640" y="5746699"/>
            <a:ext cx="15681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insurer</a:t>
            </a:r>
            <a:endParaRPr lang="en-US" sz="1800" dirty="0"/>
          </a:p>
        </p:txBody>
      </p:sp>
      <p:sp>
        <p:nvSpPr>
          <p:cNvPr id="56" name="Text 48"/>
          <p:cNvSpPr/>
          <p:nvPr/>
        </p:nvSpPr>
        <p:spPr>
          <a:xfrm>
            <a:off x="4494276" y="5828995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57" name="Text 49"/>
          <p:cNvSpPr/>
          <p:nvPr/>
        </p:nvSpPr>
        <p:spPr>
          <a:xfrm>
            <a:off x="4878324" y="5746699"/>
            <a:ext cx="6537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</a:t>
            </a:r>
            <a:endParaRPr lang="en-US" sz="1800" dirty="0"/>
          </a:p>
        </p:txBody>
      </p:sp>
      <p:sp>
        <p:nvSpPr>
          <p:cNvPr id="58" name="Text 50"/>
          <p:cNvSpPr/>
          <p:nvPr/>
        </p:nvSpPr>
        <p:spPr>
          <a:xfrm>
            <a:off x="5623560" y="5828995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6007608" y="5746699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sent</a:t>
            </a:r>
            <a:endParaRPr lang="en-US" sz="1800" dirty="0"/>
          </a:p>
        </p:txBody>
      </p:sp>
      <p:sp>
        <p:nvSpPr>
          <p:cNvPr id="60" name="Text 52"/>
          <p:cNvSpPr/>
          <p:nvPr/>
        </p:nvSpPr>
        <p:spPr>
          <a:xfrm>
            <a:off x="6867144" y="5828995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61" name="Text 53"/>
          <p:cNvSpPr/>
          <p:nvPr/>
        </p:nvSpPr>
        <p:spPr>
          <a:xfrm>
            <a:off x="7251192" y="5746699"/>
            <a:ext cx="23682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acknowledgement</a:t>
            </a:r>
            <a:endParaRPr lang="en-US" sz="1800" dirty="0"/>
          </a:p>
        </p:txBody>
      </p:sp>
      <p:sp>
        <p:nvSpPr>
          <p:cNvPr id="62" name="Text 54"/>
          <p:cNvSpPr/>
          <p:nvPr/>
        </p:nvSpPr>
        <p:spPr>
          <a:xfrm>
            <a:off x="9710928" y="5828995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63" name="Text 55"/>
          <p:cNvSpPr/>
          <p:nvPr/>
        </p:nvSpPr>
        <p:spPr>
          <a:xfrm>
            <a:off x="10094976" y="5746699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does the little word go?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5"/>
                </a:solidFill>
              </a:rPr>
              <a:t>already · just</a:t>
            </a:r>
            <a:r>
              <a:rPr lang="en-US" sz="1600" i="1" dirty="0">
                <a:solidFill>
                  <a:schemeClr val="accent5"/>
                </a:solidFill>
              </a:rPr>
              <a:t> → between </a:t>
            </a:r>
            <a:r>
              <a:rPr lang="en-US" sz="1600" i="1" dirty="0">
                <a:solidFill>
                  <a:schemeClr val="accent5"/>
                </a:solidFill>
              </a:rPr>
              <a:t>have</a:t>
            </a:r>
            <a:r>
              <a:rPr lang="en-US" sz="1600" i="1" dirty="0">
                <a:solidFill>
                  <a:schemeClr val="accent5"/>
                </a:solidFill>
              </a:rPr>
              <a:t> and the participle · </a:t>
            </a:r>
            <a:r>
              <a:rPr lang="en-US" sz="1600" b="1" i="1" dirty="0">
                <a:solidFill>
                  <a:schemeClr val="accent5"/>
                </a:solidFill>
              </a:rPr>
              <a:t>yet</a:t>
            </a:r>
            <a:r>
              <a:rPr lang="en-US" sz="1600" i="1" dirty="0">
                <a:solidFill>
                  <a:schemeClr val="accent5"/>
                </a:solidFill>
              </a:rPr>
              <a:t> → at the end.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397557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2342693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already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834640" y="2342693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Iris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94176" y="2342693"/>
            <a:ext cx="6537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39412" y="2342693"/>
            <a:ext cx="1110996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already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641848" y="2342693"/>
            <a:ext cx="16824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photographed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15784" y="2342693"/>
            <a:ext cx="15681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ceiling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075420" y="2342693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3248558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3193694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yet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834640" y="3193694"/>
            <a:ext cx="6537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79876" y="3193694"/>
            <a:ext cx="19110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contractor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582412" y="3193694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answered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99148" y="3193694"/>
            <a:ext cx="653796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yet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44384" y="3193694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09956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51560" y="4044696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just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834640" y="4044696"/>
            <a:ext cx="9966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Samuel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922776" y="4044696"/>
            <a:ext cx="6537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668012" y="4044696"/>
            <a:ext cx="768096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just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527548" y="4044696"/>
            <a:ext cx="13395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come back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958584" y="4044696"/>
            <a:ext cx="22539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from the basement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304020" y="4044696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48640" y="4950562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51560" y="489569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yet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2834640" y="4895698"/>
            <a:ext cx="5394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465576" y="4895698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have not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782312" y="4895698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received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099048" y="4895698"/>
            <a:ext cx="16824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estimate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872984" y="4895698"/>
            <a:ext cx="653796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yet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8618220" y="4895698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548640" y="5801563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051560" y="5746699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already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2834640" y="5746699"/>
            <a:ext cx="15681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insurer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4494276" y="5746699"/>
            <a:ext cx="6537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5239512" y="5746699"/>
            <a:ext cx="1110996" cy="457200"/>
          </a:xfrm>
          <a:prstGeom prst="roundRect">
            <a:avLst>
              <a:gd name="adj" fmla="val 50000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already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6441948" y="5746699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sent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7301484" y="5746699"/>
            <a:ext cx="2368296" cy="457200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acknowledgement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9761220" y="5746699"/>
            <a:ext cx="425196" cy="457200"/>
          </a:xfrm>
          <a:prstGeom prst="roundRect">
            <a:avLst>
              <a:gd name="adj" fmla="val 17204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board will not accept a wrong form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Build the form: </a:t>
            </a:r>
            <a:r>
              <a:rPr lang="en-US" sz="1600" i="1" dirty="0">
                <a:solidFill>
                  <a:schemeClr val="accent5"/>
                </a:solidFill>
              </a:rPr>
              <a:t>have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i="1" dirty="0">
                <a:solidFill>
                  <a:schemeClr val="accent5"/>
                </a:solidFill>
              </a:rPr>
              <a:t>has</a:t>
            </a:r>
            <a:r>
              <a:rPr lang="en-US" sz="1600" i="1" dirty="0">
                <a:solidFill>
                  <a:schemeClr val="accent5"/>
                </a:solidFill>
              </a:rPr>
              <a:t> + participle.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3723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31520" y="22372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WORD BANK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has sent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76448" y="2420112"/>
            <a:ext cx="19507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hasn’t answered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55184" y="2420112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have been</a:t>
            </a:r>
            <a:endParaRPr lang="en-US" sz="1600" dirty="0"/>
          </a:p>
        </p:txBody>
      </p:sp>
      <p:sp>
        <p:nvSpPr>
          <p:cNvPr id="11" name="exercise"/>
          <p:cNvSpPr txBox="1"/>
          <p:nvPr/>
        </p:nvSpPr>
        <p:spPr>
          <a:xfrm>
            <a:off x="548640" y="3261360"/>
            <a:ext cx="11091672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The site manager </a:t>
            </a:r>
            <a:r>
              <a:rPr lang="en-US" sz="2600" dirty="0">
                <a:solidFill>
                  <a:schemeClr val="accent5"/>
                </a:solidFill>
              </a:rPr>
              <a:t>………………………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(not answer)</a:t>
            </a:r>
            <a:r>
              <a:rPr lang="en-US" sz="2600" dirty="0">
                <a:solidFill>
                  <a:schemeClr val="tx1"/>
                </a:solidFill>
              </a:rPr>
              <a:t> my two messages.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We </a:t>
            </a:r>
            <a:r>
              <a:rPr lang="en-US" sz="2600" dirty="0">
                <a:solidFill>
                  <a:schemeClr val="accent5"/>
                </a:solidFill>
              </a:rPr>
              <a:t>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(be)</a:t>
            </a:r>
            <a:r>
              <a:rPr lang="en-US" sz="2600" dirty="0">
                <a:solidFill>
                  <a:schemeClr val="tx1"/>
                </a:solidFill>
              </a:rPr>
              <a:t> here since seven o’clock.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The insurer </a:t>
            </a:r>
            <a:r>
              <a:rPr lang="en-US" sz="2600" dirty="0">
                <a:solidFill>
                  <a:schemeClr val="accent5"/>
                </a:solidFill>
              </a:rPr>
              <a:t>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(send)</a:t>
            </a:r>
            <a:r>
              <a:rPr lang="en-US" sz="2600" dirty="0">
                <a:solidFill>
                  <a:schemeClr val="tx1"/>
                </a:solidFill>
              </a:rPr>
              <a:t> a first acknowledgement.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board will not accept a wrong form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Build the form: </a:t>
            </a:r>
            <a:r>
              <a:rPr lang="en-US" sz="1600" i="1" dirty="0">
                <a:solidFill>
                  <a:schemeClr val="accent5"/>
                </a:solidFill>
              </a:rPr>
              <a:t>have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i="1" dirty="0">
                <a:solidFill>
                  <a:schemeClr val="accent5"/>
                </a:solidFill>
              </a:rPr>
              <a:t>has</a:t>
            </a:r>
            <a:r>
              <a:rPr lang="en-US" sz="1600" i="1" dirty="0">
                <a:solidFill>
                  <a:schemeClr val="accent5"/>
                </a:solidFill>
              </a:rPr>
              <a:t> + participle.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3723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22372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has sent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76448" y="2420112"/>
            <a:ext cx="19507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hasn’t answered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55184" y="2420112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have been</a:t>
            </a:r>
            <a:endParaRPr lang="en-US" sz="1600" dirty="0"/>
          </a:p>
        </p:txBody>
      </p:sp>
      <p:sp>
        <p:nvSpPr>
          <p:cNvPr id="12" name="exercise"/>
          <p:cNvSpPr txBox="1"/>
          <p:nvPr/>
        </p:nvSpPr>
        <p:spPr>
          <a:xfrm>
            <a:off x="548640" y="3261360"/>
            <a:ext cx="11091672" cy="204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The site manager </a:t>
            </a:r>
            <a:r>
              <a:rPr lang="en-US" sz="2200" b="1" dirty="0">
                <a:solidFill>
                  <a:schemeClr val="accent3"/>
                </a:solidFill>
              </a:rPr>
              <a:t>hasn’t answered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(not answer)</a:t>
            </a:r>
            <a:r>
              <a:rPr lang="en-US" sz="2200" dirty="0">
                <a:solidFill>
                  <a:schemeClr val="tx1"/>
                </a:solidFill>
              </a:rPr>
              <a:t> my two messages.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We </a:t>
            </a:r>
            <a:r>
              <a:rPr lang="en-US" sz="2200" b="1" dirty="0">
                <a:solidFill>
                  <a:schemeClr val="accent3"/>
                </a:solidFill>
              </a:rPr>
              <a:t>have been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(be)</a:t>
            </a:r>
            <a:r>
              <a:rPr lang="en-US" sz="2200" dirty="0">
                <a:solidFill>
                  <a:schemeClr val="tx1"/>
                </a:solidFill>
              </a:rPr>
              <a:t> here since seven o’clock.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The insurer </a:t>
            </a:r>
            <a:r>
              <a:rPr lang="en-US" sz="2200" b="1" dirty="0">
                <a:solidFill>
                  <a:schemeClr val="accent3"/>
                </a:solidFill>
              </a:rPr>
              <a:t>has sent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(send)</a:t>
            </a:r>
            <a:r>
              <a:rPr lang="en-US" sz="2200" dirty="0">
                <a:solidFill>
                  <a:schemeClr val="tx1"/>
                </a:solidFill>
              </a:rPr>
              <a:t> a first acknowledgement.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Bridge to Séance 13 — </a:t>
            </a:r>
            <a:r>
              <a:rPr lang="en-US" sz="1800" i="1" dirty="0">
                <a:solidFill>
                  <a:schemeClr val="tx1"/>
                </a:solidFill>
              </a:rPr>
              <a:t>We have been here </a:t>
            </a:r>
            <a:r>
              <a:rPr lang="en-US" sz="1800" b="1" i="1" dirty="0">
                <a:solidFill>
                  <a:schemeClr val="tx1"/>
                </a:solidFill>
              </a:rPr>
              <a:t>since</a:t>
            </a:r>
            <a:r>
              <a:rPr lang="en-US" sz="1800" i="1" dirty="0">
                <a:solidFill>
                  <a:schemeClr val="tx1"/>
                </a:solidFill>
              </a:rPr>
              <a:t> seven o’clock</a:t>
            </a:r>
            <a:r>
              <a:rPr lang="en-US" sz="1800" dirty="0">
                <a:solidFill>
                  <a:schemeClr val="tx1"/>
                </a:solidFill>
              </a:rPr>
              <a:t> — the present perfect also says </a:t>
            </a:r>
            <a:r>
              <a:rPr lang="en-US" sz="1800" b="1" dirty="0">
                <a:solidFill>
                  <a:schemeClr val="tx1"/>
                </a:solidFill>
              </a:rPr>
              <a:t>how long</a:t>
            </a:r>
            <a:r>
              <a:rPr lang="en-US" sz="1800" dirty="0">
                <a:solidFill>
                  <a:schemeClr val="tx1"/>
                </a:solidFill>
              </a:rPr>
              <a:t> a situation has lasted: </a:t>
            </a:r>
            <a:r>
              <a:rPr lang="en-US" sz="1800" i="1" dirty="0">
                <a:solidFill>
                  <a:schemeClr val="tx1"/>
                </a:solidFill>
              </a:rPr>
              <a:t>for / since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Stand up for the present perfect!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590C">
              <a:alpha val="10000"/>
            </a:srgbClr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658368" cy="65836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819656"/>
            <a:ext cx="9902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teacher reads a time word. Your body answers.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Everybody · 3 minutes · stand up, sit down — no talking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5408676" cy="2359152"/>
          </a:xfrm>
          <a:prstGeom prst="roundRect">
            <a:avLst>
              <a:gd name="adj" fmla="val 3101"/>
            </a:avLst>
          </a:prstGeom>
          <a:solidFill>
            <a:srgbClr val="3C7A3C">
              <a:alpha val="10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28331" y="3063240"/>
            <a:ext cx="849295" cy="849295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654" y="3275564"/>
            <a:ext cx="424647" cy="4246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" y="4003975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STAND UP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4506895"/>
            <a:ext cx="5042916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word goes with the </a:t>
            </a:r>
            <a:r>
              <a:rPr lang="en-US" sz="1700" b="1" dirty="0">
                <a:solidFill>
                  <a:schemeClr val="tx1"/>
                </a:solidFill>
              </a:rPr>
              <a:t>present perfect</a:t>
            </a:r>
            <a:r>
              <a:rPr lang="en-US" sz="1700" dirty="0">
                <a:solidFill>
                  <a:schemeClr val="tx1"/>
                </a:solidFill>
              </a:rPr>
              <a:t> — up to now, no date.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231636" y="2880360"/>
            <a:ext cx="5408676" cy="2359152"/>
          </a:xfrm>
          <a:prstGeom prst="roundRect">
            <a:avLst>
              <a:gd name="adj" fmla="val 3101"/>
            </a:avLst>
          </a:prstGeom>
          <a:solidFill>
            <a:srgbClr val="B4236A">
              <a:alpha val="10000"/>
            </a:srgb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511327" y="3063240"/>
            <a:ext cx="849295" cy="849295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650" y="3275564"/>
            <a:ext cx="424647" cy="4246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68796" y="4003975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SIT DOWN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6414516" y="4506895"/>
            <a:ext cx="5042916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word goes with the </a:t>
            </a:r>
            <a:r>
              <a:rPr lang="en-US" sz="1700" b="1" dirty="0">
                <a:solidFill>
                  <a:schemeClr val="tx1"/>
                </a:solidFill>
              </a:rPr>
              <a:t>past simple</a:t>
            </a:r>
            <a:r>
              <a:rPr lang="en-US" sz="1700" dirty="0">
                <a:solidFill>
                  <a:schemeClr val="tx1"/>
                </a:solidFill>
              </a:rPr>
              <a:t> — a finished time.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5422392"/>
            <a:ext cx="109087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Listen to the word — move in </a:t>
            </a:r>
            <a:r>
              <a:rPr lang="en-US" sz="1600" b="1" dirty="0">
                <a:solidFill>
                  <a:schemeClr val="tx1"/>
                </a:solidFill>
              </a:rPr>
              <a:t>three seconds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Wrong move? Say a correct sentence with the word to stay in the game.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Stand up for the present perfect!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The signal words. </a:t>
            </a:r>
            <a:r>
              <a:rPr lang="en-US" sz="1600" b="1" i="1" dirty="0">
                <a:solidFill>
                  <a:schemeClr val="accent5"/>
                </a:solidFill>
              </a:rPr>
              <a:t>Stand up</a:t>
            </a:r>
            <a:r>
              <a:rPr lang="en-US" sz="1600" i="1" dirty="0">
                <a:solidFill>
                  <a:schemeClr val="accent5"/>
                </a:solidFill>
              </a:rPr>
              <a:t> = present perfect · </a:t>
            </a:r>
            <a:r>
              <a:rPr lang="en-US" sz="1600" b="1" i="1" dirty="0">
                <a:solidFill>
                  <a:schemeClr val="accent5"/>
                </a:solidFill>
              </a:rPr>
              <a:t>sit down</a:t>
            </a:r>
            <a:r>
              <a:rPr lang="en-US" sz="1600" i="1" dirty="0">
                <a:solidFill>
                  <a:schemeClr val="accent5"/>
                </a:solidFill>
              </a:rPr>
              <a:t> = past simple.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3723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37308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3789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23723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already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448556" y="223723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STAND UP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931160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031236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318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2931160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yesterday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448556" y="2931160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SIT DOWN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625088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3725164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2574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625088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 11.41 p.m.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448556" y="3625088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SIT DOWN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319016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419092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51967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4319016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yet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4448556" y="4319016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STAND UP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5012944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8368" y="5113020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1360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5012944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hours ago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448556" y="5012944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SIT DOWN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570687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8368" y="5806948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907532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188720" y="570687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so far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4448556" y="570687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STAND UP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231636" y="223723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341364" y="2337308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2437892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71716" y="223723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last November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10131552" y="223723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SIT DOWN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6231636" y="2931160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41364" y="3031236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948" y="3131820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71716" y="2931160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just</a:t>
            </a:r>
            <a:endParaRPr lang="en-US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10131552" y="2931160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STAND UP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6231636" y="3625088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1364" y="3725164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948" y="3825748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871716" y="3625088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this morning — it is 9.40</a:t>
            </a:r>
            <a:endParaRPr lang="en-US" sz="1800" dirty="0"/>
          </a:p>
        </p:txBody>
      </p:sp>
      <p:sp>
        <p:nvSpPr>
          <p:cNvPr id="51" name="Text 40"/>
          <p:cNvSpPr txBox="1"/>
          <p:nvPr/>
        </p:nvSpPr>
        <p:spPr>
          <a:xfrm>
            <a:off x="10131552" y="3625088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STAND UP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6231636" y="4319016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341364" y="4419092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948" y="4519676"/>
            <a:ext cx="201168" cy="201168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6871716" y="4319016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When…?</a:t>
            </a:r>
            <a:endParaRPr lang="en-US" sz="1800" dirty="0"/>
          </a:p>
        </p:txBody>
      </p:sp>
      <p:sp>
        <p:nvSpPr>
          <p:cNvPr id="56" name="Text 44"/>
          <p:cNvSpPr txBox="1"/>
          <p:nvPr/>
        </p:nvSpPr>
        <p:spPr>
          <a:xfrm>
            <a:off x="10131552" y="4319016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SIT DOWN</a:t>
            </a:r>
            <a:endParaRPr lang="en-US" sz="1300" dirty="0"/>
          </a:p>
        </p:txBody>
      </p:sp>
      <p:sp>
        <p:nvSpPr>
          <p:cNvPr id="57" name="Shape 45"/>
          <p:cNvSpPr/>
          <p:nvPr/>
        </p:nvSpPr>
        <p:spPr>
          <a:xfrm>
            <a:off x="6231636" y="5012944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6341364" y="5113020"/>
            <a:ext cx="402336" cy="402336"/>
          </a:xfrm>
          <a:prstGeom prst="ellipse">
            <a:avLst/>
          </a:prstGeom>
          <a:solidFill>
            <a:srgbClr val="3C7A3C"/>
          </a:solidFill>
          <a:ln/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1948" y="5213604"/>
            <a:ext cx="201168" cy="201168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6871716" y="5012944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never · ever</a:t>
            </a:r>
            <a:endParaRPr lang="en-US" sz="1800" dirty="0"/>
          </a:p>
        </p:txBody>
      </p:sp>
      <p:sp>
        <p:nvSpPr>
          <p:cNvPr id="61" name="Text 48"/>
          <p:cNvSpPr txBox="1"/>
          <p:nvPr/>
        </p:nvSpPr>
        <p:spPr>
          <a:xfrm>
            <a:off x="10131552" y="5012944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STAND UP</a:t>
            </a:r>
            <a:endParaRPr lang="en-US" sz="1300" dirty="0"/>
          </a:p>
        </p:txBody>
      </p:sp>
      <p:sp>
        <p:nvSpPr>
          <p:cNvPr id="62" name="Shape 49"/>
          <p:cNvSpPr/>
          <p:nvPr/>
        </p:nvSpPr>
        <p:spPr>
          <a:xfrm>
            <a:off x="6231636" y="570687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6341364" y="5806948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1948" y="5907532"/>
            <a:ext cx="201168" cy="20116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6871716" y="570687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this morning — it is 3 p.m.</a:t>
            </a:r>
            <a:endParaRPr lang="en-US" sz="1800" dirty="0"/>
          </a:p>
        </p:txBody>
      </p:sp>
      <p:sp>
        <p:nvSpPr>
          <p:cNvPr id="66" name="Text 52"/>
          <p:cNvSpPr txBox="1"/>
          <p:nvPr/>
        </p:nvSpPr>
        <p:spPr>
          <a:xfrm>
            <a:off x="10131552" y="570687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SIT DOWN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error auction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874520"/>
            <a:ext cx="475488" cy="475488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93392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78308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Teams of four start with </a:t>
            </a:r>
            <a:r>
              <a:rPr lang="en-US" sz="1600" b="1" dirty="0">
                <a:solidFill>
                  <a:schemeClr val="tx1"/>
                </a:solidFill>
              </a:rPr>
              <a:t>€1,000</a:t>
            </a:r>
            <a:r>
              <a:rPr lang="en-US" sz="1600" dirty="0">
                <a:solidFill>
                  <a:schemeClr val="tx1"/>
                </a:solidFill>
              </a:rPr>
              <a:t>. Bid </a:t>
            </a:r>
            <a:r>
              <a:rPr lang="en-US" sz="1600" b="1" dirty="0">
                <a:solidFill>
                  <a:schemeClr val="tx1"/>
                </a:solidFill>
              </a:rPr>
              <a:t>€100 to €500</a:t>
            </a:r>
            <a:r>
              <a:rPr lang="en-US" sz="1600" dirty="0">
                <a:solidFill>
                  <a:schemeClr val="tx1"/>
                </a:solidFill>
              </a:rPr>
              <a:t> on each sentence you think is </a:t>
            </a:r>
            <a:r>
              <a:rPr lang="en-US" sz="1600" b="1" dirty="0">
                <a:solidFill>
                  <a:schemeClr val="tx1"/>
                </a:solidFill>
              </a:rPr>
              <a:t>correct</a:t>
            </a:r>
            <a:r>
              <a:rPr lang="en-US" sz="1600" dirty="0">
                <a:solidFill>
                  <a:schemeClr val="tx1"/>
                </a:solidFill>
              </a:rPr>
              <a:t>. No bid = no risk.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624328"/>
            <a:ext cx="11091672" cy="396621"/>
          </a:xfrm>
          <a:prstGeom prst="roundRect">
            <a:avLst>
              <a:gd name="adj" fmla="val 18444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2624328"/>
            <a:ext cx="41148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2624328"/>
            <a:ext cx="7708392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alarm went off at 11.41 p.m.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582912" y="2660904"/>
            <a:ext cx="1828800" cy="323469"/>
          </a:xfrm>
          <a:prstGeom prst="roundRect">
            <a:avLst>
              <a:gd name="adj" fmla="val 16961"/>
            </a:avLst>
          </a:prstGeom>
          <a:solidFill>
            <a:srgbClr val="FFFFFF"/>
          </a:solidFill>
          <a:ln w="15875">
            <a:solidFill>
              <a:srgbClr val="B4236A"/>
            </a:solidFill>
            <a:prstDash val="dash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703767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994392" y="2624328"/>
            <a:ext cx="137160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6A"/>
                </a:solidFill>
              </a:rPr>
              <a:t>€ ……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094101"/>
            <a:ext cx="11091672" cy="396621"/>
          </a:xfrm>
          <a:prstGeom prst="roundRect">
            <a:avLst>
              <a:gd name="adj" fmla="val 18444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3094101"/>
            <a:ext cx="41148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097280" y="3094101"/>
            <a:ext cx="7708392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Nobody has told the insurer yet.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9582912" y="3130677"/>
            <a:ext cx="1828800" cy="323469"/>
          </a:xfrm>
          <a:prstGeom prst="roundRect">
            <a:avLst>
              <a:gd name="adj" fmla="val 16961"/>
            </a:avLst>
          </a:prstGeom>
          <a:solidFill>
            <a:srgbClr val="FFFFFF"/>
          </a:solidFill>
          <a:ln w="15875">
            <a:solidFill>
              <a:srgbClr val="B4236A"/>
            </a:solidFill>
            <a:prstDash val="dash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17354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94392" y="3094101"/>
            <a:ext cx="137160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6A"/>
                </a:solidFill>
              </a:rPr>
              <a:t>€ ……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8640" y="3563874"/>
            <a:ext cx="11091672" cy="396621"/>
          </a:xfrm>
          <a:prstGeom prst="roundRect">
            <a:avLst>
              <a:gd name="adj" fmla="val 18444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3563874"/>
            <a:ext cx="41148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1097280" y="3563874"/>
            <a:ext cx="7708392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team has left the site at 19.58.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9582912" y="3600450"/>
            <a:ext cx="1828800" cy="323469"/>
          </a:xfrm>
          <a:prstGeom prst="roundRect">
            <a:avLst>
              <a:gd name="adj" fmla="val 16961"/>
            </a:avLst>
          </a:prstGeom>
          <a:solidFill>
            <a:srgbClr val="FFFFFF"/>
          </a:solidFill>
          <a:ln w="15875">
            <a:solidFill>
              <a:srgbClr val="B4236A"/>
            </a:solidFill>
            <a:prstDash val="dash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3643313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994392" y="3563874"/>
            <a:ext cx="137160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6A"/>
                </a:solidFill>
              </a:rPr>
              <a:t>€ ……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548640" y="4033647"/>
            <a:ext cx="11091672" cy="396621"/>
          </a:xfrm>
          <a:prstGeom prst="roundRect">
            <a:avLst>
              <a:gd name="adj" fmla="val 18444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85800" y="4033647"/>
            <a:ext cx="41148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097280" y="4033647"/>
            <a:ext cx="7708392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 have seen the damage, so I can describe it.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9582912" y="4070223"/>
            <a:ext cx="1828800" cy="323469"/>
          </a:xfrm>
          <a:prstGeom prst="roundRect">
            <a:avLst>
              <a:gd name="adj" fmla="val 16961"/>
            </a:avLst>
          </a:prstGeom>
          <a:solidFill>
            <a:srgbClr val="FFFFFF"/>
          </a:solidFill>
          <a:ln w="15875">
            <a:solidFill>
              <a:srgbClr val="B4236A"/>
            </a:solidFill>
            <a:prstDash val="dash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11308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994392" y="4033647"/>
            <a:ext cx="137160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6A"/>
                </a:solidFill>
              </a:rPr>
              <a:t>€ ……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548640" y="4503420"/>
            <a:ext cx="11091672" cy="396621"/>
          </a:xfrm>
          <a:prstGeom prst="roundRect">
            <a:avLst>
              <a:gd name="adj" fmla="val 18444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685800" y="4503420"/>
            <a:ext cx="41148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5.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1097280" y="4503420"/>
            <a:ext cx="7708392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Iris has taken already the photos.</a:t>
            </a:r>
            <a:endParaRPr lang="en-US" sz="1800" dirty="0"/>
          </a:p>
        </p:txBody>
      </p:sp>
      <p:sp>
        <p:nvSpPr>
          <p:cNvPr id="37" name="Shape 29"/>
          <p:cNvSpPr/>
          <p:nvPr/>
        </p:nvSpPr>
        <p:spPr>
          <a:xfrm>
            <a:off x="9582912" y="4539996"/>
            <a:ext cx="1828800" cy="323469"/>
          </a:xfrm>
          <a:prstGeom prst="roundRect">
            <a:avLst>
              <a:gd name="adj" fmla="val 16961"/>
            </a:avLst>
          </a:prstGeom>
          <a:solidFill>
            <a:srgbClr val="FFFFFF"/>
          </a:solidFill>
          <a:ln w="15875">
            <a:solidFill>
              <a:srgbClr val="B4236A"/>
            </a:solidFill>
            <a:prstDash val="dash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4582859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994392" y="4503420"/>
            <a:ext cx="137160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6A"/>
                </a:solidFill>
              </a:rPr>
              <a:t>€ ……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548640" y="4973193"/>
            <a:ext cx="11091672" cy="396621"/>
          </a:xfrm>
          <a:prstGeom prst="roundRect">
            <a:avLst>
              <a:gd name="adj" fmla="val 18444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685800" y="4973193"/>
            <a:ext cx="41148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6.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1097280" y="4973193"/>
            <a:ext cx="7708392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 didn’t receive the estimate yet.</a:t>
            </a:r>
            <a:endParaRPr lang="en-US" sz="1800" dirty="0"/>
          </a:p>
        </p:txBody>
      </p:sp>
      <p:sp>
        <p:nvSpPr>
          <p:cNvPr id="43" name="Shape 34"/>
          <p:cNvSpPr/>
          <p:nvPr/>
        </p:nvSpPr>
        <p:spPr>
          <a:xfrm>
            <a:off x="9582912" y="5009769"/>
            <a:ext cx="1828800" cy="323469"/>
          </a:xfrm>
          <a:prstGeom prst="roundRect">
            <a:avLst>
              <a:gd name="adj" fmla="val 16961"/>
            </a:avLst>
          </a:prstGeom>
          <a:solidFill>
            <a:srgbClr val="FFFFFF"/>
          </a:solidFill>
          <a:ln w="15875">
            <a:solidFill>
              <a:srgbClr val="B4236A"/>
            </a:solidFill>
            <a:prstDash val="dash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5052632"/>
            <a:ext cx="237744" cy="237744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994392" y="4973193"/>
            <a:ext cx="137160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6A"/>
                </a:solidFill>
              </a:rPr>
              <a:t>€ ……</a:t>
            </a:r>
            <a:endParaRPr lang="en-US" sz="1500" dirty="0"/>
          </a:p>
        </p:txBody>
      </p:sp>
      <p:sp>
        <p:nvSpPr>
          <p:cNvPr id="46" name="Shape 36"/>
          <p:cNvSpPr/>
          <p:nvPr/>
        </p:nvSpPr>
        <p:spPr>
          <a:xfrm>
            <a:off x="548640" y="5442966"/>
            <a:ext cx="11091672" cy="396621"/>
          </a:xfrm>
          <a:prstGeom prst="roundRect">
            <a:avLst>
              <a:gd name="adj" fmla="val 18444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85800" y="5442966"/>
            <a:ext cx="41148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7.</a:t>
            </a:r>
            <a:endParaRPr lang="en-US" sz="1800" dirty="0"/>
          </a:p>
        </p:txBody>
      </p:sp>
      <p:sp>
        <p:nvSpPr>
          <p:cNvPr id="48" name="Text 38"/>
          <p:cNvSpPr txBox="1"/>
          <p:nvPr/>
        </p:nvSpPr>
        <p:spPr>
          <a:xfrm>
            <a:off x="1097280" y="5442966"/>
            <a:ext cx="7708392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insurer has called twice this morning.</a:t>
            </a:r>
            <a:endParaRPr lang="en-US" sz="1800" dirty="0"/>
          </a:p>
        </p:txBody>
      </p:sp>
      <p:sp>
        <p:nvSpPr>
          <p:cNvPr id="49" name="Shape 39"/>
          <p:cNvSpPr/>
          <p:nvPr/>
        </p:nvSpPr>
        <p:spPr>
          <a:xfrm>
            <a:off x="9582912" y="5479542"/>
            <a:ext cx="1828800" cy="323469"/>
          </a:xfrm>
          <a:prstGeom prst="roundRect">
            <a:avLst>
              <a:gd name="adj" fmla="val 16961"/>
            </a:avLst>
          </a:prstGeom>
          <a:solidFill>
            <a:srgbClr val="FFFFFF"/>
          </a:solidFill>
          <a:ln w="15875">
            <a:solidFill>
              <a:srgbClr val="B4236A"/>
            </a:solidFill>
            <a:prstDash val="dash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0" y="5522405"/>
            <a:ext cx="237744" cy="237744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994392" y="5442966"/>
            <a:ext cx="137160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6A"/>
                </a:solidFill>
              </a:rPr>
              <a:t>€ ……</a:t>
            </a:r>
            <a:endParaRPr lang="en-US" sz="1500" dirty="0"/>
          </a:p>
        </p:txBody>
      </p:sp>
      <p:sp>
        <p:nvSpPr>
          <p:cNvPr id="52" name="Shape 41"/>
          <p:cNvSpPr/>
          <p:nvPr/>
        </p:nvSpPr>
        <p:spPr>
          <a:xfrm>
            <a:off x="548640" y="5912739"/>
            <a:ext cx="11091672" cy="396621"/>
          </a:xfrm>
          <a:prstGeom prst="roundRect">
            <a:avLst>
              <a:gd name="adj" fmla="val 18444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685800" y="5912739"/>
            <a:ext cx="41148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8.</a:t>
            </a:r>
            <a:endParaRPr lang="en-US" sz="1800" dirty="0"/>
          </a:p>
        </p:txBody>
      </p:sp>
      <p:sp>
        <p:nvSpPr>
          <p:cNvPr id="54" name="Text 43"/>
          <p:cNvSpPr txBox="1"/>
          <p:nvPr/>
        </p:nvSpPr>
        <p:spPr>
          <a:xfrm>
            <a:off x="1097280" y="5912739"/>
            <a:ext cx="7708392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Samuel has restored the backup at 9 a.m.</a:t>
            </a:r>
            <a:endParaRPr lang="en-US" sz="1800" dirty="0"/>
          </a:p>
        </p:txBody>
      </p:sp>
      <p:sp>
        <p:nvSpPr>
          <p:cNvPr id="55" name="Shape 44"/>
          <p:cNvSpPr/>
          <p:nvPr/>
        </p:nvSpPr>
        <p:spPr>
          <a:xfrm>
            <a:off x="9582912" y="5949315"/>
            <a:ext cx="1828800" cy="323469"/>
          </a:xfrm>
          <a:prstGeom prst="roundRect">
            <a:avLst>
              <a:gd name="adj" fmla="val 16961"/>
            </a:avLst>
          </a:prstGeom>
          <a:solidFill>
            <a:srgbClr val="FFFFFF"/>
          </a:solidFill>
          <a:ln w="15875">
            <a:solidFill>
              <a:srgbClr val="B4236A"/>
            </a:solidFill>
            <a:prstDash val="dash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2640" y="5992178"/>
            <a:ext cx="237744" cy="237744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9994392" y="5912739"/>
            <a:ext cx="1371600" cy="39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6A"/>
                </a:solidFill>
              </a:rPr>
              <a:t>€ ……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error auction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Correct sentence → you </a:t>
            </a:r>
            <a:r>
              <a:rPr lang="en-US" sz="1600" b="1" i="1" dirty="0">
                <a:solidFill>
                  <a:schemeClr val="accent5"/>
                </a:solidFill>
              </a:rPr>
              <a:t>win</a:t>
            </a:r>
            <a:r>
              <a:rPr lang="en-US" sz="1600" i="1" dirty="0">
                <a:solidFill>
                  <a:schemeClr val="accent5"/>
                </a:solidFill>
              </a:rPr>
              <a:t> your bid · wrong sentence → you </a:t>
            </a:r>
            <a:r>
              <a:rPr lang="en-US" sz="1600" b="1" i="1" dirty="0">
                <a:solidFill>
                  <a:schemeClr val="accent5"/>
                </a:solidFill>
              </a:rPr>
              <a:t>lose</a:t>
            </a:r>
            <a:r>
              <a:rPr lang="en-US" sz="1600" i="1" dirty="0">
                <a:solidFill>
                  <a:schemeClr val="accent5"/>
                </a:solidFill>
              </a:rPr>
              <a:t> it. The richest team wins.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37232"/>
            <a:ext cx="4114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237232"/>
            <a:ext cx="770839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alarm went off at 11.41 p.m.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 rot="-180000">
            <a:off x="9582912" y="2273808"/>
            <a:ext cx="1828800" cy="371856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285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755392"/>
            <a:ext cx="1109167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55392"/>
            <a:ext cx="4114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755392"/>
            <a:ext cx="770839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Nobody has told the insurer yet.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 rot="-180000">
            <a:off x="9582912" y="2791968"/>
            <a:ext cx="1828800" cy="371856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285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273552"/>
            <a:ext cx="11091672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273552"/>
            <a:ext cx="4114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273552"/>
            <a:ext cx="770839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accent6"/>
                </a:solidFill>
              </a:rPr>
              <a:t>The team has left the site at 19.58.</a:t>
            </a:r>
            <a:r>
              <a:rPr lang="en-US" sz="1700" b="1" dirty="0">
                <a:solidFill>
                  <a:schemeClr val="accent3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The team </a:t>
            </a:r>
            <a:r>
              <a:rPr lang="en-US" sz="1700" b="1" dirty="0">
                <a:solidFill>
                  <a:schemeClr val="accent3"/>
                </a:solidFill>
              </a:rPr>
              <a:t>left</a:t>
            </a:r>
            <a:r>
              <a:rPr lang="en-US" sz="1700" b="1" dirty="0">
                <a:solidFill>
                  <a:schemeClr val="accent3"/>
                </a:solidFill>
              </a:rPr>
              <a:t> the site at 19.58.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 rot="180000">
            <a:off x="9582912" y="3310128"/>
            <a:ext cx="1828800" cy="371856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28575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✗ WRONG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791712"/>
            <a:ext cx="1109167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791712"/>
            <a:ext cx="4114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791712"/>
            <a:ext cx="770839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 have seen the damage, so I can describe it.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 rot="-180000">
            <a:off x="9582912" y="3828288"/>
            <a:ext cx="1828800" cy="371856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285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4309872"/>
            <a:ext cx="11091672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309872"/>
            <a:ext cx="4114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5.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4309872"/>
            <a:ext cx="770839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accent6"/>
                </a:solidFill>
              </a:rPr>
              <a:t>Iris has taken already the photos.</a:t>
            </a:r>
            <a:r>
              <a:rPr lang="en-US" sz="1700" b="1" dirty="0">
                <a:solidFill>
                  <a:schemeClr val="accent3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Iris has </a:t>
            </a:r>
            <a:r>
              <a:rPr lang="en-US" sz="1700" b="1" dirty="0">
                <a:solidFill>
                  <a:schemeClr val="accent3"/>
                </a:solidFill>
              </a:rPr>
              <a:t>already taken</a:t>
            </a:r>
            <a:r>
              <a:rPr lang="en-US" sz="1700" b="1" dirty="0">
                <a:solidFill>
                  <a:schemeClr val="accent3"/>
                </a:solidFill>
              </a:rPr>
              <a:t> the photos.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 rot="180000">
            <a:off x="9582912" y="4346448"/>
            <a:ext cx="1828800" cy="371856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28575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✗ WRONG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4828032"/>
            <a:ext cx="1109167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828032"/>
            <a:ext cx="4114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6.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1097280" y="4828032"/>
            <a:ext cx="770839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accent6"/>
                </a:solidFill>
              </a:rPr>
              <a:t>We didn’t receive the estimate yet.</a:t>
            </a:r>
            <a:r>
              <a:rPr lang="en-US" sz="1700" b="1" dirty="0">
                <a:solidFill>
                  <a:schemeClr val="accent3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We </a:t>
            </a:r>
            <a:r>
              <a:rPr lang="en-US" sz="1700" b="1" dirty="0">
                <a:solidFill>
                  <a:schemeClr val="accent3"/>
                </a:solidFill>
              </a:rPr>
              <a:t>haven’t received</a:t>
            </a:r>
            <a:r>
              <a:rPr lang="en-US" sz="1700" b="1" dirty="0">
                <a:solidFill>
                  <a:schemeClr val="accent3"/>
                </a:solidFill>
              </a:rPr>
              <a:t> the estimate yet.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 rot="180000">
            <a:off x="9582912" y="4864608"/>
            <a:ext cx="1828800" cy="371856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28575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✗ WRONG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346192"/>
            <a:ext cx="11091672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5346192"/>
            <a:ext cx="4114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7.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1097280" y="5346192"/>
            <a:ext cx="770839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insurer has called twice this morning.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 rot="-180000">
            <a:off x="9582912" y="5382768"/>
            <a:ext cx="1828800" cy="371856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285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5864352"/>
            <a:ext cx="1109167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5864352"/>
            <a:ext cx="4114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8.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1097280" y="5864352"/>
            <a:ext cx="770839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accent6"/>
                </a:solidFill>
              </a:rPr>
              <a:t>Samuel has restored the backup at 9 a.m.</a:t>
            </a:r>
            <a:r>
              <a:rPr lang="en-US" sz="1700" b="1" dirty="0">
                <a:solidFill>
                  <a:schemeClr val="accent3"/>
                </a:solidFill>
              </a:rPr>
              <a:t>   → </a:t>
            </a:r>
            <a:r>
              <a:rPr lang="en-US" sz="1700" b="1" dirty="0">
                <a:solidFill>
                  <a:schemeClr val="accent3"/>
                </a:solidFill>
              </a:rPr>
              <a:t>Samuel </a:t>
            </a:r>
            <a:r>
              <a:rPr lang="en-US" sz="1700" b="1" dirty="0">
                <a:solidFill>
                  <a:schemeClr val="accent3"/>
                </a:solidFill>
              </a:rPr>
              <a:t>restored</a:t>
            </a:r>
            <a:r>
              <a:rPr lang="en-US" sz="1700" b="1" dirty="0">
                <a:solidFill>
                  <a:schemeClr val="accent3"/>
                </a:solidFill>
              </a:rPr>
              <a:t> the backup at 9 a.m.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 rot="180000">
            <a:off x="9582912" y="5900928"/>
            <a:ext cx="1828800" cy="371856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28575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✗ WRONG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Find someone who…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Stand up and walk around. Ask </a:t>
            </a:r>
            <a:r>
              <a:rPr lang="en-US" sz="1600" i="1" dirty="0">
                <a:solidFill>
                  <a:schemeClr val="accent5"/>
                </a:solidFill>
              </a:rPr>
              <a:t>Have you ever…? / Have you … yet?</a:t>
            </a:r>
            <a:r>
              <a:rPr lang="en-US" sz="1600" i="1" dirty="0">
                <a:solidFill>
                  <a:schemeClr val="accent5"/>
                </a:solidFill>
              </a:rPr>
              <a:t> — write a </a:t>
            </a:r>
            <a:r>
              <a:rPr lang="en-US" sz="1600" b="1" i="1" dirty="0">
                <a:solidFill>
                  <a:schemeClr val="accent5"/>
                </a:solidFill>
              </a:rPr>
              <a:t>name</a:t>
            </a:r>
            <a:r>
              <a:rPr lang="en-US" sz="1600" i="1" dirty="0">
                <a:solidFill>
                  <a:schemeClr val="accent5"/>
                </a:solidFill>
              </a:rPr>
              <a:t>, then ask one more question.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835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328672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 already had a coffee this morning.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772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737360" y="3010408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12" name="Shape 8"/>
          <p:cNvSpPr/>
          <p:nvPr/>
        </p:nvSpPr>
        <p:spPr>
          <a:xfrm>
            <a:off x="4306824" y="2237232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38353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01184" y="2328672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 never broken a phone.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901184" y="2772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95544" y="3010408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17" name="Shape 12"/>
          <p:cNvSpPr/>
          <p:nvPr/>
        </p:nvSpPr>
        <p:spPr>
          <a:xfrm>
            <a:off x="8065008" y="2237232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8353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59368" y="2328672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 just finished an assignment.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659368" y="2772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253728" y="3010408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22" name="Shape 16"/>
          <p:cNvSpPr/>
          <p:nvPr/>
        </p:nvSpPr>
        <p:spPr>
          <a:xfrm>
            <a:off x="548640" y="3321304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46760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43000" y="3412744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 been to London.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3856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1737360" y="4094480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27" name="Shape 20"/>
          <p:cNvSpPr/>
          <p:nvPr/>
        </p:nvSpPr>
        <p:spPr>
          <a:xfrm>
            <a:off x="4306824" y="3321304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46760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901184" y="3412744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hasn’t had breakfast yet.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901184" y="3856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495544" y="4094480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32" name="Shape 24"/>
          <p:cNvSpPr/>
          <p:nvPr/>
        </p:nvSpPr>
        <p:spPr>
          <a:xfrm>
            <a:off x="8065008" y="3321304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467608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659368" y="3412744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 already used English at work.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659368" y="3856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9253728" y="4094480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37" name="Shape 28"/>
          <p:cNvSpPr/>
          <p:nvPr/>
        </p:nvSpPr>
        <p:spPr>
          <a:xfrm>
            <a:off x="548640" y="4405376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551680"/>
            <a:ext cx="310896" cy="31089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143000" y="4496816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 lost their keys this month.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1143000" y="4940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1737360" y="5178552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42" name="Shape 32"/>
          <p:cNvSpPr/>
          <p:nvPr/>
        </p:nvSpPr>
        <p:spPr>
          <a:xfrm>
            <a:off x="4306824" y="4405376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1416" y="4551680"/>
            <a:ext cx="310896" cy="31089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4901184" y="4496816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 worked on a real project in a team.</a:t>
            </a:r>
            <a:endParaRPr lang="en-US" sz="1500" dirty="0"/>
          </a:p>
        </p:txBody>
      </p:sp>
      <p:sp>
        <p:nvSpPr>
          <p:cNvPr id="45" name="Text 34"/>
          <p:cNvSpPr txBox="1"/>
          <p:nvPr/>
        </p:nvSpPr>
        <p:spPr>
          <a:xfrm>
            <a:off x="4901184" y="4940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5495544" y="5178552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47" name="Shape 36"/>
          <p:cNvSpPr/>
          <p:nvPr/>
        </p:nvSpPr>
        <p:spPr>
          <a:xfrm>
            <a:off x="8065008" y="4405376"/>
            <a:ext cx="3575304" cy="901192"/>
          </a:xfrm>
          <a:prstGeom prst="roundRect">
            <a:avLst>
              <a:gd name="adj" fmla="val 811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4551680"/>
            <a:ext cx="310896" cy="31089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8659368" y="4496816"/>
            <a:ext cx="2843784" cy="48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… has never been late for this class.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8659368" y="4940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Name:</a:t>
            </a:r>
            <a:endParaRPr lang="en-US" sz="1200" dirty="0"/>
          </a:p>
        </p:txBody>
      </p:sp>
      <p:sp>
        <p:nvSpPr>
          <p:cNvPr id="51" name="Shape 39"/>
          <p:cNvSpPr/>
          <p:nvPr/>
        </p:nvSpPr>
        <p:spPr>
          <a:xfrm>
            <a:off x="9253728" y="5178552"/>
            <a:ext cx="2203704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ysDot"/>
          </a:ln>
        </p:spPr>
      </p:sp>
      <p:sp>
        <p:nvSpPr>
          <p:cNvPr id="52" name="Shape 40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Bridge — </a:t>
            </a:r>
            <a:r>
              <a:rPr lang="en-US" sz="1800" dirty="0">
                <a:solidFill>
                  <a:schemeClr val="tx1"/>
                </a:solidFill>
              </a:rPr>
              <a:t>the question is in the </a:t>
            </a:r>
            <a:r>
              <a:rPr lang="en-US" sz="1800" b="1" dirty="0">
                <a:solidFill>
                  <a:schemeClr val="tx1"/>
                </a:solidFill>
              </a:rPr>
              <a:t>present perfect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Have you ever lost your keys?</a:t>
            </a:r>
            <a:r>
              <a:rPr lang="en-US" sz="1800" dirty="0">
                <a:solidFill>
                  <a:schemeClr val="tx1"/>
                </a:solidFill>
              </a:rPr>
              <a:t> — but the follow-up asks for a date: </a:t>
            </a:r>
            <a:r>
              <a:rPr lang="en-US" sz="1800" b="1" dirty="0">
                <a:solidFill>
                  <a:schemeClr val="tx1"/>
                </a:solidFill>
              </a:rPr>
              <a:t>past simple</a:t>
            </a:r>
            <a:r>
              <a:rPr lang="en-US" sz="1800" dirty="0">
                <a:solidFill>
                  <a:schemeClr val="tx1"/>
                </a:solidFill>
              </a:rPr>
              <a:t>! </a:t>
            </a:r>
            <a:r>
              <a:rPr lang="en-US" sz="1800" i="1" dirty="0">
                <a:solidFill>
                  <a:schemeClr val="tx1"/>
                </a:solidFill>
              </a:rPr>
              <a:t>When did you lose them?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Past simple or present perfect?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Ask yourself: </a:t>
            </a:r>
            <a:r>
              <a:rPr lang="en-US" sz="1600" b="1" i="1" dirty="0">
                <a:solidFill>
                  <a:schemeClr val="accent5"/>
                </a:solidFill>
              </a:rPr>
              <a:t>WHEN?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b="1" i="1" dirty="0">
                <a:solidFill>
                  <a:schemeClr val="accent5"/>
                </a:solidFill>
              </a:rPr>
              <a:t>SO WHAT?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Samuel </a:t>
            </a:r>
            <a:r>
              <a:rPr lang="en-US" sz="2600" dirty="0">
                <a:solidFill>
                  <a:schemeClr val="accent5"/>
                </a:solidFill>
              </a:rPr>
              <a:t>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(restore)</a:t>
            </a:r>
            <a:r>
              <a:rPr lang="en-US" sz="2600" dirty="0">
                <a:solidFill>
                  <a:schemeClr val="tx1"/>
                </a:solidFill>
              </a:rPr>
              <a:t> the backup at 9 a.m.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We </a:t>
            </a:r>
            <a:r>
              <a:rPr lang="en-US" sz="2600" dirty="0">
                <a:solidFill>
                  <a:schemeClr val="accent5"/>
                </a:solidFill>
              </a:rPr>
              <a:t>…………………………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(not receive)</a:t>
            </a:r>
            <a:r>
              <a:rPr lang="en-US" sz="2600" dirty="0">
                <a:solidFill>
                  <a:schemeClr val="tx1"/>
                </a:solidFill>
              </a:rPr>
              <a:t> the estimate yet.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The insurer </a:t>
            </a:r>
            <a:r>
              <a:rPr lang="en-US" sz="2600" dirty="0">
                <a:solidFill>
                  <a:schemeClr val="accent5"/>
                </a:solidFill>
              </a:rPr>
              <a:t>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(call)</a:t>
            </a:r>
            <a:r>
              <a:rPr lang="en-US" sz="2600" dirty="0">
                <a:solidFill>
                  <a:schemeClr val="tx1"/>
                </a:solidFill>
              </a:rPr>
              <a:t> twice this morning.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I </a:t>
            </a:r>
            <a:r>
              <a:rPr lang="en-US" sz="2600" dirty="0">
                <a:solidFill>
                  <a:schemeClr val="accent5"/>
                </a:solidFill>
              </a:rPr>
              <a:t>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(write)</a:t>
            </a:r>
            <a:r>
              <a:rPr lang="en-US" sz="2600" dirty="0">
                <a:solidFill>
                  <a:schemeClr val="tx1"/>
                </a:solidFill>
              </a:rPr>
              <a:t> to the site manager yesterday.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accent5"/>
                </a:solidFill>
              </a:rPr>
              <a:t>………………</a:t>
            </a:r>
            <a:r>
              <a:rPr lang="en-US" sz="2600" dirty="0">
                <a:solidFill>
                  <a:schemeClr val="tx1"/>
                </a:solidFill>
              </a:rPr>
              <a:t> you ever </a:t>
            </a:r>
            <a:r>
              <a:rPr lang="en-US" sz="2600" dirty="0">
                <a:solidFill>
                  <a:schemeClr val="accent5"/>
                </a:solidFill>
              </a:rPr>
              <a:t>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(see)</a:t>
            </a:r>
            <a:r>
              <a:rPr lang="en-US" sz="2600" dirty="0">
                <a:solidFill>
                  <a:schemeClr val="tx1"/>
                </a:solidFill>
              </a:rPr>
              <a:t> a leak like this?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6.  </a:t>
            </a:r>
            <a:r>
              <a:rPr lang="en-US" sz="2600" dirty="0">
                <a:solidFill>
                  <a:schemeClr val="tx1"/>
                </a:solidFill>
              </a:rPr>
              <a:t>The cleaners </a:t>
            </a:r>
            <a:r>
              <a:rPr lang="en-US" sz="2600" dirty="0">
                <a:solidFill>
                  <a:schemeClr val="accent5"/>
                </a:solidFill>
              </a:rPr>
              <a:t>………………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i="1" dirty="0">
                <a:solidFill>
                  <a:schemeClr val="tx1"/>
                </a:solidFill>
              </a:rPr>
              <a:t>(find)</a:t>
            </a:r>
            <a:r>
              <a:rPr lang="en-US" sz="2600" dirty="0">
                <a:solidFill>
                  <a:schemeClr val="tx1"/>
                </a:solidFill>
              </a:rPr>
              <a:t> the water at 6.50.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Past simple or present perfect?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Ask yourself: </a:t>
            </a:r>
            <a:r>
              <a:rPr lang="en-US" sz="1600" b="1" i="1" dirty="0">
                <a:solidFill>
                  <a:schemeClr val="accent5"/>
                </a:solidFill>
              </a:rPr>
              <a:t>WHEN?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b="1" i="1" dirty="0">
                <a:solidFill>
                  <a:schemeClr val="accent5"/>
                </a:solidFill>
              </a:rPr>
              <a:t>SO WHAT?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237232"/>
            <a:ext cx="11091672" cy="306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Samuel </a:t>
            </a:r>
            <a:r>
              <a:rPr lang="en-US" sz="2200" b="1" dirty="0">
                <a:solidFill>
                  <a:schemeClr val="accent3"/>
                </a:solidFill>
              </a:rPr>
              <a:t>restored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(restore)</a:t>
            </a:r>
            <a:r>
              <a:rPr lang="en-US" sz="2200" dirty="0">
                <a:solidFill>
                  <a:schemeClr val="tx1"/>
                </a:solidFill>
              </a:rPr>
              <a:t> the backup at 9 a.m.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We </a:t>
            </a:r>
            <a:r>
              <a:rPr lang="en-US" sz="2200" b="1" dirty="0">
                <a:solidFill>
                  <a:schemeClr val="accent3"/>
                </a:solidFill>
              </a:rPr>
              <a:t>haven’t received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(not receive)</a:t>
            </a:r>
            <a:r>
              <a:rPr lang="en-US" sz="2200" dirty="0">
                <a:solidFill>
                  <a:schemeClr val="tx1"/>
                </a:solidFill>
              </a:rPr>
              <a:t> the estimate yet.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The insurer </a:t>
            </a:r>
            <a:r>
              <a:rPr lang="en-US" sz="2200" b="1" dirty="0">
                <a:solidFill>
                  <a:schemeClr val="accent3"/>
                </a:solidFill>
              </a:rPr>
              <a:t>has called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(call)</a:t>
            </a:r>
            <a:r>
              <a:rPr lang="en-US" sz="2200" dirty="0">
                <a:solidFill>
                  <a:schemeClr val="tx1"/>
                </a:solidFill>
              </a:rPr>
              <a:t> twice this morning.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I </a:t>
            </a:r>
            <a:r>
              <a:rPr lang="en-US" sz="2200" b="1" dirty="0">
                <a:solidFill>
                  <a:schemeClr val="accent3"/>
                </a:solidFill>
              </a:rPr>
              <a:t>wrote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(write)</a:t>
            </a:r>
            <a:r>
              <a:rPr lang="en-US" sz="2200" dirty="0">
                <a:solidFill>
                  <a:schemeClr val="tx1"/>
                </a:solidFill>
              </a:rPr>
              <a:t> to the site manager yesterday.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b="1" dirty="0">
                <a:solidFill>
                  <a:schemeClr val="accent3"/>
                </a:solidFill>
              </a:rPr>
              <a:t>Have</a:t>
            </a:r>
            <a:r>
              <a:rPr lang="en-US" sz="2200" dirty="0">
                <a:solidFill>
                  <a:schemeClr val="tx1"/>
                </a:solidFill>
              </a:rPr>
              <a:t> you ever </a:t>
            </a:r>
            <a:r>
              <a:rPr lang="en-US" sz="2200" b="1" dirty="0">
                <a:solidFill>
                  <a:schemeClr val="accent3"/>
                </a:solidFill>
              </a:rPr>
              <a:t>seen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(see)</a:t>
            </a:r>
            <a:r>
              <a:rPr lang="en-US" sz="2200" dirty="0">
                <a:solidFill>
                  <a:schemeClr val="tx1"/>
                </a:solidFill>
              </a:rPr>
              <a:t> a leak like this?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The cleaners </a:t>
            </a:r>
            <a:r>
              <a:rPr lang="en-US" sz="2200" b="1" dirty="0">
                <a:solidFill>
                  <a:schemeClr val="accent3"/>
                </a:solidFill>
              </a:rPr>
              <a:t>found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(find)</a:t>
            </a:r>
            <a:r>
              <a:rPr lang="en-US" sz="2200" dirty="0">
                <a:solidFill>
                  <a:schemeClr val="tx1"/>
                </a:solidFill>
              </a:rPr>
              <a:t> the water at 6.50.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Watch out — </a:t>
            </a:r>
            <a:r>
              <a:rPr lang="en-US" sz="1800" dirty="0">
                <a:solidFill>
                  <a:schemeClr val="tx1"/>
                </a:solidFill>
              </a:rPr>
              <a:t>3: </a:t>
            </a:r>
            <a:r>
              <a:rPr lang="en-US" sz="1800" i="1" dirty="0">
                <a:solidFill>
                  <a:schemeClr val="tx1"/>
                </a:solidFill>
              </a:rPr>
              <a:t>this morning</a:t>
            </a:r>
            <a:r>
              <a:rPr lang="en-US" sz="1800" dirty="0">
                <a:solidFill>
                  <a:schemeClr val="tx1"/>
                </a:solidFill>
              </a:rPr>
              <a:t> — it is 09.40, the morning is not over → present perfect · 5: </a:t>
            </a:r>
            <a:r>
              <a:rPr lang="en-US" sz="1800" i="1" dirty="0">
                <a:solidFill>
                  <a:schemeClr val="tx1"/>
                </a:solidFill>
              </a:rPr>
              <a:t>ever</a:t>
            </a:r>
            <a:r>
              <a:rPr lang="en-US" sz="1800" dirty="0">
                <a:solidFill>
                  <a:schemeClr val="tx1"/>
                </a:solidFill>
              </a:rPr>
              <a:t> → present perfect.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“Ten o’clock update. Everybody is waiting for it.” </a:t>
            </a:r>
            <a:r>
              <a:rPr lang="en-US" sz="22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Five lines</a:t>
            </a: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continuous text, no bullet points. Nine people will read it on their phones.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EXIT TICKET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line for </a:t>
            </a:r>
            <a:r>
              <a:rPr lang="en-US" sz="1800" b="1" dirty="0">
                <a:solidFill>
                  <a:schemeClr val="tx1"/>
                </a:solidFill>
              </a:rPr>
              <a:t>DONE</a:t>
            </a:r>
            <a:r>
              <a:rPr lang="en-US" sz="1800" dirty="0">
                <a:solidFill>
                  <a:schemeClr val="tx1"/>
                </a:solidFill>
              </a:rPr>
              <a:t>, one for </a:t>
            </a:r>
            <a:r>
              <a:rPr lang="en-US" sz="1800" b="1" dirty="0">
                <a:solidFill>
                  <a:schemeClr val="tx1"/>
                </a:solidFill>
              </a:rPr>
              <a:t>NOT YET</a:t>
            </a:r>
            <a:r>
              <a:rPr lang="en-US" sz="1800" dirty="0">
                <a:solidFill>
                  <a:schemeClr val="tx1"/>
                </a:solidFill>
              </a:rPr>
              <a:t> — about the case.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4736592" cy="4526280"/>
          </a:xfrm>
          <a:prstGeom prst="roundRect">
            <a:avLst>
              <a:gd name="adj" fmla="val 1616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00253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19842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06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56032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present perfect</a:t>
            </a:r>
            <a:r>
              <a:rPr lang="en-US" sz="1700" dirty="0">
                <a:solidFill>
                  <a:schemeClr val="tx1"/>
                </a:solidFill>
              </a:rPr>
              <a:t> train: have / has + (already · just) + participle + … + (yet).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6118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56616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Write 3 </a:t>
            </a:r>
            <a:r>
              <a:rPr lang="en-US" sz="1700" b="1" dirty="0">
                <a:solidFill>
                  <a:schemeClr val="tx1"/>
                </a:solidFill>
              </a:rPr>
              <a:t>DONE</a:t>
            </a:r>
            <a:r>
              <a:rPr lang="en-US" sz="1700" dirty="0">
                <a:solidFill>
                  <a:schemeClr val="tx1"/>
                </a:solidFill>
              </a:rPr>
              <a:t> and 3 </a:t>
            </a:r>
            <a:r>
              <a:rPr lang="en-US" sz="1700" b="1" dirty="0">
                <a:solidFill>
                  <a:schemeClr val="tx1"/>
                </a:solidFill>
              </a:rPr>
              <a:t>NOT YET</a:t>
            </a:r>
            <a:r>
              <a:rPr lang="en-US" sz="1700" dirty="0">
                <a:solidFill>
                  <a:schemeClr val="tx1"/>
                </a:solidFill>
              </a:rPr>
              <a:t> lines about your own week.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6177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89520" y="457200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p. 21 (Word file: progress expressions).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09 — The board</dc:title>
  <dc:subject>Case File 01 — The night nobody heard</dc:subject>
  <dc:creator>A. Jouniaux</dc:creator>
  <cp:lastModifiedBy>A. Jouniaux</cp:lastModifiedBy>
  <cp:revision>1</cp:revision>
  <dcterms:created xsi:type="dcterms:W3CDTF">2026-10-17T17:37:26Z</dcterms:created>
  <dcterms:modified xsi:type="dcterms:W3CDTF">2026-10-17T17:37:26Z</dcterms:modified>
</cp:coreProperties>
</file>