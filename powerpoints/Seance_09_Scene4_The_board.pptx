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658daf7-1348-1022-97e3-5f5e95ab1bb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lôture" id="{fd22dc04-e8c9-9972-7324-24270d420515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Scène 4 : le tableau DONE / NOT YET. Objectif grammatical : present perfect (résultat présent) vs prétérit (fait daté) ; already / yet / just.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Verbaliser : « Iris has taken the photographs » (résultat visible à 09.40) ; « Nobody has told the insurer yet » (situation encore ouverte) ; « The alarm went off at 23.41 » (point daté).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09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09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09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4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09.40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board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Two columns, one marker and nine people waiting for your update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18–19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1109"/>
            <a:ext cx="5120640" cy="3415782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18–19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</a:t>
            </a:r>
            <a:r>
              <a:rPr lang="en-US" sz="1800" b="1" dirty="0">
                <a:solidFill>
                  <a:schemeClr val="tx1"/>
                </a:solidFill>
              </a:rPr>
              <a:t>DONE / NOT YET</a:t>
            </a:r>
            <a:r>
              <a:rPr lang="en-US" sz="1800" dirty="0">
                <a:solidFill>
                  <a:schemeClr val="tx1"/>
                </a:solidFill>
              </a:rPr>
              <a:t> board — every line in the form that says where we stand </a:t>
            </a:r>
            <a:r>
              <a:rPr lang="en-US" sz="1800" b="1" dirty="0">
                <a:solidFill>
                  <a:schemeClr val="tx1"/>
                </a:solidFill>
              </a:rPr>
              <a:t>now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Present perfect (</a:t>
            </a:r>
            <a:r>
              <a:rPr lang="en-US" sz="1800" i="1" dirty="0">
                <a:solidFill>
                  <a:schemeClr val="tx1"/>
                </a:solidFill>
              </a:rPr>
              <a:t>have / has + past participle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b="1" dirty="0">
                <a:solidFill>
                  <a:schemeClr val="tx1"/>
                </a:solidFill>
              </a:rPr>
              <a:t>already, yet, just</a:t>
            </a:r>
            <a:r>
              <a:rPr lang="en-US" sz="1800" dirty="0">
                <a:solidFill>
                  <a:schemeClr val="tx1"/>
                </a:solidFill>
              </a:rPr>
              <a:t> · present perfect vs past simple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Reporting progress clearly · choosing between </a:t>
            </a:r>
            <a:r>
              <a:rPr lang="en-US" sz="1800" i="1" dirty="0">
                <a:solidFill>
                  <a:schemeClr val="tx1"/>
                </a:solidFill>
              </a:rPr>
              <a:t>yesterday</a:t>
            </a:r>
            <a:r>
              <a:rPr lang="en-US" sz="1800" dirty="0">
                <a:solidFill>
                  <a:schemeClr val="tx1"/>
                </a:solidFill>
              </a:rPr>
              <a:t> and </a:t>
            </a:r>
            <a:r>
              <a:rPr lang="en-US" sz="1800" i="1" dirty="0">
                <a:solidFill>
                  <a:schemeClr val="tx1"/>
                </a:solidFill>
              </a:rPr>
              <a:t>now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past participles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Scene 4 (p. 18)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Present perfect: form and use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Fill the board (p. 18)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Already · yet · just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Dry run A–C (p. 19)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Yesterday or now? Extra practice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past participles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7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take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write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send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see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</p:txBody>
      </p:sp>
      <p:sp>
        <p:nvSpPr>
          <p:cNvPr id="6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break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go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tell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be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past participles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7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take → </a:t>
            </a:r>
            <a:r>
              <a:rPr lang="en-US" sz="2400" b="1" dirty="0">
                <a:solidFill>
                  <a:schemeClr val="accent3"/>
                </a:solidFill>
              </a:rPr>
              <a:t>taken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write → </a:t>
            </a:r>
            <a:r>
              <a:rPr lang="en-US" sz="2400" b="1" dirty="0">
                <a:solidFill>
                  <a:schemeClr val="accent3"/>
                </a:solidFill>
              </a:rPr>
              <a:t>written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send → </a:t>
            </a:r>
            <a:r>
              <a:rPr lang="en-US" sz="2400" b="1" dirty="0">
                <a:solidFill>
                  <a:schemeClr val="accent3"/>
                </a:solidFill>
              </a:rPr>
              <a:t>sent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see → </a:t>
            </a:r>
            <a:r>
              <a:rPr lang="en-US" sz="2400" b="1" dirty="0">
                <a:solidFill>
                  <a:schemeClr val="accent3"/>
                </a:solidFill>
              </a:rPr>
              <a:t>seen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break → </a:t>
            </a:r>
            <a:r>
              <a:rPr lang="en-US" sz="2400" b="1" dirty="0">
                <a:solidFill>
                  <a:schemeClr val="accent3"/>
                </a:solidFill>
              </a:rPr>
              <a:t>broken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go → </a:t>
            </a:r>
            <a:r>
              <a:rPr lang="en-US" sz="2400" b="1" dirty="0">
                <a:solidFill>
                  <a:schemeClr val="accent3"/>
                </a:solidFill>
              </a:rPr>
              <a:t>gone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tell → </a:t>
            </a:r>
            <a:r>
              <a:rPr lang="en-US" sz="2400" b="1" dirty="0">
                <a:solidFill>
                  <a:schemeClr val="accent3"/>
                </a:solidFill>
              </a:rPr>
              <a:t>told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be → </a:t>
            </a:r>
            <a:r>
              <a:rPr lang="en-US" sz="2400" b="1" dirty="0">
                <a:solidFill>
                  <a:schemeClr val="accent3"/>
                </a:solidFill>
              </a:rPr>
              <a:t>been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</a:t>
            </a:r>
            <a:endParaRPr lang="en-US" sz="1200" dirty="0"/>
          </a:p>
        </p:txBody>
      </p:sp>
      <p:pic>
        <p:nvPicPr>
          <p:cNvPr id="5" name="illustration" descr="Mark hands the marker to the narrator in front of a whiteboard with two columns, DONE and NOT Y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4025744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995160" y="15087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95160" y="15544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4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09.40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2560320"/>
            <a:ext cx="46451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Mark draws a vertical line down the middle of the whiteboard. On the left he writes </a:t>
            </a:r>
            <a:r>
              <a:rPr lang="en-US" sz="1900" b="1" dirty="0">
                <a:solidFill>
                  <a:schemeClr val="tx1"/>
                </a:solidFill>
              </a:rPr>
              <a:t>DONE</a:t>
            </a:r>
            <a:r>
              <a:rPr lang="en-US" sz="1900" dirty="0">
                <a:solidFill>
                  <a:schemeClr val="tx1"/>
                </a:solidFill>
              </a:rPr>
              <a:t>. On the right he writes </a:t>
            </a:r>
            <a:r>
              <a:rPr lang="en-US" sz="1900" b="1" dirty="0">
                <a:solidFill>
                  <a:schemeClr val="tx1"/>
                </a:solidFill>
              </a:rPr>
              <a:t>NOT YET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Then he hands you the marker. </a:t>
            </a:r>
            <a:r>
              <a:rPr lang="en-US" sz="1900" i="1" dirty="0">
                <a:solidFill>
                  <a:schemeClr val="tx1"/>
                </a:solidFill>
              </a:rPr>
              <a:t>“Ten o’clock update,”</a:t>
            </a:r>
            <a:r>
              <a:rPr lang="en-US" sz="1900" dirty="0">
                <a:solidFill>
                  <a:schemeClr val="tx1"/>
                </a:solidFill>
              </a:rPr>
              <a:t> he says. </a:t>
            </a:r>
            <a:r>
              <a:rPr lang="en-US" sz="1900" i="1" dirty="0">
                <a:solidFill>
                  <a:schemeClr val="tx1"/>
                </a:solidFill>
              </a:rPr>
              <a:t>“Everybody is waiting for it.”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995160" y="4864608"/>
            <a:ext cx="4645152" cy="1426464"/>
          </a:xfrm>
          <a:prstGeom prst="roundRect">
            <a:avLst>
              <a:gd name="adj" fmla="val 5128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78040" y="495604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5248656"/>
            <a:ext cx="427939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board will be photographed and sent to nine people. Must each line say </a:t>
            </a:r>
            <a:r>
              <a:rPr lang="en-US" sz="1700" b="1" dirty="0">
                <a:solidFill>
                  <a:schemeClr val="tx1"/>
                </a:solidFill>
              </a:rPr>
              <a:t>what happened yesterday</a:t>
            </a:r>
            <a:r>
              <a:rPr lang="en-US" sz="1700" dirty="0">
                <a:solidFill>
                  <a:schemeClr val="tx1"/>
                </a:solidFill>
              </a:rPr>
              <a:t>, or </a:t>
            </a:r>
            <a:r>
              <a:rPr lang="en-US" sz="1700" b="1" dirty="0">
                <a:solidFill>
                  <a:schemeClr val="tx1"/>
                </a:solidFill>
              </a:rPr>
              <a:t>where we stand now</a:t>
            </a:r>
            <a:r>
              <a:rPr lang="en-US" sz="1700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present perfect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18–19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FORM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have / has + past participle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39746"/>
            <a:ext cx="3148584" cy="2715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Iris </a:t>
            </a:r>
            <a:r>
              <a:rPr lang="en-US" sz="2000" b="1" dirty="0">
                <a:solidFill>
                  <a:schemeClr val="tx1"/>
                </a:solidFill>
              </a:rPr>
              <a:t>has taken</a:t>
            </a:r>
            <a:r>
              <a:rPr lang="en-US" sz="2000" dirty="0">
                <a:solidFill>
                  <a:schemeClr val="tx1"/>
                </a:solidFill>
              </a:rPr>
              <a:t> the photographs.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</a:t>
            </a:r>
            <a:r>
              <a:rPr lang="en-US" sz="2000" b="1" dirty="0">
                <a:solidFill>
                  <a:schemeClr val="tx1"/>
                </a:solidFill>
              </a:rPr>
              <a:t>haven’t received</a:t>
            </a:r>
            <a:r>
              <a:rPr lang="en-US" sz="2000" dirty="0">
                <a:solidFill>
                  <a:schemeClr val="tx1"/>
                </a:solidFill>
              </a:rPr>
              <a:t> the estimate.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Has</a:t>
            </a:r>
            <a:r>
              <a:rPr lang="en-US" sz="2000" dirty="0">
                <a:solidFill>
                  <a:schemeClr val="tx1"/>
                </a:solidFill>
              </a:rPr>
              <a:t> anyone </a:t>
            </a:r>
            <a:r>
              <a:rPr lang="en-US" sz="2000" b="1" dirty="0">
                <a:solidFill>
                  <a:schemeClr val="tx1"/>
                </a:solidFill>
              </a:rPr>
              <a:t>told</a:t>
            </a:r>
            <a:r>
              <a:rPr lang="en-US" sz="2000" dirty="0">
                <a:solidFill>
                  <a:schemeClr val="tx1"/>
                </a:solidFill>
              </a:rPr>
              <a:t> the insurer?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37304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USE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0184" y="2084832"/>
            <a:ext cx="3148584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past action → a result now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20184" y="2539746"/>
            <a:ext cx="3148584" cy="2715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date: what matters is </a:t>
            </a:r>
            <a:r>
              <a:rPr lang="en-US" sz="2000" b="1" dirty="0">
                <a:solidFill>
                  <a:schemeClr val="tx1"/>
                </a:solidFill>
              </a:rPr>
              <a:t>now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photos exist → </a:t>
            </a:r>
            <a:r>
              <a:rPr lang="en-US" sz="2000" i="1" dirty="0">
                <a:solidFill>
                  <a:schemeClr val="tx1"/>
                </a:solidFill>
              </a:rPr>
              <a:t>has taken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estimate is still missing → </a:t>
            </a:r>
            <a:r>
              <a:rPr lang="en-US" sz="2000" i="1" dirty="0">
                <a:solidFill>
                  <a:schemeClr val="tx1"/>
                </a:solidFill>
              </a:rPr>
              <a:t>haven’t received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125968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NEVER WITH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8848" y="2084832"/>
            <a:ext cx="3148584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finished time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08848" y="2539746"/>
            <a:ext cx="3148584" cy="2715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dirty="0">
                <a:solidFill>
                  <a:schemeClr val="tx1"/>
                </a:solidFill>
              </a:rPr>
              <a:t>has taken </a:t>
            </a:r>
            <a:r>
              <a:rPr lang="en-US" sz="2000" b="1" i="1" dirty="0">
                <a:solidFill>
                  <a:schemeClr val="tx1"/>
                </a:solidFill>
              </a:rPr>
              <a:t>at 8.20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dirty="0">
                <a:solidFill>
                  <a:schemeClr val="tx1"/>
                </a:solidFill>
              </a:rPr>
              <a:t>have received </a:t>
            </a:r>
            <a:r>
              <a:rPr lang="en-US" sz="2000" b="1" i="1" dirty="0">
                <a:solidFill>
                  <a:schemeClr val="tx1"/>
                </a:solidFill>
              </a:rPr>
              <a:t>yesterday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 date → </a:t>
            </a:r>
            <a:r>
              <a:rPr lang="en-US" sz="2000" b="1" dirty="0">
                <a:solidFill>
                  <a:schemeClr val="tx1"/>
                </a:solidFill>
              </a:rPr>
              <a:t>past simple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dirty="0">
                <a:solidFill>
                  <a:schemeClr val="tx1"/>
                </a:solidFill>
              </a:rPr>
              <a:t>Le passé composé ≠ present perfect : </a:t>
            </a:r>
            <a:r>
              <a:rPr lang="en-US" sz="1700" i="1" dirty="0">
                <a:solidFill>
                  <a:schemeClr val="tx1"/>
                </a:solidFill>
              </a:rPr>
              <a:t>J’ai pris les photos à 8 h 20</a:t>
            </a:r>
            <a:r>
              <a:rPr lang="en-US" sz="1700" dirty="0">
                <a:solidFill>
                  <a:schemeClr val="tx1"/>
                </a:solidFill>
              </a:rPr>
              <a:t> → I </a:t>
            </a:r>
            <a:r>
              <a:rPr lang="en-US" sz="1700" b="1" dirty="0">
                <a:solidFill>
                  <a:schemeClr val="tx1"/>
                </a:solidFill>
              </a:rPr>
              <a:t>took</a:t>
            </a:r>
            <a:r>
              <a:rPr lang="en-US" sz="1700" dirty="0">
                <a:solidFill>
                  <a:schemeClr val="tx1"/>
                </a:solidFill>
              </a:rPr>
              <a:t> the photos at 8.20 (date). </a:t>
            </a:r>
            <a:r>
              <a:rPr lang="en-US" sz="1700" i="1" dirty="0">
                <a:solidFill>
                  <a:schemeClr val="tx1"/>
                </a:solidFill>
              </a:rPr>
              <a:t>J’ai pris les photos</a:t>
            </a:r>
            <a:r>
              <a:rPr lang="en-US" sz="1700" dirty="0">
                <a:solidFill>
                  <a:schemeClr val="tx1"/>
                </a:solidFill>
              </a:rPr>
              <a:t> (résultat, sans date) → I </a:t>
            </a:r>
            <a:r>
              <a:rPr lang="en-US" sz="1700" b="1" dirty="0">
                <a:solidFill>
                  <a:schemeClr val="tx1"/>
                </a:solidFill>
              </a:rPr>
              <a:t>have taken</a:t>
            </a:r>
            <a:r>
              <a:rPr lang="en-US" sz="1700" dirty="0">
                <a:solidFill>
                  <a:schemeClr val="tx1"/>
                </a:solidFill>
              </a:rPr>
              <a:t> the photos.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Looking at the night from 09.40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18–19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board looks at everything </a:t>
            </a:r>
            <a:r>
              <a:rPr lang="en-US" sz="1800" b="1" dirty="0">
                <a:solidFill>
                  <a:schemeClr val="tx1"/>
                </a:solidFill>
              </a:rPr>
              <a:t>from now</a:t>
            </a:r>
            <a:r>
              <a:rPr lang="en-US" sz="1800" dirty="0">
                <a:solidFill>
                  <a:schemeClr val="tx1"/>
                </a:solidFill>
              </a:rPr>
              <a:t> (09.40).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9996364" y="2971800"/>
            <a:ext cx="912966" cy="457200"/>
          </a:xfrm>
          <a:prstGeom prst="roundRect">
            <a:avLst>
              <a:gd name="adj" fmla="val 16000"/>
            </a:avLst>
          </a:prstGeom>
          <a:solidFill>
            <a:schemeClr val="accent3">
              <a:alpha val="85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41759" y="2971800"/>
            <a:ext cx="24631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photos taken → result now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953948" y="2368296"/>
            <a:ext cx="1955382" cy="457200"/>
          </a:xfrm>
          <a:prstGeom prst="roundRect">
            <a:avLst>
              <a:gd name="adj" fmla="val 16000"/>
            </a:avLst>
          </a:prstGeom>
          <a:solidFill>
            <a:schemeClr val="accent6">
              <a:alpha val="45000"/>
            </a:schemeClr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6656518" y="2368296"/>
            <a:ext cx="22059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insurer still not told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657600"/>
            <a:ext cx="10927080" cy="0"/>
          </a:xfrm>
          <a:prstGeom prst="line">
            <a:avLst/>
          </a:prstGeom>
          <a:noFill/>
          <a:ln w="317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595718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7078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20.00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20988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72348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00.00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046259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7619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04.00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771529" y="3584448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22889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08.00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09330" y="2039112"/>
            <a:ext cx="0" cy="1801368"/>
          </a:xfrm>
          <a:prstGeom prst="line">
            <a:avLst/>
          </a:prstGeom>
          <a:noFill/>
          <a:ln w="25400">
            <a:solidFill>
              <a:srgbClr val="B03A2E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10452130" y="3749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NOW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984095" y="35387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02967" y="3776472"/>
            <a:ext cx="0" cy="292608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24" name="Text 21"/>
          <p:cNvSpPr txBox="1"/>
          <p:nvPr/>
        </p:nvSpPr>
        <p:spPr>
          <a:xfrm>
            <a:off x="2822807" y="40690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alarm </a:t>
            </a:r>
            <a:r>
              <a:rPr lang="en-US" sz="1400" b="1" dirty="0">
                <a:solidFill>
                  <a:schemeClr val="tx1"/>
                </a:solidFill>
              </a:rPr>
              <a:t>went off</a:t>
            </a:r>
            <a:r>
              <a:rPr lang="en-US" sz="1400" dirty="0">
                <a:solidFill>
                  <a:schemeClr val="tx1"/>
                </a:solidFill>
              </a:rPr>
              <a:t> (23.41)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855516" y="35387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74388" y="3776472"/>
            <a:ext cx="0" cy="950976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27" name="Text 24"/>
          <p:cNvSpPr txBox="1"/>
          <p:nvPr/>
        </p:nvSpPr>
        <p:spPr>
          <a:xfrm>
            <a:off x="7511348" y="4727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cleaners </a:t>
            </a:r>
            <a:r>
              <a:rPr lang="en-US" sz="1400" b="1" dirty="0">
                <a:solidFill>
                  <a:schemeClr val="tx1"/>
                </a:solidFill>
              </a:rPr>
              <a:t>found</a:t>
            </a:r>
            <a:r>
              <a:rPr lang="en-US" sz="1400" dirty="0">
                <a:solidFill>
                  <a:schemeClr val="tx1"/>
                </a:solidFill>
              </a:rPr>
              <a:t> the water (6.50)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58368" y="5980176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97280" y="59070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dot with a time</a:t>
            </a:r>
            <a:r>
              <a:rPr lang="en-US" sz="1500" dirty="0">
                <a:solidFill>
                  <a:schemeClr val="tx1"/>
                </a:solidFill>
              </a:rPr>
              <a:t> → past simple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080760" y="5980176"/>
            <a:ext cx="457200" cy="237744"/>
          </a:xfrm>
          <a:prstGeom prst="roundRect">
            <a:avLst>
              <a:gd name="adj" fmla="val 19231"/>
            </a:avLst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629400" y="59070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 to NOW, no time</a:t>
            </a:r>
            <a:r>
              <a:rPr lang="en-US" sz="1500" dirty="0">
                <a:solidFill>
                  <a:schemeClr val="tx1"/>
                </a:solidFill>
              </a:rPr>
              <a:t> → present perfect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Fill the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571232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You are holding the marker. Complete each line with the form that says </a:t>
            </a:r>
            <a:r>
              <a:rPr lang="en-US" sz="1600" b="1" i="1" dirty="0">
                <a:solidFill>
                  <a:schemeClr val="accent5"/>
                </a:solidFill>
              </a:rPr>
              <a:t>where we stand now</a:t>
            </a:r>
            <a:r>
              <a:rPr lang="en-US" sz="1600" i="1" dirty="0">
                <a:solidFill>
                  <a:schemeClr val="accent5"/>
                </a:solidFill>
              </a:rPr>
              <a:t> — not what happened yesterday.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2170176"/>
            <a:ext cx="7571232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1.  </a:t>
            </a:r>
            <a:r>
              <a:rPr lang="en-US" sz="2000" dirty="0">
                <a:solidFill>
                  <a:schemeClr val="tx1"/>
                </a:solidFill>
              </a:rPr>
              <a:t>Iris </a:t>
            </a:r>
            <a:r>
              <a:rPr lang="en-US" sz="2000" dirty="0">
                <a:solidFill>
                  <a:schemeClr val="accent5"/>
                </a:solidFill>
              </a:rPr>
              <a:t>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(take)</a:t>
            </a:r>
            <a:r>
              <a:rPr lang="en-US" sz="2000" dirty="0">
                <a:solidFill>
                  <a:schemeClr val="tx1"/>
                </a:solidFill>
              </a:rPr>
              <a:t> the photographs.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2.  </a:t>
            </a:r>
            <a:r>
              <a:rPr lang="en-US" sz="2000" dirty="0">
                <a:solidFill>
                  <a:schemeClr val="tx1"/>
                </a:solidFill>
              </a:rPr>
              <a:t>Samuel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(look)</a:t>
            </a:r>
            <a:r>
              <a:rPr lang="en-US" sz="2000" dirty="0">
                <a:solidFill>
                  <a:schemeClr val="tx1"/>
                </a:solidFill>
              </a:rPr>
              <a:t> at the logs, but he </a:t>
            </a:r>
            <a:r>
              <a:rPr lang="en-US" sz="2000" dirty="0">
                <a:solidFill>
                  <a:schemeClr val="accent5"/>
                </a:solidFill>
              </a:rPr>
              <a:t>……………………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(not check)</a:t>
            </a:r>
            <a:r>
              <a:rPr lang="en-US" sz="2000" dirty="0">
                <a:solidFill>
                  <a:schemeClr val="tx1"/>
                </a:solidFill>
              </a:rPr>
              <a:t> the basement.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3.  </a:t>
            </a:r>
            <a:r>
              <a:rPr lang="en-US" sz="2000" dirty="0">
                <a:solidFill>
                  <a:schemeClr val="tx1"/>
                </a:solidFill>
              </a:rPr>
              <a:t>Nobody </a:t>
            </a:r>
            <a:r>
              <a:rPr lang="en-US" sz="2000" dirty="0">
                <a:solidFill>
                  <a:schemeClr val="accent5"/>
                </a:solidFill>
              </a:rPr>
              <a:t>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(tell)</a:t>
            </a:r>
            <a:r>
              <a:rPr lang="en-US" sz="2000" dirty="0">
                <a:solidFill>
                  <a:schemeClr val="tx1"/>
                </a:solidFill>
              </a:rPr>
              <a:t> the insurer.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4.  </a:t>
            </a:r>
            <a:r>
              <a:rPr lang="en-US" sz="2000" dirty="0">
                <a:solidFill>
                  <a:schemeClr val="tx1"/>
                </a:solidFill>
              </a:rPr>
              <a:t>The contractor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(not send)</a:t>
            </a:r>
            <a:r>
              <a:rPr lang="en-US" sz="2000" dirty="0">
                <a:solidFill>
                  <a:schemeClr val="tx1"/>
                </a:solidFill>
              </a:rPr>
              <a:t> a written statement.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5.  </a:t>
            </a:r>
            <a:r>
              <a:rPr lang="en-US" sz="2000" dirty="0">
                <a:solidFill>
                  <a:schemeClr val="tx1"/>
                </a:solidFill>
              </a:rPr>
              <a:t>Two units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(break)</a:t>
            </a:r>
            <a:r>
              <a:rPr lang="en-US" sz="2000" dirty="0">
                <a:solidFill>
                  <a:schemeClr val="tx1"/>
                </a:solidFill>
              </a:rPr>
              <a:t> down.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6.  </a:t>
            </a:r>
            <a:r>
              <a:rPr lang="en-US" sz="2000" dirty="0">
                <a:solidFill>
                  <a:schemeClr val="tx1"/>
                </a:solidFill>
              </a:rPr>
              <a:t>We </a:t>
            </a:r>
            <a:r>
              <a:rPr lang="en-US" sz="2000" dirty="0">
                <a:solidFill>
                  <a:schemeClr val="accent5"/>
                </a:solidFill>
              </a:rPr>
              <a:t>………………………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(not receive)</a:t>
            </a:r>
            <a:r>
              <a:rPr lang="en-US" sz="2000" dirty="0">
                <a:solidFill>
                  <a:schemeClr val="tx1"/>
                </a:solidFill>
              </a:rPr>
              <a:t> the estimate.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7.  </a:t>
            </a:r>
            <a:r>
              <a:rPr lang="en-US" sz="2000" dirty="0">
                <a:solidFill>
                  <a:schemeClr val="tx1"/>
                </a:solidFill>
              </a:rPr>
              <a:t>I </a:t>
            </a:r>
            <a:r>
              <a:rPr lang="en-US" sz="2000" dirty="0">
                <a:solidFill>
                  <a:schemeClr val="accent5"/>
                </a:solidFill>
              </a:rPr>
              <a:t>…………………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(write)</a:t>
            </a:r>
            <a:r>
              <a:rPr lang="en-US" sz="2000" dirty="0">
                <a:solidFill>
                  <a:schemeClr val="tx1"/>
                </a:solidFill>
              </a:rPr>
              <a:t> to the site manager twice.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8.  </a:t>
            </a:r>
            <a:r>
              <a:rPr lang="en-US" sz="2000" dirty="0">
                <a:solidFill>
                  <a:schemeClr val="tx1"/>
                </a:solidFill>
              </a:rPr>
              <a:t>The humidity alarm </a:t>
            </a:r>
            <a:r>
              <a:rPr lang="en-US" sz="2000" dirty="0">
                <a:solidFill>
                  <a:schemeClr val="accent5"/>
                </a:solidFill>
              </a:rPr>
              <a:t>……………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(go)</a:t>
            </a:r>
            <a:r>
              <a:rPr lang="en-US" sz="2000" dirty="0">
                <a:solidFill>
                  <a:schemeClr val="tx1"/>
                </a:solidFill>
              </a:rPr>
              <a:t> off three times this month.</a:t>
            </a:r>
            <a:endParaRPr lang="en-US" sz="2000" dirty="0"/>
          </a:p>
        </p:txBody>
      </p:sp>
      <p:sp>
        <p:nvSpPr>
          <p:cNvPr id="7" name="aside"/>
          <p:cNvSpPr/>
          <p:nvPr/>
        </p:nvSpPr>
        <p:spPr>
          <a:xfrm>
            <a:off x="8439912" y="1481328"/>
            <a:ext cx="3200400" cy="4809744"/>
          </a:xfrm>
          <a:prstGeom prst="roundRect">
            <a:avLst>
              <a:gd name="adj" fmla="val 228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06840" y="163677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04504" y="2075688"/>
            <a:ext cx="287121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has</a:t>
            </a:r>
            <a:r>
              <a:rPr lang="en-US" sz="1800" dirty="0">
                <a:solidFill>
                  <a:schemeClr val="tx1"/>
                </a:solidFill>
              </a:rPr>
              <a:t> after he / she / it / a singular noun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Negative: </a:t>
            </a:r>
            <a:r>
              <a:rPr lang="en-US" sz="1800" b="1" dirty="0">
                <a:solidFill>
                  <a:schemeClr val="tx1"/>
                </a:solidFill>
              </a:rPr>
              <a:t>hasn’t / haven’t</a:t>
            </a:r>
            <a:r>
              <a:rPr lang="en-US" sz="1800" dirty="0">
                <a:solidFill>
                  <a:schemeClr val="tx1"/>
                </a:solidFill>
              </a:rPr>
              <a:t> + participle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Irregular: </a:t>
            </a:r>
            <a:r>
              <a:rPr lang="en-US" sz="1800" i="1" dirty="0">
                <a:solidFill>
                  <a:schemeClr val="tx1"/>
                </a:solidFill>
              </a:rPr>
              <a:t>taken, broken, written, gone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Fill the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571232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You are holding the marker. Complete each line with the form that says </a:t>
            </a:r>
            <a:r>
              <a:rPr lang="en-US" sz="1600" b="1" i="1" dirty="0">
                <a:solidFill>
                  <a:schemeClr val="accent5"/>
                </a:solidFill>
              </a:rPr>
              <a:t>where we stand now</a:t>
            </a:r>
            <a:r>
              <a:rPr lang="en-US" sz="1600" i="1" dirty="0">
                <a:solidFill>
                  <a:schemeClr val="accent5"/>
                </a:solidFill>
              </a:rPr>
              <a:t> — not what happened yesterday.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170176"/>
            <a:ext cx="7571232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1.  </a:t>
            </a:r>
            <a:r>
              <a:rPr lang="en-US" sz="2000" dirty="0">
                <a:solidFill>
                  <a:schemeClr val="tx1"/>
                </a:solidFill>
              </a:rPr>
              <a:t>Iris </a:t>
            </a:r>
            <a:r>
              <a:rPr lang="en-US" sz="2000" b="1" dirty="0">
                <a:solidFill>
                  <a:schemeClr val="accent3"/>
                </a:solidFill>
              </a:rPr>
              <a:t>has taken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(take)</a:t>
            </a:r>
            <a:r>
              <a:rPr lang="en-US" sz="2000" dirty="0">
                <a:solidFill>
                  <a:schemeClr val="tx1"/>
                </a:solidFill>
              </a:rPr>
              <a:t> the photographs.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2.  </a:t>
            </a:r>
            <a:r>
              <a:rPr lang="en-US" sz="2000" dirty="0">
                <a:solidFill>
                  <a:schemeClr val="tx1"/>
                </a:solidFill>
              </a:rPr>
              <a:t>Samuel </a:t>
            </a:r>
            <a:r>
              <a:rPr lang="en-US" sz="2000" b="1" dirty="0">
                <a:solidFill>
                  <a:schemeClr val="accent3"/>
                </a:solidFill>
              </a:rPr>
              <a:t>has looked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(look)</a:t>
            </a:r>
            <a:r>
              <a:rPr lang="en-US" sz="2000" dirty="0">
                <a:solidFill>
                  <a:schemeClr val="tx1"/>
                </a:solidFill>
              </a:rPr>
              <a:t> at the logs, but he </a:t>
            </a:r>
            <a:r>
              <a:rPr lang="en-US" sz="2000" b="1" dirty="0">
                <a:solidFill>
                  <a:schemeClr val="accent3"/>
                </a:solidFill>
              </a:rPr>
              <a:t>hasn’t checked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(not check)</a:t>
            </a:r>
            <a:r>
              <a:rPr lang="en-US" sz="2000" dirty="0">
                <a:solidFill>
                  <a:schemeClr val="tx1"/>
                </a:solidFill>
              </a:rPr>
              <a:t> the basement.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3.  </a:t>
            </a:r>
            <a:r>
              <a:rPr lang="en-US" sz="2000" dirty="0">
                <a:solidFill>
                  <a:schemeClr val="tx1"/>
                </a:solidFill>
              </a:rPr>
              <a:t>Nobody </a:t>
            </a:r>
            <a:r>
              <a:rPr lang="en-US" sz="2000" b="1" dirty="0">
                <a:solidFill>
                  <a:schemeClr val="accent3"/>
                </a:solidFill>
              </a:rPr>
              <a:t>has told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(tell)</a:t>
            </a:r>
            <a:r>
              <a:rPr lang="en-US" sz="2000" dirty="0">
                <a:solidFill>
                  <a:schemeClr val="tx1"/>
                </a:solidFill>
              </a:rPr>
              <a:t> the insurer.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4.  </a:t>
            </a:r>
            <a:r>
              <a:rPr lang="en-US" sz="2000" dirty="0">
                <a:solidFill>
                  <a:schemeClr val="tx1"/>
                </a:solidFill>
              </a:rPr>
              <a:t>The contractor </a:t>
            </a:r>
            <a:r>
              <a:rPr lang="en-US" sz="2000" b="1" dirty="0">
                <a:solidFill>
                  <a:schemeClr val="accent3"/>
                </a:solidFill>
              </a:rPr>
              <a:t>hasn’t sent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(not send)</a:t>
            </a:r>
            <a:r>
              <a:rPr lang="en-US" sz="2000" dirty="0">
                <a:solidFill>
                  <a:schemeClr val="tx1"/>
                </a:solidFill>
              </a:rPr>
              <a:t> a written statement.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5.  </a:t>
            </a:r>
            <a:r>
              <a:rPr lang="en-US" sz="2000" dirty="0">
                <a:solidFill>
                  <a:schemeClr val="tx1"/>
                </a:solidFill>
              </a:rPr>
              <a:t>Two units </a:t>
            </a:r>
            <a:r>
              <a:rPr lang="en-US" sz="2000" b="1" dirty="0">
                <a:solidFill>
                  <a:schemeClr val="accent3"/>
                </a:solidFill>
              </a:rPr>
              <a:t>have broken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(break)</a:t>
            </a:r>
            <a:r>
              <a:rPr lang="en-US" sz="2000" dirty="0">
                <a:solidFill>
                  <a:schemeClr val="tx1"/>
                </a:solidFill>
              </a:rPr>
              <a:t> down.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6.  </a:t>
            </a:r>
            <a:r>
              <a:rPr lang="en-US" sz="2000" dirty="0">
                <a:solidFill>
                  <a:schemeClr val="tx1"/>
                </a:solidFill>
              </a:rPr>
              <a:t>We </a:t>
            </a:r>
            <a:r>
              <a:rPr lang="en-US" sz="2000" b="1" dirty="0">
                <a:solidFill>
                  <a:schemeClr val="accent3"/>
                </a:solidFill>
              </a:rPr>
              <a:t>haven’t received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(not receive)</a:t>
            </a:r>
            <a:r>
              <a:rPr lang="en-US" sz="2000" dirty="0">
                <a:solidFill>
                  <a:schemeClr val="tx1"/>
                </a:solidFill>
              </a:rPr>
              <a:t> the estimate.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7.  </a:t>
            </a:r>
            <a:r>
              <a:rPr lang="en-US" sz="2000" dirty="0">
                <a:solidFill>
                  <a:schemeClr val="tx1"/>
                </a:solidFill>
              </a:rPr>
              <a:t>I </a:t>
            </a:r>
            <a:r>
              <a:rPr lang="en-US" sz="2000" b="1" dirty="0">
                <a:solidFill>
                  <a:schemeClr val="accent3"/>
                </a:solidFill>
              </a:rPr>
              <a:t>have written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(write)</a:t>
            </a:r>
            <a:r>
              <a:rPr lang="en-US" sz="2000" dirty="0">
                <a:solidFill>
                  <a:schemeClr val="tx1"/>
                </a:solidFill>
              </a:rPr>
              <a:t> to the site manager twice.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8.  </a:t>
            </a:r>
            <a:r>
              <a:rPr lang="en-US" sz="2000" dirty="0">
                <a:solidFill>
                  <a:schemeClr val="tx1"/>
                </a:solidFill>
              </a:rPr>
              <a:t>The humidity alarm </a:t>
            </a:r>
            <a:r>
              <a:rPr lang="en-US" sz="2000" b="1" dirty="0">
                <a:solidFill>
                  <a:schemeClr val="accent3"/>
                </a:solidFill>
              </a:rPr>
              <a:t>has gone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i="1" dirty="0">
                <a:solidFill>
                  <a:schemeClr val="tx1"/>
                </a:solidFill>
              </a:rPr>
              <a:t>(go)</a:t>
            </a:r>
            <a:r>
              <a:rPr lang="en-US" sz="2000" dirty="0">
                <a:solidFill>
                  <a:schemeClr val="tx1"/>
                </a:solidFill>
              </a:rPr>
              <a:t> off three times this month.</a:t>
            </a:r>
            <a:endParaRPr lang="en-US" sz="2000" dirty="0"/>
          </a:p>
        </p:txBody>
      </p:sp>
      <p:sp>
        <p:nvSpPr>
          <p:cNvPr id="8" name="aside"/>
          <p:cNvSpPr/>
          <p:nvPr/>
        </p:nvSpPr>
        <p:spPr>
          <a:xfrm>
            <a:off x="8439912" y="1481328"/>
            <a:ext cx="3200400" cy="4809744"/>
          </a:xfrm>
          <a:prstGeom prst="roundRect">
            <a:avLst>
              <a:gd name="adj" fmla="val 228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006840" y="163677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04504" y="2075688"/>
            <a:ext cx="287121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Nobody has told</a:t>
            </a:r>
            <a:r>
              <a:rPr lang="en-US" sz="1800" dirty="0">
                <a:solidFill>
                  <a:schemeClr val="tx1"/>
                </a:solidFill>
              </a:rPr>
              <a:t> — </a:t>
            </a:r>
            <a:r>
              <a:rPr lang="en-US" sz="1800" i="1" dirty="0">
                <a:solidFill>
                  <a:schemeClr val="tx1"/>
                </a:solidFill>
              </a:rPr>
              <a:t>nobody</a:t>
            </a:r>
            <a:r>
              <a:rPr lang="en-US" sz="1800" dirty="0">
                <a:solidFill>
                  <a:schemeClr val="tx1"/>
                </a:solidFill>
              </a:rPr>
              <a:t> is already negative.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this month</a:t>
            </a:r>
            <a:r>
              <a:rPr lang="en-US" sz="1800" dirty="0">
                <a:solidFill>
                  <a:schemeClr val="tx1"/>
                </a:solidFill>
              </a:rPr>
              <a:t> = period not finished → present perfect.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Already, yet, just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19</a:t>
            </a:r>
            <a:endParaRPr lang="en-US" sz="1200" dirty="0"/>
          </a:p>
        </p:txBody>
      </p:sp>
      <p:pic>
        <p:nvPicPr>
          <p:cNvPr id="5" name="illustration" descr="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205472" cy="4800733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6" name="aside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tx2">
              <a:alpha val="10000"/>
            </a:schemeClr>
          </a:solidFill>
          <a:ln w="12700">
            <a:solidFill>
              <a:schemeClr val="tx2">
                <a:alpha val="60000"/>
              </a:scheme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1664208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41080" y="163677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THREE WORDS, THREE RULES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38744" y="2075688"/>
            <a:ext cx="323697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ALREADY</a:t>
            </a:r>
            <a:r>
              <a:rPr lang="en-US" sz="1800" dirty="0">
                <a:solidFill>
                  <a:schemeClr val="tx1"/>
                </a:solidFill>
              </a:rPr>
              <a:t> — between </a:t>
            </a:r>
            <a:r>
              <a:rPr lang="en-US" sz="1800" i="1" dirty="0">
                <a:solidFill>
                  <a:schemeClr val="tx1"/>
                </a:solidFill>
              </a:rPr>
              <a:t>have</a:t>
            </a:r>
            <a:r>
              <a:rPr lang="en-US" sz="1800" dirty="0">
                <a:solidFill>
                  <a:schemeClr val="tx1"/>
                </a:solidFill>
              </a:rPr>
              <a:t> and the participle: </a:t>
            </a:r>
            <a:r>
              <a:rPr lang="en-US" sz="1800" i="1" dirty="0">
                <a:solidFill>
                  <a:schemeClr val="tx1"/>
                </a:solidFill>
              </a:rPr>
              <a:t>Iris has </a:t>
            </a:r>
            <a:r>
              <a:rPr lang="en-US" sz="1800" b="1" i="1" dirty="0">
                <a:solidFill>
                  <a:schemeClr val="tx1"/>
                </a:solidFill>
              </a:rPr>
              <a:t>already</a:t>
            </a:r>
            <a:r>
              <a:rPr lang="en-US" sz="1800" i="1" dirty="0">
                <a:solidFill>
                  <a:schemeClr val="tx1"/>
                </a:solidFill>
              </a:rPr>
              <a:t> taken the photographs.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YET</a:t>
            </a:r>
            <a:r>
              <a:rPr lang="en-US" sz="1800" dirty="0">
                <a:solidFill>
                  <a:schemeClr val="tx1"/>
                </a:solidFill>
              </a:rPr>
              <a:t> — at the end; negatives and questions: </a:t>
            </a:r>
            <a:r>
              <a:rPr lang="en-US" sz="1800" i="1" dirty="0">
                <a:solidFill>
                  <a:schemeClr val="tx1"/>
                </a:solidFill>
              </a:rPr>
              <a:t>Nobody has checked the basement </a:t>
            </a:r>
            <a:r>
              <a:rPr lang="en-US" sz="1800" b="1" i="1" dirty="0">
                <a:solidFill>
                  <a:schemeClr val="tx1"/>
                </a:solidFill>
              </a:rPr>
              <a:t>yet</a:t>
            </a:r>
            <a:r>
              <a:rPr lang="en-US" sz="1800" i="1" dirty="0">
                <a:solidFill>
                  <a:schemeClr val="tx1"/>
                </a:solidFill>
              </a:rPr>
              <a:t>. Has anyone told the insurer </a:t>
            </a:r>
            <a:r>
              <a:rPr lang="en-US" sz="1800" b="1" i="1" dirty="0">
                <a:solidFill>
                  <a:schemeClr val="tx1"/>
                </a:solidFill>
              </a:rPr>
              <a:t>yet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JUST</a:t>
            </a:r>
            <a:r>
              <a:rPr lang="en-US" sz="1800" dirty="0">
                <a:solidFill>
                  <a:schemeClr val="tx1"/>
                </a:solidFill>
              </a:rPr>
              <a:t> — between </a:t>
            </a:r>
            <a:r>
              <a:rPr lang="en-US" sz="1800" i="1" dirty="0">
                <a:solidFill>
                  <a:schemeClr val="tx1"/>
                </a:solidFill>
              </a:rPr>
              <a:t>have</a:t>
            </a:r>
            <a:r>
              <a:rPr lang="en-US" sz="1800" dirty="0">
                <a:solidFill>
                  <a:schemeClr val="tx1"/>
                </a:solidFill>
              </a:rPr>
              <a:t> and the participle (= very recently): </a:t>
            </a:r>
            <a:r>
              <a:rPr lang="en-US" sz="1800" i="1" dirty="0">
                <a:solidFill>
                  <a:schemeClr val="tx1"/>
                </a:solidFill>
              </a:rPr>
              <a:t>I’ve </a:t>
            </a:r>
            <a:r>
              <a:rPr lang="en-US" sz="1800" b="1" i="1" dirty="0">
                <a:solidFill>
                  <a:schemeClr val="tx1"/>
                </a:solidFill>
              </a:rPr>
              <a:t>just</a:t>
            </a:r>
            <a:r>
              <a:rPr lang="en-US" sz="1800" i="1" dirty="0">
                <a:solidFill>
                  <a:schemeClr val="tx1"/>
                </a:solidFill>
              </a:rPr>
              <a:t> come back.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dirty="0">
                <a:solidFill>
                  <a:schemeClr val="tx1"/>
                </a:solidFill>
              </a:rPr>
              <a:t>has taken already</a:t>
            </a:r>
            <a:r>
              <a:rPr lang="en-US" sz="1800" dirty="0">
                <a:solidFill>
                  <a:schemeClr val="tx1"/>
                </a:solidFill>
              </a:rPr>
              <a:t> — French trap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board will not accept a wrong form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19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A · Build the form: have or has + participle.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1. The site manager </a:t>
            </a:r>
            <a:r>
              <a:rPr lang="en-US" sz="2100" dirty="0">
                <a:solidFill>
                  <a:schemeClr val="accent5"/>
                </a:solidFill>
              </a:rPr>
              <a:t>……………………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i="1" dirty="0">
                <a:solidFill>
                  <a:schemeClr val="tx1"/>
                </a:solidFill>
              </a:rPr>
              <a:t>(not answer)</a:t>
            </a:r>
            <a:r>
              <a:rPr lang="en-US" sz="2100" dirty="0">
                <a:solidFill>
                  <a:schemeClr val="tx1"/>
                </a:solidFill>
              </a:rPr>
              <a:t> my two messages.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2. We </a:t>
            </a:r>
            <a:r>
              <a:rPr lang="en-US" sz="2100" dirty="0">
                <a:solidFill>
                  <a:schemeClr val="accent5"/>
                </a:solidFill>
              </a:rPr>
              <a:t>……………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i="1" dirty="0">
                <a:solidFill>
                  <a:schemeClr val="tx1"/>
                </a:solidFill>
              </a:rPr>
              <a:t>(be)</a:t>
            </a:r>
            <a:r>
              <a:rPr lang="en-US" sz="2100" dirty="0">
                <a:solidFill>
                  <a:schemeClr val="tx1"/>
                </a:solidFill>
              </a:rPr>
              <a:t> here since seven o’clock.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3. The insurer </a:t>
            </a:r>
            <a:r>
              <a:rPr lang="en-US" sz="2100" dirty="0">
                <a:solidFill>
                  <a:schemeClr val="accent5"/>
                </a:solidFill>
              </a:rPr>
              <a:t>……………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i="1" dirty="0">
                <a:solidFill>
                  <a:schemeClr val="tx1"/>
                </a:solidFill>
              </a:rPr>
              <a:t>(send)</a:t>
            </a:r>
            <a:r>
              <a:rPr lang="en-US" sz="2100" dirty="0">
                <a:solidFill>
                  <a:schemeClr val="tx1"/>
                </a:solidFill>
              </a:rPr>
              <a:t> a first acknowledgement.</a:t>
            </a:r>
            <a:endParaRPr lang="en-US" sz="21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B · Put the adverb where it belongs.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1. Iris has photographed the ceiling. </a:t>
            </a:r>
            <a:r>
              <a:rPr lang="en-US" sz="2100" i="1" dirty="0">
                <a:solidFill>
                  <a:schemeClr val="tx1"/>
                </a:solidFill>
              </a:rPr>
              <a:t>(already)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2. Has the contractor answered? </a:t>
            </a:r>
            <a:r>
              <a:rPr lang="en-US" sz="2100" i="1" dirty="0">
                <a:solidFill>
                  <a:schemeClr val="tx1"/>
                </a:solidFill>
              </a:rPr>
              <a:t>(yet)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3. Samuel has come back from the basement. </a:t>
            </a:r>
            <a:r>
              <a:rPr lang="en-US" sz="2100" i="1" dirty="0">
                <a:solidFill>
                  <a:schemeClr val="tx1"/>
                </a:solidFill>
              </a:rPr>
              <a:t>(just)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4. We have not received the estimate. </a:t>
            </a:r>
            <a:r>
              <a:rPr lang="en-US" sz="2100" i="1" dirty="0">
                <a:solidFill>
                  <a:schemeClr val="tx1"/>
                </a:solidFill>
              </a:rPr>
              <a:t>(yet)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board will not accept a wrong form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19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A · Build the form: have or has + participle.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1. The site manager </a:t>
            </a:r>
            <a:r>
              <a:rPr lang="en-US" sz="2100" b="1" dirty="0">
                <a:solidFill>
                  <a:schemeClr val="accent3"/>
                </a:solidFill>
              </a:rPr>
              <a:t>hasn’t answered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i="1" dirty="0">
                <a:solidFill>
                  <a:schemeClr val="tx1"/>
                </a:solidFill>
              </a:rPr>
              <a:t>(not answer)</a:t>
            </a:r>
            <a:r>
              <a:rPr lang="en-US" sz="2100" dirty="0">
                <a:solidFill>
                  <a:schemeClr val="tx1"/>
                </a:solidFill>
              </a:rPr>
              <a:t> my two messages.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2. We </a:t>
            </a:r>
            <a:r>
              <a:rPr lang="en-US" sz="2100" b="1" dirty="0">
                <a:solidFill>
                  <a:schemeClr val="accent3"/>
                </a:solidFill>
              </a:rPr>
              <a:t>have been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i="1" dirty="0">
                <a:solidFill>
                  <a:schemeClr val="tx1"/>
                </a:solidFill>
              </a:rPr>
              <a:t>(be)</a:t>
            </a:r>
            <a:r>
              <a:rPr lang="en-US" sz="2100" dirty="0">
                <a:solidFill>
                  <a:schemeClr val="tx1"/>
                </a:solidFill>
              </a:rPr>
              <a:t> here since seven o’clock.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3. The insurer </a:t>
            </a:r>
            <a:r>
              <a:rPr lang="en-US" sz="2100" b="1" dirty="0">
                <a:solidFill>
                  <a:schemeClr val="accent3"/>
                </a:solidFill>
              </a:rPr>
              <a:t>has sent</a:t>
            </a:r>
            <a:r>
              <a:rPr lang="en-US" sz="2100" dirty="0">
                <a:solidFill>
                  <a:schemeClr val="tx1"/>
                </a:solidFill>
              </a:rPr>
              <a:t> </a:t>
            </a:r>
            <a:r>
              <a:rPr lang="en-US" sz="2100" i="1" dirty="0">
                <a:solidFill>
                  <a:schemeClr val="tx1"/>
                </a:solidFill>
              </a:rPr>
              <a:t>(send)</a:t>
            </a:r>
            <a:r>
              <a:rPr lang="en-US" sz="2100" dirty="0">
                <a:solidFill>
                  <a:schemeClr val="tx1"/>
                </a:solidFill>
              </a:rPr>
              <a:t> a first acknowledgement.</a:t>
            </a:r>
            <a:endParaRPr lang="en-US" sz="21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B · Put the adverb where it belongs.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1. Iris has photographed the ceiling. </a:t>
            </a:r>
            <a:r>
              <a:rPr lang="en-US" sz="2100" i="1" dirty="0">
                <a:solidFill>
                  <a:schemeClr val="tx1"/>
                </a:solidFill>
              </a:rPr>
              <a:t>(already)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Iris has already photographed the ceiling.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2. Has the contractor answered? </a:t>
            </a:r>
            <a:r>
              <a:rPr lang="en-US" sz="2100" i="1" dirty="0">
                <a:solidFill>
                  <a:schemeClr val="tx1"/>
                </a:solidFill>
              </a:rPr>
              <a:t>(yet)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Has the contractor answered yet?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3. Samuel has come back from the basement. </a:t>
            </a:r>
            <a:r>
              <a:rPr lang="en-US" sz="2100" i="1" dirty="0">
                <a:solidFill>
                  <a:schemeClr val="tx1"/>
                </a:solidFill>
              </a:rPr>
              <a:t>(just)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Samuel has just come back from the basement.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4. We have not received the estimate. </a:t>
            </a:r>
            <a:r>
              <a:rPr lang="en-US" sz="2100" i="1" dirty="0">
                <a:solidFill>
                  <a:schemeClr val="tx1"/>
                </a:solidFill>
              </a:rPr>
              <a:t>(yet)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We have not received the estimate yet.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Yesterday or now?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Choose. Three minutes: a false form will remain on nine phones.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dirty="0">
                <a:solidFill>
                  <a:schemeClr val="tx1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has gone off</a:t>
            </a:r>
            <a:r>
              <a:rPr lang="en-US" sz="2400" dirty="0">
                <a:solidFill>
                  <a:schemeClr val="tx1"/>
                </a:solidFill>
              </a:rPr>
              <a:t> at 11.41 p.m.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dirty="0">
                <a:solidFill>
                  <a:schemeClr val="tx1"/>
                </a:solidFill>
              </a:rPr>
              <a:t>told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has told</a:t>
            </a:r>
            <a:r>
              <a:rPr lang="en-US" sz="2400" dirty="0">
                <a:solidFill>
                  <a:schemeClr val="tx1"/>
                </a:solidFill>
              </a:rPr>
              <a:t> the insurer — she is still waiting.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team </a:t>
            </a:r>
            <a:r>
              <a:rPr lang="en-US" sz="2400" dirty="0">
                <a:solidFill>
                  <a:schemeClr val="tx1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has left</a:t>
            </a:r>
            <a:r>
              <a:rPr lang="en-US" sz="2400" dirty="0">
                <a:solidFill>
                  <a:schemeClr val="tx1"/>
                </a:solidFill>
              </a:rPr>
              <a:t> the site at 19.58.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 </a:t>
            </a:r>
            <a:r>
              <a:rPr lang="en-US" sz="2400" dirty="0">
                <a:solidFill>
                  <a:schemeClr val="tx1"/>
                </a:solidFill>
              </a:rPr>
              <a:t>saw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have seen</a:t>
            </a:r>
            <a:r>
              <a:rPr lang="en-US" sz="2400" dirty="0">
                <a:solidFill>
                  <a:schemeClr val="tx1"/>
                </a:solidFill>
              </a:rPr>
              <a:t> the damage, so I can describe it.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Yesterday or now?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Choose. Three minutes: a false form will remain on nine phones.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b="1" dirty="0">
                <a:solidFill>
                  <a:schemeClr val="accent3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strike="sngStrike" dirty="0">
                <a:solidFill>
                  <a:schemeClr val="accent6"/>
                </a:solidFill>
              </a:rPr>
              <a:t>has gone off</a:t>
            </a:r>
            <a:r>
              <a:rPr lang="en-US" sz="2400" dirty="0">
                <a:solidFill>
                  <a:schemeClr val="tx1"/>
                </a:solidFill>
              </a:rPr>
              <a:t> at 11.41 p.m.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strike="sngStrike" dirty="0">
                <a:solidFill>
                  <a:schemeClr val="accent6"/>
                </a:solidFill>
              </a:rPr>
              <a:t>told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has told</a:t>
            </a:r>
            <a:r>
              <a:rPr lang="en-US" sz="2400" dirty="0">
                <a:solidFill>
                  <a:schemeClr val="tx1"/>
                </a:solidFill>
              </a:rPr>
              <a:t> the insurer — she is still waiting.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team </a:t>
            </a:r>
            <a:r>
              <a:rPr lang="en-US" sz="2400" b="1" dirty="0">
                <a:solidFill>
                  <a:schemeClr val="accent3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strike="sngStrike" dirty="0">
                <a:solidFill>
                  <a:schemeClr val="accent6"/>
                </a:solidFill>
              </a:rPr>
              <a:t>has left</a:t>
            </a:r>
            <a:r>
              <a:rPr lang="en-US" sz="2400" dirty="0">
                <a:solidFill>
                  <a:schemeClr val="tx1"/>
                </a:solidFill>
              </a:rPr>
              <a:t> the site at 19.58.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 </a:t>
            </a:r>
            <a:r>
              <a:rPr lang="en-US" sz="2400" strike="sngStrike" dirty="0">
                <a:solidFill>
                  <a:schemeClr val="accent6"/>
                </a:solidFill>
              </a:rPr>
              <a:t>saw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have seen</a:t>
            </a:r>
            <a:r>
              <a:rPr lang="en-US" sz="2400" dirty="0">
                <a:solidFill>
                  <a:schemeClr val="tx1"/>
                </a:solidFill>
              </a:rPr>
              <a:t> the damage, so I can describe it.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b="1" dirty="0">
                <a:solidFill>
                  <a:schemeClr val="tx1"/>
                </a:solidFill>
              </a:rPr>
              <a:t>time</a:t>
            </a:r>
            <a:r>
              <a:rPr lang="en-US" sz="1800" dirty="0">
                <a:solidFill>
                  <a:schemeClr val="tx1"/>
                </a:solidFill>
              </a:rPr>
              <a:t> (at 11.41, at 19.58) → past simple.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b="1" dirty="0">
                <a:solidFill>
                  <a:schemeClr val="tx1"/>
                </a:solidFill>
              </a:rPr>
              <a:t>result now</a:t>
            </a:r>
            <a:r>
              <a:rPr lang="en-US" sz="1800" dirty="0">
                <a:solidFill>
                  <a:schemeClr val="tx1"/>
                </a:solidFill>
              </a:rPr>
              <a:t> (she is still waiting; I can describe it) → present perfect.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Signal words: finished time or up to now?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18–19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225796" cy="4809744"/>
          </a:xfrm>
          <a:prstGeom prst="roundRect">
            <a:avLst>
              <a:gd name="adj" fmla="val 1901"/>
            </a:avLst>
          </a:prstGeom>
          <a:solidFill>
            <a:schemeClr val="accent1">
              <a:alpha val="8000"/>
            </a:schemeClr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824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PAST SIMPLE — finished time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04288"/>
            <a:ext cx="4768596" cy="384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at 11.41 p.m. · at 19.58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yesterday · last night · last November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two hours </a:t>
            </a:r>
            <a:r>
              <a:rPr lang="en-US" sz="2000" b="1" dirty="0">
                <a:solidFill>
                  <a:schemeClr val="tx1"/>
                </a:solidFill>
              </a:rPr>
              <a:t>ago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i="1" dirty="0">
                <a:solidFill>
                  <a:schemeClr val="tx1"/>
                </a:solidFill>
              </a:rPr>
              <a:t>When did…?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14516" y="1481328"/>
            <a:ext cx="5225796" cy="4809744"/>
          </a:xfrm>
          <a:prstGeom prst="roundRect">
            <a:avLst>
              <a:gd name="adj" fmla="val 1901"/>
            </a:avLst>
          </a:prstGeom>
          <a:solidFill>
            <a:schemeClr val="accent3">
              <a:alpha val="8000"/>
            </a:schemeClr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16824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46036" y="161848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PRESENT PERFECT — up to now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43116" y="2304288"/>
            <a:ext cx="4768596" cy="384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already · yet · just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 · never · so far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this morning (still morning) · this month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twice · three times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i="1" dirty="0">
                <a:solidFill>
                  <a:schemeClr val="tx1"/>
                </a:solidFill>
              </a:rPr>
              <a:t>Have you… yet?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838444" y="363016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38444" y="3630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Past simple or present perfect?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(restore)</a:t>
            </a:r>
            <a:r>
              <a:rPr lang="en-US" sz="2400" dirty="0">
                <a:solidFill>
                  <a:schemeClr val="tx1"/>
                </a:solidFill>
              </a:rPr>
              <a:t> the backup at 9 a.m.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We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(not receive)</a:t>
            </a:r>
            <a:r>
              <a:rPr lang="en-US" sz="2400" dirty="0">
                <a:solidFill>
                  <a:schemeClr val="tx1"/>
                </a:solidFill>
              </a:rPr>
              <a:t> the estimate yet.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insurer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(call)</a:t>
            </a:r>
            <a:r>
              <a:rPr lang="en-US" sz="2400" dirty="0">
                <a:solidFill>
                  <a:schemeClr val="tx1"/>
                </a:solidFill>
              </a:rPr>
              <a:t> twice this morning.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(write)</a:t>
            </a:r>
            <a:r>
              <a:rPr lang="en-US" sz="2400" dirty="0">
                <a:solidFill>
                  <a:schemeClr val="tx1"/>
                </a:solidFill>
              </a:rPr>
              <a:t> to the site manager yesterday.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you ever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(see)</a:t>
            </a:r>
            <a:r>
              <a:rPr lang="en-US" sz="2400" dirty="0">
                <a:solidFill>
                  <a:schemeClr val="tx1"/>
                </a:solidFill>
              </a:rPr>
              <a:t> a leak like this?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(find)</a:t>
            </a:r>
            <a:r>
              <a:rPr lang="en-US" sz="2400" dirty="0">
                <a:solidFill>
                  <a:schemeClr val="tx1"/>
                </a:solidFill>
              </a:rPr>
              <a:t> the water at 6.50.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Past simple or present perfect?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b="1" dirty="0">
                <a:solidFill>
                  <a:schemeClr val="accent3"/>
                </a:solidFill>
              </a:rPr>
              <a:t>restored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(restore)</a:t>
            </a:r>
            <a:r>
              <a:rPr lang="en-US" sz="2400" dirty="0">
                <a:solidFill>
                  <a:schemeClr val="tx1"/>
                </a:solidFill>
              </a:rPr>
              <a:t> the backup at 9 a.m.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We </a:t>
            </a:r>
            <a:r>
              <a:rPr lang="en-US" sz="2400" b="1" dirty="0">
                <a:solidFill>
                  <a:schemeClr val="accent3"/>
                </a:solidFill>
              </a:rPr>
              <a:t>haven’t received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(not receive)</a:t>
            </a:r>
            <a:r>
              <a:rPr lang="en-US" sz="2400" dirty="0">
                <a:solidFill>
                  <a:schemeClr val="tx1"/>
                </a:solidFill>
              </a:rPr>
              <a:t> the estimate yet.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insurer </a:t>
            </a:r>
            <a:r>
              <a:rPr lang="en-US" sz="2400" b="1" dirty="0">
                <a:solidFill>
                  <a:schemeClr val="accent3"/>
                </a:solidFill>
              </a:rPr>
              <a:t>has called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(call)</a:t>
            </a:r>
            <a:r>
              <a:rPr lang="en-US" sz="2400" dirty="0">
                <a:solidFill>
                  <a:schemeClr val="tx1"/>
                </a:solidFill>
              </a:rPr>
              <a:t> twice this morning.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 </a:t>
            </a:r>
            <a:r>
              <a:rPr lang="en-US" sz="2400" b="1" dirty="0">
                <a:solidFill>
                  <a:schemeClr val="accent3"/>
                </a:solidFill>
              </a:rPr>
              <a:t>wrote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(write)</a:t>
            </a:r>
            <a:r>
              <a:rPr lang="en-US" sz="2400" dirty="0">
                <a:solidFill>
                  <a:schemeClr val="tx1"/>
                </a:solidFill>
              </a:rPr>
              <a:t> to the site manager yesterday.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b="1" dirty="0">
                <a:solidFill>
                  <a:schemeClr val="accent3"/>
                </a:solidFill>
              </a:rPr>
              <a:t>Have</a:t>
            </a:r>
            <a:r>
              <a:rPr lang="en-US" sz="2400" dirty="0">
                <a:solidFill>
                  <a:schemeClr val="tx1"/>
                </a:solidFill>
              </a:rPr>
              <a:t> you ever </a:t>
            </a:r>
            <a:r>
              <a:rPr lang="en-US" sz="2400" b="1" dirty="0">
                <a:solidFill>
                  <a:schemeClr val="accent3"/>
                </a:solidFill>
              </a:rPr>
              <a:t>seen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(see)</a:t>
            </a:r>
            <a:r>
              <a:rPr lang="en-US" sz="2400" dirty="0">
                <a:solidFill>
                  <a:schemeClr val="tx1"/>
                </a:solidFill>
              </a:rPr>
              <a:t> a leak like this?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b="1" dirty="0">
                <a:solidFill>
                  <a:schemeClr val="accent3"/>
                </a:solidFill>
              </a:rPr>
              <a:t>found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(find)</a:t>
            </a:r>
            <a:r>
              <a:rPr lang="en-US" sz="2400" dirty="0">
                <a:solidFill>
                  <a:schemeClr val="tx1"/>
                </a:solidFill>
              </a:rPr>
              <a:t> the water at 6.50.</a:t>
            </a:r>
            <a:endParaRPr lang="en-US" sz="2400" dirty="0"/>
          </a:p>
        </p:txBody>
      </p:sp>
      <p:sp>
        <p:nvSpPr>
          <p:cNvPr id="7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3: </a:t>
            </a:r>
            <a:r>
              <a:rPr lang="en-US" sz="1800" i="1" dirty="0">
                <a:solidFill>
                  <a:schemeClr val="tx1"/>
                </a:solidFill>
              </a:rPr>
              <a:t>this morning</a:t>
            </a:r>
            <a:r>
              <a:rPr lang="en-US" sz="1800" dirty="0">
                <a:solidFill>
                  <a:schemeClr val="tx1"/>
                </a:solidFill>
              </a:rPr>
              <a:t> — it is 09.40, the morning is not over → present perfect.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5: </a:t>
            </a:r>
            <a:r>
              <a:rPr lang="en-US" sz="1800" i="1" dirty="0">
                <a:solidFill>
                  <a:schemeClr val="tx1"/>
                </a:solidFill>
              </a:rPr>
              <a:t>ever</a:t>
            </a:r>
            <a:r>
              <a:rPr lang="en-US" sz="1800" dirty="0">
                <a:solidFill>
                  <a:schemeClr val="tx1"/>
                </a:solidFill>
              </a:rPr>
              <a:t> → present perfect.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“Ten o’clock update. Everybody is waiting for it.”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Five lines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, continuous text, no bullet points. Nine people will read it on their phones.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present perfect</a:t>
            </a:r>
            <a:r>
              <a:rPr lang="en-US" sz="1700" dirty="0">
                <a:solidFill>
                  <a:schemeClr val="tx1"/>
                </a:solidFill>
              </a:rPr>
              <a:t> (form + already / yet / just).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Write 3 </a:t>
            </a:r>
            <a:r>
              <a:rPr lang="en-US" sz="1700" b="1" dirty="0">
                <a:solidFill>
                  <a:schemeClr val="tx1"/>
                </a:solidFill>
              </a:rPr>
              <a:t>DONE</a:t>
            </a:r>
            <a:r>
              <a:rPr lang="en-US" sz="1700" dirty="0">
                <a:solidFill>
                  <a:schemeClr val="tx1"/>
                </a:solidFill>
              </a:rPr>
              <a:t> and 3 </a:t>
            </a:r>
            <a:r>
              <a:rPr lang="en-US" sz="1700" b="1" dirty="0">
                <a:solidFill>
                  <a:schemeClr val="tx1"/>
                </a:solidFill>
              </a:rPr>
              <a:t>NOT YET</a:t>
            </a:r>
            <a:r>
              <a:rPr lang="en-US" sz="1700" dirty="0">
                <a:solidFill>
                  <a:schemeClr val="tx1"/>
                </a:solidFill>
              </a:rPr>
              <a:t> lines about your own week.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Read p. 21 (Word file: progress expressions).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line for </a:t>
            </a:r>
            <a:r>
              <a:rPr lang="en-US" sz="1600" b="1" dirty="0">
                <a:solidFill>
                  <a:schemeClr val="bg1"/>
                </a:solidFill>
              </a:rPr>
              <a:t>DONE</a:t>
            </a:r>
            <a:r>
              <a:rPr lang="en-US" sz="1600" dirty="0">
                <a:solidFill>
                  <a:schemeClr val="bg1"/>
                </a:solidFill>
              </a:rPr>
              <a:t>, one for </a:t>
            </a:r>
            <a:r>
              <a:rPr lang="en-US" sz="1600" b="1" dirty="0">
                <a:solidFill>
                  <a:schemeClr val="bg1"/>
                </a:solidFill>
              </a:rPr>
              <a:t>NOT YET</a:t>
            </a:r>
            <a:r>
              <a:rPr lang="en-US" sz="1600" dirty="0">
                <a:solidFill>
                  <a:schemeClr val="bg1"/>
                </a:solidFill>
              </a:rPr>
              <a:t> — about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09 — The board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