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fa0786f-7b90-c4e6-4691-9e2bcba951c6}">
          <p14:sldIdLst>
            <p14:sldId id="256"/>
          </p14:sldIdLst>
        </p14:section>
        <p14:section name="Warm-up" id="{67e85619-5ba1-4e08-d6c6-7305f4130336}">
          <p14:sldIdLst>
            <p14:sldId id="257"/>
            <p14:sldId id="258"/>
          </p14:sldIdLst>
        </p14:section>
        <p14:section name="Exhibit B, second reading" id="{339f30c8-0b93-da9f-c2cb-5cb213ef0cc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Fact or opinion?" id="{32d5c666-17fe-667b-de02-4f54d93f66fc}">
          <p14:sldIdLst>
            <p14:sldId id="272"/>
            <p14:sldId id="273"/>
            <p14:sldId id="274"/>
            <p14:sldId id="275"/>
            <p14:sldId id="276"/>
          </p14:sldIdLst>
        </p14:section>
        <p14:section name="Word file" id="{ea9f7a6e-d88d-1d91-f8ce-7d42fc3c2cd3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For or since? — a first look" id="{db5543a7-9513-6865-9290-963406183689}">
          <p14:sldIdLst>
            <p14:sldId id="284"/>
            <p14:sldId id="285"/>
            <p14:sldId id="286"/>
            <p14:sldId id="287"/>
            <p14:sldId id="288"/>
          </p14:sldIdLst>
        </p14:section>
        <p14:section name="Clôture" id="{e655a07d-46ed-41a4-e642-c46562e0ad61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12 — Scène 5 (10.20), livret p. 25–27 : relecture de l’Exhibit B « comme un assureur », les dix faux amis du dossier (Word file p. 26), Dry run p. 27 (dont un aperçu de for / since, traité en séance 13).
Nouveautés : chasse aux surligneurs (vert = vérifiable, rose = opinion) · diagramme de Venn Exhibit A / Exhibit B · balance « à qui profite la phrase ? » · six verbes de l’assureur (claim, admit, deny…) · classement fait / opinion / contredit · vrai ou faux des faux amis · choix binaire (Dry run A) · cartes-éclair (Dry run B) · règle et mètre ruban de for / since · ENERGIZER épingle / bras ouverts · GAME contre-interrogatoire.
Déroulé indicatif (90 min) : warm-up (5') · scène + surligneurs (10') · Q1–Q2 (10') · Venn + balance (10') · Q3–Q5 (10') · fait / opinion (15') · faux amis + Dry run A–B (15') · for / since + ENERGIZER + Dry run C (10') · clôture (5').
Les diapositives GAME, ENERGIZER et + EXTRA sont facultatives.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des sept faux amis de la séance 11 (et du prétérit). Faire lire chaque paire à voix haute : « He wrote controlled. He meant checked.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Réactivation des sept faux amis de la séance 11 (et du prétérit). Faire lire chaque paire à voix haute : « He wrote controlled. He meant checked.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claim = affirmer, prétendre (ce qu’on veut faire croire) ; to admit = reconnaître, admettre (ce qu’on concède, parfois malgré soi). C’est le fil de la séance : ce que l’e-mail reconnaît sans le vouloir.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corrigée de l’Exhibit B (séance 11). Travail individuel avec deux couleurs (ou souligné / entouré), 3 minutes, puis comparaison en binôme.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 = vérifiable (une heure, une action), pas forcément vrai. Rose = jugement de Verdier. « so we are not late » est une conclusion : c’est lui qui le 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30 secondes, vote à main levée (A, B, C, D), puis justification avec l’Exhibit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30 secondes, vote à main levée (A, B, C, D), puis justification avec l’Exhibit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aux surligneurs : la réponse est l’une des phrases 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L’option D et la question 5 citent « I have never seen this pipe before », phrase absente de l’Exhibit B tel qu’imprimé p. 23 : à ajouter au texte de l’e-mail ou à reformuler dans le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la séance 6 (lecture de l’Exhibit A). Faire placer les étiquettes par la classe, puis demander : « What does the e-mail NOT mention?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 le recoupement (BOTH) a la valeur d’un fait établi. Ce que Verdier ne mentionne pas : l’entrée du badge 0102 à 20.04 (site manager). Pas forcément une omission volontaire — son équipe était partie —, mais l’assesseur, lui, verra la fenêtre 19.58 → 23.41.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binôme, 2 minutes. Chaque binôme place une phrase au tableau et justifie : « It helps Verdier because…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Nuance à faire trouver : « The pipe is old » protège Verdier, mais peut nuire à notre dossier (usure = exclusion fréquente des contrats d’assurance). La phrase qui nous aide : un local sec à 19.58, une première alarme à 23.41 → un événement soudain.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en binôme avant correction. Q3 et Q4 admettent plusieurs réponses : exiger une justification tirée du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: la phrase citée n’apparaît pas dans l’Exhibit B imprimé (voir la note de la question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Vocabulaire hors livret, réutilisé dans le jeu de la fin de section. Prononciation : acknowledge /əkˈnɒlɪdʒ/, concede /kənˈsiːd/.
Piège : to deny + -ing (He denies causing it, ✗ to deny to cause) · to admit + -ing ou that (He admits leaving at 19.58).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 avec les verbes introducteurs (séance 6) et le langage de la preuve (séance 8). Faire lire chaque carte avec un exemple tiré du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groupes de trois, 4 minutes. Chaque groupe justifie avec les expressions de la diapositive précédente : « This is contradicted by the log: unit 3 shut down at 02:16.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séance 8 : « delivered » ne prouve pas que quelqu’un a lu le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Excuses possibles à souffler au premier « Verdier » : « My men never went near the ceiling. » (opinion) · « We left at seven. » (contredit : 19.58) · « The alarm system was broken. » (contredit : notification envoyée à 23:42) · « The floor was dry when we left. » (non confirmé).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Verdier en emploie sept ; voici les dix qui reviennent le plus dans un dossier de sinistre. Deux nouveaux par rapport à la séance 11 : issue et achieve. Faire produire une phrase du dossier : « The real issue is the pipe. » · « We have not achieved much so far.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Ardoises T / F, ou pouces. Pour chaque F, faire donner le bon mot ET le sens du faux 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Hors livret. Ardoises T / F, ou pouces. Pour chaque F, faire donner le bon mot ET le sens du faux 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1 à 5 : livret p. 27. Lignes 6 à 8 : ajoutées (hors livret) — les faux amis employés dans leur vrai sens.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 3 : delay = un retard, donc correct ici. Ligne 5 : demanded existe (= exigé) mais est trop agressif pour un rapport neutre. Ligne 7 : resume = reprendre (son vrai sens). Ligne 8 : sensible = raisonnable.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Cartes 1 à 3 : livret p. 27. Cartes 4 à 6 : ajoutées (hors livret). Jeu de vitesse : la première équipe qui donne la bonne réponse marque un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Cartes 1 à 3 : livret p. 27. Cartes 4 à 6 : ajoutées (hors livret). Jeu de vitesse : la première équipe qui donne la bonne réponse marque un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Aperçu seulement : for / since est traité en séance 13. L’épingle (since) marque le début ; le mètre ruban (for) mesure la durée jusqu’à maintenant.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les expressions dans le désordre et de plus en plus vite. Piège : « since I arrived » (une proposition peut être un point de départ).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Réponses libres : vérifier la cohérence for + durée / since + point de départ, et le present perfect (has been, have worked).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85800"/>
            <a:ext cx="2236470" cy="365760"/>
          </a:xfrm>
          <a:prstGeom prst="roundRect">
            <a:avLst>
              <a:gd name="adj" fmla="val 12500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SÉANCE 12 / 19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2"/>
                </a:solidFill>
              </a:rPr>
              <a:t>SCENE 5</a:t>
            </a:r>
            <a:endParaRPr lang="en-US" sz="11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10.20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51460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What does this e-mail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actually admit?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An insurer reads what an e-mail unintentionally concedes.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Case File 01 — The night nobody heard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Livret p. 25–27</a:t>
            </a:r>
            <a:endParaRPr lang="en-US" sz="1600" dirty="0"/>
          </a:p>
        </p:txBody>
      </p:sp>
      <p:pic>
        <p:nvPicPr>
          <p:cNvPr id="8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0136"/>
            <a:ext cx="5010912" cy="3340608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what he wrote → what he meant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Link Verdier’s words (left) to what he </a:t>
            </a:r>
            <a:r>
              <a:rPr lang="en-US" sz="1600" b="1" i="1" dirty="0">
                <a:solidFill>
                  <a:schemeClr val="accent5"/>
                </a:solidFill>
              </a:rPr>
              <a:t>meant</a:t>
            </a:r>
            <a:r>
              <a:rPr lang="en-US" sz="1600" i="1" dirty="0">
                <a:solidFill>
                  <a:schemeClr val="accent5"/>
                </a:solidFill>
              </a:rPr>
              <a:t> (right).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2860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23723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controlled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75539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041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275539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Actually, …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3223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327355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assist the meeting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79171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8404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379171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demanded them to come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430987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3586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430987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delay of two days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482803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8768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15568" y="482803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Eventually, …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34619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53949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115568" y="534619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resumed our position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86435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59131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15568" y="586435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when my team leaves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002670" y="223723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12398" y="22860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569598" y="223723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asked them to come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002670" y="275539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12398" y="280416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569598" y="275539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summarised our position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002670" y="327355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12398" y="33223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6569598" y="327355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checked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002670" y="379171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12398" y="384048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569598" y="379171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 my team left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6002670" y="430987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12398" y="435864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569598" y="430987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attend the meeting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002670" y="482803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12398" y="48768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569598" y="482803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If necessary, …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6002670" y="534619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12398" y="539496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569598" y="534619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Currently, …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6002670" y="586435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12398" y="59131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569598" y="586435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days left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4594494" y="2395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594494" y="29138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94494" y="34320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94494" y="39502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94494" y="446836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594494" y="49865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594494" y="55046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594494" y="60228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911230" y="23957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911230" y="29138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11230" y="34320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911230" y="395020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911230" y="446836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911230" y="49865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911230" y="550468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11230" y="602284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what he wrote → what he meant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Link Verdier’s words (left) to what he </a:t>
            </a:r>
            <a:r>
              <a:rPr lang="en-US" sz="1600" b="1" i="1" dirty="0">
                <a:solidFill>
                  <a:schemeClr val="accent5"/>
                </a:solidFill>
              </a:rPr>
              <a:t>meant</a:t>
            </a:r>
            <a:r>
              <a:rPr lang="en-US" sz="1600" i="1" dirty="0">
                <a:solidFill>
                  <a:schemeClr val="accent5"/>
                </a:solidFill>
              </a:rPr>
              <a:t> (right).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2860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223723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controlled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532888" y="2237232"/>
            <a:ext cx="198845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contrôler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5539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8041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275539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Actually, …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2755392"/>
            <a:ext cx="186958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actuellement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7355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3223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" y="327355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assist the meeting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483864" y="3273552"/>
            <a:ext cx="1037478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assister à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379171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384048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15568" y="379171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demanded them to come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606942" y="3791712"/>
            <a:ext cx="9144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demander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30987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435864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" y="430987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delay of two days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3602736" y="4309872"/>
            <a:ext cx="918606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un délai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82803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87680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15568" y="482803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Eventually, …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2889504" y="4828032"/>
            <a:ext cx="1631838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éventuellement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534619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539496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115568" y="534619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resumed our position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3606942" y="5346192"/>
            <a:ext cx="91440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résumer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5864352"/>
            <a:ext cx="4082430" cy="445008"/>
          </a:xfrm>
          <a:prstGeom prst="roundRect">
            <a:avLst>
              <a:gd name="adj" fmla="val 16438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" y="5913120"/>
            <a:ext cx="347472" cy="347472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115568" y="5864352"/>
            <a:ext cx="3424062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when my team leaves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3602736" y="5864352"/>
            <a:ext cx="918606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past event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002670" y="223723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12398" y="22860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569598" y="223723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asked them to come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6002670" y="275539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12398" y="280416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569598" y="275539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summarised our position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6002670" y="327355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12398" y="33223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569598" y="327355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checked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6002670" y="379171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12398" y="384048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569598" y="379171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 my team left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6002670" y="430987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12398" y="435864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569598" y="430987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attend the meeting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6002670" y="482803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12398" y="487680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6569598" y="482803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If necessary, …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6002670" y="534619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12398" y="539496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6569598" y="534619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Currently, …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002670" y="5864352"/>
            <a:ext cx="5637642" cy="445008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112398" y="5913120"/>
            <a:ext cx="347472" cy="347472"/>
          </a:xfrm>
          <a:prstGeom prst="ellipse">
            <a:avLst/>
          </a:prstGeom>
          <a:solidFill>
            <a:srgbClr val="C0752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</a:t>
            </a:r>
            <a:endParaRPr lang="en-US" sz="1300" dirty="0"/>
          </a:p>
        </p:txBody>
      </p:sp>
      <p:sp>
        <p:nvSpPr>
          <p:cNvPr id="63" name="Text 60"/>
          <p:cNvSpPr txBox="1"/>
          <p:nvPr/>
        </p:nvSpPr>
        <p:spPr>
          <a:xfrm>
            <a:off x="6569598" y="5864352"/>
            <a:ext cx="497927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days left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4667646" y="2459736"/>
            <a:ext cx="1298448" cy="103632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594494" y="23957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66" name="Shape 63"/>
          <p:cNvSpPr/>
          <p:nvPr/>
        </p:nvSpPr>
        <p:spPr>
          <a:xfrm>
            <a:off x="5911230" y="34320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67" name="Shape 64"/>
          <p:cNvSpPr/>
          <p:nvPr/>
        </p:nvSpPr>
        <p:spPr>
          <a:xfrm>
            <a:off x="4667646" y="2977896"/>
            <a:ext cx="1298448" cy="259080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594494" y="291388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69" name="Shape 66"/>
          <p:cNvSpPr/>
          <p:nvPr/>
        </p:nvSpPr>
        <p:spPr>
          <a:xfrm>
            <a:off x="5911230" y="550468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0" name="Shape 67"/>
          <p:cNvSpPr/>
          <p:nvPr/>
        </p:nvSpPr>
        <p:spPr>
          <a:xfrm>
            <a:off x="4667646" y="3496056"/>
            <a:ext cx="1298448" cy="103632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594494" y="34320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2" name="Shape 69"/>
          <p:cNvSpPr/>
          <p:nvPr/>
        </p:nvSpPr>
        <p:spPr>
          <a:xfrm>
            <a:off x="5911230" y="446836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3" name="Shape 70"/>
          <p:cNvSpPr/>
          <p:nvPr/>
        </p:nvSpPr>
        <p:spPr>
          <a:xfrm flipV="1">
            <a:off x="4667646" y="2459736"/>
            <a:ext cx="1298448" cy="155448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594494" y="395020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5" name="Shape 72"/>
          <p:cNvSpPr/>
          <p:nvPr/>
        </p:nvSpPr>
        <p:spPr>
          <a:xfrm>
            <a:off x="5911230" y="23957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6" name="Shape 73"/>
          <p:cNvSpPr/>
          <p:nvPr/>
        </p:nvSpPr>
        <p:spPr>
          <a:xfrm>
            <a:off x="4667646" y="4532376"/>
            <a:ext cx="1298448" cy="155448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594494" y="446836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8" name="Shape 75"/>
          <p:cNvSpPr/>
          <p:nvPr/>
        </p:nvSpPr>
        <p:spPr>
          <a:xfrm>
            <a:off x="5911230" y="60228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79" name="Shape 76"/>
          <p:cNvSpPr/>
          <p:nvPr/>
        </p:nvSpPr>
        <p:spPr>
          <a:xfrm>
            <a:off x="4667646" y="5050536"/>
            <a:ext cx="1298448" cy="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594494" y="49865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81" name="Shape 78"/>
          <p:cNvSpPr/>
          <p:nvPr/>
        </p:nvSpPr>
        <p:spPr>
          <a:xfrm>
            <a:off x="5911230" y="498652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82" name="Shape 79"/>
          <p:cNvSpPr/>
          <p:nvPr/>
        </p:nvSpPr>
        <p:spPr>
          <a:xfrm flipV="1">
            <a:off x="4667646" y="2977896"/>
            <a:ext cx="1298448" cy="259080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594494" y="550468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84" name="Shape 81"/>
          <p:cNvSpPr/>
          <p:nvPr/>
        </p:nvSpPr>
        <p:spPr>
          <a:xfrm>
            <a:off x="5911230" y="291388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85" name="Shape 82"/>
          <p:cNvSpPr/>
          <p:nvPr/>
        </p:nvSpPr>
        <p:spPr>
          <a:xfrm flipV="1">
            <a:off x="4667646" y="4014216"/>
            <a:ext cx="1298448" cy="2072640"/>
          </a:xfrm>
          <a:prstGeom prst="line">
            <a:avLst/>
          </a:prstGeom>
          <a:noFill/>
          <a:ln w="28575">
            <a:solidFill>
              <a:srgbClr val="3C7A3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594494" y="602284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87" name="Shape 84"/>
          <p:cNvSpPr/>
          <p:nvPr/>
        </p:nvSpPr>
        <p:spPr>
          <a:xfrm>
            <a:off x="5911230" y="3950208"/>
            <a:ext cx="128016" cy="128016"/>
          </a:xfrm>
          <a:prstGeom prst="ellipse">
            <a:avLst/>
          </a:prstGeom>
          <a:solidFill>
            <a:srgbClr val="3C7A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Clean is not the same as safe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9372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pic>
        <p:nvPicPr>
          <p:cNvPr id="6" name="illustration" descr="Iris, arms crossed, beside the narrator, who corrects a printed e-mail in red: “Seven words — seven traps. Fix them before this leaves the building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783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5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10.20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880360"/>
            <a:ext cx="4645152" cy="210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seven false friends are fixed. The English is </a:t>
            </a:r>
            <a:r>
              <a:rPr lang="en-US" sz="1900" b="1" dirty="0">
                <a:solidFill>
                  <a:schemeClr val="tx1"/>
                </a:solidFill>
              </a:rPr>
              <a:t>clean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Before Mark presses </a:t>
            </a:r>
            <a:r>
              <a:rPr lang="en-US" sz="1900" i="1" dirty="0">
                <a:solidFill>
                  <a:schemeClr val="tx1"/>
                </a:solidFill>
              </a:rPr>
              <a:t>forward</a:t>
            </a:r>
            <a:r>
              <a:rPr lang="en-US" sz="1900" dirty="0">
                <a:solidFill>
                  <a:schemeClr val="tx1"/>
                </a:solidFill>
              </a:rPr>
              <a:t>, read it </a:t>
            </a:r>
            <a:r>
              <a:rPr lang="en-US" sz="1900" b="1" dirty="0">
                <a:solidFill>
                  <a:schemeClr val="tx1"/>
                </a:solidFill>
              </a:rPr>
              <a:t>again</a:t>
            </a:r>
            <a:r>
              <a:rPr lang="en-US" sz="1900" dirty="0">
                <a:solidFill>
                  <a:schemeClr val="tx1"/>
                </a:solidFill>
              </a:rPr>
              <a:t> — the way the assessor will: not for what Verdier </a:t>
            </a:r>
            <a:r>
              <a:rPr lang="en-US" sz="1900" b="1" dirty="0">
                <a:solidFill>
                  <a:schemeClr val="tx1"/>
                </a:solidFill>
              </a:rPr>
              <a:t>claims</a:t>
            </a:r>
            <a:r>
              <a:rPr lang="en-US" sz="1900" dirty="0">
                <a:solidFill>
                  <a:schemeClr val="tx1"/>
                </a:solidFill>
              </a:rPr>
              <a:t>, but for what he </a:t>
            </a:r>
            <a:r>
              <a:rPr lang="en-US" sz="1900" b="1" dirty="0">
                <a:solidFill>
                  <a:schemeClr val="tx1"/>
                </a:solidFill>
              </a:rPr>
              <a:t>admits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995160" y="5169408"/>
            <a:ext cx="4645152" cy="1139952"/>
          </a:xfrm>
          <a:prstGeom prst="roundRect">
            <a:avLst>
              <a:gd name="adj" fmla="val 6417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96328" y="527913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96328" y="5571744"/>
            <a:ext cx="4242816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difference between </a:t>
            </a:r>
            <a:r>
              <a:rPr lang="en-US" sz="1700" b="1" dirty="0">
                <a:solidFill>
                  <a:schemeClr val="tx1"/>
                </a:solidFill>
              </a:rPr>
              <a:t>to claim</a:t>
            </a:r>
            <a:r>
              <a:rPr lang="en-US" sz="1700" dirty="0">
                <a:solidFill>
                  <a:schemeClr val="tx1"/>
                </a:solidFill>
              </a:rPr>
              <a:t> and </a:t>
            </a:r>
            <a:r>
              <a:rPr lang="en-US" sz="1700" b="1" dirty="0">
                <a:solidFill>
                  <a:schemeClr val="tx1"/>
                </a:solidFill>
              </a:rPr>
              <a:t>to admit</a:t>
            </a:r>
            <a:r>
              <a:rPr lang="en-US" sz="1700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highlighters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Green</a:t>
            </a:r>
            <a:r>
              <a:rPr lang="en-US" sz="1600" i="1" dirty="0">
                <a:solidFill>
                  <a:schemeClr val="accent5"/>
                </a:solidFill>
              </a:rPr>
              <a:t>: what somebody could </a:t>
            </a:r>
            <a:r>
              <a:rPr lang="en-US" sz="1600" b="1" i="1" dirty="0">
                <a:solidFill>
                  <a:schemeClr val="accent5"/>
                </a:solidFill>
              </a:rPr>
              <a:t>check</a:t>
            </a:r>
            <a:r>
              <a:rPr lang="en-US" sz="1600" i="1" dirty="0">
                <a:solidFill>
                  <a:schemeClr val="accent5"/>
                </a:solidFill>
              </a:rPr>
              <a:t> (a time, an action). </a:t>
            </a:r>
            <a:r>
              <a:rPr lang="en-US" sz="1600" b="1" i="1" dirty="0">
                <a:solidFill>
                  <a:schemeClr val="accent5"/>
                </a:solidFill>
              </a:rPr>
              <a:t>Pink</a:t>
            </a:r>
            <a:r>
              <a:rPr lang="en-US" sz="1600" i="1" dirty="0">
                <a:solidFill>
                  <a:schemeClr val="accent5"/>
                </a:solidFill>
              </a:rPr>
              <a:t>: what is only </a:t>
            </a:r>
            <a:r>
              <a:rPr lang="en-US" sz="1600" b="1" i="1" dirty="0">
                <a:solidFill>
                  <a:schemeClr val="accent5"/>
                </a:solidFill>
              </a:rPr>
              <a:t>his opinion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Shape 8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2" name="Shape 9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English corrected, content unchanged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765792" y="229209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B4236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765792" y="2292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colours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Dear Mr Shaw,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 checked the second floor yesterday evening before we left.</a:t>
            </a:r>
            <a:r>
              <a:rPr lang="en-US" sz="1600" dirty="0">
                <a:solidFill>
                  <a:schemeClr val="tx1"/>
                </a:solidFill>
              </a:rPr>
              <a:t> We are currently still waiting for the humidity report.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Two of my men will attend the meeting this afternoon if you wish. I have asked them to come.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We have two days left to finish the cabling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tx1"/>
                </a:solidFill>
              </a:rPr>
              <a:t>so we are not late</a:t>
            </a:r>
            <a:r>
              <a:rPr lang="en-US" sz="1600" dirty="0">
                <a:solidFill>
                  <a:schemeClr val="tx1"/>
                </a:solidFill>
              </a:rPr>
              <a:t>. If necessary, we can send you our own report.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 have summarised our position in three lines below. </a:t>
            </a:r>
            <a:r>
              <a:rPr lang="en-US" sz="1600" dirty="0">
                <a:solidFill>
                  <a:schemeClr val="tx1"/>
                </a:solidFill>
              </a:rPr>
              <a:t>I don’t think it would be sensible to blame my team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the pipe is old and it is not our work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>
                <a:solidFill>
                  <a:schemeClr val="tx1"/>
                </a:solidFill>
              </a:rPr>
              <a:t>Everything was dry when my team left at 19.58.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Kind regards,   P. Verdier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highlighters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Only </a:t>
            </a:r>
            <a:r>
              <a:rPr lang="en-US" sz="1600" b="1" i="1" dirty="0">
                <a:solidFill>
                  <a:schemeClr val="accent5"/>
                </a:solidFill>
              </a:rPr>
              <a:t>one</a:t>
            </a:r>
            <a:r>
              <a:rPr lang="en-US" sz="1600" i="1" dirty="0">
                <a:solidFill>
                  <a:schemeClr val="accent5"/>
                </a:solidFill>
              </a:rPr>
              <a:t> green sentence is confirmed by another exhibit: </a:t>
            </a:r>
            <a:r>
              <a:rPr lang="en-US" sz="1600" b="1" i="1" dirty="0">
                <a:solidFill>
                  <a:schemeClr val="accent5"/>
                </a:solidFill>
              </a:rPr>
              <a:t>19.58</a:t>
            </a:r>
            <a:r>
              <a:rPr lang="en-US" sz="1600" i="1" dirty="0">
                <a:solidFill>
                  <a:schemeClr val="accent5"/>
                </a:solidFill>
              </a:rPr>
              <a:t> = Exhibit A. → Question 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072128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B8C1C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237232"/>
            <a:ext cx="11091672" cy="420624"/>
          </a:xfrm>
          <a:prstGeom prst="roundRect">
            <a:avLst>
              <a:gd name="adj" fmla="val 17391"/>
            </a:avLst>
          </a:prstGeom>
          <a:solidFill>
            <a:srgbClr val="E9EDF3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511552"/>
            <a:ext cx="11091672" cy="146304"/>
          </a:xfrm>
          <a:prstGeom prst="rect">
            <a:avLst/>
          </a:prstGeom>
          <a:solidFill>
            <a:srgbClr val="E9EDF3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374392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950976" y="2374392"/>
            <a:ext cx="146304" cy="146304"/>
          </a:xfrm>
          <a:prstGeom prst="ellipse">
            <a:avLst/>
          </a:prstGeom>
          <a:solidFill>
            <a:srgbClr val="E8B43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0432" y="2374392"/>
            <a:ext cx="146304" cy="146304"/>
          </a:xfrm>
          <a:prstGeom prst="ellipse">
            <a:avLst/>
          </a:prstGeom>
          <a:solidFill>
            <a:srgbClr val="58B05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78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55648" y="22372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Inbox — Atlas House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8680" y="274929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From:  </a:t>
            </a:r>
            <a:r>
              <a:rPr lang="en-US" sz="1300" dirty="0">
                <a:solidFill>
                  <a:schemeClr val="tx1"/>
                </a:solidFill>
              </a:rPr>
              <a:t>p.verdier@verdier-construction.be</a:t>
            </a:r>
            <a:r>
              <a:rPr lang="en-US" sz="1300" b="1" dirty="0">
                <a:solidFill>
                  <a:schemeClr val="accent5"/>
                </a:solidFill>
              </a:rPr>
              <a:t>      To:  </a:t>
            </a:r>
            <a:r>
              <a:rPr lang="en-US" sz="1300" dirty="0">
                <a:solidFill>
                  <a:schemeClr val="tx1"/>
                </a:solidFill>
              </a:rPr>
              <a:t>Mark Shaw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3023616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Subject:  </a:t>
            </a:r>
            <a:r>
              <a:rPr lang="en-US" sz="1300" b="1" dirty="0">
                <a:solidFill>
                  <a:schemeClr val="tx1"/>
                </a:solidFill>
              </a:rPr>
              <a:t>About yesterday evening — English corrected, content unchanged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2960" y="3371088"/>
            <a:ext cx="10543032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765792" y="2292096"/>
            <a:ext cx="1645920" cy="310896"/>
          </a:xfrm>
          <a:prstGeom prst="roundRect">
            <a:avLst>
              <a:gd name="adj" fmla="val 58824"/>
            </a:avLst>
          </a:prstGeom>
          <a:solidFill>
            <a:srgbClr val="3C7A3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765792" y="2292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3 green · 3 pink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3480816"/>
            <a:ext cx="10360152" cy="269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Dear Mr Shaw,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highlight>
                  <a:srgbClr val="D9EDD5"/>
                </a:highlight>
              </a:rPr>
              <a:t>I checked the second floor yesterday evening before we left.</a:t>
            </a:r>
            <a:r>
              <a:rPr lang="en-US" sz="1600" dirty="0">
                <a:solidFill>
                  <a:schemeClr val="tx1"/>
                </a:solidFill>
              </a:rPr>
              <a:t> We are currently still waiting for the humidity report.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Two of my men will attend the meeting this afternoon if you wish. I have asked them to come.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highlight>
                  <a:srgbClr val="D9EDD5"/>
                </a:highlight>
              </a:rPr>
              <a:t>We have two days left to finish the cabling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b="1" dirty="0">
                <a:solidFill>
                  <a:srgbClr val="B4236A"/>
                </a:solidFill>
                <a:highlight>
                  <a:srgbClr val="F6DDE9"/>
                </a:highlight>
              </a:rPr>
              <a:t>so we are not late</a:t>
            </a:r>
            <a:r>
              <a:rPr lang="en-US" sz="1600" dirty="0">
                <a:solidFill>
                  <a:schemeClr val="tx1"/>
                </a:solidFill>
              </a:rPr>
              <a:t>. If necessary, we can send you our own report.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 have summarised our position in three lines below. </a:t>
            </a:r>
            <a:r>
              <a:rPr lang="en-US" sz="1600" b="1" dirty="0">
                <a:solidFill>
                  <a:srgbClr val="B4236A"/>
                </a:solidFill>
                <a:highlight>
                  <a:srgbClr val="F6DDE9"/>
                </a:highlight>
              </a:rPr>
              <a:t>I don’t think it would be sensible to blame my team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b="1" dirty="0">
                <a:solidFill>
                  <a:srgbClr val="B4236A"/>
                </a:solidFill>
                <a:highlight>
                  <a:srgbClr val="F6DDE9"/>
                </a:highlight>
              </a:rPr>
              <a:t>the pipe is old and it is not our work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b="1" dirty="0">
                <a:solidFill>
                  <a:schemeClr val="accent3"/>
                </a:solidFill>
                <a:highlight>
                  <a:srgbClr val="D9EDD5"/>
                </a:highlight>
              </a:rPr>
              <a:t>Everything was dry when my team left at 19.58.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Kind regards,   P. Verdier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Verdier gives one time. </a:t>
            </a:r>
            <a:r>
              <a:rPr lang="en-US" sz="2200" b="1" dirty="0">
                <a:solidFill>
                  <a:schemeClr val="tx1"/>
                </a:solidFill>
              </a:rPr>
              <a:t>How does it compare with Exhibit A?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It contradicts the log by about twenty minutes.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It matches the log exactly, which makes the rest of his e-mail harder to dismiss.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It matches the badge entry at 20:04, not the cabling team’s exit.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 gives no time at all; he only says “yesterday evening”.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Q1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1.</a:t>
            </a:r>
            <a:r>
              <a:rPr lang="en-US" sz="2200" dirty="0">
                <a:solidFill>
                  <a:schemeClr val="tx1"/>
                </a:solidFill>
              </a:rPr>
              <a:t> Verdier gives one time. </a:t>
            </a:r>
            <a:r>
              <a:rPr lang="en-US" sz="2200" b="1" dirty="0">
                <a:solidFill>
                  <a:schemeClr val="tx1"/>
                </a:solidFill>
              </a:rPr>
              <a:t>How does it compare with Exhibit A?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It contradicts the log by about twenty minutes.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It matches the log exactly, which makes the rest of his e-mail harder to dismiss.</a:t>
            </a:r>
            <a:endParaRPr lang="en-US" sz="1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621280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It matches the badge entry at 20:04, not the cabling team’s exit.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He gives no time at all; he only says “yesterday evening”.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dirty="0">
                <a:solidFill>
                  <a:schemeClr val="tx1"/>
                </a:solidFill>
              </a:rPr>
              <a:t>Verdier writes </a:t>
            </a:r>
            <a:r>
              <a:rPr lang="en-US" sz="1700" b="1" dirty="0">
                <a:solidFill>
                  <a:schemeClr val="tx1"/>
                </a:solidFill>
              </a:rPr>
              <a:t>19.58</a:t>
            </a:r>
            <a:r>
              <a:rPr lang="en-US" sz="1700" dirty="0">
                <a:solidFill>
                  <a:schemeClr val="tx1"/>
                </a:solidFill>
              </a:rPr>
              <a:t>; Exhibit A: </a:t>
            </a:r>
            <a:r>
              <a:rPr lang="en-US" sz="1700" i="1" dirty="0">
                <a:solidFill>
                  <a:schemeClr val="tx1"/>
                </a:solidFill>
              </a:rPr>
              <a:t>19:58 — cabling works — access badge 0447 — exit</a:t>
            </a:r>
            <a:r>
              <a:rPr lang="en-US" sz="1700" dirty="0">
                <a:solidFill>
                  <a:schemeClr val="tx1"/>
                </a:solidFill>
              </a:rPr>
              <a:t>. A precise, verifiable time: the assessor will take the rest of his e-mail seriously.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</a:t>
            </a:r>
            <a:r>
              <a:rPr lang="en-US" sz="2200" dirty="0">
                <a:solidFill>
                  <a:schemeClr val="tx1"/>
                </a:solidFill>
              </a:rPr>
              <a:t> He denies responsibility for one reason. </a:t>
            </a:r>
            <a:r>
              <a:rPr lang="en-US" sz="2200" b="1" dirty="0">
                <a:solidFill>
                  <a:schemeClr val="tx1"/>
                </a:solidFill>
              </a:rPr>
              <a:t>Which one, and what is its status?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His team left before eight — a fact, confirmed by the log.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floor was dry when they left — a fact, but confirmed by nobody else.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pipe is old and is not his work — an opinion, supported by nothing in the file.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He has never seen the pipe — an opinion, contradicted by Exhibit C.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Q2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109167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2.</a:t>
            </a:r>
            <a:r>
              <a:rPr lang="en-US" sz="2200" dirty="0">
                <a:solidFill>
                  <a:schemeClr val="tx1"/>
                </a:solidFill>
              </a:rPr>
              <a:t> He denies responsibility for one reason. </a:t>
            </a:r>
            <a:r>
              <a:rPr lang="en-US" sz="2200" b="1" dirty="0">
                <a:solidFill>
                  <a:schemeClr val="tx1"/>
                </a:solidFill>
              </a:rPr>
              <a:t>Which one, and what is its status?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His team left before eight — a fact, confirmed by the log.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08776" y="249326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284073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77456" y="254812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The floor was dry when they left — a fact, but confirmed by nobody else.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3C7A3C">
              <a:alpha val="14000"/>
            </a:srgbClr>
          </a:solidFill>
          <a:ln w="25400">
            <a:solidFill>
              <a:srgbClr val="3C7A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258056"/>
            <a:ext cx="493776" cy="49377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pipe is old and is not his work — an opinion, supported by nothing in the file.</a:t>
            </a:r>
            <a:endParaRPr lang="en-US" sz="1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4038600"/>
            <a:ext cx="292608" cy="2926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08776" y="3910584"/>
            <a:ext cx="5431536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9944" y="4258056"/>
            <a:ext cx="493776" cy="493776"/>
          </a:xfrm>
          <a:prstGeom prst="ellipse">
            <a:avLst/>
          </a:prstGeom>
          <a:solidFill>
            <a:srgbClr val="B8C1CE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077456" y="3965448"/>
            <a:ext cx="4105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accent5"/>
                </a:solidFill>
              </a:rPr>
              <a:t>He has never seen the pipe — an opinion, contradicted by Exhibit C.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48640" y="5507736"/>
            <a:ext cx="11091672" cy="801624"/>
          </a:xfrm>
          <a:prstGeom prst="roundRect">
            <a:avLst>
              <a:gd name="adj" fmla="val 9125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2566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325880" y="5562600"/>
            <a:ext cx="10085832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Why?  </a:t>
            </a:r>
            <a:r>
              <a:rPr lang="en-US" sz="1700" i="1" dirty="0">
                <a:solidFill>
                  <a:schemeClr val="tx1"/>
                </a:solidFill>
              </a:rPr>
              <a:t>“The pipe is old and it is not our work”</a:t>
            </a:r>
            <a:r>
              <a:rPr lang="en-US" sz="1700" dirty="0">
                <a:solidFill>
                  <a:schemeClr val="tx1"/>
                </a:solidFill>
              </a:rPr>
              <a:t> is his only argument against blame. Nothing in the file supports it </a:t>
            </a:r>
            <a:r>
              <a:rPr lang="en-US" sz="1700" b="1" dirty="0">
                <a:solidFill>
                  <a:schemeClr val="tx1"/>
                </a:solidFill>
              </a:rPr>
              <a:t>yet</a:t>
            </a:r>
            <a:r>
              <a:rPr lang="en-US" sz="1700" dirty="0">
                <a:solidFill>
                  <a:schemeClr val="tx1"/>
                </a:solidFill>
              </a:rPr>
              <a:t>: it is an </a:t>
            </a:r>
            <a:r>
              <a:rPr lang="en-US" sz="1700" b="1" dirty="0">
                <a:solidFill>
                  <a:schemeClr val="tx1"/>
                </a:solidFill>
              </a:rPr>
              <a:t>opinion</a:t>
            </a:r>
            <a:r>
              <a:rPr lang="en-US" sz="1700" dirty="0">
                <a:solidFill>
                  <a:schemeClr val="tx1"/>
                </a:solidFill>
              </a:rPr>
              <a:t> — one of the pink lines.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exhibits, one night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Exhibits A &amp; B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Where does each piece of information come from? The e-mail, the log — or </a:t>
            </a:r>
            <a:r>
              <a:rPr lang="en-US" sz="1600" b="1" i="1" dirty="0">
                <a:solidFill>
                  <a:schemeClr val="accent5"/>
                </a:solidFill>
              </a:rPr>
              <a:t>both</a:t>
            </a:r>
            <a:r>
              <a:rPr lang="en-US" sz="1600" i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3383280" cy="4072128"/>
          </a:xfrm>
          <a:prstGeom prst="roundRect">
            <a:avLst>
              <a:gd name="adj" fmla="val 2162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13232" y="2346960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pipe is </a:t>
            </a:r>
            <a:r>
              <a:rPr lang="en-US" sz="1300" b="1" dirty="0">
                <a:solidFill>
                  <a:schemeClr val="tx2"/>
                </a:solidFill>
              </a:rPr>
              <a:t>old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703022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Temperature alarm at </a:t>
            </a:r>
            <a:r>
              <a:rPr lang="en-US" sz="1300" b="1" dirty="0">
                <a:solidFill>
                  <a:schemeClr val="tx2"/>
                </a:solidFill>
              </a:rPr>
              <a:t>23.41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059084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team left at </a:t>
            </a:r>
            <a:r>
              <a:rPr lang="en-US" sz="1300" b="1" dirty="0">
                <a:solidFill>
                  <a:schemeClr val="tx2"/>
                </a:solidFill>
              </a:rPr>
              <a:t>19.58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3415145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floor was </a:t>
            </a:r>
            <a:r>
              <a:rPr lang="en-US" sz="1300" b="1" dirty="0">
                <a:solidFill>
                  <a:schemeClr val="tx2"/>
                </a:solidFill>
              </a:rPr>
              <a:t>dry</a:t>
            </a:r>
            <a:r>
              <a:rPr lang="en-US" sz="1300" dirty="0">
                <a:solidFill>
                  <a:schemeClr val="tx2"/>
                </a:solidFill>
              </a:rPr>
              <a:t> at 19.58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3771207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Badge 0102: </a:t>
            </a:r>
            <a:r>
              <a:rPr lang="en-US" sz="1300" b="1" dirty="0">
                <a:solidFill>
                  <a:schemeClr val="tx2"/>
                </a:solidFill>
              </a:rPr>
              <a:t>entry</a:t>
            </a:r>
            <a:r>
              <a:rPr lang="en-US" sz="1300" dirty="0">
                <a:solidFill>
                  <a:schemeClr val="tx2"/>
                </a:solidFill>
              </a:rPr>
              <a:t> at 20.04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3232" y="4127269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“It is </a:t>
            </a:r>
            <a:r>
              <a:rPr lang="en-US" sz="1300" b="1" dirty="0">
                <a:solidFill>
                  <a:schemeClr val="tx2"/>
                </a:solidFill>
              </a:rPr>
              <a:t>not our work</a:t>
            </a:r>
            <a:r>
              <a:rPr lang="en-US" sz="1300" dirty="0">
                <a:solidFill>
                  <a:schemeClr val="tx2"/>
                </a:solidFill>
              </a:rPr>
              <a:t>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13232" y="4483331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Works in </a:t>
            </a:r>
            <a:r>
              <a:rPr lang="en-US" sz="1300" b="1" dirty="0">
                <a:solidFill>
                  <a:schemeClr val="tx2"/>
                </a:solidFill>
              </a:rPr>
              <a:t>zone 2F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" y="4839393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Notification </a:t>
            </a:r>
            <a:r>
              <a:rPr lang="en-US" sz="1300" b="1" dirty="0">
                <a:solidFill>
                  <a:schemeClr val="tx2"/>
                </a:solidFill>
              </a:rPr>
              <a:t>delivered</a:t>
            </a:r>
            <a:r>
              <a:rPr lang="en-US" sz="1300" dirty="0">
                <a:solidFill>
                  <a:schemeClr val="tx2"/>
                </a:solidFill>
              </a:rPr>
              <a:t> at 23.42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" y="5195455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days </a:t>
            </a:r>
            <a:r>
              <a:rPr lang="en-US" sz="1300" b="1" dirty="0">
                <a:solidFill>
                  <a:schemeClr val="tx2"/>
                </a:solidFill>
              </a:rPr>
              <a:t>left</a:t>
            </a:r>
            <a:r>
              <a:rPr lang="en-US" sz="1300" dirty="0">
                <a:solidFill>
                  <a:schemeClr val="tx2"/>
                </a:solidFill>
              </a:rPr>
              <a:t> for the cabling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3232" y="5551516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Humidity alarm at </a:t>
            </a:r>
            <a:r>
              <a:rPr lang="en-US" sz="1300" b="1" dirty="0">
                <a:solidFill>
                  <a:schemeClr val="tx2"/>
                </a:solidFill>
              </a:rPr>
              <a:t>23.44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3232" y="5907578"/>
            <a:ext cx="3054096" cy="292054"/>
          </a:xfrm>
          <a:prstGeom prst="roundRect">
            <a:avLst>
              <a:gd name="adj" fmla="val 62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men can </a:t>
            </a:r>
            <a:r>
              <a:rPr lang="en-US" sz="1300" b="1" dirty="0">
                <a:solidFill>
                  <a:schemeClr val="tx2"/>
                </a:solidFill>
              </a:rPr>
              <a:t>attend</a:t>
            </a:r>
            <a:r>
              <a:rPr lang="en-US" sz="1300" dirty="0">
                <a:solidFill>
                  <a:schemeClr val="tx2"/>
                </a:solidFill>
              </a:rPr>
              <a:t> the meeting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51960" y="2237232"/>
            <a:ext cx="4505093" cy="4072128"/>
          </a:xfrm>
          <a:prstGeom prst="ellipse">
            <a:avLst/>
          </a:prstGeom>
          <a:solidFill>
            <a:srgbClr val="C0752A">
              <a:alpha val="16000"/>
            </a:srgbClr>
          </a:solidFill>
          <a:ln w="25400">
            <a:solidFill>
              <a:srgbClr val="C075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5219" y="2237232"/>
            <a:ext cx="4505093" cy="4072128"/>
          </a:xfrm>
          <a:prstGeom prst="ellipse">
            <a:avLst/>
          </a:prstGeom>
          <a:solidFill>
            <a:srgbClr val="2E75B6">
              <a:alpha val="16000"/>
            </a:srgbClr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97570" y="2621280"/>
            <a:ext cx="1727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VERDIER’S E-MAIL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866781" y="2621280"/>
            <a:ext cx="17279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THE NIGHT LOG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544395" y="3203448"/>
            <a:ext cx="803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BOTH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exhibits, one night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7099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Exhibits A &amp; 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Where does each piece of information come from? The e-mail, the log — or </a:t>
            </a:r>
            <a:r>
              <a:rPr lang="en-US" sz="1600" b="1" i="1" dirty="0">
                <a:solidFill>
                  <a:schemeClr val="accent5"/>
                </a:solidFill>
              </a:rPr>
              <a:t>both</a:t>
            </a:r>
            <a:r>
              <a:rPr lang="en-US" sz="1600" i="1" dirty="0">
                <a:solidFill>
                  <a:schemeClr val="accent5"/>
                </a:solidFill>
              </a:rPr>
              <a:t>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237232"/>
            <a:ext cx="6428678" cy="4072128"/>
          </a:xfrm>
          <a:prstGeom prst="ellipse">
            <a:avLst/>
          </a:prstGeom>
          <a:solidFill>
            <a:srgbClr val="C0752A">
              <a:alpha val="16000"/>
            </a:srgbClr>
          </a:solidFill>
          <a:ln w="25400">
            <a:solidFill>
              <a:srgbClr val="C075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314" y="2237232"/>
            <a:ext cx="6428678" cy="4072128"/>
          </a:xfrm>
          <a:prstGeom prst="ellipse">
            <a:avLst/>
          </a:prstGeom>
          <a:solidFill>
            <a:srgbClr val="2E75B6">
              <a:alpha val="16000"/>
            </a:srgbClr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68172" y="2621280"/>
            <a:ext cx="255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VERDIER’S E-MAIL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61366" y="2621280"/>
            <a:ext cx="25594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2"/>
                </a:solidFill>
              </a:rPr>
              <a:t>THE NIGHT LOG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9965" y="3203448"/>
            <a:ext cx="1209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</a:rPr>
              <a:t>BOTH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06293" y="3015996"/>
            <a:ext cx="2621293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pipe is </a:t>
            </a:r>
            <a:r>
              <a:rPr lang="en-US" sz="1400" b="1" dirty="0">
                <a:solidFill>
                  <a:schemeClr val="tx1"/>
                </a:solidFill>
              </a:rPr>
              <a:t>old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206293" y="3610356"/>
            <a:ext cx="2621293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floor was </a:t>
            </a:r>
            <a:r>
              <a:rPr lang="en-US" sz="1400" b="1" dirty="0">
                <a:solidFill>
                  <a:schemeClr val="tx1"/>
                </a:solidFill>
              </a:rPr>
              <a:t>dry</a:t>
            </a:r>
            <a:r>
              <a:rPr lang="en-US" sz="1400" dirty="0">
                <a:solidFill>
                  <a:schemeClr val="tx1"/>
                </a:solidFill>
              </a:rPr>
              <a:t> at 19.58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06293" y="4204716"/>
            <a:ext cx="2621293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“It is </a:t>
            </a:r>
            <a:r>
              <a:rPr lang="en-US" sz="1400" b="1" dirty="0">
                <a:solidFill>
                  <a:schemeClr val="tx1"/>
                </a:solidFill>
              </a:rPr>
              <a:t>not our work</a:t>
            </a:r>
            <a:r>
              <a:rPr lang="en-US" sz="1400" dirty="0">
                <a:solidFill>
                  <a:schemeClr val="tx1"/>
                </a:solidFill>
              </a:rPr>
              <a:t>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206293" y="4799076"/>
            <a:ext cx="2621293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days </a:t>
            </a:r>
            <a:r>
              <a:rPr lang="en-US" sz="1400" b="1" dirty="0">
                <a:solidFill>
                  <a:schemeClr val="tx1"/>
                </a:solidFill>
              </a:rPr>
              <a:t>left</a:t>
            </a:r>
            <a:r>
              <a:rPr lang="en-US" sz="1400" dirty="0">
                <a:solidFill>
                  <a:schemeClr val="tx1"/>
                </a:solidFill>
              </a:rPr>
              <a:t> for the cabling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206293" y="5393436"/>
            <a:ext cx="2621293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men can </a:t>
            </a:r>
            <a:r>
              <a:rPr lang="en-US" sz="1400" b="1" dirty="0">
                <a:solidFill>
                  <a:schemeClr val="tx1"/>
                </a:solidFill>
              </a:rPr>
              <a:t>attend</a:t>
            </a:r>
            <a:r>
              <a:rPr lang="en-US" sz="1400" dirty="0">
                <a:solidFill>
                  <a:schemeClr val="tx1"/>
                </a:solidFill>
              </a:rPr>
              <a:t> the meeting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59430" y="3660648"/>
            <a:ext cx="1870091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team left at </a:t>
            </a:r>
            <a:r>
              <a:rPr lang="en-US" sz="1300" b="1" dirty="0">
                <a:solidFill>
                  <a:schemeClr val="tx1"/>
                </a:solidFill>
              </a:rPr>
              <a:t>19.58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59430" y="4255008"/>
            <a:ext cx="1870091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Works in </a:t>
            </a:r>
            <a:r>
              <a:rPr lang="en-US" sz="1300" b="1" dirty="0">
                <a:solidFill>
                  <a:schemeClr val="tx1"/>
                </a:solidFill>
              </a:rPr>
              <a:t>zone 2F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61366" y="3313176"/>
            <a:ext cx="3119947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Temperature alarm at </a:t>
            </a:r>
            <a:r>
              <a:rPr lang="en-US" sz="1500" b="1" dirty="0">
                <a:solidFill>
                  <a:schemeClr val="tx1"/>
                </a:solidFill>
              </a:rPr>
              <a:t>23.41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61366" y="3907536"/>
            <a:ext cx="3119947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Badge 0102: </a:t>
            </a:r>
            <a:r>
              <a:rPr lang="en-US" sz="1500" b="1" dirty="0">
                <a:solidFill>
                  <a:schemeClr val="tx1"/>
                </a:solidFill>
              </a:rPr>
              <a:t>entry</a:t>
            </a:r>
            <a:r>
              <a:rPr lang="en-US" sz="1500" dirty="0">
                <a:solidFill>
                  <a:schemeClr val="tx1"/>
                </a:solidFill>
              </a:rPr>
              <a:t> at 20.04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61366" y="4501896"/>
            <a:ext cx="3119947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Notification </a:t>
            </a:r>
            <a:r>
              <a:rPr lang="en-US" sz="1500" b="1" dirty="0">
                <a:solidFill>
                  <a:schemeClr val="tx1"/>
                </a:solidFill>
              </a:rPr>
              <a:t>delivered</a:t>
            </a:r>
            <a:r>
              <a:rPr lang="en-US" sz="1500" dirty="0">
                <a:solidFill>
                  <a:schemeClr val="tx1"/>
                </a:solidFill>
              </a:rPr>
              <a:t> at 23.42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61366" y="5096256"/>
            <a:ext cx="3119947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Humidity alarm at </a:t>
            </a:r>
            <a:r>
              <a:rPr lang="en-US" sz="1500" b="1" dirty="0">
                <a:solidFill>
                  <a:schemeClr val="tx1"/>
                </a:solidFill>
              </a:rPr>
              <a:t>23.44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Whose side is each sentence 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sentences from the e-mail. Put each one on a pan.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1700784"/>
          </a:xfrm>
          <a:prstGeom prst="roundRect">
            <a:avLst>
              <a:gd name="adj" fmla="val 4301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WEIGH 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84505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pipe is old.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10432" y="2420112"/>
            <a:ext cx="4618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Everything was dry when my team left at 19.58.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57184" y="2420112"/>
            <a:ext cx="212242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It is not our work.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37360" y="2895600"/>
            <a:ext cx="424891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 have two days left, so we are not late.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14288" y="2895600"/>
            <a:ext cx="387908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Two of my men will attend the meeting.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3371088"/>
            <a:ext cx="323189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We can send you our own report.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0468" y="4440936"/>
            <a:ext cx="128016" cy="17586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Shape 13"/>
          <p:cNvSpPr/>
          <p:nvPr/>
        </p:nvSpPr>
        <p:spPr>
          <a:xfrm>
            <a:off x="5682996" y="6126480"/>
            <a:ext cx="822960" cy="182880"/>
          </a:xfrm>
          <a:prstGeom prst="trapezoid">
            <a:avLst/>
          </a:prstGeom>
          <a:solidFill>
            <a:srgbClr val="1F3864"/>
          </a:solidFill>
          <a:ln/>
        </p:spPr>
      </p:sp>
      <p:sp>
        <p:nvSpPr>
          <p:cNvPr id="17" name="Shape 14"/>
          <p:cNvSpPr/>
          <p:nvPr/>
        </p:nvSpPr>
        <p:spPr>
          <a:xfrm>
            <a:off x="3168396" y="4440936"/>
            <a:ext cx="5852160" cy="0"/>
          </a:xfrm>
          <a:prstGeom prst="line">
            <a:avLst/>
          </a:prstGeom>
          <a:noFill/>
          <a:ln w="76200">
            <a:solidFill>
              <a:srgbClr val="1F386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39028" y="4285488"/>
            <a:ext cx="310896" cy="310896"/>
          </a:xfrm>
          <a:prstGeom prst="ellipse">
            <a:avLst/>
          </a:prstGeom>
          <a:solidFill>
            <a:srgbClr val="D99A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1156716" y="4440936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68396" y="4440936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095244" y="4367784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Shape 19"/>
          <p:cNvSpPr/>
          <p:nvPr/>
        </p:nvSpPr>
        <p:spPr>
          <a:xfrm>
            <a:off x="836676" y="4989576"/>
            <a:ext cx="4663440" cy="1274064"/>
          </a:xfrm>
          <a:prstGeom prst="roundRect">
            <a:avLst>
              <a:gd name="adj" fmla="val 5742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3836" y="504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HELPS OUR CLAIM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7008876" y="4440936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20556" y="4440936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47404" y="4367784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Shape 24"/>
          <p:cNvSpPr/>
          <p:nvPr/>
        </p:nvSpPr>
        <p:spPr>
          <a:xfrm>
            <a:off x="6688836" y="4989576"/>
            <a:ext cx="4663440" cy="1274064"/>
          </a:xfrm>
          <a:prstGeom prst="roundRect">
            <a:avLst>
              <a:gd name="adj" fmla="val 5742"/>
            </a:avLst>
          </a:prstGeom>
          <a:solidFill>
            <a:srgbClr val="C0752A">
              <a:alpha val="10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5996" y="504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HELPS VERDIER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Whose side is each sentence 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READING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e-mail is heavy on </a:t>
            </a:r>
            <a:r>
              <a:rPr lang="en-US" sz="1600" b="1" i="1" dirty="0">
                <a:solidFill>
                  <a:schemeClr val="accent5"/>
                </a:solidFill>
              </a:rPr>
              <a:t>his</a:t>
            </a:r>
            <a:r>
              <a:rPr lang="en-US" sz="1600" i="1" dirty="0">
                <a:solidFill>
                  <a:schemeClr val="accent5"/>
                </a:solidFill>
              </a:rPr>
              <a:t> side — but </a:t>
            </a:r>
            <a:r>
              <a:rPr lang="en-US" sz="1600" b="1" i="1" dirty="0">
                <a:solidFill>
                  <a:schemeClr val="accent5"/>
                </a:solidFill>
              </a:rPr>
              <a:t>one</a:t>
            </a:r>
            <a:r>
              <a:rPr lang="en-US" sz="1600" i="1" dirty="0">
                <a:solidFill>
                  <a:schemeClr val="accent5"/>
                </a:solidFill>
              </a:rPr>
              <a:t> sentence helps </a:t>
            </a:r>
            <a:r>
              <a:rPr lang="en-US" sz="1600" b="1" i="1" dirty="0">
                <a:solidFill>
                  <a:schemeClr val="accent5"/>
                </a:solidFill>
              </a:rPr>
              <a:t>our</a:t>
            </a:r>
            <a:r>
              <a:rPr lang="en-US" sz="1600" i="1" dirty="0">
                <a:solidFill>
                  <a:schemeClr val="accent5"/>
                </a:solidFill>
              </a:rPr>
              <a:t> claim. → Question 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0468" y="2557272"/>
            <a:ext cx="128016" cy="36423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Shape 6"/>
          <p:cNvSpPr/>
          <p:nvPr/>
        </p:nvSpPr>
        <p:spPr>
          <a:xfrm>
            <a:off x="5682996" y="6126480"/>
            <a:ext cx="822960" cy="182880"/>
          </a:xfrm>
          <a:prstGeom prst="trapezoid">
            <a:avLst/>
          </a:prstGeom>
          <a:solidFill>
            <a:srgbClr val="1F3864"/>
          </a:solidFill>
          <a:ln/>
        </p:spPr>
      </p:sp>
      <p:sp>
        <p:nvSpPr>
          <p:cNvPr id="10" name="Shape 7"/>
          <p:cNvSpPr/>
          <p:nvPr/>
        </p:nvSpPr>
        <p:spPr>
          <a:xfrm>
            <a:off x="3168396" y="2264664"/>
            <a:ext cx="5852160" cy="585216"/>
          </a:xfrm>
          <a:prstGeom prst="line">
            <a:avLst/>
          </a:prstGeom>
          <a:noFill/>
          <a:ln w="76200">
            <a:solidFill>
              <a:srgbClr val="1F38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39028" y="2401824"/>
            <a:ext cx="310896" cy="310896"/>
          </a:xfrm>
          <a:prstGeom prst="ellipse">
            <a:avLst/>
          </a:prstGeom>
          <a:solidFill>
            <a:srgbClr val="D99A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156716" y="2264664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68396" y="2264664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5244" y="2191512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Shape 12"/>
          <p:cNvSpPr/>
          <p:nvPr/>
        </p:nvSpPr>
        <p:spPr>
          <a:xfrm>
            <a:off x="836676" y="2813304"/>
            <a:ext cx="4663440" cy="2865120"/>
          </a:xfrm>
          <a:prstGeom prst="roundRect">
            <a:avLst>
              <a:gd name="adj" fmla="val 2553"/>
            </a:avLst>
          </a:prstGeom>
          <a:solidFill>
            <a:srgbClr val="3C7A3C">
              <a:alpha val="10000"/>
            </a:srgbClr>
          </a:solidFill>
          <a:ln w="19050">
            <a:solidFill>
              <a:srgbClr val="3C7A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3836" y="2868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HELPS OUR CLAIM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19556" y="3270504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Everything was dry when my team left at 19.58.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flipH="1">
            <a:off x="7008876" y="2849880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0556" y="2849880"/>
            <a:ext cx="2011680" cy="54864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47404" y="2776728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Shape 18"/>
          <p:cNvSpPr/>
          <p:nvPr/>
        </p:nvSpPr>
        <p:spPr>
          <a:xfrm>
            <a:off x="6688836" y="3398520"/>
            <a:ext cx="4663440" cy="2865120"/>
          </a:xfrm>
          <a:prstGeom prst="roundRect">
            <a:avLst>
              <a:gd name="adj" fmla="val 2553"/>
            </a:avLst>
          </a:prstGeom>
          <a:solidFill>
            <a:srgbClr val="C0752A">
              <a:alpha val="10000"/>
            </a:srgbClr>
          </a:solidFill>
          <a:ln w="19050">
            <a:solidFill>
              <a:srgbClr val="C075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25996" y="34533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accent1"/>
                </a:solidFill>
              </a:rPr>
              <a:t>HELPS VERDIER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71716" y="3855720"/>
            <a:ext cx="4297680" cy="404774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pipe is old.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71716" y="4333646"/>
            <a:ext cx="4297680" cy="404774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is not our work.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71716" y="4811573"/>
            <a:ext cx="4297680" cy="404774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 have two days left, so we are not late.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71716" y="5289499"/>
            <a:ext cx="4297680" cy="404774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of my men will attend the meeting.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871716" y="5767426"/>
            <a:ext cx="4297680" cy="404774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 can send you our own report.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Q3 ·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3.</a:t>
            </a:r>
            <a:r>
              <a:rPr lang="en-US" sz="2600" dirty="0">
                <a:solidFill>
                  <a:schemeClr val="tx1"/>
                </a:solidFill>
              </a:rPr>
              <a:t> One sentence in this e-mail helps our case more than it helps his. Which one, and why?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4.</a:t>
            </a:r>
            <a:r>
              <a:rPr lang="en-US" sz="2600" dirty="0">
                <a:solidFill>
                  <a:schemeClr val="tx1"/>
                </a:solidFill>
              </a:rPr>
              <a:t> He offers something for this afternoon. Should we accept it today? One line, with your reason.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5.</a:t>
            </a:r>
            <a:r>
              <a:rPr lang="en-US" sz="2600" dirty="0">
                <a:solidFill>
                  <a:schemeClr val="tx1"/>
                </a:solidFill>
              </a:rPr>
              <a:t> He writes “I have never seen this pipe before.” Why should that sentence make you uncomfortable, given what Samuel said at 8.15?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does this e-mail actually admit? — Q3 ·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783080"/>
            <a:ext cx="1109167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3.</a:t>
            </a:r>
            <a:r>
              <a:rPr lang="en-US" sz="2000" dirty="0">
                <a:solidFill>
                  <a:schemeClr val="tx1"/>
                </a:solidFill>
              </a:rPr>
              <a:t> One sentence in this e-mail helps our case more than it helps his. Which one, and why?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→ </a:t>
            </a:r>
            <a:r>
              <a:rPr lang="en-US" sz="2000" b="1" i="1" dirty="0">
                <a:solidFill>
                  <a:schemeClr val="tx2"/>
                </a:solidFill>
              </a:rPr>
              <a:t>“Everything was dry when my team left at 19.58.”</a:t>
            </a:r>
            <a:r>
              <a:rPr lang="en-US" sz="2000" b="1" dirty="0">
                <a:solidFill>
                  <a:schemeClr val="tx2"/>
                </a:solidFill>
              </a:rPr>
              <a:t> It matches Exhibit A and gives a </a:t>
            </a:r>
            <a:r>
              <a:rPr lang="en-US" sz="2000" b="1" dirty="0">
                <a:solidFill>
                  <a:schemeClr val="tx2"/>
                </a:solidFill>
              </a:rPr>
              <a:t>dry reference point</a:t>
            </a:r>
            <a:r>
              <a:rPr lang="en-US" sz="2000" b="1" dirty="0">
                <a:solidFill>
                  <a:schemeClr val="tx2"/>
                </a:solidFill>
              </a:rPr>
              <a:t>: the leak started </a:t>
            </a:r>
            <a:r>
              <a:rPr lang="en-US" sz="2000" b="1" dirty="0">
                <a:solidFill>
                  <a:schemeClr val="tx2"/>
                </a:solidFill>
              </a:rPr>
              <a:t>after 19.58</a:t>
            </a:r>
            <a:r>
              <a:rPr lang="en-US" sz="2000" b="1" dirty="0">
                <a:solidFill>
                  <a:schemeClr val="tx2"/>
                </a:solidFill>
              </a:rPr>
              <a:t> — a </a:t>
            </a:r>
            <a:r>
              <a:rPr lang="en-US" sz="2000" b="1" dirty="0">
                <a:solidFill>
                  <a:schemeClr val="tx2"/>
                </a:solidFill>
              </a:rPr>
              <a:t>sudden</a:t>
            </a:r>
            <a:r>
              <a:rPr lang="en-US" sz="2000" b="1" dirty="0">
                <a:solidFill>
                  <a:schemeClr val="tx2"/>
                </a:solidFill>
              </a:rPr>
              <a:t> event, the kind an insurer covers.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4.</a:t>
            </a:r>
            <a:r>
              <a:rPr lang="en-US" sz="2000" dirty="0">
                <a:solidFill>
                  <a:schemeClr val="tx1"/>
                </a:solidFill>
              </a:rPr>
              <a:t> He offers something for this afternoon. Should we accept it today? One line, with your reason.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→ </a:t>
            </a:r>
            <a:r>
              <a:rPr lang="en-US" sz="2000" b="1" dirty="0">
                <a:solidFill>
                  <a:schemeClr val="tx2"/>
                </a:solidFill>
              </a:rPr>
              <a:t>Not today</a:t>
            </a:r>
            <a:r>
              <a:rPr lang="en-US" sz="2000" b="1" dirty="0">
                <a:solidFill>
                  <a:schemeClr val="tx2"/>
                </a:solidFill>
              </a:rPr>
              <a:t>: first get his </a:t>
            </a:r>
            <a:r>
              <a:rPr lang="en-US" sz="2000" b="1" dirty="0">
                <a:solidFill>
                  <a:schemeClr val="tx2"/>
                </a:solidFill>
              </a:rPr>
              <a:t>signed written statement</a:t>
            </a:r>
            <a:r>
              <a:rPr lang="en-US" sz="2000" b="1" dirty="0">
                <a:solidFill>
                  <a:schemeClr val="tx2"/>
                </a:solidFill>
              </a:rPr>
              <a:t> — his team is an interested party and the cause is not established. (Accept any justified answer.)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5.</a:t>
            </a:r>
            <a:r>
              <a:rPr lang="en-US" sz="2000" dirty="0">
                <a:solidFill>
                  <a:schemeClr val="tx1"/>
                </a:solidFill>
              </a:rPr>
              <a:t> He writes “I have never seen this pipe before.” Why should that sentence make you uncomfortable, given what Samuel said at 8.15?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→ </a:t>
            </a:r>
            <a:r>
              <a:rPr lang="en-US" sz="2000" b="1" dirty="0">
                <a:solidFill>
                  <a:schemeClr val="tx2"/>
                </a:solidFill>
              </a:rPr>
              <a:t>Samuel: </a:t>
            </a:r>
            <a:r>
              <a:rPr lang="en-US" sz="2000" b="1" i="1" dirty="0">
                <a:solidFill>
                  <a:schemeClr val="tx2"/>
                </a:solidFill>
              </a:rPr>
              <a:t>“It might be the same pipe as last November. We have had trouble with it since the summer.”</a:t>
            </a:r>
            <a:r>
              <a:rPr lang="en-US" sz="2000" b="1" dirty="0">
                <a:solidFill>
                  <a:schemeClr val="tx2"/>
                </a:solidFill>
              </a:rPr>
              <a:t> A known, repeated problem — and a team working next to it says it has </a:t>
            </a:r>
            <a:r>
              <a:rPr lang="en-US" sz="2000" b="1" dirty="0">
                <a:solidFill>
                  <a:schemeClr val="tx2"/>
                </a:solidFill>
              </a:rPr>
              <a:t>never seen it</a:t>
            </a:r>
            <a:r>
              <a:rPr lang="en-US" sz="2000" b="1" dirty="0">
                <a:solidFill>
                  <a:schemeClr val="tx2"/>
                </a:solidFill>
              </a:rPr>
              <a:t>: the denial draws attention to the pipe.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Six verbs the assessor listens for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SAYS IT IS TRUE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claim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affirmer, prétendre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980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 </a:t>
            </a:r>
            <a:r>
              <a:rPr lang="en-US" sz="1700" b="1" dirty="0">
                <a:solidFill>
                  <a:schemeClr val="tx1"/>
                </a:solidFill>
              </a:rPr>
              <a:t>claims</a:t>
            </a:r>
            <a:r>
              <a:rPr lang="en-US" sz="1700" dirty="0">
                <a:solidFill>
                  <a:schemeClr val="tx1"/>
                </a:solidFill>
              </a:rPr>
              <a:t> that the pipe is old.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292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1408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SAYS YES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1408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admit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51408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reconnaître, avouer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1408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1408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 </a:t>
            </a:r>
            <a:r>
              <a:rPr lang="en-US" sz="1700" b="1" dirty="0">
                <a:solidFill>
                  <a:schemeClr val="tx1"/>
                </a:solidFill>
              </a:rPr>
              <a:t>admits</a:t>
            </a:r>
            <a:r>
              <a:rPr lang="en-US" sz="1700" dirty="0">
                <a:solidFill>
                  <a:schemeClr val="tx1"/>
                </a:solidFill>
              </a:rPr>
              <a:t> that his team worked in zone 2F until 19.58.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077200" y="1783080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78368" y="192938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SAYS NO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78368" y="2221992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deny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78368" y="2752344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nier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278368" y="3118104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8368" y="3209544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 </a:t>
            </a:r>
            <a:r>
              <a:rPr lang="en-US" sz="1700" b="1" dirty="0">
                <a:solidFill>
                  <a:schemeClr val="tx1"/>
                </a:solidFill>
              </a:rPr>
              <a:t>denies</a:t>
            </a:r>
            <a:r>
              <a:rPr lang="en-US" sz="1700" dirty="0">
                <a:solidFill>
                  <a:schemeClr val="tx1"/>
                </a:solidFill>
              </a:rPr>
              <a:t> any responsibility for the leak.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SAYS YES — RELUCTANTLY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concede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concéder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49808" y="5481828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e-mail </a:t>
            </a:r>
            <a:r>
              <a:rPr lang="en-US" sz="1700" b="1" dirty="0">
                <a:solidFill>
                  <a:schemeClr val="tx1"/>
                </a:solidFill>
              </a:rPr>
              <a:t>concedes</a:t>
            </a:r>
            <a:r>
              <a:rPr lang="en-US" sz="1700" dirty="0">
                <a:solidFill>
                  <a:schemeClr val="tx1"/>
                </a:solidFill>
              </a:rPr>
              <a:t> that the room was dry at 19.58.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431292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1408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POINTS AT SOMEBODY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1408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blame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451408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rejeter la faute sur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514088" y="5481828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1408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He </a:t>
            </a:r>
            <a:r>
              <a:rPr lang="en-US" sz="1700" b="1" dirty="0">
                <a:solidFill>
                  <a:schemeClr val="tx1"/>
                </a:solidFill>
              </a:rPr>
              <a:t>blames</a:t>
            </a:r>
            <a:r>
              <a:rPr lang="en-US" sz="1700" dirty="0">
                <a:solidFill>
                  <a:schemeClr val="tx1"/>
                </a:solidFill>
              </a:rPr>
              <a:t> the old pipe, not his team.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077200" y="4146804"/>
            <a:ext cx="3563112" cy="2162556"/>
          </a:xfrm>
          <a:prstGeom prst="roundRect">
            <a:avLst>
              <a:gd name="adj" fmla="val 3383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78368" y="42931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5"/>
                </a:solidFill>
              </a:rPr>
              <a:t>CONFIRMS RECEIPT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278368" y="4585716"/>
            <a:ext cx="3160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acknowledge</a:t>
            </a:r>
            <a:endParaRPr lang="en-US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8278368" y="5116068"/>
            <a:ext cx="316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accuser réception, reconnaître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278368" y="5481828"/>
            <a:ext cx="3160776" cy="0"/>
          </a:xfrm>
          <a:prstGeom prst="line">
            <a:avLst/>
          </a:prstGeom>
          <a:noFill/>
          <a:ln w="9525">
            <a:solidFill>
              <a:srgbClr val="C9D1D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78368" y="5573268"/>
            <a:ext cx="31607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Please </a:t>
            </a:r>
            <a:r>
              <a:rPr lang="en-US" sz="1700" b="1" dirty="0">
                <a:solidFill>
                  <a:schemeClr val="tx1"/>
                </a:solidFill>
              </a:rPr>
              <a:t>acknowledge</a:t>
            </a:r>
            <a:r>
              <a:rPr lang="en-US" sz="1700" dirty="0">
                <a:solidFill>
                  <a:schemeClr val="tx1"/>
                </a:solidFill>
              </a:rPr>
              <a:t> receipt of this e-mail.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Fact, opinion or contradicted?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3C7A3C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057400"/>
            <a:ext cx="3514344" cy="228600"/>
          </a:xfrm>
          <a:prstGeom prst="rect">
            <a:avLst/>
          </a:prstGeom>
          <a:solidFill>
            <a:srgbClr val="3C7A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IT IS A FACT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log </a:t>
            </a:r>
            <a:r>
              <a:rPr lang="en-US" sz="2000" b="1" dirty="0">
                <a:solidFill>
                  <a:schemeClr val="tx1"/>
                </a:solidFill>
              </a:rPr>
              <a:t>shows</a:t>
            </a:r>
            <a:r>
              <a:rPr lang="en-US" sz="2000" dirty="0">
                <a:solidFill>
                  <a:schemeClr val="tx1"/>
                </a:solidFill>
              </a:rPr>
              <a:t> that … </a:t>
            </a:r>
            <a:r>
              <a:rPr lang="en-US" sz="2000" i="1" dirty="0">
                <a:solidFill>
                  <a:schemeClr val="tx1"/>
                </a:solidFill>
              </a:rPr>
              <a:t>(S6)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is </a:t>
            </a:r>
            <a:r>
              <a:rPr lang="en-US" sz="2000" b="1" dirty="0">
                <a:solidFill>
                  <a:schemeClr val="tx1"/>
                </a:solidFill>
              </a:rPr>
              <a:t>confirmed by</a:t>
            </a:r>
            <a:r>
              <a:rPr lang="en-US" sz="2000" dirty="0">
                <a:solidFill>
                  <a:schemeClr val="tx1"/>
                </a:solidFill>
              </a:rPr>
              <a:t> Exhibit A.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matches</a:t>
            </a:r>
            <a:r>
              <a:rPr lang="en-US" sz="2000" dirty="0">
                <a:solidFill>
                  <a:schemeClr val="tx1"/>
                </a:solidFill>
              </a:rPr>
              <a:t> the log exactly.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337304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37304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C0752A"/>
          </a:solidFill>
          <a:ln/>
        </p:spPr>
      </p:sp>
      <p:sp>
        <p:nvSpPr>
          <p:cNvPr id="14" name="Shape 10"/>
          <p:cNvSpPr/>
          <p:nvPr/>
        </p:nvSpPr>
        <p:spPr>
          <a:xfrm>
            <a:off x="4337304" y="2057400"/>
            <a:ext cx="3514344" cy="228600"/>
          </a:xfrm>
          <a:prstGeom prst="rect">
            <a:avLst/>
          </a:prstGeom>
          <a:solidFill>
            <a:srgbClr val="C075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84" y="18928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04232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IT IS AN OPINION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20184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He </a:t>
            </a:r>
            <a:r>
              <a:rPr lang="en-US" sz="2000" b="1" dirty="0">
                <a:solidFill>
                  <a:schemeClr val="tx1"/>
                </a:solidFill>
              </a:rPr>
              <a:t>claims</a:t>
            </a:r>
            <a:r>
              <a:rPr lang="en-US" sz="2000" dirty="0">
                <a:solidFill>
                  <a:schemeClr val="tx1"/>
                </a:solidFill>
              </a:rPr>
              <a:t> that … </a:t>
            </a:r>
            <a:r>
              <a:rPr lang="en-US" sz="2000" i="1" dirty="0">
                <a:solidFill>
                  <a:schemeClr val="tx1"/>
                </a:solidFill>
              </a:rPr>
              <a:t>(S6)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is </a:t>
            </a:r>
            <a:r>
              <a:rPr lang="en-US" sz="2000" b="1" dirty="0">
                <a:solidFill>
                  <a:schemeClr val="tx1"/>
                </a:solidFill>
              </a:rPr>
              <a:t>only his opinion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Nothing in the file supports</a:t>
            </a:r>
            <a:r>
              <a:rPr lang="en-US" sz="2000" dirty="0">
                <a:solidFill>
                  <a:schemeClr val="tx1"/>
                </a:solidFill>
              </a:rPr>
              <a:t> this.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According to</a:t>
            </a:r>
            <a:r>
              <a:rPr lang="en-US" sz="2000" dirty="0">
                <a:solidFill>
                  <a:schemeClr val="tx1"/>
                </a:solidFill>
              </a:rPr>
              <a:t> him, …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8125968" y="1783080"/>
            <a:ext cx="3514344" cy="359359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125968" y="1783080"/>
            <a:ext cx="3514344" cy="502920"/>
          </a:xfrm>
          <a:prstGeom prst="roundRect">
            <a:avLst>
              <a:gd name="adj" fmla="val 18182"/>
            </a:avLst>
          </a:prstGeom>
          <a:solidFill>
            <a:srgbClr val="B03A2E"/>
          </a:solidFill>
          <a:ln/>
        </p:spPr>
      </p:sp>
      <p:sp>
        <p:nvSpPr>
          <p:cNvPr id="20" name="Shape 15"/>
          <p:cNvSpPr/>
          <p:nvPr/>
        </p:nvSpPr>
        <p:spPr>
          <a:xfrm>
            <a:off x="8125968" y="2057400"/>
            <a:ext cx="3514344" cy="228600"/>
          </a:xfrm>
          <a:prstGeom prst="rect">
            <a:avLst/>
          </a:prstGeom>
          <a:solidFill>
            <a:srgbClr val="B03A2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9280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92896" y="178308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IT IS CONTRADICTED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08848" y="2441448"/>
            <a:ext cx="3148584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is </a:t>
            </a:r>
            <a:r>
              <a:rPr lang="en-US" sz="2000" b="1" dirty="0">
                <a:solidFill>
                  <a:schemeClr val="tx1"/>
                </a:solidFill>
              </a:rPr>
              <a:t>contradicted by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does not match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two accounts </a:t>
            </a:r>
            <a:r>
              <a:rPr lang="en-US" sz="2000" b="1" dirty="0">
                <a:solidFill>
                  <a:schemeClr val="tx1"/>
                </a:solidFill>
              </a:rPr>
              <a:t>differ</a:t>
            </a:r>
            <a:r>
              <a:rPr lang="en-US" sz="2000" dirty="0">
                <a:solidFill>
                  <a:schemeClr val="tx1"/>
                </a:solidFill>
              </a:rPr>
              <a:t> on …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56509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3C7A3C">
              <a:alpha val="8000"/>
            </a:srgbClr>
          </a:solidFill>
          <a:ln w="12700">
            <a:solidFill>
              <a:srgbClr val="3C7A3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97296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5705856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Séance 8 — </a:t>
            </a:r>
            <a:r>
              <a:rPr lang="en-US" sz="1800" b="1" dirty="0">
                <a:solidFill>
                  <a:schemeClr val="tx1"/>
                </a:solidFill>
              </a:rPr>
              <a:t>no record ≠ nobody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The log does not show anybody</a:t>
            </a:r>
            <a:r>
              <a:rPr lang="en-US" sz="1800" dirty="0">
                <a:solidFill>
                  <a:schemeClr val="tx1"/>
                </a:solidFill>
              </a:rPr>
              <a:t> is a fact; </a:t>
            </a:r>
            <a:r>
              <a:rPr lang="en-US" sz="1800" i="1" dirty="0">
                <a:solidFill>
                  <a:schemeClr val="tx1"/>
                </a:solidFill>
              </a:rPr>
              <a:t>Nobody was there</a:t>
            </a:r>
            <a:r>
              <a:rPr lang="en-US" sz="1800" dirty="0">
                <a:solidFill>
                  <a:schemeClr val="tx1"/>
                </a:solidFill>
              </a:rPr>
              <a:t> is not.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Sort the file: fact, opinion or contradicted?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Nine statements about the night. Check each one against the file.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2176272"/>
          </a:xfrm>
          <a:prstGeom prst="roundRect">
            <a:avLst>
              <a:gd name="adj" fmla="val 3361"/>
            </a:avLst>
          </a:prstGeom>
          <a:solidFill>
            <a:srgbClr val="C0752A">
              <a:alpha val="8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237232"/>
            <a:ext cx="10058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STATEMENTS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2420112"/>
            <a:ext cx="184505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pipe is old.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10432" y="2420112"/>
            <a:ext cx="3046984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Unit 3 shut down at midnight.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85432" y="2420112"/>
            <a:ext cx="249224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team left at 19.58.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37360" y="2895600"/>
            <a:ext cx="341680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pipe has never leaked before.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82184" y="2895600"/>
            <a:ext cx="341680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works did not touch the pipe.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3371088"/>
            <a:ext cx="46187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Humidity alarm: 3 minutes after the first one.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84112" y="3371088"/>
            <a:ext cx="3324352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notification was never sent.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37360" y="3846576"/>
            <a:ext cx="2307336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 team is not late.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72712" y="3846576"/>
            <a:ext cx="3879088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 notification was delivered at 23.42.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687824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3C7A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4687824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FACT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the file shows it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401056"/>
            <a:ext cx="3563112" cy="908304"/>
          </a:xfrm>
          <a:prstGeom prst="roundRect">
            <a:avLst>
              <a:gd name="adj" fmla="val 8054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312920" y="4687824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C075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404360" y="4687824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OPINION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nothing supports it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12920" y="5401056"/>
            <a:ext cx="3563112" cy="908304"/>
          </a:xfrm>
          <a:prstGeom prst="roundRect">
            <a:avLst>
              <a:gd name="adj" fmla="val 8054"/>
            </a:avLst>
          </a:prstGeom>
          <a:solidFill>
            <a:srgbClr val="C0752A">
              <a:alpha val="6000"/>
            </a:srgbClr>
          </a:solidFill>
          <a:ln w="12700">
            <a:solidFill>
              <a:srgbClr val="C0752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8077200" y="4687824"/>
            <a:ext cx="3563112" cy="658368"/>
          </a:xfrm>
          <a:prstGeom prst="roundRect">
            <a:avLst>
              <a:gd name="adj" fmla="val 11111"/>
            </a:avLst>
          </a:prstGeom>
          <a:solidFill>
            <a:srgbClr val="B03A2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68640" y="4687824"/>
            <a:ext cx="338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CONTRADICTED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the file says otherwise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77200" y="5401056"/>
            <a:ext cx="3563112" cy="908304"/>
          </a:xfrm>
          <a:prstGeom prst="roundRect">
            <a:avLst>
              <a:gd name="adj" fmla="val 8054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Sort the file: fact, opinion or contradicted?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Nine statements about the night. Check each one against the file.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3C7A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FACT  </a:t>
            </a:r>
            <a:r>
              <a:rPr lang="en-US" sz="1200" i="1" dirty="0">
                <a:solidFill>
                  <a:schemeClr val="bg1"/>
                </a:solidFill>
              </a:rPr>
              <a:t>the file shows 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3C7A3C">
              <a:alpha val="6000"/>
            </a:srgbClr>
          </a:solidFill>
          <a:ln w="12700">
            <a:solidFill>
              <a:srgbClr val="3C7A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team left at 19.58. — </a:t>
            </a:r>
            <a:r>
              <a:rPr lang="en-US" sz="1600" i="1" dirty="0">
                <a:solidFill>
                  <a:schemeClr val="tx1"/>
                </a:solidFill>
              </a:rPr>
              <a:t>Exhibit 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535680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Humidity alarm 3 min later. — </a:t>
            </a:r>
            <a:r>
              <a:rPr lang="en-US" sz="1600" i="1" dirty="0">
                <a:solidFill>
                  <a:schemeClr val="tx1"/>
                </a:solidFill>
              </a:rPr>
              <a:t>Exhibit 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8368" y="4248912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Delivered at 23.42. — </a:t>
            </a:r>
            <a:r>
              <a:rPr lang="en-US" sz="1600" i="1" dirty="0">
                <a:solidFill>
                  <a:schemeClr val="tx1"/>
                </a:solidFill>
              </a:rPr>
              <a:t>Exhibit 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1292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C0752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0436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OPINION  </a:t>
            </a:r>
            <a:r>
              <a:rPr lang="en-US" sz="1200" i="1" dirty="0">
                <a:solidFill>
                  <a:schemeClr val="bg1"/>
                </a:solidFill>
              </a:rPr>
              <a:t>nothing supports it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1292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C0752A">
              <a:alpha val="6000"/>
            </a:srgb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2264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pipe is old. — </a:t>
            </a:r>
            <a:r>
              <a:rPr lang="en-US" sz="1600" i="1" dirty="0">
                <a:solidFill>
                  <a:schemeClr val="tx1"/>
                </a:solidFill>
              </a:rPr>
              <a:t>Verdier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22648" y="3535680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works did not touch the pipe. — </a:t>
            </a:r>
            <a:r>
              <a:rPr lang="en-US" sz="1600" i="1" dirty="0">
                <a:solidFill>
                  <a:schemeClr val="tx1"/>
                </a:solidFill>
              </a:rPr>
              <a:t>no evidence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22648" y="4248912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075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His team is not late. — </a:t>
            </a:r>
            <a:r>
              <a:rPr lang="en-US" sz="1600" i="1" dirty="0">
                <a:solidFill>
                  <a:schemeClr val="tx1"/>
                </a:solidFill>
              </a:rPr>
              <a:t>his word only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77200" y="2237232"/>
            <a:ext cx="3563112" cy="438912"/>
          </a:xfrm>
          <a:prstGeom prst="roundRect">
            <a:avLst>
              <a:gd name="adj" fmla="val 16667"/>
            </a:avLst>
          </a:prstGeom>
          <a:solidFill>
            <a:srgbClr val="B03A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68640" y="2237232"/>
            <a:ext cx="338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CONTRADICTED  </a:t>
            </a:r>
            <a:r>
              <a:rPr lang="en-US" sz="1200" i="1" dirty="0">
                <a:solidFill>
                  <a:schemeClr val="bg1"/>
                </a:solidFill>
              </a:rPr>
              <a:t>the file says otherwise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77200" y="2731008"/>
            <a:ext cx="3563112" cy="3578352"/>
          </a:xfrm>
          <a:prstGeom prst="roundRect">
            <a:avLst>
              <a:gd name="adj" fmla="val 2053"/>
            </a:avLst>
          </a:prstGeom>
          <a:solidFill>
            <a:srgbClr val="B03A2E">
              <a:alpha val="6000"/>
            </a:srgbClr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6928" y="2822448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 3 shut down at midnight. — </a:t>
            </a:r>
            <a:r>
              <a:rPr lang="en-US" sz="1600" i="1" dirty="0">
                <a:solidFill>
                  <a:schemeClr val="tx1"/>
                </a:solidFill>
              </a:rPr>
              <a:t>log: 02:16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186928" y="3535680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 any trouble before. — </a:t>
            </a:r>
            <a:r>
              <a:rPr lang="en-US" sz="1600" i="1" dirty="0">
                <a:solidFill>
                  <a:schemeClr val="tx1"/>
                </a:solidFill>
              </a:rPr>
              <a:t>Samuel: last November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86928" y="4248912"/>
            <a:ext cx="3343656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 sent. — </a:t>
            </a:r>
            <a:r>
              <a:rPr lang="en-US" sz="1600" i="1" dirty="0">
                <a:solidFill>
                  <a:schemeClr val="tx1"/>
                </a:solidFill>
              </a:rPr>
              <a:t>log: delivered at 23:42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Cross-examination: Mr Verdier in the chair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GAME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11096"/>
            <a:ext cx="713232" cy="713232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89404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37944"/>
            <a:ext cx="9765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Verdier. Twenty assessors.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Whole class · 8 minutes · a new Verdier every three sentences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3017520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student is </a:t>
            </a:r>
            <a:r>
              <a:rPr lang="en-US" sz="1700" b="1" dirty="0">
                <a:solidFill>
                  <a:schemeClr val="tx1"/>
                </a:solidFill>
              </a:rPr>
              <a:t>Paul Verdier</a:t>
            </a:r>
            <a:r>
              <a:rPr lang="en-US" sz="1700" dirty="0">
                <a:solidFill>
                  <a:schemeClr val="tx1"/>
                </a:solidFill>
              </a:rPr>
              <a:t>. He reads one sentence of his e-mail — or invents a new excuse.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3707892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653028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class are </a:t>
            </a:r>
            <a:r>
              <a:rPr lang="en-US" sz="1700" b="1" dirty="0">
                <a:solidFill>
                  <a:schemeClr val="tx1"/>
                </a:solidFill>
              </a:rPr>
              <a:t>assessors</a:t>
            </a:r>
            <a:r>
              <a:rPr lang="en-US" sz="1700" dirty="0">
                <a:solidFill>
                  <a:schemeClr val="tx1"/>
                </a:solidFill>
              </a:rPr>
              <a:t>. The first to stand up answers with a phrase from the box.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4288536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Verdier may protest once: </a:t>
            </a:r>
            <a:r>
              <a:rPr lang="en-US" sz="1700" i="1" dirty="0">
                <a:solidFill>
                  <a:schemeClr val="tx1"/>
                </a:solidFill>
              </a:rPr>
              <a:t>“I never said that!”</a:t>
            </a:r>
            <a:r>
              <a:rPr lang="en-US" sz="1700" dirty="0">
                <a:solidFill>
                  <a:schemeClr val="tx1"/>
                </a:solidFill>
              </a:rPr>
              <a:t> — the assessor must then </a:t>
            </a:r>
            <a:r>
              <a:rPr lang="en-US" sz="1700" b="1" dirty="0">
                <a:solidFill>
                  <a:schemeClr val="tx1"/>
                </a:solidFill>
              </a:rPr>
              <a:t>quote</a:t>
            </a:r>
            <a:r>
              <a:rPr lang="en-US" sz="1700" dirty="0">
                <a:solidFill>
                  <a:schemeClr val="tx1"/>
                </a:solidFill>
              </a:rPr>
              <a:t> the e-mail.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48640" y="4978908"/>
            <a:ext cx="365760" cy="365760"/>
          </a:xfrm>
          <a:prstGeom prst="ellipse">
            <a:avLst/>
          </a:prstGeom>
          <a:solidFill>
            <a:srgbClr val="B4236A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4924044"/>
            <a:ext cx="589788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After three sentences, a new Verdier takes the chair.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360920" y="3017520"/>
            <a:ext cx="4279392" cy="2542032"/>
          </a:xfrm>
          <a:prstGeom prst="roundRect">
            <a:avLst>
              <a:gd name="adj" fmla="val 2878"/>
            </a:avLst>
          </a:prstGeom>
          <a:solidFill>
            <a:srgbClr val="6E4A9E">
              <a:alpha val="8000"/>
            </a:srgbClr>
          </a:solidFill>
          <a:ln w="9525">
            <a:solidFill>
              <a:srgbClr val="6E4A9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27848" y="31546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chemeClr val="accent4"/>
                </a:solidFill>
              </a:rPr>
              <a:t>THE ASSESSOR SAYS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562088" y="3611880"/>
            <a:ext cx="38953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 is a </a:t>
            </a:r>
            <a:r>
              <a:rPr lang="en-US" sz="1400" b="1" dirty="0">
                <a:solidFill>
                  <a:schemeClr val="tx1"/>
                </a:solidFill>
              </a:rPr>
              <a:t>fact</a:t>
            </a:r>
            <a:r>
              <a:rPr lang="en-US" sz="1400" dirty="0">
                <a:solidFill>
                  <a:schemeClr val="tx1"/>
                </a:solidFill>
              </a:rPr>
              <a:t>: the log </a:t>
            </a:r>
            <a:r>
              <a:rPr lang="en-US" sz="1400" b="1" dirty="0">
                <a:solidFill>
                  <a:schemeClr val="tx1"/>
                </a:solidFill>
              </a:rPr>
              <a:t>shows</a:t>
            </a:r>
            <a:r>
              <a:rPr lang="en-US" sz="1400" dirty="0">
                <a:solidFill>
                  <a:schemeClr val="tx1"/>
                </a:solidFill>
              </a:rPr>
              <a:t> that …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 is only </a:t>
            </a:r>
            <a:r>
              <a:rPr lang="en-US" sz="1400" b="1" dirty="0">
                <a:solidFill>
                  <a:schemeClr val="tx1"/>
                </a:solidFill>
              </a:rPr>
              <a:t>your opinion</a:t>
            </a:r>
            <a:r>
              <a:rPr lang="en-US" sz="1400" dirty="0">
                <a:solidFill>
                  <a:schemeClr val="tx1"/>
                </a:solidFill>
              </a:rPr>
              <a:t>: nothing in the file </a:t>
            </a:r>
            <a:r>
              <a:rPr lang="en-US" sz="1400" b="1" dirty="0">
                <a:solidFill>
                  <a:schemeClr val="tx1"/>
                </a:solidFill>
              </a:rPr>
              <a:t>supports</a:t>
            </a:r>
            <a:r>
              <a:rPr lang="en-US" sz="1400" dirty="0">
                <a:solidFill>
                  <a:schemeClr val="tx1"/>
                </a:solidFill>
              </a:rPr>
              <a:t> it.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That is </a:t>
            </a:r>
            <a:r>
              <a:rPr lang="en-US" sz="1400" b="1" dirty="0">
                <a:solidFill>
                  <a:schemeClr val="tx1"/>
                </a:solidFill>
              </a:rPr>
              <a:t>contradicted by</a:t>
            </a:r>
            <a:r>
              <a:rPr lang="en-US" sz="1400" dirty="0">
                <a:solidFill>
                  <a:schemeClr val="tx1"/>
                </a:solidFill>
              </a:rPr>
              <a:t> Exhibit A.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you </a:t>
            </a:r>
            <a:r>
              <a:rPr lang="en-US" sz="1400" b="1" dirty="0">
                <a:solidFill>
                  <a:schemeClr val="tx1"/>
                </a:solidFill>
              </a:rPr>
              <a:t>admit</a:t>
            </a:r>
            <a:r>
              <a:rPr lang="en-US" sz="1400" dirty="0">
                <a:solidFill>
                  <a:schemeClr val="tx1"/>
                </a:solidFill>
              </a:rPr>
              <a:t> that …?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</a:t>
            </a:r>
            <a:r>
              <a:rPr lang="en-US" sz="1400" b="1" dirty="0">
                <a:solidFill>
                  <a:schemeClr val="tx1"/>
                </a:solidFill>
              </a:rPr>
              <a:t>deny</a:t>
            </a:r>
            <a:r>
              <a:rPr lang="en-US" sz="1400" dirty="0">
                <a:solidFill>
                  <a:schemeClr val="tx1"/>
                </a:solidFill>
              </a:rPr>
              <a:t> …, but can you </a:t>
            </a:r>
            <a:r>
              <a:rPr lang="en-US" sz="1400" b="1" dirty="0">
                <a:solidFill>
                  <a:schemeClr val="tx1"/>
                </a:solidFill>
              </a:rPr>
              <a:t>prove</a:t>
            </a:r>
            <a:r>
              <a:rPr lang="en-US" sz="1400" dirty="0">
                <a:solidFill>
                  <a:schemeClr val="tx1"/>
                </a:solidFill>
              </a:rPr>
              <a:t> it?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C0752A">
              <a:alpha val="10000"/>
            </a:srgbClr>
          </a:solidFill>
          <a:ln w="12700">
            <a:solidFill>
              <a:srgbClr val="C0752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87044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5742432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win —</a:t>
            </a:r>
            <a:r>
              <a:rPr lang="en-US" sz="1700" dirty="0">
                <a:solidFill>
                  <a:schemeClr val="tx1"/>
                </a:solidFill>
              </a:rPr>
              <a:t> name a fact, an opinion </a:t>
            </a:r>
            <a:r>
              <a:rPr lang="en-US" sz="1700" b="1" dirty="0">
                <a:solidFill>
                  <a:schemeClr val="tx1"/>
                </a:solidFill>
              </a:rPr>
              <a:t>and</a:t>
            </a:r>
            <a:r>
              <a:rPr lang="en-US" sz="1700" dirty="0">
                <a:solidFill>
                  <a:schemeClr val="tx1"/>
                </a:solidFill>
              </a:rPr>
              <a:t> a contradiction in one round — and you take Verdier’s chair.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Ten words that do not mean what they look like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WORD FILE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26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6336792"/>
              </a:tblGrid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CE N’EST PAS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C’EST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control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contrôler = vérifier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maîtriser, piloter. Vérifier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check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actually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actuellement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 fait. Actuellement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currently, at present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eventually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éventuellement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finalement. Éventuellement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possibly, if necessary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delay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un délai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retard. Un délai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 deadline, a time limit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assist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assister à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aider. Assister à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attend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demand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demander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exiger. Demander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ask for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sensible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sensible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raisonnable. Sensible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sensitive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resume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résumer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reprendre. Résumer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summarise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issue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une issue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 problème. Une issue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 exit, an outcome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achieve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achever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atteindre, réussir. Achever =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 complete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Eight more traps of the office: true or false?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Is the English translation right? </a:t>
            </a:r>
            <a:r>
              <a:rPr lang="en-US" sz="1600" b="1" i="1" dirty="0">
                <a:solidFill>
                  <a:schemeClr val="accent5"/>
                </a:solidFill>
              </a:rPr>
              <a:t>T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F</a:t>
            </a:r>
            <a:r>
              <a:rPr lang="en-US" sz="1600" i="1" dirty="0">
                <a:solidFill>
                  <a:schemeClr val="accent5"/>
                </a:solidFill>
              </a:rPr>
              <a:t> — then give the right word.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37232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37232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formation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formation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05872" y="231038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000232" y="231038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759964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9964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759964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prétendre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pretend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405872" y="283311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000232" y="283311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82696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282696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sympathique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sympathetic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405872" y="335584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000232" y="335584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3805428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805428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805428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librairie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bookshop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405872" y="387858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000232" y="387858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328160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328160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4328160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réaliser un projet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realise a project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0405872" y="4401312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000232" y="4401312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850892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850892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4850892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 agenda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diary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05872" y="492404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1000232" y="492404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48640" y="5373624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373624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7.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5373624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supporter quelqu’un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support somebody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0405872" y="544677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1000232" y="544677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48640" y="5896356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5800" y="5896356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5896356"/>
            <a:ext cx="8531352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location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rental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10405872" y="596950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1000232" y="596950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Eight more traps of the office: true or false?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Is the English translation right? </a:t>
            </a:r>
            <a:r>
              <a:rPr lang="en-US" sz="1600" b="1" i="1" dirty="0">
                <a:solidFill>
                  <a:schemeClr val="accent5"/>
                </a:solidFill>
              </a:rPr>
              <a:t>T</a:t>
            </a:r>
            <a:r>
              <a:rPr lang="en-US" sz="1600" i="1" dirty="0">
                <a:solidFill>
                  <a:schemeClr val="accent5"/>
                </a:solidFill>
              </a:rPr>
              <a:t> or </a:t>
            </a:r>
            <a:r>
              <a:rPr lang="en-US" sz="1600" b="1" i="1" dirty="0">
                <a:solidFill>
                  <a:schemeClr val="accent5"/>
                </a:solidFill>
              </a:rPr>
              <a:t>F</a:t>
            </a:r>
            <a:r>
              <a:rPr lang="en-US" sz="1600" i="1" dirty="0">
                <a:solidFill>
                  <a:schemeClr val="accent5"/>
                </a:solidFill>
              </a:rPr>
              <a:t> — then give the right word.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37232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formation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formation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37276" y="2237232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 </a:t>
            </a:r>
            <a:r>
              <a:rPr lang="en-US" sz="1200" b="1" dirty="0">
                <a:solidFill>
                  <a:schemeClr val="accent6"/>
                </a:solidFill>
              </a:rPr>
              <a:t>training</a:t>
            </a:r>
            <a:r>
              <a:rPr lang="en-US" sz="1200" b="1" dirty="0">
                <a:solidFill>
                  <a:schemeClr val="accent6"/>
                </a:solidFill>
              </a:rPr>
              <a:t> · </a:t>
            </a:r>
            <a:r>
              <a:rPr lang="en-US" sz="1200" b="1" i="1" dirty="0">
                <a:solidFill>
                  <a:schemeClr val="accent6"/>
                </a:solidFill>
              </a:rPr>
              <a:t>a formation</a:t>
            </a:r>
            <a:r>
              <a:rPr lang="en-US" sz="1200" b="1" dirty="0">
                <a:solidFill>
                  <a:schemeClr val="accent6"/>
                </a:solidFill>
              </a:rPr>
              <a:t> = une formation (rocheuse, militaire)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405872" y="231038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000232" y="2310384"/>
            <a:ext cx="266700" cy="266700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759964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759964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759964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prétendre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pretend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37276" y="2759964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 </a:t>
            </a:r>
            <a:r>
              <a:rPr lang="en-US" sz="1200" b="1" dirty="0">
                <a:solidFill>
                  <a:schemeClr val="accent6"/>
                </a:solidFill>
              </a:rPr>
              <a:t>to claim</a:t>
            </a:r>
            <a:r>
              <a:rPr lang="en-US" sz="1200" b="1" dirty="0">
                <a:solidFill>
                  <a:schemeClr val="accent6"/>
                </a:solidFill>
              </a:rPr>
              <a:t> · </a:t>
            </a:r>
            <a:r>
              <a:rPr lang="en-US" sz="1200" b="1" i="1" dirty="0">
                <a:solidFill>
                  <a:schemeClr val="accent6"/>
                </a:solidFill>
              </a:rPr>
              <a:t>to pretend</a:t>
            </a:r>
            <a:r>
              <a:rPr lang="en-US" sz="1200" b="1" dirty="0">
                <a:solidFill>
                  <a:schemeClr val="accent6"/>
                </a:solidFill>
              </a:rPr>
              <a:t> = faire semblant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405872" y="283311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000232" y="2833116"/>
            <a:ext cx="266700" cy="266700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282696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282696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282696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sympathique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sympathetic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37276" y="3282696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 </a:t>
            </a:r>
            <a:r>
              <a:rPr lang="en-US" sz="1200" b="1" dirty="0">
                <a:solidFill>
                  <a:schemeClr val="accent6"/>
                </a:solidFill>
              </a:rPr>
              <a:t>friendly, nice</a:t>
            </a:r>
            <a:r>
              <a:rPr lang="en-US" sz="1200" b="1" dirty="0">
                <a:solidFill>
                  <a:schemeClr val="accent6"/>
                </a:solidFill>
              </a:rPr>
              <a:t> · </a:t>
            </a:r>
            <a:r>
              <a:rPr lang="en-US" sz="1200" b="1" i="1" dirty="0">
                <a:solidFill>
                  <a:schemeClr val="accent6"/>
                </a:solidFill>
              </a:rPr>
              <a:t>sympathetic</a:t>
            </a:r>
            <a:r>
              <a:rPr lang="en-US" sz="1200" b="1" dirty="0">
                <a:solidFill>
                  <a:schemeClr val="accent6"/>
                </a:solidFill>
              </a:rPr>
              <a:t> = compatissant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405872" y="335584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000232" y="3355848"/>
            <a:ext cx="266700" cy="266700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3805428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805428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3805428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librairie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bookshop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637276" y="3805428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right · </a:t>
            </a:r>
            <a:r>
              <a:rPr lang="en-US" sz="1200" b="1" i="1" dirty="0">
                <a:solidFill>
                  <a:schemeClr val="accent3"/>
                </a:solidFill>
              </a:rPr>
              <a:t>a library</a:t>
            </a:r>
            <a:r>
              <a:rPr lang="en-US" sz="1200" b="1" dirty="0">
                <a:solidFill>
                  <a:schemeClr val="accent3"/>
                </a:solidFill>
              </a:rPr>
              <a:t> = une bibliothèque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405872" y="3878580"/>
            <a:ext cx="266700" cy="266700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000232" y="387858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4328160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328160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4328160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réaliser un projet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realise a project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637276" y="4328160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 </a:t>
            </a:r>
            <a:r>
              <a:rPr lang="en-US" sz="1200" b="1" dirty="0">
                <a:solidFill>
                  <a:schemeClr val="accent6"/>
                </a:solidFill>
              </a:rPr>
              <a:t>to carry out</a:t>
            </a:r>
            <a:r>
              <a:rPr lang="en-US" sz="1200" b="1" dirty="0">
                <a:solidFill>
                  <a:schemeClr val="accent6"/>
                </a:solidFill>
              </a:rPr>
              <a:t> · </a:t>
            </a:r>
            <a:r>
              <a:rPr lang="en-US" sz="1200" b="1" i="1" dirty="0">
                <a:solidFill>
                  <a:schemeClr val="accent6"/>
                </a:solidFill>
              </a:rPr>
              <a:t>to realise</a:t>
            </a:r>
            <a:r>
              <a:rPr lang="en-US" sz="1200" b="1" dirty="0">
                <a:solidFill>
                  <a:schemeClr val="accent6"/>
                </a:solidFill>
              </a:rPr>
              <a:t> = se rendre compte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405872" y="4401312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1000232" y="4401312"/>
            <a:ext cx="266700" cy="266700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48640" y="4850892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4850892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4850892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 agenda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diary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5637276" y="4850892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right · </a:t>
            </a:r>
            <a:r>
              <a:rPr lang="en-US" sz="1200" b="1" i="1" dirty="0">
                <a:solidFill>
                  <a:schemeClr val="accent3"/>
                </a:solidFill>
              </a:rPr>
              <a:t>an agenda</a:t>
            </a:r>
            <a:r>
              <a:rPr lang="en-US" sz="1200" b="1" dirty="0">
                <a:solidFill>
                  <a:schemeClr val="accent3"/>
                </a:solidFill>
              </a:rPr>
              <a:t> = un ordre du jour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405872" y="4924044"/>
            <a:ext cx="266700" cy="266700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1000232" y="4924044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548640" y="5373624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5800" y="5373624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7.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1143000" y="5373624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supporter quelqu’un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to support somebody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5637276" y="5373624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→ </a:t>
            </a:r>
            <a:r>
              <a:rPr lang="en-US" sz="1200" b="1" dirty="0">
                <a:solidFill>
                  <a:schemeClr val="accent6"/>
                </a:solidFill>
              </a:rPr>
              <a:t>to stand / to bear</a:t>
            </a:r>
            <a:r>
              <a:rPr lang="en-US" sz="1200" b="1" dirty="0">
                <a:solidFill>
                  <a:schemeClr val="accent6"/>
                </a:solidFill>
              </a:rPr>
              <a:t> · </a:t>
            </a:r>
            <a:r>
              <a:rPr lang="en-US" sz="1200" b="1" i="1" dirty="0">
                <a:solidFill>
                  <a:schemeClr val="accent6"/>
                </a:solidFill>
              </a:rPr>
              <a:t>to support</a:t>
            </a:r>
            <a:r>
              <a:rPr lang="en-US" sz="1200" b="1" dirty="0">
                <a:solidFill>
                  <a:schemeClr val="accent6"/>
                </a:solidFill>
              </a:rPr>
              <a:t> = soutenir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405872" y="5446776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T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11000232" y="5446776"/>
            <a:ext cx="266700" cy="266700"/>
          </a:xfrm>
          <a:prstGeom prst="ellipse">
            <a:avLst/>
          </a:prstGeom>
          <a:solidFill>
            <a:srgbClr val="B03A2E"/>
          </a:solidFill>
          <a:ln w="19050">
            <a:solidFill>
              <a:srgbClr val="B03A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548640" y="5896356"/>
            <a:ext cx="11091672" cy="413004"/>
          </a:xfrm>
          <a:prstGeom prst="roundRect">
            <a:avLst>
              <a:gd name="adj" fmla="val 1771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85800" y="5896356"/>
            <a:ext cx="457200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8.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1143000" y="5896356"/>
            <a:ext cx="42656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une location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a rental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5637276" y="5896356"/>
            <a:ext cx="4037076" cy="413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→ right · </a:t>
            </a:r>
            <a:r>
              <a:rPr lang="en-US" sz="1200" b="1" i="1" dirty="0">
                <a:solidFill>
                  <a:schemeClr val="accent3"/>
                </a:solidFill>
              </a:rPr>
              <a:t>a location</a:t>
            </a:r>
            <a:r>
              <a:rPr lang="en-US" sz="1200" b="1" dirty="0">
                <a:solidFill>
                  <a:schemeClr val="accent3"/>
                </a:solidFill>
              </a:rPr>
              <a:t> = un emplacement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0405872" y="5969508"/>
            <a:ext cx="266700" cy="266700"/>
          </a:xfrm>
          <a:prstGeom prst="ellipse">
            <a:avLst/>
          </a:prstGeom>
          <a:solidFill>
            <a:srgbClr val="3C7A3C"/>
          </a:solidFill>
          <a:ln w="19050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11000232" y="5969508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3CAD5"/>
                </a:solidFill>
              </a:rPr>
              <a:t>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minutes before you press forward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Choose. One word is right in each line.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37232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must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the basement this afternoon.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56448" y="230124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control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902952" y="230124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757678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the second floor is closed.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156448" y="282168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Actually,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902952" y="282168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Currently,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278124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There was a two-day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before we were told.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156448" y="334213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delay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9902952" y="334213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deadline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798570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Three colleagues will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the meeting.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156448" y="3862578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assist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9902952" y="3862578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attend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4319016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insurer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the alarm log.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156448" y="4383024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demanded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9902952" y="4383024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asked for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4839462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report must reach her before the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8156448" y="490347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delay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9902952" y="490347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deadline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7.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5359908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Work on the second floor will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on Monday.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156448" y="542391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resume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902952" y="542391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summarise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8.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5880354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would not be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r>
              <a:rPr lang="en-US" sz="2000" dirty="0">
                <a:solidFill>
                  <a:schemeClr val="tx1"/>
                </a:solidFill>
              </a:rPr>
              <a:t> to blame the cabling team.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156448" y="594436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sensible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9902952" y="594436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sensitive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minutes before you press forward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Line 3 is the trap: </a:t>
            </a:r>
            <a:r>
              <a:rPr lang="en-US" sz="1600" i="1" dirty="0">
                <a:solidFill>
                  <a:schemeClr val="accent5"/>
                </a:solidFill>
              </a:rPr>
              <a:t>a two-day </a:t>
            </a:r>
            <a:r>
              <a:rPr lang="en-US" sz="1600" b="1" i="1" dirty="0">
                <a:solidFill>
                  <a:schemeClr val="accent5"/>
                </a:solidFill>
              </a:rPr>
              <a:t>delay</a:t>
            </a:r>
            <a:r>
              <a:rPr lang="en-US" sz="1600" i="1" dirty="0">
                <a:solidFill>
                  <a:schemeClr val="accent5"/>
                </a:solidFill>
              </a:rPr>
              <a:t> before we were told</a:t>
            </a:r>
            <a:r>
              <a:rPr lang="en-US" sz="1600" i="1" dirty="0">
                <a:solidFill>
                  <a:schemeClr val="accent5"/>
                </a:solidFill>
              </a:rPr>
              <a:t> = un </a:t>
            </a:r>
            <a:r>
              <a:rPr lang="en-US" sz="1600" b="1" i="1" dirty="0">
                <a:solidFill>
                  <a:schemeClr val="accent5"/>
                </a:solidFill>
              </a:rPr>
              <a:t>retard</a:t>
            </a:r>
            <a:r>
              <a:rPr lang="en-US" sz="1600" i="1" dirty="0">
                <a:solidFill>
                  <a:schemeClr val="accent5"/>
                </a:solidFill>
              </a:rPr>
              <a:t> — </a:t>
            </a:r>
            <a:r>
              <a:rPr lang="en-US" sz="1600" i="1" dirty="0">
                <a:solidFill>
                  <a:schemeClr val="accent5"/>
                </a:solidFill>
              </a:rPr>
              <a:t>delay</a:t>
            </a:r>
            <a:r>
              <a:rPr lang="en-US" sz="1600" i="1" dirty="0">
                <a:solidFill>
                  <a:schemeClr val="accent5"/>
                </a:solidFill>
              </a:rPr>
              <a:t> is right here!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3723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37232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 must </a:t>
            </a:r>
            <a:r>
              <a:rPr lang="en-US" sz="2000" b="1" dirty="0">
                <a:solidFill>
                  <a:schemeClr val="accent3"/>
                </a:solidFill>
              </a:rPr>
              <a:t>check</a:t>
            </a:r>
            <a:r>
              <a:rPr lang="en-US" sz="2000" dirty="0">
                <a:solidFill>
                  <a:schemeClr val="tx1"/>
                </a:solidFill>
              </a:rPr>
              <a:t> the basement this afternoon.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56448" y="230124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control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902952" y="230124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check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275767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75767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757678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Currently,</a:t>
            </a:r>
            <a:r>
              <a:rPr lang="en-US" sz="2000" dirty="0">
                <a:solidFill>
                  <a:schemeClr val="tx1"/>
                </a:solidFill>
              </a:rPr>
              <a:t> the second floor is closed.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56448" y="282168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Actually,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902952" y="282168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Currently,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327812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27812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278124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There was a two-day </a:t>
            </a:r>
            <a:r>
              <a:rPr lang="en-US" sz="2000" b="1" dirty="0">
                <a:solidFill>
                  <a:schemeClr val="accent3"/>
                </a:solidFill>
              </a:rPr>
              <a:t>delay</a:t>
            </a:r>
            <a:r>
              <a:rPr lang="en-US" sz="2000" dirty="0">
                <a:solidFill>
                  <a:schemeClr val="tx1"/>
                </a:solidFill>
              </a:rPr>
              <a:t> before we were told.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156448" y="334213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delay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902952" y="334213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deadline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3798570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798570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798570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Three colleagues will </a:t>
            </a:r>
            <a:r>
              <a:rPr lang="en-US" sz="2000" b="1" dirty="0">
                <a:solidFill>
                  <a:schemeClr val="accent3"/>
                </a:solidFill>
              </a:rPr>
              <a:t>attend</a:t>
            </a:r>
            <a:r>
              <a:rPr lang="en-US" sz="2000" dirty="0">
                <a:solidFill>
                  <a:schemeClr val="tx1"/>
                </a:solidFill>
              </a:rPr>
              <a:t> the meeting.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156448" y="3862578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assist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902952" y="3862578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attend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48640" y="4319016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319016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5.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143000" y="4319016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insurer </a:t>
            </a:r>
            <a:r>
              <a:rPr lang="en-US" sz="2000" b="1" dirty="0">
                <a:solidFill>
                  <a:schemeClr val="accent3"/>
                </a:solidFill>
              </a:rPr>
              <a:t>asked for</a:t>
            </a:r>
            <a:r>
              <a:rPr lang="en-US" sz="2000" dirty="0">
                <a:solidFill>
                  <a:schemeClr val="tx1"/>
                </a:solidFill>
              </a:rPr>
              <a:t> the alarm log.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156448" y="4383024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demanded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9902952" y="4383024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asked for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8640" y="4839462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4839462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" y="4839462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report must reach her before the </a:t>
            </a:r>
            <a:r>
              <a:rPr lang="en-US" sz="2000" b="1" dirty="0">
                <a:solidFill>
                  <a:schemeClr val="accent3"/>
                </a:solidFill>
              </a:rPr>
              <a:t>deadline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8156448" y="490347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delay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9902952" y="4903470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deadline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548640" y="5359908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EEF2F8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5800" y="5359908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7.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5359908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Work on the second floor will </a:t>
            </a:r>
            <a:r>
              <a:rPr lang="en-US" sz="2000" b="1" dirty="0">
                <a:solidFill>
                  <a:schemeClr val="accent3"/>
                </a:solidFill>
              </a:rPr>
              <a:t>resume</a:t>
            </a:r>
            <a:r>
              <a:rPr lang="en-US" sz="2000" dirty="0">
                <a:solidFill>
                  <a:schemeClr val="tx1"/>
                </a:solidFill>
              </a:rPr>
              <a:t> on Monday.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8156448" y="542391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resume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902952" y="5423916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summarise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548640" y="5880354"/>
            <a:ext cx="11091672" cy="429006"/>
          </a:xfrm>
          <a:prstGeom prst="roundRect">
            <a:avLst>
              <a:gd name="adj" fmla="val 17052"/>
            </a:avLst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880354"/>
            <a:ext cx="411480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8.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1143000" y="5880354"/>
            <a:ext cx="6830568" cy="429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It would not be </a:t>
            </a:r>
            <a:r>
              <a:rPr lang="en-US" sz="2000" b="1" dirty="0">
                <a:solidFill>
                  <a:schemeClr val="accent3"/>
                </a:solidFill>
              </a:rPr>
              <a:t>sensible</a:t>
            </a:r>
            <a:r>
              <a:rPr lang="en-US" sz="2000" dirty="0">
                <a:solidFill>
                  <a:schemeClr val="tx1"/>
                </a:solidFill>
              </a:rPr>
              <a:t> to blame the cabling team.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8156448" y="594436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3C7A3C"/>
          </a:solidFill>
          <a:ln w="15875">
            <a:solidFill>
              <a:srgbClr val="3C7A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sensible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9902952" y="5944362"/>
            <a:ext cx="1600200" cy="300990"/>
          </a:xfrm>
          <a:prstGeom prst="roundRect">
            <a:avLst>
              <a:gd name="adj" fmla="val 75949"/>
            </a:avLst>
          </a:prstGeom>
          <a:solidFill>
            <a:srgbClr val="F1F3F7"/>
          </a:solidFill>
          <a:ln w="15875">
            <a:solidFill>
              <a:srgbClr val="D5D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trike="sngStrike" dirty="0">
                <a:solidFill>
                  <a:schemeClr val="accent5"/>
                </a:solidFill>
              </a:rPr>
              <a:t>sensitive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Give the English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The French is on the card. Say the English before the card turns.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4432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faire remonter le problème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15512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e_ _ _ _ _ _ _ _ 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292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264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495800" y="2694432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tirer l’affaire au clair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495800" y="3715512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get to the b_ _ _ _ _ of it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7720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6928" y="2346960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60080" y="2694432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relancer quelqu’un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60080" y="3715512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ch_ _ _ somebody up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831080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rejeter la faute sur quelqu’un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5852160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sh_ _ _ the blame onto…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1292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2264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495800" y="4831080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faire suivre un e-mail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495800" y="5852160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f_ _ _ _ _ _ it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7720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86928" y="4483608"/>
            <a:ext cx="310896" cy="310896"/>
          </a:xfrm>
          <a:prstGeom prst="ellipse">
            <a:avLst/>
          </a:prstGeom>
          <a:solidFill>
            <a:srgbClr val="1F3864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260080" y="4831080"/>
            <a:ext cx="3197352" cy="119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prendre quelque chose au sérieux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260080" y="5852160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to t_ _ _ it s_ _ _ _ _ _ _ _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Give the English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B · The French is on the card. Say the English before the card turns.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48712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escalate it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29356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also: to raise the issue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84626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faire remonter le problème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1292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2264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495800" y="2648712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get to the bottom of it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495800" y="3229356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Mark, Scene 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95800" y="3484626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tirer l’affaire au clair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77200" y="2237232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186928" y="2346960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60080" y="2648712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chase sb up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260080" y="3229356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also: to follow up with sb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60080" y="3484626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relancer quelqu’un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836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785360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shift the blame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366004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also: to blame somebody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5621274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rejeter la faute sur quelqu’un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1292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42264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495800" y="4785360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forward it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4495800" y="5366004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“Fwd:” in the subject line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495800" y="5621274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faire suivre un e-mail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077200" y="4373880"/>
            <a:ext cx="3563112" cy="1935480"/>
          </a:xfrm>
          <a:prstGeom prst="roundRect">
            <a:avLst>
              <a:gd name="adj" fmla="val 3780"/>
            </a:avLst>
          </a:prstGeom>
          <a:solidFill>
            <a:srgbClr val="FFFFFF"/>
          </a:solidFill>
          <a:ln w="15875">
            <a:solidFill>
              <a:srgbClr val="B9D3B4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186928" y="4483608"/>
            <a:ext cx="310896" cy="310896"/>
          </a:xfrm>
          <a:prstGeom prst="ellipse">
            <a:avLst/>
          </a:prstGeom>
          <a:solidFill>
            <a:srgbClr val="3C7A3C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260080" y="4785360"/>
            <a:ext cx="3197352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 take it seriously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8260080" y="5366004"/>
            <a:ext cx="319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assessor will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260080" y="5621274"/>
            <a:ext cx="3197352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prendre quelque chose au sérieux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For or since? — a first look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 &amp; 30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10725912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914400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6.00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68142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1950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7.00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1885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73245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8.00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75627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26987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9.00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29370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80730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10.00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183112" y="2862072"/>
            <a:ext cx="0" cy="128016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634472" y="3035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11.00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968142" y="3383280"/>
            <a:ext cx="6849231" cy="384048"/>
          </a:xfrm>
          <a:prstGeom prst="roundRect">
            <a:avLst>
              <a:gd name="adj" fmla="val 14286"/>
            </a:avLst>
          </a:prstGeom>
          <a:solidFill>
            <a:srgbClr val="F4C542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7787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8759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732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0705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1678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2651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3623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596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95569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6542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7515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8487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9460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0433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1406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2379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3351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4324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5297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6270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7243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38215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9188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0161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1134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2107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3079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4052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5025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25998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6971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7943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58916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69889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80862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91835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02807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13780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4753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5726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46699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57671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68644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79617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90590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01563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12535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23508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34481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45454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56427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67399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8372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9345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00318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11291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22263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332366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442094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551822" y="3383280"/>
            <a:ext cx="0" cy="146304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661550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771278" y="3383280"/>
            <a:ext cx="0" cy="82296"/>
          </a:xfrm>
          <a:prstGeom prst="line">
            <a:avLst/>
          </a:prstGeom>
          <a:noFill/>
          <a:ln w="9525">
            <a:solidFill>
              <a:srgbClr val="8A6A10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968142" y="3520440"/>
            <a:ext cx="68492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 over three hours</a:t>
            </a:r>
            <a:endParaRPr lang="en-US" sz="1600" dirty="0"/>
          </a:p>
        </p:txBody>
      </p:sp>
      <p:pic>
        <p:nvPicPr>
          <p:cNvPr id="8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7101" y="3410712"/>
            <a:ext cx="329184" cy="329184"/>
          </a:xfrm>
          <a:prstGeom prst="rect">
            <a:avLst/>
          </a:prstGeom>
        </p:spPr>
      </p:pic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110" y="2359152"/>
            <a:ext cx="512064" cy="512064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1870862" y="182880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B423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since 7 o’clock</a:t>
            </a:r>
            <a:endParaRPr lang="en-US" sz="1500" dirty="0"/>
          </a:p>
        </p:txBody>
      </p:sp>
      <p:sp>
        <p:nvSpPr>
          <p:cNvPr id="86" name="Shape 81"/>
          <p:cNvSpPr/>
          <p:nvPr/>
        </p:nvSpPr>
        <p:spPr>
          <a:xfrm>
            <a:off x="9817373" y="2240280"/>
            <a:ext cx="0" cy="1527048"/>
          </a:xfrm>
          <a:prstGeom prst="line">
            <a:avLst/>
          </a:prstGeom>
          <a:noFill/>
          <a:ln w="25400">
            <a:solidFill>
              <a:srgbClr val="B03A2E"/>
            </a:solidFill>
            <a:prstDash val="dash"/>
          </a:ln>
        </p:spPr>
      </p:sp>
      <p:sp>
        <p:nvSpPr>
          <p:cNvPr id="87" name="Text 82"/>
          <p:cNvSpPr txBox="1"/>
          <p:nvPr/>
        </p:nvSpPr>
        <p:spPr>
          <a:xfrm>
            <a:off x="8902973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NOW · 10.20</a:t>
            </a:r>
            <a:endParaRPr lang="en-US" sz="1300" dirty="0"/>
          </a:p>
        </p:txBody>
      </p:sp>
      <p:sp>
        <p:nvSpPr>
          <p:cNvPr id="88" name="Shape 83"/>
          <p:cNvSpPr/>
          <p:nvPr/>
        </p:nvSpPr>
        <p:spPr>
          <a:xfrm>
            <a:off x="548640" y="4087368"/>
            <a:ext cx="5408676" cy="1264920"/>
          </a:xfrm>
          <a:prstGeom prst="roundRect">
            <a:avLst>
              <a:gd name="adj" fmla="val 5783"/>
            </a:avLst>
          </a:prstGeom>
          <a:solidFill>
            <a:srgbClr val="B4236A">
              <a:alpha val="8000"/>
            </a:srgbClr>
          </a:solidFill>
          <a:ln w="12700">
            <a:solidFill>
              <a:srgbClr val="B4236A"/>
            </a:solidFill>
            <a:prstDash val="solid"/>
          </a:ln>
        </p:spPr>
      </p:sp>
      <p:pic>
        <p:nvPicPr>
          <p:cNvPr id="8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51960"/>
            <a:ext cx="310896" cy="310896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1188720" y="4197096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SINCE + a starting point = a pin</a:t>
            </a:r>
            <a:endParaRPr lang="en-US" sz="1800" dirty="0"/>
          </a:p>
        </p:txBody>
      </p:sp>
      <p:sp>
        <p:nvSpPr>
          <p:cNvPr id="91" name="Text 85"/>
          <p:cNvSpPr txBox="1"/>
          <p:nvPr/>
        </p:nvSpPr>
        <p:spPr>
          <a:xfrm>
            <a:off x="777240" y="4654296"/>
            <a:ext cx="499719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floor </a:t>
            </a:r>
            <a:r>
              <a:rPr lang="en-US" sz="1600" b="1" dirty="0">
                <a:solidFill>
                  <a:schemeClr val="tx1"/>
                </a:solidFill>
              </a:rPr>
              <a:t>has been</a:t>
            </a:r>
            <a:r>
              <a:rPr lang="en-US" sz="1600" dirty="0">
                <a:solidFill>
                  <a:schemeClr val="tx1"/>
                </a:solidFill>
              </a:rPr>
              <a:t> closed </a:t>
            </a:r>
            <a:r>
              <a:rPr lang="en-US" sz="1600" b="1" dirty="0">
                <a:solidFill>
                  <a:schemeClr val="tx1"/>
                </a:solidFill>
              </a:rPr>
              <a:t>since 7 o’clock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since Monday · since the summer · since last November</a:t>
            </a:r>
            <a:endParaRPr lang="en-US" sz="1600" dirty="0"/>
          </a:p>
        </p:txBody>
      </p:sp>
      <p:sp>
        <p:nvSpPr>
          <p:cNvPr id="92" name="Shape 86"/>
          <p:cNvSpPr/>
          <p:nvPr/>
        </p:nvSpPr>
        <p:spPr>
          <a:xfrm>
            <a:off x="6231636" y="4087368"/>
            <a:ext cx="5408676" cy="1264920"/>
          </a:xfrm>
          <a:prstGeom prst="roundRect">
            <a:avLst>
              <a:gd name="adj" fmla="val 5783"/>
            </a:avLst>
          </a:prstGeom>
          <a:solidFill>
            <a:srgbClr val="2E75B6">
              <a:alpha val="8000"/>
            </a:srgbClr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9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4251960"/>
            <a:ext cx="310896" cy="310896"/>
          </a:xfrm>
          <a:prstGeom prst="rect">
            <a:avLst/>
          </a:prstGeom>
        </p:spPr>
      </p:pic>
      <p:sp>
        <p:nvSpPr>
          <p:cNvPr id="94" name="Text 87"/>
          <p:cNvSpPr txBox="1"/>
          <p:nvPr/>
        </p:nvSpPr>
        <p:spPr>
          <a:xfrm>
            <a:off x="6871716" y="4197096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+ a length of time = a tape</a:t>
            </a:r>
            <a:endParaRPr lang="en-US" sz="1800" dirty="0"/>
          </a:p>
        </p:txBody>
      </p:sp>
      <p:sp>
        <p:nvSpPr>
          <p:cNvPr id="95" name="Text 88"/>
          <p:cNvSpPr txBox="1"/>
          <p:nvPr/>
        </p:nvSpPr>
        <p:spPr>
          <a:xfrm>
            <a:off x="6460236" y="4654296"/>
            <a:ext cx="4997196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floor </a:t>
            </a:r>
            <a:r>
              <a:rPr lang="en-US" sz="1700" b="1" dirty="0">
                <a:solidFill>
                  <a:schemeClr val="tx1"/>
                </a:solidFill>
              </a:rPr>
              <a:t>has been</a:t>
            </a:r>
            <a:r>
              <a:rPr lang="en-US" sz="1700" dirty="0">
                <a:solidFill>
                  <a:schemeClr val="tx1"/>
                </a:solidFill>
              </a:rPr>
              <a:t> closed </a:t>
            </a:r>
            <a:r>
              <a:rPr lang="en-US" sz="1700" b="1" dirty="0">
                <a:solidFill>
                  <a:schemeClr val="tx1"/>
                </a:solidFill>
              </a:rPr>
              <a:t>for over three hours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for two days · for eight months · for ages</a:t>
            </a:r>
            <a:endParaRPr lang="en-US" sz="1700" dirty="0"/>
          </a:p>
        </p:txBody>
      </p:sp>
      <p:sp>
        <p:nvSpPr>
          <p:cNvPr id="96" name="Shape 89"/>
          <p:cNvSpPr/>
          <p:nvPr/>
        </p:nvSpPr>
        <p:spPr>
          <a:xfrm>
            <a:off x="548640" y="5535168"/>
            <a:ext cx="11091672" cy="774192"/>
          </a:xfrm>
          <a:prstGeom prst="roundRect">
            <a:avLst>
              <a:gd name="adj" fmla="val 9449"/>
            </a:avLst>
          </a:prstGeom>
          <a:solidFill>
            <a:srgbClr val="B03A2E">
              <a:alpha val="8000"/>
            </a:srgbClr>
          </a:solidFill>
          <a:ln w="12700">
            <a:solidFill>
              <a:srgbClr val="B03A2E"/>
            </a:solidFill>
            <a:prstDash val="solid"/>
          </a:ln>
        </p:spPr>
      </p:sp>
      <p:pic>
        <p:nvPicPr>
          <p:cNvPr id="9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39384"/>
            <a:ext cx="365760" cy="365760"/>
          </a:xfrm>
          <a:prstGeom prst="rect">
            <a:avLst/>
          </a:prstGeom>
        </p:spPr>
      </p:pic>
      <p:sp>
        <p:nvSpPr>
          <p:cNvPr id="98" name="Text 90"/>
          <p:cNvSpPr txBox="1"/>
          <p:nvPr/>
        </p:nvSpPr>
        <p:spPr>
          <a:xfrm>
            <a:off x="1325880" y="5590032"/>
            <a:ext cx="10085832" cy="664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800" i="1" dirty="0">
                <a:solidFill>
                  <a:schemeClr val="tx1"/>
                </a:solidFill>
              </a:rPr>
              <a:t>depuis</a:t>
            </a:r>
            <a:r>
              <a:rPr lang="en-US" sz="1800" dirty="0">
                <a:solidFill>
                  <a:schemeClr val="tx1"/>
                </a:solidFill>
              </a:rPr>
              <a:t> + présent → </a:t>
            </a:r>
            <a:r>
              <a:rPr lang="en-US" sz="1800" b="1" dirty="0">
                <a:solidFill>
                  <a:schemeClr val="tx1"/>
                </a:solidFill>
              </a:rPr>
              <a:t>present perfect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Il est fermé depuis 7 h</a:t>
            </a:r>
            <a:r>
              <a:rPr lang="en-US" sz="1800" dirty="0">
                <a:solidFill>
                  <a:schemeClr val="tx1"/>
                </a:solidFill>
              </a:rPr>
              <a:t> → It </a:t>
            </a:r>
            <a:r>
              <a:rPr lang="en-US" sz="1800" b="1" dirty="0">
                <a:solidFill>
                  <a:schemeClr val="tx1"/>
                </a:solidFill>
              </a:rPr>
              <a:t>has been</a:t>
            </a:r>
            <a:r>
              <a:rPr lang="en-US" sz="1800" dirty="0">
                <a:solidFill>
                  <a:schemeClr val="tx1"/>
                </a:solidFill>
              </a:rPr>
              <a:t> closed since 7 o’clock (✗ </a:t>
            </a:r>
            <a:r>
              <a:rPr lang="en-US" sz="1800" i="1" dirty="0">
                <a:solidFill>
                  <a:schemeClr val="tx1"/>
                </a:solidFill>
              </a:rPr>
              <a:t>It is closed since…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Pin or tape measure?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590C">
              <a:alpha val="10000"/>
            </a:srgbClr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892808"/>
            <a:ext cx="658368" cy="65836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819656"/>
            <a:ext cx="9902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90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teacher says a time expression. Pin it — or measure it!</a:t>
            </a:r>
            <a:endParaRPr lang="en-US" sz="21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Everybody stands · 3 minutes · then one sentence with </a:t>
            </a:r>
            <a:r>
              <a:rPr lang="en-US" sz="1500" i="1" dirty="0">
                <a:solidFill>
                  <a:schemeClr val="accent5"/>
                </a:solidFill>
              </a:rPr>
              <a:t>has been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548640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B4236A">
              <a:alpha val="10000"/>
            </a:srgbClr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28331" y="3063240"/>
            <a:ext cx="849295" cy="849295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654" y="3275564"/>
            <a:ext cx="424647" cy="4246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236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SINCE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Point </a:t>
            </a:r>
            <a:r>
              <a:rPr lang="en-US" sz="1700" b="1" dirty="0">
                <a:solidFill>
                  <a:schemeClr val="tx1"/>
                </a:solidFill>
              </a:rPr>
              <a:t>one finger</a:t>
            </a:r>
            <a:r>
              <a:rPr lang="en-US" sz="1700" dirty="0">
                <a:solidFill>
                  <a:schemeClr val="tx1"/>
                </a:solidFill>
              </a:rPr>
              <a:t> down: a starting point — a pin.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231636" y="2880360"/>
            <a:ext cx="5408676" cy="2359152"/>
          </a:xfrm>
          <a:prstGeom prst="roundRect">
            <a:avLst>
              <a:gd name="adj" fmla="val 3101"/>
            </a:avLst>
          </a:prstGeom>
          <a:solidFill>
            <a:srgbClr val="2E75B6">
              <a:alpha val="10000"/>
            </a:srgbClr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11327" y="3063240"/>
            <a:ext cx="849295" cy="849295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50" y="3275564"/>
            <a:ext cx="424647" cy="4246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68796" y="4003975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6414516" y="4506895"/>
            <a:ext cx="5042916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Open </a:t>
            </a:r>
            <a:r>
              <a:rPr lang="en-US" sz="1700" b="1" dirty="0">
                <a:solidFill>
                  <a:schemeClr val="tx1"/>
                </a:solidFill>
              </a:rPr>
              <a:t>both arms</a:t>
            </a:r>
            <a:r>
              <a:rPr lang="en-US" sz="1700" dirty="0">
                <a:solidFill>
                  <a:schemeClr val="tx1"/>
                </a:solidFill>
              </a:rPr>
              <a:t>: a length of time — a tape measure.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422392"/>
            <a:ext cx="109087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Pin or arms on “three, two, one!” — the last one to move sits down.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8590C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One student makes a sentence: </a:t>
            </a:r>
            <a:r>
              <a:rPr lang="en-US" sz="1600" i="1" dirty="0">
                <a:solidFill>
                  <a:schemeClr val="tx1"/>
                </a:solidFill>
              </a:rPr>
              <a:t>The floor has been closed since… / for…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Pin or tape measure?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94460" cy="310896"/>
          </a:xfrm>
          <a:prstGeom prst="roundRect">
            <a:avLst>
              <a:gd name="adj" fmla="val 14706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ENERGIZER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Pin = </a:t>
            </a:r>
            <a:r>
              <a:rPr lang="en-US" sz="1600" b="1" i="1" dirty="0">
                <a:solidFill>
                  <a:schemeClr val="accent5"/>
                </a:solidFill>
              </a:rPr>
              <a:t>since</a:t>
            </a:r>
            <a:r>
              <a:rPr lang="en-US" sz="1600" i="1" dirty="0">
                <a:solidFill>
                  <a:schemeClr val="accent5"/>
                </a:solidFill>
              </a:rPr>
              <a:t> + a starting point · arms = </a:t>
            </a:r>
            <a:r>
              <a:rPr lang="en-US" sz="1600" b="1" i="1" dirty="0">
                <a:solidFill>
                  <a:schemeClr val="accent5"/>
                </a:solidFill>
              </a:rPr>
              <a:t>for</a:t>
            </a:r>
            <a:r>
              <a:rPr lang="en-US" sz="1600" i="1" dirty="0">
                <a:solidFill>
                  <a:schemeClr val="accent5"/>
                </a:solidFill>
              </a:rPr>
              <a:t> + a length of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37308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3789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seven o’clock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448556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031236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318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three hours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448556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3725164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2574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Monday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448556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4419092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51967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days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448556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58368" y="5113020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1360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last November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448556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8368" y="5806948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907532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88720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eight months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4448556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231636" y="223723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341364" y="2337308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2437892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71716" y="223723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summer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10131552" y="223723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6231636" y="2931160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341364" y="3031236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3131820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71716" y="2931160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ages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10131552" y="2931160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6231636" y="3625088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1364" y="3725164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1948" y="3825748"/>
            <a:ext cx="201168" cy="20116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871716" y="3625088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2019</a:t>
            </a:r>
            <a:endParaRPr lang="en-US" sz="1800" dirty="0"/>
          </a:p>
        </p:txBody>
      </p:sp>
      <p:sp>
        <p:nvSpPr>
          <p:cNvPr id="51" name="Text 40"/>
          <p:cNvSpPr txBox="1"/>
          <p:nvPr/>
        </p:nvSpPr>
        <p:spPr>
          <a:xfrm>
            <a:off x="10131552" y="3625088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6231636" y="4319016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341364" y="4419092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4519676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871716" y="4319016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long time</a:t>
            </a:r>
            <a:endParaRPr lang="en-US" sz="1800" dirty="0"/>
          </a:p>
        </p:txBody>
      </p:sp>
      <p:sp>
        <p:nvSpPr>
          <p:cNvPr id="56" name="Text 44"/>
          <p:cNvSpPr txBox="1"/>
          <p:nvPr/>
        </p:nvSpPr>
        <p:spPr>
          <a:xfrm>
            <a:off x="10131552" y="4319016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57" name="Shape 45"/>
          <p:cNvSpPr/>
          <p:nvPr/>
        </p:nvSpPr>
        <p:spPr>
          <a:xfrm>
            <a:off x="6231636" y="5012944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B4236A">
              <a:alpha val="7000"/>
            </a:srgbClr>
          </a:solidFill>
          <a:ln w="9525">
            <a:solidFill>
              <a:srgbClr val="B4236A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6341364" y="5113020"/>
            <a:ext cx="402336" cy="402336"/>
          </a:xfrm>
          <a:prstGeom prst="ellipse">
            <a:avLst/>
          </a:prstGeom>
          <a:solidFill>
            <a:srgbClr val="B4236A"/>
          </a:solidFill>
          <a:ln/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1948" y="5213604"/>
            <a:ext cx="201168" cy="20116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871716" y="5012944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 arrived</a:t>
            </a:r>
            <a:endParaRPr lang="en-US" sz="1800" dirty="0"/>
          </a:p>
        </p:txBody>
      </p:sp>
      <p:sp>
        <p:nvSpPr>
          <p:cNvPr id="61" name="Text 48"/>
          <p:cNvSpPr txBox="1"/>
          <p:nvPr/>
        </p:nvSpPr>
        <p:spPr>
          <a:xfrm>
            <a:off x="10131552" y="5012944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236A"/>
                </a:solidFill>
              </a:rPr>
              <a:t>SINCE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6231636" y="5706872"/>
            <a:ext cx="5408676" cy="602488"/>
          </a:xfrm>
          <a:prstGeom prst="roundRect">
            <a:avLst>
              <a:gd name="adj" fmla="val 12142"/>
            </a:avLst>
          </a:prstGeom>
          <a:solidFill>
            <a:srgbClr val="2E75B6">
              <a:alpha val="7000"/>
            </a:srgbClr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341364" y="5806948"/>
            <a:ext cx="402336" cy="40233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1948" y="5907532"/>
            <a:ext cx="201168" cy="20116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871716" y="5706872"/>
            <a:ext cx="3259836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week</a:t>
            </a:r>
            <a:endParaRPr lang="en-US" sz="1800" dirty="0"/>
          </a:p>
        </p:txBody>
      </p:sp>
      <p:sp>
        <p:nvSpPr>
          <p:cNvPr id="66" name="Text 52"/>
          <p:cNvSpPr txBox="1"/>
          <p:nvPr/>
        </p:nvSpPr>
        <p:spPr>
          <a:xfrm>
            <a:off x="10131552" y="5706872"/>
            <a:ext cx="1417320" cy="60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Answer with for or since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Write your answers with </a:t>
            </a:r>
            <a:r>
              <a:rPr lang="en-US" sz="1600" i="1" dirty="0">
                <a:solidFill>
                  <a:schemeClr val="accent5"/>
                </a:solidFill>
              </a:rPr>
              <a:t>for</a:t>
            </a:r>
            <a:r>
              <a:rPr lang="en-US" sz="1600" i="1" dirty="0">
                <a:solidFill>
                  <a:schemeClr val="accent5"/>
                </a:solidFill>
              </a:rPr>
              <a:t> </a:t>
            </a:r>
            <a:r>
              <a:rPr lang="en-US" sz="1600" b="1" i="1" dirty="0">
                <a:solidFill>
                  <a:schemeClr val="accent5"/>
                </a:solidFill>
              </a:rPr>
              <a:t>or</a:t>
            </a:r>
            <a:r>
              <a:rPr lang="en-US" sz="1600" i="1" dirty="0">
                <a:solidFill>
                  <a:schemeClr val="accent5"/>
                </a:solidFill>
              </a:rPr>
              <a:t> </a:t>
            </a:r>
            <a:r>
              <a:rPr lang="en-US" sz="1600" i="1" dirty="0">
                <a:solidFill>
                  <a:schemeClr val="accent5"/>
                </a:solidFill>
              </a:rPr>
              <a:t>since</a:t>
            </a:r>
            <a:r>
              <a:rPr lang="en-US" sz="1600" i="1" dirty="0">
                <a:solidFill>
                  <a:schemeClr val="accent5"/>
                </a:solidFill>
              </a:rPr>
              <a:t> — then say them to your neighbour.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How long has this joint been faulty?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How long have you worked on this site?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How long has the second floor been closed?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Answer with for or since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38404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3C7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365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27632"/>
            <a:ext cx="1109167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 · Write your answers with </a:t>
            </a:r>
            <a:r>
              <a:rPr lang="en-US" sz="1600" i="1" dirty="0">
                <a:solidFill>
                  <a:schemeClr val="accent5"/>
                </a:solidFill>
              </a:rPr>
              <a:t>for</a:t>
            </a:r>
            <a:r>
              <a:rPr lang="en-US" sz="1600" i="1" dirty="0">
                <a:solidFill>
                  <a:schemeClr val="accent5"/>
                </a:solidFill>
              </a:rPr>
              <a:t> </a:t>
            </a:r>
            <a:r>
              <a:rPr lang="en-US" sz="1600" b="1" i="1" dirty="0">
                <a:solidFill>
                  <a:schemeClr val="accent5"/>
                </a:solidFill>
              </a:rPr>
              <a:t>or</a:t>
            </a:r>
            <a:r>
              <a:rPr lang="en-US" sz="1600" i="1" dirty="0">
                <a:solidFill>
                  <a:schemeClr val="accent5"/>
                </a:solidFill>
              </a:rPr>
              <a:t> </a:t>
            </a:r>
            <a:r>
              <a:rPr lang="en-US" sz="1600" i="1" dirty="0">
                <a:solidFill>
                  <a:schemeClr val="accent5"/>
                </a:solidFill>
              </a:rPr>
              <a:t>since</a:t>
            </a:r>
            <a:r>
              <a:rPr lang="en-US" sz="1600" i="1" dirty="0">
                <a:solidFill>
                  <a:schemeClr val="accent5"/>
                </a:solidFill>
              </a:rPr>
              <a:t> — then say them to your neighbour.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237232"/>
            <a:ext cx="11091672" cy="407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long has this joint been faulty?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dirty="0">
                <a:solidFill>
                  <a:schemeClr val="tx2"/>
                </a:solidFill>
              </a:rPr>
              <a:t>It has been faulty </a:t>
            </a:r>
            <a:r>
              <a:rPr lang="en-US" sz="2200" b="1" dirty="0">
                <a:solidFill>
                  <a:schemeClr val="tx2"/>
                </a:solidFill>
              </a:rPr>
              <a:t>since</a:t>
            </a:r>
            <a:r>
              <a:rPr lang="en-US" sz="2200" b="1" dirty="0">
                <a:solidFill>
                  <a:schemeClr val="tx2"/>
                </a:solidFill>
              </a:rPr>
              <a:t> the summer / </a:t>
            </a:r>
            <a:r>
              <a:rPr lang="en-US" sz="2200" b="1" dirty="0">
                <a:solidFill>
                  <a:schemeClr val="tx2"/>
                </a:solidFill>
              </a:rPr>
              <a:t>for</a:t>
            </a:r>
            <a:r>
              <a:rPr lang="en-US" sz="2200" b="1" dirty="0">
                <a:solidFill>
                  <a:schemeClr val="tx2"/>
                </a:solidFill>
              </a:rPr>
              <a:t> about three months.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long have you worked on this site?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dirty="0">
                <a:solidFill>
                  <a:schemeClr val="tx2"/>
                </a:solidFill>
              </a:rPr>
              <a:t>I have worked here </a:t>
            </a:r>
            <a:r>
              <a:rPr lang="en-US" sz="2200" b="1" dirty="0">
                <a:solidFill>
                  <a:schemeClr val="tx2"/>
                </a:solidFill>
              </a:rPr>
              <a:t>for</a:t>
            </a:r>
            <a:r>
              <a:rPr lang="en-US" sz="2200" b="1" dirty="0">
                <a:solidFill>
                  <a:schemeClr val="tx2"/>
                </a:solidFill>
              </a:rPr>
              <a:t> eight months / </a:t>
            </a:r>
            <a:r>
              <a:rPr lang="en-US" sz="2200" b="1" dirty="0">
                <a:solidFill>
                  <a:schemeClr val="tx2"/>
                </a:solidFill>
              </a:rPr>
              <a:t>since</a:t>
            </a:r>
            <a:r>
              <a:rPr lang="en-US" sz="2200" b="1" dirty="0">
                <a:solidFill>
                  <a:schemeClr val="tx2"/>
                </a:solidFill>
              </a:rPr>
              <a:t> March.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How long has the second floor been closed?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→ </a:t>
            </a:r>
            <a:r>
              <a:rPr lang="en-US" sz="2200" b="1" dirty="0">
                <a:solidFill>
                  <a:schemeClr val="tx2"/>
                </a:solidFill>
              </a:rPr>
              <a:t>It has been closed </a:t>
            </a:r>
            <a:r>
              <a:rPr lang="en-US" sz="2200" b="1" dirty="0">
                <a:solidFill>
                  <a:schemeClr val="tx2"/>
                </a:solidFill>
              </a:rPr>
              <a:t>since</a:t>
            </a:r>
            <a:r>
              <a:rPr lang="en-US" sz="2200" b="1" dirty="0">
                <a:solidFill>
                  <a:schemeClr val="tx2"/>
                </a:solidFill>
              </a:rPr>
              <a:t> seven o’clock this morning / </a:t>
            </a:r>
            <a:r>
              <a:rPr lang="en-US" sz="2200" b="1" dirty="0">
                <a:solidFill>
                  <a:schemeClr val="tx2"/>
                </a:solidFill>
              </a:rPr>
              <a:t>for</a:t>
            </a:r>
            <a:r>
              <a:rPr lang="en-US" sz="2200" b="1" dirty="0">
                <a:solidFill>
                  <a:schemeClr val="tx2"/>
                </a:solidFill>
              </a:rPr>
              <a:t> over three hours.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C075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0008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11.30. Mark puts his phone on the table and presses speaker. The claims assessor has left a message. She is not asking what you believe. </a:t>
            </a:r>
            <a:r>
              <a:rPr lang="en-US" sz="22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She is asking since when.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6035040" cy="1554480"/>
          </a:xfrm>
          <a:prstGeom prst="roundRect">
            <a:avLst>
              <a:gd name="adj" fmla="val 4706"/>
            </a:avLst>
          </a:prstGeom>
          <a:solidFill>
            <a:srgbClr val="C0752A">
              <a:alpha val="12000"/>
            </a:srgbClr>
          </a:solidFill>
          <a:ln w="15875">
            <a:solidFill>
              <a:srgbClr val="C075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EXIT TICKET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Correct: </a:t>
            </a:r>
            <a:r>
              <a:rPr lang="en-US" sz="1800" i="1" dirty="0">
                <a:solidFill>
                  <a:schemeClr val="tx1"/>
                </a:solidFill>
              </a:rPr>
              <a:t>We have a delay of two days.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It is closed since Monday.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03720" y="1783080"/>
            <a:ext cx="4736592" cy="4526280"/>
          </a:xfrm>
          <a:prstGeom prst="roundRect">
            <a:avLst>
              <a:gd name="adj" fmla="val 1616"/>
            </a:avLst>
          </a:prstGeom>
          <a:solidFill>
            <a:srgbClr val="EEF2F8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00253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53528" y="198424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60604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5603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10 false friends</a:t>
            </a:r>
            <a:r>
              <a:rPr lang="en-US" sz="1700" dirty="0">
                <a:solidFill>
                  <a:schemeClr val="tx1"/>
                </a:solidFill>
              </a:rPr>
              <a:t> (p. 26) — both directions.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5204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4747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the six verbs: </a:t>
            </a:r>
            <a:r>
              <a:rPr lang="en-US" sz="1700" b="1" dirty="0">
                <a:solidFill>
                  <a:schemeClr val="tx1"/>
                </a:solidFill>
              </a:rPr>
              <a:t>claim · admit · deny · concede · blame · acknowledge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43484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89520" y="43891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Learn </a:t>
            </a: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(a length) / </a:t>
            </a:r>
            <a:r>
              <a:rPr lang="en-US" sz="1700" b="1" dirty="0">
                <a:solidFill>
                  <a:schemeClr val="tx1"/>
                </a:solidFill>
              </a:rPr>
              <a:t>since</a:t>
            </a:r>
            <a:r>
              <a:rPr lang="en-US" sz="1700" dirty="0">
                <a:solidFill>
                  <a:schemeClr val="tx1"/>
                </a:solidFill>
              </a:rPr>
              <a:t> (a starting point) + present perfect.</a:t>
            </a:r>
            <a:endParaRPr lang="en-US" sz="1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534924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589520" y="530352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Bring a notepad: a second voicemail next session.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12 — What does this e-mail actually admit?</dc:title>
  <dc:subject>Case File 01 — The night nobody heard</dc:subject>
  <dc:creator>A. Jouniaux</dc:creator>
  <cp:lastModifiedBy>A. Jouniaux</cp:lastModifiedBy>
  <cp:revision>1</cp:revision>
  <dcterms:created xsi:type="dcterms:W3CDTF">2026-10-17T18:41:37Z</dcterms:created>
  <dcterms:modified xsi:type="dcterms:W3CDTF">2026-10-17T18:41:37Z</dcterms:modified>
</cp:coreProperties>
</file>