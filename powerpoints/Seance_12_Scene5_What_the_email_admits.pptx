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2498dd8-4f95-6387-e07e-d64f56f48cc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lôture" id="{429e57e4-0a31-b875-1e0f-c1c1f3735d9f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inférentielle de l’Exhibit B, faux amis du dossier (Word file p. 26) et Dry run p. 27 (dont un aperçu de for / since, traité en séance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L’option D et la question 5 citent « I have never seen this pipe before », phrase absente de l’Exhibit B tel qu’imprimé p. 23 : à ajouter au texte de l’e-mail ou à reformuler dans le livret.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 en binôme avant correction. Q3 et Q4 admettent plusieurs réponses : exiger une justification tirée du dossier.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Q5 : la phrase citée n’apparaît pas dans l’Exhibit B imprimé (voir note de la diapositive précédente).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Réponses libres : vérifier la cohérence for + durée / since + point de départ et le present perfect.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12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12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12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5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10.20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What does this e-mail actually admit?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An insurer reads what an e-mail unintentionally concedes.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25–27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22120"/>
            <a:ext cx="5120640" cy="341376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25–27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Five answers on </a:t>
            </a:r>
            <a:r>
              <a:rPr lang="en-US" sz="1800" b="1" dirty="0">
                <a:solidFill>
                  <a:schemeClr val="tx1"/>
                </a:solidFill>
              </a:rPr>
              <a:t>what the e-mail concedes</a:t>
            </a:r>
            <a:r>
              <a:rPr lang="en-US" sz="1800" dirty="0">
                <a:solidFill>
                  <a:schemeClr val="tx1"/>
                </a:solidFill>
              </a:rPr>
              <a:t> — and a last check before you press </a:t>
            </a:r>
            <a:r>
              <a:rPr lang="en-US" sz="1800" i="1" dirty="0">
                <a:solidFill>
                  <a:schemeClr val="tx1"/>
                </a:solidFill>
              </a:rPr>
              <a:t>forward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Fact vs opinion · ten false friends of a claim file · </a:t>
            </a:r>
            <a:r>
              <a:rPr lang="en-US" sz="1800" i="1" dirty="0">
                <a:solidFill>
                  <a:schemeClr val="tx1"/>
                </a:solidFill>
              </a:rPr>
              <a:t>escalate, get to the bottom of, chase</a:t>
            </a:r>
            <a:r>
              <a:rPr lang="en-US" sz="1800" dirty="0">
                <a:solidFill>
                  <a:schemeClr val="tx1"/>
                </a:solidFill>
              </a:rPr>
              <a:t> · for / since (preview)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Reading between the lines · justifying an answer with the file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6596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Warm-up: seven false friends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53288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44144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Q1–Q2: the time and the excuse (p. 25)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441448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309981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300837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Q3–Q5: what helps, what worries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3008376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66674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666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5753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Word file: ten false friends (p. 26)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575304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423367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4233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414223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Dry run A–B (p. 27)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4142232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800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7091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Dry run C: for or since? (preview)</a:t>
            </a:r>
            <a:endParaRPr lang="en-US" sz="16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709160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536752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5367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527608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Wrap-up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5276088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what Verdier meant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11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controlled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Actually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assist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demanded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</p:txBody>
      </p:sp>
      <p:sp>
        <p:nvSpPr>
          <p:cNvPr id="6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a delay →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Eventually → </a:t>
            </a:r>
            <a:r>
              <a:rPr lang="en-US" sz="2400" dirty="0">
                <a:solidFill>
                  <a:schemeClr val="accent5"/>
                </a:solidFill>
              </a:rPr>
              <a:t>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7.  </a:t>
            </a:r>
            <a:r>
              <a:rPr lang="en-US" sz="2400" dirty="0">
                <a:solidFill>
                  <a:schemeClr val="tx1"/>
                </a:solidFill>
              </a:rPr>
              <a:t>resumed →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8.  </a:t>
            </a:r>
            <a:r>
              <a:rPr lang="en-US" sz="2400" dirty="0">
                <a:solidFill>
                  <a:schemeClr val="tx1"/>
                </a:solidFill>
              </a:rPr>
              <a:t>when my team leaves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what Verdier meant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11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controlled → </a:t>
            </a:r>
            <a:r>
              <a:rPr lang="en-US" sz="2400" b="1" dirty="0">
                <a:solidFill>
                  <a:schemeClr val="accent3"/>
                </a:solidFill>
              </a:rPr>
              <a:t>checked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Actually → </a:t>
            </a:r>
            <a:r>
              <a:rPr lang="en-US" sz="2400" b="1" dirty="0">
                <a:solidFill>
                  <a:schemeClr val="accent3"/>
                </a:solidFill>
              </a:rPr>
              <a:t>Currently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assist → </a:t>
            </a:r>
            <a:r>
              <a:rPr lang="en-US" sz="2400" b="1" dirty="0">
                <a:solidFill>
                  <a:schemeClr val="accent3"/>
                </a:solidFill>
              </a:rPr>
              <a:t>attend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demanded → </a:t>
            </a:r>
            <a:r>
              <a:rPr lang="en-US" sz="2400" b="1" dirty="0">
                <a:solidFill>
                  <a:schemeClr val="accent3"/>
                </a:solidFill>
              </a:rPr>
              <a:t>asked</a:t>
            </a:r>
            <a:endParaRPr lang="en-US" sz="2400" dirty="0"/>
          </a:p>
        </p:txBody>
      </p:sp>
      <p:sp>
        <p:nvSpPr>
          <p:cNvPr id="7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a delay → </a:t>
            </a:r>
            <a:r>
              <a:rPr lang="en-US" sz="2400" b="1" dirty="0">
                <a:solidFill>
                  <a:schemeClr val="accent3"/>
                </a:solidFill>
              </a:rPr>
              <a:t>a deadline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Eventually → </a:t>
            </a:r>
            <a:r>
              <a:rPr lang="en-US" sz="2400" b="1" dirty="0">
                <a:solidFill>
                  <a:schemeClr val="accent3"/>
                </a:solidFill>
              </a:rPr>
              <a:t>If necessary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7.  </a:t>
            </a:r>
            <a:r>
              <a:rPr lang="en-US" sz="2400" dirty="0">
                <a:solidFill>
                  <a:schemeClr val="tx1"/>
                </a:solidFill>
              </a:rPr>
              <a:t>resumed → </a:t>
            </a:r>
            <a:r>
              <a:rPr lang="en-US" sz="2400" b="1" dirty="0">
                <a:solidFill>
                  <a:schemeClr val="accent3"/>
                </a:solidFill>
              </a:rPr>
              <a:t>summarised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8.  </a:t>
            </a:r>
            <a:r>
              <a:rPr lang="en-US" sz="2400" dirty="0">
                <a:solidFill>
                  <a:schemeClr val="tx1"/>
                </a:solidFill>
              </a:rPr>
              <a:t>when my team leaves → </a:t>
            </a:r>
            <a:r>
              <a:rPr lang="en-US" sz="2400" b="1" dirty="0">
                <a:solidFill>
                  <a:schemeClr val="accent3"/>
                </a:solidFill>
              </a:rPr>
              <a:t>when my team left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does this e-mail actually admit? — Q1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</a:t>
            </a:r>
            <a:r>
              <a:rPr lang="en-US" sz="2200" dirty="0">
                <a:solidFill>
                  <a:schemeClr val="tx1"/>
                </a:solidFill>
              </a:rPr>
              <a:t> Verdier gives one time. </a:t>
            </a:r>
            <a:r>
              <a:rPr lang="en-US" sz="2200" b="1" dirty="0">
                <a:solidFill>
                  <a:schemeClr val="tx1"/>
                </a:solidFill>
              </a:rPr>
              <a:t>How does it compare with Exhibit A?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It contradicts the log by about twenty minutes.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45352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114032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It matches the log exactly, which makes the rest of his e-mail harder to dismiss.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It matches the badge entry at 20:04, not the cabling team’s exit.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45352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8232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 gives no time at all; he only says “yesterday evening”.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does this e-mail actually admit? — Q1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</a:t>
            </a:r>
            <a:r>
              <a:rPr lang="en-US" sz="2200" dirty="0">
                <a:solidFill>
                  <a:schemeClr val="tx1"/>
                </a:solidFill>
              </a:rPr>
              <a:t> Verdier gives one time. </a:t>
            </a:r>
            <a:r>
              <a:rPr lang="en-US" sz="2200" b="1" dirty="0">
                <a:solidFill>
                  <a:schemeClr val="tx1"/>
                </a:solidFill>
              </a:rPr>
              <a:t>How does it compare with Exhibit A?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756916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It contradicts the log by about twenty minutes.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45352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3C7A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28232" y="2756916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14032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It matches the log exactly, which makes the rest of his e-mail harder to dismiss.</a:t>
            </a:r>
            <a:endParaRPr lang="en-US" sz="18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3112" y="2624328"/>
            <a:ext cx="292608" cy="29260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48640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3909060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31520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It matches the badge entry at 20:04, not the cabling team’s exit.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245352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28232" y="3909060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28232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114032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He gives no time at all; he only says “yesterday evening”.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864608"/>
            <a:ext cx="11091672" cy="1426464"/>
          </a:xfrm>
          <a:prstGeom prst="roundRect">
            <a:avLst>
              <a:gd name="adj" fmla="val 5128"/>
            </a:avLst>
          </a:prstGeom>
          <a:solidFill>
            <a:schemeClr val="accent3">
              <a:alpha val="8000"/>
            </a:schemeClr>
          </a:solidFill>
          <a:ln w="9525">
            <a:solidFill>
              <a:srgbClr val="3C7A3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9377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Why?  </a:t>
            </a:r>
            <a:r>
              <a:rPr lang="en-US" sz="1800" dirty="0">
                <a:solidFill>
                  <a:schemeClr val="tx1"/>
                </a:solidFill>
              </a:rPr>
              <a:t>Verdier writes </a:t>
            </a:r>
            <a:r>
              <a:rPr lang="en-US" sz="1800" b="1" dirty="0">
                <a:solidFill>
                  <a:schemeClr val="tx1"/>
                </a:solidFill>
              </a:rPr>
              <a:t>19.58</a:t>
            </a:r>
            <a:r>
              <a:rPr lang="en-US" sz="1800" dirty="0">
                <a:solidFill>
                  <a:schemeClr val="tx1"/>
                </a:solidFill>
              </a:rPr>
              <a:t>; Exhibit A: </a:t>
            </a:r>
            <a:r>
              <a:rPr lang="en-US" sz="1800" i="1" dirty="0">
                <a:solidFill>
                  <a:schemeClr val="tx1"/>
                </a:solidFill>
              </a:rPr>
              <a:t>19:58 — cabling works — access badge 0447 — exit</a:t>
            </a:r>
            <a:r>
              <a:rPr lang="en-US" sz="1800" dirty="0">
                <a:solidFill>
                  <a:schemeClr val="tx1"/>
                </a:solidFill>
              </a:rPr>
              <a:t>. A precise, verifiable time: the assessor will take the rest of his e-mail seriously.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does this e-mail actually admit? — Q2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2.</a:t>
            </a:r>
            <a:r>
              <a:rPr lang="en-US" sz="2200" dirty="0">
                <a:solidFill>
                  <a:schemeClr val="tx1"/>
                </a:solidFill>
              </a:rPr>
              <a:t> He denies responsibility for one reason. </a:t>
            </a:r>
            <a:r>
              <a:rPr lang="en-US" sz="2200" b="1" dirty="0">
                <a:solidFill>
                  <a:schemeClr val="tx1"/>
                </a:solidFill>
              </a:rPr>
              <a:t>Which one, and what is its status?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His team left before eight — a fact, confirmed by the log.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45352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114032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floor was dry when they left — a fact, but confirmed by nobody else.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pipe is old and is not his work — an opinion, supported by nothing in the file.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45352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8232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 has never seen the pipe — an opinion, contradicted by Exhibit C.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does this e-mail actually admit? — Q2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25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2.</a:t>
            </a:r>
            <a:r>
              <a:rPr lang="en-US" sz="2200" dirty="0">
                <a:solidFill>
                  <a:schemeClr val="tx1"/>
                </a:solidFill>
              </a:rPr>
              <a:t> He denies responsibility for one reason. </a:t>
            </a:r>
            <a:r>
              <a:rPr lang="en-US" sz="2200" b="1" dirty="0">
                <a:solidFill>
                  <a:schemeClr val="tx1"/>
                </a:solidFill>
              </a:rPr>
              <a:t>Which one, and what is its status?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756916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1520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His team left before eight — a fact, confirmed by the log.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245352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28232" y="2756916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28232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114032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The floor was dry when they left — a fact, but confirmed by nobody else.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3C7A3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39090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31520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pipe is old and is not his work — an opinion, supported by nothing in the file.</a:t>
            </a:r>
            <a:endParaRPr lang="en-US" sz="1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3776472"/>
            <a:ext cx="292608" cy="29260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6245352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28232" y="3909060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28232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7114032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He has never seen the pipe — an opinion, contradicted by Exhibit C.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4864608"/>
            <a:ext cx="11091672" cy="1426464"/>
          </a:xfrm>
          <a:prstGeom prst="roundRect">
            <a:avLst>
              <a:gd name="adj" fmla="val 5128"/>
            </a:avLst>
          </a:prstGeom>
          <a:solidFill>
            <a:schemeClr val="accent3">
              <a:alpha val="8000"/>
            </a:schemeClr>
          </a:solidFill>
          <a:ln w="9525">
            <a:solidFill>
              <a:srgbClr val="3C7A3C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77240" y="49377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Why?  </a:t>
            </a:r>
            <a:r>
              <a:rPr lang="en-US" sz="1800" i="1" dirty="0">
                <a:solidFill>
                  <a:schemeClr val="tx1"/>
                </a:solidFill>
              </a:rPr>
              <a:t>“The pipe is old and it is not our work”</a:t>
            </a:r>
            <a:r>
              <a:rPr lang="en-US" sz="1800" dirty="0">
                <a:solidFill>
                  <a:schemeClr val="tx1"/>
                </a:solidFill>
              </a:rPr>
              <a:t> is his only argument against blame. Nothing in the file supports it </a:t>
            </a:r>
            <a:r>
              <a:rPr lang="en-US" sz="1800" b="1" dirty="0">
                <a:solidFill>
                  <a:schemeClr val="tx1"/>
                </a:solidFill>
              </a:rPr>
              <a:t>yet</a:t>
            </a:r>
            <a:r>
              <a:rPr lang="en-US" sz="1800" dirty="0">
                <a:solidFill>
                  <a:schemeClr val="tx1"/>
                </a:solidFill>
              </a:rPr>
              <a:t>: it is an </a:t>
            </a:r>
            <a:r>
              <a:rPr lang="en-US" sz="1800" b="1" dirty="0">
                <a:solidFill>
                  <a:schemeClr val="tx1"/>
                </a:solidFill>
              </a:rPr>
              <a:t>opinion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does this e-mail actually admit? — Q3 · Q4 · Q5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25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3.</a:t>
            </a:r>
            <a:r>
              <a:rPr lang="en-US" sz="2600" dirty="0">
                <a:solidFill>
                  <a:schemeClr val="tx1"/>
                </a:solidFill>
              </a:rPr>
              <a:t> One sentence in this e-mail helps our case more than it helps his. Which one, and why?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4.</a:t>
            </a:r>
            <a:r>
              <a:rPr lang="en-US" sz="2600" dirty="0">
                <a:solidFill>
                  <a:schemeClr val="tx1"/>
                </a:solidFill>
              </a:rPr>
              <a:t> He offers something for this afternoon. Should we accept it today? One line, with your reason.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5.</a:t>
            </a:r>
            <a:r>
              <a:rPr lang="en-US" sz="2600" dirty="0">
                <a:solidFill>
                  <a:schemeClr val="tx1"/>
                </a:solidFill>
              </a:rPr>
              <a:t> He writes “I have never seen this pipe before.” Why should that sentence make you uncomfortable, given what Samuel said at 8.15?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does this e-mail actually admit? — Q3 · Q4 · Q5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25</a:t>
            </a:r>
            <a:endParaRPr lang="en-US" sz="12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3.</a:t>
            </a:r>
            <a:r>
              <a:rPr lang="en-US" sz="2100" dirty="0">
                <a:solidFill>
                  <a:schemeClr val="tx1"/>
                </a:solidFill>
              </a:rPr>
              <a:t> One sentence in this e-mail helps our case more than it helps his. Which one, and why?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accent3"/>
                </a:solidFill>
              </a:rPr>
              <a:t>→ </a:t>
            </a:r>
            <a:r>
              <a:rPr lang="en-US" sz="2100" i="1" dirty="0">
                <a:solidFill>
                  <a:schemeClr val="accent3"/>
                </a:solidFill>
              </a:rPr>
              <a:t>“Everything was dry when my team left at 19.58.”</a:t>
            </a:r>
            <a:r>
              <a:rPr lang="en-US" sz="2100" dirty="0">
                <a:solidFill>
                  <a:schemeClr val="accent3"/>
                </a:solidFill>
              </a:rPr>
              <a:t> It matches Exhibit A and gives a </a:t>
            </a:r>
            <a:r>
              <a:rPr lang="en-US" sz="2100" b="1" dirty="0">
                <a:solidFill>
                  <a:schemeClr val="accent3"/>
                </a:solidFill>
              </a:rPr>
              <a:t>dry reference point</a:t>
            </a:r>
            <a:r>
              <a:rPr lang="en-US" sz="2100" dirty="0">
                <a:solidFill>
                  <a:schemeClr val="accent3"/>
                </a:solidFill>
              </a:rPr>
              <a:t>: the leak started </a:t>
            </a:r>
            <a:r>
              <a:rPr lang="en-US" sz="2100" b="1" dirty="0">
                <a:solidFill>
                  <a:schemeClr val="accent3"/>
                </a:solidFill>
              </a:rPr>
              <a:t>after 19.58</a:t>
            </a:r>
            <a:r>
              <a:rPr lang="en-US" sz="2100" dirty="0">
                <a:solidFill>
                  <a:schemeClr val="accent3"/>
                </a:solidFill>
              </a:rPr>
              <a:t> — a </a:t>
            </a:r>
            <a:r>
              <a:rPr lang="en-US" sz="2100" b="1" dirty="0">
                <a:solidFill>
                  <a:schemeClr val="accent3"/>
                </a:solidFill>
              </a:rPr>
              <a:t>sudden</a:t>
            </a:r>
            <a:r>
              <a:rPr lang="en-US" sz="2100" dirty="0">
                <a:solidFill>
                  <a:schemeClr val="accent3"/>
                </a:solidFill>
              </a:rPr>
              <a:t> event, the kind an insurer covers.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4.</a:t>
            </a:r>
            <a:r>
              <a:rPr lang="en-US" sz="2100" dirty="0">
                <a:solidFill>
                  <a:schemeClr val="tx1"/>
                </a:solidFill>
              </a:rPr>
              <a:t> He offers something for this afternoon. Should we accept it today? One line, with your reason.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accent3"/>
                </a:solidFill>
              </a:rPr>
              <a:t>→ </a:t>
            </a:r>
            <a:r>
              <a:rPr lang="en-US" sz="2100" b="1" dirty="0">
                <a:solidFill>
                  <a:schemeClr val="accent3"/>
                </a:solidFill>
              </a:rPr>
              <a:t>Not today</a:t>
            </a:r>
            <a:r>
              <a:rPr lang="en-US" sz="2100" dirty="0">
                <a:solidFill>
                  <a:schemeClr val="accent3"/>
                </a:solidFill>
              </a:rPr>
              <a:t>: first get his </a:t>
            </a:r>
            <a:r>
              <a:rPr lang="en-US" sz="2100" b="1" dirty="0">
                <a:solidFill>
                  <a:schemeClr val="accent3"/>
                </a:solidFill>
              </a:rPr>
              <a:t>signed written statement</a:t>
            </a:r>
            <a:r>
              <a:rPr lang="en-US" sz="2100" dirty="0">
                <a:solidFill>
                  <a:schemeClr val="accent3"/>
                </a:solidFill>
              </a:rPr>
              <a:t> — his team is an interested party and the cause is not established. (Accept any justified answer.)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5.</a:t>
            </a:r>
            <a:r>
              <a:rPr lang="en-US" sz="2100" dirty="0">
                <a:solidFill>
                  <a:schemeClr val="tx1"/>
                </a:solidFill>
              </a:rPr>
              <a:t> He writes “I have never seen this pipe before.” Why should that sentence make you uncomfortable, given what Samuel said at 8.15?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accent3"/>
                </a:solidFill>
              </a:rPr>
              <a:t>→ </a:t>
            </a:r>
            <a:r>
              <a:rPr lang="en-US" sz="2100" dirty="0">
                <a:solidFill>
                  <a:schemeClr val="accent3"/>
                </a:solidFill>
              </a:rPr>
              <a:t>Samuel: </a:t>
            </a:r>
            <a:r>
              <a:rPr lang="en-US" sz="2100" i="1" dirty="0">
                <a:solidFill>
                  <a:schemeClr val="accent3"/>
                </a:solidFill>
              </a:rPr>
              <a:t>“It might be the same pipe as last November. We have had trouble with it since the summer.”</a:t>
            </a:r>
            <a:r>
              <a:rPr lang="en-US" sz="2100" dirty="0">
                <a:solidFill>
                  <a:schemeClr val="accent3"/>
                </a:solidFill>
              </a:rPr>
              <a:t> A known, repeated problem — and a team working next to it says it has </a:t>
            </a:r>
            <a:r>
              <a:rPr lang="en-US" sz="2100" b="1" dirty="0">
                <a:solidFill>
                  <a:schemeClr val="accent3"/>
                </a:solidFill>
              </a:rPr>
              <a:t>never seen it</a:t>
            </a:r>
            <a:r>
              <a:rPr lang="en-US" sz="2100" dirty="0">
                <a:solidFill>
                  <a:schemeClr val="accent3"/>
                </a:solidFill>
              </a:rPr>
              <a:t>: the denial draws attention to the pipe.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Fact, opinion or contradiction?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IT IS A FACT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log </a:t>
            </a:r>
            <a:r>
              <a:rPr lang="en-US" sz="2000" b="1" dirty="0">
                <a:solidFill>
                  <a:schemeClr val="tx1"/>
                </a:solidFill>
              </a:rPr>
              <a:t>shows</a:t>
            </a:r>
            <a:r>
              <a:rPr lang="en-US" sz="2000" dirty="0">
                <a:solidFill>
                  <a:schemeClr val="tx1"/>
                </a:solidFill>
              </a:rPr>
              <a:t> that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This is </a:t>
            </a:r>
            <a:r>
              <a:rPr lang="en-US" sz="2000" b="1" dirty="0">
                <a:solidFill>
                  <a:schemeClr val="tx1"/>
                </a:solidFill>
              </a:rPr>
              <a:t>confirmed by</a:t>
            </a:r>
            <a:r>
              <a:rPr lang="en-US" sz="2000" dirty="0">
                <a:solidFill>
                  <a:schemeClr val="tx1"/>
                </a:solidFill>
              </a:rPr>
              <a:t> Exhibit A.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</a:t>
            </a:r>
            <a:r>
              <a:rPr lang="en-US" sz="2000" b="1" dirty="0">
                <a:solidFill>
                  <a:schemeClr val="tx1"/>
                </a:solidFill>
              </a:rPr>
              <a:t>matches</a:t>
            </a:r>
            <a:r>
              <a:rPr lang="en-US" sz="2000" dirty="0">
                <a:solidFill>
                  <a:schemeClr val="tx1"/>
                </a:solidFill>
              </a:rPr>
              <a:t> the log exactly.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37304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2" name="Shape 10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IT IS AN OPINION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0184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This is </a:t>
            </a:r>
            <a:r>
              <a:rPr lang="en-US" sz="2000" b="1" dirty="0">
                <a:solidFill>
                  <a:schemeClr val="tx1"/>
                </a:solidFill>
              </a:rPr>
              <a:t>only his opinion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Nothing in the file supports</a:t>
            </a:r>
            <a:r>
              <a:rPr lang="en-US" sz="2000" dirty="0">
                <a:solidFill>
                  <a:schemeClr val="tx1"/>
                </a:solidFill>
              </a:rPr>
              <a:t> this.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He </a:t>
            </a:r>
            <a:r>
              <a:rPr lang="en-US" sz="2000" b="1" dirty="0">
                <a:solidFill>
                  <a:schemeClr val="tx1"/>
                </a:solidFill>
              </a:rPr>
              <a:t>claims</a:t>
            </a:r>
            <a:r>
              <a:rPr lang="en-US" sz="2000" dirty="0">
                <a:solidFill>
                  <a:schemeClr val="tx1"/>
                </a:solidFill>
              </a:rPr>
              <a:t> that … / </a:t>
            </a:r>
            <a:r>
              <a:rPr lang="en-US" sz="2000" b="1" dirty="0">
                <a:solidFill>
                  <a:schemeClr val="tx1"/>
                </a:solidFill>
              </a:rPr>
              <a:t>According to</a:t>
            </a:r>
            <a:r>
              <a:rPr lang="en-US" sz="2000" dirty="0">
                <a:solidFill>
                  <a:schemeClr val="tx1"/>
                </a:solidFill>
              </a:rPr>
              <a:t> him, …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125968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IT IS CONTRADICTED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08848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This is </a:t>
            </a:r>
            <a:r>
              <a:rPr lang="en-US" sz="2000" b="1" dirty="0">
                <a:solidFill>
                  <a:schemeClr val="tx1"/>
                </a:solidFill>
              </a:rPr>
              <a:t>contradicted by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</a:t>
            </a:r>
            <a:r>
              <a:rPr lang="en-US" sz="2000" b="1" dirty="0">
                <a:solidFill>
                  <a:schemeClr val="tx1"/>
                </a:solidFill>
              </a:rPr>
              <a:t>does not match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two accounts </a:t>
            </a:r>
            <a:r>
              <a:rPr lang="en-US" sz="2000" b="1" dirty="0">
                <a:solidFill>
                  <a:schemeClr val="tx1"/>
                </a:solidFill>
              </a:rPr>
              <a:t>differ</a:t>
            </a:r>
            <a:r>
              <a:rPr lang="en-US" sz="2000" dirty="0">
                <a:solidFill>
                  <a:schemeClr val="tx1"/>
                </a:solidFill>
              </a:rPr>
              <a:t> on …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Ten words that do not mean what they look like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WORD FILE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Verdier’s e-mail contains seven of them. Here are ten, the ones that come up most often in a claim file.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17192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5971032"/>
              </a:tblGrid>
              <a:tr h="4864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WORD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CE N’EST PAS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C’EST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control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contrôler = vérifier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maîtriser, piloter. Vérifier =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check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actually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actuellement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 fait. Actuellement =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currently, at present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eventually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éventuellement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finalement. Éventuellement =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possibly, if necessary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 delay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un délai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 retard. Un délai =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 deadline, a time limit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assist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assister à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aider. Assister à =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attend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demand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demander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exiger. Demander =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ask for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sensible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sensible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raisonnable. Sensible =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sensitive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resume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résumer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reprendre. Résumer =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summarise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an issue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une issue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 problème, une question. Une issue =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an exit, an outcome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achieve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achever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atteindre, réussir. Achever = 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 complete, to finish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Eight more false friends of the office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French → English. Beware of the word that looks the same.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34061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une formation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prétendre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sympathique → </a:t>
            </a:r>
            <a:r>
              <a:rPr lang="en-US" sz="2400" dirty="0">
                <a:solidFill>
                  <a:schemeClr val="accent5"/>
                </a:solidFill>
              </a:rPr>
              <a:t>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une librairie →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endParaRPr lang="en-US" sz="2400" dirty="0"/>
          </a:p>
        </p:txBody>
      </p:sp>
      <p:sp>
        <p:nvSpPr>
          <p:cNvPr id="7" name="exercise"/>
          <p:cNvSpPr txBox="1"/>
          <p:nvPr/>
        </p:nvSpPr>
        <p:spPr>
          <a:xfrm>
            <a:off x="4320540" y="1926336"/>
            <a:ext cx="34061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réaliser (un projet) → </a:t>
            </a:r>
            <a:r>
              <a:rPr lang="en-US" sz="2400" dirty="0">
                <a:solidFill>
                  <a:schemeClr val="accent5"/>
                </a:solidFill>
              </a:rPr>
              <a:t>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un agenda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7.  </a:t>
            </a:r>
            <a:r>
              <a:rPr lang="en-US" sz="2400" dirty="0">
                <a:solidFill>
                  <a:schemeClr val="tx1"/>
                </a:solidFill>
              </a:rPr>
              <a:t>supporter quelqu’un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8.  </a:t>
            </a:r>
            <a:r>
              <a:rPr lang="en-US" sz="2400" dirty="0">
                <a:solidFill>
                  <a:schemeClr val="tx1"/>
                </a:solidFill>
              </a:rPr>
              <a:t>une location →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Eight more false friends of the office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French → English. Beware of the word that looks the same.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34061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une formation → </a:t>
            </a:r>
            <a:r>
              <a:rPr lang="en-US" sz="2400" b="1" dirty="0">
                <a:solidFill>
                  <a:schemeClr val="accent3"/>
                </a:solidFill>
              </a:rPr>
              <a:t>training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prétendre → </a:t>
            </a:r>
            <a:r>
              <a:rPr lang="en-US" sz="2400" b="1" dirty="0">
                <a:solidFill>
                  <a:schemeClr val="accent3"/>
                </a:solidFill>
              </a:rPr>
              <a:t>to claim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sympathique → </a:t>
            </a:r>
            <a:r>
              <a:rPr lang="en-US" sz="2400" b="1" dirty="0">
                <a:solidFill>
                  <a:schemeClr val="accent3"/>
                </a:solidFill>
              </a:rPr>
              <a:t>friendly, nice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une librairie → </a:t>
            </a:r>
            <a:r>
              <a:rPr lang="en-US" sz="2400" b="1" dirty="0">
                <a:solidFill>
                  <a:schemeClr val="accent3"/>
                </a:solidFill>
              </a:rPr>
              <a:t>a bookshop</a:t>
            </a:r>
            <a:endParaRPr lang="en-US" sz="2400" dirty="0"/>
          </a:p>
        </p:txBody>
      </p:sp>
      <p:sp>
        <p:nvSpPr>
          <p:cNvPr id="8" name="exercise"/>
          <p:cNvSpPr txBox="1"/>
          <p:nvPr/>
        </p:nvSpPr>
        <p:spPr>
          <a:xfrm>
            <a:off x="4320540" y="1926336"/>
            <a:ext cx="34061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réaliser (un projet) → </a:t>
            </a:r>
            <a:r>
              <a:rPr lang="en-US" sz="2400" b="1" dirty="0">
                <a:solidFill>
                  <a:schemeClr val="accent3"/>
                </a:solidFill>
              </a:rPr>
              <a:t>to carry out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un agenda → </a:t>
            </a:r>
            <a:r>
              <a:rPr lang="en-US" sz="2400" b="1" dirty="0">
                <a:solidFill>
                  <a:schemeClr val="accent3"/>
                </a:solidFill>
              </a:rPr>
              <a:t>a diary / a calendar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7.  </a:t>
            </a:r>
            <a:r>
              <a:rPr lang="en-US" sz="2400" dirty="0">
                <a:solidFill>
                  <a:schemeClr val="tx1"/>
                </a:solidFill>
              </a:rPr>
              <a:t>supporter quelqu’un → </a:t>
            </a:r>
            <a:r>
              <a:rPr lang="en-US" sz="2400" b="1" dirty="0">
                <a:solidFill>
                  <a:schemeClr val="accent3"/>
                </a:solidFill>
              </a:rPr>
              <a:t>to stand / to bear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8.  </a:t>
            </a:r>
            <a:r>
              <a:rPr lang="en-US" sz="2400" dirty="0">
                <a:solidFill>
                  <a:schemeClr val="tx1"/>
                </a:solidFill>
              </a:rPr>
              <a:t>une location → </a:t>
            </a:r>
            <a:r>
              <a:rPr lang="en-US" sz="2400" b="1" dirty="0">
                <a:solidFill>
                  <a:schemeClr val="accent3"/>
                </a:solidFill>
              </a:rPr>
              <a:t>a rental</a:t>
            </a:r>
            <a:endParaRPr lang="en-US" sz="2400" dirty="0"/>
          </a:p>
        </p:txBody>
      </p:sp>
      <p:sp>
        <p:nvSpPr>
          <p:cNvPr id="9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to pretend</a:t>
            </a:r>
            <a:r>
              <a:rPr lang="en-US" sz="1800" dirty="0">
                <a:solidFill>
                  <a:schemeClr val="tx1"/>
                </a:solidFill>
              </a:rPr>
              <a:t> = faire semblant · </a:t>
            </a:r>
            <a:r>
              <a:rPr lang="en-US" sz="1800" i="1" dirty="0">
                <a:solidFill>
                  <a:schemeClr val="tx1"/>
                </a:solidFill>
              </a:rPr>
              <a:t>sympathetic</a:t>
            </a:r>
            <a:r>
              <a:rPr lang="en-US" sz="1800" dirty="0">
                <a:solidFill>
                  <a:schemeClr val="tx1"/>
                </a:solidFill>
              </a:rPr>
              <a:t> = compatissant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a library</a:t>
            </a:r>
            <a:r>
              <a:rPr lang="en-US" sz="1800" dirty="0">
                <a:solidFill>
                  <a:schemeClr val="tx1"/>
                </a:solidFill>
              </a:rPr>
              <a:t> = une bibliothèque · </a:t>
            </a:r>
            <a:r>
              <a:rPr lang="en-US" sz="1800" i="1" dirty="0">
                <a:solidFill>
                  <a:schemeClr val="tx1"/>
                </a:solidFill>
              </a:rPr>
              <a:t>to realise</a:t>
            </a:r>
            <a:r>
              <a:rPr lang="en-US" sz="1800" dirty="0">
                <a:solidFill>
                  <a:schemeClr val="tx1"/>
                </a:solidFill>
              </a:rPr>
              <a:t> = se rendre compte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an agenda</a:t>
            </a:r>
            <a:r>
              <a:rPr lang="en-US" sz="1800" dirty="0">
                <a:solidFill>
                  <a:schemeClr val="tx1"/>
                </a:solidFill>
              </a:rPr>
              <a:t> = un ordre du jour · </a:t>
            </a:r>
            <a:r>
              <a:rPr lang="en-US" sz="1800" i="1" dirty="0">
                <a:solidFill>
                  <a:schemeClr val="tx1"/>
                </a:solidFill>
              </a:rPr>
              <a:t>to support</a:t>
            </a:r>
            <a:r>
              <a:rPr lang="en-US" sz="1800" dirty="0">
                <a:solidFill>
                  <a:schemeClr val="tx1"/>
                </a:solidFill>
              </a:rPr>
              <a:t> = soutenir · </a:t>
            </a:r>
            <a:r>
              <a:rPr lang="en-US" sz="1800" i="1" dirty="0">
                <a:solidFill>
                  <a:schemeClr val="tx1"/>
                </a:solidFill>
              </a:rPr>
              <a:t>a location</a:t>
            </a:r>
            <a:r>
              <a:rPr lang="en-US" sz="1800" dirty="0">
                <a:solidFill>
                  <a:schemeClr val="tx1"/>
                </a:solidFill>
              </a:rPr>
              <a:t> = un emplacement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Two minutes before you press forward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 · Choose. One word is right in each line.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71780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We must </a:t>
            </a:r>
            <a:r>
              <a:rPr lang="en-US" sz="2400" dirty="0">
                <a:solidFill>
                  <a:schemeClr val="tx1"/>
                </a:solidFill>
              </a:rPr>
              <a:t>control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check</a:t>
            </a:r>
            <a:r>
              <a:rPr lang="en-US" sz="2400" dirty="0">
                <a:solidFill>
                  <a:schemeClr val="tx1"/>
                </a:solidFill>
              </a:rPr>
              <a:t> the basement this afternoon.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Actually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Currently</a:t>
            </a:r>
            <a:r>
              <a:rPr lang="en-US" sz="2400" dirty="0">
                <a:solidFill>
                  <a:schemeClr val="tx1"/>
                </a:solidFill>
              </a:rPr>
              <a:t> the second floor is closed.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There was a two-day </a:t>
            </a:r>
            <a:r>
              <a:rPr lang="en-US" sz="2400" dirty="0">
                <a:solidFill>
                  <a:schemeClr val="tx1"/>
                </a:solidFill>
              </a:rPr>
              <a:t>delay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deadline</a:t>
            </a:r>
            <a:r>
              <a:rPr lang="en-US" sz="2400" dirty="0">
                <a:solidFill>
                  <a:schemeClr val="tx1"/>
                </a:solidFill>
              </a:rPr>
              <a:t> before we were told.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Three colleagues will </a:t>
            </a:r>
            <a:r>
              <a:rPr lang="en-US" sz="2400" dirty="0">
                <a:solidFill>
                  <a:schemeClr val="tx1"/>
                </a:solidFill>
              </a:rPr>
              <a:t>assist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attend</a:t>
            </a:r>
            <a:r>
              <a:rPr lang="en-US" sz="2400" dirty="0">
                <a:solidFill>
                  <a:schemeClr val="tx1"/>
                </a:solidFill>
              </a:rPr>
              <a:t> the meeting.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The insurer </a:t>
            </a:r>
            <a:r>
              <a:rPr lang="en-US" sz="2400" dirty="0">
                <a:solidFill>
                  <a:schemeClr val="tx1"/>
                </a:solidFill>
              </a:rPr>
              <a:t>demanded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asked for</a:t>
            </a:r>
            <a:r>
              <a:rPr lang="en-US" sz="2400" dirty="0">
                <a:solidFill>
                  <a:schemeClr val="tx1"/>
                </a:solidFill>
              </a:rPr>
              <a:t> the alarm log.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Two minutes before you press forward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27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 · Choose. One word is right in each line.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71780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We must </a:t>
            </a:r>
            <a:r>
              <a:rPr lang="en-US" sz="2400" strike="sngStrike" dirty="0">
                <a:solidFill>
                  <a:schemeClr val="accent6"/>
                </a:solidFill>
              </a:rPr>
              <a:t>control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check</a:t>
            </a:r>
            <a:r>
              <a:rPr lang="en-US" sz="2400" dirty="0">
                <a:solidFill>
                  <a:schemeClr val="tx1"/>
                </a:solidFill>
              </a:rPr>
              <a:t> the basement this afternoon.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strike="sngStrike" dirty="0">
                <a:solidFill>
                  <a:schemeClr val="accent6"/>
                </a:solidFill>
              </a:rPr>
              <a:t>Actually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Currently</a:t>
            </a:r>
            <a:r>
              <a:rPr lang="en-US" sz="2400" dirty="0">
                <a:solidFill>
                  <a:schemeClr val="tx1"/>
                </a:solidFill>
              </a:rPr>
              <a:t> the second floor is closed.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There was a two-day </a:t>
            </a:r>
            <a:r>
              <a:rPr lang="en-US" sz="2400" b="1" dirty="0">
                <a:solidFill>
                  <a:schemeClr val="accent3"/>
                </a:solidFill>
              </a:rPr>
              <a:t>delay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strike="sngStrike" dirty="0">
                <a:solidFill>
                  <a:schemeClr val="accent6"/>
                </a:solidFill>
              </a:rPr>
              <a:t>deadline</a:t>
            </a:r>
            <a:r>
              <a:rPr lang="en-US" sz="2400" dirty="0">
                <a:solidFill>
                  <a:schemeClr val="tx1"/>
                </a:solidFill>
              </a:rPr>
              <a:t> before we were told.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Three colleagues will </a:t>
            </a:r>
            <a:r>
              <a:rPr lang="en-US" sz="2400" strike="sngStrike" dirty="0">
                <a:solidFill>
                  <a:schemeClr val="accent6"/>
                </a:solidFill>
              </a:rPr>
              <a:t>assist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attend</a:t>
            </a:r>
            <a:r>
              <a:rPr lang="en-US" sz="2400" dirty="0">
                <a:solidFill>
                  <a:schemeClr val="tx1"/>
                </a:solidFill>
              </a:rPr>
              <a:t> the meeting.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The insurer </a:t>
            </a:r>
            <a:r>
              <a:rPr lang="en-US" sz="2400" strike="sngStrike" dirty="0">
                <a:solidFill>
                  <a:schemeClr val="accent6"/>
                </a:solidFill>
              </a:rPr>
              <a:t>demanded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asked for</a:t>
            </a:r>
            <a:r>
              <a:rPr lang="en-US" sz="2400" dirty="0">
                <a:solidFill>
                  <a:schemeClr val="tx1"/>
                </a:solidFill>
              </a:rPr>
              <a:t> the alarm log.</a:t>
            </a:r>
            <a:endParaRPr lang="en-US" sz="2400" dirty="0"/>
          </a:p>
        </p:txBody>
      </p:sp>
      <p:sp>
        <p:nvSpPr>
          <p:cNvPr id="8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Line 3 is the trap: </a:t>
            </a:r>
            <a:r>
              <a:rPr lang="en-US" sz="1800" i="1" dirty="0">
                <a:solidFill>
                  <a:schemeClr val="tx1"/>
                </a:solidFill>
              </a:rPr>
              <a:t>a two-day </a:t>
            </a:r>
            <a:r>
              <a:rPr lang="en-US" sz="1800" b="1" i="1" dirty="0">
                <a:solidFill>
                  <a:schemeClr val="tx1"/>
                </a:solidFill>
              </a:rPr>
              <a:t>delay</a:t>
            </a:r>
            <a:r>
              <a:rPr lang="en-US" sz="1800" i="1" dirty="0">
                <a:solidFill>
                  <a:schemeClr val="tx1"/>
                </a:solidFill>
              </a:rPr>
              <a:t> before we were told</a:t>
            </a:r>
            <a:r>
              <a:rPr lang="en-US" sz="1800" dirty="0">
                <a:solidFill>
                  <a:schemeClr val="tx1"/>
                </a:solidFill>
              </a:rPr>
              <a:t> = un </a:t>
            </a:r>
            <a:r>
              <a:rPr lang="en-US" sz="1800" b="1" dirty="0">
                <a:solidFill>
                  <a:schemeClr val="tx1"/>
                </a:solidFill>
              </a:rPr>
              <a:t>retard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delay</a:t>
            </a:r>
            <a:r>
              <a:rPr lang="en-US" sz="1800" dirty="0">
                <a:solidFill>
                  <a:schemeClr val="tx1"/>
                </a:solidFill>
              </a:rPr>
              <a:t> is right here!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Line 5: </a:t>
            </a:r>
            <a:r>
              <a:rPr lang="en-US" sz="1800" i="1" dirty="0">
                <a:solidFill>
                  <a:schemeClr val="tx1"/>
                </a:solidFill>
              </a:rPr>
              <a:t>demanded</a:t>
            </a:r>
            <a:r>
              <a:rPr lang="en-US" sz="1800" dirty="0">
                <a:solidFill>
                  <a:schemeClr val="tx1"/>
                </a:solidFill>
              </a:rPr>
              <a:t> is English (= </a:t>
            </a:r>
            <a:r>
              <a:rPr lang="en-US" sz="1800" b="1" dirty="0">
                <a:solidFill>
                  <a:schemeClr val="tx1"/>
                </a:solidFill>
              </a:rPr>
              <a:t>exigé</a:t>
            </a:r>
            <a:r>
              <a:rPr lang="en-US" sz="1800" dirty="0">
                <a:solidFill>
                  <a:schemeClr val="tx1"/>
                </a:solidFill>
              </a:rPr>
              <a:t>), but too aggressive for a neutral report.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Give the English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B · Give the English for each French expression.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faire remonter le problème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tirer l’affaire au clair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relancer quelqu’un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Give the English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27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B · Give the English for each French expression.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faire remonter le problème → </a:t>
            </a:r>
            <a:r>
              <a:rPr lang="en-US" sz="2400" b="1" dirty="0">
                <a:solidFill>
                  <a:schemeClr val="accent3"/>
                </a:solidFill>
              </a:rPr>
              <a:t>to escalate the problem / to raise the issue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tirer l’affaire au clair → </a:t>
            </a:r>
            <a:r>
              <a:rPr lang="en-US" sz="2400" b="1" dirty="0">
                <a:solidFill>
                  <a:schemeClr val="accent3"/>
                </a:solidFill>
              </a:rPr>
              <a:t>to get to the bottom of it (Mark, Scene 2)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relancer quelqu’un → </a:t>
            </a:r>
            <a:r>
              <a:rPr lang="en-US" sz="2400" b="1" dirty="0">
                <a:solidFill>
                  <a:schemeClr val="accent3"/>
                </a:solidFill>
              </a:rPr>
              <a:t>to chase somebody (up) / to follow up with somebody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For or since? — a first look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27 &amp; 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3883152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FOR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361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 + a duration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83561"/>
            <a:ext cx="3148584" cy="2671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for</a:t>
            </a:r>
            <a:r>
              <a:rPr lang="en-US" sz="2000" dirty="0">
                <a:solidFill>
                  <a:schemeClr val="tx1"/>
                </a:solidFill>
              </a:rPr>
              <a:t> two days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for</a:t>
            </a:r>
            <a:r>
              <a:rPr lang="en-US" sz="2000" dirty="0">
                <a:solidFill>
                  <a:schemeClr val="tx1"/>
                </a:solidFill>
              </a:rPr>
              <a:t> eight months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for</a:t>
            </a:r>
            <a:r>
              <a:rPr lang="en-US" sz="2000" dirty="0">
                <a:solidFill>
                  <a:schemeClr val="tx1"/>
                </a:solidFill>
              </a:rPr>
              <a:t> about three months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37304" y="1481328"/>
            <a:ext cx="3514344" cy="3883152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SINCE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0184" y="2084832"/>
            <a:ext cx="3148584" cy="361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since + a starting point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4520184" y="2583561"/>
            <a:ext cx="3148584" cy="2671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since</a:t>
            </a:r>
            <a:r>
              <a:rPr lang="en-US" sz="2000" dirty="0">
                <a:solidFill>
                  <a:schemeClr val="tx1"/>
                </a:solidFill>
              </a:rPr>
              <a:t> June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since</a:t>
            </a:r>
            <a:r>
              <a:rPr lang="en-US" sz="2000" dirty="0">
                <a:solidFill>
                  <a:schemeClr val="tx1"/>
                </a:solidFill>
              </a:rPr>
              <a:t> the summer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since</a:t>
            </a:r>
            <a:r>
              <a:rPr lang="en-US" sz="2000" dirty="0">
                <a:solidFill>
                  <a:schemeClr val="tx1"/>
                </a:solidFill>
              </a:rPr>
              <a:t> seven o’clock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125968" y="1481328"/>
            <a:ext cx="3514344" cy="3883152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THE VERB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8848" y="2084832"/>
            <a:ext cx="3148584" cy="361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have / has been …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308848" y="2583561"/>
            <a:ext cx="3148584" cy="2671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</a:t>
            </a:r>
            <a:r>
              <a:rPr lang="en-US" sz="2000" b="1" dirty="0">
                <a:solidFill>
                  <a:schemeClr val="tx1"/>
                </a:solidFill>
              </a:rPr>
              <a:t>has been</a:t>
            </a:r>
            <a:r>
              <a:rPr lang="en-US" sz="2000" dirty="0">
                <a:solidFill>
                  <a:schemeClr val="tx1"/>
                </a:solidFill>
              </a:rPr>
              <a:t> faulty </a:t>
            </a:r>
            <a:r>
              <a:rPr lang="en-US" sz="2000" b="1" dirty="0">
                <a:solidFill>
                  <a:schemeClr val="tx1"/>
                </a:solidFill>
              </a:rPr>
              <a:t>since</a:t>
            </a:r>
            <a:r>
              <a:rPr lang="en-US" sz="2000" dirty="0">
                <a:solidFill>
                  <a:schemeClr val="tx1"/>
                </a:solidFill>
              </a:rPr>
              <a:t> June.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</a:t>
            </a:r>
            <a:r>
              <a:rPr lang="en-US" sz="2000" b="1" dirty="0">
                <a:solidFill>
                  <a:schemeClr val="tx1"/>
                </a:solidFill>
              </a:rPr>
              <a:t>have worked</a:t>
            </a:r>
            <a:r>
              <a:rPr lang="en-US" sz="2000" dirty="0">
                <a:solidFill>
                  <a:schemeClr val="tx1"/>
                </a:solidFill>
              </a:rPr>
              <a:t> on this site </a:t>
            </a:r>
            <a:r>
              <a:rPr lang="en-US" sz="2000" b="1" dirty="0">
                <a:solidFill>
                  <a:schemeClr val="tx1"/>
                </a:solidFill>
              </a:rPr>
              <a:t>for</a:t>
            </a:r>
            <a:r>
              <a:rPr lang="en-US" sz="2000" dirty="0">
                <a:solidFill>
                  <a:schemeClr val="tx1"/>
                </a:solidFill>
              </a:rPr>
              <a:t> eight months.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5565648"/>
            <a:ext cx="11091672" cy="725424"/>
          </a:xfrm>
          <a:prstGeom prst="roundRect">
            <a:avLst>
              <a:gd name="adj" fmla="val 10084"/>
            </a:avLst>
          </a:prstGeom>
          <a:solidFill>
            <a:schemeClr val="accent6">
              <a:alpha val="10000"/>
            </a:schemeClr>
          </a:solidFill>
          <a:ln w="9525">
            <a:solidFill>
              <a:schemeClr val="accent6">
                <a:alpha val="70000"/>
              </a:schemeClr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63768"/>
            <a:ext cx="329184" cy="32918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234440" y="5602224"/>
            <a:ext cx="10287000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Piège pour francophones — </a:t>
            </a:r>
            <a:r>
              <a:rPr lang="en-US" sz="1700" i="1" dirty="0">
                <a:solidFill>
                  <a:schemeClr val="tx1"/>
                </a:solidFill>
              </a:rPr>
              <a:t>depuis</a:t>
            </a:r>
            <a:r>
              <a:rPr lang="en-US" sz="1700" dirty="0">
                <a:solidFill>
                  <a:schemeClr val="tx1"/>
                </a:solidFill>
              </a:rPr>
              <a:t> + présent en français → </a:t>
            </a:r>
            <a:r>
              <a:rPr lang="en-US" sz="1700" b="1" dirty="0">
                <a:solidFill>
                  <a:schemeClr val="tx1"/>
                </a:solidFill>
              </a:rPr>
              <a:t>present perfect</a:t>
            </a:r>
            <a:r>
              <a:rPr lang="en-US" sz="1700" dirty="0">
                <a:solidFill>
                  <a:schemeClr val="tx1"/>
                </a:solidFill>
              </a:rPr>
              <a:t> en anglais : </a:t>
            </a:r>
            <a:r>
              <a:rPr lang="en-US" sz="1700" i="1" dirty="0">
                <a:solidFill>
                  <a:schemeClr val="tx1"/>
                </a:solidFill>
              </a:rPr>
              <a:t>Il est fermé depuis ce matin</a:t>
            </a:r>
            <a:r>
              <a:rPr lang="en-US" sz="1700" dirty="0">
                <a:solidFill>
                  <a:schemeClr val="tx1"/>
                </a:solidFill>
              </a:rPr>
              <a:t> → It </a:t>
            </a:r>
            <a:r>
              <a:rPr lang="en-US" sz="1700" b="1" dirty="0">
                <a:solidFill>
                  <a:schemeClr val="tx1"/>
                </a:solidFill>
              </a:rPr>
              <a:t>has been</a:t>
            </a:r>
            <a:r>
              <a:rPr lang="en-US" sz="1700" dirty="0">
                <a:solidFill>
                  <a:schemeClr val="tx1"/>
                </a:solidFill>
              </a:rPr>
              <a:t> closed since this morning (✗ </a:t>
            </a:r>
            <a:r>
              <a:rPr lang="en-US" sz="1700" i="1" dirty="0">
                <a:solidFill>
                  <a:schemeClr val="tx1"/>
                </a:solidFill>
              </a:rPr>
              <a:t>It is closed since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Answer with for or since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 · Write your answers with </a:t>
            </a:r>
            <a:r>
              <a:rPr lang="en-US" sz="1600" i="1" dirty="0">
                <a:solidFill>
                  <a:schemeClr val="accent5"/>
                </a:solidFill>
              </a:rPr>
              <a:t>for</a:t>
            </a:r>
            <a:r>
              <a:rPr lang="en-US" sz="1600" i="1" dirty="0">
                <a:solidFill>
                  <a:schemeClr val="accent5"/>
                </a:solidFill>
              </a:rPr>
              <a:t> or </a:t>
            </a:r>
            <a:r>
              <a:rPr lang="en-US" sz="1600" i="1" dirty="0">
                <a:solidFill>
                  <a:schemeClr val="accent5"/>
                </a:solidFill>
              </a:rPr>
              <a:t>since</a:t>
            </a:r>
            <a:r>
              <a:rPr lang="en-US" sz="1600" i="1" dirty="0">
                <a:solidFill>
                  <a:schemeClr val="accent5"/>
                </a:solidFill>
              </a:rPr>
              <a:t>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1.  </a:t>
            </a:r>
            <a:r>
              <a:rPr lang="en-US" sz="2600" dirty="0">
                <a:solidFill>
                  <a:schemeClr val="tx1"/>
                </a:solidFill>
              </a:rPr>
              <a:t>How long has this joint been faulty?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2.  </a:t>
            </a:r>
            <a:r>
              <a:rPr lang="en-US" sz="2600" dirty="0">
                <a:solidFill>
                  <a:schemeClr val="tx1"/>
                </a:solidFill>
              </a:rPr>
              <a:t>How long have you worked on this site?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3.  </a:t>
            </a:r>
            <a:r>
              <a:rPr lang="en-US" sz="2600" dirty="0">
                <a:solidFill>
                  <a:schemeClr val="tx1"/>
                </a:solidFill>
              </a:rPr>
              <a:t>How long has the second floor been closed?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Answer with for or since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27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 · Write your answers with </a:t>
            </a:r>
            <a:r>
              <a:rPr lang="en-US" sz="1600" i="1" dirty="0">
                <a:solidFill>
                  <a:schemeClr val="accent5"/>
                </a:solidFill>
              </a:rPr>
              <a:t>for</a:t>
            </a:r>
            <a:r>
              <a:rPr lang="en-US" sz="1600" i="1" dirty="0">
                <a:solidFill>
                  <a:schemeClr val="accent5"/>
                </a:solidFill>
              </a:rPr>
              <a:t> or </a:t>
            </a:r>
            <a:r>
              <a:rPr lang="en-US" sz="1600" i="1" dirty="0">
                <a:solidFill>
                  <a:schemeClr val="accent5"/>
                </a:solidFill>
              </a:rPr>
              <a:t>since</a:t>
            </a:r>
            <a:r>
              <a:rPr lang="en-US" sz="1600" i="1" dirty="0">
                <a:solidFill>
                  <a:schemeClr val="accent5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How long has this joint been faulty?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chemeClr val="accent3"/>
                </a:solidFill>
              </a:rPr>
              <a:t>→ </a:t>
            </a:r>
            <a:r>
              <a:rPr lang="en-US" sz="2400" dirty="0">
                <a:solidFill>
                  <a:schemeClr val="accent3"/>
                </a:solidFill>
              </a:rPr>
              <a:t>It has been faulty </a:t>
            </a:r>
            <a:r>
              <a:rPr lang="en-US" sz="2400" b="1" dirty="0">
                <a:solidFill>
                  <a:schemeClr val="accent3"/>
                </a:solidFill>
              </a:rPr>
              <a:t>since</a:t>
            </a:r>
            <a:r>
              <a:rPr lang="en-US" sz="2400" dirty="0">
                <a:solidFill>
                  <a:schemeClr val="accent3"/>
                </a:solidFill>
              </a:rPr>
              <a:t> June / </a:t>
            </a:r>
            <a:r>
              <a:rPr lang="en-US" sz="2400" b="1" dirty="0">
                <a:solidFill>
                  <a:schemeClr val="accent3"/>
                </a:solidFill>
              </a:rPr>
              <a:t>for</a:t>
            </a:r>
            <a:r>
              <a:rPr lang="en-US" sz="2400" dirty="0">
                <a:solidFill>
                  <a:schemeClr val="accent3"/>
                </a:solidFill>
              </a:rPr>
              <a:t> about three months.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How long have you worked on this site?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chemeClr val="accent3"/>
                </a:solidFill>
              </a:rPr>
              <a:t>→ </a:t>
            </a:r>
            <a:r>
              <a:rPr lang="en-US" sz="2400" dirty="0">
                <a:solidFill>
                  <a:schemeClr val="accent3"/>
                </a:solidFill>
              </a:rPr>
              <a:t>I have worked here </a:t>
            </a:r>
            <a:r>
              <a:rPr lang="en-US" sz="2400" b="1" dirty="0">
                <a:solidFill>
                  <a:schemeClr val="accent3"/>
                </a:solidFill>
              </a:rPr>
              <a:t>for</a:t>
            </a:r>
            <a:r>
              <a:rPr lang="en-US" sz="2400" dirty="0">
                <a:solidFill>
                  <a:schemeClr val="accent3"/>
                </a:solidFill>
              </a:rPr>
              <a:t> eight months / </a:t>
            </a:r>
            <a:r>
              <a:rPr lang="en-US" sz="2400" b="1" dirty="0">
                <a:solidFill>
                  <a:schemeClr val="accent3"/>
                </a:solidFill>
              </a:rPr>
              <a:t>since</a:t>
            </a:r>
            <a:r>
              <a:rPr lang="en-US" sz="2400" dirty="0">
                <a:solidFill>
                  <a:schemeClr val="accent3"/>
                </a:solidFill>
              </a:rPr>
              <a:t> March.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How long has the second floor been closed?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chemeClr val="accent3"/>
                </a:solidFill>
              </a:rPr>
              <a:t>→ </a:t>
            </a:r>
            <a:r>
              <a:rPr lang="en-US" sz="2400" dirty="0">
                <a:solidFill>
                  <a:schemeClr val="accent3"/>
                </a:solidFill>
              </a:rPr>
              <a:t>It has been closed </a:t>
            </a:r>
            <a:r>
              <a:rPr lang="en-US" sz="2400" b="1" dirty="0">
                <a:solidFill>
                  <a:schemeClr val="accent3"/>
                </a:solidFill>
              </a:rPr>
              <a:t>since</a:t>
            </a:r>
            <a:r>
              <a:rPr lang="en-US" sz="2400" dirty="0">
                <a:solidFill>
                  <a:schemeClr val="accent3"/>
                </a:solidFill>
              </a:rPr>
              <a:t> seven o’clock this morning / </a:t>
            </a:r>
            <a:r>
              <a:rPr lang="en-US" sz="2400" b="1" dirty="0">
                <a:solidFill>
                  <a:schemeClr val="accent3"/>
                </a:solidFill>
              </a:rPr>
              <a:t>for</a:t>
            </a:r>
            <a:r>
              <a:rPr lang="en-US" sz="2400" dirty="0">
                <a:solidFill>
                  <a:schemeClr val="accent3"/>
                </a:solidFill>
              </a:rPr>
              <a:t> three hours.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11.30. Mark puts his phone on the table and presses speaker. The claims assessor has left a message. She is not asking what you believe.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She is asking since when.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10 false friends</a:t>
            </a:r>
            <a:r>
              <a:rPr lang="en-US" sz="1700" dirty="0">
                <a:solidFill>
                  <a:schemeClr val="tx1"/>
                </a:solidFill>
              </a:rPr>
              <a:t> (p. 26).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</a:t>
            </a:r>
            <a:r>
              <a:rPr lang="en-US" sz="1700" b="1" dirty="0">
                <a:solidFill>
                  <a:schemeClr val="tx1"/>
                </a:solidFill>
              </a:rPr>
              <a:t>for</a:t>
            </a:r>
            <a:r>
              <a:rPr lang="en-US" sz="1700" dirty="0">
                <a:solidFill>
                  <a:schemeClr val="tx1"/>
                </a:solidFill>
              </a:rPr>
              <a:t> (duration) / </a:t>
            </a:r>
            <a:r>
              <a:rPr lang="en-US" sz="1700" b="1" dirty="0">
                <a:solidFill>
                  <a:schemeClr val="tx1"/>
                </a:solidFill>
              </a:rPr>
              <a:t>since</a:t>
            </a:r>
            <a:r>
              <a:rPr lang="en-US" sz="1700" dirty="0">
                <a:solidFill>
                  <a:schemeClr val="tx1"/>
                </a:solidFill>
              </a:rPr>
              <a:t> (starting point) + present perfect.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Prepare a notepad: second voicemail next session.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Correct: </a:t>
            </a:r>
            <a:r>
              <a:rPr lang="en-US" sz="1600" i="1" dirty="0">
                <a:solidFill>
                  <a:schemeClr val="bg1"/>
                </a:solidFill>
              </a:rPr>
              <a:t>We have a delay of two days.</a:t>
            </a:r>
            <a:r>
              <a:rPr lang="en-US" sz="1600" dirty="0">
                <a:solidFill>
                  <a:schemeClr val="bg1"/>
                </a:solidFill>
              </a:rPr>
              <a:t> — </a:t>
            </a:r>
            <a:r>
              <a:rPr lang="en-US" sz="1600" i="1" dirty="0">
                <a:solidFill>
                  <a:schemeClr val="bg1"/>
                </a:solidFill>
              </a:rPr>
              <a:t>It is closed since Monday.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12 — What does this e-mail actually admit?</dc:title>
  <dc:subject>Case File 01 — The night nobody heard</dc:subject>
  <dc:creator>A. Jouniaux</dc:creator>
  <cp:lastModifiedBy>A. Jouniaux</cp:lastModifiedBy>
  <cp:revision>1</cp:revision>
  <dcterms:created xsi:type="dcterms:W3CDTF">2026-10-03T19:30:05Z</dcterms:created>
  <dcterms:modified xsi:type="dcterms:W3CDTF">2026-10-03T19:30:05Z</dcterms:modified>
</cp:coreProperties>
</file>