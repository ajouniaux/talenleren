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69766c4-f9c7-89af-ac20-03d8a214b26f}">
          <p14:sldIdLst>
            <p14:sldId id="256"/>
          </p14:sldIdLst>
        </p14:section>
        <p14:section name="Warm-up" id="{5af9827d-d278-b9ab-9345-67580b1a6595}">
          <p14:sldIdLst>
            <p14:sldId id="257"/>
            <p14:sldId id="258"/>
          </p14:sldIdLst>
        </p14:section>
        <p14:section name="The language of evidence" id="{9e3b1db6-0e77-b916-6744-832096634b2f}">
          <p14:sldIdLst>
            <p14:sldId id="259"/>
            <p14:sldId id="260"/>
            <p14:sldId id="261"/>
          </p14:sldIdLst>
        </p14:section>
        <p14:section name="Sort the witnesses" id="{1c7ff295-5bdd-62df-d6a0-77bd650eed1f}">
          <p14:sldIdLst>
            <p14:sldId id="262"/>
            <p14:sldId id="263"/>
            <p14:sldId id="264"/>
          </p14:sldIdLst>
        </p14:section>
        <p14:section name="The IT expert" id="{7a4b9f00-8aea-915a-9cfa-e04150b42dcb}">
          <p14:sldIdLst>
            <p14:sldId id="265"/>
            <p14:sldId id="266"/>
            <p14:sldId id="267"/>
            <p14:sldId id="268"/>
            <p14:sldId id="269"/>
          </p14:sldIdLst>
        </p14:section>
        <p14:section name="Your expert" id="{4cf1f8f4-5308-f950-bd4b-bc12965c3e9a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Clôture" id="{c99f74b6-150c-f083-1b8b-a4036f2053b0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Séance 8 — Scène 3, livret p. 16–17 : tri des déclarations (P / N / C) et premières questions d’experts.
Objectifs : le langage de la preuve (prove, confirm, show, suggest, does not establish), evidence / proof, « no record ≠ nobody », sent / delivered / read / acknowledged, expliquer son domaine en anglais simple.
Déroulé indicatif (90 min) : warm-up (5') · échelle de la preuve + piège evidence + arbre (15') · Sort the witnesses p. 16 (15') · no record ≠ nobody (5') · la chaîne d’une alerte + écoute de l’expert IT (10') · jeu Overstated! (10') · Your expert p. 16–17 (15') · Taboo ou jeu de rôle (15').
Les diapositives GAME et + EXTRA sont facultatives.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monter et descendre l’échelle avec une même pièce : « The 23:42 notification proves that an alert was sent… shows that the phone received it… does not establish that anybody read 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Individuellement (5 min), puis comparaison par deux : chaque désaccord se règle avec un verbe de l’échelle (proves, suggests…).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Accepter d’autres justifications si elles s’appuient sur le dossier. Ligne 3 : « until eight » est approximativement juste (19:58) — l’important est d’écrire l’heure du journal. Ligne 6 : transition vers la diapositive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Idée-clé : l’absence de trace n’est pas une preuve d’absence (porte ouverte, badge prêté, personne restée sur place après 20:19…).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 pour l’expert IT. Selon les systèmes, « received » désigne parfois la réception par l’appareil (≈ delivered) : laisser l’étudiant IT nuancer.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(inventé, cohérent avec l’Exhibit A) :
« Let me explain with a parcel. The shop sends it: that’s “sent”. The courier leaves it at your door: that’s “delivered”. You open it: that’s “read”. And when you sign for it, that’s “acknowledged”. Now, our log stops at “delivered”. So the phone got the alert at 23:42. But we have no record that anybody opened it — and no record that anybody confirmed it. Delivered means somebody could have known. Only acknowledged means somebody knew.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équipes : le premier qui crie « Overstated! » propose la correction ; si elle est juste (bon verbe + limite de la preuve), l’équipe marque un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équipes : le premier qui crie « Overstated! » propose la correction ; si elle est juste (bon verbe + limite de la preuve), l’équipe marque un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expert prépare sa réponse (5 min) puis l’explique au groupe en 1 minute. Les réponses proposées sont des pistes : valoriser toute réponse argumentée issue du domaine de l’étudiant.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expert prépare sa réponse (5 min) puis l’explique au groupe en 1 minute. Les réponses proposées sont des pistes : valoriser toute réponse argumentée issue du domaine de l’étudiant.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: chaque firme (ACC, IT, LAW, RE) prépare deux cartes Taboo de son domaine. Utiliser les formules « DEFINE » de la diapositive précédente : It’s a thing that… / It’s a person who… / It’s what you do when…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du jeu de rôle de la séance 1. Réponses possibles B : 1. Yes — the cleaners saw it; their entry was recorded at 06:47. 2. No access was recorded after 20:19 — but that does not prove that nobody was there. 3. There is no record that it was read: it was only delivered. 4. It proves that a badge was used — not who carried it. 5. OK, I’ll ask the IT provider for an estimate. 6. I’ll write “an access was recorded”.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Prononciation : evidence /ˈevɪdəns/ · hypothesis /haɪˈpɒθəsɪs/ (pl. hypotheses /-siːz/) · acknowledged /əkˈnɒlɪdʒd/ (k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14600"/>
            <a:ext cx="566928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85800"/>
            <a:ext cx="2236470" cy="365760"/>
          </a:xfrm>
          <a:prstGeom prst="roundRect">
            <a:avLst>
              <a:gd name="adj" fmla="val 12500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SÉANCE 08 / 19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298448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4416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2"/>
                </a:solidFill>
              </a:rPr>
              <a:t>SCENE 3</a:t>
            </a:r>
            <a:endParaRPr lang="en-US" sz="11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09.05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514600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Sort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the witnesses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At nine o’clock Mark will ask you what holds up.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Case File 01 — The night nobody heard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Livret p. 16–17</a:t>
            </a:r>
            <a:endParaRPr lang="en-US" sz="1600" dirty="0"/>
          </a:p>
        </p:txBody>
      </p:sp>
      <p:pic>
        <p:nvPicPr>
          <p:cNvPr id="8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850136"/>
            <a:ext cx="5010912" cy="3340608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the professional block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Which verb goes with the noun? One block, no translation.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2237232"/>
            <a:ext cx="5317236" cy="407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1.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dirty="0">
                <a:solidFill>
                  <a:schemeClr val="accent5"/>
                </a:solidFill>
              </a:rPr>
              <a:t>………………</a:t>
            </a:r>
            <a:r>
              <a:rPr lang="en-US" sz="2600" dirty="0">
                <a:solidFill>
                  <a:schemeClr val="tx1"/>
                </a:solidFill>
              </a:rPr>
              <a:t> the alarm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2.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dirty="0">
                <a:solidFill>
                  <a:schemeClr val="accent5"/>
                </a:solidFill>
              </a:rPr>
              <a:t>………………</a:t>
            </a:r>
            <a:r>
              <a:rPr lang="en-US" sz="2600" dirty="0">
                <a:solidFill>
                  <a:schemeClr val="tx1"/>
                </a:solidFill>
              </a:rPr>
              <a:t> a claim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3.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dirty="0">
                <a:solidFill>
                  <a:schemeClr val="accent5"/>
                </a:solidFill>
              </a:rPr>
              <a:t>………………</a:t>
            </a:r>
            <a:r>
              <a:rPr lang="en-US" sz="2600" dirty="0">
                <a:solidFill>
                  <a:schemeClr val="tx1"/>
                </a:solidFill>
              </a:rPr>
              <a:t> the damage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4.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dirty="0">
                <a:solidFill>
                  <a:schemeClr val="accent5"/>
                </a:solidFill>
              </a:rPr>
              <a:t>………………</a:t>
            </a:r>
            <a:r>
              <a:rPr lang="en-US" sz="2600" dirty="0">
                <a:solidFill>
                  <a:schemeClr val="tx1"/>
                </a:solidFill>
              </a:rPr>
              <a:t> an inspection</a:t>
            </a:r>
            <a:endParaRPr lang="en-US" sz="2600" dirty="0"/>
          </a:p>
        </p:txBody>
      </p:sp>
      <p:sp>
        <p:nvSpPr>
          <p:cNvPr id="7" name="exercise"/>
          <p:cNvSpPr txBox="1"/>
          <p:nvPr/>
        </p:nvSpPr>
        <p:spPr>
          <a:xfrm>
            <a:off x="6323076" y="2237232"/>
            <a:ext cx="5317236" cy="407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5.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dirty="0">
                <a:solidFill>
                  <a:schemeClr val="accent5"/>
                </a:solidFill>
              </a:rPr>
              <a:t>………………</a:t>
            </a:r>
            <a:r>
              <a:rPr lang="en-US" sz="2600" dirty="0">
                <a:solidFill>
                  <a:schemeClr val="tx1"/>
                </a:solidFill>
              </a:rPr>
              <a:t> a deadline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6.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dirty="0">
                <a:solidFill>
                  <a:schemeClr val="accent5"/>
                </a:solidFill>
              </a:rPr>
              <a:t>………………</a:t>
            </a:r>
            <a:r>
              <a:rPr lang="en-US" sz="2600" dirty="0">
                <a:solidFill>
                  <a:schemeClr val="tx1"/>
                </a:solidFill>
              </a:rPr>
              <a:t> the floor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7.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dirty="0">
                <a:solidFill>
                  <a:schemeClr val="accent5"/>
                </a:solidFill>
              </a:rPr>
              <a:t>………………</a:t>
            </a:r>
            <a:r>
              <a:rPr lang="en-US" sz="2600" dirty="0">
                <a:solidFill>
                  <a:schemeClr val="tx1"/>
                </a:solidFill>
              </a:rPr>
              <a:t> a report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8.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dirty="0">
                <a:solidFill>
                  <a:schemeClr val="accent5"/>
                </a:solidFill>
              </a:rPr>
              <a:t>………………</a:t>
            </a:r>
            <a:r>
              <a:rPr lang="en-US" sz="2600" dirty="0">
                <a:solidFill>
                  <a:schemeClr val="tx1"/>
                </a:solidFill>
              </a:rPr>
              <a:t> steps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the professional block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7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Which verb goes with the noun? One block, no translation.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2237232"/>
            <a:ext cx="5317236" cy="407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1.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b="1" dirty="0">
                <a:solidFill>
                  <a:schemeClr val="accent3"/>
                </a:solidFill>
              </a:rPr>
              <a:t>raise</a:t>
            </a:r>
            <a:r>
              <a:rPr lang="en-US" sz="2600" dirty="0">
                <a:solidFill>
                  <a:schemeClr val="tx1"/>
                </a:solidFill>
              </a:rPr>
              <a:t> the alarm</a:t>
            </a:r>
            <a:endParaRPr lang="en-US" sz="2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2.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b="1" dirty="0">
                <a:solidFill>
                  <a:schemeClr val="accent3"/>
                </a:solidFill>
              </a:rPr>
              <a:t>file</a:t>
            </a:r>
            <a:r>
              <a:rPr lang="en-US" sz="2600" dirty="0">
                <a:solidFill>
                  <a:schemeClr val="tx1"/>
                </a:solidFill>
              </a:rPr>
              <a:t> a claim</a:t>
            </a:r>
            <a:endParaRPr lang="en-US" sz="2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3.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b="1" dirty="0">
                <a:solidFill>
                  <a:schemeClr val="accent3"/>
                </a:solidFill>
              </a:rPr>
              <a:t>assess</a:t>
            </a:r>
            <a:r>
              <a:rPr lang="en-US" sz="2600" dirty="0">
                <a:solidFill>
                  <a:schemeClr val="tx1"/>
                </a:solidFill>
              </a:rPr>
              <a:t> the damage</a:t>
            </a:r>
            <a:endParaRPr lang="en-US" sz="2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4.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b="1" dirty="0">
                <a:solidFill>
                  <a:schemeClr val="accent3"/>
                </a:solidFill>
              </a:rPr>
              <a:t>carry out</a:t>
            </a:r>
            <a:r>
              <a:rPr lang="en-US" sz="2600" dirty="0">
                <a:solidFill>
                  <a:schemeClr val="tx1"/>
                </a:solidFill>
              </a:rPr>
              <a:t> an inspection</a:t>
            </a:r>
            <a:endParaRPr lang="en-US" sz="2600" dirty="0"/>
          </a:p>
        </p:txBody>
      </p:sp>
      <p:sp>
        <p:nvSpPr>
          <p:cNvPr id="8" name="exercise"/>
          <p:cNvSpPr txBox="1"/>
          <p:nvPr/>
        </p:nvSpPr>
        <p:spPr>
          <a:xfrm>
            <a:off x="6323076" y="2237232"/>
            <a:ext cx="5317236" cy="407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5.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b="1" dirty="0">
                <a:solidFill>
                  <a:schemeClr val="accent3"/>
                </a:solidFill>
              </a:rPr>
              <a:t>meet</a:t>
            </a:r>
            <a:r>
              <a:rPr lang="en-US" sz="2600" dirty="0">
                <a:solidFill>
                  <a:schemeClr val="tx1"/>
                </a:solidFill>
              </a:rPr>
              <a:t> a deadline</a:t>
            </a:r>
            <a:endParaRPr lang="en-US" sz="2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6.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b="1" dirty="0">
                <a:solidFill>
                  <a:schemeClr val="accent3"/>
                </a:solidFill>
              </a:rPr>
              <a:t>make good</a:t>
            </a:r>
            <a:r>
              <a:rPr lang="en-US" sz="2600" dirty="0">
                <a:solidFill>
                  <a:schemeClr val="tx1"/>
                </a:solidFill>
              </a:rPr>
              <a:t> the floor</a:t>
            </a:r>
            <a:endParaRPr lang="en-US" sz="2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7.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b="1" dirty="0">
                <a:solidFill>
                  <a:schemeClr val="accent3"/>
                </a:solidFill>
              </a:rPr>
              <a:t>draw up</a:t>
            </a:r>
            <a:r>
              <a:rPr lang="en-US" sz="2600" dirty="0">
                <a:solidFill>
                  <a:schemeClr val="tx1"/>
                </a:solidFill>
              </a:rPr>
              <a:t> a report</a:t>
            </a:r>
            <a:endParaRPr lang="en-US" sz="2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8.  </a:t>
            </a:r>
            <a:r>
              <a:rPr lang="en-US" sz="2600" dirty="0">
                <a:solidFill>
                  <a:schemeClr val="tx1"/>
                </a:solidFill>
              </a:rPr>
              <a:t>to </a:t>
            </a:r>
            <a:r>
              <a:rPr lang="en-US" sz="2600" b="1" dirty="0">
                <a:solidFill>
                  <a:schemeClr val="accent3"/>
                </a:solidFill>
              </a:rPr>
              <a:t>take</a:t>
            </a:r>
            <a:r>
              <a:rPr lang="en-US" sz="2600" dirty="0">
                <a:solidFill>
                  <a:schemeClr val="tx1"/>
                </a:solidFill>
              </a:rPr>
              <a:t> steps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From proof to doubt: the evidence ladder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5087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VOCABULARY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508760" y="1783080"/>
            <a:ext cx="384048" cy="905256"/>
          </a:xfrm>
          <a:prstGeom prst="rect">
            <a:avLst/>
          </a:prstGeom>
          <a:solidFill>
            <a:srgbClr val="3C7A3C">
              <a:alpha val="9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83080"/>
            <a:ext cx="8686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100 %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167128" y="1828800"/>
            <a:ext cx="9473184" cy="813816"/>
          </a:xfrm>
          <a:prstGeom prst="roundRect">
            <a:avLst>
              <a:gd name="adj" fmla="val 8989"/>
            </a:avLst>
          </a:prstGeom>
          <a:solidFill>
            <a:srgbClr val="3C7A3C">
              <a:alpha val="7000"/>
            </a:srgbClr>
          </a:solidFill>
          <a:ln w="9525">
            <a:solidFill>
              <a:srgbClr val="3C7A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50008" y="1828800"/>
            <a:ext cx="1600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3"/>
                </a:solidFill>
              </a:rPr>
              <a:t>PROVES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95928" y="1828800"/>
            <a:ext cx="35661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proves · establishes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699248" y="1828800"/>
            <a:ext cx="380390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The badge log proves that badge 0102 was used at 20:04.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508760" y="2688336"/>
            <a:ext cx="384048" cy="905256"/>
          </a:xfrm>
          <a:prstGeom prst="rect">
            <a:avLst/>
          </a:prstGeom>
          <a:solidFill>
            <a:srgbClr val="5E9A3C">
              <a:alpha val="9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2688336"/>
            <a:ext cx="8686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E9A3C"/>
                </a:solidFill>
              </a:rPr>
              <a:t>✓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167128" y="2734056"/>
            <a:ext cx="9473184" cy="813816"/>
          </a:xfrm>
          <a:prstGeom prst="roundRect">
            <a:avLst>
              <a:gd name="adj" fmla="val 8989"/>
            </a:avLst>
          </a:prstGeom>
          <a:solidFill>
            <a:srgbClr val="5E9A3C">
              <a:alpha val="7000"/>
            </a:srgbClr>
          </a:solidFill>
          <a:ln w="9525">
            <a:solidFill>
              <a:srgbClr val="5E9A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50008" y="2734056"/>
            <a:ext cx="1600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E9A3C"/>
                </a:solidFill>
              </a:rPr>
              <a:t>CONFIRMS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995928" y="2734056"/>
            <a:ext cx="35661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confirms · is consistent with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699248" y="2734056"/>
            <a:ext cx="380390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The log confirms that unit 3 shut down at 02:16.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508760" y="3593592"/>
            <a:ext cx="384048" cy="905256"/>
          </a:xfrm>
          <a:prstGeom prst="rect">
            <a:avLst/>
          </a:prstGeom>
          <a:solidFill>
            <a:srgbClr val="2E75B6">
              <a:alpha val="9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593592"/>
            <a:ext cx="8686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≈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167128" y="3639312"/>
            <a:ext cx="9473184" cy="813816"/>
          </a:xfrm>
          <a:prstGeom prst="roundRect">
            <a:avLst>
              <a:gd name="adj" fmla="val 8989"/>
            </a:avLst>
          </a:prstGeom>
          <a:solidFill>
            <a:srgbClr val="2E75B6">
              <a:alpha val="7000"/>
            </a:srgbClr>
          </a:solidFill>
          <a:ln w="9525">
            <a:solidFill>
              <a:srgbClr val="2E75B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50008" y="3639312"/>
            <a:ext cx="1600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SHOWS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995928" y="3639312"/>
            <a:ext cx="35661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shows · indicates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99248" y="3639312"/>
            <a:ext cx="380390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The photos show a soaked floor at 8.20.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08760" y="4498848"/>
            <a:ext cx="384048" cy="905256"/>
          </a:xfrm>
          <a:prstGeom prst="rect">
            <a:avLst/>
          </a:prstGeom>
          <a:solidFill>
            <a:srgbClr val="C0752A">
              <a:alpha val="9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8686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?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2167128" y="4544568"/>
            <a:ext cx="9473184" cy="813816"/>
          </a:xfrm>
          <a:prstGeom prst="roundRect">
            <a:avLst>
              <a:gd name="adj" fmla="val 8989"/>
            </a:avLst>
          </a:prstGeom>
          <a:solidFill>
            <a:srgbClr val="C0752A">
              <a:alpha val="7000"/>
            </a:srgbClr>
          </a:solidFill>
          <a:ln w="9525">
            <a:solidFill>
              <a:srgbClr val="C0752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350008" y="4544568"/>
            <a:ext cx="1600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1"/>
                </a:solidFill>
              </a:rPr>
              <a:t>SUGGESTS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995928" y="4544568"/>
            <a:ext cx="35661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suggests · points to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4544568"/>
            <a:ext cx="380390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The humidity alarm suggests water near the sensors.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08760" y="5404104"/>
            <a:ext cx="384048" cy="905256"/>
          </a:xfrm>
          <a:prstGeom prst="rect">
            <a:avLst/>
          </a:prstGeom>
          <a:solidFill>
            <a:srgbClr val="B03A2E">
              <a:alpha val="9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5404104"/>
            <a:ext cx="8686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✗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167128" y="5449824"/>
            <a:ext cx="9473184" cy="813816"/>
          </a:xfrm>
          <a:prstGeom prst="roundRect">
            <a:avLst>
              <a:gd name="adj" fmla="val 8989"/>
            </a:avLst>
          </a:prstGeom>
          <a:solidFill>
            <a:srgbClr val="B03A2E">
              <a:alpha val="7000"/>
            </a:srgbClr>
          </a:solidFill>
          <a:ln w="9525">
            <a:solidFill>
              <a:srgbClr val="B03A2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0008" y="5449824"/>
            <a:ext cx="1600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DOES NOT ESTABLISH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995928" y="5449824"/>
            <a:ext cx="35661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does not establish · does not prove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7699248" y="5449824"/>
            <a:ext cx="380390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The log does not establish who carried the badge.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Evidence is uncountable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B03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PITFALL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25796" cy="3432048"/>
          </a:xfrm>
          <a:prstGeom prst="roundRect">
            <a:avLst>
              <a:gd name="adj" fmla="val 2131"/>
            </a:avLst>
          </a:prstGeom>
          <a:solidFill>
            <a:srgbClr val="B03A2E">
              <a:alpha val="8000"/>
            </a:srgbClr>
          </a:solidFill>
          <a:ln w="15875">
            <a:solidFill>
              <a:srgbClr val="B03A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025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947672"/>
            <a:ext cx="42656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Word for word — wrong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24328"/>
            <a:ext cx="4722876" cy="2471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We have </a:t>
            </a:r>
            <a:r>
              <a:rPr lang="en-US" sz="2000" strike="sngStrike" dirty="0">
                <a:solidFill>
                  <a:schemeClr val="accent6"/>
                </a:solidFill>
              </a:rPr>
              <a:t>an evidence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Two </a:t>
            </a:r>
            <a:r>
              <a:rPr lang="en-US" sz="2000" strike="sngStrike" dirty="0">
                <a:solidFill>
                  <a:schemeClr val="accent6"/>
                </a:solidFill>
              </a:rPr>
              <a:t>evidences</a:t>
            </a:r>
            <a:r>
              <a:rPr lang="en-US" sz="2000" dirty="0">
                <a:solidFill>
                  <a:schemeClr val="tx1"/>
                </a:solidFill>
              </a:rPr>
              <a:t> contradict Samuel.</a:t>
            </a:r>
            <a:endParaRPr lang="en-US" sz="20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log gives </a:t>
            </a:r>
            <a:r>
              <a:rPr lang="en-US" sz="2000" strike="sngStrike" dirty="0">
                <a:solidFill>
                  <a:schemeClr val="accent6"/>
                </a:solidFill>
              </a:rPr>
              <a:t>proofs</a:t>
            </a:r>
            <a:r>
              <a:rPr lang="en-US" sz="2000" dirty="0">
                <a:solidFill>
                  <a:schemeClr val="tx1"/>
                </a:solidFill>
              </a:rPr>
              <a:t> that…</a:t>
            </a:r>
            <a:endParaRPr lang="en-US" sz="20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strike="sngStrike" dirty="0">
                <a:solidFill>
                  <a:schemeClr val="accent6"/>
                </a:solidFill>
              </a:rPr>
              <a:t>proves who</a:t>
            </a:r>
            <a:r>
              <a:rPr lang="en-US" sz="2000" dirty="0">
                <a:solidFill>
                  <a:schemeClr val="tx1"/>
                </a:solidFill>
              </a:rPr>
              <a:t> carried the badge.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14516" y="1783080"/>
            <a:ext cx="5225796" cy="3432048"/>
          </a:xfrm>
          <a:prstGeom prst="roundRect">
            <a:avLst>
              <a:gd name="adj" fmla="val 2131"/>
            </a:avLst>
          </a:prstGeom>
          <a:solidFill>
            <a:srgbClr val="3C7A3C">
              <a:alpha val="8000"/>
            </a:srgbClr>
          </a:solidFill>
          <a:ln w="15875">
            <a:solidFill>
              <a:srgbClr val="3C7A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0548" y="200253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1947672"/>
            <a:ext cx="42656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a professional writes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88836" y="2624328"/>
            <a:ext cx="4722876" cy="2471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We have </a:t>
            </a:r>
            <a:r>
              <a:rPr lang="en-US" sz="2000" b="1" dirty="0">
                <a:solidFill>
                  <a:schemeClr val="tx1"/>
                </a:solidFill>
              </a:rPr>
              <a:t>a piece of evidence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Two pieces of evidence</a:t>
            </a:r>
            <a:r>
              <a:rPr lang="en-US" sz="2000" dirty="0">
                <a:solidFill>
                  <a:schemeClr val="tx1"/>
                </a:solidFill>
              </a:rPr>
              <a:t> contradict Samuel.</a:t>
            </a:r>
            <a:endParaRPr lang="en-US" sz="20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log gives </a:t>
            </a:r>
            <a:r>
              <a:rPr lang="en-US" sz="2000" b="1" dirty="0">
                <a:solidFill>
                  <a:schemeClr val="tx1"/>
                </a:solidFill>
              </a:rPr>
              <a:t>proof</a:t>
            </a:r>
            <a:r>
              <a:rPr lang="en-US" sz="2000" dirty="0">
                <a:solidFill>
                  <a:schemeClr val="tx1"/>
                </a:solidFill>
              </a:rPr>
              <a:t> that…</a:t>
            </a:r>
            <a:endParaRPr lang="en-US" sz="20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does </a:t>
            </a:r>
            <a:r>
              <a:rPr lang="en-US" sz="2000" b="1" dirty="0">
                <a:solidFill>
                  <a:schemeClr val="tx1"/>
                </a:solidFill>
              </a:rPr>
              <a:t>not establish who</a:t>
            </a:r>
            <a:r>
              <a:rPr lang="en-US" sz="2000" dirty="0">
                <a:solidFill>
                  <a:schemeClr val="tx1"/>
                </a:solidFill>
              </a:rPr>
              <a:t> carried the badge.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838444" y="3243072"/>
            <a:ext cx="512064" cy="512064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4748" y="3389376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48640" y="5535168"/>
            <a:ext cx="11091672" cy="774192"/>
          </a:xfrm>
          <a:prstGeom prst="roundRect">
            <a:avLst>
              <a:gd name="adj" fmla="val 9449"/>
            </a:avLst>
          </a:prstGeom>
          <a:solidFill>
            <a:srgbClr val="B03A2E">
              <a:alpha val="8000"/>
            </a:srgbClr>
          </a:solidFill>
          <a:ln w="12700">
            <a:solidFill>
              <a:srgbClr val="B03A2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39384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5590032"/>
            <a:ext cx="10085832" cy="664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800" i="1" dirty="0">
                <a:solidFill>
                  <a:schemeClr val="tx1"/>
                </a:solidFill>
              </a:rPr>
              <a:t>la preuve, les preuves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1"/>
                </a:solidFill>
              </a:rPr>
              <a:t>evidence</a:t>
            </a:r>
            <a:r>
              <a:rPr lang="en-US" sz="1800" dirty="0">
                <a:solidFill>
                  <a:schemeClr val="tx1"/>
                </a:solidFill>
              </a:rPr>
              <a:t> (indénombrable) ou </a:t>
            </a:r>
            <a:r>
              <a:rPr lang="en-US" sz="1800" b="1" dirty="0">
                <a:solidFill>
                  <a:schemeClr val="tx1"/>
                </a:solidFill>
              </a:rPr>
              <a:t>proof</a:t>
            </a:r>
            <a:r>
              <a:rPr lang="en-US" sz="1800" dirty="0">
                <a:solidFill>
                  <a:schemeClr val="tx1"/>
                </a:solidFill>
              </a:rPr>
              <a:t> (singulier) — jamais </a:t>
            </a:r>
            <a:r>
              <a:rPr lang="en-US" sz="1800" i="1" dirty="0">
                <a:solidFill>
                  <a:schemeClr val="tx1"/>
                </a:solidFill>
              </a:rPr>
              <a:t>an evidence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i="1" dirty="0">
                <a:solidFill>
                  <a:schemeClr val="tx1"/>
                </a:solidFill>
              </a:rPr>
              <a:t>evidences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i="1" dirty="0">
                <a:solidFill>
                  <a:schemeClr val="tx1"/>
                </a:solidFill>
              </a:rPr>
              <a:t>proofs</a:t>
            </a:r>
            <a:r>
              <a:rPr lang="en-US" sz="1800" dirty="0">
                <a:solidFill>
                  <a:schemeClr val="tx1"/>
                </a:solidFill>
              </a:rPr>
              <a:t>. </a:t>
            </a:r>
            <a:r>
              <a:rPr lang="en-US" sz="1800" i="1" dirty="0">
                <a:solidFill>
                  <a:schemeClr val="tx1"/>
                </a:solidFill>
              </a:rPr>
              <a:t>prouver que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1"/>
                </a:solidFill>
              </a:rPr>
              <a:t>prove that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Which verb of evidence?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051560" cy="310896"/>
          </a:xfrm>
          <a:prstGeom prst="roundRect">
            <a:avLst>
              <a:gd name="adj" fmla="val 14706"/>
            </a:avLst>
          </a:prstGeom>
          <a:solidFill>
            <a:srgbClr val="4454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METHOD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24762" y="1737360"/>
            <a:ext cx="2756916" cy="384048"/>
          </a:xfrm>
          <a:prstGeom prst="roundRect">
            <a:avLst>
              <a:gd name="adj" fmla="val 47619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document and a fact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03220" y="2139696"/>
            <a:ext cx="0" cy="310896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8640" y="2468880"/>
            <a:ext cx="47091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94944" y="2715768"/>
            <a:ext cx="438912" cy="438912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825496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61872" y="2505456"/>
            <a:ext cx="386791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Does the document </a:t>
            </a:r>
            <a:r>
              <a:rPr lang="en-US" sz="1700" b="1" dirty="0">
                <a:solidFill>
                  <a:schemeClr val="tx2"/>
                </a:solidFill>
              </a:rPr>
              <a:t>record the fact itself</a:t>
            </a:r>
            <a:r>
              <a:rPr lang="en-US" sz="1700" b="1" dirty="0">
                <a:solidFill>
                  <a:schemeClr val="tx2"/>
                </a:solidFill>
              </a:rPr>
              <a:t>?</a:t>
            </a:r>
            <a:endParaRPr lang="en-US" sz="17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the time, the badge, the status is written there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276088" y="2935224"/>
            <a:ext cx="859536" cy="0"/>
          </a:xfrm>
          <a:prstGeom prst="line">
            <a:avLst/>
          </a:prstGeom>
          <a:noFill/>
          <a:ln w="22225">
            <a:solidFill>
              <a:srgbClr val="3C7A3C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5257800" y="2624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YES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2468880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3C7A3C">
              <a:alpha val="12000"/>
            </a:srgbClr>
          </a:solidFill>
          <a:ln w="19050">
            <a:solidFill>
              <a:srgbClr val="3C7A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36792" y="2505456"/>
            <a:ext cx="51389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3"/>
                </a:solidFill>
              </a:rPr>
              <a:t>PROVES · CONFIRMS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log </a:t>
            </a:r>
            <a:r>
              <a:rPr lang="en-US" sz="1600" b="1" dirty="0">
                <a:solidFill>
                  <a:schemeClr val="tx1"/>
                </a:solidFill>
              </a:rPr>
              <a:t>confirms</a:t>
            </a:r>
            <a:r>
              <a:rPr lang="en-US" sz="1600" dirty="0">
                <a:solidFill>
                  <a:schemeClr val="tx1"/>
                </a:solidFill>
              </a:rPr>
              <a:t> that unit 3 shut down at 02:16.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903220" y="3419856"/>
            <a:ext cx="0" cy="310896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994660" y="340156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NO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749040"/>
            <a:ext cx="47091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94944" y="3995928"/>
            <a:ext cx="438912" cy="438912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105656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61872" y="3785616"/>
            <a:ext cx="386791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Does it make the fact </a:t>
            </a:r>
            <a:r>
              <a:rPr lang="en-US" sz="1700" b="1" dirty="0">
                <a:solidFill>
                  <a:schemeClr val="tx2"/>
                </a:solidFill>
              </a:rPr>
              <a:t>likely</a:t>
            </a:r>
            <a:r>
              <a:rPr lang="en-US" sz="1700" b="1" dirty="0">
                <a:solidFill>
                  <a:schemeClr val="tx2"/>
                </a:solidFill>
              </a:rPr>
              <a:t> — without recording it?</a:t>
            </a:r>
            <a:endParaRPr lang="en-US" sz="17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 clue, an effect, a sequence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276088" y="4215384"/>
            <a:ext cx="859536" cy="0"/>
          </a:xfrm>
          <a:prstGeom prst="line">
            <a:avLst/>
          </a:prstGeom>
          <a:noFill/>
          <a:ln w="22225">
            <a:solidFill>
              <a:srgbClr val="3C7A3C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39044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YES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172200" y="3749040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C0752A">
              <a:alpha val="12000"/>
            </a:srgbClr>
          </a:solidFill>
          <a:ln w="19050">
            <a:solidFill>
              <a:srgbClr val="C0752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36792" y="3785616"/>
            <a:ext cx="51389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1"/>
                </a:solidFill>
              </a:rPr>
              <a:t>SHOWS · SUGGESTS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humidity alarm </a:t>
            </a:r>
            <a:r>
              <a:rPr lang="en-US" sz="1600" b="1" dirty="0">
                <a:solidFill>
                  <a:schemeClr val="tx1"/>
                </a:solidFill>
              </a:rPr>
              <a:t>suggests</a:t>
            </a:r>
            <a:r>
              <a:rPr lang="en-US" sz="1600" dirty="0">
                <a:solidFill>
                  <a:schemeClr val="tx1"/>
                </a:solidFill>
              </a:rPr>
              <a:t> water near the sensors.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2903220" y="4700016"/>
            <a:ext cx="0" cy="310896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26" name="Text 22"/>
          <p:cNvSpPr txBox="1"/>
          <p:nvPr/>
        </p:nvSpPr>
        <p:spPr>
          <a:xfrm>
            <a:off x="2994660" y="46817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NO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48640" y="5029200"/>
            <a:ext cx="4709160" cy="932688"/>
          </a:xfrm>
          <a:prstGeom prst="roundRect">
            <a:avLst>
              <a:gd name="adj" fmla="val 7843"/>
            </a:avLst>
          </a:prstGeom>
          <a:solidFill>
            <a:srgbClr val="B03A2E">
              <a:alpha val="12000"/>
            </a:srgbClr>
          </a:solidFill>
          <a:ln w="19050">
            <a:solidFill>
              <a:srgbClr val="B03A2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13232" y="5065776"/>
            <a:ext cx="4379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6"/>
                </a:solidFill>
              </a:rPr>
              <a:t>DOES NOT ESTABLISH — say what is missing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log </a:t>
            </a:r>
            <a:r>
              <a:rPr lang="en-US" sz="1600" b="1" dirty="0">
                <a:solidFill>
                  <a:schemeClr val="tx1"/>
                </a:solidFill>
              </a:rPr>
              <a:t>does not establish</a:t>
            </a:r>
            <a:r>
              <a:rPr lang="en-US" sz="1600" dirty="0">
                <a:solidFill>
                  <a:schemeClr val="tx1"/>
                </a:solidFill>
              </a:rPr>
              <a:t> who carried the badge.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Sort the witnesses before Mark asks you to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Six statements were made in the room. Mark them </a:t>
            </a:r>
            <a:r>
              <a:rPr lang="en-US" sz="1600" b="1" i="1" dirty="0">
                <a:solidFill>
                  <a:schemeClr val="accent5"/>
                </a:solidFill>
              </a:rPr>
              <a:t>P</a:t>
            </a:r>
            <a:r>
              <a:rPr lang="en-US" sz="1600" i="1" dirty="0">
                <a:solidFill>
                  <a:schemeClr val="accent5"/>
                </a:solidFill>
              </a:rPr>
              <a:t> (provable today), </a:t>
            </a:r>
            <a:r>
              <a:rPr lang="en-US" sz="1600" b="1" i="1" dirty="0">
                <a:solidFill>
                  <a:schemeClr val="accent5"/>
                </a:solidFill>
              </a:rPr>
              <a:t>N</a:t>
            </a:r>
            <a:r>
              <a:rPr lang="en-US" sz="1600" i="1" dirty="0">
                <a:solidFill>
                  <a:schemeClr val="accent5"/>
                </a:solidFill>
              </a:rPr>
              <a:t> (not yet provable) or </a:t>
            </a:r>
            <a:r>
              <a:rPr lang="en-US" sz="1600" b="1" i="1" dirty="0">
                <a:solidFill>
                  <a:schemeClr val="accent5"/>
                </a:solidFill>
              </a:rPr>
              <a:t>C</a:t>
            </a:r>
            <a:r>
              <a:rPr lang="en-US" sz="1600" i="1" dirty="0">
                <a:solidFill>
                  <a:schemeClr val="accent5"/>
                </a:solidFill>
              </a:rPr>
              <a:t> (contradicted by another source).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1072"/>
          <a:ext cx="1109167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463040"/>
                <a:gridCol w="5696712"/>
              </a:tblGrid>
              <a:tr h="571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STATEMENT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 / N / C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WHY?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718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water was still running at 6.50 a.m.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8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pipe was leaking all night.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5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contractor’s team left at eight.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5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Two IT units have stopped working.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5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It is the same pipe as last November.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5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Nobody was on site at 11.40 p.m.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Sort the witnesses before Mark asks you to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27632"/>
            <a:ext cx="11091672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Six statements were made in the room. Mark them </a:t>
            </a:r>
            <a:r>
              <a:rPr lang="en-US" sz="1600" b="1" i="1" dirty="0">
                <a:solidFill>
                  <a:schemeClr val="accent5"/>
                </a:solidFill>
              </a:rPr>
              <a:t>P</a:t>
            </a:r>
            <a:r>
              <a:rPr lang="en-US" sz="1600" i="1" dirty="0">
                <a:solidFill>
                  <a:schemeClr val="accent5"/>
                </a:solidFill>
              </a:rPr>
              <a:t> (provable today), </a:t>
            </a:r>
            <a:r>
              <a:rPr lang="en-US" sz="1600" b="1" i="1" dirty="0">
                <a:solidFill>
                  <a:schemeClr val="accent5"/>
                </a:solidFill>
              </a:rPr>
              <a:t>N</a:t>
            </a:r>
            <a:r>
              <a:rPr lang="en-US" sz="1600" i="1" dirty="0">
                <a:solidFill>
                  <a:schemeClr val="accent5"/>
                </a:solidFill>
              </a:rPr>
              <a:t> (not yet provable) or </a:t>
            </a:r>
            <a:r>
              <a:rPr lang="en-US" sz="1600" b="1" i="1" dirty="0">
                <a:solidFill>
                  <a:schemeClr val="accent5"/>
                </a:solidFill>
              </a:rPr>
              <a:t>C</a:t>
            </a:r>
            <a:r>
              <a:rPr lang="en-US" sz="1600" i="1" dirty="0">
                <a:solidFill>
                  <a:schemeClr val="accent5"/>
                </a:solidFill>
              </a:rPr>
              <a:t> (contradicted by another source).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1072"/>
          <a:ext cx="1109167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463040"/>
                <a:gridCol w="5696712"/>
              </a:tblGrid>
              <a:tr h="571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STATEMENT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 / N / C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WHY?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718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water was still running at 6.50 a.m.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P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The cleaners saw it; their entry is logged (06:47).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8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pipe was leaking all night.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N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Iris: “I think” — a supposition; nothing yet on the pipe.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5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contractor’s team left at eight.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C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The log shows the exit at 19:58.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5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Two IT units have stopped working.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P (partly)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Samuel checked; the log shows only unit 3 (02:16).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5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It is the same pipe as last November.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N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Samuel: “It might be” — needs maintenance records.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5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Nobody was on site at 11.40 p.m.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N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3"/>
                          </a:solidFill>
                        </a:rPr>
                        <a:t>No badge after 20:19 — but a log only records badges.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No record is not proof of absence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508760" cy="310896"/>
          </a:xfrm>
          <a:prstGeom prst="roundRect">
            <a:avLst>
              <a:gd name="adj" fmla="val 14706"/>
            </a:avLst>
          </a:prstGeom>
          <a:solidFill>
            <a:srgbClr val="4454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FIELD NOTE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log shows </a:t>
            </a:r>
            <a:r>
              <a:rPr lang="en-US" sz="1800" b="1" dirty="0">
                <a:solidFill>
                  <a:schemeClr val="tx1"/>
                </a:solidFill>
              </a:rPr>
              <a:t>no badge</a:t>
            </a:r>
            <a:r>
              <a:rPr lang="en-US" sz="1800" dirty="0">
                <a:solidFill>
                  <a:schemeClr val="tx1"/>
                </a:solidFill>
              </a:rPr>
              <a:t> between 20:19 and 06:47. Does that mean </a:t>
            </a:r>
            <a:r>
              <a:rPr lang="en-US" sz="1800" b="1" dirty="0">
                <a:solidFill>
                  <a:schemeClr val="tx1"/>
                </a:solidFill>
              </a:rPr>
              <a:t>nobody</a:t>
            </a:r>
            <a:r>
              <a:rPr lang="en-US" sz="1800" dirty="0">
                <a:solidFill>
                  <a:schemeClr val="tx1"/>
                </a:solidFill>
              </a:rPr>
              <a:t> was in the building?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934598" y="2982468"/>
            <a:ext cx="8629178" cy="420624"/>
          </a:xfrm>
          <a:prstGeom prst="roundRect">
            <a:avLst>
              <a:gd name="adj" fmla="val 21739"/>
            </a:avLst>
          </a:prstGeom>
          <a:solidFill>
            <a:srgbClr val="44546A">
              <a:alpha val="40000"/>
            </a:srgbClr>
          </a:solidFill>
          <a:ln w="15875">
            <a:solidFill>
              <a:srgbClr val="44546A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2007750" y="2982468"/>
            <a:ext cx="84828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no badge recorded — but was anyone there? The log cannot say.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94360" y="3677412"/>
            <a:ext cx="10881360" cy="0"/>
          </a:xfrm>
          <a:prstGeom prst="line">
            <a:avLst/>
          </a:prstGeom>
          <a:noFill/>
          <a:ln w="317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1509516" y="3613404"/>
            <a:ext cx="0" cy="128016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2316" y="3768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20.00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9846" y="3613404"/>
            <a:ext cx="0" cy="128016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52646" y="3768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22.00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910177" y="3613404"/>
            <a:ext cx="0" cy="128016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52977" y="3768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00.00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10507" y="3613404"/>
            <a:ext cx="0" cy="128016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53307" y="3768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02.00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310838" y="3613404"/>
            <a:ext cx="0" cy="128016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53638" y="3768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04.00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011169" y="3613404"/>
            <a:ext cx="0" cy="128016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553969" y="3768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06.00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781569" y="3768852"/>
            <a:ext cx="0" cy="365760"/>
          </a:xfrm>
          <a:prstGeom prst="line">
            <a:avLst/>
          </a:prstGeom>
          <a:noFill/>
          <a:ln w="12700">
            <a:solidFill>
              <a:srgbClr val="C0752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4659" y="4134612"/>
            <a:ext cx="1753819" cy="384048"/>
          </a:xfrm>
          <a:prstGeom prst="roundRect">
            <a:avLst>
              <a:gd name="adj" fmla="val 23810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last exit: 20:19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662697" y="3558540"/>
            <a:ext cx="237744" cy="237744"/>
          </a:xfrm>
          <a:prstGeom prst="ellipse">
            <a:avLst/>
          </a:prstGeom>
          <a:solidFill>
            <a:srgbClr val="6E4A9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674298" y="3768852"/>
            <a:ext cx="0" cy="365760"/>
          </a:xfrm>
          <a:prstGeom prst="line">
            <a:avLst/>
          </a:prstGeom>
          <a:noFill/>
          <a:ln w="12700">
            <a:solidFill>
              <a:srgbClr val="C0752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63102" y="4134612"/>
            <a:ext cx="3277210" cy="384048"/>
          </a:xfrm>
          <a:prstGeom prst="roundRect">
            <a:avLst>
              <a:gd name="adj" fmla="val 23810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next entry: 06:47 — cleaning team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555426" y="3558540"/>
            <a:ext cx="237744" cy="237744"/>
          </a:xfrm>
          <a:prstGeom prst="ellipse">
            <a:avLst/>
          </a:prstGeom>
          <a:solidFill>
            <a:srgbClr val="6E4A9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5535168"/>
            <a:ext cx="11091672" cy="774192"/>
          </a:xfrm>
          <a:prstGeom prst="roundRect">
            <a:avLst>
              <a:gd name="adj" fmla="val 9449"/>
            </a:avLst>
          </a:prstGeom>
          <a:solidFill>
            <a:srgbClr val="3C7A3C">
              <a:alpha val="8000"/>
            </a:srgbClr>
          </a:solidFill>
          <a:ln w="12700">
            <a:solidFill>
              <a:srgbClr val="3C7A3C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39384"/>
            <a:ext cx="365760" cy="36576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325880" y="5590032"/>
            <a:ext cx="10085832" cy="664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À retenir — </a:t>
            </a:r>
            <a:r>
              <a:rPr lang="en-US" sz="1800" i="1" dirty="0">
                <a:solidFill>
                  <a:schemeClr val="tx1"/>
                </a:solidFill>
              </a:rPr>
              <a:t>No access was recorded between 20:19 and 06:47.</a:t>
            </a:r>
            <a:r>
              <a:rPr lang="en-US" sz="1800" dirty="0">
                <a:solidFill>
                  <a:schemeClr val="tx1"/>
                </a:solidFill>
              </a:rPr>
              <a:t> ✓ — </a:t>
            </a:r>
            <a:r>
              <a:rPr lang="en-US" sz="1800" i="1" dirty="0">
                <a:solidFill>
                  <a:schemeClr val="tx1"/>
                </a:solidFill>
              </a:rPr>
              <a:t>Nobody was on site.</a:t>
            </a:r>
            <a:r>
              <a:rPr lang="en-US" sz="1800" dirty="0">
                <a:solidFill>
                  <a:schemeClr val="tx1"/>
                </a:solidFill>
              </a:rPr>
              <a:t> ✗ A log only records </a:t>
            </a:r>
            <a:r>
              <a:rPr lang="en-US" sz="1800" b="1" dirty="0">
                <a:solidFill>
                  <a:schemeClr val="tx1"/>
                </a:solidFill>
              </a:rPr>
              <a:t>badges</a:t>
            </a:r>
            <a:r>
              <a:rPr lang="en-US" sz="1800" dirty="0">
                <a:solidFill>
                  <a:schemeClr val="tx1"/>
                </a:solidFill>
              </a:rPr>
              <a:t>, not </a:t>
            </a:r>
            <a:r>
              <a:rPr lang="en-US" sz="1800" b="1" dirty="0">
                <a:solidFill>
                  <a:schemeClr val="tx1"/>
                </a:solidFill>
              </a:rPr>
              <a:t>people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Sent, delivered, read, acknowledged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623060" cy="310896"/>
          </a:xfrm>
          <a:prstGeom prst="roundRect">
            <a:avLst>
              <a:gd name="adj" fmla="val 14706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 · 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783080"/>
            <a:ext cx="2944368" cy="868680"/>
          </a:xfrm>
          <a:prstGeom prst="homePlate">
            <a:avLst/>
          </a:prstGeom>
          <a:solidFill>
            <a:srgbClr val="44546A"/>
          </a:solidFill>
          <a:ln w="25400">
            <a:solidFill>
              <a:srgbClr val="FFFFFF"/>
            </a:solidFill>
          </a:ln>
        </p:spPr>
        <p:txBody>
          <a:bodyPr wrap="square" lIns="0" tIns="4445" rIns="3175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2816352"/>
            <a:ext cx="2532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system </a:t>
            </a:r>
            <a:r>
              <a:rPr lang="en-US" sz="1500" b="1" dirty="0">
                <a:solidFill>
                  <a:schemeClr val="tx1"/>
                </a:solidFill>
              </a:rPr>
              <a:t>sent</a:t>
            </a:r>
            <a:r>
              <a:rPr lang="en-US" sz="1500" dirty="0">
                <a:solidFill>
                  <a:schemeClr val="tx1"/>
                </a:solidFill>
              </a:rPr>
              <a:t> the alert at 23:42. → the alarm </a:t>
            </a:r>
            <a:r>
              <a:rPr lang="en-US" sz="1500" b="1" dirty="0">
                <a:solidFill>
                  <a:schemeClr val="tx1"/>
                </a:solidFill>
              </a:rPr>
              <a:t>worked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264408" y="1783080"/>
            <a:ext cx="2944368" cy="868680"/>
          </a:xfrm>
          <a:prstGeom prst="chevron">
            <a:avLst/>
          </a:prstGeom>
          <a:solidFill>
            <a:srgbClr val="2E75B6"/>
          </a:solidFill>
          <a:ln w="25400">
            <a:solidFill>
              <a:srgbClr val="FFFFFF"/>
            </a:solidFill>
          </a:ln>
        </p:spPr>
        <p:txBody>
          <a:bodyPr wrap="square" lIns="0" tIns="4445" rIns="3175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DELIVERED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374136" y="2816352"/>
            <a:ext cx="2532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phone </a:t>
            </a:r>
            <a:r>
              <a:rPr lang="en-US" sz="1500" b="1" dirty="0">
                <a:solidFill>
                  <a:schemeClr val="tx1"/>
                </a:solidFill>
              </a:rPr>
              <a:t>received</a:t>
            </a:r>
            <a:r>
              <a:rPr lang="en-US" sz="1500" dirty="0">
                <a:solidFill>
                  <a:schemeClr val="tx1"/>
                </a:solidFill>
              </a:rPr>
              <a:t> it. → somebody </a:t>
            </a:r>
            <a:r>
              <a:rPr lang="en-US" sz="1500" b="1" dirty="0">
                <a:solidFill>
                  <a:schemeClr val="tx1"/>
                </a:solidFill>
              </a:rPr>
              <a:t>could</a:t>
            </a:r>
            <a:r>
              <a:rPr lang="en-US" sz="1500" dirty="0">
                <a:solidFill>
                  <a:schemeClr val="tx1"/>
                </a:solidFill>
              </a:rPr>
              <a:t> have known.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980176" y="1783080"/>
            <a:ext cx="2944368" cy="868680"/>
          </a:xfrm>
          <a:prstGeom prst="chevron">
            <a:avLst/>
          </a:prstGeom>
          <a:solidFill>
            <a:srgbClr val="C0752A"/>
          </a:solidFill>
          <a:ln w="25400">
            <a:solidFill>
              <a:srgbClr val="FFFFFF"/>
            </a:solidFill>
          </a:ln>
        </p:spPr>
        <p:txBody>
          <a:bodyPr wrap="square" lIns="0" tIns="4445" rIns="3175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089904" y="2816352"/>
            <a:ext cx="2532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Somebody </a:t>
            </a:r>
            <a:r>
              <a:rPr lang="en-US" sz="1500" b="1" dirty="0">
                <a:solidFill>
                  <a:schemeClr val="tx1"/>
                </a:solidFill>
              </a:rPr>
              <a:t>opened</a:t>
            </a:r>
            <a:r>
              <a:rPr lang="en-US" sz="1500" dirty="0">
                <a:solidFill>
                  <a:schemeClr val="tx1"/>
                </a:solidFill>
              </a:rPr>
              <a:t> it. → not in Exhibit A.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695944" y="1783080"/>
            <a:ext cx="2944368" cy="868680"/>
          </a:xfrm>
          <a:prstGeom prst="chevron">
            <a:avLst/>
          </a:prstGeom>
          <a:solidFill>
            <a:srgbClr val="3C7A3C"/>
          </a:solidFill>
          <a:ln w="25400">
            <a:solidFill>
              <a:srgbClr val="FFFFFF"/>
            </a:solidFill>
          </a:ln>
        </p:spPr>
        <p:txBody>
          <a:bodyPr wrap="square" lIns="0" tIns="4445" rIns="3175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ACKNOWLEDGED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805672" y="2816352"/>
            <a:ext cx="2532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Somebody </a:t>
            </a:r>
            <a:r>
              <a:rPr lang="en-US" sz="1500" b="1" dirty="0">
                <a:solidFill>
                  <a:schemeClr val="tx1"/>
                </a:solidFill>
              </a:rPr>
              <a:t>confirmed</a:t>
            </a:r>
            <a:r>
              <a:rPr lang="en-US" sz="1500" dirty="0">
                <a:solidFill>
                  <a:schemeClr val="tx1"/>
                </a:solidFill>
              </a:rPr>
              <a:t> it (OK, reply). → somebody </a:t>
            </a:r>
            <a:r>
              <a:rPr lang="en-US" sz="1500" b="1" dirty="0">
                <a:solidFill>
                  <a:schemeClr val="tx1"/>
                </a:solidFill>
              </a:rPr>
              <a:t>knew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4343400"/>
            <a:ext cx="3544824" cy="1965960"/>
          </a:xfrm>
          <a:prstGeom prst="roundRect">
            <a:avLst>
              <a:gd name="adj" fmla="val 3721"/>
            </a:avLst>
          </a:prstGeom>
          <a:solidFill>
            <a:srgbClr val="44546A">
              <a:alpha val="8000"/>
            </a:srgbClr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526280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88720" y="4489704"/>
            <a:ext cx="2767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IN EXHIBIT 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983480"/>
            <a:ext cx="3133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sent ✓ · delivered ✓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read? acknowledged?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dirty="0">
                <a:solidFill>
                  <a:schemeClr val="tx1"/>
                </a:solidFill>
              </a:rPr>
              <a:t>no record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4322064" y="4343400"/>
            <a:ext cx="3544824" cy="1965960"/>
          </a:xfrm>
          <a:prstGeom prst="roundRect">
            <a:avLst>
              <a:gd name="adj" fmla="val 3721"/>
            </a:avLst>
          </a:prstGeom>
          <a:solidFill>
            <a:srgbClr val="2E75B6">
              <a:alpha val="8000"/>
            </a:srgbClr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232" y="4526280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962144" y="4489704"/>
            <a:ext cx="2767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WHAT IT PROVES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4983480"/>
            <a:ext cx="3133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delivered → somebody </a:t>
            </a:r>
            <a:r>
              <a:rPr lang="en-US" sz="1600" b="1" dirty="0">
                <a:solidFill>
                  <a:schemeClr val="tx1"/>
                </a:solidFill>
              </a:rPr>
              <a:t>could</a:t>
            </a:r>
            <a:r>
              <a:rPr lang="en-US" sz="1600" dirty="0">
                <a:solidFill>
                  <a:schemeClr val="tx1"/>
                </a:solidFill>
              </a:rPr>
              <a:t> have known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only acknowledged → somebody </a:t>
            </a:r>
            <a:r>
              <a:rPr lang="en-US" sz="1600" b="1" dirty="0">
                <a:solidFill>
                  <a:schemeClr val="tx1"/>
                </a:solidFill>
              </a:rPr>
              <a:t>knew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095488" y="4343400"/>
            <a:ext cx="3544824" cy="1965960"/>
          </a:xfrm>
          <a:prstGeom prst="roundRect">
            <a:avLst>
              <a:gd name="adj" fmla="val 3721"/>
            </a:avLst>
          </a:prstGeom>
          <a:solidFill>
            <a:srgbClr val="3C7A3C">
              <a:alpha val="8000"/>
            </a:srgbClr>
          </a:solidFill>
          <a:ln w="12700">
            <a:solidFill>
              <a:srgbClr val="3C7A3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6656" y="4526280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735568" y="4489704"/>
            <a:ext cx="2767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3"/>
                </a:solidFill>
              </a:rPr>
              <a:t>SAY IT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8324088" y="4983480"/>
            <a:ext cx="3133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The alert </a:t>
            </a:r>
            <a:r>
              <a:rPr lang="en-US" sz="1600" b="1" i="1" dirty="0">
                <a:solidFill>
                  <a:schemeClr val="tx1"/>
                </a:solidFill>
              </a:rPr>
              <a:t>was delivered</a:t>
            </a:r>
            <a:r>
              <a:rPr lang="en-US" sz="1600" i="1" dirty="0">
                <a:solidFill>
                  <a:schemeClr val="tx1"/>
                </a:solidFill>
              </a:rPr>
              <a:t> at 23:42.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There is </a:t>
            </a:r>
            <a:r>
              <a:rPr lang="en-US" sz="1600" b="1" i="1" dirty="0">
                <a:solidFill>
                  <a:schemeClr val="tx1"/>
                </a:solidFill>
              </a:rPr>
              <a:t>no record</a:t>
            </a:r>
            <a:r>
              <a:rPr lang="en-US" sz="1600" i="1" dirty="0">
                <a:solidFill>
                  <a:schemeClr val="tx1"/>
                </a:solidFill>
              </a:rPr>
              <a:t> that it was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Listen: the IT expert explains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LISTENING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2E75B6">
              <a:alpha val="9000"/>
            </a:srgbClr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41248" y="1984248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212848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29968" y="1874520"/>
            <a:ext cx="9400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It’s a bit like a parcel…</a:t>
            </a:r>
            <a:endParaRPr lang="en-US" sz="2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Your teacher reads the IT expert’s explanation </a:t>
            </a:r>
            <a:r>
              <a:rPr lang="en-US" sz="1700" b="1" dirty="0">
                <a:solidFill>
                  <a:schemeClr val="tx1"/>
                </a:solidFill>
              </a:rPr>
              <a:t>twice</a:t>
            </a:r>
            <a:r>
              <a:rPr lang="en-US" sz="1700" dirty="0">
                <a:solidFill>
                  <a:schemeClr val="tx1"/>
                </a:solidFill>
              </a:rPr>
              <a:t>. Booklets closed.</a:t>
            </a:r>
            <a:endParaRPr lang="en-US" sz="2600" dirty="0"/>
          </a:p>
        </p:txBody>
      </p:sp>
      <p:sp>
        <p:nvSpPr>
          <p:cNvPr id="10" name="Shape 6"/>
          <p:cNvSpPr/>
          <p:nvPr/>
        </p:nvSpPr>
        <p:spPr>
          <a:xfrm>
            <a:off x="548640" y="3429000"/>
            <a:ext cx="3514344" cy="2514600"/>
          </a:xfrm>
          <a:prstGeom prst="roundRect">
            <a:avLst>
              <a:gd name="adj" fmla="val 2909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85032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630168"/>
            <a:ext cx="2508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Listening 1</a:t>
            </a:r>
            <a:endParaRPr lang="en-US" sz="1900" dirty="0"/>
          </a:p>
        </p:txBody>
      </p:sp>
      <p:sp>
        <p:nvSpPr>
          <p:cNvPr id="13" name="Text 8"/>
          <p:cNvSpPr txBox="1"/>
          <p:nvPr/>
        </p:nvSpPr>
        <p:spPr>
          <a:xfrm>
            <a:off x="822960" y="4325112"/>
            <a:ext cx="29657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What does the expert compare the alert to?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4337304" y="3429000"/>
            <a:ext cx="3514344" cy="2514600"/>
          </a:xfrm>
          <a:prstGeom prst="roundRect">
            <a:avLst>
              <a:gd name="adj" fmla="val 2909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624" y="3685032"/>
            <a:ext cx="438912" cy="43891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205984" y="3630168"/>
            <a:ext cx="2508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Listening 2</a:t>
            </a:r>
            <a:endParaRPr lang="en-US" sz="1900" dirty="0"/>
          </a:p>
        </p:txBody>
      </p:sp>
      <p:sp>
        <p:nvSpPr>
          <p:cNvPr id="17" name="Text 11"/>
          <p:cNvSpPr txBox="1"/>
          <p:nvPr/>
        </p:nvSpPr>
        <p:spPr>
          <a:xfrm>
            <a:off x="4611624" y="4325112"/>
            <a:ext cx="29657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Match each status with the parcel: </a:t>
            </a:r>
            <a:r>
              <a:rPr lang="en-US" sz="2000" b="1" dirty="0">
                <a:solidFill>
                  <a:schemeClr val="tx1"/>
                </a:solidFill>
              </a:rPr>
              <a:t>sent · delivered · read · acknowledged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125968" y="3429000"/>
            <a:ext cx="3514344" cy="2514600"/>
          </a:xfrm>
          <a:prstGeom prst="roundRect">
            <a:avLst>
              <a:gd name="adj" fmla="val 2909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0288" y="368503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94648" y="3630168"/>
            <a:ext cx="2508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After</a:t>
            </a:r>
            <a:endParaRPr lang="en-US" sz="1900" dirty="0"/>
          </a:p>
        </p:txBody>
      </p:sp>
      <p:sp>
        <p:nvSpPr>
          <p:cNvPr id="21" name="Text 14"/>
          <p:cNvSpPr txBox="1"/>
          <p:nvPr/>
        </p:nvSpPr>
        <p:spPr>
          <a:xfrm>
            <a:off x="8400288" y="4325112"/>
            <a:ext cx="29657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Where does </a:t>
            </a:r>
            <a:r>
              <a:rPr lang="en-US" sz="2000" b="1" dirty="0">
                <a:solidFill>
                  <a:schemeClr val="tx1"/>
                </a:solidFill>
              </a:rPr>
              <a:t>our</a:t>
            </a:r>
            <a:r>
              <a:rPr lang="en-US" sz="2000" dirty="0">
                <a:solidFill>
                  <a:schemeClr val="tx1"/>
                </a:solidFill>
              </a:rPr>
              <a:t> log stop? Explain it to a neighbour in one sentence.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Listen: the IT expert explains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LISTENING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The script — the four statuses in </a:t>
            </a:r>
            <a:r>
              <a:rPr lang="en-US" sz="1600" b="1" i="1" dirty="0">
                <a:solidFill>
                  <a:schemeClr val="accent5"/>
                </a:solidFill>
              </a:rPr>
              <a:t>bold</a:t>
            </a:r>
            <a:r>
              <a:rPr lang="en-US" sz="1600" i="1" dirty="0">
                <a:solidFill>
                  <a:schemeClr val="accent5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2237232"/>
            <a:ext cx="11091672" cy="3185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Let me explain with a </a:t>
            </a:r>
            <a:r>
              <a:rPr lang="en-US" sz="2100" b="1" dirty="0">
                <a:solidFill>
                  <a:schemeClr val="tx1"/>
                </a:solidFill>
              </a:rPr>
              <a:t>parcel</a:t>
            </a:r>
            <a:r>
              <a:rPr lang="en-US" sz="2100" dirty="0">
                <a:solidFill>
                  <a:schemeClr val="tx1"/>
                </a:solidFill>
              </a:rPr>
              <a:t>. The shop sends it: that’s </a:t>
            </a:r>
            <a:r>
              <a:rPr lang="en-US" sz="2100" b="1" dirty="0">
                <a:solidFill>
                  <a:schemeClr val="tx1"/>
                </a:solidFill>
              </a:rPr>
              <a:t>“sent”</a:t>
            </a:r>
            <a:r>
              <a:rPr lang="en-US" sz="2100" dirty="0">
                <a:solidFill>
                  <a:schemeClr val="tx1"/>
                </a:solidFill>
              </a:rPr>
              <a:t>. The courier leaves it at your door: that’s </a:t>
            </a:r>
            <a:r>
              <a:rPr lang="en-US" sz="2100" b="1" dirty="0">
                <a:solidFill>
                  <a:schemeClr val="tx1"/>
                </a:solidFill>
              </a:rPr>
              <a:t>“delivered”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You open it: that’s </a:t>
            </a:r>
            <a:r>
              <a:rPr lang="en-US" sz="2100" b="1" dirty="0">
                <a:solidFill>
                  <a:schemeClr val="tx1"/>
                </a:solidFill>
              </a:rPr>
              <a:t>“read”</a:t>
            </a:r>
            <a:r>
              <a:rPr lang="en-US" sz="2100" dirty="0">
                <a:solidFill>
                  <a:schemeClr val="tx1"/>
                </a:solidFill>
              </a:rPr>
              <a:t>. And when you sign for it, that’s </a:t>
            </a:r>
            <a:r>
              <a:rPr lang="en-US" sz="2100" b="1" dirty="0">
                <a:solidFill>
                  <a:schemeClr val="tx1"/>
                </a:solidFill>
              </a:rPr>
              <a:t>“acknowledged”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Now, our log stops at “delivered”. So the phone got the alert at 23:42. But we have </a:t>
            </a:r>
            <a:r>
              <a:rPr lang="en-US" sz="2100" b="1" dirty="0">
                <a:solidFill>
                  <a:schemeClr val="tx1"/>
                </a:solidFill>
              </a:rPr>
              <a:t>no record</a:t>
            </a:r>
            <a:r>
              <a:rPr lang="en-US" sz="2100" dirty="0">
                <a:solidFill>
                  <a:schemeClr val="tx1"/>
                </a:solidFill>
              </a:rPr>
              <a:t> that anybody opened it — and </a:t>
            </a:r>
            <a:r>
              <a:rPr lang="en-US" sz="2100" b="1" dirty="0">
                <a:solidFill>
                  <a:schemeClr val="tx1"/>
                </a:solidFill>
              </a:rPr>
              <a:t>no record</a:t>
            </a:r>
            <a:r>
              <a:rPr lang="en-US" sz="2100" dirty="0">
                <a:solidFill>
                  <a:schemeClr val="tx1"/>
                </a:solidFill>
              </a:rPr>
              <a:t> that anybody confirmed it.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Delivered</a:t>
            </a:r>
            <a:r>
              <a:rPr lang="en-US" sz="2100" dirty="0">
                <a:solidFill>
                  <a:schemeClr val="tx1"/>
                </a:solidFill>
              </a:rPr>
              <a:t> means somebody </a:t>
            </a:r>
            <a:r>
              <a:rPr lang="en-US" sz="2100" b="1" dirty="0">
                <a:solidFill>
                  <a:schemeClr val="tx1"/>
                </a:solidFill>
              </a:rPr>
              <a:t>could</a:t>
            </a:r>
            <a:r>
              <a:rPr lang="en-US" sz="2100" dirty="0">
                <a:solidFill>
                  <a:schemeClr val="tx1"/>
                </a:solidFill>
              </a:rPr>
              <a:t> have known. Only </a:t>
            </a:r>
            <a:r>
              <a:rPr lang="en-US" sz="2100" b="1" dirty="0">
                <a:solidFill>
                  <a:schemeClr val="tx1"/>
                </a:solidFill>
              </a:rPr>
              <a:t>acknowledged</a:t>
            </a:r>
            <a:r>
              <a:rPr lang="en-US" sz="2100" dirty="0">
                <a:solidFill>
                  <a:schemeClr val="tx1"/>
                </a:solidFill>
              </a:rPr>
              <a:t> means somebody </a:t>
            </a:r>
            <a:r>
              <a:rPr lang="en-US" sz="2100" b="1" dirty="0">
                <a:solidFill>
                  <a:schemeClr val="tx1"/>
                </a:solidFill>
              </a:rPr>
              <a:t>knew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48640" y="5650992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3C7A3C">
              <a:alpha val="8000"/>
            </a:srgbClr>
          </a:solidFill>
          <a:ln w="12700">
            <a:solidFill>
              <a:srgbClr val="3C7A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97296"/>
            <a:ext cx="365760" cy="365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25880" y="5705856"/>
            <a:ext cx="10085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Explain like an expert — </a:t>
            </a:r>
            <a:r>
              <a:rPr lang="en-US" sz="1600" dirty="0">
                <a:solidFill>
                  <a:schemeClr val="tx1"/>
                </a:solidFill>
              </a:rPr>
              <a:t>an </a:t>
            </a:r>
            <a:r>
              <a:rPr lang="en-US" sz="1600" b="1" dirty="0">
                <a:solidFill>
                  <a:schemeClr val="tx1"/>
                </a:solidFill>
              </a:rPr>
              <a:t>everyday comparison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It’s a bit like…</a:t>
            </a:r>
            <a:r>
              <a:rPr lang="en-US" sz="1600" dirty="0">
                <a:solidFill>
                  <a:schemeClr val="tx1"/>
                </a:solidFill>
              </a:rPr>
              <a:t>) makes a technical point clear to non-experts.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Overstated! — bring each claim down a step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822960" cy="310896"/>
          </a:xfrm>
          <a:prstGeom prst="roundRect">
            <a:avLst>
              <a:gd name="adj" fmla="val 14706"/>
            </a:avLst>
          </a:prstGeom>
          <a:solidFill>
            <a:srgbClr val="B423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GAME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Your teacher reads a claim that goes </a:t>
            </a:r>
            <a:r>
              <a:rPr lang="en-US" sz="1600" b="1" i="1" dirty="0">
                <a:solidFill>
                  <a:schemeClr val="accent5"/>
                </a:solidFill>
              </a:rPr>
              <a:t>too far</a:t>
            </a:r>
            <a:r>
              <a:rPr lang="en-US" sz="1600" i="1" dirty="0">
                <a:solidFill>
                  <a:schemeClr val="accent5"/>
                </a:solidFill>
              </a:rPr>
              <a:t>. Shout </a:t>
            </a:r>
            <a:r>
              <a:rPr lang="en-US" sz="1600" b="1" i="1" dirty="0">
                <a:solidFill>
                  <a:schemeClr val="accent5"/>
                </a:solidFill>
              </a:rPr>
              <a:t>“Overstated!”</a:t>
            </a:r>
            <a:r>
              <a:rPr lang="en-US" sz="1600" i="1" dirty="0">
                <a:solidFill>
                  <a:schemeClr val="accent5"/>
                </a:solidFill>
              </a:rPr>
              <a:t> and correct it with the right verb from the ladder.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2237232"/>
            <a:ext cx="11091672" cy="407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1.  </a:t>
            </a:r>
            <a:r>
              <a:rPr lang="en-US" sz="2000" dirty="0">
                <a:solidFill>
                  <a:schemeClr val="tx1"/>
                </a:solidFill>
              </a:rPr>
              <a:t>The log </a:t>
            </a:r>
            <a:r>
              <a:rPr lang="en-US" sz="2000" b="1" dirty="0">
                <a:solidFill>
                  <a:schemeClr val="tx1"/>
                </a:solidFill>
              </a:rPr>
              <a:t>proves</a:t>
            </a:r>
            <a:r>
              <a:rPr lang="en-US" sz="2000" dirty="0">
                <a:solidFill>
                  <a:schemeClr val="tx1"/>
                </a:solidFill>
              </a:rPr>
              <a:t> that the site manager caused the leak.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2.  </a:t>
            </a:r>
            <a:r>
              <a:rPr lang="en-US" sz="2000" dirty="0">
                <a:solidFill>
                  <a:schemeClr val="tx1"/>
                </a:solidFill>
              </a:rPr>
              <a:t>The notification </a:t>
            </a:r>
            <a:r>
              <a:rPr lang="en-US" sz="2000" b="1" dirty="0">
                <a:solidFill>
                  <a:schemeClr val="tx1"/>
                </a:solidFill>
              </a:rPr>
              <a:t>proves</a:t>
            </a:r>
            <a:r>
              <a:rPr lang="en-US" sz="2000" dirty="0">
                <a:solidFill>
                  <a:schemeClr val="tx1"/>
                </a:solidFill>
              </a:rPr>
              <a:t> that somebody read the alert.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3.  </a:t>
            </a:r>
            <a:r>
              <a:rPr lang="en-US" sz="2000" dirty="0">
                <a:solidFill>
                  <a:schemeClr val="tx1"/>
                </a:solidFill>
              </a:rPr>
              <a:t>The photos </a:t>
            </a:r>
            <a:r>
              <a:rPr lang="en-US" sz="2000" b="1" dirty="0">
                <a:solidFill>
                  <a:schemeClr val="tx1"/>
                </a:solidFill>
              </a:rPr>
              <a:t>prove</a:t>
            </a:r>
            <a:r>
              <a:rPr lang="en-US" sz="2000" dirty="0">
                <a:solidFill>
                  <a:schemeClr val="tx1"/>
                </a:solidFill>
              </a:rPr>
              <a:t> that the water ran all night.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4.  </a:t>
            </a:r>
            <a:r>
              <a:rPr lang="en-US" sz="2000" dirty="0">
                <a:solidFill>
                  <a:schemeClr val="tx1"/>
                </a:solidFill>
              </a:rPr>
              <a:t>The humidity alarm </a:t>
            </a:r>
            <a:r>
              <a:rPr lang="en-US" sz="2000" b="1" dirty="0">
                <a:solidFill>
                  <a:schemeClr val="tx1"/>
                </a:solidFill>
              </a:rPr>
              <a:t>proves</a:t>
            </a:r>
            <a:r>
              <a:rPr lang="en-US" sz="2000" dirty="0">
                <a:solidFill>
                  <a:schemeClr val="tx1"/>
                </a:solidFill>
              </a:rPr>
              <a:t> that the pipe burst.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5.  </a:t>
            </a:r>
            <a:r>
              <a:rPr lang="en-US" sz="2000" dirty="0">
                <a:solidFill>
                  <a:schemeClr val="tx1"/>
                </a:solidFill>
              </a:rPr>
              <a:t>No badge after 20:19 </a:t>
            </a:r>
            <a:r>
              <a:rPr lang="en-US" sz="2000" b="1" dirty="0">
                <a:solidFill>
                  <a:schemeClr val="tx1"/>
                </a:solidFill>
              </a:rPr>
              <a:t>proves</a:t>
            </a:r>
            <a:r>
              <a:rPr lang="en-US" sz="2000" dirty="0">
                <a:solidFill>
                  <a:schemeClr val="tx1"/>
                </a:solidFill>
              </a:rPr>
              <a:t> that nobody was in the building.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6.  </a:t>
            </a:r>
            <a:r>
              <a:rPr lang="en-US" sz="2000" dirty="0">
                <a:solidFill>
                  <a:schemeClr val="tx1"/>
                </a:solidFill>
              </a:rPr>
              <a:t>Samuel’s memory </a:t>
            </a:r>
            <a:r>
              <a:rPr lang="en-US" sz="2000" b="1" dirty="0">
                <a:solidFill>
                  <a:schemeClr val="tx1"/>
                </a:solidFill>
              </a:rPr>
              <a:t>proves</a:t>
            </a:r>
            <a:r>
              <a:rPr lang="en-US" sz="2000" dirty="0">
                <a:solidFill>
                  <a:schemeClr val="tx1"/>
                </a:solidFill>
              </a:rPr>
              <a:t> that the alarm went off at 11.40.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Overstated! — bring each claim down a step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822960" cy="310896"/>
          </a:xfrm>
          <a:prstGeom prst="roundRect">
            <a:avLst>
              <a:gd name="adj" fmla="val 14706"/>
            </a:avLst>
          </a:prstGeom>
          <a:solidFill>
            <a:srgbClr val="B423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GAME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4813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Your teacher reads a claim that goes </a:t>
            </a:r>
            <a:r>
              <a:rPr lang="en-US" sz="1600" b="1" i="1" dirty="0">
                <a:solidFill>
                  <a:schemeClr val="accent5"/>
                </a:solidFill>
              </a:rPr>
              <a:t>too far</a:t>
            </a:r>
            <a:r>
              <a:rPr lang="en-US" sz="1600" i="1" dirty="0">
                <a:solidFill>
                  <a:schemeClr val="accent5"/>
                </a:solidFill>
              </a:rPr>
              <a:t>. Shout </a:t>
            </a:r>
            <a:r>
              <a:rPr lang="en-US" sz="1600" b="1" i="1" dirty="0">
                <a:solidFill>
                  <a:schemeClr val="accent5"/>
                </a:solidFill>
              </a:rPr>
              <a:t>“Overstated!”</a:t>
            </a:r>
            <a:r>
              <a:rPr lang="en-US" sz="1600" i="1" dirty="0">
                <a:solidFill>
                  <a:schemeClr val="accent5"/>
                </a:solidFill>
              </a:rPr>
              <a:t> and correct it with the right verb from the ladder.</a:t>
            </a:r>
            <a:endParaRPr lang="en-US" sz="1600" dirty="0"/>
          </a:p>
        </p:txBody>
      </p:sp>
      <p:sp>
        <p:nvSpPr>
          <p:cNvPr id="8" name="exercise"/>
          <p:cNvSpPr txBox="1"/>
          <p:nvPr/>
        </p:nvSpPr>
        <p:spPr>
          <a:xfrm>
            <a:off x="548640" y="2237232"/>
            <a:ext cx="11091672" cy="407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1.  </a:t>
            </a:r>
            <a:r>
              <a:rPr lang="en-US" sz="1600" dirty="0">
                <a:solidFill>
                  <a:schemeClr val="tx1"/>
                </a:solidFill>
              </a:rPr>
              <a:t>The log </a:t>
            </a:r>
            <a:r>
              <a:rPr lang="en-US" sz="1600" b="1" dirty="0">
                <a:solidFill>
                  <a:schemeClr val="tx1"/>
                </a:solidFill>
              </a:rPr>
              <a:t>proves</a:t>
            </a:r>
            <a:r>
              <a:rPr lang="en-US" sz="1600" dirty="0">
                <a:solidFill>
                  <a:schemeClr val="tx1"/>
                </a:solidFill>
              </a:rPr>
              <a:t> that the site manager caused the leak.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It </a:t>
            </a:r>
            <a:r>
              <a:rPr lang="en-US" sz="1600" b="1" dirty="0">
                <a:solidFill>
                  <a:schemeClr val="tx2"/>
                </a:solidFill>
              </a:rPr>
              <a:t>shows</a:t>
            </a:r>
            <a:r>
              <a:rPr lang="en-US" sz="1600" b="1" dirty="0">
                <a:solidFill>
                  <a:schemeClr val="tx2"/>
                </a:solidFill>
              </a:rPr>
              <a:t> that badge 0102 was used at 20:04 — it </a:t>
            </a:r>
            <a:r>
              <a:rPr lang="en-US" sz="1600" b="1" dirty="0">
                <a:solidFill>
                  <a:schemeClr val="tx2"/>
                </a:solidFill>
              </a:rPr>
              <a:t>does not establish</a:t>
            </a:r>
            <a:r>
              <a:rPr lang="en-US" sz="1600" b="1" dirty="0">
                <a:solidFill>
                  <a:schemeClr val="tx2"/>
                </a:solidFill>
              </a:rPr>
              <a:t> who used it, or the cause.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2.  </a:t>
            </a:r>
            <a:r>
              <a:rPr lang="en-US" sz="1600" dirty="0">
                <a:solidFill>
                  <a:schemeClr val="tx1"/>
                </a:solidFill>
              </a:rPr>
              <a:t>The notification </a:t>
            </a:r>
            <a:r>
              <a:rPr lang="en-US" sz="1600" b="1" dirty="0">
                <a:solidFill>
                  <a:schemeClr val="tx1"/>
                </a:solidFill>
              </a:rPr>
              <a:t>proves</a:t>
            </a:r>
            <a:r>
              <a:rPr lang="en-US" sz="1600" dirty="0">
                <a:solidFill>
                  <a:schemeClr val="tx1"/>
                </a:solidFill>
              </a:rPr>
              <a:t> that somebody read the alert.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It was </a:t>
            </a:r>
            <a:r>
              <a:rPr lang="en-US" sz="1600" b="1" dirty="0">
                <a:solidFill>
                  <a:schemeClr val="tx2"/>
                </a:solidFill>
              </a:rPr>
              <a:t>delivered</a:t>
            </a:r>
            <a:r>
              <a:rPr lang="en-US" sz="1600" b="1" dirty="0">
                <a:solidFill>
                  <a:schemeClr val="tx2"/>
                </a:solidFill>
              </a:rPr>
              <a:t>: somebody </a:t>
            </a:r>
            <a:r>
              <a:rPr lang="en-US" sz="1600" b="1" dirty="0">
                <a:solidFill>
                  <a:schemeClr val="tx2"/>
                </a:solidFill>
              </a:rPr>
              <a:t>could</a:t>
            </a:r>
            <a:r>
              <a:rPr lang="en-US" sz="1600" b="1" dirty="0">
                <a:solidFill>
                  <a:schemeClr val="tx2"/>
                </a:solidFill>
              </a:rPr>
              <a:t> have known. There is </a:t>
            </a:r>
            <a:r>
              <a:rPr lang="en-US" sz="1600" b="1" dirty="0">
                <a:solidFill>
                  <a:schemeClr val="tx2"/>
                </a:solidFill>
              </a:rPr>
              <a:t>no record</a:t>
            </a:r>
            <a:r>
              <a:rPr lang="en-US" sz="1600" b="1" dirty="0">
                <a:solidFill>
                  <a:schemeClr val="tx2"/>
                </a:solidFill>
              </a:rPr>
              <a:t> that it was read.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3.  </a:t>
            </a:r>
            <a:r>
              <a:rPr lang="en-US" sz="1600" dirty="0">
                <a:solidFill>
                  <a:schemeClr val="tx1"/>
                </a:solidFill>
              </a:rPr>
              <a:t>The photos </a:t>
            </a:r>
            <a:r>
              <a:rPr lang="en-US" sz="1600" b="1" dirty="0">
                <a:solidFill>
                  <a:schemeClr val="tx1"/>
                </a:solidFill>
              </a:rPr>
              <a:t>prove</a:t>
            </a:r>
            <a:r>
              <a:rPr lang="en-US" sz="1600" dirty="0">
                <a:solidFill>
                  <a:schemeClr val="tx1"/>
                </a:solidFill>
              </a:rPr>
              <a:t> that the water ran all night.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They </a:t>
            </a:r>
            <a:r>
              <a:rPr lang="en-US" sz="1600" b="1" dirty="0">
                <a:solidFill>
                  <a:schemeClr val="tx2"/>
                </a:solidFill>
              </a:rPr>
              <a:t>show</a:t>
            </a:r>
            <a:r>
              <a:rPr lang="en-US" sz="1600" b="1" dirty="0">
                <a:solidFill>
                  <a:schemeClr val="tx2"/>
                </a:solidFill>
              </a:rPr>
              <a:t> the state of the room at 8.20 — not how long the water ran.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4.  </a:t>
            </a:r>
            <a:r>
              <a:rPr lang="en-US" sz="1600" dirty="0">
                <a:solidFill>
                  <a:schemeClr val="tx1"/>
                </a:solidFill>
              </a:rPr>
              <a:t>The humidity alarm </a:t>
            </a:r>
            <a:r>
              <a:rPr lang="en-US" sz="1600" b="1" dirty="0">
                <a:solidFill>
                  <a:schemeClr val="tx1"/>
                </a:solidFill>
              </a:rPr>
              <a:t>proves</a:t>
            </a:r>
            <a:r>
              <a:rPr lang="en-US" sz="1600" dirty="0">
                <a:solidFill>
                  <a:schemeClr val="tx1"/>
                </a:solidFill>
              </a:rPr>
              <a:t> that the pipe burst.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It </a:t>
            </a:r>
            <a:r>
              <a:rPr lang="en-US" sz="1600" b="1" dirty="0">
                <a:solidFill>
                  <a:schemeClr val="tx2"/>
                </a:solidFill>
              </a:rPr>
              <a:t>suggests</a:t>
            </a:r>
            <a:r>
              <a:rPr lang="en-US" sz="1600" b="1" dirty="0">
                <a:solidFill>
                  <a:schemeClr val="tx2"/>
                </a:solidFill>
              </a:rPr>
              <a:t> water near the sensors — the cause is a hypothesis.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5.  </a:t>
            </a:r>
            <a:r>
              <a:rPr lang="en-US" sz="1600" dirty="0">
                <a:solidFill>
                  <a:schemeClr val="tx1"/>
                </a:solidFill>
              </a:rPr>
              <a:t>No badge after 20:19 </a:t>
            </a:r>
            <a:r>
              <a:rPr lang="en-US" sz="1600" b="1" dirty="0">
                <a:solidFill>
                  <a:schemeClr val="tx1"/>
                </a:solidFill>
              </a:rPr>
              <a:t>proves</a:t>
            </a:r>
            <a:r>
              <a:rPr lang="en-US" sz="1600" dirty="0">
                <a:solidFill>
                  <a:schemeClr val="tx1"/>
                </a:solidFill>
              </a:rPr>
              <a:t> that nobody was in the building.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It </a:t>
            </a:r>
            <a:r>
              <a:rPr lang="en-US" sz="1600" b="1" dirty="0">
                <a:solidFill>
                  <a:schemeClr val="tx2"/>
                </a:solidFill>
              </a:rPr>
              <a:t>does not establish</a:t>
            </a:r>
            <a:r>
              <a:rPr lang="en-US" sz="1600" b="1" dirty="0">
                <a:solidFill>
                  <a:schemeClr val="tx2"/>
                </a:solidFill>
              </a:rPr>
              <a:t> that: a log only records badges.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6.  </a:t>
            </a:r>
            <a:r>
              <a:rPr lang="en-US" sz="1600" dirty="0">
                <a:solidFill>
                  <a:schemeClr val="tx1"/>
                </a:solidFill>
              </a:rPr>
              <a:t>Samuel’s memory </a:t>
            </a:r>
            <a:r>
              <a:rPr lang="en-US" sz="1600" b="1" dirty="0">
                <a:solidFill>
                  <a:schemeClr val="tx1"/>
                </a:solidFill>
              </a:rPr>
              <a:t>proves</a:t>
            </a:r>
            <a:r>
              <a:rPr lang="en-US" sz="1600" dirty="0">
                <a:solidFill>
                  <a:schemeClr val="tx1"/>
                </a:solidFill>
              </a:rPr>
              <a:t> that the alarm went off at 11.40.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A memory </a:t>
            </a:r>
            <a:r>
              <a:rPr lang="en-US" sz="1600" b="1" dirty="0">
                <a:solidFill>
                  <a:schemeClr val="tx2"/>
                </a:solidFill>
              </a:rPr>
              <a:t>proves</a:t>
            </a:r>
            <a:r>
              <a:rPr lang="en-US" sz="1600" b="1" dirty="0">
                <a:solidFill>
                  <a:schemeClr val="tx2"/>
                </a:solidFill>
              </a:rPr>
              <a:t> nothing — the log </a:t>
            </a:r>
            <a:r>
              <a:rPr lang="en-US" sz="1600" b="1" dirty="0">
                <a:solidFill>
                  <a:schemeClr val="tx2"/>
                </a:solidFill>
              </a:rPr>
              <a:t>shows</a:t>
            </a:r>
            <a:r>
              <a:rPr lang="en-US" sz="1600" b="1" dirty="0">
                <a:solidFill>
                  <a:schemeClr val="tx2"/>
                </a:solidFill>
              </a:rPr>
              <a:t> 23:41.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Your eye on Exhibit A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623060" cy="310896"/>
          </a:xfrm>
          <a:prstGeom prst="roundRect">
            <a:avLst>
              <a:gd name="adj" fmla="val 14706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16–17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431536" cy="2148840"/>
          </a:xfrm>
          <a:prstGeom prst="roundRect">
            <a:avLst>
              <a:gd name="adj" fmla="val 340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947672"/>
            <a:ext cx="1005840" cy="1005840"/>
          </a:xfrm>
          <a:prstGeom prst="roundRect">
            <a:avLst>
              <a:gd name="adj" fmla="val 7273"/>
            </a:avLst>
          </a:prstGeom>
          <a:solidFill>
            <a:srgbClr val="0E7C6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057400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3232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IT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299008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E7C66"/>
                </a:solidFill>
              </a:rPr>
              <a:t>IT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901952" y="1911096"/>
            <a:ext cx="392277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The notification at 23:42 was </a:t>
            </a:r>
            <a:r>
              <a:rPr lang="en-US" sz="1900" b="1" dirty="0">
                <a:solidFill>
                  <a:schemeClr val="tx1"/>
                </a:solidFill>
              </a:rPr>
              <a:t>delivered</a:t>
            </a:r>
            <a:r>
              <a:rPr lang="en-US" sz="1900" dirty="0">
                <a:solidFill>
                  <a:schemeClr val="tx1"/>
                </a:solidFill>
              </a:rPr>
              <a:t>. What is the difference between </a:t>
            </a:r>
            <a:r>
              <a:rPr lang="en-US" sz="1900" i="1" dirty="0">
                <a:solidFill>
                  <a:schemeClr val="tx1"/>
                </a:solidFill>
              </a:rPr>
              <a:t>delivered</a:t>
            </a:r>
            <a:r>
              <a:rPr lang="en-US" sz="1900" dirty="0">
                <a:solidFill>
                  <a:schemeClr val="tx1"/>
                </a:solidFill>
              </a:rPr>
              <a:t>, </a:t>
            </a:r>
            <a:r>
              <a:rPr lang="en-US" sz="1900" i="1" dirty="0">
                <a:solidFill>
                  <a:schemeClr val="tx1"/>
                </a:solidFill>
              </a:rPr>
              <a:t>received</a:t>
            </a:r>
            <a:r>
              <a:rPr lang="en-US" sz="1900" dirty="0">
                <a:solidFill>
                  <a:schemeClr val="tx1"/>
                </a:solidFill>
              </a:rPr>
              <a:t> and </a:t>
            </a:r>
            <a:r>
              <a:rPr lang="en-US" sz="1900" i="1" dirty="0">
                <a:solidFill>
                  <a:schemeClr val="tx1"/>
                </a:solidFill>
              </a:rPr>
              <a:t>acknowledged</a:t>
            </a:r>
            <a:r>
              <a:rPr lang="en-US" sz="1900" dirty="0">
                <a:solidFill>
                  <a:schemeClr val="tx1"/>
                </a:solidFill>
              </a:rPr>
              <a:t> — and which would the insurer accept as proof that somebody knew?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208776" y="1783080"/>
            <a:ext cx="5431536" cy="2148840"/>
          </a:xfrm>
          <a:prstGeom prst="roundRect">
            <a:avLst>
              <a:gd name="adj" fmla="val 340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373368" y="1947672"/>
            <a:ext cx="1005840" cy="1005840"/>
          </a:xfrm>
          <a:prstGeom prst="roundRect">
            <a:avLst>
              <a:gd name="adj" fmla="val 7273"/>
            </a:avLst>
          </a:prstGeom>
          <a:solidFill>
            <a:srgbClr val="8B3A2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57400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73368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LAW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300216" y="299008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B3A2F"/>
                </a:solidFill>
              </a:rPr>
              <a:t>Law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562088" y="1911096"/>
            <a:ext cx="392277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Line 20:04 shows a badge entry after the works ended. What does an access log establish, and what does it </a:t>
            </a:r>
            <a:r>
              <a:rPr lang="en-US" sz="1900" b="1" dirty="0">
                <a:solidFill>
                  <a:schemeClr val="tx1"/>
                </a:solidFill>
              </a:rPr>
              <a:t>not</a:t>
            </a:r>
            <a:r>
              <a:rPr lang="en-US" sz="1900" dirty="0">
                <a:solidFill>
                  <a:schemeClr val="tx1"/>
                </a:solidFill>
              </a:rPr>
              <a:t> establish? Would you put badge number 0102 in a written report today?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548640" y="4160520"/>
            <a:ext cx="5431536" cy="2148840"/>
          </a:xfrm>
          <a:prstGeom prst="roundRect">
            <a:avLst>
              <a:gd name="adj" fmla="val 340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3232" y="4325112"/>
            <a:ext cx="1005840" cy="1005840"/>
          </a:xfrm>
          <a:prstGeom prst="roundRect">
            <a:avLst>
              <a:gd name="adj" fmla="val 7273"/>
            </a:avLst>
          </a:prstGeom>
          <a:solidFill>
            <a:srgbClr val="1F4E79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434840"/>
            <a:ext cx="402336" cy="40233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3232" y="4892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ACC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536752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79"/>
                </a:solidFill>
              </a:rPr>
              <a:t>Accounting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1901952" y="4288536"/>
            <a:ext cx="392277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Unit 3 shut down at 02:16. Before anything is repaired, what figure do you need and </a:t>
            </a:r>
            <a:r>
              <a:rPr lang="en-US" sz="1900" b="1" dirty="0">
                <a:solidFill>
                  <a:schemeClr val="tx1"/>
                </a:solidFill>
              </a:rPr>
              <a:t>from whom</a:t>
            </a:r>
            <a:r>
              <a:rPr lang="en-US" sz="1900" dirty="0">
                <a:solidFill>
                  <a:schemeClr val="tx1"/>
                </a:solidFill>
              </a:rPr>
              <a:t>? Name two documents you would ask for this morning.</a:t>
            </a:r>
            <a:endParaRPr lang="en-US" sz="1900" dirty="0"/>
          </a:p>
        </p:txBody>
      </p:sp>
      <p:sp>
        <p:nvSpPr>
          <p:cNvPr id="24" name="Shape 18"/>
          <p:cNvSpPr/>
          <p:nvPr/>
        </p:nvSpPr>
        <p:spPr>
          <a:xfrm>
            <a:off x="6208776" y="4160520"/>
            <a:ext cx="5431536" cy="2148840"/>
          </a:xfrm>
          <a:prstGeom prst="roundRect">
            <a:avLst>
              <a:gd name="adj" fmla="val 340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73368" y="4325112"/>
            <a:ext cx="1005840" cy="1005840"/>
          </a:xfrm>
          <a:prstGeom prst="roundRect">
            <a:avLst>
              <a:gd name="adj" fmla="val 7273"/>
            </a:avLst>
          </a:prstGeom>
          <a:solidFill>
            <a:srgbClr val="B8782A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434840"/>
            <a:ext cx="402336" cy="4023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373368" y="4892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6300216" y="536752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782A"/>
                </a:solidFill>
              </a:rPr>
              <a:t>Real estate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7562088" y="4288536"/>
            <a:ext cx="392277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A humidity alarm followed the temperature alarm three minutes later. What does that sequence usually mean about </a:t>
            </a:r>
            <a:r>
              <a:rPr lang="en-US" sz="1900" b="1" dirty="0">
                <a:solidFill>
                  <a:schemeClr val="tx1"/>
                </a:solidFill>
              </a:rPr>
              <a:t>where</a:t>
            </a:r>
            <a:r>
              <a:rPr lang="en-US" sz="1900" dirty="0">
                <a:solidFill>
                  <a:schemeClr val="tx1"/>
                </a:solidFill>
              </a:rPr>
              <a:t> the water came from — above the ceiling or below the floor?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Your eye on Exhibit A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623060" cy="310896"/>
          </a:xfrm>
          <a:prstGeom prst="roundRect">
            <a:avLst>
              <a:gd name="adj" fmla="val 14706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2814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16–17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431536" cy="2148840"/>
          </a:xfrm>
          <a:prstGeom prst="roundRect">
            <a:avLst>
              <a:gd name="adj" fmla="val 340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3232" y="1947672"/>
            <a:ext cx="1005840" cy="1005840"/>
          </a:xfrm>
          <a:prstGeom prst="roundRect">
            <a:avLst>
              <a:gd name="adj" fmla="val 7273"/>
            </a:avLst>
          </a:prstGeom>
          <a:solidFill>
            <a:srgbClr val="0E7C6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05740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3232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99008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E7C66"/>
                </a:solidFill>
              </a:rPr>
              <a:t>IT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1901952" y="1911096"/>
            <a:ext cx="392277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 notification at 23:42 was </a:t>
            </a:r>
            <a:r>
              <a:rPr lang="en-US" sz="1400" b="1" dirty="0">
                <a:solidFill>
                  <a:schemeClr val="tx1"/>
                </a:solidFill>
              </a:rPr>
              <a:t>delivered</a:t>
            </a:r>
            <a:r>
              <a:rPr lang="en-US" sz="1400" dirty="0">
                <a:solidFill>
                  <a:schemeClr val="tx1"/>
                </a:solidFill>
              </a:rPr>
              <a:t>. What is the difference between </a:t>
            </a:r>
            <a:r>
              <a:rPr lang="en-US" sz="1400" i="1" dirty="0">
                <a:solidFill>
                  <a:schemeClr val="tx1"/>
                </a:solidFill>
              </a:rPr>
              <a:t>delivered</a:t>
            </a:r>
            <a:r>
              <a:rPr lang="en-US" sz="1400" dirty="0">
                <a:solidFill>
                  <a:schemeClr val="tx1"/>
                </a:solidFill>
              </a:rPr>
              <a:t>, </a:t>
            </a:r>
            <a:r>
              <a:rPr lang="en-US" sz="1400" i="1" dirty="0">
                <a:solidFill>
                  <a:schemeClr val="tx1"/>
                </a:solidFill>
              </a:rPr>
              <a:t>received</a:t>
            </a:r>
            <a:r>
              <a:rPr lang="en-US" sz="1400" dirty="0">
                <a:solidFill>
                  <a:schemeClr val="tx1"/>
                </a:solidFill>
              </a:rPr>
              <a:t> and </a:t>
            </a:r>
            <a:r>
              <a:rPr lang="en-US" sz="1400" i="1" dirty="0">
                <a:solidFill>
                  <a:schemeClr val="tx1"/>
                </a:solidFill>
              </a:rPr>
              <a:t>acknowledged</a:t>
            </a:r>
            <a:r>
              <a:rPr lang="en-US" sz="1400" dirty="0">
                <a:solidFill>
                  <a:schemeClr val="tx1"/>
                </a:solidFill>
              </a:rPr>
              <a:t> — and which would the insurer accept as proof that somebody knew?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→ </a:t>
            </a:r>
            <a:r>
              <a:rPr lang="en-US" sz="1400" b="1" i="1" dirty="0">
                <a:solidFill>
                  <a:schemeClr val="tx2"/>
                </a:solidFill>
              </a:rPr>
              <a:t>Delivered / received</a:t>
            </a:r>
            <a:r>
              <a:rPr lang="en-US" sz="1400" b="1" dirty="0">
                <a:solidFill>
                  <a:schemeClr val="tx2"/>
                </a:solidFill>
              </a:rPr>
              <a:t> = the message reached the phone. </a:t>
            </a:r>
            <a:r>
              <a:rPr lang="en-US" sz="1400" b="1" i="1" dirty="0">
                <a:solidFill>
                  <a:schemeClr val="tx2"/>
                </a:solidFill>
              </a:rPr>
              <a:t>Acknowledged</a:t>
            </a:r>
            <a:r>
              <a:rPr lang="en-US" sz="1400" b="1" dirty="0">
                <a:solidFill>
                  <a:schemeClr val="tx2"/>
                </a:solidFill>
              </a:rPr>
              <a:t> = a person confirmed it. Only </a:t>
            </a:r>
            <a:r>
              <a:rPr lang="en-US" sz="1400" b="1" dirty="0">
                <a:solidFill>
                  <a:schemeClr val="tx2"/>
                </a:solidFill>
              </a:rPr>
              <a:t>acknowledged</a:t>
            </a:r>
            <a:r>
              <a:rPr lang="en-US" sz="1400" b="1" dirty="0">
                <a:solidFill>
                  <a:schemeClr val="tx2"/>
                </a:solidFill>
              </a:rPr>
              <a:t> proves that somebody knew.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08776" y="1783080"/>
            <a:ext cx="5431536" cy="2148840"/>
          </a:xfrm>
          <a:prstGeom prst="roundRect">
            <a:avLst>
              <a:gd name="adj" fmla="val 340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3368" y="1947672"/>
            <a:ext cx="1005840" cy="1005840"/>
          </a:xfrm>
          <a:prstGeom prst="roundRect">
            <a:avLst>
              <a:gd name="adj" fmla="val 7273"/>
            </a:avLst>
          </a:prstGeom>
          <a:solidFill>
            <a:srgbClr val="8B3A2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57400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3368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LAW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99008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B3A2F"/>
                </a:solidFill>
              </a:rPr>
              <a:t>Law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7562088" y="1911096"/>
            <a:ext cx="392277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Line 20:04 shows a badge entry after the works ended. What does an access log establish, and what does it </a:t>
            </a:r>
            <a:r>
              <a:rPr lang="en-US" sz="1400" b="1" dirty="0">
                <a:solidFill>
                  <a:schemeClr val="tx1"/>
                </a:solidFill>
              </a:rPr>
              <a:t>not</a:t>
            </a:r>
            <a:r>
              <a:rPr lang="en-US" sz="1400" dirty="0">
                <a:solidFill>
                  <a:schemeClr val="tx1"/>
                </a:solidFill>
              </a:rPr>
              <a:t> establish? Would you put badge number 0102 in a written report today?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→ </a:t>
            </a:r>
            <a:r>
              <a:rPr lang="en-US" sz="1400" b="1" dirty="0">
                <a:solidFill>
                  <a:schemeClr val="tx2"/>
                </a:solidFill>
              </a:rPr>
              <a:t>It establishes that </a:t>
            </a:r>
            <a:r>
              <a:rPr lang="en-US" sz="1400" b="1" dirty="0">
                <a:solidFill>
                  <a:schemeClr val="tx2"/>
                </a:solidFill>
              </a:rPr>
              <a:t>a badge</a:t>
            </a:r>
            <a:r>
              <a:rPr lang="en-US" sz="1400" b="1" dirty="0">
                <a:solidFill>
                  <a:schemeClr val="tx2"/>
                </a:solidFill>
              </a:rPr>
              <a:t> was used at a given time — not </a:t>
            </a:r>
            <a:r>
              <a:rPr lang="en-US" sz="1400" b="1" dirty="0">
                <a:solidFill>
                  <a:schemeClr val="tx2"/>
                </a:solidFill>
              </a:rPr>
              <a:t>who</a:t>
            </a:r>
            <a:r>
              <a:rPr lang="en-US" sz="1400" b="1" dirty="0">
                <a:solidFill>
                  <a:schemeClr val="tx2"/>
                </a:solidFill>
              </a:rPr>
              <a:t> carried it, nor </a:t>
            </a:r>
            <a:r>
              <a:rPr lang="en-US" sz="1400" b="1" dirty="0">
                <a:solidFill>
                  <a:schemeClr val="tx2"/>
                </a:solidFill>
              </a:rPr>
              <a:t>what</a:t>
            </a:r>
            <a:r>
              <a:rPr lang="en-US" sz="1400" b="1" dirty="0">
                <a:solidFill>
                  <a:schemeClr val="tx2"/>
                </a:solidFill>
              </a:rPr>
              <a:t> they did. </a:t>
            </a:r>
            <a:r>
              <a:rPr lang="en-US" sz="1400" b="1" dirty="0">
                <a:solidFill>
                  <a:schemeClr val="tx2"/>
                </a:solidFill>
              </a:rPr>
              <a:t>No</a:t>
            </a:r>
            <a:r>
              <a:rPr lang="en-US" sz="1400" b="1" dirty="0">
                <a:solidFill>
                  <a:schemeClr val="tx2"/>
                </a:solidFill>
              </a:rPr>
              <a:t>: a badge number identifies a person and reads as an accusation.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160520"/>
            <a:ext cx="5431536" cy="2148840"/>
          </a:xfrm>
          <a:prstGeom prst="roundRect">
            <a:avLst>
              <a:gd name="adj" fmla="val 340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13232" y="4325112"/>
            <a:ext cx="1005840" cy="1005840"/>
          </a:xfrm>
          <a:prstGeom prst="roundRect">
            <a:avLst>
              <a:gd name="adj" fmla="val 7273"/>
            </a:avLst>
          </a:prstGeom>
          <a:solidFill>
            <a:srgbClr val="1F4E79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434840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" y="4892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ACC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536752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4E79"/>
                </a:solidFill>
              </a:rPr>
              <a:t>Accounting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901952" y="4288536"/>
            <a:ext cx="392277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Unit 3 shut down at 02:16. Before anything is repaired, what figure do you need and </a:t>
            </a:r>
            <a:r>
              <a:rPr lang="en-US" sz="1400" b="1" dirty="0">
                <a:solidFill>
                  <a:schemeClr val="tx1"/>
                </a:solidFill>
              </a:rPr>
              <a:t>from whom</a:t>
            </a:r>
            <a:r>
              <a:rPr lang="en-US" sz="1400" dirty="0">
                <a:solidFill>
                  <a:schemeClr val="tx1"/>
                </a:solidFill>
              </a:rPr>
              <a:t>? Name two documents you would ask for this morning.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→ </a:t>
            </a:r>
            <a:r>
              <a:rPr lang="en-US" sz="1400" b="1" dirty="0">
                <a:solidFill>
                  <a:schemeClr val="tx2"/>
                </a:solidFill>
              </a:rPr>
              <a:t>The </a:t>
            </a:r>
            <a:r>
              <a:rPr lang="en-US" sz="1400" b="1" dirty="0">
                <a:solidFill>
                  <a:schemeClr val="tx2"/>
                </a:solidFill>
              </a:rPr>
              <a:t>repair or replacement cost</a:t>
            </a:r>
            <a:r>
              <a:rPr lang="en-US" sz="1400" b="1" dirty="0">
                <a:solidFill>
                  <a:schemeClr val="tx2"/>
                </a:solidFill>
              </a:rPr>
              <a:t> of unit 3 (+ cost of downtime), from the </a:t>
            </a:r>
            <a:r>
              <a:rPr lang="en-US" sz="1400" b="1" dirty="0">
                <a:solidFill>
                  <a:schemeClr val="tx2"/>
                </a:solidFill>
              </a:rPr>
              <a:t>IT provider</a:t>
            </a:r>
            <a:r>
              <a:rPr lang="en-US" sz="1400" b="1" dirty="0">
                <a:solidFill>
                  <a:schemeClr val="tx2"/>
                </a:solidFill>
              </a:rPr>
              <a:t>. Documents: a </a:t>
            </a:r>
            <a:r>
              <a:rPr lang="en-US" sz="1400" b="1" dirty="0">
                <a:solidFill>
                  <a:schemeClr val="tx2"/>
                </a:solidFill>
              </a:rPr>
              <a:t>written estimate</a:t>
            </a:r>
            <a:r>
              <a:rPr lang="en-US" sz="1400" b="1" dirty="0">
                <a:solidFill>
                  <a:schemeClr val="tx2"/>
                </a:solidFill>
              </a:rPr>
              <a:t> and the </a:t>
            </a:r>
            <a:r>
              <a:rPr lang="en-US" sz="1400" b="1" dirty="0">
                <a:solidFill>
                  <a:schemeClr val="tx2"/>
                </a:solidFill>
              </a:rPr>
              <a:t>insurance policy</a:t>
            </a:r>
            <a:r>
              <a:rPr lang="en-US" sz="1400" b="1" dirty="0">
                <a:solidFill>
                  <a:schemeClr val="tx2"/>
                </a:solidFill>
              </a:rPr>
              <a:t> (cover, excess).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208776" y="4160520"/>
            <a:ext cx="5431536" cy="2148840"/>
          </a:xfrm>
          <a:prstGeom prst="roundRect">
            <a:avLst>
              <a:gd name="adj" fmla="val 340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73368" y="4325112"/>
            <a:ext cx="1005840" cy="1005840"/>
          </a:xfrm>
          <a:prstGeom prst="roundRect">
            <a:avLst>
              <a:gd name="adj" fmla="val 7273"/>
            </a:avLst>
          </a:prstGeom>
          <a:solidFill>
            <a:srgbClr val="B8782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434840"/>
            <a:ext cx="402336" cy="40233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373368" y="4892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6300216" y="536752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782A"/>
                </a:solidFill>
              </a:rPr>
              <a:t>Real estate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7562088" y="4288536"/>
            <a:ext cx="392277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humidity alarm followed the temperature alarm three minutes later. What does that sequence usually mean about </a:t>
            </a:r>
            <a:r>
              <a:rPr lang="en-US" sz="1400" b="1" dirty="0">
                <a:solidFill>
                  <a:schemeClr val="tx1"/>
                </a:solidFill>
              </a:rPr>
              <a:t>where</a:t>
            </a:r>
            <a:r>
              <a:rPr lang="en-US" sz="1400" dirty="0">
                <a:solidFill>
                  <a:schemeClr val="tx1"/>
                </a:solidFill>
              </a:rPr>
              <a:t> the water came from — above the ceiling or below the floor?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→ </a:t>
            </a:r>
            <a:r>
              <a:rPr lang="en-US" sz="1400" b="1" dirty="0">
                <a:solidFill>
                  <a:schemeClr val="tx2"/>
                </a:solidFill>
              </a:rPr>
              <a:t>A fast sequence </a:t>
            </a:r>
            <a:r>
              <a:rPr lang="en-US" sz="1400" b="1" dirty="0">
                <a:solidFill>
                  <a:schemeClr val="tx2"/>
                </a:solidFill>
              </a:rPr>
              <a:t>suggests</a:t>
            </a:r>
            <a:r>
              <a:rPr lang="en-US" sz="1400" b="1" dirty="0">
                <a:solidFill>
                  <a:schemeClr val="tx2"/>
                </a:solidFill>
              </a:rPr>
              <a:t> water coming </a:t>
            </a:r>
            <a:r>
              <a:rPr lang="en-US" sz="1400" b="1" dirty="0">
                <a:solidFill>
                  <a:schemeClr val="tx2"/>
                </a:solidFill>
              </a:rPr>
              <a:t>from above</a:t>
            </a:r>
            <a:r>
              <a:rPr lang="en-US" sz="1400" b="1" dirty="0">
                <a:solidFill>
                  <a:schemeClr val="tx2"/>
                </a:solidFill>
              </a:rPr>
              <a:t> (ceiling pipework) onto the equipment. A </a:t>
            </a:r>
            <a:r>
              <a:rPr lang="en-US" sz="1400" b="1" dirty="0">
                <a:solidFill>
                  <a:schemeClr val="tx2"/>
                </a:solidFill>
              </a:rPr>
              <a:t>hypothesis</a:t>
            </a:r>
            <a:r>
              <a:rPr lang="en-US" sz="1400" b="1" dirty="0">
                <a:solidFill>
                  <a:schemeClr val="tx2"/>
                </a:solidFill>
              </a:rPr>
              <a:t> — to be checked on site, and in the basement.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Explain your field in plain English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280160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SPEAKING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16–17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14344" cy="3593592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3514344" cy="502920"/>
          </a:xfrm>
          <a:prstGeom prst="roundRect">
            <a:avLst>
              <a:gd name="adj" fmla="val 18182"/>
            </a:avLst>
          </a:prstGeom>
          <a:solidFill>
            <a:srgbClr val="2E75B6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057400"/>
            <a:ext cx="3514344" cy="228600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92808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1783080"/>
            <a:ext cx="2782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DEFINE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441448"/>
            <a:ext cx="314858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In my field, </a:t>
            </a:r>
            <a:r>
              <a:rPr lang="en-US" sz="2000" i="1" dirty="0">
                <a:solidFill>
                  <a:schemeClr val="tx1"/>
                </a:solidFill>
              </a:rPr>
              <a:t>delivered</a:t>
            </a:r>
            <a:r>
              <a:rPr lang="en-US" sz="2000" dirty="0">
                <a:solidFill>
                  <a:schemeClr val="tx1"/>
                </a:solidFill>
              </a:rPr>
              <a:t> means …</a:t>
            </a:r>
            <a:endParaRPr lang="en-US" sz="20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Put simply, …</a:t>
            </a:r>
            <a:endParaRPr lang="en-US" sz="20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It’s a bit like …</a:t>
            </a:r>
            <a:endParaRPr lang="en-US" sz="20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In other words, …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337304" y="1783080"/>
            <a:ext cx="3514344" cy="3593592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37304" y="1783080"/>
            <a:ext cx="3514344" cy="502920"/>
          </a:xfrm>
          <a:prstGeom prst="roundRect">
            <a:avLst>
              <a:gd name="adj" fmla="val 18182"/>
            </a:avLst>
          </a:prstGeom>
          <a:solidFill>
            <a:srgbClr val="C0752A"/>
          </a:solidFill>
          <a:ln/>
        </p:spPr>
      </p:sp>
      <p:sp>
        <p:nvSpPr>
          <p:cNvPr id="13" name="Shape 10"/>
          <p:cNvSpPr/>
          <p:nvPr/>
        </p:nvSpPr>
        <p:spPr>
          <a:xfrm>
            <a:off x="4337304" y="2057400"/>
            <a:ext cx="3514344" cy="228600"/>
          </a:xfrm>
          <a:prstGeom prst="rect">
            <a:avLst/>
          </a:prstGeom>
          <a:solidFill>
            <a:srgbClr val="C0752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184" y="1892808"/>
            <a:ext cx="283464" cy="28346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904232" y="1783080"/>
            <a:ext cx="2782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LIMIT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20184" y="2441448"/>
            <a:ext cx="314858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What it </a:t>
            </a:r>
            <a:r>
              <a:rPr lang="en-US" sz="2000" b="1" dirty="0">
                <a:solidFill>
                  <a:schemeClr val="tx1"/>
                </a:solidFill>
              </a:rPr>
              <a:t>shows</a:t>
            </a:r>
            <a:r>
              <a:rPr lang="en-US" sz="2000" dirty="0">
                <a:solidFill>
                  <a:schemeClr val="tx1"/>
                </a:solidFill>
              </a:rPr>
              <a:t> is … What it </a:t>
            </a:r>
            <a:r>
              <a:rPr lang="en-US" sz="2000" b="1" dirty="0">
                <a:solidFill>
                  <a:schemeClr val="tx1"/>
                </a:solidFill>
              </a:rPr>
              <a:t>doesn’t show</a:t>
            </a:r>
            <a:r>
              <a:rPr lang="en-US" sz="2000" dirty="0">
                <a:solidFill>
                  <a:schemeClr val="tx1"/>
                </a:solidFill>
              </a:rPr>
              <a:t> is …</a:t>
            </a:r>
            <a:endParaRPr lang="en-US" sz="20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b="1" dirty="0">
                <a:solidFill>
                  <a:schemeClr val="tx1"/>
                </a:solidFill>
              </a:rPr>
              <a:t>proves</a:t>
            </a:r>
            <a:r>
              <a:rPr lang="en-US" sz="2000" dirty="0">
                <a:solidFill>
                  <a:schemeClr val="tx1"/>
                </a:solidFill>
              </a:rPr>
              <a:t> that … but not </a:t>
            </a:r>
            <a:r>
              <a:rPr lang="en-US" sz="2000" b="1" dirty="0">
                <a:solidFill>
                  <a:schemeClr val="tx1"/>
                </a:solidFill>
              </a:rPr>
              <a:t>who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b="1" dirty="0">
                <a:solidFill>
                  <a:schemeClr val="tx1"/>
                </a:solidFill>
              </a:rPr>
              <a:t>why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We can’t be sure until …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5968" y="1783080"/>
            <a:ext cx="3514344" cy="3593592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25968" y="1783080"/>
            <a:ext cx="3514344" cy="502920"/>
          </a:xfrm>
          <a:prstGeom prst="roundRect">
            <a:avLst>
              <a:gd name="adj" fmla="val 18182"/>
            </a:avLst>
          </a:prstGeom>
          <a:solidFill>
            <a:srgbClr val="3C7A3C"/>
          </a:solidFill>
          <a:ln/>
        </p:spPr>
      </p:sp>
      <p:sp>
        <p:nvSpPr>
          <p:cNvPr id="19" name="Shape 15"/>
          <p:cNvSpPr/>
          <p:nvPr/>
        </p:nvSpPr>
        <p:spPr>
          <a:xfrm>
            <a:off x="8125968" y="2057400"/>
            <a:ext cx="3514344" cy="228600"/>
          </a:xfrm>
          <a:prstGeom prst="rect">
            <a:avLst/>
          </a:prstGeom>
          <a:solidFill>
            <a:srgbClr val="3C7A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92808"/>
            <a:ext cx="283464" cy="28346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692896" y="1783080"/>
            <a:ext cx="2782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ADVISE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308848" y="2441448"/>
            <a:ext cx="3148584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</a:t>
            </a:r>
            <a:r>
              <a:rPr lang="en-US" sz="2000" b="1" dirty="0">
                <a:solidFill>
                  <a:schemeClr val="tx1"/>
                </a:solidFill>
              </a:rPr>
              <a:t>would / wouldn’t</a:t>
            </a:r>
            <a:r>
              <a:rPr lang="en-US" sz="2000" dirty="0">
                <a:solidFill>
                  <a:schemeClr val="tx1"/>
                </a:solidFill>
              </a:rPr>
              <a:t> … </a:t>
            </a:r>
            <a:r>
              <a:rPr lang="en-US" sz="2000" b="1" dirty="0">
                <a:solidFill>
                  <a:schemeClr val="tx1"/>
                </a:solidFill>
              </a:rPr>
              <a:t>because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Before …, we </a:t>
            </a:r>
            <a:r>
              <a:rPr lang="en-US" sz="2000" b="1" dirty="0">
                <a:solidFill>
                  <a:schemeClr val="tx1"/>
                </a:solidFill>
              </a:rPr>
              <a:t>need</a:t>
            </a:r>
            <a:r>
              <a:rPr lang="en-US" sz="2000" dirty="0">
                <a:solidFill>
                  <a:schemeClr val="tx1"/>
                </a:solidFill>
              </a:rPr>
              <a:t> … </a:t>
            </a:r>
            <a:r>
              <a:rPr lang="en-US" sz="2000" b="1" dirty="0">
                <a:solidFill>
                  <a:schemeClr val="tx1"/>
                </a:solidFill>
              </a:rPr>
              <a:t>from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If I were you, I’d ask for …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548640" y="5650992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E75B6">
              <a:alpha val="8000"/>
            </a:srgbClr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97296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325880" y="5705856"/>
            <a:ext cx="10085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One minute, three moves — </a:t>
            </a:r>
            <a:r>
              <a:rPr lang="en-US" sz="1800" b="1" dirty="0">
                <a:solidFill>
                  <a:schemeClr val="tx1"/>
                </a:solidFill>
              </a:rPr>
              <a:t>define</a:t>
            </a:r>
            <a:r>
              <a:rPr lang="en-US" sz="1800" dirty="0">
                <a:solidFill>
                  <a:schemeClr val="tx1"/>
                </a:solidFill>
              </a:rPr>
              <a:t> the word · </a:t>
            </a:r>
            <a:r>
              <a:rPr lang="en-US" sz="1800" b="1" dirty="0">
                <a:solidFill>
                  <a:schemeClr val="tx1"/>
                </a:solidFill>
              </a:rPr>
              <a:t>limit</a:t>
            </a:r>
            <a:r>
              <a:rPr lang="en-US" sz="1800" dirty="0">
                <a:solidFill>
                  <a:schemeClr val="tx1"/>
                </a:solidFill>
              </a:rPr>
              <a:t> what it proves · </a:t>
            </a:r>
            <a:r>
              <a:rPr lang="en-US" sz="1800" b="1" dirty="0">
                <a:solidFill>
                  <a:schemeClr val="tx1"/>
                </a:solidFill>
              </a:rPr>
              <a:t>advise</a:t>
            </a:r>
            <a:r>
              <a:rPr lang="en-US" sz="1800" dirty="0">
                <a:solidFill>
                  <a:schemeClr val="tx1"/>
                </a:solidFill>
              </a:rPr>
              <a:t> the next step.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Taboo — explain it without the obvious words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822960" cy="310896"/>
          </a:xfrm>
          <a:prstGeom prst="roundRect">
            <a:avLst>
              <a:gd name="adj" fmla="val 14706"/>
            </a:avLst>
          </a:prstGeom>
          <a:solidFill>
            <a:srgbClr val="B423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GAME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player explains the word </a:t>
            </a:r>
            <a:r>
              <a:rPr lang="en-US" sz="1600" b="1" i="1" dirty="0">
                <a:solidFill>
                  <a:schemeClr val="accent5"/>
                </a:solidFill>
              </a:rPr>
              <a:t>without</a:t>
            </a:r>
            <a:r>
              <a:rPr lang="en-US" sz="1600" i="1" dirty="0">
                <a:solidFill>
                  <a:schemeClr val="accent5"/>
                </a:solidFill>
              </a:rPr>
              <a:t> saying it or the three taboo words. The team has 30 seconds to guess.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237232"/>
            <a:ext cx="2622042" cy="1935480"/>
          </a:xfrm>
          <a:prstGeom prst="roundRect">
            <a:avLst>
              <a:gd name="adj" fmla="val 3780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2383536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TABOO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676144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evidence</a:t>
            </a:r>
            <a:endParaRPr lang="en-US" sz="25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3206496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proof · show · court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49808" y="3572256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9808" y="3663696"/>
            <a:ext cx="221970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= les preuves (indénombrable)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371850" y="2237232"/>
            <a:ext cx="2622042" cy="1935480"/>
          </a:xfrm>
          <a:prstGeom prst="roundRect">
            <a:avLst>
              <a:gd name="adj" fmla="val 3780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73018" y="2383536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TABOO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573018" y="2676144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threshold</a:t>
            </a:r>
            <a:endParaRPr lang="en-US" sz="2500" dirty="0"/>
          </a:p>
        </p:txBody>
      </p:sp>
      <p:sp>
        <p:nvSpPr>
          <p:cNvPr id="16" name="Text 13"/>
          <p:cNvSpPr txBox="1"/>
          <p:nvPr/>
        </p:nvSpPr>
        <p:spPr>
          <a:xfrm>
            <a:off x="3573018" y="3206496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limit · level · alarm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573018" y="3572256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663696"/>
            <a:ext cx="221970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= un seuil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195060" y="2237232"/>
            <a:ext cx="2622042" cy="1935480"/>
          </a:xfrm>
          <a:prstGeom prst="roundRect">
            <a:avLst>
              <a:gd name="adj" fmla="val 3780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96228" y="2383536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TABOO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96228" y="2676144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acknowledged</a:t>
            </a:r>
            <a:endParaRPr lang="en-US" sz="2500" dirty="0"/>
          </a:p>
        </p:txBody>
      </p:sp>
      <p:sp>
        <p:nvSpPr>
          <p:cNvPr id="22" name="Text 19"/>
          <p:cNvSpPr txBox="1"/>
          <p:nvPr/>
        </p:nvSpPr>
        <p:spPr>
          <a:xfrm>
            <a:off x="6396228" y="3206496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confirm · read · OK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396228" y="3572256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96228" y="3663696"/>
            <a:ext cx="221970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= dont la réception est confirmée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018270" y="2237232"/>
            <a:ext cx="2622042" cy="1935480"/>
          </a:xfrm>
          <a:prstGeom prst="roundRect">
            <a:avLst>
              <a:gd name="adj" fmla="val 3780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19438" y="2383536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TABOO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219438" y="2676144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estimate</a:t>
            </a:r>
            <a:endParaRPr lang="en-US" sz="2500" dirty="0"/>
          </a:p>
        </p:txBody>
      </p:sp>
      <p:sp>
        <p:nvSpPr>
          <p:cNvPr id="28" name="Text 25"/>
          <p:cNvSpPr txBox="1"/>
          <p:nvPr/>
        </p:nvSpPr>
        <p:spPr>
          <a:xfrm>
            <a:off x="9219438" y="3206496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price · cost · repair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9219438" y="3572256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19438" y="3663696"/>
            <a:ext cx="221970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= un devis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4373880"/>
            <a:ext cx="2622042" cy="1935480"/>
          </a:xfrm>
          <a:prstGeom prst="roundRect">
            <a:avLst>
              <a:gd name="adj" fmla="val 3780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9808" y="4520184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TABOO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49808" y="4812792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badge</a:t>
            </a:r>
            <a:endParaRPr lang="en-US" sz="250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5343144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card · door · enter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749808" y="5708904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9808" y="5800344"/>
            <a:ext cx="221970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= un badge d’accès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3371850" y="4373880"/>
            <a:ext cx="2622042" cy="1935480"/>
          </a:xfrm>
          <a:prstGeom prst="roundRect">
            <a:avLst>
              <a:gd name="adj" fmla="val 3780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573018" y="4520184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TABOO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3573018" y="4812792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shutdown</a:t>
            </a:r>
            <a:endParaRPr lang="en-US" sz="2500" dirty="0"/>
          </a:p>
        </p:txBody>
      </p:sp>
      <p:sp>
        <p:nvSpPr>
          <p:cNvPr id="40" name="Text 37"/>
          <p:cNvSpPr txBox="1"/>
          <p:nvPr/>
        </p:nvSpPr>
        <p:spPr>
          <a:xfrm>
            <a:off x="3573018" y="5343144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stop · off · server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3573018" y="5708904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573018" y="5800344"/>
            <a:ext cx="221970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= un arrêt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6195060" y="4373880"/>
            <a:ext cx="2622042" cy="1935480"/>
          </a:xfrm>
          <a:prstGeom prst="roundRect">
            <a:avLst>
              <a:gd name="adj" fmla="val 3780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396228" y="4520184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TABOO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6396228" y="4812792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humidity</a:t>
            </a:r>
            <a:endParaRPr lang="en-US" sz="2500" dirty="0"/>
          </a:p>
        </p:txBody>
      </p:sp>
      <p:sp>
        <p:nvSpPr>
          <p:cNvPr id="46" name="Text 43"/>
          <p:cNvSpPr txBox="1"/>
          <p:nvPr/>
        </p:nvSpPr>
        <p:spPr>
          <a:xfrm>
            <a:off x="6396228" y="5343144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water · wet · air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6396228" y="5708904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396228" y="5800344"/>
            <a:ext cx="221970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= l’humidité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9018270" y="4373880"/>
            <a:ext cx="2622042" cy="1935480"/>
          </a:xfrm>
          <a:prstGeom prst="roundRect">
            <a:avLst>
              <a:gd name="adj" fmla="val 3780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219438" y="4520184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TABOO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219438" y="4812792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assessor</a:t>
            </a:r>
            <a:endParaRPr lang="en-US" sz="2500" dirty="0"/>
          </a:p>
        </p:txBody>
      </p:sp>
      <p:sp>
        <p:nvSpPr>
          <p:cNvPr id="52" name="Text 49"/>
          <p:cNvSpPr txBox="1"/>
          <p:nvPr/>
        </p:nvSpPr>
        <p:spPr>
          <a:xfrm>
            <a:off x="9219438" y="5343144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claim · expert · loss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9219438" y="5708904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219438" y="5800344"/>
            <a:ext cx="221970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= un expert en sinistres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Role play — the nine o’clock briefing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280160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SPEAKING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Travaillez à deux : A pose les questions, B répond, puis échangez les rôles. Tout se dit en anglais, avec les verbes de la preuve !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481072"/>
            <a:ext cx="5408676" cy="3828288"/>
          </a:xfrm>
          <a:prstGeom prst="roundRect">
            <a:avLst>
              <a:gd name="adj" fmla="val 2389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481072"/>
            <a:ext cx="5408676" cy="45720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/>
        </p:spPr>
      </p:sp>
      <p:sp>
        <p:nvSpPr>
          <p:cNvPr id="9" name="Shape 6"/>
          <p:cNvSpPr/>
          <p:nvPr/>
        </p:nvSpPr>
        <p:spPr>
          <a:xfrm>
            <a:off x="548640" y="2801112"/>
            <a:ext cx="5408676" cy="1371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2481072"/>
            <a:ext cx="4951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A · MARK SHAW, LE RESPONSABLE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121152"/>
            <a:ext cx="4951476" cy="3096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1.  </a:t>
            </a:r>
            <a:r>
              <a:rPr lang="en-US" sz="1500" b="1" dirty="0">
                <a:solidFill>
                  <a:schemeClr val="accent2"/>
                </a:solidFill>
              </a:rPr>
              <a:t>(?)  </a:t>
            </a:r>
            <a:r>
              <a:rPr lang="en-US" sz="1500" dirty="0">
                <a:solidFill>
                  <a:schemeClr val="tx1"/>
                </a:solidFill>
              </a:rPr>
              <a:t>Demandez si l’eau </a:t>
            </a:r>
            <a:r>
              <a:rPr lang="en-US" sz="1500" b="1" dirty="0">
                <a:solidFill>
                  <a:schemeClr val="tx1"/>
                </a:solidFill>
              </a:rPr>
              <a:t>coulait encore</a:t>
            </a:r>
            <a:r>
              <a:rPr lang="en-US" sz="1500" dirty="0">
                <a:solidFill>
                  <a:schemeClr val="tx1"/>
                </a:solidFill>
              </a:rPr>
              <a:t> à 6 h 50.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2.  </a:t>
            </a:r>
            <a:r>
              <a:rPr lang="en-US" sz="1500" b="1" dirty="0">
                <a:solidFill>
                  <a:schemeClr val="accent2"/>
                </a:solidFill>
              </a:rPr>
              <a:t>(?)  </a:t>
            </a:r>
            <a:r>
              <a:rPr lang="en-US" sz="1500" dirty="0">
                <a:solidFill>
                  <a:schemeClr val="tx1"/>
                </a:solidFill>
              </a:rPr>
              <a:t>Demandez si </a:t>
            </a:r>
            <a:r>
              <a:rPr lang="en-US" sz="1500" b="1" dirty="0">
                <a:solidFill>
                  <a:schemeClr val="tx1"/>
                </a:solidFill>
              </a:rPr>
              <a:t>quelqu’un était sur place</a:t>
            </a:r>
            <a:r>
              <a:rPr lang="en-US" sz="1500" dirty="0">
                <a:solidFill>
                  <a:schemeClr val="tx1"/>
                </a:solidFill>
              </a:rPr>
              <a:t> à 23 h 41.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3.  </a:t>
            </a:r>
            <a:r>
              <a:rPr lang="en-US" sz="1500" b="1" dirty="0">
                <a:solidFill>
                  <a:schemeClr val="accent2"/>
                </a:solidFill>
              </a:rPr>
              <a:t>(?)  </a:t>
            </a:r>
            <a:r>
              <a:rPr lang="en-US" sz="1500" dirty="0">
                <a:solidFill>
                  <a:schemeClr val="tx1"/>
                </a:solidFill>
              </a:rPr>
              <a:t>Demandez si quelqu’un </a:t>
            </a:r>
            <a:r>
              <a:rPr lang="en-US" sz="1500" b="1" dirty="0">
                <a:solidFill>
                  <a:schemeClr val="tx1"/>
                </a:solidFill>
              </a:rPr>
              <a:t>a lu l’alerte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4.  </a:t>
            </a:r>
            <a:r>
              <a:rPr lang="en-US" sz="1500" b="1" dirty="0">
                <a:solidFill>
                  <a:schemeClr val="accent2"/>
                </a:solidFill>
              </a:rPr>
              <a:t>(?)  </a:t>
            </a:r>
            <a:r>
              <a:rPr lang="en-US" sz="1500" dirty="0">
                <a:solidFill>
                  <a:schemeClr val="tx1"/>
                </a:solidFill>
              </a:rPr>
              <a:t>Demandez ce que </a:t>
            </a:r>
            <a:r>
              <a:rPr lang="en-US" sz="1500" b="1" dirty="0">
                <a:solidFill>
                  <a:schemeClr val="tx1"/>
                </a:solidFill>
              </a:rPr>
              <a:t>prouve</a:t>
            </a:r>
            <a:r>
              <a:rPr lang="en-US" sz="1500" dirty="0">
                <a:solidFill>
                  <a:schemeClr val="tx1"/>
                </a:solidFill>
              </a:rPr>
              <a:t> la ligne de 20 h 04.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5.  </a:t>
            </a:r>
            <a:r>
              <a:rPr lang="en-US" sz="1500" b="1" dirty="0">
                <a:solidFill>
                  <a:schemeClr val="tx2"/>
                </a:solidFill>
              </a:rPr>
              <a:t>(+)  </a:t>
            </a:r>
            <a:r>
              <a:rPr lang="en-US" sz="1500" dirty="0">
                <a:solidFill>
                  <a:schemeClr val="tx1"/>
                </a:solidFill>
              </a:rPr>
              <a:t>Dites qu’il faut </a:t>
            </a:r>
            <a:r>
              <a:rPr lang="en-US" sz="1500" b="1" dirty="0">
                <a:solidFill>
                  <a:schemeClr val="tx1"/>
                </a:solidFill>
              </a:rPr>
              <a:t>un devis</a:t>
            </a:r>
            <a:r>
              <a:rPr lang="en-US" sz="1500" dirty="0">
                <a:solidFill>
                  <a:schemeClr val="tx1"/>
                </a:solidFill>
              </a:rPr>
              <a:t> pour l’unité 3.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6.  </a:t>
            </a:r>
            <a:r>
              <a:rPr lang="en-US" sz="1500" b="1" dirty="0">
                <a:solidFill>
                  <a:schemeClr val="accent6"/>
                </a:solidFill>
              </a:rPr>
              <a:t>(–)  </a:t>
            </a:r>
            <a:r>
              <a:rPr lang="en-US" sz="1500" dirty="0">
                <a:solidFill>
                  <a:schemeClr val="tx1"/>
                </a:solidFill>
              </a:rPr>
              <a:t>Dites de </a:t>
            </a:r>
            <a:r>
              <a:rPr lang="en-US" sz="1500" b="1" dirty="0">
                <a:solidFill>
                  <a:schemeClr val="tx1"/>
                </a:solidFill>
              </a:rPr>
              <a:t>ne pas écrire</a:t>
            </a:r>
            <a:r>
              <a:rPr lang="en-US" sz="1500" dirty="0">
                <a:solidFill>
                  <a:schemeClr val="tx1"/>
                </a:solidFill>
              </a:rPr>
              <a:t> le numéro de badge.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231636" y="2481072"/>
            <a:ext cx="5408676" cy="3828288"/>
          </a:xfrm>
          <a:prstGeom prst="roundRect">
            <a:avLst>
              <a:gd name="adj" fmla="val 2389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31636" y="2481072"/>
            <a:ext cx="5408676" cy="4572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2801112"/>
            <a:ext cx="5408676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60236" y="2481072"/>
            <a:ext cx="4951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B · VOUS, L’INGÉNIEUR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60236" y="3121152"/>
            <a:ext cx="4951476" cy="3096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1.  </a:t>
            </a:r>
            <a:r>
              <a:rPr lang="en-US" sz="1500" b="1" dirty="0">
                <a:solidFill>
                  <a:schemeClr val="tx2"/>
                </a:solidFill>
              </a:rPr>
              <a:t>(+)  </a:t>
            </a:r>
            <a:r>
              <a:rPr lang="en-US" sz="1500" dirty="0">
                <a:solidFill>
                  <a:schemeClr val="tx1"/>
                </a:solidFill>
              </a:rPr>
              <a:t>Oui : les agents d’entretien </a:t>
            </a:r>
            <a:r>
              <a:rPr lang="en-US" sz="1500" b="1" dirty="0">
                <a:solidFill>
                  <a:schemeClr val="tx1"/>
                </a:solidFill>
              </a:rPr>
              <a:t>l’ont vue</a:t>
            </a:r>
            <a:r>
              <a:rPr lang="en-US" sz="1500" dirty="0">
                <a:solidFill>
                  <a:schemeClr val="tx1"/>
                </a:solidFill>
              </a:rPr>
              <a:t> ; leur entrée est </a:t>
            </a:r>
            <a:r>
              <a:rPr lang="en-US" sz="1500" b="1" dirty="0">
                <a:solidFill>
                  <a:schemeClr val="tx1"/>
                </a:solidFill>
              </a:rPr>
              <a:t>enregistrée</a:t>
            </a:r>
            <a:r>
              <a:rPr lang="en-US" sz="1500" dirty="0">
                <a:solidFill>
                  <a:schemeClr val="tx1"/>
                </a:solidFill>
              </a:rPr>
              <a:t> à 6 h 47.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2.  </a:t>
            </a:r>
            <a:r>
              <a:rPr lang="en-US" sz="1500" b="1" dirty="0">
                <a:solidFill>
                  <a:schemeClr val="accent6"/>
                </a:solidFill>
              </a:rPr>
              <a:t>(–)  </a:t>
            </a:r>
            <a:r>
              <a:rPr lang="en-US" sz="1500" b="1" dirty="0">
                <a:solidFill>
                  <a:schemeClr val="tx1"/>
                </a:solidFill>
              </a:rPr>
              <a:t>Aucun accès n’a été enregistré</a:t>
            </a:r>
            <a:r>
              <a:rPr lang="en-US" sz="1500" dirty="0">
                <a:solidFill>
                  <a:schemeClr val="tx1"/>
                </a:solidFill>
              </a:rPr>
              <a:t> après 20 h 19 — mais ce n’est pas une preuve d’absence.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3.  </a:t>
            </a:r>
            <a:r>
              <a:rPr lang="en-US" sz="1500" b="1" dirty="0">
                <a:solidFill>
                  <a:schemeClr val="accent6"/>
                </a:solidFill>
              </a:rPr>
              <a:t>(–)  </a:t>
            </a:r>
            <a:r>
              <a:rPr lang="en-US" sz="1500" dirty="0">
                <a:solidFill>
                  <a:schemeClr val="tx1"/>
                </a:solidFill>
              </a:rPr>
              <a:t>Il n’y a </a:t>
            </a:r>
            <a:r>
              <a:rPr lang="en-US" sz="1500" b="1" dirty="0">
                <a:solidFill>
                  <a:schemeClr val="tx1"/>
                </a:solidFill>
              </a:rPr>
              <a:t>aucune trace</a:t>
            </a:r>
            <a:r>
              <a:rPr lang="en-US" sz="1500" dirty="0">
                <a:solidFill>
                  <a:schemeClr val="tx1"/>
                </a:solidFill>
              </a:rPr>
              <a:t> d’une lecture : l’alerte a seulement été </a:t>
            </a:r>
            <a:r>
              <a:rPr lang="en-US" sz="1500" b="1" dirty="0">
                <a:solidFill>
                  <a:schemeClr val="tx1"/>
                </a:solidFill>
              </a:rPr>
              <a:t>délivrée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4.  </a:t>
            </a:r>
            <a:r>
              <a:rPr lang="en-US" sz="1500" b="1" dirty="0">
                <a:solidFill>
                  <a:schemeClr val="tx2"/>
                </a:solidFill>
              </a:rPr>
              <a:t>(+)  </a:t>
            </a:r>
            <a:r>
              <a:rPr lang="en-US" sz="1500" dirty="0">
                <a:solidFill>
                  <a:schemeClr val="tx1"/>
                </a:solidFill>
              </a:rPr>
              <a:t>Elle </a:t>
            </a:r>
            <a:r>
              <a:rPr lang="en-US" sz="1500" b="1" dirty="0">
                <a:solidFill>
                  <a:schemeClr val="tx1"/>
                </a:solidFill>
              </a:rPr>
              <a:t>prouve</a:t>
            </a:r>
            <a:r>
              <a:rPr lang="en-US" sz="1500" dirty="0">
                <a:solidFill>
                  <a:schemeClr val="tx1"/>
                </a:solidFill>
              </a:rPr>
              <a:t> qu’un badge a été utilisé — </a:t>
            </a:r>
            <a:r>
              <a:rPr lang="en-US" sz="1500" b="1" dirty="0">
                <a:solidFill>
                  <a:schemeClr val="tx1"/>
                </a:solidFill>
              </a:rPr>
              <a:t>pas qui</a:t>
            </a:r>
            <a:r>
              <a:rPr lang="en-US" sz="1500" dirty="0">
                <a:solidFill>
                  <a:schemeClr val="tx1"/>
                </a:solidFill>
              </a:rPr>
              <a:t> le portait.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5.  </a:t>
            </a:r>
            <a:r>
              <a:rPr lang="en-US" sz="1500" b="1" dirty="0">
                <a:solidFill>
                  <a:schemeClr val="tx2"/>
                </a:solidFill>
              </a:rPr>
              <a:t>(+)  </a:t>
            </a:r>
            <a:r>
              <a:rPr lang="en-US" sz="1500" dirty="0">
                <a:solidFill>
                  <a:schemeClr val="tx1"/>
                </a:solidFill>
              </a:rPr>
              <a:t>D’accord : vous le </a:t>
            </a:r>
            <a:r>
              <a:rPr lang="en-US" sz="1500" b="1" dirty="0">
                <a:solidFill>
                  <a:schemeClr val="tx1"/>
                </a:solidFill>
              </a:rPr>
              <a:t>demanderez</a:t>
            </a:r>
            <a:r>
              <a:rPr lang="en-US" sz="1500" dirty="0">
                <a:solidFill>
                  <a:schemeClr val="tx1"/>
                </a:solidFill>
              </a:rPr>
              <a:t> au prestataire informatique.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6.  </a:t>
            </a:r>
            <a:r>
              <a:rPr lang="en-US" sz="1500" b="1" dirty="0">
                <a:solidFill>
                  <a:schemeClr val="tx2"/>
                </a:solidFill>
              </a:rPr>
              <a:t>(+)  </a:t>
            </a:r>
            <a:r>
              <a:rPr lang="en-US" sz="1500" dirty="0">
                <a:solidFill>
                  <a:schemeClr val="tx1"/>
                </a:solidFill>
              </a:rPr>
              <a:t>Promettez d’écrire « </a:t>
            </a:r>
            <a:r>
              <a:rPr lang="en-US" sz="1500" b="1" dirty="0">
                <a:solidFill>
                  <a:schemeClr val="tx1"/>
                </a:solidFill>
              </a:rPr>
              <a:t>un accès a été enregistré</a:t>
            </a:r>
            <a:r>
              <a:rPr lang="en-US" sz="1500" dirty="0">
                <a:solidFill>
                  <a:schemeClr val="tx1"/>
                </a:solidFill>
              </a:rPr>
              <a:t>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language of evidence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WORD FILE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017520"/>
                <a:gridCol w="5148072"/>
              </a:tblGrid>
              <a:tr h="5477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ENGLISH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FRANÇAIS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IN THE FILE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evidence (U) · a piece of evidence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des preuves · une preuve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Two pieces of evidence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contradict Samuel.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5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proof · to prove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la preuve · prouver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log gives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proof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that unit 3 shut down.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15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to establish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établir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log does not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establish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who carried the badge.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5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to suggest · to point to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laisser penser · indiquer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The humidity alarm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points to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a leak above.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record · there is no record of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 trace · il n’y a aucune trace de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There is no record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that the alert was read.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5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witness · a statement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 témoin · une déclaration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Ask the cleaners for a written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statement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15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 hypothesis · to rule out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 hypothèse · écarter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We cannot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rule out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a second leak.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5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to back up · to support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étayer, corroborer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Nothing </a:t>
                      </a: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supports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 Verdier’s claim.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035040" cy="2697480"/>
          </a:xfrm>
          <a:prstGeom prst="roundRect">
            <a:avLst>
              <a:gd name="adj" fmla="val 2712"/>
            </a:avLst>
          </a:prstGeom>
          <a:solidFill>
            <a:srgbClr val="1F386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0008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Mark looks at the fourth line for a long moment. Then he says: </a:t>
            </a:r>
            <a:r>
              <a:rPr lang="en-US" sz="22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“Do not write that badge number anywhere. Not yet.”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754880"/>
            <a:ext cx="6035040" cy="1554480"/>
          </a:xfrm>
          <a:prstGeom prst="roundRect">
            <a:avLst>
              <a:gd name="adj" fmla="val 4706"/>
            </a:avLst>
          </a:prstGeom>
          <a:solidFill>
            <a:srgbClr val="C0752A">
              <a:alpha val="12000"/>
            </a:srgbClr>
          </a:solidFill>
          <a:ln w="15875">
            <a:solidFill>
              <a:srgbClr val="C0752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49560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EXIT TICKET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4406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Complete: </a:t>
            </a:r>
            <a:r>
              <a:rPr lang="en-US" sz="1800" i="1" dirty="0">
                <a:solidFill>
                  <a:schemeClr val="tx1"/>
                </a:solidFill>
              </a:rPr>
              <a:t>The badge log proves that … but it does not prove …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03720" y="1783080"/>
            <a:ext cx="4736592" cy="4526280"/>
          </a:xfrm>
          <a:prstGeom prst="roundRect">
            <a:avLst>
              <a:gd name="adj" fmla="val 1616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2" y="2002536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53528" y="19842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60604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589520" y="2560320"/>
            <a:ext cx="3867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evidence ladder</a:t>
            </a:r>
            <a:r>
              <a:rPr lang="en-US" sz="1700" dirty="0">
                <a:solidFill>
                  <a:schemeClr val="tx1"/>
                </a:solidFill>
              </a:rPr>
              <a:t>: prove · confirm · show · suggest · does not establish.</a:t>
            </a:r>
            <a:endParaRPr lang="en-US" sz="17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361188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566160"/>
            <a:ext cx="3867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Write your </a:t>
            </a:r>
            <a:r>
              <a:rPr lang="en-US" sz="1700" b="1" dirty="0">
                <a:solidFill>
                  <a:schemeClr val="tx1"/>
                </a:solidFill>
              </a:rPr>
              <a:t>expert answer</a:t>
            </a:r>
            <a:r>
              <a:rPr lang="en-US" sz="1700" dirty="0">
                <a:solidFill>
                  <a:schemeClr val="tx1"/>
                </a:solidFill>
              </a:rPr>
              <a:t> in three sentences: define · limit · advise.</a:t>
            </a:r>
            <a:endParaRPr lang="en-US" sz="17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4617720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589520" y="4572000"/>
            <a:ext cx="3867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Revise the </a:t>
            </a:r>
            <a:r>
              <a:rPr lang="en-US" sz="1700" b="1" dirty="0">
                <a:solidFill>
                  <a:schemeClr val="tx1"/>
                </a:solidFill>
              </a:rPr>
              <a:t>past participles</a:t>
            </a:r>
            <a:r>
              <a:rPr lang="en-US" sz="1700" dirty="0">
                <a:solidFill>
                  <a:schemeClr val="tx1"/>
                </a:solidFill>
              </a:rPr>
              <a:t> (p. 13).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08 — Sort the witnesses</dc:title>
  <dc:subject>Case File 01 — The night nobody heard</dc:subject>
  <dc:creator>A. Jouniaux</dc:creator>
  <cp:lastModifiedBy>A. Jouniaux</cp:lastModifiedBy>
  <cp:revision>1</cp:revision>
  <dcterms:created xsi:type="dcterms:W3CDTF">2026-10-16T08:11:54Z</dcterms:created>
  <dcterms:modified xsi:type="dcterms:W3CDTF">2026-10-16T08:11:54Z</dcterms:modified>
</cp:coreProperties>
</file>