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ccf8412-68fc-4518-638f-b89a3c15bb0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lôture" id="{a9b29f2d-8517-5ac7-ecf5-c779bd7f04f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des déclarations (P / N / C) et premières questions d’experts : chaque firme explique, en anglais simple, ce que la preuve établit ou non.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Accepter d’autres justifications si elles s’appuient sur le dossier. Ligne 3 : « until eight » est approximativement juste (19:58) — l’important est d’écrire l’heure du journal. Ligne 6 : transition vers l’idée-clé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 pour l’expert IT. Selon les systèmes, « received » désigne parfois la réception par l’appareil (≈ delivered) : laisser l’étudiant IT nuancer.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expert prépare sa réponse (5 min) puis l’explique au groupe en 1 minute. Les réponses proposées sont des pistes : valoriser toute réponse argumentée issue du domaine de l’étudiant.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expert prépare sa réponse (5 min) puis l’explique au groupe en 1 minute. Les réponses proposées sont des pistes : valoriser toute réponse argumentée issue du domaine de l’étudiant.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08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3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Sort the witnesses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At nine o’clock Mark will ask you what holds up.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16–17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2120"/>
            <a:ext cx="5120640" cy="34137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b="1" dirty="0">
                <a:solidFill>
                  <a:schemeClr val="tx1"/>
                </a:solidFill>
              </a:rPr>
              <a:t>sorted list</a:t>
            </a:r>
            <a:r>
              <a:rPr lang="en-US" sz="1800" dirty="0">
                <a:solidFill>
                  <a:schemeClr val="tx1"/>
                </a:solidFill>
              </a:rPr>
              <a:t> of what can be proved (P / N / C) — and one </a:t>
            </a:r>
            <a:r>
              <a:rPr lang="en-US" sz="1800" b="1" dirty="0">
                <a:solidFill>
                  <a:schemeClr val="tx1"/>
                </a:solidFill>
              </a:rPr>
              <a:t>expert answer</a:t>
            </a:r>
            <a:r>
              <a:rPr lang="en-US" sz="1800" dirty="0">
                <a:solidFill>
                  <a:schemeClr val="tx1"/>
                </a:solidFill>
              </a:rPr>
              <a:t> per firm.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language of evidence: </a:t>
            </a:r>
            <a:r>
              <a:rPr lang="en-US" sz="1400" i="1" dirty="0">
                <a:solidFill>
                  <a:schemeClr val="tx1"/>
                </a:solidFill>
              </a:rPr>
              <a:t>prove, confirm, show, suggest, does not establish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delivered / received / acknowledged</a:t>
            </a:r>
            <a:r>
              <a:rPr lang="en-US" sz="1400" dirty="0">
                <a:solidFill>
                  <a:schemeClr val="tx1"/>
                </a:solidFill>
              </a:rPr>
              <a:t> · explaining your field in plain English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Critical thinking · explaining an expert point to non-experts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659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collocations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3288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414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language of evidence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41448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9981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30083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Sort the witnesses (p. 16)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3008376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6674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753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Correction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75304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23367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233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1422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Your expert: four questions (p. 16–17)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142232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800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7091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Report back to the group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709160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3675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760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76088"/>
            <a:ext cx="667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the professional block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alarm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a claim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damage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an inspection</a:t>
            </a:r>
            <a:endParaRPr lang="en-US" sz="24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a deadline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the floor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a report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steps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the professional block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7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raise</a:t>
            </a:r>
            <a:r>
              <a:rPr lang="en-US" sz="2400" dirty="0">
                <a:solidFill>
                  <a:schemeClr val="tx1"/>
                </a:solidFill>
              </a:rPr>
              <a:t> the alarm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file</a:t>
            </a:r>
            <a:r>
              <a:rPr lang="en-US" sz="2400" dirty="0">
                <a:solidFill>
                  <a:schemeClr val="tx1"/>
                </a:solidFill>
              </a:rPr>
              <a:t> a claim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assess</a:t>
            </a:r>
            <a:r>
              <a:rPr lang="en-US" sz="2400" dirty="0">
                <a:solidFill>
                  <a:schemeClr val="tx1"/>
                </a:solidFill>
              </a:rPr>
              <a:t> the damage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carry out</a:t>
            </a:r>
            <a:r>
              <a:rPr lang="en-US" sz="2400" dirty="0">
                <a:solidFill>
                  <a:schemeClr val="tx1"/>
                </a:solidFill>
              </a:rPr>
              <a:t> an inspection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meet</a:t>
            </a:r>
            <a:r>
              <a:rPr lang="en-US" sz="2400" dirty="0">
                <a:solidFill>
                  <a:schemeClr val="tx1"/>
                </a:solidFill>
              </a:rPr>
              <a:t> a deadline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make good</a:t>
            </a:r>
            <a:r>
              <a:rPr lang="en-US" sz="2400" dirty="0">
                <a:solidFill>
                  <a:schemeClr val="tx1"/>
                </a:solidFill>
              </a:rPr>
              <a:t> the floor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7.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draw up</a:t>
            </a:r>
            <a:r>
              <a:rPr lang="en-US" sz="2400" dirty="0">
                <a:solidFill>
                  <a:schemeClr val="tx1"/>
                </a:solidFill>
              </a:rPr>
              <a:t> a report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8.  </a:t>
            </a:r>
            <a:r>
              <a:rPr lang="en-US" sz="2400" dirty="0">
                <a:solidFill>
                  <a:schemeClr val="tx1"/>
                </a:solidFill>
              </a:rPr>
              <a:t>to </a:t>
            </a:r>
            <a:r>
              <a:rPr lang="en-US" sz="2400" b="1" dirty="0">
                <a:solidFill>
                  <a:schemeClr val="accent3"/>
                </a:solidFill>
              </a:rPr>
              <a:t>take</a:t>
            </a:r>
            <a:r>
              <a:rPr lang="en-US" sz="2400" dirty="0">
                <a:solidFill>
                  <a:schemeClr val="tx1"/>
                </a:solidFill>
              </a:rPr>
              <a:t> steps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From proof to doubt: the evidence ladder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984248" cy="3855720"/>
          </a:xfrm>
          <a:prstGeom prst="roundRect">
            <a:avLst>
              <a:gd name="adj" fmla="val 4608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" y="1664208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11580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100 %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395728"/>
            <a:ext cx="1764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proves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72968"/>
            <a:ext cx="170992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badge log </a:t>
            </a:r>
            <a:r>
              <a:rPr lang="en-US" sz="1700" b="1" dirty="0">
                <a:solidFill>
                  <a:schemeClr val="tx1"/>
                </a:solidFill>
              </a:rPr>
              <a:t>proves</a:t>
            </a:r>
            <a:r>
              <a:rPr lang="en-US" sz="1700" dirty="0">
                <a:solidFill>
                  <a:schemeClr val="tx1"/>
                </a:solidFill>
              </a:rPr>
              <a:t> that badge 0102 was used at 20:04.</a:t>
            </a:r>
            <a:endParaRPr lang="en-US" sz="17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9464" y="1883664"/>
            <a:ext cx="219456" cy="21945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825496" y="1481328"/>
            <a:ext cx="1984248" cy="3855720"/>
          </a:xfrm>
          <a:prstGeom prst="roundRect">
            <a:avLst>
              <a:gd name="adj" fmla="val 4608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88436" y="1664208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88436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935224" y="2395728"/>
            <a:ext cx="1764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confirms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2962656" y="3172968"/>
            <a:ext cx="170992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log </a:t>
            </a:r>
            <a:r>
              <a:rPr lang="en-US" sz="1700" b="1" dirty="0">
                <a:solidFill>
                  <a:schemeClr val="tx1"/>
                </a:solidFill>
              </a:rPr>
              <a:t>confirms</a:t>
            </a:r>
            <a:r>
              <a:rPr lang="en-US" sz="1700" dirty="0">
                <a:solidFill>
                  <a:schemeClr val="tx1"/>
                </a:solidFill>
              </a:rPr>
              <a:t> that unit 3 shut down at 02:16.</a:t>
            </a:r>
            <a:endParaRPr lang="en-US" sz="17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83664"/>
            <a:ext cx="219456" cy="219456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102352" y="1481328"/>
            <a:ext cx="1984248" cy="3855720"/>
          </a:xfrm>
          <a:prstGeom prst="roundRect">
            <a:avLst>
              <a:gd name="adj" fmla="val 4608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5292" y="166420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765292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≈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212080" y="2395728"/>
            <a:ext cx="1764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shows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239512" y="3172968"/>
            <a:ext cx="170992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photos </a:t>
            </a:r>
            <a:r>
              <a:rPr lang="en-US" sz="1700" b="1" dirty="0">
                <a:solidFill>
                  <a:schemeClr val="tx1"/>
                </a:solidFill>
              </a:rPr>
              <a:t>show</a:t>
            </a:r>
            <a:r>
              <a:rPr lang="en-US" sz="1700" dirty="0">
                <a:solidFill>
                  <a:schemeClr val="tx1"/>
                </a:solidFill>
              </a:rPr>
              <a:t> a soaked floor at 8.20.</a:t>
            </a:r>
            <a:endParaRPr lang="en-US" sz="17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176" y="1883664"/>
            <a:ext cx="219456" cy="21945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7379208" y="1481328"/>
            <a:ext cx="1984248" cy="3855720"/>
          </a:xfrm>
          <a:prstGeom prst="roundRect">
            <a:avLst>
              <a:gd name="adj" fmla="val 4608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042148" y="1664208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42148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?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7488936" y="2395728"/>
            <a:ext cx="1764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suggests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7516368" y="3172968"/>
            <a:ext cx="170992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humidity alarm </a:t>
            </a:r>
            <a:r>
              <a:rPr lang="en-US" sz="1700" b="1" dirty="0">
                <a:solidFill>
                  <a:schemeClr val="tx1"/>
                </a:solidFill>
              </a:rPr>
              <a:t>suggests</a:t>
            </a:r>
            <a:r>
              <a:rPr lang="en-US" sz="1700" dirty="0">
                <a:solidFill>
                  <a:schemeClr val="tx1"/>
                </a:solidFill>
              </a:rPr>
              <a:t> water near the sensors.</a:t>
            </a:r>
            <a:endParaRPr lang="en-US" sz="17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1883664"/>
            <a:ext cx="219456" cy="21945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9656064" y="1481328"/>
            <a:ext cx="1984248" cy="3855720"/>
          </a:xfrm>
          <a:prstGeom prst="roundRect">
            <a:avLst>
              <a:gd name="adj" fmla="val 4608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319004" y="1664208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10319004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✗</a:t>
            </a:r>
            <a:endParaRPr lang="en-US" sz="2000" dirty="0"/>
          </a:p>
        </p:txBody>
      </p:sp>
      <p:sp>
        <p:nvSpPr>
          <p:cNvPr id="32" name="Text 26"/>
          <p:cNvSpPr txBox="1"/>
          <p:nvPr/>
        </p:nvSpPr>
        <p:spPr>
          <a:xfrm>
            <a:off x="9765792" y="2395728"/>
            <a:ext cx="1764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does not establish</a:t>
            </a:r>
            <a:endParaRPr lang="en-US" sz="1700" dirty="0"/>
          </a:p>
        </p:txBody>
      </p:sp>
      <p:sp>
        <p:nvSpPr>
          <p:cNvPr id="33" name="Text 27"/>
          <p:cNvSpPr txBox="1"/>
          <p:nvPr/>
        </p:nvSpPr>
        <p:spPr>
          <a:xfrm>
            <a:off x="9793224" y="3172968"/>
            <a:ext cx="170992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log </a:t>
            </a:r>
            <a:r>
              <a:rPr lang="en-US" sz="1700" b="1" dirty="0">
                <a:solidFill>
                  <a:schemeClr val="tx1"/>
                </a:solidFill>
              </a:rPr>
              <a:t>does not establish</a:t>
            </a:r>
            <a:r>
              <a:rPr lang="en-US" sz="1700" dirty="0">
                <a:solidFill>
                  <a:schemeClr val="tx1"/>
                </a:solidFill>
              </a:rPr>
              <a:t> who carried the badge.</a:t>
            </a:r>
            <a:endParaRPr lang="en-US" sz="1700" dirty="0"/>
          </a:p>
        </p:txBody>
      </p:sp>
      <p:sp>
        <p:nvSpPr>
          <p:cNvPr id="34" name="Shape 28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la preuve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(the) proof</a:t>
            </a:r>
            <a:r>
              <a:rPr lang="en-US" sz="1700" dirty="0">
                <a:solidFill>
                  <a:schemeClr val="tx1"/>
                </a:solidFill>
              </a:rPr>
              <a:t> (singulier) ou </a:t>
            </a:r>
            <a:r>
              <a:rPr lang="en-US" sz="1700" b="1" dirty="0">
                <a:solidFill>
                  <a:schemeClr val="tx1"/>
                </a:solidFill>
              </a:rPr>
              <a:t>evidence</a:t>
            </a:r>
            <a:r>
              <a:rPr lang="en-US" sz="1700" dirty="0">
                <a:solidFill>
                  <a:schemeClr val="tx1"/>
                </a:solidFill>
              </a:rPr>
              <a:t> (indénombrable) — ✗ </a:t>
            </a:r>
            <a:r>
              <a:rPr lang="en-US" sz="1700" i="1" dirty="0">
                <a:solidFill>
                  <a:schemeClr val="tx1"/>
                </a:solidFill>
              </a:rPr>
              <a:t>an evidence</a:t>
            </a:r>
            <a:r>
              <a:rPr lang="en-US" sz="1700" dirty="0">
                <a:solidFill>
                  <a:schemeClr val="tx1"/>
                </a:solidFill>
              </a:rPr>
              <a:t>, ✗ </a:t>
            </a:r>
            <a:r>
              <a:rPr lang="en-US" sz="1700" i="1" dirty="0">
                <a:solidFill>
                  <a:schemeClr val="tx1"/>
                </a:solidFill>
              </a:rPr>
              <a:t>proofs</a:t>
            </a:r>
            <a:r>
              <a:rPr lang="en-US" sz="1700" dirty="0">
                <a:solidFill>
                  <a:schemeClr val="tx1"/>
                </a:solidFill>
              </a:rPr>
              <a:t>. </a:t>
            </a:r>
            <a:r>
              <a:rPr lang="en-US" sz="1700" i="1" dirty="0">
                <a:solidFill>
                  <a:schemeClr val="tx1"/>
                </a:solidFill>
              </a:rPr>
              <a:t>prouver que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b="1" dirty="0">
                <a:solidFill>
                  <a:schemeClr val="tx1"/>
                </a:solidFill>
              </a:rPr>
              <a:t>prove that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Sort the witnesses before Mark asks you to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Six statements were made in this room. Mark them </a:t>
            </a:r>
            <a:r>
              <a:rPr lang="en-US" sz="1600" b="1" i="1" dirty="0">
                <a:solidFill>
                  <a:schemeClr val="accent5"/>
                </a:solidFill>
              </a:rPr>
              <a:t>P</a:t>
            </a:r>
            <a:r>
              <a:rPr lang="en-US" sz="1600" i="1" dirty="0">
                <a:solidFill>
                  <a:schemeClr val="accent5"/>
                </a:solidFill>
              </a:rPr>
              <a:t> (provable today), </a:t>
            </a:r>
            <a:r>
              <a:rPr lang="en-US" sz="1600" b="1" i="1" dirty="0">
                <a:solidFill>
                  <a:schemeClr val="accent5"/>
                </a:solidFill>
              </a:rPr>
              <a:t>N</a:t>
            </a:r>
            <a:r>
              <a:rPr lang="en-US" sz="1600" i="1" dirty="0">
                <a:solidFill>
                  <a:schemeClr val="accent5"/>
                </a:solidFill>
              </a:rPr>
              <a:t> (not yet provable) or </a:t>
            </a:r>
            <a:r>
              <a:rPr lang="en-US" sz="1600" b="1" i="1" dirty="0">
                <a:solidFill>
                  <a:schemeClr val="accent5"/>
                </a:solidFill>
              </a:rPr>
              <a:t>C</a:t>
            </a:r>
            <a:r>
              <a:rPr lang="en-US" sz="1600" i="1" dirty="0">
                <a:solidFill>
                  <a:schemeClr val="accent5"/>
                </a:solidFill>
              </a:rPr>
              <a:t> (contradicted by another speaker).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61032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  <a:gridCol w="5788152"/>
              </a:tblGrid>
              <a:tr h="5550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 / N / C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WHY?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water was still running at 6.50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contractor’s team left at eight.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Two IT units have stopped working.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It is the same pipe as last November.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Nobody was on site at 11.40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accent5"/>
                          </a:solidFill>
                        </a:rPr>
                        <a:t>……………………………………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Sort the witnesses before Mark asks you to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11091672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Six statements were made in this room. Mark them </a:t>
            </a:r>
            <a:r>
              <a:rPr lang="en-US" sz="1600" b="1" i="1" dirty="0">
                <a:solidFill>
                  <a:schemeClr val="accent5"/>
                </a:solidFill>
              </a:rPr>
              <a:t>P</a:t>
            </a:r>
            <a:r>
              <a:rPr lang="en-US" sz="1600" i="1" dirty="0">
                <a:solidFill>
                  <a:schemeClr val="accent5"/>
                </a:solidFill>
              </a:rPr>
              <a:t> (provable today), </a:t>
            </a:r>
            <a:r>
              <a:rPr lang="en-US" sz="1600" b="1" i="1" dirty="0">
                <a:solidFill>
                  <a:schemeClr val="accent5"/>
                </a:solidFill>
              </a:rPr>
              <a:t>N</a:t>
            </a:r>
            <a:r>
              <a:rPr lang="en-US" sz="1600" i="1" dirty="0">
                <a:solidFill>
                  <a:schemeClr val="accent5"/>
                </a:solidFill>
              </a:rPr>
              <a:t> (not yet provable) or </a:t>
            </a:r>
            <a:r>
              <a:rPr lang="en-US" sz="1600" b="1" i="1" dirty="0">
                <a:solidFill>
                  <a:schemeClr val="accent5"/>
                </a:solidFill>
              </a:rPr>
              <a:t>C</a:t>
            </a:r>
            <a:r>
              <a:rPr lang="en-US" sz="1600" i="1" dirty="0">
                <a:solidFill>
                  <a:schemeClr val="accent5"/>
                </a:solidFill>
              </a:rPr>
              <a:t> (contradicted by another speaker).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61032"/>
          <a:ext cx="11091672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  <a:gridCol w="5788152"/>
              </a:tblGrid>
              <a:tr h="55504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STATEMENT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 / N / C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WHY?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water was still running at 6.50 a.m.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P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The cleaners saw it; their entry is logged (06:47).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pipe was leaking all night.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Iris: “I think” — a supposition; nothing yet on the pipe.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The contractor’s team left at eight.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C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The log shows the exit at 19:58.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Two IT units have stopped working.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P (partly)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Samuel checked; the log shows only unit 3 (02:16).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It is the same pipe as last November.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Samuel: “It might be” — needs maintenance records.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62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Nobody was on site at 11.40 p.m.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N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No badge after 20:19 — but a log only records badges.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a log cannot say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KEY IDEA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Livret p. 16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1004011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absence of a record is </a:t>
            </a: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not</a:t>
            </a: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proof of absence.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3346704"/>
            <a:ext cx="10040112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The log shows no badge between 20:19 and 06:47. It does </a:t>
            </a:r>
            <a:r>
              <a:rPr lang="en-US" sz="2000" b="1" dirty="0">
                <a:solidFill>
                  <a:schemeClr val="bg2"/>
                </a:solidFill>
              </a:rPr>
              <a:t>not</a:t>
            </a:r>
            <a:r>
              <a:rPr lang="en-US" sz="2000" dirty="0">
                <a:solidFill>
                  <a:schemeClr val="bg2"/>
                </a:solidFill>
              </a:rPr>
              <a:t> show that nobody was in the building.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In a report: </a:t>
            </a:r>
            <a:r>
              <a:rPr lang="en-US" sz="2000" i="1" dirty="0">
                <a:solidFill>
                  <a:schemeClr val="bg2"/>
                </a:solidFill>
              </a:rPr>
              <a:t>No access was recorded between 20:19 and 06:47.</a:t>
            </a:r>
            <a:r>
              <a:rPr lang="en-US" sz="2000" dirty="0">
                <a:solidFill>
                  <a:schemeClr val="bg2"/>
                </a:solidFill>
              </a:rPr>
              <a:t> ✓ — </a:t>
            </a:r>
            <a:r>
              <a:rPr lang="en-US" sz="2000" i="1" dirty="0">
                <a:solidFill>
                  <a:schemeClr val="bg2"/>
                </a:solidFill>
              </a:rPr>
              <a:t>Nobody was on site.</a:t>
            </a:r>
            <a:r>
              <a:rPr lang="en-US" sz="2000" dirty="0">
                <a:solidFill>
                  <a:schemeClr val="bg2"/>
                </a:solidFill>
              </a:rPr>
              <a:t> ✗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Sent, delivered, read, acknowledged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 · IT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2553462" cy="3895344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96187" y="1664208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496187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395728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sent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72968"/>
            <a:ext cx="227914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system </a:t>
            </a:r>
            <a:r>
              <a:rPr lang="en-US" sz="1700" b="1" dirty="0">
                <a:solidFill>
                  <a:schemeClr val="tx1"/>
                </a:solidFill>
              </a:rPr>
              <a:t>sent</a:t>
            </a:r>
            <a:r>
              <a:rPr lang="en-US" sz="1700" dirty="0">
                <a:solidFill>
                  <a:schemeClr val="tx1"/>
                </a:solidFill>
              </a:rPr>
              <a:t> the alert (23:42).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Proves: the alarm worked.</a:t>
            </a:r>
            <a:endParaRPr lang="en-US" sz="17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78" y="1883664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394710" y="1481328"/>
            <a:ext cx="2553462" cy="3895344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342257" y="166420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342257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504438" y="2395728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delivered / received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531870" y="3172968"/>
            <a:ext cx="227914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network </a:t>
            </a:r>
            <a:r>
              <a:rPr lang="en-US" sz="1700" b="1" dirty="0">
                <a:solidFill>
                  <a:schemeClr val="tx1"/>
                </a:solidFill>
              </a:rPr>
              <a:t>delivered</a:t>
            </a:r>
            <a:r>
              <a:rPr lang="en-US" sz="1700" dirty="0">
                <a:solidFill>
                  <a:schemeClr val="tx1"/>
                </a:solidFill>
              </a:rPr>
              <a:t> it; the phone </a:t>
            </a:r>
            <a:r>
              <a:rPr lang="en-US" sz="1700" b="1" dirty="0">
                <a:solidFill>
                  <a:schemeClr val="tx1"/>
                </a:solidFill>
              </a:rPr>
              <a:t>received</a:t>
            </a:r>
            <a:r>
              <a:rPr lang="en-US" sz="1700" dirty="0">
                <a:solidFill>
                  <a:schemeClr val="tx1"/>
                </a:solidFill>
              </a:rPr>
              <a:t> it.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Proves: somebody </a:t>
            </a:r>
            <a:r>
              <a:rPr lang="en-US" sz="1700" b="1" dirty="0">
                <a:solidFill>
                  <a:schemeClr val="tx1"/>
                </a:solidFill>
              </a:rPr>
              <a:t>could</a:t>
            </a:r>
            <a:r>
              <a:rPr lang="en-US" sz="1700" dirty="0">
                <a:solidFill>
                  <a:schemeClr val="tx1"/>
                </a:solidFill>
              </a:rPr>
              <a:t> have known.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748" y="1883664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0780" y="1481328"/>
            <a:ext cx="2553462" cy="3895344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88327" y="1664208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188327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350508" y="2395728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read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6377940" y="3172968"/>
            <a:ext cx="227914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Somebody </a:t>
            </a:r>
            <a:r>
              <a:rPr lang="en-US" sz="1700" b="1" dirty="0">
                <a:solidFill>
                  <a:schemeClr val="tx1"/>
                </a:solidFill>
              </a:rPr>
              <a:t>opened</a:t>
            </a:r>
            <a:r>
              <a:rPr lang="en-US" sz="1700" dirty="0">
                <a:solidFill>
                  <a:schemeClr val="tx1"/>
                </a:solidFill>
              </a:rPr>
              <a:t> it.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Not in Exhibit A.</a:t>
            </a:r>
            <a:endParaRPr lang="en-US" sz="17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818" y="1883664"/>
            <a:ext cx="219456" cy="219456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086850" y="1481328"/>
            <a:ext cx="2553462" cy="3895344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034397" y="1664208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034397" y="1664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9196578" y="2395728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acknowledged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24010" y="3172968"/>
            <a:ext cx="227914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Somebody </a:t>
            </a:r>
            <a:r>
              <a:rPr lang="en-US" sz="1700" b="1" dirty="0">
                <a:solidFill>
                  <a:schemeClr val="tx1"/>
                </a:solidFill>
              </a:rPr>
              <a:t>confirmed</a:t>
            </a:r>
            <a:r>
              <a:rPr lang="en-US" sz="1700" dirty="0">
                <a:solidFill>
                  <a:schemeClr val="tx1"/>
                </a:solidFill>
              </a:rPr>
              <a:t> it (pressed OK, replied).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Proves: somebody </a:t>
            </a:r>
            <a:r>
              <a:rPr lang="en-US" sz="1700" b="1" dirty="0">
                <a:solidFill>
                  <a:schemeClr val="tx1"/>
                </a:solidFill>
              </a:rPr>
              <a:t>knew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3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>
                <a:alpha val="70000"/>
              </a:scheme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À retenir — </a:t>
            </a:r>
            <a:r>
              <a:rPr lang="en-US" sz="1700" dirty="0">
                <a:solidFill>
                  <a:schemeClr val="tx1"/>
                </a:solidFill>
              </a:rPr>
              <a:t>Only </a:t>
            </a:r>
            <a:r>
              <a:rPr lang="en-US" sz="1700" b="1" dirty="0">
                <a:solidFill>
                  <a:schemeClr val="tx1"/>
                </a:solidFill>
              </a:rPr>
              <a:t>acknowledged</a:t>
            </a:r>
            <a:r>
              <a:rPr lang="en-US" sz="1700" dirty="0">
                <a:solidFill>
                  <a:schemeClr val="tx1"/>
                </a:solidFill>
              </a:rPr>
              <a:t> proves that somebody </a:t>
            </a:r>
            <a:r>
              <a:rPr lang="en-US" sz="1700" b="1" dirty="0">
                <a:solidFill>
                  <a:schemeClr val="tx1"/>
                </a:solidFill>
              </a:rPr>
              <a:t>knew</a:t>
            </a:r>
            <a:r>
              <a:rPr lang="en-US" sz="1700" dirty="0">
                <a:solidFill>
                  <a:schemeClr val="tx1"/>
                </a:solidFill>
              </a:rPr>
              <a:t>. </a:t>
            </a:r>
            <a:r>
              <a:rPr lang="en-US" sz="1700" i="1" dirty="0">
                <a:solidFill>
                  <a:schemeClr val="tx1"/>
                </a:solidFill>
              </a:rPr>
              <a:t>Delivered</a:t>
            </a:r>
            <a:r>
              <a:rPr lang="en-US" sz="1700" dirty="0">
                <a:solidFill>
                  <a:schemeClr val="tx1"/>
                </a:solidFill>
              </a:rPr>
              <a:t> proves that somebody </a:t>
            </a:r>
            <a:r>
              <a:rPr lang="en-US" sz="1700" b="1" dirty="0">
                <a:solidFill>
                  <a:schemeClr val="tx1"/>
                </a:solidFill>
              </a:rPr>
              <a:t>could</a:t>
            </a:r>
            <a:r>
              <a:rPr lang="en-US" sz="1700" dirty="0">
                <a:solidFill>
                  <a:schemeClr val="tx1"/>
                </a:solidFill>
              </a:rPr>
              <a:t> have known.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eye on Exhibit A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0E7C6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691640"/>
            <a:ext cx="347472" cy="3474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The notification at 23:42 was </a:t>
            </a:r>
            <a:r>
              <a:rPr lang="en-US" sz="2100" b="1" dirty="0">
                <a:solidFill>
                  <a:schemeClr val="tx1"/>
                </a:solidFill>
              </a:rPr>
              <a:t>delivered</a:t>
            </a:r>
            <a:r>
              <a:rPr lang="en-US" sz="2100" dirty="0">
                <a:solidFill>
                  <a:schemeClr val="tx1"/>
                </a:solidFill>
              </a:rPr>
              <a:t>. What is the difference between </a:t>
            </a:r>
            <a:r>
              <a:rPr lang="en-US" sz="2100" i="1" dirty="0">
                <a:solidFill>
                  <a:schemeClr val="tx1"/>
                </a:solidFill>
              </a:rPr>
              <a:t>delivered</a:t>
            </a:r>
            <a:r>
              <a:rPr lang="en-US" sz="2100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received</a:t>
            </a:r>
            <a:r>
              <a:rPr lang="en-US" sz="2100" dirty="0">
                <a:solidFill>
                  <a:schemeClr val="tx1"/>
                </a:solidFill>
              </a:rPr>
              <a:t> and </a:t>
            </a:r>
            <a:r>
              <a:rPr lang="en-US" sz="2100" i="1" dirty="0">
                <a:solidFill>
                  <a:schemeClr val="tx1"/>
                </a:solidFill>
              </a:rPr>
              <a:t>acknowledged</a:t>
            </a:r>
            <a:r>
              <a:rPr lang="en-US" sz="2100" dirty="0">
                <a:solidFill>
                  <a:schemeClr val="tx1"/>
                </a:solidFill>
              </a:rPr>
              <a:t> — and which would the insurer accept as proof that somebody knew?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6208776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45936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8B3A2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69164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45936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LAW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7351776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Line 20:04 shows a badge entry after the works ended. What does an access log establish, and what does it </a:t>
            </a:r>
            <a:r>
              <a:rPr lang="en-US" sz="2100" b="1" dirty="0">
                <a:solidFill>
                  <a:schemeClr val="tx1"/>
                </a:solidFill>
              </a:rPr>
              <a:t>not</a:t>
            </a:r>
            <a:r>
              <a:rPr lang="en-US" sz="2100" dirty="0">
                <a:solidFill>
                  <a:schemeClr val="tx1"/>
                </a:solidFill>
              </a:rPr>
              <a:t> establish? Would you put badge number 0102 in a written report today?</a:t>
            </a:r>
            <a:endParaRPr lang="en-US" sz="21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5800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1F4E7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1081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ACC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691640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Unit 3 shut down at 02:16. Before anything is repaired, what figure do you need and </a:t>
            </a:r>
            <a:r>
              <a:rPr lang="en-US" sz="2100" b="1" dirty="0">
                <a:solidFill>
                  <a:schemeClr val="tx1"/>
                </a:solidFill>
              </a:rPr>
              <a:t>from whom</a:t>
            </a:r>
            <a:r>
              <a:rPr lang="en-US" sz="2100" dirty="0">
                <a:solidFill>
                  <a:schemeClr val="tx1"/>
                </a:solidFill>
              </a:rPr>
              <a:t>? Name two documents you would ask for this morning.</a:t>
            </a:r>
            <a:endParaRPr lang="en-US" sz="2100" dirty="0"/>
          </a:p>
        </p:txBody>
      </p:sp>
      <p:sp>
        <p:nvSpPr>
          <p:cNvPr id="21" name="Shape 15"/>
          <p:cNvSpPr/>
          <p:nvPr/>
        </p:nvSpPr>
        <p:spPr>
          <a:xfrm>
            <a:off x="6208776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45936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B8782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10812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345936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351776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A humidity alarm followed the temperature alarm three minutes later. What does that sequence usually mean about </a:t>
            </a:r>
            <a:r>
              <a:rPr lang="en-US" sz="2100" b="1" dirty="0">
                <a:solidFill>
                  <a:schemeClr val="tx1"/>
                </a:solidFill>
              </a:rPr>
              <a:t>where</a:t>
            </a:r>
            <a:r>
              <a:rPr lang="en-US" sz="2100" dirty="0">
                <a:solidFill>
                  <a:schemeClr val="tx1"/>
                </a:solidFill>
              </a:rPr>
              <a:t> the water came from — above the ceiling or below the floor?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Your eye on Exhibit A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230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EXPERT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2814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0E7C6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69164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notification at 23:42 was </a:t>
            </a:r>
            <a:r>
              <a:rPr lang="en-US" sz="1500" b="1" dirty="0">
                <a:solidFill>
                  <a:schemeClr val="tx1"/>
                </a:solidFill>
              </a:rPr>
              <a:t>delivered</a:t>
            </a:r>
            <a:r>
              <a:rPr lang="en-US" sz="1500" dirty="0">
                <a:solidFill>
                  <a:schemeClr val="tx1"/>
                </a:solidFill>
              </a:rPr>
              <a:t>. What is the difference between </a:t>
            </a:r>
            <a:r>
              <a:rPr lang="en-US" sz="1500" i="1" dirty="0">
                <a:solidFill>
                  <a:schemeClr val="tx1"/>
                </a:solidFill>
              </a:rPr>
              <a:t>delivered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i="1" dirty="0">
                <a:solidFill>
                  <a:schemeClr val="tx1"/>
                </a:solidFill>
              </a:rPr>
              <a:t>received</a:t>
            </a:r>
            <a:r>
              <a:rPr lang="en-US" sz="1500" dirty="0">
                <a:solidFill>
                  <a:schemeClr val="tx1"/>
                </a:solidFill>
              </a:rPr>
              <a:t> and </a:t>
            </a:r>
            <a:r>
              <a:rPr lang="en-US" sz="1500" i="1" dirty="0">
                <a:solidFill>
                  <a:schemeClr val="tx1"/>
                </a:solidFill>
              </a:rPr>
              <a:t>acknowledged</a:t>
            </a:r>
            <a:r>
              <a:rPr lang="en-US" sz="1500" dirty="0">
                <a:solidFill>
                  <a:schemeClr val="tx1"/>
                </a:solidFill>
              </a:rPr>
              <a:t> — and which would the insurer accept as proof that somebody knew?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→ </a:t>
            </a:r>
            <a:r>
              <a:rPr lang="en-US" sz="1500" i="1" dirty="0">
                <a:solidFill>
                  <a:schemeClr val="accent3"/>
                </a:solidFill>
              </a:rPr>
              <a:t>Delivered / received</a:t>
            </a:r>
            <a:r>
              <a:rPr lang="en-US" sz="1500" dirty="0">
                <a:solidFill>
                  <a:schemeClr val="accent3"/>
                </a:solidFill>
              </a:rPr>
              <a:t> = the message reached the phone. </a:t>
            </a:r>
            <a:r>
              <a:rPr lang="en-US" sz="1500" i="1" dirty="0">
                <a:solidFill>
                  <a:schemeClr val="accent3"/>
                </a:solidFill>
              </a:rPr>
              <a:t>Acknowledged</a:t>
            </a:r>
            <a:r>
              <a:rPr lang="en-US" sz="1500" dirty="0">
                <a:solidFill>
                  <a:schemeClr val="accent3"/>
                </a:solidFill>
              </a:rPr>
              <a:t> = a person confirmed it. Only </a:t>
            </a:r>
            <a:r>
              <a:rPr lang="en-US" sz="1500" b="1" dirty="0">
                <a:solidFill>
                  <a:schemeClr val="accent3"/>
                </a:solidFill>
              </a:rPr>
              <a:t>acknowledged</a:t>
            </a:r>
            <a:r>
              <a:rPr lang="en-US" sz="1500" dirty="0">
                <a:solidFill>
                  <a:schemeClr val="accent3"/>
                </a:solidFill>
              </a:rPr>
              <a:t> proves that somebody knew.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08776" y="1481328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345936" y="1618488"/>
            <a:ext cx="868680" cy="868680"/>
          </a:xfrm>
          <a:prstGeom prst="roundRect">
            <a:avLst>
              <a:gd name="adj" fmla="val 8421"/>
            </a:avLst>
          </a:prstGeom>
          <a:solidFill>
            <a:srgbClr val="8B3A2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691640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45936" y="20848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LAW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7351776" y="1591056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Line 20:04 shows a badge entry after the works ended. What does an access log establish, and what does it </a:t>
            </a:r>
            <a:r>
              <a:rPr lang="en-US" sz="1500" b="1" dirty="0">
                <a:solidFill>
                  <a:schemeClr val="tx1"/>
                </a:solidFill>
              </a:rPr>
              <a:t>not</a:t>
            </a:r>
            <a:r>
              <a:rPr lang="en-US" sz="1500" dirty="0">
                <a:solidFill>
                  <a:schemeClr val="tx1"/>
                </a:solidFill>
              </a:rPr>
              <a:t> establish? Would you put badge number 0102 in a written report today?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→ </a:t>
            </a:r>
            <a:r>
              <a:rPr lang="en-US" sz="1500" dirty="0">
                <a:solidFill>
                  <a:schemeClr val="accent3"/>
                </a:solidFill>
              </a:rPr>
              <a:t>It establishes that </a:t>
            </a:r>
            <a:r>
              <a:rPr lang="en-US" sz="1500" b="1" dirty="0">
                <a:solidFill>
                  <a:schemeClr val="accent3"/>
                </a:solidFill>
              </a:rPr>
              <a:t>a badge</a:t>
            </a:r>
            <a:r>
              <a:rPr lang="en-US" sz="1500" dirty="0">
                <a:solidFill>
                  <a:schemeClr val="accent3"/>
                </a:solidFill>
              </a:rPr>
              <a:t> was used at a given time — not </a:t>
            </a:r>
            <a:r>
              <a:rPr lang="en-US" sz="1500" b="1" dirty="0">
                <a:solidFill>
                  <a:schemeClr val="accent3"/>
                </a:solidFill>
              </a:rPr>
              <a:t>who</a:t>
            </a:r>
            <a:r>
              <a:rPr lang="en-US" sz="1500" dirty="0">
                <a:solidFill>
                  <a:schemeClr val="accent3"/>
                </a:solidFill>
              </a:rPr>
              <a:t> carried it, nor </a:t>
            </a:r>
            <a:r>
              <a:rPr lang="en-US" sz="1500" b="1" dirty="0">
                <a:solidFill>
                  <a:schemeClr val="accent3"/>
                </a:solidFill>
              </a:rPr>
              <a:t>what</a:t>
            </a:r>
            <a:r>
              <a:rPr lang="en-US" sz="1500" dirty="0">
                <a:solidFill>
                  <a:schemeClr val="accent3"/>
                </a:solidFill>
              </a:rPr>
              <a:t> they did. </a:t>
            </a:r>
            <a:r>
              <a:rPr lang="en-US" sz="1500" b="1" dirty="0">
                <a:solidFill>
                  <a:schemeClr val="accent3"/>
                </a:solidFill>
              </a:rPr>
              <a:t>No</a:t>
            </a:r>
            <a:r>
              <a:rPr lang="en-US" sz="1500" dirty="0">
                <a:solidFill>
                  <a:schemeClr val="accent3"/>
                </a:solidFill>
              </a:rPr>
              <a:t>: a badge number identifies a person and reads as an accusation.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85800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1F4E7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10812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5800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ACC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Unit 3 shut down at 02:16. Before anything is repaired, what figure do you need and </a:t>
            </a:r>
            <a:r>
              <a:rPr lang="en-US" sz="1500" b="1" dirty="0">
                <a:solidFill>
                  <a:schemeClr val="tx1"/>
                </a:solidFill>
              </a:rPr>
              <a:t>from whom</a:t>
            </a:r>
            <a:r>
              <a:rPr lang="en-US" sz="1500" dirty="0">
                <a:solidFill>
                  <a:schemeClr val="tx1"/>
                </a:solidFill>
              </a:rPr>
              <a:t>? Name two documents you would ask for this morning.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→ </a:t>
            </a:r>
            <a:r>
              <a:rPr lang="en-US" sz="1500" dirty="0">
                <a:solidFill>
                  <a:schemeClr val="accent3"/>
                </a:solidFill>
              </a:rPr>
              <a:t>The </a:t>
            </a:r>
            <a:r>
              <a:rPr lang="en-US" sz="1500" b="1" dirty="0">
                <a:solidFill>
                  <a:schemeClr val="accent3"/>
                </a:solidFill>
              </a:rPr>
              <a:t>repair or replacement cost</a:t>
            </a:r>
            <a:r>
              <a:rPr lang="en-US" sz="1500" dirty="0">
                <a:solidFill>
                  <a:schemeClr val="accent3"/>
                </a:solidFill>
              </a:rPr>
              <a:t> of unit 3 (+ cost of downtime), from the </a:t>
            </a:r>
            <a:r>
              <a:rPr lang="en-US" sz="1500" b="1" dirty="0">
                <a:solidFill>
                  <a:schemeClr val="accent3"/>
                </a:solidFill>
              </a:rPr>
              <a:t>IT provider</a:t>
            </a:r>
            <a:r>
              <a:rPr lang="en-US" sz="1500" dirty="0">
                <a:solidFill>
                  <a:schemeClr val="accent3"/>
                </a:solidFill>
              </a:rPr>
              <a:t>. Documents: a </a:t>
            </a:r>
            <a:r>
              <a:rPr lang="en-US" sz="1500" b="1" dirty="0">
                <a:solidFill>
                  <a:schemeClr val="accent3"/>
                </a:solidFill>
              </a:rPr>
              <a:t>written estimate</a:t>
            </a:r>
            <a:r>
              <a:rPr lang="en-US" sz="1500" dirty="0">
                <a:solidFill>
                  <a:schemeClr val="accent3"/>
                </a:solidFill>
              </a:rPr>
              <a:t> and the </a:t>
            </a:r>
            <a:r>
              <a:rPr lang="en-US" sz="1500" b="1" dirty="0">
                <a:solidFill>
                  <a:schemeClr val="accent3"/>
                </a:solidFill>
              </a:rPr>
              <a:t>insurance policy</a:t>
            </a:r>
            <a:r>
              <a:rPr lang="en-US" sz="1500" dirty="0">
                <a:solidFill>
                  <a:schemeClr val="accent3"/>
                </a:solidFill>
              </a:rPr>
              <a:t> (cover, excess).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6208776" y="4000500"/>
            <a:ext cx="5431536" cy="2290572"/>
          </a:xfrm>
          <a:prstGeom prst="roundRect">
            <a:avLst>
              <a:gd name="adj" fmla="val 319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45936" y="4137660"/>
            <a:ext cx="868680" cy="868680"/>
          </a:xfrm>
          <a:prstGeom prst="roundRect">
            <a:avLst>
              <a:gd name="adj" fmla="val 8421"/>
            </a:avLst>
          </a:prstGeom>
          <a:solidFill>
            <a:srgbClr val="B878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4210812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345936" y="46040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351776" y="4110228"/>
            <a:ext cx="4151376" cy="2071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humidity alarm followed the temperature alarm three minutes later. What does that sequence usually mean about </a:t>
            </a:r>
            <a:r>
              <a:rPr lang="en-US" sz="1500" b="1" dirty="0">
                <a:solidFill>
                  <a:schemeClr val="tx1"/>
                </a:solidFill>
              </a:rPr>
              <a:t>where</a:t>
            </a:r>
            <a:r>
              <a:rPr lang="en-US" sz="1500" dirty="0">
                <a:solidFill>
                  <a:schemeClr val="tx1"/>
                </a:solidFill>
              </a:rPr>
              <a:t> the water came from — above the ceiling or below the floor?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→ </a:t>
            </a:r>
            <a:r>
              <a:rPr lang="en-US" sz="1500" dirty="0">
                <a:solidFill>
                  <a:schemeClr val="accent3"/>
                </a:solidFill>
              </a:rPr>
              <a:t>A fast sequence </a:t>
            </a:r>
            <a:r>
              <a:rPr lang="en-US" sz="1500" b="1" dirty="0">
                <a:solidFill>
                  <a:schemeClr val="accent3"/>
                </a:solidFill>
              </a:rPr>
              <a:t>suggests</a:t>
            </a:r>
            <a:r>
              <a:rPr lang="en-US" sz="1500" dirty="0">
                <a:solidFill>
                  <a:schemeClr val="accent3"/>
                </a:solidFill>
              </a:rPr>
              <a:t> water coming </a:t>
            </a:r>
            <a:r>
              <a:rPr lang="en-US" sz="1500" b="1" dirty="0">
                <a:solidFill>
                  <a:schemeClr val="accent3"/>
                </a:solidFill>
              </a:rPr>
              <a:t>from above</a:t>
            </a:r>
            <a:r>
              <a:rPr lang="en-US" sz="1500" dirty="0">
                <a:solidFill>
                  <a:schemeClr val="accent3"/>
                </a:solidFill>
              </a:rPr>
              <a:t> (ceiling pipework) onto the equipment. A </a:t>
            </a:r>
            <a:r>
              <a:rPr lang="en-US" sz="1500" b="1" dirty="0">
                <a:solidFill>
                  <a:schemeClr val="accent3"/>
                </a:solidFill>
              </a:rPr>
              <a:t>hypothesis</a:t>
            </a:r>
            <a:r>
              <a:rPr lang="en-US" sz="1500" dirty="0">
                <a:solidFill>
                  <a:schemeClr val="accent3"/>
                </a:solidFill>
              </a:rPr>
              <a:t> — to be checked on site, and in the basement.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Explain your field in plain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16–17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DEFINE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 my field, </a:t>
            </a:r>
            <a:r>
              <a:rPr lang="en-US" sz="2000" b="1" i="1" dirty="0">
                <a:solidFill>
                  <a:schemeClr val="tx1"/>
                </a:solidFill>
              </a:rPr>
              <a:t>delivered</a:t>
            </a:r>
            <a:r>
              <a:rPr lang="en-US" sz="2000" dirty="0">
                <a:solidFill>
                  <a:schemeClr val="tx1"/>
                </a:solidFill>
              </a:rPr>
              <a:t> means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Put simply,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It’s a bit like 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LIMIT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What it </a:t>
            </a:r>
            <a:r>
              <a:rPr lang="en-US" sz="2000" b="1" dirty="0">
                <a:solidFill>
                  <a:schemeClr val="tx1"/>
                </a:solidFill>
              </a:rPr>
              <a:t>shows</a:t>
            </a:r>
            <a:r>
              <a:rPr lang="en-US" sz="2000" dirty="0">
                <a:solidFill>
                  <a:schemeClr val="tx1"/>
                </a:solidFill>
              </a:rPr>
              <a:t> is … What it </a:t>
            </a:r>
            <a:r>
              <a:rPr lang="en-US" sz="2000" b="1" dirty="0">
                <a:solidFill>
                  <a:schemeClr val="tx1"/>
                </a:solidFill>
              </a:rPr>
              <a:t>doesn’t show</a:t>
            </a:r>
            <a:r>
              <a:rPr lang="en-US" sz="2000" dirty="0">
                <a:solidFill>
                  <a:schemeClr val="tx1"/>
                </a:solidFill>
              </a:rPr>
              <a:t> is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It </a:t>
            </a:r>
            <a:r>
              <a:rPr lang="en-US" sz="2000" b="1" dirty="0">
                <a:solidFill>
                  <a:schemeClr val="tx1"/>
                </a:solidFill>
              </a:rPr>
              <a:t>proves</a:t>
            </a:r>
            <a:r>
              <a:rPr lang="en-US" sz="2000" dirty="0">
                <a:solidFill>
                  <a:schemeClr val="tx1"/>
                </a:solidFill>
              </a:rPr>
              <a:t> that … but not </a:t>
            </a:r>
            <a:r>
              <a:rPr lang="en-US" sz="2000" b="1" dirty="0">
                <a:solidFill>
                  <a:schemeClr val="tx1"/>
                </a:solidFill>
              </a:rPr>
              <a:t>who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b="1" dirty="0">
                <a:solidFill>
                  <a:schemeClr val="tx1"/>
                </a:solidFill>
              </a:rPr>
              <a:t>why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4809744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ADVISE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b="1" dirty="0">
                <a:solidFill>
                  <a:schemeClr val="tx1"/>
                </a:solidFill>
              </a:rPr>
              <a:t>would / wouldn’t</a:t>
            </a:r>
            <a:r>
              <a:rPr lang="en-US" sz="2000" dirty="0">
                <a:solidFill>
                  <a:schemeClr val="tx1"/>
                </a:solidFill>
              </a:rPr>
              <a:t> … </a:t>
            </a:r>
            <a:r>
              <a:rPr lang="en-US" sz="2000" b="1" dirty="0">
                <a:solidFill>
                  <a:schemeClr val="tx1"/>
                </a:solidFill>
              </a:rPr>
              <a:t>because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Before …, we </a:t>
            </a:r>
            <a:r>
              <a:rPr lang="en-US" sz="2000" b="1" dirty="0">
                <a:solidFill>
                  <a:schemeClr val="tx1"/>
                </a:solidFill>
              </a:rPr>
              <a:t>need</a:t>
            </a:r>
            <a:r>
              <a:rPr lang="en-US" sz="2000" dirty="0">
                <a:solidFill>
                  <a:schemeClr val="tx1"/>
                </a:solidFill>
              </a:rPr>
              <a:t> … </a:t>
            </a:r>
            <a:r>
              <a:rPr lang="en-US" sz="2000" b="1" dirty="0">
                <a:solidFill>
                  <a:schemeClr val="tx1"/>
                </a:solidFill>
              </a:rPr>
              <a:t>from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If I were you, I’d ask for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Proof or not?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Say exactly what each piece of evidence proves — and what it does not.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A badge entry at 20:04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 notification marked “delivered” at 23:42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Photographs timestamped 8.20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Samuel’s memory of “11.40”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An automatic shutdown at 02:16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cleaners’ oral account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Proof or not?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1091672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Say exactly what each piece of evidence proves — and what it does not.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11091672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A badge entry at 20:04 → </a:t>
            </a:r>
            <a:r>
              <a:rPr lang="en-US" sz="2400" b="1" dirty="0">
                <a:solidFill>
                  <a:schemeClr val="accent3"/>
                </a:solidFill>
              </a:rPr>
              <a:t>proves a badge was used — not who used it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 notification marked “delivered” at 23:42 → </a:t>
            </a:r>
            <a:r>
              <a:rPr lang="en-US" sz="2400" b="1" dirty="0">
                <a:solidFill>
                  <a:schemeClr val="accent3"/>
                </a:solidFill>
              </a:rPr>
              <a:t>the phone received it — not that anyone read it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Photographs timestamped 8.20 → </a:t>
            </a:r>
            <a:r>
              <a:rPr lang="en-US" sz="2400" b="1" dirty="0">
                <a:solidFill>
                  <a:schemeClr val="accent3"/>
                </a:solidFill>
              </a:rPr>
              <a:t>the state of the room at 8.20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Samuel’s memory of “11.40” → </a:t>
            </a:r>
            <a:r>
              <a:rPr lang="en-US" sz="2400" b="1" dirty="0">
                <a:solidFill>
                  <a:schemeClr val="accent3"/>
                </a:solidFill>
              </a:rPr>
              <a:t>not a proof — check it against the log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An automatic shutdown at 02:16 → </a:t>
            </a:r>
            <a:r>
              <a:rPr lang="en-US" sz="2400" b="1" dirty="0">
                <a:solidFill>
                  <a:schemeClr val="accent3"/>
                </a:solidFill>
              </a:rPr>
              <a:t>unit 3 stopped — consistent with water damage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The cleaners’ oral account → </a:t>
            </a:r>
            <a:r>
              <a:rPr lang="en-US" sz="2400" b="1" dirty="0">
                <a:solidFill>
                  <a:schemeClr val="accent3"/>
                </a:solidFill>
              </a:rPr>
              <a:t>a testimony — ask for a written, signed statement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Mark looks at the fourth line for a long moment. Then he says: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“Do not write that badge number anywhere. Not yet.”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evidence ladder</a:t>
            </a:r>
            <a:r>
              <a:rPr lang="en-US" sz="1700" dirty="0">
                <a:solidFill>
                  <a:schemeClr val="tx1"/>
                </a:solidFill>
              </a:rPr>
              <a:t>: prove · confirm · show · suggest · does not establish.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Write your expert answer in three sentences (your firm).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Revise the </a:t>
            </a:r>
            <a:r>
              <a:rPr lang="en-US" sz="1700" b="1" dirty="0">
                <a:solidFill>
                  <a:schemeClr val="tx1"/>
                </a:solidFill>
              </a:rPr>
              <a:t>past participles</a:t>
            </a:r>
            <a:r>
              <a:rPr lang="en-US" sz="1700" dirty="0">
                <a:solidFill>
                  <a:schemeClr val="tx1"/>
                </a:solidFill>
              </a:rPr>
              <a:t> (p. 13).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Complete: </a:t>
            </a:r>
            <a:r>
              <a:rPr lang="en-US" sz="1600" i="1" dirty="0">
                <a:solidFill>
                  <a:schemeClr val="bg1"/>
                </a:solidFill>
              </a:rPr>
              <a:t>The badge log proves that … but it does not prove 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08 — Sort the witnesses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