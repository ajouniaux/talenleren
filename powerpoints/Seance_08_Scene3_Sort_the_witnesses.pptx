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e0ff42c-6ad5-72f0-2c70-bab983386fb1}">
          <p14:sldIdLst>
            <p14:sldId id="256"/>
          </p14:sldIdLst>
        </p14:section>
        <p14:section name="Warm-up" id="{5744ddf3-d32f-6b35-c200-5ec2dc19947a}">
          <p14:sldIdLst>
            <p14:sldId id="257"/>
            <p14:sldId id="258"/>
          </p14:sldIdLst>
        </p14:section>
        <p14:section name="The language of evidence" id="{beaaccb6-a75b-1832-c0aa-801866fa3d0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ort the witnesses" id="{30bea224-eeef-9349-5ccb-0c41494c84e2}">
          <p14:sldIdLst>
            <p14:sldId id="265"/>
            <p14:sldId id="266"/>
            <p14:sldId id="267"/>
            <p14:sldId id="268"/>
            <p14:sldId id="269"/>
          </p14:sldIdLst>
        </p14:section>
        <p14:section name="The IT expert" id="{d81a6d0a-2eac-e20f-7ff0-66508f827d0f}">
          <p14:sldIdLst>
            <p14:sldId id="270"/>
            <p14:sldId id="271"/>
            <p14:sldId id="272"/>
            <p14:sldId id="273"/>
            <p14:sldId id="274"/>
          </p14:sldIdLst>
        </p14:section>
        <p14:section name="Your expert" id="{966f6f34-67dc-6706-7c02-8dfdc1e7a37f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lôture" id="{a5b72ce0-fad5-6a46-274b-813a037a1697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8 — Scène 3, livret p. 16–17 : tri des déclarations (P / N / C) et premières questions d’experts.
Objectifs : le langage de la preuve (prove, confirm, show, suggest, does not establish), evidence / proof, « no record ≠ nobody », sent / delivered / read / acknowledged, expliquer son domaine en anglais simple.
Formats variés : cartes-devinettes (warm-up) · remise en ordre (échelle) · intrus · classement P / N / C · repérage dans l’image · remise en ordre (chaîne) · vrai ou faux (écoute) · appariement (expert ↔ question) · texte à corriger (article de presse) · Taboo · jeu de rôle.
Déroulé indicatif (90 min) : warm-up (5') · échelle de la preuve + intrus + arbre (15') · Sort the witnesses (15') · repérage dans l’image + no record (10') · la chaîne d’une alerte + écoute (10') · Your expert (15') · article à corriger (10') · Taboo ou jeu de rôle (10').
Les diapositives GAME et + EXTRA sont facultatives.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 la séance 7 sous forme de devinettes : une équipe lit l’indice, l’autre répond avec la collocation complète.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 la séance 7 sous forme de devinettes : une équipe lit l’indice, l’autre répond avec la collocation complète.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Remise en ordre en binôme, puis lecture de l’échelle de haut en 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Remise en ordre en binôme, puis lecture de l’échelle de haut en 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 6 : intrus de prononciation (rappel de la séance 3) — proved /pruːvd/, confirmed /kənˈfɜːmd/, showed /ʃəʊd/ finissent en /d/ ; established /ɪˈstæblɪʃt/ finit en /t/. Faire prononcer chaque ligne avant de dévoiler.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 6 : intrus de prononciation (rappel de la séance 3) — proved /pruːvd/, confirmed /kənˈfɜːmd/, showed /ʃəʊd/ finissent en /d/ ; established /ɪˈstæblɪʃt/ finit en /t/. Faire prononcer chaque ligne avant de dévoiler.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Individuellement (5 min), puis comparaison par deux : chaque désaccord se règle avec un verbe de l’échelle (proves, suggests…).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Accepter d’autres justifications si elles s’appuient sur le dossier. « The team left at eight » : approximativement juste (19:58), mais la ligne du journal contredit la précision — l’important est d’écrire 19:58. « Two units » : P partiellement (unit 3 seulement dans le journal).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Repérage visuel en binôme : un élève nomme l’objet, l’autre le localise (« The badges are on the right, next to the lanyard »). Prépare la question : qu’est-ce qui constitue une preuve ? Le journal imprimé, oui ; un gobelet de café, non.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Prononciation : lanyard /ˈlænjəd/ · badge /bædʒ/ · highlighted /ˈhaɪlaɪtɪd/.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Idée-clé : l’absence de trace n’est pas une preuve d’absence (porte ouverte, badge prêté, personne restée sur place après 20:19…).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ACK. = acknowledged. Support pour l’expert IT. Selon les systèmes, « received » désigne parfois la réception par l’appareil (≈ delivered) : laisser l’étudiant IT nuancer.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ACK. = acknowledged. Support pour l’expert IT. Selon les systèmes, « received » désigne parfois la réception par l’appareil (≈ delivered) : laisser l’étudiant IT nuancer.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(inventé, cohérent avec l’Exhibit A) :
« Let me explain with a parcel. The shop sends it: that’s “sent”. The courier leaves it at your door: that’s “delivered”. You open it: that’s “read”. And when you sign for it, that’s “acknowledged”. Now, our log stops at “delivered”. So the phone got the alert at 23:42. But we have no record that anybody opened it — and no record that anybody confirmed it. Delivered means somebody could have known. Only acknowledged means somebody knew.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Relire le script (notes de la diapositive précédente) avant cette activité. Correction : faire citer la phrase exacte du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Relire le script (notes de la diapositive précédente) avant cette activité. Correction : faire citer la phrase exacte du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Classement en binôme (3 min). Chaque firme garde ensuite ses deux questions pour l’activité suivante (questions complètes du livret, p. 16–17).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Classement en binôme (3 min). Chaque firme garde ensuite ses deux questions pour l’activité suivante (questions complètes du livret, p. 16–17).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expert prépare sa réponse (5 min) puis l’explique au groupe en 1 minute. Les réponses proposées sont des pistes : valoriser toute réponse argumentée issue du domaine de l’étudiant.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expert prépare sa réponse (5 min) puis l’explique au groupe en 1 minute. Les réponses proposées sont des pistes : valoriser toute réponse argumentée issue du domaine de l’étudiant.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Texte inventé (article fictif). Lecture individuelle, puis comparaison en binôme : pour chaque correction, citer la règle — l’échelle de la preuve, « no record ≠ nobody », ne nommer personne, l’heure vient du journal.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Texte inventé (article fictif). Lecture individuelle, puis comparaison en binôme : pour chaque correction, citer la règle — l’échelle de la preuve, « no record ≠ nobody », ne nommer personne, l’heure vient du journal.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: chaque firme (ACC, IT, LAW, RE) prépare deux cartes Taboo de son domaine. Utiliser les formules « DEFINE » : It’s a thing that… / It’s a person who… / It’s what you do when…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du jeu de rôle de la séance 1. Réponses possibles B : 1. Yes — the cleaners saw it; their entry was recorded at 06:47. 2. No access was recorded after 20:19 — but that does not prove that nobody was there. 3. There is no record that it was read: it was only delivered. 4. It proves that a badge was used — not who carried it. 5. OK, I’ll ask the IT provider for an estimate. 6. I’ll write “an access was recorded”.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Prononciation : evidence /ˈevɪdəns/ · hypothesis /haɪˈpɒθəsɪs/ · acknowledged /əkˈnɒlɪdʒd/ · witness /ˈwɪtnəs/.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Prononciation : evidence /ˈevɪdəns/ · hypothesis /haɪˈpɒθəsɪs/ · acknowledged /əkˈnɒlɪdʒd/ · witness /ˈwɪtnəs/.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08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3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09.05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Sort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the witnesses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At nine o’clock Mark will ask you what holds up.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16–17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50136"/>
            <a:ext cx="5010912" cy="334060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which block is it?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Read the clue — say the </a:t>
            </a:r>
            <a:r>
              <a:rPr lang="en-US" sz="1600" b="1" i="1" dirty="0">
                <a:solidFill>
                  <a:schemeClr val="accent5"/>
                </a:solidFill>
              </a:rPr>
              <a:t>verb + noun</a:t>
            </a:r>
            <a:r>
              <a:rPr lang="en-US" sz="1600" i="1" dirty="0">
                <a:solidFill>
                  <a:schemeClr val="accent5"/>
                </a:solidFill>
              </a:rPr>
              <a:t> block. Teams take turns.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346960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4432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the cleaners did at 6.50, when they called for help.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7185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81578" y="2346960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54730" y="2694432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you do with an insurer after water damage.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19506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4788" y="2346960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77940" y="2694432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the expert will do with the damage this afternoon.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01827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27998" y="2346960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201150" y="2694432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the site manager did at 20:04, on paper.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483608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831080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you must do with Friday’s deadline.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37185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1578" y="4483608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554730" y="4831080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the property manager must do with the floor.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19506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4788" y="4483608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377940" y="4831080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you will do with your report by 5 p.m.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01827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27998" y="4483608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201150" y="4831080"/>
            <a:ext cx="225628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Legal has done to protect the file.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which block is it?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Read the clue — say the </a:t>
            </a:r>
            <a:r>
              <a:rPr lang="en-US" sz="1600" b="1" i="1" dirty="0">
                <a:solidFill>
                  <a:schemeClr val="accent5"/>
                </a:solidFill>
              </a:rPr>
              <a:t>verb + noun</a:t>
            </a:r>
            <a:r>
              <a:rPr lang="en-US" sz="1600" i="1" dirty="0">
                <a:solidFill>
                  <a:schemeClr val="accent5"/>
                </a:solidFill>
              </a:rPr>
              <a:t> block. Teams take turns.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" y="2346960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48712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raise the alarm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29356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donner l’alerte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84626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the cleaners did at 6.50, when they called for help.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7185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81578" y="2346960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554730" y="2648712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file a claim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3554730" y="3229356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déclarer un sinistre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554730" y="3484626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you do with an insurer after water damage.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9506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4788" y="2346960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77940" y="2648712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assess the damage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377940" y="3229356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évaluer les dégâts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77940" y="3484626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the expert will do with the damage this afternoon.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01827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127998" y="2346960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201150" y="2648712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carry out an inspection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9201150" y="3229356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effectuer une inspection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201150" y="3484626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the site manager did at 20:04, on paper.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58368" y="4483608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4785360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meet the deadline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" y="5366004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respecter le délai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5621274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you must do with Friday’s deadline.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37185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481578" y="4483608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3554730" y="4785360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make good the floor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3554730" y="5366004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remettre en état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3554730" y="5621274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the property manager must do with the floor.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9506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304788" y="4483608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377940" y="4785360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draw up a report</a:t>
            </a:r>
            <a:endParaRPr lang="en-US" sz="2200" dirty="0"/>
          </a:p>
        </p:txBody>
      </p:sp>
      <p:sp>
        <p:nvSpPr>
          <p:cNvPr id="41" name="Text 38"/>
          <p:cNvSpPr txBox="1"/>
          <p:nvPr/>
        </p:nvSpPr>
        <p:spPr>
          <a:xfrm>
            <a:off x="6377940" y="5366004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rédiger un rapport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377940" y="5621274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you will do with your report by 5 p.m.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901827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9127998" y="4483608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9201150" y="4785360"/>
            <a:ext cx="225628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take steps</a:t>
            </a:r>
            <a:endParaRPr lang="en-US" sz="2200" dirty="0"/>
          </a:p>
        </p:txBody>
      </p:sp>
      <p:sp>
        <p:nvSpPr>
          <p:cNvPr id="46" name="Text 43"/>
          <p:cNvSpPr txBox="1"/>
          <p:nvPr/>
        </p:nvSpPr>
        <p:spPr>
          <a:xfrm>
            <a:off x="9201150" y="5366004"/>
            <a:ext cx="22562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prendre des mesures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201150" y="5621274"/>
            <a:ext cx="225628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Legal has done to protect the file.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Build the evidence ladder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Put the five verbs in order — from the </a:t>
            </a:r>
            <a:r>
              <a:rPr lang="en-US" sz="1600" b="1" i="1" dirty="0">
                <a:solidFill>
                  <a:schemeClr val="accent5"/>
                </a:solidFill>
              </a:rPr>
              <a:t>strongest</a:t>
            </a:r>
            <a:r>
              <a:rPr lang="en-US" sz="1600" i="1" dirty="0">
                <a:solidFill>
                  <a:schemeClr val="accent5"/>
                </a:solidFill>
              </a:rPr>
              <a:t> (100 %) to the </a:t>
            </a:r>
            <a:r>
              <a:rPr lang="en-US" sz="1600" b="1" i="1" dirty="0">
                <a:solidFill>
                  <a:schemeClr val="accent5"/>
                </a:solidFill>
              </a:rPr>
              <a:t>weakest</a:t>
            </a:r>
            <a:r>
              <a:rPr lang="en-US" sz="1600" i="1" dirty="0">
                <a:solidFill>
                  <a:schemeClr val="accent5"/>
                </a:solidFill>
              </a:rPr>
              <a:t> (✗).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37439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24128" y="238353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63040" y="223723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08760" y="223723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humidity alarm </a:t>
            </a:r>
            <a:r>
              <a:rPr lang="en-US" sz="1900" b="1" dirty="0">
                <a:solidFill>
                  <a:schemeClr val="tx1"/>
                </a:solidFill>
              </a:rPr>
              <a:t>suggests</a:t>
            </a:r>
            <a:r>
              <a:rPr lang="en-US" sz="1900" dirty="0">
                <a:solidFill>
                  <a:schemeClr val="tx1"/>
                </a:solidFill>
              </a:rPr>
              <a:t> water near the sensors.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8640" y="310591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24128" y="311505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63040" y="296875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08760" y="296875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badge log </a:t>
            </a:r>
            <a:r>
              <a:rPr lang="en-US" sz="1900" b="1" dirty="0">
                <a:solidFill>
                  <a:schemeClr val="tx1"/>
                </a:solidFill>
              </a:rPr>
              <a:t>proves</a:t>
            </a:r>
            <a:r>
              <a:rPr lang="en-US" sz="1900" dirty="0">
                <a:solidFill>
                  <a:schemeClr val="tx1"/>
                </a:solidFill>
              </a:rPr>
              <a:t> that badge 0102 was used at 20:04.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48640" y="383743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24128" y="38465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63040" y="370027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08760" y="370027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log </a:t>
            </a:r>
            <a:r>
              <a:rPr lang="en-US" sz="1900" b="1" dirty="0">
                <a:solidFill>
                  <a:schemeClr val="tx1"/>
                </a:solidFill>
              </a:rPr>
              <a:t>does not establish</a:t>
            </a:r>
            <a:r>
              <a:rPr lang="en-US" sz="1900" dirty="0">
                <a:solidFill>
                  <a:schemeClr val="tx1"/>
                </a:solidFill>
              </a:rPr>
              <a:t> who carried the badge.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8640" y="456895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24128" y="457809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63040" y="443179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08760" y="443179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photos </a:t>
            </a:r>
            <a:r>
              <a:rPr lang="en-US" sz="1900" b="1" dirty="0">
                <a:solidFill>
                  <a:schemeClr val="tx1"/>
                </a:solidFill>
              </a:rPr>
              <a:t>show</a:t>
            </a:r>
            <a:r>
              <a:rPr lang="en-US" sz="1900" dirty="0">
                <a:solidFill>
                  <a:schemeClr val="tx1"/>
                </a:solidFill>
              </a:rPr>
              <a:t> a soaked floor at 8.20.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548640" y="530047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4128" y="530961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463040" y="516331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508760" y="516331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log </a:t>
            </a:r>
            <a:r>
              <a:rPr lang="en-US" sz="1900" b="1" dirty="0">
                <a:solidFill>
                  <a:schemeClr val="tx1"/>
                </a:solidFill>
              </a:rPr>
              <a:t>confirms</a:t>
            </a:r>
            <a:r>
              <a:rPr lang="en-US" sz="1900" dirty="0">
                <a:solidFill>
                  <a:schemeClr val="tx1"/>
                </a:solidFill>
              </a:rPr>
              <a:t> that unit 3 shut down at 02:16.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Build the evidence ladder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Strongest first. Climb the ladder with the same piece of evidence: </a:t>
            </a:r>
            <a:r>
              <a:rPr lang="en-US" sz="1600" i="1" dirty="0">
                <a:solidFill>
                  <a:schemeClr val="accent5"/>
                </a:solidFill>
              </a:rPr>
              <a:t>The 23:42 line proves… shows… does not establish…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" y="2512162"/>
            <a:ext cx="0" cy="2565197"/>
          </a:xfrm>
          <a:prstGeom prst="line">
            <a:avLst/>
          </a:prstGeom>
          <a:noFill/>
          <a:ln w="31750">
            <a:solidFill>
              <a:srgbClr val="3C7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310994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2237232"/>
            <a:ext cx="384048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463040" y="2237232"/>
            <a:ext cx="10177272" cy="549859"/>
          </a:xfrm>
          <a:prstGeom prst="roundRect">
            <a:avLst>
              <a:gd name="adj" fmla="val 13304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00200" y="2237232"/>
            <a:ext cx="1097280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2237232"/>
            <a:ext cx="8759952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badge log </a:t>
            </a:r>
            <a:r>
              <a:rPr lang="en-US" sz="1900" b="1" dirty="0">
                <a:solidFill>
                  <a:schemeClr val="tx1"/>
                </a:solidFill>
              </a:rPr>
              <a:t>proves</a:t>
            </a:r>
            <a:r>
              <a:rPr lang="en-US" sz="1900" dirty="0">
                <a:solidFill>
                  <a:schemeClr val="tx1"/>
                </a:solidFill>
              </a:rPr>
              <a:t> that badge 0102 was used at 20:04.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94360" y="2952293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" y="2878531"/>
            <a:ext cx="384048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463040" y="2878531"/>
            <a:ext cx="10177272" cy="549859"/>
          </a:xfrm>
          <a:prstGeom prst="roundRect">
            <a:avLst>
              <a:gd name="adj" fmla="val 13304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00200" y="2878531"/>
            <a:ext cx="1097280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697480" y="2878531"/>
            <a:ext cx="8759952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log </a:t>
            </a:r>
            <a:r>
              <a:rPr lang="en-US" sz="1900" b="1" dirty="0">
                <a:solidFill>
                  <a:schemeClr val="tx1"/>
                </a:solidFill>
              </a:rPr>
              <a:t>confirms</a:t>
            </a:r>
            <a:r>
              <a:rPr lang="en-US" sz="1900" dirty="0">
                <a:solidFill>
                  <a:schemeClr val="tx1"/>
                </a:solidFill>
              </a:rPr>
              <a:t> that unit 3 shut down at 02:16.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94360" y="3593592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519830"/>
            <a:ext cx="384048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463040" y="3519830"/>
            <a:ext cx="10177272" cy="549859"/>
          </a:xfrm>
          <a:prstGeom prst="roundRect">
            <a:avLst>
              <a:gd name="adj" fmla="val 13304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600200" y="3519830"/>
            <a:ext cx="1097280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697480" y="3519830"/>
            <a:ext cx="8759952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photos </a:t>
            </a:r>
            <a:r>
              <a:rPr lang="en-US" sz="1900" b="1" dirty="0">
                <a:solidFill>
                  <a:schemeClr val="tx1"/>
                </a:solidFill>
              </a:rPr>
              <a:t>show</a:t>
            </a:r>
            <a:r>
              <a:rPr lang="en-US" sz="1900" dirty="0">
                <a:solidFill>
                  <a:schemeClr val="tx1"/>
                </a:solidFill>
              </a:rPr>
              <a:t> a soaked floor at 8.20.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94360" y="4234891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24128" y="4161130"/>
            <a:ext cx="384048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463040" y="4161130"/>
            <a:ext cx="10177272" cy="549859"/>
          </a:xfrm>
          <a:prstGeom prst="roundRect">
            <a:avLst>
              <a:gd name="adj" fmla="val 13304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00200" y="4161130"/>
            <a:ext cx="1097280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2697480" y="4161130"/>
            <a:ext cx="8759952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humidity alarm </a:t>
            </a:r>
            <a:r>
              <a:rPr lang="en-US" sz="1900" b="1" dirty="0">
                <a:solidFill>
                  <a:schemeClr val="tx1"/>
                </a:solidFill>
              </a:rPr>
              <a:t>suggests</a:t>
            </a:r>
            <a:r>
              <a:rPr lang="en-US" sz="1900" dirty="0">
                <a:solidFill>
                  <a:schemeClr val="tx1"/>
                </a:solidFill>
              </a:rPr>
              <a:t> water near the sensors.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594360" y="4876190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24128" y="4802429"/>
            <a:ext cx="384048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463040" y="4802429"/>
            <a:ext cx="10177272" cy="549859"/>
          </a:xfrm>
          <a:prstGeom prst="roundRect">
            <a:avLst>
              <a:gd name="adj" fmla="val 13304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600200" y="4802429"/>
            <a:ext cx="1097280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NOT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2697480" y="4802429"/>
            <a:ext cx="8759952" cy="54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log </a:t>
            </a:r>
            <a:r>
              <a:rPr lang="en-US" sz="1900" b="1" dirty="0">
                <a:solidFill>
                  <a:schemeClr val="tx1"/>
                </a:solidFill>
              </a:rPr>
              <a:t>does not establish</a:t>
            </a:r>
            <a:r>
              <a:rPr lang="en-US" sz="1900" dirty="0">
                <a:solidFill>
                  <a:schemeClr val="tx1"/>
                </a:solidFill>
              </a:rPr>
              <a:t> who carried the badge.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À retenir — </a:t>
            </a:r>
            <a:r>
              <a:rPr lang="en-US" sz="1800" b="1" dirty="0">
                <a:solidFill>
                  <a:schemeClr val="tx1"/>
                </a:solidFill>
              </a:rPr>
              <a:t>prove · confirm</a:t>
            </a:r>
            <a:r>
              <a:rPr lang="en-US" sz="1800" dirty="0">
                <a:solidFill>
                  <a:schemeClr val="tx1"/>
                </a:solidFill>
              </a:rPr>
              <a:t> = a document records it · </a:t>
            </a:r>
            <a:r>
              <a:rPr lang="en-US" sz="1800" b="1" dirty="0">
                <a:solidFill>
                  <a:schemeClr val="tx1"/>
                </a:solidFill>
              </a:rPr>
              <a:t>show · suggest</a:t>
            </a:r>
            <a:r>
              <a:rPr lang="en-US" sz="1800" dirty="0">
                <a:solidFill>
                  <a:schemeClr val="tx1"/>
                </a:solidFill>
              </a:rPr>
              <a:t> = it makes it likely · </a:t>
            </a:r>
            <a:r>
              <a:rPr lang="en-US" sz="1800" b="1" dirty="0">
                <a:solidFill>
                  <a:schemeClr val="tx1"/>
                </a:solidFill>
              </a:rPr>
              <a:t>does not establish</a:t>
            </a:r>
            <a:r>
              <a:rPr lang="en-US" sz="1800" dirty="0">
                <a:solidFill>
                  <a:schemeClr val="tx1"/>
                </a:solidFill>
              </a:rPr>
              <a:t> = say what is missing.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Find the intruder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Meaning, grammar or pronunciation: one item in each line does not belong.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3418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proves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86435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confirms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1314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establishes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6193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suggests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304495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evidence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86435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proof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1314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record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6193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evidences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3748024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witness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86435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statement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61314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testimony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6193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threshold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51096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sent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86435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delivered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61314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read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36193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repaired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48640" y="515416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1556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hypothesis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286435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guess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61314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fact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36193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assumption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85724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1556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proved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286435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confirmed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61314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showed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36193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EF2F8"/>
          </a:solidFill>
          <a:ln w="1270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established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Find the intruder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Meaning, grammar or pronunciation: one item in each line does not belong.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3418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proves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6435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confirms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1314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establishes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61938" y="231038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suggests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57032" y="2237232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suggests</a:t>
            </a:r>
            <a:r>
              <a:rPr lang="en-US" sz="1600" dirty="0">
                <a:solidFill>
                  <a:schemeClr val="tx2"/>
                </a:solidFill>
              </a:rPr>
              <a:t> — only likely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3044952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evidence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86435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proof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1314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record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61938" y="3013456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evidences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57032" y="2940304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✗ </a:t>
            </a:r>
            <a:r>
              <a:rPr lang="en-US" sz="1600" b="1" dirty="0">
                <a:solidFill>
                  <a:schemeClr val="tx2"/>
                </a:solidFill>
              </a:rPr>
              <a:t>evidences</a:t>
            </a:r>
            <a:r>
              <a:rPr lang="en-US" sz="1600" dirty="0">
                <a:solidFill>
                  <a:schemeClr val="tx2"/>
                </a:solidFill>
              </a:rPr>
              <a:t> — uncountable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3748024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witness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86435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statement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61314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testimony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361938" y="3716528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a threshold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257032" y="3643376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threshold</a:t>
            </a:r>
            <a:r>
              <a:rPr lang="en-US" sz="1600" dirty="0">
                <a:solidFill>
                  <a:schemeClr val="tx2"/>
                </a:solidFill>
              </a:rPr>
              <a:t> — not a person’s words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8640" y="4451096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556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sent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286435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delivered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1314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read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361938" y="4419600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repaired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257032" y="4346448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repaired</a:t>
            </a:r>
            <a:r>
              <a:rPr lang="en-US" sz="1600" dirty="0">
                <a:solidFill>
                  <a:schemeClr val="tx2"/>
                </a:solidFill>
              </a:rPr>
              <a:t> — not a message status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48640" y="5154168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1556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hypothesis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286435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guess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61314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fact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361938" y="5122672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assumption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8257032" y="5049520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fact</a:t>
            </a:r>
            <a:r>
              <a:rPr lang="en-US" sz="1600" dirty="0">
                <a:solidFill>
                  <a:schemeClr val="tx2"/>
                </a:solidFill>
              </a:rPr>
              <a:t> — proved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8640" y="585724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11556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proved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286435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confirmed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461314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E6F0E4"/>
          </a:solidFill>
          <a:ln w="12700">
            <a:solidFill>
              <a:srgbClr val="B9D3B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showed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361938" y="5825744"/>
            <a:ext cx="1620774" cy="410464"/>
          </a:xfrm>
          <a:prstGeom prst="roundRect">
            <a:avLst>
              <a:gd name="adj" fmla="val 26733"/>
            </a:avLst>
          </a:prstGeom>
          <a:solidFill>
            <a:srgbClr val="F6DCD8"/>
          </a:solidFill>
          <a:ln w="254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trike="sngStrike" dirty="0">
                <a:solidFill>
                  <a:schemeClr val="accent6"/>
                </a:solidFill>
              </a:rPr>
              <a:t>established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8257032" y="5752592"/>
            <a:ext cx="3383280" cy="556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</a:t>
            </a:r>
            <a:r>
              <a:rPr lang="en-US" sz="1600" b="1" dirty="0">
                <a:solidFill>
                  <a:schemeClr val="tx2"/>
                </a:solidFill>
              </a:rPr>
              <a:t>established</a:t>
            </a:r>
            <a:r>
              <a:rPr lang="en-US" sz="1600" dirty="0">
                <a:solidFill>
                  <a:schemeClr val="tx2"/>
                </a:solidFill>
              </a:rPr>
              <a:t> — -ed = /t/, not /d/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Evidence is uncountable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B0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PITFALL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25796" cy="3432048"/>
          </a:xfrm>
          <a:prstGeom prst="roundRect">
            <a:avLst>
              <a:gd name="adj" fmla="val 2131"/>
            </a:avLst>
          </a:prstGeom>
          <a:solidFill>
            <a:srgbClr val="B03A2E">
              <a:alpha val="8000"/>
            </a:srgbClr>
          </a:solidFill>
          <a:ln w="15875">
            <a:solidFill>
              <a:srgbClr val="B03A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025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947672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Word for word — wrong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24328"/>
            <a:ext cx="4722876" cy="247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have </a:t>
            </a:r>
            <a:r>
              <a:rPr lang="en-US" sz="2000" strike="sngStrike" dirty="0">
                <a:solidFill>
                  <a:schemeClr val="accent6"/>
                </a:solidFill>
              </a:rPr>
              <a:t>an evidence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Two </a:t>
            </a:r>
            <a:r>
              <a:rPr lang="en-US" sz="2000" strike="sngStrike" dirty="0">
                <a:solidFill>
                  <a:schemeClr val="accent6"/>
                </a:solidFill>
              </a:rPr>
              <a:t>evidences</a:t>
            </a:r>
            <a:r>
              <a:rPr lang="en-US" sz="2000" dirty="0">
                <a:solidFill>
                  <a:schemeClr val="tx1"/>
                </a:solidFill>
              </a:rPr>
              <a:t> contradict Samuel.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log gives </a:t>
            </a:r>
            <a:r>
              <a:rPr lang="en-US" sz="2000" strike="sngStrike" dirty="0">
                <a:solidFill>
                  <a:schemeClr val="accent6"/>
                </a:solidFill>
              </a:rPr>
              <a:t>proofs</a:t>
            </a:r>
            <a:r>
              <a:rPr lang="en-US" sz="2000" dirty="0">
                <a:solidFill>
                  <a:schemeClr val="tx1"/>
                </a:solidFill>
              </a:rPr>
              <a:t> that…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strike="sngStrike" dirty="0">
                <a:solidFill>
                  <a:schemeClr val="accent6"/>
                </a:solidFill>
              </a:rPr>
              <a:t>proves who</a:t>
            </a:r>
            <a:r>
              <a:rPr lang="en-US" sz="2000" dirty="0">
                <a:solidFill>
                  <a:schemeClr val="tx1"/>
                </a:solidFill>
              </a:rPr>
              <a:t> carried the badge.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14516" y="1783080"/>
            <a:ext cx="5225796" cy="3432048"/>
          </a:xfrm>
          <a:prstGeom prst="roundRect">
            <a:avLst>
              <a:gd name="adj" fmla="val 2131"/>
            </a:avLst>
          </a:prstGeom>
          <a:solidFill>
            <a:srgbClr val="3C7A3C">
              <a:alpha val="8000"/>
            </a:srgbClr>
          </a:solidFill>
          <a:ln w="15875">
            <a:solidFill>
              <a:srgbClr val="3C7A3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0025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1756" y="1947672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a professional writes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88836" y="2624328"/>
            <a:ext cx="4722876" cy="247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have </a:t>
            </a:r>
            <a:r>
              <a:rPr lang="en-US" sz="2000" b="1" dirty="0">
                <a:solidFill>
                  <a:schemeClr val="tx1"/>
                </a:solidFill>
              </a:rPr>
              <a:t>a piece of evidence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Two pieces of evidence</a:t>
            </a:r>
            <a:r>
              <a:rPr lang="en-US" sz="2000" dirty="0">
                <a:solidFill>
                  <a:schemeClr val="tx1"/>
                </a:solidFill>
              </a:rPr>
              <a:t> contradict Samuel.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log gives </a:t>
            </a:r>
            <a:r>
              <a:rPr lang="en-US" sz="2000" b="1" dirty="0">
                <a:solidFill>
                  <a:schemeClr val="tx1"/>
                </a:solidFill>
              </a:rPr>
              <a:t>proof</a:t>
            </a:r>
            <a:r>
              <a:rPr lang="en-US" sz="2000" dirty="0">
                <a:solidFill>
                  <a:schemeClr val="tx1"/>
                </a:solidFill>
              </a:rPr>
              <a:t> that…</a:t>
            </a:r>
            <a:endParaRPr lang="en-US" sz="20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does </a:t>
            </a:r>
            <a:r>
              <a:rPr lang="en-US" sz="2000" b="1" dirty="0">
                <a:solidFill>
                  <a:schemeClr val="tx1"/>
                </a:solidFill>
              </a:rPr>
              <a:t>not establish who</a:t>
            </a:r>
            <a:r>
              <a:rPr lang="en-US" sz="2000" dirty="0">
                <a:solidFill>
                  <a:schemeClr val="tx1"/>
                </a:solidFill>
              </a:rPr>
              <a:t> carried the badge.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838444" y="3243072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48" y="3389376"/>
            <a:ext cx="219456" cy="2194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800" i="1" dirty="0">
                <a:solidFill>
                  <a:schemeClr val="tx1"/>
                </a:solidFill>
              </a:rPr>
              <a:t>la preuve, les preuves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evidence</a:t>
            </a:r>
            <a:r>
              <a:rPr lang="en-US" sz="1800" dirty="0">
                <a:solidFill>
                  <a:schemeClr val="tx1"/>
                </a:solidFill>
              </a:rPr>
              <a:t> (indénombrable) ou </a:t>
            </a:r>
            <a:r>
              <a:rPr lang="en-US" sz="1800" b="1" dirty="0">
                <a:solidFill>
                  <a:schemeClr val="tx1"/>
                </a:solidFill>
              </a:rPr>
              <a:t>proof</a:t>
            </a:r>
            <a:r>
              <a:rPr lang="en-US" sz="1800" dirty="0">
                <a:solidFill>
                  <a:schemeClr val="tx1"/>
                </a:solidFill>
              </a:rPr>
              <a:t> (singulier) — jamais </a:t>
            </a:r>
            <a:r>
              <a:rPr lang="en-US" sz="1800" i="1" dirty="0">
                <a:solidFill>
                  <a:schemeClr val="tx1"/>
                </a:solidFill>
              </a:rPr>
              <a:t>an evidence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evidences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proofs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prouver que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prove that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Which verb of evidence?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24762" y="1737360"/>
            <a:ext cx="2756916" cy="384048"/>
          </a:xfrm>
          <a:prstGeom prst="roundRect">
            <a:avLst>
              <a:gd name="adj" fmla="val 47619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document and a fact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03220" y="213969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4709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715768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825496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505456"/>
            <a:ext cx="3867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Does the document </a:t>
            </a:r>
            <a:r>
              <a:rPr lang="en-US" sz="1700" b="1" dirty="0">
                <a:solidFill>
                  <a:schemeClr val="tx2"/>
                </a:solidFill>
              </a:rPr>
              <a:t>record the fact itself</a:t>
            </a:r>
            <a:r>
              <a:rPr lang="en-US" sz="1700" b="1" dirty="0">
                <a:solidFill>
                  <a:schemeClr val="tx2"/>
                </a:solidFill>
              </a:rPr>
              <a:t>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time, the badge, the status is written there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276088" y="2935224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525780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468880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3C7A3C">
              <a:alpha val="12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792" y="2505456"/>
            <a:ext cx="5138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3"/>
                </a:solidFill>
              </a:rPr>
              <a:t>PROVES · CONFIRMS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log </a:t>
            </a:r>
            <a:r>
              <a:rPr lang="en-US" sz="1600" b="1" dirty="0">
                <a:solidFill>
                  <a:schemeClr val="tx1"/>
                </a:solidFill>
              </a:rPr>
              <a:t>confirms</a:t>
            </a:r>
            <a:r>
              <a:rPr lang="en-US" sz="1600" dirty="0">
                <a:solidFill>
                  <a:schemeClr val="tx1"/>
                </a:solidFill>
              </a:rPr>
              <a:t> that unit 3 shut down at 02:16.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903220" y="341985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994660" y="3401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4709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4944" y="3995928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105656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61872" y="3785616"/>
            <a:ext cx="3867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Does it make the fact </a:t>
            </a:r>
            <a:r>
              <a:rPr lang="en-US" sz="1700" b="1" dirty="0">
                <a:solidFill>
                  <a:schemeClr val="tx2"/>
                </a:solidFill>
              </a:rPr>
              <a:t>likely</a:t>
            </a:r>
            <a:r>
              <a:rPr lang="en-US" sz="1700" b="1" dirty="0">
                <a:solidFill>
                  <a:schemeClr val="tx2"/>
                </a:solidFill>
              </a:rPr>
              <a:t> — without recording it?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 clue, an effect, a sequence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276088" y="4215384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525780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172200" y="3749040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C0752A">
              <a:alpha val="12000"/>
            </a:srgbClr>
          </a:solidFill>
          <a:ln w="19050">
            <a:solidFill>
              <a:srgbClr val="C0752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36792" y="3785616"/>
            <a:ext cx="5138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1"/>
                </a:solidFill>
              </a:rPr>
              <a:t>SHOWS · SUGGESTS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humidity alarm </a:t>
            </a:r>
            <a:r>
              <a:rPr lang="en-US" sz="1600" b="1" dirty="0">
                <a:solidFill>
                  <a:schemeClr val="tx1"/>
                </a:solidFill>
              </a:rPr>
              <a:t>suggests</a:t>
            </a:r>
            <a:r>
              <a:rPr lang="en-US" sz="1600" dirty="0">
                <a:solidFill>
                  <a:schemeClr val="tx1"/>
                </a:solidFill>
              </a:rPr>
              <a:t> water near the sensors.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2903220" y="470001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2994660" y="46817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5029200"/>
            <a:ext cx="4709160" cy="932688"/>
          </a:xfrm>
          <a:prstGeom prst="roundRect">
            <a:avLst>
              <a:gd name="adj" fmla="val 7843"/>
            </a:avLst>
          </a:prstGeom>
          <a:solidFill>
            <a:srgbClr val="B03A2E">
              <a:alpha val="12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13232" y="5065776"/>
            <a:ext cx="4379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6"/>
                </a:solidFill>
              </a:rPr>
              <a:t>DOES NOT ESTABLISH — say what is missing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log </a:t>
            </a:r>
            <a:r>
              <a:rPr lang="en-US" sz="1600" b="1" dirty="0">
                <a:solidFill>
                  <a:schemeClr val="tx1"/>
                </a:solidFill>
              </a:rPr>
              <a:t>does not establish</a:t>
            </a:r>
            <a:r>
              <a:rPr lang="en-US" sz="1600" dirty="0">
                <a:solidFill>
                  <a:schemeClr val="tx1"/>
                </a:solidFill>
              </a:rPr>
              <a:t> who carried the badge.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Sort the witnesses before Mark asks you to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statements were made in the room. Put each one in a column — then say </a:t>
            </a:r>
            <a:r>
              <a:rPr lang="en-US" sz="1600" b="1" i="1" dirty="0">
                <a:solidFill>
                  <a:schemeClr val="accent5"/>
                </a:solidFill>
              </a:rPr>
              <a:t>why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1700784"/>
          </a:xfrm>
          <a:prstGeom prst="roundRect">
            <a:avLst>
              <a:gd name="adj" fmla="val 4301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STATEMENTS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369417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water was still running at 6.50.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59552" y="2420112"/>
            <a:ext cx="323189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pipe was leaking all night.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37360" y="2895600"/>
            <a:ext cx="249224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team left at eight.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57624" y="2895600"/>
            <a:ext cx="276961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Two IT units have stopped.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55256" y="2895600"/>
            <a:ext cx="36017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 is the same pipe as in November.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37360" y="3371088"/>
            <a:ext cx="332435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Nobody was on site at 11.40 p.m.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212336"/>
            <a:ext cx="3563112" cy="658368"/>
          </a:xfrm>
          <a:prstGeom prst="roundRect">
            <a:avLst>
              <a:gd name="adj" fmla="val 11111"/>
            </a:avLst>
          </a:prstGeom>
          <a:solidFill>
            <a:srgbClr val="3C7A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212336"/>
            <a:ext cx="338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provable today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925568"/>
            <a:ext cx="3563112" cy="1383792"/>
          </a:xfrm>
          <a:prstGeom prst="roundRect">
            <a:avLst>
              <a:gd name="adj" fmla="val 5286"/>
            </a:avLst>
          </a:prstGeom>
          <a:solidFill>
            <a:srgbClr val="3C7A3C">
              <a:alpha val="6000"/>
            </a:srgbClr>
          </a:solidFill>
          <a:ln w="12700">
            <a:solidFill>
              <a:srgbClr val="3C7A3C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4312920" y="4212336"/>
            <a:ext cx="3563112" cy="658368"/>
          </a:xfrm>
          <a:prstGeom prst="roundRect">
            <a:avLst>
              <a:gd name="adj" fmla="val 11111"/>
            </a:avLst>
          </a:prstGeom>
          <a:solidFill>
            <a:srgbClr val="C075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04360" y="4212336"/>
            <a:ext cx="338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not yet provable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312920" y="4925568"/>
            <a:ext cx="3563112" cy="1383792"/>
          </a:xfrm>
          <a:prstGeom prst="roundRect">
            <a:avLst>
              <a:gd name="adj" fmla="val 5286"/>
            </a:avLst>
          </a:prstGeom>
          <a:solidFill>
            <a:srgbClr val="C0752A">
              <a:alpha val="6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8077200" y="4212336"/>
            <a:ext cx="3563112" cy="658368"/>
          </a:xfrm>
          <a:prstGeom prst="roundRect">
            <a:avLst>
              <a:gd name="adj" fmla="val 11111"/>
            </a:avLst>
          </a:prstGeom>
          <a:solidFill>
            <a:srgbClr val="B03A2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68640" y="4212336"/>
            <a:ext cx="338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C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contradicted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077200" y="4925568"/>
            <a:ext cx="3563112" cy="1383792"/>
          </a:xfrm>
          <a:prstGeom prst="roundRect">
            <a:avLst>
              <a:gd name="adj" fmla="val 5286"/>
            </a:avLst>
          </a:prstGeom>
          <a:solidFill>
            <a:srgbClr val="B03A2E">
              <a:alpha val="6000"/>
            </a:srgbClr>
          </a:solidFill>
          <a:ln w="12700">
            <a:solidFill>
              <a:srgbClr val="B03A2E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Sort the witnesses before Mark asks you to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statements were made in the room. Put each one in a column — then say </a:t>
            </a:r>
            <a:r>
              <a:rPr lang="en-US" sz="1600" b="1" i="1" dirty="0">
                <a:solidFill>
                  <a:schemeClr val="accent5"/>
                </a:solidFill>
              </a:rPr>
              <a:t>why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3563112" cy="438912"/>
          </a:xfrm>
          <a:prstGeom prst="roundRect">
            <a:avLst>
              <a:gd name="adj" fmla="val 16667"/>
            </a:avLst>
          </a:prstGeom>
          <a:solidFill>
            <a:srgbClr val="3C7A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237232"/>
            <a:ext cx="338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  </a:t>
            </a:r>
            <a:r>
              <a:rPr lang="en-US" sz="1200" i="1" dirty="0">
                <a:solidFill>
                  <a:schemeClr val="bg1"/>
                </a:solidFill>
              </a:rPr>
              <a:t>provable today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31008"/>
            <a:ext cx="3563112" cy="3578352"/>
          </a:xfrm>
          <a:prstGeom prst="roundRect">
            <a:avLst>
              <a:gd name="adj" fmla="val 2053"/>
            </a:avLst>
          </a:prstGeom>
          <a:solidFill>
            <a:srgbClr val="3C7A3C">
              <a:alpha val="6000"/>
            </a:srgbClr>
          </a:solidFill>
          <a:ln w="12700">
            <a:solidFill>
              <a:srgbClr val="3C7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822448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Water at 6.50 — the cleaners saw it (06:47)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535680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units — only unit 3 logged (partly)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12920" y="2237232"/>
            <a:ext cx="3563112" cy="438912"/>
          </a:xfrm>
          <a:prstGeom prst="roundRect">
            <a:avLst>
              <a:gd name="adj" fmla="val 16667"/>
            </a:avLst>
          </a:prstGeom>
          <a:solidFill>
            <a:srgbClr val="C075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04360" y="2237232"/>
            <a:ext cx="338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N  </a:t>
            </a:r>
            <a:r>
              <a:rPr lang="en-US" sz="1200" i="1" dirty="0">
                <a:solidFill>
                  <a:schemeClr val="bg1"/>
                </a:solidFill>
              </a:rPr>
              <a:t>not yet provable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12920" y="2731008"/>
            <a:ext cx="3563112" cy="3578352"/>
          </a:xfrm>
          <a:prstGeom prst="roundRect">
            <a:avLst>
              <a:gd name="adj" fmla="val 2053"/>
            </a:avLst>
          </a:prstGeom>
          <a:solidFill>
            <a:srgbClr val="C0752A">
              <a:alpha val="6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22648" y="2822448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Pipe all night — Iris: “I think”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22648" y="3535680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pipe — “might be”: need records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22648" y="4248912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Nobody on site — a log records badges only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7200" y="2237232"/>
            <a:ext cx="3563112" cy="438912"/>
          </a:xfrm>
          <a:prstGeom prst="roundRect">
            <a:avLst>
              <a:gd name="adj" fmla="val 16667"/>
            </a:avLst>
          </a:prstGeom>
          <a:solidFill>
            <a:srgbClr val="B03A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68640" y="2237232"/>
            <a:ext cx="338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C  </a:t>
            </a:r>
            <a:r>
              <a:rPr lang="en-US" sz="1200" i="1" dirty="0">
                <a:solidFill>
                  <a:schemeClr val="bg1"/>
                </a:solidFill>
              </a:rPr>
              <a:t>contradicted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077200" y="2731008"/>
            <a:ext cx="3563112" cy="3578352"/>
          </a:xfrm>
          <a:prstGeom prst="roundRect">
            <a:avLst>
              <a:gd name="adj" fmla="val 2053"/>
            </a:avLst>
          </a:prstGeom>
          <a:solidFill>
            <a:srgbClr val="B03A2E">
              <a:alpha val="6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6928" y="2822448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Team at eight — the log says 19:58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Look at the evidence on the table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 · illustration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Find each item in the picture and </a:t>
            </a:r>
            <a:r>
              <a:rPr lang="en-US" sz="1600" b="1" i="1" dirty="0">
                <a:solidFill>
                  <a:schemeClr val="accent5"/>
                </a:solidFill>
              </a:rPr>
              <a:t>say where it is</a:t>
            </a:r>
            <a:r>
              <a:rPr lang="en-US" sz="1600" i="1" dirty="0">
                <a:solidFill>
                  <a:schemeClr val="accent5"/>
                </a:solidFill>
              </a:rPr>
              <a:t>: </a:t>
            </a:r>
            <a:r>
              <a:rPr lang="en-US" sz="1600" i="1" dirty="0">
                <a:solidFill>
                  <a:schemeClr val="accent5"/>
                </a:solidFill>
              </a:rPr>
              <a:t>on the left, next to, under…</a:t>
            </a:r>
            <a:endParaRPr lang="en-US" sz="1600" dirty="0"/>
          </a:p>
        </p:txBody>
      </p:sp>
      <p:pic>
        <p:nvPicPr>
          <p:cNvPr id="7" name="illustration" descr="Samuel taps the printed log on the table; badges, a phone and coffee cups lie around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7232"/>
            <a:ext cx="6108192" cy="407212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2303678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571232" y="2237232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mobile phone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2710891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571232" y="2644445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printed log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3118104"/>
            <a:ext cx="274320" cy="2743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571232" y="3051658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security poster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3525317"/>
            <a:ext cx="274320" cy="27432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571232" y="3458870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two access badges</a:t>
            </a:r>
            <a:endParaRPr lang="en-US" sz="17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3932530"/>
            <a:ext cx="274320" cy="27432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571232" y="3866083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coffee cup</a:t>
            </a:r>
            <a:endParaRPr lang="en-US" sz="17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56" y="4339742"/>
            <a:ext cx="274320" cy="27432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571232" y="4273296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highlighted line</a:t>
            </a:r>
            <a:endParaRPr lang="en-US" sz="17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7456" y="4746955"/>
            <a:ext cx="274320" cy="27432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7571232" y="4680509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floor plan</a:t>
            </a:r>
            <a:endParaRPr lang="en-US" sz="17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7456" y="5154168"/>
            <a:ext cx="274320" cy="27432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7571232" y="5087722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lanyard</a:t>
            </a:r>
            <a:endParaRPr lang="en-US" sz="17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5561381"/>
            <a:ext cx="274320" cy="27432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7571232" y="5494934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Samuel’s finger</a:t>
            </a:r>
            <a:endParaRPr lang="en-US" sz="17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7456" y="5968594"/>
            <a:ext cx="274320" cy="274320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7571232" y="5902147"/>
            <a:ext cx="406908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Iris’s phone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Look at the evidence on the table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 · illustration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Which of these is </a:t>
            </a:r>
            <a:r>
              <a:rPr lang="en-US" sz="1600" b="1" i="1" dirty="0">
                <a:solidFill>
                  <a:schemeClr val="accent5"/>
                </a:solidFill>
              </a:rPr>
              <a:t>evidence</a:t>
            </a:r>
            <a:r>
              <a:rPr lang="en-US" sz="1600" i="1" dirty="0">
                <a:solidFill>
                  <a:schemeClr val="accent5"/>
                </a:solidFill>
              </a:rPr>
              <a:t>? Which is only a </a:t>
            </a:r>
            <a:r>
              <a:rPr lang="en-US" sz="1600" b="1" i="1" dirty="0">
                <a:solidFill>
                  <a:schemeClr val="accent5"/>
                </a:solidFill>
              </a:rPr>
              <a:t>clue</a:t>
            </a:r>
            <a:r>
              <a:rPr lang="en-US" sz="1600" i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pic>
        <p:nvPicPr>
          <p:cNvPr id="8" name="illustration" descr="Samuel taps the printed log on the table; badges, a phone and coffee cups lie around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7232"/>
            <a:ext cx="6108192" cy="407212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2758257" y="5597980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017307" y="5367754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85633" y="4749021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28846" y="5957709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20249" y="5454089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23869" y="5094360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858935" y="4698659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175679" y="3583500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18664" y="2518703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06584" y="2849654"/>
            <a:ext cx="329184" cy="329184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022592" y="2294534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434072" y="2237232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printed log</a:t>
            </a:r>
            <a:r>
              <a:rPr lang="en-US" sz="1400" i="1" dirty="0">
                <a:solidFill>
                  <a:schemeClr val="accent5"/>
                </a:solidFill>
              </a:rPr>
              <a:t>  le journal imprimé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022592" y="2701747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434072" y="2644445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highlighted line</a:t>
            </a:r>
            <a:r>
              <a:rPr lang="en-US" sz="1400" i="1" dirty="0">
                <a:solidFill>
                  <a:schemeClr val="accent5"/>
                </a:solidFill>
              </a:rPr>
              <a:t>  la ligne surlignée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022592" y="3108960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7434072" y="3051658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Samuel’s finger</a:t>
            </a:r>
            <a:r>
              <a:rPr lang="en-US" sz="1400" i="1" dirty="0">
                <a:solidFill>
                  <a:schemeClr val="accent5"/>
                </a:solidFill>
              </a:rPr>
              <a:t>  le doigt de Samuel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022592" y="3516173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7434072" y="3458870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 access badges</a:t>
            </a:r>
            <a:r>
              <a:rPr lang="en-US" sz="1400" i="1" dirty="0">
                <a:solidFill>
                  <a:schemeClr val="accent5"/>
                </a:solidFill>
              </a:rPr>
              <a:t>  deux badges d’accès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7022592" y="3923386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434072" y="3866083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lanyard</a:t>
            </a:r>
            <a:r>
              <a:rPr lang="en-US" sz="1400" i="1" dirty="0">
                <a:solidFill>
                  <a:schemeClr val="accent5"/>
                </a:solidFill>
              </a:rPr>
              <a:t>  un cordon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7022592" y="4330598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7434072" y="4273296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mobile phone</a:t>
            </a:r>
            <a:r>
              <a:rPr lang="en-US" sz="1400" i="1" dirty="0">
                <a:solidFill>
                  <a:schemeClr val="accent5"/>
                </a:solidFill>
              </a:rPr>
              <a:t>  un téléphone portable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022592" y="4737811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7434072" y="4680509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coffee cup</a:t>
            </a:r>
            <a:r>
              <a:rPr lang="en-US" sz="1400" i="1" dirty="0">
                <a:solidFill>
                  <a:schemeClr val="accent5"/>
                </a:solidFill>
              </a:rPr>
              <a:t>  un gobelet de café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022592" y="5145024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434072" y="5087722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Iris’s phone</a:t>
            </a:r>
            <a:r>
              <a:rPr lang="en-US" sz="1400" i="1" dirty="0">
                <a:solidFill>
                  <a:schemeClr val="accent5"/>
                </a:solidFill>
              </a:rPr>
              <a:t>  le téléphone d’Iris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022592" y="5552237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7434072" y="5494934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security poster</a:t>
            </a:r>
            <a:r>
              <a:rPr lang="en-US" sz="1400" i="1" dirty="0">
                <a:solidFill>
                  <a:schemeClr val="accent5"/>
                </a:solidFill>
              </a:rPr>
              <a:t>  une affiche de sécurité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022592" y="5959450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7434072" y="5902147"/>
            <a:ext cx="420624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floor plan</a:t>
            </a:r>
            <a:r>
              <a:rPr lang="en-US" sz="1400" i="1" dirty="0">
                <a:solidFill>
                  <a:schemeClr val="accent5"/>
                </a:solidFill>
              </a:rPr>
              <a:t>  un plan d’étage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 record is not proof of absence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log shows </a:t>
            </a:r>
            <a:r>
              <a:rPr lang="en-US" sz="1800" b="1" dirty="0">
                <a:solidFill>
                  <a:schemeClr val="tx1"/>
                </a:solidFill>
              </a:rPr>
              <a:t>no badge</a:t>
            </a:r>
            <a:r>
              <a:rPr lang="en-US" sz="1800" dirty="0">
                <a:solidFill>
                  <a:schemeClr val="tx1"/>
                </a:solidFill>
              </a:rPr>
              <a:t> between 20:19 and 06:47. Does that mean </a:t>
            </a:r>
            <a:r>
              <a:rPr lang="en-US" sz="1800" b="1" dirty="0">
                <a:solidFill>
                  <a:schemeClr val="tx1"/>
                </a:solidFill>
              </a:rPr>
              <a:t>nobody</a:t>
            </a:r>
            <a:r>
              <a:rPr lang="en-US" sz="1800" dirty="0">
                <a:solidFill>
                  <a:schemeClr val="tx1"/>
                </a:solidFill>
              </a:rPr>
              <a:t> was in the building?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934598" y="2982468"/>
            <a:ext cx="8629178" cy="420624"/>
          </a:xfrm>
          <a:prstGeom prst="roundRect">
            <a:avLst>
              <a:gd name="adj" fmla="val 21739"/>
            </a:avLst>
          </a:prstGeom>
          <a:solidFill>
            <a:srgbClr val="44546A">
              <a:alpha val="40000"/>
            </a:srgbClr>
          </a:solidFill>
          <a:ln w="15875">
            <a:solidFill>
              <a:srgbClr val="44546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2007750" y="2982468"/>
            <a:ext cx="8482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no badge recorded — but was anyone there? The log cannot say.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3677412"/>
            <a:ext cx="1088136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509516" y="3613404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2316" y="3768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20.00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9846" y="3613404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52646" y="3768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22.00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10177" y="3613404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52977" y="3768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00.00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10507" y="3613404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53307" y="3768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02.00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310838" y="3613404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53638" y="3768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04.00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11169" y="3613404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53969" y="3768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06.00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781569" y="3768852"/>
            <a:ext cx="0" cy="365760"/>
          </a:xfrm>
          <a:prstGeom prst="line">
            <a:avLst/>
          </a:prstGeom>
          <a:noFill/>
          <a:ln w="12700">
            <a:solidFill>
              <a:srgbClr val="C075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4659" y="4134612"/>
            <a:ext cx="1753819" cy="384048"/>
          </a:xfrm>
          <a:prstGeom prst="roundRect">
            <a:avLst>
              <a:gd name="adj" fmla="val 2381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last exit: 20:19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662697" y="3558540"/>
            <a:ext cx="237744" cy="237744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674298" y="3768852"/>
            <a:ext cx="0" cy="365760"/>
          </a:xfrm>
          <a:prstGeom prst="line">
            <a:avLst/>
          </a:prstGeom>
          <a:noFill/>
          <a:ln w="12700">
            <a:solidFill>
              <a:srgbClr val="C075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63102" y="4134612"/>
            <a:ext cx="3277210" cy="384048"/>
          </a:xfrm>
          <a:prstGeom prst="roundRect">
            <a:avLst>
              <a:gd name="adj" fmla="val 2381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next entry: 06:47 — cleaning team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555426" y="3558540"/>
            <a:ext cx="237744" cy="237744"/>
          </a:xfrm>
          <a:prstGeom prst="ellipse">
            <a:avLst/>
          </a:prstGeom>
          <a:solidFill>
            <a:srgbClr val="6E4A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À retenir — </a:t>
            </a:r>
            <a:r>
              <a:rPr lang="en-US" sz="1800" i="1" dirty="0">
                <a:solidFill>
                  <a:schemeClr val="tx1"/>
                </a:solidFill>
              </a:rPr>
              <a:t>No access was recorded between 20:19 and 06:47.</a:t>
            </a:r>
            <a:r>
              <a:rPr lang="en-US" sz="1800" dirty="0">
                <a:solidFill>
                  <a:schemeClr val="tx1"/>
                </a:solidFill>
              </a:rPr>
              <a:t> ✓ — </a:t>
            </a:r>
            <a:r>
              <a:rPr lang="en-US" sz="1800" i="1" dirty="0">
                <a:solidFill>
                  <a:schemeClr val="tx1"/>
                </a:solidFill>
              </a:rPr>
              <a:t>Nobody was on site.</a:t>
            </a:r>
            <a:r>
              <a:rPr lang="en-US" sz="1800" dirty="0">
                <a:solidFill>
                  <a:schemeClr val="tx1"/>
                </a:solidFill>
              </a:rPr>
              <a:t> ✗ A log only records </a:t>
            </a:r>
            <a:r>
              <a:rPr lang="en-US" sz="1800" b="1" dirty="0">
                <a:solidFill>
                  <a:schemeClr val="tx1"/>
                </a:solidFill>
              </a:rPr>
              <a:t>badges</a:t>
            </a:r>
            <a:r>
              <a:rPr lang="en-US" sz="1800" dirty="0">
                <a:solidFill>
                  <a:schemeClr val="tx1"/>
                </a:solidFill>
              </a:rPr>
              <a:t>, not </a:t>
            </a:r>
            <a:r>
              <a:rPr lang="en-US" sz="1800" b="1" dirty="0">
                <a:solidFill>
                  <a:schemeClr val="tx1"/>
                </a:solidFill>
              </a:rPr>
              <a:t>people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life of an alert — put it in order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 · IT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Four steps, from the system to a person. Put them in order.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37439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24128" y="238353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63040" y="223723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08760" y="223723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Somebody </a:t>
            </a:r>
            <a:r>
              <a:rPr lang="en-US" sz="1900" b="1" dirty="0">
                <a:solidFill>
                  <a:schemeClr val="tx1"/>
                </a:solidFill>
              </a:rPr>
              <a:t>opens</a:t>
            </a:r>
            <a:r>
              <a:rPr lang="en-US" sz="1900" dirty="0">
                <a:solidFill>
                  <a:schemeClr val="tx1"/>
                </a:solidFill>
              </a:rPr>
              <a:t> it. → not in Exhibit A.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8640" y="310591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24128" y="311505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63040" y="296875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08760" y="296875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system </a:t>
            </a:r>
            <a:r>
              <a:rPr lang="en-US" sz="1900" b="1" dirty="0">
                <a:solidFill>
                  <a:schemeClr val="tx1"/>
                </a:solidFill>
              </a:rPr>
              <a:t>sends</a:t>
            </a:r>
            <a:r>
              <a:rPr lang="en-US" sz="1900" dirty="0">
                <a:solidFill>
                  <a:schemeClr val="tx1"/>
                </a:solidFill>
              </a:rPr>
              <a:t> the alert at 23:42. → the alarm </a:t>
            </a:r>
            <a:r>
              <a:rPr lang="en-US" sz="1900" b="1" dirty="0">
                <a:solidFill>
                  <a:schemeClr val="tx1"/>
                </a:solidFill>
              </a:rPr>
              <a:t>worked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48640" y="383743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24128" y="384657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63040" y="370027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08760" y="370027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Somebody </a:t>
            </a:r>
            <a:r>
              <a:rPr lang="en-US" sz="1900" b="1" dirty="0">
                <a:solidFill>
                  <a:schemeClr val="tx1"/>
                </a:solidFill>
              </a:rPr>
              <a:t>confirms</a:t>
            </a:r>
            <a:r>
              <a:rPr lang="en-US" sz="1900" dirty="0">
                <a:solidFill>
                  <a:schemeClr val="tx1"/>
                </a:solidFill>
              </a:rPr>
              <a:t> it (OK, a reply). → somebody </a:t>
            </a:r>
            <a:r>
              <a:rPr lang="en-US" sz="1900" b="1" dirty="0">
                <a:solidFill>
                  <a:schemeClr val="tx1"/>
                </a:solidFill>
              </a:rPr>
              <a:t>knew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8640" y="4568952"/>
            <a:ext cx="365760" cy="365760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24128" y="4578096"/>
            <a:ext cx="3840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63040" y="443179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08760" y="4431792"/>
            <a:ext cx="9948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phone </a:t>
            </a:r>
            <a:r>
              <a:rPr lang="en-US" sz="1900" b="1" dirty="0">
                <a:solidFill>
                  <a:schemeClr val="tx1"/>
                </a:solidFill>
              </a:rPr>
              <a:t>receives</a:t>
            </a:r>
            <a:r>
              <a:rPr lang="en-US" sz="1900" dirty="0">
                <a:solidFill>
                  <a:schemeClr val="tx1"/>
                </a:solidFill>
              </a:rPr>
              <a:t> it. → somebody </a:t>
            </a:r>
            <a:r>
              <a:rPr lang="en-US" sz="1900" b="1" dirty="0">
                <a:solidFill>
                  <a:schemeClr val="tx1"/>
                </a:solidFill>
              </a:rPr>
              <a:t>could</a:t>
            </a:r>
            <a:r>
              <a:rPr lang="en-US" sz="1900" dirty="0">
                <a:solidFill>
                  <a:schemeClr val="tx1"/>
                </a:solidFill>
              </a:rPr>
              <a:t> have known.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life of an alert — put it in order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2814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 · IT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Our log stops at step </a:t>
            </a:r>
            <a:r>
              <a:rPr lang="en-US" sz="1600" b="1" i="1" dirty="0">
                <a:solidFill>
                  <a:schemeClr val="accent5"/>
                </a:solidFill>
              </a:rPr>
              <a:t>2</a:t>
            </a:r>
            <a:r>
              <a:rPr lang="en-US" sz="1600" i="1" dirty="0">
                <a:solidFill>
                  <a:schemeClr val="accent5"/>
                </a:solidFill>
              </a:rPr>
              <a:t>: somebody </a:t>
            </a:r>
            <a:r>
              <a:rPr lang="en-US" sz="1600" b="1" i="1" dirty="0">
                <a:solidFill>
                  <a:schemeClr val="accent5"/>
                </a:solidFill>
              </a:rPr>
              <a:t>could</a:t>
            </a:r>
            <a:r>
              <a:rPr lang="en-US" sz="1600" i="1" dirty="0">
                <a:solidFill>
                  <a:schemeClr val="accent5"/>
                </a:solidFill>
              </a:rPr>
              <a:t> have known. Only step </a:t>
            </a:r>
            <a:r>
              <a:rPr lang="en-US" sz="1600" b="1" i="1" dirty="0">
                <a:solidFill>
                  <a:schemeClr val="accent5"/>
                </a:solidFill>
              </a:rPr>
              <a:t>4</a:t>
            </a:r>
            <a:r>
              <a:rPr lang="en-US" sz="1600" i="1" dirty="0">
                <a:solidFill>
                  <a:schemeClr val="accent5"/>
                </a:solidFill>
              </a:rPr>
              <a:t> proves that somebody </a:t>
            </a:r>
            <a:r>
              <a:rPr lang="en-US" sz="1600" b="1" i="1" dirty="0">
                <a:solidFill>
                  <a:schemeClr val="accent5"/>
                </a:solidFill>
              </a:rPr>
              <a:t>knew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" y="2557272"/>
            <a:ext cx="0" cy="2194560"/>
          </a:xfrm>
          <a:prstGeom prst="line">
            <a:avLst/>
          </a:prstGeom>
          <a:noFill/>
          <a:ln w="31750">
            <a:solidFill>
              <a:srgbClr val="3C7A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356104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223723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463040" y="223723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00200" y="2237232"/>
            <a:ext cx="1211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811780" y="2237232"/>
            <a:ext cx="86456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system </a:t>
            </a:r>
            <a:r>
              <a:rPr lang="en-US" sz="1900" b="1" dirty="0">
                <a:solidFill>
                  <a:schemeClr val="tx1"/>
                </a:solidFill>
              </a:rPr>
              <a:t>sends</a:t>
            </a:r>
            <a:r>
              <a:rPr lang="en-US" sz="1900" dirty="0">
                <a:solidFill>
                  <a:schemeClr val="tx1"/>
                </a:solidFill>
              </a:rPr>
              <a:t> the alert at 23:42. → the alarm </a:t>
            </a:r>
            <a:r>
              <a:rPr lang="en-US" sz="1900" b="1" dirty="0">
                <a:solidFill>
                  <a:schemeClr val="tx1"/>
                </a:solidFill>
              </a:rPr>
              <a:t>worked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94360" y="3087624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" y="296875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463040" y="296875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00200" y="2968752"/>
            <a:ext cx="1211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811780" y="2968752"/>
            <a:ext cx="86456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phone </a:t>
            </a:r>
            <a:r>
              <a:rPr lang="en-US" sz="1900" b="1" dirty="0">
                <a:solidFill>
                  <a:schemeClr val="tx1"/>
                </a:solidFill>
              </a:rPr>
              <a:t>receives</a:t>
            </a:r>
            <a:r>
              <a:rPr lang="en-US" sz="1900" dirty="0">
                <a:solidFill>
                  <a:schemeClr val="tx1"/>
                </a:solidFill>
              </a:rPr>
              <a:t> it. → somebody </a:t>
            </a:r>
            <a:r>
              <a:rPr lang="en-US" sz="1900" b="1" dirty="0">
                <a:solidFill>
                  <a:schemeClr val="tx1"/>
                </a:solidFill>
              </a:rPr>
              <a:t>could</a:t>
            </a:r>
            <a:r>
              <a:rPr lang="en-US" sz="1900" dirty="0">
                <a:solidFill>
                  <a:schemeClr val="tx1"/>
                </a:solidFill>
              </a:rPr>
              <a:t> have known.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94360" y="3819144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70027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463040" y="370027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600200" y="3700272"/>
            <a:ext cx="1211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811780" y="3700272"/>
            <a:ext cx="86456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Somebody </a:t>
            </a:r>
            <a:r>
              <a:rPr lang="en-US" sz="1900" b="1" dirty="0">
                <a:solidFill>
                  <a:schemeClr val="tx1"/>
                </a:solidFill>
              </a:rPr>
              <a:t>opens</a:t>
            </a:r>
            <a:r>
              <a:rPr lang="en-US" sz="1900" dirty="0">
                <a:solidFill>
                  <a:schemeClr val="tx1"/>
                </a:solidFill>
              </a:rPr>
              <a:t> it. → not in Exhibit A.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94360" y="4550664"/>
            <a:ext cx="402336" cy="40233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24128" y="443179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463040" y="4431792"/>
            <a:ext cx="10177272" cy="640080"/>
          </a:xfrm>
          <a:prstGeom prst="roundRect">
            <a:avLst>
              <a:gd name="adj" fmla="val 11429"/>
            </a:avLst>
          </a:prstGeom>
          <a:solidFill>
            <a:srgbClr val="EEF2F8"/>
          </a:solidFill>
          <a:ln w="12700">
            <a:solidFill>
              <a:srgbClr val="B9D3B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00200" y="4431792"/>
            <a:ext cx="1211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2811780" y="4431792"/>
            <a:ext cx="86456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Somebody </a:t>
            </a:r>
            <a:r>
              <a:rPr lang="en-US" sz="1900" b="1" dirty="0">
                <a:solidFill>
                  <a:schemeClr val="tx1"/>
                </a:solidFill>
              </a:rPr>
              <a:t>confirms</a:t>
            </a:r>
            <a:r>
              <a:rPr lang="en-US" sz="1900" dirty="0">
                <a:solidFill>
                  <a:schemeClr val="tx1"/>
                </a:solidFill>
              </a:rPr>
              <a:t> it (OK, a reply). → somebody </a:t>
            </a:r>
            <a:r>
              <a:rPr lang="en-US" sz="1900" b="1" dirty="0">
                <a:solidFill>
                  <a:schemeClr val="tx1"/>
                </a:solidFill>
              </a:rPr>
              <a:t>knew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Listen: the IT expert explains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LISTENING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2E75B6">
              <a:alpha val="9000"/>
            </a:srgbClr>
          </a:solidFill>
          <a:ln w="15875">
            <a:solidFill>
              <a:srgbClr val="2E75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84248"/>
            <a:ext cx="914400" cy="9144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1284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29968" y="1874520"/>
            <a:ext cx="9400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It’s a bit like a parcel…</a:t>
            </a:r>
            <a:endParaRPr lang="en-US" sz="2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Your teacher reads the IT expert’s explanation </a:t>
            </a:r>
            <a:r>
              <a:rPr lang="en-US" sz="1700" b="1" dirty="0">
                <a:solidFill>
                  <a:schemeClr val="tx1"/>
                </a:solidFill>
              </a:rPr>
              <a:t>twice</a:t>
            </a:r>
            <a:r>
              <a:rPr lang="en-US" sz="1700" dirty="0">
                <a:solidFill>
                  <a:schemeClr val="tx1"/>
                </a:solidFill>
              </a:rPr>
              <a:t>. Booklets closed.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548640" y="3429000"/>
            <a:ext cx="3514344" cy="2514600"/>
          </a:xfrm>
          <a:prstGeom prst="roundRect">
            <a:avLst>
              <a:gd name="adj" fmla="val 290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85032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630168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Listening 1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4325112"/>
            <a:ext cx="2965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What does the expert compare the alert to?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4337304" y="3429000"/>
            <a:ext cx="3514344" cy="2514600"/>
          </a:xfrm>
          <a:prstGeom prst="roundRect">
            <a:avLst>
              <a:gd name="adj" fmla="val 290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24" y="3685032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05984" y="3630168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Listening 2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4611624" y="4325112"/>
            <a:ext cx="2965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True or false? Six statements — next slide.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8125968" y="3429000"/>
            <a:ext cx="3514344" cy="2514600"/>
          </a:xfrm>
          <a:prstGeom prst="roundRect">
            <a:avLst>
              <a:gd name="adj" fmla="val 290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368503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94648" y="3630168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After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8400288" y="4325112"/>
            <a:ext cx="2965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Where does </a:t>
            </a:r>
            <a:r>
              <a:rPr lang="en-US" sz="2000" b="1" dirty="0">
                <a:solidFill>
                  <a:schemeClr val="tx1"/>
                </a:solidFill>
              </a:rPr>
              <a:t>our</a:t>
            </a:r>
            <a:r>
              <a:rPr lang="en-US" sz="2000" dirty="0">
                <a:solidFill>
                  <a:schemeClr val="tx1"/>
                </a:solidFill>
              </a:rPr>
              <a:t> log stop? Explain it to a neighbour in one sentence.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Listen: true or false?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LISTENING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Second listening. Tick </a:t>
            </a:r>
            <a:r>
              <a:rPr lang="en-US" sz="1600" b="1" i="1" dirty="0">
                <a:solidFill>
                  <a:schemeClr val="accent5"/>
                </a:solidFill>
              </a:rPr>
              <a:t>T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b="1" i="1" dirty="0">
                <a:solidFill>
                  <a:schemeClr val="accent5"/>
                </a:solidFill>
              </a:rPr>
              <a:t>F</a:t>
            </a:r>
            <a:r>
              <a:rPr lang="en-US" sz="1600" i="1" dirty="0">
                <a:solidFill>
                  <a:schemeClr val="accent5"/>
                </a:solidFill>
              </a:rPr>
              <a:t> — correct the false ones.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37232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237232"/>
            <a:ext cx="8531352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expert compares the alert to a letter.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405872" y="2310384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000232" y="2310384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934208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934208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934208"/>
            <a:ext cx="8531352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“Delivered” = the courier leaves it at your door.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405872" y="3007360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000232" y="3007360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631184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631184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631184"/>
            <a:ext cx="8531352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“Read” = you sign for the parcel.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405872" y="3704336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000232" y="3704336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328160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328160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328160"/>
            <a:ext cx="8531352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Our log stops at “delivered”.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0405872" y="4401312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000232" y="4401312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5025136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5025136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5025136"/>
            <a:ext cx="8531352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log shows that somebody opened the alert.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0405872" y="5098288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000232" y="5098288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722112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5722112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6.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722112"/>
            <a:ext cx="8531352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“acknowledged” proves somebody knew.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0405872" y="5795264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1000232" y="5795264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Listen: true or false?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LISTENING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Second listening. Tick </a:t>
            </a:r>
            <a:r>
              <a:rPr lang="en-US" sz="1600" b="1" i="1" dirty="0">
                <a:solidFill>
                  <a:schemeClr val="accent5"/>
                </a:solidFill>
              </a:rPr>
              <a:t>T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b="1" i="1" dirty="0">
                <a:solidFill>
                  <a:schemeClr val="accent5"/>
                </a:solidFill>
              </a:rPr>
              <a:t>F</a:t>
            </a:r>
            <a:r>
              <a:rPr lang="en-US" sz="1600" i="1" dirty="0">
                <a:solidFill>
                  <a:schemeClr val="accent5"/>
                </a:solidFill>
              </a:rPr>
              <a:t> — correct the false ones.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37232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237232"/>
            <a:ext cx="42656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expert compares the alert to a letter.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37276" y="2237232"/>
            <a:ext cx="40370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 to a </a:t>
            </a:r>
            <a:r>
              <a:rPr lang="en-US" sz="1400" b="1" dirty="0">
                <a:solidFill>
                  <a:schemeClr val="accent6"/>
                </a:solidFill>
              </a:rPr>
              <a:t>parcel</a:t>
            </a:r>
            <a:r>
              <a:rPr lang="en-US" sz="1400" b="1" dirty="0">
                <a:solidFill>
                  <a:schemeClr val="accent6"/>
                </a:solidFill>
              </a:rPr>
              <a:t>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405872" y="2310384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000232" y="2310384"/>
            <a:ext cx="440944" cy="440944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934208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934208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934208"/>
            <a:ext cx="42656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“Delivered” = the courier leaves it at your door.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637276" y="2934208"/>
            <a:ext cx="40370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the phone got the alert.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405872" y="3007360"/>
            <a:ext cx="440944" cy="440944"/>
          </a:xfrm>
          <a:prstGeom prst="ellipse">
            <a:avLst/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000232" y="3007360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631184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631184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3631184"/>
            <a:ext cx="42656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“Read” = you sign for the parcel.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37276" y="3631184"/>
            <a:ext cx="40370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 you </a:t>
            </a:r>
            <a:r>
              <a:rPr lang="en-US" sz="1400" b="1" dirty="0">
                <a:solidFill>
                  <a:schemeClr val="accent6"/>
                </a:solidFill>
              </a:rPr>
              <a:t>open</a:t>
            </a:r>
            <a:r>
              <a:rPr lang="en-US" sz="1400" b="1" dirty="0">
                <a:solidFill>
                  <a:schemeClr val="accent6"/>
                </a:solidFill>
              </a:rPr>
              <a:t> it.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405872" y="3704336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000232" y="3704336"/>
            <a:ext cx="440944" cy="440944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4328160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4328160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4328160"/>
            <a:ext cx="42656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Our log stops at “delivered”.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637276" y="4328160"/>
            <a:ext cx="40370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the phone got it at 23:42.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0405872" y="4401312"/>
            <a:ext cx="440944" cy="440944"/>
          </a:xfrm>
          <a:prstGeom prst="ellipse">
            <a:avLst/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000232" y="4401312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F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025136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5025136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5.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025136"/>
            <a:ext cx="42656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log shows that somebody opened the alert.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637276" y="5025136"/>
            <a:ext cx="40370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 there is </a:t>
            </a:r>
            <a:r>
              <a:rPr lang="en-US" sz="1400" b="1" dirty="0">
                <a:solidFill>
                  <a:schemeClr val="accent6"/>
                </a:solidFill>
              </a:rPr>
              <a:t>no record</a:t>
            </a:r>
            <a:r>
              <a:rPr lang="en-US" sz="1400" b="1" dirty="0">
                <a:solidFill>
                  <a:schemeClr val="accent6"/>
                </a:solidFill>
              </a:rPr>
              <a:t> of it.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405872" y="5098288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1000232" y="5098288"/>
            <a:ext cx="440944" cy="440944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722112"/>
            <a:ext cx="11091672" cy="587248"/>
          </a:xfrm>
          <a:prstGeom prst="roundRect">
            <a:avLst>
              <a:gd name="adj" fmla="val 12457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5722112"/>
            <a:ext cx="457200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6.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" y="5722112"/>
            <a:ext cx="42656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“acknowledged” proves somebody knew.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637276" y="5722112"/>
            <a:ext cx="403707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→ “delivered” = could have known.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0405872" y="5795264"/>
            <a:ext cx="440944" cy="440944"/>
          </a:xfrm>
          <a:prstGeom prst="ellipse">
            <a:avLst/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1000232" y="5795264"/>
            <a:ext cx="440944" cy="440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Which expert would ask this?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16–17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Four firms, eight questions: put each question under the expert who would ask it — </a:t>
            </a:r>
            <a:r>
              <a:rPr lang="en-US" sz="1600" b="1" i="1" dirty="0">
                <a:solidFill>
                  <a:schemeClr val="accent5"/>
                </a:solidFill>
              </a:rPr>
              <a:t>two each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1700784"/>
          </a:xfrm>
          <a:prstGeom prst="roundRect">
            <a:avLst>
              <a:gd name="adj" fmla="val 4301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QUESTIONS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276961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Delivered or acknowledged?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34992" y="2420112"/>
            <a:ext cx="249224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 we name badge 0102?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55256" y="2420112"/>
            <a:ext cx="276961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much will unit 3 cost?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37360" y="2895600"/>
            <a:ext cx="313944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Did the water come from above?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04816" y="2895600"/>
            <a:ext cx="276961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does a log establish?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02448" y="2895600"/>
            <a:ext cx="276961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Did anyone open the alert?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737360" y="3371088"/>
            <a:ext cx="276961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Who must repair the floor?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34992" y="3371088"/>
            <a:ext cx="2862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does the policy cover?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212336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0E7C6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4212336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IT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Northline IT Services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925568"/>
            <a:ext cx="2622042" cy="1383792"/>
          </a:xfrm>
          <a:prstGeom prst="roundRect">
            <a:avLst>
              <a:gd name="adj" fmla="val 5286"/>
            </a:avLst>
          </a:prstGeom>
          <a:solidFill>
            <a:srgbClr val="0E7C66">
              <a:alpha val="6000"/>
            </a:srgbClr>
          </a:solidFill>
          <a:ln w="12700">
            <a:solidFill>
              <a:srgbClr val="0E7C66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371850" y="4212336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8B3A2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63290" y="4212336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LAW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Harwell Legal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371850" y="4925568"/>
            <a:ext cx="2622042" cy="1383792"/>
          </a:xfrm>
          <a:prstGeom prst="roundRect">
            <a:avLst>
              <a:gd name="adj" fmla="val 5286"/>
            </a:avLst>
          </a:prstGeom>
          <a:solidFill>
            <a:srgbClr val="8B3A2F">
              <a:alpha val="6000"/>
            </a:srgbClr>
          </a:solidFill>
          <a:ln w="12700">
            <a:solidFill>
              <a:srgbClr val="8B3A2F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6195060" y="4212336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1F4E7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86500" y="4212336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ACC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Blanchet &amp; Renard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95060" y="4925568"/>
            <a:ext cx="2622042" cy="1383792"/>
          </a:xfrm>
          <a:prstGeom prst="roundRect">
            <a:avLst>
              <a:gd name="adj" fmla="val 5286"/>
            </a:avLst>
          </a:prstGeom>
          <a:solidFill>
            <a:srgbClr val="1F4E79">
              <a:alpha val="6000"/>
            </a:srgbClr>
          </a:solidFill>
          <a:ln w="12700">
            <a:solidFill>
              <a:srgbClr val="1F4E79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9018270" y="4212336"/>
            <a:ext cx="2622042" cy="658368"/>
          </a:xfrm>
          <a:prstGeom prst="roundRect">
            <a:avLst>
              <a:gd name="adj" fmla="val 11111"/>
            </a:avLst>
          </a:prstGeom>
          <a:solidFill>
            <a:srgbClr val="B8782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109710" y="4212336"/>
            <a:ext cx="24391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RE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Corven Property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018270" y="4925568"/>
            <a:ext cx="2622042" cy="1383792"/>
          </a:xfrm>
          <a:prstGeom prst="roundRect">
            <a:avLst>
              <a:gd name="adj" fmla="val 5286"/>
            </a:avLst>
          </a:prstGeom>
          <a:solidFill>
            <a:srgbClr val="B8782A">
              <a:alpha val="6000"/>
            </a:srgbClr>
          </a:solidFill>
          <a:ln w="12700">
            <a:solidFill>
              <a:srgbClr val="B8782A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Which expert would ask this?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2814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16–17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Four firms, eight questions: put each question under the expert who would ask it — </a:t>
            </a:r>
            <a:r>
              <a:rPr lang="en-US" sz="1600" b="1" i="1" dirty="0">
                <a:solidFill>
                  <a:schemeClr val="accent5"/>
                </a:solidFill>
              </a:rPr>
              <a:t>two each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IT  </a:t>
            </a:r>
            <a:r>
              <a:rPr lang="en-US" sz="1200" i="1" dirty="0">
                <a:solidFill>
                  <a:schemeClr val="bg1"/>
                </a:solidFill>
              </a:rPr>
              <a:t>Northline IT Services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0E7C66">
              <a:alpha val="6000"/>
            </a:srgbClr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E7C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Delivered or acknowledged?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0E7C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Did anyone open the alert?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7185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8B3A2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6329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LAW  </a:t>
            </a:r>
            <a:r>
              <a:rPr lang="en-US" sz="1200" i="1" dirty="0">
                <a:solidFill>
                  <a:schemeClr val="bg1"/>
                </a:solidFill>
              </a:rPr>
              <a:t>Harwell Legal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185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8B3A2F">
              <a:alpha val="6000"/>
            </a:srgbClr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8157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8B3A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we name badge 0102?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8157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8B3A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a log establish?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9506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8650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ACC  </a:t>
            </a:r>
            <a:r>
              <a:rPr lang="en-US" sz="1200" i="1" dirty="0">
                <a:solidFill>
                  <a:schemeClr val="bg1"/>
                </a:solidFill>
              </a:rPr>
              <a:t>Blanchet &amp; Renard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9506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1F4E79">
              <a:alpha val="6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478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much will unit 3 cost?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0478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policy cover?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018270" y="2237232"/>
            <a:ext cx="2622042" cy="438912"/>
          </a:xfrm>
          <a:prstGeom prst="roundRect">
            <a:avLst>
              <a:gd name="adj" fmla="val 16667"/>
            </a:avLst>
          </a:prstGeom>
          <a:solidFill>
            <a:srgbClr val="B8782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09710" y="2237232"/>
            <a:ext cx="24391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RE  </a:t>
            </a:r>
            <a:r>
              <a:rPr lang="en-US" sz="1200" i="1" dirty="0">
                <a:solidFill>
                  <a:schemeClr val="bg1"/>
                </a:solidFill>
              </a:rPr>
              <a:t>Corven Property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018270" y="2731008"/>
            <a:ext cx="2622042" cy="3578352"/>
          </a:xfrm>
          <a:prstGeom prst="roundRect">
            <a:avLst>
              <a:gd name="adj" fmla="val 2790"/>
            </a:avLst>
          </a:prstGeom>
          <a:solidFill>
            <a:srgbClr val="B8782A">
              <a:alpha val="6000"/>
            </a:srgbClr>
          </a:solidFill>
          <a:ln w="12700">
            <a:solidFill>
              <a:srgbClr val="B878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27998" y="2822448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78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Did the water come from above?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27998" y="3535680"/>
            <a:ext cx="240258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78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must repair the floor?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Your eye on Exhibit A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16–17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94767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0E7C6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5740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9900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66"/>
                </a:solidFill>
              </a:rPr>
              <a:t>IT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901952" y="191109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notification at 23:42 was </a:t>
            </a:r>
            <a:r>
              <a:rPr lang="en-US" sz="1900" b="1" dirty="0">
                <a:solidFill>
                  <a:schemeClr val="tx1"/>
                </a:solidFill>
              </a:rPr>
              <a:t>delivered</a:t>
            </a:r>
            <a:r>
              <a:rPr lang="en-US" sz="1900" dirty="0">
                <a:solidFill>
                  <a:schemeClr val="tx1"/>
                </a:solidFill>
              </a:rPr>
              <a:t>. What is the difference between </a:t>
            </a:r>
            <a:r>
              <a:rPr lang="en-US" sz="1900" i="1" dirty="0">
                <a:solidFill>
                  <a:schemeClr val="tx1"/>
                </a:solidFill>
              </a:rPr>
              <a:t>delivered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900" i="1" dirty="0">
                <a:solidFill>
                  <a:schemeClr val="tx1"/>
                </a:solidFill>
              </a:rPr>
              <a:t>received</a:t>
            </a:r>
            <a:r>
              <a:rPr lang="en-US" sz="1900" dirty="0">
                <a:solidFill>
                  <a:schemeClr val="tx1"/>
                </a:solidFill>
              </a:rPr>
              <a:t> and </a:t>
            </a:r>
            <a:r>
              <a:rPr lang="en-US" sz="1900" i="1" dirty="0">
                <a:solidFill>
                  <a:schemeClr val="tx1"/>
                </a:solidFill>
              </a:rPr>
              <a:t>acknowledged</a:t>
            </a:r>
            <a:r>
              <a:rPr lang="en-US" sz="1900" dirty="0">
                <a:solidFill>
                  <a:schemeClr val="tx1"/>
                </a:solidFill>
              </a:rPr>
              <a:t> — and which would the insurer accept as proof that somebody knew?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08776" y="178308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73368" y="194767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8B3A2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5740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73368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LAW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300216" y="29900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3A2F"/>
                </a:solidFill>
              </a:rPr>
              <a:t>Law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7562088" y="191109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Line 20:04 shows a badge entry after the works ended. What does an access log establish, and what does it </a:t>
            </a:r>
            <a:r>
              <a:rPr lang="en-US" sz="1900" b="1" dirty="0">
                <a:solidFill>
                  <a:schemeClr val="tx1"/>
                </a:solidFill>
              </a:rPr>
              <a:t>not</a:t>
            </a:r>
            <a:r>
              <a:rPr lang="en-US" sz="1900" dirty="0">
                <a:solidFill>
                  <a:schemeClr val="tx1"/>
                </a:solidFill>
              </a:rPr>
              <a:t> establish? Would you put badge number 0102 in a written report today?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548640" y="416052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3232" y="432511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F4E7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43484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53675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79"/>
                </a:solidFill>
              </a:rPr>
              <a:t>Accounting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901952" y="428853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Unit 3 shut down at 02:16. Before anything is repaired, what figure do you need and </a:t>
            </a:r>
            <a:r>
              <a:rPr lang="en-US" sz="1900" b="1" dirty="0">
                <a:solidFill>
                  <a:schemeClr val="tx1"/>
                </a:solidFill>
              </a:rPr>
              <a:t>from whom</a:t>
            </a:r>
            <a:r>
              <a:rPr lang="en-US" sz="1900" dirty="0">
                <a:solidFill>
                  <a:schemeClr val="tx1"/>
                </a:solidFill>
              </a:rPr>
              <a:t>? Name two documents you would ask for this morning.</a:t>
            </a:r>
            <a:endParaRPr lang="en-US" sz="1900" dirty="0"/>
          </a:p>
        </p:txBody>
      </p:sp>
      <p:sp>
        <p:nvSpPr>
          <p:cNvPr id="24" name="Shape 18"/>
          <p:cNvSpPr/>
          <p:nvPr/>
        </p:nvSpPr>
        <p:spPr>
          <a:xfrm>
            <a:off x="6208776" y="416052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73368" y="432511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B8782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34840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373368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6300216" y="53675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82A"/>
                </a:solidFill>
              </a:rPr>
              <a:t>Real estate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562088" y="428853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 humidity alarm followed the temperature alarm three minutes later. What does that sequence usually mean about </a:t>
            </a:r>
            <a:r>
              <a:rPr lang="en-US" sz="1900" b="1" dirty="0">
                <a:solidFill>
                  <a:schemeClr val="tx1"/>
                </a:solidFill>
              </a:rPr>
              <a:t>where</a:t>
            </a:r>
            <a:r>
              <a:rPr lang="en-US" sz="1900" dirty="0">
                <a:solidFill>
                  <a:schemeClr val="tx1"/>
                </a:solidFill>
              </a:rPr>
              <a:t> the water came from — above the ceiling or below the floor?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Your eye on Exhibit A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EXPERT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2814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16–17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94767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0E7C6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5740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9900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66"/>
                </a:solidFill>
              </a:rPr>
              <a:t>IT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901952" y="191109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notification at 23:42 was </a:t>
            </a:r>
            <a:r>
              <a:rPr lang="en-US" sz="1400" b="1" dirty="0">
                <a:solidFill>
                  <a:schemeClr val="tx1"/>
                </a:solidFill>
              </a:rPr>
              <a:t>delivered</a:t>
            </a:r>
            <a:r>
              <a:rPr lang="en-US" sz="1400" dirty="0">
                <a:solidFill>
                  <a:schemeClr val="tx1"/>
                </a:solidFill>
              </a:rPr>
              <a:t>. What is the difference between </a:t>
            </a:r>
            <a:r>
              <a:rPr lang="en-US" sz="1400" i="1" dirty="0">
                <a:solidFill>
                  <a:schemeClr val="tx1"/>
                </a:solidFill>
              </a:rPr>
              <a:t>delivered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i="1" dirty="0">
                <a:solidFill>
                  <a:schemeClr val="tx1"/>
                </a:solidFill>
              </a:rPr>
              <a:t>received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i="1" dirty="0">
                <a:solidFill>
                  <a:schemeClr val="tx1"/>
                </a:solidFill>
              </a:rPr>
              <a:t>acknowledged</a:t>
            </a:r>
            <a:r>
              <a:rPr lang="en-US" sz="1400" dirty="0">
                <a:solidFill>
                  <a:schemeClr val="tx1"/>
                </a:solidFill>
              </a:rPr>
              <a:t> — and which would the insurer accept as proof that somebody knew?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</a:t>
            </a:r>
            <a:r>
              <a:rPr lang="en-US" sz="1400" b="1" i="1" dirty="0">
                <a:solidFill>
                  <a:schemeClr val="tx2"/>
                </a:solidFill>
              </a:rPr>
              <a:t>Delivered / received</a:t>
            </a:r>
            <a:r>
              <a:rPr lang="en-US" sz="1400" b="1" dirty="0">
                <a:solidFill>
                  <a:schemeClr val="tx2"/>
                </a:solidFill>
              </a:rPr>
              <a:t> = the message reached the phone. </a:t>
            </a:r>
            <a:r>
              <a:rPr lang="en-US" sz="1400" b="1" i="1" dirty="0">
                <a:solidFill>
                  <a:schemeClr val="tx2"/>
                </a:solidFill>
              </a:rPr>
              <a:t>Acknowledged</a:t>
            </a:r>
            <a:r>
              <a:rPr lang="en-US" sz="1400" b="1" dirty="0">
                <a:solidFill>
                  <a:schemeClr val="tx2"/>
                </a:solidFill>
              </a:rPr>
              <a:t> = a person confirmed it. Only </a:t>
            </a:r>
            <a:r>
              <a:rPr lang="en-US" sz="1400" b="1" dirty="0">
                <a:solidFill>
                  <a:schemeClr val="tx2"/>
                </a:solidFill>
              </a:rPr>
              <a:t>acknowledged</a:t>
            </a:r>
            <a:r>
              <a:rPr lang="en-US" sz="1400" b="1" dirty="0">
                <a:solidFill>
                  <a:schemeClr val="tx2"/>
                </a:solidFill>
              </a:rPr>
              <a:t> proves that somebody knew.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08776" y="178308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73368" y="194767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8B3A2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5740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3368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LAW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9900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3A2F"/>
                </a:solidFill>
              </a:rPr>
              <a:t>Law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7562088" y="191109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Line 20:04 shows a badge entry after the works ended. What does an access log establish, and what does it </a:t>
            </a:r>
            <a:r>
              <a:rPr lang="en-US" sz="1400" b="1" dirty="0">
                <a:solidFill>
                  <a:schemeClr val="tx1"/>
                </a:solidFill>
              </a:rPr>
              <a:t>not</a:t>
            </a:r>
            <a:r>
              <a:rPr lang="en-US" sz="1400" dirty="0">
                <a:solidFill>
                  <a:schemeClr val="tx1"/>
                </a:solidFill>
              </a:rPr>
              <a:t> establish? Would you put badge number 0102 in a written report today?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</a:t>
            </a:r>
            <a:r>
              <a:rPr lang="en-US" sz="1400" b="1" dirty="0">
                <a:solidFill>
                  <a:schemeClr val="tx2"/>
                </a:solidFill>
              </a:rPr>
              <a:t>It establishes that </a:t>
            </a:r>
            <a:r>
              <a:rPr lang="en-US" sz="1400" b="1" dirty="0">
                <a:solidFill>
                  <a:schemeClr val="tx2"/>
                </a:solidFill>
              </a:rPr>
              <a:t>a badge</a:t>
            </a:r>
            <a:r>
              <a:rPr lang="en-US" sz="1400" b="1" dirty="0">
                <a:solidFill>
                  <a:schemeClr val="tx2"/>
                </a:solidFill>
              </a:rPr>
              <a:t> was used at a given time — not </a:t>
            </a:r>
            <a:r>
              <a:rPr lang="en-US" sz="1400" b="1" dirty="0">
                <a:solidFill>
                  <a:schemeClr val="tx2"/>
                </a:solidFill>
              </a:rPr>
              <a:t>who</a:t>
            </a:r>
            <a:r>
              <a:rPr lang="en-US" sz="1400" b="1" dirty="0">
                <a:solidFill>
                  <a:schemeClr val="tx2"/>
                </a:solidFill>
              </a:rPr>
              <a:t> carried it, nor </a:t>
            </a:r>
            <a:r>
              <a:rPr lang="en-US" sz="1400" b="1" dirty="0">
                <a:solidFill>
                  <a:schemeClr val="tx2"/>
                </a:solidFill>
              </a:rPr>
              <a:t>what</a:t>
            </a:r>
            <a:r>
              <a:rPr lang="en-US" sz="1400" b="1" dirty="0">
                <a:solidFill>
                  <a:schemeClr val="tx2"/>
                </a:solidFill>
              </a:rPr>
              <a:t> they did. </a:t>
            </a:r>
            <a:r>
              <a:rPr lang="en-US" sz="1400" b="1" dirty="0">
                <a:solidFill>
                  <a:schemeClr val="tx2"/>
                </a:solidFill>
              </a:rPr>
              <a:t>No</a:t>
            </a:r>
            <a:r>
              <a:rPr lang="en-US" sz="1400" b="1" dirty="0">
                <a:solidFill>
                  <a:schemeClr val="tx2"/>
                </a:solidFill>
              </a:rPr>
              <a:t>: a badge number identifies a person and reads as an accusation.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32511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F4E7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43484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3675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79"/>
                </a:solidFill>
              </a:rPr>
              <a:t>Accounting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901952" y="428853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Unit 3 shut down at 02:16. Before anything is repaired, what figure do you need and </a:t>
            </a:r>
            <a:r>
              <a:rPr lang="en-US" sz="1400" b="1" dirty="0">
                <a:solidFill>
                  <a:schemeClr val="tx1"/>
                </a:solidFill>
              </a:rPr>
              <a:t>from whom</a:t>
            </a:r>
            <a:r>
              <a:rPr lang="en-US" sz="1400" dirty="0">
                <a:solidFill>
                  <a:schemeClr val="tx1"/>
                </a:solidFill>
              </a:rPr>
              <a:t>? Name two documents you would ask for this morning.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</a:t>
            </a:r>
            <a:r>
              <a:rPr lang="en-US" sz="1400" b="1" dirty="0">
                <a:solidFill>
                  <a:schemeClr val="tx2"/>
                </a:solidFill>
              </a:rPr>
              <a:t>The </a:t>
            </a:r>
            <a:r>
              <a:rPr lang="en-US" sz="1400" b="1" dirty="0">
                <a:solidFill>
                  <a:schemeClr val="tx2"/>
                </a:solidFill>
              </a:rPr>
              <a:t>repair or replacement cost</a:t>
            </a:r>
            <a:r>
              <a:rPr lang="en-US" sz="1400" b="1" dirty="0">
                <a:solidFill>
                  <a:schemeClr val="tx2"/>
                </a:solidFill>
              </a:rPr>
              <a:t> of unit 3 (+ cost of downtime), from the </a:t>
            </a:r>
            <a:r>
              <a:rPr lang="en-US" sz="1400" b="1" dirty="0">
                <a:solidFill>
                  <a:schemeClr val="tx2"/>
                </a:solidFill>
              </a:rPr>
              <a:t>IT provider</a:t>
            </a:r>
            <a:r>
              <a:rPr lang="en-US" sz="1400" b="1" dirty="0">
                <a:solidFill>
                  <a:schemeClr val="tx2"/>
                </a:solidFill>
              </a:rPr>
              <a:t>. Documents: a </a:t>
            </a:r>
            <a:r>
              <a:rPr lang="en-US" sz="1400" b="1" dirty="0">
                <a:solidFill>
                  <a:schemeClr val="tx2"/>
                </a:solidFill>
              </a:rPr>
              <a:t>written estimate</a:t>
            </a:r>
            <a:r>
              <a:rPr lang="en-US" sz="1400" b="1" dirty="0">
                <a:solidFill>
                  <a:schemeClr val="tx2"/>
                </a:solidFill>
              </a:rPr>
              <a:t> and the </a:t>
            </a:r>
            <a:r>
              <a:rPr lang="en-US" sz="1400" b="1" dirty="0">
                <a:solidFill>
                  <a:schemeClr val="tx2"/>
                </a:solidFill>
              </a:rPr>
              <a:t>insurance policy</a:t>
            </a:r>
            <a:r>
              <a:rPr lang="en-US" sz="1400" b="1" dirty="0">
                <a:solidFill>
                  <a:schemeClr val="tx2"/>
                </a:solidFill>
              </a:rPr>
              <a:t> (cover, excess).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208776" y="4160520"/>
            <a:ext cx="5431536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73368" y="4325112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B8782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34840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373368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300216" y="53675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82A"/>
                </a:solidFill>
              </a:rPr>
              <a:t>Real estate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7562088" y="4288536"/>
            <a:ext cx="392277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humidity alarm followed the temperature alarm three minutes later. What does that sequence usually mean about </a:t>
            </a:r>
            <a:r>
              <a:rPr lang="en-US" sz="1400" b="1" dirty="0">
                <a:solidFill>
                  <a:schemeClr val="tx1"/>
                </a:solidFill>
              </a:rPr>
              <a:t>where</a:t>
            </a:r>
            <a:r>
              <a:rPr lang="en-US" sz="1400" dirty="0">
                <a:solidFill>
                  <a:schemeClr val="tx1"/>
                </a:solidFill>
              </a:rPr>
              <a:t> the water came from — above the ceiling or below the floor?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</a:t>
            </a:r>
            <a:r>
              <a:rPr lang="en-US" sz="1400" b="1" dirty="0">
                <a:solidFill>
                  <a:schemeClr val="tx2"/>
                </a:solidFill>
              </a:rPr>
              <a:t>A fast sequence </a:t>
            </a:r>
            <a:r>
              <a:rPr lang="en-US" sz="1400" b="1" dirty="0">
                <a:solidFill>
                  <a:schemeClr val="tx2"/>
                </a:solidFill>
              </a:rPr>
              <a:t>suggests</a:t>
            </a:r>
            <a:r>
              <a:rPr lang="en-US" sz="1400" b="1" dirty="0">
                <a:solidFill>
                  <a:schemeClr val="tx2"/>
                </a:solidFill>
              </a:rPr>
              <a:t> water coming </a:t>
            </a:r>
            <a:r>
              <a:rPr lang="en-US" sz="1400" b="1" dirty="0">
                <a:solidFill>
                  <a:schemeClr val="tx2"/>
                </a:solidFill>
              </a:rPr>
              <a:t>from above</a:t>
            </a:r>
            <a:r>
              <a:rPr lang="en-US" sz="1400" b="1" dirty="0">
                <a:solidFill>
                  <a:schemeClr val="tx2"/>
                </a:solidFill>
              </a:rPr>
              <a:t> (ceiling pipework) onto the equipment. A </a:t>
            </a:r>
            <a:r>
              <a:rPr lang="en-US" sz="1400" b="1" dirty="0">
                <a:solidFill>
                  <a:schemeClr val="tx2"/>
                </a:solidFill>
              </a:rPr>
              <a:t>hypothesis</a:t>
            </a:r>
            <a:r>
              <a:rPr lang="en-US" sz="1400" b="1" dirty="0">
                <a:solidFill>
                  <a:schemeClr val="tx2"/>
                </a:solidFill>
              </a:rPr>
              <a:t> — to be checked on site, and in the basement.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Explain your field in plain English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16–17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4344" cy="359359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2E75B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514344" cy="228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DEFINE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41448"/>
            <a:ext cx="314858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my field, </a:t>
            </a:r>
            <a:r>
              <a:rPr lang="en-US" sz="2000" i="1" dirty="0">
                <a:solidFill>
                  <a:schemeClr val="tx1"/>
                </a:solidFill>
              </a:rPr>
              <a:t>delivered</a:t>
            </a:r>
            <a:r>
              <a:rPr lang="en-US" sz="2000" dirty="0">
                <a:solidFill>
                  <a:schemeClr val="tx1"/>
                </a:solidFill>
              </a:rPr>
              <a:t> means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Put simply,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It’s a bit like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other words, …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37304" y="1783080"/>
            <a:ext cx="3514344" cy="359359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7304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C0752A"/>
          </a:solidFill>
          <a:ln/>
        </p:spPr>
      </p:sp>
      <p:sp>
        <p:nvSpPr>
          <p:cNvPr id="13" name="Shape 10"/>
          <p:cNvSpPr/>
          <p:nvPr/>
        </p:nvSpPr>
        <p:spPr>
          <a:xfrm>
            <a:off x="4337304" y="2057400"/>
            <a:ext cx="3514344" cy="228600"/>
          </a:xfrm>
          <a:prstGeom prst="rect">
            <a:avLst/>
          </a:prstGeom>
          <a:solidFill>
            <a:srgbClr val="C075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84" y="18928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04232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LIMIT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20184" y="2441448"/>
            <a:ext cx="314858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it </a:t>
            </a:r>
            <a:r>
              <a:rPr lang="en-US" sz="2000" b="1" dirty="0">
                <a:solidFill>
                  <a:schemeClr val="tx1"/>
                </a:solidFill>
              </a:rPr>
              <a:t>shows</a:t>
            </a:r>
            <a:r>
              <a:rPr lang="en-US" sz="2000" dirty="0">
                <a:solidFill>
                  <a:schemeClr val="tx1"/>
                </a:solidFill>
              </a:rPr>
              <a:t> is … What it </a:t>
            </a:r>
            <a:r>
              <a:rPr lang="en-US" sz="2000" b="1" dirty="0">
                <a:solidFill>
                  <a:schemeClr val="tx1"/>
                </a:solidFill>
              </a:rPr>
              <a:t>doesn’t show</a:t>
            </a:r>
            <a:r>
              <a:rPr lang="en-US" sz="2000" dirty="0">
                <a:solidFill>
                  <a:schemeClr val="tx1"/>
                </a:solidFill>
              </a:rPr>
              <a:t> is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proves</a:t>
            </a:r>
            <a:r>
              <a:rPr lang="en-US" sz="2000" dirty="0">
                <a:solidFill>
                  <a:schemeClr val="tx1"/>
                </a:solidFill>
              </a:rPr>
              <a:t> that … but not </a:t>
            </a:r>
            <a:r>
              <a:rPr lang="en-US" sz="2000" b="1" dirty="0">
                <a:solidFill>
                  <a:schemeClr val="tx1"/>
                </a:solidFill>
              </a:rPr>
              <a:t>who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tx1"/>
                </a:solidFill>
              </a:rPr>
              <a:t>why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can’t be sure until …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125968" y="1783080"/>
            <a:ext cx="3514344" cy="359359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25968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3C7A3C"/>
          </a:solidFill>
          <a:ln/>
        </p:spPr>
      </p:sp>
      <p:sp>
        <p:nvSpPr>
          <p:cNvPr id="19" name="Shape 15"/>
          <p:cNvSpPr/>
          <p:nvPr/>
        </p:nvSpPr>
        <p:spPr>
          <a:xfrm>
            <a:off x="8125968" y="2057400"/>
            <a:ext cx="3514344" cy="228600"/>
          </a:xfrm>
          <a:prstGeom prst="rect">
            <a:avLst/>
          </a:prstGeom>
          <a:solidFill>
            <a:srgbClr val="3C7A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9280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692896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ADVISE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308848" y="2441448"/>
            <a:ext cx="314858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 </a:t>
            </a:r>
            <a:r>
              <a:rPr lang="en-US" sz="2000" b="1" dirty="0">
                <a:solidFill>
                  <a:schemeClr val="tx1"/>
                </a:solidFill>
              </a:rPr>
              <a:t>would / wouldn’t</a:t>
            </a:r>
            <a:r>
              <a:rPr lang="en-US" sz="2000" dirty="0">
                <a:solidFill>
                  <a:schemeClr val="tx1"/>
                </a:solidFill>
              </a:rPr>
              <a:t> … </a:t>
            </a:r>
            <a:r>
              <a:rPr lang="en-US" sz="2000" b="1" dirty="0">
                <a:solidFill>
                  <a:schemeClr val="tx1"/>
                </a:solidFill>
              </a:rPr>
              <a:t>because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Before …, we </a:t>
            </a:r>
            <a:r>
              <a:rPr lang="en-US" sz="2000" b="1" dirty="0">
                <a:solidFill>
                  <a:schemeClr val="tx1"/>
                </a:solidFill>
              </a:rPr>
              <a:t>need</a:t>
            </a:r>
            <a:r>
              <a:rPr lang="en-US" sz="2000" dirty="0">
                <a:solidFill>
                  <a:schemeClr val="tx1"/>
                </a:solidFill>
              </a:rPr>
              <a:t> … </a:t>
            </a:r>
            <a:r>
              <a:rPr lang="en-US" sz="2000" b="1" dirty="0">
                <a:solidFill>
                  <a:schemeClr val="tx1"/>
                </a:solidFill>
              </a:rPr>
              <a:t>from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If I were you, I’d ask for …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548640" y="56509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97296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25880" y="5705856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One minute, three moves — </a:t>
            </a:r>
            <a:r>
              <a:rPr lang="en-US" sz="1800" b="1" dirty="0">
                <a:solidFill>
                  <a:schemeClr val="tx1"/>
                </a:solidFill>
              </a:rPr>
              <a:t>define</a:t>
            </a:r>
            <a:r>
              <a:rPr lang="en-US" sz="1800" dirty="0">
                <a:solidFill>
                  <a:schemeClr val="tx1"/>
                </a:solidFill>
              </a:rPr>
              <a:t> the word · </a:t>
            </a:r>
            <a:r>
              <a:rPr lang="en-US" sz="1800" b="1" dirty="0">
                <a:solidFill>
                  <a:schemeClr val="tx1"/>
                </a:solidFill>
              </a:rPr>
              <a:t>limit</a:t>
            </a:r>
            <a:r>
              <a:rPr lang="en-US" sz="1800" dirty="0">
                <a:solidFill>
                  <a:schemeClr val="tx1"/>
                </a:solidFill>
              </a:rPr>
              <a:t> what it proves · </a:t>
            </a:r>
            <a:r>
              <a:rPr lang="en-US" sz="1800" b="1" dirty="0">
                <a:solidFill>
                  <a:schemeClr val="tx1"/>
                </a:solidFill>
              </a:rPr>
              <a:t>advise</a:t>
            </a:r>
            <a:r>
              <a:rPr lang="en-US" sz="1800" dirty="0">
                <a:solidFill>
                  <a:schemeClr val="tx1"/>
                </a:solidFill>
              </a:rPr>
              <a:t> the next step.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journalist went too far — correct the article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local news site published this. Find </a:t>
            </a:r>
            <a:r>
              <a:rPr lang="en-US" sz="1600" b="1" i="1" dirty="0">
                <a:solidFill>
                  <a:schemeClr val="accent5"/>
                </a:solidFill>
              </a:rPr>
              <a:t>six</a:t>
            </a:r>
            <a:r>
              <a:rPr lang="en-US" sz="1600" i="1" dirty="0">
                <a:solidFill>
                  <a:schemeClr val="accent5"/>
                </a:solidFill>
              </a:rPr>
              <a:t> problems: overstatements, a wrong time, a grammar slip — and a name that should not be there.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81072"/>
            <a:ext cx="11091672" cy="382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tag"/>
          <p:cNvSpPr/>
          <p:nvPr/>
        </p:nvSpPr>
        <p:spPr>
          <a:xfrm>
            <a:off x="822960" y="2663952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ONLINE NEWS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674620" y="2627376"/>
            <a:ext cx="7091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“Flood at Atlas House: the night guard ignored the alarm”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765792" y="2636520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B4236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765792" y="2636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 problems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3166872"/>
            <a:ext cx="10543032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914400" y="3304032"/>
            <a:ext cx="10360152" cy="291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An alert was sent to a mobile at 23:42, which </a:t>
            </a:r>
            <a:r>
              <a:rPr lang="en-US" sz="2100" dirty="0">
                <a:solidFill>
                  <a:schemeClr val="tx1"/>
                </a:solidFill>
              </a:rPr>
              <a:t>proves that the guard read it</a:t>
            </a:r>
            <a:r>
              <a:rPr lang="en-US" sz="2100" dirty="0">
                <a:solidFill>
                  <a:schemeClr val="tx1"/>
                </a:solidFill>
              </a:rPr>
              <a:t>. The alarm went off at </a:t>
            </a:r>
            <a:r>
              <a:rPr lang="en-US" sz="2100" dirty="0">
                <a:solidFill>
                  <a:schemeClr val="tx1"/>
                </a:solidFill>
              </a:rPr>
              <a:t>11.40 p.m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According to our sources, </a:t>
            </a:r>
            <a:r>
              <a:rPr lang="en-US" sz="2100" dirty="0">
                <a:solidFill>
                  <a:schemeClr val="tx1"/>
                </a:solidFill>
              </a:rPr>
              <a:t>the site manager entered the room at 20:04</a:t>
            </a:r>
            <a:r>
              <a:rPr lang="en-US" sz="2100" dirty="0">
                <a:solidFill>
                  <a:schemeClr val="tx1"/>
                </a:solidFill>
              </a:rPr>
              <a:t>. </a:t>
            </a:r>
            <a:r>
              <a:rPr lang="en-US" sz="2100" dirty="0">
                <a:solidFill>
                  <a:schemeClr val="tx1"/>
                </a:solidFill>
              </a:rPr>
              <a:t>Nobody was in the building</a:t>
            </a:r>
            <a:r>
              <a:rPr lang="en-US" sz="2100" dirty="0">
                <a:solidFill>
                  <a:schemeClr val="tx1"/>
                </a:solidFill>
              </a:rPr>
              <a:t> after 20:19.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The humidity alarm </a:t>
            </a:r>
            <a:r>
              <a:rPr lang="en-US" sz="2100" dirty="0">
                <a:solidFill>
                  <a:schemeClr val="tx1"/>
                </a:solidFill>
              </a:rPr>
              <a:t>proves</a:t>
            </a:r>
            <a:r>
              <a:rPr lang="en-US" sz="2100" dirty="0">
                <a:solidFill>
                  <a:schemeClr val="tx1"/>
                </a:solidFill>
              </a:rPr>
              <a:t> that the old pipe burst. The water ran </a:t>
            </a:r>
            <a:r>
              <a:rPr lang="en-US" sz="2100" dirty="0">
                <a:solidFill>
                  <a:schemeClr val="tx1"/>
                </a:solidFill>
              </a:rPr>
              <a:t>during</a:t>
            </a:r>
            <a:r>
              <a:rPr lang="en-US" sz="2100" dirty="0">
                <a:solidFill>
                  <a:schemeClr val="tx1"/>
                </a:solidFill>
              </a:rPr>
              <a:t> about seven hours.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journalist went too far — correct the article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Each claim brought back to what the evidence </a:t>
            </a:r>
            <a:r>
              <a:rPr lang="en-US" sz="1600" b="1" i="1" dirty="0">
                <a:solidFill>
                  <a:schemeClr val="accent5"/>
                </a:solidFill>
              </a:rPr>
              <a:t>really</a:t>
            </a:r>
            <a:r>
              <a:rPr lang="en-US" sz="1600" i="1" dirty="0">
                <a:solidFill>
                  <a:schemeClr val="accent5"/>
                </a:solidFill>
              </a:rPr>
              <a:t> shows.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tag"/>
          <p:cNvSpPr/>
          <p:nvPr/>
        </p:nvSpPr>
        <p:spPr>
          <a:xfrm>
            <a:off x="822960" y="2420112"/>
            <a:ext cx="16230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ONLINE NEWS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74620" y="2383536"/>
            <a:ext cx="7091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“Flood at Atlas House: the night guard ignored the alarm”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765792" y="2392680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3C7A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765792" y="2392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6 corrections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2923032"/>
            <a:ext cx="10543032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914400" y="3060192"/>
            <a:ext cx="10360152" cy="315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An alert was sent to a mobile at 23:42, which </a:t>
            </a:r>
            <a:r>
              <a:rPr lang="en-US" sz="2100" strike="sngStrike" dirty="0">
                <a:solidFill>
                  <a:schemeClr val="accent6"/>
                </a:solidFill>
              </a:rPr>
              <a:t>proves that the guard read it</a:t>
            </a:r>
            <a:r>
              <a:rPr lang="en-US" sz="2100" b="1" dirty="0">
                <a:solidFill>
                  <a:schemeClr val="accent3"/>
                </a:solidFill>
              </a:rPr>
              <a:t> means that somebody could have known</a:t>
            </a:r>
            <a:r>
              <a:rPr lang="en-US" sz="2100" dirty="0">
                <a:solidFill>
                  <a:schemeClr val="tx1"/>
                </a:solidFill>
              </a:rPr>
              <a:t>. The alarm went off at </a:t>
            </a:r>
            <a:r>
              <a:rPr lang="en-US" sz="2100" strike="sngStrike" dirty="0">
                <a:solidFill>
                  <a:schemeClr val="accent6"/>
                </a:solidFill>
              </a:rPr>
              <a:t>11.40 p.m</a:t>
            </a:r>
            <a:r>
              <a:rPr lang="en-US" sz="2100" b="1" dirty="0">
                <a:solidFill>
                  <a:schemeClr val="accent3"/>
                </a:solidFill>
              </a:rPr>
              <a:t> 23:41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According to our sources, </a:t>
            </a:r>
            <a:r>
              <a:rPr lang="en-US" sz="2100" strike="sngStrike" dirty="0">
                <a:solidFill>
                  <a:schemeClr val="accent6"/>
                </a:solidFill>
              </a:rPr>
              <a:t>the site manager entered the room at 20:04</a:t>
            </a:r>
            <a:r>
              <a:rPr lang="en-US" sz="2100" b="1" dirty="0">
                <a:solidFill>
                  <a:schemeClr val="accent3"/>
                </a:solidFill>
              </a:rPr>
              <a:t> an access to zone 2F was recorded at 20:04</a:t>
            </a:r>
            <a:r>
              <a:rPr lang="en-US" sz="2100" dirty="0">
                <a:solidFill>
                  <a:schemeClr val="tx1"/>
                </a:solidFill>
              </a:rPr>
              <a:t>. </a:t>
            </a:r>
            <a:r>
              <a:rPr lang="en-US" sz="2100" strike="sngStrike" dirty="0">
                <a:solidFill>
                  <a:schemeClr val="accent6"/>
                </a:solidFill>
              </a:rPr>
              <a:t>Nobody was in the building</a:t>
            </a:r>
            <a:r>
              <a:rPr lang="en-US" sz="2100" b="1" dirty="0">
                <a:solidFill>
                  <a:schemeClr val="accent3"/>
                </a:solidFill>
              </a:rPr>
              <a:t> No access was recorded</a:t>
            </a:r>
            <a:r>
              <a:rPr lang="en-US" sz="2100" dirty="0">
                <a:solidFill>
                  <a:schemeClr val="tx1"/>
                </a:solidFill>
              </a:rPr>
              <a:t> after 20:19.</a:t>
            </a:r>
            <a:endParaRPr lang="en-US" sz="21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The humidity alarm </a:t>
            </a:r>
            <a:r>
              <a:rPr lang="en-US" sz="2100" strike="sngStrike" dirty="0">
                <a:solidFill>
                  <a:schemeClr val="accent6"/>
                </a:solidFill>
              </a:rPr>
              <a:t>proves</a:t>
            </a:r>
            <a:r>
              <a:rPr lang="en-US" sz="2100" b="1" dirty="0">
                <a:solidFill>
                  <a:schemeClr val="accent3"/>
                </a:solidFill>
              </a:rPr>
              <a:t> suggests</a:t>
            </a:r>
            <a:r>
              <a:rPr lang="en-US" sz="2100" dirty="0">
                <a:solidFill>
                  <a:schemeClr val="tx1"/>
                </a:solidFill>
              </a:rPr>
              <a:t> that the old pipe burst. The water ran </a:t>
            </a:r>
            <a:r>
              <a:rPr lang="en-US" sz="2100" strike="sngStrike" dirty="0">
                <a:solidFill>
                  <a:schemeClr val="accent6"/>
                </a:solidFill>
              </a:rPr>
              <a:t>during</a:t>
            </a:r>
            <a:r>
              <a:rPr lang="en-US" sz="2100" b="1" dirty="0">
                <a:solidFill>
                  <a:schemeClr val="accent3"/>
                </a:solidFill>
              </a:rPr>
              <a:t> for</a:t>
            </a:r>
            <a:r>
              <a:rPr lang="en-US" sz="2100" dirty="0">
                <a:solidFill>
                  <a:schemeClr val="tx1"/>
                </a:solidFill>
              </a:rPr>
              <a:t> about seven hours.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Taboo — explain it without the obvious words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player explains the word </a:t>
            </a:r>
            <a:r>
              <a:rPr lang="en-US" sz="1600" b="1" i="1" dirty="0">
                <a:solidFill>
                  <a:schemeClr val="accent5"/>
                </a:solidFill>
              </a:rPr>
              <a:t>without</a:t>
            </a:r>
            <a:r>
              <a:rPr lang="en-US" sz="1600" i="1" dirty="0">
                <a:solidFill>
                  <a:schemeClr val="accent5"/>
                </a:solidFill>
              </a:rPr>
              <a:t> saying it or the three taboo words. The team has 30 seconds to guess.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383536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676144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evidence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206496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proof · show · court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9808" y="3572256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3663696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les preuves (indénombrable)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7185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73018" y="2383536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573018" y="2676144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threshold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3573018" y="3206496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limit · level · alarm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73018" y="3572256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73018" y="3663696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un seuil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9506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96228" y="2383536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96228" y="2676144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acknowledged</a:t>
            </a:r>
            <a:endParaRPr lang="en-US" sz="2500" dirty="0"/>
          </a:p>
        </p:txBody>
      </p:sp>
      <p:sp>
        <p:nvSpPr>
          <p:cNvPr id="22" name="Text 19"/>
          <p:cNvSpPr txBox="1"/>
          <p:nvPr/>
        </p:nvSpPr>
        <p:spPr>
          <a:xfrm>
            <a:off x="6396228" y="3206496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confirm · read · OK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396228" y="3572256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96228" y="3663696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acquitté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018270" y="2237232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19438" y="2383536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219438" y="2676144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 estimate</a:t>
            </a:r>
            <a:endParaRPr lang="en-US" sz="2500" dirty="0"/>
          </a:p>
        </p:txBody>
      </p:sp>
      <p:sp>
        <p:nvSpPr>
          <p:cNvPr id="28" name="Text 25"/>
          <p:cNvSpPr txBox="1"/>
          <p:nvPr/>
        </p:nvSpPr>
        <p:spPr>
          <a:xfrm>
            <a:off x="9219438" y="3206496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price · cost · repair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219438" y="3572256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19438" y="3663696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un devis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5201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48127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badge</a:t>
            </a:r>
            <a:endParaRPr lang="en-US" sz="250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53431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card · door · enter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749808" y="57089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9808" y="5800344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un badge d’accès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37185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573018" y="45201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3573018" y="48127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shutdown</a:t>
            </a:r>
            <a:endParaRPr lang="en-US" sz="2500" dirty="0"/>
          </a:p>
        </p:txBody>
      </p:sp>
      <p:sp>
        <p:nvSpPr>
          <p:cNvPr id="40" name="Text 37"/>
          <p:cNvSpPr txBox="1"/>
          <p:nvPr/>
        </p:nvSpPr>
        <p:spPr>
          <a:xfrm>
            <a:off x="3573018" y="53431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stop · off · server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3573018" y="57089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573018" y="5800344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un arrêt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19506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396228" y="45201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396228" y="48127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humidity</a:t>
            </a:r>
            <a:endParaRPr lang="en-US" sz="2500" dirty="0"/>
          </a:p>
        </p:txBody>
      </p:sp>
      <p:sp>
        <p:nvSpPr>
          <p:cNvPr id="46" name="Text 43"/>
          <p:cNvSpPr txBox="1"/>
          <p:nvPr/>
        </p:nvSpPr>
        <p:spPr>
          <a:xfrm>
            <a:off x="6396228" y="53431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water · wet · air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6396228" y="57089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96228" y="5800344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l’humidité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9018270" y="4373880"/>
            <a:ext cx="262204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219438" y="45201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TABOO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9219438" y="48127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 assessor</a:t>
            </a:r>
            <a:endParaRPr lang="en-US" sz="2500" dirty="0"/>
          </a:p>
        </p:txBody>
      </p:sp>
      <p:sp>
        <p:nvSpPr>
          <p:cNvPr id="52" name="Text 49"/>
          <p:cNvSpPr txBox="1"/>
          <p:nvPr/>
        </p:nvSpPr>
        <p:spPr>
          <a:xfrm>
            <a:off x="9219438" y="53431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claim · expert · loss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9219438" y="57089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19438" y="5800344"/>
            <a:ext cx="221970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= un expert en sinistres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Role play — the nine o’clock briefing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Travaillez à deux : A pose les questions, B répond, puis échangez les rôles. Tout se dit en anglais, avec les verbes de la preuve !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81072"/>
            <a:ext cx="5408676" cy="3828288"/>
          </a:xfrm>
          <a:prstGeom prst="roundRect">
            <a:avLst>
              <a:gd name="adj" fmla="val 238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481072"/>
            <a:ext cx="5408676" cy="457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1112"/>
            <a:ext cx="5408676" cy="137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481072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A · MARK SHAW, LE RESPONSABLE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21152"/>
            <a:ext cx="4951476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1.  </a:t>
            </a:r>
            <a:r>
              <a:rPr lang="en-US" sz="1500" b="1" dirty="0">
                <a:solidFill>
                  <a:schemeClr val="accent2"/>
                </a:solidFill>
              </a:rPr>
              <a:t>(?)  </a:t>
            </a:r>
            <a:r>
              <a:rPr lang="en-US" sz="1500" dirty="0">
                <a:solidFill>
                  <a:schemeClr val="tx1"/>
                </a:solidFill>
              </a:rPr>
              <a:t>Demandez si l’eau </a:t>
            </a:r>
            <a:r>
              <a:rPr lang="en-US" sz="1500" b="1" dirty="0">
                <a:solidFill>
                  <a:schemeClr val="tx1"/>
                </a:solidFill>
              </a:rPr>
              <a:t>coulait encore</a:t>
            </a:r>
            <a:r>
              <a:rPr lang="en-US" sz="1500" dirty="0">
                <a:solidFill>
                  <a:schemeClr val="tx1"/>
                </a:solidFill>
              </a:rPr>
              <a:t> à 6 h 50.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2.  </a:t>
            </a:r>
            <a:r>
              <a:rPr lang="en-US" sz="1500" b="1" dirty="0">
                <a:solidFill>
                  <a:schemeClr val="accent2"/>
                </a:solidFill>
              </a:rPr>
              <a:t>(?)  </a:t>
            </a:r>
            <a:r>
              <a:rPr lang="en-US" sz="1500" dirty="0">
                <a:solidFill>
                  <a:schemeClr val="tx1"/>
                </a:solidFill>
              </a:rPr>
              <a:t>Demandez si </a:t>
            </a:r>
            <a:r>
              <a:rPr lang="en-US" sz="1500" b="1" dirty="0">
                <a:solidFill>
                  <a:schemeClr val="tx1"/>
                </a:solidFill>
              </a:rPr>
              <a:t>quelqu’un était sur place</a:t>
            </a:r>
            <a:r>
              <a:rPr lang="en-US" sz="1500" dirty="0">
                <a:solidFill>
                  <a:schemeClr val="tx1"/>
                </a:solidFill>
              </a:rPr>
              <a:t> à 23 h 41.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3.  </a:t>
            </a:r>
            <a:r>
              <a:rPr lang="en-US" sz="1500" b="1" dirty="0">
                <a:solidFill>
                  <a:schemeClr val="accent2"/>
                </a:solidFill>
              </a:rPr>
              <a:t>(?)  </a:t>
            </a:r>
            <a:r>
              <a:rPr lang="en-US" sz="1500" dirty="0">
                <a:solidFill>
                  <a:schemeClr val="tx1"/>
                </a:solidFill>
              </a:rPr>
              <a:t>Demandez si quelqu’un </a:t>
            </a:r>
            <a:r>
              <a:rPr lang="en-US" sz="1500" b="1" dirty="0">
                <a:solidFill>
                  <a:schemeClr val="tx1"/>
                </a:solidFill>
              </a:rPr>
              <a:t>a lu l’alerte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4.  </a:t>
            </a:r>
            <a:r>
              <a:rPr lang="en-US" sz="1500" b="1" dirty="0">
                <a:solidFill>
                  <a:schemeClr val="accent2"/>
                </a:solidFill>
              </a:rPr>
              <a:t>(?)  </a:t>
            </a:r>
            <a:r>
              <a:rPr lang="en-US" sz="1500" dirty="0">
                <a:solidFill>
                  <a:schemeClr val="tx1"/>
                </a:solidFill>
              </a:rPr>
              <a:t>Demandez ce que </a:t>
            </a:r>
            <a:r>
              <a:rPr lang="en-US" sz="1500" b="1" dirty="0">
                <a:solidFill>
                  <a:schemeClr val="tx1"/>
                </a:solidFill>
              </a:rPr>
              <a:t>prouve</a:t>
            </a:r>
            <a:r>
              <a:rPr lang="en-US" sz="1500" dirty="0">
                <a:solidFill>
                  <a:schemeClr val="tx1"/>
                </a:solidFill>
              </a:rPr>
              <a:t> la ligne de 20 h 04.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5.  </a:t>
            </a:r>
            <a:r>
              <a:rPr lang="en-US" sz="1500" b="1" dirty="0">
                <a:solidFill>
                  <a:schemeClr val="tx2"/>
                </a:solidFill>
              </a:rPr>
              <a:t>(+)  </a:t>
            </a:r>
            <a:r>
              <a:rPr lang="en-US" sz="1500" dirty="0">
                <a:solidFill>
                  <a:schemeClr val="tx1"/>
                </a:solidFill>
              </a:rPr>
              <a:t>Dites qu’il faut </a:t>
            </a:r>
            <a:r>
              <a:rPr lang="en-US" sz="1500" b="1" dirty="0">
                <a:solidFill>
                  <a:schemeClr val="tx1"/>
                </a:solidFill>
              </a:rPr>
              <a:t>un devis</a:t>
            </a:r>
            <a:r>
              <a:rPr lang="en-US" sz="1500" dirty="0">
                <a:solidFill>
                  <a:schemeClr val="tx1"/>
                </a:solidFill>
              </a:rPr>
              <a:t> pour l’unité 3.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6.  </a:t>
            </a:r>
            <a:r>
              <a:rPr lang="en-US" sz="1500" b="1" dirty="0">
                <a:solidFill>
                  <a:schemeClr val="accent6"/>
                </a:solidFill>
              </a:rPr>
              <a:t>(–)  </a:t>
            </a:r>
            <a:r>
              <a:rPr lang="en-US" sz="1500" dirty="0">
                <a:solidFill>
                  <a:schemeClr val="tx1"/>
                </a:solidFill>
              </a:rPr>
              <a:t>Dites de </a:t>
            </a:r>
            <a:r>
              <a:rPr lang="en-US" sz="1500" b="1" dirty="0">
                <a:solidFill>
                  <a:schemeClr val="tx1"/>
                </a:solidFill>
              </a:rPr>
              <a:t>ne pas écrire</a:t>
            </a:r>
            <a:r>
              <a:rPr lang="en-US" sz="1500" dirty="0">
                <a:solidFill>
                  <a:schemeClr val="tx1"/>
                </a:solidFill>
              </a:rPr>
              <a:t> le numéro de badge.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31636" y="2481072"/>
            <a:ext cx="5408676" cy="3828288"/>
          </a:xfrm>
          <a:prstGeom prst="roundRect">
            <a:avLst>
              <a:gd name="adj" fmla="val 2389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1636" y="2481072"/>
            <a:ext cx="5408676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1636" y="2801112"/>
            <a:ext cx="5408676" cy="137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60236" y="2481072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B · VOUS, L’INGÉNIEUR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60236" y="3121152"/>
            <a:ext cx="4951476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1.  </a:t>
            </a:r>
            <a:r>
              <a:rPr lang="en-US" sz="1500" b="1" dirty="0">
                <a:solidFill>
                  <a:schemeClr val="tx2"/>
                </a:solidFill>
              </a:rPr>
              <a:t>(+)  </a:t>
            </a:r>
            <a:r>
              <a:rPr lang="en-US" sz="1500" dirty="0">
                <a:solidFill>
                  <a:schemeClr val="tx1"/>
                </a:solidFill>
              </a:rPr>
              <a:t>Oui : les agents d’entretien </a:t>
            </a:r>
            <a:r>
              <a:rPr lang="en-US" sz="1500" b="1" dirty="0">
                <a:solidFill>
                  <a:schemeClr val="tx1"/>
                </a:solidFill>
              </a:rPr>
              <a:t>l’ont vue</a:t>
            </a:r>
            <a:r>
              <a:rPr lang="en-US" sz="1500" dirty="0">
                <a:solidFill>
                  <a:schemeClr val="tx1"/>
                </a:solidFill>
              </a:rPr>
              <a:t> ; leur entrée est </a:t>
            </a:r>
            <a:r>
              <a:rPr lang="en-US" sz="1500" b="1" dirty="0">
                <a:solidFill>
                  <a:schemeClr val="tx1"/>
                </a:solidFill>
              </a:rPr>
              <a:t>enregistrée</a:t>
            </a:r>
            <a:r>
              <a:rPr lang="en-US" sz="1500" dirty="0">
                <a:solidFill>
                  <a:schemeClr val="tx1"/>
                </a:solidFill>
              </a:rPr>
              <a:t> à 6 h 47.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2.  </a:t>
            </a:r>
            <a:r>
              <a:rPr lang="en-US" sz="1500" b="1" dirty="0">
                <a:solidFill>
                  <a:schemeClr val="accent6"/>
                </a:solidFill>
              </a:rPr>
              <a:t>(–)  </a:t>
            </a:r>
            <a:r>
              <a:rPr lang="en-US" sz="1500" b="1" dirty="0">
                <a:solidFill>
                  <a:schemeClr val="tx1"/>
                </a:solidFill>
              </a:rPr>
              <a:t>Aucun accès n’a été enregistré</a:t>
            </a:r>
            <a:r>
              <a:rPr lang="en-US" sz="1500" dirty="0">
                <a:solidFill>
                  <a:schemeClr val="tx1"/>
                </a:solidFill>
              </a:rPr>
              <a:t> après 20 h 19 — mais ce n’est pas une preuve d’absence.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3.  </a:t>
            </a:r>
            <a:r>
              <a:rPr lang="en-US" sz="1500" b="1" dirty="0">
                <a:solidFill>
                  <a:schemeClr val="accent6"/>
                </a:solidFill>
              </a:rPr>
              <a:t>(–)  </a:t>
            </a:r>
            <a:r>
              <a:rPr lang="en-US" sz="1500" dirty="0">
                <a:solidFill>
                  <a:schemeClr val="tx1"/>
                </a:solidFill>
              </a:rPr>
              <a:t>Il n’y a </a:t>
            </a:r>
            <a:r>
              <a:rPr lang="en-US" sz="1500" b="1" dirty="0">
                <a:solidFill>
                  <a:schemeClr val="tx1"/>
                </a:solidFill>
              </a:rPr>
              <a:t>aucune trace</a:t>
            </a:r>
            <a:r>
              <a:rPr lang="en-US" sz="1500" dirty="0">
                <a:solidFill>
                  <a:schemeClr val="tx1"/>
                </a:solidFill>
              </a:rPr>
              <a:t> d’une lecture : l’alerte a seulement été </a:t>
            </a:r>
            <a:r>
              <a:rPr lang="en-US" sz="1500" b="1" dirty="0">
                <a:solidFill>
                  <a:schemeClr val="tx1"/>
                </a:solidFill>
              </a:rPr>
              <a:t>délivrée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4.  </a:t>
            </a:r>
            <a:r>
              <a:rPr lang="en-US" sz="1500" b="1" dirty="0">
                <a:solidFill>
                  <a:schemeClr val="tx2"/>
                </a:solidFill>
              </a:rPr>
              <a:t>(+)  </a:t>
            </a:r>
            <a:r>
              <a:rPr lang="en-US" sz="1500" dirty="0">
                <a:solidFill>
                  <a:schemeClr val="tx1"/>
                </a:solidFill>
              </a:rPr>
              <a:t>Elle </a:t>
            </a:r>
            <a:r>
              <a:rPr lang="en-US" sz="1500" b="1" dirty="0">
                <a:solidFill>
                  <a:schemeClr val="tx1"/>
                </a:solidFill>
              </a:rPr>
              <a:t>prouve</a:t>
            </a:r>
            <a:r>
              <a:rPr lang="en-US" sz="1500" dirty="0">
                <a:solidFill>
                  <a:schemeClr val="tx1"/>
                </a:solidFill>
              </a:rPr>
              <a:t> qu’un badge a été utilisé — </a:t>
            </a:r>
            <a:r>
              <a:rPr lang="en-US" sz="1500" b="1" dirty="0">
                <a:solidFill>
                  <a:schemeClr val="tx1"/>
                </a:solidFill>
              </a:rPr>
              <a:t>pas qui</a:t>
            </a:r>
            <a:r>
              <a:rPr lang="en-US" sz="1500" dirty="0">
                <a:solidFill>
                  <a:schemeClr val="tx1"/>
                </a:solidFill>
              </a:rPr>
              <a:t> le portait.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5.  </a:t>
            </a:r>
            <a:r>
              <a:rPr lang="en-US" sz="1500" b="1" dirty="0">
                <a:solidFill>
                  <a:schemeClr val="tx2"/>
                </a:solidFill>
              </a:rPr>
              <a:t>(+)  </a:t>
            </a:r>
            <a:r>
              <a:rPr lang="en-US" sz="1500" dirty="0">
                <a:solidFill>
                  <a:schemeClr val="tx1"/>
                </a:solidFill>
              </a:rPr>
              <a:t>D’accord : vous le </a:t>
            </a:r>
            <a:r>
              <a:rPr lang="en-US" sz="1500" b="1" dirty="0">
                <a:solidFill>
                  <a:schemeClr val="tx1"/>
                </a:solidFill>
              </a:rPr>
              <a:t>demanderez</a:t>
            </a:r>
            <a:r>
              <a:rPr lang="en-US" sz="1500" dirty="0">
                <a:solidFill>
                  <a:schemeClr val="tx1"/>
                </a:solidFill>
              </a:rPr>
              <a:t> au prestataire informatique.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6.  </a:t>
            </a:r>
            <a:r>
              <a:rPr lang="en-US" sz="1500" b="1" dirty="0">
                <a:solidFill>
                  <a:schemeClr val="tx2"/>
                </a:solidFill>
              </a:rPr>
              <a:t>(+)  </a:t>
            </a:r>
            <a:r>
              <a:rPr lang="en-US" sz="1500" dirty="0">
                <a:solidFill>
                  <a:schemeClr val="tx1"/>
                </a:solidFill>
              </a:rPr>
              <a:t>Promettez d’écrire « </a:t>
            </a:r>
            <a:r>
              <a:rPr lang="en-US" sz="1500" b="1" dirty="0">
                <a:solidFill>
                  <a:schemeClr val="tx1"/>
                </a:solidFill>
              </a:rPr>
              <a:t>un accès a été enregistré</a:t>
            </a:r>
            <a:r>
              <a:rPr lang="en-US" sz="1500" dirty="0">
                <a:solidFill>
                  <a:schemeClr val="tx1"/>
                </a:solidFill>
              </a:rPr>
              <a:t> 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language of evidence — complete the sentences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Use each word once.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1225296"/>
          </a:xfrm>
          <a:prstGeom prst="roundRect">
            <a:avLst>
              <a:gd name="adj" fmla="val 5970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WORD BANK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evidence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76448" y="2420112"/>
            <a:ext cx="99974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04208" y="2420112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establish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489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 out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88048" y="2420112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statement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3280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supports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771888" y="2420112"/>
            <a:ext cx="110540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witness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737360" y="2895600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points to</a:t>
            </a:r>
            <a:endParaRPr lang="en-US" sz="1600" dirty="0"/>
          </a:p>
        </p:txBody>
      </p:sp>
      <p:sp>
        <p:nvSpPr>
          <p:cNvPr id="17" name="exercise"/>
          <p:cNvSpPr txBox="1"/>
          <p:nvPr/>
        </p:nvSpPr>
        <p:spPr>
          <a:xfrm>
            <a:off x="548640" y="3736848"/>
            <a:ext cx="5317236" cy="257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Two pieces of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 contradict Samuel. </a:t>
            </a:r>
            <a:r>
              <a:rPr lang="en-US" sz="1600" i="1" dirty="0">
                <a:solidFill>
                  <a:schemeClr val="tx1"/>
                </a:solidFill>
              </a:rPr>
              <a:t>(les preuves)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There is no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 that the alert was read. </a:t>
            </a:r>
            <a:r>
              <a:rPr lang="en-US" sz="1600" i="1" dirty="0">
                <a:solidFill>
                  <a:schemeClr val="tx1"/>
                </a:solidFill>
              </a:rPr>
              <a:t>(une trace)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3.  </a:t>
            </a:r>
            <a:r>
              <a:rPr lang="en-US" sz="1600" dirty="0">
                <a:solidFill>
                  <a:schemeClr val="tx1"/>
                </a:solidFill>
              </a:rPr>
              <a:t>The log does not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 who carried the badge. </a:t>
            </a:r>
            <a:r>
              <a:rPr lang="en-US" sz="1600" i="1" dirty="0">
                <a:solidFill>
                  <a:schemeClr val="tx1"/>
                </a:solidFill>
              </a:rPr>
              <a:t>(établir)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4.  </a:t>
            </a:r>
            <a:r>
              <a:rPr lang="en-US" sz="1600" dirty="0">
                <a:solidFill>
                  <a:schemeClr val="tx1"/>
                </a:solidFill>
              </a:rPr>
              <a:t>We cannot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 a second leak. </a:t>
            </a:r>
            <a:r>
              <a:rPr lang="en-US" sz="1600" i="1" dirty="0">
                <a:solidFill>
                  <a:schemeClr val="tx1"/>
                </a:solidFill>
              </a:rPr>
              <a:t>(écarter)</a:t>
            </a:r>
            <a:endParaRPr lang="en-US" sz="1600" dirty="0"/>
          </a:p>
        </p:txBody>
      </p:sp>
      <p:sp>
        <p:nvSpPr>
          <p:cNvPr id="18" name="exercise"/>
          <p:cNvSpPr txBox="1"/>
          <p:nvPr/>
        </p:nvSpPr>
        <p:spPr>
          <a:xfrm>
            <a:off x="6323076" y="3736848"/>
            <a:ext cx="5317236" cy="257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5.  </a:t>
            </a:r>
            <a:r>
              <a:rPr lang="en-US" sz="1600" dirty="0">
                <a:solidFill>
                  <a:schemeClr val="tx1"/>
                </a:solidFill>
              </a:rPr>
              <a:t>Ask the cleaners for a written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i="1" dirty="0">
                <a:solidFill>
                  <a:schemeClr val="tx1"/>
                </a:solidFill>
              </a:rPr>
              <a:t>(une déclaration)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6.  </a:t>
            </a:r>
            <a:r>
              <a:rPr lang="en-US" sz="1600" dirty="0">
                <a:solidFill>
                  <a:schemeClr val="tx1"/>
                </a:solidFill>
              </a:rPr>
              <a:t>Nothing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 Verdier’s claim. </a:t>
            </a:r>
            <a:r>
              <a:rPr lang="en-US" sz="1600" i="1" dirty="0">
                <a:solidFill>
                  <a:schemeClr val="tx1"/>
                </a:solidFill>
              </a:rPr>
              <a:t>(étayer)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7.  </a:t>
            </a:r>
            <a:r>
              <a:rPr lang="en-US" sz="1600" dirty="0">
                <a:solidFill>
                  <a:schemeClr val="tx1"/>
                </a:solidFill>
              </a:rPr>
              <a:t>The cleaner is our only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 at 6.50. </a:t>
            </a:r>
            <a:r>
              <a:rPr lang="en-US" sz="1600" i="1" dirty="0">
                <a:solidFill>
                  <a:schemeClr val="tx1"/>
                </a:solidFill>
              </a:rPr>
              <a:t>(un témoin)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8.  </a:t>
            </a:r>
            <a:r>
              <a:rPr lang="en-US" sz="1600" dirty="0">
                <a:solidFill>
                  <a:schemeClr val="tx1"/>
                </a:solidFill>
              </a:rPr>
              <a:t>The humidity alarm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r>
              <a:rPr lang="en-US" sz="1600" dirty="0">
                <a:solidFill>
                  <a:schemeClr val="tx1"/>
                </a:solidFill>
              </a:rPr>
              <a:t> a leak above the ceiling. </a:t>
            </a:r>
            <a:r>
              <a:rPr lang="en-US" sz="1600" i="1" dirty="0">
                <a:solidFill>
                  <a:schemeClr val="tx1"/>
                </a:solidFill>
              </a:rPr>
              <a:t>(indiquer)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language of evidence — complete the sentences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Use each word once.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1225296"/>
          </a:xfrm>
          <a:prstGeom prst="roundRect">
            <a:avLst>
              <a:gd name="adj" fmla="val 5970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31520" y="2237232"/>
            <a:ext cx="1005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WORD BANK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373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evidence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76448" y="2420112"/>
            <a:ext cx="99974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record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04208" y="2420112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establish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4896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rule out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88048" y="2420112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statement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32800" y="2420112"/>
            <a:ext cx="121107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supports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71888" y="2420112"/>
            <a:ext cx="110540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witness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737360" y="2895600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points to</a:t>
            </a:r>
            <a:endParaRPr lang="en-US" sz="1600" dirty="0"/>
          </a:p>
        </p:txBody>
      </p:sp>
      <p:sp>
        <p:nvSpPr>
          <p:cNvPr id="18" name="exercise"/>
          <p:cNvSpPr txBox="1"/>
          <p:nvPr/>
        </p:nvSpPr>
        <p:spPr>
          <a:xfrm>
            <a:off x="548640" y="3736848"/>
            <a:ext cx="5317236" cy="257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Two pieces of </a:t>
            </a:r>
            <a:r>
              <a:rPr lang="en-US" sz="1800" b="1" dirty="0">
                <a:solidFill>
                  <a:schemeClr val="accent3"/>
                </a:solidFill>
              </a:rPr>
              <a:t>evidence</a:t>
            </a:r>
            <a:r>
              <a:rPr lang="en-US" sz="1800" dirty="0">
                <a:solidFill>
                  <a:schemeClr val="tx1"/>
                </a:solidFill>
              </a:rPr>
              <a:t> contradict Samuel. </a:t>
            </a:r>
            <a:r>
              <a:rPr lang="en-US" sz="1800" i="1" dirty="0">
                <a:solidFill>
                  <a:schemeClr val="tx1"/>
                </a:solidFill>
              </a:rPr>
              <a:t>(les preuves)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There is no </a:t>
            </a:r>
            <a:r>
              <a:rPr lang="en-US" sz="1800" b="1" dirty="0">
                <a:solidFill>
                  <a:schemeClr val="accent3"/>
                </a:solidFill>
              </a:rPr>
              <a:t>record</a:t>
            </a:r>
            <a:r>
              <a:rPr lang="en-US" sz="1800" dirty="0">
                <a:solidFill>
                  <a:schemeClr val="tx1"/>
                </a:solidFill>
              </a:rPr>
              <a:t> that the alert was read. </a:t>
            </a:r>
            <a:r>
              <a:rPr lang="en-US" sz="1800" i="1" dirty="0">
                <a:solidFill>
                  <a:schemeClr val="tx1"/>
                </a:solidFill>
              </a:rPr>
              <a:t>(une trace)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The log does not </a:t>
            </a:r>
            <a:r>
              <a:rPr lang="en-US" sz="1800" b="1" dirty="0">
                <a:solidFill>
                  <a:schemeClr val="accent3"/>
                </a:solidFill>
              </a:rPr>
              <a:t>establish</a:t>
            </a:r>
            <a:r>
              <a:rPr lang="en-US" sz="1800" dirty="0">
                <a:solidFill>
                  <a:schemeClr val="tx1"/>
                </a:solidFill>
              </a:rPr>
              <a:t> who carried the badge. </a:t>
            </a:r>
            <a:r>
              <a:rPr lang="en-US" sz="1800" i="1" dirty="0">
                <a:solidFill>
                  <a:schemeClr val="tx1"/>
                </a:solidFill>
              </a:rPr>
              <a:t>(établir)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We cannot </a:t>
            </a:r>
            <a:r>
              <a:rPr lang="en-US" sz="1800" b="1" dirty="0">
                <a:solidFill>
                  <a:schemeClr val="accent3"/>
                </a:solidFill>
              </a:rPr>
              <a:t>rule out</a:t>
            </a:r>
            <a:r>
              <a:rPr lang="en-US" sz="1800" dirty="0">
                <a:solidFill>
                  <a:schemeClr val="tx1"/>
                </a:solidFill>
              </a:rPr>
              <a:t> a second leak. </a:t>
            </a:r>
            <a:r>
              <a:rPr lang="en-US" sz="1800" i="1" dirty="0">
                <a:solidFill>
                  <a:schemeClr val="tx1"/>
                </a:solidFill>
              </a:rPr>
              <a:t>(écarter)</a:t>
            </a:r>
            <a:endParaRPr lang="en-US" sz="1800" dirty="0"/>
          </a:p>
        </p:txBody>
      </p:sp>
      <p:sp>
        <p:nvSpPr>
          <p:cNvPr id="19" name="exercise"/>
          <p:cNvSpPr txBox="1"/>
          <p:nvPr/>
        </p:nvSpPr>
        <p:spPr>
          <a:xfrm>
            <a:off x="6323076" y="3736848"/>
            <a:ext cx="5317236" cy="257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Ask the cleaners for a written </a:t>
            </a:r>
            <a:r>
              <a:rPr lang="en-US" sz="1800" b="1" dirty="0">
                <a:solidFill>
                  <a:schemeClr val="accent3"/>
                </a:solidFill>
              </a:rPr>
              <a:t>statement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(une déclaration)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Nothing </a:t>
            </a:r>
            <a:r>
              <a:rPr lang="en-US" sz="1800" b="1" dirty="0">
                <a:solidFill>
                  <a:schemeClr val="accent3"/>
                </a:solidFill>
              </a:rPr>
              <a:t>supports</a:t>
            </a:r>
            <a:r>
              <a:rPr lang="en-US" sz="1800" dirty="0">
                <a:solidFill>
                  <a:schemeClr val="tx1"/>
                </a:solidFill>
              </a:rPr>
              <a:t> Verdier’s claim. </a:t>
            </a:r>
            <a:r>
              <a:rPr lang="en-US" sz="1800" i="1" dirty="0">
                <a:solidFill>
                  <a:schemeClr val="tx1"/>
                </a:solidFill>
              </a:rPr>
              <a:t>(étayer)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7.  </a:t>
            </a:r>
            <a:r>
              <a:rPr lang="en-US" sz="1800" dirty="0">
                <a:solidFill>
                  <a:schemeClr val="tx1"/>
                </a:solidFill>
              </a:rPr>
              <a:t>The cleaner is our only </a:t>
            </a:r>
            <a:r>
              <a:rPr lang="en-US" sz="1800" b="1" dirty="0">
                <a:solidFill>
                  <a:schemeClr val="accent3"/>
                </a:solidFill>
              </a:rPr>
              <a:t>witness</a:t>
            </a:r>
            <a:r>
              <a:rPr lang="en-US" sz="1800" dirty="0">
                <a:solidFill>
                  <a:schemeClr val="tx1"/>
                </a:solidFill>
              </a:rPr>
              <a:t> at 6.50. </a:t>
            </a:r>
            <a:r>
              <a:rPr lang="en-US" sz="1800" i="1" dirty="0">
                <a:solidFill>
                  <a:schemeClr val="tx1"/>
                </a:solidFill>
              </a:rPr>
              <a:t>(un témoin)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8.  </a:t>
            </a:r>
            <a:r>
              <a:rPr lang="en-US" sz="1800" dirty="0">
                <a:solidFill>
                  <a:schemeClr val="tx1"/>
                </a:solidFill>
              </a:rPr>
              <a:t>The humidity alarm </a:t>
            </a:r>
            <a:r>
              <a:rPr lang="en-US" sz="1800" b="1" dirty="0">
                <a:solidFill>
                  <a:schemeClr val="accent3"/>
                </a:solidFill>
              </a:rPr>
              <a:t>points to</a:t>
            </a:r>
            <a:r>
              <a:rPr lang="en-US" sz="1800" dirty="0">
                <a:solidFill>
                  <a:schemeClr val="tx1"/>
                </a:solidFill>
              </a:rPr>
              <a:t> a leak above the ceiling. </a:t>
            </a:r>
            <a:r>
              <a:rPr lang="en-US" sz="1800" i="1" dirty="0">
                <a:solidFill>
                  <a:schemeClr val="tx1"/>
                </a:solidFill>
              </a:rPr>
              <a:t>(indiquer)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Mark looks at the fourth line for a long moment. Then he says: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“Do not write that badge number anywhere. Not yet.”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Complete: </a:t>
            </a:r>
            <a:r>
              <a:rPr lang="en-US" sz="1800" i="1" dirty="0">
                <a:solidFill>
                  <a:schemeClr val="tx1"/>
                </a:solidFill>
              </a:rPr>
              <a:t>The badge log proves that … but it does not prove …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evidence ladder</a:t>
            </a:r>
            <a:r>
              <a:rPr lang="en-US" sz="1700" dirty="0">
                <a:solidFill>
                  <a:schemeClr val="tx1"/>
                </a:solidFill>
              </a:rPr>
              <a:t>: prove · confirm · show · suggest · does not establish.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6118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56616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Write your </a:t>
            </a:r>
            <a:r>
              <a:rPr lang="en-US" sz="1700" b="1" dirty="0">
                <a:solidFill>
                  <a:schemeClr val="tx1"/>
                </a:solidFill>
              </a:rPr>
              <a:t>expert answer</a:t>
            </a:r>
            <a:r>
              <a:rPr lang="en-US" sz="1700" dirty="0">
                <a:solidFill>
                  <a:schemeClr val="tx1"/>
                </a:solidFill>
              </a:rPr>
              <a:t> in three sentences: define · limit · advise.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6177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57200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Revise the </a:t>
            </a:r>
            <a:r>
              <a:rPr lang="en-US" sz="1700" b="1" dirty="0">
                <a:solidFill>
                  <a:schemeClr val="tx1"/>
                </a:solidFill>
              </a:rPr>
              <a:t>past participles</a:t>
            </a:r>
            <a:r>
              <a:rPr lang="en-US" sz="1700" dirty="0">
                <a:solidFill>
                  <a:schemeClr val="tx1"/>
                </a:solidFill>
              </a:rPr>
              <a:t> (p. 13).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08 — Sort the witnesses</dc:title>
  <dc:subject>Case File 01 — The night nobody heard</dc:subject>
  <dc:creator>A. Jouniaux</dc:creator>
  <cp:lastModifiedBy>A. Jouniaux</cp:lastModifiedBy>
  <cp:revision>1</cp:revision>
  <dcterms:created xsi:type="dcterms:W3CDTF">2026-10-16T09:31:58Z</dcterms:created>
  <dcterms:modified xsi:type="dcterms:W3CDTF">2026-10-16T09:31:58Z</dcterms:modified>
</cp:coreProperties>
</file>