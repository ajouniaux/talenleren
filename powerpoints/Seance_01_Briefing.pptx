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ee51c811-6cef-2c07-3d17-0ed69435092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lôture" id="{2aa7cfb0-f8f5-5108-0e3b-f36a000e0da3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de lancement. Objectif : poser le cadre (un dossier = une journée = 9 scènes), constituer les « firmes » et installer le réflexe qui structure tout le dossier : distinguer le fait (qui a une source) de la supposition (qui doit être prouvée).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mission de la séance. Les durées sont indicatives (base 90 min). Insister : tout le semestre tient dans UNE journée de travail fictive, de 06.58 à 18.00.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repérer chaque type d’encadré dans le livret (feuilleter ensemble). Les couleurs des diapositives reprennent celles du livret : orange = YOUR MOVE, bleu = DRY RUN, vert = WORD FILE, violet = TEAM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silencieuse (2 min) puis lecture à voix haute. Question : la personne qui lira le rapport « is looking for a reason to refuse » (dernière phrase du briefing). C’est le fil rouge de tout le dossier : chaque phrase sera lue par un lecteur hostile.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pour vérifier la compréhension fine du briefing. Correction orale, puis diapositive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question 7 : c’est la consigne qui reviendra dans chaque scène (« Watch your language today — literally »). On la retrouvera dans le rapport final (scène 9) : pas de nom, pas de numéro de badge, pas de cause présentée comme un fait.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des personnages récurrents (sans dévoiler l’intrigue). Ne pas attribuer de firme à Iris ou Samuel : le livret ne le dit pas explicitement. Le locataire (Ferrand Logistics) et le responsable de chantier (site manager) apparaissent plus tard.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Constituer des groupes de 4 avec une firme par personne (adapter si effectif non multiple de 4 : doubler une firme). Les fiches « Your firm’s file » p. 45–46 seront utilisées à la scène 9 : les montrer dès maintenant donne du sens au rôle.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Tour de table en rôle. Exiger les formules de la diapositive ; reprendre les erreurs fréquentes « responsible of », « I am working in Blanchet » (→ for / 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+ répétition chorale. Prononciation : refurbish /ˌriːˈfɜːbɪʃ/, tenant /ˈtenənt/, assessor /əˈsesə/.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« evidence » indénombrable (a piece of evidence) et sur la différence UK/US pour les étages : le livret est en anglais britannique (zone GF = ground floor).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Phrase-clé à faire noter. On la reverra à chaque scène : le livret entraîne à classer chaque information (provable / not yet provable / contradicted).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pour installer la distinction fait / supposition dès la 1re séance. Faire justifier chaque réponse : « How do we know?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6 : piège volontaire — l’absence de réaction ne prouve pas que personne n’a entendu. Ce point reviendra à la scène 3 (la notification « delivered » à 23:42).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Construire le tableau avec les élèves avant de projeter la colonne droite si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Projeter la table des matières du dossier. Faire remarquer que chaque scène produit un texte réel qui servira au rapport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Donner l’horizon : l’évaluation finale (rapport + présentation orale en comité, p. 49).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Diagnostic rapide (non noté) : repérer les élèves fragiles sur les verbes irréguliers, base de toute la scène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compter les points sur 12. En dessous de 8 : liste de verbes irréguliers à apprendre en priorité (voir séance 7). Pièges : lock → locked (régulier), stop → stopped (doublement), shut → shut (invariable).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4 annonce le past continuous (séance 4). Ne pas l’enseigner maintenant : repérer qui le connaît déjà.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Erreur attendue : « Did Mark called » → rappeler : did + base verbale (sera traité en séance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 ou écrit (1 min). Annoncer la séance 2 : écoute du message vocal de Mark Shaw.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English UE 3 · Case File 01 — The night nobody heard · Séance 01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English UE 3 · Case File 01 — The night nobody heard · Séance 01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English UE 3 · A. Jouniaux · Project Atlas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01 / 19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Read this before you open the file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Briefing — you are the English-speaking representative of your firm on Project Atlas.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Case File 01 — The night nobody heard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1–2</a:t>
            </a:r>
            <a:endParaRPr lang="en-US" sz="1800" dirty="0"/>
          </a:p>
        </p:txBody>
      </p:sp>
      <p:pic>
        <p:nvPicPr>
          <p:cNvPr id="5" name="illustration" descr="Scene illustration from the case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3175"/>
            <a:ext cx="5120640" cy="341165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Today's mission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BRIEFING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1–2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BY THE END OF THE SESSION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Your firm, your role — and a first sorting: </a:t>
            </a:r>
            <a:r>
              <a:rPr lang="en-US" sz="1800" b="1" dirty="0">
                <a:solidFill>
                  <a:schemeClr val="tx1"/>
                </a:solidFill>
              </a:rPr>
              <a:t>fact</a:t>
            </a:r>
            <a:r>
              <a:rPr lang="en-US" sz="1800" dirty="0">
                <a:solidFill>
                  <a:schemeClr val="tx1"/>
                </a:solidFill>
              </a:rPr>
              <a:t> or </a:t>
            </a:r>
            <a:r>
              <a:rPr lang="en-US" sz="1800" b="1" dirty="0">
                <a:solidFill>
                  <a:schemeClr val="tx1"/>
                </a:solidFill>
              </a:rPr>
              <a:t>supposition</a:t>
            </a:r>
            <a:r>
              <a:rPr lang="en-US" sz="1800" dirty="0">
                <a:solidFill>
                  <a:schemeClr val="tx1"/>
                </a:solidFill>
              </a:rPr>
              <a:t>?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LANGUAGE FOCUS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Key words of the case (tenant, contractor, insurer, claim, evidence…) · signal words of certainty · past forms (diagnostic)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SKILLS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Reading a briefing for key information · introducing yourself and your firm in English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ROADMAP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Welcome · how the case file works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briefing (p. 1)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Who's who · choose your firm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Key words of the case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Fact or supposition?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file: nine scenes (p. 2)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Diagnostic: past forms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Wrap-up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to read your case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515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METHOD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Tout le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85816" cy="865022"/>
          </a:xfrm>
          <a:prstGeom prst="roundRect">
            <a:avLst>
              <a:gd name="adj" fmla="val 634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813255"/>
            <a:ext cx="1874520" cy="347472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SCENE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724912" y="1572768"/>
            <a:ext cx="3099816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Une scène = une heure de la journée (06.58 → 18.00). Lisez-la comme un récit : qui, où, quoi.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510942"/>
            <a:ext cx="5385816" cy="865022"/>
          </a:xfrm>
          <a:prstGeom prst="roundRect">
            <a:avLst>
              <a:gd name="adj" fmla="val 634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769718"/>
            <a:ext cx="1874520" cy="347472"/>
          </a:xfrm>
          <a:prstGeom prst="roundRect">
            <a:avLst>
              <a:gd name="adj" fmla="val 1315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VOICEMAIL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724912" y="2529230"/>
            <a:ext cx="3099816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Message audio passé </a:t>
            </a:r>
            <a:r>
              <a:rPr lang="en-US" sz="1600" b="1" dirty="0">
                <a:solidFill>
                  <a:schemeClr val="tx1"/>
                </a:solidFill>
              </a:rPr>
              <a:t>deux fois</a:t>
            </a:r>
            <a:r>
              <a:rPr lang="en-US" sz="1600" dirty="0">
                <a:solidFill>
                  <a:schemeClr val="tx1"/>
                </a:solidFill>
              </a:rPr>
              <a:t>. Notes </a:t>
            </a:r>
            <a:r>
              <a:rPr lang="en-US" sz="1600" b="1" dirty="0">
                <a:solidFill>
                  <a:schemeClr val="tx1"/>
                </a:solidFill>
              </a:rPr>
              <a:t>uniquement</a:t>
            </a:r>
            <a:r>
              <a:rPr lang="en-US" sz="1600" dirty="0">
                <a:solidFill>
                  <a:schemeClr val="tx1"/>
                </a:solidFill>
              </a:rPr>
              <a:t> pendant la 2e écoute.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467405"/>
            <a:ext cx="5385816" cy="865022"/>
          </a:xfrm>
          <a:prstGeom prst="roundRect">
            <a:avLst>
              <a:gd name="adj" fmla="val 634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726180"/>
            <a:ext cx="1874520" cy="347472"/>
          </a:xfrm>
          <a:prstGeom prst="roundRect">
            <a:avLst>
              <a:gd name="adj" fmla="val 13158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EXHIBIT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724912" y="3485693"/>
            <a:ext cx="3099816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Une pièce du dossier (journal d’alarme, e-mail, registre). C’est votre </a:t>
            </a:r>
            <a:r>
              <a:rPr lang="en-US" sz="1600" b="1" dirty="0">
                <a:solidFill>
                  <a:schemeClr val="tx1"/>
                </a:solidFill>
              </a:rPr>
              <a:t>source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4423867"/>
            <a:ext cx="5385816" cy="865022"/>
          </a:xfrm>
          <a:prstGeom prst="roundRect">
            <a:avLst>
              <a:gd name="adj" fmla="val 634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682642"/>
            <a:ext cx="1874520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YOUR MOVE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724912" y="4442155"/>
            <a:ext cx="3099816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Votre tâche : elle fait avancer l’enquête. On la corrige ensemble au tableau.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5380330"/>
            <a:ext cx="5385816" cy="865022"/>
          </a:xfrm>
          <a:prstGeom prst="roundRect">
            <a:avLst>
              <a:gd name="adj" fmla="val 634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5639105"/>
            <a:ext cx="1874520" cy="347472"/>
          </a:xfrm>
          <a:prstGeom prst="roundRect">
            <a:avLst>
              <a:gd name="adj" fmla="val 1315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DRY RUN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724912" y="5398618"/>
            <a:ext cx="3099816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Entraînement grammatical </a:t>
            </a:r>
            <a:r>
              <a:rPr lang="en-US" sz="1600" b="1" dirty="0">
                <a:solidFill>
                  <a:schemeClr val="tx1"/>
                </a:solidFill>
              </a:rPr>
              <a:t>chronométré</a:t>
            </a:r>
            <a:r>
              <a:rPr lang="en-US" sz="1600" dirty="0">
                <a:solidFill>
                  <a:schemeClr val="tx1"/>
                </a:solidFill>
              </a:rPr>
              <a:t> (2–3 min) avant d’écrire « pour de vrai ».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254496" y="1554480"/>
            <a:ext cx="5385816" cy="865022"/>
          </a:xfrm>
          <a:prstGeom prst="roundRect">
            <a:avLst>
              <a:gd name="adj" fmla="val 634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91656" y="1813255"/>
            <a:ext cx="1874520" cy="347472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WORD FILE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430768" y="1572768"/>
            <a:ext cx="3099816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Vocabulaire à </a:t>
            </a:r>
            <a:r>
              <a:rPr lang="en-US" sz="1600" b="1" dirty="0">
                <a:solidFill>
                  <a:schemeClr val="tx1"/>
                </a:solidFill>
              </a:rPr>
              <a:t>apprendre</a:t>
            </a:r>
            <a:r>
              <a:rPr lang="en-US" sz="1600" dirty="0">
                <a:solidFill>
                  <a:schemeClr val="tx1"/>
                </a:solidFill>
              </a:rPr>
              <a:t> : expressions en bloc, faux amis, verbes à particule.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54496" y="2510942"/>
            <a:ext cx="5385816" cy="865022"/>
          </a:xfrm>
          <a:prstGeom prst="roundRect">
            <a:avLst>
              <a:gd name="adj" fmla="val 634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91656" y="2769718"/>
            <a:ext cx="1874520" cy="347472"/>
          </a:xfrm>
          <a:prstGeom prst="roundRect">
            <a:avLst>
              <a:gd name="adj" fmla="val 13158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FIELD NOTE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430768" y="2529230"/>
            <a:ext cx="3099816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règle (grammaire ou méthode) dont vous avez besoin pour la tâche suivante.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54496" y="3467405"/>
            <a:ext cx="5385816" cy="865022"/>
          </a:xfrm>
          <a:prstGeom prst="roundRect">
            <a:avLst>
              <a:gd name="adj" fmla="val 634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91656" y="3726180"/>
            <a:ext cx="1874520" cy="347472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TEAM CALL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430768" y="3485693"/>
            <a:ext cx="3099816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Travail en groupe de 4 : </a:t>
            </a:r>
            <a:r>
              <a:rPr lang="en-US" sz="1600" b="1" dirty="0">
                <a:solidFill>
                  <a:schemeClr val="tx1"/>
                </a:solidFill>
              </a:rPr>
              <a:t>un représentant par firme</a:t>
            </a:r>
            <a:r>
              <a:rPr lang="en-US" sz="1600" dirty="0">
                <a:solidFill>
                  <a:schemeClr val="tx1"/>
                </a:solidFill>
              </a:rPr>
              <a:t> (ACC · IT · LAW · RE).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254496" y="4423867"/>
            <a:ext cx="5385816" cy="865022"/>
          </a:xfrm>
          <a:prstGeom prst="roundRect">
            <a:avLst>
              <a:gd name="adj" fmla="val 6342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91656" y="4682642"/>
            <a:ext cx="1874520" cy="347472"/>
          </a:xfrm>
          <a:prstGeom prst="roundRect">
            <a:avLst>
              <a:gd name="adj" fmla="val 1315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YOUR EXPERT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430768" y="4442155"/>
            <a:ext cx="3099816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Une question pour votre domaine : vous l’expliquez aux autres, en anglais simple.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254496" y="5380330"/>
            <a:ext cx="5385816" cy="865022"/>
          </a:xfrm>
          <a:prstGeom prst="roundRect">
            <a:avLst>
              <a:gd name="adj" fmla="val 6342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91656" y="5639105"/>
            <a:ext cx="1874520" cy="347472"/>
          </a:xfrm>
          <a:prstGeom prst="roundRect">
            <a:avLst>
              <a:gd name="adj" fmla="val 13158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NAVY BOX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8430768" y="5398618"/>
            <a:ext cx="3099816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 « cliffhanger » qui ouvre la scène suivante.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briefing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BRIEFING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</a:t>
            </a:r>
            <a:endParaRPr lang="en-US" sz="1200" dirty="0"/>
          </a:p>
        </p:txBody>
      </p:sp>
      <p:pic>
        <p:nvPicPr>
          <p:cNvPr id="6" name="illustration" descr="Mark Shaw on the phone in the lobby of Atlas Ho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4020873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6995160" y="1508760"/>
            <a:ext cx="4645152" cy="3432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You are the English-speaking representative of your firm on Project Atlas.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Atlas House is an office building in Brussels, currently being </a:t>
            </a:r>
            <a:r>
              <a:rPr lang="en-US" sz="1700" b="1" dirty="0">
                <a:solidFill>
                  <a:schemeClr val="tx1"/>
                </a:solidFill>
              </a:rPr>
              <a:t>refurbished</a:t>
            </a:r>
            <a:r>
              <a:rPr lang="en-US" sz="1700" dirty="0">
                <a:solidFill>
                  <a:schemeClr val="tx1"/>
                </a:solidFill>
              </a:rPr>
              <a:t> for a </a:t>
            </a:r>
            <a:r>
              <a:rPr lang="en-US" sz="1700" b="1" dirty="0">
                <a:solidFill>
                  <a:schemeClr val="tx1"/>
                </a:solidFill>
              </a:rPr>
              <a:t>tenant</a:t>
            </a:r>
            <a:r>
              <a:rPr lang="en-US" sz="1700" dirty="0">
                <a:solidFill>
                  <a:schemeClr val="tx1"/>
                </a:solidFill>
              </a:rPr>
              <a:t>, Ferrand Logistics. Four outside firms work on the site. Mark Shaw coordinates them.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Last night, something happened in the technical room on the second floor. </a:t>
            </a:r>
            <a:r>
              <a:rPr lang="en-US" sz="1700" b="1" dirty="0">
                <a:solidFill>
                  <a:schemeClr val="tx1"/>
                </a:solidFill>
              </a:rPr>
              <a:t>Nobody heard it.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Your job today:</a:t>
            </a:r>
            <a:r>
              <a:rPr lang="en-US" sz="1700" dirty="0">
                <a:solidFill>
                  <a:schemeClr val="tx1"/>
                </a:solidFill>
              </a:rPr>
              <a:t> find out what happened, decide what can be </a:t>
            </a:r>
            <a:r>
              <a:rPr lang="en-US" sz="1700" b="1" dirty="0">
                <a:solidFill>
                  <a:schemeClr val="tx1"/>
                </a:solidFill>
              </a:rPr>
              <a:t>proved</a:t>
            </a:r>
            <a:r>
              <a:rPr lang="en-US" sz="1700" dirty="0">
                <a:solidFill>
                  <a:schemeClr val="tx1"/>
                </a:solidFill>
              </a:rPr>
              <a:t> and write the </a:t>
            </a:r>
            <a:r>
              <a:rPr lang="en-US" sz="1700" b="1" dirty="0">
                <a:solidFill>
                  <a:schemeClr val="tx1"/>
                </a:solidFill>
              </a:rPr>
              <a:t>incident report</a:t>
            </a:r>
            <a:r>
              <a:rPr lang="en-US" sz="1700" dirty="0">
                <a:solidFill>
                  <a:schemeClr val="tx1"/>
                </a:solidFill>
              </a:rPr>
              <a:t> that the </a:t>
            </a:r>
            <a:r>
              <a:rPr lang="en-US" sz="1700" b="1" dirty="0">
                <a:solidFill>
                  <a:schemeClr val="tx1"/>
                </a:solidFill>
              </a:rPr>
              <a:t>insurer</a:t>
            </a:r>
            <a:r>
              <a:rPr lang="en-US" sz="1700" dirty="0">
                <a:solidFill>
                  <a:schemeClr val="tx1"/>
                </a:solidFill>
              </a:rPr>
              <a:t> will accept.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6995160" y="5123688"/>
            <a:ext cx="4645152" cy="1167384"/>
          </a:xfrm>
          <a:prstGeom prst="roundRect">
            <a:avLst>
              <a:gd name="adj" fmla="val 6266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C0752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78040" y="52151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ASK THE CLASS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178040" y="5507736"/>
            <a:ext cx="4279392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Who will read your report — and what is that reader looking for?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the briefing for facts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 · 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Answer in one short sentence. Your answer must come from the text — not from your imagination.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Where is Atlas House, and what is happening to it?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Who is the tenant?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Which four firms work on the site?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Who coordinates them?</a:t>
            </a:r>
            <a:endParaRPr lang="en-US" sz="26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tx1"/>
                </a:solidFill>
              </a:rPr>
              <a:t>What happened, where and when?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6.  </a:t>
            </a:r>
            <a:r>
              <a:rPr lang="en-US" sz="2600" dirty="0">
                <a:solidFill>
                  <a:schemeClr val="tx1"/>
                </a:solidFill>
              </a:rPr>
              <a:t>Name the three parts of your job today.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7.  </a:t>
            </a:r>
            <a:r>
              <a:rPr lang="en-US" sz="2600" dirty="0">
                <a:solidFill>
                  <a:schemeClr val="tx1"/>
                </a:solidFill>
              </a:rPr>
              <a:t>Which two kinds of report "cost money"?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 the briefing for facts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 · 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Answer in one short sentence. Your answer must come from the text — not from your imagination.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1.  </a:t>
            </a:r>
            <a:r>
              <a:rPr lang="en-US" sz="1900" dirty="0">
                <a:solidFill>
                  <a:schemeClr val="tx1"/>
                </a:solidFill>
              </a:rPr>
              <a:t>Where is Atlas House, and what is happening to it?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dirty="0">
                <a:solidFill>
                  <a:schemeClr val="accent3"/>
                </a:solidFill>
              </a:rPr>
              <a:t>In Brussels. It is being refurbished for a tenant.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2.  </a:t>
            </a:r>
            <a:r>
              <a:rPr lang="en-US" sz="1900" dirty="0">
                <a:solidFill>
                  <a:schemeClr val="tx1"/>
                </a:solidFill>
              </a:rPr>
              <a:t>Who is the tenant?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dirty="0">
                <a:solidFill>
                  <a:schemeClr val="accent3"/>
                </a:solidFill>
              </a:rPr>
              <a:t>Ferrand Logistics.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3.  </a:t>
            </a:r>
            <a:r>
              <a:rPr lang="en-US" sz="1900" dirty="0">
                <a:solidFill>
                  <a:schemeClr val="tx1"/>
                </a:solidFill>
              </a:rPr>
              <a:t>Which four firms work on the site?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dirty="0">
                <a:solidFill>
                  <a:schemeClr val="accent3"/>
                </a:solidFill>
              </a:rPr>
              <a:t>An accounting practice, an IT service provider, a law firm and a property manager.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4.  </a:t>
            </a:r>
            <a:r>
              <a:rPr lang="en-US" sz="1900" dirty="0">
                <a:solidFill>
                  <a:schemeClr val="tx1"/>
                </a:solidFill>
              </a:rPr>
              <a:t>Who coordinates them?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dirty="0">
                <a:solidFill>
                  <a:schemeClr val="accent3"/>
                </a:solidFill>
              </a:rPr>
              <a:t>Mark Shaw.</a:t>
            </a:r>
            <a:endParaRPr lang="en-US" sz="1900" dirty="0"/>
          </a:p>
        </p:txBody>
      </p:sp>
      <p:sp>
        <p:nvSpPr>
          <p:cNvPr id="9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5.  </a:t>
            </a:r>
            <a:r>
              <a:rPr lang="en-US" sz="1900" dirty="0">
                <a:solidFill>
                  <a:schemeClr val="tx1"/>
                </a:solidFill>
              </a:rPr>
              <a:t>What happened, where and when?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dirty="0">
                <a:solidFill>
                  <a:schemeClr val="accent3"/>
                </a:solidFill>
              </a:rPr>
              <a:t>Something happened in the technical room, on the second floor, last night. Nobody heard it.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6.  </a:t>
            </a:r>
            <a:r>
              <a:rPr lang="en-US" sz="1900" dirty="0">
                <a:solidFill>
                  <a:schemeClr val="tx1"/>
                </a:solidFill>
              </a:rPr>
              <a:t>Name the three parts of your job today.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dirty="0">
                <a:solidFill>
                  <a:schemeClr val="accent3"/>
                </a:solidFill>
              </a:rPr>
              <a:t>Find out what happened · decide what can be proved · write the incident report the insurer will accept.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7.  </a:t>
            </a:r>
            <a:r>
              <a:rPr lang="en-US" sz="1900" dirty="0">
                <a:solidFill>
                  <a:schemeClr val="tx1"/>
                </a:solidFill>
              </a:rPr>
              <a:t>Which two kinds of report "cost money"?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accent3"/>
                </a:solidFill>
              </a:rPr>
              <a:t>→ </a:t>
            </a:r>
            <a:r>
              <a:rPr lang="en-US" sz="1900" dirty="0">
                <a:solidFill>
                  <a:schemeClr val="accent3"/>
                </a:solidFill>
              </a:rPr>
              <a:t>A report that </a:t>
            </a:r>
            <a:r>
              <a:rPr lang="en-US" sz="1900" b="1" dirty="0">
                <a:solidFill>
                  <a:schemeClr val="accent3"/>
                </a:solidFill>
              </a:rPr>
              <a:t>names a person</a:t>
            </a:r>
            <a:r>
              <a:rPr lang="en-US" sz="1900" dirty="0">
                <a:solidFill>
                  <a:schemeClr val="accent3"/>
                </a:solidFill>
              </a:rPr>
              <a:t>, and a report that </a:t>
            </a:r>
            <a:r>
              <a:rPr lang="en-US" sz="1900" b="1" dirty="0">
                <a:solidFill>
                  <a:schemeClr val="accent3"/>
                </a:solidFill>
              </a:rPr>
              <a:t>states a cause nobody has proved</a:t>
            </a:r>
            <a:r>
              <a:rPr lang="en-US" sz="1900" dirty="0">
                <a:solidFill>
                  <a:schemeClr val="accent3"/>
                </a:solidFill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Who's who on Project Atlas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BRIEFING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Tout le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3514344" cy="182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MARK SHAW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coordinator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27376"/>
            <a:ext cx="3148584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Coordinates the four firms on the site.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Wants “facts only”.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37304" y="1481328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7304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4" name="Shape 11"/>
          <p:cNvSpPr/>
          <p:nvPr/>
        </p:nvSpPr>
        <p:spPr>
          <a:xfrm>
            <a:off x="4337304" y="1801368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0184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SAMUEL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0184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server rack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520184" y="2627376"/>
            <a:ext cx="3148584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Checks the servers and the logs.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Reads the alarm log for the team.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8125968" y="1481328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25968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20" name="Shape 17"/>
          <p:cNvSpPr/>
          <p:nvPr/>
        </p:nvSpPr>
        <p:spPr>
          <a:xfrm>
            <a:off x="8125968" y="1801368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08848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IRIS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08848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photographs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2627376"/>
            <a:ext cx="3148584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Photographs the ceiling and the floor.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Goes down to the basement.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8640" y="4023360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48640" y="4023360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26" name="Shape 23"/>
          <p:cNvSpPr/>
          <p:nvPr/>
        </p:nvSpPr>
        <p:spPr>
          <a:xfrm>
            <a:off x="548640" y="4343400"/>
            <a:ext cx="3514344" cy="1828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402336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PAUL VERDIER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" y="4626864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contractor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5169408"/>
            <a:ext cx="3148584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Runs the cabling team.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Writes in “enthusiastic, unreliable” English.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4337304" y="4023360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37304" y="4023360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32" name="Shape 29"/>
          <p:cNvSpPr/>
          <p:nvPr/>
        </p:nvSpPr>
        <p:spPr>
          <a:xfrm>
            <a:off x="4337304" y="4343400"/>
            <a:ext cx="3514344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20184" y="402336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HELEN MARSH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4520184" y="4626864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claims assessor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4520184" y="5169408"/>
            <a:ext cx="3148584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Works for the insurer.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Reads every report “looking for a reason to refuse”.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8125968" y="4023360"/>
            <a:ext cx="3514344" cy="2267712"/>
          </a:xfrm>
          <a:prstGeom prst="roundRect">
            <a:avLst>
              <a:gd name="adj" fmla="val 403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125968" y="4023360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8" name="Shape 35"/>
          <p:cNvSpPr/>
          <p:nvPr/>
        </p:nvSpPr>
        <p:spPr>
          <a:xfrm>
            <a:off x="8125968" y="4343400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308848" y="402336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YOU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8308848" y="4626864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firm’s voice</a:t>
            </a:r>
            <a:endParaRPr lang="en-US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8308848" y="5169408"/>
            <a:ext cx="3148584" cy="1011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ACC · IT · LAW · RE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You write the report tonight.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Choose your firm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TEAM CALL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45–46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Groups of four: one representative of each firm. You keep the same firm until the end of the file.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889760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1F4E7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10007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ACC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1999488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Blanchet &amp; Renard</a:t>
            </a:r>
            <a:r>
              <a:rPr lang="en-US" sz="2200" dirty="0">
                <a:solidFill>
                  <a:schemeClr val="tx1"/>
                </a:solidFill>
              </a:rPr>
              <a:t> — you are the </a:t>
            </a:r>
            <a:r>
              <a:rPr lang="en-US" sz="2200" i="1" dirty="0">
                <a:solidFill>
                  <a:schemeClr val="tx1"/>
                </a:solidFill>
              </a:rPr>
              <a:t>senior accountant</a:t>
            </a:r>
            <a:r>
              <a:rPr lang="en-US" sz="2200" dirty="0">
                <a:solidFill>
                  <a:schemeClr val="tx1"/>
                </a:solidFill>
              </a:rPr>
              <a:t>. Your angle: costs, the claim file, provisions, the insurance premium, the financial year.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08776" y="1889760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45936" y="20269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0E7C6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10007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45936" y="24932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IT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351776" y="1999488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Northline IT Services</a:t>
            </a:r>
            <a:r>
              <a:rPr lang="en-US" sz="2200" dirty="0">
                <a:solidFill>
                  <a:schemeClr val="tx1"/>
                </a:solidFill>
              </a:rPr>
              <a:t> — you are the </a:t>
            </a:r>
            <a:r>
              <a:rPr lang="en-US" sz="2200" i="1" dirty="0">
                <a:solidFill>
                  <a:schemeClr val="tx1"/>
                </a:solidFill>
              </a:rPr>
              <a:t>IT service manager</a:t>
            </a:r>
            <a:r>
              <a:rPr lang="en-US" sz="2200" dirty="0">
                <a:solidFill>
                  <a:schemeClr val="tx1"/>
                </a:solidFill>
              </a:rPr>
              <a:t>. Your angle: servers, logs, alarms, backups, downtime.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548640" y="4204716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5800" y="434187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8B3A2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41502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5800" y="48082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LAW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691640" y="4314444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Harwell Legal</a:t>
            </a:r>
            <a:r>
              <a:rPr lang="en-US" sz="2200" dirty="0">
                <a:solidFill>
                  <a:schemeClr val="tx1"/>
                </a:solidFill>
              </a:rPr>
              <a:t> — you are the </a:t>
            </a:r>
            <a:r>
              <a:rPr lang="en-US" sz="2200" i="1" dirty="0">
                <a:solidFill>
                  <a:schemeClr val="tx1"/>
                </a:solidFill>
              </a:rPr>
              <a:t>legal counsel</a:t>
            </a:r>
            <a:r>
              <a:rPr lang="en-US" sz="2200" dirty="0">
                <a:solidFill>
                  <a:schemeClr val="tx1"/>
                </a:solidFill>
              </a:rPr>
              <a:t>. Your angle: evidence, liability, contracts, what can be written — and what cannot.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6208776" y="4204716"/>
            <a:ext cx="5431536" cy="2086356"/>
          </a:xfrm>
          <a:prstGeom prst="roundRect">
            <a:avLst>
              <a:gd name="adj" fmla="val 3506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345936" y="434187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8782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415028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345936" y="48082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351776" y="4314444"/>
            <a:ext cx="415137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Corven Property Management</a:t>
            </a:r>
            <a:r>
              <a:rPr lang="en-US" sz="2200" dirty="0">
                <a:solidFill>
                  <a:schemeClr val="tx1"/>
                </a:solidFill>
              </a:rPr>
              <a:t> — you are the </a:t>
            </a:r>
            <a:r>
              <a:rPr lang="en-US" sz="2200" i="1" dirty="0">
                <a:solidFill>
                  <a:schemeClr val="tx1"/>
                </a:solidFill>
              </a:rPr>
              <a:t>letting and property manager</a:t>
            </a:r>
            <a:r>
              <a:rPr lang="en-US" sz="2200" dirty="0">
                <a:solidFill>
                  <a:schemeClr val="tx1"/>
                </a:solidFill>
              </a:rPr>
              <a:t>. Your angle: the building, the pipework, the tenant, the handover.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Introduce yourself — in role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SPEAKING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One minute each, in your group. No notes after the first round.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3514344" cy="3416808"/>
          </a:xfrm>
          <a:prstGeom prst="roundRect">
            <a:avLst>
              <a:gd name="adj" fmla="val 2676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94767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267712"/>
            <a:ext cx="3514344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9476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WHO YOU ARE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51176"/>
            <a:ext cx="3148584" cy="2703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I’m … . I work for </a:t>
            </a:r>
            <a:r>
              <a:rPr lang="en-US" sz="2000" b="1" dirty="0">
                <a:solidFill>
                  <a:schemeClr val="tx1"/>
                </a:solidFill>
              </a:rPr>
              <a:t>Blanchet &amp; Renard / Northline / Harwell Legal / Corven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I’m the firm’s </a:t>
            </a:r>
            <a:r>
              <a:rPr lang="en-US" sz="2000" b="1" dirty="0">
                <a:solidFill>
                  <a:schemeClr val="tx1"/>
                </a:solidFill>
              </a:rPr>
              <a:t>senior accountant / IT service manager / legal counsel / property manager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7304" y="1947672"/>
            <a:ext cx="3514344" cy="3416808"/>
          </a:xfrm>
          <a:prstGeom prst="roundRect">
            <a:avLst>
              <a:gd name="adj" fmla="val 2676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7304" y="194767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4" name="Shape 11"/>
          <p:cNvSpPr/>
          <p:nvPr/>
        </p:nvSpPr>
        <p:spPr>
          <a:xfrm>
            <a:off x="4337304" y="2267712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0184" y="19476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WHAT YOU DO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0184" y="2551176"/>
            <a:ext cx="3148584" cy="2703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 Project Atlas, I’m </a:t>
            </a:r>
            <a:r>
              <a:rPr lang="en-US" sz="2000" b="1" dirty="0">
                <a:solidFill>
                  <a:schemeClr val="tx1"/>
                </a:solidFill>
              </a:rPr>
              <a:t>responsible for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 </a:t>
            </a:r>
            <a:r>
              <a:rPr lang="en-US" sz="2000" b="1" dirty="0">
                <a:solidFill>
                  <a:schemeClr val="tx1"/>
                </a:solidFill>
              </a:rPr>
              <a:t>deal with</a:t>
            </a:r>
            <a:r>
              <a:rPr lang="en-US" sz="2000" dirty="0">
                <a:solidFill>
                  <a:schemeClr val="tx1"/>
                </a:solidFill>
              </a:rPr>
              <a:t> … / I </a:t>
            </a:r>
            <a:r>
              <a:rPr lang="en-US" sz="2000" b="1" dirty="0">
                <a:solidFill>
                  <a:schemeClr val="tx1"/>
                </a:solidFill>
              </a:rPr>
              <a:t>look after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My job is </a:t>
            </a:r>
            <a:r>
              <a:rPr lang="en-US" sz="2000" b="1" dirty="0">
                <a:solidFill>
                  <a:schemeClr val="tx1"/>
                </a:solidFill>
              </a:rPr>
              <a:t>to make sure that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125968" y="1947672"/>
            <a:ext cx="3514344" cy="3416808"/>
          </a:xfrm>
          <a:prstGeom prst="roundRect">
            <a:avLst>
              <a:gd name="adj" fmla="val 2676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25968" y="1947672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9" name="Shape 16"/>
          <p:cNvSpPr/>
          <p:nvPr/>
        </p:nvSpPr>
        <p:spPr>
          <a:xfrm>
            <a:off x="8125968" y="2267712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08848" y="1947672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WHAT YOU NEED TODAY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308848" y="2551176"/>
            <a:ext cx="3148584" cy="2703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Today, I need to know </a:t>
            </a:r>
            <a:r>
              <a:rPr lang="en-US" sz="2000" b="1" dirty="0">
                <a:solidFill>
                  <a:schemeClr val="tx1"/>
                </a:solidFill>
              </a:rPr>
              <a:t>when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b="1" dirty="0">
                <a:solidFill>
                  <a:schemeClr val="tx1"/>
                </a:solidFill>
              </a:rPr>
              <a:t>whether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b="1" dirty="0">
                <a:solidFill>
                  <a:schemeClr val="tx1"/>
                </a:solidFill>
              </a:rPr>
              <a:t>who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 can’t write anything until I have …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Je suis responsable de</a:t>
            </a:r>
            <a:r>
              <a:rPr lang="en-US" sz="1700" dirty="0">
                <a:solidFill>
                  <a:schemeClr val="tx1"/>
                </a:solidFill>
              </a:rPr>
              <a:t> → I’m </a:t>
            </a:r>
            <a:r>
              <a:rPr lang="en-US" sz="1700" b="1" dirty="0">
                <a:solidFill>
                  <a:schemeClr val="tx1"/>
                </a:solidFill>
              </a:rPr>
              <a:t>responsible for</a:t>
            </a:r>
            <a:r>
              <a:rPr lang="en-US" sz="1700" dirty="0">
                <a:solidFill>
                  <a:schemeClr val="tx1"/>
                </a:solidFill>
              </a:rPr>
              <a:t> + -ing / nom (✗ responsible of). </a:t>
            </a:r>
            <a:r>
              <a:rPr lang="en-US" sz="1700" i="1" dirty="0">
                <a:solidFill>
                  <a:schemeClr val="tx1"/>
                </a:solidFill>
              </a:rPr>
              <a:t>Je travaille pour</a:t>
            </a:r>
            <a:r>
              <a:rPr lang="en-US" sz="1700" dirty="0">
                <a:solidFill>
                  <a:schemeClr val="tx1"/>
                </a:solidFill>
              </a:rPr>
              <a:t> → I work </a:t>
            </a:r>
            <a:r>
              <a:rPr lang="en-US" sz="1700" b="1" dirty="0">
                <a:solidFill>
                  <a:schemeClr val="tx1"/>
                </a:solidFill>
              </a:rPr>
              <a:t>for</a:t>
            </a:r>
            <a:r>
              <a:rPr lang="en-US" sz="1700" dirty="0">
                <a:solidFill>
                  <a:schemeClr val="tx1"/>
                </a:solidFill>
              </a:rPr>
              <a:t> (a firm) · I work </a:t>
            </a:r>
            <a:r>
              <a:rPr lang="en-US" sz="1700" b="1" dirty="0">
                <a:solidFill>
                  <a:schemeClr val="tx1"/>
                </a:solidFill>
              </a:rPr>
              <a:t>at</a:t>
            </a:r>
            <a:r>
              <a:rPr lang="en-US" sz="1700" dirty="0">
                <a:solidFill>
                  <a:schemeClr val="tx1"/>
                </a:solidFill>
              </a:rPr>
              <a:t> (a place) · I work </a:t>
            </a:r>
            <a:r>
              <a:rPr lang="en-US" sz="1700" b="1" dirty="0">
                <a:solidFill>
                  <a:schemeClr val="tx1"/>
                </a:solidFill>
              </a:rPr>
              <a:t>in</a:t>
            </a:r>
            <a:r>
              <a:rPr lang="en-US" sz="1700" dirty="0">
                <a:solidFill>
                  <a:schemeClr val="tx1"/>
                </a:solidFill>
              </a:rPr>
              <a:t> (a department).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words of the case (1/2)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1–2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5788152"/>
              </a:tblGrid>
              <a:tr h="5340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ENGLISH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IN THE FILE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61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to refurbish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rénover, réaménager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Atlas House is being refurbished for a tenant.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 tenant ≠ a landlord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 locataire ≠ un bailleur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Ferrand Logistics is the tenant.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61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 (general) contractor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une entreprise (générale)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The contractor’s team was working until eight.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61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 site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 chantier, un site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Four outside firms work on the site.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61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an insurer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 assureur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Has anyone told the insurer yet?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 claims assessor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un(e) expert(e) en sinistres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Helen Marsh, claims assessor.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995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to file a claim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déclarer un sinistre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We should get to the bottom of this before we file a claim.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61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an incident report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un rapport d’incident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Write the incident report the insurer will accept.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words of the case (2/2)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VOCABULARY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1–4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5788152"/>
              </a:tblGrid>
              <a:tr h="523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ENGLISH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IN THE FILE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96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evidence (uncountable)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des preuves, des éléments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We need more evidence. (✗ an evidence, evidences)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to prove · proof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prouver · la preuve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Decide what can be proved.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96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a fact ≠ a supposition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un fait ≠ une supposition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Mark said one thing that is not a fact.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to state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affirmer, déclarer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A report that states a cause nobody has proved…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to refuse (a claim)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refuser (un dossier)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…somebody who is looking for a reason to refuse.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a leak · to leak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une fuite · fuir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The pipe was leaking all night, I think.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a technical room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un local technique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Something happened in the technical room.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96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the second floor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 2e étage (UK)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US: second floor = 1er étage ! ground floor = rez-de-chaussée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rule of the whole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KEY IDEA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Livret p. 1 &amp; 4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1004011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</a:t>
            </a: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fact</a:t>
            </a: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has a source. A </a:t>
            </a: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supposition</a:t>
            </a: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needs proof.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3346704"/>
            <a:ext cx="10040112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A source = an alarm log, a camera, a ticket, a timestamped photograph, a signed statement.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A report that names a person, or that states a cause nobody has proved, is a report that costs money.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Fact or supposition?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Write F (fact: it has a source) or S (supposition: it still needs proof). Underline the word that tells you.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1.  </a:t>
            </a:r>
            <a:r>
              <a:rPr lang="en-US" sz="2000" dirty="0">
                <a:solidFill>
                  <a:schemeClr val="tx1"/>
                </a:solidFill>
              </a:rPr>
              <a:t>The alarm went off at 23.41 — </a:t>
            </a:r>
            <a:r>
              <a:rPr lang="en-US" sz="2000" b="1" dirty="0">
                <a:solidFill>
                  <a:schemeClr val="tx1"/>
                </a:solidFill>
              </a:rPr>
              <a:t>the log shows it</a:t>
            </a:r>
            <a:r>
              <a:rPr lang="en-US" sz="2000" dirty="0">
                <a:solidFill>
                  <a:schemeClr val="tx1"/>
                </a:solidFill>
              </a:rPr>
              <a:t>.  →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2.  </a:t>
            </a:r>
            <a:r>
              <a:rPr lang="en-US" sz="2000" dirty="0">
                <a:solidFill>
                  <a:schemeClr val="tx1"/>
                </a:solidFill>
              </a:rPr>
              <a:t>The pipe </a:t>
            </a:r>
            <a:r>
              <a:rPr lang="en-US" sz="2000" b="1" dirty="0">
                <a:solidFill>
                  <a:schemeClr val="tx1"/>
                </a:solidFill>
              </a:rPr>
              <a:t>probably</a:t>
            </a:r>
            <a:r>
              <a:rPr lang="en-US" sz="2000" dirty="0">
                <a:solidFill>
                  <a:schemeClr val="tx1"/>
                </a:solidFill>
              </a:rPr>
              <a:t> burst during the night.  →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3.  </a:t>
            </a:r>
            <a:r>
              <a:rPr lang="en-US" sz="2000" dirty="0">
                <a:solidFill>
                  <a:schemeClr val="tx1"/>
                </a:solidFill>
              </a:rPr>
              <a:t>The cleaners found water at 6.50 — </a:t>
            </a:r>
            <a:r>
              <a:rPr lang="en-US" sz="2000" b="1" dirty="0">
                <a:solidFill>
                  <a:schemeClr val="tx1"/>
                </a:solidFill>
              </a:rPr>
              <a:t>they badged in at 6.47</a:t>
            </a:r>
            <a:r>
              <a:rPr lang="en-US" sz="2000" dirty="0">
                <a:solidFill>
                  <a:schemeClr val="tx1"/>
                </a:solidFill>
              </a:rPr>
              <a:t>.  →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4.  </a:t>
            </a:r>
            <a:r>
              <a:rPr lang="en-US" sz="2000" b="1" dirty="0">
                <a:solidFill>
                  <a:schemeClr val="tx1"/>
                </a:solidFill>
              </a:rPr>
              <a:t>I think</a:t>
            </a:r>
            <a:r>
              <a:rPr lang="en-US" sz="2000" dirty="0">
                <a:solidFill>
                  <a:schemeClr val="tx1"/>
                </a:solidFill>
              </a:rPr>
              <a:t> the contractor damaged the pipe.  →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5.  </a:t>
            </a:r>
            <a:r>
              <a:rPr lang="en-US" sz="2000" dirty="0">
                <a:solidFill>
                  <a:schemeClr val="tx1"/>
                </a:solidFill>
              </a:rPr>
              <a:t>Unit 3 shut down at 02.16, </a:t>
            </a:r>
            <a:r>
              <a:rPr lang="en-US" sz="2000" b="1" dirty="0">
                <a:solidFill>
                  <a:schemeClr val="tx1"/>
                </a:solidFill>
              </a:rPr>
              <a:t>according to the server log</a:t>
            </a:r>
            <a:r>
              <a:rPr lang="en-US" sz="2000" dirty="0">
                <a:solidFill>
                  <a:schemeClr val="tx1"/>
                </a:solidFill>
              </a:rPr>
              <a:t>.  →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6.  </a:t>
            </a:r>
            <a:r>
              <a:rPr lang="en-US" sz="2000" dirty="0">
                <a:solidFill>
                  <a:schemeClr val="tx1"/>
                </a:solidFill>
              </a:rPr>
              <a:t>Nobody heard the alarm. (</a:t>
            </a:r>
            <a:r>
              <a:rPr lang="en-US" sz="2000" b="1" dirty="0">
                <a:solidFill>
                  <a:schemeClr val="tx1"/>
                </a:solidFill>
              </a:rPr>
              <a:t>no source</a:t>
            </a:r>
            <a:r>
              <a:rPr lang="en-US" sz="2000" dirty="0">
                <a:solidFill>
                  <a:schemeClr val="tx1"/>
                </a:solidFill>
              </a:rPr>
              <a:t>) 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7.  </a:t>
            </a:r>
            <a:r>
              <a:rPr lang="en-US" sz="2000" dirty="0">
                <a:solidFill>
                  <a:schemeClr val="tx1"/>
                </a:solidFill>
              </a:rPr>
              <a:t>It </a:t>
            </a:r>
            <a:r>
              <a:rPr lang="en-US" sz="2000" b="1" dirty="0">
                <a:solidFill>
                  <a:schemeClr val="tx1"/>
                </a:solidFill>
              </a:rPr>
              <a:t>might</a:t>
            </a:r>
            <a:r>
              <a:rPr lang="en-US" sz="2000" dirty="0">
                <a:solidFill>
                  <a:schemeClr val="tx1"/>
                </a:solidFill>
              </a:rPr>
              <a:t> be the same pipe as last November.  →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8.  </a:t>
            </a:r>
            <a:r>
              <a:rPr lang="en-US" sz="2000" dirty="0">
                <a:solidFill>
                  <a:schemeClr val="tx1"/>
                </a:solidFill>
              </a:rPr>
              <a:t>The photographs, </a:t>
            </a:r>
            <a:r>
              <a:rPr lang="en-US" sz="2000" b="1" dirty="0">
                <a:solidFill>
                  <a:schemeClr val="tx1"/>
                </a:solidFill>
              </a:rPr>
              <a:t>timestamped 8.20</a:t>
            </a:r>
            <a:r>
              <a:rPr lang="en-US" sz="2000" dirty="0">
                <a:solidFill>
                  <a:schemeClr val="tx1"/>
                </a:solidFill>
              </a:rPr>
              <a:t>, show a soaked floor.  → </a:t>
            </a:r>
            <a:r>
              <a:rPr lang="en-US" sz="2000" dirty="0">
                <a:solidFill>
                  <a:schemeClr val="accent5"/>
                </a:solidFill>
              </a:rPr>
              <a:t>……………</a:t>
            </a:r>
            <a:endParaRPr lang="en-US" sz="20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EXPECTED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source</a:t>
            </a:r>
            <a:r>
              <a:rPr lang="en-US" sz="1800" dirty="0">
                <a:solidFill>
                  <a:schemeClr val="tx1"/>
                </a:solidFill>
              </a:rPr>
              <a:t> = a document or a device, not a memory.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Signal words: </a:t>
            </a:r>
            <a:r>
              <a:rPr lang="en-US" sz="1800" b="1" dirty="0">
                <a:solidFill>
                  <a:schemeClr val="tx1"/>
                </a:solidFill>
              </a:rPr>
              <a:t>probably, I think, might, may, it seems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Ask yourself: </a:t>
            </a:r>
            <a:r>
              <a:rPr lang="en-US" sz="1800" i="1" dirty="0">
                <a:solidFill>
                  <a:schemeClr val="tx1"/>
                </a:solidFill>
              </a:rPr>
              <a:t>How do we know?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Fact or supposition?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Write F (fact: it has a source) or S (supposition: it still needs proof). Underline the word that tells you.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1.  </a:t>
            </a:r>
            <a:r>
              <a:rPr lang="en-US" sz="2000" dirty="0">
                <a:solidFill>
                  <a:schemeClr val="tx1"/>
                </a:solidFill>
              </a:rPr>
              <a:t>The alarm went off at 23.41 — </a:t>
            </a:r>
            <a:r>
              <a:rPr lang="en-US" sz="2000" b="1" dirty="0">
                <a:solidFill>
                  <a:schemeClr val="tx1"/>
                </a:solidFill>
              </a:rPr>
              <a:t>the log shows it</a:t>
            </a:r>
            <a:r>
              <a:rPr lang="en-US" sz="2000" dirty="0">
                <a:solidFill>
                  <a:schemeClr val="tx1"/>
                </a:solidFill>
              </a:rPr>
              <a:t>.  → </a:t>
            </a:r>
            <a:r>
              <a:rPr lang="en-US" sz="2000" b="1" dirty="0">
                <a:solidFill>
                  <a:schemeClr val="accent3"/>
                </a:solidFill>
              </a:rPr>
              <a:t>F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2.  </a:t>
            </a:r>
            <a:r>
              <a:rPr lang="en-US" sz="2000" dirty="0">
                <a:solidFill>
                  <a:schemeClr val="tx1"/>
                </a:solidFill>
              </a:rPr>
              <a:t>The pipe </a:t>
            </a:r>
            <a:r>
              <a:rPr lang="en-US" sz="2000" b="1" dirty="0">
                <a:solidFill>
                  <a:schemeClr val="tx1"/>
                </a:solidFill>
              </a:rPr>
              <a:t>probably</a:t>
            </a:r>
            <a:r>
              <a:rPr lang="en-US" sz="2000" dirty="0">
                <a:solidFill>
                  <a:schemeClr val="tx1"/>
                </a:solidFill>
              </a:rPr>
              <a:t> burst during the night.  →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3.  </a:t>
            </a:r>
            <a:r>
              <a:rPr lang="en-US" sz="2000" dirty="0">
                <a:solidFill>
                  <a:schemeClr val="tx1"/>
                </a:solidFill>
              </a:rPr>
              <a:t>The cleaners found water at 6.50 — </a:t>
            </a:r>
            <a:r>
              <a:rPr lang="en-US" sz="2000" b="1" dirty="0">
                <a:solidFill>
                  <a:schemeClr val="tx1"/>
                </a:solidFill>
              </a:rPr>
              <a:t>they badged in at 6.47</a:t>
            </a:r>
            <a:r>
              <a:rPr lang="en-US" sz="2000" dirty="0">
                <a:solidFill>
                  <a:schemeClr val="tx1"/>
                </a:solidFill>
              </a:rPr>
              <a:t>.  → </a:t>
            </a:r>
            <a:r>
              <a:rPr lang="en-US" sz="2000" b="1" dirty="0">
                <a:solidFill>
                  <a:schemeClr val="accent3"/>
                </a:solidFill>
              </a:rPr>
              <a:t>F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4.  </a:t>
            </a:r>
            <a:r>
              <a:rPr lang="en-US" sz="2000" b="1" dirty="0">
                <a:solidFill>
                  <a:schemeClr val="tx1"/>
                </a:solidFill>
              </a:rPr>
              <a:t>I think</a:t>
            </a:r>
            <a:r>
              <a:rPr lang="en-US" sz="2000" dirty="0">
                <a:solidFill>
                  <a:schemeClr val="tx1"/>
                </a:solidFill>
              </a:rPr>
              <a:t> the contractor damaged the pipe.  →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5.  </a:t>
            </a:r>
            <a:r>
              <a:rPr lang="en-US" sz="2000" dirty="0">
                <a:solidFill>
                  <a:schemeClr val="tx1"/>
                </a:solidFill>
              </a:rPr>
              <a:t>Unit 3 shut down at 02.16, </a:t>
            </a:r>
            <a:r>
              <a:rPr lang="en-US" sz="2000" b="1" dirty="0">
                <a:solidFill>
                  <a:schemeClr val="tx1"/>
                </a:solidFill>
              </a:rPr>
              <a:t>according to the server log</a:t>
            </a:r>
            <a:r>
              <a:rPr lang="en-US" sz="2000" dirty="0">
                <a:solidFill>
                  <a:schemeClr val="tx1"/>
                </a:solidFill>
              </a:rPr>
              <a:t>.  → </a:t>
            </a:r>
            <a:r>
              <a:rPr lang="en-US" sz="2000" b="1" dirty="0">
                <a:solidFill>
                  <a:schemeClr val="accent3"/>
                </a:solidFill>
              </a:rPr>
              <a:t>F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6.  </a:t>
            </a:r>
            <a:r>
              <a:rPr lang="en-US" sz="2000" dirty="0">
                <a:solidFill>
                  <a:schemeClr val="tx1"/>
                </a:solidFill>
              </a:rPr>
              <a:t>Nobody heard the alarm. (</a:t>
            </a:r>
            <a:r>
              <a:rPr lang="en-US" sz="2000" b="1" dirty="0">
                <a:solidFill>
                  <a:schemeClr val="tx1"/>
                </a:solidFill>
              </a:rPr>
              <a:t>no source</a:t>
            </a:r>
            <a:r>
              <a:rPr lang="en-US" sz="2000" dirty="0">
                <a:solidFill>
                  <a:schemeClr val="tx1"/>
                </a:solidFill>
              </a:rPr>
              <a:t>)  → </a:t>
            </a:r>
            <a:r>
              <a:rPr lang="en-US" sz="2000" b="1" dirty="0">
                <a:solidFill>
                  <a:schemeClr val="accent3"/>
                </a:solidFill>
              </a:rPr>
              <a:t>S — not proved yet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7.  </a:t>
            </a:r>
            <a:r>
              <a:rPr lang="en-US" sz="2000" dirty="0">
                <a:solidFill>
                  <a:schemeClr val="tx1"/>
                </a:solidFill>
              </a:rPr>
              <a:t>It </a:t>
            </a:r>
            <a:r>
              <a:rPr lang="en-US" sz="2000" b="1" dirty="0">
                <a:solidFill>
                  <a:schemeClr val="tx1"/>
                </a:solidFill>
              </a:rPr>
              <a:t>might</a:t>
            </a:r>
            <a:r>
              <a:rPr lang="en-US" sz="2000" dirty="0">
                <a:solidFill>
                  <a:schemeClr val="tx1"/>
                </a:solidFill>
              </a:rPr>
              <a:t> be the same pipe as last November.  →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8.  </a:t>
            </a:r>
            <a:r>
              <a:rPr lang="en-US" sz="2000" dirty="0">
                <a:solidFill>
                  <a:schemeClr val="tx1"/>
                </a:solidFill>
              </a:rPr>
              <a:t>The photographs, </a:t>
            </a:r>
            <a:r>
              <a:rPr lang="en-US" sz="2000" b="1" dirty="0">
                <a:solidFill>
                  <a:schemeClr val="tx1"/>
                </a:solidFill>
              </a:rPr>
              <a:t>timestamped 8.20</a:t>
            </a:r>
            <a:r>
              <a:rPr lang="en-US" sz="2000" dirty="0">
                <a:solidFill>
                  <a:schemeClr val="tx1"/>
                </a:solidFill>
              </a:rPr>
              <a:t>, show a soaked floor.  → </a:t>
            </a:r>
            <a:r>
              <a:rPr lang="en-US" sz="2000" b="1" dirty="0">
                <a:solidFill>
                  <a:schemeClr val="accent3"/>
                </a:solidFill>
              </a:rPr>
              <a:t>F</a:t>
            </a:r>
            <a:endParaRPr lang="en-US" sz="20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WATCH OUT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« Nobody heard the alarm » sounds like a fact, but </a:t>
            </a:r>
            <a:r>
              <a:rPr lang="en-US" sz="1800" b="1" dirty="0">
                <a:solidFill>
                  <a:schemeClr val="tx1"/>
                </a:solidFill>
              </a:rPr>
              <a:t>who</a:t>
            </a:r>
            <a:r>
              <a:rPr lang="en-US" sz="1800" dirty="0">
                <a:solidFill>
                  <a:schemeClr val="tx1"/>
                </a:solidFill>
              </a:rPr>
              <a:t> can prove that nobody heard it?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precise time is not always a fact: </a:t>
            </a:r>
            <a:r>
              <a:rPr lang="en-US" sz="1800" b="1" dirty="0">
                <a:solidFill>
                  <a:schemeClr val="tx1"/>
                </a:solidFill>
              </a:rPr>
              <a:t>who</a:t>
            </a:r>
            <a:r>
              <a:rPr lang="en-US" sz="1800" dirty="0">
                <a:solidFill>
                  <a:schemeClr val="tx1"/>
                </a:solidFill>
              </a:rPr>
              <a:t> gives it, and </a:t>
            </a:r>
            <a:r>
              <a:rPr lang="en-US" sz="1800" b="1" dirty="0">
                <a:solidFill>
                  <a:schemeClr val="tx1"/>
                </a:solidFill>
              </a:rPr>
              <a:t>from what</a:t>
            </a:r>
            <a:r>
              <a:rPr lang="en-US" sz="1800" dirty="0">
                <a:solidFill>
                  <a:schemeClr val="tx1"/>
                </a:solidFill>
              </a:rPr>
              <a:t>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sure is the speaker?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515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METHOD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 · hors livret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5225796" cy="3883152"/>
          </a:xfrm>
          <a:prstGeom prst="roundRect">
            <a:avLst>
              <a:gd name="adj" fmla="val 2355"/>
            </a:avLst>
          </a:prstGeom>
          <a:solidFill>
            <a:schemeClr val="accent3">
              <a:alpha val="8000"/>
            </a:schemeClr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8249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1618488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FACT — it has a source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04288"/>
            <a:ext cx="4768596" cy="292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The log shows</a:t>
            </a:r>
            <a:r>
              <a:rPr lang="en-US" sz="2000" dirty="0">
                <a:solidFill>
                  <a:schemeClr val="tx1"/>
                </a:solidFill>
              </a:rPr>
              <a:t> that the alarm went off at 23.41.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According to</a:t>
            </a:r>
            <a:r>
              <a:rPr lang="en-US" sz="2000" dirty="0">
                <a:solidFill>
                  <a:schemeClr val="tx1"/>
                </a:solidFill>
              </a:rPr>
              <a:t> the alarm log, …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cleaners </a:t>
            </a:r>
            <a:r>
              <a:rPr lang="en-US" sz="2000" b="1" dirty="0">
                <a:solidFill>
                  <a:schemeClr val="tx1"/>
                </a:solidFill>
              </a:rPr>
              <a:t>found</a:t>
            </a:r>
            <a:r>
              <a:rPr lang="en-US" sz="2000" dirty="0">
                <a:solidFill>
                  <a:schemeClr val="tx1"/>
                </a:solidFill>
              </a:rPr>
              <a:t> the water at 6.50.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photographs </a:t>
            </a:r>
            <a:r>
              <a:rPr lang="en-US" sz="2000" b="1" dirty="0">
                <a:solidFill>
                  <a:schemeClr val="tx1"/>
                </a:solidFill>
              </a:rPr>
              <a:t>(timestamped 8.20)</a:t>
            </a:r>
            <a:r>
              <a:rPr lang="en-US" sz="2000" dirty="0">
                <a:solidFill>
                  <a:schemeClr val="tx1"/>
                </a:solidFill>
              </a:rPr>
              <a:t> show …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precise time + a document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414516" y="1481328"/>
            <a:ext cx="5225796" cy="3883152"/>
          </a:xfrm>
          <a:prstGeom prst="roundRect">
            <a:avLst>
              <a:gd name="adj" fmla="val 2355"/>
            </a:avLst>
          </a:prstGeom>
          <a:solidFill>
            <a:schemeClr val="accent6">
              <a:alpha val="8000"/>
            </a:schemeClr>
          </a:solidFill>
          <a:ln w="15875">
            <a:solidFill>
              <a:schemeClr val="accent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168249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46036" y="1618488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SUPPOSITION — needs proof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6643116" y="2304288"/>
            <a:ext cx="4768596" cy="292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pipe </a:t>
            </a:r>
            <a:r>
              <a:rPr lang="en-US" sz="2000" b="1" dirty="0">
                <a:solidFill>
                  <a:schemeClr val="tx1"/>
                </a:solidFill>
              </a:rPr>
              <a:t>probably</a:t>
            </a:r>
            <a:r>
              <a:rPr lang="en-US" sz="2000" dirty="0">
                <a:solidFill>
                  <a:schemeClr val="tx1"/>
                </a:solidFill>
              </a:rPr>
              <a:t> burst.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I think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b="1" dirty="0">
                <a:solidFill>
                  <a:schemeClr val="tx1"/>
                </a:solidFill>
              </a:rPr>
              <a:t>I believe</a:t>
            </a:r>
            <a:r>
              <a:rPr lang="en-US" sz="2000" dirty="0">
                <a:solidFill>
                  <a:schemeClr val="tx1"/>
                </a:solidFill>
              </a:rPr>
              <a:t> it was leaking all night.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</a:t>
            </a:r>
            <a:r>
              <a:rPr lang="en-US" sz="2000" b="1" dirty="0">
                <a:solidFill>
                  <a:schemeClr val="tx1"/>
                </a:solidFill>
              </a:rPr>
              <a:t>may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b="1" dirty="0">
                <a:solidFill>
                  <a:schemeClr val="tx1"/>
                </a:solidFill>
              </a:rPr>
              <a:t>might</a:t>
            </a:r>
            <a:r>
              <a:rPr lang="en-US" sz="2000" dirty="0">
                <a:solidFill>
                  <a:schemeClr val="tx1"/>
                </a:solidFill>
              </a:rPr>
              <a:t> be the same pipe.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It seems that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sz="2000" b="1" dirty="0">
                <a:solidFill>
                  <a:schemeClr val="tx1"/>
                </a:solidFill>
              </a:rPr>
              <a:t>Apparently</a:t>
            </a:r>
            <a:r>
              <a:rPr lang="en-US" sz="2000" dirty="0">
                <a:solidFill>
                  <a:schemeClr val="tx1"/>
                </a:solidFill>
              </a:rPr>
              <a:t> …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vague time: </a:t>
            </a:r>
            <a:r>
              <a:rPr lang="en-US" sz="2000" i="1" dirty="0">
                <a:solidFill>
                  <a:schemeClr val="tx1"/>
                </a:solidFill>
              </a:rPr>
              <a:t>around eleven, last night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5838444" y="3166872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5838444" y="3166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Astuce — </a:t>
            </a:r>
            <a:r>
              <a:rPr lang="en-US" sz="1700" dirty="0">
                <a:solidFill>
                  <a:schemeClr val="tx1"/>
                </a:solidFill>
              </a:rPr>
              <a:t>In your report, a supposition is not forbidden — it must simply </a:t>
            </a:r>
            <a:r>
              <a:rPr lang="en-US" sz="1700" b="1" dirty="0">
                <a:solidFill>
                  <a:schemeClr val="tx1"/>
                </a:solidFill>
              </a:rPr>
              <a:t>say that it is a supposition</a:t>
            </a:r>
            <a:r>
              <a:rPr lang="en-US" sz="1700" dirty="0">
                <a:solidFill>
                  <a:schemeClr val="tx1"/>
                </a:solidFill>
              </a:rPr>
              <a:t> (may, might). You will learn how in Scene 7.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Nine scenes, eleven hours, one page to sign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BRIEFING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4206240"/>
                <a:gridCol w="4599432"/>
              </a:tblGrid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SCENE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WHAT HAPPENS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WHAT YOU PRODUCE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9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06.58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 voicemail wakes you.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six lines on a notepad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9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08.15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The room with water in it.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the timeline Mark asked for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9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09.05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The alarm log contradicts the room.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a sorted list of what can be proved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9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09.40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Two columns on a whiteboard.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the ten o’clock update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9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10.20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The contractor writes, badly.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a document fit to be forwarded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9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11.30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The insurer calls back.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three sentences and a deadline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13.00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Four experts, one whiteboard.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two hypotheses, one ruled out, one recommendation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9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15.40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 wet sheet from the basement.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four sentences you must rewrite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98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17.00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The report.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one page, 180–220 words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we are going: one page, read by a sceptic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515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METHOD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43 &amp; 48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11580" y="166420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11580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Listen &amp; note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Scene 1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Six lines from a voicemail</a:t>
            </a:r>
            <a:endParaRPr lang="en-US" sz="1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9464" y="1883664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25496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88436" y="1664208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488436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2–3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935224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Fix the facts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2962656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Scenes 2–3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timeline · what the log proves</a:t>
            </a:r>
            <a:endParaRPr lang="en-US" sz="17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83664"/>
            <a:ext cx="219456" cy="21945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102352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765292" y="1664208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765292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4–6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212080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Say where we stand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239512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Scenes 4–6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Update · e-mail · phone call</a:t>
            </a:r>
            <a:endParaRPr lang="en-US" sz="17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1883664"/>
            <a:ext cx="219456" cy="21945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379208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42148" y="1664208"/>
            <a:ext cx="658368" cy="6583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042148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7–8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7488936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Suppose carefully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7516368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Scenes 7–8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Hypotheses · new evidence</a:t>
            </a:r>
            <a:endParaRPr lang="en-US" sz="17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1883664"/>
            <a:ext cx="219456" cy="219456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56064" y="1481328"/>
            <a:ext cx="1984248" cy="3895344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10319004" y="1664208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10319004" y="1664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9</a:t>
            </a:r>
            <a:endParaRPr lang="en-US" sz="2000" dirty="0"/>
          </a:p>
        </p:txBody>
      </p:sp>
      <p:sp>
        <p:nvSpPr>
          <p:cNvPr id="33" name="Text 26"/>
          <p:cNvSpPr txBox="1"/>
          <p:nvPr/>
        </p:nvSpPr>
        <p:spPr>
          <a:xfrm>
            <a:off x="9765792" y="2395728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Write the report</a:t>
            </a:r>
            <a:endParaRPr lang="en-US" sz="1700" dirty="0"/>
          </a:p>
        </p:txBody>
      </p:sp>
      <p:sp>
        <p:nvSpPr>
          <p:cNvPr id="34" name="Text 27"/>
          <p:cNvSpPr txBox="1"/>
          <p:nvPr/>
        </p:nvSpPr>
        <p:spPr>
          <a:xfrm>
            <a:off x="9793224" y="3172968"/>
            <a:ext cx="1709928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Scene 9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180–220 words, no names, no unproved cause</a:t>
            </a:r>
            <a:endParaRPr lang="en-US" sz="1700" dirty="0"/>
          </a:p>
        </p:txBody>
      </p:sp>
      <p:sp>
        <p:nvSpPr>
          <p:cNvPr id="35" name="Shape 28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Le rapport final — </a:t>
            </a:r>
            <a:r>
              <a:rPr lang="en-US" sz="1700" dirty="0">
                <a:solidFill>
                  <a:schemeClr val="tx1"/>
                </a:solidFill>
              </a:rPr>
              <a:t>The assessor reads, in this order: the </a:t>
            </a:r>
            <a:r>
              <a:rPr lang="en-US" sz="1700" b="1" dirty="0">
                <a:solidFill>
                  <a:schemeClr val="tx1"/>
                </a:solidFill>
              </a:rPr>
              <a:t>times</a:t>
            </a:r>
            <a:r>
              <a:rPr lang="en-US" sz="1700" dirty="0">
                <a:solidFill>
                  <a:schemeClr val="tx1"/>
                </a:solidFill>
              </a:rPr>
              <a:t>, the </a:t>
            </a:r>
            <a:r>
              <a:rPr lang="en-US" sz="1700" b="1" dirty="0">
                <a:solidFill>
                  <a:schemeClr val="tx1"/>
                </a:solidFill>
              </a:rPr>
              <a:t>position</a:t>
            </a:r>
            <a:r>
              <a:rPr lang="en-US" sz="1700" dirty="0">
                <a:solidFill>
                  <a:schemeClr val="tx1"/>
                </a:solidFill>
              </a:rPr>
              <a:t>, the </a:t>
            </a:r>
            <a:r>
              <a:rPr lang="en-US" sz="1700" b="1" dirty="0">
                <a:solidFill>
                  <a:schemeClr val="tx1"/>
                </a:solidFill>
              </a:rPr>
              <a:t>history</a:t>
            </a:r>
            <a:r>
              <a:rPr lang="en-US" sz="1700" dirty="0">
                <a:solidFill>
                  <a:schemeClr val="tx1"/>
                </a:solidFill>
              </a:rPr>
              <a:t>, the </a:t>
            </a:r>
            <a:r>
              <a:rPr lang="en-US" sz="1700" b="1" dirty="0">
                <a:solidFill>
                  <a:schemeClr val="tx1"/>
                </a:solidFill>
              </a:rPr>
              <a:t>cause</a:t>
            </a:r>
            <a:r>
              <a:rPr lang="en-US" sz="1700" dirty="0">
                <a:solidFill>
                  <a:schemeClr val="tx1"/>
                </a:solidFill>
              </a:rPr>
              <a:t>, the </a:t>
            </a:r>
            <a:r>
              <a:rPr lang="en-US" sz="1700" b="1" dirty="0">
                <a:solidFill>
                  <a:schemeClr val="tx1"/>
                </a:solidFill>
              </a:rPr>
              <a:t>commitment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Diagnostic: past forms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Three minutes, alone. Write the past simple. No dictionary.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3453384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go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find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hear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leave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4367784" y="1926336"/>
            <a:ext cx="3453384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begin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break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send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take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</p:txBody>
      </p:sp>
      <p:sp>
        <p:nvSpPr>
          <p:cNvPr id="9" name="exercise"/>
          <p:cNvSpPr txBox="1"/>
          <p:nvPr/>
        </p:nvSpPr>
        <p:spPr>
          <a:xfrm>
            <a:off x="8186928" y="1926336"/>
            <a:ext cx="3453384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9.  </a:t>
            </a:r>
            <a:r>
              <a:rPr lang="en-US" sz="2400" dirty="0">
                <a:solidFill>
                  <a:schemeClr val="tx1"/>
                </a:solidFill>
              </a:rPr>
              <a:t>see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10.  </a:t>
            </a:r>
            <a:r>
              <a:rPr lang="en-US" sz="2400" dirty="0">
                <a:solidFill>
                  <a:schemeClr val="tx1"/>
                </a:solidFill>
              </a:rPr>
              <a:t>shut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11.  </a:t>
            </a:r>
            <a:r>
              <a:rPr lang="en-US" sz="2400" dirty="0">
                <a:solidFill>
                  <a:schemeClr val="tx1"/>
                </a:solidFill>
              </a:rPr>
              <a:t>lock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12.  </a:t>
            </a:r>
            <a:r>
              <a:rPr lang="en-US" sz="2400" dirty="0">
                <a:solidFill>
                  <a:schemeClr val="tx1"/>
                </a:solidFill>
              </a:rPr>
              <a:t>stop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Diagnostic: past forms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Three minutes, alone. Write the past simple. No dictionary.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3453384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go → </a:t>
            </a:r>
            <a:r>
              <a:rPr lang="en-US" sz="2400" b="1" dirty="0">
                <a:solidFill>
                  <a:schemeClr val="accent3"/>
                </a:solidFill>
              </a:rPr>
              <a:t>went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find → </a:t>
            </a:r>
            <a:r>
              <a:rPr lang="en-US" sz="2400" b="1" dirty="0">
                <a:solidFill>
                  <a:schemeClr val="accent3"/>
                </a:solidFill>
              </a:rPr>
              <a:t>found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hear → </a:t>
            </a:r>
            <a:r>
              <a:rPr lang="en-US" sz="2400" b="1" dirty="0">
                <a:solidFill>
                  <a:schemeClr val="accent3"/>
                </a:solidFill>
              </a:rPr>
              <a:t>heard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leave → </a:t>
            </a:r>
            <a:r>
              <a:rPr lang="en-US" sz="2400" b="1" dirty="0">
                <a:solidFill>
                  <a:schemeClr val="accent3"/>
                </a:solidFill>
              </a:rPr>
              <a:t>left</a:t>
            </a:r>
            <a:endParaRPr lang="en-US" sz="2400" dirty="0"/>
          </a:p>
        </p:txBody>
      </p:sp>
      <p:sp>
        <p:nvSpPr>
          <p:cNvPr id="9" name="exercise"/>
          <p:cNvSpPr txBox="1"/>
          <p:nvPr/>
        </p:nvSpPr>
        <p:spPr>
          <a:xfrm>
            <a:off x="4367784" y="1926336"/>
            <a:ext cx="3453384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begin → </a:t>
            </a:r>
            <a:r>
              <a:rPr lang="en-US" sz="2400" b="1" dirty="0">
                <a:solidFill>
                  <a:schemeClr val="accent3"/>
                </a:solidFill>
              </a:rPr>
              <a:t>began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break → </a:t>
            </a:r>
            <a:r>
              <a:rPr lang="en-US" sz="2400" b="1" dirty="0">
                <a:solidFill>
                  <a:schemeClr val="accent3"/>
                </a:solidFill>
              </a:rPr>
              <a:t>broke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send → </a:t>
            </a:r>
            <a:r>
              <a:rPr lang="en-US" sz="2400" b="1" dirty="0">
                <a:solidFill>
                  <a:schemeClr val="accent3"/>
                </a:solidFill>
              </a:rPr>
              <a:t>sent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take → </a:t>
            </a:r>
            <a:r>
              <a:rPr lang="en-US" sz="2400" b="1" dirty="0">
                <a:solidFill>
                  <a:schemeClr val="accent3"/>
                </a:solidFill>
              </a:rPr>
              <a:t>took</a:t>
            </a:r>
            <a:endParaRPr lang="en-US" sz="2400" dirty="0"/>
          </a:p>
        </p:txBody>
      </p:sp>
      <p:sp>
        <p:nvSpPr>
          <p:cNvPr id="10" name="exercise"/>
          <p:cNvSpPr txBox="1"/>
          <p:nvPr/>
        </p:nvSpPr>
        <p:spPr>
          <a:xfrm>
            <a:off x="8186928" y="1926336"/>
            <a:ext cx="3453384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9.  </a:t>
            </a:r>
            <a:r>
              <a:rPr lang="en-US" sz="2400" dirty="0">
                <a:solidFill>
                  <a:schemeClr val="tx1"/>
                </a:solidFill>
              </a:rPr>
              <a:t>see → </a:t>
            </a:r>
            <a:r>
              <a:rPr lang="en-US" sz="2400" b="1" dirty="0">
                <a:solidFill>
                  <a:schemeClr val="accent3"/>
                </a:solidFill>
              </a:rPr>
              <a:t>saw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10.  </a:t>
            </a:r>
            <a:r>
              <a:rPr lang="en-US" sz="2400" dirty="0">
                <a:solidFill>
                  <a:schemeClr val="tx1"/>
                </a:solidFill>
              </a:rPr>
              <a:t>shut → </a:t>
            </a:r>
            <a:r>
              <a:rPr lang="en-US" sz="2400" b="1" dirty="0">
                <a:solidFill>
                  <a:schemeClr val="accent3"/>
                </a:solidFill>
              </a:rPr>
              <a:t>shut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11.  </a:t>
            </a:r>
            <a:r>
              <a:rPr lang="en-US" sz="2400" dirty="0">
                <a:solidFill>
                  <a:schemeClr val="tx1"/>
                </a:solidFill>
              </a:rPr>
              <a:t>lock → </a:t>
            </a:r>
            <a:r>
              <a:rPr lang="en-US" sz="2400" b="1" dirty="0">
                <a:solidFill>
                  <a:schemeClr val="accent3"/>
                </a:solidFill>
              </a:rPr>
              <a:t>locked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12.  </a:t>
            </a:r>
            <a:r>
              <a:rPr lang="en-US" sz="2400" dirty="0">
                <a:solidFill>
                  <a:schemeClr val="tx1"/>
                </a:solidFill>
              </a:rPr>
              <a:t>stop → </a:t>
            </a:r>
            <a:r>
              <a:rPr lang="en-US" sz="2400" b="1" dirty="0">
                <a:solidFill>
                  <a:schemeClr val="accent3"/>
                </a:solidFill>
              </a:rPr>
              <a:t>stopped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Diagnostic: tell it in the past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Rewrite each sentence in the past. Keep the time expression.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The alarm goes off at 23.41. → The alarm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at 23.41.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The cleaners don’t hear anything. → The cleaners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r>
              <a:rPr lang="en-US" sz="2400" dirty="0">
                <a:solidFill>
                  <a:schemeClr val="tx1"/>
                </a:solidFill>
              </a:rPr>
              <a:t> anything.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Does Mark call you before eight? →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Mark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you before eight?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Water is running behind the ceiling. → Water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r>
              <a:rPr lang="en-US" sz="2400" dirty="0">
                <a:solidFill>
                  <a:schemeClr val="tx1"/>
                </a:solidFill>
              </a:rPr>
              <a:t> behind the ceiling.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Diagnostic: tell it in the past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DRY RUN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livret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Rewrite each sentence in the past. Keep the time expression.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11091672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The alarm goes off at 23.41. → The alarm </a:t>
            </a:r>
            <a:r>
              <a:rPr lang="en-US" sz="2400" b="1" dirty="0">
                <a:solidFill>
                  <a:schemeClr val="accent3"/>
                </a:solidFill>
              </a:rPr>
              <a:t>went off</a:t>
            </a:r>
            <a:r>
              <a:rPr lang="en-US" sz="2400" dirty="0">
                <a:solidFill>
                  <a:schemeClr val="tx1"/>
                </a:solidFill>
              </a:rPr>
              <a:t> at 23.41.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The cleaners don’t hear anything. → The cleaners </a:t>
            </a:r>
            <a:r>
              <a:rPr lang="en-US" sz="2400" b="1" dirty="0">
                <a:solidFill>
                  <a:schemeClr val="accent3"/>
                </a:solidFill>
              </a:rPr>
              <a:t>didn’t hear</a:t>
            </a:r>
            <a:r>
              <a:rPr lang="en-US" sz="2400" dirty="0">
                <a:solidFill>
                  <a:schemeClr val="tx1"/>
                </a:solidFill>
              </a:rPr>
              <a:t> anything.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Does Mark call you before eight? → </a:t>
            </a:r>
            <a:r>
              <a:rPr lang="en-US" sz="2400" b="1" dirty="0">
                <a:solidFill>
                  <a:schemeClr val="accent3"/>
                </a:solidFill>
              </a:rPr>
              <a:t>Did</a:t>
            </a:r>
            <a:r>
              <a:rPr lang="en-US" sz="2400" dirty="0">
                <a:solidFill>
                  <a:schemeClr val="tx1"/>
                </a:solidFill>
              </a:rPr>
              <a:t> Mark </a:t>
            </a:r>
            <a:r>
              <a:rPr lang="en-US" sz="2400" b="1" dirty="0">
                <a:solidFill>
                  <a:schemeClr val="accent3"/>
                </a:solidFill>
              </a:rPr>
              <a:t>call</a:t>
            </a:r>
            <a:r>
              <a:rPr lang="en-US" sz="2400" dirty="0">
                <a:solidFill>
                  <a:schemeClr val="tx1"/>
                </a:solidFill>
              </a:rPr>
              <a:t> you before eight?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Water is running behind the ceiling. → Water </a:t>
            </a:r>
            <a:r>
              <a:rPr lang="en-US" sz="2400" b="1" dirty="0">
                <a:solidFill>
                  <a:schemeClr val="accent3"/>
                </a:solidFill>
              </a:rPr>
              <a:t>was running</a:t>
            </a:r>
            <a:r>
              <a:rPr lang="en-US" sz="2400" dirty="0">
                <a:solidFill>
                  <a:schemeClr val="tx1"/>
                </a:solidFill>
              </a:rPr>
              <a:t> behind the ceiling.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Before you close the file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659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END OF SESSION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NEXT IN THE FILE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Tomorrow, 06.58. It is still dark. Your phone lights up on the table and vibrates twice. One missed call, one voicemail. The number is Mark Shaw’s. He never calls before eight.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BEFORE NEXT SESSION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Learn the </a:t>
            </a:r>
            <a:r>
              <a:rPr lang="en-US" sz="1700" b="1" dirty="0">
                <a:solidFill>
                  <a:schemeClr val="tx1"/>
                </a:solidFill>
              </a:rPr>
              <a:t>16 key words</a:t>
            </a:r>
            <a:r>
              <a:rPr lang="en-US" sz="1700" dirty="0">
                <a:solidFill>
                  <a:schemeClr val="tx1"/>
                </a:solidFill>
              </a:rPr>
              <a:t> of the case (both slides).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Revise the </a:t>
            </a:r>
            <a:r>
              <a:rPr lang="en-US" sz="1700" b="1" dirty="0">
                <a:solidFill>
                  <a:schemeClr val="tx1"/>
                </a:solidFill>
              </a:rPr>
              <a:t>12 past forms</a:t>
            </a:r>
            <a:r>
              <a:rPr lang="en-US" sz="1700" dirty="0">
                <a:solidFill>
                  <a:schemeClr val="tx1"/>
                </a:solidFill>
              </a:rPr>
              <a:t> of the diagnostic.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Read </a:t>
            </a:r>
            <a:r>
              <a:rPr lang="en-US" sz="1700" b="1" dirty="0">
                <a:solidFill>
                  <a:schemeClr val="tx1"/>
                </a:solidFill>
              </a:rPr>
              <a:t>page 3</a:t>
            </a:r>
            <a:r>
              <a:rPr lang="en-US" sz="1700" dirty="0">
                <a:solidFill>
                  <a:schemeClr val="tx1"/>
                </a:solidFill>
              </a:rPr>
              <a:t> and prepare a notepad: you will take notes from a voicemail.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Remember your firm: </a:t>
            </a:r>
            <a:r>
              <a:rPr lang="en-US" sz="1700" b="1" dirty="0">
                <a:solidFill>
                  <a:schemeClr val="tx1"/>
                </a:solidFill>
              </a:rPr>
              <a:t>ACC · IT · LAW · RE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EXIT TICKET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Give one </a:t>
            </a:r>
            <a:r>
              <a:rPr lang="en-US" sz="1600" b="1" dirty="0">
                <a:solidFill>
                  <a:schemeClr val="bg1"/>
                </a:solidFill>
              </a:rPr>
              <a:t>fact</a:t>
            </a:r>
            <a:r>
              <a:rPr lang="en-US" sz="1600" dirty="0">
                <a:solidFill>
                  <a:schemeClr val="bg1"/>
                </a:solidFill>
              </a:rPr>
              <a:t> and one </a:t>
            </a:r>
            <a:r>
              <a:rPr lang="en-US" sz="1600" b="1" dirty="0">
                <a:solidFill>
                  <a:schemeClr val="bg1"/>
                </a:solidFill>
              </a:rPr>
              <a:t>supposition</a:t>
            </a:r>
            <a:r>
              <a:rPr lang="en-US" sz="1600" dirty="0">
                <a:solidFill>
                  <a:schemeClr val="bg1"/>
                </a:solidFill>
              </a:rPr>
              <a:t> about Atlas House — and say how you know which is which.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2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Atlas">
  <a:themeElements>
    <a:clrScheme name="Project Atlas">
      <a:dk1>
        <a:srgbClr val="1B2333"/>
      </a:dk1>
      <a:lt1>
        <a:srgbClr val="FFFFFF"/>
      </a:lt1>
      <a:dk2>
        <a:srgbClr val="1F3864"/>
      </a:dk2>
      <a:lt2>
        <a:srgbClr val="EEF2F8"/>
      </a:lt2>
      <a:accent1>
        <a:srgbClr val="C0752A"/>
      </a:accent1>
      <a:accent2>
        <a:srgbClr val="2E75B6"/>
      </a:accent2>
      <a:accent3>
        <a:srgbClr val="3C7A3C"/>
      </a:accent3>
      <a:accent4>
        <a:srgbClr val="6E4A9E"/>
      </a:accent4>
      <a:accent5>
        <a:srgbClr val="44546A"/>
      </a:accent5>
      <a:accent6>
        <a:srgbClr val="B03A2E"/>
      </a:accent6>
      <a:hlink>
        <a:srgbClr val="2E75B6"/>
      </a:hlink>
      <a:folHlink>
        <a:srgbClr val="6E4A9E"/>
      </a:folHlink>
    </a:clrScheme>
    <a:fontScheme name="Project At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English UE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01 — Read this before you open the file</dc:title>
  <dc:subject>Case File 01 — The night nobody heard</dc:subject>
  <dc:creator>A. Jouniaux</dc:creator>
  <cp:lastModifiedBy>A. Jouniaux</cp:lastModifiedBy>
  <cp:revision>1</cp:revision>
  <dcterms:created xsi:type="dcterms:W3CDTF">2026-10-03T19:30:03Z</dcterms:created>
  <dcterms:modified xsi:type="dcterms:W3CDTF">2026-10-03T19:30:03Z</dcterms:modified>
</cp:coreProperties>
</file>