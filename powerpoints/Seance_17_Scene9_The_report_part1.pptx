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567e6955-b67d-8624-cdf1-77bd079657b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Clôture" id="{4401a633-4365-38cf-9a6a-a7918209ec7a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Scène 9, première partie : la phrase « badge » (ne nommer personne) et les sections 1 à 3 du rapport, dans l’ordre de lecture de l’expert.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English UE 3 · Case File 01 — The night nobody heard · Séance 17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English UE 3 · Case File 01 — The night nobody heard · Séance 17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2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English UE 3 · A. Jouniaux · Project Atlas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17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SCENE 9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17.00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report: sections one to three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One page. It will be read by someone who is looking for a reason to refuse.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Case File 01 — The night nobody heard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42–44</a:t>
            </a:r>
            <a:endParaRPr lang="en-US" sz="1800" dirty="0"/>
          </a:p>
        </p:txBody>
      </p:sp>
      <p:pic>
        <p:nvPicPr>
          <p:cNvPr id="6" name="illustration" descr="Scene illustration from the case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1019"/>
            <a:ext cx="5120640" cy="3415962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Today's mission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BRIEFING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42–44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BY THE END OF THE SESSION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</a:t>
            </a:r>
            <a:r>
              <a:rPr lang="en-US" sz="1800" b="1" dirty="0">
                <a:solidFill>
                  <a:schemeClr val="tx1"/>
                </a:solidFill>
              </a:rPr>
              <a:t>badge sentence</a:t>
            </a:r>
            <a:r>
              <a:rPr lang="en-US" sz="1800" dirty="0">
                <a:solidFill>
                  <a:schemeClr val="tx1"/>
                </a:solidFill>
              </a:rPr>
              <a:t> and the first </a:t>
            </a:r>
            <a:r>
              <a:rPr lang="en-US" sz="1800" b="1" dirty="0">
                <a:solidFill>
                  <a:schemeClr val="tx1"/>
                </a:solidFill>
              </a:rPr>
              <a:t>three sections</a:t>
            </a:r>
            <a:r>
              <a:rPr lang="en-US" sz="1800" dirty="0">
                <a:solidFill>
                  <a:schemeClr val="tx1"/>
                </a:solidFill>
              </a:rPr>
              <a:t> of your report.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LANGUAGE FOCUS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Neutral reporting: passive, impersonal subjects · </a:t>
            </a:r>
            <a:r>
              <a:rPr lang="en-US" sz="1800" i="1" dirty="0">
                <a:solidFill>
                  <a:schemeClr val="tx1"/>
                </a:solidFill>
              </a:rPr>
              <a:t>while / when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i="1" dirty="0">
                <a:solidFill>
                  <a:schemeClr val="tx1"/>
                </a:solidFill>
              </a:rPr>
              <a:t>already, not … yet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i="1" dirty="0">
                <a:solidFill>
                  <a:schemeClr val="tx1"/>
                </a:solidFill>
              </a:rPr>
              <a:t>since / for</a:t>
            </a:r>
            <a:r>
              <a:rPr lang="en-US" sz="1800" dirty="0">
                <a:solidFill>
                  <a:schemeClr val="tx1"/>
                </a:solidFill>
              </a:rPr>
              <a:t> + a dated fact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SKILLS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Writing for a hostile reader · following the assessor’s reading order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ROADMAP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63640" y="19596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263640" y="19596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784848" y="187452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Warm-up: closed or open?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10972800" y="187452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263640" y="251402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263640" y="25140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784848" y="242887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16.30 — Mark explains (p. 42)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10972800" y="242887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6263640" y="306838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263640" y="306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6784848" y="298323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the badge sentence (p. 43)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10972800" y="298323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6263640" y="36227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6263640" y="3622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6784848" y="353758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the assessor looks for (p. 43)</a:t>
            </a:r>
            <a:endParaRPr lang="en-US" sz="1600" dirty="0"/>
          </a:p>
        </p:txBody>
      </p:sp>
      <p:sp>
        <p:nvSpPr>
          <p:cNvPr id="37" name="Text 32"/>
          <p:cNvSpPr txBox="1"/>
          <p:nvPr/>
        </p:nvSpPr>
        <p:spPr>
          <a:xfrm>
            <a:off x="10972800" y="353758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38" name="Shape 33"/>
          <p:cNvSpPr/>
          <p:nvPr/>
        </p:nvSpPr>
        <p:spPr>
          <a:xfrm>
            <a:off x="6263640" y="417709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6263640" y="4177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0" name="Text 35"/>
          <p:cNvSpPr txBox="1"/>
          <p:nvPr/>
        </p:nvSpPr>
        <p:spPr>
          <a:xfrm>
            <a:off x="6784848" y="409194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Section one — the night</a:t>
            </a:r>
            <a:endParaRPr lang="en-US" sz="1600" dirty="0"/>
          </a:p>
        </p:txBody>
      </p:sp>
      <p:sp>
        <p:nvSpPr>
          <p:cNvPr id="41" name="Text 36"/>
          <p:cNvSpPr txBox="1"/>
          <p:nvPr/>
        </p:nvSpPr>
        <p:spPr>
          <a:xfrm>
            <a:off x="10972800" y="409194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42" name="Shape 37"/>
          <p:cNvSpPr/>
          <p:nvPr/>
        </p:nvSpPr>
        <p:spPr>
          <a:xfrm>
            <a:off x="6263640" y="473144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6263640" y="47314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4" name="Text 39"/>
          <p:cNvSpPr txBox="1"/>
          <p:nvPr/>
        </p:nvSpPr>
        <p:spPr>
          <a:xfrm>
            <a:off x="6784848" y="464629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Section two — where we stand</a:t>
            </a:r>
            <a:endParaRPr lang="en-US" sz="1600" dirty="0"/>
          </a:p>
        </p:txBody>
      </p:sp>
      <p:sp>
        <p:nvSpPr>
          <p:cNvPr id="45" name="Text 40"/>
          <p:cNvSpPr txBox="1"/>
          <p:nvPr/>
        </p:nvSpPr>
        <p:spPr>
          <a:xfrm>
            <a:off x="10972800" y="464629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46" name="Shape 41"/>
          <p:cNvSpPr/>
          <p:nvPr/>
        </p:nvSpPr>
        <p:spPr>
          <a:xfrm>
            <a:off x="6263640" y="52858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6263640" y="5285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8" name="Text 43"/>
          <p:cNvSpPr txBox="1"/>
          <p:nvPr/>
        </p:nvSpPr>
        <p:spPr>
          <a:xfrm>
            <a:off x="6784848" y="520065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Section three — how long</a:t>
            </a:r>
            <a:endParaRPr lang="en-US" sz="1600" dirty="0"/>
          </a:p>
        </p:txBody>
      </p:sp>
      <p:sp>
        <p:nvSpPr>
          <p:cNvPr id="49" name="Text 44"/>
          <p:cNvSpPr txBox="1"/>
          <p:nvPr/>
        </p:nvSpPr>
        <p:spPr>
          <a:xfrm>
            <a:off x="10972800" y="520065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50" name="Shape 45"/>
          <p:cNvSpPr/>
          <p:nvPr/>
        </p:nvSpPr>
        <p:spPr>
          <a:xfrm>
            <a:off x="6263640" y="58401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6263640" y="58401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2" name="Text 47"/>
          <p:cNvSpPr txBox="1"/>
          <p:nvPr/>
        </p:nvSpPr>
        <p:spPr>
          <a:xfrm>
            <a:off x="6784848" y="575500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Wrap-up</a:t>
            </a:r>
            <a:endParaRPr lang="en-US" sz="1600" dirty="0"/>
          </a:p>
        </p:txBody>
      </p:sp>
      <p:sp>
        <p:nvSpPr>
          <p:cNvPr id="53" name="Text 48"/>
          <p:cNvSpPr txBox="1"/>
          <p:nvPr/>
        </p:nvSpPr>
        <p:spPr>
          <a:xfrm>
            <a:off x="10972800" y="575500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closed or still open?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16</a:t>
            </a:r>
            <a:endParaRPr lang="en-US" sz="1200" dirty="0"/>
          </a:p>
        </p:txBody>
      </p:sp>
      <p:sp>
        <p:nvSpPr>
          <p:cNvPr id="5" name="exercise"/>
          <p:cNvSpPr txBox="1"/>
          <p:nvPr/>
        </p:nvSpPr>
        <p:spPr>
          <a:xfrm>
            <a:off x="548640" y="1481328"/>
            <a:ext cx="11091672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The joint </a:t>
            </a:r>
            <a:r>
              <a:rPr lang="en-US" sz="2400" dirty="0">
                <a:solidFill>
                  <a:schemeClr val="accent5"/>
                </a:solidFill>
              </a:rPr>
              <a:t>…………………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i="1" dirty="0">
                <a:solidFill>
                  <a:schemeClr val="tx1"/>
                </a:solidFill>
              </a:rPr>
              <a:t>(inspect)</a:t>
            </a:r>
            <a:r>
              <a:rPr lang="en-US" sz="2400" dirty="0">
                <a:solidFill>
                  <a:schemeClr val="tx1"/>
                </a:solidFill>
              </a:rPr>
              <a:t> on 14 June.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It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i="1" dirty="0">
                <a:solidFill>
                  <a:schemeClr val="tx1"/>
                </a:solidFill>
              </a:rPr>
              <a:t>(be)</a:t>
            </a:r>
            <a:r>
              <a:rPr lang="en-US" sz="2400" dirty="0">
                <a:solidFill>
                  <a:schemeClr val="tx1"/>
                </a:solidFill>
              </a:rPr>
              <a:t> faulty since June.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This is the second time we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i="1" dirty="0">
                <a:solidFill>
                  <a:schemeClr val="tx1"/>
                </a:solidFill>
              </a:rPr>
              <a:t>(have)</a:t>
            </a:r>
            <a:r>
              <a:rPr lang="en-US" sz="2400" dirty="0">
                <a:solidFill>
                  <a:schemeClr val="tx1"/>
                </a:solidFill>
              </a:rPr>
              <a:t> a leak.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A temporary repair </a:t>
            </a:r>
            <a:r>
              <a:rPr lang="en-US" sz="2400" dirty="0">
                <a:solidFill>
                  <a:schemeClr val="accent5"/>
                </a:solidFill>
              </a:rPr>
              <a:t>……………………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i="1" dirty="0">
                <a:solidFill>
                  <a:schemeClr val="tx1"/>
                </a:solidFill>
              </a:rPr>
              <a:t>(carry out)</a:t>
            </a:r>
            <a:r>
              <a:rPr lang="en-US" sz="2400" dirty="0">
                <a:solidFill>
                  <a:schemeClr val="tx1"/>
                </a:solidFill>
              </a:rPr>
              <a:t> on 8 November.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closed or still open?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16</a:t>
            </a:r>
            <a:endParaRPr lang="en-US" sz="12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481328"/>
            <a:ext cx="11091672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The joint </a:t>
            </a:r>
            <a:r>
              <a:rPr lang="en-US" sz="2400" b="1" dirty="0">
                <a:solidFill>
                  <a:schemeClr val="accent3"/>
                </a:solidFill>
              </a:rPr>
              <a:t>was inspected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i="1" dirty="0">
                <a:solidFill>
                  <a:schemeClr val="tx1"/>
                </a:solidFill>
              </a:rPr>
              <a:t>(inspect)</a:t>
            </a:r>
            <a:r>
              <a:rPr lang="en-US" sz="2400" dirty="0">
                <a:solidFill>
                  <a:schemeClr val="tx1"/>
                </a:solidFill>
              </a:rPr>
              <a:t> on 14 June.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It </a:t>
            </a:r>
            <a:r>
              <a:rPr lang="en-US" sz="2400" b="1" dirty="0">
                <a:solidFill>
                  <a:schemeClr val="accent3"/>
                </a:solidFill>
              </a:rPr>
              <a:t>has been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i="1" dirty="0">
                <a:solidFill>
                  <a:schemeClr val="tx1"/>
                </a:solidFill>
              </a:rPr>
              <a:t>(be)</a:t>
            </a:r>
            <a:r>
              <a:rPr lang="en-US" sz="2400" dirty="0">
                <a:solidFill>
                  <a:schemeClr val="tx1"/>
                </a:solidFill>
              </a:rPr>
              <a:t> faulty since June.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This is the second time we </a:t>
            </a:r>
            <a:r>
              <a:rPr lang="en-US" sz="2400" b="1" dirty="0">
                <a:solidFill>
                  <a:schemeClr val="accent3"/>
                </a:solidFill>
              </a:rPr>
              <a:t>have had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i="1" dirty="0">
                <a:solidFill>
                  <a:schemeClr val="tx1"/>
                </a:solidFill>
              </a:rPr>
              <a:t>(have)</a:t>
            </a:r>
            <a:r>
              <a:rPr lang="en-US" sz="2400" dirty="0">
                <a:solidFill>
                  <a:schemeClr val="tx1"/>
                </a:solidFill>
              </a:rPr>
              <a:t> a leak.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A temporary repair </a:t>
            </a:r>
            <a:r>
              <a:rPr lang="en-US" sz="2400" b="1" dirty="0">
                <a:solidFill>
                  <a:schemeClr val="accent3"/>
                </a:solidFill>
              </a:rPr>
              <a:t>was carried out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i="1" dirty="0">
                <a:solidFill>
                  <a:schemeClr val="tx1"/>
                </a:solidFill>
              </a:rPr>
              <a:t>(carry out)</a:t>
            </a:r>
            <a:r>
              <a:rPr lang="en-US" sz="2400" dirty="0">
                <a:solidFill>
                  <a:schemeClr val="tx1"/>
                </a:solidFill>
              </a:rPr>
              <a:t> on 8 November.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report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SCENE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42</a:t>
            </a:r>
            <a:endParaRPr lang="en-US" sz="1200" dirty="0"/>
          </a:p>
        </p:txBody>
      </p:sp>
      <p:pic>
        <p:nvPicPr>
          <p:cNvPr id="5" name="illustration" descr="The narrator alone at a laptop in an empty meeting room at sun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035040" cy="4025956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995160" y="150876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995160" y="15544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SCENE 9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17.00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995160" y="2560320"/>
            <a:ext cx="4645152" cy="238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Everybody has left the technical room. There is a laptop, a cold coffee, and </a:t>
            </a:r>
            <a:r>
              <a:rPr lang="en-US" sz="2000" b="1" dirty="0">
                <a:solidFill>
                  <a:schemeClr val="tx1"/>
                </a:solidFill>
              </a:rPr>
              <a:t>eleven hours of notes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What you write in the next sixty minutes decides whether this incident costs your firm </a:t>
            </a:r>
            <a:r>
              <a:rPr lang="en-US" sz="2000" b="1" dirty="0">
                <a:solidFill>
                  <a:schemeClr val="tx1"/>
                </a:solidFill>
              </a:rPr>
              <a:t>nothing or a great deal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995160" y="5123688"/>
            <a:ext cx="4645152" cy="1167384"/>
          </a:xfrm>
          <a:prstGeom prst="roundRect">
            <a:avLst>
              <a:gd name="adj" fmla="val 6266"/>
            </a:avLst>
          </a:prstGeom>
          <a:solidFill>
            <a:schemeClr val="accent1">
              <a:alpha val="12000"/>
            </a:schemeClr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78040" y="521512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ASK THE CLASS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178040" y="5507736"/>
            <a:ext cx="4279392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Before you write a single word: what must </a:t>
            </a:r>
            <a:r>
              <a:rPr lang="en-US" sz="1700" b="1" dirty="0">
                <a:solidFill>
                  <a:schemeClr val="tx1"/>
                </a:solidFill>
              </a:rPr>
              <a:t>not</a:t>
            </a:r>
            <a:r>
              <a:rPr lang="en-US" sz="1700" dirty="0">
                <a:solidFill>
                  <a:schemeClr val="tx1"/>
                </a:solidFill>
              </a:rPr>
              <a:t> appear in this report?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16.30 — Mark answers the question you did not ask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BRIEFING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MARK:  </a:t>
            </a:r>
            <a:r>
              <a:rPr lang="en-US" sz="2000" dirty="0">
                <a:solidFill>
                  <a:schemeClr val="tx1"/>
                </a:solidFill>
              </a:rPr>
              <a:t>« You want to know why I stopped you writing that badge number. Here it is. Badge 0102 is the site manager. He came in at 20.04 and left at 20.19 — fifteen minutes, which is exactly a last inspection round. »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MARK:  </a:t>
            </a:r>
            <a:r>
              <a:rPr lang="en-US" sz="2000" dirty="0">
                <a:solidFill>
                  <a:schemeClr val="tx1"/>
                </a:solidFill>
              </a:rPr>
              <a:t>« If we put his number in the report, the insurer reads it as </a:t>
            </a:r>
            <a:r>
              <a:rPr lang="en-US" sz="2000" b="1" dirty="0">
                <a:solidFill>
                  <a:schemeClr val="tx1"/>
                </a:solidFill>
              </a:rPr>
              <a:t>a lead</a:t>
            </a:r>
            <a:r>
              <a:rPr lang="en-US" sz="2000" dirty="0">
                <a:solidFill>
                  <a:schemeClr val="tx1"/>
                </a:solidFill>
              </a:rPr>
              <a:t>. Legal reads it as </a:t>
            </a:r>
            <a:r>
              <a:rPr lang="en-US" sz="2000" b="1" dirty="0">
                <a:solidFill>
                  <a:schemeClr val="tx1"/>
                </a:solidFill>
              </a:rPr>
              <a:t>a name</a:t>
            </a:r>
            <a:r>
              <a:rPr lang="en-US" sz="2000" dirty="0">
                <a:solidFill>
                  <a:schemeClr val="tx1"/>
                </a:solidFill>
              </a:rPr>
              <a:t>. And the man himself reads it as </a:t>
            </a:r>
            <a:r>
              <a:rPr lang="en-US" sz="2000" b="1" dirty="0">
                <a:solidFill>
                  <a:schemeClr val="tx1"/>
                </a:solidFill>
              </a:rPr>
              <a:t>an accusation</a:t>
            </a:r>
            <a:r>
              <a:rPr lang="en-US" sz="2000" dirty="0">
                <a:solidFill>
                  <a:schemeClr val="tx1"/>
                </a:solidFill>
              </a:rPr>
              <a:t>, three weeks before he signs off the handover. »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MARK:  </a:t>
            </a:r>
            <a:r>
              <a:rPr lang="en-US" sz="2000" dirty="0">
                <a:solidFill>
                  <a:schemeClr val="tx1"/>
                </a:solidFill>
              </a:rPr>
              <a:t>« So: </a:t>
            </a:r>
            <a:r>
              <a:rPr lang="en-US" sz="2000" b="1" dirty="0">
                <a:solidFill>
                  <a:schemeClr val="tx1"/>
                </a:solidFill>
              </a:rPr>
              <a:t>the fact stays, the number goes.</a:t>
            </a:r>
            <a:r>
              <a:rPr lang="en-US" sz="2000" dirty="0">
                <a:solidFill>
                  <a:schemeClr val="tx1"/>
                </a:solidFill>
              </a:rPr>
              <a:t> Write that somebody carried out a final inspection at 20.04 and that the room was reported dry. That is true, it is verifiable, and it accuses nobody. »</a:t>
            </a:r>
            <a:endParaRPr lang="en-US" sz="2000" dirty="0"/>
          </a:p>
        </p:txBody>
      </p:sp>
      <p:sp>
        <p:nvSpPr>
          <p:cNvPr id="6" name="aside"/>
          <p:cNvSpPr/>
          <p:nvPr/>
        </p:nvSpPr>
        <p:spPr>
          <a:xfrm>
            <a:off x="8183880" y="1508760"/>
            <a:ext cx="3456432" cy="4782312"/>
          </a:xfrm>
          <a:prstGeom prst="roundRect">
            <a:avLst>
              <a:gd name="adj" fmla="val 211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6916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50808" y="166420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THE RULE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348472" y="2103120"/>
            <a:ext cx="3127248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The fact stays</a:t>
            </a:r>
            <a:r>
              <a:rPr lang="en-US" sz="1800" dirty="0">
                <a:solidFill>
                  <a:schemeClr val="tx1"/>
                </a:solidFill>
              </a:rPr>
              <a:t>: time, place, action.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The number goes</a:t>
            </a:r>
            <a:r>
              <a:rPr lang="en-US" sz="1800" dirty="0">
                <a:solidFill>
                  <a:schemeClr val="tx1"/>
                </a:solidFill>
              </a:rPr>
              <a:t>: no name, no badge, no job title.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lead · a name · an accusation = three ways to lose.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Write the badge sentence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single sentence. It must contain the time from Exhibit A, the word </a:t>
            </a:r>
            <a:r>
              <a:rPr lang="en-US" sz="1600" i="1" dirty="0">
                <a:solidFill>
                  <a:schemeClr val="accent5"/>
                </a:solidFill>
              </a:rPr>
              <a:t>inspection</a:t>
            </a:r>
            <a:r>
              <a:rPr lang="en-US" sz="1600" i="1" dirty="0">
                <a:solidFill>
                  <a:schemeClr val="accent5"/>
                </a:solidFill>
              </a:rPr>
              <a:t>, and no name, no number, no job title.</a:t>
            </a:r>
            <a:endParaRPr lang="en-US" sz="16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1.</a:t>
            </a:r>
            <a:r>
              <a:rPr lang="en-US" sz="2600" dirty="0">
                <a:solidFill>
                  <a:schemeClr val="tx1"/>
                </a:solidFill>
              </a:rPr>
              <a:t> The sentence for the report.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2.</a:t>
            </a:r>
            <a:r>
              <a:rPr lang="en-US" sz="2600" dirty="0">
                <a:solidFill>
                  <a:schemeClr val="tx1"/>
                </a:solidFill>
              </a:rPr>
              <a:t> The sentence you would have written this morning, before Mark stopped you.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3.</a:t>
            </a:r>
            <a:r>
              <a:rPr lang="en-US" sz="2600" dirty="0">
                <a:solidFill>
                  <a:schemeClr val="tx1"/>
                </a:solidFill>
              </a:rPr>
              <a:t> Compare with your neighbour: </a:t>
            </a:r>
            <a:r>
              <a:rPr lang="en-US" sz="2600" b="1" dirty="0">
                <a:solidFill>
                  <a:schemeClr val="tx1"/>
                </a:solidFill>
              </a:rPr>
              <a:t>what exactly did you lose, and what did you gain?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Write the badge sentence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single sentence. It must contain the time from Exhibit A, the word </a:t>
            </a:r>
            <a:r>
              <a:rPr lang="en-US" sz="1600" i="1" dirty="0">
                <a:solidFill>
                  <a:schemeClr val="accent5"/>
                </a:solidFill>
              </a:rPr>
              <a:t>inspection</a:t>
            </a:r>
            <a:r>
              <a:rPr lang="en-US" sz="1600" i="1" dirty="0">
                <a:solidFill>
                  <a:schemeClr val="accent5"/>
                </a:solidFill>
              </a:rPr>
              <a:t>, and no name, no number, no job title.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1.</a:t>
            </a:r>
            <a:r>
              <a:rPr lang="en-US" sz="2400" dirty="0">
                <a:solidFill>
                  <a:schemeClr val="tx1"/>
                </a:solidFill>
              </a:rPr>
              <a:t> The sentence for the report.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 </a:t>
            </a:r>
            <a:r>
              <a:rPr lang="en-US" sz="2400" i="1" dirty="0">
                <a:solidFill>
                  <a:schemeClr val="accent3"/>
                </a:solidFill>
              </a:rPr>
              <a:t>A final inspection of zone 2F was carried out between 20.04 and 20.19, and the room was reported dry.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2.</a:t>
            </a:r>
            <a:r>
              <a:rPr lang="en-US" sz="2400" dirty="0">
                <a:solidFill>
                  <a:schemeClr val="tx1"/>
                </a:solidFill>
              </a:rPr>
              <a:t> The sentence you would have written this morning, before Mark stopped you.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 </a:t>
            </a:r>
            <a:r>
              <a:rPr lang="en-US" sz="2400" i="1" dirty="0">
                <a:solidFill>
                  <a:schemeClr val="accent3"/>
                </a:solidFill>
              </a:rPr>
              <a:t>The site manager (badge 0102) entered the technical room at 20.04, after the cabling team had left.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3.</a:t>
            </a:r>
            <a:r>
              <a:rPr lang="en-US" sz="2400" dirty="0">
                <a:solidFill>
                  <a:schemeClr val="tx1"/>
                </a:solidFill>
              </a:rPr>
              <a:t> Compare with your neighbour: </a:t>
            </a:r>
            <a:r>
              <a:rPr lang="en-US" sz="2400" b="1" dirty="0">
                <a:solidFill>
                  <a:schemeClr val="tx1"/>
                </a:solidFill>
              </a:rPr>
              <a:t>what exactly did you lose, and what did you gain?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 </a:t>
            </a:r>
            <a:r>
              <a:rPr lang="en-US" sz="2400" dirty="0">
                <a:solidFill>
                  <a:schemeClr val="accent3"/>
                </a:solidFill>
              </a:rPr>
              <a:t>Lost: a </a:t>
            </a:r>
            <a:r>
              <a:rPr lang="en-US" sz="2400" b="1" dirty="0">
                <a:solidFill>
                  <a:schemeClr val="accent3"/>
                </a:solidFill>
              </a:rPr>
              <a:t>name</a:t>
            </a:r>
            <a:r>
              <a:rPr lang="en-US" sz="2400" dirty="0">
                <a:solidFill>
                  <a:schemeClr val="accent3"/>
                </a:solidFill>
              </a:rPr>
              <a:t>, a </a:t>
            </a:r>
            <a:r>
              <a:rPr lang="en-US" sz="2400" b="1" dirty="0">
                <a:solidFill>
                  <a:schemeClr val="accent3"/>
                </a:solidFill>
              </a:rPr>
              <a:t>lead</a:t>
            </a:r>
            <a:r>
              <a:rPr lang="en-US" sz="2400" dirty="0">
                <a:solidFill>
                  <a:schemeClr val="accent3"/>
                </a:solidFill>
              </a:rPr>
              <a:t>, a suspect. Gained: a </a:t>
            </a:r>
            <a:r>
              <a:rPr lang="en-US" sz="2400" b="1" dirty="0">
                <a:solidFill>
                  <a:schemeClr val="accent3"/>
                </a:solidFill>
              </a:rPr>
              <a:t>verifiable, neutral fact</a:t>
            </a:r>
            <a:r>
              <a:rPr lang="en-US" sz="2400" dirty="0">
                <a:solidFill>
                  <a:schemeClr val="accent3"/>
                </a:solidFill>
              </a:rPr>
              <a:t> — no accusation, no personal data.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This morning’s sentence, tonight’s sentence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42–43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5225796" cy="4809744"/>
          </a:xfrm>
          <a:prstGeom prst="roundRect">
            <a:avLst>
              <a:gd name="adj" fmla="val 1901"/>
            </a:avLst>
          </a:prstGeom>
          <a:solidFill>
            <a:schemeClr val="accent6">
              <a:alpha val="8000"/>
            </a:schemeClr>
          </a:solidFill>
          <a:ln w="15875">
            <a:solidFill>
              <a:schemeClr val="accent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824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18488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THIS MORNING — a lead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04288"/>
            <a:ext cx="4768596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The site manager (badge 0102) entered the technical room at 20.04.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Names a </a:t>
            </a:r>
            <a:r>
              <a:rPr lang="en-US" sz="2000" b="1" dirty="0">
                <a:solidFill>
                  <a:schemeClr val="tx1"/>
                </a:solidFill>
              </a:rPr>
              <a:t>job title</a:t>
            </a:r>
            <a:r>
              <a:rPr lang="en-US" sz="2000" dirty="0">
                <a:solidFill>
                  <a:schemeClr val="tx1"/>
                </a:solidFill>
              </a:rPr>
              <a:t> and a </a:t>
            </a:r>
            <a:r>
              <a:rPr lang="en-US" sz="2000" b="1" dirty="0">
                <a:solidFill>
                  <a:schemeClr val="tx1"/>
                </a:solidFill>
              </a:rPr>
              <a:t>badge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Reads as an </a:t>
            </a:r>
            <a:r>
              <a:rPr lang="en-US" sz="2000" b="1" dirty="0">
                <a:solidFill>
                  <a:schemeClr val="tx1"/>
                </a:solidFill>
              </a:rPr>
              <a:t>accusation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Personal data in a document sent outside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14516" y="1481328"/>
            <a:ext cx="5225796" cy="4809744"/>
          </a:xfrm>
          <a:prstGeom prst="roundRect">
            <a:avLst>
              <a:gd name="adj" fmla="val 1901"/>
            </a:avLst>
          </a:prstGeom>
          <a:solidFill>
            <a:schemeClr val="accent3">
              <a:alpha val="8000"/>
            </a:schemeClr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168249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46036" y="1618488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TONIGHT — a fact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643116" y="2304288"/>
            <a:ext cx="4768596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A final inspection was carried out at 20.04, and the room was reported dry.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Passive</a:t>
            </a:r>
            <a:r>
              <a:rPr lang="en-US" sz="2000" dirty="0">
                <a:solidFill>
                  <a:schemeClr val="tx1"/>
                </a:solidFill>
              </a:rPr>
              <a:t>: no doer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Time taken from </a:t>
            </a:r>
            <a:r>
              <a:rPr lang="en-US" sz="2000" b="1" dirty="0">
                <a:solidFill>
                  <a:schemeClr val="tx1"/>
                </a:solidFill>
              </a:rPr>
              <a:t>Exhibit A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True, verifiable, </a:t>
            </a:r>
            <a:r>
              <a:rPr lang="en-US" sz="2000" b="1" dirty="0">
                <a:solidFill>
                  <a:schemeClr val="tx1"/>
                </a:solidFill>
              </a:rPr>
              <a:t>accuses nobody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5838444" y="3630168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838444" y="3630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Helen Marsh reads in this order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39090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WHAT THE ASSESSOR WILL LOOK FOR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984248" cy="3895344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1580" y="166420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11580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39572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The times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172968"/>
            <a:ext cx="170992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Two verifiable hours, taken from a </a:t>
            </a:r>
            <a:r>
              <a:rPr lang="en-US" sz="1700" b="1" dirty="0">
                <a:solidFill>
                  <a:schemeClr val="tx1"/>
                </a:solidFill>
              </a:rPr>
              <a:t>log</a:t>
            </a:r>
            <a:r>
              <a:rPr lang="en-US" sz="1700" dirty="0">
                <a:solidFill>
                  <a:schemeClr val="tx1"/>
                </a:solidFill>
              </a:rPr>
              <a:t>, not from a memory.</a:t>
            </a:r>
            <a:endParaRPr lang="en-US" sz="1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9464" y="1883664"/>
            <a:ext cx="219456" cy="21945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825496" y="1481328"/>
            <a:ext cx="1984248" cy="3895344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88436" y="1664208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88436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935224" y="239572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The position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2962656" y="3172968"/>
            <a:ext cx="170992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is done, what is </a:t>
            </a:r>
            <a:r>
              <a:rPr lang="en-US" sz="1700" b="1" dirty="0">
                <a:solidFill>
                  <a:schemeClr val="tx1"/>
                </a:solidFill>
              </a:rPr>
              <a:t>not done yet</a:t>
            </a:r>
            <a:r>
              <a:rPr lang="en-US" sz="1700" dirty="0">
                <a:solidFill>
                  <a:schemeClr val="tx1"/>
                </a:solidFill>
              </a:rPr>
              <a:t> — and no gaps.</a:t>
            </a:r>
            <a:endParaRPr lang="en-US" sz="17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83664"/>
            <a:ext cx="219456" cy="21945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102352" y="1481328"/>
            <a:ext cx="1984248" cy="3895344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765292" y="1664208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5765292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5212080" y="239572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The history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5239512" y="3172968"/>
            <a:ext cx="170992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How long, and since when. She reads </a:t>
            </a:r>
            <a:r>
              <a:rPr lang="en-US" sz="1700" b="1" dirty="0">
                <a:solidFill>
                  <a:schemeClr val="tx1"/>
                </a:solidFill>
              </a:rPr>
              <a:t>June</a:t>
            </a:r>
            <a:r>
              <a:rPr lang="en-US" sz="1700" dirty="0">
                <a:solidFill>
                  <a:schemeClr val="tx1"/>
                </a:solidFill>
              </a:rPr>
              <a:t>, not last night.</a:t>
            </a:r>
            <a:endParaRPr lang="en-US" sz="17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1883664"/>
            <a:ext cx="219456" cy="21945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379208" y="1481328"/>
            <a:ext cx="1984248" cy="3895344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042148" y="1664208"/>
            <a:ext cx="658368" cy="65836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42148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1"/>
          <p:cNvSpPr txBox="1"/>
          <p:nvPr/>
        </p:nvSpPr>
        <p:spPr>
          <a:xfrm>
            <a:off x="7488936" y="239572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The cause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7516368" y="3172968"/>
            <a:ext cx="170992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Stated as a fact and not proved → she </a:t>
            </a:r>
            <a:r>
              <a:rPr lang="en-US" sz="1700" b="1" dirty="0">
                <a:solidFill>
                  <a:schemeClr val="tx1"/>
                </a:solidFill>
              </a:rPr>
              <a:t>stops reading</a:t>
            </a:r>
            <a:r>
              <a:rPr lang="en-US" sz="1700" dirty="0">
                <a:solidFill>
                  <a:schemeClr val="tx1"/>
                </a:solidFill>
              </a:rPr>
              <a:t> and refuses.</a:t>
            </a:r>
            <a:endParaRPr lang="en-US" sz="17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1883664"/>
            <a:ext cx="219456" cy="219456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656064" y="1481328"/>
            <a:ext cx="1984248" cy="3895344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0319004" y="1664208"/>
            <a:ext cx="658368" cy="6583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10319004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2" name="Text 26"/>
          <p:cNvSpPr txBox="1"/>
          <p:nvPr/>
        </p:nvSpPr>
        <p:spPr>
          <a:xfrm>
            <a:off x="9765792" y="239572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The commitment</a:t>
            </a:r>
            <a:endParaRPr lang="en-US" sz="1700" dirty="0"/>
          </a:p>
        </p:txBody>
      </p:sp>
      <p:sp>
        <p:nvSpPr>
          <p:cNvPr id="33" name="Text 27"/>
          <p:cNvSpPr txBox="1"/>
          <p:nvPr/>
        </p:nvSpPr>
        <p:spPr>
          <a:xfrm>
            <a:off x="9793224" y="3172968"/>
            <a:ext cx="170992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date, </a:t>
            </a:r>
            <a:r>
              <a:rPr lang="en-US" sz="1700" b="1" dirty="0">
                <a:solidFill>
                  <a:schemeClr val="tx1"/>
                </a:solidFill>
              </a:rPr>
              <a:t>in full</a:t>
            </a:r>
            <a:r>
              <a:rPr lang="en-US" sz="1700" dirty="0">
                <a:solidFill>
                  <a:schemeClr val="tx1"/>
                </a:solidFill>
              </a:rPr>
              <a:t>, and a name to contact — </a:t>
            </a:r>
            <a:r>
              <a:rPr lang="en-US" sz="1700" b="1" dirty="0">
                <a:solidFill>
                  <a:schemeClr val="tx1"/>
                </a:solidFill>
              </a:rPr>
              <a:t>yours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34" name="Shape 28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70000"/>
              </a:schemeClr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Length — </a:t>
            </a:r>
            <a:r>
              <a:rPr lang="en-US" sz="1700" b="1" dirty="0">
                <a:solidFill>
                  <a:schemeClr val="tx1"/>
                </a:solidFill>
              </a:rPr>
              <a:t>180 to 220 words</a:t>
            </a:r>
            <a:r>
              <a:rPr lang="en-US" sz="1700" dirty="0">
                <a:solidFill>
                  <a:schemeClr val="tx1"/>
                </a:solidFill>
              </a:rPr>
              <a:t>, continuous text. One page. No bullet points, no headings.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Section one — the night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She will read these sentences before all the others. Three or four sentences: what was going on, what happened, at what verifiable time.</a:t>
            </a:r>
            <a:endParaRPr lang="en-US" sz="16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Write section one.</a:t>
            </a:r>
            <a:endParaRPr lang="en-US" sz="2600" dirty="0"/>
          </a:p>
        </p:txBody>
      </p:sp>
      <p:sp>
        <p:nvSpPr>
          <p:cNvPr id="7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EXPECTED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while</a:t>
            </a:r>
            <a:r>
              <a:rPr lang="en-US" sz="1800" dirty="0">
                <a:solidFill>
                  <a:schemeClr val="tx1"/>
                </a:solidFill>
              </a:rPr>
              <a:t> or </a:t>
            </a:r>
            <a:r>
              <a:rPr lang="en-US" sz="1800" b="1" dirty="0">
                <a:solidFill>
                  <a:schemeClr val="tx1"/>
                </a:solidFill>
              </a:rPr>
              <a:t>when</a:t>
            </a:r>
            <a:r>
              <a:rPr lang="en-US" sz="1800" dirty="0">
                <a:solidFill>
                  <a:schemeClr val="tx1"/>
                </a:solidFill>
              </a:rPr>
              <a:t> × 1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two times</a:t>
            </a:r>
            <a:r>
              <a:rPr lang="en-US" sz="1800" dirty="0">
                <a:solidFill>
                  <a:schemeClr val="tx1"/>
                </a:solidFill>
              </a:rPr>
              <a:t> from Exhibit A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past simple for </a:t>
            </a:r>
            <a:r>
              <a:rPr lang="en-US" sz="1800" b="1" dirty="0">
                <a:solidFill>
                  <a:schemeClr val="tx1"/>
                </a:solidFill>
              </a:rPr>
              <a:t>dated events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no</a:t>
            </a:r>
            <a:r>
              <a:rPr lang="en-US" sz="1800" dirty="0">
                <a:solidFill>
                  <a:schemeClr val="tx1"/>
                </a:solidFill>
              </a:rPr>
              <a:t> name, no badge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Section one — the night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She will read these sentences before all the others. Three or four sentences: what was going on, what happened, at what verifiable time.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Write section one.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 </a:t>
            </a:r>
            <a:r>
              <a:rPr lang="en-US" sz="2400" i="1" dirty="0">
                <a:solidFill>
                  <a:schemeClr val="accent3"/>
                </a:solidFill>
              </a:rPr>
              <a:t>On Monday evening, the cabling team left zone 2F at 19.58, and a final inspection was carried out between 20.04 and 20.19; the room was reported dry. While the building was empty, the temperature alarm went off at 23.41, followed by a humidity alarm at 23.44. The cleaning team found water in the technical room when they arrived at 06.47.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EXPECTED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while</a:t>
            </a:r>
            <a:r>
              <a:rPr lang="en-US" sz="1800" dirty="0">
                <a:solidFill>
                  <a:schemeClr val="tx1"/>
                </a:solidFill>
              </a:rPr>
              <a:t> or </a:t>
            </a:r>
            <a:r>
              <a:rPr lang="en-US" sz="1800" b="1" dirty="0">
                <a:solidFill>
                  <a:schemeClr val="tx1"/>
                </a:solidFill>
              </a:rPr>
              <a:t>when</a:t>
            </a:r>
            <a:r>
              <a:rPr lang="en-US" sz="1800" dirty="0">
                <a:solidFill>
                  <a:schemeClr val="tx1"/>
                </a:solidFill>
              </a:rPr>
              <a:t> × 1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two times</a:t>
            </a:r>
            <a:r>
              <a:rPr lang="en-US" sz="1800" dirty="0">
                <a:solidFill>
                  <a:schemeClr val="tx1"/>
                </a:solidFill>
              </a:rPr>
              <a:t> from Exhibit A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past simple for </a:t>
            </a:r>
            <a:r>
              <a:rPr lang="en-US" sz="1800" b="1" dirty="0">
                <a:solidFill>
                  <a:schemeClr val="tx1"/>
                </a:solidFill>
              </a:rPr>
              <a:t>dated events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no</a:t>
            </a:r>
            <a:r>
              <a:rPr lang="en-US" sz="1800" dirty="0">
                <a:solidFill>
                  <a:schemeClr val="tx1"/>
                </a:solidFill>
              </a:rPr>
              <a:t> name, no badge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Section two — where we stand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It’s the 9.40 board, put into sentences. Two or three sentences.</a:t>
            </a:r>
            <a:endParaRPr lang="en-US" sz="16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Write section two.</a:t>
            </a:r>
            <a:endParaRPr lang="en-US" sz="2600" dirty="0"/>
          </a:p>
        </p:txBody>
      </p:sp>
      <p:sp>
        <p:nvSpPr>
          <p:cNvPr id="7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EXPECTED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already</a:t>
            </a:r>
            <a:r>
              <a:rPr lang="en-US" sz="1800" dirty="0">
                <a:solidFill>
                  <a:schemeClr val="tx1"/>
                </a:solidFill>
              </a:rPr>
              <a:t> × 1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not … yet</a:t>
            </a:r>
            <a:r>
              <a:rPr lang="en-US" sz="1800" dirty="0">
                <a:solidFill>
                  <a:schemeClr val="tx1"/>
                </a:solidFill>
              </a:rPr>
              <a:t> × 1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</a:t>
            </a:r>
            <a:r>
              <a:rPr lang="en-US" sz="1800" b="1" dirty="0">
                <a:solidFill>
                  <a:schemeClr val="tx1"/>
                </a:solidFill>
              </a:rPr>
              <a:t>irregular past participle</a:t>
            </a:r>
            <a:r>
              <a:rPr lang="en-US" sz="1800" dirty="0">
                <a:solidFill>
                  <a:schemeClr val="tx1"/>
                </a:solidFill>
              </a:rPr>
              <a:t> (</a:t>
            </a:r>
            <a:r>
              <a:rPr lang="en-US" sz="1800" i="1" dirty="0">
                <a:solidFill>
                  <a:schemeClr val="tx1"/>
                </a:solidFill>
              </a:rPr>
              <a:t>taken, shut, written…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adapt to </a:t>
            </a:r>
            <a:r>
              <a:rPr lang="en-US" sz="1800" b="1" dirty="0">
                <a:solidFill>
                  <a:schemeClr val="tx1"/>
                </a:solidFill>
              </a:rPr>
              <a:t>your firm’s file</a:t>
            </a:r>
            <a:r>
              <a:rPr lang="en-US" sz="1800" dirty="0">
                <a:solidFill>
                  <a:schemeClr val="tx1"/>
                </a:solidFill>
              </a:rPr>
              <a:t> (p. 45–46)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Section two — where we stand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It’s the 9.40 board, put into sentences. Two or three sentences.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Write section two.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 </a:t>
            </a:r>
            <a:r>
              <a:rPr lang="en-US" sz="2400" i="1" dirty="0">
                <a:solidFill>
                  <a:schemeClr val="accent3"/>
                </a:solidFill>
              </a:rPr>
              <a:t>We have already taken photographs and closed the second floor. However, the basement has not been inspected yet, and we have not received a repair estimate yet. Unit 3 of rack A2 has shut down.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EXPECTED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already</a:t>
            </a:r>
            <a:r>
              <a:rPr lang="en-US" sz="1800" dirty="0">
                <a:solidFill>
                  <a:schemeClr val="tx1"/>
                </a:solidFill>
              </a:rPr>
              <a:t> × 1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not … yet</a:t>
            </a:r>
            <a:r>
              <a:rPr lang="en-US" sz="1800" dirty="0">
                <a:solidFill>
                  <a:schemeClr val="tx1"/>
                </a:solidFill>
              </a:rPr>
              <a:t> × 1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</a:t>
            </a:r>
            <a:r>
              <a:rPr lang="en-US" sz="1800" b="1" dirty="0">
                <a:solidFill>
                  <a:schemeClr val="tx1"/>
                </a:solidFill>
              </a:rPr>
              <a:t>irregular past participle</a:t>
            </a:r>
            <a:r>
              <a:rPr lang="en-US" sz="1800" dirty="0">
                <a:solidFill>
                  <a:schemeClr val="tx1"/>
                </a:solidFill>
              </a:rPr>
              <a:t> (</a:t>
            </a:r>
            <a:r>
              <a:rPr lang="en-US" sz="1800" i="1" dirty="0">
                <a:solidFill>
                  <a:schemeClr val="tx1"/>
                </a:solidFill>
              </a:rPr>
              <a:t>taken, shut, written…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adapt to </a:t>
            </a:r>
            <a:r>
              <a:rPr lang="en-US" sz="1800" b="1" dirty="0">
                <a:solidFill>
                  <a:schemeClr val="tx1"/>
                </a:solidFill>
              </a:rPr>
              <a:t>your firm’s file</a:t>
            </a:r>
            <a:r>
              <a:rPr lang="en-US" sz="1800" dirty="0">
                <a:solidFill>
                  <a:schemeClr val="tx1"/>
                </a:solidFill>
              </a:rPr>
              <a:t> (p. 45–46)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Section three — how long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This is where Exhibit C enters the file. One or two sentences.</a:t>
            </a:r>
            <a:endParaRPr lang="en-US" sz="16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Write section three.</a:t>
            </a:r>
            <a:endParaRPr lang="en-US" sz="2600" dirty="0"/>
          </a:p>
        </p:txBody>
      </p:sp>
      <p:sp>
        <p:nvSpPr>
          <p:cNvPr id="7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EXPECTED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since</a:t>
            </a:r>
            <a:r>
              <a:rPr lang="en-US" sz="1800" dirty="0">
                <a:solidFill>
                  <a:schemeClr val="tx1"/>
                </a:solidFill>
              </a:rPr>
              <a:t> or </a:t>
            </a:r>
            <a:r>
              <a:rPr lang="en-US" sz="1800" b="1" dirty="0">
                <a:solidFill>
                  <a:schemeClr val="tx1"/>
                </a:solidFill>
              </a:rPr>
              <a:t>for</a:t>
            </a:r>
            <a:r>
              <a:rPr lang="en-US" sz="1800" dirty="0">
                <a:solidFill>
                  <a:schemeClr val="tx1"/>
                </a:solidFill>
              </a:rPr>
              <a:t> × 1 (+ present perfect)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</a:t>
            </a:r>
            <a:r>
              <a:rPr lang="en-US" sz="1800" b="1" dirty="0">
                <a:solidFill>
                  <a:schemeClr val="tx1"/>
                </a:solidFill>
              </a:rPr>
              <a:t>dated fact</a:t>
            </a:r>
            <a:r>
              <a:rPr lang="en-US" sz="1800" dirty="0">
                <a:solidFill>
                  <a:schemeClr val="tx1"/>
                </a:solidFill>
              </a:rPr>
              <a:t> in the past simple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bonus: </a:t>
            </a:r>
            <a:r>
              <a:rPr lang="en-US" sz="1800" i="1" dirty="0">
                <a:solidFill>
                  <a:schemeClr val="tx1"/>
                </a:solidFill>
              </a:rPr>
              <a:t>This is the second time we have had…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Section three — how long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This is where Exhibit C enters the file. One or two sentences.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Write section three.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 </a:t>
            </a:r>
            <a:r>
              <a:rPr lang="en-US" sz="2400" i="1" dirty="0">
                <a:solidFill>
                  <a:schemeClr val="accent3"/>
                </a:solidFill>
              </a:rPr>
              <a:t>The same joint has been under observation since 14 June, and a temporary repair was carried out on 8 November. This is the second time we have had a leak on this riser.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EXPECTED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since</a:t>
            </a:r>
            <a:r>
              <a:rPr lang="en-US" sz="1800" dirty="0">
                <a:solidFill>
                  <a:schemeClr val="tx1"/>
                </a:solidFill>
              </a:rPr>
              <a:t> or </a:t>
            </a:r>
            <a:r>
              <a:rPr lang="en-US" sz="1800" b="1" dirty="0">
                <a:solidFill>
                  <a:schemeClr val="tx1"/>
                </a:solidFill>
              </a:rPr>
              <a:t>for</a:t>
            </a:r>
            <a:r>
              <a:rPr lang="en-US" sz="1800" dirty="0">
                <a:solidFill>
                  <a:schemeClr val="tx1"/>
                </a:solidFill>
              </a:rPr>
              <a:t> × 1 (+ present perfect)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</a:t>
            </a:r>
            <a:r>
              <a:rPr lang="en-US" sz="1800" b="1" dirty="0">
                <a:solidFill>
                  <a:schemeClr val="tx1"/>
                </a:solidFill>
              </a:rPr>
              <a:t>dated fact</a:t>
            </a:r>
            <a:r>
              <a:rPr lang="en-US" sz="1800" dirty="0">
                <a:solidFill>
                  <a:schemeClr val="tx1"/>
                </a:solidFill>
              </a:rPr>
              <a:t> in the past simple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bonus: </a:t>
            </a:r>
            <a:r>
              <a:rPr lang="en-US" sz="1800" i="1" dirty="0">
                <a:solidFill>
                  <a:schemeClr val="tx1"/>
                </a:solidFill>
              </a:rPr>
              <a:t>This is the second time we have had…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Five errors that cost a section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PITFALL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43–44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1672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059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5087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The alarm has gone off at 23.41.</a:t>
            </a:r>
            <a:endParaRPr lang="en-US" sz="2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059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937760" y="15087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alarm </a:t>
            </a:r>
            <a:r>
              <a:rPr lang="en-US" sz="2000" b="1" dirty="0">
                <a:solidFill>
                  <a:schemeClr val="tx1"/>
                </a:solidFill>
              </a:rPr>
              <a:t>went off</a:t>
            </a:r>
            <a:r>
              <a:rPr lang="en-US" sz="2000" dirty="0">
                <a:solidFill>
                  <a:schemeClr val="tx1"/>
                </a:solidFill>
              </a:rPr>
              <a:t> at 23.41.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458200" y="1508760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a clock time → past simple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48640" y="2487168"/>
            <a:ext cx="11091672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8434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1560" y="248716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Since June the joint is faulty.</a:t>
            </a:r>
            <a:endParaRPr lang="en-US" sz="2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784348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937760" y="248716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joint </a:t>
            </a:r>
            <a:r>
              <a:rPr lang="en-US" sz="2000" b="1" dirty="0">
                <a:solidFill>
                  <a:schemeClr val="tx1"/>
                </a:solidFill>
              </a:rPr>
              <a:t>has been</a:t>
            </a:r>
            <a:r>
              <a:rPr lang="en-US" sz="2000" dirty="0">
                <a:solidFill>
                  <a:schemeClr val="tx1"/>
                </a:solidFill>
              </a:rPr>
              <a:t> faulty since June.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8458200" y="2487168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since → present perfect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48640" y="3465576"/>
            <a:ext cx="11091672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62756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51560" y="3465576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We didn’t inspect the basement yet.</a:t>
            </a:r>
            <a:endParaRPr lang="en-US" sz="2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762756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937760" y="3465576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 </a:t>
            </a:r>
            <a:r>
              <a:rPr lang="en-US" sz="2000" b="1" dirty="0">
                <a:solidFill>
                  <a:schemeClr val="tx1"/>
                </a:solidFill>
              </a:rPr>
              <a:t>have not inspected</a:t>
            </a:r>
            <a:r>
              <a:rPr lang="en-US" sz="2000" dirty="0">
                <a:solidFill>
                  <a:schemeClr val="tx1"/>
                </a:solidFill>
              </a:rPr>
              <a:t> the basement </a:t>
            </a:r>
            <a:r>
              <a:rPr lang="en-US" sz="2000" b="1" dirty="0">
                <a:solidFill>
                  <a:schemeClr val="tx1"/>
                </a:solidFill>
              </a:rPr>
              <a:t>yet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22" name="Text 14"/>
          <p:cNvSpPr txBox="1"/>
          <p:nvPr/>
        </p:nvSpPr>
        <p:spPr>
          <a:xfrm>
            <a:off x="8458200" y="3465576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yet → present perfect</a:t>
            </a:r>
            <a:endParaRPr lang="en-US" sz="1800" dirty="0"/>
          </a:p>
        </p:txBody>
      </p:sp>
      <p:sp>
        <p:nvSpPr>
          <p:cNvPr id="23" name="Shape 15"/>
          <p:cNvSpPr/>
          <p:nvPr/>
        </p:nvSpPr>
        <p:spPr>
          <a:xfrm>
            <a:off x="548640" y="4443984"/>
            <a:ext cx="11091672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741164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051560" y="444398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The site manager checked the room at 20.04.</a:t>
            </a:r>
            <a:endParaRPr lang="en-US" sz="2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741164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4937760" y="444398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 final inspection </a:t>
            </a:r>
            <a:r>
              <a:rPr lang="en-US" sz="2000" b="1" dirty="0">
                <a:solidFill>
                  <a:schemeClr val="tx1"/>
                </a:solidFill>
              </a:rPr>
              <a:t>was carried out</a:t>
            </a:r>
            <a:r>
              <a:rPr lang="en-US" sz="2000" dirty="0">
                <a:solidFill>
                  <a:schemeClr val="tx1"/>
                </a:solidFill>
              </a:rPr>
              <a:t> at 20.04.</a:t>
            </a:r>
            <a:endParaRPr lang="en-US" sz="2000" dirty="0"/>
          </a:p>
        </p:txBody>
      </p:sp>
      <p:sp>
        <p:nvSpPr>
          <p:cNvPr id="28" name="Text 18"/>
          <p:cNvSpPr txBox="1"/>
          <p:nvPr/>
        </p:nvSpPr>
        <p:spPr>
          <a:xfrm>
            <a:off x="8458200" y="4443984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name the fact, not the person</a:t>
            </a:r>
            <a:endParaRPr lang="en-US" sz="1800" dirty="0"/>
          </a:p>
        </p:txBody>
      </p:sp>
      <p:sp>
        <p:nvSpPr>
          <p:cNvPr id="29" name="Shape 19"/>
          <p:cNvSpPr/>
          <p:nvPr/>
        </p:nvSpPr>
        <p:spPr>
          <a:xfrm>
            <a:off x="548640" y="5422392"/>
            <a:ext cx="11091672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5719572"/>
            <a:ext cx="274320" cy="27432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1051560" y="542239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While the alarm went off, nobody was there.</a:t>
            </a:r>
            <a:endParaRPr lang="en-US" sz="20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5719572"/>
            <a:ext cx="274320" cy="27432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4937760" y="542239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When</a:t>
            </a:r>
            <a:r>
              <a:rPr lang="en-US" sz="2000" dirty="0">
                <a:solidFill>
                  <a:schemeClr val="tx1"/>
                </a:solidFill>
              </a:rPr>
              <a:t> the alarm went off, the building was empty.</a:t>
            </a:r>
            <a:endParaRPr lang="en-US" sz="2000" dirty="0"/>
          </a:p>
        </p:txBody>
      </p:sp>
      <p:sp>
        <p:nvSpPr>
          <p:cNvPr id="34" name="Text 22"/>
          <p:cNvSpPr txBox="1"/>
          <p:nvPr/>
        </p:nvSpPr>
        <p:spPr>
          <a:xfrm>
            <a:off x="8458200" y="542239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while + background · when + event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Before you close the file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659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END OF SESSION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NEXT IN THE FILE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Section four is the one she counts: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 categorical sentences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 Section five is the one you sign.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BEFORE NEXT SESSION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Finish sections </a:t>
            </a:r>
            <a:r>
              <a:rPr lang="en-US" sz="1700" b="1" dirty="0">
                <a:solidFill>
                  <a:schemeClr val="tx1"/>
                </a:solidFill>
              </a:rPr>
              <a:t>one to three</a:t>
            </a:r>
            <a:r>
              <a:rPr lang="en-US" sz="1700" dirty="0">
                <a:solidFill>
                  <a:schemeClr val="tx1"/>
                </a:solidFill>
              </a:rPr>
              <a:t> (clean copy).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Re-read your group’s </a:t>
            </a:r>
            <a:r>
              <a:rPr lang="en-US" sz="1700" b="1" dirty="0">
                <a:solidFill>
                  <a:schemeClr val="tx1"/>
                </a:solidFill>
              </a:rPr>
              <a:t>four sentences</a:t>
            </a:r>
            <a:r>
              <a:rPr lang="en-US" sz="1700" dirty="0">
                <a:solidFill>
                  <a:schemeClr val="tx1"/>
                </a:solidFill>
              </a:rPr>
              <a:t> (Scene 7).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Read your firm’s file (p. 45–46): choose </a:t>
            </a:r>
            <a:r>
              <a:rPr lang="en-US" sz="1700" b="1" dirty="0">
                <a:solidFill>
                  <a:schemeClr val="tx1"/>
                </a:solidFill>
              </a:rPr>
              <a:t>four facts</a:t>
            </a:r>
            <a:r>
              <a:rPr lang="en-US" sz="1700" dirty="0">
                <a:solidFill>
                  <a:schemeClr val="tx1"/>
                </a:solidFill>
              </a:rPr>
              <a:t> only you have.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EXIT TICKET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Read your section one to your neighbour: did you give </a:t>
            </a:r>
            <a:r>
              <a:rPr lang="en-US" sz="1600" b="1" dirty="0">
                <a:solidFill>
                  <a:schemeClr val="bg1"/>
                </a:solidFill>
              </a:rPr>
              <a:t>two</a:t>
            </a:r>
            <a:r>
              <a:rPr lang="en-US" sz="1600" dirty="0">
                <a:solidFill>
                  <a:schemeClr val="bg1"/>
                </a:solidFill>
              </a:rPr>
              <a:t> verifiable times?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2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Atlas">
  <a:themeElements>
    <a:clrScheme name="Project Atlas">
      <a:dk1>
        <a:srgbClr val="1B2333"/>
      </a:dk1>
      <a:lt1>
        <a:srgbClr val="FFFFFF"/>
      </a:lt1>
      <a:dk2>
        <a:srgbClr val="1F3864"/>
      </a:dk2>
      <a:lt2>
        <a:srgbClr val="EEF2F8"/>
      </a:lt2>
      <a:accent1>
        <a:srgbClr val="C0752A"/>
      </a:accent1>
      <a:accent2>
        <a:srgbClr val="2E75B6"/>
      </a:accent2>
      <a:accent3>
        <a:srgbClr val="3C7A3C"/>
      </a:accent3>
      <a:accent4>
        <a:srgbClr val="6E4A9E"/>
      </a:accent4>
      <a:accent5>
        <a:srgbClr val="44546A"/>
      </a:accent5>
      <a:accent6>
        <a:srgbClr val="B03A2E"/>
      </a:accent6>
      <a:hlink>
        <a:srgbClr val="2E75B6"/>
      </a:hlink>
      <a:folHlink>
        <a:srgbClr val="6E4A9E"/>
      </a:folHlink>
    </a:clrScheme>
    <a:fontScheme name="Project Atl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English UE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17 — The report: sections one to three</dc:title>
  <dc:subject>Case File 01 — The night nobody heard</dc:subject>
  <dc:creator>A. Jouniaux</dc:creator>
  <cp:lastModifiedBy>A. Jouniaux</cp:lastModifiedBy>
  <cp:revision>1</cp:revision>
  <dcterms:created xsi:type="dcterms:W3CDTF">2026-10-03T19:30:05Z</dcterms:created>
  <dcterms:modified xsi:type="dcterms:W3CDTF">2026-10-03T19:30:05Z</dcterms:modified>
</cp:coreProperties>
</file>