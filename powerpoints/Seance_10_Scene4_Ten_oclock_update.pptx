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828a22cf-ab96-fb60-fade-e8181ff56934}">
          <p14:sldIdLst>
            <p14:sldId id="256"/>
          </p14:sldIdLst>
        </p14:section>
        <p14:section name="Warm-up" id="{365cd7a7-a719-9efe-eac5-f3696a64a8fc}">
          <p14:sldIdLst>
            <p14:sldId id="257"/>
            <p14:sldId id="258"/>
          </p14:sldIdLst>
        </p14:section>
        <p14:section name="The update" id="{f279901a-9270-d018-878f-c345e983f5bc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Write the update" id="{39471ce9-09eb-7936-4723-d24e01fde0b3}">
          <p14:sldIdLst>
            <p14:sldId id="267"/>
            <p14:sldId id="268"/>
            <p14:sldId id="269"/>
            <p14:sldId id="270"/>
          </p14:sldIdLst>
        </p14:section>
        <p14:section name="Your field" id="{e649e1a6-502f-30b4-b3a1-89836738e366}">
          <p14:sldIdLst>
            <p14:sldId id="271"/>
            <p14:sldId id="272"/>
            <p14:sldId id="273"/>
            <p14:sldId id="274"/>
            <p14:sldId id="275"/>
          </p14:sldIdLst>
        </p14:section>
        <p14:section name="Clôture" id="{7c27b4b3-0688-7c91-ec8e-e1558a4ae156}">
          <p14:sldIdLst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Séance 10 — Scène 4 (10.00), livret p. 20–22 : l’update de dix heures et le tableau d’équipe.
Objectifs : present perfect en contexte, expressions d’avancement (on track, fall behind, chase, touch base, up to speed, keep in the loop, bottleneck), mots-clés des quatre domaines.
Nouveautés : Beat the clock (minuteur) · feu tricolore des expressions · conversation de groupe sur téléphone · ENERGIZER pouces · update annoté avec ponts vers les séances précédentes · e-mail à corriger · tableau de bord RAG des quatre firmes · jeu de dés pour le team call.
Déroulé indicatif (90 min) : Beat the clock (5') · scène + feu tricolore (10') · chat d’équipe (10') · expressions en contexte (5') · ENERGIZER (5') · écrire l’update + modèle annoté (20') · brouillon de Samuel (10') · mots des domaines + tableau de bord (15') · dés (10').
Les diapositives GAME, ENERGIZER et + EXTRA sont facultatives.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Chronométrer 60 secondes par équipe (ou toute la classe en relais). 4 : « Avez-vous déjà… ? » dans une question → yet (déjà = yet en question). 5 et 8 : une date → past simple.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Chronométrer 60 secondes par équipe (ou toute la classe en relais). 4 : « Avez-vous déjà… ? » dans une question → yet (déjà = yet en question). 5 et 8 : une date → past simple.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Bulles : « The photos are done. That one goes on the left. » (DONE) / « But has anyone checked the logs yet? » (question avec yet).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sept expressions du livret (p. 21) classées par couleur de statut, plus « held up ». Faire répéter : on TRACK · fall beHIND · BOTtleneck.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binôme : écrire les quatre réponses (5 min), puis lecture à voix haute du chat à quatre voix.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binôme : écrire les quatre réponses (5 min), puis lecture à voix haute du chat à quatre voix.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Lire les situations dans le désordre. Accepter les discussions (« at risk » ou « blocked » pour la ligne 6 si c’est justifié).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Travail individuel, 12 minutes. Puis échange de téléphones (ou de feuilles) : le voisin coche la liste de contrôle.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Projeter après la production des élèves (pas avant). Chaque numéro renvoie à une séance précédente : faire retrouver la règle avant de lire l’encadré.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Texte inventé, cohérent avec le dossier. Les cinq erreurs reprennent les pièges du livret (p. 19–20).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Texte inventé, cohérent avec le dossier. Les cinq erreurs reprennent les pièges du livret (p. 19–20).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Chaque étudiant apprend les 5 mots de son domaine et reconnaît les 15 autres. Bridge : « has not been checked » = present perfect passif (aperçu de la scène 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 call du livret (p. 20) : chaque représentant écrit ses deux lignes, puis le groupe se met d’accord sur la ligne rouge qui bloque les autres. La plupart des groupes choisissent le sous-sol ou le devis — accepter tout choix justifié.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 call du livret (p. 20) : chaque représentant écrit ses deux lignes, puis le groupe se met d’accord sur la ligne rouge qui bloque les autres. La plupart des groupes choisissent le sous-sol ou le devis — accepter tout choix justifié.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Activité orale de fin de séance, quand l’attention baisse. Un dé physique ou une application de dé sur téléphone.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514600"/>
            <a:ext cx="5669280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548640" y="685800"/>
            <a:ext cx="2236470" cy="365760"/>
          </a:xfrm>
          <a:prstGeom prst="roundRect">
            <a:avLst>
              <a:gd name="adj" fmla="val 12500"/>
            </a:avLst>
          </a:prstGeom>
          <a:solidFill>
            <a:srgbClr val="C075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chemeClr val="bg1"/>
                </a:solidFill>
              </a:rPr>
              <a:t>SÉANCE 10 / 19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48640" y="1298448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4416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chemeClr val="bg2"/>
                </a:solidFill>
              </a:rPr>
              <a:t>SCENE 4</a:t>
            </a:r>
            <a:endParaRPr lang="en-US" sz="1100" dirty="0"/>
          </a:p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10.00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2514600"/>
            <a:ext cx="5669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Write the ten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o’clock update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20624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chemeClr val="accent5"/>
                </a:solidFill>
              </a:rPr>
              <a:t>Nine people will read this on their phones. Five lines, not six.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25780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Case File 01 — The night nobody heard</a:t>
            </a:r>
            <a:endParaRPr lang="en-US" sz="1600" dirty="0"/>
          </a:p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Livret p. 20–22</a:t>
            </a:r>
            <a:endParaRPr lang="en-US" sz="1600" dirty="0"/>
          </a:p>
        </p:txBody>
      </p:sp>
      <p:pic>
        <p:nvPicPr>
          <p:cNvPr id="8" name="illustration" descr="Scene illustration from the case fi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1852203"/>
            <a:ext cx="5010912" cy="3336474"/>
          </a:xfrm>
          <a:prstGeom prst="rect">
            <a:avLst/>
          </a:prstGeom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Beat the clock — say it in English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822960" cy="310896"/>
          </a:xfrm>
          <a:prstGeom prst="roundRect">
            <a:avLst>
              <a:gd name="adj" fmla="val 14706"/>
            </a:avLst>
          </a:prstGeom>
          <a:solidFill>
            <a:srgbClr val="B4236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GAME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Séance 9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27632"/>
            <a:ext cx="1109167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Teams of three. Your teacher starts the clock: say the eight sentences in English — with </a:t>
            </a:r>
            <a:r>
              <a:rPr lang="en-US" sz="1600" b="1" i="1" dirty="0">
                <a:solidFill>
                  <a:schemeClr val="accent5"/>
                </a:solidFill>
              </a:rPr>
              <a:t>already</a:t>
            </a:r>
            <a:r>
              <a:rPr lang="en-US" sz="1600" i="1" dirty="0">
                <a:solidFill>
                  <a:schemeClr val="accent5"/>
                </a:solidFill>
              </a:rPr>
              <a:t>, </a:t>
            </a:r>
            <a:r>
              <a:rPr lang="en-US" sz="1600" b="1" i="1" dirty="0">
                <a:solidFill>
                  <a:schemeClr val="accent5"/>
                </a:solidFill>
              </a:rPr>
              <a:t>yet</a:t>
            </a:r>
            <a:r>
              <a:rPr lang="en-US" sz="1600" i="1" dirty="0">
                <a:solidFill>
                  <a:schemeClr val="accent5"/>
                </a:solidFill>
              </a:rPr>
              <a:t> or </a:t>
            </a:r>
            <a:r>
              <a:rPr lang="en-US" sz="1600" b="1" i="1" dirty="0">
                <a:solidFill>
                  <a:schemeClr val="accent5"/>
                </a:solidFill>
              </a:rPr>
              <a:t>just</a:t>
            </a:r>
            <a:r>
              <a:rPr lang="en-US" sz="1600" i="1" dirty="0">
                <a:solidFill>
                  <a:schemeClr val="accent5"/>
                </a:solidFill>
              </a:rPr>
              <a:t>… or not!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914400" y="2282952"/>
            <a:ext cx="2377440" cy="237744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3E8E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14400" y="2282952"/>
            <a:ext cx="2377440" cy="2377440"/>
          </a:xfrm>
          <a:prstGeom prst="blockArc">
            <a:avLst>
              <a:gd name="adj1" fmla="val 16200000"/>
              <a:gd name="adj2" fmla="val 10800000"/>
              <a:gd name="adj3" fmla="val 4500"/>
            </a:avLst>
          </a:prstGeom>
          <a:solidFill>
            <a:srgbClr val="B4236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14400" y="2282952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B4236A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60</a:t>
            </a:r>
            <a:endParaRPr lang="en-US" sz="5400" dirty="0"/>
          </a:p>
          <a:p>
            <a:pPr algn="ctr" indent="0" marL="0">
              <a:buNone/>
            </a:pPr>
            <a:r>
              <a:rPr lang="en-US" sz="1200" b="1" spc="300" kern="0" dirty="0">
                <a:solidFill>
                  <a:schemeClr val="accent5"/>
                </a:solidFill>
              </a:rPr>
              <a:t>SECONDS</a:t>
            </a:r>
            <a:endParaRPr lang="en-US" sz="5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888992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Eight sentences, sixty seconds.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5803392"/>
            <a:ext cx="3108960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1 point per correct sentence · bonus point for each trap spotted.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069080" y="2237232"/>
            <a:ext cx="3694176" cy="922020"/>
          </a:xfrm>
          <a:prstGeom prst="roundRect">
            <a:avLst>
              <a:gd name="adj" fmla="val 7934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178808" y="2533650"/>
            <a:ext cx="329184" cy="329184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4636008" y="2237232"/>
            <a:ext cx="3008376" cy="922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J’ai déjà pris les photos.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4069080" y="3287268"/>
            <a:ext cx="3694176" cy="922020"/>
          </a:xfrm>
          <a:prstGeom prst="roundRect">
            <a:avLst>
              <a:gd name="adj" fmla="val 7934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178808" y="3583686"/>
            <a:ext cx="329184" cy="329184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4636008" y="3287268"/>
            <a:ext cx="3008376" cy="922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Personne n’a encore appelé l’assureur.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4069080" y="4337304"/>
            <a:ext cx="3694176" cy="922020"/>
          </a:xfrm>
          <a:prstGeom prst="roundRect">
            <a:avLst>
              <a:gd name="adj" fmla="val 7934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178808" y="4633722"/>
            <a:ext cx="329184" cy="329184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4636008" y="4337304"/>
            <a:ext cx="3008376" cy="922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Samuel vient de revenir.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4069080" y="5387340"/>
            <a:ext cx="3694176" cy="922020"/>
          </a:xfrm>
          <a:prstGeom prst="roundRect">
            <a:avLst>
              <a:gd name="adj" fmla="val 7934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178808" y="5683758"/>
            <a:ext cx="329184" cy="329184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4636008" y="5387340"/>
            <a:ext cx="3008376" cy="922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Avez-vous déjà lu le journal ?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7946136" y="2237232"/>
            <a:ext cx="3694176" cy="922020"/>
          </a:xfrm>
          <a:prstGeom prst="roundRect">
            <a:avLst>
              <a:gd name="adj" fmla="val 7934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055864" y="2533650"/>
            <a:ext cx="329184" cy="329184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8513064" y="2237232"/>
            <a:ext cx="3008376" cy="922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L’alarme s’est déclenchée à 23 h 41.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7946136" y="3287268"/>
            <a:ext cx="3694176" cy="922020"/>
          </a:xfrm>
          <a:prstGeom prst="roundRect">
            <a:avLst>
              <a:gd name="adj" fmla="val 7934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055864" y="3583686"/>
            <a:ext cx="329184" cy="329184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8513064" y="3287268"/>
            <a:ext cx="3008376" cy="922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Nous n’avons pas encore reçu le devis.</a:t>
            </a:r>
            <a:endParaRPr lang="en-US" sz="1800" dirty="0"/>
          </a:p>
        </p:txBody>
      </p:sp>
      <p:sp>
        <p:nvSpPr>
          <p:cNvPr id="30" name="Shape 27"/>
          <p:cNvSpPr/>
          <p:nvPr/>
        </p:nvSpPr>
        <p:spPr>
          <a:xfrm>
            <a:off x="7946136" y="4337304"/>
            <a:ext cx="3694176" cy="922020"/>
          </a:xfrm>
          <a:prstGeom prst="roundRect">
            <a:avLst>
              <a:gd name="adj" fmla="val 7934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055864" y="4633722"/>
            <a:ext cx="329184" cy="329184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7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8513064" y="4337304"/>
            <a:ext cx="3008376" cy="922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Iris vient d’envoyer les photos.</a:t>
            </a:r>
            <a:endParaRPr lang="en-US" sz="1800" dirty="0"/>
          </a:p>
        </p:txBody>
      </p:sp>
      <p:sp>
        <p:nvSpPr>
          <p:cNvPr id="33" name="Shape 30"/>
          <p:cNvSpPr/>
          <p:nvPr/>
        </p:nvSpPr>
        <p:spPr>
          <a:xfrm>
            <a:off x="7946136" y="5387340"/>
            <a:ext cx="3694176" cy="922020"/>
          </a:xfrm>
          <a:prstGeom prst="roundRect">
            <a:avLst>
              <a:gd name="adj" fmla="val 7934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055864" y="5683758"/>
            <a:ext cx="329184" cy="329184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8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8513064" y="5387340"/>
            <a:ext cx="3008376" cy="922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J’ai écrit au chef de chantier hier.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Beat the clock — say it in English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822960" cy="310896"/>
          </a:xfrm>
          <a:prstGeom prst="roundRect">
            <a:avLst>
              <a:gd name="adj" fmla="val 14706"/>
            </a:avLst>
          </a:prstGeom>
          <a:solidFill>
            <a:srgbClr val="B4236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GAME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481328" y="384048"/>
            <a:ext cx="1874520" cy="310896"/>
          </a:xfrm>
          <a:prstGeom prst="roundRect">
            <a:avLst>
              <a:gd name="adj" fmla="val 14706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Séance 9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27632"/>
            <a:ext cx="1109167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Two traps: a </a:t>
            </a:r>
            <a:r>
              <a:rPr lang="en-US" sz="1600" b="1" i="1" dirty="0">
                <a:solidFill>
                  <a:schemeClr val="accent5"/>
                </a:solidFill>
              </a:rPr>
              <a:t>clock time</a:t>
            </a:r>
            <a:r>
              <a:rPr lang="en-US" sz="1600" i="1" dirty="0">
                <a:solidFill>
                  <a:schemeClr val="accent5"/>
                </a:solidFill>
              </a:rPr>
              <a:t> (5) and </a:t>
            </a:r>
            <a:r>
              <a:rPr lang="en-US" sz="1600" b="1" i="1" dirty="0">
                <a:solidFill>
                  <a:schemeClr val="accent5"/>
                </a:solidFill>
              </a:rPr>
              <a:t>yesterday</a:t>
            </a:r>
            <a:r>
              <a:rPr lang="en-US" sz="1600" i="1" dirty="0">
                <a:solidFill>
                  <a:schemeClr val="accent5"/>
                </a:solidFill>
              </a:rPr>
              <a:t> (8) → past simple.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914400" y="2282952"/>
            <a:ext cx="2377440" cy="237744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3E8E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4400" y="2282952"/>
            <a:ext cx="2377440" cy="2377440"/>
          </a:xfrm>
          <a:prstGeom prst="blockArc">
            <a:avLst>
              <a:gd name="adj1" fmla="val 16200000"/>
              <a:gd name="adj2" fmla="val 16194000"/>
              <a:gd name="adj3" fmla="val 4500"/>
            </a:avLst>
          </a:prstGeom>
          <a:solidFill>
            <a:srgbClr val="3C7A3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14400" y="2282952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3C7A3C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✓</a:t>
            </a:r>
            <a:endParaRPr lang="en-US" sz="5400" dirty="0"/>
          </a:p>
          <a:p>
            <a:pPr algn="ctr" indent="0" marL="0">
              <a:buNone/>
            </a:pPr>
            <a:r>
              <a:rPr lang="en-US" sz="1200" b="1" spc="300" kern="0" dirty="0">
                <a:solidFill>
                  <a:schemeClr val="accent5"/>
                </a:solidFill>
              </a:rPr>
              <a:t>TIME!</a:t>
            </a:r>
            <a:endParaRPr lang="en-US" sz="54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888992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Eight sentences, sixty seconds.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5803392"/>
            <a:ext cx="3108960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1 point per correct sentence · bonus point for each trap spotted.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069080" y="2237232"/>
            <a:ext cx="3694176" cy="922020"/>
          </a:xfrm>
          <a:prstGeom prst="roundRect">
            <a:avLst>
              <a:gd name="adj" fmla="val 7934"/>
            </a:avLst>
          </a:prstGeom>
          <a:solidFill>
            <a:srgbClr val="FFFFFF"/>
          </a:solidFill>
          <a:ln w="12700">
            <a:solidFill>
              <a:srgbClr val="B9D3B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178808" y="2533650"/>
            <a:ext cx="329184" cy="329184"/>
          </a:xfrm>
          <a:prstGeom prst="ellipse">
            <a:avLst/>
          </a:prstGeom>
          <a:solidFill>
            <a:srgbClr val="3C7A3C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4636008" y="2273808"/>
            <a:ext cx="3008376" cy="42412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J’ai déjà pris les photos.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4636008" y="2698242"/>
            <a:ext cx="3008376" cy="424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I have already taken the photos.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4069080" y="3287268"/>
            <a:ext cx="3694176" cy="922020"/>
          </a:xfrm>
          <a:prstGeom prst="roundRect">
            <a:avLst>
              <a:gd name="adj" fmla="val 7934"/>
            </a:avLst>
          </a:prstGeom>
          <a:solidFill>
            <a:srgbClr val="FFFFFF"/>
          </a:solidFill>
          <a:ln w="12700">
            <a:solidFill>
              <a:srgbClr val="B9D3B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178808" y="3583686"/>
            <a:ext cx="329184" cy="329184"/>
          </a:xfrm>
          <a:prstGeom prst="ellipse">
            <a:avLst/>
          </a:prstGeom>
          <a:solidFill>
            <a:srgbClr val="3C7A3C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4636008" y="3323844"/>
            <a:ext cx="3008376" cy="42412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Personne n’a encore appelé l’assureur.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4636008" y="3748278"/>
            <a:ext cx="3008376" cy="424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Nobody has called the insurer yet.</a:t>
            </a:r>
            <a:endParaRPr 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4069080" y="4337304"/>
            <a:ext cx="3694176" cy="922020"/>
          </a:xfrm>
          <a:prstGeom prst="roundRect">
            <a:avLst>
              <a:gd name="adj" fmla="val 7934"/>
            </a:avLst>
          </a:prstGeom>
          <a:solidFill>
            <a:srgbClr val="FFFFFF"/>
          </a:solidFill>
          <a:ln w="12700">
            <a:solidFill>
              <a:srgbClr val="B9D3B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178808" y="4633722"/>
            <a:ext cx="329184" cy="329184"/>
          </a:xfrm>
          <a:prstGeom prst="ellipse">
            <a:avLst/>
          </a:prstGeom>
          <a:solidFill>
            <a:srgbClr val="3C7A3C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4636008" y="4373880"/>
            <a:ext cx="3008376" cy="42412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Samuel vient de revenir.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4636008" y="4798314"/>
            <a:ext cx="3008376" cy="424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Samuel has just come back.</a:t>
            </a:r>
            <a:endParaRPr lang="en-US" sz="1700" dirty="0"/>
          </a:p>
        </p:txBody>
      </p:sp>
      <p:sp>
        <p:nvSpPr>
          <p:cNvPr id="25" name="Shape 22"/>
          <p:cNvSpPr/>
          <p:nvPr/>
        </p:nvSpPr>
        <p:spPr>
          <a:xfrm>
            <a:off x="4069080" y="5387340"/>
            <a:ext cx="3694176" cy="922020"/>
          </a:xfrm>
          <a:prstGeom prst="roundRect">
            <a:avLst>
              <a:gd name="adj" fmla="val 7934"/>
            </a:avLst>
          </a:prstGeom>
          <a:solidFill>
            <a:srgbClr val="FFFFFF"/>
          </a:solidFill>
          <a:ln w="12700">
            <a:solidFill>
              <a:srgbClr val="B9D3B4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178808" y="5683758"/>
            <a:ext cx="329184" cy="329184"/>
          </a:xfrm>
          <a:prstGeom prst="ellipse">
            <a:avLst/>
          </a:prstGeom>
          <a:solidFill>
            <a:srgbClr val="3C7A3C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4636008" y="5423916"/>
            <a:ext cx="3008376" cy="42412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Avez-vous déjà lu le journal ?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4636008" y="5848350"/>
            <a:ext cx="3008376" cy="424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Have you read the log yet?</a:t>
            </a:r>
            <a:endParaRPr lang="en-US" sz="1700" dirty="0"/>
          </a:p>
        </p:txBody>
      </p:sp>
      <p:sp>
        <p:nvSpPr>
          <p:cNvPr id="29" name="Shape 26"/>
          <p:cNvSpPr/>
          <p:nvPr/>
        </p:nvSpPr>
        <p:spPr>
          <a:xfrm>
            <a:off x="7946136" y="2237232"/>
            <a:ext cx="3694176" cy="922020"/>
          </a:xfrm>
          <a:prstGeom prst="roundRect">
            <a:avLst>
              <a:gd name="adj" fmla="val 7934"/>
            </a:avLst>
          </a:prstGeom>
          <a:solidFill>
            <a:srgbClr val="FFFFFF"/>
          </a:solidFill>
          <a:ln w="12700">
            <a:solidFill>
              <a:srgbClr val="B9D3B4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055864" y="2533650"/>
            <a:ext cx="329184" cy="329184"/>
          </a:xfrm>
          <a:prstGeom prst="ellipse">
            <a:avLst/>
          </a:prstGeom>
          <a:solidFill>
            <a:srgbClr val="3C7A3C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8513064" y="2273808"/>
            <a:ext cx="3008376" cy="42412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L’alarme s’est déclenchée à 23 h 41.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8513064" y="2698242"/>
            <a:ext cx="3008376" cy="424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The alarm went off at 23:41.</a:t>
            </a:r>
            <a:endParaRPr lang="en-US" sz="1700" dirty="0"/>
          </a:p>
        </p:txBody>
      </p:sp>
      <p:sp>
        <p:nvSpPr>
          <p:cNvPr id="33" name="Shape 30"/>
          <p:cNvSpPr/>
          <p:nvPr/>
        </p:nvSpPr>
        <p:spPr>
          <a:xfrm>
            <a:off x="7946136" y="3287268"/>
            <a:ext cx="3694176" cy="922020"/>
          </a:xfrm>
          <a:prstGeom prst="roundRect">
            <a:avLst>
              <a:gd name="adj" fmla="val 7934"/>
            </a:avLst>
          </a:prstGeom>
          <a:solidFill>
            <a:srgbClr val="FFFFFF"/>
          </a:solidFill>
          <a:ln w="12700">
            <a:solidFill>
              <a:srgbClr val="B9D3B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055864" y="3583686"/>
            <a:ext cx="329184" cy="329184"/>
          </a:xfrm>
          <a:prstGeom prst="ellipse">
            <a:avLst/>
          </a:prstGeom>
          <a:solidFill>
            <a:srgbClr val="3C7A3C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8513064" y="3323844"/>
            <a:ext cx="3008376" cy="42412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Nous n’avons pas encore reçu le devis.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8513064" y="3748278"/>
            <a:ext cx="3008376" cy="424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We haven’t received the estimate yet.</a:t>
            </a:r>
            <a:endParaRPr lang="en-US" sz="1700" dirty="0"/>
          </a:p>
        </p:txBody>
      </p:sp>
      <p:sp>
        <p:nvSpPr>
          <p:cNvPr id="37" name="Shape 34"/>
          <p:cNvSpPr/>
          <p:nvPr/>
        </p:nvSpPr>
        <p:spPr>
          <a:xfrm>
            <a:off x="7946136" y="4337304"/>
            <a:ext cx="3694176" cy="922020"/>
          </a:xfrm>
          <a:prstGeom prst="roundRect">
            <a:avLst>
              <a:gd name="adj" fmla="val 7934"/>
            </a:avLst>
          </a:prstGeom>
          <a:solidFill>
            <a:srgbClr val="FFFFFF"/>
          </a:solidFill>
          <a:ln w="12700">
            <a:solidFill>
              <a:srgbClr val="B9D3B4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055864" y="4633722"/>
            <a:ext cx="329184" cy="329184"/>
          </a:xfrm>
          <a:prstGeom prst="ellipse">
            <a:avLst/>
          </a:prstGeom>
          <a:solidFill>
            <a:srgbClr val="3C7A3C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7</a:t>
            </a:r>
            <a:endParaRPr lang="en-US" sz="1200" dirty="0"/>
          </a:p>
        </p:txBody>
      </p:sp>
      <p:sp>
        <p:nvSpPr>
          <p:cNvPr id="39" name="Text 36"/>
          <p:cNvSpPr txBox="1"/>
          <p:nvPr/>
        </p:nvSpPr>
        <p:spPr>
          <a:xfrm>
            <a:off x="8513064" y="4373880"/>
            <a:ext cx="3008376" cy="42412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Iris vient d’envoyer les photos.</a:t>
            </a:r>
            <a:endParaRPr lang="en-US" sz="1300" dirty="0"/>
          </a:p>
        </p:txBody>
      </p:sp>
      <p:sp>
        <p:nvSpPr>
          <p:cNvPr id="40" name="Text 37"/>
          <p:cNvSpPr txBox="1"/>
          <p:nvPr/>
        </p:nvSpPr>
        <p:spPr>
          <a:xfrm>
            <a:off x="8513064" y="4798314"/>
            <a:ext cx="3008376" cy="424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Iris has just sent the photos.</a:t>
            </a:r>
            <a:endParaRPr lang="en-US" sz="1700" dirty="0"/>
          </a:p>
        </p:txBody>
      </p:sp>
      <p:sp>
        <p:nvSpPr>
          <p:cNvPr id="41" name="Shape 38"/>
          <p:cNvSpPr/>
          <p:nvPr/>
        </p:nvSpPr>
        <p:spPr>
          <a:xfrm>
            <a:off x="7946136" y="5387340"/>
            <a:ext cx="3694176" cy="922020"/>
          </a:xfrm>
          <a:prstGeom prst="roundRect">
            <a:avLst>
              <a:gd name="adj" fmla="val 7934"/>
            </a:avLst>
          </a:prstGeom>
          <a:solidFill>
            <a:srgbClr val="FFFFFF"/>
          </a:solidFill>
          <a:ln w="12700">
            <a:solidFill>
              <a:srgbClr val="B9D3B4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8055864" y="5683758"/>
            <a:ext cx="329184" cy="329184"/>
          </a:xfrm>
          <a:prstGeom prst="ellipse">
            <a:avLst/>
          </a:prstGeom>
          <a:solidFill>
            <a:srgbClr val="3C7A3C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8</a:t>
            </a:r>
            <a:endParaRPr lang="en-US" sz="1200" dirty="0"/>
          </a:p>
        </p:txBody>
      </p:sp>
      <p:sp>
        <p:nvSpPr>
          <p:cNvPr id="43" name="Text 40"/>
          <p:cNvSpPr txBox="1"/>
          <p:nvPr/>
        </p:nvSpPr>
        <p:spPr>
          <a:xfrm>
            <a:off x="8513064" y="5423916"/>
            <a:ext cx="3008376" cy="42412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J’ai écrit au chef de chantier hier.</a:t>
            </a:r>
            <a:endParaRPr lang="en-US" sz="1300" dirty="0"/>
          </a:p>
        </p:txBody>
      </p:sp>
      <p:sp>
        <p:nvSpPr>
          <p:cNvPr id="44" name="Text 41"/>
          <p:cNvSpPr txBox="1"/>
          <p:nvPr/>
        </p:nvSpPr>
        <p:spPr>
          <a:xfrm>
            <a:off x="8513064" y="5848350"/>
            <a:ext cx="3008376" cy="424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I wrote to the site manager yesterday.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board is not yours alone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937260" cy="310896"/>
          </a:xfrm>
          <a:prstGeom prst="roundRect">
            <a:avLst>
              <a:gd name="adj" fmla="val 14706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SCENE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20</a:t>
            </a:r>
            <a:endParaRPr lang="en-US" sz="1200" dirty="0"/>
          </a:p>
        </p:txBody>
      </p:sp>
      <p:pic>
        <p:nvPicPr>
          <p:cNvPr id="6" name="illustration" descr="The team in front of the DONE / NOT YET board; Iris points at the left column, Samuel asks about the log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6035040" cy="4018381"/>
          </a:xfrm>
          <a:prstGeom prst="rect">
            <a:avLst/>
          </a:prstGeom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pic>
      <p:sp>
        <p:nvSpPr>
          <p:cNvPr id="7" name="Shape 3"/>
          <p:cNvSpPr/>
          <p:nvPr/>
        </p:nvSpPr>
        <p:spPr>
          <a:xfrm>
            <a:off x="6995160" y="1783080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1F3864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6995160" y="182880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bg2"/>
                </a:solidFill>
              </a:rPr>
              <a:t>SCENE 4</a:t>
            </a:r>
            <a:endParaRPr lang="en-US" sz="1100" dirty="0"/>
          </a:p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10.00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6995160" y="2880360"/>
            <a:ext cx="4645152" cy="2106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It is </a:t>
            </a:r>
            <a:r>
              <a:rPr lang="en-US" sz="2000" b="1" dirty="0">
                <a:solidFill>
                  <a:schemeClr val="tx1"/>
                </a:solidFill>
              </a:rPr>
              <a:t>ten o’clock</a:t>
            </a:r>
            <a:r>
              <a:rPr lang="en-US" sz="2000" dirty="0">
                <a:solidFill>
                  <a:schemeClr val="tx1"/>
                </a:solidFill>
              </a:rPr>
              <a:t>. The board is full of post-its — and everybody has an opinion.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Mark wants </a:t>
            </a:r>
            <a:r>
              <a:rPr lang="en-US" sz="2000" b="1" dirty="0">
                <a:solidFill>
                  <a:schemeClr val="tx1"/>
                </a:solidFill>
              </a:rPr>
              <a:t>five lines</a:t>
            </a:r>
            <a:r>
              <a:rPr lang="en-US" sz="2000" dirty="0">
                <a:solidFill>
                  <a:schemeClr val="tx1"/>
                </a:solidFill>
              </a:rPr>
              <a:t> on his phone, and a team board where every firm has a voice.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6995160" y="5169408"/>
            <a:ext cx="4645152" cy="1139952"/>
          </a:xfrm>
          <a:prstGeom prst="roundRect">
            <a:avLst>
              <a:gd name="adj" fmla="val 6417"/>
            </a:avLst>
          </a:prstGeom>
          <a:solidFill>
            <a:srgbClr val="C0752A">
              <a:alpha val="10000"/>
            </a:srgbClr>
          </a:solidFill>
          <a:ln w="12700">
            <a:solidFill>
              <a:srgbClr val="C0752A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196328" y="5279136"/>
            <a:ext cx="4279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ASK THE CLASS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196328" y="5571744"/>
            <a:ext cx="4242816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Read the two bubbles. Which one says </a:t>
            </a:r>
            <a:r>
              <a:rPr lang="en-US" sz="1700" b="1" dirty="0">
                <a:solidFill>
                  <a:schemeClr val="tx1"/>
                </a:solidFill>
              </a:rPr>
              <a:t>DONE</a:t>
            </a:r>
            <a:r>
              <a:rPr lang="en-US" sz="1700" dirty="0">
                <a:solidFill>
                  <a:schemeClr val="tx1"/>
                </a:solidFill>
              </a:rPr>
              <a:t>? Which one asks about </a:t>
            </a:r>
            <a:r>
              <a:rPr lang="en-US" sz="1700" b="1" dirty="0">
                <a:solidFill>
                  <a:schemeClr val="tx1"/>
                </a:solidFill>
              </a:rPr>
              <a:t>NOT YET</a:t>
            </a:r>
            <a:r>
              <a:rPr lang="en-US" sz="1700" dirty="0">
                <a:solidFill>
                  <a:schemeClr val="tx1"/>
                </a:solidFill>
              </a:rPr>
              <a:t>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Talking about progress — without “it is going well”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394460" cy="310896"/>
          </a:xfrm>
          <a:prstGeom prst="roundRect">
            <a:avLst>
              <a:gd name="adj" fmla="val 14706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WORD FILE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21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94360" y="1737360"/>
            <a:ext cx="1143000" cy="3445002"/>
          </a:xfrm>
          <a:prstGeom prst="roundRect">
            <a:avLst>
              <a:gd name="adj" fmla="val 12000"/>
            </a:avLst>
          </a:prstGeom>
          <a:solidFill>
            <a:srgbClr val="2B3442"/>
          </a:solidFill>
          <a:ln/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07517" y="1828800"/>
            <a:ext cx="916686" cy="916686"/>
          </a:xfrm>
          <a:prstGeom prst="ellipse">
            <a:avLst/>
          </a:prstGeom>
          <a:solidFill>
            <a:srgbClr val="1B2333"/>
          </a:solidFill>
          <a:ln/>
        </p:spPr>
      </p:sp>
      <p:sp>
        <p:nvSpPr>
          <p:cNvPr id="8" name="Shape 5"/>
          <p:cNvSpPr/>
          <p:nvPr/>
        </p:nvSpPr>
        <p:spPr>
          <a:xfrm>
            <a:off x="753237" y="1874520"/>
            <a:ext cx="825246" cy="825246"/>
          </a:xfrm>
          <a:prstGeom prst="ellipse">
            <a:avLst/>
          </a:prstGeom>
          <a:solidFill>
            <a:srgbClr val="3C7A3C"/>
          </a:solidFill>
          <a:ln w="1905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057400" y="1783080"/>
            <a:ext cx="9582912" cy="1008126"/>
          </a:xfrm>
          <a:prstGeom prst="roundRect">
            <a:avLst>
              <a:gd name="adj" fmla="val 7256"/>
            </a:avLst>
          </a:prstGeom>
          <a:solidFill>
            <a:srgbClr val="3C7A3C">
              <a:alpha val="8000"/>
            </a:srgbClr>
          </a:solidFill>
          <a:ln w="12700">
            <a:solidFill>
              <a:srgbClr val="3C7A3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240280" y="1856232"/>
            <a:ext cx="9217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3"/>
                </a:solidFill>
              </a:rPr>
              <a:t>GREEN — ON TRACK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2240280" y="2167128"/>
            <a:ext cx="4791456" cy="550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to be </a:t>
            </a:r>
            <a:r>
              <a:rPr lang="en-US" sz="1400" b="1" dirty="0">
                <a:solidFill>
                  <a:schemeClr val="tx1"/>
                </a:solidFill>
              </a:rPr>
              <a:t>on track</a:t>
            </a:r>
            <a:r>
              <a:rPr lang="en-US" sz="1300" i="1" dirty="0">
                <a:solidFill>
                  <a:schemeClr val="accent5"/>
                </a:solidFill>
              </a:rPr>
              <a:t>   être dans les temps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to be </a:t>
            </a:r>
            <a:r>
              <a:rPr lang="en-US" sz="1400" b="1" dirty="0">
                <a:solidFill>
                  <a:schemeClr val="tx1"/>
                </a:solidFill>
              </a:rPr>
              <a:t>up to speed</a:t>
            </a:r>
            <a:r>
              <a:rPr lang="en-US" sz="1300" i="1" dirty="0">
                <a:solidFill>
                  <a:schemeClr val="accent5"/>
                </a:solidFill>
              </a:rPr>
              <a:t>   être au courant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168896" y="2167128"/>
            <a:ext cx="4288536" cy="550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The photographs are </a:t>
            </a:r>
            <a:r>
              <a:rPr lang="en-US" sz="1500" b="1" i="1" dirty="0">
                <a:solidFill>
                  <a:schemeClr val="tx1"/>
                </a:solidFill>
              </a:rPr>
              <a:t>on track</a:t>
            </a:r>
            <a:r>
              <a:rPr lang="en-US" sz="1500" i="1" dirty="0">
                <a:solidFill>
                  <a:schemeClr val="tx1"/>
                </a:solidFill>
              </a:rPr>
              <a:t> for ten o’clock. Is everybody </a:t>
            </a:r>
            <a:r>
              <a:rPr lang="en-US" sz="1500" b="1" i="1" dirty="0">
                <a:solidFill>
                  <a:schemeClr val="tx1"/>
                </a:solidFill>
              </a:rPr>
              <a:t>up to speed</a:t>
            </a:r>
            <a:r>
              <a:rPr lang="en-US" sz="1500" i="1" dirty="0">
                <a:solidFill>
                  <a:schemeClr val="tx1"/>
                </a:solidFill>
              </a:rPr>
              <a:t> on the log?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707517" y="3001518"/>
            <a:ext cx="916686" cy="916686"/>
          </a:xfrm>
          <a:prstGeom prst="ellipse">
            <a:avLst/>
          </a:prstGeom>
          <a:solidFill>
            <a:srgbClr val="1B2333"/>
          </a:solidFill>
          <a:ln/>
        </p:spPr>
      </p:sp>
      <p:sp>
        <p:nvSpPr>
          <p:cNvPr id="14" name="Shape 11"/>
          <p:cNvSpPr/>
          <p:nvPr/>
        </p:nvSpPr>
        <p:spPr>
          <a:xfrm>
            <a:off x="753237" y="3047238"/>
            <a:ext cx="825246" cy="825246"/>
          </a:xfrm>
          <a:prstGeom prst="ellipse">
            <a:avLst/>
          </a:prstGeom>
          <a:solidFill>
            <a:srgbClr val="D99A06"/>
          </a:solidFill>
          <a:ln w="1905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057400" y="2955798"/>
            <a:ext cx="9582912" cy="1008126"/>
          </a:xfrm>
          <a:prstGeom prst="roundRect">
            <a:avLst>
              <a:gd name="adj" fmla="val 7256"/>
            </a:avLst>
          </a:prstGeom>
          <a:solidFill>
            <a:srgbClr val="D99A06">
              <a:alpha val="8000"/>
            </a:srgbClr>
          </a:solidFill>
          <a:ln w="12700">
            <a:solidFill>
              <a:srgbClr val="D99A0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240280" y="3028950"/>
            <a:ext cx="9217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D99A06"/>
                </a:solidFill>
              </a:rPr>
              <a:t>AMBER — AT RISK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2240280" y="3339846"/>
            <a:ext cx="4791456" cy="550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to </a:t>
            </a:r>
            <a:r>
              <a:rPr lang="en-US" sz="1400" b="1" dirty="0">
                <a:solidFill>
                  <a:schemeClr val="tx1"/>
                </a:solidFill>
              </a:rPr>
              <a:t>fall behind</a:t>
            </a:r>
            <a:r>
              <a:rPr lang="en-US" sz="1300" i="1" dirty="0">
                <a:solidFill>
                  <a:schemeClr val="accent5"/>
                </a:solidFill>
              </a:rPr>
              <a:t>   prendre du retard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to </a:t>
            </a:r>
            <a:r>
              <a:rPr lang="en-US" sz="1400" b="1" dirty="0">
                <a:solidFill>
                  <a:schemeClr val="tx1"/>
                </a:solidFill>
              </a:rPr>
              <a:t>chase</a:t>
            </a:r>
            <a:r>
              <a:rPr lang="en-US" sz="1400" b="1" dirty="0">
                <a:solidFill>
                  <a:schemeClr val="tx1"/>
                </a:solidFill>
              </a:rPr>
              <a:t> somebody</a:t>
            </a:r>
            <a:r>
              <a:rPr lang="en-US" sz="1300" i="1" dirty="0">
                <a:solidFill>
                  <a:schemeClr val="accent5"/>
                </a:solidFill>
              </a:rPr>
              <a:t>   relancer quelqu’un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7168896" y="3339846"/>
            <a:ext cx="4288536" cy="550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The estimate </a:t>
            </a:r>
            <a:r>
              <a:rPr lang="en-US" sz="1500" b="1" i="1" dirty="0">
                <a:solidFill>
                  <a:schemeClr val="tx1"/>
                </a:solidFill>
              </a:rPr>
              <a:t>has fallen behind</a:t>
            </a:r>
            <a:r>
              <a:rPr lang="en-US" sz="1500" i="1" dirty="0">
                <a:solidFill>
                  <a:schemeClr val="tx1"/>
                </a:solidFill>
              </a:rPr>
              <a:t>: I </a:t>
            </a:r>
            <a:r>
              <a:rPr lang="en-US" sz="1500" b="1" i="1" dirty="0">
                <a:solidFill>
                  <a:schemeClr val="tx1"/>
                </a:solidFill>
              </a:rPr>
              <a:t>have chased</a:t>
            </a:r>
            <a:r>
              <a:rPr lang="en-US" sz="1500" i="1" dirty="0">
                <a:solidFill>
                  <a:schemeClr val="tx1"/>
                </a:solidFill>
              </a:rPr>
              <a:t> the provider twice.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707517" y="4174236"/>
            <a:ext cx="916686" cy="916686"/>
          </a:xfrm>
          <a:prstGeom prst="ellipse">
            <a:avLst/>
          </a:prstGeom>
          <a:solidFill>
            <a:srgbClr val="1B2333"/>
          </a:solidFill>
          <a:ln/>
        </p:spPr>
      </p:sp>
      <p:sp>
        <p:nvSpPr>
          <p:cNvPr id="20" name="Shape 17"/>
          <p:cNvSpPr/>
          <p:nvPr/>
        </p:nvSpPr>
        <p:spPr>
          <a:xfrm>
            <a:off x="753237" y="4219956"/>
            <a:ext cx="825246" cy="825246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057400" y="4128516"/>
            <a:ext cx="9582912" cy="1008126"/>
          </a:xfrm>
          <a:prstGeom prst="roundRect">
            <a:avLst>
              <a:gd name="adj" fmla="val 7256"/>
            </a:avLst>
          </a:prstGeom>
          <a:solidFill>
            <a:srgbClr val="B03A2E">
              <a:alpha val="8000"/>
            </a:srgbClr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2240280" y="4201668"/>
            <a:ext cx="9217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6"/>
                </a:solidFill>
              </a:rPr>
              <a:t>RED — BLOCKED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2240280" y="4512564"/>
            <a:ext cx="4791456" cy="550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a </a:t>
            </a:r>
            <a:r>
              <a:rPr lang="en-US" sz="1400" b="1" dirty="0">
                <a:solidFill>
                  <a:schemeClr val="tx1"/>
                </a:solidFill>
              </a:rPr>
              <a:t>bottleneck</a:t>
            </a:r>
            <a:r>
              <a:rPr lang="en-US" sz="1300" i="1" dirty="0">
                <a:solidFill>
                  <a:schemeClr val="accent5"/>
                </a:solidFill>
              </a:rPr>
              <a:t>   un goulet d’étranglement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to be </a:t>
            </a:r>
            <a:r>
              <a:rPr lang="en-US" sz="1400" b="1" dirty="0">
                <a:solidFill>
                  <a:schemeClr val="tx1"/>
                </a:solidFill>
              </a:rPr>
              <a:t>held up</a:t>
            </a:r>
            <a:r>
              <a:rPr lang="en-US" sz="1300" i="1" dirty="0">
                <a:solidFill>
                  <a:schemeClr val="accent5"/>
                </a:solidFill>
              </a:rPr>
              <a:t>   être retardé, bloqué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7168896" y="4512564"/>
            <a:ext cx="4288536" cy="550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The contractor’s statement is the </a:t>
            </a:r>
            <a:r>
              <a:rPr lang="en-US" sz="1500" b="1" i="1" dirty="0">
                <a:solidFill>
                  <a:schemeClr val="tx1"/>
                </a:solidFill>
              </a:rPr>
              <a:t>bottleneck</a:t>
            </a:r>
            <a:r>
              <a:rPr lang="en-US" sz="1500" i="1" dirty="0">
                <a:solidFill>
                  <a:schemeClr val="tx1"/>
                </a:solidFill>
              </a:rPr>
              <a:t>: the report is </a:t>
            </a:r>
            <a:r>
              <a:rPr lang="en-US" sz="1500" b="1" i="1" dirty="0">
                <a:solidFill>
                  <a:schemeClr val="tx1"/>
                </a:solidFill>
              </a:rPr>
              <a:t>held up</a:t>
            </a:r>
            <a:r>
              <a:rPr lang="en-US" sz="1500" i="1" dirty="0">
                <a:solidFill>
                  <a:schemeClr val="tx1"/>
                </a:solidFill>
              </a:rPr>
              <a:t>.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753237" y="5392674"/>
            <a:ext cx="825246" cy="825246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549" y="5598986"/>
            <a:ext cx="412623" cy="412623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2057400" y="5301234"/>
            <a:ext cx="9582912" cy="1008126"/>
          </a:xfrm>
          <a:prstGeom prst="roundRect">
            <a:avLst>
              <a:gd name="adj" fmla="val 7256"/>
            </a:avLst>
          </a:prstGeom>
          <a:solidFill>
            <a:srgbClr val="2E75B6">
              <a:alpha val="8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2240280" y="5374386"/>
            <a:ext cx="9217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2"/>
                </a:solidFill>
              </a:rPr>
              <a:t>ALL DAY — COMMUNICATE</a:t>
            </a:r>
            <a:endParaRPr lang="en-US" sz="1300" dirty="0"/>
          </a:p>
        </p:txBody>
      </p:sp>
      <p:sp>
        <p:nvSpPr>
          <p:cNvPr id="29" name="Text 25"/>
          <p:cNvSpPr txBox="1"/>
          <p:nvPr/>
        </p:nvSpPr>
        <p:spPr>
          <a:xfrm>
            <a:off x="2240280" y="5685282"/>
            <a:ext cx="4791456" cy="550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to keep somebody </a:t>
            </a:r>
            <a:r>
              <a:rPr lang="en-US" sz="1400" b="1" dirty="0">
                <a:solidFill>
                  <a:schemeClr val="tx1"/>
                </a:solidFill>
              </a:rPr>
              <a:t>in the loop</a:t>
            </a:r>
            <a:r>
              <a:rPr lang="en-US" sz="1300" i="1" dirty="0">
                <a:solidFill>
                  <a:schemeClr val="accent5"/>
                </a:solidFill>
              </a:rPr>
              <a:t>   tenir informé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to </a:t>
            </a:r>
            <a:r>
              <a:rPr lang="en-US" sz="1400" b="1" dirty="0">
                <a:solidFill>
                  <a:schemeClr val="tx1"/>
                </a:solidFill>
              </a:rPr>
              <a:t>touch base</a:t>
            </a:r>
            <a:r>
              <a:rPr lang="en-US" sz="1400" b="1" dirty="0">
                <a:solidFill>
                  <a:schemeClr val="tx1"/>
                </a:solidFill>
              </a:rPr>
              <a:t> with somebody</a:t>
            </a:r>
            <a:r>
              <a:rPr lang="en-US" sz="1300" i="1" dirty="0">
                <a:solidFill>
                  <a:schemeClr val="accent5"/>
                </a:solidFill>
              </a:rPr>
              <a:t>   faire un point rapide</a:t>
            </a:r>
            <a:endParaRPr lang="en-US" sz="1400" dirty="0"/>
          </a:p>
        </p:txBody>
      </p:sp>
      <p:sp>
        <p:nvSpPr>
          <p:cNvPr id="30" name="Text 26"/>
          <p:cNvSpPr txBox="1"/>
          <p:nvPr/>
        </p:nvSpPr>
        <p:spPr>
          <a:xfrm>
            <a:off x="7168896" y="5685282"/>
            <a:ext cx="4288536" cy="550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Please </a:t>
            </a:r>
            <a:r>
              <a:rPr lang="en-US" sz="1500" b="1" i="1" dirty="0">
                <a:solidFill>
                  <a:schemeClr val="tx1"/>
                </a:solidFill>
              </a:rPr>
              <a:t>keep me in the loop</a:t>
            </a:r>
            <a:r>
              <a:rPr lang="en-US" sz="1500" i="1" dirty="0">
                <a:solidFill>
                  <a:schemeClr val="tx1"/>
                </a:solidFill>
              </a:rPr>
              <a:t>. I will </a:t>
            </a:r>
            <a:r>
              <a:rPr lang="en-US" sz="1500" b="1" i="1" dirty="0">
                <a:solidFill>
                  <a:schemeClr val="tx1"/>
                </a:solidFill>
              </a:rPr>
              <a:t>touch base</a:t>
            </a:r>
            <a:r>
              <a:rPr lang="en-US" sz="1500" i="1" dirty="0">
                <a:solidFill>
                  <a:schemeClr val="tx1"/>
                </a:solidFill>
              </a:rPr>
              <a:t> with the insurer at noon.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team chat — reply like a professional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280160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SPEAKING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livret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760720" cy="4526280"/>
          </a:xfrm>
          <a:prstGeom prst="roundRect">
            <a:avLst>
              <a:gd name="adj" fmla="val 6465"/>
            </a:avLst>
          </a:prstGeom>
          <a:solidFill>
            <a:srgbClr val="1B2333"/>
          </a:solidFill>
          <a:ln/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49808" y="1911096"/>
            <a:ext cx="5541264" cy="4270248"/>
          </a:xfrm>
          <a:prstGeom prst="roundRect">
            <a:avLst>
              <a:gd name="adj" fmla="val 5139"/>
            </a:avLst>
          </a:prstGeom>
          <a:solidFill>
            <a:srgbClr val="ECE5DD"/>
          </a:solidFill>
          <a:ln/>
        </p:spPr>
      </p:sp>
      <p:sp>
        <p:nvSpPr>
          <p:cNvPr id="8" name="Shape 5"/>
          <p:cNvSpPr/>
          <p:nvPr/>
        </p:nvSpPr>
        <p:spPr>
          <a:xfrm>
            <a:off x="749808" y="1911096"/>
            <a:ext cx="5541264" cy="566928"/>
          </a:xfrm>
          <a:prstGeom prst="roundRect">
            <a:avLst>
              <a:gd name="adj" fmla="val 38710"/>
            </a:avLst>
          </a:prstGeom>
          <a:solidFill>
            <a:srgbClr val="1F3864"/>
          </a:solidFill>
          <a:ln/>
        </p:spPr>
      </p:sp>
      <p:sp>
        <p:nvSpPr>
          <p:cNvPr id="9" name="Shape 6"/>
          <p:cNvSpPr/>
          <p:nvPr/>
        </p:nvSpPr>
        <p:spPr>
          <a:xfrm>
            <a:off x="749808" y="2276856"/>
            <a:ext cx="5541264" cy="201168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0" name="Shape 7"/>
          <p:cNvSpPr/>
          <p:nvPr/>
        </p:nvSpPr>
        <p:spPr>
          <a:xfrm>
            <a:off x="3108960" y="1911096"/>
            <a:ext cx="822960" cy="91440"/>
          </a:xfrm>
          <a:prstGeom prst="roundRect">
            <a:avLst>
              <a:gd name="adj" fmla="val 50000"/>
            </a:avLst>
          </a:prstGeom>
          <a:solidFill>
            <a:srgbClr val="1B2333"/>
          </a:solidFill>
          <a:ln/>
        </p:spPr>
      </p:sp>
      <p:sp>
        <p:nvSpPr>
          <p:cNvPr id="11" name="Shape 8"/>
          <p:cNvSpPr/>
          <p:nvPr/>
        </p:nvSpPr>
        <p:spPr>
          <a:xfrm>
            <a:off x="859536" y="2020824"/>
            <a:ext cx="384048" cy="384048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" y="2116836"/>
            <a:ext cx="192024" cy="19202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316736" y="1965960"/>
            <a:ext cx="4901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Atlas House — incident team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D5DCE6"/>
                </a:solidFill>
              </a:rPr>
              <a:t>Mark, Iris, Samuel, you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86968" y="2596896"/>
            <a:ext cx="4213555" cy="341376"/>
          </a:xfrm>
          <a:prstGeom prst="roundRect">
            <a:avLst>
              <a:gd name="adj" fmla="val 267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5400000">
              <a:srgbClr val="000000">
                <a:alpha val="12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996696" y="2651760"/>
            <a:ext cx="3994099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</a:rPr>
              <a:t>Mark:  </a:t>
            </a:r>
            <a:r>
              <a:rPr lang="en-US" sz="1400" dirty="0">
                <a:solidFill>
                  <a:schemeClr val="tx1"/>
                </a:solidFill>
              </a:rPr>
              <a:t>Where are we with the photos?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1940357" y="3011424"/>
            <a:ext cx="4213555" cy="341376"/>
          </a:xfrm>
          <a:prstGeom prst="roundRect">
            <a:avLst>
              <a:gd name="adj" fmla="val 26786"/>
            </a:avLst>
          </a:prstGeom>
          <a:solidFill>
            <a:srgbClr val="FFFFFF">
              <a:alpha val="70000"/>
            </a:srgbClr>
          </a:solidFill>
          <a:ln w="15875">
            <a:solidFill>
              <a:srgbClr val="6FAE5A"/>
            </a:solidFill>
            <a:prstDash val="dash"/>
          </a:ln>
        </p:spPr>
      </p:sp>
      <p:sp>
        <p:nvSpPr>
          <p:cNvPr id="17" name="Text 13"/>
          <p:cNvSpPr txBox="1"/>
          <p:nvPr/>
        </p:nvSpPr>
        <p:spPr>
          <a:xfrm>
            <a:off x="2050085" y="3011424"/>
            <a:ext cx="3994099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FAE5A"/>
                </a:solidFill>
              </a:rPr>
              <a:t>Your reply…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886968" y="3425952"/>
            <a:ext cx="4213555" cy="554736"/>
          </a:xfrm>
          <a:prstGeom prst="roundRect">
            <a:avLst>
              <a:gd name="adj" fmla="val 164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5400000">
              <a:srgbClr val="000000">
                <a:alpha val="12000"/>
              </a:srgbClr>
            </a:outerShdw>
          </a:effectLst>
        </p:spPr>
      </p:sp>
      <p:sp>
        <p:nvSpPr>
          <p:cNvPr id="19" name="Text 15"/>
          <p:cNvSpPr txBox="1"/>
          <p:nvPr/>
        </p:nvSpPr>
        <p:spPr>
          <a:xfrm>
            <a:off x="996696" y="3480816"/>
            <a:ext cx="3994099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C7A3C"/>
                </a:solidFill>
              </a:rPr>
              <a:t>Iris:  </a:t>
            </a:r>
            <a:r>
              <a:rPr lang="en-US" sz="1400" dirty="0">
                <a:solidFill>
                  <a:schemeClr val="tx1"/>
                </a:solidFill>
              </a:rPr>
              <a:t>The contractor still hasn’t sent his statement.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1940357" y="4053840"/>
            <a:ext cx="4213555" cy="341376"/>
          </a:xfrm>
          <a:prstGeom prst="roundRect">
            <a:avLst>
              <a:gd name="adj" fmla="val 26786"/>
            </a:avLst>
          </a:prstGeom>
          <a:solidFill>
            <a:srgbClr val="FFFFFF">
              <a:alpha val="70000"/>
            </a:srgbClr>
          </a:solidFill>
          <a:ln w="15875">
            <a:solidFill>
              <a:srgbClr val="6FAE5A"/>
            </a:solidFill>
            <a:prstDash val="dash"/>
          </a:ln>
        </p:spPr>
      </p:sp>
      <p:sp>
        <p:nvSpPr>
          <p:cNvPr id="21" name="Text 17"/>
          <p:cNvSpPr txBox="1"/>
          <p:nvPr/>
        </p:nvSpPr>
        <p:spPr>
          <a:xfrm>
            <a:off x="2050085" y="4053840"/>
            <a:ext cx="3994099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FAE5A"/>
                </a:solidFill>
              </a:rPr>
              <a:t>Your reply…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886968" y="4468368"/>
            <a:ext cx="4213555" cy="341376"/>
          </a:xfrm>
          <a:prstGeom prst="roundRect">
            <a:avLst>
              <a:gd name="adj" fmla="val 267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5400000">
              <a:srgbClr val="000000">
                <a:alpha val="12000"/>
              </a:srgbClr>
            </a:outerShdw>
          </a:effectLst>
        </p:spPr>
      </p:sp>
      <p:sp>
        <p:nvSpPr>
          <p:cNvPr id="23" name="Text 19"/>
          <p:cNvSpPr txBox="1"/>
          <p:nvPr/>
        </p:nvSpPr>
        <p:spPr>
          <a:xfrm>
            <a:off x="996696" y="4523232"/>
            <a:ext cx="3994099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5B6"/>
                </a:solidFill>
              </a:rPr>
              <a:t>Samuel:  </a:t>
            </a:r>
            <a:r>
              <a:rPr lang="en-US" sz="1400" dirty="0">
                <a:solidFill>
                  <a:schemeClr val="tx1"/>
                </a:solidFill>
              </a:rPr>
              <a:t>Can someone tell me about the basement?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1940357" y="4882896"/>
            <a:ext cx="4213555" cy="341376"/>
          </a:xfrm>
          <a:prstGeom prst="roundRect">
            <a:avLst>
              <a:gd name="adj" fmla="val 26786"/>
            </a:avLst>
          </a:prstGeom>
          <a:solidFill>
            <a:srgbClr val="FFFFFF">
              <a:alpha val="70000"/>
            </a:srgbClr>
          </a:solidFill>
          <a:ln w="15875">
            <a:solidFill>
              <a:srgbClr val="6FAE5A"/>
            </a:solidFill>
            <a:prstDash val="dash"/>
          </a:ln>
        </p:spPr>
      </p:sp>
      <p:sp>
        <p:nvSpPr>
          <p:cNvPr id="25" name="Text 21"/>
          <p:cNvSpPr txBox="1"/>
          <p:nvPr/>
        </p:nvSpPr>
        <p:spPr>
          <a:xfrm>
            <a:off x="2050085" y="4882896"/>
            <a:ext cx="3994099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FAE5A"/>
                </a:solidFill>
              </a:rPr>
              <a:t>Your reply…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886968" y="5297424"/>
            <a:ext cx="4213555" cy="341376"/>
          </a:xfrm>
          <a:prstGeom prst="roundRect">
            <a:avLst>
              <a:gd name="adj" fmla="val 267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5400000">
              <a:srgbClr val="000000">
                <a:alpha val="12000"/>
              </a:srgbClr>
            </a:outerShdw>
          </a:effectLst>
        </p:spPr>
      </p:sp>
      <p:sp>
        <p:nvSpPr>
          <p:cNvPr id="27" name="Text 23"/>
          <p:cNvSpPr txBox="1"/>
          <p:nvPr/>
        </p:nvSpPr>
        <p:spPr>
          <a:xfrm>
            <a:off x="996696" y="5352288"/>
            <a:ext cx="3994099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</a:rPr>
              <a:t>Mark:  </a:t>
            </a:r>
            <a:r>
              <a:rPr lang="en-US" sz="1400" dirty="0">
                <a:solidFill>
                  <a:schemeClr val="tx1"/>
                </a:solidFill>
              </a:rPr>
              <a:t>Insurer at noon. Is everybody ready?</a:t>
            </a:r>
            <a:endParaRPr lang="en-US" sz="1400" dirty="0"/>
          </a:p>
        </p:txBody>
      </p:sp>
      <p:sp>
        <p:nvSpPr>
          <p:cNvPr id="28" name="Shape 24"/>
          <p:cNvSpPr/>
          <p:nvPr/>
        </p:nvSpPr>
        <p:spPr>
          <a:xfrm>
            <a:off x="1940357" y="5711952"/>
            <a:ext cx="4213555" cy="341376"/>
          </a:xfrm>
          <a:prstGeom prst="roundRect">
            <a:avLst>
              <a:gd name="adj" fmla="val 26786"/>
            </a:avLst>
          </a:prstGeom>
          <a:solidFill>
            <a:srgbClr val="FFFFFF">
              <a:alpha val="70000"/>
            </a:srgbClr>
          </a:solidFill>
          <a:ln w="15875">
            <a:solidFill>
              <a:srgbClr val="6FAE5A"/>
            </a:solidFill>
            <a:prstDash val="dash"/>
          </a:ln>
        </p:spPr>
      </p:sp>
      <p:sp>
        <p:nvSpPr>
          <p:cNvPr id="29" name="Text 25"/>
          <p:cNvSpPr txBox="1"/>
          <p:nvPr/>
        </p:nvSpPr>
        <p:spPr>
          <a:xfrm>
            <a:off x="2050085" y="5711952"/>
            <a:ext cx="3994099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FAE5A"/>
                </a:solidFill>
              </a:rPr>
              <a:t>Your reply…</a:t>
            </a:r>
            <a:endParaRPr lang="en-US" sz="1400" dirty="0"/>
          </a:p>
        </p:txBody>
      </p:sp>
      <p:sp>
        <p:nvSpPr>
          <p:cNvPr id="30" name="Shape 26"/>
          <p:cNvSpPr/>
          <p:nvPr/>
        </p:nvSpPr>
        <p:spPr>
          <a:xfrm>
            <a:off x="6812280" y="1783080"/>
            <a:ext cx="4828032" cy="4526280"/>
          </a:xfrm>
          <a:prstGeom prst="roundRect">
            <a:avLst>
              <a:gd name="adj" fmla="val 1616"/>
            </a:avLst>
          </a:prstGeom>
          <a:solidFill>
            <a:srgbClr val="6E4A9E">
              <a:alpha val="8000"/>
            </a:srgbClr>
          </a:solidFill>
          <a:ln w="9525">
            <a:solidFill>
              <a:srgbClr val="6E4A9E"/>
            </a:solidFill>
            <a:prstDash val="solid"/>
          </a:ln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3448" y="1965960"/>
            <a:ext cx="310896" cy="310896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7434072" y="1929384"/>
            <a:ext cx="4050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4"/>
                </a:solidFill>
              </a:rPr>
              <a:t>IN EVERY REPLY</a:t>
            </a:r>
            <a:endParaRPr lang="en-US" sz="1300" dirty="0"/>
          </a:p>
        </p:txBody>
      </p:sp>
      <p:sp>
        <p:nvSpPr>
          <p:cNvPr id="33" name="Text 28"/>
          <p:cNvSpPr txBox="1"/>
          <p:nvPr/>
        </p:nvSpPr>
        <p:spPr>
          <a:xfrm>
            <a:off x="7040880" y="2468880"/>
            <a:ext cx="4416552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Four messages are waiting: </a:t>
            </a:r>
            <a:r>
              <a:rPr lang="en-US" sz="1800" b="1" dirty="0">
                <a:solidFill>
                  <a:schemeClr val="tx1"/>
                </a:solidFill>
              </a:rPr>
              <a:t>write each reply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 </a:t>
            </a:r>
            <a:r>
              <a:rPr lang="en-US" sz="1800" b="1" dirty="0">
                <a:solidFill>
                  <a:schemeClr val="tx1"/>
                </a:solidFill>
              </a:rPr>
              <a:t>present perfect</a:t>
            </a:r>
            <a:r>
              <a:rPr lang="en-US" sz="1800" dirty="0">
                <a:solidFill>
                  <a:schemeClr val="tx1"/>
                </a:solidFill>
              </a:rPr>
              <a:t>: </a:t>
            </a:r>
            <a:r>
              <a:rPr lang="en-US" sz="1800" i="1" dirty="0">
                <a:solidFill>
                  <a:schemeClr val="tx1"/>
                </a:solidFill>
              </a:rPr>
              <a:t>has taken · hasn’t checked</a:t>
            </a:r>
            <a:endParaRPr lang="en-US" sz="18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already · yet · just</a:t>
            </a:r>
            <a:r>
              <a:rPr lang="en-US" sz="1800" dirty="0">
                <a:solidFill>
                  <a:schemeClr val="tx1"/>
                </a:solidFill>
              </a:rPr>
              <a:t> in the right place</a:t>
            </a:r>
            <a:endParaRPr lang="en-US" sz="18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one expression: </a:t>
            </a:r>
            <a:r>
              <a:rPr lang="en-US" sz="1800" i="1" dirty="0">
                <a:solidFill>
                  <a:schemeClr val="tx1"/>
                </a:solidFill>
              </a:rPr>
              <a:t>on track · chase · in the loop · touch base · up to speed</a:t>
            </a:r>
            <a:endParaRPr lang="en-US" sz="18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short</a:t>
            </a:r>
            <a:r>
              <a:rPr lang="en-US" sz="1800" dirty="0">
                <a:solidFill>
                  <a:schemeClr val="tx1"/>
                </a:solidFill>
              </a:rPr>
              <a:t>: it is a chat, not a letter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team chat — reply like a professional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280160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SPEAKING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938528" y="384048"/>
            <a:ext cx="1874520" cy="310896"/>
          </a:xfrm>
          <a:prstGeom prst="roundRect">
            <a:avLst>
              <a:gd name="adj" fmla="val 14706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livret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5760720" cy="4526280"/>
          </a:xfrm>
          <a:prstGeom prst="roundRect">
            <a:avLst>
              <a:gd name="adj" fmla="val 6465"/>
            </a:avLst>
          </a:prstGeom>
          <a:solidFill>
            <a:srgbClr val="1B2333"/>
          </a:solidFill>
          <a:ln/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49808" y="1911096"/>
            <a:ext cx="5541264" cy="4270248"/>
          </a:xfrm>
          <a:prstGeom prst="roundRect">
            <a:avLst>
              <a:gd name="adj" fmla="val 5139"/>
            </a:avLst>
          </a:prstGeom>
          <a:solidFill>
            <a:srgbClr val="ECE5DD"/>
          </a:solidFill>
          <a:ln/>
        </p:spPr>
      </p:sp>
      <p:sp>
        <p:nvSpPr>
          <p:cNvPr id="9" name="Shape 6"/>
          <p:cNvSpPr/>
          <p:nvPr/>
        </p:nvSpPr>
        <p:spPr>
          <a:xfrm>
            <a:off x="749808" y="1911096"/>
            <a:ext cx="5541264" cy="566928"/>
          </a:xfrm>
          <a:prstGeom prst="roundRect">
            <a:avLst>
              <a:gd name="adj" fmla="val 38710"/>
            </a:avLst>
          </a:prstGeom>
          <a:solidFill>
            <a:srgbClr val="1F3864"/>
          </a:solidFill>
          <a:ln/>
        </p:spPr>
      </p:sp>
      <p:sp>
        <p:nvSpPr>
          <p:cNvPr id="10" name="Shape 7"/>
          <p:cNvSpPr/>
          <p:nvPr/>
        </p:nvSpPr>
        <p:spPr>
          <a:xfrm>
            <a:off x="749808" y="2276856"/>
            <a:ext cx="5541264" cy="201168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1" name="Shape 8"/>
          <p:cNvSpPr/>
          <p:nvPr/>
        </p:nvSpPr>
        <p:spPr>
          <a:xfrm>
            <a:off x="3108960" y="1911096"/>
            <a:ext cx="822960" cy="91440"/>
          </a:xfrm>
          <a:prstGeom prst="roundRect">
            <a:avLst>
              <a:gd name="adj" fmla="val 50000"/>
            </a:avLst>
          </a:prstGeom>
          <a:solidFill>
            <a:srgbClr val="1B2333"/>
          </a:solidFill>
          <a:ln/>
        </p:spPr>
      </p:sp>
      <p:sp>
        <p:nvSpPr>
          <p:cNvPr id="12" name="Shape 9"/>
          <p:cNvSpPr/>
          <p:nvPr/>
        </p:nvSpPr>
        <p:spPr>
          <a:xfrm>
            <a:off x="859536" y="2020824"/>
            <a:ext cx="384048" cy="384048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" y="2116836"/>
            <a:ext cx="192024" cy="19202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316736" y="1965960"/>
            <a:ext cx="4901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Atlas House — incident team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D5DCE6"/>
                </a:solidFill>
              </a:rPr>
              <a:t>Mark, Iris, Samuel, you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86968" y="2596896"/>
            <a:ext cx="4213555" cy="326136"/>
          </a:xfrm>
          <a:prstGeom prst="roundRect">
            <a:avLst>
              <a:gd name="adj" fmla="val 280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5400000">
              <a:srgbClr val="000000">
                <a:alpha val="12000"/>
              </a:srgbClr>
            </a:outerShdw>
          </a:effectLst>
        </p:spPr>
      </p:sp>
      <p:sp>
        <p:nvSpPr>
          <p:cNvPr id="16" name="Text 12"/>
          <p:cNvSpPr txBox="1"/>
          <p:nvPr/>
        </p:nvSpPr>
        <p:spPr>
          <a:xfrm>
            <a:off x="996696" y="2651760"/>
            <a:ext cx="3994099" cy="216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Mark:  </a:t>
            </a:r>
            <a:r>
              <a:rPr lang="en-US" sz="1300" dirty="0">
                <a:solidFill>
                  <a:schemeClr val="tx1"/>
                </a:solidFill>
              </a:rPr>
              <a:t>Where are we with the photos?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1940357" y="2996184"/>
            <a:ext cx="4213555" cy="326136"/>
          </a:xfrm>
          <a:prstGeom prst="roundRect">
            <a:avLst>
              <a:gd name="adj" fmla="val 28037"/>
            </a:avLst>
          </a:prstGeom>
          <a:solidFill>
            <a:srgbClr val="DCF8C6"/>
          </a:solidFill>
          <a:ln/>
          <a:effectLst>
            <a:outerShdw sx="100000" sy="100000" kx="0" ky="0" algn="bl" rotWithShape="0" blurRad="25400" dist="12700" dir="5400000">
              <a:srgbClr val="000000">
                <a:alpha val="12000"/>
              </a:srgbClr>
            </a:outerShdw>
          </a:effectLst>
        </p:spPr>
      </p:sp>
      <p:sp>
        <p:nvSpPr>
          <p:cNvPr id="18" name="Text 14"/>
          <p:cNvSpPr txBox="1"/>
          <p:nvPr/>
        </p:nvSpPr>
        <p:spPr>
          <a:xfrm>
            <a:off x="2050085" y="3051048"/>
            <a:ext cx="3994099" cy="216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They’re </a:t>
            </a:r>
            <a:r>
              <a:rPr lang="en-US" sz="1300" b="1" dirty="0">
                <a:solidFill>
                  <a:schemeClr val="tx1"/>
                </a:solidFill>
              </a:rPr>
              <a:t>on track</a:t>
            </a:r>
            <a:r>
              <a:rPr lang="en-US" sz="1300" dirty="0">
                <a:solidFill>
                  <a:schemeClr val="tx1"/>
                </a:solidFill>
              </a:rPr>
              <a:t> — Iris has </a:t>
            </a:r>
            <a:r>
              <a:rPr lang="en-US" sz="1300" b="1" dirty="0">
                <a:solidFill>
                  <a:schemeClr val="tx1"/>
                </a:solidFill>
              </a:rPr>
              <a:t>already</a:t>
            </a:r>
            <a:r>
              <a:rPr lang="en-US" sz="1300" dirty="0">
                <a:solidFill>
                  <a:schemeClr val="tx1"/>
                </a:solidFill>
              </a:rPr>
              <a:t> taken them.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886968" y="3395472"/>
            <a:ext cx="4213555" cy="326136"/>
          </a:xfrm>
          <a:prstGeom prst="roundRect">
            <a:avLst>
              <a:gd name="adj" fmla="val 280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5400000">
              <a:srgbClr val="000000">
                <a:alpha val="12000"/>
              </a:srgbClr>
            </a:outerShdw>
          </a:effectLst>
        </p:spPr>
      </p:sp>
      <p:sp>
        <p:nvSpPr>
          <p:cNvPr id="20" name="Text 16"/>
          <p:cNvSpPr txBox="1"/>
          <p:nvPr/>
        </p:nvSpPr>
        <p:spPr>
          <a:xfrm>
            <a:off x="996696" y="3450336"/>
            <a:ext cx="3994099" cy="216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C7A3C"/>
                </a:solidFill>
              </a:rPr>
              <a:t>Iris:  </a:t>
            </a:r>
            <a:r>
              <a:rPr lang="en-US" sz="1300" dirty="0">
                <a:solidFill>
                  <a:schemeClr val="tx1"/>
                </a:solidFill>
              </a:rPr>
              <a:t>The contractor still hasn’t sent his statement.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1940357" y="3794760"/>
            <a:ext cx="4213555" cy="326136"/>
          </a:xfrm>
          <a:prstGeom prst="roundRect">
            <a:avLst>
              <a:gd name="adj" fmla="val 28037"/>
            </a:avLst>
          </a:prstGeom>
          <a:solidFill>
            <a:srgbClr val="DCF8C6"/>
          </a:solidFill>
          <a:ln/>
          <a:effectLst>
            <a:outerShdw sx="100000" sy="100000" kx="0" ky="0" algn="bl" rotWithShape="0" blurRad="25400" dist="12700" dir="5400000">
              <a:srgbClr val="000000">
                <a:alpha val="12000"/>
              </a:srgbClr>
            </a:outerShdw>
          </a:effectLst>
        </p:spPr>
      </p:sp>
      <p:sp>
        <p:nvSpPr>
          <p:cNvPr id="22" name="Text 18"/>
          <p:cNvSpPr txBox="1"/>
          <p:nvPr/>
        </p:nvSpPr>
        <p:spPr>
          <a:xfrm>
            <a:off x="2050085" y="3849624"/>
            <a:ext cx="3994099" cy="216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I’ll </a:t>
            </a:r>
            <a:r>
              <a:rPr lang="en-US" sz="1300" b="1" dirty="0">
                <a:solidFill>
                  <a:schemeClr val="tx1"/>
                </a:solidFill>
              </a:rPr>
              <a:t>chase</a:t>
            </a:r>
            <a:r>
              <a:rPr lang="en-US" sz="1300" dirty="0">
                <a:solidFill>
                  <a:schemeClr val="tx1"/>
                </a:solidFill>
              </a:rPr>
              <a:t> him again — I’ve </a:t>
            </a:r>
            <a:r>
              <a:rPr lang="en-US" sz="1300" b="1" dirty="0">
                <a:solidFill>
                  <a:schemeClr val="tx1"/>
                </a:solidFill>
              </a:rPr>
              <a:t>already chased</a:t>
            </a:r>
            <a:r>
              <a:rPr lang="en-US" sz="1300" dirty="0">
                <a:solidFill>
                  <a:schemeClr val="tx1"/>
                </a:solidFill>
              </a:rPr>
              <a:t> him twice.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886968" y="4194048"/>
            <a:ext cx="4213555" cy="326136"/>
          </a:xfrm>
          <a:prstGeom prst="roundRect">
            <a:avLst>
              <a:gd name="adj" fmla="val 280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5400000">
              <a:srgbClr val="000000">
                <a:alpha val="12000"/>
              </a:srgbClr>
            </a:outerShdw>
          </a:effectLst>
        </p:spPr>
      </p:sp>
      <p:sp>
        <p:nvSpPr>
          <p:cNvPr id="24" name="Text 20"/>
          <p:cNvSpPr txBox="1"/>
          <p:nvPr/>
        </p:nvSpPr>
        <p:spPr>
          <a:xfrm>
            <a:off x="996696" y="4248912"/>
            <a:ext cx="3994099" cy="216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</a:rPr>
              <a:t>Samuel:  </a:t>
            </a:r>
            <a:r>
              <a:rPr lang="en-US" sz="1300" dirty="0">
                <a:solidFill>
                  <a:schemeClr val="tx1"/>
                </a:solidFill>
              </a:rPr>
              <a:t>Can someone tell me about the basement?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1940357" y="4593336"/>
            <a:ext cx="4213555" cy="326136"/>
          </a:xfrm>
          <a:prstGeom prst="roundRect">
            <a:avLst>
              <a:gd name="adj" fmla="val 28037"/>
            </a:avLst>
          </a:prstGeom>
          <a:solidFill>
            <a:srgbClr val="DCF8C6"/>
          </a:solidFill>
          <a:ln/>
          <a:effectLst>
            <a:outerShdw sx="100000" sy="100000" kx="0" ky="0" algn="bl" rotWithShape="0" blurRad="25400" dist="12700" dir="5400000">
              <a:srgbClr val="000000">
                <a:alpha val="12000"/>
              </a:srgbClr>
            </a:outerShdw>
          </a:effectLst>
        </p:spPr>
      </p:sp>
      <p:sp>
        <p:nvSpPr>
          <p:cNvPr id="26" name="Text 22"/>
          <p:cNvSpPr txBox="1"/>
          <p:nvPr/>
        </p:nvSpPr>
        <p:spPr>
          <a:xfrm>
            <a:off x="2050085" y="4648200"/>
            <a:ext cx="3994099" cy="216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Nobody has checked it </a:t>
            </a:r>
            <a:r>
              <a:rPr lang="en-US" sz="1300" b="1" dirty="0">
                <a:solidFill>
                  <a:schemeClr val="tx1"/>
                </a:solidFill>
              </a:rPr>
              <a:t>yet</a:t>
            </a:r>
            <a:r>
              <a:rPr lang="en-US" sz="1300" dirty="0">
                <a:solidFill>
                  <a:schemeClr val="tx1"/>
                </a:solidFill>
              </a:rPr>
              <a:t>. I’ll </a:t>
            </a:r>
            <a:r>
              <a:rPr lang="en-US" sz="1300" b="1" dirty="0">
                <a:solidFill>
                  <a:schemeClr val="tx1"/>
                </a:solidFill>
              </a:rPr>
              <a:t>keep you in the loop</a:t>
            </a:r>
            <a:r>
              <a:rPr lang="en-US" sz="1300" dirty="0">
                <a:solidFill>
                  <a:schemeClr val="tx1"/>
                </a:solidFill>
              </a:rPr>
              <a:t>.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886968" y="4992624"/>
            <a:ext cx="4213555" cy="326136"/>
          </a:xfrm>
          <a:prstGeom prst="roundRect">
            <a:avLst>
              <a:gd name="adj" fmla="val 280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5400000">
              <a:srgbClr val="000000">
                <a:alpha val="12000"/>
              </a:srgbClr>
            </a:outerShdw>
          </a:effectLst>
        </p:spPr>
      </p:sp>
      <p:sp>
        <p:nvSpPr>
          <p:cNvPr id="28" name="Text 24"/>
          <p:cNvSpPr txBox="1"/>
          <p:nvPr/>
        </p:nvSpPr>
        <p:spPr>
          <a:xfrm>
            <a:off x="996696" y="5047488"/>
            <a:ext cx="3994099" cy="216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Mark:  </a:t>
            </a:r>
            <a:r>
              <a:rPr lang="en-US" sz="1300" dirty="0">
                <a:solidFill>
                  <a:schemeClr val="tx1"/>
                </a:solidFill>
              </a:rPr>
              <a:t>Insurer at noon. Is everybody ready?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1940357" y="5391912"/>
            <a:ext cx="4213555" cy="326136"/>
          </a:xfrm>
          <a:prstGeom prst="roundRect">
            <a:avLst>
              <a:gd name="adj" fmla="val 28037"/>
            </a:avLst>
          </a:prstGeom>
          <a:solidFill>
            <a:srgbClr val="DCF8C6"/>
          </a:solidFill>
          <a:ln/>
          <a:effectLst>
            <a:outerShdw sx="100000" sy="100000" kx="0" ky="0" algn="bl" rotWithShape="0" blurRad="25400" dist="12700" dir="5400000">
              <a:srgbClr val="000000">
                <a:alpha val="12000"/>
              </a:srgbClr>
            </a:outerShdw>
          </a:effectLst>
        </p:spPr>
      </p:sp>
      <p:sp>
        <p:nvSpPr>
          <p:cNvPr id="30" name="Text 26"/>
          <p:cNvSpPr txBox="1"/>
          <p:nvPr/>
        </p:nvSpPr>
        <p:spPr>
          <a:xfrm>
            <a:off x="2050085" y="5446776"/>
            <a:ext cx="3994099" cy="216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Let’s </a:t>
            </a:r>
            <a:r>
              <a:rPr lang="en-US" sz="1300" b="1" dirty="0">
                <a:solidFill>
                  <a:schemeClr val="tx1"/>
                </a:solidFill>
              </a:rPr>
              <a:t>touch base</a:t>
            </a:r>
            <a:r>
              <a:rPr lang="en-US" sz="1300" dirty="0">
                <a:solidFill>
                  <a:schemeClr val="tx1"/>
                </a:solidFill>
              </a:rPr>
              <a:t> at 11.45 so we’re all </a:t>
            </a:r>
            <a:r>
              <a:rPr lang="en-US" sz="1300" b="1" dirty="0">
                <a:solidFill>
                  <a:schemeClr val="tx1"/>
                </a:solidFill>
              </a:rPr>
              <a:t>up to speed</a:t>
            </a:r>
            <a:r>
              <a:rPr lang="en-US" sz="1300" dirty="0">
                <a:solidFill>
                  <a:schemeClr val="tx1"/>
                </a:solidFill>
              </a:rPr>
              <a:t>.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6812280" y="1783080"/>
            <a:ext cx="4828032" cy="4526280"/>
          </a:xfrm>
          <a:prstGeom prst="roundRect">
            <a:avLst>
              <a:gd name="adj" fmla="val 1616"/>
            </a:avLst>
          </a:prstGeom>
          <a:solidFill>
            <a:srgbClr val="6E4A9E">
              <a:alpha val="8000"/>
            </a:srgbClr>
          </a:solidFill>
          <a:ln w="9525">
            <a:solidFill>
              <a:srgbClr val="6E4A9E"/>
            </a:solidFill>
            <a:prstDash val="solid"/>
          </a:ln>
        </p:spPr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3448" y="1965960"/>
            <a:ext cx="310896" cy="310896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7434072" y="1929384"/>
            <a:ext cx="4050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4"/>
                </a:solidFill>
              </a:rPr>
              <a:t>ONE POSSIBLE SET OF REPLIES</a:t>
            </a:r>
            <a:endParaRPr lang="en-US" sz="1300" dirty="0"/>
          </a:p>
        </p:txBody>
      </p:sp>
      <p:sp>
        <p:nvSpPr>
          <p:cNvPr id="34" name="Text 29"/>
          <p:cNvSpPr txBox="1"/>
          <p:nvPr/>
        </p:nvSpPr>
        <p:spPr>
          <a:xfrm>
            <a:off x="7040880" y="2468880"/>
            <a:ext cx="4416552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Every reply = </a:t>
            </a:r>
            <a:r>
              <a:rPr lang="en-US" sz="1800" b="1" dirty="0">
                <a:solidFill>
                  <a:schemeClr val="tx1"/>
                </a:solidFill>
              </a:rPr>
              <a:t>a fact</a:t>
            </a:r>
            <a:r>
              <a:rPr lang="en-US" sz="1800" dirty="0">
                <a:solidFill>
                  <a:schemeClr val="tx1"/>
                </a:solidFill>
              </a:rPr>
              <a:t> + </a:t>
            </a:r>
            <a:r>
              <a:rPr lang="en-US" sz="1800" b="1" dirty="0">
                <a:solidFill>
                  <a:schemeClr val="tx1"/>
                </a:solidFill>
              </a:rPr>
              <a:t>a next step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Accept any reply with a correct present perfect and a correct expression.</a:t>
            </a:r>
            <a:endParaRPr lang="en-US" sz="18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Then read the chat aloud in groups of four.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Progress, in context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165860" cy="310896"/>
          </a:xfrm>
          <a:prstGeom prst="roundRect">
            <a:avLst>
              <a:gd name="adj" fmla="val 14706"/>
            </a:avLst>
          </a:prstGeom>
          <a:solidFill>
            <a:srgbClr val="1F386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+ EXTRA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livret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27632"/>
            <a:ext cx="1109167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Complete with an expression from the traffic light.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237232"/>
            <a:ext cx="11091672" cy="749808"/>
          </a:xfrm>
          <a:prstGeom prst="roundRect">
            <a:avLst>
              <a:gd name="adj" fmla="val 9756"/>
            </a:avLst>
          </a:prstGeom>
          <a:solidFill>
            <a:srgbClr val="C0752A">
              <a:alpha val="8000"/>
            </a:srgbClr>
          </a:solidFill>
          <a:ln w="12700">
            <a:solidFill>
              <a:srgbClr val="C0752A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731520" y="2237232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WORD BANK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737360" y="2420112"/>
            <a:ext cx="1211072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on track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076448" y="2420112"/>
            <a:ext cx="2373376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keep me in the loop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577840" y="2420112"/>
            <a:ext cx="894080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chase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99936" y="2420112"/>
            <a:ext cx="1422400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bottleneck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50352" y="2420112"/>
            <a:ext cx="1422400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touch base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700768" y="2420112"/>
            <a:ext cx="1528064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up to speed</a:t>
            </a:r>
            <a:endParaRPr lang="en-US" sz="1600" dirty="0"/>
          </a:p>
        </p:txBody>
      </p:sp>
      <p:sp>
        <p:nvSpPr>
          <p:cNvPr id="14" name="exercise"/>
          <p:cNvSpPr txBox="1"/>
          <p:nvPr/>
        </p:nvSpPr>
        <p:spPr>
          <a:xfrm>
            <a:off x="548640" y="3261360"/>
            <a:ext cx="11091672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1.  </a:t>
            </a:r>
            <a:r>
              <a:rPr lang="en-US" sz="1900" dirty="0">
                <a:solidFill>
                  <a:schemeClr val="tx1"/>
                </a:solidFill>
              </a:rPr>
              <a:t>Don’t worry: the photographs are </a:t>
            </a:r>
            <a:r>
              <a:rPr lang="en-US" sz="1900" dirty="0">
                <a:solidFill>
                  <a:schemeClr val="accent5"/>
                </a:solidFill>
              </a:rPr>
              <a:t>………………</a:t>
            </a:r>
            <a:r>
              <a:rPr lang="en-US" sz="1900" dirty="0">
                <a:solidFill>
                  <a:schemeClr val="tx1"/>
                </a:solidFill>
              </a:rPr>
              <a:t>.</a:t>
            </a:r>
            <a:endParaRPr lang="en-US" sz="19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2.  </a:t>
            </a:r>
            <a:r>
              <a:rPr lang="en-US" sz="1900" dirty="0">
                <a:solidFill>
                  <a:schemeClr val="tx1"/>
                </a:solidFill>
              </a:rPr>
              <a:t>Can you </a:t>
            </a:r>
            <a:r>
              <a:rPr lang="en-US" sz="1900" dirty="0">
                <a:solidFill>
                  <a:schemeClr val="accent5"/>
                </a:solidFill>
              </a:rPr>
              <a:t>……………………………</a:t>
            </a:r>
            <a:r>
              <a:rPr lang="en-US" sz="1900" dirty="0">
                <a:solidFill>
                  <a:schemeClr val="tx1"/>
                </a:solidFill>
              </a:rPr>
              <a:t> about the basement?</a:t>
            </a:r>
            <a:endParaRPr lang="en-US" sz="19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3.  </a:t>
            </a:r>
            <a:r>
              <a:rPr lang="en-US" sz="1900" dirty="0">
                <a:solidFill>
                  <a:schemeClr val="tx1"/>
                </a:solidFill>
              </a:rPr>
              <a:t>The contractor still hasn’t answered — I’ll </a:t>
            </a:r>
            <a:r>
              <a:rPr lang="en-US" sz="1900" dirty="0">
                <a:solidFill>
                  <a:schemeClr val="accent5"/>
                </a:solidFill>
              </a:rPr>
              <a:t>………………</a:t>
            </a:r>
            <a:r>
              <a:rPr lang="en-US" sz="1900" dirty="0">
                <a:solidFill>
                  <a:schemeClr val="tx1"/>
                </a:solidFill>
              </a:rPr>
              <a:t> him again.</a:t>
            </a:r>
            <a:endParaRPr lang="en-US" sz="19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4.  </a:t>
            </a:r>
            <a:r>
              <a:rPr lang="en-US" sz="1900" dirty="0">
                <a:solidFill>
                  <a:schemeClr val="tx1"/>
                </a:solidFill>
              </a:rPr>
              <a:t>The estimate is the real </a:t>
            </a:r>
            <a:r>
              <a:rPr lang="en-US" sz="1900" dirty="0">
                <a:solidFill>
                  <a:schemeClr val="accent5"/>
                </a:solidFill>
              </a:rPr>
              <a:t>………………</a:t>
            </a:r>
            <a:r>
              <a:rPr lang="en-US" sz="1900" dirty="0">
                <a:solidFill>
                  <a:schemeClr val="tx1"/>
                </a:solidFill>
              </a:rPr>
              <a:t>: nothing can move without it.</a:t>
            </a:r>
            <a:endParaRPr lang="en-US" sz="19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5.  </a:t>
            </a:r>
            <a:r>
              <a:rPr lang="en-US" sz="1900" dirty="0">
                <a:solidFill>
                  <a:schemeClr val="tx1"/>
                </a:solidFill>
              </a:rPr>
              <a:t>Let’s </a:t>
            </a:r>
            <a:r>
              <a:rPr lang="en-US" sz="1900" dirty="0">
                <a:solidFill>
                  <a:schemeClr val="accent5"/>
                </a:solidFill>
              </a:rPr>
              <a:t>………………</a:t>
            </a:r>
            <a:r>
              <a:rPr lang="en-US" sz="1900" dirty="0">
                <a:solidFill>
                  <a:schemeClr val="tx1"/>
                </a:solidFill>
              </a:rPr>
              <a:t> at noon, before the insurer calls.</a:t>
            </a:r>
            <a:endParaRPr lang="en-US" sz="19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6.  </a:t>
            </a:r>
            <a:r>
              <a:rPr lang="en-US" sz="1900" dirty="0">
                <a:solidFill>
                  <a:schemeClr val="tx1"/>
                </a:solidFill>
              </a:rPr>
              <a:t>Is the new colleague </a:t>
            </a:r>
            <a:r>
              <a:rPr lang="en-US" sz="1900" dirty="0">
                <a:solidFill>
                  <a:schemeClr val="accent5"/>
                </a:solidFill>
              </a:rPr>
              <a:t>…………………</a:t>
            </a:r>
            <a:r>
              <a:rPr lang="en-US" sz="1900" dirty="0">
                <a:solidFill>
                  <a:schemeClr val="tx1"/>
                </a:solidFill>
              </a:rPr>
              <a:t> on the log?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Progress, in context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165860" cy="310896"/>
          </a:xfrm>
          <a:prstGeom prst="roundRect">
            <a:avLst>
              <a:gd name="adj" fmla="val 14706"/>
            </a:avLst>
          </a:prstGeom>
          <a:solidFill>
            <a:srgbClr val="1F386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+ EXTRA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24228" y="384048"/>
            <a:ext cx="1874520" cy="310896"/>
          </a:xfrm>
          <a:prstGeom prst="roundRect">
            <a:avLst>
              <a:gd name="adj" fmla="val 14706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livret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27632"/>
            <a:ext cx="1109167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Complete with an expression from the traffic light.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237232"/>
            <a:ext cx="11091672" cy="749808"/>
          </a:xfrm>
          <a:prstGeom prst="roundRect">
            <a:avLst>
              <a:gd name="adj" fmla="val 9756"/>
            </a:avLst>
          </a:prstGeom>
          <a:solidFill>
            <a:srgbClr val="C0752A">
              <a:alpha val="8000"/>
            </a:srgbClr>
          </a:solidFill>
          <a:ln w="12700">
            <a:solidFill>
              <a:srgbClr val="C0752A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731520" y="2237232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WORD BANK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737360" y="2420112"/>
            <a:ext cx="1211072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on track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076448" y="2420112"/>
            <a:ext cx="2373376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keep me in the loop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577840" y="2420112"/>
            <a:ext cx="894080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chase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99936" y="2420112"/>
            <a:ext cx="1422400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bottleneck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50352" y="2420112"/>
            <a:ext cx="1422400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touch 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700768" y="2420112"/>
            <a:ext cx="1528064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up to speed</a:t>
            </a:r>
            <a:endParaRPr lang="en-US" sz="1600" dirty="0"/>
          </a:p>
        </p:txBody>
      </p:sp>
      <p:sp>
        <p:nvSpPr>
          <p:cNvPr id="15" name="exercise"/>
          <p:cNvSpPr txBox="1"/>
          <p:nvPr/>
        </p:nvSpPr>
        <p:spPr>
          <a:xfrm>
            <a:off x="548640" y="3261360"/>
            <a:ext cx="11091672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1.  </a:t>
            </a:r>
            <a:r>
              <a:rPr lang="en-US" sz="2200" dirty="0">
                <a:solidFill>
                  <a:schemeClr val="tx1"/>
                </a:solidFill>
              </a:rPr>
              <a:t>Don’t worry: the photographs are </a:t>
            </a:r>
            <a:r>
              <a:rPr lang="en-US" sz="2200" b="1" dirty="0">
                <a:solidFill>
                  <a:schemeClr val="accent3"/>
                </a:solidFill>
              </a:rPr>
              <a:t>on track</a:t>
            </a:r>
            <a:r>
              <a:rPr lang="en-US" sz="2200" dirty="0">
                <a:solidFill>
                  <a:schemeClr val="tx1"/>
                </a:solidFill>
              </a:rPr>
              <a:t>.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2.  </a:t>
            </a:r>
            <a:r>
              <a:rPr lang="en-US" sz="2200" dirty="0">
                <a:solidFill>
                  <a:schemeClr val="tx1"/>
                </a:solidFill>
              </a:rPr>
              <a:t>Can you </a:t>
            </a:r>
            <a:r>
              <a:rPr lang="en-US" sz="2200" b="1" dirty="0">
                <a:solidFill>
                  <a:schemeClr val="accent3"/>
                </a:solidFill>
              </a:rPr>
              <a:t>keep me in the loop</a:t>
            </a:r>
            <a:r>
              <a:rPr lang="en-US" sz="2200" dirty="0">
                <a:solidFill>
                  <a:schemeClr val="tx1"/>
                </a:solidFill>
              </a:rPr>
              <a:t> about the basement?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3.  </a:t>
            </a:r>
            <a:r>
              <a:rPr lang="en-US" sz="2200" dirty="0">
                <a:solidFill>
                  <a:schemeClr val="tx1"/>
                </a:solidFill>
              </a:rPr>
              <a:t>The contractor still hasn’t answered — I’ll </a:t>
            </a:r>
            <a:r>
              <a:rPr lang="en-US" sz="2200" b="1" dirty="0">
                <a:solidFill>
                  <a:schemeClr val="accent3"/>
                </a:solidFill>
              </a:rPr>
              <a:t>chase</a:t>
            </a:r>
            <a:r>
              <a:rPr lang="en-US" sz="2200" dirty="0">
                <a:solidFill>
                  <a:schemeClr val="tx1"/>
                </a:solidFill>
              </a:rPr>
              <a:t> him again.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4.  </a:t>
            </a:r>
            <a:r>
              <a:rPr lang="en-US" sz="2200" dirty="0">
                <a:solidFill>
                  <a:schemeClr val="tx1"/>
                </a:solidFill>
              </a:rPr>
              <a:t>The estimate is the real </a:t>
            </a:r>
            <a:r>
              <a:rPr lang="en-US" sz="2200" b="1" dirty="0">
                <a:solidFill>
                  <a:schemeClr val="accent3"/>
                </a:solidFill>
              </a:rPr>
              <a:t>bottleneck</a:t>
            </a:r>
            <a:r>
              <a:rPr lang="en-US" sz="2200" dirty="0">
                <a:solidFill>
                  <a:schemeClr val="tx1"/>
                </a:solidFill>
              </a:rPr>
              <a:t>: nothing can move without it.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5.  </a:t>
            </a:r>
            <a:r>
              <a:rPr lang="en-US" sz="2200" dirty="0">
                <a:solidFill>
                  <a:schemeClr val="tx1"/>
                </a:solidFill>
              </a:rPr>
              <a:t>Let’s </a:t>
            </a:r>
            <a:r>
              <a:rPr lang="en-US" sz="2200" b="1" dirty="0">
                <a:solidFill>
                  <a:schemeClr val="accent3"/>
                </a:solidFill>
              </a:rPr>
              <a:t>touch base</a:t>
            </a:r>
            <a:r>
              <a:rPr lang="en-US" sz="2200" dirty="0">
                <a:solidFill>
                  <a:schemeClr val="tx1"/>
                </a:solidFill>
              </a:rPr>
              <a:t> at noon, before the insurer calls.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6.  </a:t>
            </a:r>
            <a:r>
              <a:rPr lang="en-US" sz="2200" dirty="0">
                <a:solidFill>
                  <a:schemeClr val="tx1"/>
                </a:solidFill>
              </a:rPr>
              <a:t>Is the new colleague </a:t>
            </a:r>
            <a:r>
              <a:rPr lang="en-US" sz="2200" b="1" dirty="0">
                <a:solidFill>
                  <a:schemeClr val="accent3"/>
                </a:solidFill>
              </a:rPr>
              <a:t>up to speed</a:t>
            </a:r>
            <a:r>
              <a:rPr lang="en-US" sz="2200" dirty="0">
                <a:solidFill>
                  <a:schemeClr val="tx1"/>
                </a:solidFill>
              </a:rPr>
              <a:t> on the log?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Thumbs up, thumbs down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394460" cy="310896"/>
          </a:xfrm>
          <a:prstGeom prst="roundRect">
            <a:avLst>
              <a:gd name="adj" fmla="val 14706"/>
            </a:avLst>
          </a:prstGeom>
          <a:solidFill>
            <a:srgbClr val="E8590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ENERGIZER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livret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E8590C">
              <a:alpha val="10000"/>
            </a:srgbClr>
          </a:solidFill>
          <a:ln w="15875">
            <a:solidFill>
              <a:srgbClr val="E8590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9808" y="1892808"/>
            <a:ext cx="658368" cy="658368"/>
          </a:xfrm>
          <a:prstGeom prst="ellipse">
            <a:avLst/>
          </a:prstGeom>
          <a:solidFill>
            <a:srgbClr val="E8590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57400"/>
            <a:ext cx="329184" cy="32918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1819656"/>
            <a:ext cx="99029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8590C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Your teacher reads a situation. Show its status — then say it.</a:t>
            </a:r>
            <a:endParaRPr lang="en-US" sz="2100" dirty="0"/>
          </a:p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Everybody · 4 minutes · hands up, then one sentence</a:t>
            </a:r>
            <a:endParaRPr lang="en-US" sz="2100" dirty="0"/>
          </a:p>
        </p:txBody>
      </p:sp>
      <p:sp>
        <p:nvSpPr>
          <p:cNvPr id="10" name="Shape 6"/>
          <p:cNvSpPr/>
          <p:nvPr/>
        </p:nvSpPr>
        <p:spPr>
          <a:xfrm>
            <a:off x="548640" y="2880360"/>
            <a:ext cx="3514344" cy="2359152"/>
          </a:xfrm>
          <a:prstGeom prst="roundRect">
            <a:avLst>
              <a:gd name="adj" fmla="val 3101"/>
            </a:avLst>
          </a:prstGeom>
          <a:solidFill>
            <a:srgbClr val="3C7A3C">
              <a:alpha val="10000"/>
            </a:srgbClr>
          </a:solidFill>
          <a:ln w="19050">
            <a:solidFill>
              <a:srgbClr val="3C7A3C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881165" y="3063240"/>
            <a:ext cx="849295" cy="849295"/>
          </a:xfrm>
          <a:prstGeom prst="ellipse">
            <a:avLst/>
          </a:prstGeom>
          <a:solidFill>
            <a:srgbClr val="3C7A3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3488" y="3275564"/>
            <a:ext cx="424647" cy="42464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85800" y="4003975"/>
            <a:ext cx="3240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ON TRACK</a:t>
            </a:r>
            <a:endParaRPr lang="en-US" sz="2600" dirty="0"/>
          </a:p>
        </p:txBody>
      </p:sp>
      <p:sp>
        <p:nvSpPr>
          <p:cNvPr id="14" name="Text 9"/>
          <p:cNvSpPr txBox="1"/>
          <p:nvPr/>
        </p:nvSpPr>
        <p:spPr>
          <a:xfrm>
            <a:off x="731520" y="4506895"/>
            <a:ext cx="3148584" cy="641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Thumbs </a:t>
            </a:r>
            <a:r>
              <a:rPr lang="en-US" sz="1700" b="1" dirty="0">
                <a:solidFill>
                  <a:schemeClr val="tx1"/>
                </a:solidFill>
              </a:rPr>
              <a:t>up</a:t>
            </a:r>
            <a:r>
              <a:rPr lang="en-US" sz="1700" dirty="0">
                <a:solidFill>
                  <a:schemeClr val="tx1"/>
                </a:solidFill>
              </a:rPr>
              <a:t>: it is done, or on time.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4337304" y="2880360"/>
            <a:ext cx="3514344" cy="2359152"/>
          </a:xfrm>
          <a:prstGeom prst="roundRect">
            <a:avLst>
              <a:gd name="adj" fmla="val 3101"/>
            </a:avLst>
          </a:prstGeom>
          <a:solidFill>
            <a:srgbClr val="D99A06">
              <a:alpha val="10000"/>
            </a:srgbClr>
          </a:solidFill>
          <a:ln w="19050">
            <a:solidFill>
              <a:srgbClr val="D99A06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669829" y="3063240"/>
            <a:ext cx="849295" cy="849295"/>
          </a:xfrm>
          <a:prstGeom prst="ellipse">
            <a:avLst/>
          </a:prstGeom>
          <a:solidFill>
            <a:srgbClr val="D99A0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2152" y="3275564"/>
            <a:ext cx="424647" cy="424647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4474464" y="4003975"/>
            <a:ext cx="3240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9A0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AT RISK</a:t>
            </a:r>
            <a:endParaRPr lang="en-US" sz="2600" dirty="0"/>
          </a:p>
        </p:txBody>
      </p:sp>
      <p:sp>
        <p:nvSpPr>
          <p:cNvPr id="19" name="Text 13"/>
          <p:cNvSpPr txBox="1"/>
          <p:nvPr/>
        </p:nvSpPr>
        <p:spPr>
          <a:xfrm>
            <a:off x="4520184" y="4506895"/>
            <a:ext cx="3148584" cy="641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Flat </a:t>
            </a:r>
            <a:r>
              <a:rPr lang="en-US" sz="1700" b="1" dirty="0">
                <a:solidFill>
                  <a:schemeClr val="tx1"/>
                </a:solidFill>
              </a:rPr>
              <a:t>hand</a:t>
            </a:r>
            <a:r>
              <a:rPr lang="en-US" sz="1700" dirty="0">
                <a:solidFill>
                  <a:schemeClr val="tx1"/>
                </a:solidFill>
              </a:rPr>
              <a:t>: it is falling behind.</a:t>
            </a:r>
            <a:endParaRPr lang="en-US" sz="1700" dirty="0"/>
          </a:p>
        </p:txBody>
      </p:sp>
      <p:sp>
        <p:nvSpPr>
          <p:cNvPr id="20" name="Shape 14"/>
          <p:cNvSpPr/>
          <p:nvPr/>
        </p:nvSpPr>
        <p:spPr>
          <a:xfrm>
            <a:off x="8125968" y="2880360"/>
            <a:ext cx="3514344" cy="2359152"/>
          </a:xfrm>
          <a:prstGeom prst="roundRect">
            <a:avLst>
              <a:gd name="adj" fmla="val 3101"/>
            </a:avLst>
          </a:prstGeom>
          <a:solidFill>
            <a:srgbClr val="B03A2E">
              <a:alpha val="10000"/>
            </a:srgbClr>
          </a:solidFill>
          <a:ln w="19050">
            <a:solidFill>
              <a:srgbClr val="B03A2E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9458493" y="3063240"/>
            <a:ext cx="849295" cy="849295"/>
          </a:xfrm>
          <a:prstGeom prst="ellipse">
            <a:avLst/>
          </a:prstGeom>
          <a:solidFill>
            <a:srgbClr val="B03A2E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0816" y="3275564"/>
            <a:ext cx="424647" cy="424647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8263128" y="4003975"/>
            <a:ext cx="3240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BLOCKED</a:t>
            </a:r>
            <a:endParaRPr lang="en-US" sz="2600" dirty="0"/>
          </a:p>
        </p:txBody>
      </p:sp>
      <p:sp>
        <p:nvSpPr>
          <p:cNvPr id="24" name="Text 17"/>
          <p:cNvSpPr txBox="1"/>
          <p:nvPr/>
        </p:nvSpPr>
        <p:spPr>
          <a:xfrm>
            <a:off x="8308848" y="4506895"/>
            <a:ext cx="3148584" cy="641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Thumbs </a:t>
            </a:r>
            <a:r>
              <a:rPr lang="en-US" sz="1700" b="1" dirty="0">
                <a:solidFill>
                  <a:schemeClr val="tx1"/>
                </a:solidFill>
              </a:rPr>
              <a:t>down</a:t>
            </a:r>
            <a:r>
              <a:rPr lang="en-US" sz="1700" dirty="0">
                <a:solidFill>
                  <a:schemeClr val="tx1"/>
                </a:solidFill>
              </a:rPr>
              <a:t>: it is the bottleneck.</a:t>
            </a:r>
            <a:endParaRPr lang="en-US" sz="1700" dirty="0"/>
          </a:p>
        </p:txBody>
      </p:sp>
      <p:sp>
        <p:nvSpPr>
          <p:cNvPr id="25" name="Text 18"/>
          <p:cNvSpPr txBox="1"/>
          <p:nvPr/>
        </p:nvSpPr>
        <p:spPr>
          <a:xfrm>
            <a:off x="640080" y="5422392"/>
            <a:ext cx="1090879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E8590C"/>
                </a:solidFill>
              </a:rPr>
              <a:t>1.  </a:t>
            </a:r>
            <a:r>
              <a:rPr lang="en-US" sz="1600" dirty="0">
                <a:solidFill>
                  <a:schemeClr val="tx1"/>
                </a:solidFill>
              </a:rPr>
              <a:t>All hands go up </a:t>
            </a:r>
            <a:r>
              <a:rPr lang="en-US" sz="1600" b="1" dirty="0">
                <a:solidFill>
                  <a:schemeClr val="tx1"/>
                </a:solidFill>
              </a:rPr>
              <a:t>at the same time</a:t>
            </a:r>
            <a:r>
              <a:rPr lang="en-US" sz="1600" dirty="0">
                <a:solidFill>
                  <a:schemeClr val="tx1"/>
                </a:solidFill>
              </a:rPr>
              <a:t> — on “three, two, one, show!”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E8590C"/>
                </a:solidFill>
              </a:rPr>
              <a:t>2.  </a:t>
            </a:r>
            <a:r>
              <a:rPr lang="en-US" sz="1600" dirty="0">
                <a:solidFill>
                  <a:schemeClr val="tx1"/>
                </a:solidFill>
              </a:rPr>
              <a:t>One student says the status in a sentence: </a:t>
            </a:r>
            <a:r>
              <a:rPr lang="en-US" sz="1600" i="1" dirty="0">
                <a:solidFill>
                  <a:schemeClr val="tx1"/>
                </a:solidFill>
              </a:rPr>
              <a:t>It’s on track. / It has fallen behind. / It’s the bottleneck.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Thumbs up, thumbs down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394460" cy="310896"/>
          </a:xfrm>
          <a:prstGeom prst="roundRect">
            <a:avLst>
              <a:gd name="adj" fmla="val 14706"/>
            </a:avLst>
          </a:prstGeom>
          <a:solidFill>
            <a:srgbClr val="E8590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ENERGIZER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2052828" y="384048"/>
            <a:ext cx="1874520" cy="310896"/>
          </a:xfrm>
          <a:prstGeom prst="roundRect">
            <a:avLst>
              <a:gd name="adj" fmla="val 14706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livret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27632"/>
            <a:ext cx="1109167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Thumbs up = </a:t>
            </a:r>
            <a:r>
              <a:rPr lang="en-US" sz="1600" b="1" i="1" dirty="0">
                <a:solidFill>
                  <a:schemeClr val="accent5"/>
                </a:solidFill>
              </a:rPr>
              <a:t>on track</a:t>
            </a:r>
            <a:r>
              <a:rPr lang="en-US" sz="1600" i="1" dirty="0">
                <a:solidFill>
                  <a:schemeClr val="accent5"/>
                </a:solidFill>
              </a:rPr>
              <a:t> · flat hand = </a:t>
            </a:r>
            <a:r>
              <a:rPr lang="en-US" sz="1600" b="1" i="1" dirty="0">
                <a:solidFill>
                  <a:schemeClr val="accent5"/>
                </a:solidFill>
              </a:rPr>
              <a:t>at risk</a:t>
            </a:r>
            <a:r>
              <a:rPr lang="en-US" sz="1600" i="1" dirty="0">
                <a:solidFill>
                  <a:schemeClr val="accent5"/>
                </a:solidFill>
              </a:rPr>
              <a:t> · thumbs down = </a:t>
            </a:r>
            <a:r>
              <a:rPr lang="en-US" sz="1600" b="1" i="1" dirty="0">
                <a:solidFill>
                  <a:schemeClr val="accent5"/>
                </a:solidFill>
              </a:rPr>
              <a:t>blocked</a:t>
            </a:r>
            <a:r>
              <a:rPr lang="en-US" sz="1600" i="1" dirty="0">
                <a:solidFill>
                  <a:schemeClr val="accent5"/>
                </a:solidFill>
              </a:rPr>
              <a:t>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237232"/>
            <a:ext cx="5408676" cy="685800"/>
          </a:xfrm>
          <a:prstGeom prst="roundRect">
            <a:avLst>
              <a:gd name="adj" fmla="val 10667"/>
            </a:avLst>
          </a:prstGeom>
          <a:solidFill>
            <a:srgbClr val="3C7A3C">
              <a:alpha val="7000"/>
            </a:srgbClr>
          </a:solidFill>
          <a:ln w="9525">
            <a:solidFill>
              <a:srgbClr val="3C7A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2378964"/>
            <a:ext cx="402336" cy="402336"/>
          </a:xfrm>
          <a:prstGeom prst="ellipse">
            <a:avLst/>
          </a:prstGeom>
          <a:solidFill>
            <a:srgbClr val="3C7A3C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2479548"/>
            <a:ext cx="201168" cy="20116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188720" y="2237232"/>
            <a:ext cx="32598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Iris has already taken all the photos.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4448556" y="2237232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ON TRACK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3014472"/>
            <a:ext cx="5408676" cy="685800"/>
          </a:xfrm>
          <a:prstGeom prst="roundRect">
            <a:avLst>
              <a:gd name="adj" fmla="val 10667"/>
            </a:avLst>
          </a:prstGeom>
          <a:solidFill>
            <a:srgbClr val="B03A2E">
              <a:alpha val="7000"/>
            </a:srgbClr>
          </a:solidFill>
          <a:ln w="9525">
            <a:solidFill>
              <a:srgbClr val="B03A2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8368" y="3156204"/>
            <a:ext cx="402336" cy="402336"/>
          </a:xfrm>
          <a:prstGeom prst="ellipse">
            <a:avLst/>
          </a:prstGeom>
          <a:solidFill>
            <a:srgbClr val="B03A2E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3256788"/>
            <a:ext cx="201168" cy="20116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188720" y="3014472"/>
            <a:ext cx="32598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The estimate hasn’t arrived — nothing can move without it.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4448556" y="3014472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BLOCKED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548640" y="3791712"/>
            <a:ext cx="5408676" cy="685800"/>
          </a:xfrm>
          <a:prstGeom prst="roundRect">
            <a:avLst>
              <a:gd name="adj" fmla="val 10667"/>
            </a:avLst>
          </a:prstGeom>
          <a:solidFill>
            <a:srgbClr val="D99A06">
              <a:alpha val="7000"/>
            </a:srgbClr>
          </a:solidFill>
          <a:ln w="9525">
            <a:solidFill>
              <a:srgbClr val="D99A06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58368" y="3933444"/>
            <a:ext cx="402336" cy="402336"/>
          </a:xfrm>
          <a:prstGeom prst="ellipse">
            <a:avLst/>
          </a:prstGeom>
          <a:solidFill>
            <a:srgbClr val="D99A06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4034028"/>
            <a:ext cx="201168" cy="20116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188720" y="3791712"/>
            <a:ext cx="32598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The contractor is late, but he promised his statement for noon.</a:t>
            </a:r>
            <a:endParaRPr lang="en-US" sz="1700" dirty="0"/>
          </a:p>
        </p:txBody>
      </p:sp>
      <p:sp>
        <p:nvSpPr>
          <p:cNvPr id="21" name="Text 16"/>
          <p:cNvSpPr txBox="1"/>
          <p:nvPr/>
        </p:nvSpPr>
        <p:spPr>
          <a:xfrm>
            <a:off x="4448556" y="3791712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99A06"/>
                </a:solidFill>
              </a:rPr>
              <a:t>AT RISK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548640" y="4568952"/>
            <a:ext cx="5408676" cy="685800"/>
          </a:xfrm>
          <a:prstGeom prst="roundRect">
            <a:avLst>
              <a:gd name="adj" fmla="val 10667"/>
            </a:avLst>
          </a:prstGeom>
          <a:solidFill>
            <a:srgbClr val="3C7A3C">
              <a:alpha val="7000"/>
            </a:srgbClr>
          </a:solidFill>
          <a:ln w="9525">
            <a:solidFill>
              <a:srgbClr val="3C7A3C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58368" y="4710684"/>
            <a:ext cx="402336" cy="402336"/>
          </a:xfrm>
          <a:prstGeom prst="ellipse">
            <a:avLst/>
          </a:prstGeom>
          <a:solidFill>
            <a:srgbClr val="3C7A3C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4811268"/>
            <a:ext cx="201168" cy="201168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188720" y="4568952"/>
            <a:ext cx="32598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Samuel has restored the service.</a:t>
            </a:r>
            <a:endParaRPr lang="en-US" sz="1700" dirty="0"/>
          </a:p>
        </p:txBody>
      </p:sp>
      <p:sp>
        <p:nvSpPr>
          <p:cNvPr id="26" name="Text 20"/>
          <p:cNvSpPr txBox="1"/>
          <p:nvPr/>
        </p:nvSpPr>
        <p:spPr>
          <a:xfrm>
            <a:off x="4448556" y="4568952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ON TRACK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548640" y="5346192"/>
            <a:ext cx="5408676" cy="685800"/>
          </a:xfrm>
          <a:prstGeom prst="roundRect">
            <a:avLst>
              <a:gd name="adj" fmla="val 10667"/>
            </a:avLst>
          </a:prstGeom>
          <a:solidFill>
            <a:srgbClr val="B03A2E">
              <a:alpha val="7000"/>
            </a:srgbClr>
          </a:solidFill>
          <a:ln w="9525">
            <a:solidFill>
              <a:srgbClr val="B03A2E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658368" y="5487924"/>
            <a:ext cx="402336" cy="402336"/>
          </a:xfrm>
          <a:prstGeom prst="ellipse">
            <a:avLst/>
          </a:prstGeom>
          <a:solidFill>
            <a:srgbClr val="B03A2E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" y="5588508"/>
            <a:ext cx="201168" cy="201168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188720" y="5346192"/>
            <a:ext cx="32598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Nobody can enter the basement: the door is locked.</a:t>
            </a:r>
            <a:endParaRPr lang="en-US" sz="1700" dirty="0"/>
          </a:p>
        </p:txBody>
      </p:sp>
      <p:sp>
        <p:nvSpPr>
          <p:cNvPr id="31" name="Text 24"/>
          <p:cNvSpPr txBox="1"/>
          <p:nvPr/>
        </p:nvSpPr>
        <p:spPr>
          <a:xfrm>
            <a:off x="4448556" y="5346192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BLOCKED</a:t>
            </a:r>
            <a:endParaRPr lang="en-US" sz="1300" dirty="0"/>
          </a:p>
        </p:txBody>
      </p:sp>
      <p:sp>
        <p:nvSpPr>
          <p:cNvPr id="32" name="Shape 25"/>
          <p:cNvSpPr/>
          <p:nvPr/>
        </p:nvSpPr>
        <p:spPr>
          <a:xfrm>
            <a:off x="6231636" y="2237232"/>
            <a:ext cx="5408676" cy="685800"/>
          </a:xfrm>
          <a:prstGeom prst="roundRect">
            <a:avLst>
              <a:gd name="adj" fmla="val 10667"/>
            </a:avLst>
          </a:prstGeom>
          <a:solidFill>
            <a:srgbClr val="D99A06">
              <a:alpha val="7000"/>
            </a:srgbClr>
          </a:solidFill>
          <a:ln w="9525">
            <a:solidFill>
              <a:srgbClr val="D99A06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6341364" y="2378964"/>
            <a:ext cx="402336" cy="402336"/>
          </a:xfrm>
          <a:prstGeom prst="ellipse">
            <a:avLst/>
          </a:prstGeom>
          <a:solidFill>
            <a:srgbClr val="D99A06"/>
          </a:solidFill>
          <a:ln/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1948" y="2479548"/>
            <a:ext cx="201168" cy="201168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6871716" y="2237232"/>
            <a:ext cx="32598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The insurer has called twice; we haven’t answered yet.</a:t>
            </a:r>
            <a:endParaRPr lang="en-US" sz="1700" dirty="0"/>
          </a:p>
        </p:txBody>
      </p:sp>
      <p:sp>
        <p:nvSpPr>
          <p:cNvPr id="36" name="Text 28"/>
          <p:cNvSpPr txBox="1"/>
          <p:nvPr/>
        </p:nvSpPr>
        <p:spPr>
          <a:xfrm>
            <a:off x="10131552" y="2237232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99A06"/>
                </a:solidFill>
              </a:rPr>
              <a:t>AT RISK</a:t>
            </a:r>
            <a:endParaRPr lang="en-US" sz="1300" dirty="0"/>
          </a:p>
        </p:txBody>
      </p:sp>
      <p:sp>
        <p:nvSpPr>
          <p:cNvPr id="37" name="Shape 29"/>
          <p:cNvSpPr/>
          <p:nvPr/>
        </p:nvSpPr>
        <p:spPr>
          <a:xfrm>
            <a:off x="6231636" y="3014472"/>
            <a:ext cx="5408676" cy="685800"/>
          </a:xfrm>
          <a:prstGeom prst="roundRect">
            <a:avLst>
              <a:gd name="adj" fmla="val 10667"/>
            </a:avLst>
          </a:prstGeom>
          <a:solidFill>
            <a:srgbClr val="3C7A3C">
              <a:alpha val="7000"/>
            </a:srgbClr>
          </a:solidFill>
          <a:ln w="9525">
            <a:solidFill>
              <a:srgbClr val="3C7A3C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6341364" y="3156204"/>
            <a:ext cx="402336" cy="402336"/>
          </a:xfrm>
          <a:prstGeom prst="ellipse">
            <a:avLst/>
          </a:prstGeom>
          <a:solidFill>
            <a:srgbClr val="3C7A3C"/>
          </a:solidFill>
          <a:ln/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1948" y="3256788"/>
            <a:ext cx="201168" cy="201168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6871716" y="3014472"/>
            <a:ext cx="32598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The timeline is finished and checked.</a:t>
            </a:r>
            <a:endParaRPr lang="en-US" sz="1700" dirty="0"/>
          </a:p>
        </p:txBody>
      </p:sp>
      <p:sp>
        <p:nvSpPr>
          <p:cNvPr id="41" name="Text 32"/>
          <p:cNvSpPr txBox="1"/>
          <p:nvPr/>
        </p:nvSpPr>
        <p:spPr>
          <a:xfrm>
            <a:off x="10131552" y="3014472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ON TRACK</a:t>
            </a:r>
            <a:endParaRPr lang="en-US" sz="1300" dirty="0"/>
          </a:p>
        </p:txBody>
      </p:sp>
      <p:sp>
        <p:nvSpPr>
          <p:cNvPr id="42" name="Shape 33"/>
          <p:cNvSpPr/>
          <p:nvPr/>
        </p:nvSpPr>
        <p:spPr>
          <a:xfrm>
            <a:off x="6231636" y="3791712"/>
            <a:ext cx="5408676" cy="685800"/>
          </a:xfrm>
          <a:prstGeom prst="roundRect">
            <a:avLst>
              <a:gd name="adj" fmla="val 10667"/>
            </a:avLst>
          </a:prstGeom>
          <a:solidFill>
            <a:srgbClr val="B03A2E">
              <a:alpha val="7000"/>
            </a:srgbClr>
          </a:solidFill>
          <a:ln w="9525">
            <a:solidFill>
              <a:srgbClr val="B03A2E"/>
            </a:solidFill>
            <a:prstDash val="solid"/>
          </a:ln>
        </p:spPr>
      </p:sp>
      <p:sp>
        <p:nvSpPr>
          <p:cNvPr id="43" name="Shape 34"/>
          <p:cNvSpPr/>
          <p:nvPr/>
        </p:nvSpPr>
        <p:spPr>
          <a:xfrm>
            <a:off x="6341364" y="3933444"/>
            <a:ext cx="402336" cy="402336"/>
          </a:xfrm>
          <a:prstGeom prst="ellipse">
            <a:avLst/>
          </a:prstGeom>
          <a:solidFill>
            <a:srgbClr val="B03A2E"/>
          </a:solidFill>
          <a:ln/>
        </p:spPr>
      </p:sp>
      <p:pic>
        <p:nvPicPr>
          <p:cNvPr id="4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1948" y="4034028"/>
            <a:ext cx="201168" cy="201168"/>
          </a:xfrm>
          <a:prstGeom prst="rect">
            <a:avLst/>
          </a:prstGeom>
        </p:spPr>
      </p:pic>
      <p:sp>
        <p:nvSpPr>
          <p:cNvPr id="45" name="Text 35"/>
          <p:cNvSpPr txBox="1"/>
          <p:nvPr/>
        </p:nvSpPr>
        <p:spPr>
          <a:xfrm>
            <a:off x="6871716" y="3791712"/>
            <a:ext cx="32598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Legal can’t send the letter until the contractor signs.</a:t>
            </a:r>
            <a:endParaRPr lang="en-US" sz="1700" dirty="0"/>
          </a:p>
        </p:txBody>
      </p:sp>
      <p:sp>
        <p:nvSpPr>
          <p:cNvPr id="46" name="Text 36"/>
          <p:cNvSpPr txBox="1"/>
          <p:nvPr/>
        </p:nvSpPr>
        <p:spPr>
          <a:xfrm>
            <a:off x="10131552" y="3791712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BLOCKED</a:t>
            </a:r>
            <a:endParaRPr lang="en-US" sz="1300" dirty="0"/>
          </a:p>
        </p:txBody>
      </p:sp>
      <p:sp>
        <p:nvSpPr>
          <p:cNvPr id="47" name="Shape 37"/>
          <p:cNvSpPr/>
          <p:nvPr/>
        </p:nvSpPr>
        <p:spPr>
          <a:xfrm>
            <a:off x="6231636" y="4568952"/>
            <a:ext cx="5408676" cy="685800"/>
          </a:xfrm>
          <a:prstGeom prst="roundRect">
            <a:avLst>
              <a:gd name="adj" fmla="val 10667"/>
            </a:avLst>
          </a:prstGeom>
          <a:solidFill>
            <a:srgbClr val="D99A06">
              <a:alpha val="7000"/>
            </a:srgbClr>
          </a:solidFill>
          <a:ln w="9525">
            <a:solidFill>
              <a:srgbClr val="D99A06"/>
            </a:solidFill>
            <a:prstDash val="solid"/>
          </a:ln>
        </p:spPr>
      </p:sp>
      <p:sp>
        <p:nvSpPr>
          <p:cNvPr id="48" name="Shape 38"/>
          <p:cNvSpPr/>
          <p:nvPr/>
        </p:nvSpPr>
        <p:spPr>
          <a:xfrm>
            <a:off x="6341364" y="4710684"/>
            <a:ext cx="402336" cy="402336"/>
          </a:xfrm>
          <a:prstGeom prst="ellipse">
            <a:avLst/>
          </a:prstGeom>
          <a:solidFill>
            <a:srgbClr val="D99A06"/>
          </a:solidFill>
          <a:ln/>
        </p:spPr>
      </p:sp>
      <p:pic>
        <p:nvPicPr>
          <p:cNvPr id="4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1948" y="4811268"/>
            <a:ext cx="201168" cy="201168"/>
          </a:xfrm>
          <a:prstGeom prst="rect">
            <a:avLst/>
          </a:prstGeom>
        </p:spPr>
      </p:pic>
      <p:sp>
        <p:nvSpPr>
          <p:cNvPr id="50" name="Text 39"/>
          <p:cNvSpPr txBox="1"/>
          <p:nvPr/>
        </p:nvSpPr>
        <p:spPr>
          <a:xfrm>
            <a:off x="6871716" y="4568952"/>
            <a:ext cx="32598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The photos are uploaded, but not labelled yet.</a:t>
            </a:r>
            <a:endParaRPr lang="en-US" sz="1700" dirty="0"/>
          </a:p>
        </p:txBody>
      </p:sp>
      <p:sp>
        <p:nvSpPr>
          <p:cNvPr id="51" name="Text 40"/>
          <p:cNvSpPr txBox="1"/>
          <p:nvPr/>
        </p:nvSpPr>
        <p:spPr>
          <a:xfrm>
            <a:off x="10131552" y="4568952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99A06"/>
                </a:solidFill>
              </a:rPr>
              <a:t>AT RISK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Write the ten o’clock update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394460" cy="310896"/>
          </a:xfrm>
          <a:prstGeom prst="roundRect">
            <a:avLst>
              <a:gd name="adj" fmla="val 14706"/>
            </a:avLst>
          </a:prstGeom>
          <a:solidFill>
            <a:srgbClr val="C075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YOUR MOVE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20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27632"/>
            <a:ext cx="1109167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Five lines, continuous text, no bullet points. You may start with: </a:t>
            </a:r>
            <a:r>
              <a:rPr lang="en-US" sz="1600" i="1" dirty="0">
                <a:solidFill>
                  <a:schemeClr val="accent5"/>
                </a:solidFill>
              </a:rPr>
              <a:t>“Here is where we stand at ten o’clock.”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0080" y="2237232"/>
            <a:ext cx="4206240" cy="4072128"/>
          </a:xfrm>
          <a:prstGeom prst="roundRect">
            <a:avLst>
              <a:gd name="adj" fmla="val 7186"/>
            </a:avLst>
          </a:prstGeom>
          <a:solidFill>
            <a:srgbClr val="1B2333"/>
          </a:solidFill>
          <a:ln/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49808" y="2365248"/>
            <a:ext cx="3986784" cy="3816096"/>
          </a:xfrm>
          <a:prstGeom prst="roundRect">
            <a:avLst>
              <a:gd name="adj" fmla="val 5751"/>
            </a:avLst>
          </a:prstGeom>
          <a:solidFill>
            <a:srgbClr val="ECE5DD"/>
          </a:solidFill>
          <a:ln/>
        </p:spPr>
      </p:sp>
      <p:sp>
        <p:nvSpPr>
          <p:cNvPr id="9" name="Shape 6"/>
          <p:cNvSpPr/>
          <p:nvPr/>
        </p:nvSpPr>
        <p:spPr>
          <a:xfrm>
            <a:off x="749808" y="2365248"/>
            <a:ext cx="3986784" cy="566928"/>
          </a:xfrm>
          <a:prstGeom prst="roundRect">
            <a:avLst>
              <a:gd name="adj" fmla="val 38710"/>
            </a:avLst>
          </a:prstGeom>
          <a:solidFill>
            <a:srgbClr val="1F3864"/>
          </a:solidFill>
          <a:ln/>
        </p:spPr>
      </p:sp>
      <p:sp>
        <p:nvSpPr>
          <p:cNvPr id="10" name="Shape 7"/>
          <p:cNvSpPr/>
          <p:nvPr/>
        </p:nvSpPr>
        <p:spPr>
          <a:xfrm>
            <a:off x="749808" y="2731008"/>
            <a:ext cx="3986784" cy="201168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1" name="Shape 8"/>
          <p:cNvSpPr/>
          <p:nvPr/>
        </p:nvSpPr>
        <p:spPr>
          <a:xfrm>
            <a:off x="2331720" y="2365248"/>
            <a:ext cx="822960" cy="91440"/>
          </a:xfrm>
          <a:prstGeom prst="roundRect">
            <a:avLst>
              <a:gd name="adj" fmla="val 50000"/>
            </a:avLst>
          </a:prstGeom>
          <a:solidFill>
            <a:srgbClr val="1B2333"/>
          </a:solidFill>
          <a:ln/>
        </p:spPr>
      </p:sp>
      <p:sp>
        <p:nvSpPr>
          <p:cNvPr id="12" name="Shape 9"/>
          <p:cNvSpPr/>
          <p:nvPr/>
        </p:nvSpPr>
        <p:spPr>
          <a:xfrm>
            <a:off x="859536" y="2474976"/>
            <a:ext cx="384048" cy="384048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" y="2570988"/>
            <a:ext cx="192024" cy="19202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316736" y="2420112"/>
            <a:ext cx="33467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Atlas House — incident team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D5DCE6"/>
                </a:solidFill>
              </a:rPr>
              <a:t>9 members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86968" y="3051048"/>
            <a:ext cx="2969971" cy="1103376"/>
          </a:xfrm>
          <a:prstGeom prst="roundRect">
            <a:avLst>
              <a:gd name="adj" fmla="val 82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5400000">
              <a:srgbClr val="000000">
                <a:alpha val="12000"/>
              </a:srgbClr>
            </a:outerShdw>
          </a:effectLst>
        </p:spPr>
      </p:sp>
      <p:sp>
        <p:nvSpPr>
          <p:cNvPr id="16" name="Text 12"/>
          <p:cNvSpPr txBox="1"/>
          <p:nvPr/>
        </p:nvSpPr>
        <p:spPr>
          <a:xfrm>
            <a:off x="996696" y="3105912"/>
            <a:ext cx="2750515" cy="993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</a:rPr>
              <a:t>Mark:  </a:t>
            </a:r>
            <a:r>
              <a:rPr lang="en-US" sz="1600" dirty="0">
                <a:solidFill>
                  <a:schemeClr val="tx1"/>
                </a:solidFill>
              </a:rPr>
              <a:t>Ten o’clock update, please. Five lines — nine people will read it on their phones.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1629461" y="4227576"/>
            <a:ext cx="2969971" cy="1862328"/>
          </a:xfrm>
          <a:prstGeom prst="roundRect">
            <a:avLst>
              <a:gd name="adj" fmla="val 4910"/>
            </a:avLst>
          </a:prstGeom>
          <a:solidFill>
            <a:srgbClr val="FFFFFF">
              <a:alpha val="70000"/>
            </a:srgbClr>
          </a:solidFill>
          <a:ln w="15875">
            <a:solidFill>
              <a:srgbClr val="6FAE5A"/>
            </a:solidFill>
            <a:prstDash val="dash"/>
          </a:ln>
        </p:spPr>
      </p:sp>
      <p:sp>
        <p:nvSpPr>
          <p:cNvPr id="18" name="Text 14"/>
          <p:cNvSpPr txBox="1"/>
          <p:nvPr/>
        </p:nvSpPr>
        <p:spPr>
          <a:xfrm>
            <a:off x="1739189" y="4227576"/>
            <a:ext cx="2750515" cy="1862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FAE5A"/>
                </a:solidFill>
              </a:rPr>
              <a:t>Your reply…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5257800" y="2237232"/>
            <a:ext cx="6382512" cy="4072128"/>
          </a:xfrm>
          <a:prstGeom prst="roundRect">
            <a:avLst>
              <a:gd name="adj" fmla="val 1796"/>
            </a:avLst>
          </a:prstGeom>
          <a:solidFill>
            <a:srgbClr val="C0752A">
              <a:alpha val="8000"/>
            </a:srgbClr>
          </a:solidFill>
          <a:ln w="9525">
            <a:solidFill>
              <a:srgbClr val="C0752A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8968" y="2420112"/>
            <a:ext cx="310896" cy="310896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5879592" y="2383536"/>
            <a:ext cx="5605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1"/>
                </a:solidFill>
              </a:rPr>
              <a:t>YOUR UPDATE MUST HAVE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5486400" y="2923032"/>
            <a:ext cx="5971032" cy="3249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2 ×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i="1" dirty="0">
                <a:solidFill>
                  <a:schemeClr val="tx1"/>
                </a:solidFill>
              </a:rPr>
              <a:t>already</a:t>
            </a:r>
            <a:endParaRPr lang="en-US" sz="18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2 ×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i="1" dirty="0">
                <a:solidFill>
                  <a:schemeClr val="tx1"/>
                </a:solidFill>
              </a:rPr>
              <a:t>not … yet</a:t>
            </a:r>
            <a:endParaRPr lang="en-US" sz="18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1 ×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i="1" dirty="0">
                <a:solidFill>
                  <a:schemeClr val="tx1"/>
                </a:solidFill>
              </a:rPr>
              <a:t>just</a:t>
            </a:r>
            <a:endParaRPr lang="en-US" sz="18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2</a:t>
            </a:r>
            <a:r>
              <a:rPr lang="en-US" sz="1800" dirty="0">
                <a:solidFill>
                  <a:schemeClr val="tx1"/>
                </a:solidFill>
              </a:rPr>
              <a:t> expressions from the traffic light</a:t>
            </a:r>
            <a:endParaRPr lang="en-US" sz="18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no</a:t>
            </a:r>
            <a:r>
              <a:rPr lang="en-US" sz="1800" dirty="0">
                <a:solidFill>
                  <a:schemeClr val="tx1"/>
                </a:solidFill>
              </a:rPr>
              <a:t> clock time with the present perfect</a:t>
            </a:r>
            <a:endParaRPr lang="en-US" sz="18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five lines</a:t>
            </a:r>
            <a:r>
              <a:rPr lang="en-US" sz="1800" dirty="0">
                <a:solidFill>
                  <a:schemeClr val="tx1"/>
                </a:solidFill>
              </a:rPr>
              <a:t> — it is read on a phone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One possible update — and where it comes from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051560" cy="310896"/>
          </a:xfrm>
          <a:prstGeom prst="roundRect">
            <a:avLst>
              <a:gd name="adj" fmla="val 14706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BRIDGE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20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676656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7" name="tag"/>
          <p:cNvSpPr/>
          <p:nvPr/>
        </p:nvSpPr>
        <p:spPr>
          <a:xfrm>
            <a:off x="822960" y="1965960"/>
            <a:ext cx="1051560" cy="310896"/>
          </a:xfrm>
          <a:prstGeom prst="roundRect">
            <a:avLst>
              <a:gd name="adj" fmla="val 14706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UPDATE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2103120" y="1929384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5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Ten o’clock update — Atlas House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822960" y="2468880"/>
            <a:ext cx="6217920" cy="0"/>
          </a:xfrm>
          <a:prstGeom prst="line">
            <a:avLst/>
          </a:prstGeom>
          <a:noFill/>
          <a:ln w="12700">
            <a:solidFill>
              <a:srgbClr val="44546A"/>
            </a:solidFill>
            <a:prstDash val="dash"/>
          </a:ln>
        </p:spPr>
      </p:sp>
      <p:sp>
        <p:nvSpPr>
          <p:cNvPr id="10" name="Text 7"/>
          <p:cNvSpPr txBox="1"/>
          <p:nvPr/>
        </p:nvSpPr>
        <p:spPr>
          <a:xfrm>
            <a:off x="868680" y="2606040"/>
            <a:ext cx="61264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Here is where we stand at ten o’clock.</a:t>
            </a:r>
            <a:endParaRPr lang="en-US" sz="1800" dirty="0"/>
          </a:p>
          <a:p>
            <a:pPr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Iris has </a:t>
            </a:r>
            <a:r>
              <a:rPr lang="en-US" sz="1800" b="1" dirty="0">
                <a:solidFill>
                  <a:schemeClr val="accent3"/>
                </a:solidFill>
                <a:highlight>
                  <a:srgbClr val="D9EDD5"/>
                </a:highlight>
              </a:rPr>
              <a:t>already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b="1" dirty="0">
                <a:solidFill>
                  <a:srgbClr val="FFFFFF"/>
                </a:solidFill>
                <a:highlight>
                  <a:srgbClr val="C0752A"/>
                </a:highlight>
              </a:rPr>
              <a:t> 1 </a:t>
            </a:r>
            <a:r>
              <a:rPr lang="en-US" sz="1800" dirty="0">
                <a:solidFill>
                  <a:schemeClr val="tx1"/>
                </a:solidFill>
              </a:rPr>
              <a:t> taken the photographs of the ceiling and the floor, and Samuel has </a:t>
            </a:r>
            <a:r>
              <a:rPr lang="en-US" sz="1800" b="1" dirty="0">
                <a:solidFill>
                  <a:schemeClr val="accent3"/>
                </a:solidFill>
                <a:highlight>
                  <a:srgbClr val="D9EDD5"/>
                </a:highlight>
              </a:rPr>
              <a:t>already</a:t>
            </a:r>
            <a:r>
              <a:rPr lang="en-US" sz="1800" dirty="0">
                <a:solidFill>
                  <a:schemeClr val="tx1"/>
                </a:solidFill>
              </a:rPr>
              <a:t> checked the alarm log, so the timeline is </a:t>
            </a:r>
            <a:r>
              <a:rPr lang="en-US" sz="1800" b="1" dirty="0">
                <a:solidFill>
                  <a:schemeClr val="accent3"/>
                </a:solidFill>
                <a:highlight>
                  <a:srgbClr val="D9EDD5"/>
                </a:highlight>
              </a:rPr>
              <a:t>on track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b="1" dirty="0">
                <a:solidFill>
                  <a:srgbClr val="FFFFFF"/>
                </a:solidFill>
                <a:highlight>
                  <a:srgbClr val="C0752A"/>
                </a:highlight>
              </a:rPr>
              <a:t> 2 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Samuel has </a:t>
            </a:r>
            <a:r>
              <a:rPr lang="en-US" sz="1800" b="1" dirty="0">
                <a:solidFill>
                  <a:schemeClr val="accent3"/>
                </a:solidFill>
                <a:highlight>
                  <a:srgbClr val="D9EDD5"/>
                </a:highlight>
              </a:rPr>
              <a:t>just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b="1" dirty="0">
                <a:solidFill>
                  <a:schemeClr val="accent3"/>
                </a:solidFill>
                <a:highlight>
                  <a:srgbClr val="D9EDD5"/>
                </a:highlight>
              </a:rPr>
              <a:t>confirmed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b="1" dirty="0">
                <a:solidFill>
                  <a:srgbClr val="FFFFFF"/>
                </a:solidFill>
                <a:highlight>
                  <a:srgbClr val="C0752A"/>
                </a:highlight>
              </a:rPr>
              <a:t> 5 </a:t>
            </a:r>
            <a:r>
              <a:rPr lang="en-US" sz="1800" dirty="0">
                <a:solidFill>
                  <a:schemeClr val="tx1"/>
                </a:solidFill>
              </a:rPr>
              <a:t> that unit 3 shut down during the night.</a:t>
            </a:r>
            <a:endParaRPr lang="en-US" sz="1800" dirty="0"/>
          </a:p>
          <a:p>
            <a:pPr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However, we have </a:t>
            </a:r>
            <a:r>
              <a:rPr lang="en-US" sz="1800" b="1" dirty="0">
                <a:solidFill>
                  <a:schemeClr val="accent3"/>
                </a:solidFill>
                <a:highlight>
                  <a:srgbClr val="D9EDD5"/>
                </a:highlight>
              </a:rPr>
              <a:t>not</a:t>
            </a:r>
            <a:r>
              <a:rPr lang="en-US" sz="1800" dirty="0">
                <a:solidFill>
                  <a:schemeClr val="tx1"/>
                </a:solidFill>
              </a:rPr>
              <a:t> inspected the basement </a:t>
            </a:r>
            <a:r>
              <a:rPr lang="en-US" sz="1800" b="1" dirty="0">
                <a:solidFill>
                  <a:schemeClr val="accent3"/>
                </a:solidFill>
                <a:highlight>
                  <a:srgbClr val="D9EDD5"/>
                </a:highlight>
              </a:rPr>
              <a:t>yet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b="1" dirty="0">
                <a:solidFill>
                  <a:srgbClr val="FFFFFF"/>
                </a:solidFill>
                <a:highlight>
                  <a:srgbClr val="C0752A"/>
                </a:highlight>
              </a:rPr>
              <a:t> 3 </a:t>
            </a:r>
            <a:r>
              <a:rPr lang="en-US" sz="1800" dirty="0">
                <a:solidFill>
                  <a:schemeClr val="tx1"/>
                </a:solidFill>
              </a:rPr>
              <a:t>, and the contractor has </a:t>
            </a:r>
            <a:r>
              <a:rPr lang="en-US" sz="1800" b="1" dirty="0">
                <a:solidFill>
                  <a:schemeClr val="accent3"/>
                </a:solidFill>
                <a:highlight>
                  <a:srgbClr val="D9EDD5"/>
                </a:highlight>
              </a:rPr>
              <a:t>not</a:t>
            </a:r>
            <a:r>
              <a:rPr lang="en-US" sz="1800" dirty="0">
                <a:solidFill>
                  <a:schemeClr val="tx1"/>
                </a:solidFill>
              </a:rPr>
              <a:t> sent his written statement </a:t>
            </a:r>
            <a:r>
              <a:rPr lang="en-US" sz="1800" b="1" dirty="0">
                <a:solidFill>
                  <a:schemeClr val="accent3"/>
                </a:solidFill>
                <a:highlight>
                  <a:srgbClr val="D9EDD5"/>
                </a:highlight>
              </a:rPr>
              <a:t>yet</a:t>
            </a:r>
            <a:r>
              <a:rPr lang="en-US" sz="1800" dirty="0">
                <a:solidFill>
                  <a:schemeClr val="tx1"/>
                </a:solidFill>
              </a:rPr>
              <a:t> — I </a:t>
            </a:r>
            <a:r>
              <a:rPr lang="en-US" sz="1800" b="1" dirty="0">
                <a:solidFill>
                  <a:schemeClr val="accent3"/>
                </a:solidFill>
                <a:highlight>
                  <a:srgbClr val="D9EDD5"/>
                </a:highlight>
              </a:rPr>
              <a:t>have chased</a:t>
            </a:r>
            <a:r>
              <a:rPr lang="en-US" sz="1800" dirty="0">
                <a:solidFill>
                  <a:schemeClr val="tx1"/>
                </a:solidFill>
              </a:rPr>
              <a:t> him twice this morning </a:t>
            </a:r>
            <a:r>
              <a:rPr lang="en-US" sz="1800" b="1" dirty="0">
                <a:solidFill>
                  <a:srgbClr val="FFFFFF"/>
                </a:solidFill>
                <a:highlight>
                  <a:srgbClr val="C0752A"/>
                </a:highlight>
              </a:rPr>
              <a:t> 4 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7635240" y="1783080"/>
            <a:ext cx="4005072" cy="817474"/>
          </a:xfrm>
          <a:prstGeom prst="roundRect">
            <a:avLst>
              <a:gd name="adj" fmla="val 8949"/>
            </a:avLst>
          </a:prstGeom>
          <a:solidFill>
            <a:srgbClr val="0F766E">
              <a:alpha val="7000"/>
            </a:srgbClr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44968" y="1874520"/>
            <a:ext cx="329184" cy="329184"/>
          </a:xfrm>
          <a:prstGeom prst="ellipse">
            <a:avLst/>
          </a:prstGeom>
          <a:solidFill>
            <a:srgbClr val="C075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183880" y="1837944"/>
            <a:ext cx="3364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already · just</a:t>
            </a:r>
            <a:r>
              <a:rPr lang="en-US" sz="1100" i="1" dirty="0">
                <a:solidFill>
                  <a:schemeClr val="accent5"/>
                </a:solidFill>
              </a:rPr>
              <a:t>   Séance 9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8183880" y="2167128"/>
            <a:ext cx="3346704" cy="3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between </a:t>
            </a:r>
            <a:r>
              <a:rPr lang="en-US" sz="1200" i="1" dirty="0">
                <a:solidFill>
                  <a:schemeClr val="tx1"/>
                </a:solidFill>
              </a:rPr>
              <a:t>have</a:t>
            </a:r>
            <a:r>
              <a:rPr lang="en-US" sz="1200" dirty="0">
                <a:solidFill>
                  <a:schemeClr val="tx1"/>
                </a:solidFill>
              </a:rPr>
              <a:t> and the participle.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635240" y="2710282"/>
            <a:ext cx="4005072" cy="817474"/>
          </a:xfrm>
          <a:prstGeom prst="roundRect">
            <a:avLst>
              <a:gd name="adj" fmla="val 8949"/>
            </a:avLst>
          </a:prstGeom>
          <a:solidFill>
            <a:srgbClr val="0F766E">
              <a:alpha val="7000"/>
            </a:srgbClr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44968" y="2801722"/>
            <a:ext cx="329184" cy="329184"/>
          </a:xfrm>
          <a:prstGeom prst="ellipse">
            <a:avLst/>
          </a:prstGeom>
          <a:solidFill>
            <a:srgbClr val="C075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8183880" y="2765146"/>
            <a:ext cx="3364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on track · have chased</a:t>
            </a:r>
            <a:r>
              <a:rPr lang="en-US" sz="1100" i="1" dirty="0">
                <a:solidFill>
                  <a:schemeClr val="accent5"/>
                </a:solidFill>
              </a:rPr>
              <a:t>   Word file p. 21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8183880" y="3094330"/>
            <a:ext cx="3346704" cy="3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 progress expression, not </a:t>
            </a:r>
            <a:r>
              <a:rPr lang="en-US" sz="1200" i="1" dirty="0">
                <a:solidFill>
                  <a:schemeClr val="tx1"/>
                </a:solidFill>
              </a:rPr>
              <a:t>everything is ok</a:t>
            </a:r>
            <a:r>
              <a:rPr lang="en-US" sz="1200" dirty="0">
                <a:solidFill>
                  <a:schemeClr val="tx1"/>
                </a:solidFill>
              </a:rPr>
              <a:t>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635240" y="3637483"/>
            <a:ext cx="4005072" cy="817474"/>
          </a:xfrm>
          <a:prstGeom prst="roundRect">
            <a:avLst>
              <a:gd name="adj" fmla="val 8949"/>
            </a:avLst>
          </a:prstGeom>
          <a:solidFill>
            <a:srgbClr val="0F766E">
              <a:alpha val="7000"/>
            </a:srgbClr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744968" y="3728923"/>
            <a:ext cx="329184" cy="329184"/>
          </a:xfrm>
          <a:prstGeom prst="ellipse">
            <a:avLst/>
          </a:prstGeom>
          <a:solidFill>
            <a:srgbClr val="C075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8183880" y="3692347"/>
            <a:ext cx="3364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not … yet</a:t>
            </a:r>
            <a:r>
              <a:rPr lang="en-US" sz="1100" i="1" dirty="0">
                <a:solidFill>
                  <a:schemeClr val="accent5"/>
                </a:solidFill>
              </a:rPr>
              <a:t>   Séance 9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8183880" y="4021531"/>
            <a:ext cx="3346704" cy="3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1"/>
                </a:solidFill>
              </a:rPr>
              <a:t>yet</a:t>
            </a:r>
            <a:r>
              <a:rPr lang="en-US" sz="1200" dirty="0">
                <a:solidFill>
                  <a:schemeClr val="tx1"/>
                </a:solidFill>
              </a:rPr>
              <a:t> at the end: the basement is still </a:t>
            </a:r>
            <a:r>
              <a:rPr lang="en-US" sz="1200" b="1" dirty="0">
                <a:solidFill>
                  <a:schemeClr val="tx1"/>
                </a:solidFill>
              </a:rPr>
              <a:t>NOT YET</a:t>
            </a:r>
            <a:r>
              <a:rPr lang="en-US" sz="1200" dirty="0">
                <a:solidFill>
                  <a:schemeClr val="tx1"/>
                </a:solidFill>
              </a:rPr>
              <a:t>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7635240" y="4564685"/>
            <a:ext cx="4005072" cy="817474"/>
          </a:xfrm>
          <a:prstGeom prst="roundRect">
            <a:avLst>
              <a:gd name="adj" fmla="val 8949"/>
            </a:avLst>
          </a:prstGeom>
          <a:solidFill>
            <a:srgbClr val="0F766E">
              <a:alpha val="7000"/>
            </a:srgbClr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744968" y="4656125"/>
            <a:ext cx="329184" cy="329184"/>
          </a:xfrm>
          <a:prstGeom prst="ellipse">
            <a:avLst/>
          </a:prstGeom>
          <a:solidFill>
            <a:srgbClr val="C075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8183880" y="4619549"/>
            <a:ext cx="3364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no clock time</a:t>
            </a:r>
            <a:r>
              <a:rPr lang="en-US" sz="1100" i="1" dirty="0">
                <a:solidFill>
                  <a:schemeClr val="accent5"/>
                </a:solidFill>
              </a:rPr>
              <a:t>   Séances 3 · 9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8183880" y="4948733"/>
            <a:ext cx="3346704" cy="3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1"/>
                </a:solidFill>
              </a:rPr>
              <a:t>this morning</a:t>
            </a:r>
            <a:r>
              <a:rPr lang="en-US" sz="1200" dirty="0">
                <a:solidFill>
                  <a:schemeClr val="tx1"/>
                </a:solidFill>
              </a:rPr>
              <a:t> is still open → present perfect. </a:t>
            </a:r>
            <a:r>
              <a:rPr lang="en-US" sz="1200" i="1" dirty="0">
                <a:solidFill>
                  <a:schemeClr val="tx1"/>
                </a:solidFill>
              </a:rPr>
              <a:t>At 9.05</a:t>
            </a:r>
            <a:r>
              <a:rPr lang="en-US" sz="1200" dirty="0">
                <a:solidFill>
                  <a:schemeClr val="tx1"/>
                </a:solidFill>
              </a:rPr>
              <a:t> → past simple.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7635240" y="5491886"/>
            <a:ext cx="4005072" cy="817474"/>
          </a:xfrm>
          <a:prstGeom prst="roundRect">
            <a:avLst>
              <a:gd name="adj" fmla="val 8949"/>
            </a:avLst>
          </a:prstGeom>
          <a:solidFill>
            <a:srgbClr val="0F766E">
              <a:alpha val="7000"/>
            </a:srgbClr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744968" y="5583326"/>
            <a:ext cx="329184" cy="329184"/>
          </a:xfrm>
          <a:prstGeom prst="ellipse">
            <a:avLst/>
          </a:prstGeom>
          <a:solidFill>
            <a:srgbClr val="C075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8183880" y="5546750"/>
            <a:ext cx="3364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confirmed</a:t>
            </a:r>
            <a:r>
              <a:rPr lang="en-US" sz="1100" i="1" dirty="0">
                <a:solidFill>
                  <a:schemeClr val="accent5"/>
                </a:solidFill>
              </a:rPr>
              <a:t>   Séance 6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8183880" y="5875934"/>
            <a:ext cx="3346704" cy="3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 reporting verb: the </a:t>
            </a:r>
            <a:r>
              <a:rPr lang="en-US" sz="1200" b="1" dirty="0">
                <a:solidFill>
                  <a:schemeClr val="tx1"/>
                </a:solidFill>
              </a:rPr>
              <a:t>log</a:t>
            </a:r>
            <a:r>
              <a:rPr lang="en-US" sz="1200" dirty="0">
                <a:solidFill>
                  <a:schemeClr val="tx1"/>
                </a:solidFill>
              </a:rPr>
              <a:t> is the source.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Samuel’s draft — five errors the board will not forgive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394460" cy="310896"/>
          </a:xfrm>
          <a:prstGeom prst="roundRect">
            <a:avLst>
              <a:gd name="adj" fmla="val 14706"/>
            </a:avLst>
          </a:prstGeom>
          <a:solidFill>
            <a:srgbClr val="C075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YOUR MOVE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19–20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27632"/>
            <a:ext cx="1109167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Samuel wants to send his own update. Find the </a:t>
            </a:r>
            <a:r>
              <a:rPr lang="en-US" sz="1600" b="1" i="1" dirty="0">
                <a:solidFill>
                  <a:schemeClr val="accent5"/>
                </a:solidFill>
              </a:rPr>
              <a:t>five</a:t>
            </a:r>
            <a:r>
              <a:rPr lang="en-US" sz="1600" i="1" dirty="0">
                <a:solidFill>
                  <a:schemeClr val="accent5"/>
                </a:solidFill>
              </a:rPr>
              <a:t> errors before it reaches nine phones.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237232"/>
            <a:ext cx="11091672" cy="4072128"/>
          </a:xfrm>
          <a:prstGeom prst="roundRect">
            <a:avLst>
              <a:gd name="adj" fmla="val 1796"/>
            </a:avLst>
          </a:prstGeom>
          <a:solidFill>
            <a:srgbClr val="FFFFFF"/>
          </a:solidFill>
          <a:ln w="12700">
            <a:solidFill>
              <a:srgbClr val="B8C1C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" y="2237232"/>
            <a:ext cx="11091672" cy="420624"/>
          </a:xfrm>
          <a:prstGeom prst="roundRect">
            <a:avLst>
              <a:gd name="adj" fmla="val 17391"/>
            </a:avLst>
          </a:prstGeom>
          <a:solidFill>
            <a:srgbClr val="E9EDF3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511552"/>
            <a:ext cx="11091672" cy="146304"/>
          </a:xfrm>
          <a:prstGeom prst="rect">
            <a:avLst/>
          </a:prstGeom>
          <a:solidFill>
            <a:srgbClr val="E9EDF3"/>
          </a:solidFill>
          <a:ln/>
        </p:spPr>
      </p:sp>
      <p:sp>
        <p:nvSpPr>
          <p:cNvPr id="10" name="Shape 7"/>
          <p:cNvSpPr/>
          <p:nvPr/>
        </p:nvSpPr>
        <p:spPr>
          <a:xfrm>
            <a:off x="731520" y="2374392"/>
            <a:ext cx="146304" cy="146304"/>
          </a:xfrm>
          <a:prstGeom prst="ellipse">
            <a:avLst/>
          </a:prstGeom>
          <a:solidFill>
            <a:srgbClr val="E5534B"/>
          </a:solidFill>
          <a:ln/>
        </p:spPr>
      </p:sp>
      <p:sp>
        <p:nvSpPr>
          <p:cNvPr id="11" name="Shape 8"/>
          <p:cNvSpPr/>
          <p:nvPr/>
        </p:nvSpPr>
        <p:spPr>
          <a:xfrm>
            <a:off x="950976" y="2374392"/>
            <a:ext cx="146304" cy="146304"/>
          </a:xfrm>
          <a:prstGeom prst="ellipse">
            <a:avLst/>
          </a:prstGeom>
          <a:solidFill>
            <a:srgbClr val="E8B43A"/>
          </a:solidFill>
          <a:ln/>
        </p:spPr>
      </p:sp>
      <p:sp>
        <p:nvSpPr>
          <p:cNvPr id="12" name="Shape 9"/>
          <p:cNvSpPr/>
          <p:nvPr/>
        </p:nvSpPr>
        <p:spPr>
          <a:xfrm>
            <a:off x="1170432" y="2374392"/>
            <a:ext cx="146304" cy="146304"/>
          </a:xfrm>
          <a:prstGeom prst="ellipse">
            <a:avLst/>
          </a:prstGeom>
          <a:solidFill>
            <a:srgbClr val="58B05A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2337816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755648" y="2237232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Inbox — Atlas House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868680" y="2749296"/>
            <a:ext cx="10451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From:  </a:t>
            </a:r>
            <a:r>
              <a:rPr lang="en-US" sz="1300" dirty="0">
                <a:solidFill>
                  <a:schemeClr val="tx1"/>
                </a:solidFill>
              </a:rPr>
              <a:t>Samuel</a:t>
            </a:r>
            <a:r>
              <a:rPr lang="en-US" sz="1300" b="1" dirty="0">
                <a:solidFill>
                  <a:schemeClr val="accent5"/>
                </a:solidFill>
              </a:rPr>
              <a:t>      To:  </a:t>
            </a:r>
            <a:r>
              <a:rPr lang="en-US" sz="1300" dirty="0">
                <a:solidFill>
                  <a:schemeClr val="tx1"/>
                </a:solidFill>
              </a:rPr>
              <a:t>Incident team (9 people)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868680" y="3023616"/>
            <a:ext cx="10451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Subject:  </a:t>
            </a:r>
            <a:r>
              <a:rPr lang="en-US" sz="1300" b="1" dirty="0">
                <a:solidFill>
                  <a:schemeClr val="tx1"/>
                </a:solidFill>
              </a:rPr>
              <a:t>Update 10.00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822960" y="3371088"/>
            <a:ext cx="10543032" cy="0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9765792" y="2292096"/>
            <a:ext cx="1645920" cy="310896"/>
          </a:xfrm>
          <a:prstGeom prst="roundRect">
            <a:avLst>
              <a:gd name="adj" fmla="val 58824"/>
            </a:avLst>
          </a:prstGeom>
          <a:solidFill>
            <a:srgbClr val="B4236A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9765792" y="229209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 mistakes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914400" y="3480816"/>
            <a:ext cx="10360152" cy="2691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100" dirty="0">
                <a:solidFill>
                  <a:schemeClr val="tx1"/>
                </a:solidFill>
              </a:rPr>
              <a:t>Hi all,</a:t>
            </a:r>
            <a:endParaRPr lang="en-US" sz="21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100" dirty="0">
                <a:solidFill>
                  <a:schemeClr val="tx1"/>
                </a:solidFill>
              </a:rPr>
              <a:t>Iris </a:t>
            </a:r>
            <a:r>
              <a:rPr lang="en-US" sz="2100" dirty="0">
                <a:solidFill>
                  <a:schemeClr val="tx1"/>
                </a:solidFill>
              </a:rPr>
              <a:t>has taken already</a:t>
            </a:r>
            <a:r>
              <a:rPr lang="en-US" sz="2100" dirty="0">
                <a:solidFill>
                  <a:schemeClr val="tx1"/>
                </a:solidFill>
              </a:rPr>
              <a:t> the photos. We </a:t>
            </a:r>
            <a:r>
              <a:rPr lang="en-US" sz="2100" dirty="0">
                <a:solidFill>
                  <a:schemeClr val="tx1"/>
                </a:solidFill>
              </a:rPr>
              <a:t>didn’t inspect</a:t>
            </a:r>
            <a:r>
              <a:rPr lang="en-US" sz="2100" dirty="0">
                <a:solidFill>
                  <a:schemeClr val="tx1"/>
                </a:solidFill>
              </a:rPr>
              <a:t> the basement yet.</a:t>
            </a:r>
            <a:endParaRPr lang="en-US" sz="21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100" dirty="0">
                <a:solidFill>
                  <a:schemeClr val="tx1"/>
                </a:solidFill>
              </a:rPr>
              <a:t>I </a:t>
            </a:r>
            <a:r>
              <a:rPr lang="en-US" sz="2100" dirty="0">
                <a:solidFill>
                  <a:schemeClr val="tx1"/>
                </a:solidFill>
              </a:rPr>
              <a:t>have checked</a:t>
            </a:r>
            <a:r>
              <a:rPr lang="en-US" sz="2100" dirty="0">
                <a:solidFill>
                  <a:schemeClr val="tx1"/>
                </a:solidFill>
              </a:rPr>
              <a:t> the log at 9.05. Nobody </a:t>
            </a:r>
            <a:r>
              <a:rPr lang="en-US" sz="2100" dirty="0">
                <a:solidFill>
                  <a:schemeClr val="tx1"/>
                </a:solidFill>
              </a:rPr>
              <a:t>has not told</a:t>
            </a:r>
            <a:r>
              <a:rPr lang="en-US" sz="2100" dirty="0">
                <a:solidFill>
                  <a:schemeClr val="tx1"/>
                </a:solidFill>
              </a:rPr>
              <a:t> the insurer yet.</a:t>
            </a:r>
            <a:endParaRPr lang="en-US" sz="21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100" dirty="0">
                <a:solidFill>
                  <a:schemeClr val="tx1"/>
                </a:solidFill>
              </a:rPr>
              <a:t>Everything is ok.</a:t>
            </a:r>
            <a:endParaRPr lang="en-US" sz="21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100" dirty="0">
                <a:solidFill>
                  <a:schemeClr val="tx1"/>
                </a:solidFill>
              </a:rPr>
              <a:t>Samuel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Samuel’s draft — five errors the board will not forgive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394460" cy="310896"/>
          </a:xfrm>
          <a:prstGeom prst="roundRect">
            <a:avLst>
              <a:gd name="adj" fmla="val 14706"/>
            </a:avLst>
          </a:prstGeom>
          <a:solidFill>
            <a:srgbClr val="C075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YOUR MOVE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2052828" y="384048"/>
            <a:ext cx="1874520" cy="310896"/>
          </a:xfrm>
          <a:prstGeom prst="roundRect">
            <a:avLst>
              <a:gd name="adj" fmla="val 14706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19–20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27632"/>
            <a:ext cx="1109167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Adverb in place · </a:t>
            </a:r>
            <a:r>
              <a:rPr lang="en-US" sz="1600" i="1" dirty="0">
                <a:solidFill>
                  <a:schemeClr val="accent5"/>
                </a:solidFill>
              </a:rPr>
              <a:t>yet</a:t>
            </a:r>
            <a:r>
              <a:rPr lang="en-US" sz="1600" i="1" dirty="0">
                <a:solidFill>
                  <a:schemeClr val="accent5"/>
                </a:solidFill>
              </a:rPr>
              <a:t> + present perfect · clock time + past simple · one negative only · a fact, not a feeling.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2237232"/>
            <a:ext cx="11091672" cy="4072128"/>
          </a:xfrm>
          <a:prstGeom prst="roundRect">
            <a:avLst>
              <a:gd name="adj" fmla="val 1796"/>
            </a:avLst>
          </a:prstGeom>
          <a:solidFill>
            <a:srgbClr val="FFFFFF"/>
          </a:solidFill>
          <a:ln w="12700">
            <a:solidFill>
              <a:srgbClr val="B8C1C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2237232"/>
            <a:ext cx="11091672" cy="420624"/>
          </a:xfrm>
          <a:prstGeom prst="roundRect">
            <a:avLst>
              <a:gd name="adj" fmla="val 17391"/>
            </a:avLst>
          </a:prstGeom>
          <a:solidFill>
            <a:srgbClr val="E9EDF3"/>
          </a:solidFill>
          <a:ln/>
        </p:spPr>
      </p:sp>
      <p:sp>
        <p:nvSpPr>
          <p:cNvPr id="10" name="Shape 7"/>
          <p:cNvSpPr/>
          <p:nvPr/>
        </p:nvSpPr>
        <p:spPr>
          <a:xfrm>
            <a:off x="548640" y="2511552"/>
            <a:ext cx="11091672" cy="146304"/>
          </a:xfrm>
          <a:prstGeom prst="rect">
            <a:avLst/>
          </a:prstGeom>
          <a:solidFill>
            <a:srgbClr val="E9EDF3"/>
          </a:solidFill>
          <a:ln/>
        </p:spPr>
      </p:sp>
      <p:sp>
        <p:nvSpPr>
          <p:cNvPr id="11" name="Shape 8"/>
          <p:cNvSpPr/>
          <p:nvPr/>
        </p:nvSpPr>
        <p:spPr>
          <a:xfrm>
            <a:off x="731520" y="2374392"/>
            <a:ext cx="146304" cy="146304"/>
          </a:xfrm>
          <a:prstGeom prst="ellipse">
            <a:avLst/>
          </a:prstGeom>
          <a:solidFill>
            <a:srgbClr val="E5534B"/>
          </a:solidFill>
          <a:ln/>
        </p:spPr>
      </p:sp>
      <p:sp>
        <p:nvSpPr>
          <p:cNvPr id="12" name="Shape 9"/>
          <p:cNvSpPr/>
          <p:nvPr/>
        </p:nvSpPr>
        <p:spPr>
          <a:xfrm>
            <a:off x="950976" y="2374392"/>
            <a:ext cx="146304" cy="146304"/>
          </a:xfrm>
          <a:prstGeom prst="ellipse">
            <a:avLst/>
          </a:prstGeom>
          <a:solidFill>
            <a:srgbClr val="E8B43A"/>
          </a:solidFill>
          <a:ln/>
        </p:spPr>
      </p:sp>
      <p:sp>
        <p:nvSpPr>
          <p:cNvPr id="13" name="Shape 10"/>
          <p:cNvSpPr/>
          <p:nvPr/>
        </p:nvSpPr>
        <p:spPr>
          <a:xfrm>
            <a:off x="1170432" y="2374392"/>
            <a:ext cx="146304" cy="146304"/>
          </a:xfrm>
          <a:prstGeom prst="ellipse">
            <a:avLst/>
          </a:prstGeom>
          <a:solidFill>
            <a:srgbClr val="58B05A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2337816"/>
            <a:ext cx="219456" cy="21945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755648" y="2237232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Inbox — Atlas House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868680" y="2749296"/>
            <a:ext cx="10451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From:  </a:t>
            </a:r>
            <a:r>
              <a:rPr lang="en-US" sz="1300" dirty="0">
                <a:solidFill>
                  <a:schemeClr val="tx1"/>
                </a:solidFill>
              </a:rPr>
              <a:t>Samuel</a:t>
            </a:r>
            <a:r>
              <a:rPr lang="en-US" sz="1300" b="1" dirty="0">
                <a:solidFill>
                  <a:schemeClr val="accent5"/>
                </a:solidFill>
              </a:rPr>
              <a:t>      To:  </a:t>
            </a:r>
            <a:r>
              <a:rPr lang="en-US" sz="1300" dirty="0">
                <a:solidFill>
                  <a:schemeClr val="tx1"/>
                </a:solidFill>
              </a:rPr>
              <a:t>Incident team (9 people)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868680" y="3023616"/>
            <a:ext cx="10451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Subject:  </a:t>
            </a:r>
            <a:r>
              <a:rPr lang="en-US" sz="1300" b="1" dirty="0">
                <a:solidFill>
                  <a:schemeClr val="tx1"/>
                </a:solidFill>
              </a:rPr>
              <a:t>Update 10.00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822960" y="3371088"/>
            <a:ext cx="10543032" cy="0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9765792" y="2292096"/>
            <a:ext cx="1645920" cy="310896"/>
          </a:xfrm>
          <a:prstGeom prst="roundRect">
            <a:avLst>
              <a:gd name="adj" fmla="val 58824"/>
            </a:avLst>
          </a:prstGeom>
          <a:solidFill>
            <a:srgbClr val="3C7A3C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9765792" y="229209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✓ 5 corrections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914400" y="3480816"/>
            <a:ext cx="10360152" cy="2691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100" dirty="0">
                <a:solidFill>
                  <a:schemeClr val="tx1"/>
                </a:solidFill>
              </a:rPr>
              <a:t>Hi all,</a:t>
            </a:r>
            <a:endParaRPr lang="en-US" sz="21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100" dirty="0">
                <a:solidFill>
                  <a:schemeClr val="tx1"/>
                </a:solidFill>
              </a:rPr>
              <a:t>Iris </a:t>
            </a:r>
            <a:r>
              <a:rPr lang="en-US" sz="2100" strike="sngStrike" dirty="0">
                <a:solidFill>
                  <a:schemeClr val="accent6"/>
                </a:solidFill>
              </a:rPr>
              <a:t>has taken already</a:t>
            </a:r>
            <a:r>
              <a:rPr lang="en-US" sz="2100" b="1" dirty="0">
                <a:solidFill>
                  <a:schemeClr val="accent3"/>
                </a:solidFill>
              </a:rPr>
              <a:t> has already taken</a:t>
            </a:r>
            <a:r>
              <a:rPr lang="en-US" sz="2100" dirty="0">
                <a:solidFill>
                  <a:schemeClr val="tx1"/>
                </a:solidFill>
              </a:rPr>
              <a:t> the photos. We </a:t>
            </a:r>
            <a:r>
              <a:rPr lang="en-US" sz="2100" strike="sngStrike" dirty="0">
                <a:solidFill>
                  <a:schemeClr val="accent6"/>
                </a:solidFill>
              </a:rPr>
              <a:t>didn’t inspect</a:t>
            </a:r>
            <a:r>
              <a:rPr lang="en-US" sz="2100" b="1" dirty="0">
                <a:solidFill>
                  <a:schemeClr val="accent3"/>
                </a:solidFill>
              </a:rPr>
              <a:t> haven’t inspected</a:t>
            </a:r>
            <a:r>
              <a:rPr lang="en-US" sz="2100" dirty="0">
                <a:solidFill>
                  <a:schemeClr val="tx1"/>
                </a:solidFill>
              </a:rPr>
              <a:t> the basement yet.</a:t>
            </a:r>
            <a:endParaRPr lang="en-US" sz="21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100" dirty="0">
                <a:solidFill>
                  <a:schemeClr val="tx1"/>
                </a:solidFill>
              </a:rPr>
              <a:t>I </a:t>
            </a:r>
            <a:r>
              <a:rPr lang="en-US" sz="2100" strike="sngStrike" dirty="0">
                <a:solidFill>
                  <a:schemeClr val="accent6"/>
                </a:solidFill>
              </a:rPr>
              <a:t>have checked</a:t>
            </a:r>
            <a:r>
              <a:rPr lang="en-US" sz="2100" b="1" dirty="0">
                <a:solidFill>
                  <a:schemeClr val="accent3"/>
                </a:solidFill>
              </a:rPr>
              <a:t> checked</a:t>
            </a:r>
            <a:r>
              <a:rPr lang="en-US" sz="2100" dirty="0">
                <a:solidFill>
                  <a:schemeClr val="tx1"/>
                </a:solidFill>
              </a:rPr>
              <a:t> the log at 9.05. Nobody </a:t>
            </a:r>
            <a:r>
              <a:rPr lang="en-US" sz="2100" strike="sngStrike" dirty="0">
                <a:solidFill>
                  <a:schemeClr val="accent6"/>
                </a:solidFill>
              </a:rPr>
              <a:t>has not told</a:t>
            </a:r>
            <a:r>
              <a:rPr lang="en-US" sz="2100" b="1" dirty="0">
                <a:solidFill>
                  <a:schemeClr val="accent3"/>
                </a:solidFill>
              </a:rPr>
              <a:t> has told</a:t>
            </a:r>
            <a:r>
              <a:rPr lang="en-US" sz="2100" dirty="0">
                <a:solidFill>
                  <a:schemeClr val="tx1"/>
                </a:solidFill>
              </a:rPr>
              <a:t> the insurer yet.</a:t>
            </a:r>
            <a:endParaRPr lang="en-US" sz="21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100" strike="sngStrike" dirty="0">
                <a:solidFill>
                  <a:schemeClr val="accent6"/>
                </a:solidFill>
              </a:rPr>
              <a:t>Everything is ok.</a:t>
            </a:r>
            <a:r>
              <a:rPr lang="en-US" sz="2100" b="1" dirty="0">
                <a:solidFill>
                  <a:schemeClr val="accent3"/>
                </a:solidFill>
              </a:rPr>
              <a:t> The timeline is on track.</a:t>
            </a:r>
            <a:endParaRPr lang="en-US" sz="21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100" dirty="0">
                <a:solidFill>
                  <a:schemeClr val="tx1"/>
                </a:solidFill>
              </a:rPr>
              <a:t>Samuel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Words your colleagues need from you (1/2)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623060" cy="310896"/>
          </a:xfrm>
          <a:prstGeom prst="roundRect">
            <a:avLst>
              <a:gd name="adj" fmla="val 14706"/>
            </a:avLst>
          </a:prstGeom>
          <a:solidFill>
            <a:srgbClr val="1F386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YOUR EXPERT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21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4782312"/>
              </a:tblGrid>
              <a:tr h="5166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WORD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FRANÇAIS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ON THE BOARD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ACC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a damage claim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une déclaration de sinistre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We have opened a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damage claim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file.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ACC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to write off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passer en pertes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Unit 3 may have to be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written off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ACC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a provision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une provision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We have made a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provision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of €12,000.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ACC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an insurance premium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une prime d’assurance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The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premium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has not been recalculated yet.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ACC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a cost centre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un centre de coûts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The repair will go to the site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cost centre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IT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a server rack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une baie de serveurs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Two units in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rack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A2 have stopped.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IT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a power failure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une panne de courant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There has been no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power failure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IT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a backup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une sauvegarde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The last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backup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ran at midnight.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IT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to restore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restaurer, rétablir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We have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restored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the service.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IT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downtime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temps d’arrêt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Nine hours of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downtime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so far.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Words your colleagues need from you (2/2)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623060" cy="310896"/>
          </a:xfrm>
          <a:prstGeom prst="roundRect">
            <a:avLst>
              <a:gd name="adj" fmla="val 14706"/>
            </a:avLst>
          </a:prstGeom>
          <a:solidFill>
            <a:srgbClr val="1F386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YOUR EXPERT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21–22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4782312"/>
              </a:tblGrid>
              <a:tr h="5166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WORD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FRANÇAIS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ON THE BOARD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0142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LAW</a:t>
                      </a:r>
                      <a:endParaRPr lang="en-US" sz="15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negligence</a:t>
                      </a:r>
                      <a:endParaRPr lang="en-US" sz="15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la négligence (faute)</a:t>
                      </a:r>
                      <a:endParaRPr lang="en-US" sz="15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We have not raised </a:t>
                      </a: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negligence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sz="15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142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LAW</a:t>
                      </a:r>
                      <a:endParaRPr lang="en-US" sz="15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force majeure</a:t>
                      </a:r>
                      <a:endParaRPr lang="en-US" sz="15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la force majeure</a:t>
                      </a:r>
                      <a:endParaRPr lang="en-US" sz="15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We have reviewed the </a:t>
                      </a: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force majeure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 clause.</a:t>
                      </a:r>
                      <a:endParaRPr lang="en-US" sz="15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40142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LAW</a:t>
                      </a:r>
                      <a:endParaRPr lang="en-US" sz="15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to notify</a:t>
                      </a:r>
                      <a:endParaRPr lang="en-US" sz="15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notifier</a:t>
                      </a:r>
                      <a:endParaRPr lang="en-US" sz="15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We have </a:t>
                      </a: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notified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 the landlord in writing.</a:t>
                      </a:r>
                      <a:endParaRPr lang="en-US" sz="15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142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LAW</a:t>
                      </a:r>
                      <a:endParaRPr lang="en-US" sz="15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damages</a:t>
                      </a:r>
                      <a:endParaRPr lang="en-US" sz="15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des dommages-intérêts</a:t>
                      </a:r>
                      <a:endParaRPr lang="en-US" sz="15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≠ </a:t>
                      </a:r>
                      <a:r>
                        <a:rPr lang="en-US" sz="1500" i="1" dirty="0">
                          <a:solidFill>
                            <a:schemeClr val="tx1"/>
                          </a:solidFill>
                        </a:rPr>
                        <a:t>damage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 (des dégâts)!</a:t>
                      </a:r>
                      <a:endParaRPr lang="en-US" sz="15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40142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LAW</a:t>
                      </a:r>
                      <a:endParaRPr lang="en-US" sz="15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a breach of contract</a:t>
                      </a:r>
                      <a:endParaRPr lang="en-US" sz="15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une violation du contrat</a:t>
                      </a:r>
                      <a:endParaRPr lang="en-US" sz="15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No </a:t>
                      </a: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breach of contract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 has been established.</a:t>
                      </a:r>
                      <a:endParaRPr lang="en-US" sz="15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142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RE</a:t>
                      </a:r>
                      <a:endParaRPr lang="en-US" sz="15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a burst pipe</a:t>
                      </a:r>
                      <a:endParaRPr lang="en-US" sz="15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une canalisation éclatée</a:t>
                      </a:r>
                      <a:endParaRPr lang="en-US" sz="15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We have not confirmed a </a:t>
                      </a: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burst pipe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 yet.</a:t>
                      </a:r>
                      <a:endParaRPr lang="en-US" sz="15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40142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RE</a:t>
                      </a:r>
                      <a:endParaRPr lang="en-US" sz="15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structural damage</a:t>
                      </a:r>
                      <a:endParaRPr lang="en-US" sz="15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des dommages structurels</a:t>
                      </a:r>
                      <a:endParaRPr lang="en-US" sz="15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No </a:t>
                      </a: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structural damage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 has been found so far.</a:t>
                      </a:r>
                      <a:endParaRPr lang="en-US" sz="15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142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RE</a:t>
                      </a:r>
                      <a:endParaRPr lang="en-US" sz="15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drainage</a:t>
                      </a:r>
                      <a:endParaRPr lang="en-US" sz="15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l’évacuation des eaux</a:t>
                      </a:r>
                      <a:endParaRPr lang="en-US" sz="15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The </a:t>
                      </a: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drainage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 has not been checked yet.</a:t>
                      </a:r>
                      <a:endParaRPr lang="en-US" sz="15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40142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RE</a:t>
                      </a:r>
                      <a:endParaRPr lang="en-US" sz="15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an inventory of fixtures</a:t>
                      </a:r>
                      <a:endParaRPr lang="en-US" sz="15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un état des lieux</a:t>
                      </a:r>
                      <a:endParaRPr lang="en-US" sz="15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The </a:t>
                      </a: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inventory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 has not been updated.</a:t>
                      </a:r>
                      <a:endParaRPr lang="en-US" sz="15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142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RE</a:t>
                      </a:r>
                      <a:endParaRPr lang="en-US" sz="15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to make good</a:t>
                      </a:r>
                      <a:endParaRPr lang="en-US" sz="15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remettre en état</a:t>
                      </a:r>
                      <a:endParaRPr lang="en-US" sz="15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The floor has not been </a:t>
                      </a: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made good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 yet.</a:t>
                      </a:r>
                      <a:endParaRPr lang="en-US" sz="15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team board — one status per line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394460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TEAM CALL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20 &amp; 45–46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27632"/>
            <a:ext cx="1109167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Groups of four, one per firm. Turn each cue into a board line: </a:t>
            </a:r>
            <a:r>
              <a:rPr lang="en-US" sz="1600" b="1" i="1" dirty="0">
                <a:solidFill>
                  <a:schemeClr val="accent5"/>
                </a:solidFill>
              </a:rPr>
              <a:t>present perfect</a:t>
            </a:r>
            <a:r>
              <a:rPr lang="en-US" sz="1600" i="1" dirty="0">
                <a:solidFill>
                  <a:schemeClr val="accent5"/>
                </a:solidFill>
              </a:rPr>
              <a:t> + </a:t>
            </a:r>
            <a:r>
              <a:rPr lang="en-US" sz="1600" b="1" i="1" dirty="0">
                <a:solidFill>
                  <a:schemeClr val="accent5"/>
                </a:solidFill>
              </a:rPr>
              <a:t>a word from your field</a:t>
            </a:r>
            <a:r>
              <a:rPr lang="en-US" sz="1600" i="1" dirty="0">
                <a:solidFill>
                  <a:schemeClr val="accent5"/>
                </a:solidFill>
              </a:rPr>
              <a:t>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237232"/>
            <a:ext cx="2601468" cy="1921764"/>
          </a:xfrm>
          <a:prstGeom prst="roundRect">
            <a:avLst>
              <a:gd name="adj" fmla="val 3807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31520" y="2346960"/>
            <a:ext cx="8641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ACC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1668780" y="2438400"/>
            <a:ext cx="219456" cy="219456"/>
          </a:xfrm>
          <a:prstGeom prst="ellipse">
            <a:avLst/>
          </a:prstGeom>
          <a:solidFill>
            <a:srgbClr val="3C7A3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943100" y="23469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</a:rPr>
              <a:t>ON TRACK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31520" y="2831592"/>
            <a:ext cx="2235708" cy="0"/>
          </a:xfrm>
          <a:prstGeom prst="line">
            <a:avLst/>
          </a:prstGeom>
          <a:noFill/>
          <a:ln w="12700">
            <a:solidFill>
              <a:srgbClr val="E3E8E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2923032"/>
            <a:ext cx="2235708" cy="824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claim file · open — provision of €12,000 · make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31520" y="3884676"/>
            <a:ext cx="2235708" cy="0"/>
          </a:xfrm>
          <a:prstGeom prst="line">
            <a:avLst/>
          </a:prstGeom>
          <a:noFill/>
          <a:ln w="12700">
            <a:solidFill>
              <a:srgbClr val="44546A"/>
            </a:solidFill>
            <a:prstDash val="sysDot"/>
          </a:ln>
        </p:spPr>
      </p:sp>
      <p:sp>
        <p:nvSpPr>
          <p:cNvPr id="14" name="Shape 11"/>
          <p:cNvSpPr/>
          <p:nvPr/>
        </p:nvSpPr>
        <p:spPr>
          <a:xfrm>
            <a:off x="3378708" y="2237232"/>
            <a:ext cx="2601468" cy="1921764"/>
          </a:xfrm>
          <a:prstGeom prst="roundRect">
            <a:avLst>
              <a:gd name="adj" fmla="val 3807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3561588" y="2346960"/>
            <a:ext cx="8641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ACC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4498848" y="2438400"/>
            <a:ext cx="219456" cy="219456"/>
          </a:xfrm>
          <a:prstGeom prst="ellipse">
            <a:avLst/>
          </a:prstGeom>
          <a:solidFill>
            <a:srgbClr val="B03A2E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773168" y="23469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6"/>
                </a:solidFill>
              </a:rPr>
              <a:t>BLOCKED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561588" y="2831592"/>
            <a:ext cx="2235708" cy="0"/>
          </a:xfrm>
          <a:prstGeom prst="line">
            <a:avLst/>
          </a:prstGeom>
          <a:noFill/>
          <a:ln w="12700">
            <a:solidFill>
              <a:srgbClr val="E3E8E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561588" y="2923032"/>
            <a:ext cx="2235708" cy="824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repair estimate · not receive · yet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3561588" y="3884676"/>
            <a:ext cx="2235708" cy="0"/>
          </a:xfrm>
          <a:prstGeom prst="line">
            <a:avLst/>
          </a:prstGeom>
          <a:noFill/>
          <a:ln w="12700">
            <a:solidFill>
              <a:srgbClr val="44546A"/>
            </a:solidFill>
            <a:prstDash val="sysDot"/>
          </a:ln>
        </p:spPr>
      </p:sp>
      <p:sp>
        <p:nvSpPr>
          <p:cNvPr id="21" name="Shape 18"/>
          <p:cNvSpPr/>
          <p:nvPr/>
        </p:nvSpPr>
        <p:spPr>
          <a:xfrm>
            <a:off x="6208776" y="2237232"/>
            <a:ext cx="2601468" cy="1921764"/>
          </a:xfrm>
          <a:prstGeom prst="roundRect">
            <a:avLst>
              <a:gd name="adj" fmla="val 3807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6391656" y="2346960"/>
            <a:ext cx="8641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IT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7328916" y="2438400"/>
            <a:ext cx="219456" cy="219456"/>
          </a:xfrm>
          <a:prstGeom prst="ellipse">
            <a:avLst/>
          </a:prstGeom>
          <a:solidFill>
            <a:srgbClr val="3C7A3C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7603236" y="23469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</a:rPr>
              <a:t>ON TRACK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391656" y="2831592"/>
            <a:ext cx="2235708" cy="0"/>
          </a:xfrm>
          <a:prstGeom prst="line">
            <a:avLst/>
          </a:prstGeom>
          <a:noFill/>
          <a:ln w="12700">
            <a:solidFill>
              <a:srgbClr val="E3E8E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391656" y="2923032"/>
            <a:ext cx="2235708" cy="824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logs · examine — service · restore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6391656" y="3884676"/>
            <a:ext cx="2235708" cy="0"/>
          </a:xfrm>
          <a:prstGeom prst="line">
            <a:avLst/>
          </a:prstGeom>
          <a:noFill/>
          <a:ln w="12700">
            <a:solidFill>
              <a:srgbClr val="44546A"/>
            </a:solidFill>
            <a:prstDash val="sysDot"/>
          </a:ln>
        </p:spPr>
      </p:sp>
      <p:sp>
        <p:nvSpPr>
          <p:cNvPr id="28" name="Shape 25"/>
          <p:cNvSpPr/>
          <p:nvPr/>
        </p:nvSpPr>
        <p:spPr>
          <a:xfrm>
            <a:off x="9038844" y="2237232"/>
            <a:ext cx="2601468" cy="1921764"/>
          </a:xfrm>
          <a:prstGeom prst="roundRect">
            <a:avLst>
              <a:gd name="adj" fmla="val 3807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29" name="Text 26"/>
          <p:cNvSpPr txBox="1"/>
          <p:nvPr/>
        </p:nvSpPr>
        <p:spPr>
          <a:xfrm>
            <a:off x="9221724" y="2346960"/>
            <a:ext cx="8641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IT</a:t>
            </a:r>
            <a:endParaRPr lang="en-US" sz="1800" dirty="0"/>
          </a:p>
        </p:txBody>
      </p:sp>
      <p:sp>
        <p:nvSpPr>
          <p:cNvPr id="30" name="Shape 27"/>
          <p:cNvSpPr/>
          <p:nvPr/>
        </p:nvSpPr>
        <p:spPr>
          <a:xfrm>
            <a:off x="10158984" y="2438400"/>
            <a:ext cx="219456" cy="219456"/>
          </a:xfrm>
          <a:prstGeom prst="ellipse">
            <a:avLst/>
          </a:prstGeom>
          <a:solidFill>
            <a:srgbClr val="B03A2E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10433304" y="23469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6"/>
                </a:solidFill>
              </a:rPr>
              <a:t>BLOCKED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9221724" y="2831592"/>
            <a:ext cx="2235708" cy="0"/>
          </a:xfrm>
          <a:prstGeom prst="line">
            <a:avLst/>
          </a:prstGeom>
          <a:noFill/>
          <a:ln w="12700">
            <a:solidFill>
              <a:srgbClr val="E3E8E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9221724" y="2923032"/>
            <a:ext cx="2235708" cy="824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basement · nobody · inspect · yet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9221724" y="3884676"/>
            <a:ext cx="2235708" cy="0"/>
          </a:xfrm>
          <a:prstGeom prst="line">
            <a:avLst/>
          </a:prstGeom>
          <a:noFill/>
          <a:ln w="12700">
            <a:solidFill>
              <a:srgbClr val="44546A"/>
            </a:solidFill>
            <a:prstDash val="sysDot"/>
          </a:ln>
        </p:spPr>
      </p:sp>
      <p:sp>
        <p:nvSpPr>
          <p:cNvPr id="35" name="Shape 32"/>
          <p:cNvSpPr/>
          <p:nvPr/>
        </p:nvSpPr>
        <p:spPr>
          <a:xfrm>
            <a:off x="548640" y="4387596"/>
            <a:ext cx="2601468" cy="1921764"/>
          </a:xfrm>
          <a:prstGeom prst="roundRect">
            <a:avLst>
              <a:gd name="adj" fmla="val 3807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36" name="Text 33"/>
          <p:cNvSpPr txBox="1"/>
          <p:nvPr/>
        </p:nvSpPr>
        <p:spPr>
          <a:xfrm>
            <a:off x="731520" y="4497324"/>
            <a:ext cx="8641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LAW</a:t>
            </a:r>
            <a:endParaRPr lang="en-US" sz="1800" dirty="0"/>
          </a:p>
        </p:txBody>
      </p:sp>
      <p:sp>
        <p:nvSpPr>
          <p:cNvPr id="37" name="Shape 34"/>
          <p:cNvSpPr/>
          <p:nvPr/>
        </p:nvSpPr>
        <p:spPr>
          <a:xfrm>
            <a:off x="1668780" y="4588764"/>
            <a:ext cx="219456" cy="219456"/>
          </a:xfrm>
          <a:prstGeom prst="ellipse">
            <a:avLst/>
          </a:prstGeom>
          <a:solidFill>
            <a:srgbClr val="3C7A3C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1943100" y="4497324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</a:rPr>
              <a:t>ON TRACK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731520" y="4981956"/>
            <a:ext cx="2235708" cy="0"/>
          </a:xfrm>
          <a:prstGeom prst="line">
            <a:avLst/>
          </a:prstGeom>
          <a:noFill/>
          <a:ln w="12700">
            <a:solidFill>
              <a:srgbClr val="E3E8E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731520" y="5073396"/>
            <a:ext cx="2235708" cy="824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landlord · notify · in writing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731520" y="6035040"/>
            <a:ext cx="2235708" cy="0"/>
          </a:xfrm>
          <a:prstGeom prst="line">
            <a:avLst/>
          </a:prstGeom>
          <a:noFill/>
          <a:ln w="12700">
            <a:solidFill>
              <a:srgbClr val="44546A"/>
            </a:solidFill>
            <a:prstDash val="sysDot"/>
          </a:ln>
        </p:spPr>
      </p:sp>
      <p:sp>
        <p:nvSpPr>
          <p:cNvPr id="42" name="Shape 39"/>
          <p:cNvSpPr/>
          <p:nvPr/>
        </p:nvSpPr>
        <p:spPr>
          <a:xfrm>
            <a:off x="3378708" y="4387596"/>
            <a:ext cx="2601468" cy="1921764"/>
          </a:xfrm>
          <a:prstGeom prst="roundRect">
            <a:avLst>
              <a:gd name="adj" fmla="val 3807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3561588" y="4497324"/>
            <a:ext cx="8641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LAW</a:t>
            </a:r>
            <a:endParaRPr lang="en-US" sz="1800" dirty="0"/>
          </a:p>
        </p:txBody>
      </p:sp>
      <p:sp>
        <p:nvSpPr>
          <p:cNvPr id="44" name="Shape 41"/>
          <p:cNvSpPr/>
          <p:nvPr/>
        </p:nvSpPr>
        <p:spPr>
          <a:xfrm>
            <a:off x="4498848" y="4588764"/>
            <a:ext cx="219456" cy="219456"/>
          </a:xfrm>
          <a:prstGeom prst="ellipse">
            <a:avLst/>
          </a:prstGeom>
          <a:solidFill>
            <a:srgbClr val="D99A06"/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4773168" y="4497324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9A06"/>
                </a:solidFill>
              </a:rPr>
              <a:t>AT RISK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3561588" y="4981956"/>
            <a:ext cx="2235708" cy="0"/>
          </a:xfrm>
          <a:prstGeom prst="line">
            <a:avLst/>
          </a:prstGeom>
          <a:noFill/>
          <a:ln w="12700">
            <a:solidFill>
              <a:srgbClr val="E3E8EF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3561588" y="5073396"/>
            <a:ext cx="2235708" cy="824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contractor · not sign · statement · yet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3561588" y="6035040"/>
            <a:ext cx="2235708" cy="0"/>
          </a:xfrm>
          <a:prstGeom prst="line">
            <a:avLst/>
          </a:prstGeom>
          <a:noFill/>
          <a:ln w="12700">
            <a:solidFill>
              <a:srgbClr val="44546A"/>
            </a:solidFill>
            <a:prstDash val="sysDot"/>
          </a:ln>
        </p:spPr>
      </p:sp>
      <p:sp>
        <p:nvSpPr>
          <p:cNvPr id="49" name="Shape 46"/>
          <p:cNvSpPr/>
          <p:nvPr/>
        </p:nvSpPr>
        <p:spPr>
          <a:xfrm>
            <a:off x="6208776" y="4387596"/>
            <a:ext cx="2601468" cy="1921764"/>
          </a:xfrm>
          <a:prstGeom prst="roundRect">
            <a:avLst>
              <a:gd name="adj" fmla="val 3807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50" name="Text 47"/>
          <p:cNvSpPr txBox="1"/>
          <p:nvPr/>
        </p:nvSpPr>
        <p:spPr>
          <a:xfrm>
            <a:off x="6391656" y="4497324"/>
            <a:ext cx="8641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</a:t>
            </a:r>
            <a:endParaRPr lang="en-US" sz="1800" dirty="0"/>
          </a:p>
        </p:txBody>
      </p:sp>
      <p:sp>
        <p:nvSpPr>
          <p:cNvPr id="51" name="Shape 48"/>
          <p:cNvSpPr/>
          <p:nvPr/>
        </p:nvSpPr>
        <p:spPr>
          <a:xfrm>
            <a:off x="7328916" y="4588764"/>
            <a:ext cx="219456" cy="219456"/>
          </a:xfrm>
          <a:prstGeom prst="ellipse">
            <a:avLst/>
          </a:prstGeom>
          <a:solidFill>
            <a:srgbClr val="3C7A3C"/>
          </a:solidFill>
          <a:ln/>
        </p:spPr>
      </p:sp>
      <p:sp>
        <p:nvSpPr>
          <p:cNvPr id="52" name="Text 49"/>
          <p:cNvSpPr txBox="1"/>
          <p:nvPr/>
        </p:nvSpPr>
        <p:spPr>
          <a:xfrm>
            <a:off x="7603236" y="4497324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</a:rPr>
              <a:t>ON TRACK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6391656" y="4981956"/>
            <a:ext cx="2235708" cy="0"/>
          </a:xfrm>
          <a:prstGeom prst="line">
            <a:avLst/>
          </a:prstGeom>
          <a:noFill/>
          <a:ln w="12700">
            <a:solidFill>
              <a:srgbClr val="E3E8EF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6391656" y="5073396"/>
            <a:ext cx="2235708" cy="824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photos · take — second floor · close</a:t>
            </a:r>
            <a:endParaRPr lang="en-US" sz="1600" dirty="0"/>
          </a:p>
        </p:txBody>
      </p:sp>
      <p:sp>
        <p:nvSpPr>
          <p:cNvPr id="55" name="Shape 52"/>
          <p:cNvSpPr/>
          <p:nvPr/>
        </p:nvSpPr>
        <p:spPr>
          <a:xfrm>
            <a:off x="6391656" y="6035040"/>
            <a:ext cx="2235708" cy="0"/>
          </a:xfrm>
          <a:prstGeom prst="line">
            <a:avLst/>
          </a:prstGeom>
          <a:noFill/>
          <a:ln w="12700">
            <a:solidFill>
              <a:srgbClr val="44546A"/>
            </a:solidFill>
            <a:prstDash val="sysDot"/>
          </a:ln>
        </p:spPr>
      </p:sp>
      <p:sp>
        <p:nvSpPr>
          <p:cNvPr id="56" name="Shape 53"/>
          <p:cNvSpPr/>
          <p:nvPr/>
        </p:nvSpPr>
        <p:spPr>
          <a:xfrm>
            <a:off x="9038844" y="4387596"/>
            <a:ext cx="2601468" cy="1921764"/>
          </a:xfrm>
          <a:prstGeom prst="roundRect">
            <a:avLst>
              <a:gd name="adj" fmla="val 3807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57" name="Text 54"/>
          <p:cNvSpPr txBox="1"/>
          <p:nvPr/>
        </p:nvSpPr>
        <p:spPr>
          <a:xfrm>
            <a:off x="9221724" y="4497324"/>
            <a:ext cx="8641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</a:t>
            </a:r>
            <a:endParaRPr lang="en-US" sz="1800" dirty="0"/>
          </a:p>
        </p:txBody>
      </p:sp>
      <p:sp>
        <p:nvSpPr>
          <p:cNvPr id="58" name="Shape 55"/>
          <p:cNvSpPr/>
          <p:nvPr/>
        </p:nvSpPr>
        <p:spPr>
          <a:xfrm>
            <a:off x="10158984" y="4588764"/>
            <a:ext cx="219456" cy="219456"/>
          </a:xfrm>
          <a:prstGeom prst="ellipse">
            <a:avLst/>
          </a:prstGeom>
          <a:solidFill>
            <a:srgbClr val="D99A06"/>
          </a:solidFill>
          <a:ln/>
        </p:spPr>
      </p:sp>
      <p:sp>
        <p:nvSpPr>
          <p:cNvPr id="59" name="Text 56"/>
          <p:cNvSpPr txBox="1"/>
          <p:nvPr/>
        </p:nvSpPr>
        <p:spPr>
          <a:xfrm>
            <a:off x="10433304" y="4497324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9A06"/>
                </a:solidFill>
              </a:rPr>
              <a:t>AT RISK</a:t>
            </a:r>
            <a:endParaRPr lang="en-US" sz="1100" dirty="0"/>
          </a:p>
        </p:txBody>
      </p:sp>
      <p:sp>
        <p:nvSpPr>
          <p:cNvPr id="60" name="Shape 57"/>
          <p:cNvSpPr/>
          <p:nvPr/>
        </p:nvSpPr>
        <p:spPr>
          <a:xfrm>
            <a:off x="9221724" y="4981956"/>
            <a:ext cx="2235708" cy="0"/>
          </a:xfrm>
          <a:prstGeom prst="line">
            <a:avLst/>
          </a:prstGeom>
          <a:noFill/>
          <a:ln w="12700">
            <a:solidFill>
              <a:srgbClr val="E3E8EF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9221724" y="5073396"/>
            <a:ext cx="2235708" cy="824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inventory of fixtures · not update · yet</a:t>
            </a:r>
            <a:endParaRPr lang="en-US" sz="1600" dirty="0"/>
          </a:p>
        </p:txBody>
      </p:sp>
      <p:sp>
        <p:nvSpPr>
          <p:cNvPr id="62" name="Shape 59"/>
          <p:cNvSpPr/>
          <p:nvPr/>
        </p:nvSpPr>
        <p:spPr>
          <a:xfrm>
            <a:off x="9221724" y="6035040"/>
            <a:ext cx="2235708" cy="0"/>
          </a:xfrm>
          <a:prstGeom prst="line">
            <a:avLst/>
          </a:prstGeom>
          <a:noFill/>
          <a:ln w="12700">
            <a:solidFill>
              <a:srgbClr val="44546A"/>
            </a:solidFill>
            <a:prstDash val="sysDot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team board — one status per line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394460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TEAM CALL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2052828" y="384048"/>
            <a:ext cx="1874520" cy="310896"/>
          </a:xfrm>
          <a:prstGeom prst="roundRect">
            <a:avLst>
              <a:gd name="adj" fmla="val 14706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20 &amp; 45–46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27632"/>
            <a:ext cx="1109167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One possible team board. </a:t>
            </a:r>
            <a:r>
              <a:rPr lang="en-US" sz="1600" b="1" i="1" dirty="0">
                <a:solidFill>
                  <a:schemeClr val="accent5"/>
                </a:solidFill>
              </a:rPr>
              <a:t>Which red line is the bottleneck?</a:t>
            </a:r>
            <a:r>
              <a:rPr lang="en-US" sz="1600" i="1" dirty="0">
                <a:solidFill>
                  <a:schemeClr val="accent5"/>
                </a:solidFill>
              </a:rPr>
              <a:t> Say why: </a:t>
            </a:r>
            <a:r>
              <a:rPr lang="en-US" sz="1600" i="1" dirty="0">
                <a:solidFill>
                  <a:schemeClr val="accent5"/>
                </a:solidFill>
              </a:rPr>
              <a:t>Until we have…, we can’t…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2237232"/>
            <a:ext cx="2601468" cy="1921764"/>
          </a:xfrm>
          <a:prstGeom prst="roundRect">
            <a:avLst>
              <a:gd name="adj" fmla="val 3807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31520" y="2346960"/>
            <a:ext cx="8641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ACC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668780" y="2438400"/>
            <a:ext cx="219456" cy="219456"/>
          </a:xfrm>
          <a:prstGeom prst="ellipse">
            <a:avLst/>
          </a:prstGeom>
          <a:solidFill>
            <a:srgbClr val="3C7A3C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943100" y="23469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</a:rPr>
              <a:t>ON TRACK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31520" y="2831592"/>
            <a:ext cx="2235708" cy="0"/>
          </a:xfrm>
          <a:prstGeom prst="line">
            <a:avLst/>
          </a:prstGeom>
          <a:noFill/>
          <a:ln w="12700">
            <a:solidFill>
              <a:srgbClr val="E3E8E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" y="2923032"/>
            <a:ext cx="2235708" cy="1144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We </a:t>
            </a:r>
            <a:r>
              <a:rPr lang="en-US" sz="1700" b="1" dirty="0">
                <a:solidFill>
                  <a:schemeClr val="tx1"/>
                </a:solidFill>
              </a:rPr>
              <a:t>have opened</a:t>
            </a:r>
            <a:r>
              <a:rPr lang="en-US" sz="1700" dirty="0">
                <a:solidFill>
                  <a:schemeClr val="tx1"/>
                </a:solidFill>
              </a:rPr>
              <a:t> a claim file and </a:t>
            </a:r>
            <a:r>
              <a:rPr lang="en-US" sz="1700" b="1" dirty="0">
                <a:solidFill>
                  <a:schemeClr val="tx1"/>
                </a:solidFill>
              </a:rPr>
              <a:t>made</a:t>
            </a:r>
            <a:r>
              <a:rPr lang="en-US" sz="1700" dirty="0">
                <a:solidFill>
                  <a:schemeClr val="tx1"/>
                </a:solidFill>
              </a:rPr>
              <a:t> a </a:t>
            </a:r>
            <a:r>
              <a:rPr lang="en-US" sz="1700" b="1" dirty="0">
                <a:solidFill>
                  <a:schemeClr val="tx1"/>
                </a:solidFill>
              </a:rPr>
              <a:t>provision</a:t>
            </a:r>
            <a:r>
              <a:rPr lang="en-US" sz="1700" dirty="0">
                <a:solidFill>
                  <a:schemeClr val="tx1"/>
                </a:solidFill>
              </a:rPr>
              <a:t> of €12,000.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3378708" y="2237232"/>
            <a:ext cx="2601468" cy="1921764"/>
          </a:xfrm>
          <a:prstGeom prst="roundRect">
            <a:avLst>
              <a:gd name="adj" fmla="val 3807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3561588" y="2346960"/>
            <a:ext cx="8641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ACC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4498848" y="2438400"/>
            <a:ext cx="219456" cy="219456"/>
          </a:xfrm>
          <a:prstGeom prst="ellipse">
            <a:avLst/>
          </a:prstGeom>
          <a:solidFill>
            <a:srgbClr val="B03A2E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773168" y="23469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6"/>
                </a:solidFill>
              </a:rPr>
              <a:t>BLOCKED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561588" y="2831592"/>
            <a:ext cx="2235708" cy="0"/>
          </a:xfrm>
          <a:prstGeom prst="line">
            <a:avLst/>
          </a:prstGeom>
          <a:noFill/>
          <a:ln w="12700">
            <a:solidFill>
              <a:srgbClr val="E3E8E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561588" y="2923032"/>
            <a:ext cx="2235708" cy="1144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We </a:t>
            </a:r>
            <a:r>
              <a:rPr lang="en-US" sz="1700" b="1" dirty="0">
                <a:solidFill>
                  <a:schemeClr val="tx1"/>
                </a:solidFill>
              </a:rPr>
              <a:t>haven’t received</a:t>
            </a:r>
            <a:r>
              <a:rPr lang="en-US" sz="1700" dirty="0">
                <a:solidFill>
                  <a:schemeClr val="tx1"/>
                </a:solidFill>
              </a:rPr>
              <a:t> a repair estimate </a:t>
            </a:r>
            <a:r>
              <a:rPr lang="en-US" sz="1700" b="1" dirty="0">
                <a:solidFill>
                  <a:schemeClr val="tx1"/>
                </a:solidFill>
              </a:rPr>
              <a:t>yet</a:t>
            </a: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6208776" y="2237232"/>
            <a:ext cx="2601468" cy="1921764"/>
          </a:xfrm>
          <a:prstGeom prst="roundRect">
            <a:avLst>
              <a:gd name="adj" fmla="val 3807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6391656" y="2346960"/>
            <a:ext cx="8641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IT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7328916" y="2438400"/>
            <a:ext cx="219456" cy="219456"/>
          </a:xfrm>
          <a:prstGeom prst="ellipse">
            <a:avLst/>
          </a:prstGeom>
          <a:solidFill>
            <a:srgbClr val="3C7A3C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603236" y="23469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</a:rPr>
              <a:t>ON TRACK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391656" y="2831592"/>
            <a:ext cx="2235708" cy="0"/>
          </a:xfrm>
          <a:prstGeom prst="line">
            <a:avLst/>
          </a:prstGeom>
          <a:noFill/>
          <a:ln w="12700">
            <a:solidFill>
              <a:srgbClr val="E3E8E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391656" y="2923032"/>
            <a:ext cx="2235708" cy="1144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We </a:t>
            </a:r>
            <a:r>
              <a:rPr lang="en-US" sz="1700" b="1" dirty="0">
                <a:solidFill>
                  <a:schemeClr val="tx1"/>
                </a:solidFill>
              </a:rPr>
              <a:t>have examined</a:t>
            </a:r>
            <a:r>
              <a:rPr lang="en-US" sz="1700" dirty="0">
                <a:solidFill>
                  <a:schemeClr val="tx1"/>
                </a:solidFill>
              </a:rPr>
              <a:t> the logs and </a:t>
            </a:r>
            <a:r>
              <a:rPr lang="en-US" sz="1700" b="1" dirty="0">
                <a:solidFill>
                  <a:schemeClr val="tx1"/>
                </a:solidFill>
              </a:rPr>
              <a:t>restored</a:t>
            </a:r>
            <a:r>
              <a:rPr lang="en-US" sz="1700" dirty="0">
                <a:solidFill>
                  <a:schemeClr val="tx1"/>
                </a:solidFill>
              </a:rPr>
              <a:t> the service.</a:t>
            </a:r>
            <a:endParaRPr lang="en-US" sz="1700" dirty="0"/>
          </a:p>
        </p:txBody>
      </p:sp>
      <p:sp>
        <p:nvSpPr>
          <p:cNvPr id="26" name="Shape 23"/>
          <p:cNvSpPr/>
          <p:nvPr/>
        </p:nvSpPr>
        <p:spPr>
          <a:xfrm>
            <a:off x="9038844" y="2237232"/>
            <a:ext cx="2601468" cy="1921764"/>
          </a:xfrm>
          <a:prstGeom prst="roundRect">
            <a:avLst>
              <a:gd name="adj" fmla="val 3807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27" name="Text 24"/>
          <p:cNvSpPr txBox="1"/>
          <p:nvPr/>
        </p:nvSpPr>
        <p:spPr>
          <a:xfrm>
            <a:off x="9221724" y="2346960"/>
            <a:ext cx="8641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IT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10158984" y="2438400"/>
            <a:ext cx="219456" cy="219456"/>
          </a:xfrm>
          <a:prstGeom prst="ellipse">
            <a:avLst/>
          </a:prstGeom>
          <a:solidFill>
            <a:srgbClr val="B03A2E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0433304" y="23469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6"/>
                </a:solidFill>
              </a:rPr>
              <a:t>BLOCKED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9221724" y="2831592"/>
            <a:ext cx="2235708" cy="0"/>
          </a:xfrm>
          <a:prstGeom prst="line">
            <a:avLst/>
          </a:prstGeom>
          <a:noFill/>
          <a:ln w="12700">
            <a:solidFill>
              <a:srgbClr val="E3E8E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221724" y="2923032"/>
            <a:ext cx="2235708" cy="1144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Nobody </a:t>
            </a:r>
            <a:r>
              <a:rPr lang="en-US" sz="1700" b="1" dirty="0">
                <a:solidFill>
                  <a:schemeClr val="tx1"/>
                </a:solidFill>
              </a:rPr>
              <a:t>has inspected</a:t>
            </a:r>
            <a:r>
              <a:rPr lang="en-US" sz="1700" dirty="0">
                <a:solidFill>
                  <a:schemeClr val="tx1"/>
                </a:solidFill>
              </a:rPr>
              <a:t> the basement </a:t>
            </a:r>
            <a:r>
              <a:rPr lang="en-US" sz="1700" b="1" dirty="0">
                <a:solidFill>
                  <a:schemeClr val="tx1"/>
                </a:solidFill>
              </a:rPr>
              <a:t>yet</a:t>
            </a: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32" name="Shape 29"/>
          <p:cNvSpPr/>
          <p:nvPr/>
        </p:nvSpPr>
        <p:spPr>
          <a:xfrm>
            <a:off x="548640" y="4387596"/>
            <a:ext cx="2601468" cy="1921764"/>
          </a:xfrm>
          <a:prstGeom prst="roundRect">
            <a:avLst>
              <a:gd name="adj" fmla="val 3807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33" name="Text 30"/>
          <p:cNvSpPr txBox="1"/>
          <p:nvPr/>
        </p:nvSpPr>
        <p:spPr>
          <a:xfrm>
            <a:off x="731520" y="4497324"/>
            <a:ext cx="8641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LAW</a:t>
            </a:r>
            <a:endParaRPr lang="en-US" sz="1800" dirty="0"/>
          </a:p>
        </p:txBody>
      </p:sp>
      <p:sp>
        <p:nvSpPr>
          <p:cNvPr id="34" name="Shape 31"/>
          <p:cNvSpPr/>
          <p:nvPr/>
        </p:nvSpPr>
        <p:spPr>
          <a:xfrm>
            <a:off x="1668780" y="4588764"/>
            <a:ext cx="219456" cy="219456"/>
          </a:xfrm>
          <a:prstGeom prst="ellipse">
            <a:avLst/>
          </a:prstGeom>
          <a:solidFill>
            <a:srgbClr val="3C7A3C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1943100" y="4497324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</a:rPr>
              <a:t>ON TRACK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731520" y="4981956"/>
            <a:ext cx="2235708" cy="0"/>
          </a:xfrm>
          <a:prstGeom prst="line">
            <a:avLst/>
          </a:prstGeom>
          <a:noFill/>
          <a:ln w="12700">
            <a:solidFill>
              <a:srgbClr val="E3E8EF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731520" y="5073396"/>
            <a:ext cx="2235708" cy="1144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We </a:t>
            </a:r>
            <a:r>
              <a:rPr lang="en-US" sz="1700" b="1" dirty="0">
                <a:solidFill>
                  <a:schemeClr val="tx1"/>
                </a:solidFill>
              </a:rPr>
              <a:t>have notified</a:t>
            </a:r>
            <a:r>
              <a:rPr lang="en-US" sz="1700" dirty="0">
                <a:solidFill>
                  <a:schemeClr val="tx1"/>
                </a:solidFill>
              </a:rPr>
              <a:t> the landlord in writing.</a:t>
            </a:r>
            <a:endParaRPr lang="en-US" sz="1700" dirty="0"/>
          </a:p>
        </p:txBody>
      </p:sp>
      <p:sp>
        <p:nvSpPr>
          <p:cNvPr id="38" name="Shape 35"/>
          <p:cNvSpPr/>
          <p:nvPr/>
        </p:nvSpPr>
        <p:spPr>
          <a:xfrm>
            <a:off x="3378708" y="4387596"/>
            <a:ext cx="2601468" cy="1921764"/>
          </a:xfrm>
          <a:prstGeom prst="roundRect">
            <a:avLst>
              <a:gd name="adj" fmla="val 3807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39" name="Text 36"/>
          <p:cNvSpPr txBox="1"/>
          <p:nvPr/>
        </p:nvSpPr>
        <p:spPr>
          <a:xfrm>
            <a:off x="3561588" y="4497324"/>
            <a:ext cx="8641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LAW</a:t>
            </a:r>
            <a:endParaRPr lang="en-US" sz="1800" dirty="0"/>
          </a:p>
        </p:txBody>
      </p:sp>
      <p:sp>
        <p:nvSpPr>
          <p:cNvPr id="40" name="Shape 37"/>
          <p:cNvSpPr/>
          <p:nvPr/>
        </p:nvSpPr>
        <p:spPr>
          <a:xfrm>
            <a:off x="4498848" y="4588764"/>
            <a:ext cx="219456" cy="219456"/>
          </a:xfrm>
          <a:prstGeom prst="ellipse">
            <a:avLst/>
          </a:prstGeom>
          <a:solidFill>
            <a:srgbClr val="D99A06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4773168" y="4497324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9A06"/>
                </a:solidFill>
              </a:rPr>
              <a:t>AT RISK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3561588" y="4981956"/>
            <a:ext cx="2235708" cy="0"/>
          </a:xfrm>
          <a:prstGeom prst="line">
            <a:avLst/>
          </a:prstGeom>
          <a:noFill/>
          <a:ln w="12700">
            <a:solidFill>
              <a:srgbClr val="E3E8EF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3561588" y="5073396"/>
            <a:ext cx="2235708" cy="1144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The contractor </a:t>
            </a:r>
            <a:r>
              <a:rPr lang="en-US" sz="1700" b="1" dirty="0">
                <a:solidFill>
                  <a:schemeClr val="tx1"/>
                </a:solidFill>
              </a:rPr>
              <a:t>hasn’t signed</a:t>
            </a:r>
            <a:r>
              <a:rPr lang="en-US" sz="1700" dirty="0">
                <a:solidFill>
                  <a:schemeClr val="tx1"/>
                </a:solidFill>
              </a:rPr>
              <a:t> his statement </a:t>
            </a:r>
            <a:r>
              <a:rPr lang="en-US" sz="1700" b="1" dirty="0">
                <a:solidFill>
                  <a:schemeClr val="tx1"/>
                </a:solidFill>
              </a:rPr>
              <a:t>yet</a:t>
            </a: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44" name="Shape 41"/>
          <p:cNvSpPr/>
          <p:nvPr/>
        </p:nvSpPr>
        <p:spPr>
          <a:xfrm>
            <a:off x="6208776" y="4387596"/>
            <a:ext cx="2601468" cy="1921764"/>
          </a:xfrm>
          <a:prstGeom prst="roundRect">
            <a:avLst>
              <a:gd name="adj" fmla="val 3807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45" name="Text 42"/>
          <p:cNvSpPr txBox="1"/>
          <p:nvPr/>
        </p:nvSpPr>
        <p:spPr>
          <a:xfrm>
            <a:off x="6391656" y="4497324"/>
            <a:ext cx="8641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</a:t>
            </a:r>
            <a:endParaRPr lang="en-US" sz="1800" dirty="0"/>
          </a:p>
        </p:txBody>
      </p:sp>
      <p:sp>
        <p:nvSpPr>
          <p:cNvPr id="46" name="Shape 43"/>
          <p:cNvSpPr/>
          <p:nvPr/>
        </p:nvSpPr>
        <p:spPr>
          <a:xfrm>
            <a:off x="7328916" y="4588764"/>
            <a:ext cx="219456" cy="219456"/>
          </a:xfrm>
          <a:prstGeom prst="ellipse">
            <a:avLst/>
          </a:prstGeom>
          <a:solidFill>
            <a:srgbClr val="3C7A3C"/>
          </a:solidFill>
          <a:ln/>
        </p:spPr>
      </p:sp>
      <p:sp>
        <p:nvSpPr>
          <p:cNvPr id="47" name="Text 44"/>
          <p:cNvSpPr txBox="1"/>
          <p:nvPr/>
        </p:nvSpPr>
        <p:spPr>
          <a:xfrm>
            <a:off x="7603236" y="4497324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</a:rPr>
              <a:t>ON TRACK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6391656" y="4981956"/>
            <a:ext cx="2235708" cy="0"/>
          </a:xfrm>
          <a:prstGeom prst="line">
            <a:avLst/>
          </a:prstGeom>
          <a:noFill/>
          <a:ln w="12700">
            <a:solidFill>
              <a:srgbClr val="E3E8E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6391656" y="5073396"/>
            <a:ext cx="2235708" cy="1144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We </a:t>
            </a:r>
            <a:r>
              <a:rPr lang="en-US" sz="1700" b="1" dirty="0">
                <a:solidFill>
                  <a:schemeClr val="tx1"/>
                </a:solidFill>
              </a:rPr>
              <a:t>have taken</a:t>
            </a:r>
            <a:r>
              <a:rPr lang="en-US" sz="1700" dirty="0">
                <a:solidFill>
                  <a:schemeClr val="tx1"/>
                </a:solidFill>
              </a:rPr>
              <a:t> photographs and </a:t>
            </a:r>
            <a:r>
              <a:rPr lang="en-US" sz="1700" b="1" dirty="0">
                <a:solidFill>
                  <a:schemeClr val="tx1"/>
                </a:solidFill>
              </a:rPr>
              <a:t>closed</a:t>
            </a:r>
            <a:r>
              <a:rPr lang="en-US" sz="1700" dirty="0">
                <a:solidFill>
                  <a:schemeClr val="tx1"/>
                </a:solidFill>
              </a:rPr>
              <a:t> the second floor.</a:t>
            </a:r>
            <a:endParaRPr lang="en-US" sz="1700" dirty="0"/>
          </a:p>
        </p:txBody>
      </p:sp>
      <p:sp>
        <p:nvSpPr>
          <p:cNvPr id="50" name="Shape 47"/>
          <p:cNvSpPr/>
          <p:nvPr/>
        </p:nvSpPr>
        <p:spPr>
          <a:xfrm>
            <a:off x="9038844" y="4387596"/>
            <a:ext cx="2601468" cy="1921764"/>
          </a:xfrm>
          <a:prstGeom prst="roundRect">
            <a:avLst>
              <a:gd name="adj" fmla="val 3807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51" name="Text 48"/>
          <p:cNvSpPr txBox="1"/>
          <p:nvPr/>
        </p:nvSpPr>
        <p:spPr>
          <a:xfrm>
            <a:off x="9221724" y="4497324"/>
            <a:ext cx="8641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</a:t>
            </a:r>
            <a:endParaRPr lang="en-US" sz="1800" dirty="0"/>
          </a:p>
        </p:txBody>
      </p:sp>
      <p:sp>
        <p:nvSpPr>
          <p:cNvPr id="52" name="Shape 49"/>
          <p:cNvSpPr/>
          <p:nvPr/>
        </p:nvSpPr>
        <p:spPr>
          <a:xfrm>
            <a:off x="10158984" y="4588764"/>
            <a:ext cx="219456" cy="219456"/>
          </a:xfrm>
          <a:prstGeom prst="ellipse">
            <a:avLst/>
          </a:prstGeom>
          <a:solidFill>
            <a:srgbClr val="D99A06"/>
          </a:solidFill>
          <a:ln/>
        </p:spPr>
      </p:sp>
      <p:sp>
        <p:nvSpPr>
          <p:cNvPr id="53" name="Text 50"/>
          <p:cNvSpPr txBox="1"/>
          <p:nvPr/>
        </p:nvSpPr>
        <p:spPr>
          <a:xfrm>
            <a:off x="10433304" y="4497324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9A06"/>
                </a:solidFill>
              </a:rPr>
              <a:t>AT RISK</a:t>
            </a:r>
            <a:endParaRPr lang="en-US" sz="1100" dirty="0"/>
          </a:p>
        </p:txBody>
      </p:sp>
      <p:sp>
        <p:nvSpPr>
          <p:cNvPr id="54" name="Shape 51"/>
          <p:cNvSpPr/>
          <p:nvPr/>
        </p:nvSpPr>
        <p:spPr>
          <a:xfrm>
            <a:off x="9221724" y="4981956"/>
            <a:ext cx="2235708" cy="0"/>
          </a:xfrm>
          <a:prstGeom prst="line">
            <a:avLst/>
          </a:prstGeom>
          <a:noFill/>
          <a:ln w="12700">
            <a:solidFill>
              <a:srgbClr val="E3E8EF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9221724" y="5073396"/>
            <a:ext cx="2235708" cy="1144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We </a:t>
            </a:r>
            <a:r>
              <a:rPr lang="en-US" sz="1700" b="1" dirty="0">
                <a:solidFill>
                  <a:schemeClr val="tx1"/>
                </a:solidFill>
              </a:rPr>
              <a:t>haven’t updated</a:t>
            </a:r>
            <a:r>
              <a:rPr lang="en-US" sz="1700" dirty="0">
                <a:solidFill>
                  <a:schemeClr val="tx1"/>
                </a:solidFill>
              </a:rPr>
              <a:t> the </a:t>
            </a:r>
            <a:r>
              <a:rPr lang="en-US" sz="1700" b="1" dirty="0">
                <a:solidFill>
                  <a:schemeClr val="tx1"/>
                </a:solidFill>
              </a:rPr>
              <a:t>inventory of fixtures</a:t>
            </a:r>
            <a:r>
              <a:rPr lang="en-US" sz="1700" dirty="0">
                <a:solidFill>
                  <a:schemeClr val="tx1"/>
                </a:solidFill>
              </a:rPr>
              <a:t> </a:t>
            </a:r>
            <a:r>
              <a:rPr lang="en-US" sz="1700" b="1" dirty="0">
                <a:solidFill>
                  <a:schemeClr val="tx1"/>
                </a:solidFill>
              </a:rPr>
              <a:t>yet</a:t>
            </a: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Roll the dice — the team call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822960" cy="310896"/>
          </a:xfrm>
          <a:prstGeom prst="roundRect">
            <a:avLst>
              <a:gd name="adj" fmla="val 14706"/>
            </a:avLst>
          </a:prstGeom>
          <a:solidFill>
            <a:srgbClr val="B4236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GAME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livret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27632"/>
            <a:ext cx="11091672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Groups of four, three rounds each. Roll a die and do what the face says. </a:t>
            </a:r>
            <a:r>
              <a:rPr lang="en-US" sz="1600" b="1" i="1" dirty="0">
                <a:solidFill>
                  <a:schemeClr val="accent5"/>
                </a:solidFill>
              </a:rPr>
              <a:t>1 point</a:t>
            </a:r>
            <a:r>
              <a:rPr lang="en-US" sz="1600" i="1" dirty="0">
                <a:solidFill>
                  <a:schemeClr val="accent5"/>
                </a:solidFill>
              </a:rPr>
              <a:t> per correct present perfect · </a:t>
            </a:r>
            <a:r>
              <a:rPr lang="en-US" sz="1600" b="1" i="1" dirty="0">
                <a:solidFill>
                  <a:schemeClr val="accent5"/>
                </a:solidFill>
              </a:rPr>
              <a:t>+1</a:t>
            </a:r>
            <a:r>
              <a:rPr lang="en-US" sz="1600" i="1" dirty="0">
                <a:solidFill>
                  <a:schemeClr val="accent5"/>
                </a:solidFill>
              </a:rPr>
              <a:t> if the others understood your field’s word.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481072"/>
            <a:ext cx="5431536" cy="1123696"/>
          </a:xfrm>
          <a:prstGeom prst="roundRect">
            <a:avLst>
              <a:gd name="adj" fmla="val 6510"/>
            </a:avLst>
          </a:prstGeom>
          <a:solidFill>
            <a:srgbClr val="3C7A3C">
              <a:alpha val="8000"/>
            </a:srgbClr>
          </a:solidFill>
          <a:ln w="12700">
            <a:solidFill>
              <a:srgbClr val="3C7A3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2618232"/>
            <a:ext cx="849376" cy="849376"/>
          </a:xfrm>
          <a:prstGeom prst="roundRect">
            <a:avLst>
              <a:gd name="adj" fmla="val 16148"/>
            </a:avLst>
          </a:prstGeom>
          <a:solidFill>
            <a:srgbClr val="FFFFFF"/>
          </a:solidFill>
          <a:ln w="25400">
            <a:solidFill>
              <a:srgbClr val="3C7A3C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084011" y="2970723"/>
            <a:ext cx="144394" cy="144394"/>
          </a:xfrm>
          <a:prstGeom prst="ellipse">
            <a:avLst/>
          </a:prstGeom>
          <a:solidFill>
            <a:srgbClr val="3C7A3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809496" y="2554224"/>
            <a:ext cx="4170680" cy="977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C7A3C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DONE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One line from </a:t>
            </a:r>
            <a:r>
              <a:rPr lang="en-US" sz="1600" b="1" dirty="0">
                <a:solidFill>
                  <a:schemeClr val="tx1"/>
                </a:solidFill>
              </a:rPr>
              <a:t>your field</a:t>
            </a:r>
            <a:r>
              <a:rPr lang="en-US" sz="1600" dirty="0">
                <a:solidFill>
                  <a:schemeClr val="tx1"/>
                </a:solidFill>
              </a:rPr>
              <a:t> under DONE: </a:t>
            </a:r>
            <a:r>
              <a:rPr lang="en-US" sz="1600" i="1" dirty="0">
                <a:solidFill>
                  <a:schemeClr val="tx1"/>
                </a:solidFill>
              </a:rPr>
              <a:t>We have already…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208776" y="2481072"/>
            <a:ext cx="5431536" cy="1123696"/>
          </a:xfrm>
          <a:prstGeom prst="roundRect">
            <a:avLst>
              <a:gd name="adj" fmla="val 6510"/>
            </a:avLst>
          </a:prstGeom>
          <a:solidFill>
            <a:srgbClr val="B03A2E">
              <a:alpha val="8000"/>
            </a:srgbClr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391656" y="2618232"/>
            <a:ext cx="849376" cy="849376"/>
          </a:xfrm>
          <a:prstGeom prst="roundRect">
            <a:avLst>
              <a:gd name="adj" fmla="val 16148"/>
            </a:avLst>
          </a:prstGeom>
          <a:solidFill>
            <a:srgbClr val="FFFFFF"/>
          </a:solidFill>
          <a:ln w="25400">
            <a:solidFill>
              <a:srgbClr val="B03A2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506322" y="2732898"/>
            <a:ext cx="144394" cy="144394"/>
          </a:xfrm>
          <a:prstGeom prst="ellipse">
            <a:avLst/>
          </a:prstGeom>
          <a:solidFill>
            <a:srgbClr val="B03A2E"/>
          </a:solidFill>
          <a:ln/>
        </p:spPr>
      </p:sp>
      <p:sp>
        <p:nvSpPr>
          <p:cNvPr id="14" name="Shape 11"/>
          <p:cNvSpPr/>
          <p:nvPr/>
        </p:nvSpPr>
        <p:spPr>
          <a:xfrm>
            <a:off x="6981972" y="3208548"/>
            <a:ext cx="144394" cy="144394"/>
          </a:xfrm>
          <a:prstGeom prst="ellipse">
            <a:avLst/>
          </a:prstGeom>
          <a:solidFill>
            <a:srgbClr val="B03A2E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469632" y="2554224"/>
            <a:ext cx="4170680" cy="977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03A2E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NOT YET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One line under NOT YET, with </a:t>
            </a:r>
            <a:r>
              <a:rPr lang="en-US" sz="1600" b="1" dirty="0">
                <a:solidFill>
                  <a:schemeClr val="tx1"/>
                </a:solidFill>
              </a:rPr>
              <a:t>yet</a:t>
            </a:r>
            <a:r>
              <a:rPr lang="en-US" sz="1600" dirty="0">
                <a:solidFill>
                  <a:schemeClr val="tx1"/>
                </a:solidFill>
              </a:rPr>
              <a:t>: </a:t>
            </a:r>
            <a:r>
              <a:rPr lang="en-US" sz="1600" i="1" dirty="0">
                <a:solidFill>
                  <a:schemeClr val="tx1"/>
                </a:solidFill>
              </a:rPr>
              <a:t>Nobody has … yet.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48640" y="3833368"/>
            <a:ext cx="5431536" cy="1123696"/>
          </a:xfrm>
          <a:prstGeom prst="roundRect">
            <a:avLst>
              <a:gd name="adj" fmla="val 6510"/>
            </a:avLst>
          </a:prstGeom>
          <a:solidFill>
            <a:srgbClr val="B4236A">
              <a:alpha val="8000"/>
            </a:srgbClr>
          </a:solidFill>
          <a:ln w="12700">
            <a:solidFill>
              <a:srgbClr val="B4236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31520" y="3970528"/>
            <a:ext cx="849376" cy="849376"/>
          </a:xfrm>
          <a:prstGeom prst="roundRect">
            <a:avLst>
              <a:gd name="adj" fmla="val 16148"/>
            </a:avLst>
          </a:prstGeom>
          <a:solidFill>
            <a:srgbClr val="FFFFFF"/>
          </a:solidFill>
          <a:ln w="25400">
            <a:solidFill>
              <a:srgbClr val="B4236A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46186" y="4085194"/>
            <a:ext cx="144394" cy="144394"/>
          </a:xfrm>
          <a:prstGeom prst="ellipse">
            <a:avLst/>
          </a:prstGeom>
          <a:solidFill>
            <a:srgbClr val="B4236A"/>
          </a:solidFill>
          <a:ln/>
        </p:spPr>
      </p:sp>
      <p:sp>
        <p:nvSpPr>
          <p:cNvPr id="19" name="Shape 16"/>
          <p:cNvSpPr/>
          <p:nvPr/>
        </p:nvSpPr>
        <p:spPr>
          <a:xfrm>
            <a:off x="1084011" y="4323019"/>
            <a:ext cx="144394" cy="144394"/>
          </a:xfrm>
          <a:prstGeom prst="ellipse">
            <a:avLst/>
          </a:prstGeom>
          <a:solidFill>
            <a:srgbClr val="B4236A"/>
          </a:solidFill>
          <a:ln/>
        </p:spPr>
      </p:sp>
      <p:sp>
        <p:nvSpPr>
          <p:cNvPr id="20" name="Shape 17"/>
          <p:cNvSpPr/>
          <p:nvPr/>
        </p:nvSpPr>
        <p:spPr>
          <a:xfrm>
            <a:off x="1321836" y="4560844"/>
            <a:ext cx="144394" cy="144394"/>
          </a:xfrm>
          <a:prstGeom prst="ellipse">
            <a:avLst/>
          </a:prstGeom>
          <a:solidFill>
            <a:srgbClr val="B4236A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809496" y="3906520"/>
            <a:ext cx="4170680" cy="977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236A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TABOO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Explain one word of </a:t>
            </a:r>
            <a:r>
              <a:rPr lang="en-US" sz="1600" b="1" dirty="0">
                <a:solidFill>
                  <a:schemeClr val="tx1"/>
                </a:solidFill>
              </a:rPr>
              <a:t>your</a:t>
            </a:r>
            <a:r>
              <a:rPr lang="en-US" sz="1600" dirty="0">
                <a:solidFill>
                  <a:schemeClr val="tx1"/>
                </a:solidFill>
              </a:rPr>
              <a:t> list without saying it. The group guesses.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6208776" y="3833368"/>
            <a:ext cx="5431536" cy="1123696"/>
          </a:xfrm>
          <a:prstGeom prst="roundRect">
            <a:avLst>
              <a:gd name="adj" fmla="val 6510"/>
            </a:avLst>
          </a:prstGeom>
          <a:solidFill>
            <a:srgbClr val="C0752A">
              <a:alpha val="8000"/>
            </a:srgbClr>
          </a:solidFill>
          <a:ln w="12700">
            <a:solidFill>
              <a:srgbClr val="C0752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91656" y="3970528"/>
            <a:ext cx="849376" cy="849376"/>
          </a:xfrm>
          <a:prstGeom prst="roundRect">
            <a:avLst>
              <a:gd name="adj" fmla="val 16148"/>
            </a:avLst>
          </a:prstGeom>
          <a:solidFill>
            <a:srgbClr val="FFFFFF"/>
          </a:solidFill>
          <a:ln w="25400">
            <a:solidFill>
              <a:srgbClr val="C0752A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506322" y="4085194"/>
            <a:ext cx="144394" cy="144394"/>
          </a:xfrm>
          <a:prstGeom prst="ellipse">
            <a:avLst/>
          </a:prstGeom>
          <a:solidFill>
            <a:srgbClr val="C0752A"/>
          </a:solidFill>
          <a:ln/>
        </p:spPr>
      </p:sp>
      <p:sp>
        <p:nvSpPr>
          <p:cNvPr id="25" name="Shape 22"/>
          <p:cNvSpPr/>
          <p:nvPr/>
        </p:nvSpPr>
        <p:spPr>
          <a:xfrm>
            <a:off x="6981972" y="4085194"/>
            <a:ext cx="144394" cy="144394"/>
          </a:xfrm>
          <a:prstGeom prst="ellipse">
            <a:avLst/>
          </a:prstGeom>
          <a:solidFill>
            <a:srgbClr val="C0752A"/>
          </a:solidFill>
          <a:ln/>
        </p:spPr>
      </p:sp>
      <p:sp>
        <p:nvSpPr>
          <p:cNvPr id="26" name="Shape 23"/>
          <p:cNvSpPr/>
          <p:nvPr/>
        </p:nvSpPr>
        <p:spPr>
          <a:xfrm>
            <a:off x="6506322" y="4560844"/>
            <a:ext cx="144394" cy="144394"/>
          </a:xfrm>
          <a:prstGeom prst="ellipse">
            <a:avLst/>
          </a:prstGeom>
          <a:solidFill>
            <a:srgbClr val="C0752A"/>
          </a:solidFill>
          <a:ln/>
        </p:spPr>
      </p:sp>
      <p:sp>
        <p:nvSpPr>
          <p:cNvPr id="27" name="Shape 24"/>
          <p:cNvSpPr/>
          <p:nvPr/>
        </p:nvSpPr>
        <p:spPr>
          <a:xfrm>
            <a:off x="6981972" y="4560844"/>
            <a:ext cx="144394" cy="144394"/>
          </a:xfrm>
          <a:prstGeom prst="ellipse">
            <a:avLst/>
          </a:prstGeom>
          <a:solidFill>
            <a:srgbClr val="C0752A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7469632" y="3906520"/>
            <a:ext cx="4170680" cy="977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752A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BOTTLENECK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blocks everything? </a:t>
            </a:r>
            <a:r>
              <a:rPr lang="en-US" sz="1600" i="1" dirty="0">
                <a:solidFill>
                  <a:schemeClr val="tx1"/>
                </a:solidFill>
              </a:rPr>
              <a:t>It’s the bottleneck because… Until we have…, we can’t…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548640" y="5185664"/>
            <a:ext cx="5431536" cy="1123696"/>
          </a:xfrm>
          <a:prstGeom prst="roundRect">
            <a:avLst>
              <a:gd name="adj" fmla="val 6510"/>
            </a:avLst>
          </a:prstGeom>
          <a:solidFill>
            <a:srgbClr val="2E75B6">
              <a:alpha val="8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31520" y="5322824"/>
            <a:ext cx="849376" cy="849376"/>
          </a:xfrm>
          <a:prstGeom prst="roundRect">
            <a:avLst>
              <a:gd name="adj" fmla="val 16148"/>
            </a:avLst>
          </a:prstGeom>
          <a:solidFill>
            <a:srgbClr val="FFFFFF"/>
          </a:solidFill>
          <a:ln w="254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846186" y="5437490"/>
            <a:ext cx="144394" cy="144394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32" name="Shape 29"/>
          <p:cNvSpPr/>
          <p:nvPr/>
        </p:nvSpPr>
        <p:spPr>
          <a:xfrm>
            <a:off x="1321836" y="5437490"/>
            <a:ext cx="144394" cy="144394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33" name="Shape 30"/>
          <p:cNvSpPr/>
          <p:nvPr/>
        </p:nvSpPr>
        <p:spPr>
          <a:xfrm>
            <a:off x="1084011" y="5675315"/>
            <a:ext cx="144394" cy="144394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34" name="Shape 31"/>
          <p:cNvSpPr/>
          <p:nvPr/>
        </p:nvSpPr>
        <p:spPr>
          <a:xfrm>
            <a:off x="846186" y="5913140"/>
            <a:ext cx="144394" cy="144394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35" name="Shape 32"/>
          <p:cNvSpPr/>
          <p:nvPr/>
        </p:nvSpPr>
        <p:spPr>
          <a:xfrm>
            <a:off x="1321836" y="5913140"/>
            <a:ext cx="144394" cy="144394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1809496" y="5258816"/>
            <a:ext cx="4170680" cy="977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5B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CHASE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Chase a colleague politely: </a:t>
            </a:r>
            <a:r>
              <a:rPr lang="en-US" sz="1600" i="1" dirty="0">
                <a:solidFill>
                  <a:schemeClr val="tx1"/>
                </a:solidFill>
              </a:rPr>
              <a:t>Could you send me… by noon? I’ve already asked twice.</a:t>
            </a:r>
            <a:endParaRPr lang="en-US" sz="1800" dirty="0"/>
          </a:p>
        </p:txBody>
      </p:sp>
      <p:sp>
        <p:nvSpPr>
          <p:cNvPr id="37" name="Shape 34"/>
          <p:cNvSpPr/>
          <p:nvPr/>
        </p:nvSpPr>
        <p:spPr>
          <a:xfrm>
            <a:off x="6208776" y="5185664"/>
            <a:ext cx="5431536" cy="1123696"/>
          </a:xfrm>
          <a:prstGeom prst="roundRect">
            <a:avLst>
              <a:gd name="adj" fmla="val 6510"/>
            </a:avLst>
          </a:prstGeom>
          <a:solidFill>
            <a:srgbClr val="6E4A9E">
              <a:alpha val="8000"/>
            </a:srgbClr>
          </a:solidFill>
          <a:ln w="12700">
            <a:solidFill>
              <a:srgbClr val="6E4A9E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391656" y="5322824"/>
            <a:ext cx="849376" cy="849376"/>
          </a:xfrm>
          <a:prstGeom prst="roundRect">
            <a:avLst>
              <a:gd name="adj" fmla="val 16148"/>
            </a:avLst>
          </a:prstGeom>
          <a:solidFill>
            <a:srgbClr val="FFFFFF"/>
          </a:solidFill>
          <a:ln w="25400">
            <a:solidFill>
              <a:srgbClr val="6E4A9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6506322" y="5437490"/>
            <a:ext cx="144394" cy="144394"/>
          </a:xfrm>
          <a:prstGeom prst="ellipse">
            <a:avLst/>
          </a:prstGeom>
          <a:solidFill>
            <a:srgbClr val="6E4A9E"/>
          </a:solidFill>
          <a:ln/>
        </p:spPr>
      </p:sp>
      <p:sp>
        <p:nvSpPr>
          <p:cNvPr id="40" name="Shape 37"/>
          <p:cNvSpPr/>
          <p:nvPr/>
        </p:nvSpPr>
        <p:spPr>
          <a:xfrm>
            <a:off x="6506322" y="5675315"/>
            <a:ext cx="144394" cy="144394"/>
          </a:xfrm>
          <a:prstGeom prst="ellipse">
            <a:avLst/>
          </a:prstGeom>
          <a:solidFill>
            <a:srgbClr val="6E4A9E"/>
          </a:solidFill>
          <a:ln/>
        </p:spPr>
      </p:sp>
      <p:sp>
        <p:nvSpPr>
          <p:cNvPr id="41" name="Shape 38"/>
          <p:cNvSpPr/>
          <p:nvPr/>
        </p:nvSpPr>
        <p:spPr>
          <a:xfrm>
            <a:off x="6506322" y="5913140"/>
            <a:ext cx="144394" cy="144394"/>
          </a:xfrm>
          <a:prstGeom prst="ellipse">
            <a:avLst/>
          </a:prstGeom>
          <a:solidFill>
            <a:srgbClr val="6E4A9E"/>
          </a:solidFill>
          <a:ln/>
        </p:spPr>
      </p:sp>
      <p:sp>
        <p:nvSpPr>
          <p:cNvPr id="42" name="Shape 39"/>
          <p:cNvSpPr/>
          <p:nvPr/>
        </p:nvSpPr>
        <p:spPr>
          <a:xfrm>
            <a:off x="6981972" y="5437490"/>
            <a:ext cx="144394" cy="144394"/>
          </a:xfrm>
          <a:prstGeom prst="ellipse">
            <a:avLst/>
          </a:prstGeom>
          <a:solidFill>
            <a:srgbClr val="6E4A9E"/>
          </a:solidFill>
          <a:ln/>
        </p:spPr>
      </p:sp>
      <p:sp>
        <p:nvSpPr>
          <p:cNvPr id="43" name="Shape 40"/>
          <p:cNvSpPr/>
          <p:nvPr/>
        </p:nvSpPr>
        <p:spPr>
          <a:xfrm>
            <a:off x="6981972" y="5675315"/>
            <a:ext cx="144394" cy="144394"/>
          </a:xfrm>
          <a:prstGeom prst="ellipse">
            <a:avLst/>
          </a:prstGeom>
          <a:solidFill>
            <a:srgbClr val="6E4A9E"/>
          </a:solidFill>
          <a:ln/>
        </p:spPr>
      </p:sp>
      <p:sp>
        <p:nvSpPr>
          <p:cNvPr id="44" name="Shape 41"/>
          <p:cNvSpPr/>
          <p:nvPr/>
        </p:nvSpPr>
        <p:spPr>
          <a:xfrm>
            <a:off x="6981972" y="5913140"/>
            <a:ext cx="144394" cy="144394"/>
          </a:xfrm>
          <a:prstGeom prst="ellipse">
            <a:avLst/>
          </a:prstGeom>
          <a:solidFill>
            <a:srgbClr val="6E4A9E"/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7469632" y="5258816"/>
            <a:ext cx="4170680" cy="977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E4A9E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IN THE LOOP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Ask a question with </a:t>
            </a:r>
            <a:r>
              <a:rPr lang="en-US" sz="1600" b="1" dirty="0">
                <a:solidFill>
                  <a:schemeClr val="tx1"/>
                </a:solidFill>
              </a:rPr>
              <a:t>yet</a:t>
            </a:r>
            <a:r>
              <a:rPr lang="en-US" sz="1600" dirty="0">
                <a:solidFill>
                  <a:schemeClr val="tx1"/>
                </a:solidFill>
              </a:rPr>
              <a:t> — then promise to keep somebody </a:t>
            </a:r>
            <a:r>
              <a:rPr lang="en-US" sz="1600" b="1" dirty="0">
                <a:solidFill>
                  <a:schemeClr val="tx1"/>
                </a:solidFill>
              </a:rPr>
              <a:t>in the loop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Before you close the file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965960" cy="310896"/>
          </a:xfrm>
          <a:prstGeom prst="roundRect">
            <a:avLst>
              <a:gd name="adj" fmla="val 14706"/>
            </a:avLst>
          </a:prstGeom>
          <a:solidFill>
            <a:srgbClr val="C075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END OF SESSION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035040" cy="2697480"/>
          </a:xfrm>
          <a:prstGeom prst="roundRect">
            <a:avLst>
              <a:gd name="adj" fmla="val 2712"/>
            </a:avLst>
          </a:prstGeom>
          <a:solidFill>
            <a:srgbClr val="1F386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NEXT IN THE FILE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50008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At 10.18 your phone buzzes. An e-mail from the contractor. Subject line: </a:t>
            </a:r>
            <a:r>
              <a:rPr lang="en-US" sz="2200" b="1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“About yesterday evening”</a:t>
            </a:r>
            <a:r>
              <a:rPr lang="en-US" sz="22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4754880"/>
            <a:ext cx="6035040" cy="1554480"/>
          </a:xfrm>
          <a:prstGeom prst="roundRect">
            <a:avLst>
              <a:gd name="adj" fmla="val 4706"/>
            </a:avLst>
          </a:prstGeom>
          <a:solidFill>
            <a:srgbClr val="C0752A">
              <a:alpha val="12000"/>
            </a:srgbClr>
          </a:solidFill>
          <a:ln w="15875">
            <a:solidFill>
              <a:srgbClr val="C0752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983480"/>
            <a:ext cx="329184" cy="32918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98448" y="495604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EXIT TICKET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544068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Say your update in 30 seconds — with one </a:t>
            </a:r>
            <a:r>
              <a:rPr lang="en-US" sz="1800" i="1" dirty="0">
                <a:solidFill>
                  <a:schemeClr val="tx1"/>
                </a:solidFill>
              </a:rPr>
              <a:t>already</a:t>
            </a:r>
            <a:r>
              <a:rPr lang="en-US" sz="1800" dirty="0">
                <a:solidFill>
                  <a:schemeClr val="tx1"/>
                </a:solidFill>
              </a:rPr>
              <a:t> and one </a:t>
            </a:r>
            <a:r>
              <a:rPr lang="en-US" sz="1800" i="1" dirty="0">
                <a:solidFill>
                  <a:schemeClr val="tx1"/>
                </a:solidFill>
              </a:rPr>
              <a:t>yet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903720" y="1783080"/>
            <a:ext cx="4736592" cy="4526280"/>
          </a:xfrm>
          <a:prstGeom prst="roundRect">
            <a:avLst>
              <a:gd name="adj" fmla="val 1616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9752" y="2002536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653528" y="1984248"/>
            <a:ext cx="3822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tx2"/>
                </a:solidFill>
              </a:rPr>
              <a:t>BEFORE NEXT SESSION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2606040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589520" y="2560320"/>
            <a:ext cx="3867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Learn the </a:t>
            </a:r>
            <a:r>
              <a:rPr lang="en-US" sz="1700" b="1" dirty="0">
                <a:solidFill>
                  <a:schemeClr val="tx1"/>
                </a:solidFill>
              </a:rPr>
              <a:t>progress expressions</a:t>
            </a:r>
            <a:r>
              <a:rPr lang="en-US" sz="1700" dirty="0">
                <a:solidFill>
                  <a:schemeClr val="tx1"/>
                </a:solidFill>
              </a:rPr>
              <a:t>, colour by colour.</a:t>
            </a:r>
            <a:endParaRPr lang="en-US" sz="17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0" y="3611880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589520" y="3566160"/>
            <a:ext cx="3867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Learn </a:t>
            </a:r>
            <a:r>
              <a:rPr lang="en-US" sz="1700" b="1" dirty="0">
                <a:solidFill>
                  <a:schemeClr val="tx1"/>
                </a:solidFill>
              </a:rPr>
              <a:t>your</a:t>
            </a:r>
            <a:r>
              <a:rPr lang="en-US" sz="1700" dirty="0">
                <a:solidFill>
                  <a:schemeClr val="tx1"/>
                </a:solidFill>
              </a:rPr>
              <a:t> field’s 5 words + recognise the other 15.</a:t>
            </a:r>
            <a:endParaRPr lang="en-US" sz="17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0" y="4617720"/>
            <a:ext cx="256032" cy="256032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7589520" y="4572000"/>
            <a:ext cx="3867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Rewrite your update without looking at the model.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ject Atlas">
  <a:themeElements>
    <a:clrScheme name="Project Atlas">
      <a:dk1>
        <a:srgbClr val="1B2333"/>
      </a:dk1>
      <a:lt1>
        <a:srgbClr val="FFFFFF"/>
      </a:lt1>
      <a:dk2>
        <a:srgbClr val="1F3864"/>
      </a:dk2>
      <a:lt2>
        <a:srgbClr val="EEF2F8"/>
      </a:lt2>
      <a:accent1>
        <a:srgbClr val="C0752A"/>
      </a:accent1>
      <a:accent2>
        <a:srgbClr val="2E75B6"/>
      </a:accent2>
      <a:accent3>
        <a:srgbClr val="3C7A3C"/>
      </a:accent3>
      <a:accent4>
        <a:srgbClr val="6E4A9E"/>
      </a:accent4>
      <a:accent5>
        <a:srgbClr val="44546A"/>
      </a:accent5>
      <a:accent6>
        <a:srgbClr val="B03A2E"/>
      </a:accent6>
      <a:hlink>
        <a:srgbClr val="2E75B6"/>
      </a:hlink>
      <a:folHlink>
        <a:srgbClr val="6E4A9E"/>
      </a:folHlink>
    </a:clrScheme>
    <a:fontScheme name="Project Atla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English UE 3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Séance 10 — Write the ten o’clock update</dc:title>
  <dc:subject>Case File 01 — The night nobody heard</dc:subject>
  <dc:creator>A. Jouniaux</dc:creator>
  <cp:lastModifiedBy>A. Jouniaux</cp:lastModifiedBy>
  <cp:revision>1</cp:revision>
  <dcterms:created xsi:type="dcterms:W3CDTF">2026-10-17T17:37:26Z</dcterms:created>
  <dcterms:modified xsi:type="dcterms:W3CDTF">2026-10-17T17:37:26Z</dcterms:modified>
</cp:coreProperties>
</file>