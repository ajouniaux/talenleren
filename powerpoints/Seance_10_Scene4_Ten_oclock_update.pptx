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3d734ec-0028-1687-82b0-975143aa52d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lôture" id="{d4b00b64-41ad-8caa-53c1-290cc9bd0f83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écrite courte (update de 5 lignes) et travail d’équipe sur le tableau. Vocabulaire : expressions d’avancement + mots de chaque domaine.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Modèle à projeter après la production des élèves (pas avant).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Modèle construit à partir des fiches des firmes (p. 45–46). À projeter après le travail de groupe.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10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10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10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4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10.00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Write the ten o’clock update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Nine people will read this on their phones. Five lines, not six.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20–22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24232"/>
            <a:ext cx="5120640" cy="3409535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20–22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ten o’clock update</a:t>
            </a:r>
            <a:r>
              <a:rPr lang="en-US" sz="1800" dirty="0">
                <a:solidFill>
                  <a:schemeClr val="tx1"/>
                </a:solidFill>
              </a:rPr>
              <a:t> (five lines) and your team’s DONE / NOT YET board.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 perfect in context · progress expressions (</a:t>
            </a:r>
            <a:r>
              <a:rPr lang="en-US" sz="1400" i="1" dirty="0">
                <a:solidFill>
                  <a:schemeClr val="tx1"/>
                </a:solidFill>
              </a:rPr>
              <a:t>on track, fall behind, keep in the loop, touch base, up to speed, bottleneck, chase</a:t>
            </a:r>
            <a:r>
              <a:rPr lang="en-US" sz="1400" dirty="0">
                <a:solidFill>
                  <a:schemeClr val="tx1"/>
                </a:solidFill>
              </a:rPr>
              <a:t>) · your field’s key words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Writing a short status update · explaining your field to colleagues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5967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596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Warm-up: already / yet / just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51402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5140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42887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Word file: progress expressions (p. 21)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42887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306838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306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298323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Write the update (p. 20)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298323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62273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6227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53758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 + common errors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53758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4177093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4177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409194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Your field’s words (p. 21–22)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409194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73144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7314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64629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Team call: the board (p. 20)</a:t>
            </a:r>
            <a:endParaRPr lang="en-US" sz="16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64629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528580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5285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520065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Taboo game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520065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6263640" y="584015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263640" y="58401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784848" y="575500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Wrap-up</a:t>
            </a:r>
            <a:endParaRPr lang="en-US" sz="1600" dirty="0"/>
          </a:p>
        </p:txBody>
      </p:sp>
      <p:sp>
        <p:nvSpPr>
          <p:cNvPr id="53" name="Text 48"/>
          <p:cNvSpPr txBox="1"/>
          <p:nvPr/>
        </p:nvSpPr>
        <p:spPr>
          <a:xfrm>
            <a:off x="10972800" y="575500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where does the adverb go?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9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Iris has taken the photographs. </a:t>
            </a:r>
            <a:r>
              <a:rPr lang="en-US" sz="2400" i="1" dirty="0">
                <a:solidFill>
                  <a:schemeClr val="tx1"/>
                </a:solidFill>
              </a:rPr>
              <a:t>(already)</a:t>
            </a:r>
            <a:r>
              <a:rPr lang="en-US" sz="2400" dirty="0">
                <a:solidFill>
                  <a:schemeClr val="tx1"/>
                </a:solidFill>
              </a:rPr>
              <a:t>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Has anyone called the insurer? </a:t>
            </a:r>
            <a:r>
              <a:rPr lang="en-US" sz="2400" i="1" dirty="0">
                <a:solidFill>
                  <a:schemeClr val="tx1"/>
                </a:solidFill>
              </a:rPr>
              <a:t>(yet)</a:t>
            </a:r>
            <a:r>
              <a:rPr lang="en-US" sz="2400" dirty="0">
                <a:solidFill>
                  <a:schemeClr val="tx1"/>
                </a:solidFill>
              </a:rPr>
              <a:t>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I’ve come back from the basement. </a:t>
            </a:r>
            <a:r>
              <a:rPr lang="en-US" sz="2400" i="1" dirty="0">
                <a:solidFill>
                  <a:schemeClr val="tx1"/>
                </a:solidFill>
              </a:rPr>
              <a:t>(just)</a:t>
            </a:r>
            <a:r>
              <a:rPr lang="en-US" sz="2400" dirty="0">
                <a:solidFill>
                  <a:schemeClr val="tx1"/>
                </a:solidFill>
              </a:rPr>
              <a:t>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The alarm </a:t>
            </a:r>
            <a:r>
              <a:rPr lang="en-US" sz="2400" i="1" dirty="0">
                <a:solidFill>
                  <a:schemeClr val="tx1"/>
                </a:solidFill>
              </a:rPr>
              <a:t>(go off)</a:t>
            </a:r>
            <a:r>
              <a:rPr lang="en-US" sz="2400" dirty="0">
                <a:solidFill>
                  <a:schemeClr val="tx1"/>
                </a:solidFill>
              </a:rPr>
              <a:t> at 23.41.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where does the adverb go?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9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Iris has taken the photographs. </a:t>
            </a:r>
            <a:r>
              <a:rPr lang="en-US" sz="2400" i="1" dirty="0">
                <a:solidFill>
                  <a:schemeClr val="tx1"/>
                </a:solidFill>
              </a:rPr>
              <a:t>(already)</a:t>
            </a:r>
            <a:r>
              <a:rPr lang="en-US" sz="2400" dirty="0">
                <a:solidFill>
                  <a:schemeClr val="tx1"/>
                </a:solidFill>
              </a:rPr>
              <a:t> → </a:t>
            </a:r>
            <a:r>
              <a:rPr lang="en-US" sz="2400" b="1" dirty="0">
                <a:solidFill>
                  <a:schemeClr val="accent3"/>
                </a:solidFill>
              </a:rPr>
              <a:t>Iris has already taken the photographs.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Has anyone called the insurer? </a:t>
            </a:r>
            <a:r>
              <a:rPr lang="en-US" sz="2400" i="1" dirty="0">
                <a:solidFill>
                  <a:schemeClr val="tx1"/>
                </a:solidFill>
              </a:rPr>
              <a:t>(yet)</a:t>
            </a:r>
            <a:r>
              <a:rPr lang="en-US" sz="2400" dirty="0">
                <a:solidFill>
                  <a:schemeClr val="tx1"/>
                </a:solidFill>
              </a:rPr>
              <a:t> → </a:t>
            </a:r>
            <a:r>
              <a:rPr lang="en-US" sz="2400" b="1" dirty="0">
                <a:solidFill>
                  <a:schemeClr val="accent3"/>
                </a:solidFill>
              </a:rPr>
              <a:t>Has anyone called the insurer yet?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I’ve come back from the basement. </a:t>
            </a:r>
            <a:r>
              <a:rPr lang="en-US" sz="2400" i="1" dirty="0">
                <a:solidFill>
                  <a:schemeClr val="tx1"/>
                </a:solidFill>
              </a:rPr>
              <a:t>(just)</a:t>
            </a:r>
            <a:r>
              <a:rPr lang="en-US" sz="2400" dirty="0">
                <a:solidFill>
                  <a:schemeClr val="tx1"/>
                </a:solidFill>
              </a:rPr>
              <a:t> → </a:t>
            </a:r>
            <a:r>
              <a:rPr lang="en-US" sz="2400" b="1" dirty="0">
                <a:solidFill>
                  <a:schemeClr val="accent3"/>
                </a:solidFill>
              </a:rPr>
              <a:t>I’ve just come back from the basement.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The alarm </a:t>
            </a:r>
            <a:r>
              <a:rPr lang="en-US" sz="2400" i="1" dirty="0">
                <a:solidFill>
                  <a:schemeClr val="tx1"/>
                </a:solidFill>
              </a:rPr>
              <a:t>(go off)</a:t>
            </a:r>
            <a:r>
              <a:rPr lang="en-US" sz="2400" dirty="0">
                <a:solidFill>
                  <a:schemeClr val="tx1"/>
                </a:solidFill>
              </a:rPr>
              <a:t> at 23.41. → </a:t>
            </a:r>
            <a:r>
              <a:rPr lang="en-US" sz="2400" b="1" dirty="0">
                <a:solidFill>
                  <a:schemeClr val="accent3"/>
                </a:solidFill>
              </a:rPr>
              <a:t>went off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Talking about progress without saying “it is going well”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WORD FILE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Nine people will read your status update. These expressions are better than </a:t>
            </a:r>
            <a:r>
              <a:rPr lang="en-US" sz="1600" i="1" dirty="0">
                <a:solidFill>
                  <a:schemeClr val="accent5"/>
                </a:solidFill>
              </a:rPr>
              <a:t>everything is ok</a:t>
            </a:r>
            <a:r>
              <a:rPr lang="en-US" sz="1600" i="1" dirty="0">
                <a:solidFill>
                  <a:schemeClr val="accent5"/>
                </a:solidFill>
              </a:rPr>
              <a:t>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17192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5330952"/>
              </a:tblGrid>
              <a:tr h="5230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EXPRESSION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FRANÇAIS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EXEMPLE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428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to be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on track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être dans les temps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The photographs are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on track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 for ten o’clock.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428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fall behind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prendre du retard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The estimate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has fallen behind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18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to keep somebody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in the loop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tenir informé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Please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keep me in the loop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 about the basement.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8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touch base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 with somebody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faire un point rapide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I will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touch base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 with the insurer at noon.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428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to be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up to speed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être au courant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Is everybody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up to speed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 on the log?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8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a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bottleneck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un goulet d’étranglement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The contractor’s statement is the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bottleneck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428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 somebody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relancer quelqu’un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I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have chased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 him twice this morning.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Progress, in context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Complete with an expression from the Word file.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Don’t worry: the photographs are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Can you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</a:t>
            </a:r>
            <a:r>
              <a:rPr lang="en-US" sz="2400" dirty="0">
                <a:solidFill>
                  <a:schemeClr val="tx1"/>
                </a:solidFill>
              </a:rPr>
              <a:t> about the basement?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contractor still hasn’t answered — I’ll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him again.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The estimate is the real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r>
              <a:rPr lang="en-US" sz="2400" dirty="0">
                <a:solidFill>
                  <a:schemeClr val="tx1"/>
                </a:solidFill>
              </a:rPr>
              <a:t>: nothing can move without it.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Let’s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r>
              <a:rPr lang="en-US" sz="2400" dirty="0">
                <a:solidFill>
                  <a:schemeClr val="tx1"/>
                </a:solidFill>
              </a:rPr>
              <a:t> at noon, before the insurer calls.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Is the new colleague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r>
              <a:rPr lang="en-US" sz="2400" dirty="0">
                <a:solidFill>
                  <a:schemeClr val="tx1"/>
                </a:solidFill>
              </a:rPr>
              <a:t> on the log?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Progress, in context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Complete with an expression from the Word file.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Don’t worry: the photographs are </a:t>
            </a:r>
            <a:r>
              <a:rPr lang="en-US" sz="2400" b="1" dirty="0">
                <a:solidFill>
                  <a:schemeClr val="accent3"/>
                </a:solidFill>
              </a:rPr>
              <a:t>on track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Can you </a:t>
            </a:r>
            <a:r>
              <a:rPr lang="en-US" sz="2400" b="1" dirty="0">
                <a:solidFill>
                  <a:schemeClr val="accent3"/>
                </a:solidFill>
              </a:rPr>
              <a:t>keep me in the loop</a:t>
            </a:r>
            <a:r>
              <a:rPr lang="en-US" sz="2400" dirty="0">
                <a:solidFill>
                  <a:schemeClr val="tx1"/>
                </a:solidFill>
              </a:rPr>
              <a:t> about the basement?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contractor still hasn’t answered — I’ll </a:t>
            </a:r>
            <a:r>
              <a:rPr lang="en-US" sz="2400" b="1" dirty="0">
                <a:solidFill>
                  <a:schemeClr val="accent3"/>
                </a:solidFill>
              </a:rPr>
              <a:t>chase</a:t>
            </a:r>
            <a:r>
              <a:rPr lang="en-US" sz="2400" dirty="0">
                <a:solidFill>
                  <a:schemeClr val="tx1"/>
                </a:solidFill>
              </a:rPr>
              <a:t> him again.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The estimate is the real </a:t>
            </a:r>
            <a:r>
              <a:rPr lang="en-US" sz="2400" b="1" dirty="0">
                <a:solidFill>
                  <a:schemeClr val="accent3"/>
                </a:solidFill>
              </a:rPr>
              <a:t>bottleneck</a:t>
            </a:r>
            <a:r>
              <a:rPr lang="en-US" sz="2400" dirty="0">
                <a:solidFill>
                  <a:schemeClr val="tx1"/>
                </a:solidFill>
              </a:rPr>
              <a:t>: nothing can move without it.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Let’s </a:t>
            </a:r>
            <a:r>
              <a:rPr lang="en-US" sz="2400" b="1" dirty="0">
                <a:solidFill>
                  <a:schemeClr val="accent3"/>
                </a:solidFill>
              </a:rPr>
              <a:t>touch base</a:t>
            </a:r>
            <a:r>
              <a:rPr lang="en-US" sz="2400" dirty="0">
                <a:solidFill>
                  <a:schemeClr val="tx1"/>
                </a:solidFill>
              </a:rPr>
              <a:t> at noon, before the insurer calls.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Is the new colleague </a:t>
            </a:r>
            <a:r>
              <a:rPr lang="en-US" sz="2400" b="1" dirty="0">
                <a:solidFill>
                  <a:schemeClr val="accent3"/>
                </a:solidFill>
              </a:rPr>
              <a:t>up to speed</a:t>
            </a:r>
            <a:r>
              <a:rPr lang="en-US" sz="2400" dirty="0">
                <a:solidFill>
                  <a:schemeClr val="tx1"/>
                </a:solidFill>
              </a:rPr>
              <a:t> on the log?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Write the ten o’clock update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Five lines, continuous text, no bullet points. Opening you may use: « Here is where we stand at ten o’clock. 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941576"/>
            <a:ext cx="5408676" cy="704088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38172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1941576"/>
            <a:ext cx="46314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 ×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i="1" dirty="0">
                <a:solidFill>
                  <a:schemeClr val="tx1"/>
                </a:solidFill>
              </a:rPr>
              <a:t>already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48640" y="2718816"/>
            <a:ext cx="5408676" cy="704088"/>
          </a:xfrm>
          <a:prstGeom prst="roundRect">
            <a:avLst>
              <a:gd name="adj" fmla="val 7792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15412"/>
            <a:ext cx="310896" cy="31089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07008" y="2718816"/>
            <a:ext cx="46314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 ×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i="1" dirty="0">
                <a:solidFill>
                  <a:schemeClr val="tx1"/>
                </a:solidFill>
              </a:rPr>
              <a:t>not … yet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48640" y="3496056"/>
            <a:ext cx="5408676" cy="704088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9265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07008" y="3496056"/>
            <a:ext cx="46314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 ×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i="1" dirty="0">
                <a:solidFill>
                  <a:schemeClr val="tx1"/>
                </a:solidFill>
              </a:rPr>
              <a:t>just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6231636" y="1941576"/>
            <a:ext cx="5408676" cy="704088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516" y="213817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0004" y="1941576"/>
            <a:ext cx="46314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progress expressions from the Word file (</a:t>
            </a:r>
            <a:r>
              <a:rPr lang="en-US" sz="1900" i="1" dirty="0">
                <a:solidFill>
                  <a:schemeClr val="tx1"/>
                </a:solidFill>
              </a:rPr>
              <a:t>on track, chase…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8" name="Shape 12"/>
          <p:cNvSpPr/>
          <p:nvPr/>
        </p:nvSpPr>
        <p:spPr>
          <a:xfrm>
            <a:off x="6231636" y="2718816"/>
            <a:ext cx="5408676" cy="704088"/>
          </a:xfrm>
          <a:prstGeom prst="roundRect">
            <a:avLst>
              <a:gd name="adj" fmla="val 7792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4516" y="29154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890004" y="2718816"/>
            <a:ext cx="46314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No</a:t>
            </a:r>
            <a:r>
              <a:rPr lang="en-US" sz="1900" dirty="0">
                <a:solidFill>
                  <a:schemeClr val="tx1"/>
                </a:solidFill>
              </a:rPr>
              <a:t> clock time with the present perfect</a:t>
            </a:r>
            <a:endParaRPr lang="en-US" sz="1900" dirty="0"/>
          </a:p>
        </p:txBody>
      </p:sp>
      <p:sp>
        <p:nvSpPr>
          <p:cNvPr id="21" name="Shape 14"/>
          <p:cNvSpPr/>
          <p:nvPr/>
        </p:nvSpPr>
        <p:spPr>
          <a:xfrm>
            <a:off x="6231636" y="3496056"/>
            <a:ext cx="5408676" cy="704088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4516" y="369265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890004" y="3496056"/>
            <a:ext cx="46314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Five lines</a:t>
            </a:r>
            <a:r>
              <a:rPr lang="en-US" sz="1900" dirty="0">
                <a:solidFill>
                  <a:schemeClr val="tx1"/>
                </a:solidFill>
              </a:rPr>
              <a:t> — nine people read it on a phone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possible update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20</a:t>
            </a:r>
            <a:endParaRPr lang="en-US" sz="12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481328"/>
            <a:ext cx="7662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Here is where we stand at ten o’clock. Iris has </a:t>
            </a:r>
            <a:r>
              <a:rPr lang="en-US" sz="2400" b="1" dirty="0">
                <a:solidFill>
                  <a:schemeClr val="accent1"/>
                </a:solidFill>
              </a:rPr>
              <a:t>already</a:t>
            </a:r>
            <a:r>
              <a:rPr lang="en-US" sz="2400" dirty="0">
                <a:solidFill>
                  <a:schemeClr val="tx1"/>
                </a:solidFill>
              </a:rPr>
              <a:t> taken the photographs of the ceiling and the floor, and Samuel has </a:t>
            </a:r>
            <a:r>
              <a:rPr lang="en-US" sz="2400" b="1" dirty="0">
                <a:solidFill>
                  <a:schemeClr val="accent1"/>
                </a:solidFill>
              </a:rPr>
              <a:t>already</a:t>
            </a:r>
            <a:r>
              <a:rPr lang="en-US" sz="2400" dirty="0">
                <a:solidFill>
                  <a:schemeClr val="tx1"/>
                </a:solidFill>
              </a:rPr>
              <a:t> checked the alarm log, so the timeline is </a:t>
            </a:r>
            <a:r>
              <a:rPr lang="en-US" sz="2400" b="1" dirty="0">
                <a:solidFill>
                  <a:schemeClr val="tx1"/>
                </a:solidFill>
              </a:rPr>
              <a:t>on track</a:t>
            </a:r>
            <a:r>
              <a:rPr lang="en-US" sz="2400" dirty="0">
                <a:solidFill>
                  <a:schemeClr val="tx1"/>
                </a:solidFill>
              </a:rPr>
              <a:t>. Samuel has </a:t>
            </a:r>
            <a:r>
              <a:rPr lang="en-US" sz="2400" b="1" dirty="0">
                <a:solidFill>
                  <a:schemeClr val="accent4"/>
                </a:solidFill>
              </a:rPr>
              <a:t>just</a:t>
            </a:r>
            <a:r>
              <a:rPr lang="en-US" sz="2400" dirty="0">
                <a:solidFill>
                  <a:schemeClr val="tx1"/>
                </a:solidFill>
              </a:rPr>
              <a:t> confirmed that unit 3 shut down during the night. However, we have </a:t>
            </a:r>
            <a:r>
              <a:rPr lang="en-US" sz="2400" b="1" dirty="0">
                <a:solidFill>
                  <a:schemeClr val="accent2"/>
                </a:solidFill>
              </a:rPr>
              <a:t>not</a:t>
            </a:r>
            <a:r>
              <a:rPr lang="en-US" sz="2400" dirty="0">
                <a:solidFill>
                  <a:schemeClr val="tx1"/>
                </a:solidFill>
              </a:rPr>
              <a:t> inspected the basement </a:t>
            </a:r>
            <a:r>
              <a:rPr lang="en-US" sz="2400" b="1" dirty="0">
                <a:solidFill>
                  <a:schemeClr val="accent2"/>
                </a:solidFill>
              </a:rPr>
              <a:t>yet</a:t>
            </a:r>
            <a:r>
              <a:rPr lang="en-US" sz="2400" dirty="0">
                <a:solidFill>
                  <a:schemeClr val="tx1"/>
                </a:solidFill>
              </a:rPr>
              <a:t>, and the contractor has </a:t>
            </a:r>
            <a:r>
              <a:rPr lang="en-US" sz="2400" b="1" dirty="0">
                <a:solidFill>
                  <a:schemeClr val="accent2"/>
                </a:solidFill>
              </a:rPr>
              <a:t>not</a:t>
            </a:r>
            <a:r>
              <a:rPr lang="en-US" sz="2400" dirty="0">
                <a:solidFill>
                  <a:schemeClr val="tx1"/>
                </a:solidFill>
              </a:rPr>
              <a:t> sent his written statement </a:t>
            </a:r>
            <a:r>
              <a:rPr lang="en-US" sz="2400" b="1" dirty="0">
                <a:solidFill>
                  <a:schemeClr val="accent2"/>
                </a:solidFill>
              </a:rPr>
              <a:t>yet</a:t>
            </a:r>
            <a:r>
              <a:rPr lang="en-US" sz="2400" dirty="0">
                <a:solidFill>
                  <a:schemeClr val="tx1"/>
                </a:solidFill>
              </a:rPr>
              <a:t> — I </a:t>
            </a:r>
            <a:r>
              <a:rPr lang="en-US" sz="2400" b="1" dirty="0">
                <a:solidFill>
                  <a:schemeClr val="tx1"/>
                </a:solidFill>
              </a:rPr>
              <a:t>have chased</a:t>
            </a:r>
            <a:r>
              <a:rPr lang="en-US" sz="2400" dirty="0">
                <a:solidFill>
                  <a:schemeClr val="tx1"/>
                </a:solidFill>
              </a:rPr>
              <a:t> him twice this morning.</a:t>
            </a:r>
            <a:endParaRPr lang="en-US" sz="2400" dirty="0"/>
          </a:p>
        </p:txBody>
      </p:sp>
      <p:sp>
        <p:nvSpPr>
          <p:cNvPr id="8" name="aside"/>
          <p:cNvSpPr/>
          <p:nvPr/>
        </p:nvSpPr>
        <p:spPr>
          <a:xfrm>
            <a:off x="8531352" y="1481328"/>
            <a:ext cx="3108960" cy="4809744"/>
          </a:xfrm>
          <a:prstGeom prst="roundRect">
            <a:avLst>
              <a:gd name="adj" fmla="val 2353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1664208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163677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3"/>
                </a:solidFill>
              </a:rPr>
              <a:t>IN THE MODEL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95944" y="2075688"/>
            <a:ext cx="2779776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already</a:t>
            </a:r>
            <a:r>
              <a:rPr lang="en-US" sz="1800" dirty="0">
                <a:solidFill>
                  <a:schemeClr val="tx1"/>
                </a:solidFill>
              </a:rPr>
              <a:t> × 2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2"/>
                </a:solidFill>
              </a:rPr>
              <a:t>not … yet</a:t>
            </a:r>
            <a:r>
              <a:rPr lang="en-US" sz="1800" dirty="0">
                <a:solidFill>
                  <a:schemeClr val="tx1"/>
                </a:solidFill>
              </a:rPr>
              <a:t> × 2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4"/>
                </a:solidFill>
              </a:rPr>
              <a:t>just</a:t>
            </a:r>
            <a:r>
              <a:rPr lang="en-US" sz="1800" dirty="0">
                <a:solidFill>
                  <a:schemeClr val="tx1"/>
                </a:solidFill>
              </a:rPr>
              <a:t> × 1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on track · chase</a:t>
            </a:r>
            <a:r>
              <a:rPr lang="en-US" sz="1800" dirty="0">
                <a:solidFill>
                  <a:schemeClr val="tx1"/>
                </a:solidFill>
              </a:rPr>
              <a:t> = Word file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5 sentences, no clock time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Five errors the board will not forgive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PITFALL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19–20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91672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059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15087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Iris has taken </a:t>
            </a:r>
            <a:r>
              <a:rPr lang="en-US" sz="2000" b="1" strike="sngStrike" dirty="0">
                <a:solidFill>
                  <a:schemeClr val="accent6"/>
                </a:solidFill>
              </a:rPr>
              <a:t>already</a:t>
            </a:r>
            <a:r>
              <a:rPr lang="en-US" sz="2000" strike="sngStrike" dirty="0">
                <a:solidFill>
                  <a:schemeClr val="accent6"/>
                </a:solidFill>
              </a:rPr>
              <a:t> the photos.</a:t>
            </a:r>
            <a:endParaRPr lang="en-US" sz="2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059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937760" y="15087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Iris has </a:t>
            </a:r>
            <a:r>
              <a:rPr lang="en-US" sz="2000" b="1" dirty="0">
                <a:solidFill>
                  <a:schemeClr val="tx1"/>
                </a:solidFill>
              </a:rPr>
              <a:t>already</a:t>
            </a:r>
            <a:r>
              <a:rPr lang="en-US" sz="2000" dirty="0">
                <a:solidFill>
                  <a:schemeClr val="tx1"/>
                </a:solidFill>
              </a:rPr>
              <a:t> taken the photos.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1508760"/>
            <a:ext cx="3090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adverb between </a:t>
            </a:r>
            <a:r>
              <a:rPr lang="en-US" sz="1800" i="1" dirty="0">
                <a:solidFill>
                  <a:schemeClr val="accent5"/>
                </a:solidFill>
              </a:rPr>
              <a:t>have</a:t>
            </a:r>
            <a:r>
              <a:rPr lang="en-US" sz="1800" i="1" dirty="0">
                <a:solidFill>
                  <a:schemeClr val="accent5"/>
                </a:solidFill>
              </a:rPr>
              <a:t> and the participle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548640" y="2487168"/>
            <a:ext cx="11091672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8434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51560" y="248716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We didn’t inspect the basement yet.</a:t>
            </a:r>
            <a:endParaRPr lang="en-US" sz="20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784348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937760" y="248716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 </a:t>
            </a:r>
            <a:r>
              <a:rPr lang="en-US" sz="2000" b="1" dirty="0">
                <a:solidFill>
                  <a:schemeClr val="tx1"/>
                </a:solidFill>
              </a:rPr>
              <a:t>haven’t inspected</a:t>
            </a:r>
            <a:r>
              <a:rPr lang="en-US" sz="2000" dirty="0">
                <a:solidFill>
                  <a:schemeClr val="tx1"/>
                </a:solidFill>
              </a:rPr>
              <a:t> the basement </a:t>
            </a:r>
            <a:r>
              <a:rPr lang="en-US" sz="2000" b="1" dirty="0">
                <a:solidFill>
                  <a:schemeClr val="tx1"/>
                </a:solidFill>
              </a:rPr>
              <a:t>yet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8458200" y="2487168"/>
            <a:ext cx="3090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yet</a:t>
            </a:r>
            <a:r>
              <a:rPr lang="en-US" sz="1800" i="1" dirty="0">
                <a:solidFill>
                  <a:schemeClr val="accent5"/>
                </a:solidFill>
              </a:rPr>
              <a:t> → present perfect (UK)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3465576"/>
            <a:ext cx="11091672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762756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51560" y="346557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Samuel has checked the log at 9.05.</a:t>
            </a:r>
            <a:endParaRPr lang="en-US" sz="2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7627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937760" y="346557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Samuel </a:t>
            </a:r>
            <a:r>
              <a:rPr lang="en-US" sz="2000" b="1" dirty="0">
                <a:solidFill>
                  <a:schemeClr val="tx1"/>
                </a:solidFill>
              </a:rPr>
              <a:t>checked</a:t>
            </a:r>
            <a:r>
              <a:rPr lang="en-US" sz="2000" dirty="0">
                <a:solidFill>
                  <a:schemeClr val="tx1"/>
                </a:solidFill>
              </a:rPr>
              <a:t> the log at 9.05.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8458200" y="3465576"/>
            <a:ext cx="3090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a clock time → past simple</a:t>
            </a:r>
            <a:endParaRPr lang="en-US" sz="1800" dirty="0"/>
          </a:p>
        </p:txBody>
      </p:sp>
      <p:sp>
        <p:nvSpPr>
          <p:cNvPr id="23" name="Shape 15"/>
          <p:cNvSpPr/>
          <p:nvPr/>
        </p:nvSpPr>
        <p:spPr>
          <a:xfrm>
            <a:off x="548640" y="4443984"/>
            <a:ext cx="11091672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74116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051560" y="4443984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Nobody has not told the insurer.</a:t>
            </a:r>
            <a:endParaRPr lang="en-US" sz="20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741164"/>
            <a:ext cx="274320" cy="27432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4937760" y="4443984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Nobody </a:t>
            </a:r>
            <a:r>
              <a:rPr lang="en-US" sz="2000" b="1" dirty="0">
                <a:solidFill>
                  <a:schemeClr val="tx1"/>
                </a:solidFill>
              </a:rPr>
              <a:t>has told</a:t>
            </a:r>
            <a:r>
              <a:rPr lang="en-US" sz="2000" dirty="0">
                <a:solidFill>
                  <a:schemeClr val="tx1"/>
                </a:solidFill>
              </a:rPr>
              <a:t> the insurer yet.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8458200" y="4443984"/>
            <a:ext cx="3090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nobody</a:t>
            </a:r>
            <a:r>
              <a:rPr lang="en-US" sz="1800" i="1" dirty="0">
                <a:solidFill>
                  <a:schemeClr val="accent5"/>
                </a:solidFill>
              </a:rPr>
              <a:t> is already negative</a:t>
            </a:r>
            <a:endParaRPr lang="en-US" sz="1800" dirty="0"/>
          </a:p>
        </p:txBody>
      </p:sp>
      <p:sp>
        <p:nvSpPr>
          <p:cNvPr id="29" name="Shape 19"/>
          <p:cNvSpPr/>
          <p:nvPr/>
        </p:nvSpPr>
        <p:spPr>
          <a:xfrm>
            <a:off x="548640" y="5422392"/>
            <a:ext cx="11091672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5719572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1051560" y="5422392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Everything is ok.</a:t>
            </a:r>
            <a:endParaRPr lang="en-US" sz="2000" dirty="0"/>
          </a:p>
        </p:txBody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5719572"/>
            <a:ext cx="274320" cy="27432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4937760" y="5422392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photographs are </a:t>
            </a:r>
            <a:r>
              <a:rPr lang="en-US" sz="2000" b="1" dirty="0">
                <a:solidFill>
                  <a:schemeClr val="tx1"/>
                </a:solidFill>
              </a:rPr>
              <a:t>on track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34" name="Text 22"/>
          <p:cNvSpPr txBox="1"/>
          <p:nvPr/>
        </p:nvSpPr>
        <p:spPr>
          <a:xfrm>
            <a:off x="8458200" y="5422392"/>
            <a:ext cx="3090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say what is done, not how you feel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Words your colleagues need from you (1/2)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230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EXPERT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21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4782312"/>
              </a:tblGrid>
              <a:tr h="50200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WORD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FRANÇAIS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ON THE BOARD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41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ACC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 damage claim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 déclaration de sinistre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We have opened a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damage claim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file.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ACC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to write off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passer en pertes, sortir de l’actif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Unit 3 may have to be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written off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41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ACC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 provision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 provision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We have made a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provision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of €12,000.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41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ACC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an insurance premium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 prime d’assurance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premium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has not been recalculated yet.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41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ACC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 cost centre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 centre de coûts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repair will go to the site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cost centre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41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 server rack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 baie de serveurs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Two units in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rack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A2 have stopped.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41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 power failure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 panne de courant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There has been no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power failure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41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 backup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 sauvegarde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last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backup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ran at midnight.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41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to restore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restaurer, rétablir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We have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restored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the service.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41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downtime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temps d’arrêt, indisponibilité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Nine hours of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downtime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so far.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Words your colleagues need from you (2/2)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230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EXPERT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21–22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4782312"/>
              </a:tblGrid>
              <a:tr h="5038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WORD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FRANÇAIS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ON THE BOARD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LAW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negligence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 négligence (faute)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We have not raised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negligence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LAW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force majeure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 force majeure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We have reviewed the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force majeure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clause.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LAW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notify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notifier, aviser officiellement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We have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notified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the landlord in writing.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LAW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damages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des dommages-intérêts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≠ </a:t>
                      </a: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damage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(des dégâts) !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LAW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 breach of contract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une violation du contrat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breach of contract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has been established.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 burst pipe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une canalisation éclatée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We have not confirmed a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burst pipe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yet.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structural damage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des dommages structurels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structural damage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has been found so far.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drainage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l’évacuation des eaux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drainage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has not been checked yet.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37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an inventory of fixtures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 état des lieux (équipements)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inventory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has not been updated.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make good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remettre en état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floor has not been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made good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yet.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board is not yours alone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 CALL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Groups of four — one representative of each firm. Ten minutes.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993392"/>
            <a:ext cx="2553462" cy="4297680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96187" y="2176272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96187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907792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Two lines each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5032"/>
            <a:ext cx="227914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From your field: one under </a:t>
            </a:r>
            <a:r>
              <a:rPr lang="en-US" sz="1700" b="1" dirty="0">
                <a:solidFill>
                  <a:schemeClr val="tx1"/>
                </a:solidFill>
              </a:rPr>
              <a:t>DONE</a:t>
            </a:r>
            <a:r>
              <a:rPr lang="en-US" sz="1700" dirty="0">
                <a:solidFill>
                  <a:schemeClr val="tx1"/>
                </a:solidFill>
              </a:rPr>
              <a:t>, one under </a:t>
            </a:r>
            <a:r>
              <a:rPr lang="en-US" sz="1700" b="1" dirty="0">
                <a:solidFill>
                  <a:schemeClr val="tx1"/>
                </a:solidFill>
              </a:rPr>
              <a:t>NOT YET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78" y="2395728"/>
            <a:ext cx="219456" cy="21945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394710" y="1993392"/>
            <a:ext cx="2553462" cy="4297680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2257" y="2176272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342257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504438" y="2907792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Your word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531870" y="3685032"/>
            <a:ext cx="227914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Use one word from </a:t>
            </a:r>
            <a:r>
              <a:rPr lang="en-US" sz="1700" b="1" dirty="0">
                <a:solidFill>
                  <a:schemeClr val="tx1"/>
                </a:solidFill>
              </a:rPr>
              <a:t>your</a:t>
            </a:r>
            <a:r>
              <a:rPr lang="en-US" sz="1700" dirty="0">
                <a:solidFill>
                  <a:schemeClr val="tx1"/>
                </a:solidFill>
              </a:rPr>
              <a:t> list — the others must understand it </a:t>
            </a:r>
            <a:r>
              <a:rPr lang="en-US" sz="1700" b="1" dirty="0">
                <a:solidFill>
                  <a:schemeClr val="tx1"/>
                </a:solidFill>
              </a:rPr>
              <a:t>without a dictionary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4748" y="2395728"/>
            <a:ext cx="219456" cy="21945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240780" y="1993392"/>
            <a:ext cx="2553462" cy="4297680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188327" y="2176272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188327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6350508" y="2907792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Agree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377940" y="3685032"/>
            <a:ext cx="227914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Which single item under </a:t>
            </a:r>
            <a:r>
              <a:rPr lang="en-US" sz="1700" b="1" dirty="0">
                <a:solidFill>
                  <a:schemeClr val="tx1"/>
                </a:solidFill>
              </a:rPr>
              <a:t>NOT YET</a:t>
            </a:r>
            <a:r>
              <a:rPr lang="en-US" sz="1700" dirty="0">
                <a:solidFill>
                  <a:schemeClr val="tx1"/>
                </a:solidFill>
              </a:rPr>
              <a:t> is blocking all the others?</a:t>
            </a:r>
            <a:endParaRPr lang="en-US" sz="17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0818" y="2395728"/>
            <a:ext cx="219456" cy="21945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86850" y="1993392"/>
            <a:ext cx="2553462" cy="4297680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0034397" y="2176272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10034397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9196578" y="2907792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Say why</a:t>
            </a:r>
            <a:endParaRPr lang="en-US" sz="1700" dirty="0"/>
          </a:p>
        </p:txBody>
      </p:sp>
      <p:sp>
        <p:nvSpPr>
          <p:cNvPr id="28" name="Text 23"/>
          <p:cNvSpPr txBox="1"/>
          <p:nvPr/>
        </p:nvSpPr>
        <p:spPr>
          <a:xfrm>
            <a:off x="9224010" y="3685032"/>
            <a:ext cx="227914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It’s the bottleneck because… Until we have…, we can’t…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possible team board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 CALL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20 &amp; 45–46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029200"/>
                <a:gridCol w="4965192"/>
              </a:tblGrid>
              <a:tr h="6281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FIRM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UNDER DONE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UNDER NOT YET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9794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ACC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We have opened a claim file and made a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provision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of €12,000.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We haven’t received a repair estimate yet.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9794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IT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We have examined the logs and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restored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the service.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Nobody has inspected the basement yet.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9794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LAW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We have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notified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the landlord in writing.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The contractor hasn’t signed his statement yet.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9794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RE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We have taken photographs and closed the second floor.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We haven’t updated the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inventory of fixtures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yet.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897880"/>
            <a:ext cx="110916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Blocking item? Most groups choose </a:t>
            </a:r>
            <a:r>
              <a:rPr lang="en-US" sz="1500" b="1" i="1" dirty="0">
                <a:solidFill>
                  <a:schemeClr val="accent5"/>
                </a:solidFill>
              </a:rPr>
              <a:t>the basement inspection</a:t>
            </a:r>
            <a:r>
              <a:rPr lang="en-US" sz="1500" i="1" dirty="0">
                <a:solidFill>
                  <a:schemeClr val="accent5"/>
                </a:solidFill>
              </a:rPr>
              <a:t> or </a:t>
            </a:r>
            <a:r>
              <a:rPr lang="en-US" sz="1500" b="1" i="1" dirty="0">
                <a:solidFill>
                  <a:schemeClr val="accent5"/>
                </a:solidFill>
              </a:rPr>
              <a:t>the repair estimate</a:t>
            </a:r>
            <a:r>
              <a:rPr lang="en-US" sz="1500" i="1" dirty="0">
                <a:solidFill>
                  <a:schemeClr val="accent5"/>
                </a:solidFill>
              </a:rPr>
              <a:t> — accept any choice that is </a:t>
            </a:r>
            <a:r>
              <a:rPr lang="en-US" sz="1500" b="1" i="1" dirty="0">
                <a:solidFill>
                  <a:schemeClr val="accent5"/>
                </a:solidFill>
              </a:rPr>
              <a:t>justified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Taboo: explain it without saying it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SPEAKING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Each expert explains two words of their field. The others guess. Forbidden: the word itself and its French translation.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89760"/>
            <a:ext cx="5431536" cy="2086356"/>
          </a:xfrm>
          <a:prstGeom prst="roundRect">
            <a:avLst>
              <a:gd name="adj" fmla="val 350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026920"/>
            <a:ext cx="868680" cy="868680"/>
          </a:xfrm>
          <a:prstGeom prst="roundRect">
            <a:avLst>
              <a:gd name="adj" fmla="val 8421"/>
            </a:avLst>
          </a:prstGeom>
          <a:solidFill>
            <a:srgbClr val="1F4E7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100072"/>
            <a:ext cx="347472" cy="3474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249326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ACC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1999488"/>
            <a:ext cx="4151376" cy="186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Make them guess </a:t>
            </a:r>
            <a:r>
              <a:rPr lang="en-US" sz="2200" b="1" dirty="0">
                <a:solidFill>
                  <a:schemeClr val="tx1"/>
                </a:solidFill>
              </a:rPr>
              <a:t>a provision</a:t>
            </a:r>
            <a:r>
              <a:rPr lang="en-US" sz="2200" dirty="0">
                <a:solidFill>
                  <a:schemeClr val="tx1"/>
                </a:solidFill>
              </a:rPr>
              <a:t> and </a:t>
            </a:r>
            <a:r>
              <a:rPr lang="en-US" sz="2200" b="1" dirty="0">
                <a:solidFill>
                  <a:schemeClr val="tx1"/>
                </a:solidFill>
              </a:rPr>
              <a:t>an insurance premium</a:t>
            </a: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208776" y="1889760"/>
            <a:ext cx="5431536" cy="2086356"/>
          </a:xfrm>
          <a:prstGeom prst="roundRect">
            <a:avLst>
              <a:gd name="adj" fmla="val 350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45936" y="2026920"/>
            <a:ext cx="868680" cy="868680"/>
          </a:xfrm>
          <a:prstGeom prst="roundRect">
            <a:avLst>
              <a:gd name="adj" fmla="val 8421"/>
            </a:avLst>
          </a:prstGeom>
          <a:solidFill>
            <a:srgbClr val="0E7C6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210007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345936" y="249326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IT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351776" y="1999488"/>
            <a:ext cx="4151376" cy="186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Make them guess </a:t>
            </a:r>
            <a:r>
              <a:rPr lang="en-US" sz="2200" b="1" dirty="0">
                <a:solidFill>
                  <a:schemeClr val="tx1"/>
                </a:solidFill>
              </a:rPr>
              <a:t>a backup</a:t>
            </a:r>
            <a:r>
              <a:rPr lang="en-US" sz="2200" dirty="0">
                <a:solidFill>
                  <a:schemeClr val="tx1"/>
                </a:solidFill>
              </a:rPr>
              <a:t> and </a:t>
            </a:r>
            <a:r>
              <a:rPr lang="en-US" sz="2200" b="1" dirty="0">
                <a:solidFill>
                  <a:schemeClr val="tx1"/>
                </a:solidFill>
              </a:rPr>
              <a:t>downtime</a:t>
            </a: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4204716"/>
            <a:ext cx="5431536" cy="2086356"/>
          </a:xfrm>
          <a:prstGeom prst="roundRect">
            <a:avLst>
              <a:gd name="adj" fmla="val 350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" y="4341876"/>
            <a:ext cx="868680" cy="868680"/>
          </a:xfrm>
          <a:prstGeom prst="roundRect">
            <a:avLst>
              <a:gd name="adj" fmla="val 8421"/>
            </a:avLst>
          </a:prstGeom>
          <a:solidFill>
            <a:srgbClr val="8B3A2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415028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5800" y="48082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LAW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1691640" y="4314444"/>
            <a:ext cx="4151376" cy="186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Make them guess </a:t>
            </a:r>
            <a:r>
              <a:rPr lang="en-US" sz="2200" b="1" dirty="0">
                <a:solidFill>
                  <a:schemeClr val="tx1"/>
                </a:solidFill>
              </a:rPr>
              <a:t>negligence</a:t>
            </a:r>
            <a:r>
              <a:rPr lang="en-US" sz="2200" dirty="0">
                <a:solidFill>
                  <a:schemeClr val="tx1"/>
                </a:solidFill>
              </a:rPr>
              <a:t> and </a:t>
            </a:r>
            <a:r>
              <a:rPr lang="en-US" sz="2200" b="1" dirty="0">
                <a:solidFill>
                  <a:schemeClr val="tx1"/>
                </a:solidFill>
              </a:rPr>
              <a:t>to notify</a:t>
            </a: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1" name="Shape 16"/>
          <p:cNvSpPr/>
          <p:nvPr/>
        </p:nvSpPr>
        <p:spPr>
          <a:xfrm>
            <a:off x="6208776" y="4204716"/>
            <a:ext cx="5431536" cy="2086356"/>
          </a:xfrm>
          <a:prstGeom prst="roundRect">
            <a:avLst>
              <a:gd name="adj" fmla="val 350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345936" y="4341876"/>
            <a:ext cx="868680" cy="868680"/>
          </a:xfrm>
          <a:prstGeom prst="roundRect">
            <a:avLst>
              <a:gd name="adj" fmla="val 8421"/>
            </a:avLst>
          </a:prstGeom>
          <a:solidFill>
            <a:srgbClr val="B8782A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415028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345936" y="48082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351776" y="4314444"/>
            <a:ext cx="4151376" cy="186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Make them guess </a:t>
            </a:r>
            <a:r>
              <a:rPr lang="en-US" sz="2200" b="1" dirty="0">
                <a:solidFill>
                  <a:schemeClr val="tx1"/>
                </a:solidFill>
              </a:rPr>
              <a:t>a burst pipe</a:t>
            </a:r>
            <a:r>
              <a:rPr lang="en-US" sz="2200" dirty="0">
                <a:solidFill>
                  <a:schemeClr val="tx1"/>
                </a:solidFill>
              </a:rPr>
              <a:t> and </a:t>
            </a:r>
            <a:r>
              <a:rPr lang="en-US" sz="2200" b="1" dirty="0">
                <a:solidFill>
                  <a:schemeClr val="tx1"/>
                </a:solidFill>
              </a:rPr>
              <a:t>to make good</a:t>
            </a: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 10.18 your phone buzzes. An e-mail from the contractor. Subject line: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“About yesterday evening”</a:t>
            </a: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7 progress expressions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</a:t>
            </a:r>
            <a:r>
              <a:rPr lang="en-US" sz="1700" b="1" dirty="0">
                <a:solidFill>
                  <a:schemeClr val="tx1"/>
                </a:solidFill>
              </a:rPr>
              <a:t>your</a:t>
            </a:r>
            <a:r>
              <a:rPr lang="en-US" sz="1700" dirty="0">
                <a:solidFill>
                  <a:schemeClr val="tx1"/>
                </a:solidFill>
              </a:rPr>
              <a:t> field’s 5 words + recognise the other 15.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Rewrite your update without looking at the model.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Say your update in 30 seconds — with one </a:t>
            </a:r>
            <a:r>
              <a:rPr lang="en-US" sz="1600" i="1" dirty="0">
                <a:solidFill>
                  <a:schemeClr val="bg1"/>
                </a:solidFill>
              </a:rPr>
              <a:t>already</a:t>
            </a:r>
            <a:r>
              <a:rPr lang="en-US" sz="1600" dirty="0">
                <a:solidFill>
                  <a:schemeClr val="bg1"/>
                </a:solidFill>
              </a:rPr>
              <a:t> and one </a:t>
            </a:r>
            <a:r>
              <a:rPr lang="en-US" sz="1600" i="1" dirty="0">
                <a:solidFill>
                  <a:schemeClr val="bg1"/>
                </a:solidFill>
              </a:rPr>
              <a:t>yet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10 — Write the ten o’clock update</dc:title>
  <dc:subject>Case File 01 — The night nobody heard</dc:subject>
  <dc:creator>A. Jouniaux</dc:creator>
  <cp:lastModifiedBy>A. Jouniaux</cp:lastModifiedBy>
  <cp:revision>1</cp:revision>
  <dcterms:created xsi:type="dcterms:W3CDTF">2026-10-03T19:30:04Z</dcterms:created>
  <dcterms:modified xsi:type="dcterms:W3CDTF">2026-10-03T19:30:04Z</dcterms:modified>
</cp:coreProperties>
</file>