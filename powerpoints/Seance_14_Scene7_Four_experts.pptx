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166bfb93-96c0-f446-be13-a8f8b1a138af}">
          <p14:sldIdLst>
            <p14:sldId id="256"/>
          </p14:sldIdLst>
        </p14:section>
        <p14:section name="Warm-up" id="{b96f79f7-d098-0079-ac01-ceedc5851fdc}">
          <p14:sldIdLst>
            <p14:sldId id="257"/>
            <p14:sldId id="258"/>
          </p14:sldIdLst>
        </p14:section>
        <p14:section name="Scene 7" id="{49fa95b3-aae0-da82-abf8-107079009d22}">
          <p14:sldIdLst>
            <p14:sldId id="259"/>
          </p14:sldIdLst>
        </p14:section>
        <p14:section name="How sure are you?" id="{192df84f-a60f-ff39-d5c8-d5513f14fee4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The team call" id="{41c79eee-9616-0012-5264-18955e448b81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ôture" id="{e12650d5-55c8-8a1a-aba6-ebeed42577d3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14 — Scène 7 (13.00), livret p. 32–34 : le tableau des hypothèses (team call en trois rounds). Grammaire : modaux de certitude (can’t · might · may · must) et should pour le conseil.
Nouveautés : carte de métro de la grammaire (ponts S3 → S16) · jauge de certitude · train des modaux, présent et passé (pont S7) · choix binaire « must, mustn’t ou can’t ? » · jauges à interpréter (Rate it, then write it) · ENERGIZER baromètre humain · intrus du langage des hypothèses · chevrons des trois rounds · tableau d’enquêteur en liège (fils rouges entre indices et hypothèses) · GAME avocat du diable.
Déroulé indicatif (90 min) : warm-up (5') · scène (5') · métro + jauge (10') · règles, train, pièges (15') · Rate it (5') · ENERGIZER (5') · cartes des experts (5') · team call rounds 1–2 (20') · round 3 + tableau (10') · avocat du diable (5') · clôture (5').
Les diapositives GAME, ENERGIZER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 la séance 13 : for / since, not … yet, prétérit pour un moment révolu. Faire lire chaque paire en dialogue (A pose, B répond).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 la séance 13 : for / since, not … yet, prétérit pour un moment révolu. Faire lire chaque paire en dialogue (A pose, B répond).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Bulles : « We cannot rule out human error. » / « It might be the same section as last November. » / « Then we should inspect the whole run. » Les trois hypothèses = deux retenues + une écartée.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entre les séances : pour chaque station déjà passée, faire retrouver une phrase du dossier. Les stations en pointillé sont à 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: « Mark’s board only accepts sentences that state their own degree of certainty. In English, that degree is set by a single word, placed before the verb. » Les pourcentages sont indicatifs. Should n’est pas sur la jauge : il donne un conseil, pas un degré de certitude.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produire une phrase fausse et sa correction pour chaque règle. Lien avec la séance 13 : l’assureur refuse une cause non prouvée présentée comme un fait.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avec les participes passés (séance 7). Faire lire chaque train, puis transformer les phrases au présent en phrases au passé (et inversement).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Lignes 3 et 7 : règle et forme, pas certitude (mustn’t = interdiction ; pas de do avec un modal).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Lignes 3 et 7 : règle et forme, pas certitude (mustn’t = interdiction ; pas de do avec un modal).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Attention au temps : la cause est passée → modal + have + participe (must have caused). L’état actuel → modal + be (may be blocked).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Attention au temps : la cause est passée → modal + have + participe (must have caused). L’état actuel → modal + be (may be blocked).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seulement la situation (la partie avant la flèche), puis faire produire la phrase. Situations 1 à 6 : le dossier ; 7 à 10 : la vie quotidienne.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Français : to rule out = écarter · a hunch = une intuition · a clue = un indice · to back up = étayer · ought to = devrait · had better = ferait mieux de (séance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Français : to rule out = écarter · a hunch = une intuition · a clue = un indice · to back up = étayer · ought to = devrait · had better = ferait mieux de (séance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élève ne lit que la carte de sa firme (information asymétrique) : c’est ce qui rend le team call nécessaire.
À vérifier dans le livret, carte IT : « midnight, sixteen minutes after the temperature alarm » — l’alarme de température est à 23:41 (19 minutes avant minuit) ; seize minutes correspondent à l’alarme d’humidité (23:44).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Minuter chaque round au tableau. Pendant le round 2, le professeur circule et note les modaux employés (ou oubliés).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laisser projeté pendant les rounds 2 et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3 : chaque groupe recopie sa propre version sur une feuille A3 (ou au tableau), avec des fils entre indices et hypothèses.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exemple parmi d’autres, à projeter après les productions des groupes. Vérifier que chaque phrase porte son degré de certitude et qu’aucune ne nomme une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: le professeur joue l’avocat du diable pour toute la classe, carte par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14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7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13.00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Four experts, one whiteboard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Nobody knows. Yet something must be written.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32–34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48982"/>
            <a:ext cx="5010912" cy="3342915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the assessor’s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questions from the phone call. Find the best answer.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3571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237232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has the joint been faulty?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934208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3054096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2934208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have you worked on this site?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631184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75107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3631184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has the second floor been closed?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328160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44804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4328160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Has anyone inspected the basement?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5025136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5145024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5025136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When did the temperature alarm go off?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5722112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8420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15568" y="5722112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has the assessor asked for?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91473" y="2237232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01201" y="235712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58401" y="2237232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 yet — nobody has been down there.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91473" y="2934208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01201" y="3054096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958401" y="2934208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alarm log and the photographs.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91473" y="3631184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01201" y="3751072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958401" y="3631184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Since the summer — for about three months.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91473" y="4328160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201" y="4448048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958401" y="4328160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23:41 — a finished time.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91473" y="5025136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01201" y="5145024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958401" y="5025136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Since seven o’clock this morning.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91473" y="5722112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01201" y="584200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958401" y="5722112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eight months — since March.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983297" y="24668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983297" y="316382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983297" y="386080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83297" y="455777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83297" y="52547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983297" y="5951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300033" y="24668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00033" y="316382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00033" y="386080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00033" y="455777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00033" y="52547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00033" y="5951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the assessor’s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questions from the phone call. Find the best answer.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3571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2237232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has the joint been faulty?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34208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054096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2934208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have you worked on this site?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631184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75107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3631184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has the second floor been closed?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328160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444804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4328160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Has anyone inspected the basement?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5025136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5145024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" y="5025136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When did the temperature alarm go off?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5722112"/>
            <a:ext cx="4471233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58420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" y="5722112"/>
            <a:ext cx="381286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has the assessor asked for?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91473" y="2237232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1201" y="235712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958401" y="2237232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 yet — nobody has been down there.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91473" y="2934208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01201" y="3054096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8401" y="2934208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alarm log and the photographs.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91473" y="3631184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01201" y="3751072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958401" y="3631184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Since the summer — for about three months.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91473" y="4328160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01201" y="4448048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958401" y="4328160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23:41 — a finished time.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91473" y="5025136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01201" y="5145024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958401" y="5025136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Since seven o’clock this morning.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91473" y="5722112"/>
            <a:ext cx="5248839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01201" y="584200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958401" y="5722112"/>
            <a:ext cx="4590471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eight months — since March.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056449" y="2530856"/>
            <a:ext cx="1298448" cy="1393952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983297" y="246684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46" name="Shape 43"/>
          <p:cNvSpPr/>
          <p:nvPr/>
        </p:nvSpPr>
        <p:spPr>
          <a:xfrm>
            <a:off x="6300033" y="3860800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47" name="Shape 44"/>
          <p:cNvSpPr/>
          <p:nvPr/>
        </p:nvSpPr>
        <p:spPr>
          <a:xfrm>
            <a:off x="5056449" y="3227832"/>
            <a:ext cx="1298448" cy="2787904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983297" y="3163824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49" name="Shape 46"/>
          <p:cNvSpPr/>
          <p:nvPr/>
        </p:nvSpPr>
        <p:spPr>
          <a:xfrm>
            <a:off x="6300033" y="595172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0" name="Shape 47"/>
          <p:cNvSpPr/>
          <p:nvPr/>
        </p:nvSpPr>
        <p:spPr>
          <a:xfrm>
            <a:off x="5056449" y="3924808"/>
            <a:ext cx="1298448" cy="1393952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83297" y="3860800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2" name="Shape 49"/>
          <p:cNvSpPr/>
          <p:nvPr/>
        </p:nvSpPr>
        <p:spPr>
          <a:xfrm>
            <a:off x="6300033" y="5254752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3" name="Shape 50"/>
          <p:cNvSpPr/>
          <p:nvPr/>
        </p:nvSpPr>
        <p:spPr>
          <a:xfrm flipV="1">
            <a:off x="5056449" y="2530856"/>
            <a:ext cx="1298448" cy="2090928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983297" y="4557776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5" name="Shape 52"/>
          <p:cNvSpPr/>
          <p:nvPr/>
        </p:nvSpPr>
        <p:spPr>
          <a:xfrm>
            <a:off x="6300033" y="246684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6" name="Shape 53"/>
          <p:cNvSpPr/>
          <p:nvPr/>
        </p:nvSpPr>
        <p:spPr>
          <a:xfrm flipV="1">
            <a:off x="5056449" y="4621784"/>
            <a:ext cx="1298448" cy="696976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983297" y="5254752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8" name="Shape 55"/>
          <p:cNvSpPr/>
          <p:nvPr/>
        </p:nvSpPr>
        <p:spPr>
          <a:xfrm>
            <a:off x="6300033" y="4557776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59" name="Shape 56"/>
          <p:cNvSpPr/>
          <p:nvPr/>
        </p:nvSpPr>
        <p:spPr>
          <a:xfrm flipV="1">
            <a:off x="5056449" y="3227832"/>
            <a:ext cx="1298448" cy="2787904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983297" y="595172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61" name="Shape 58"/>
          <p:cNvSpPr/>
          <p:nvPr/>
        </p:nvSpPr>
        <p:spPr>
          <a:xfrm>
            <a:off x="6300033" y="3163824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experts, one whiteboard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</a:t>
            </a:r>
            <a:endParaRPr lang="en-US" sz="1200" dirty="0"/>
          </a:p>
        </p:txBody>
      </p:sp>
      <p:pic>
        <p:nvPicPr>
          <p:cNvPr id="6" name="illustration" descr="Four experts in front of a whiteboard with the word WHY: “We cannot rule out human error.” “It might be the same section as last November.” “Then we should inspect the whole run.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6139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7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13.00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210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After lunch, Mark rubs out the timeline and writes a single word at the top of the board: </a:t>
            </a:r>
            <a:r>
              <a:rPr lang="en-US" sz="1600" b="1" dirty="0">
                <a:solidFill>
                  <a:schemeClr val="tx1"/>
                </a:solidFill>
              </a:rPr>
              <a:t>WHY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Then he says the sentence that makes everyone uncomfortable: </a:t>
            </a:r>
            <a:r>
              <a:rPr lang="en-US" sz="1600" i="1" dirty="0">
                <a:solidFill>
                  <a:schemeClr val="tx1"/>
                </a:solidFill>
              </a:rPr>
              <a:t>“Nobody leaves this room until we have three hypotheses and one recommendation. Not four hypotheses. Not zero.”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995160" y="5169408"/>
            <a:ext cx="4645152" cy="1139952"/>
          </a:xfrm>
          <a:prstGeom prst="roundRect">
            <a:avLst>
              <a:gd name="adj" fmla="val 6417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527913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571744"/>
            <a:ext cx="424281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Why </a:t>
            </a:r>
            <a:r>
              <a:rPr lang="en-US" sz="1700" b="1" dirty="0">
                <a:solidFill>
                  <a:schemeClr val="tx1"/>
                </a:solidFill>
              </a:rPr>
              <a:t>exactly</a:t>
            </a:r>
            <a:r>
              <a:rPr lang="en-US" sz="1700" dirty="0">
                <a:solidFill>
                  <a:schemeClr val="tx1"/>
                </a:solidFill>
              </a:rPr>
              <a:t> three hypotheses — not four, not zero?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grammar line: you are here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Séances 3 → 16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41870" y="3480816"/>
            <a:ext cx="6932295" cy="1280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4"/>
          <p:cNvSpPr/>
          <p:nvPr/>
        </p:nvSpPr>
        <p:spPr>
          <a:xfrm>
            <a:off x="8174165" y="3544824"/>
            <a:ext cx="3138678" cy="0"/>
          </a:xfrm>
          <a:prstGeom prst="line">
            <a:avLst/>
          </a:prstGeom>
          <a:noFill/>
          <a:ln w="76200">
            <a:solidFill>
              <a:srgbClr val="B8C1CE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077278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1870" y="3133344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Past simple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The alarm went off at 23:41.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3737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28329" y="3709416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89963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81403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081403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Fact or supposition?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081403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It might be the same pipe.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850196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14788" y="3133344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76422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67862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7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467862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Past participles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467862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been · caused · started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36655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01247" y="3709416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62881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54321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9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854321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Present perfect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854321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Iris has taken the photos.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623114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87706" y="3133344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49340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40780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13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240780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/ since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40780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It has been faulty since the summer.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790117" y="3160776"/>
            <a:ext cx="768096" cy="768096"/>
          </a:xfrm>
          <a:prstGeom prst="ellipse">
            <a:avLst/>
          </a:prstGeom>
          <a:solidFill>
            <a:srgbClr val="B4236A">
              <a:alpha val="2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936421" y="3307080"/>
            <a:ext cx="475488" cy="475488"/>
          </a:xfrm>
          <a:prstGeom prst="ellipse">
            <a:avLst/>
          </a:prstGeom>
          <a:solidFill>
            <a:srgbClr val="B4236A"/>
          </a:solidFill>
          <a:ln w="444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74165" y="3782568"/>
            <a:ext cx="0" cy="173736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35799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B4236A">
              <a:alpha val="12000"/>
            </a:srgb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627239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4236A"/>
                </a:solidFill>
              </a:rPr>
              <a:t>SÉANCE 14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627239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Modals of certainty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27239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It might have been the joint.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351205" y="2831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4236A"/>
                </a:solidFill>
              </a:rPr>
              <a:t>YOU ARE HERE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396032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B8C1C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560624" y="3133344"/>
            <a:ext cx="0" cy="246888"/>
          </a:xfrm>
          <a:prstGeom prst="line">
            <a:avLst/>
          </a:prstGeom>
          <a:noFill/>
          <a:ln w="12700">
            <a:solidFill>
              <a:srgbClr val="B8C1C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922258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44546A">
              <a:alpha val="6000"/>
            </a:srgbClr>
          </a:solidFill>
          <a:ln w="9525">
            <a:solidFill>
              <a:srgbClr val="44546A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9013698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SÉANCE 15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013698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Saying it carefully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9013698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 had better wait.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0782491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B8C1C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947083" y="3709416"/>
            <a:ext cx="0" cy="246888"/>
          </a:xfrm>
          <a:prstGeom prst="line">
            <a:avLst/>
          </a:prstGeom>
          <a:noFill/>
          <a:ln w="12700">
            <a:solidFill>
              <a:srgbClr val="B8C1C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308717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44546A">
              <a:alpha val="6000"/>
            </a:srgbClr>
          </a:solidFill>
          <a:ln w="9525">
            <a:solidFill>
              <a:srgbClr val="44546A"/>
            </a:solidFill>
            <a:prstDash val="dash"/>
          </a:ln>
        </p:spPr>
      </p:sp>
      <p:sp>
        <p:nvSpPr>
          <p:cNvPr id="55" name="Text 52"/>
          <p:cNvSpPr txBox="1"/>
          <p:nvPr/>
        </p:nvSpPr>
        <p:spPr>
          <a:xfrm>
            <a:off x="10400157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SÉANCE 16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400157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passive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10400157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An access was recorded.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60" name="Text 56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 — </a:t>
            </a:r>
            <a:r>
              <a:rPr lang="en-US" sz="1800" dirty="0">
                <a:solidFill>
                  <a:schemeClr val="tx1"/>
                </a:solidFill>
              </a:rPr>
              <a:t>Séance 4 (how sure?) + Séance 7 (participles): </a:t>
            </a:r>
            <a:r>
              <a:rPr lang="en-US" sz="1800" b="1" dirty="0">
                <a:solidFill>
                  <a:schemeClr val="tx1"/>
                </a:solidFill>
              </a:rPr>
              <a:t>might have been</a:t>
            </a:r>
            <a:r>
              <a:rPr lang="en-US" sz="1800" dirty="0">
                <a:solidFill>
                  <a:schemeClr val="tx1"/>
                </a:solidFill>
              </a:rPr>
              <a:t> = modal + </a:t>
            </a:r>
            <a:r>
              <a:rPr lang="en-US" sz="1800" b="1" dirty="0">
                <a:solidFill>
                  <a:schemeClr val="tx1"/>
                </a:solidFill>
              </a:rPr>
              <a:t>have</a:t>
            </a:r>
            <a:r>
              <a:rPr lang="en-US" sz="1800" dirty="0">
                <a:solidFill>
                  <a:schemeClr val="tx1"/>
                </a:solidFill>
              </a:rPr>
              <a:t> + past participle.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to be certain that you are not certain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2011680"/>
            <a:ext cx="4663440" cy="4663440"/>
          </a:xfrm>
          <a:prstGeom prst="blockArc">
            <a:avLst>
              <a:gd name="adj1" fmla="val 10800000"/>
              <a:gd name="adj2" fmla="val 13500000"/>
              <a:gd name="adj3" fmla="val 17000"/>
            </a:avLst>
          </a:prstGeom>
          <a:solidFill>
            <a:srgbClr val="B03A2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150" y="340161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can’t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2011680"/>
            <a:ext cx="4663440" cy="4663440"/>
          </a:xfrm>
          <a:prstGeom prst="blockArc">
            <a:avLst>
              <a:gd name="adj1" fmla="val 13500000"/>
              <a:gd name="adj2" fmla="val 16200000"/>
              <a:gd name="adj3" fmla="val 17000"/>
            </a:avLst>
          </a:prstGeom>
          <a:solidFill>
            <a:srgbClr val="D99A0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82542" y="235422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might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2011680"/>
            <a:ext cx="4663440" cy="4663440"/>
          </a:xfrm>
          <a:prstGeom prst="blockArc">
            <a:avLst>
              <a:gd name="adj1" fmla="val 16200000"/>
              <a:gd name="adj2" fmla="val 18900000"/>
              <a:gd name="adj3" fmla="val 17000"/>
            </a:avLst>
          </a:prstGeom>
          <a:solidFill>
            <a:srgbClr val="2E75B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63778" y="235422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85800" y="2011680"/>
            <a:ext cx="4663440" cy="4663440"/>
          </a:xfrm>
          <a:prstGeom prst="blockArc">
            <a:avLst>
              <a:gd name="adj1" fmla="val 18900000"/>
              <a:gd name="adj2" fmla="val 21600000"/>
              <a:gd name="adj3" fmla="val 17000"/>
            </a:avLst>
          </a:prstGeom>
          <a:solidFill>
            <a:srgbClr val="3C7A3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11170" y="340161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must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 flipH="1" flipV="1">
            <a:off x="2558917" y="2931964"/>
            <a:ext cx="458603" cy="1411436"/>
          </a:xfrm>
          <a:prstGeom prst="line">
            <a:avLst/>
          </a:prstGeom>
          <a:noFill/>
          <a:ln w="50800">
            <a:solidFill>
              <a:srgbClr val="1B2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80360" y="4206240"/>
            <a:ext cx="274320" cy="27432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416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0 %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4416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100 %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sure are you?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2120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0F766E">
              <a:alpha val="8000"/>
            </a:srgbClr>
          </a:solidFill>
          <a:ln w="9525">
            <a:solidFill>
              <a:srgbClr val="0F766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7667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43000" y="5285232"/>
            <a:ext cx="4206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Séance 4</a:t>
            </a:r>
            <a:r>
              <a:rPr lang="en-US" sz="1400" dirty="0">
                <a:solidFill>
                  <a:schemeClr val="tx1"/>
                </a:solidFill>
              </a:rPr>
              <a:t> — fact or supposition? A single word, placed </a:t>
            </a:r>
            <a:r>
              <a:rPr lang="en-US" sz="1400" b="1" dirty="0">
                <a:solidFill>
                  <a:schemeClr val="tx1"/>
                </a:solidFill>
              </a:rPr>
              <a:t>before the verb</a:t>
            </a:r>
            <a:r>
              <a:rPr lang="en-US" sz="1400" dirty="0">
                <a:solidFill>
                  <a:schemeClr val="tx1"/>
                </a:solidFill>
              </a:rPr>
              <a:t>, gives the degree of certainty.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897880" y="1783080"/>
            <a:ext cx="5742432" cy="817474"/>
          </a:xfrm>
          <a:prstGeom prst="roundRect">
            <a:avLst>
              <a:gd name="adj" fmla="val 89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080760" y="1783080"/>
            <a:ext cx="1417320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must</a:t>
            </a:r>
            <a:endParaRPr lang="en-US" sz="2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</a:rPr>
              <a:t>≈ 95 %</a:t>
            </a:r>
            <a:endParaRPr lang="en-US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7543800" y="1783080"/>
            <a:ext cx="3959352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pipe </a:t>
            </a:r>
            <a:r>
              <a:rPr lang="en-US" sz="1600" b="1" dirty="0">
                <a:solidFill>
                  <a:schemeClr val="tx1"/>
                </a:solidFill>
              </a:rPr>
              <a:t>must be</a:t>
            </a:r>
            <a:r>
              <a:rPr lang="en-US" sz="1600" dirty="0">
                <a:solidFill>
                  <a:schemeClr val="tx1"/>
                </a:solidFill>
              </a:rPr>
              <a:t> the cause — nothing else was wet.  </a:t>
            </a:r>
            <a:r>
              <a:rPr lang="en-US" sz="1600" i="1" dirty="0">
                <a:solidFill>
                  <a:schemeClr val="tx1"/>
                </a:solidFill>
              </a:rPr>
              <a:t>(c’est sûrement)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897880" y="2710282"/>
            <a:ext cx="5742432" cy="817474"/>
          </a:xfrm>
          <a:prstGeom prst="roundRect">
            <a:avLst>
              <a:gd name="adj" fmla="val 8949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080760" y="2710282"/>
            <a:ext cx="1417320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</a:t>
            </a:r>
            <a:endParaRPr lang="en-US" sz="2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</a:rPr>
              <a:t>≈ 50 %</a:t>
            </a:r>
            <a:endParaRPr lang="en-US" sz="2100" dirty="0"/>
          </a:p>
        </p:txBody>
      </p:sp>
      <p:sp>
        <p:nvSpPr>
          <p:cNvPr id="27" name="Text 23"/>
          <p:cNvSpPr txBox="1"/>
          <p:nvPr/>
        </p:nvSpPr>
        <p:spPr>
          <a:xfrm>
            <a:off x="7543800" y="2710282"/>
            <a:ext cx="3959352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damage </a:t>
            </a:r>
            <a:r>
              <a:rPr lang="en-US" sz="1600" b="1" dirty="0">
                <a:solidFill>
                  <a:schemeClr val="tx1"/>
                </a:solidFill>
              </a:rPr>
              <a:t>may be</a:t>
            </a:r>
            <a:r>
              <a:rPr lang="en-US" sz="1600" dirty="0">
                <a:solidFill>
                  <a:schemeClr val="tx1"/>
                </a:solidFill>
              </a:rPr>
              <a:t> worse than it looks.  </a:t>
            </a:r>
            <a:r>
              <a:rPr lang="en-US" sz="1600" i="1" dirty="0">
                <a:solidFill>
                  <a:schemeClr val="tx1"/>
                </a:solidFill>
              </a:rPr>
              <a:t>(il est possible que)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897880" y="3637483"/>
            <a:ext cx="5742432" cy="817474"/>
          </a:xfrm>
          <a:prstGeom prst="roundRect">
            <a:avLst>
              <a:gd name="adj" fmla="val 8949"/>
            </a:avLst>
          </a:prstGeom>
          <a:solidFill>
            <a:srgbClr val="D99A06">
              <a:alpha val="8000"/>
            </a:srgbClr>
          </a:solidFill>
          <a:ln w="12700">
            <a:solidFill>
              <a:srgbClr val="D99A0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080760" y="3637483"/>
            <a:ext cx="1417320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9A0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might</a:t>
            </a:r>
            <a:endParaRPr lang="en-US" sz="2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</a:rPr>
              <a:t>≈ 40 %</a:t>
            </a:r>
            <a:endParaRPr lang="en-US" sz="2100" dirty="0"/>
          </a:p>
        </p:txBody>
      </p:sp>
      <p:sp>
        <p:nvSpPr>
          <p:cNvPr id="30" name="Text 26"/>
          <p:cNvSpPr txBox="1"/>
          <p:nvPr/>
        </p:nvSpPr>
        <p:spPr>
          <a:xfrm>
            <a:off x="7543800" y="3637483"/>
            <a:ext cx="3959352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</a:t>
            </a:r>
            <a:r>
              <a:rPr lang="en-US" sz="1600" b="1" dirty="0">
                <a:solidFill>
                  <a:schemeClr val="tx1"/>
                </a:solidFill>
              </a:rPr>
              <a:t>might be</a:t>
            </a:r>
            <a:r>
              <a:rPr lang="en-US" sz="1600" dirty="0">
                <a:solidFill>
                  <a:schemeClr val="tx1"/>
                </a:solidFill>
              </a:rPr>
              <a:t> the same section as last November.  </a:t>
            </a:r>
            <a:r>
              <a:rPr lang="en-US" sz="1600" i="1" dirty="0">
                <a:solidFill>
                  <a:schemeClr val="tx1"/>
                </a:solidFill>
              </a:rPr>
              <a:t>(il se pourrait que)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897880" y="4564685"/>
            <a:ext cx="5742432" cy="817474"/>
          </a:xfrm>
          <a:prstGeom prst="roundRect">
            <a:avLst>
              <a:gd name="adj" fmla="val 894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080760" y="4564685"/>
            <a:ext cx="1417320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3A2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can’t</a:t>
            </a:r>
            <a:endParaRPr lang="en-US" sz="2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</a:rPr>
              <a:t>≈ 5 %</a:t>
            </a:r>
            <a:endParaRPr lang="en-US" sz="2100" dirty="0"/>
          </a:p>
        </p:txBody>
      </p:sp>
      <p:sp>
        <p:nvSpPr>
          <p:cNvPr id="33" name="Text 29"/>
          <p:cNvSpPr txBox="1"/>
          <p:nvPr/>
        </p:nvSpPr>
        <p:spPr>
          <a:xfrm>
            <a:off x="7543800" y="4564685"/>
            <a:ext cx="3959352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</a:t>
            </a:r>
            <a:r>
              <a:rPr lang="en-US" sz="1600" b="1" dirty="0">
                <a:solidFill>
                  <a:schemeClr val="tx1"/>
                </a:solidFill>
              </a:rPr>
              <a:t>can’t be</a:t>
            </a:r>
            <a:r>
              <a:rPr lang="en-US" sz="1600" dirty="0">
                <a:solidFill>
                  <a:schemeClr val="tx1"/>
                </a:solidFill>
              </a:rPr>
              <a:t> the cabling team — they left at 19:58.  </a:t>
            </a:r>
            <a:r>
              <a:rPr lang="en-US" sz="1600" i="1" dirty="0">
                <a:solidFill>
                  <a:schemeClr val="tx1"/>
                </a:solidFill>
              </a:rPr>
              <a:t>(c’est impossible)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5897880" y="5491886"/>
            <a:ext cx="5742432" cy="817474"/>
          </a:xfrm>
          <a:prstGeom prst="roundRect">
            <a:avLst>
              <a:gd name="adj" fmla="val 8949"/>
            </a:avLst>
          </a:prstGeom>
          <a:solidFill>
            <a:srgbClr val="6E4A9E">
              <a:alpha val="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080760" y="5491886"/>
            <a:ext cx="1417320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should</a:t>
            </a:r>
            <a:endParaRPr lang="en-US" sz="2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</a:rPr>
              <a:t>advice</a:t>
            </a:r>
            <a:endParaRPr lang="en-US" sz="2100" dirty="0"/>
          </a:p>
        </p:txBody>
      </p:sp>
      <p:sp>
        <p:nvSpPr>
          <p:cNvPr id="36" name="Text 32"/>
          <p:cNvSpPr txBox="1"/>
          <p:nvPr/>
        </p:nvSpPr>
        <p:spPr>
          <a:xfrm>
            <a:off x="7543800" y="5491886"/>
            <a:ext cx="3959352" cy="81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 </a:t>
            </a:r>
            <a:r>
              <a:rPr lang="en-US" sz="1600" b="1" dirty="0">
                <a:solidFill>
                  <a:schemeClr val="tx1"/>
                </a:solidFill>
              </a:rPr>
              <a:t>should</a:t>
            </a:r>
            <a:r>
              <a:rPr lang="en-US" sz="1600" dirty="0">
                <a:solidFill>
                  <a:schemeClr val="tx1"/>
                </a:solidFill>
              </a:rPr>
              <a:t> inspect the whole run before the handover.  </a:t>
            </a:r>
            <a:r>
              <a:rPr lang="en-US" sz="1600" i="1" dirty="0">
                <a:solidFill>
                  <a:schemeClr val="tx1"/>
                </a:solidFill>
              </a:rPr>
              <a:t>(il faudrait)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rules, two traps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14344" cy="212598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057400"/>
            <a:ext cx="3514344" cy="228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NO -S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441448"/>
            <a:ext cx="3148584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She </a:t>
            </a:r>
            <a:r>
              <a:rPr lang="en-US" sz="1600" b="1" dirty="0">
                <a:solidFill>
                  <a:schemeClr val="tx1"/>
                </a:solidFill>
              </a:rPr>
              <a:t>might</a:t>
            </a:r>
            <a:r>
              <a:rPr lang="en-US" sz="1600" dirty="0">
                <a:solidFill>
                  <a:schemeClr val="tx1"/>
                </a:solidFill>
              </a:rPr>
              <a:t> be right.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✗ </a:t>
            </a:r>
            <a:r>
              <a:rPr lang="en-US" sz="1600" i="1" dirty="0">
                <a:solidFill>
                  <a:schemeClr val="tx1"/>
                </a:solidFill>
              </a:rPr>
              <a:t>She mights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37304" y="1783080"/>
            <a:ext cx="3514344" cy="212598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37304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14" name="Shape 10"/>
          <p:cNvSpPr/>
          <p:nvPr/>
        </p:nvSpPr>
        <p:spPr>
          <a:xfrm>
            <a:off x="4337304" y="2057400"/>
            <a:ext cx="3514344" cy="228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84" y="18928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04232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NO TO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20184" y="2441448"/>
            <a:ext cx="3148584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 </a:t>
            </a:r>
            <a:r>
              <a:rPr lang="en-US" sz="1600" b="1" dirty="0">
                <a:solidFill>
                  <a:schemeClr val="tx1"/>
                </a:solidFill>
              </a:rPr>
              <a:t>should</a:t>
            </a:r>
            <a:r>
              <a:rPr lang="en-US" sz="1600" dirty="0">
                <a:solidFill>
                  <a:schemeClr val="tx1"/>
                </a:solidFill>
              </a:rPr>
              <a:t> wait.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✗ </a:t>
            </a:r>
            <a:r>
              <a:rPr lang="en-US" sz="1600" i="1" dirty="0">
                <a:solidFill>
                  <a:schemeClr val="tx1"/>
                </a:solidFill>
              </a:rPr>
              <a:t>should to wait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(but </a:t>
            </a:r>
            <a:r>
              <a:rPr lang="en-US" sz="1600" b="1" dirty="0">
                <a:solidFill>
                  <a:schemeClr val="tx1"/>
                </a:solidFill>
              </a:rPr>
              <a:t>ought to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b="1" dirty="0">
                <a:solidFill>
                  <a:schemeClr val="tx1"/>
                </a:solidFill>
              </a:rPr>
              <a:t>have to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25968" y="1783080"/>
            <a:ext cx="3514344" cy="212598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25968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20" name="Shape 15"/>
          <p:cNvSpPr/>
          <p:nvPr/>
        </p:nvSpPr>
        <p:spPr>
          <a:xfrm>
            <a:off x="8125968" y="2057400"/>
            <a:ext cx="3514344" cy="228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9280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92896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NO DO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308848" y="2441448"/>
            <a:ext cx="3148584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Should</a:t>
            </a:r>
            <a:r>
              <a:rPr lang="en-US" sz="1600" dirty="0">
                <a:solidFill>
                  <a:schemeClr val="tx1"/>
                </a:solidFill>
              </a:rPr>
              <a:t> we call her?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✗ </a:t>
            </a:r>
            <a:r>
              <a:rPr lang="en-US" sz="1600" i="1" dirty="0">
                <a:solidFill>
                  <a:schemeClr val="tx1"/>
                </a:solidFill>
              </a:rPr>
              <a:t>Do we should…?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Negative: </a:t>
            </a:r>
            <a:r>
              <a:rPr lang="en-US" sz="1600" b="1" dirty="0">
                <a:solidFill>
                  <a:schemeClr val="tx1"/>
                </a:solidFill>
              </a:rPr>
              <a:t>can’t, shouldn’t, mustn’t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183380"/>
            <a:ext cx="3514344" cy="212598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41833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B03A2E"/>
          </a:solidFill>
          <a:ln/>
        </p:spPr>
      </p:sp>
      <p:sp>
        <p:nvSpPr>
          <p:cNvPr id="26" name="Shape 20"/>
          <p:cNvSpPr/>
          <p:nvPr/>
        </p:nvSpPr>
        <p:spPr>
          <a:xfrm>
            <a:off x="548640" y="4457700"/>
            <a:ext cx="3514344" cy="228600"/>
          </a:xfrm>
          <a:prstGeom prst="rect">
            <a:avLst/>
          </a:prstGeom>
          <a:solidFill>
            <a:srgbClr val="B03A2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310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15568" y="41833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TRAP 1 — MUSTN’T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4841748"/>
            <a:ext cx="3148584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must be</a:t>
            </a:r>
            <a:r>
              <a:rPr lang="en-US" sz="1600" dirty="0">
                <a:solidFill>
                  <a:schemeClr val="tx1"/>
                </a:solidFill>
              </a:rPr>
              <a:t> = sûrement (a deduction)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mustn’t</a:t>
            </a:r>
            <a:r>
              <a:rPr lang="en-US" sz="1600" dirty="0">
                <a:solidFill>
                  <a:schemeClr val="tx1"/>
                </a:solidFill>
              </a:rPr>
              <a:t> = an interdiction!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opposite of </a:t>
            </a:r>
            <a:r>
              <a:rPr lang="en-US" sz="1600" i="1" dirty="0">
                <a:solidFill>
                  <a:schemeClr val="tx1"/>
                </a:solidFill>
              </a:rPr>
              <a:t>must be</a:t>
            </a:r>
            <a:r>
              <a:rPr lang="en-US" sz="1600" dirty="0">
                <a:solidFill>
                  <a:schemeClr val="tx1"/>
                </a:solidFill>
              </a:rPr>
              <a:t> is </a:t>
            </a:r>
            <a:r>
              <a:rPr lang="en-US" sz="1600" b="1" dirty="0">
                <a:solidFill>
                  <a:schemeClr val="tx1"/>
                </a:solidFill>
              </a:rPr>
              <a:t>can’t be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4337304" y="4183380"/>
            <a:ext cx="3514344" cy="212598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337304" y="41833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B03A2E"/>
          </a:solidFill>
          <a:ln/>
        </p:spPr>
      </p:sp>
      <p:sp>
        <p:nvSpPr>
          <p:cNvPr id="32" name="Shape 25"/>
          <p:cNvSpPr/>
          <p:nvPr/>
        </p:nvSpPr>
        <p:spPr>
          <a:xfrm>
            <a:off x="4337304" y="4457700"/>
            <a:ext cx="3514344" cy="228600"/>
          </a:xfrm>
          <a:prstGeom prst="rect">
            <a:avLst/>
          </a:prstGeom>
          <a:solidFill>
            <a:srgbClr val="B03A2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184" y="4293108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904232" y="41833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TRAP 2 — THE PAST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4520184" y="4841748"/>
            <a:ext cx="3148584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modal + </a:t>
            </a:r>
            <a:r>
              <a:rPr lang="en-US" sz="1600" b="1" dirty="0">
                <a:solidFill>
                  <a:schemeClr val="tx1"/>
                </a:solidFill>
              </a:rPr>
              <a:t>have</a:t>
            </a:r>
            <a:r>
              <a:rPr lang="en-US" sz="1600" dirty="0">
                <a:solidFill>
                  <a:schemeClr val="tx1"/>
                </a:solidFill>
              </a:rPr>
              <a:t> + participle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</a:t>
            </a:r>
            <a:r>
              <a:rPr lang="en-US" sz="1600" b="1" dirty="0">
                <a:solidFill>
                  <a:schemeClr val="tx1"/>
                </a:solidFill>
              </a:rPr>
              <a:t>might have been</a:t>
            </a:r>
            <a:r>
              <a:rPr lang="en-US" sz="1600" dirty="0">
                <a:solidFill>
                  <a:schemeClr val="tx1"/>
                </a:solidFill>
              </a:rPr>
              <a:t> the same joint.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</a:t>
            </a:r>
            <a:r>
              <a:rPr lang="en-US" sz="1600" b="1" dirty="0">
                <a:solidFill>
                  <a:schemeClr val="tx1"/>
                </a:solidFill>
              </a:rPr>
              <a:t>can’t have been</a:t>
            </a:r>
            <a:r>
              <a:rPr lang="en-US" sz="1600" dirty="0">
                <a:solidFill>
                  <a:schemeClr val="tx1"/>
                </a:solidFill>
              </a:rPr>
              <a:t> the team.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8125968" y="4183380"/>
            <a:ext cx="3514344" cy="212598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125968" y="41833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C0752A"/>
          </a:solidFill>
          <a:ln/>
        </p:spPr>
      </p:sp>
      <p:sp>
        <p:nvSpPr>
          <p:cNvPr id="38" name="Shape 30"/>
          <p:cNvSpPr/>
          <p:nvPr/>
        </p:nvSpPr>
        <p:spPr>
          <a:xfrm>
            <a:off x="8125968" y="4457700"/>
            <a:ext cx="3514344" cy="228600"/>
          </a:xfrm>
          <a:prstGeom prst="rect">
            <a:avLst/>
          </a:prstGeom>
          <a:solidFill>
            <a:srgbClr val="C0752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848" y="4293108"/>
            <a:ext cx="283464" cy="28346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692896" y="41833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THE RISK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8308848" y="4841748"/>
            <a:ext cx="3148584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</a:t>
            </a:r>
            <a:r>
              <a:rPr lang="en-US" sz="1600" b="1" dirty="0">
                <a:solidFill>
                  <a:schemeClr val="tx1"/>
                </a:solidFill>
              </a:rPr>
              <a:t>categorical</a:t>
            </a:r>
            <a:r>
              <a:rPr lang="en-US" sz="1600" dirty="0">
                <a:solidFill>
                  <a:schemeClr val="tx1"/>
                </a:solidFill>
              </a:rPr>
              <a:t> sentence about the cause = grounds to refuse.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 </a:t>
            </a:r>
            <a:r>
              <a:rPr lang="en-US" sz="1600" b="1" dirty="0">
                <a:solidFill>
                  <a:schemeClr val="tx1"/>
                </a:solidFill>
              </a:rPr>
              <a:t>might</a:t>
            </a:r>
            <a:r>
              <a:rPr lang="en-US" sz="1600" dirty="0">
                <a:solidFill>
                  <a:schemeClr val="tx1"/>
                </a:solidFill>
              </a:rPr>
              <a:t>: same idea, no exposure.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modal train: now and in the past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34 · Séance 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0136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43100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5608" y="1783080"/>
            <a:ext cx="1417615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SUBJECT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665187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459052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61288" y="2057400"/>
            <a:ext cx="274320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62951" y="1783080"/>
            <a:ext cx="945077" cy="548640"/>
          </a:xfrm>
          <a:prstGeom prst="roundRect">
            <a:avLst>
              <a:gd name="adj" fmla="val 13333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MODAL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088572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17815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853223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17756" y="1783080"/>
            <a:ext cx="630051" cy="548640"/>
          </a:xfrm>
          <a:prstGeom prst="roundRect">
            <a:avLst>
              <a:gd name="adj" fmla="val 13333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HAVE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074071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26899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908028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7535" y="1783080"/>
            <a:ext cx="1417615" cy="548640"/>
          </a:xfrm>
          <a:prstGeom prst="roundRect">
            <a:avLst>
              <a:gd name="adj" fmla="val 13333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VERB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87114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80978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47807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4878" y="1783080"/>
            <a:ext cx="5355434" cy="548640"/>
          </a:xfrm>
          <a:prstGeom prst="roundRect">
            <a:avLst>
              <a:gd name="adj" fmla="val 13333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THE REST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380777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379820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75150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435608" y="2651760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2962951" y="2651760"/>
            <a:ext cx="945077" cy="451714"/>
          </a:xfrm>
          <a:prstGeom prst="roundRect">
            <a:avLst>
              <a:gd name="adj" fmla="val 16194"/>
            </a:avLst>
          </a:prstGeom>
          <a:solidFill>
            <a:srgbClr val="B4236A">
              <a:alpha val="14000"/>
            </a:srgbClr>
          </a:solidFill>
          <a:ln w="15875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might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4017756" y="2651760"/>
            <a:ext cx="630051" cy="451714"/>
          </a:xfrm>
          <a:prstGeom prst="roundRect">
            <a:avLst>
              <a:gd name="adj" fmla="val 1619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31" name="Text 27"/>
          <p:cNvSpPr/>
          <p:nvPr/>
        </p:nvSpPr>
        <p:spPr>
          <a:xfrm>
            <a:off x="4757535" y="2651760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84878" y="2651760"/>
            <a:ext cx="5355434" cy="451714"/>
          </a:xfrm>
          <a:prstGeom prst="roundRect">
            <a:avLst>
              <a:gd name="adj" fmla="val 16194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same section as last November.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435608" y="3231490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2962951" y="3231490"/>
            <a:ext cx="945077" cy="451714"/>
          </a:xfrm>
          <a:prstGeom prst="roundRect">
            <a:avLst>
              <a:gd name="adj" fmla="val 16194"/>
            </a:avLst>
          </a:prstGeom>
          <a:solidFill>
            <a:srgbClr val="B4236A">
              <a:alpha val="14000"/>
            </a:srgbClr>
          </a:solidFill>
          <a:ln w="15875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might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4017756" y="3231490"/>
            <a:ext cx="630051" cy="451714"/>
          </a:xfrm>
          <a:prstGeom prst="roundRect">
            <a:avLst>
              <a:gd name="adj" fmla="val 16194"/>
            </a:avLst>
          </a:prstGeom>
          <a:solidFill>
            <a:srgbClr val="C0752A">
              <a:alpha val="14000"/>
            </a:srgbClr>
          </a:solidFill>
          <a:ln w="15875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have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4757535" y="3231490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been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6284878" y="3231490"/>
            <a:ext cx="5355434" cy="451714"/>
          </a:xfrm>
          <a:prstGeom prst="roundRect">
            <a:avLst>
              <a:gd name="adj" fmla="val 16194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same section as last November.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1435608" y="3811219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works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2962951" y="3811219"/>
            <a:ext cx="945077" cy="451714"/>
          </a:xfrm>
          <a:prstGeom prst="roundRect">
            <a:avLst>
              <a:gd name="adj" fmla="val 16194"/>
            </a:avLst>
          </a:prstGeom>
          <a:solidFill>
            <a:srgbClr val="B4236A">
              <a:alpha val="14000"/>
            </a:srgbClr>
          </a:solidFill>
          <a:ln w="15875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may</a:t>
            </a:r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4017756" y="3811219"/>
            <a:ext cx="630051" cy="451714"/>
          </a:xfrm>
          <a:prstGeom prst="roundRect">
            <a:avLst>
              <a:gd name="adj" fmla="val 16194"/>
            </a:avLst>
          </a:prstGeom>
          <a:solidFill>
            <a:srgbClr val="C0752A">
              <a:alpha val="14000"/>
            </a:srgbClr>
          </a:solidFill>
          <a:ln w="15875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have</a:t>
            </a:r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4757535" y="3811219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disturbed</a:t>
            </a:r>
            <a:endParaRPr lang="en-US" sz="2000" dirty="0"/>
          </a:p>
        </p:txBody>
      </p:sp>
      <p:sp>
        <p:nvSpPr>
          <p:cNvPr id="42" name="Text 38"/>
          <p:cNvSpPr/>
          <p:nvPr/>
        </p:nvSpPr>
        <p:spPr>
          <a:xfrm>
            <a:off x="6284878" y="3811219"/>
            <a:ext cx="5355434" cy="451714"/>
          </a:xfrm>
          <a:prstGeom prst="roundRect">
            <a:avLst>
              <a:gd name="adj" fmla="val 16194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pipework.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1435608" y="4390949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leak</a:t>
            </a:r>
            <a:endParaRPr lang="en-US" sz="2000" dirty="0"/>
          </a:p>
        </p:txBody>
      </p:sp>
      <p:sp>
        <p:nvSpPr>
          <p:cNvPr id="44" name="Text 40"/>
          <p:cNvSpPr/>
          <p:nvPr/>
        </p:nvSpPr>
        <p:spPr>
          <a:xfrm>
            <a:off x="2962951" y="4390949"/>
            <a:ext cx="945077" cy="451714"/>
          </a:xfrm>
          <a:prstGeom prst="roundRect">
            <a:avLst>
              <a:gd name="adj" fmla="val 16194"/>
            </a:avLst>
          </a:prstGeom>
          <a:solidFill>
            <a:srgbClr val="B4236A">
              <a:alpha val="14000"/>
            </a:srgbClr>
          </a:solidFill>
          <a:ln w="15875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can’t</a:t>
            </a:r>
            <a:endParaRPr lang="en-US" sz="2000" dirty="0"/>
          </a:p>
        </p:txBody>
      </p:sp>
      <p:sp>
        <p:nvSpPr>
          <p:cNvPr id="45" name="Text 41"/>
          <p:cNvSpPr/>
          <p:nvPr/>
        </p:nvSpPr>
        <p:spPr>
          <a:xfrm>
            <a:off x="4017756" y="4390949"/>
            <a:ext cx="630051" cy="451714"/>
          </a:xfrm>
          <a:prstGeom prst="roundRect">
            <a:avLst>
              <a:gd name="adj" fmla="val 16194"/>
            </a:avLst>
          </a:prstGeom>
          <a:solidFill>
            <a:srgbClr val="C0752A">
              <a:alpha val="14000"/>
            </a:srgbClr>
          </a:solidFill>
          <a:ln w="15875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have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4757535" y="4390949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started</a:t>
            </a:r>
            <a:endParaRPr lang="en-US" sz="2000" dirty="0"/>
          </a:p>
        </p:txBody>
      </p:sp>
      <p:sp>
        <p:nvSpPr>
          <p:cNvPr id="47" name="Text 43"/>
          <p:cNvSpPr/>
          <p:nvPr/>
        </p:nvSpPr>
        <p:spPr>
          <a:xfrm>
            <a:off x="6284878" y="4390949"/>
            <a:ext cx="5355434" cy="451714"/>
          </a:xfrm>
          <a:prstGeom prst="roundRect">
            <a:avLst>
              <a:gd name="adj" fmla="val 16194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before 19:58.</a:t>
            </a:r>
            <a:endParaRPr lang="en-US" sz="2000" dirty="0"/>
          </a:p>
        </p:txBody>
      </p:sp>
      <p:sp>
        <p:nvSpPr>
          <p:cNvPr id="48" name="Text 44"/>
          <p:cNvSpPr/>
          <p:nvPr/>
        </p:nvSpPr>
        <p:spPr>
          <a:xfrm>
            <a:off x="1435608" y="4970678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2962951" y="4970678"/>
            <a:ext cx="945077" cy="451714"/>
          </a:xfrm>
          <a:prstGeom prst="roundRect">
            <a:avLst>
              <a:gd name="adj" fmla="val 16194"/>
            </a:avLst>
          </a:prstGeom>
          <a:solidFill>
            <a:srgbClr val="B4236A">
              <a:alpha val="14000"/>
            </a:srgbClr>
          </a:solidFill>
          <a:ln w="15875">
            <a:solidFill>
              <a:srgbClr val="B423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should</a:t>
            </a:r>
            <a:endParaRPr lang="en-US" sz="2000" dirty="0"/>
          </a:p>
        </p:txBody>
      </p:sp>
      <p:sp>
        <p:nvSpPr>
          <p:cNvPr id="50" name="Shape 46"/>
          <p:cNvSpPr/>
          <p:nvPr/>
        </p:nvSpPr>
        <p:spPr>
          <a:xfrm>
            <a:off x="4017756" y="4970678"/>
            <a:ext cx="630051" cy="451714"/>
          </a:xfrm>
          <a:prstGeom prst="roundRect">
            <a:avLst>
              <a:gd name="adj" fmla="val 1619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51" name="Text 47"/>
          <p:cNvSpPr/>
          <p:nvPr/>
        </p:nvSpPr>
        <p:spPr>
          <a:xfrm>
            <a:off x="4757535" y="4970678"/>
            <a:ext cx="1417615" cy="451714"/>
          </a:xfrm>
          <a:prstGeom prst="roundRect">
            <a:avLst>
              <a:gd name="adj" fmla="val 16194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inspect</a:t>
            </a:r>
            <a:endParaRPr lang="en-US" sz="2000" dirty="0"/>
          </a:p>
        </p:txBody>
      </p:sp>
      <p:sp>
        <p:nvSpPr>
          <p:cNvPr id="52" name="Text 48"/>
          <p:cNvSpPr/>
          <p:nvPr/>
        </p:nvSpPr>
        <p:spPr>
          <a:xfrm>
            <a:off x="6284878" y="4970678"/>
            <a:ext cx="5355434" cy="451714"/>
          </a:xfrm>
          <a:prstGeom prst="roundRect">
            <a:avLst>
              <a:gd name="adj" fmla="val 16194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whole run.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>
            <a:off x="548640" y="56509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97296"/>
            <a:ext cx="365760" cy="36576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1325880" y="5705856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Séance 7 — </a:t>
            </a:r>
            <a:r>
              <a:rPr lang="en-US" sz="1800" dirty="0">
                <a:solidFill>
                  <a:schemeClr val="tx1"/>
                </a:solidFill>
              </a:rPr>
              <a:t>empty </a:t>
            </a:r>
            <a:r>
              <a:rPr lang="en-US" sz="1800" b="1" dirty="0">
                <a:solidFill>
                  <a:schemeClr val="tx1"/>
                </a:solidFill>
              </a:rPr>
              <a:t>HAVE</a:t>
            </a:r>
            <a:r>
              <a:rPr lang="en-US" sz="1800" dirty="0">
                <a:solidFill>
                  <a:schemeClr val="tx1"/>
                </a:solidFill>
              </a:rPr>
              <a:t> wagon = </a:t>
            </a:r>
            <a:r>
              <a:rPr lang="en-US" sz="1800" b="1" dirty="0">
                <a:solidFill>
                  <a:schemeClr val="tx1"/>
                </a:solidFill>
              </a:rPr>
              <a:t>now</a:t>
            </a:r>
            <a:r>
              <a:rPr lang="en-US" sz="1800" dirty="0">
                <a:solidFill>
                  <a:schemeClr val="tx1"/>
                </a:solidFill>
              </a:rPr>
              <a:t> · full wagon = </a:t>
            </a:r>
            <a:r>
              <a:rPr lang="en-US" sz="1800" b="1" dirty="0">
                <a:solidFill>
                  <a:schemeClr val="tx1"/>
                </a:solidFill>
              </a:rPr>
              <a:t>the past</a:t>
            </a:r>
            <a:r>
              <a:rPr lang="en-US" sz="1800" dirty="0">
                <a:solidFill>
                  <a:schemeClr val="tx1"/>
                </a:solidFill>
              </a:rPr>
              <a:t>: have + </a:t>
            </a:r>
            <a:r>
              <a:rPr lang="en-US" sz="1800" b="1" dirty="0">
                <a:solidFill>
                  <a:schemeClr val="tx1"/>
                </a:solidFill>
              </a:rPr>
              <a:t>past participle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Must, mustn’t or can’t? Spot the trap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Choose the right form. Two lines are about </a:t>
            </a:r>
            <a:r>
              <a:rPr lang="en-US" sz="1600" b="1" i="1" dirty="0">
                <a:solidFill>
                  <a:schemeClr val="accent5"/>
                </a:solidFill>
              </a:rPr>
              <a:t>rules</a:t>
            </a:r>
            <a:r>
              <a:rPr lang="en-US" sz="1600" i="1" dirty="0">
                <a:solidFill>
                  <a:schemeClr val="accent5"/>
                </a:solidFill>
              </a:rPr>
              <a:t>, not certainty.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3723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237232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 else was wet: the pipe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be the cause.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17536" y="230124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can’t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83496" y="230124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75767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5767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757678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room was dry at 19:58: the leak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have started before then.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17536" y="282168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must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83496" y="282168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can’t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27812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27812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278124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name anybody in the report.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17536" y="334213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mustn’t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83496" y="334213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can’t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798570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798570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798570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notification was delivered: the system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have failed completely.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717536" y="3862578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mustn’t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683496" y="3862578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can’t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4319016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319016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4319016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inspect the basement before the handover.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17536" y="4383024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might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683496" y="4383024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should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8640" y="483946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83946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4839462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be the same section — we are not sure yet.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717536" y="490347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might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683496" y="490347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must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48640" y="535990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535990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7.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5359908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call the assessor now?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717536" y="542391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 we should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683496" y="542391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Should we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8640" y="588035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85800" y="588035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8.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5880354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She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r>
              <a:rPr lang="en-US" sz="1600" dirty="0">
                <a:solidFill>
                  <a:schemeClr val="tx1"/>
                </a:solidFill>
              </a:rPr>
              <a:t> be right about the joint.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717536" y="594436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mights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683496" y="594436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Must, mustn’t or can’t? Spot the trap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must be</a:t>
            </a:r>
            <a:r>
              <a:rPr lang="en-US" sz="1600" i="1" dirty="0">
                <a:solidFill>
                  <a:schemeClr val="accent5"/>
                </a:solidFill>
              </a:rPr>
              <a:t> = sûrement · </a:t>
            </a:r>
            <a:r>
              <a:rPr lang="en-US" sz="1600" b="1" i="1" dirty="0">
                <a:solidFill>
                  <a:schemeClr val="accent5"/>
                </a:solidFill>
              </a:rPr>
              <a:t>mustn’t</a:t>
            </a:r>
            <a:r>
              <a:rPr lang="en-US" sz="1600" i="1" dirty="0">
                <a:solidFill>
                  <a:schemeClr val="accent5"/>
                </a:solidFill>
              </a:rPr>
              <a:t> = interdit · the opposite of </a:t>
            </a:r>
            <a:r>
              <a:rPr lang="en-US" sz="1600" i="1" dirty="0">
                <a:solidFill>
                  <a:schemeClr val="accent5"/>
                </a:solidFill>
              </a:rPr>
              <a:t>must be</a:t>
            </a:r>
            <a:r>
              <a:rPr lang="en-US" sz="1600" i="1" dirty="0">
                <a:solidFill>
                  <a:schemeClr val="accent5"/>
                </a:solidFill>
              </a:rPr>
              <a:t> is </a:t>
            </a:r>
            <a:r>
              <a:rPr lang="en-US" sz="1600" b="1" i="1" dirty="0">
                <a:solidFill>
                  <a:schemeClr val="accent5"/>
                </a:solidFill>
              </a:rPr>
              <a:t>can’t be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3723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37232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Nothing else was wet: the pipe </a:t>
            </a:r>
            <a:r>
              <a:rPr lang="en-US" sz="1500" b="1" dirty="0">
                <a:solidFill>
                  <a:schemeClr val="accent3"/>
                </a:solidFill>
              </a:rPr>
              <a:t>must</a:t>
            </a:r>
            <a:r>
              <a:rPr lang="en-US" sz="1500" dirty="0">
                <a:solidFill>
                  <a:schemeClr val="tx1"/>
                </a:solidFill>
              </a:rPr>
              <a:t> be the cause.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17536" y="230124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can’t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83496" y="230124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must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75767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75767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757678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room was dry at 19:58: the leak </a:t>
            </a:r>
            <a:r>
              <a:rPr lang="en-US" sz="1500" b="1" dirty="0">
                <a:solidFill>
                  <a:schemeClr val="accent3"/>
                </a:solidFill>
              </a:rPr>
              <a:t>can’t</a:t>
            </a:r>
            <a:r>
              <a:rPr lang="en-US" sz="1500" dirty="0">
                <a:solidFill>
                  <a:schemeClr val="tx1"/>
                </a:solidFill>
              </a:rPr>
              <a:t> have started before then.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17536" y="282168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must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83496" y="282168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can’t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27812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27812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278124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 </a:t>
            </a:r>
            <a:r>
              <a:rPr lang="en-US" sz="1500" b="1" dirty="0">
                <a:solidFill>
                  <a:schemeClr val="accent3"/>
                </a:solidFill>
              </a:rPr>
              <a:t>mustn’t</a:t>
            </a:r>
            <a:r>
              <a:rPr lang="en-US" sz="1500" dirty="0">
                <a:solidFill>
                  <a:schemeClr val="tx1"/>
                </a:solidFill>
              </a:rPr>
              <a:t> name anybody in the report.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17536" y="334213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mustn’t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683496" y="334213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can’t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3798570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3798570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798570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notification was delivered: the system </a:t>
            </a:r>
            <a:r>
              <a:rPr lang="en-US" sz="1500" b="1" dirty="0">
                <a:solidFill>
                  <a:schemeClr val="accent3"/>
                </a:solidFill>
              </a:rPr>
              <a:t>can’t</a:t>
            </a:r>
            <a:r>
              <a:rPr lang="en-US" sz="1500" dirty="0">
                <a:solidFill>
                  <a:schemeClr val="tx1"/>
                </a:solidFill>
              </a:rPr>
              <a:t> have failed completely.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717536" y="3862578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mustn’t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683496" y="3862578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can’t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319016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319016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" y="4319016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 </a:t>
            </a:r>
            <a:r>
              <a:rPr lang="en-US" sz="1500" b="1" dirty="0">
                <a:solidFill>
                  <a:schemeClr val="accent3"/>
                </a:solidFill>
              </a:rPr>
              <a:t>should</a:t>
            </a:r>
            <a:r>
              <a:rPr lang="en-US" sz="1500" dirty="0">
                <a:solidFill>
                  <a:schemeClr val="tx1"/>
                </a:solidFill>
              </a:rPr>
              <a:t> inspect the basement before the handover.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717536" y="4383024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might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683496" y="4383024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should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48640" y="483946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483946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6.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" y="4839462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</a:t>
            </a:r>
            <a:r>
              <a:rPr lang="en-US" sz="1500" b="1" dirty="0">
                <a:solidFill>
                  <a:schemeClr val="accent3"/>
                </a:solidFill>
              </a:rPr>
              <a:t>might</a:t>
            </a:r>
            <a:r>
              <a:rPr lang="en-US" sz="1500" dirty="0">
                <a:solidFill>
                  <a:schemeClr val="tx1"/>
                </a:solidFill>
              </a:rPr>
              <a:t> be the same section — we are not sure yet.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717536" y="490347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might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683496" y="4903470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must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35990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535990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7.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5359908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Should we</a:t>
            </a:r>
            <a:r>
              <a:rPr lang="en-US" sz="1500" dirty="0">
                <a:solidFill>
                  <a:schemeClr val="tx1"/>
                </a:solidFill>
              </a:rPr>
              <a:t> call the assessor now?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7717536" y="542391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Do we should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683496" y="5423916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Should we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48640" y="588035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88035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8.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143000" y="5880354"/>
            <a:ext cx="6391656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She </a:t>
            </a:r>
            <a:r>
              <a:rPr lang="en-US" sz="1500" b="1" dirty="0">
                <a:solidFill>
                  <a:schemeClr val="accent3"/>
                </a:solidFill>
              </a:rPr>
              <a:t>might</a:t>
            </a:r>
            <a:r>
              <a:rPr lang="en-US" sz="1500" dirty="0">
                <a:solidFill>
                  <a:schemeClr val="tx1"/>
                </a:solidFill>
              </a:rPr>
              <a:t> be right about the joint.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7717536" y="594436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chemeClr val="accent5"/>
                </a:solidFill>
              </a:rPr>
              <a:t>mights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9683496" y="5944362"/>
            <a:ext cx="1819656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might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Rate it, then write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needle gives the certainty. Rewrite each categorical sentence with the right modal.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138936" y="2647938"/>
            <a:ext cx="370208" cy="58635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4928" y="2642565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37792" y="2237232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95 %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97912" y="2237232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joint caused the leak.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2937256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138936" y="3031774"/>
            <a:ext cx="0" cy="374823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4928" y="3342589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37792" y="2937256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50 %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597912" y="2937256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drainage is blocked.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48640" y="3637280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H="1" flipV="1">
            <a:off x="1023109" y="3750144"/>
            <a:ext cx="115827" cy="356478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4928" y="4042613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637792" y="3637280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40 %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2597912" y="3637280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works damaged the pipe.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48640" y="4337304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 flipV="1">
            <a:off x="768728" y="4748010"/>
            <a:ext cx="370208" cy="58635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74928" y="4742637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637792" y="4337304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5 %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2597912" y="4337304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alarm system failed.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48640" y="5037328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 flipV="1">
            <a:off x="1023109" y="5150192"/>
            <a:ext cx="115827" cy="356478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74928" y="5442661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637792" y="5037328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40 %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2597912" y="5037328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Somebody read the notification.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</a:t>
            </a:r>
            <a:endParaRPr lang="en-US" sz="1700" dirty="0"/>
          </a:p>
        </p:txBody>
      </p:sp>
      <p:sp>
        <p:nvSpPr>
          <p:cNvPr id="52" name="Shape 49"/>
          <p:cNvSpPr/>
          <p:nvPr/>
        </p:nvSpPr>
        <p:spPr>
          <a:xfrm>
            <a:off x="548640" y="5737352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74928" y="6142685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637792" y="5737352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advice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2597912" y="5737352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Inspect the basement.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dirty="0">
                <a:solidFill>
                  <a:schemeClr val="accent5"/>
                </a:solidFill>
              </a:rPr>
              <a:t>………………………………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Rate it, then write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needle gives the certainty. Rewrite each categorical sentence with the right modal.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299157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1138936" y="2647938"/>
            <a:ext cx="370208" cy="58635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4928" y="2642565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37792" y="2237232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95 %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597912" y="2237232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The joint caused the leak.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The joint </a:t>
            </a:r>
            <a:r>
              <a:rPr lang="en-US" sz="1700" b="1" dirty="0">
                <a:solidFill>
                  <a:schemeClr val="accent3"/>
                </a:solidFill>
              </a:rPr>
              <a:t>must have caused</a:t>
            </a:r>
            <a:r>
              <a:rPr lang="en-US" sz="1700" b="1" dirty="0">
                <a:solidFill>
                  <a:schemeClr val="accent3"/>
                </a:solidFill>
              </a:rPr>
              <a:t> the leak.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2937256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2999181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1138936" y="3031774"/>
            <a:ext cx="0" cy="374823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4928" y="3342589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637792" y="2937256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50 %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597912" y="2937256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The drainage is blocked.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The drainage </a:t>
            </a:r>
            <a:r>
              <a:rPr lang="en-US" sz="1700" b="1" dirty="0">
                <a:solidFill>
                  <a:schemeClr val="accent3"/>
                </a:solidFill>
              </a:rPr>
              <a:t>may be</a:t>
            </a:r>
            <a:r>
              <a:rPr lang="en-US" sz="1700" b="1" dirty="0">
                <a:solidFill>
                  <a:schemeClr val="accent3"/>
                </a:solidFill>
              </a:rPr>
              <a:t> blocked.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3637280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3699205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 flipV="1">
            <a:off x="1023109" y="3750144"/>
            <a:ext cx="115827" cy="356478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74928" y="4042613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637792" y="3637280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40 %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2597912" y="3637280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The works damaged the pipe.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The works </a:t>
            </a:r>
            <a:r>
              <a:rPr lang="en-US" sz="1700" b="1" dirty="0">
                <a:solidFill>
                  <a:schemeClr val="accent3"/>
                </a:solidFill>
              </a:rPr>
              <a:t>might have damaged</a:t>
            </a:r>
            <a:r>
              <a:rPr lang="en-US" sz="1700" b="1" dirty="0">
                <a:solidFill>
                  <a:schemeClr val="accent3"/>
                </a:solidFill>
              </a:rPr>
              <a:t> the pipe.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48640" y="4337304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1520" y="4399229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 flipV="1">
            <a:off x="768728" y="4748010"/>
            <a:ext cx="370208" cy="58635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74928" y="4742637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637792" y="4337304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5 %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2597912" y="4337304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The alarm system failed.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The alarm system </a:t>
            </a:r>
            <a:r>
              <a:rPr lang="en-US" sz="1700" b="1" dirty="0">
                <a:solidFill>
                  <a:schemeClr val="accent3"/>
                </a:solidFill>
              </a:rPr>
              <a:t>can’t have failed</a:t>
            </a:r>
            <a:r>
              <a:rPr lang="en-US" sz="1700" b="1" dirty="0">
                <a:solidFill>
                  <a:schemeClr val="accent3"/>
                </a:solidFill>
              </a:rPr>
              <a:t>: it sent a notification at 23:42.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548640" y="5037328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1520" y="5099253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H="1" flipV="1">
            <a:off x="1023109" y="5150192"/>
            <a:ext cx="115827" cy="356478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74928" y="5442661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637792" y="5037328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40 %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2597912" y="5037328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Somebody read the notification.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Somebody </a:t>
            </a:r>
            <a:r>
              <a:rPr lang="en-US" sz="1700" b="1" dirty="0">
                <a:solidFill>
                  <a:schemeClr val="accent3"/>
                </a:solidFill>
              </a:rPr>
              <a:t>might have read</a:t>
            </a:r>
            <a:r>
              <a:rPr lang="en-US" sz="1700" b="1" dirty="0">
                <a:solidFill>
                  <a:schemeClr val="accent3"/>
                </a:solidFill>
              </a:rPr>
              <a:t> it — </a:t>
            </a:r>
            <a:r>
              <a:rPr lang="en-US" sz="1700" b="1" i="1" dirty="0">
                <a:solidFill>
                  <a:schemeClr val="accent3"/>
                </a:solidFill>
              </a:rPr>
              <a:t>delivered</a:t>
            </a:r>
            <a:r>
              <a:rPr lang="en-US" sz="1700" b="1" dirty="0">
                <a:solidFill>
                  <a:schemeClr val="accent3"/>
                </a:solidFill>
              </a:rPr>
              <a:t> proves no more.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548640" y="5737352"/>
            <a:ext cx="11091672" cy="572008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0800000"/>
              <a:gd name="adj2" fmla="val 13500000"/>
              <a:gd name="adj3" fmla="val 21000"/>
            </a:avLst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3500000"/>
              <a:gd name="adj2" fmla="val 16200000"/>
              <a:gd name="adj3" fmla="val 21000"/>
            </a:avLst>
          </a:prstGeom>
          <a:solidFill>
            <a:srgbClr val="D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6200000"/>
              <a:gd name="adj2" fmla="val 18900000"/>
              <a:gd name="adj3" fmla="val 21000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1520" y="5799277"/>
            <a:ext cx="814832" cy="814832"/>
          </a:xfrm>
          <a:prstGeom prst="blockArc">
            <a:avLst>
              <a:gd name="adj1" fmla="val 18900000"/>
              <a:gd name="adj2" fmla="val 21600000"/>
              <a:gd name="adj3" fmla="val 21000"/>
            </a:avLst>
          </a:prstGeom>
          <a:solidFill>
            <a:srgbClr val="3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74928" y="6142685"/>
            <a:ext cx="128016" cy="128016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637792" y="5737352"/>
            <a:ext cx="86868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advice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2597912" y="5737352"/>
            <a:ext cx="8950960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Inspect the basement.</a:t>
            </a:r>
            <a:r>
              <a:rPr lang="en-US" sz="1700" b="1" dirty="0">
                <a:solidFill>
                  <a:schemeClr val="tx2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We </a:t>
            </a:r>
            <a:r>
              <a:rPr lang="en-US" sz="1700" b="1" dirty="0">
                <a:solidFill>
                  <a:schemeClr val="accent3"/>
                </a:solidFill>
              </a:rPr>
              <a:t>should</a:t>
            </a:r>
            <a:r>
              <a:rPr lang="en-US" sz="1700" b="1" dirty="0">
                <a:solidFill>
                  <a:schemeClr val="accent3"/>
                </a:solidFill>
              </a:rPr>
              <a:t> inspect the basement today.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Human barometer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10000"/>
            </a:srgbClr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658368" cy="65836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19656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teacher reads a situation. How sure are you? Show it!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stands · 4 minutes · then one sentence with the modal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3514344" cy="2359152"/>
          </a:xfrm>
          <a:prstGeom prst="roundRect">
            <a:avLst>
              <a:gd name="adj" fmla="val 3101"/>
            </a:avLst>
          </a:prstGeom>
          <a:solidFill>
            <a:srgbClr val="B03A2E">
              <a:alpha val="10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81165" y="3063240"/>
            <a:ext cx="849295" cy="849295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488" y="3275564"/>
            <a:ext cx="424647" cy="4246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4003975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CAN’T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4506895"/>
            <a:ext cx="3148584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Sit down, arms </a:t>
            </a:r>
            <a:r>
              <a:rPr lang="en-US" sz="1700" b="1" dirty="0">
                <a:solidFill>
                  <a:schemeClr val="tx1"/>
                </a:solidFill>
              </a:rPr>
              <a:t>crossed</a:t>
            </a:r>
            <a:r>
              <a:rPr lang="en-US" sz="1700" dirty="0">
                <a:solidFill>
                  <a:schemeClr val="tx1"/>
                </a:solidFill>
              </a:rPr>
              <a:t>: ≈ 5 %.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337304" y="2880360"/>
            <a:ext cx="3514344" cy="2359152"/>
          </a:xfrm>
          <a:prstGeom prst="roundRect">
            <a:avLst>
              <a:gd name="adj" fmla="val 3101"/>
            </a:avLst>
          </a:prstGeom>
          <a:solidFill>
            <a:srgbClr val="D99A06">
              <a:alpha val="10000"/>
            </a:srgbClr>
          </a:solidFill>
          <a:ln w="19050">
            <a:solidFill>
              <a:srgbClr val="D99A0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669829" y="3063240"/>
            <a:ext cx="849295" cy="849295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52" y="3275564"/>
            <a:ext cx="424647" cy="4246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474464" y="4003975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A0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MIGHT · MAY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4520184" y="4506895"/>
            <a:ext cx="3148584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Stand up and </a:t>
            </a:r>
            <a:r>
              <a:rPr lang="en-US" sz="1700" b="1" dirty="0">
                <a:solidFill>
                  <a:schemeClr val="tx1"/>
                </a:solidFill>
              </a:rPr>
              <a:t>shrug</a:t>
            </a:r>
            <a:r>
              <a:rPr lang="en-US" sz="1700" dirty="0">
                <a:solidFill>
                  <a:schemeClr val="tx1"/>
                </a:solidFill>
              </a:rPr>
              <a:t>: 40–50 %.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8125968" y="2880360"/>
            <a:ext cx="3514344" cy="2359152"/>
          </a:xfrm>
          <a:prstGeom prst="roundRect">
            <a:avLst>
              <a:gd name="adj" fmla="val 3101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58493" y="3063240"/>
            <a:ext cx="849295" cy="849295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816" y="3275564"/>
            <a:ext cx="424647" cy="4246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63128" y="4003975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MUST</a:t>
            </a:r>
            <a:endParaRPr lang="en-US" sz="2600" dirty="0"/>
          </a:p>
        </p:txBody>
      </p:sp>
      <p:sp>
        <p:nvSpPr>
          <p:cNvPr id="24" name="Text 17"/>
          <p:cNvSpPr txBox="1"/>
          <p:nvPr/>
        </p:nvSpPr>
        <p:spPr>
          <a:xfrm>
            <a:off x="8308848" y="4506895"/>
            <a:ext cx="3148584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Both arms </a:t>
            </a:r>
            <a:r>
              <a:rPr lang="en-US" sz="1700" b="1" dirty="0">
                <a:solidFill>
                  <a:schemeClr val="tx1"/>
                </a:solidFill>
              </a:rPr>
              <a:t>up</a:t>
            </a:r>
            <a:r>
              <a:rPr lang="en-US" sz="1700" dirty="0">
                <a:solidFill>
                  <a:schemeClr val="tx1"/>
                </a:solidFill>
              </a:rPr>
              <a:t>: ≈ 95 %.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422392"/>
            <a:ext cx="109087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Move on “three, two, one!”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One student gives the sentence: </a:t>
            </a:r>
            <a:r>
              <a:rPr lang="en-US" sz="1600" i="1" dirty="0">
                <a:solidFill>
                  <a:schemeClr val="tx1"/>
                </a:solidFill>
              </a:rPr>
              <a:t>It must have… / It might… / It can’t…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Human barometer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Arms crossed = </a:t>
            </a:r>
            <a:r>
              <a:rPr lang="en-US" sz="1600" b="1" i="1" dirty="0">
                <a:solidFill>
                  <a:schemeClr val="accent5"/>
                </a:solidFill>
              </a:rPr>
              <a:t>can’t</a:t>
            </a:r>
            <a:r>
              <a:rPr lang="en-US" sz="1600" i="1" dirty="0">
                <a:solidFill>
                  <a:schemeClr val="accent5"/>
                </a:solidFill>
              </a:rPr>
              <a:t> · shrug = </a:t>
            </a:r>
            <a:r>
              <a:rPr lang="en-US" sz="1600" b="1" i="1" dirty="0">
                <a:solidFill>
                  <a:schemeClr val="accent5"/>
                </a:solidFill>
              </a:rPr>
              <a:t>might / may</a:t>
            </a:r>
            <a:r>
              <a:rPr lang="en-US" sz="1600" i="1" dirty="0">
                <a:solidFill>
                  <a:schemeClr val="accent5"/>
                </a:solidFill>
              </a:rPr>
              <a:t> · arms up = </a:t>
            </a:r>
            <a:r>
              <a:rPr lang="en-US" sz="1600" b="1" i="1" dirty="0">
                <a:solidFill>
                  <a:schemeClr val="accent5"/>
                </a:solidFill>
              </a:rPr>
              <a:t>must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7896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7954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23723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Nothing else was wet → the pipe </a:t>
            </a:r>
            <a:r>
              <a:rPr lang="en-US" sz="1800" b="1" dirty="0">
                <a:solidFill>
                  <a:schemeClr val="tx1"/>
                </a:solidFill>
              </a:rPr>
              <a:t>must have been</a:t>
            </a:r>
            <a:r>
              <a:rPr lang="en-US" sz="1800" dirty="0">
                <a:solidFill>
                  <a:schemeClr val="tx1"/>
                </a:solidFill>
              </a:rPr>
              <a:t> the cause.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448556" y="2237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MUST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01447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15620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5678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301447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Dry at 19:58 → the leak </a:t>
            </a:r>
            <a:r>
              <a:rPr lang="en-US" sz="1800" b="1" dirty="0">
                <a:solidFill>
                  <a:schemeClr val="tx1"/>
                </a:solidFill>
              </a:rPr>
              <a:t>can’t have started</a:t>
            </a:r>
            <a:r>
              <a:rPr lang="en-US" sz="1800" dirty="0">
                <a:solidFill>
                  <a:schemeClr val="tx1"/>
                </a:solidFill>
              </a:rPr>
              <a:t> before.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448556" y="30144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CAN’T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79171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93344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3402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79171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Same section as last November? → it </a:t>
            </a:r>
            <a:r>
              <a:rPr lang="en-US" sz="1800" b="1" dirty="0">
                <a:solidFill>
                  <a:schemeClr val="tx1"/>
                </a:solidFill>
              </a:rPr>
              <a:t>might be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448556" y="3791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MIGHT · MAY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56895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71068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81126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456895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Delivered at 23:42 → somebody </a:t>
            </a:r>
            <a:r>
              <a:rPr lang="en-US" sz="1800" b="1" dirty="0">
                <a:solidFill>
                  <a:schemeClr val="tx1"/>
                </a:solidFill>
              </a:rPr>
              <a:t>might have read</a:t>
            </a:r>
            <a:r>
              <a:rPr lang="en-US" sz="1800" dirty="0">
                <a:solidFill>
                  <a:schemeClr val="tx1"/>
                </a:solidFill>
              </a:rPr>
              <a:t> it.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4448556" y="4568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MIGHT · MAY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34619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" y="548792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588508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34619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Alarm at 28 °C → the room </a:t>
            </a:r>
            <a:r>
              <a:rPr lang="en-US" sz="1800" b="1" dirty="0">
                <a:solidFill>
                  <a:schemeClr val="tx1"/>
                </a:solidFill>
              </a:rPr>
              <a:t>must have been</a:t>
            </a:r>
            <a:r>
              <a:rPr lang="en-US" sz="1800" dirty="0">
                <a:solidFill>
                  <a:schemeClr val="tx1"/>
                </a:solidFill>
              </a:rPr>
              <a:t> hot.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448556" y="534619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MUST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231636" y="223723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341364" y="237896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948" y="2479548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871716" y="223723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Badge 0102 at 20:04 → the visit </a:t>
            </a:r>
            <a:r>
              <a:rPr lang="en-US" sz="1800" b="1" dirty="0">
                <a:solidFill>
                  <a:schemeClr val="tx1"/>
                </a:solidFill>
              </a:rPr>
              <a:t>may have</a:t>
            </a:r>
            <a:r>
              <a:rPr lang="en-US" sz="1800" dirty="0">
                <a:solidFill>
                  <a:schemeClr val="tx1"/>
                </a:solidFill>
              </a:rPr>
              <a:t> nothing to do with it.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10131552" y="2237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MIGHT · MAY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231636" y="301447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41364" y="315620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3256788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71716" y="301447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teacher is here → she </a:t>
            </a:r>
            <a:r>
              <a:rPr lang="en-US" sz="1800" b="1" dirty="0">
                <a:solidFill>
                  <a:schemeClr val="tx1"/>
                </a:solidFill>
              </a:rPr>
              <a:t>can’t be</a:t>
            </a:r>
            <a:r>
              <a:rPr lang="en-US" sz="1800" dirty="0">
                <a:solidFill>
                  <a:schemeClr val="tx1"/>
                </a:solidFill>
              </a:rPr>
              <a:t> in Paris.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10131552" y="30144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CAN’T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231636" y="379171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41364" y="393344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4034028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71716" y="379171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food since 7 a.m. → you </a:t>
            </a:r>
            <a:r>
              <a:rPr lang="en-US" sz="1800" b="1" dirty="0">
                <a:solidFill>
                  <a:schemeClr val="tx1"/>
                </a:solidFill>
              </a:rPr>
              <a:t>must be</a:t>
            </a:r>
            <a:r>
              <a:rPr lang="en-US" sz="1800" dirty="0">
                <a:solidFill>
                  <a:schemeClr val="tx1"/>
                </a:solidFill>
              </a:rPr>
              <a:t> hungry.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10131552" y="3791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MUST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6231636" y="456895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D99A06">
              <a:alpha val="7000"/>
            </a:srgbClr>
          </a:solidFill>
          <a:ln w="9525">
            <a:solidFill>
              <a:srgbClr val="D99A06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1364" y="4710684"/>
            <a:ext cx="402336" cy="402336"/>
          </a:xfrm>
          <a:prstGeom prst="ellipse">
            <a:avLst/>
          </a:prstGeom>
          <a:solidFill>
            <a:srgbClr val="D99A06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4811268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71716" y="456895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phone is ringing → it </a:t>
            </a:r>
            <a:r>
              <a:rPr lang="en-US" sz="1800" b="1" dirty="0">
                <a:solidFill>
                  <a:schemeClr val="tx1"/>
                </a:solidFill>
              </a:rPr>
              <a:t>might be</a:t>
            </a:r>
            <a:r>
              <a:rPr lang="en-US" sz="1800" dirty="0">
                <a:solidFill>
                  <a:schemeClr val="tx1"/>
                </a:solidFill>
              </a:rPr>
              <a:t> your mother.</a:t>
            </a:r>
            <a:endParaRPr lang="en-US" sz="1800" dirty="0"/>
          </a:p>
        </p:txBody>
      </p:sp>
      <p:sp>
        <p:nvSpPr>
          <p:cNvPr id="51" name="Text 40"/>
          <p:cNvSpPr txBox="1"/>
          <p:nvPr/>
        </p:nvSpPr>
        <p:spPr>
          <a:xfrm>
            <a:off x="10131552" y="4568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06"/>
                </a:solidFill>
              </a:rPr>
              <a:t>MIGHT · MAY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6231636" y="5346192"/>
            <a:ext cx="5408676" cy="685800"/>
          </a:xfrm>
          <a:prstGeom prst="roundRect">
            <a:avLst>
              <a:gd name="adj" fmla="val 10667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341364" y="5487924"/>
            <a:ext cx="402336" cy="402336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948" y="5588508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871716" y="5346192"/>
            <a:ext cx="3259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Snow in Brussels in August? → it </a:t>
            </a:r>
            <a:r>
              <a:rPr lang="en-US" sz="1800" b="1" dirty="0">
                <a:solidFill>
                  <a:schemeClr val="tx1"/>
                </a:solidFill>
              </a:rPr>
              <a:t>can’t be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56" name="Text 44"/>
          <p:cNvSpPr txBox="1"/>
          <p:nvPr/>
        </p:nvSpPr>
        <p:spPr>
          <a:xfrm>
            <a:off x="10131552" y="534619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CAN’T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Odd one out: the language of hypotheses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One word in each line does not belong. Why?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3418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might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86435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must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1314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6193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could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304495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exclude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86435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rule out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314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confirm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6193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eliminate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3748024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hunch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86435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evidence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1314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proof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6193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clue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51096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should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86435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ought to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61314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had better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36193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might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48640" y="515416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1556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can’t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286435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mights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61314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should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36193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must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85724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1556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back up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286435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contradict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61314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support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36193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confirm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Odd one out: the language of hypotheses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One word in each line does not belong. Why?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3418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might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6435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must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1314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6193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could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57032" y="2237232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must</a:t>
            </a:r>
            <a:r>
              <a:rPr lang="en-US" sz="1600" dirty="0">
                <a:solidFill>
                  <a:schemeClr val="tx2"/>
                </a:solidFill>
              </a:rPr>
              <a:t> ≈ 95 %; the others = possible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304495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exclude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86435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rule out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1314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to confirm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6193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eliminate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2940304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to confirm</a:t>
            </a:r>
            <a:r>
              <a:rPr lang="en-US" sz="1600" dirty="0">
                <a:solidFill>
                  <a:schemeClr val="tx2"/>
                </a:solidFill>
              </a:rPr>
              <a:t> = say it is true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3748024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a hunch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86435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evidence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1314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proof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36193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clue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3643376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a hunch</a:t>
            </a:r>
            <a:r>
              <a:rPr lang="en-US" sz="1600" dirty="0">
                <a:solidFill>
                  <a:schemeClr val="tx2"/>
                </a:solidFill>
              </a:rPr>
              <a:t> = une intuition, not evidence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8640" y="4451096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556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should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286435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ought to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1314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had better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36193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might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257032" y="4346448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might</a:t>
            </a:r>
            <a:r>
              <a:rPr lang="en-US" sz="1600" dirty="0">
                <a:solidFill>
                  <a:schemeClr val="tx2"/>
                </a:solidFill>
              </a:rPr>
              <a:t> = a possibility; the others = advice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8640" y="515416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1556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can’t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286435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mights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61314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should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36193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must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8257032" y="5049520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mights</a:t>
            </a:r>
            <a:r>
              <a:rPr lang="en-US" sz="1600" dirty="0">
                <a:solidFill>
                  <a:schemeClr val="tx2"/>
                </a:solidFill>
              </a:rPr>
              <a:t> ✗ — no -s after a modal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640" y="585724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1556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back up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286435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to contradict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461314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support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36193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 confirm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8257032" y="5752592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to contradict</a:t>
            </a:r>
            <a:r>
              <a:rPr lang="en-US" sz="1600" dirty="0">
                <a:solidFill>
                  <a:schemeClr val="tx2"/>
                </a:solidFill>
              </a:rPr>
              <a:t> = say the opposite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card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94767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F4E7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5740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9900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79"/>
                </a:solidFill>
              </a:rPr>
              <a:t>Accounting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901952" y="191109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Your card.</a:t>
            </a:r>
            <a:r>
              <a:rPr lang="en-US" sz="1400" dirty="0">
                <a:solidFill>
                  <a:schemeClr val="tx1"/>
                </a:solidFill>
              </a:rPr>
              <a:t> Last November a comparable claim was settled at 80 %. A provision of €12,000 has been opened this morning. No budget line exists for an excess above €5,000. </a:t>
            </a:r>
            <a:r>
              <a:rPr lang="en-US" sz="1400" b="1" dirty="0">
                <a:solidFill>
                  <a:schemeClr val="tx1"/>
                </a:solidFill>
              </a:rPr>
              <a:t>Your question to the group:</a:t>
            </a:r>
            <a:r>
              <a:rPr lang="en-US" sz="1400" dirty="0">
                <a:solidFill>
                  <a:schemeClr val="tx1"/>
                </a:solidFill>
              </a:rPr>
              <a:t> if the cause is never established, who carries the difference — and in which financial year does it land?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08776" y="178308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73368" y="194767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0E7C6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574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73368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300216" y="29900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66"/>
                </a:solidFill>
              </a:rPr>
              <a:t>IT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7562088" y="191109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Your card.</a:t>
            </a:r>
            <a:r>
              <a:rPr lang="en-US" sz="1400" dirty="0">
                <a:solidFill>
                  <a:schemeClr val="tx1"/>
                </a:solidFill>
              </a:rPr>
              <a:t> The last backup ran at midnight, sixteen minutes after the temperature alarm. Unit 3 shut down at 02:16. Total downtime: nine hours. </a:t>
            </a:r>
            <a:r>
              <a:rPr lang="en-US" sz="1400" b="1" dirty="0">
                <a:solidFill>
                  <a:schemeClr val="tx1"/>
                </a:solidFill>
              </a:rPr>
              <a:t>Your question to the group:</a:t>
            </a:r>
            <a:r>
              <a:rPr lang="en-US" sz="1400" dirty="0">
                <a:solidFill>
                  <a:schemeClr val="tx1"/>
                </a:solidFill>
              </a:rPr>
              <a:t> the notification was </a:t>
            </a:r>
            <a:r>
              <a:rPr lang="en-US" sz="1400" i="1" dirty="0">
                <a:solidFill>
                  <a:schemeClr val="tx1"/>
                </a:solidFill>
              </a:rPr>
              <a:t>delivered</a:t>
            </a:r>
            <a:r>
              <a:rPr lang="en-US" sz="1400" dirty="0">
                <a:solidFill>
                  <a:schemeClr val="tx1"/>
                </a:solidFill>
              </a:rPr>
              <a:t> at 23:42 to a mobile number. Does “delivered” mean somebody was warned?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16052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3232" y="432511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8B3A2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43484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LAW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3675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3A2F"/>
                </a:solidFill>
              </a:rPr>
              <a:t>Law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901952" y="428853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Your card.</a:t>
            </a:r>
            <a:r>
              <a:rPr lang="en-US" sz="1400" dirty="0">
                <a:solidFill>
                  <a:schemeClr val="tx1"/>
                </a:solidFill>
              </a:rPr>
              <a:t> The lease runs for nine years. The maintenance clause places routine inspection with the property manager and structural works with the landlord. A badge entry at 20:04 is logged. </a:t>
            </a:r>
            <a:r>
              <a:rPr lang="en-US" sz="1400" b="1" dirty="0">
                <a:solidFill>
                  <a:schemeClr val="tx1"/>
                </a:solidFill>
              </a:rPr>
              <a:t>Your question to the group:</a:t>
            </a:r>
            <a:r>
              <a:rPr lang="en-US" sz="1400" dirty="0">
                <a:solidFill>
                  <a:schemeClr val="tx1"/>
                </a:solidFill>
              </a:rPr>
              <a:t> at what point does a repeated fault stop being an accident and start being negligence — and who would have to prove it?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08776" y="416052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73368" y="432511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B8782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3484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373368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6300216" y="53675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82A"/>
                </a:solidFill>
              </a:rPr>
              <a:t>Real estate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562088" y="428853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Your card.</a:t>
            </a:r>
            <a:r>
              <a:rPr lang="en-US" sz="1400" dirty="0">
                <a:solidFill>
                  <a:schemeClr val="tx1"/>
                </a:solidFill>
              </a:rPr>
              <a:t> The humidity alarm followed the temperature alarm by three minutes. The same section of pipework failed last November. The handover to the tenant is on 1 March. </a:t>
            </a:r>
            <a:r>
              <a:rPr lang="en-US" sz="1400" b="1" dirty="0">
                <a:solidFill>
                  <a:schemeClr val="tx1"/>
                </a:solidFill>
              </a:rPr>
              <a:t>Your question to the group:</a:t>
            </a:r>
            <a:r>
              <a:rPr lang="en-US" sz="1400" dirty="0">
                <a:solidFill>
                  <a:schemeClr val="tx1"/>
                </a:solidFill>
              </a:rPr>
              <a:t> if the second floor is unusable for three weeks, what does the tenant become entitled to, and from what date?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hypothesis board: three rounds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Groups of four — one representative of each firm. Twenty-five minutes.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237232"/>
            <a:ext cx="3849624" cy="868680"/>
          </a:xfrm>
          <a:prstGeom prst="homePlate">
            <a:avLst/>
          </a:prstGeom>
          <a:solidFill>
            <a:srgbClr val="6E4A9E"/>
          </a:solidFill>
          <a:ln w="25400">
            <a:solidFill>
              <a:srgbClr val="FFFFFF"/>
            </a:solidFill>
          </a:ln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ROUND 1 · alone · 5′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270504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</a:t>
            </a:r>
            <a:r>
              <a:rPr lang="en-US" sz="1500" b="1" dirty="0">
                <a:solidFill>
                  <a:schemeClr val="tx1"/>
                </a:solidFill>
              </a:rPr>
              <a:t>one hypothesis</a:t>
            </a:r>
            <a:r>
              <a:rPr lang="en-US" sz="1500" dirty="0">
                <a:solidFill>
                  <a:schemeClr val="tx1"/>
                </a:solidFill>
              </a:rPr>
              <a:t> that only somebody from your field would think of — and </a:t>
            </a:r>
            <a:r>
              <a:rPr lang="en-US" sz="1500" b="1" dirty="0">
                <a:solidFill>
                  <a:schemeClr val="tx1"/>
                </a:solidFill>
              </a:rPr>
              <a:t>one fact</a:t>
            </a:r>
            <a:r>
              <a:rPr lang="en-US" sz="1500" dirty="0">
                <a:solidFill>
                  <a:schemeClr val="tx1"/>
                </a:solidFill>
              </a:rPr>
              <a:t> you can already prove.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69664" y="2237232"/>
            <a:ext cx="3849624" cy="868680"/>
          </a:xfrm>
          <a:prstGeom prst="chevron">
            <a:avLst/>
          </a:prstGeom>
          <a:solidFill>
            <a:srgbClr val="C0752A"/>
          </a:solidFill>
          <a:ln w="25400">
            <a:solidFill>
              <a:srgbClr val="FFFFFF"/>
            </a:solidFill>
          </a:ln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ROUND 2 · together · 12′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279392" y="3270504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90 seconds</a:t>
            </a:r>
            <a:r>
              <a:rPr lang="en-US" sz="1500" dirty="0">
                <a:solidFill>
                  <a:schemeClr val="tx1"/>
                </a:solidFill>
              </a:rPr>
              <a:t> each, no interruptions. Then each listener asks </a:t>
            </a:r>
            <a:r>
              <a:rPr lang="en-US" sz="1500" b="1" dirty="0">
                <a:solidFill>
                  <a:schemeClr val="tx1"/>
                </a:solidFill>
              </a:rPr>
              <a:t>one</a:t>
            </a:r>
            <a:r>
              <a:rPr lang="en-US" sz="1500" dirty="0">
                <a:solidFill>
                  <a:schemeClr val="tx1"/>
                </a:solidFill>
              </a:rPr>
              <a:t> question: </a:t>
            </a:r>
            <a:r>
              <a:rPr lang="en-US" sz="1500" i="1" dirty="0">
                <a:solidFill>
                  <a:schemeClr val="tx1"/>
                </a:solidFill>
              </a:rPr>
              <a:t>What would prove that? What would rule it out?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90688" y="2237232"/>
            <a:ext cx="3849624" cy="868680"/>
          </a:xfrm>
          <a:prstGeom prst="chevron">
            <a:avLst/>
          </a:prstGeom>
          <a:solidFill>
            <a:srgbClr val="3C7A3C"/>
          </a:solidFill>
          <a:ln w="25400">
            <a:solidFill>
              <a:srgbClr val="FFFFFF"/>
            </a:solidFill>
          </a:ln>
        </p:spPr>
        <p:txBody>
          <a:bodyPr wrap="square" lIns="0" tIns="4445" rIns="3175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ROUND 3 · decide · 8′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900416" y="3270504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writing and out loud: </a:t>
            </a:r>
            <a:r>
              <a:rPr lang="en-US" sz="1500" b="1" dirty="0">
                <a:solidFill>
                  <a:schemeClr val="tx1"/>
                </a:solidFill>
              </a:rPr>
              <a:t>2 hypotheses, 1 ruled out, 1 recommendation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797552"/>
            <a:ext cx="5431536" cy="1511808"/>
          </a:xfrm>
          <a:prstGeom prst="roundRect">
            <a:avLst>
              <a:gd name="adj" fmla="val 4839"/>
            </a:avLst>
          </a:prstGeom>
          <a:solidFill>
            <a:srgbClr val="1F3864">
              <a:alpha val="8000"/>
            </a:srgbClr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04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4943856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MARK’S RULE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437632"/>
            <a:ext cx="5020056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board only accepts sentences that state </a:t>
            </a:r>
            <a:r>
              <a:rPr lang="en-US" sz="1700" b="1" dirty="0">
                <a:solidFill>
                  <a:schemeClr val="tx1"/>
                </a:solidFill>
              </a:rPr>
              <a:t>their own degree of certainty</a:t>
            </a:r>
            <a:r>
              <a:rPr lang="en-US" sz="1700" dirty="0">
                <a:solidFill>
                  <a:schemeClr val="tx1"/>
                </a:solidFill>
              </a:rPr>
              <a:t>: can’t · might · may · must.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208776" y="4797552"/>
            <a:ext cx="5431536" cy="1511808"/>
          </a:xfrm>
          <a:prstGeom prst="roundRect">
            <a:avLst>
              <a:gd name="adj" fmla="val 483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49804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48856" y="4943856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NO NAMES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5437632"/>
            <a:ext cx="5020056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Nobody may name a person.</a:t>
            </a:r>
            <a:r>
              <a:rPr lang="en-US" sz="1700" dirty="0">
                <a:solidFill>
                  <a:schemeClr val="tx1"/>
                </a:solidFill>
              </a:rPr>
              <a:t> Name the fact, not the person (Séance 13).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Present, test, decide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14344" cy="45262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057400"/>
            <a:ext cx="3514344" cy="228600"/>
          </a:xfrm>
          <a:prstGeom prst="rect">
            <a:avLst/>
          </a:prstGeom>
          <a:solidFill>
            <a:srgbClr val="6E4A9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PRESENT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441448"/>
            <a:ext cx="314858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My hypothesis is that the water </a:t>
            </a:r>
            <a:r>
              <a:rPr lang="en-US" sz="2000" b="1" dirty="0">
                <a:solidFill>
                  <a:schemeClr val="tx1"/>
                </a:solidFill>
              </a:rPr>
              <a:t>might</a:t>
            </a:r>
            <a:r>
              <a:rPr lang="en-US" sz="2000" dirty="0">
                <a:solidFill>
                  <a:schemeClr val="tx1"/>
                </a:solidFill>
              </a:rPr>
              <a:t> have come from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supports it is … (a fact from the file).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I’m about </a:t>
            </a:r>
            <a:r>
              <a:rPr lang="en-US" sz="2000" b="1" dirty="0">
                <a:solidFill>
                  <a:schemeClr val="tx1"/>
                </a:solidFill>
              </a:rPr>
              <a:t>40 %</a:t>
            </a:r>
            <a:r>
              <a:rPr lang="en-US" sz="2000" dirty="0">
                <a:solidFill>
                  <a:schemeClr val="tx1"/>
                </a:solidFill>
              </a:rPr>
              <a:t> sure.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337304" y="1783080"/>
            <a:ext cx="3514344" cy="45262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37304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C0752A"/>
          </a:solidFill>
          <a:ln/>
        </p:spPr>
      </p:sp>
      <p:sp>
        <p:nvSpPr>
          <p:cNvPr id="14" name="Shape 10"/>
          <p:cNvSpPr/>
          <p:nvPr/>
        </p:nvSpPr>
        <p:spPr>
          <a:xfrm>
            <a:off x="4337304" y="2057400"/>
            <a:ext cx="3514344" cy="228600"/>
          </a:xfrm>
          <a:prstGeom prst="rect">
            <a:avLst/>
          </a:prstGeom>
          <a:solidFill>
            <a:srgbClr val="C0752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84" y="18928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04232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TEST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20184" y="2441448"/>
            <a:ext cx="314858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would prove that?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would rule that out?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Where does that figure come from?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sure are you?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8125968" y="1783080"/>
            <a:ext cx="3514344" cy="45262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25968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3C7A3C"/>
          </a:solidFill>
          <a:ln/>
        </p:spPr>
      </p:sp>
      <p:sp>
        <p:nvSpPr>
          <p:cNvPr id="20" name="Shape 15"/>
          <p:cNvSpPr/>
          <p:nvPr/>
        </p:nvSpPr>
        <p:spPr>
          <a:xfrm>
            <a:off x="8125968" y="2057400"/>
            <a:ext cx="3514344" cy="228600"/>
          </a:xfrm>
          <a:prstGeom prst="rect">
            <a:avLst/>
          </a:prstGeom>
          <a:solidFill>
            <a:srgbClr val="3C7A3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9280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92896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DECIDE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308848" y="2441448"/>
            <a:ext cx="314858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 think we can </a:t>
            </a:r>
            <a:r>
              <a:rPr lang="en-US" sz="2000" b="1" dirty="0">
                <a:solidFill>
                  <a:schemeClr val="tx1"/>
                </a:solidFill>
              </a:rPr>
              <a:t>rule out</a:t>
            </a:r>
            <a:r>
              <a:rPr lang="en-US" sz="2000" dirty="0">
                <a:solidFill>
                  <a:schemeClr val="tx1"/>
                </a:solidFill>
              </a:rPr>
              <a:t> …, because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</a:t>
            </a:r>
            <a:r>
              <a:rPr lang="en-US" sz="2000" b="1" dirty="0">
                <a:solidFill>
                  <a:schemeClr val="tx1"/>
                </a:solidFill>
              </a:rPr>
              <a:t>should</a:t>
            </a:r>
            <a:r>
              <a:rPr lang="en-US" sz="2000" dirty="0">
                <a:solidFill>
                  <a:schemeClr val="tx1"/>
                </a:solidFill>
              </a:rPr>
              <a:t> keep … and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 we agree that … 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hypothesis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32–34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Pin your group’s four cards. Each one must be tied to </a:t>
            </a:r>
            <a:r>
              <a:rPr lang="en-US" sz="1600" b="1" i="1" dirty="0">
                <a:solidFill>
                  <a:schemeClr val="accent5"/>
                </a:solidFill>
              </a:rPr>
              <a:t>at least one clue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347"/>
            </a:avLst>
          </a:prstGeom>
          <a:solidFill>
            <a:srgbClr val="C9A473"/>
          </a:solidFill>
          <a:ln w="88900">
            <a:solidFill>
              <a:srgbClr val="7A523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65616" y="319909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9" name="Shape 6"/>
          <p:cNvSpPr/>
          <p:nvPr/>
        </p:nvSpPr>
        <p:spPr>
          <a:xfrm>
            <a:off x="10782273" y="383228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0" name="Shape 7"/>
          <p:cNvSpPr/>
          <p:nvPr/>
        </p:nvSpPr>
        <p:spPr>
          <a:xfrm>
            <a:off x="7805925" y="333629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1" name="Shape 8"/>
          <p:cNvSpPr/>
          <p:nvPr/>
        </p:nvSpPr>
        <p:spPr>
          <a:xfrm>
            <a:off x="11095183" y="400856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2" name="Shape 9"/>
          <p:cNvSpPr/>
          <p:nvPr/>
        </p:nvSpPr>
        <p:spPr>
          <a:xfrm>
            <a:off x="4757888" y="420806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962934" y="510694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4" name="Shape 11"/>
          <p:cNvSpPr/>
          <p:nvPr/>
        </p:nvSpPr>
        <p:spPr>
          <a:xfrm>
            <a:off x="4603380" y="478287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5" name="Shape 12"/>
          <p:cNvSpPr/>
          <p:nvPr/>
        </p:nvSpPr>
        <p:spPr>
          <a:xfrm>
            <a:off x="8248765" y="243878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13997" y="515451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30697" y="299015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8" name="Shape 15"/>
          <p:cNvSpPr/>
          <p:nvPr/>
        </p:nvSpPr>
        <p:spPr>
          <a:xfrm>
            <a:off x="3225986" y="358818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9" name="Shape 16"/>
          <p:cNvSpPr/>
          <p:nvPr/>
        </p:nvSpPr>
        <p:spPr>
          <a:xfrm>
            <a:off x="9764901" y="474494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0" name="Shape 17"/>
          <p:cNvSpPr/>
          <p:nvPr/>
        </p:nvSpPr>
        <p:spPr>
          <a:xfrm>
            <a:off x="9348214" y="369413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1" name="Shape 18"/>
          <p:cNvSpPr/>
          <p:nvPr/>
        </p:nvSpPr>
        <p:spPr>
          <a:xfrm>
            <a:off x="4112686" y="512440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2" name="Shape 19"/>
          <p:cNvSpPr/>
          <p:nvPr/>
        </p:nvSpPr>
        <p:spPr>
          <a:xfrm>
            <a:off x="1804075" y="514416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3" name="Shape 20"/>
          <p:cNvSpPr/>
          <p:nvPr/>
        </p:nvSpPr>
        <p:spPr>
          <a:xfrm>
            <a:off x="6161713" y="436295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4" name="Shape 21"/>
          <p:cNvSpPr/>
          <p:nvPr/>
        </p:nvSpPr>
        <p:spPr>
          <a:xfrm>
            <a:off x="3697297" y="451555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5" name="Shape 22"/>
          <p:cNvSpPr/>
          <p:nvPr/>
        </p:nvSpPr>
        <p:spPr>
          <a:xfrm>
            <a:off x="954657" y="382030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6" name="Shape 23"/>
          <p:cNvSpPr/>
          <p:nvPr/>
        </p:nvSpPr>
        <p:spPr>
          <a:xfrm>
            <a:off x="4076980" y="246473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7" name="Shape 24"/>
          <p:cNvSpPr/>
          <p:nvPr/>
        </p:nvSpPr>
        <p:spPr>
          <a:xfrm>
            <a:off x="5585604" y="302759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8" name="Shape 25"/>
          <p:cNvSpPr/>
          <p:nvPr/>
        </p:nvSpPr>
        <p:spPr>
          <a:xfrm>
            <a:off x="10822430" y="583710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9" name="Shape 26"/>
          <p:cNvSpPr/>
          <p:nvPr/>
        </p:nvSpPr>
        <p:spPr>
          <a:xfrm>
            <a:off x="6699799" y="306321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0" name="Shape 27"/>
          <p:cNvSpPr/>
          <p:nvPr/>
        </p:nvSpPr>
        <p:spPr>
          <a:xfrm>
            <a:off x="2566038" y="572425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1" name="Shape 28"/>
          <p:cNvSpPr/>
          <p:nvPr/>
        </p:nvSpPr>
        <p:spPr>
          <a:xfrm>
            <a:off x="2561123" y="486489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2" name="Shape 29"/>
          <p:cNvSpPr/>
          <p:nvPr/>
        </p:nvSpPr>
        <p:spPr>
          <a:xfrm>
            <a:off x="6818601" y="362653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3" name="Shape 30"/>
          <p:cNvSpPr/>
          <p:nvPr/>
        </p:nvSpPr>
        <p:spPr>
          <a:xfrm>
            <a:off x="9061736" y="247804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4" name="Shape 31"/>
          <p:cNvSpPr/>
          <p:nvPr/>
        </p:nvSpPr>
        <p:spPr>
          <a:xfrm>
            <a:off x="1411223" y="596741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5" name="Shape 32"/>
          <p:cNvSpPr/>
          <p:nvPr/>
        </p:nvSpPr>
        <p:spPr>
          <a:xfrm>
            <a:off x="8039170" y="542063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6" name="Shape 33"/>
          <p:cNvSpPr/>
          <p:nvPr/>
        </p:nvSpPr>
        <p:spPr>
          <a:xfrm>
            <a:off x="7043777" y="594833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7" name="Shape 34"/>
          <p:cNvSpPr/>
          <p:nvPr/>
        </p:nvSpPr>
        <p:spPr>
          <a:xfrm>
            <a:off x="10978514" y="281497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8" name="Shape 35"/>
          <p:cNvSpPr/>
          <p:nvPr/>
        </p:nvSpPr>
        <p:spPr>
          <a:xfrm>
            <a:off x="3149938" y="591362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9" name="Shape 36"/>
          <p:cNvSpPr/>
          <p:nvPr/>
        </p:nvSpPr>
        <p:spPr>
          <a:xfrm>
            <a:off x="10935297" y="600762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0" name="Shape 37"/>
          <p:cNvSpPr/>
          <p:nvPr/>
        </p:nvSpPr>
        <p:spPr>
          <a:xfrm>
            <a:off x="2416725" y="426914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1" name="Shape 38"/>
          <p:cNvSpPr/>
          <p:nvPr/>
        </p:nvSpPr>
        <p:spPr>
          <a:xfrm>
            <a:off x="6574042" y="257364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2" name="Shape 39"/>
          <p:cNvSpPr/>
          <p:nvPr/>
        </p:nvSpPr>
        <p:spPr>
          <a:xfrm>
            <a:off x="2707376" y="392185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3" name="Shape 40"/>
          <p:cNvSpPr/>
          <p:nvPr/>
        </p:nvSpPr>
        <p:spPr>
          <a:xfrm>
            <a:off x="966343" y="400023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4" name="Shape 41"/>
          <p:cNvSpPr/>
          <p:nvPr/>
        </p:nvSpPr>
        <p:spPr>
          <a:xfrm>
            <a:off x="11099913" y="426224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5" name="Shape 42"/>
          <p:cNvSpPr/>
          <p:nvPr/>
        </p:nvSpPr>
        <p:spPr>
          <a:xfrm>
            <a:off x="7600503" y="475477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6" name="Shape 43"/>
          <p:cNvSpPr/>
          <p:nvPr/>
        </p:nvSpPr>
        <p:spPr>
          <a:xfrm>
            <a:off x="10233152" y="327417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7" name="Shape 44"/>
          <p:cNvSpPr/>
          <p:nvPr/>
        </p:nvSpPr>
        <p:spPr>
          <a:xfrm>
            <a:off x="9515983" y="464973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8" name="Shape 45"/>
          <p:cNvSpPr/>
          <p:nvPr/>
        </p:nvSpPr>
        <p:spPr>
          <a:xfrm>
            <a:off x="7585757" y="597451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9" name="Shape 46"/>
          <p:cNvSpPr/>
          <p:nvPr/>
        </p:nvSpPr>
        <p:spPr>
          <a:xfrm>
            <a:off x="1370880" y="335690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0" name="Shape 47"/>
          <p:cNvSpPr/>
          <p:nvPr/>
        </p:nvSpPr>
        <p:spPr>
          <a:xfrm>
            <a:off x="5428037" y="500207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1" name="Shape 48"/>
          <p:cNvSpPr/>
          <p:nvPr/>
        </p:nvSpPr>
        <p:spPr>
          <a:xfrm>
            <a:off x="6268922" y="504918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2" name="Shape 49"/>
          <p:cNvSpPr/>
          <p:nvPr/>
        </p:nvSpPr>
        <p:spPr>
          <a:xfrm>
            <a:off x="10437368" y="551437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3" name="Shape 50"/>
          <p:cNvSpPr/>
          <p:nvPr/>
        </p:nvSpPr>
        <p:spPr>
          <a:xfrm>
            <a:off x="2441858" y="278736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4" name="Shape 51"/>
          <p:cNvSpPr/>
          <p:nvPr/>
        </p:nvSpPr>
        <p:spPr>
          <a:xfrm>
            <a:off x="7255783" y="324473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5" name="Shape 52"/>
          <p:cNvSpPr/>
          <p:nvPr/>
        </p:nvSpPr>
        <p:spPr>
          <a:xfrm>
            <a:off x="8586344" y="341688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6" name="Shape 53"/>
          <p:cNvSpPr/>
          <p:nvPr/>
        </p:nvSpPr>
        <p:spPr>
          <a:xfrm>
            <a:off x="4163230" y="306937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7" name="Shape 54"/>
          <p:cNvSpPr/>
          <p:nvPr/>
        </p:nvSpPr>
        <p:spPr>
          <a:xfrm>
            <a:off x="3334771" y="562491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8" name="Shape 55"/>
          <p:cNvSpPr/>
          <p:nvPr/>
        </p:nvSpPr>
        <p:spPr>
          <a:xfrm>
            <a:off x="10240942" y="592599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9" name="Shape 56"/>
          <p:cNvSpPr/>
          <p:nvPr/>
        </p:nvSpPr>
        <p:spPr>
          <a:xfrm>
            <a:off x="3380586" y="331620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0" name="Shape 57"/>
          <p:cNvSpPr/>
          <p:nvPr/>
        </p:nvSpPr>
        <p:spPr>
          <a:xfrm>
            <a:off x="8929023" y="586003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1" name="Shape 58"/>
          <p:cNvSpPr/>
          <p:nvPr/>
        </p:nvSpPr>
        <p:spPr>
          <a:xfrm>
            <a:off x="8189596" y="291422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2" name="Shape 59"/>
          <p:cNvSpPr/>
          <p:nvPr/>
        </p:nvSpPr>
        <p:spPr>
          <a:xfrm>
            <a:off x="3699709" y="479381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3" name="Shape 60"/>
          <p:cNvSpPr/>
          <p:nvPr/>
        </p:nvSpPr>
        <p:spPr>
          <a:xfrm>
            <a:off x="6009618" y="521602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4" name="Shape 61"/>
          <p:cNvSpPr/>
          <p:nvPr/>
        </p:nvSpPr>
        <p:spPr>
          <a:xfrm>
            <a:off x="6038089" y="324311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5" name="Shape 62"/>
          <p:cNvSpPr/>
          <p:nvPr/>
        </p:nvSpPr>
        <p:spPr>
          <a:xfrm>
            <a:off x="8726383" y="497032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6" name="Shape 63"/>
          <p:cNvSpPr/>
          <p:nvPr/>
        </p:nvSpPr>
        <p:spPr>
          <a:xfrm>
            <a:off x="8999692" y="495883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7" name="Shape 64"/>
          <p:cNvSpPr/>
          <p:nvPr/>
        </p:nvSpPr>
        <p:spPr>
          <a:xfrm>
            <a:off x="7392206" y="438079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8" name="Shape 65"/>
          <p:cNvSpPr/>
          <p:nvPr/>
        </p:nvSpPr>
        <p:spPr>
          <a:xfrm>
            <a:off x="11249041" y="511166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9" name="Shape 66"/>
          <p:cNvSpPr/>
          <p:nvPr/>
        </p:nvSpPr>
        <p:spPr>
          <a:xfrm>
            <a:off x="10687677" y="255658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0" name="Shape 67"/>
          <p:cNvSpPr/>
          <p:nvPr/>
        </p:nvSpPr>
        <p:spPr>
          <a:xfrm>
            <a:off x="5040378" y="379539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1" name="Shape 68"/>
          <p:cNvSpPr/>
          <p:nvPr/>
        </p:nvSpPr>
        <p:spPr>
          <a:xfrm>
            <a:off x="4056114" y="268597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2" name="Shape 69"/>
          <p:cNvSpPr/>
          <p:nvPr/>
        </p:nvSpPr>
        <p:spPr>
          <a:xfrm>
            <a:off x="3862006" y="307301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3" name="Shape 70"/>
          <p:cNvSpPr/>
          <p:nvPr/>
        </p:nvSpPr>
        <p:spPr>
          <a:xfrm>
            <a:off x="2588389" y="275285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4" name="Shape 71"/>
          <p:cNvSpPr/>
          <p:nvPr/>
        </p:nvSpPr>
        <p:spPr>
          <a:xfrm>
            <a:off x="1570738" y="275698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5" name="Shape 72"/>
          <p:cNvSpPr/>
          <p:nvPr/>
        </p:nvSpPr>
        <p:spPr>
          <a:xfrm>
            <a:off x="2945814" y="397626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6" name="Shape 73"/>
          <p:cNvSpPr/>
          <p:nvPr/>
        </p:nvSpPr>
        <p:spPr>
          <a:xfrm>
            <a:off x="3642024" y="251910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7" name="Shape 74"/>
          <p:cNvSpPr/>
          <p:nvPr/>
        </p:nvSpPr>
        <p:spPr>
          <a:xfrm>
            <a:off x="7398698" y="279283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8" name="Text 75"/>
          <p:cNvSpPr/>
          <p:nvPr/>
        </p:nvSpPr>
        <p:spPr>
          <a:xfrm rot="-120000">
            <a:off x="777240" y="2465832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EXHIBIT A
</a:t>
            </a:r>
            <a:r>
              <a:rPr lang="en-US" sz="1300" dirty="0">
                <a:solidFill>
                  <a:schemeClr val="tx1"/>
                </a:solidFill>
              </a:rPr>
              <a:t>19:58 — cabling team exit. Dry at 19.58 (Verdier).</a:t>
            </a:r>
            <a:endParaRPr lang="en-US" sz="1300" dirty="0"/>
          </a:p>
        </p:txBody>
      </p:sp>
      <p:sp>
        <p:nvSpPr>
          <p:cNvPr id="79" name="Text 76"/>
          <p:cNvSpPr/>
          <p:nvPr/>
        </p:nvSpPr>
        <p:spPr>
          <a:xfrm rot="90000">
            <a:off x="2957307" y="2538131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EXHIBIT A
</a:t>
            </a:r>
            <a:r>
              <a:rPr lang="en-US" sz="1300" dirty="0">
                <a:solidFill>
                  <a:schemeClr val="tx1"/>
                </a:solidFill>
              </a:rPr>
              <a:t>23:41 temperature alarm · 23:44 humidity alarm.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 rot="-60000">
            <a:off x="5137374" y="2465832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SAMUEL · 8.15
</a:t>
            </a:r>
            <a:r>
              <a:rPr lang="en-US" sz="1300" dirty="0">
                <a:solidFill>
                  <a:schemeClr val="tx1"/>
                </a:solidFill>
              </a:rPr>
              <a:t>Same section failed last November. Trouble since the summer.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 rot="120000">
            <a:off x="7317440" y="2538131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LAW CARD
</a:t>
            </a:r>
            <a:r>
              <a:rPr lang="en-US" sz="1300" dirty="0">
                <a:solidFill>
                  <a:schemeClr val="tx1"/>
                </a:solidFill>
              </a:rPr>
              <a:t>Routine inspection: property manager. Structural works: landlord.</a:t>
            </a:r>
            <a:endParaRPr lang="en-US" sz="1300" dirty="0"/>
          </a:p>
        </p:txBody>
      </p:sp>
      <p:sp>
        <p:nvSpPr>
          <p:cNvPr id="82" name="Text 79"/>
          <p:cNvSpPr/>
          <p:nvPr/>
        </p:nvSpPr>
        <p:spPr>
          <a:xfrm rot="-90000">
            <a:off x="9497507" y="2465832"/>
            <a:ext cx="1914205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SAMUEL · RE CARD
</a:t>
            </a:r>
            <a:r>
              <a:rPr lang="en-US" sz="1300" dirty="0">
                <a:solidFill>
                  <a:schemeClr val="tx1"/>
                </a:solidFill>
              </a:rPr>
              <a:t>Nobody has been to the basement. Handover: 1 March.</a:t>
            </a:r>
            <a:endParaRPr lang="en-US" sz="1300" dirty="0"/>
          </a:p>
        </p:txBody>
      </p:sp>
      <p:sp>
        <p:nvSpPr>
          <p:cNvPr id="83" name="Text 80"/>
          <p:cNvSpPr/>
          <p:nvPr/>
        </p:nvSpPr>
        <p:spPr>
          <a:xfrm rot="60000">
            <a:off x="777240" y="4345595"/>
            <a:ext cx="2499101" cy="173516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E75B6"/>
                </a:solidFill>
              </a:rPr>
              <a:t>HYPOTHESIS 1
</a:t>
            </a:r>
            <a:r>
              <a:rPr lang="en-US" sz="1400" i="1" dirty="0">
                <a:solidFill>
                  <a:schemeClr val="accent5"/>
                </a:solidFill>
              </a:rPr>
              <a:t>might … ?</a:t>
            </a:r>
            <a:endParaRPr lang="en-US" sz="1400" dirty="0"/>
          </a:p>
        </p:txBody>
      </p:sp>
      <p:sp>
        <p:nvSpPr>
          <p:cNvPr id="84" name="Text 81"/>
          <p:cNvSpPr/>
          <p:nvPr/>
        </p:nvSpPr>
        <p:spPr>
          <a:xfrm rot="-60000">
            <a:off x="3489030" y="4417893"/>
            <a:ext cx="2499101" cy="166286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0752A"/>
                </a:solidFill>
              </a:rPr>
              <a:t>HYPOTHESIS 2
</a:t>
            </a:r>
            <a:r>
              <a:rPr lang="en-US" sz="1400" i="1" dirty="0">
                <a:solidFill>
                  <a:schemeClr val="accent5"/>
                </a:solidFill>
              </a:rPr>
              <a:t>may have … ?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 rot="90000">
            <a:off x="6200821" y="4345595"/>
            <a:ext cx="2499101" cy="173516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03A2E"/>
                </a:solidFill>
              </a:rPr>
              <a:t>RULED OUT
</a:t>
            </a:r>
            <a:r>
              <a:rPr lang="en-US" sz="1400" i="1" dirty="0">
                <a:solidFill>
                  <a:schemeClr val="accent5"/>
                </a:solidFill>
              </a:rPr>
              <a:t>can’t have … ?</a:t>
            </a:r>
            <a:endParaRPr lang="en-US" sz="1400" dirty="0"/>
          </a:p>
        </p:txBody>
      </p:sp>
      <p:sp>
        <p:nvSpPr>
          <p:cNvPr id="86" name="Text 83"/>
          <p:cNvSpPr/>
          <p:nvPr/>
        </p:nvSpPr>
        <p:spPr>
          <a:xfrm rot="-60000">
            <a:off x="8912611" y="4417893"/>
            <a:ext cx="2499101" cy="166286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3C7A3C"/>
                </a:solidFill>
              </a:rPr>
              <a:t>WE RECOMMEND
</a:t>
            </a:r>
            <a:r>
              <a:rPr lang="en-US" sz="1400" i="1" dirty="0">
                <a:solidFill>
                  <a:schemeClr val="accent5"/>
                </a:solidFill>
              </a:rPr>
              <a:t>should … ?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2378857" y="2429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558924" y="2501555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6738991" y="2429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90" name="Shape 87"/>
          <p:cNvSpPr/>
          <p:nvPr/>
        </p:nvSpPr>
        <p:spPr>
          <a:xfrm>
            <a:off x="8919058" y="2501555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11045952" y="2429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92" name="Shape 89"/>
          <p:cNvSpPr/>
          <p:nvPr/>
        </p:nvSpPr>
        <p:spPr>
          <a:xfrm>
            <a:off x="2910581" y="4309019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93" name="Shape 90"/>
          <p:cNvSpPr/>
          <p:nvPr/>
        </p:nvSpPr>
        <p:spPr>
          <a:xfrm>
            <a:off x="5622371" y="4381317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8334162" y="4309019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95" name="Shape 92"/>
          <p:cNvSpPr/>
          <p:nvPr/>
        </p:nvSpPr>
        <p:spPr>
          <a:xfrm>
            <a:off x="11045952" y="4381317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hypothesis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32–34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One possible board: every card is tied to a fact — and </a:t>
            </a:r>
            <a:r>
              <a:rPr lang="en-US" sz="1600" b="1" i="1" dirty="0">
                <a:solidFill>
                  <a:schemeClr val="accent5"/>
                </a:solidFill>
              </a:rPr>
              <a:t>nobody is named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347"/>
            </a:avLst>
          </a:prstGeom>
          <a:solidFill>
            <a:srgbClr val="C9A473"/>
          </a:solidFill>
          <a:ln w="88900">
            <a:solidFill>
              <a:srgbClr val="7A523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65616" y="319909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0" name="Shape 7"/>
          <p:cNvSpPr/>
          <p:nvPr/>
        </p:nvSpPr>
        <p:spPr>
          <a:xfrm>
            <a:off x="10782273" y="383228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1" name="Shape 8"/>
          <p:cNvSpPr/>
          <p:nvPr/>
        </p:nvSpPr>
        <p:spPr>
          <a:xfrm>
            <a:off x="7805925" y="333629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2" name="Shape 9"/>
          <p:cNvSpPr/>
          <p:nvPr/>
        </p:nvSpPr>
        <p:spPr>
          <a:xfrm>
            <a:off x="11095183" y="400856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7888" y="420806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62934" y="510694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03380" y="478287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6" name="Shape 13"/>
          <p:cNvSpPr/>
          <p:nvPr/>
        </p:nvSpPr>
        <p:spPr>
          <a:xfrm>
            <a:off x="8248765" y="243878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413997" y="515451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30697" y="299015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19" name="Shape 16"/>
          <p:cNvSpPr/>
          <p:nvPr/>
        </p:nvSpPr>
        <p:spPr>
          <a:xfrm>
            <a:off x="3225986" y="358818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0" name="Shape 17"/>
          <p:cNvSpPr/>
          <p:nvPr/>
        </p:nvSpPr>
        <p:spPr>
          <a:xfrm>
            <a:off x="9764901" y="474494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1" name="Shape 18"/>
          <p:cNvSpPr/>
          <p:nvPr/>
        </p:nvSpPr>
        <p:spPr>
          <a:xfrm>
            <a:off x="9348214" y="369413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2" name="Shape 19"/>
          <p:cNvSpPr/>
          <p:nvPr/>
        </p:nvSpPr>
        <p:spPr>
          <a:xfrm>
            <a:off x="4112686" y="512440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3" name="Shape 20"/>
          <p:cNvSpPr/>
          <p:nvPr/>
        </p:nvSpPr>
        <p:spPr>
          <a:xfrm>
            <a:off x="1804075" y="514416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4" name="Shape 21"/>
          <p:cNvSpPr/>
          <p:nvPr/>
        </p:nvSpPr>
        <p:spPr>
          <a:xfrm>
            <a:off x="6161713" y="436295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5" name="Shape 22"/>
          <p:cNvSpPr/>
          <p:nvPr/>
        </p:nvSpPr>
        <p:spPr>
          <a:xfrm>
            <a:off x="3697297" y="451555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6" name="Shape 23"/>
          <p:cNvSpPr/>
          <p:nvPr/>
        </p:nvSpPr>
        <p:spPr>
          <a:xfrm>
            <a:off x="954657" y="382030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7" name="Shape 24"/>
          <p:cNvSpPr/>
          <p:nvPr/>
        </p:nvSpPr>
        <p:spPr>
          <a:xfrm>
            <a:off x="4076980" y="246473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8" name="Shape 25"/>
          <p:cNvSpPr/>
          <p:nvPr/>
        </p:nvSpPr>
        <p:spPr>
          <a:xfrm>
            <a:off x="5585604" y="302759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29" name="Shape 26"/>
          <p:cNvSpPr/>
          <p:nvPr/>
        </p:nvSpPr>
        <p:spPr>
          <a:xfrm>
            <a:off x="10822430" y="583710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0" name="Shape 27"/>
          <p:cNvSpPr/>
          <p:nvPr/>
        </p:nvSpPr>
        <p:spPr>
          <a:xfrm>
            <a:off x="6699799" y="306321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1" name="Shape 28"/>
          <p:cNvSpPr/>
          <p:nvPr/>
        </p:nvSpPr>
        <p:spPr>
          <a:xfrm>
            <a:off x="2566038" y="572425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2" name="Shape 29"/>
          <p:cNvSpPr/>
          <p:nvPr/>
        </p:nvSpPr>
        <p:spPr>
          <a:xfrm>
            <a:off x="2561123" y="486489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3" name="Shape 30"/>
          <p:cNvSpPr/>
          <p:nvPr/>
        </p:nvSpPr>
        <p:spPr>
          <a:xfrm>
            <a:off x="6818601" y="362653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4" name="Shape 31"/>
          <p:cNvSpPr/>
          <p:nvPr/>
        </p:nvSpPr>
        <p:spPr>
          <a:xfrm>
            <a:off x="9061736" y="247804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5" name="Shape 32"/>
          <p:cNvSpPr/>
          <p:nvPr/>
        </p:nvSpPr>
        <p:spPr>
          <a:xfrm>
            <a:off x="1411223" y="596741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6" name="Shape 33"/>
          <p:cNvSpPr/>
          <p:nvPr/>
        </p:nvSpPr>
        <p:spPr>
          <a:xfrm>
            <a:off x="8039170" y="542063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7" name="Shape 34"/>
          <p:cNvSpPr/>
          <p:nvPr/>
        </p:nvSpPr>
        <p:spPr>
          <a:xfrm>
            <a:off x="7043777" y="594833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8" name="Shape 35"/>
          <p:cNvSpPr/>
          <p:nvPr/>
        </p:nvSpPr>
        <p:spPr>
          <a:xfrm>
            <a:off x="10978514" y="281497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39" name="Shape 36"/>
          <p:cNvSpPr/>
          <p:nvPr/>
        </p:nvSpPr>
        <p:spPr>
          <a:xfrm>
            <a:off x="3149938" y="591362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0" name="Shape 37"/>
          <p:cNvSpPr/>
          <p:nvPr/>
        </p:nvSpPr>
        <p:spPr>
          <a:xfrm>
            <a:off x="10935297" y="600762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1" name="Shape 38"/>
          <p:cNvSpPr/>
          <p:nvPr/>
        </p:nvSpPr>
        <p:spPr>
          <a:xfrm>
            <a:off x="2416725" y="426914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2" name="Shape 39"/>
          <p:cNvSpPr/>
          <p:nvPr/>
        </p:nvSpPr>
        <p:spPr>
          <a:xfrm>
            <a:off x="6574042" y="257364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3" name="Shape 40"/>
          <p:cNvSpPr/>
          <p:nvPr/>
        </p:nvSpPr>
        <p:spPr>
          <a:xfrm>
            <a:off x="2707376" y="392185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4" name="Shape 41"/>
          <p:cNvSpPr/>
          <p:nvPr/>
        </p:nvSpPr>
        <p:spPr>
          <a:xfrm>
            <a:off x="966343" y="400023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5" name="Shape 42"/>
          <p:cNvSpPr/>
          <p:nvPr/>
        </p:nvSpPr>
        <p:spPr>
          <a:xfrm>
            <a:off x="11099913" y="426224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6" name="Shape 43"/>
          <p:cNvSpPr/>
          <p:nvPr/>
        </p:nvSpPr>
        <p:spPr>
          <a:xfrm>
            <a:off x="7600503" y="475477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7" name="Shape 44"/>
          <p:cNvSpPr/>
          <p:nvPr/>
        </p:nvSpPr>
        <p:spPr>
          <a:xfrm>
            <a:off x="10233152" y="327417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8" name="Shape 45"/>
          <p:cNvSpPr/>
          <p:nvPr/>
        </p:nvSpPr>
        <p:spPr>
          <a:xfrm>
            <a:off x="9515983" y="464973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49" name="Shape 46"/>
          <p:cNvSpPr/>
          <p:nvPr/>
        </p:nvSpPr>
        <p:spPr>
          <a:xfrm>
            <a:off x="7585757" y="597451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0" name="Shape 47"/>
          <p:cNvSpPr/>
          <p:nvPr/>
        </p:nvSpPr>
        <p:spPr>
          <a:xfrm>
            <a:off x="1370880" y="335690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1" name="Shape 48"/>
          <p:cNvSpPr/>
          <p:nvPr/>
        </p:nvSpPr>
        <p:spPr>
          <a:xfrm>
            <a:off x="5428037" y="500207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2" name="Shape 49"/>
          <p:cNvSpPr/>
          <p:nvPr/>
        </p:nvSpPr>
        <p:spPr>
          <a:xfrm>
            <a:off x="6268922" y="504918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3" name="Shape 50"/>
          <p:cNvSpPr/>
          <p:nvPr/>
        </p:nvSpPr>
        <p:spPr>
          <a:xfrm>
            <a:off x="10437368" y="551437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4" name="Shape 51"/>
          <p:cNvSpPr/>
          <p:nvPr/>
        </p:nvSpPr>
        <p:spPr>
          <a:xfrm>
            <a:off x="2441858" y="278736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5" name="Shape 52"/>
          <p:cNvSpPr/>
          <p:nvPr/>
        </p:nvSpPr>
        <p:spPr>
          <a:xfrm>
            <a:off x="7255783" y="324473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6" name="Shape 53"/>
          <p:cNvSpPr/>
          <p:nvPr/>
        </p:nvSpPr>
        <p:spPr>
          <a:xfrm>
            <a:off x="8586344" y="341688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7" name="Shape 54"/>
          <p:cNvSpPr/>
          <p:nvPr/>
        </p:nvSpPr>
        <p:spPr>
          <a:xfrm>
            <a:off x="4163230" y="306937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8" name="Shape 55"/>
          <p:cNvSpPr/>
          <p:nvPr/>
        </p:nvSpPr>
        <p:spPr>
          <a:xfrm>
            <a:off x="3334771" y="562491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59" name="Shape 56"/>
          <p:cNvSpPr/>
          <p:nvPr/>
        </p:nvSpPr>
        <p:spPr>
          <a:xfrm>
            <a:off x="10240942" y="592599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0" name="Shape 57"/>
          <p:cNvSpPr/>
          <p:nvPr/>
        </p:nvSpPr>
        <p:spPr>
          <a:xfrm>
            <a:off x="3380586" y="331620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1" name="Shape 58"/>
          <p:cNvSpPr/>
          <p:nvPr/>
        </p:nvSpPr>
        <p:spPr>
          <a:xfrm>
            <a:off x="8929023" y="5860030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2" name="Shape 59"/>
          <p:cNvSpPr/>
          <p:nvPr/>
        </p:nvSpPr>
        <p:spPr>
          <a:xfrm>
            <a:off x="8189596" y="291422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3" name="Shape 60"/>
          <p:cNvSpPr/>
          <p:nvPr/>
        </p:nvSpPr>
        <p:spPr>
          <a:xfrm>
            <a:off x="3699709" y="479381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4" name="Shape 61"/>
          <p:cNvSpPr/>
          <p:nvPr/>
        </p:nvSpPr>
        <p:spPr>
          <a:xfrm>
            <a:off x="6009618" y="521602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5" name="Shape 62"/>
          <p:cNvSpPr/>
          <p:nvPr/>
        </p:nvSpPr>
        <p:spPr>
          <a:xfrm>
            <a:off x="6038089" y="3243111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6" name="Shape 63"/>
          <p:cNvSpPr/>
          <p:nvPr/>
        </p:nvSpPr>
        <p:spPr>
          <a:xfrm>
            <a:off x="8726383" y="497032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7" name="Shape 64"/>
          <p:cNvSpPr/>
          <p:nvPr/>
        </p:nvSpPr>
        <p:spPr>
          <a:xfrm>
            <a:off x="8999692" y="495883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8" name="Shape 65"/>
          <p:cNvSpPr/>
          <p:nvPr/>
        </p:nvSpPr>
        <p:spPr>
          <a:xfrm>
            <a:off x="7392206" y="4380793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69" name="Shape 66"/>
          <p:cNvSpPr/>
          <p:nvPr/>
        </p:nvSpPr>
        <p:spPr>
          <a:xfrm>
            <a:off x="11249041" y="511166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0" name="Shape 67"/>
          <p:cNvSpPr/>
          <p:nvPr/>
        </p:nvSpPr>
        <p:spPr>
          <a:xfrm>
            <a:off x="10687677" y="2556582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1" name="Shape 68"/>
          <p:cNvSpPr/>
          <p:nvPr/>
        </p:nvSpPr>
        <p:spPr>
          <a:xfrm>
            <a:off x="5040378" y="379539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2" name="Shape 69"/>
          <p:cNvSpPr/>
          <p:nvPr/>
        </p:nvSpPr>
        <p:spPr>
          <a:xfrm>
            <a:off x="4056114" y="2685976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3" name="Shape 70"/>
          <p:cNvSpPr/>
          <p:nvPr/>
        </p:nvSpPr>
        <p:spPr>
          <a:xfrm>
            <a:off x="3862006" y="307301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4" name="Shape 71"/>
          <p:cNvSpPr/>
          <p:nvPr/>
        </p:nvSpPr>
        <p:spPr>
          <a:xfrm>
            <a:off x="2588389" y="2752854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5" name="Shape 72"/>
          <p:cNvSpPr/>
          <p:nvPr/>
        </p:nvSpPr>
        <p:spPr>
          <a:xfrm>
            <a:off x="1570738" y="2756989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6" name="Shape 73"/>
          <p:cNvSpPr/>
          <p:nvPr/>
        </p:nvSpPr>
        <p:spPr>
          <a:xfrm>
            <a:off x="2945814" y="3976267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7" name="Shape 74"/>
          <p:cNvSpPr/>
          <p:nvPr/>
        </p:nvSpPr>
        <p:spPr>
          <a:xfrm>
            <a:off x="3642024" y="2519105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8" name="Shape 75"/>
          <p:cNvSpPr/>
          <p:nvPr/>
        </p:nvSpPr>
        <p:spPr>
          <a:xfrm>
            <a:off x="7398698" y="2792838"/>
            <a:ext cx="45720" cy="45720"/>
          </a:xfrm>
          <a:prstGeom prst="ellipse">
            <a:avLst/>
          </a:prstGeom>
          <a:solidFill>
            <a:srgbClr val="A9814F"/>
          </a:solidFill>
          <a:ln/>
        </p:spPr>
      </p:sp>
      <p:sp>
        <p:nvSpPr>
          <p:cNvPr id="79" name="Text 76"/>
          <p:cNvSpPr/>
          <p:nvPr/>
        </p:nvSpPr>
        <p:spPr>
          <a:xfrm rot="-120000">
            <a:off x="777240" y="2465832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EXHIBIT A
</a:t>
            </a:r>
            <a:r>
              <a:rPr lang="en-US" sz="1300" dirty="0">
                <a:solidFill>
                  <a:schemeClr val="tx1"/>
                </a:solidFill>
              </a:rPr>
              <a:t>19:58 — cabling team exit. Dry at 19.58 (Verdier).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 rot="90000">
            <a:off x="2957307" y="2538131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EXHIBIT A
</a:t>
            </a:r>
            <a:r>
              <a:rPr lang="en-US" sz="1300" dirty="0">
                <a:solidFill>
                  <a:schemeClr val="tx1"/>
                </a:solidFill>
              </a:rPr>
              <a:t>23:41 temperature alarm · 23:44 humidity alarm.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 rot="-60000">
            <a:off x="5137374" y="2465832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SAMUEL · 8.15
</a:t>
            </a:r>
            <a:r>
              <a:rPr lang="en-US" sz="1300" dirty="0">
                <a:solidFill>
                  <a:schemeClr val="tx1"/>
                </a:solidFill>
              </a:rPr>
              <a:t>Same section failed last November. Trouble since the summer.</a:t>
            </a:r>
            <a:endParaRPr lang="en-US" sz="1300" dirty="0"/>
          </a:p>
        </p:txBody>
      </p:sp>
      <p:sp>
        <p:nvSpPr>
          <p:cNvPr id="82" name="Text 79"/>
          <p:cNvSpPr/>
          <p:nvPr/>
        </p:nvSpPr>
        <p:spPr>
          <a:xfrm rot="120000">
            <a:off x="7317440" y="2538131"/>
            <a:ext cx="1967377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LAW CARD
</a:t>
            </a:r>
            <a:r>
              <a:rPr lang="en-US" sz="1300" dirty="0">
                <a:solidFill>
                  <a:schemeClr val="tx1"/>
                </a:solidFill>
              </a:rPr>
              <a:t>Routine inspection: property manager. Structural works: landlord.</a:t>
            </a:r>
            <a:endParaRPr lang="en-US" sz="1300" dirty="0"/>
          </a:p>
        </p:txBody>
      </p:sp>
      <p:sp>
        <p:nvSpPr>
          <p:cNvPr id="83" name="Text 80"/>
          <p:cNvSpPr/>
          <p:nvPr/>
        </p:nvSpPr>
        <p:spPr>
          <a:xfrm rot="-90000">
            <a:off x="9497507" y="2465832"/>
            <a:ext cx="1914205" cy="1301374"/>
          </a:xfrm>
          <a:prstGeom prst="rect">
            <a:avLst/>
          </a:prstGeom>
          <a:solidFill>
            <a:srgbClr val="FFF6CC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4546A"/>
                </a:solidFill>
              </a:rPr>
              <a:t>SAMUEL · RE CARD
</a:t>
            </a:r>
            <a:r>
              <a:rPr lang="en-US" sz="1300" dirty="0">
                <a:solidFill>
                  <a:schemeClr val="tx1"/>
                </a:solidFill>
              </a:rPr>
              <a:t>Nobody has been to the basement. Handover: 1 March.</a:t>
            </a:r>
            <a:endParaRPr lang="en-US" sz="1300" dirty="0"/>
          </a:p>
        </p:txBody>
      </p:sp>
      <p:sp>
        <p:nvSpPr>
          <p:cNvPr id="84" name="Text 81"/>
          <p:cNvSpPr/>
          <p:nvPr/>
        </p:nvSpPr>
        <p:spPr>
          <a:xfrm rot="60000">
            <a:off x="777240" y="4345595"/>
            <a:ext cx="2499101" cy="173516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E75B6"/>
                </a:solidFill>
              </a:rPr>
              <a:t>HYPOTHESIS 1
</a:t>
            </a:r>
            <a:r>
              <a:rPr lang="en-US" sz="1700" dirty="0">
                <a:solidFill>
                  <a:schemeClr val="tx1"/>
                </a:solidFill>
              </a:rPr>
              <a:t>The water </a:t>
            </a:r>
            <a:r>
              <a:rPr lang="en-US" sz="1700" b="1" dirty="0">
                <a:solidFill>
                  <a:schemeClr val="tx1"/>
                </a:solidFill>
              </a:rPr>
              <a:t>might</a:t>
            </a:r>
            <a:r>
              <a:rPr lang="en-US" sz="1700" dirty="0">
                <a:solidFill>
                  <a:schemeClr val="tx1"/>
                </a:solidFill>
              </a:rPr>
              <a:t> come from the same section as last November.</a:t>
            </a:r>
            <a:endParaRPr lang="en-US" sz="1700" dirty="0"/>
          </a:p>
        </p:txBody>
      </p:sp>
      <p:sp>
        <p:nvSpPr>
          <p:cNvPr id="85" name="Text 82"/>
          <p:cNvSpPr/>
          <p:nvPr/>
        </p:nvSpPr>
        <p:spPr>
          <a:xfrm rot="-60000">
            <a:off x="3489030" y="4417893"/>
            <a:ext cx="2499101" cy="166286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0752A"/>
                </a:solidFill>
              </a:rPr>
              <a:t>HYPOTHESIS 2
</a:t>
            </a:r>
            <a:r>
              <a:rPr lang="en-US" sz="1700" dirty="0">
                <a:solidFill>
                  <a:schemeClr val="tx1"/>
                </a:solidFill>
              </a:rPr>
              <a:t>The cabling works </a:t>
            </a:r>
            <a:r>
              <a:rPr lang="en-US" sz="1700" b="1" dirty="0">
                <a:solidFill>
                  <a:schemeClr val="tx1"/>
                </a:solidFill>
              </a:rPr>
              <a:t>may</a:t>
            </a:r>
            <a:r>
              <a:rPr lang="en-US" sz="1700" dirty="0">
                <a:solidFill>
                  <a:schemeClr val="tx1"/>
                </a:solidFill>
              </a:rPr>
              <a:t> have disturbed the pipework.</a:t>
            </a:r>
            <a:endParaRPr lang="en-US" sz="1700" dirty="0"/>
          </a:p>
        </p:txBody>
      </p:sp>
      <p:sp>
        <p:nvSpPr>
          <p:cNvPr id="86" name="Text 83"/>
          <p:cNvSpPr/>
          <p:nvPr/>
        </p:nvSpPr>
        <p:spPr>
          <a:xfrm rot="90000">
            <a:off x="6200821" y="4345595"/>
            <a:ext cx="2499101" cy="173516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03A2E"/>
                </a:solidFill>
              </a:rPr>
              <a:t>RULED OUT
</a:t>
            </a:r>
            <a:r>
              <a:rPr lang="en-US" sz="1700" dirty="0">
                <a:solidFill>
                  <a:schemeClr val="tx1"/>
                </a:solidFill>
              </a:rPr>
              <a:t>The leak </a:t>
            </a:r>
            <a:r>
              <a:rPr lang="en-US" sz="1700" b="1" dirty="0">
                <a:solidFill>
                  <a:schemeClr val="tx1"/>
                </a:solidFill>
              </a:rPr>
              <a:t>can’t</a:t>
            </a:r>
            <a:r>
              <a:rPr lang="en-US" sz="1700" dirty="0">
                <a:solidFill>
                  <a:schemeClr val="tx1"/>
                </a:solidFill>
              </a:rPr>
              <a:t> have started while the team was in the room.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 rot="-60000">
            <a:off x="8912611" y="4417893"/>
            <a:ext cx="2499101" cy="166286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1524" tIns="1524" rIns="1524" bIns="1016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3C7A3C"/>
                </a:solidFill>
              </a:rPr>
              <a:t>WE RECOMMEND
</a:t>
            </a:r>
            <a:r>
              <a:rPr lang="en-US" sz="1700" dirty="0">
                <a:solidFill>
                  <a:schemeClr val="tx1"/>
                </a:solidFill>
              </a:rPr>
              <a:t>We </a:t>
            </a:r>
            <a:r>
              <a:rPr lang="en-US" sz="1700" b="1" dirty="0">
                <a:solidFill>
                  <a:schemeClr val="tx1"/>
                </a:solidFill>
              </a:rPr>
              <a:t>should</a:t>
            </a:r>
            <a:r>
              <a:rPr lang="en-US" sz="1700" dirty="0">
                <a:solidFill>
                  <a:schemeClr val="tx1"/>
                </a:solidFill>
              </a:rPr>
              <a:t> inspect the whole run, basement included, before the handover.</a:t>
            </a:r>
            <a:endParaRPr lang="en-US" sz="1700" dirty="0"/>
          </a:p>
        </p:txBody>
      </p:sp>
      <p:sp>
        <p:nvSpPr>
          <p:cNvPr id="88" name="Shape 85"/>
          <p:cNvSpPr/>
          <p:nvPr/>
        </p:nvSpPr>
        <p:spPr>
          <a:xfrm flipH="1">
            <a:off x="3002021" y="3730630"/>
            <a:ext cx="3119041" cy="669828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066198" y="367576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0" name="Shape 87"/>
          <p:cNvSpPr/>
          <p:nvPr/>
        </p:nvSpPr>
        <p:spPr>
          <a:xfrm flipH="1">
            <a:off x="3002021" y="3802929"/>
            <a:ext cx="938974" cy="59753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886131" y="374806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2" name="Shape 89"/>
          <p:cNvSpPr/>
          <p:nvPr/>
        </p:nvSpPr>
        <p:spPr>
          <a:xfrm>
            <a:off x="1760929" y="3730630"/>
            <a:ext cx="3952883" cy="742127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706065" y="367576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4" name="Shape 91"/>
          <p:cNvSpPr/>
          <p:nvPr/>
        </p:nvSpPr>
        <p:spPr>
          <a:xfrm>
            <a:off x="1760929" y="3730630"/>
            <a:ext cx="6664673" cy="669828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706065" y="367576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6" name="Shape 93"/>
          <p:cNvSpPr/>
          <p:nvPr/>
        </p:nvSpPr>
        <p:spPr>
          <a:xfrm>
            <a:off x="3940995" y="3802929"/>
            <a:ext cx="4484606" cy="59753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886131" y="374806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8" name="Shape 95"/>
          <p:cNvSpPr/>
          <p:nvPr/>
        </p:nvSpPr>
        <p:spPr>
          <a:xfrm>
            <a:off x="8301129" y="3802929"/>
            <a:ext cx="2836263" cy="669828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246265" y="374806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0" name="Shape 97"/>
          <p:cNvSpPr/>
          <p:nvPr/>
        </p:nvSpPr>
        <p:spPr>
          <a:xfrm>
            <a:off x="10454610" y="3730630"/>
            <a:ext cx="682782" cy="742127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399746" y="367576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2" name="Shape 99"/>
          <p:cNvSpPr/>
          <p:nvPr/>
        </p:nvSpPr>
        <p:spPr>
          <a:xfrm>
            <a:off x="2378857" y="2429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4558924" y="2501555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6738991" y="2429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5" name="Shape 102"/>
          <p:cNvSpPr/>
          <p:nvPr/>
        </p:nvSpPr>
        <p:spPr>
          <a:xfrm>
            <a:off x="8919058" y="2501555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11045952" y="2429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7" name="Shape 104"/>
          <p:cNvSpPr/>
          <p:nvPr/>
        </p:nvSpPr>
        <p:spPr>
          <a:xfrm>
            <a:off x="2910581" y="4309019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8" name="Shape 105"/>
          <p:cNvSpPr/>
          <p:nvPr/>
        </p:nvSpPr>
        <p:spPr>
          <a:xfrm>
            <a:off x="5622371" y="4381317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09" name="Shape 106"/>
          <p:cNvSpPr/>
          <p:nvPr/>
        </p:nvSpPr>
        <p:spPr>
          <a:xfrm>
            <a:off x="8334162" y="4309019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110" name="Shape 107"/>
          <p:cNvSpPr/>
          <p:nvPr/>
        </p:nvSpPr>
        <p:spPr>
          <a:xfrm>
            <a:off x="11045952" y="4381317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Devil’s advocate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11096"/>
            <a:ext cx="713232" cy="713232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89404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37944"/>
            <a:ext cx="9765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Devil’s advocate: attack the board!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Groups of four · 8 minutes · one devil per group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017520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student per group is the </a:t>
            </a:r>
            <a:r>
              <a:rPr lang="en-US" sz="1700" b="1" dirty="0">
                <a:solidFill>
                  <a:schemeClr val="tx1"/>
                </a:solidFill>
              </a:rPr>
              <a:t>devil’s advocate</a:t>
            </a:r>
            <a:r>
              <a:rPr lang="en-US" sz="1700" dirty="0">
                <a:solidFill>
                  <a:schemeClr val="tx1"/>
                </a:solidFill>
              </a:rPr>
              <a:t>: they attack each card on the board.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" y="3707892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653028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devil says: </a:t>
            </a:r>
            <a:r>
              <a:rPr lang="en-US" sz="1700" i="1" dirty="0">
                <a:solidFill>
                  <a:schemeClr val="tx1"/>
                </a:solidFill>
              </a:rPr>
              <a:t>“That can’t be right, because…”</a:t>
            </a:r>
            <a:r>
              <a:rPr lang="en-US" sz="1700" dirty="0">
                <a:solidFill>
                  <a:schemeClr val="tx1"/>
                </a:solidFill>
              </a:rPr>
              <a:t> or </a:t>
            </a:r>
            <a:r>
              <a:rPr lang="en-US" sz="1700" i="1" dirty="0">
                <a:solidFill>
                  <a:schemeClr val="tx1"/>
                </a:solidFill>
              </a:rPr>
              <a:t>“You must be wrong: …”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4288536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group defends with a </a:t>
            </a:r>
            <a:r>
              <a:rPr lang="en-US" sz="1700" b="1" dirty="0">
                <a:solidFill>
                  <a:schemeClr val="tx1"/>
                </a:solidFill>
              </a:rPr>
              <a:t>fact</a:t>
            </a:r>
            <a:r>
              <a:rPr lang="en-US" sz="1700" dirty="0">
                <a:solidFill>
                  <a:schemeClr val="tx1"/>
                </a:solidFill>
              </a:rPr>
              <a:t> from the file — and </a:t>
            </a:r>
            <a:r>
              <a:rPr lang="en-US" sz="1700" b="1" dirty="0">
                <a:solidFill>
                  <a:schemeClr val="tx1"/>
                </a:solidFill>
              </a:rPr>
              <a:t>changes the modal</a:t>
            </a:r>
            <a:r>
              <a:rPr lang="en-US" sz="1700" dirty="0">
                <a:solidFill>
                  <a:schemeClr val="tx1"/>
                </a:solidFill>
              </a:rPr>
              <a:t> if needed (</a:t>
            </a:r>
            <a:r>
              <a:rPr lang="en-US" sz="1700" i="1" dirty="0">
                <a:solidFill>
                  <a:schemeClr val="tx1"/>
                </a:solidFill>
              </a:rPr>
              <a:t>must → might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48640" y="4978908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924044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new devil for each card.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60920" y="3017520"/>
            <a:ext cx="4279392" cy="2542032"/>
          </a:xfrm>
          <a:prstGeom prst="roundRect">
            <a:avLst>
              <a:gd name="adj" fmla="val 2878"/>
            </a:avLst>
          </a:prstGeom>
          <a:solidFill>
            <a:srgbClr val="6E4A9E">
              <a:alpha val="8000"/>
            </a:srgbClr>
          </a:solidFill>
          <a:ln w="9525">
            <a:solidFill>
              <a:srgbClr val="6E4A9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182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27848" y="31546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SAY IT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562088" y="3611880"/>
            <a:ext cx="38953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That </a:t>
            </a:r>
            <a:r>
              <a:rPr lang="en-US" sz="1400" b="1" dirty="0">
                <a:solidFill>
                  <a:schemeClr val="tx1"/>
                </a:solidFill>
              </a:rPr>
              <a:t>can’t</a:t>
            </a:r>
            <a:r>
              <a:rPr lang="en-US" sz="1400" dirty="0">
                <a:solidFill>
                  <a:schemeClr val="tx1"/>
                </a:solidFill>
              </a:rPr>
              <a:t> be right: the room was dry at 19.58.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</a:t>
            </a:r>
            <a:r>
              <a:rPr lang="en-US" sz="1400" b="1" dirty="0">
                <a:solidFill>
                  <a:schemeClr val="tx1"/>
                </a:solidFill>
              </a:rPr>
              <a:t>might</a:t>
            </a:r>
            <a:r>
              <a:rPr lang="en-US" sz="1400" dirty="0">
                <a:solidFill>
                  <a:schemeClr val="tx1"/>
                </a:solidFill>
              </a:rPr>
              <a:t> be right, but what would </a:t>
            </a:r>
            <a:r>
              <a:rPr lang="en-US" sz="1400" b="1" dirty="0">
                <a:solidFill>
                  <a:schemeClr val="tx1"/>
                </a:solidFill>
              </a:rPr>
              <a:t>prove</a:t>
            </a:r>
            <a:r>
              <a:rPr lang="en-US" sz="1400" dirty="0">
                <a:solidFill>
                  <a:schemeClr val="tx1"/>
                </a:solidFill>
              </a:rPr>
              <a:t> it?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Fair point — so it </a:t>
            </a:r>
            <a:r>
              <a:rPr lang="en-US" sz="1400" b="1" dirty="0">
                <a:solidFill>
                  <a:schemeClr val="tx1"/>
                </a:solidFill>
              </a:rPr>
              <a:t>may</a:t>
            </a:r>
            <a:r>
              <a:rPr lang="en-US" sz="1400" dirty="0">
                <a:solidFill>
                  <a:schemeClr val="tx1"/>
                </a:solidFill>
              </a:rPr>
              <a:t> have been …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</a:t>
            </a:r>
            <a:r>
              <a:rPr lang="en-US" sz="1400" b="1" dirty="0">
                <a:solidFill>
                  <a:schemeClr val="tx1"/>
                </a:solidFill>
              </a:rPr>
              <a:t>should</a:t>
            </a:r>
            <a:r>
              <a:rPr lang="en-US" sz="1400" dirty="0">
                <a:solidFill>
                  <a:schemeClr val="tx1"/>
                </a:solidFill>
              </a:rPr>
              <a:t> keep it, because …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think we can </a:t>
            </a:r>
            <a:r>
              <a:rPr lang="en-US" sz="1400" b="1" dirty="0">
                <a:solidFill>
                  <a:schemeClr val="tx1"/>
                </a:solidFill>
              </a:rPr>
              <a:t>rule it out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87044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742432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 win —</a:t>
            </a:r>
            <a:r>
              <a:rPr lang="en-US" sz="1700" dirty="0">
                <a:solidFill>
                  <a:schemeClr val="tx1"/>
                </a:solidFill>
              </a:rPr>
              <a:t> your board survives the devil — with every modal still justified by a fact.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Mark will photograph your board. What is on it will go,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word for word</a:t>
            </a: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into tonight’s report.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sentence about the leak with </a:t>
            </a:r>
            <a:r>
              <a:rPr lang="en-US" sz="1800" b="1" dirty="0">
                <a:solidFill>
                  <a:schemeClr val="tx1"/>
                </a:solidFill>
              </a:rPr>
              <a:t>might have</a:t>
            </a:r>
            <a:r>
              <a:rPr lang="en-US" sz="1800" dirty="0">
                <a:solidFill>
                  <a:schemeClr val="tx1"/>
                </a:solidFill>
              </a:rPr>
              <a:t>, one with </a:t>
            </a:r>
            <a:r>
              <a:rPr lang="en-US" sz="1800" b="1" dirty="0">
                <a:solidFill>
                  <a:schemeClr val="tx1"/>
                </a:solidFill>
              </a:rPr>
              <a:t>can’t have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certainty scale: </a:t>
            </a:r>
            <a:r>
              <a:rPr lang="en-US" sz="1700" b="1" dirty="0">
                <a:solidFill>
                  <a:schemeClr val="tx1"/>
                </a:solidFill>
              </a:rPr>
              <a:t>can’t · might · may · must</a:t>
            </a:r>
            <a:r>
              <a:rPr lang="en-US" sz="1700" dirty="0">
                <a:solidFill>
                  <a:schemeClr val="tx1"/>
                </a:solidFill>
              </a:rPr>
              <a:t> (+ should).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5204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4747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three rules (no -s, no to, no do) and the two traps.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43484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3891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past: modal + </a:t>
            </a:r>
            <a:r>
              <a:rPr lang="en-US" sz="1700" b="1" dirty="0">
                <a:solidFill>
                  <a:schemeClr val="tx1"/>
                </a:solidFill>
              </a:rPr>
              <a:t>have</a:t>
            </a:r>
            <a:r>
              <a:rPr lang="en-US" sz="1700" dirty="0">
                <a:solidFill>
                  <a:schemeClr val="tx1"/>
                </a:solidFill>
              </a:rPr>
              <a:t> + past participle.</a:t>
            </a:r>
            <a:endParaRPr lang="en-US" sz="17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534924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589520" y="53035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Bring your group’s draft board next session.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14 — Four experts, one whiteboard</dc:title>
  <dc:subject>Case File 01 — The night nobody heard</dc:subject>
  <dc:creator>A. Jouniaux</dc:creator>
  <cp:lastModifiedBy>A. Jouniaux</cp:lastModifiedBy>
  <cp:revision>1</cp:revision>
  <dcterms:created xsi:type="dcterms:W3CDTF">2026-10-17T18:41:38Z</dcterms:created>
  <dcterms:modified xsi:type="dcterms:W3CDTF">2026-10-17T18:41:38Z</dcterms:modified>
</cp:coreProperties>
</file>