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2de9f21d-2b6f-66f4-4676-98183f9a5286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Clôture" id="{a63d3f3b-bfbc-e691-bb0e-bdc065dd219d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Scène 7 : le tableau des hypothèses (team call en 3 rounds). Grammaire : modaux de certitude (must / may / might / can’t) et should.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Bulles : « We cannot rule out human error. » / « It might be the same section as last November. » / « Then we should inspect the whole run. » Les trois hypothèses = deux retenues + une écartée.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livret : « Mark’s board only accepts sentences that state their own degree of certainty. In English, that degree is set by a single word, placed before the verb. »Le livret : « Mark’s board only accepts sentences that state their own degree of certainty. In English, that degree is set by a single word, placed before the verb.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Chaque élève ne lit que la carte de sa firme (information asymétrique) : c’est ce qui rend le team call nécessaire.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Grille vierge à projeter pendant le round 3 (ou à remplir en direct avec un groupe).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exemple parmi d’autres : à projeter après les productions des groupes. Vérifier qu’aucune phrase ne nomme une personne.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TLAS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English UE 3 · Case File 01 — The night nobody heard · Séance 14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TLAS_DARK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English UE 3 · Case File 01 — The night nobody heard · Séance 14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2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TLAS_COVER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English UE 3 · A. Jouniaux · Project Atlas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874520"/>
            <a:ext cx="576072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94760"/>
            <a:ext cx="576072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369820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chemeClr val="bg1"/>
                </a:solidFill>
              </a:rPr>
              <a:t>SÉANCE 14 / 19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bg2"/>
                </a:solidFill>
              </a:rPr>
              <a:t>SCENE 7</a:t>
            </a:r>
            <a:endParaRPr lang="en-US" sz="1300" dirty="0"/>
          </a:p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13.00</a:t>
            </a:r>
            <a:endParaRPr lang="en-US" sz="13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48640" y="1874520"/>
            <a:ext cx="5760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Four experts, one whiteboard</a:t>
            </a:r>
            <a:endParaRPr lang="en-US" sz="4000" dirty="0"/>
          </a:p>
        </p:txBody>
      </p:sp>
      <p:sp>
        <p:nvSpPr>
          <p:cNvPr id="5" name="Text 1"/>
          <p:cNvSpPr/>
          <p:nvPr>
            <p:ph idx="102" type="body" hasCustomPrompt="1"/>
          </p:nvPr>
        </p:nvSpPr>
        <p:spPr>
          <a:xfrm>
            <a:off x="548640" y="3794760"/>
            <a:ext cx="5760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bg2"/>
                </a:solidFill>
              </a:rPr>
              <a:t>Nobody knows. Yet something must be written.</a:t>
            </a:r>
            <a:endParaRPr lang="en-US" sz="1800" dirty="0"/>
          </a:p>
          <a:p>
            <a:pPr algn="l" indent="0" marL="0">
              <a:buNone/>
            </a:pPr>
            <a:r>
              <a:rPr lang="en-US" sz="1800" b="1" dirty="0">
                <a:solidFill>
                  <a:schemeClr val="bg2"/>
                </a:solidFill>
              </a:rPr>
              <a:t>Case File 01 — The night nobody heard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Livret p. 32–34</a:t>
            </a:r>
            <a:endParaRPr lang="en-US" sz="1800" dirty="0"/>
          </a:p>
        </p:txBody>
      </p:sp>
      <p:pic>
        <p:nvPicPr>
          <p:cNvPr id="6" name="illustration" descr="Scene illustration from the case fi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720941"/>
            <a:ext cx="5120640" cy="3416118"/>
          </a:xfrm>
          <a:prstGeom prst="rect">
            <a:avLst/>
          </a:prstGeom>
          <a:effectLst>
            <a:outerShdw sx="100000" sy="100000" kx="0" ky="0" algn="bl" rotWithShape="0" blurRad="101600" dist="25400" dir="3600000">
              <a:srgbClr val="000000">
                <a:alpha val="18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Today's mission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80160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BRIEFING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32–34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525780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1709928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1847088"/>
            <a:ext cx="292608" cy="29260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481328" y="1655064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BY THE END OF THE SESSION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1481328" y="1947672"/>
            <a:ext cx="4160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 </a:t>
            </a:r>
            <a:r>
              <a:rPr lang="en-US" sz="1800" b="1" dirty="0">
                <a:solidFill>
                  <a:schemeClr val="tx1"/>
                </a:solidFill>
              </a:rPr>
              <a:t>hypothesis board</a:t>
            </a:r>
            <a:r>
              <a:rPr lang="en-US" sz="1800" dirty="0">
                <a:solidFill>
                  <a:schemeClr val="tx1"/>
                </a:solidFill>
              </a:rPr>
              <a:t>: two hypotheses, one ruled out, one recommendation (draft).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136392"/>
            <a:ext cx="525780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49808" y="3337560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3474720"/>
            <a:ext cx="292608" cy="29260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481328" y="3282696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LANGUAGE FOCUS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1481328" y="3575304"/>
            <a:ext cx="4160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Modals of certainty: </a:t>
            </a:r>
            <a:r>
              <a:rPr lang="en-US" sz="1800" b="1" dirty="0">
                <a:solidFill>
                  <a:schemeClr val="tx1"/>
                </a:solidFill>
              </a:rPr>
              <a:t>must, may, might, can’t</a:t>
            </a:r>
            <a:r>
              <a:rPr lang="en-US" sz="1800" dirty="0">
                <a:solidFill>
                  <a:schemeClr val="tx1"/>
                </a:solidFill>
              </a:rPr>
              <a:t> · </a:t>
            </a:r>
            <a:r>
              <a:rPr lang="en-US" sz="1800" b="1" dirty="0">
                <a:solidFill>
                  <a:schemeClr val="tx1"/>
                </a:solidFill>
              </a:rPr>
              <a:t>should</a:t>
            </a:r>
            <a:r>
              <a:rPr lang="en-US" sz="1800" dirty="0">
                <a:solidFill>
                  <a:schemeClr val="tx1"/>
                </a:solidFill>
              </a:rPr>
              <a:t> for advice · questions that test a hypothesis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548640" y="4764024"/>
            <a:ext cx="525780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49808" y="4965192"/>
            <a:ext cx="566928" cy="566928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5102352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481328" y="4910328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3"/>
                </a:solidFill>
              </a:rPr>
              <a:t>SKILLS</a:t>
            </a:r>
            <a:endParaRPr lang="en-US" sz="1200" dirty="0"/>
          </a:p>
        </p:txBody>
      </p:sp>
      <p:sp>
        <p:nvSpPr>
          <p:cNvPr id="19" name="Text 14"/>
          <p:cNvSpPr txBox="1"/>
          <p:nvPr/>
        </p:nvSpPr>
        <p:spPr>
          <a:xfrm>
            <a:off x="1481328" y="5202936"/>
            <a:ext cx="4160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Presenting a hypothesis in 90 seconds · questioning without interrupting · reaching a group decision</a:t>
            </a:r>
            <a:endParaRPr lang="en-US" sz="1800" dirty="0"/>
          </a:p>
        </p:txBody>
      </p:sp>
      <p:sp>
        <p:nvSpPr>
          <p:cNvPr id="20" name="Text 15"/>
          <p:cNvSpPr txBox="1"/>
          <p:nvPr/>
        </p:nvSpPr>
        <p:spPr>
          <a:xfrm>
            <a:off x="6263640" y="1463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5"/>
                </a:solidFill>
              </a:rPr>
              <a:t>ROADMAP</a:t>
            </a:r>
            <a:endParaRPr lang="en-US" sz="1300" dirty="0"/>
          </a:p>
        </p:txBody>
      </p:sp>
      <p:sp>
        <p:nvSpPr>
          <p:cNvPr id="21" name="Text 16"/>
          <p:cNvSpPr txBox="1"/>
          <p:nvPr/>
        </p:nvSpPr>
        <p:spPr>
          <a:xfrm>
            <a:off x="8897112" y="1463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≈ 90 min (indicatif)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6263640" y="1959674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6263640" y="195967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24" name="Text 19"/>
          <p:cNvSpPr txBox="1"/>
          <p:nvPr/>
        </p:nvSpPr>
        <p:spPr>
          <a:xfrm>
            <a:off x="6784848" y="1874520"/>
            <a:ext cx="4114800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Warm-up: for / since</a:t>
            </a:r>
            <a:endParaRPr lang="en-US" sz="1600" dirty="0"/>
          </a:p>
        </p:txBody>
      </p:sp>
      <p:sp>
        <p:nvSpPr>
          <p:cNvPr id="25" name="Text 20"/>
          <p:cNvSpPr txBox="1"/>
          <p:nvPr/>
        </p:nvSpPr>
        <p:spPr>
          <a:xfrm>
            <a:off x="10972800" y="1874520"/>
            <a:ext cx="667512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10'</a:t>
            </a:r>
            <a:endParaRPr lang="en-US" sz="1500" dirty="0"/>
          </a:p>
        </p:txBody>
      </p:sp>
      <p:sp>
        <p:nvSpPr>
          <p:cNvPr id="26" name="Shape 21"/>
          <p:cNvSpPr/>
          <p:nvPr/>
        </p:nvSpPr>
        <p:spPr>
          <a:xfrm>
            <a:off x="6263640" y="2514029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6263640" y="251402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8" name="Text 23"/>
          <p:cNvSpPr txBox="1"/>
          <p:nvPr/>
        </p:nvSpPr>
        <p:spPr>
          <a:xfrm>
            <a:off x="6784848" y="2428875"/>
            <a:ext cx="4114800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Scene 7 (p. 32)</a:t>
            </a:r>
            <a:endParaRPr lang="en-US" sz="1600" dirty="0"/>
          </a:p>
        </p:txBody>
      </p:sp>
      <p:sp>
        <p:nvSpPr>
          <p:cNvPr id="29" name="Text 24"/>
          <p:cNvSpPr txBox="1"/>
          <p:nvPr/>
        </p:nvSpPr>
        <p:spPr>
          <a:xfrm>
            <a:off x="10972800" y="2428875"/>
            <a:ext cx="667512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5'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6263640" y="3068384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6263640" y="30683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32" name="Text 27"/>
          <p:cNvSpPr txBox="1"/>
          <p:nvPr/>
        </p:nvSpPr>
        <p:spPr>
          <a:xfrm>
            <a:off x="6784848" y="2983230"/>
            <a:ext cx="4114800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Field note: how sure are you? (p. 34)</a:t>
            </a:r>
            <a:endParaRPr lang="en-US" sz="1600" dirty="0"/>
          </a:p>
        </p:txBody>
      </p:sp>
      <p:sp>
        <p:nvSpPr>
          <p:cNvPr id="33" name="Text 28"/>
          <p:cNvSpPr txBox="1"/>
          <p:nvPr/>
        </p:nvSpPr>
        <p:spPr>
          <a:xfrm>
            <a:off x="10972800" y="2983230"/>
            <a:ext cx="667512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15'</a:t>
            </a:r>
            <a:endParaRPr lang="en-US" sz="1500" dirty="0"/>
          </a:p>
        </p:txBody>
      </p:sp>
      <p:sp>
        <p:nvSpPr>
          <p:cNvPr id="34" name="Shape 29"/>
          <p:cNvSpPr/>
          <p:nvPr/>
        </p:nvSpPr>
        <p:spPr>
          <a:xfrm>
            <a:off x="6263640" y="3622738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6263640" y="362273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6" name="Text 31"/>
          <p:cNvSpPr txBox="1"/>
          <p:nvPr/>
        </p:nvSpPr>
        <p:spPr>
          <a:xfrm>
            <a:off x="6784848" y="3537585"/>
            <a:ext cx="4114800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Three rules, two traps</a:t>
            </a:r>
            <a:endParaRPr lang="en-US" sz="1600" dirty="0"/>
          </a:p>
        </p:txBody>
      </p:sp>
      <p:sp>
        <p:nvSpPr>
          <p:cNvPr id="37" name="Text 32"/>
          <p:cNvSpPr txBox="1"/>
          <p:nvPr/>
        </p:nvSpPr>
        <p:spPr>
          <a:xfrm>
            <a:off x="10972800" y="3537585"/>
            <a:ext cx="667512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10'</a:t>
            </a:r>
            <a:endParaRPr lang="en-US" sz="1500" dirty="0"/>
          </a:p>
        </p:txBody>
      </p:sp>
      <p:sp>
        <p:nvSpPr>
          <p:cNvPr id="38" name="Shape 33"/>
          <p:cNvSpPr/>
          <p:nvPr/>
        </p:nvSpPr>
        <p:spPr>
          <a:xfrm>
            <a:off x="6263640" y="4177093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9" name="Text 34"/>
          <p:cNvSpPr txBox="1"/>
          <p:nvPr/>
        </p:nvSpPr>
        <p:spPr>
          <a:xfrm>
            <a:off x="6263640" y="417709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0" name="Text 35"/>
          <p:cNvSpPr txBox="1"/>
          <p:nvPr/>
        </p:nvSpPr>
        <p:spPr>
          <a:xfrm>
            <a:off x="6784848" y="4091940"/>
            <a:ext cx="4114800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Your cards (p. 33)</a:t>
            </a:r>
            <a:endParaRPr lang="en-US" sz="1600" dirty="0"/>
          </a:p>
        </p:txBody>
      </p:sp>
      <p:sp>
        <p:nvSpPr>
          <p:cNvPr id="41" name="Text 36"/>
          <p:cNvSpPr txBox="1"/>
          <p:nvPr/>
        </p:nvSpPr>
        <p:spPr>
          <a:xfrm>
            <a:off x="10972800" y="4091940"/>
            <a:ext cx="667512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5'</a:t>
            </a:r>
            <a:endParaRPr lang="en-US" sz="1500" dirty="0"/>
          </a:p>
        </p:txBody>
      </p:sp>
      <p:sp>
        <p:nvSpPr>
          <p:cNvPr id="42" name="Shape 37"/>
          <p:cNvSpPr/>
          <p:nvPr/>
        </p:nvSpPr>
        <p:spPr>
          <a:xfrm>
            <a:off x="6263640" y="4731449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43" name="Text 38"/>
          <p:cNvSpPr txBox="1"/>
          <p:nvPr/>
        </p:nvSpPr>
        <p:spPr>
          <a:xfrm>
            <a:off x="6263640" y="473144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4" name="Text 39"/>
          <p:cNvSpPr txBox="1"/>
          <p:nvPr/>
        </p:nvSpPr>
        <p:spPr>
          <a:xfrm>
            <a:off x="6784848" y="4646295"/>
            <a:ext cx="4114800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Team call: rounds 1–2</a:t>
            </a:r>
            <a:endParaRPr lang="en-US" sz="1600" dirty="0"/>
          </a:p>
        </p:txBody>
      </p:sp>
      <p:sp>
        <p:nvSpPr>
          <p:cNvPr id="45" name="Text 40"/>
          <p:cNvSpPr txBox="1"/>
          <p:nvPr/>
        </p:nvSpPr>
        <p:spPr>
          <a:xfrm>
            <a:off x="10972800" y="4646295"/>
            <a:ext cx="667512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25'</a:t>
            </a:r>
            <a:endParaRPr lang="en-US" sz="1500" dirty="0"/>
          </a:p>
        </p:txBody>
      </p:sp>
      <p:sp>
        <p:nvSpPr>
          <p:cNvPr id="46" name="Shape 41"/>
          <p:cNvSpPr/>
          <p:nvPr/>
        </p:nvSpPr>
        <p:spPr>
          <a:xfrm>
            <a:off x="6263640" y="5285804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47" name="Text 42"/>
          <p:cNvSpPr txBox="1"/>
          <p:nvPr/>
        </p:nvSpPr>
        <p:spPr>
          <a:xfrm>
            <a:off x="6263640" y="52858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48" name="Text 43"/>
          <p:cNvSpPr txBox="1"/>
          <p:nvPr/>
        </p:nvSpPr>
        <p:spPr>
          <a:xfrm>
            <a:off x="6784848" y="5200650"/>
            <a:ext cx="4114800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Round 3: the board</a:t>
            </a:r>
            <a:endParaRPr lang="en-US" sz="1600" dirty="0"/>
          </a:p>
        </p:txBody>
      </p:sp>
      <p:sp>
        <p:nvSpPr>
          <p:cNvPr id="49" name="Text 44"/>
          <p:cNvSpPr txBox="1"/>
          <p:nvPr/>
        </p:nvSpPr>
        <p:spPr>
          <a:xfrm>
            <a:off x="10972800" y="5200650"/>
            <a:ext cx="667512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10'</a:t>
            </a:r>
            <a:endParaRPr lang="en-US" sz="1500" dirty="0"/>
          </a:p>
        </p:txBody>
      </p:sp>
      <p:sp>
        <p:nvSpPr>
          <p:cNvPr id="50" name="Shape 45"/>
          <p:cNvSpPr/>
          <p:nvPr/>
        </p:nvSpPr>
        <p:spPr>
          <a:xfrm>
            <a:off x="6263640" y="5840158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51" name="Text 46"/>
          <p:cNvSpPr txBox="1"/>
          <p:nvPr/>
        </p:nvSpPr>
        <p:spPr>
          <a:xfrm>
            <a:off x="6263640" y="584015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52" name="Text 47"/>
          <p:cNvSpPr txBox="1"/>
          <p:nvPr/>
        </p:nvSpPr>
        <p:spPr>
          <a:xfrm>
            <a:off x="6784848" y="5755005"/>
            <a:ext cx="4114800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Wrap-up</a:t>
            </a:r>
            <a:endParaRPr lang="en-US" sz="1600" dirty="0"/>
          </a:p>
        </p:txBody>
      </p:sp>
      <p:sp>
        <p:nvSpPr>
          <p:cNvPr id="53" name="Text 48"/>
          <p:cNvSpPr txBox="1"/>
          <p:nvPr/>
        </p:nvSpPr>
        <p:spPr>
          <a:xfrm>
            <a:off x="10972800" y="5755005"/>
            <a:ext cx="667512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10'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Warm-up: since when?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65860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WARM-UP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Séance 13</a:t>
            </a:r>
            <a:endParaRPr lang="en-US" sz="1200" dirty="0"/>
          </a:p>
        </p:txBody>
      </p:sp>
      <p:sp>
        <p:nvSpPr>
          <p:cNvPr id="5" name="exercise"/>
          <p:cNvSpPr txBox="1"/>
          <p:nvPr/>
        </p:nvSpPr>
        <p:spPr>
          <a:xfrm>
            <a:off x="548640" y="1481328"/>
            <a:ext cx="11091672" cy="4809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1.  </a:t>
            </a:r>
            <a:r>
              <a:rPr lang="en-US" sz="2400" dirty="0">
                <a:solidFill>
                  <a:schemeClr val="tx1"/>
                </a:solidFill>
              </a:rPr>
              <a:t>The joint has been faulty </a:t>
            </a:r>
            <a:r>
              <a:rPr lang="en-US" sz="2400" dirty="0">
                <a:solidFill>
                  <a:schemeClr val="accent5"/>
                </a:solidFill>
              </a:rPr>
              <a:t>……………</a:t>
            </a:r>
            <a:r>
              <a:rPr lang="en-US" sz="2400" dirty="0">
                <a:solidFill>
                  <a:schemeClr val="tx1"/>
                </a:solidFill>
              </a:rPr>
              <a:t> June.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2.  </a:t>
            </a:r>
            <a:r>
              <a:rPr lang="en-US" sz="2400" dirty="0">
                <a:solidFill>
                  <a:schemeClr val="tx1"/>
                </a:solidFill>
              </a:rPr>
              <a:t>We have worked here </a:t>
            </a:r>
            <a:r>
              <a:rPr lang="en-US" sz="2400" dirty="0">
                <a:solidFill>
                  <a:schemeClr val="accent5"/>
                </a:solidFill>
              </a:rPr>
              <a:t>……………</a:t>
            </a:r>
            <a:r>
              <a:rPr lang="en-US" sz="2400" dirty="0">
                <a:solidFill>
                  <a:schemeClr val="tx1"/>
                </a:solidFill>
              </a:rPr>
              <a:t> eight months.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3.  </a:t>
            </a:r>
            <a:r>
              <a:rPr lang="en-US" sz="2400" dirty="0">
                <a:solidFill>
                  <a:schemeClr val="tx1"/>
                </a:solidFill>
              </a:rPr>
              <a:t>(how long / the floor / be / closed) → </a:t>
            </a:r>
            <a:r>
              <a:rPr lang="en-US" sz="2400" dirty="0">
                <a:solidFill>
                  <a:schemeClr val="accent5"/>
                </a:solidFill>
              </a:rPr>
              <a:t>……………………………………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4.  </a:t>
            </a:r>
            <a:r>
              <a:rPr lang="en-US" sz="2400" dirty="0">
                <a:solidFill>
                  <a:schemeClr val="tx1"/>
                </a:solidFill>
              </a:rPr>
              <a:t>Honest answer with </a:t>
            </a:r>
            <a:r>
              <a:rPr lang="en-US" sz="2400" i="1" dirty="0">
                <a:solidFill>
                  <a:schemeClr val="tx1"/>
                </a:solidFill>
              </a:rPr>
              <a:t>so far</a:t>
            </a:r>
            <a:r>
              <a:rPr lang="en-US" sz="2400" dirty="0">
                <a:solidFill>
                  <a:schemeClr val="tx1"/>
                </a:solidFill>
              </a:rPr>
              <a:t> → </a:t>
            </a:r>
            <a:r>
              <a:rPr lang="en-US" sz="2400" dirty="0">
                <a:solidFill>
                  <a:schemeClr val="accent5"/>
                </a:solidFill>
              </a:rPr>
              <a:t>……………………………………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Warm-up: since when?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65860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WARM-UP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24228" y="237744"/>
            <a:ext cx="1874520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✓ CORRECTION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Séance 13</a:t>
            </a:r>
            <a:endParaRPr lang="en-US" sz="1200" dirty="0"/>
          </a:p>
        </p:txBody>
      </p:sp>
      <p:sp>
        <p:nvSpPr>
          <p:cNvPr id="6" name="exercise"/>
          <p:cNvSpPr txBox="1"/>
          <p:nvPr/>
        </p:nvSpPr>
        <p:spPr>
          <a:xfrm>
            <a:off x="548640" y="1481328"/>
            <a:ext cx="11091672" cy="4809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1.  </a:t>
            </a:r>
            <a:r>
              <a:rPr lang="en-US" sz="2400" dirty="0">
                <a:solidFill>
                  <a:schemeClr val="tx1"/>
                </a:solidFill>
              </a:rPr>
              <a:t>The joint has been faulty </a:t>
            </a:r>
            <a:r>
              <a:rPr lang="en-US" sz="2400" b="1" dirty="0">
                <a:solidFill>
                  <a:schemeClr val="accent3"/>
                </a:solidFill>
              </a:rPr>
              <a:t>since</a:t>
            </a:r>
            <a:r>
              <a:rPr lang="en-US" sz="2400" dirty="0">
                <a:solidFill>
                  <a:schemeClr val="tx1"/>
                </a:solidFill>
              </a:rPr>
              <a:t> June.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2.  </a:t>
            </a:r>
            <a:r>
              <a:rPr lang="en-US" sz="2400" dirty="0">
                <a:solidFill>
                  <a:schemeClr val="tx1"/>
                </a:solidFill>
              </a:rPr>
              <a:t>We have worked here </a:t>
            </a:r>
            <a:r>
              <a:rPr lang="en-US" sz="2400" b="1" dirty="0">
                <a:solidFill>
                  <a:schemeClr val="accent3"/>
                </a:solidFill>
              </a:rPr>
              <a:t>for</a:t>
            </a:r>
            <a:r>
              <a:rPr lang="en-US" sz="2400" dirty="0">
                <a:solidFill>
                  <a:schemeClr val="tx1"/>
                </a:solidFill>
              </a:rPr>
              <a:t> eight months.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3.  </a:t>
            </a:r>
            <a:r>
              <a:rPr lang="en-US" sz="2400" dirty="0">
                <a:solidFill>
                  <a:schemeClr val="tx1"/>
                </a:solidFill>
              </a:rPr>
              <a:t>(how long / the floor / be / closed) → </a:t>
            </a:r>
            <a:r>
              <a:rPr lang="en-US" sz="2400" b="1" dirty="0">
                <a:solidFill>
                  <a:schemeClr val="accent3"/>
                </a:solidFill>
              </a:rPr>
              <a:t>How long has the floor been closed?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4.  </a:t>
            </a:r>
            <a:r>
              <a:rPr lang="en-US" sz="2400" dirty="0">
                <a:solidFill>
                  <a:schemeClr val="tx1"/>
                </a:solidFill>
              </a:rPr>
              <a:t>Honest answer with </a:t>
            </a:r>
            <a:r>
              <a:rPr lang="en-US" sz="2400" i="1" dirty="0">
                <a:solidFill>
                  <a:schemeClr val="tx1"/>
                </a:solidFill>
              </a:rPr>
              <a:t>so far</a:t>
            </a:r>
            <a:r>
              <a:rPr lang="en-US" sz="2400" dirty="0">
                <a:solidFill>
                  <a:schemeClr val="tx1"/>
                </a:solidFill>
              </a:rPr>
              <a:t> → </a:t>
            </a:r>
            <a:r>
              <a:rPr lang="en-US" sz="2400" b="1" dirty="0">
                <a:solidFill>
                  <a:schemeClr val="accent3"/>
                </a:solidFill>
              </a:rPr>
              <a:t>So far, we have not found the cause.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Four experts, one whiteboard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937260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SCENE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32</a:t>
            </a:r>
            <a:endParaRPr lang="en-US" sz="1200" dirty="0"/>
          </a:p>
        </p:txBody>
      </p:sp>
      <p:pic>
        <p:nvPicPr>
          <p:cNvPr id="6" name="illustration" descr="Four experts argue in front of a whiteboard with the word WH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08760"/>
            <a:ext cx="6035040" cy="4026139"/>
          </a:xfrm>
          <a:prstGeom prst="rect">
            <a:avLst/>
          </a:prstGeom>
          <a:effectLst>
            <a:outerShdw sx="100000" sy="100000" kx="0" ky="0" algn="bl" rotWithShape="0" blurRad="101600" dist="25400" dir="3600000">
              <a:srgbClr val="000000">
                <a:alpha val="18000"/>
              </a:srgbClr>
            </a:outerShdw>
          </a:effectLst>
        </p:spPr>
      </p:pic>
      <p:sp>
        <p:nvSpPr>
          <p:cNvPr id="7" name="Shape 3"/>
          <p:cNvSpPr/>
          <p:nvPr/>
        </p:nvSpPr>
        <p:spPr>
          <a:xfrm>
            <a:off x="6995160" y="1508760"/>
            <a:ext cx="1600200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6995160" y="1554480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chemeClr val="bg2"/>
                </a:solidFill>
              </a:rPr>
              <a:t>SCENE 7</a:t>
            </a:r>
            <a:endParaRPr lang="en-US" sz="1100" dirty="0"/>
          </a:p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13.00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6995160" y="2560320"/>
            <a:ext cx="4645152" cy="2380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After lunch, Mark rubs out the timeline and writes a single word at the top of the board: </a:t>
            </a:r>
            <a:r>
              <a:rPr lang="en-US" sz="1700" b="1" dirty="0">
                <a:solidFill>
                  <a:schemeClr val="tx1"/>
                </a:solidFill>
              </a:rPr>
              <a:t>WHY</a:t>
            </a:r>
            <a:r>
              <a:rPr lang="en-US" sz="1700" dirty="0">
                <a:solidFill>
                  <a:schemeClr val="tx1"/>
                </a:solidFill>
              </a:rPr>
              <a:t>.</a:t>
            </a:r>
            <a:endParaRPr lang="en-US" sz="17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Then he says the sentence that makes everyone uncomfortable: </a:t>
            </a:r>
            <a:r>
              <a:rPr lang="en-US" sz="1700" i="1" dirty="0">
                <a:solidFill>
                  <a:schemeClr val="tx1"/>
                </a:solidFill>
              </a:rPr>
              <a:t>“Nobody leaves this room until we have three hypotheses and one recommendation. Not four hypotheses. Not zero.”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6995160" y="5123688"/>
            <a:ext cx="4645152" cy="1167384"/>
          </a:xfrm>
          <a:prstGeom prst="roundRect">
            <a:avLst>
              <a:gd name="adj" fmla="val 6266"/>
            </a:avLst>
          </a:prstGeom>
          <a:solidFill>
            <a:schemeClr val="accent1">
              <a:alpha val="12000"/>
            </a:schemeClr>
          </a:solidFill>
          <a:ln w="12700">
            <a:solidFill>
              <a:srgbClr val="C0752A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178040" y="5215128"/>
            <a:ext cx="4279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ASK THE CLASS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7178040" y="5507736"/>
            <a:ext cx="4279392" cy="710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Why </a:t>
            </a:r>
            <a:r>
              <a:rPr lang="en-US" sz="1700" b="1" dirty="0">
                <a:solidFill>
                  <a:schemeClr val="tx1"/>
                </a:solidFill>
              </a:rPr>
              <a:t>exactly</a:t>
            </a:r>
            <a:r>
              <a:rPr lang="en-US" sz="1700" dirty="0">
                <a:solidFill>
                  <a:schemeClr val="tx1"/>
                </a:solidFill>
              </a:rPr>
              <a:t> three hypotheses — not four, not zero?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How to be certain that you are not certain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08760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FIELD NOTE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34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822960" y="2487168"/>
            <a:ext cx="2103120" cy="292608"/>
          </a:xfrm>
          <a:prstGeom prst="rect">
            <a:avLst/>
          </a:prstGeom>
          <a:solidFill>
            <a:schemeClr val="accent6">
              <a:alpha val="65000"/>
            </a:scheme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926080" y="2487168"/>
            <a:ext cx="2103120" cy="292608"/>
          </a:xfrm>
          <a:prstGeom prst="rect">
            <a:avLst/>
          </a:prstGeom>
          <a:solidFill>
            <a:schemeClr val="accent1">
              <a:alpha val="65000"/>
            </a:scheme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029200" y="2487168"/>
            <a:ext cx="2103120" cy="292608"/>
          </a:xfrm>
          <a:prstGeom prst="rect">
            <a:avLst/>
          </a:prstGeom>
          <a:solidFill>
            <a:schemeClr val="accent2">
              <a:alpha val="65000"/>
            </a:scheme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132320" y="2487168"/>
            <a:ext cx="2103120" cy="292608"/>
          </a:xfrm>
          <a:prstGeom prst="rect">
            <a:avLst/>
          </a:prstGeom>
          <a:solidFill>
            <a:schemeClr val="accent4">
              <a:alpha val="65000"/>
            </a:scheme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235440" y="2487168"/>
            <a:ext cx="2103120" cy="292608"/>
          </a:xfrm>
          <a:prstGeom prst="rect">
            <a:avLst/>
          </a:prstGeom>
          <a:solidFill>
            <a:schemeClr val="accent3">
              <a:alpha val="65000"/>
            </a:scheme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2960" y="28346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0 %  impossible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595360" y="28346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certain  100 %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1417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chemeClr val="accent5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How sure are you?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 rot="10800000">
            <a:off x="1220724" y="2212848"/>
            <a:ext cx="256032" cy="219456"/>
          </a:xfrm>
          <a:prstGeom prst="triangle">
            <a:avLst/>
          </a:prstGeom>
          <a:solidFill>
            <a:schemeClr val="tx2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17220" y="180136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can’t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3200400"/>
            <a:ext cx="2072030" cy="3063240"/>
          </a:xfrm>
          <a:prstGeom prst="roundRect">
            <a:avLst>
              <a:gd name="adj" fmla="val 3530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310128"/>
            <a:ext cx="179771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can’t</a:t>
            </a:r>
            <a:endParaRPr lang="en-US" sz="22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≈ 5 %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685800" y="4114800"/>
            <a:ext cx="179771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It </a:t>
            </a:r>
            <a:r>
              <a:rPr lang="en-US" sz="1800" b="1" dirty="0">
                <a:solidFill>
                  <a:schemeClr val="tx1"/>
                </a:solidFill>
              </a:rPr>
              <a:t>can’t be</a:t>
            </a:r>
            <a:r>
              <a:rPr lang="en-US" sz="1800" dirty="0">
                <a:solidFill>
                  <a:schemeClr val="tx1"/>
                </a:solidFill>
              </a:rPr>
              <a:t> the cabling team — they left at 19:58.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c’est impossible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 rot="10800000">
            <a:off x="4901184" y="2212848"/>
            <a:ext cx="256032" cy="219456"/>
          </a:xfrm>
          <a:prstGeom prst="triangle">
            <a:avLst/>
          </a:prstGeom>
          <a:solidFill>
            <a:schemeClr val="tx2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297680" y="180136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might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2803550" y="3200400"/>
            <a:ext cx="2072030" cy="3063240"/>
          </a:xfrm>
          <a:prstGeom prst="roundRect">
            <a:avLst>
              <a:gd name="adj" fmla="val 3530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940710" y="3310128"/>
            <a:ext cx="179771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might</a:t>
            </a:r>
            <a:endParaRPr lang="en-US" sz="22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≈ 40 %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2940710" y="4114800"/>
            <a:ext cx="179771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It </a:t>
            </a:r>
            <a:r>
              <a:rPr lang="en-US" sz="1800" b="1" dirty="0">
                <a:solidFill>
                  <a:schemeClr val="tx1"/>
                </a:solidFill>
              </a:rPr>
              <a:t>might be</a:t>
            </a:r>
            <a:r>
              <a:rPr lang="en-US" sz="1800" dirty="0">
                <a:solidFill>
                  <a:schemeClr val="tx1"/>
                </a:solidFill>
              </a:rPr>
              <a:t> the same section as last November.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il se pourrait que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 rot="10800000">
            <a:off x="6163056" y="2212848"/>
            <a:ext cx="256032" cy="219456"/>
          </a:xfrm>
          <a:prstGeom prst="triangle">
            <a:avLst/>
          </a:prstGeom>
          <a:solidFill>
            <a:schemeClr val="tx2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559552" y="180136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may</a:t>
            </a:r>
            <a:endParaRPr lang="en-US" sz="1800" dirty="0"/>
          </a:p>
        </p:txBody>
      </p:sp>
      <p:sp>
        <p:nvSpPr>
          <p:cNvPr id="26" name="Shape 23"/>
          <p:cNvSpPr/>
          <p:nvPr/>
        </p:nvSpPr>
        <p:spPr>
          <a:xfrm>
            <a:off x="5058461" y="3200400"/>
            <a:ext cx="2072030" cy="3063240"/>
          </a:xfrm>
          <a:prstGeom prst="roundRect">
            <a:avLst>
              <a:gd name="adj" fmla="val 3530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195621" y="3310128"/>
            <a:ext cx="179771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may</a:t>
            </a:r>
            <a:endParaRPr lang="en-US" sz="22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≈ 50 %</a:t>
            </a:r>
            <a:endParaRPr lang="en-US" sz="2200" dirty="0"/>
          </a:p>
        </p:txBody>
      </p:sp>
      <p:sp>
        <p:nvSpPr>
          <p:cNvPr id="28" name="Text 25"/>
          <p:cNvSpPr txBox="1"/>
          <p:nvPr/>
        </p:nvSpPr>
        <p:spPr>
          <a:xfrm>
            <a:off x="5195621" y="4114800"/>
            <a:ext cx="179771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The damage </a:t>
            </a:r>
            <a:r>
              <a:rPr lang="en-US" sz="1800" b="1" dirty="0">
                <a:solidFill>
                  <a:schemeClr val="tx1"/>
                </a:solidFill>
              </a:rPr>
              <a:t>may be</a:t>
            </a:r>
            <a:r>
              <a:rPr lang="en-US" sz="1800" dirty="0">
                <a:solidFill>
                  <a:schemeClr val="tx1"/>
                </a:solidFill>
              </a:rPr>
              <a:t> worse than it looks.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il est possible que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 rot="10800000">
            <a:off x="10684764" y="2212848"/>
            <a:ext cx="256032" cy="219456"/>
          </a:xfrm>
          <a:prstGeom prst="triangle">
            <a:avLst/>
          </a:prstGeom>
          <a:solidFill>
            <a:schemeClr val="tx2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10081260" y="180136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must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7313371" y="3200400"/>
            <a:ext cx="2072030" cy="3063240"/>
          </a:xfrm>
          <a:prstGeom prst="roundRect">
            <a:avLst>
              <a:gd name="adj" fmla="val 3530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450531" y="3310128"/>
            <a:ext cx="179771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must</a:t>
            </a:r>
            <a:endParaRPr lang="en-US" sz="22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≈ 95 %</a:t>
            </a:r>
            <a:endParaRPr lang="en-US" sz="2200" dirty="0"/>
          </a:p>
        </p:txBody>
      </p:sp>
      <p:sp>
        <p:nvSpPr>
          <p:cNvPr id="33" name="Text 30"/>
          <p:cNvSpPr txBox="1"/>
          <p:nvPr/>
        </p:nvSpPr>
        <p:spPr>
          <a:xfrm>
            <a:off x="7450531" y="4114800"/>
            <a:ext cx="179771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The pipe </a:t>
            </a:r>
            <a:r>
              <a:rPr lang="en-US" sz="1800" b="1" dirty="0">
                <a:solidFill>
                  <a:schemeClr val="tx1"/>
                </a:solidFill>
              </a:rPr>
              <a:t>must be</a:t>
            </a:r>
            <a:r>
              <a:rPr lang="en-US" sz="1800" dirty="0">
                <a:solidFill>
                  <a:schemeClr val="tx1"/>
                </a:solidFill>
              </a:rPr>
              <a:t> the cause — nothing else was wet.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c’est sûrement</a:t>
            </a:r>
            <a:endParaRPr lang="en-US" sz="1800" dirty="0"/>
          </a:p>
        </p:txBody>
      </p:sp>
      <p:sp>
        <p:nvSpPr>
          <p:cNvPr id="34" name="Shape 31"/>
          <p:cNvSpPr/>
          <p:nvPr/>
        </p:nvSpPr>
        <p:spPr>
          <a:xfrm>
            <a:off x="9568282" y="3200400"/>
            <a:ext cx="2072030" cy="3063240"/>
          </a:xfrm>
          <a:prstGeom prst="roundRect">
            <a:avLst>
              <a:gd name="adj" fmla="val 3530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9705442" y="3310128"/>
            <a:ext cx="179771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should</a:t>
            </a:r>
            <a:endParaRPr lang="en-US" sz="22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advice</a:t>
            </a:r>
            <a:endParaRPr lang="en-US" sz="2200" dirty="0"/>
          </a:p>
        </p:txBody>
      </p:sp>
      <p:sp>
        <p:nvSpPr>
          <p:cNvPr id="36" name="Text 33"/>
          <p:cNvSpPr txBox="1"/>
          <p:nvPr/>
        </p:nvSpPr>
        <p:spPr>
          <a:xfrm>
            <a:off x="9705442" y="4114800"/>
            <a:ext cx="179771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We </a:t>
            </a:r>
            <a:r>
              <a:rPr lang="en-US" sz="1800" b="1" dirty="0">
                <a:solidFill>
                  <a:schemeClr val="tx1"/>
                </a:solidFill>
              </a:rPr>
              <a:t>should</a:t>
            </a:r>
            <a:r>
              <a:rPr lang="en-US" sz="1800" dirty="0">
                <a:solidFill>
                  <a:schemeClr val="tx1"/>
                </a:solidFill>
              </a:rPr>
              <a:t> inspect the whole run before the handover.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il faudrait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Three rules, two traps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08760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FIELD NOTE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34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481328"/>
            <a:ext cx="3514344" cy="2267712"/>
          </a:xfrm>
          <a:prstGeom prst="roundRect">
            <a:avLst>
              <a:gd name="adj" fmla="val 403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481328"/>
            <a:ext cx="3514344" cy="502920"/>
          </a:xfrm>
          <a:prstGeom prst="roundRect">
            <a:avLst>
              <a:gd name="adj" fmla="val 18182"/>
            </a:avLst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1801368"/>
            <a:ext cx="3514344" cy="18288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481328"/>
            <a:ext cx="3148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chemeClr val="bg1"/>
                </a:solidFill>
              </a:rPr>
              <a:t>NO -S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084832"/>
            <a:ext cx="314858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She </a:t>
            </a:r>
            <a:r>
              <a:rPr lang="en-US" sz="1800" b="1" dirty="0">
                <a:solidFill>
                  <a:schemeClr val="tx1"/>
                </a:solidFill>
              </a:rPr>
              <a:t>might</a:t>
            </a:r>
            <a:r>
              <a:rPr lang="en-US" sz="1800" dirty="0">
                <a:solidFill>
                  <a:schemeClr val="tx1"/>
                </a:solidFill>
              </a:rPr>
              <a:t> be right.</a:t>
            </a:r>
            <a:endParaRPr lang="en-US" sz="18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✗ </a:t>
            </a:r>
            <a:r>
              <a:rPr lang="en-US" sz="1800" i="1" dirty="0">
                <a:solidFill>
                  <a:schemeClr val="tx1"/>
                </a:solidFill>
              </a:rPr>
              <a:t>She mights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337304" y="1481328"/>
            <a:ext cx="3514344" cy="2267712"/>
          </a:xfrm>
          <a:prstGeom prst="roundRect">
            <a:avLst>
              <a:gd name="adj" fmla="val 403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37304" y="1481328"/>
            <a:ext cx="3514344" cy="502920"/>
          </a:xfrm>
          <a:prstGeom prst="roundRect">
            <a:avLst>
              <a:gd name="adj" fmla="val 18182"/>
            </a:avLst>
          </a:prstGeom>
          <a:solidFill>
            <a:schemeClr val="accent2"/>
          </a:solidFill>
          <a:ln/>
        </p:spPr>
      </p:sp>
      <p:sp>
        <p:nvSpPr>
          <p:cNvPr id="12" name="Shape 10"/>
          <p:cNvSpPr/>
          <p:nvPr/>
        </p:nvSpPr>
        <p:spPr>
          <a:xfrm>
            <a:off x="4337304" y="1801368"/>
            <a:ext cx="3514344" cy="18288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20184" y="1481328"/>
            <a:ext cx="3148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chemeClr val="bg1"/>
                </a:solidFill>
              </a:rPr>
              <a:t>NO TO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520184" y="2084832"/>
            <a:ext cx="314858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We </a:t>
            </a:r>
            <a:r>
              <a:rPr lang="en-US" sz="1800" b="1" dirty="0">
                <a:solidFill>
                  <a:schemeClr val="tx1"/>
                </a:solidFill>
              </a:rPr>
              <a:t>should</a:t>
            </a:r>
            <a:r>
              <a:rPr lang="en-US" sz="1800" dirty="0">
                <a:solidFill>
                  <a:schemeClr val="tx1"/>
                </a:solidFill>
              </a:rPr>
              <a:t> wait.</a:t>
            </a:r>
            <a:endParaRPr lang="en-US" sz="18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✗ </a:t>
            </a:r>
            <a:r>
              <a:rPr lang="en-US" sz="1800" i="1" dirty="0">
                <a:solidFill>
                  <a:schemeClr val="tx1"/>
                </a:solidFill>
              </a:rPr>
              <a:t>should to wait</a:t>
            </a:r>
            <a:endParaRPr lang="en-US" sz="18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(but </a:t>
            </a:r>
            <a:r>
              <a:rPr lang="en-US" sz="1800" b="1" dirty="0">
                <a:solidFill>
                  <a:schemeClr val="tx1"/>
                </a:solidFill>
              </a:rPr>
              <a:t>ought to</a:t>
            </a:r>
            <a:r>
              <a:rPr lang="en-US" sz="1800" dirty="0">
                <a:solidFill>
                  <a:schemeClr val="tx1"/>
                </a:solidFill>
              </a:rPr>
              <a:t>, </a:t>
            </a:r>
            <a:r>
              <a:rPr lang="en-US" sz="1800" b="1" dirty="0">
                <a:solidFill>
                  <a:schemeClr val="tx1"/>
                </a:solidFill>
              </a:rPr>
              <a:t>have to</a:t>
            </a:r>
            <a:r>
              <a:rPr lang="en-US" sz="1800" dirty="0">
                <a:solidFill>
                  <a:schemeClr val="tx1"/>
                </a:solidFill>
              </a:rPr>
              <a:t>)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8125968" y="1481328"/>
            <a:ext cx="3514344" cy="2267712"/>
          </a:xfrm>
          <a:prstGeom prst="roundRect">
            <a:avLst>
              <a:gd name="adj" fmla="val 403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125968" y="1481328"/>
            <a:ext cx="3514344" cy="502920"/>
          </a:xfrm>
          <a:prstGeom prst="roundRect">
            <a:avLst>
              <a:gd name="adj" fmla="val 18182"/>
            </a:avLst>
          </a:prstGeom>
          <a:solidFill>
            <a:schemeClr val="accent2"/>
          </a:solidFill>
          <a:ln/>
        </p:spPr>
      </p:sp>
      <p:sp>
        <p:nvSpPr>
          <p:cNvPr id="17" name="Shape 15"/>
          <p:cNvSpPr/>
          <p:nvPr/>
        </p:nvSpPr>
        <p:spPr>
          <a:xfrm>
            <a:off x="8125968" y="1801368"/>
            <a:ext cx="3514344" cy="18288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08848" y="1481328"/>
            <a:ext cx="3148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chemeClr val="bg1"/>
                </a:solidFill>
              </a:rPr>
              <a:t>NO DO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308848" y="2084832"/>
            <a:ext cx="314858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Should</a:t>
            </a:r>
            <a:r>
              <a:rPr lang="en-US" sz="1800" dirty="0">
                <a:solidFill>
                  <a:schemeClr val="tx1"/>
                </a:solidFill>
              </a:rPr>
              <a:t> we call her?</a:t>
            </a:r>
            <a:endParaRPr lang="en-US" sz="18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✗ </a:t>
            </a:r>
            <a:r>
              <a:rPr lang="en-US" sz="1800" i="1" dirty="0">
                <a:solidFill>
                  <a:schemeClr val="tx1"/>
                </a:solidFill>
              </a:rPr>
              <a:t>Do we should…?</a:t>
            </a:r>
            <a:endParaRPr lang="en-US" sz="18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Neg: </a:t>
            </a:r>
            <a:r>
              <a:rPr lang="en-US" sz="1800" b="1" dirty="0">
                <a:solidFill>
                  <a:schemeClr val="tx1"/>
                </a:solidFill>
              </a:rPr>
              <a:t>can’t, shouldn’t, mustn’t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548640" y="4023360"/>
            <a:ext cx="3514344" cy="2267712"/>
          </a:xfrm>
          <a:prstGeom prst="roundRect">
            <a:avLst>
              <a:gd name="adj" fmla="val 403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48640" y="4023360"/>
            <a:ext cx="3514344" cy="502920"/>
          </a:xfrm>
          <a:prstGeom prst="roundRect">
            <a:avLst>
              <a:gd name="adj" fmla="val 18182"/>
            </a:avLst>
          </a:prstGeom>
          <a:solidFill>
            <a:schemeClr val="accent6"/>
          </a:solidFill>
          <a:ln/>
        </p:spPr>
      </p:sp>
      <p:sp>
        <p:nvSpPr>
          <p:cNvPr id="22" name="Shape 20"/>
          <p:cNvSpPr/>
          <p:nvPr/>
        </p:nvSpPr>
        <p:spPr>
          <a:xfrm>
            <a:off x="548640" y="4343400"/>
            <a:ext cx="3514344" cy="182880"/>
          </a:xfrm>
          <a:prstGeom prst="rect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31520" y="4023360"/>
            <a:ext cx="3148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chemeClr val="bg1"/>
                </a:solidFill>
              </a:rPr>
              <a:t>TRAP 1 — MUSTN’T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4626864"/>
            <a:ext cx="314858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must be</a:t>
            </a:r>
            <a:r>
              <a:rPr lang="en-US" sz="1800" dirty="0">
                <a:solidFill>
                  <a:schemeClr val="tx1"/>
                </a:solidFill>
              </a:rPr>
              <a:t> = sûrement (deduction)</a:t>
            </a:r>
            <a:endParaRPr lang="en-US" sz="18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mustn’t</a:t>
            </a:r>
            <a:r>
              <a:rPr lang="en-US" sz="1800" dirty="0">
                <a:solidFill>
                  <a:schemeClr val="tx1"/>
                </a:solidFill>
              </a:rPr>
              <a:t> = interdiction!</a:t>
            </a:r>
            <a:endParaRPr lang="en-US" sz="18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The opposite of </a:t>
            </a:r>
            <a:r>
              <a:rPr lang="en-US" sz="1800" i="1" dirty="0">
                <a:solidFill>
                  <a:schemeClr val="tx1"/>
                </a:solidFill>
              </a:rPr>
              <a:t>must be</a:t>
            </a:r>
            <a:r>
              <a:rPr lang="en-US" sz="1800" dirty="0">
                <a:solidFill>
                  <a:schemeClr val="tx1"/>
                </a:solidFill>
              </a:rPr>
              <a:t> is </a:t>
            </a:r>
            <a:r>
              <a:rPr lang="en-US" sz="1800" b="1" dirty="0">
                <a:solidFill>
                  <a:schemeClr val="tx1"/>
                </a:solidFill>
              </a:rPr>
              <a:t>can’t be</a:t>
            </a:r>
            <a:r>
              <a:rPr lang="en-US" sz="1800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4337304" y="4023360"/>
            <a:ext cx="3514344" cy="2267712"/>
          </a:xfrm>
          <a:prstGeom prst="roundRect">
            <a:avLst>
              <a:gd name="adj" fmla="val 403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337304" y="4023360"/>
            <a:ext cx="3514344" cy="502920"/>
          </a:xfrm>
          <a:prstGeom prst="roundRect">
            <a:avLst>
              <a:gd name="adj" fmla="val 18182"/>
            </a:avLst>
          </a:prstGeom>
          <a:solidFill>
            <a:schemeClr val="accent6"/>
          </a:solidFill>
          <a:ln/>
        </p:spPr>
      </p:sp>
      <p:sp>
        <p:nvSpPr>
          <p:cNvPr id="27" name="Shape 25"/>
          <p:cNvSpPr/>
          <p:nvPr/>
        </p:nvSpPr>
        <p:spPr>
          <a:xfrm>
            <a:off x="4337304" y="4343400"/>
            <a:ext cx="3514344" cy="182880"/>
          </a:xfrm>
          <a:prstGeom prst="rect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520184" y="4023360"/>
            <a:ext cx="3148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chemeClr val="bg1"/>
                </a:solidFill>
              </a:rPr>
              <a:t>TRAP 2 — THE PAST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4520184" y="4626864"/>
            <a:ext cx="314858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modal + </a:t>
            </a:r>
            <a:r>
              <a:rPr lang="en-US" sz="1800" b="1" dirty="0">
                <a:solidFill>
                  <a:schemeClr val="tx1"/>
                </a:solidFill>
              </a:rPr>
              <a:t>have</a:t>
            </a:r>
            <a:r>
              <a:rPr lang="en-US" sz="1800" dirty="0">
                <a:solidFill>
                  <a:schemeClr val="tx1"/>
                </a:solidFill>
              </a:rPr>
              <a:t> + participle</a:t>
            </a:r>
            <a:endParaRPr lang="en-US" sz="18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It </a:t>
            </a:r>
            <a:r>
              <a:rPr lang="en-US" sz="1800" b="1" dirty="0">
                <a:solidFill>
                  <a:schemeClr val="tx1"/>
                </a:solidFill>
              </a:rPr>
              <a:t>might have been</a:t>
            </a:r>
            <a:r>
              <a:rPr lang="en-US" sz="1800" dirty="0">
                <a:solidFill>
                  <a:schemeClr val="tx1"/>
                </a:solidFill>
              </a:rPr>
              <a:t> the same joint.</a:t>
            </a:r>
            <a:endParaRPr lang="en-US" sz="18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It </a:t>
            </a:r>
            <a:r>
              <a:rPr lang="en-US" sz="1800" b="1" dirty="0">
                <a:solidFill>
                  <a:schemeClr val="tx1"/>
                </a:solidFill>
              </a:rPr>
              <a:t>can’t have been</a:t>
            </a:r>
            <a:r>
              <a:rPr lang="en-US" sz="1800" dirty="0">
                <a:solidFill>
                  <a:schemeClr val="tx1"/>
                </a:solidFill>
              </a:rPr>
              <a:t> the team.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8125968" y="4023360"/>
            <a:ext cx="3514344" cy="2267712"/>
          </a:xfrm>
          <a:prstGeom prst="roundRect">
            <a:avLst>
              <a:gd name="adj" fmla="val 403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125968" y="4023360"/>
            <a:ext cx="3514344" cy="50292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/>
        </p:spPr>
      </p:sp>
      <p:sp>
        <p:nvSpPr>
          <p:cNvPr id="32" name="Shape 30"/>
          <p:cNvSpPr/>
          <p:nvPr/>
        </p:nvSpPr>
        <p:spPr>
          <a:xfrm>
            <a:off x="8125968" y="4343400"/>
            <a:ext cx="3514344" cy="18288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308848" y="4023360"/>
            <a:ext cx="3148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chemeClr val="bg1"/>
                </a:solidFill>
              </a:rPr>
              <a:t>THE RISK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8308848" y="4626864"/>
            <a:ext cx="314858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One </a:t>
            </a:r>
            <a:r>
              <a:rPr lang="en-US" sz="1800" b="1" dirty="0">
                <a:solidFill>
                  <a:schemeClr val="tx1"/>
                </a:solidFill>
              </a:rPr>
              <a:t>categorical</a:t>
            </a:r>
            <a:r>
              <a:rPr lang="en-US" sz="1800" dirty="0">
                <a:solidFill>
                  <a:schemeClr val="tx1"/>
                </a:solidFill>
              </a:rPr>
              <a:t> sentence about the cause = grounds to refuse.</a:t>
            </a:r>
            <a:endParaRPr lang="en-US" sz="18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Write </a:t>
            </a:r>
            <a:r>
              <a:rPr lang="en-US" sz="1800" b="1" dirty="0">
                <a:solidFill>
                  <a:schemeClr val="tx1"/>
                </a:solidFill>
              </a:rPr>
              <a:t>might</a:t>
            </a:r>
            <a:r>
              <a:rPr lang="en-US" sz="1800" dirty="0">
                <a:solidFill>
                  <a:schemeClr val="tx1"/>
                </a:solidFill>
              </a:rPr>
              <a:t>: same idea, no exposure.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Your card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623060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YOUR EXPERT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33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5431536" cy="2290572"/>
          </a:xfrm>
          <a:prstGeom prst="roundRect">
            <a:avLst>
              <a:gd name="adj" fmla="val 3194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1618488"/>
            <a:ext cx="868680" cy="868680"/>
          </a:xfrm>
          <a:prstGeom prst="roundRect">
            <a:avLst>
              <a:gd name="adj" fmla="val 8421"/>
            </a:avLst>
          </a:prstGeom>
          <a:solidFill>
            <a:srgbClr val="1F4E79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1691640"/>
            <a:ext cx="347472" cy="34747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85800" y="208483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ACC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1691640" y="1591056"/>
            <a:ext cx="4151376" cy="20711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Your card.</a:t>
            </a:r>
            <a:r>
              <a:rPr lang="en-US" sz="1500" dirty="0">
                <a:solidFill>
                  <a:schemeClr val="tx1"/>
                </a:solidFill>
              </a:rPr>
              <a:t> Last November a comparable claim was settled at 80 %. A provision of €12,000 has been opened this morning. No budget line exists for an excess above €5,000. </a:t>
            </a:r>
            <a:r>
              <a:rPr lang="en-US" sz="1500" b="1" dirty="0">
                <a:solidFill>
                  <a:schemeClr val="tx1"/>
                </a:solidFill>
              </a:rPr>
              <a:t>Your question to the group:</a:t>
            </a:r>
            <a:r>
              <a:rPr lang="en-US" sz="1500" dirty="0">
                <a:solidFill>
                  <a:schemeClr val="tx1"/>
                </a:solidFill>
              </a:rPr>
              <a:t> if the cause is never established, who carries the difference — and in which financial year does it land?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6208776" y="1481328"/>
            <a:ext cx="5431536" cy="2290572"/>
          </a:xfrm>
          <a:prstGeom prst="roundRect">
            <a:avLst>
              <a:gd name="adj" fmla="val 3194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345936" y="1618488"/>
            <a:ext cx="868680" cy="868680"/>
          </a:xfrm>
          <a:prstGeom prst="roundRect">
            <a:avLst>
              <a:gd name="adj" fmla="val 8421"/>
            </a:avLst>
          </a:prstGeom>
          <a:solidFill>
            <a:srgbClr val="0E7C66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1112" y="1691640"/>
            <a:ext cx="347472" cy="34747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345936" y="208483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IT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7351776" y="1591056"/>
            <a:ext cx="4151376" cy="20711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Your card.</a:t>
            </a:r>
            <a:r>
              <a:rPr lang="en-US" sz="1500" dirty="0">
                <a:solidFill>
                  <a:schemeClr val="tx1"/>
                </a:solidFill>
              </a:rPr>
              <a:t> The last backup ran at midnight, sixteen minutes after the temperature alarm. Unit 3 shut down at 02:16. Total downtime: nine hours. </a:t>
            </a:r>
            <a:r>
              <a:rPr lang="en-US" sz="1500" b="1" dirty="0">
                <a:solidFill>
                  <a:schemeClr val="tx1"/>
                </a:solidFill>
              </a:rPr>
              <a:t>Your question to the group:</a:t>
            </a:r>
            <a:r>
              <a:rPr lang="en-US" sz="1500" dirty="0">
                <a:solidFill>
                  <a:schemeClr val="tx1"/>
                </a:solidFill>
              </a:rPr>
              <a:t> the notification was </a:t>
            </a:r>
            <a:r>
              <a:rPr lang="en-US" sz="1500" i="1" dirty="0">
                <a:solidFill>
                  <a:schemeClr val="tx1"/>
                </a:solidFill>
              </a:rPr>
              <a:t>delivered</a:t>
            </a:r>
            <a:r>
              <a:rPr lang="en-US" sz="1500" dirty="0">
                <a:solidFill>
                  <a:schemeClr val="tx1"/>
                </a:solidFill>
              </a:rPr>
              <a:t> at 23:42 to a mobile number. Does “delivered” mean somebody was warned?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548640" y="4000500"/>
            <a:ext cx="5431536" cy="2290572"/>
          </a:xfrm>
          <a:prstGeom prst="roundRect">
            <a:avLst>
              <a:gd name="adj" fmla="val 3194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85800" y="4137660"/>
            <a:ext cx="868680" cy="868680"/>
          </a:xfrm>
          <a:prstGeom prst="roundRect">
            <a:avLst>
              <a:gd name="adj" fmla="val 8421"/>
            </a:avLst>
          </a:prstGeom>
          <a:solidFill>
            <a:srgbClr val="8B3A2F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" y="4210812"/>
            <a:ext cx="347472" cy="347472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5800" y="46040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LAW</a:t>
            </a:r>
            <a:endParaRPr lang="en-US" sz="1300" dirty="0"/>
          </a:p>
        </p:txBody>
      </p:sp>
      <p:sp>
        <p:nvSpPr>
          <p:cNvPr id="20" name="Text 14"/>
          <p:cNvSpPr txBox="1"/>
          <p:nvPr/>
        </p:nvSpPr>
        <p:spPr>
          <a:xfrm>
            <a:off x="1691640" y="4110228"/>
            <a:ext cx="4151376" cy="20711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Your card.</a:t>
            </a:r>
            <a:r>
              <a:rPr lang="en-US" sz="1500" dirty="0">
                <a:solidFill>
                  <a:schemeClr val="tx1"/>
                </a:solidFill>
              </a:rPr>
              <a:t> The lease runs for nine years. The maintenance clause places routine inspection with the property manager and structural works with the landlord. A badge entry at 20:04 is logged. </a:t>
            </a:r>
            <a:r>
              <a:rPr lang="en-US" sz="1500" b="1" dirty="0">
                <a:solidFill>
                  <a:schemeClr val="tx1"/>
                </a:solidFill>
              </a:rPr>
              <a:t>Your question to the group:</a:t>
            </a:r>
            <a:r>
              <a:rPr lang="en-US" sz="1500" dirty="0">
                <a:solidFill>
                  <a:schemeClr val="tx1"/>
                </a:solidFill>
              </a:rPr>
              <a:t> at what point does a repeated fault stop being an accident and start being negligence — and who would have to prove it?</a:t>
            </a:r>
            <a:endParaRPr lang="en-US" sz="1500" dirty="0"/>
          </a:p>
        </p:txBody>
      </p:sp>
      <p:sp>
        <p:nvSpPr>
          <p:cNvPr id="21" name="Shape 15"/>
          <p:cNvSpPr/>
          <p:nvPr/>
        </p:nvSpPr>
        <p:spPr>
          <a:xfrm>
            <a:off x="6208776" y="4000500"/>
            <a:ext cx="5431536" cy="2290572"/>
          </a:xfrm>
          <a:prstGeom prst="roundRect">
            <a:avLst>
              <a:gd name="adj" fmla="val 3194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345936" y="4137660"/>
            <a:ext cx="868680" cy="868680"/>
          </a:xfrm>
          <a:prstGeom prst="roundRect">
            <a:avLst>
              <a:gd name="adj" fmla="val 8421"/>
            </a:avLst>
          </a:prstGeom>
          <a:solidFill>
            <a:srgbClr val="B8782A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1112" y="4210812"/>
            <a:ext cx="347472" cy="347472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6345936" y="46040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RE</a:t>
            </a:r>
            <a:endParaRPr lang="en-US" sz="1300" dirty="0"/>
          </a:p>
        </p:txBody>
      </p:sp>
      <p:sp>
        <p:nvSpPr>
          <p:cNvPr id="25" name="Text 18"/>
          <p:cNvSpPr txBox="1"/>
          <p:nvPr/>
        </p:nvSpPr>
        <p:spPr>
          <a:xfrm>
            <a:off x="7351776" y="4110228"/>
            <a:ext cx="4151376" cy="20711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Your card.</a:t>
            </a:r>
            <a:r>
              <a:rPr lang="en-US" sz="1500" dirty="0">
                <a:solidFill>
                  <a:schemeClr val="tx1"/>
                </a:solidFill>
              </a:rPr>
              <a:t> The humidity alarm followed the temperature alarm by three minutes. The same section of pipework failed last November. The handover to the tenant is on 1 March. </a:t>
            </a:r>
            <a:r>
              <a:rPr lang="en-US" sz="1500" b="1" dirty="0">
                <a:solidFill>
                  <a:schemeClr val="tx1"/>
                </a:solidFill>
              </a:rPr>
              <a:t>Your question to the group:</a:t>
            </a:r>
            <a:r>
              <a:rPr lang="en-US" sz="1500" dirty="0">
                <a:solidFill>
                  <a:schemeClr val="tx1"/>
                </a:solidFill>
              </a:rPr>
              <a:t> if the second floor is unusable for three weeks, what does the tenant become entitled to, and from what date?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The hypothesis board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9446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TEAM CALL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32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81328"/>
            <a:ext cx="11091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Groups of four — one representative of each firm. Twenty-five minutes.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1993392"/>
            <a:ext cx="3502152" cy="3383280"/>
          </a:xfrm>
          <a:prstGeom prst="roundRect">
            <a:avLst>
              <a:gd name="adj" fmla="val 2703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970532" y="2176272"/>
            <a:ext cx="658368" cy="658368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970532" y="2176272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5′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2907792"/>
            <a:ext cx="32826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Round 1 — alone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685032"/>
            <a:ext cx="322783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Write </a:t>
            </a:r>
            <a:r>
              <a:rPr lang="en-US" sz="1700" b="1" dirty="0">
                <a:solidFill>
                  <a:schemeClr val="tx1"/>
                </a:solidFill>
              </a:rPr>
              <a:t>one hypothesis</a:t>
            </a:r>
            <a:r>
              <a:rPr lang="en-US" sz="1700" dirty="0">
                <a:solidFill>
                  <a:schemeClr val="tx1"/>
                </a:solidFill>
              </a:rPr>
              <a:t> that only somebody from your field would think of.</a:t>
            </a:r>
            <a:endParaRPr lang="en-US" sz="17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Add </a:t>
            </a:r>
            <a:r>
              <a:rPr lang="en-US" sz="1700" b="1" dirty="0">
                <a:solidFill>
                  <a:schemeClr val="tx1"/>
                </a:solidFill>
              </a:rPr>
              <a:t>one fact you can already prove</a:t>
            </a:r>
            <a:r>
              <a:rPr lang="en-US" sz="1700" dirty="0">
                <a:solidFill>
                  <a:schemeClr val="tx1"/>
                </a:solidFill>
              </a:rPr>
              <a:t> to support it.</a:t>
            </a:r>
            <a:endParaRPr lang="en-US" sz="17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87368" y="2395728"/>
            <a:ext cx="219456" cy="219456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4343400" y="1993392"/>
            <a:ext cx="3502152" cy="3383280"/>
          </a:xfrm>
          <a:prstGeom prst="roundRect">
            <a:avLst>
              <a:gd name="adj" fmla="val 2703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765292" y="2176272"/>
            <a:ext cx="658368" cy="65836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765292" y="2176272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12′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4453128" y="2907792"/>
            <a:ext cx="32826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Round 2 — together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4480560" y="3685032"/>
            <a:ext cx="322783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90 seconds each, </a:t>
            </a:r>
            <a:r>
              <a:rPr lang="en-US" sz="1700" b="1" dirty="0">
                <a:solidFill>
                  <a:schemeClr val="tx1"/>
                </a:solidFill>
              </a:rPr>
              <a:t>no interruptions</a:t>
            </a:r>
            <a:r>
              <a:rPr lang="en-US" sz="1700" dirty="0">
                <a:solidFill>
                  <a:schemeClr val="tx1"/>
                </a:solidFill>
              </a:rPr>
              <a:t>.</a:t>
            </a:r>
            <a:endParaRPr lang="en-US" sz="17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Then each listener asks </a:t>
            </a:r>
            <a:r>
              <a:rPr lang="en-US" sz="1700" b="1" dirty="0">
                <a:solidFill>
                  <a:schemeClr val="tx1"/>
                </a:solidFill>
              </a:rPr>
              <a:t>one</a:t>
            </a:r>
            <a:r>
              <a:rPr lang="en-US" sz="1700" dirty="0">
                <a:solidFill>
                  <a:schemeClr val="tx1"/>
                </a:solidFill>
              </a:rPr>
              <a:t> question: </a:t>
            </a:r>
            <a:r>
              <a:rPr lang="en-US" sz="1700" i="1" dirty="0">
                <a:solidFill>
                  <a:schemeClr val="tx1"/>
                </a:solidFill>
              </a:rPr>
              <a:t>What would prove that?</a:t>
            </a:r>
            <a:r>
              <a:rPr lang="en-US" sz="1700" dirty="0">
                <a:solidFill>
                  <a:schemeClr val="tx1"/>
                </a:solidFill>
              </a:rPr>
              <a:t> or </a:t>
            </a:r>
            <a:r>
              <a:rPr lang="en-US" sz="1700" i="1" dirty="0">
                <a:solidFill>
                  <a:schemeClr val="tx1"/>
                </a:solidFill>
              </a:rPr>
              <a:t>What would rule that out?</a:t>
            </a:r>
            <a:endParaRPr lang="en-US" sz="170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2395728"/>
            <a:ext cx="219456" cy="219456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8138160" y="1993392"/>
            <a:ext cx="3502152" cy="3383280"/>
          </a:xfrm>
          <a:prstGeom prst="roundRect">
            <a:avLst>
              <a:gd name="adj" fmla="val 2703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9560052" y="2176272"/>
            <a:ext cx="658368" cy="658368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9560052" y="2176272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8′</a:t>
            </a:r>
            <a:endParaRPr lang="en-US" sz="2000" dirty="0"/>
          </a:p>
        </p:txBody>
      </p:sp>
      <p:sp>
        <p:nvSpPr>
          <p:cNvPr id="21" name="Text 17"/>
          <p:cNvSpPr txBox="1"/>
          <p:nvPr/>
        </p:nvSpPr>
        <p:spPr>
          <a:xfrm>
            <a:off x="8247888" y="2907792"/>
            <a:ext cx="32826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3"/>
                </a:solidFill>
              </a:rPr>
              <a:t>Round 3 — decide</a:t>
            </a:r>
            <a:endParaRPr lang="en-US" sz="1700" dirty="0"/>
          </a:p>
        </p:txBody>
      </p:sp>
      <p:sp>
        <p:nvSpPr>
          <p:cNvPr id="22" name="Text 18"/>
          <p:cNvSpPr txBox="1"/>
          <p:nvPr/>
        </p:nvSpPr>
        <p:spPr>
          <a:xfrm>
            <a:off x="8275320" y="3685032"/>
            <a:ext cx="322783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In writing and out loud: </a:t>
            </a:r>
            <a:r>
              <a:rPr lang="en-US" sz="1700" b="1" dirty="0">
                <a:solidFill>
                  <a:schemeClr val="tx1"/>
                </a:solidFill>
              </a:rPr>
              <a:t>2 hypotheses, 1 ruled out, 1 recommendation</a:t>
            </a:r>
            <a:r>
              <a:rPr lang="en-US" sz="1700" dirty="0">
                <a:solidFill>
                  <a:schemeClr val="tx1"/>
                </a:solidFill>
              </a:rPr>
              <a:t>.</a:t>
            </a:r>
            <a:endParaRPr lang="en-US" sz="17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Nobody may name a person.</a:t>
            </a:r>
            <a:endParaRPr lang="en-US" sz="1700" dirty="0"/>
          </a:p>
        </p:txBody>
      </p:sp>
      <p:sp>
        <p:nvSpPr>
          <p:cNvPr id="23" name="Shape 19"/>
          <p:cNvSpPr/>
          <p:nvPr/>
        </p:nvSpPr>
        <p:spPr>
          <a:xfrm>
            <a:off x="548640" y="5605272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accent2">
              <a:alpha val="10000"/>
            </a:schemeClr>
          </a:solidFill>
          <a:ln w="9525">
            <a:solidFill>
              <a:schemeClr val="accent2">
                <a:alpha val="70000"/>
              </a:schemeClr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5783580"/>
            <a:ext cx="329184" cy="329184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1234440" y="5641848"/>
            <a:ext cx="102870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Astuce — </a:t>
            </a:r>
            <a:r>
              <a:rPr lang="en-US" sz="1700" dirty="0">
                <a:solidFill>
                  <a:schemeClr val="tx1"/>
                </a:solidFill>
              </a:rPr>
              <a:t>Mark’s board only accepts sentences that state </a:t>
            </a:r>
            <a:r>
              <a:rPr lang="en-US" sz="1700" b="1" dirty="0">
                <a:solidFill>
                  <a:schemeClr val="tx1"/>
                </a:solidFill>
              </a:rPr>
              <a:t>their own degree of certainty</a:t>
            </a:r>
            <a:r>
              <a:rPr lang="en-US" sz="1700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Present, test, decide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8016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SPEAKING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32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481328"/>
            <a:ext cx="3514344" cy="4809744"/>
          </a:xfrm>
          <a:prstGeom prst="roundRect">
            <a:avLst>
              <a:gd name="adj" fmla="val 260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481328"/>
            <a:ext cx="3514344" cy="502920"/>
          </a:xfrm>
          <a:prstGeom prst="roundRect">
            <a:avLst>
              <a:gd name="adj" fmla="val 18182"/>
            </a:avLst>
          </a:prstGeom>
          <a:solidFill>
            <a:schemeClr val="accent4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1801368"/>
            <a:ext cx="3514344" cy="182880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481328"/>
            <a:ext cx="3148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chemeClr val="bg1"/>
                </a:solidFill>
              </a:rPr>
              <a:t>PRESENT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084832"/>
            <a:ext cx="3148584" cy="4096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My hypothesis is that the water </a:t>
            </a:r>
            <a:r>
              <a:rPr lang="en-US" sz="2000" b="1" dirty="0">
                <a:solidFill>
                  <a:schemeClr val="tx1"/>
                </a:solidFill>
              </a:rPr>
              <a:t>might</a:t>
            </a:r>
            <a:r>
              <a:rPr lang="en-US" sz="2000" dirty="0">
                <a:solidFill>
                  <a:schemeClr val="tx1"/>
                </a:solidFill>
              </a:rPr>
              <a:t> have come from …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What supports it is … (a fact from the file).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I’m about </a:t>
            </a:r>
            <a:r>
              <a:rPr lang="en-US" sz="2000" b="1" dirty="0">
                <a:solidFill>
                  <a:schemeClr val="tx1"/>
                </a:solidFill>
              </a:rPr>
              <a:t>40 %</a:t>
            </a:r>
            <a:r>
              <a:rPr lang="en-US" sz="2000" dirty="0">
                <a:solidFill>
                  <a:schemeClr val="tx1"/>
                </a:solidFill>
              </a:rPr>
              <a:t> sure.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337304" y="1481328"/>
            <a:ext cx="3514344" cy="4809744"/>
          </a:xfrm>
          <a:prstGeom prst="roundRect">
            <a:avLst>
              <a:gd name="adj" fmla="val 260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37304" y="1481328"/>
            <a:ext cx="3514344" cy="50292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/>
        </p:spPr>
      </p:sp>
      <p:sp>
        <p:nvSpPr>
          <p:cNvPr id="12" name="Shape 10"/>
          <p:cNvSpPr/>
          <p:nvPr/>
        </p:nvSpPr>
        <p:spPr>
          <a:xfrm>
            <a:off x="4337304" y="1801368"/>
            <a:ext cx="3514344" cy="18288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20184" y="1481328"/>
            <a:ext cx="3148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chemeClr val="bg1"/>
                </a:solidFill>
              </a:rPr>
              <a:t>TEST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520184" y="2084832"/>
            <a:ext cx="3148584" cy="4096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chemeClr val="tx1"/>
                </a:solidFill>
              </a:rPr>
              <a:t>What would prove that?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chemeClr val="tx1"/>
                </a:solidFill>
              </a:rPr>
              <a:t>What would rule that out?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Where does that figure come from?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How sure are you?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8125968" y="1481328"/>
            <a:ext cx="3514344" cy="4809744"/>
          </a:xfrm>
          <a:prstGeom prst="roundRect">
            <a:avLst>
              <a:gd name="adj" fmla="val 260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125968" y="1481328"/>
            <a:ext cx="3514344" cy="502920"/>
          </a:xfrm>
          <a:prstGeom prst="roundRect">
            <a:avLst>
              <a:gd name="adj" fmla="val 18182"/>
            </a:avLst>
          </a:prstGeom>
          <a:solidFill>
            <a:schemeClr val="accent3"/>
          </a:solidFill>
          <a:ln/>
        </p:spPr>
      </p:sp>
      <p:sp>
        <p:nvSpPr>
          <p:cNvPr id="17" name="Shape 15"/>
          <p:cNvSpPr/>
          <p:nvPr/>
        </p:nvSpPr>
        <p:spPr>
          <a:xfrm>
            <a:off x="8125968" y="1801368"/>
            <a:ext cx="3514344" cy="182880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08848" y="1481328"/>
            <a:ext cx="3148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chemeClr val="bg1"/>
                </a:solidFill>
              </a:rPr>
              <a:t>DECIDE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308848" y="2084832"/>
            <a:ext cx="3148584" cy="4096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I think we can </a:t>
            </a:r>
            <a:r>
              <a:rPr lang="en-US" sz="2000" b="1" dirty="0">
                <a:solidFill>
                  <a:schemeClr val="tx1"/>
                </a:solidFill>
              </a:rPr>
              <a:t>rule out</a:t>
            </a:r>
            <a:r>
              <a:rPr lang="en-US" sz="2000" dirty="0">
                <a:solidFill>
                  <a:schemeClr val="tx1"/>
                </a:solidFill>
              </a:rPr>
              <a:t> …, because …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We </a:t>
            </a:r>
            <a:r>
              <a:rPr lang="en-US" sz="2000" b="1" dirty="0">
                <a:solidFill>
                  <a:schemeClr val="tx1"/>
                </a:solidFill>
              </a:rPr>
              <a:t>should</a:t>
            </a:r>
            <a:r>
              <a:rPr lang="en-US" sz="2000" dirty="0">
                <a:solidFill>
                  <a:schemeClr val="tx1"/>
                </a:solidFill>
              </a:rPr>
              <a:t> keep … and …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So we agree that … 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Your group’s board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9446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TEAM CALL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32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572000"/>
                <a:gridCol w="4325112"/>
              </a:tblGrid>
              <a:tr h="62819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OUR HYPOTHESIS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WHAT SUPPORTS IT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9418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Hypothesis 1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9418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Hypothesis 2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9418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Ruled out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9418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We recommend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One possible board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9446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TEAM CALL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32–34</a:t>
            </a:r>
            <a:endParaRPr lang="en-US" sz="1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754880"/>
                <a:gridCol w="4142232"/>
              </a:tblGrid>
              <a:tr h="62819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OUR HYPOTHESIS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WHAT SUPPORTS IT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125181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Hypothesis 1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The water </a:t>
                      </a: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might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come from the same section of pipework as last November.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Same section failed last November; humidity alarm 3 min after the temperature alarm.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9418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Hypothesis 2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The cabling works </a:t>
                      </a: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may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have disturbed the pipework.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Works in zone 2F until 19:58.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9418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Ruled out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The leak </a:t>
                      </a: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can’t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have started while the team was in the room.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Room dry at 19:58; first alarm at 23:41.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9418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We recommend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We </a:t>
                      </a: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should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inspect the whole run, basement included, before the handover.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Handover on 1 March; nobody has been to the basement.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Rate it, then write it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65860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+ EXTRA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Hors livret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81328"/>
            <a:ext cx="11091672" cy="371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Rewrite each categorical sentence with the modal that matches the certainty in brackets.</a:t>
            </a:r>
            <a:endParaRPr lang="en-US" sz="1600" dirty="0"/>
          </a:p>
        </p:txBody>
      </p:sp>
      <p:sp>
        <p:nvSpPr>
          <p:cNvPr id="6" name="exercise"/>
          <p:cNvSpPr txBox="1"/>
          <p:nvPr/>
        </p:nvSpPr>
        <p:spPr>
          <a:xfrm>
            <a:off x="548640" y="1926336"/>
            <a:ext cx="11091672" cy="4364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1.  </a:t>
            </a:r>
            <a:r>
              <a:rPr lang="en-US" sz="2400" dirty="0">
                <a:solidFill>
                  <a:schemeClr val="tx1"/>
                </a:solidFill>
              </a:rPr>
              <a:t>The joint caused the leak. (95 %) → </a:t>
            </a:r>
            <a:r>
              <a:rPr lang="en-US" sz="2400" dirty="0">
                <a:solidFill>
                  <a:schemeClr val="accent5"/>
                </a:solidFill>
              </a:rPr>
              <a:t>……………………………………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2.  </a:t>
            </a:r>
            <a:r>
              <a:rPr lang="en-US" sz="2400" dirty="0">
                <a:solidFill>
                  <a:schemeClr val="tx1"/>
                </a:solidFill>
              </a:rPr>
              <a:t>The drainage is blocked. (50 %) → </a:t>
            </a:r>
            <a:r>
              <a:rPr lang="en-US" sz="2400" dirty="0">
                <a:solidFill>
                  <a:schemeClr val="accent5"/>
                </a:solidFill>
              </a:rPr>
              <a:t>……………………………………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3.  </a:t>
            </a:r>
            <a:r>
              <a:rPr lang="en-US" sz="2400" dirty="0">
                <a:solidFill>
                  <a:schemeClr val="tx1"/>
                </a:solidFill>
              </a:rPr>
              <a:t>The works damaged the pipe. (40 %) → </a:t>
            </a:r>
            <a:r>
              <a:rPr lang="en-US" sz="2400" dirty="0">
                <a:solidFill>
                  <a:schemeClr val="accent5"/>
                </a:solidFill>
              </a:rPr>
              <a:t>……………………………………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4.  </a:t>
            </a:r>
            <a:r>
              <a:rPr lang="en-US" sz="2400" dirty="0">
                <a:solidFill>
                  <a:schemeClr val="tx1"/>
                </a:solidFill>
              </a:rPr>
              <a:t>The alarm system failed. (5 %) → </a:t>
            </a:r>
            <a:r>
              <a:rPr lang="en-US" sz="2400" dirty="0">
                <a:solidFill>
                  <a:schemeClr val="accent5"/>
                </a:solidFill>
              </a:rPr>
              <a:t>……………………………………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5.  </a:t>
            </a:r>
            <a:r>
              <a:rPr lang="en-US" sz="2400" dirty="0">
                <a:solidFill>
                  <a:schemeClr val="tx1"/>
                </a:solidFill>
              </a:rPr>
              <a:t>Inspect the basement. (advice) → </a:t>
            </a:r>
            <a:r>
              <a:rPr lang="en-US" sz="2400" dirty="0">
                <a:solidFill>
                  <a:schemeClr val="accent5"/>
                </a:solidFill>
              </a:rPr>
              <a:t>……………………………………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Rate it, then write it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65860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+ EXTRA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24228" y="237744"/>
            <a:ext cx="1874520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✓ CORRECTION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Hors livret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481328"/>
            <a:ext cx="11091672" cy="371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Rewrite each categorical sentence with the modal that matches the certainty in brackets.</a:t>
            </a:r>
            <a:endParaRPr lang="en-US" sz="1600" dirty="0"/>
          </a:p>
        </p:txBody>
      </p:sp>
      <p:sp>
        <p:nvSpPr>
          <p:cNvPr id="7" name="exercise"/>
          <p:cNvSpPr txBox="1"/>
          <p:nvPr/>
        </p:nvSpPr>
        <p:spPr>
          <a:xfrm>
            <a:off x="548640" y="1926336"/>
            <a:ext cx="11091672" cy="4364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1.  </a:t>
            </a:r>
            <a:r>
              <a:rPr lang="en-US" sz="2400" dirty="0">
                <a:solidFill>
                  <a:schemeClr val="tx1"/>
                </a:solidFill>
              </a:rPr>
              <a:t>The joint caused the leak. (95 %) → </a:t>
            </a:r>
            <a:r>
              <a:rPr lang="en-US" sz="2400" b="1" dirty="0">
                <a:solidFill>
                  <a:schemeClr val="accent3"/>
                </a:solidFill>
              </a:rPr>
              <a:t>The joint must have caused the leak.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2.  </a:t>
            </a:r>
            <a:r>
              <a:rPr lang="en-US" sz="2400" dirty="0">
                <a:solidFill>
                  <a:schemeClr val="tx1"/>
                </a:solidFill>
              </a:rPr>
              <a:t>The drainage is blocked. (50 %) → </a:t>
            </a:r>
            <a:r>
              <a:rPr lang="en-US" sz="2400" b="1" dirty="0">
                <a:solidFill>
                  <a:schemeClr val="accent3"/>
                </a:solidFill>
              </a:rPr>
              <a:t>The drainage may be blocked.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3.  </a:t>
            </a:r>
            <a:r>
              <a:rPr lang="en-US" sz="2400" dirty="0">
                <a:solidFill>
                  <a:schemeClr val="tx1"/>
                </a:solidFill>
              </a:rPr>
              <a:t>The works damaged the pipe. (40 %) → </a:t>
            </a:r>
            <a:r>
              <a:rPr lang="en-US" sz="2400" b="1" dirty="0">
                <a:solidFill>
                  <a:schemeClr val="accent3"/>
                </a:solidFill>
              </a:rPr>
              <a:t>The works might have damaged the pipe.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4.  </a:t>
            </a:r>
            <a:r>
              <a:rPr lang="en-US" sz="2400" dirty="0">
                <a:solidFill>
                  <a:schemeClr val="tx1"/>
                </a:solidFill>
              </a:rPr>
              <a:t>The alarm system failed. (5 %) → </a:t>
            </a:r>
            <a:r>
              <a:rPr lang="en-US" sz="2400" b="1" dirty="0">
                <a:solidFill>
                  <a:schemeClr val="accent3"/>
                </a:solidFill>
              </a:rPr>
              <a:t>The alarm system can’t have failed: it sent a notification at 23:42.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5.  </a:t>
            </a:r>
            <a:r>
              <a:rPr lang="en-US" sz="2400" dirty="0">
                <a:solidFill>
                  <a:schemeClr val="tx1"/>
                </a:solidFill>
              </a:rPr>
              <a:t>Inspect the basement. (advice) → </a:t>
            </a:r>
            <a:r>
              <a:rPr lang="en-US" sz="2400" b="1" dirty="0">
                <a:solidFill>
                  <a:schemeClr val="accent3"/>
                </a:solidFill>
              </a:rPr>
              <a:t>We should inspect the basement today.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Before you close the file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965960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END OF SESSION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6035040" cy="3108960"/>
          </a:xfrm>
          <a:prstGeom prst="roundRect">
            <a:avLst>
              <a:gd name="adj" fmla="val 2941"/>
            </a:avLst>
          </a:prstGeom>
          <a:solidFill>
            <a:schemeClr val="bg1">
              <a:alpha val="10000"/>
            </a:schemeClr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</a:rPr>
              <a:t>NEXT IN THE FILE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148840"/>
            <a:ext cx="5486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i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Mark will photograph your board. What is on it will go, </a:t>
            </a:r>
            <a:r>
              <a:rPr lang="en-US" sz="2400" b="1" i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word for word</a:t>
            </a:r>
            <a:r>
              <a:rPr lang="en-US" sz="2400" i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, into tonight’s report.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6903720" y="1554480"/>
            <a:ext cx="4736592" cy="4709160"/>
          </a:xfrm>
          <a:prstGeom prst="roundRect">
            <a:avLst>
              <a:gd name="adj" fmla="val 1942"/>
            </a:avLst>
          </a:prstGeom>
          <a:solidFill>
            <a:schemeClr val="bg1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0" y="1755648"/>
            <a:ext cx="365760" cy="3657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635240" y="173736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chemeClr val="tx2"/>
                </a:solidFill>
              </a:rPr>
              <a:t>BEFORE NEXT SESSION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132320" y="2286000"/>
            <a:ext cx="42976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Learn the certainty scale: </a:t>
            </a:r>
            <a:r>
              <a:rPr lang="en-US" sz="1700" b="1" dirty="0">
                <a:solidFill>
                  <a:schemeClr val="tx1"/>
                </a:solidFill>
              </a:rPr>
              <a:t>can’t · might · may · must</a:t>
            </a:r>
            <a:r>
              <a:rPr lang="en-US" sz="1700" dirty="0">
                <a:solidFill>
                  <a:schemeClr val="tx1"/>
                </a:solidFill>
              </a:rPr>
              <a:t> (+ should).</a:t>
            </a:r>
            <a:endParaRPr lang="en-US" sz="17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Learn the three rules: no -s, no to, no do.</a:t>
            </a:r>
            <a:endParaRPr lang="en-US" sz="17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Bring your group’s draft board next session.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548640" y="4892040"/>
            <a:ext cx="6035040" cy="1371600"/>
          </a:xfrm>
          <a:prstGeom prst="roundRect">
            <a:avLst>
              <a:gd name="adj" fmla="val 6667"/>
            </a:avLst>
          </a:prstGeom>
          <a:solidFill>
            <a:schemeClr val="accent1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77240" y="4983480"/>
            <a:ext cx="5623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bg1"/>
                </a:solidFill>
              </a:rPr>
              <a:t>EXIT TICKET  </a:t>
            </a:r>
            <a:endParaRPr lang="en-US" sz="1300" dirty="0"/>
          </a:p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One sentence about the leak with </a:t>
            </a:r>
            <a:r>
              <a:rPr lang="en-US" sz="1600" b="1" dirty="0">
                <a:solidFill>
                  <a:schemeClr val="bg1"/>
                </a:solidFill>
              </a:rPr>
              <a:t>might</a:t>
            </a:r>
            <a:r>
              <a:rPr lang="en-US" sz="1600" dirty="0">
                <a:solidFill>
                  <a:schemeClr val="bg1"/>
                </a:solidFill>
              </a:rPr>
              <a:t>, one with </a:t>
            </a:r>
            <a:r>
              <a:rPr lang="en-US" sz="1600" b="1" dirty="0">
                <a:solidFill>
                  <a:schemeClr val="bg1"/>
                </a:solidFill>
              </a:rPr>
              <a:t>can’t</a:t>
            </a:r>
            <a:r>
              <a:rPr lang="en-US" sz="1600" dirty="0">
                <a:solidFill>
                  <a:schemeClr val="bg1"/>
                </a:solidFill>
              </a:rPr>
              <a:t>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2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roject Atlas">
  <a:themeElements>
    <a:clrScheme name="Project Atlas">
      <a:dk1>
        <a:srgbClr val="1B2333"/>
      </a:dk1>
      <a:lt1>
        <a:srgbClr val="FFFFFF"/>
      </a:lt1>
      <a:dk2>
        <a:srgbClr val="1F3864"/>
      </a:dk2>
      <a:lt2>
        <a:srgbClr val="EEF2F8"/>
      </a:lt2>
      <a:accent1>
        <a:srgbClr val="C0752A"/>
      </a:accent1>
      <a:accent2>
        <a:srgbClr val="2E75B6"/>
      </a:accent2>
      <a:accent3>
        <a:srgbClr val="3C7A3C"/>
      </a:accent3>
      <a:accent4>
        <a:srgbClr val="6E4A9E"/>
      </a:accent4>
      <a:accent5>
        <a:srgbClr val="44546A"/>
      </a:accent5>
      <a:accent6>
        <a:srgbClr val="B03A2E"/>
      </a:accent6>
      <a:hlink>
        <a:srgbClr val="2E75B6"/>
      </a:hlink>
      <a:folHlink>
        <a:srgbClr val="6E4A9E"/>
      </a:folHlink>
    </a:clrScheme>
    <a:fontScheme name="Project Atla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English UE 3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Séance 14 — Four experts, one whiteboard</dc:title>
  <dc:subject>Case File 01 — The night nobody heard</dc:subject>
  <dc:creator>A. Jouniaux</dc:creator>
  <cp:lastModifiedBy>A. Jouniaux</cp:lastModifiedBy>
  <cp:revision>1</cp:revision>
  <dcterms:created xsi:type="dcterms:W3CDTF">2026-10-03T19:30:05Z</dcterms:created>
  <dcterms:modified xsi:type="dcterms:W3CDTF">2026-10-03T19:30:05Z</dcterms:modified>
</cp:coreProperties>
</file>