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2e3ba222-8431-de4f-20c6-a5fc2f5b842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lôture" id="{ddbdadd5-1171-9290-ea95-b34467fe309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 séance : présentation orale du rapport en comité (groupes de 4), phrase commune, bilan grammatical du dossier et ouverture sur la suite (« Two quotations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English UE 3 · Case File 01 — The night nobody heard · Séance 19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English UE 3 · Case File 01 — The night nobody heard · Séance 19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English UE 3 · A. Jouniaux · Project Atlas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19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TEAM CALL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18.00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18.00 — The committee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Two minutes each. Without reading.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Case File 01 — The night nobody heard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49</a:t>
            </a:r>
            <a:endParaRPr lang="en-US" sz="1800" dirty="0"/>
          </a:p>
        </p:txBody>
      </p:sp>
      <p:pic>
        <p:nvPicPr>
          <p:cNvPr id="6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1044"/>
            <a:ext cx="5120640" cy="3415912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Today's mission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BY THE END OF THE SESSION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two-minute oral report</a:t>
            </a:r>
            <a:r>
              <a:rPr lang="en-US" sz="1800" dirty="0">
                <a:solidFill>
                  <a:schemeClr val="tx1"/>
                </a:solidFill>
              </a:rPr>
              <a:t>, without reading — and </a:t>
            </a:r>
            <a:r>
              <a:rPr lang="en-US" sz="1800" b="1" dirty="0">
                <a:solidFill>
                  <a:schemeClr val="tx1"/>
                </a:solidFill>
              </a:rPr>
              <a:t>one sentence</a:t>
            </a:r>
            <a:r>
              <a:rPr lang="en-US" sz="1800" dirty="0">
                <a:solidFill>
                  <a:schemeClr val="tx1"/>
                </a:solidFill>
              </a:rPr>
              <a:t> agreed by the four firms.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LANGUAGE FOCUS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Signposting a short presentation · answering a judgement question without answering it · agreeing on a wording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SKILLS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Speaking from notes · active listening · group decision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ROADMAP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Warm-up: say it aloud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Presenting toolkit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judgement question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Prepare your notes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committee: groups of four</a:t>
            </a:r>
            <a:endParaRPr lang="en-US" sz="1600" dirty="0"/>
          </a:p>
        </p:txBody>
      </p:sp>
      <p:sp>
        <p:nvSpPr>
          <p:cNvPr id="41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25'</a:t>
            </a:r>
            <a:endParaRPr lang="en-US" sz="1500" dirty="0"/>
          </a:p>
        </p:txBody>
      </p:sp>
      <p:sp>
        <p:nvSpPr>
          <p:cNvPr id="42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4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sentence for the tenant</a:t>
            </a:r>
            <a:endParaRPr lang="en-US" sz="1600" dirty="0"/>
          </a:p>
        </p:txBody>
      </p:sp>
      <p:sp>
        <p:nvSpPr>
          <p:cNvPr id="45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6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8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Debrief: your toolkit</a:t>
            </a:r>
            <a:endParaRPr lang="en-US" sz="1600" dirty="0"/>
          </a:p>
        </p:txBody>
      </p:sp>
      <p:sp>
        <p:nvSpPr>
          <p:cNvPr id="49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50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2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Next file + self-assessment</a:t>
            </a:r>
            <a:endParaRPr lang="en-US" sz="1600" dirty="0"/>
          </a:p>
        </p:txBody>
      </p:sp>
      <p:sp>
        <p:nvSpPr>
          <p:cNvPr id="53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say it without hesitating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5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23:41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19.58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14 June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</a:t>
            </a:r>
            <a:endParaRPr lang="en-US" sz="2400" dirty="0"/>
          </a:p>
        </p:txBody>
      </p:sp>
      <p:sp>
        <p:nvSpPr>
          <p:cNvPr id="6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13 November 2026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€12,000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80 % → </a:t>
            </a:r>
            <a:r>
              <a:rPr lang="en-US" sz="2400" dirty="0">
                <a:solidFill>
                  <a:schemeClr val="accent5"/>
                </a:solidFill>
              </a:rPr>
              <a:t>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say it without hesitating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23:41 → </a:t>
            </a:r>
            <a:r>
              <a:rPr lang="en-US" sz="2400" b="1" dirty="0">
                <a:solidFill>
                  <a:schemeClr val="accent3"/>
                </a:solidFill>
              </a:rPr>
              <a:t>eleven forty-one p.m.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19.58 → </a:t>
            </a:r>
            <a:r>
              <a:rPr lang="en-US" sz="2400" b="1" dirty="0">
                <a:solidFill>
                  <a:schemeClr val="accent3"/>
                </a:solidFill>
              </a:rPr>
              <a:t>seven fifty-eight p.m.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14 June → </a:t>
            </a:r>
            <a:r>
              <a:rPr lang="en-US" sz="2400" b="1" dirty="0">
                <a:solidFill>
                  <a:schemeClr val="accent3"/>
                </a:solidFill>
              </a:rPr>
              <a:t>the fourteenth of June</a:t>
            </a:r>
            <a:endParaRPr lang="en-US" sz="2400" dirty="0"/>
          </a:p>
        </p:txBody>
      </p:sp>
      <p:sp>
        <p:nvSpPr>
          <p:cNvPr id="7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13 November 2026 → </a:t>
            </a:r>
            <a:r>
              <a:rPr lang="en-US" sz="2400" b="1" dirty="0">
                <a:solidFill>
                  <a:schemeClr val="accent3"/>
                </a:solidFill>
              </a:rPr>
              <a:t>the thirteenth of November, twenty twenty-six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€12,000 → </a:t>
            </a:r>
            <a:r>
              <a:rPr lang="en-US" sz="2400" b="1" dirty="0">
                <a:solidFill>
                  <a:schemeClr val="accent3"/>
                </a:solidFill>
              </a:rPr>
              <a:t>twelve thousand euros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80 % → </a:t>
            </a:r>
            <a:r>
              <a:rPr lang="en-US" sz="2400" b="1" dirty="0">
                <a:solidFill>
                  <a:schemeClr val="accent3"/>
                </a:solidFill>
              </a:rPr>
              <a:t>eighty per cent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18.00 — the committee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49</a:t>
            </a:r>
            <a:endParaRPr lang="en-US" sz="1200" dirty="0"/>
          </a:p>
        </p:txBody>
      </p:sp>
      <p:pic>
        <p:nvPicPr>
          <p:cNvPr id="5" name="illustration" descr="The committee around a round table at sun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589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995160" y="1508760"/>
            <a:ext cx="4645152" cy="3432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Groups of four. Twenty minutes.</a:t>
            </a:r>
            <a:r>
              <a:rPr lang="en-US" sz="1800" dirty="0">
                <a:solidFill>
                  <a:schemeClr val="tx1"/>
                </a:solidFill>
              </a:rPr>
              <a:t> Ferrand Logistics has convened a short committee.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Each of you presents your report </a:t>
            </a:r>
            <a:r>
              <a:rPr lang="en-US" sz="1800" b="1" dirty="0">
                <a:solidFill>
                  <a:schemeClr val="tx1"/>
                </a:solidFill>
              </a:rPr>
              <a:t>without reading it</a:t>
            </a:r>
            <a:r>
              <a:rPr lang="en-US" sz="1800" dirty="0">
                <a:solidFill>
                  <a:schemeClr val="tx1"/>
                </a:solidFill>
              </a:rPr>
              <a:t>, in two minutes.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Each listener asks </a:t>
            </a:r>
            <a:r>
              <a:rPr lang="en-US" sz="1800" b="1" dirty="0">
                <a:solidFill>
                  <a:schemeClr val="tx1"/>
                </a:solidFill>
              </a:rPr>
              <a:t>two</a:t>
            </a:r>
            <a:r>
              <a:rPr lang="en-US" sz="1800" dirty="0">
                <a:solidFill>
                  <a:schemeClr val="tx1"/>
                </a:solidFill>
              </a:rPr>
              <a:t> questions: one checking a </a:t>
            </a:r>
            <a:r>
              <a:rPr lang="en-US" sz="1800" b="1" dirty="0">
                <a:solidFill>
                  <a:schemeClr val="tx1"/>
                </a:solidFill>
              </a:rPr>
              <a:t>figure or a time</a:t>
            </a:r>
            <a:r>
              <a:rPr lang="en-US" sz="1800" dirty="0">
                <a:solidFill>
                  <a:schemeClr val="tx1"/>
                </a:solidFill>
              </a:rPr>
              <a:t>, one asking for a </a:t>
            </a:r>
            <a:r>
              <a:rPr lang="en-US" sz="1800" b="1" dirty="0">
                <a:solidFill>
                  <a:schemeClr val="tx1"/>
                </a:solidFill>
              </a:rPr>
              <a:t>judgement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Then the group agrees, out loud, on </a:t>
            </a:r>
            <a:r>
              <a:rPr lang="en-US" sz="1800" b="1" dirty="0">
                <a:solidFill>
                  <a:schemeClr val="tx1"/>
                </a:solidFill>
              </a:rPr>
              <a:t>one sentence</a:t>
            </a:r>
            <a:r>
              <a:rPr lang="en-US" sz="1800" dirty="0">
                <a:solidFill>
                  <a:schemeClr val="tx1"/>
                </a:solidFill>
              </a:rPr>
              <a:t>: what the four firms will say if the tenant asks tomorrow morning.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What is the most dangerous question a listener can ask you?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minutes, five signposts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1580" y="1664208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11580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I’d like to report on last night’s incident at Atlas House.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1883664"/>
            <a:ext cx="219456" cy="2194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25496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88436" y="166420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88436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935224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The times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2962656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First, the times. According to the alarm log, …</a:t>
            </a:r>
            <a:endParaRPr lang="en-US" sz="1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83664"/>
            <a:ext cx="219456" cy="21945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102352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65292" y="1664208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765292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5212080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Where we stand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5239512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So far, we have … However, we haven’t … yet.</a:t>
            </a:r>
            <a:endParaRPr lang="en-US" sz="17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883664"/>
            <a:ext cx="219456" cy="21945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379208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042148" y="1664208"/>
            <a:ext cx="658368" cy="6583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42148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7488936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History &amp; cause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7516368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This section has been under observation since June. It may …</a:t>
            </a:r>
            <a:endParaRPr lang="en-US" sz="17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1883664"/>
            <a:ext cx="219456" cy="219456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656064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319004" y="1664208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10319004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26"/>
          <p:cNvSpPr txBox="1"/>
          <p:nvPr/>
        </p:nvSpPr>
        <p:spPr>
          <a:xfrm>
            <a:off x="9765792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Next steps</a:t>
            </a:r>
            <a:endParaRPr lang="en-US" sz="1700" dirty="0"/>
          </a:p>
        </p:txBody>
      </p:sp>
      <p:sp>
        <p:nvSpPr>
          <p:cNvPr id="33" name="Text 27"/>
          <p:cNvSpPr txBox="1"/>
          <p:nvPr/>
        </p:nvSpPr>
        <p:spPr>
          <a:xfrm>
            <a:off x="9793224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We should … We will send … by 13 November.</a:t>
            </a:r>
            <a:endParaRPr lang="en-US" sz="1700" dirty="0"/>
          </a:p>
        </p:txBody>
      </p:sp>
      <p:sp>
        <p:nvSpPr>
          <p:cNvPr id="34" name="Shape 28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Astuce — </a:t>
            </a:r>
            <a:r>
              <a:rPr lang="en-US" sz="1700" dirty="0">
                <a:solidFill>
                  <a:schemeClr val="tx1"/>
                </a:solidFill>
              </a:rPr>
              <a:t>Look at your listeners, not at your notes. </a:t>
            </a:r>
            <a:r>
              <a:rPr lang="en-US" sz="1700" b="1" dirty="0">
                <a:solidFill>
                  <a:schemeClr val="tx1"/>
                </a:solidFill>
              </a:rPr>
              <a:t>Five keywords per section</a:t>
            </a:r>
            <a:r>
              <a:rPr lang="en-US" sz="1700" dirty="0">
                <a:solidFill>
                  <a:schemeClr val="tx1"/>
                </a:solidFill>
              </a:rPr>
              <a:t> on your card — no full sentences.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judgement question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Do you think the contractor is responsible?</a:t>
            </a:r>
            <a:r>
              <a:rPr lang="en-US" sz="1800" dirty="0">
                <a:solidFill>
                  <a:schemeClr val="tx1"/>
                </a:solidFill>
              </a:rPr>
              <a:t> — and see how the speaker avoids answering that directly.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47672"/>
            <a:ext cx="5225796" cy="4343400"/>
          </a:xfrm>
          <a:prstGeom prst="roundRect">
            <a:avLst>
              <a:gd name="adj" fmla="val 2105"/>
            </a:avLst>
          </a:prstGeom>
          <a:solidFill>
            <a:schemeClr val="accent6">
              <a:alpha val="8000"/>
            </a:schemeClr>
          </a:solidFill>
          <a:ln w="15875">
            <a:solidFill>
              <a:schemeClr val="accent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QUESTION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70632"/>
            <a:ext cx="47685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Do you think the contractor is responsible?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So whose fault is it?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Was it the site manager?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yes or a no = </a:t>
            </a:r>
            <a:r>
              <a:rPr lang="en-US" sz="2000" b="1" dirty="0">
                <a:solidFill>
                  <a:schemeClr val="tx1"/>
                </a:solidFill>
              </a:rPr>
              <a:t>a name</a:t>
            </a:r>
            <a:r>
              <a:rPr lang="en-US" sz="2000" dirty="0">
                <a:solidFill>
                  <a:schemeClr val="tx1"/>
                </a:solidFill>
              </a:rPr>
              <a:t> in the minutes.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14516" y="1947672"/>
            <a:ext cx="5225796" cy="4343400"/>
          </a:xfrm>
          <a:prstGeom prst="roundRect">
            <a:avLst>
              <a:gd name="adj" fmla="val 2105"/>
            </a:avLst>
          </a:prstGeom>
          <a:solidFill>
            <a:schemeClr val="accent3">
              <a:alpha val="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1488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46036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ANSWER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643116" y="2770632"/>
            <a:ext cx="47685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At this stage, it would be premature to say.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What we can establish is that …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That is not something we can prove today.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The cause is still being investigated; we will know more after the inspection.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838444" y="3863340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838444" y="38633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Your two questions as a listener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408676" cy="4809744"/>
          </a:xfrm>
          <a:prstGeom prst="roundRect">
            <a:avLst>
              <a:gd name="adj" fmla="val 1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01368"/>
            <a:ext cx="5408676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81328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CHECK A FIGURE OR A TIME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84832"/>
            <a:ext cx="5042916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Could you confirm the exact time of … ?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Where does that figure come from?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Is that from the log, or from memory?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31636" y="1481328"/>
            <a:ext cx="5408676" cy="4809744"/>
          </a:xfrm>
          <a:prstGeom prst="roundRect">
            <a:avLst>
              <a:gd name="adj" fmla="val 190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1636" y="1481328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1636" y="1801368"/>
            <a:ext cx="5408676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4516" y="1481328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ASK FOR A JUDGEMENT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14516" y="2084832"/>
            <a:ext cx="5042916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 your opinion, what caused it?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Do you think somebody should have known?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Would you file the claim today?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I listen for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For each speaker in your group, tick </a:t>
            </a:r>
            <a:r>
              <a:rPr lang="en-US" sz="1700" b="1" i="1" dirty="0">
                <a:solidFill>
                  <a:schemeClr val="accent5"/>
                </a:solidFill>
              </a:rPr>
              <a:t>YES</a:t>
            </a:r>
            <a:r>
              <a:rPr lang="en-US" sz="1700" i="1" dirty="0">
                <a:solidFill>
                  <a:schemeClr val="accent5"/>
                </a:solidFill>
              </a:rPr>
              <a:t> or </a:t>
            </a:r>
            <a:r>
              <a:rPr lang="en-US" sz="1700" b="1" i="1" dirty="0">
                <a:solidFill>
                  <a:schemeClr val="accent5"/>
                </a:solidFill>
              </a:rPr>
              <a:t>NO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94157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381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07008" y="194157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Two verifiable times, given </a:t>
            </a:r>
            <a:r>
              <a:rPr lang="en-US" sz="1900" b="1" dirty="0">
                <a:solidFill>
                  <a:schemeClr val="tx1"/>
                </a:solidFill>
              </a:rPr>
              <a:t>without hesitation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71881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1541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07008" y="271881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At least one </a:t>
            </a:r>
            <a:r>
              <a:rPr lang="en-US" sz="1900" b="1" dirty="0">
                <a:solidFill>
                  <a:schemeClr val="tx1"/>
                </a:solidFill>
              </a:rPr>
              <a:t>already</a:t>
            </a:r>
            <a:r>
              <a:rPr lang="en-US" sz="1900" dirty="0">
                <a:solidFill>
                  <a:schemeClr val="tx1"/>
                </a:solidFill>
              </a:rPr>
              <a:t> or </a:t>
            </a:r>
            <a:r>
              <a:rPr lang="en-US" sz="1900" b="1" dirty="0">
                <a:solidFill>
                  <a:schemeClr val="tx1"/>
                </a:solidFill>
              </a:rPr>
              <a:t>not yet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48640" y="349605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9265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349605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cause is given with </a:t>
            </a:r>
            <a:r>
              <a:rPr lang="en-US" sz="1900" b="1" dirty="0">
                <a:solidFill>
                  <a:schemeClr val="tx1"/>
                </a:solidFill>
              </a:rPr>
              <a:t>may</a:t>
            </a:r>
            <a:r>
              <a:rPr lang="en-US" sz="1900" dirty="0">
                <a:solidFill>
                  <a:schemeClr val="tx1"/>
                </a:solidFill>
              </a:rPr>
              <a:t> or </a:t>
            </a:r>
            <a:r>
              <a:rPr lang="en-US" sz="1900" b="1" dirty="0">
                <a:solidFill>
                  <a:schemeClr val="tx1"/>
                </a:solidFill>
              </a:rPr>
              <a:t>might</a:t>
            </a:r>
            <a:r>
              <a:rPr lang="en-US" sz="1900" dirty="0">
                <a:solidFill>
                  <a:schemeClr val="tx1"/>
                </a:solidFill>
              </a:rPr>
              <a:t> — never with </a:t>
            </a:r>
            <a:r>
              <a:rPr lang="en-US" sz="1900" b="1" dirty="0">
                <a:solidFill>
                  <a:schemeClr val="tx1"/>
                </a:solidFill>
              </a:rPr>
              <a:t>is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548640" y="427329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6989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07008" y="427329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clear recommendation with </a:t>
            </a:r>
            <a:r>
              <a:rPr lang="en-US" sz="1900" b="1" dirty="0">
                <a:solidFill>
                  <a:schemeClr val="tx1"/>
                </a:solidFill>
              </a:rPr>
              <a:t>should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8" name="Shape 12"/>
          <p:cNvSpPr/>
          <p:nvPr/>
        </p:nvSpPr>
        <p:spPr>
          <a:xfrm>
            <a:off x="548640" y="505053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247132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07008" y="505053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speaker </a:t>
            </a:r>
            <a:r>
              <a:rPr lang="en-US" sz="1900" b="1" dirty="0">
                <a:solidFill>
                  <a:schemeClr val="tx1"/>
                </a:solidFill>
              </a:rPr>
              <a:t>did not read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sentence for the tenant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The group agrees, out loud, on one sentence: what the four firms will say if the tenant asks tomorrow morning.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Your group’s sentence.</a:t>
            </a:r>
            <a:endParaRPr lang="en-US" sz="2600" dirty="0"/>
          </a:p>
        </p:txBody>
      </p:sp>
      <p:sp>
        <p:nvSpPr>
          <p:cNvPr id="7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One</a:t>
            </a:r>
            <a:r>
              <a:rPr lang="en-US" sz="1800" dirty="0">
                <a:solidFill>
                  <a:schemeClr val="tx1"/>
                </a:solidFill>
              </a:rPr>
              <a:t> sentence, agreed by the four firms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name, no cause stated as a fact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date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sentence for the tenant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The group agrees, out loud, on one sentence: what the four firms will say if the tenant asks tomorrow morning.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Your group’s sentence.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i="1" dirty="0">
                <a:solidFill>
                  <a:schemeClr val="accent3"/>
                </a:solidFill>
              </a:rPr>
              <a:t>An escape of water occurred overnight in the technical room; the times are documented, the cause is still being investigated, and the four firms will report in full by 13 November.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One</a:t>
            </a:r>
            <a:r>
              <a:rPr lang="en-US" sz="1800" dirty="0">
                <a:solidFill>
                  <a:schemeClr val="tx1"/>
                </a:solidFill>
              </a:rPr>
              <a:t> sentence, agreed by the four firms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name, no cause stated as a fact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date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Your toolkit, scene by scene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Tout le livret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108960"/>
                <a:gridCol w="4782312"/>
              </a:tblGrid>
              <a:tr h="5824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TOOL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WHAT IT DOES IN THE REPORT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Past simple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 dated fact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The alarm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went off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at 23.41.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Past continuous + while / when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the background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While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the building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empty, 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Present perfect + already / yet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where we stand now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We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have not inspected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the basement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yet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Present perfect + since / for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the history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It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has been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under observation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since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June.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Modals: may / might / can’t / should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the cause, and the advice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It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may have come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from joint 4.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Passive · impersonal subject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facts without names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 final inspection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was carried out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at 20.04.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False friends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saying what you mean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(✗ control) ·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attend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(✗ assist)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 can…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Tout le livret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Tick what you can do now. Circle what you still need to work 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94157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381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07008" y="194157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…take notes from a fast voicemail.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71881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1541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07008" y="271881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…tell a night in the past, with </a:t>
            </a:r>
            <a:r>
              <a:rPr lang="en-US" sz="1900" b="1" dirty="0">
                <a:solidFill>
                  <a:schemeClr val="tx1"/>
                </a:solidFill>
              </a:rPr>
              <a:t>while</a:t>
            </a:r>
            <a:r>
              <a:rPr lang="en-US" sz="1900" dirty="0">
                <a:solidFill>
                  <a:schemeClr val="tx1"/>
                </a:solidFill>
              </a:rPr>
              <a:t> and </a:t>
            </a:r>
            <a:r>
              <a:rPr lang="en-US" sz="1900" b="1" dirty="0">
                <a:solidFill>
                  <a:schemeClr val="tx1"/>
                </a:solidFill>
              </a:rPr>
              <a:t>when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48640" y="349605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9265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349605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…compare a witness with a log.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548640" y="427329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6989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07008" y="427329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…say </a:t>
            </a:r>
            <a:r>
              <a:rPr lang="en-US" sz="1900" b="1" dirty="0">
                <a:solidFill>
                  <a:schemeClr val="tx1"/>
                </a:solidFill>
              </a:rPr>
              <a:t>where we stand</a:t>
            </a:r>
            <a:r>
              <a:rPr lang="en-US" sz="1900" dirty="0">
                <a:solidFill>
                  <a:schemeClr val="tx1"/>
                </a:solidFill>
              </a:rPr>
              <a:t> with already / yet / just.</a:t>
            </a:r>
            <a:endParaRPr lang="en-US" sz="1900" dirty="0"/>
          </a:p>
        </p:txBody>
      </p:sp>
      <p:sp>
        <p:nvSpPr>
          <p:cNvPr id="18" name="Shape 12"/>
          <p:cNvSpPr/>
          <p:nvPr/>
        </p:nvSpPr>
        <p:spPr>
          <a:xfrm>
            <a:off x="6231636" y="194157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516" y="2138172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890004" y="194157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…clean false friends before forwarding an e-mail.</a:t>
            </a:r>
            <a:endParaRPr lang="en-US" sz="1900" dirty="0"/>
          </a:p>
        </p:txBody>
      </p:sp>
      <p:sp>
        <p:nvSpPr>
          <p:cNvPr id="21" name="Shape 14"/>
          <p:cNvSpPr/>
          <p:nvPr/>
        </p:nvSpPr>
        <p:spPr>
          <a:xfrm>
            <a:off x="6231636" y="271881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4516" y="2915412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890004" y="271881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…say </a:t>
            </a:r>
            <a:r>
              <a:rPr lang="en-US" sz="1900" b="1" dirty="0">
                <a:solidFill>
                  <a:schemeClr val="tx1"/>
                </a:solidFill>
              </a:rPr>
              <a:t>since when</a:t>
            </a:r>
            <a:r>
              <a:rPr lang="en-US" sz="1900" dirty="0">
                <a:solidFill>
                  <a:schemeClr val="tx1"/>
                </a:solidFill>
              </a:rPr>
              <a:t> with for / since.</a:t>
            </a:r>
            <a:endParaRPr lang="en-US" sz="1900" dirty="0"/>
          </a:p>
        </p:txBody>
      </p:sp>
      <p:sp>
        <p:nvSpPr>
          <p:cNvPr id="24" name="Shape 16"/>
          <p:cNvSpPr/>
          <p:nvPr/>
        </p:nvSpPr>
        <p:spPr>
          <a:xfrm>
            <a:off x="6231636" y="349605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516" y="3692652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890004" y="349605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…state a hypothesis with the right </a:t>
            </a:r>
            <a:r>
              <a:rPr lang="en-US" sz="1900" b="1" dirty="0">
                <a:solidFill>
                  <a:schemeClr val="tx1"/>
                </a:solidFill>
              </a:rPr>
              <a:t>modal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7" name="Shape 18"/>
          <p:cNvSpPr/>
          <p:nvPr/>
        </p:nvSpPr>
        <p:spPr>
          <a:xfrm>
            <a:off x="6231636" y="427329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4516" y="4469892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890004" y="427329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…write 200 words that </a:t>
            </a:r>
            <a:r>
              <a:rPr lang="en-US" sz="1900" b="1" dirty="0">
                <a:solidFill>
                  <a:schemeClr val="tx1"/>
                </a:solidFill>
              </a:rPr>
              <a:t>name nobody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At 18.52, a new e-mail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NEXT FILE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Livret p. 49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1004011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“The leak is fixed. Now we have to decide whether we </a:t>
            </a: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repair</a:t>
            </a: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the rest of the run or </a:t>
            </a: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replace</a:t>
            </a: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it.”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3895344"/>
            <a:ext cx="1004011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At 18.40 you send the report. At 18.52 an e-mail arrives from Mark. Subject: </a:t>
            </a:r>
            <a:r>
              <a:rPr lang="en-US" sz="2000" b="1" dirty="0">
                <a:solidFill>
                  <a:schemeClr val="bg2"/>
                </a:solidFill>
              </a:rPr>
              <a:t>“Two quotations”</a:t>
            </a:r>
            <a:r>
              <a:rPr lang="en-US" sz="2000" dirty="0">
                <a:solidFill>
                  <a:schemeClr val="bg2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There is a difference of seventeen thousand euros between the two. I need your recommendation by Monday.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Case file closed — for tonight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659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18.52 — Subject: “Two quotations”.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Repair or replace?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Seventeen thousand euros, and a recommendation by Monday.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Re-read your report against the assessor’s </a:t>
            </a:r>
            <a:r>
              <a:rPr lang="en-US" sz="1700" b="1" dirty="0">
                <a:solidFill>
                  <a:schemeClr val="tx1"/>
                </a:solidFill>
              </a:rPr>
              <a:t>nine checks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Keep your </a:t>
            </a:r>
            <a:r>
              <a:rPr lang="en-US" sz="1700" b="1" dirty="0">
                <a:solidFill>
                  <a:schemeClr val="tx1"/>
                </a:solidFill>
              </a:rPr>
              <a:t>Word files</a:t>
            </a:r>
            <a:r>
              <a:rPr lang="en-US" sz="1700" dirty="0">
                <a:solidFill>
                  <a:schemeClr val="tx1"/>
                </a:solidFill>
              </a:rPr>
              <a:t>: they will come back in the next case.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Think: </a:t>
            </a:r>
            <a:r>
              <a:rPr lang="en-US" sz="1700" b="1" dirty="0">
                <a:solidFill>
                  <a:schemeClr val="tx1"/>
                </a:solidFill>
              </a:rPr>
              <a:t>repair or replace?</a:t>
            </a:r>
            <a:r>
              <a:rPr lang="en-US" sz="1700" dirty="0">
                <a:solidFill>
                  <a:schemeClr val="tx1"/>
                </a:solidFill>
              </a:rPr>
              <a:t> — what would your firm need to know?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EXIT TICKET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One thing you will </a:t>
            </a:r>
            <a:r>
              <a:rPr lang="en-US" sz="1600" b="1" dirty="0">
                <a:solidFill>
                  <a:schemeClr val="bg1"/>
                </a:solidFill>
              </a:rPr>
              <a:t>never</a:t>
            </a:r>
            <a:r>
              <a:rPr lang="en-US" sz="1600" dirty="0">
                <a:solidFill>
                  <a:schemeClr val="bg1"/>
                </a:solidFill>
              </a:rPr>
              <a:t> write again in a report — and why.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19 — 18.00 — The committee</dc:title>
  <dc:subject>Case File 01 — The night nobody heard</dc:subject>
  <dc:creator>A. Jouniaux</dc:creator>
  <cp:lastModifiedBy>A. Jouniaux</cp:lastModifiedBy>
  <cp:revision>1</cp:revision>
  <dcterms:created xsi:type="dcterms:W3CDTF">2026-10-03T19:30:05Z</dcterms:created>
  <dcterms:modified xsi:type="dcterms:W3CDTF">2026-10-03T19:30:05Z</dcterms:modified>
</cp:coreProperties>
</file>