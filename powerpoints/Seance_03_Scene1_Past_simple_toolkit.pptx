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30b7d5bc-5e0d-35ee-65b1-943b2025792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Clôture" id="{d5f89658-dc94-d6a2-ed68-08c30d9ac12a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de consolidation grammaticale : prétérit (formes, prononciation, orthographe) et verbes à particule du Word file p.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Rythme soutenu : les Dry runs sont chronométrés (3 minutes).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Oral rapide.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Oral rapide.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Projeter le poster (p. 5 du livret, ici remis à l’endroit). Faire formuler les règles par les élèves avant de montrer la colonne de droite.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4e carte (question sujet) sera reprise en séance 7 (Dry run p. 14 : « Who entered at 20.04?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répéter en chœur ; mains sur la gorge pour sentir la vibration (voiced / voiceless).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 orale, en insistant sur les /t/ (locked, noticed) souvent prononcés /ɪd/.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 orale, en insistant sur les /t/ (locked, noticed) souvent prononcés /ɪd/.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Chronométrer 3 minutes pour A, B et C (comme dans le livret).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Chronométrer 3 minutes pour A, B et C (comme dans le livret).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Exiger phrase complète : sujet + verbe au prétérit + at + heure.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Exiger phrase complète : sujet + verbe au prétérit + at + heure.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Erreur attendue : « didn’t heard », « Did they found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Erreur attendue : « didn’t heard », « Did they found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Lecture, répétition, puis faire produire une phrase par verbe à propos de l’incident.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Approfondissement : position de l’objet.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ajouté. Variante orale : un élève dit la phrase « simple », l’autre la reformule.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ajouté. Variante orale : un élève dit la phrase « simple », l’autre la reformule.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English UE 3 · Case File 01 — The night nobody heard · Séance 03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English UE 3 · Case File 01 — The night nobody heard · Séance 03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2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English UE 3 · A. Jouniaux · Project Atlas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03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SCENE 1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06.58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forms every line will stand on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Past simple · the verbs an incident is made of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Case File 01 — The night nobody heard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5–7</a:t>
            </a:r>
            <a:endParaRPr lang="en-US" sz="1800" dirty="0"/>
          </a:p>
        </p:txBody>
      </p:sp>
      <p:pic>
        <p:nvPicPr>
          <p:cNvPr id="6" name="illustration" descr="Scene 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2730"/>
            <a:ext cx="5120640" cy="3412541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Today's mission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BRIEFING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5–7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BY THE END OF THE SESSION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past forms of the report — </a:t>
            </a:r>
            <a:r>
              <a:rPr lang="en-US" sz="1800" b="1" dirty="0">
                <a:solidFill>
                  <a:schemeClr val="tx1"/>
                </a:solidFill>
              </a:rPr>
              <a:t>fast and without mistakes</a:t>
            </a:r>
            <a:r>
              <a:rPr lang="en-US" sz="1800" dirty="0">
                <a:solidFill>
                  <a:schemeClr val="tx1"/>
                </a:solidFill>
              </a:rPr>
              <a:t> — and the eight phrasal verbs an incident is made of.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LANGUAGE FOCUS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Past simple: regular / irregular, negative, question, subject question · pronouncing </a:t>
            </a:r>
            <a:r>
              <a:rPr lang="en-US" sz="1600" b="1" dirty="0">
                <a:solidFill>
                  <a:schemeClr val="tx1"/>
                </a:solidFill>
              </a:rPr>
              <a:t>-ed</a:t>
            </a:r>
            <a:r>
              <a:rPr lang="en-US" sz="1600" dirty="0">
                <a:solidFill>
                  <a:schemeClr val="tx1"/>
                </a:solidFill>
              </a:rPr>
              <a:t> · phrasal verbs (</a:t>
            </a:r>
            <a:r>
              <a:rPr lang="en-US" sz="1600" i="1" dirty="0">
                <a:solidFill>
                  <a:schemeClr val="tx1"/>
                </a:solidFill>
              </a:rPr>
              <a:t>go off, break down, shut down…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SKILLS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Accuracy under time pressure (Dry run) · using phrasal verbs in a professional context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ROADMAP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2887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28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Warm-up: times and three verbs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42163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421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36728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past simple poster (p. 5)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36728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29143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2914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86004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Four forms + one trap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86004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40715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40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35280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Pronouncing -ed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35280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389991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3899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384556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Dry run A–C (p. 6)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384556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39267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39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33832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Correction</a:t>
            </a:r>
            <a:endParaRPr lang="en-US" sz="15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33832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488543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4885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483108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Word file: phrasal verbs (p. 7)</a:t>
            </a:r>
            <a:endParaRPr lang="en-US" sz="15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483108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3781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37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32384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Extra practice</a:t>
            </a:r>
            <a:endParaRPr lang="en-US" sz="15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32384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55" name="Shape 49"/>
          <p:cNvSpPr/>
          <p:nvPr/>
        </p:nvSpPr>
        <p:spPr>
          <a:xfrm>
            <a:off x="6263640" y="587095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6263640" y="5870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6784848" y="581660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Wrap-up</a:t>
            </a:r>
            <a:endParaRPr lang="en-US" sz="1500" dirty="0"/>
          </a:p>
        </p:txBody>
      </p:sp>
      <p:sp>
        <p:nvSpPr>
          <p:cNvPr id="58" name="Text 52"/>
          <p:cNvSpPr txBox="1"/>
          <p:nvPr/>
        </p:nvSpPr>
        <p:spPr>
          <a:xfrm>
            <a:off x="10972800" y="581660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times and dated facts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2</a:t>
            </a:r>
            <a:endParaRPr lang="en-US" sz="12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06.58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08.15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23.41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I need the timeline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nine.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</p:txBody>
      </p:sp>
      <p:sp>
        <p:nvSpPr>
          <p:cNvPr id="7" name="exercise"/>
          <p:cNvSpPr txBox="1"/>
          <p:nvPr/>
        </p:nvSpPr>
        <p:spPr>
          <a:xfrm>
            <a:off x="6277356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find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go off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hear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The alarm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at 23.41. (go off)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times and dated facts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2</a:t>
            </a:r>
            <a:endParaRPr lang="en-US" sz="12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06.58 → </a:t>
            </a:r>
            <a:r>
              <a:rPr lang="en-US" sz="2400" b="1" dirty="0">
                <a:solidFill>
                  <a:schemeClr val="accent3"/>
                </a:solidFill>
              </a:rPr>
              <a:t>six fifty-eight / two minutes to seven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08.15 → </a:t>
            </a:r>
            <a:r>
              <a:rPr lang="en-US" sz="2400" b="1" dirty="0">
                <a:solidFill>
                  <a:schemeClr val="accent3"/>
                </a:solidFill>
              </a:rPr>
              <a:t>eight fifteen / a quarter past eight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23.41 → </a:t>
            </a:r>
            <a:r>
              <a:rPr lang="en-US" sz="2400" b="1" dirty="0">
                <a:solidFill>
                  <a:schemeClr val="accent3"/>
                </a:solidFill>
              </a:rPr>
              <a:t>eleven forty-one p.m.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I need the timeline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nine. → </a:t>
            </a:r>
            <a:r>
              <a:rPr lang="en-US" sz="2400" b="1" dirty="0">
                <a:solidFill>
                  <a:schemeClr val="accent3"/>
                </a:solidFill>
              </a:rPr>
              <a:t>by</a:t>
            </a:r>
            <a:endParaRPr lang="en-US" sz="24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find → </a:t>
            </a:r>
            <a:r>
              <a:rPr lang="en-US" sz="2400" b="1" dirty="0">
                <a:solidFill>
                  <a:schemeClr val="accent3"/>
                </a:solidFill>
              </a:rPr>
              <a:t>found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go off → </a:t>
            </a:r>
            <a:r>
              <a:rPr lang="en-US" sz="2400" b="1" dirty="0">
                <a:solidFill>
                  <a:schemeClr val="accent3"/>
                </a:solidFill>
              </a:rPr>
              <a:t>went off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hear → </a:t>
            </a:r>
            <a:r>
              <a:rPr lang="en-US" sz="2400" b="1" dirty="0">
                <a:solidFill>
                  <a:schemeClr val="accent3"/>
                </a:solidFill>
              </a:rPr>
              <a:t>heard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The alarm </a:t>
            </a:r>
            <a:r>
              <a:rPr lang="en-US" sz="2400" b="1" dirty="0">
                <a:solidFill>
                  <a:schemeClr val="accent3"/>
                </a:solidFill>
              </a:rPr>
              <a:t>went off</a:t>
            </a:r>
            <a:r>
              <a:rPr lang="en-US" sz="2400" dirty="0">
                <a:solidFill>
                  <a:schemeClr val="tx1"/>
                </a:solidFill>
              </a:rPr>
              <a:t> at 23.41. (go off)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past simple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FIELD NOTE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</a:t>
            </a:r>
            <a:endParaRPr lang="en-US" sz="1200" dirty="0"/>
          </a:p>
        </p:txBody>
      </p:sp>
      <p:pic>
        <p:nvPicPr>
          <p:cNvPr id="6" name="illustration" descr="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205472" cy="4801932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aside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205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60000"/>
              </a:scheme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16642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64108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3"/>
                </a:solidFill>
              </a:rPr>
              <a:t>THE RULES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8238744" y="2075688"/>
            <a:ext cx="323697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Regular: </a:t>
            </a:r>
            <a:r>
              <a:rPr lang="en-US" sz="1800" b="1" dirty="0">
                <a:solidFill>
                  <a:schemeClr val="tx1"/>
                </a:solidFill>
              </a:rPr>
              <a:t>base + -ed</a:t>
            </a:r>
            <a:r>
              <a:rPr lang="en-US" sz="1800" dirty="0">
                <a:solidFill>
                  <a:schemeClr val="tx1"/>
                </a:solidFill>
              </a:rPr>
              <a:t> — work → worked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Spelling: carr</a:t>
            </a:r>
            <a:r>
              <a:rPr lang="en-US" sz="1800" b="1" dirty="0">
                <a:solidFill>
                  <a:schemeClr val="tx1"/>
                </a:solidFill>
              </a:rPr>
              <a:t>ied</a:t>
            </a:r>
            <a:r>
              <a:rPr lang="en-US" sz="1800" dirty="0">
                <a:solidFill>
                  <a:schemeClr val="tx1"/>
                </a:solidFill>
              </a:rPr>
              <a:t> · sto</a:t>
            </a:r>
            <a:r>
              <a:rPr lang="en-US" sz="1800" b="1" dirty="0">
                <a:solidFill>
                  <a:schemeClr val="tx1"/>
                </a:solidFill>
              </a:rPr>
              <a:t>pp</a:t>
            </a:r>
            <a:r>
              <a:rPr lang="en-US" sz="1800" dirty="0">
                <a:solidFill>
                  <a:schemeClr val="tx1"/>
                </a:solidFill>
              </a:rPr>
              <a:t>ed · live</a:t>
            </a:r>
            <a:r>
              <a:rPr lang="en-US" sz="1800" b="1" dirty="0">
                <a:solidFill>
                  <a:schemeClr val="tx1"/>
                </a:solidFill>
              </a:rPr>
              <a:t>d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Irregular: </a:t>
            </a:r>
            <a:r>
              <a:rPr lang="en-US" sz="1800" b="1" dirty="0">
                <a:solidFill>
                  <a:schemeClr val="tx1"/>
                </a:solidFill>
              </a:rPr>
              <a:t>no pattern — learn by heart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Negative: </a:t>
            </a:r>
            <a:r>
              <a:rPr lang="en-US" sz="1800" b="1" dirty="0">
                <a:solidFill>
                  <a:schemeClr val="tx1"/>
                </a:solidFill>
              </a:rPr>
              <a:t>didn’t + base form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Question: </a:t>
            </a:r>
            <a:r>
              <a:rPr lang="en-US" sz="1800" b="1" dirty="0">
                <a:solidFill>
                  <a:schemeClr val="tx1"/>
                </a:solidFill>
              </a:rPr>
              <a:t>Did + subject + base form?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Past simple: four forms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5–6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2567178" cy="388315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2567178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AFFIRMATIVE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220141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subject + V-ed / V2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10536"/>
            <a:ext cx="2201418" cy="274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alarm </a:t>
            </a:r>
            <a:r>
              <a:rPr lang="en-US" sz="2000" b="1" dirty="0">
                <a:solidFill>
                  <a:schemeClr val="tx1"/>
                </a:solidFill>
              </a:rPr>
              <a:t>went off</a:t>
            </a:r>
            <a:r>
              <a:rPr lang="en-US" sz="2000" dirty="0">
                <a:solidFill>
                  <a:schemeClr val="tx1"/>
                </a:solidFill>
              </a:rPr>
              <a:t> at 23.41.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cleaners </a:t>
            </a:r>
            <a:r>
              <a:rPr lang="en-US" sz="2000" b="1" dirty="0">
                <a:solidFill>
                  <a:schemeClr val="tx1"/>
                </a:solidFill>
              </a:rPr>
              <a:t>called</a:t>
            </a:r>
            <a:r>
              <a:rPr lang="en-US" sz="2000" dirty="0">
                <a:solidFill>
                  <a:schemeClr val="tx1"/>
                </a:solidFill>
              </a:rPr>
              <a:t> Mark.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90138" y="1481328"/>
            <a:ext cx="2567178" cy="388315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90138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14" name="Shape 11"/>
          <p:cNvSpPr/>
          <p:nvPr/>
        </p:nvSpPr>
        <p:spPr>
          <a:xfrm>
            <a:off x="3390138" y="1801368"/>
            <a:ext cx="2567178" cy="1828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73018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NEGATIVE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573018" y="2084832"/>
            <a:ext cx="220141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didn’t + base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3573018" y="2510536"/>
            <a:ext cx="2201418" cy="274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guard </a:t>
            </a:r>
            <a:r>
              <a:rPr lang="en-US" sz="2000" b="1" dirty="0">
                <a:solidFill>
                  <a:schemeClr val="tx1"/>
                </a:solidFill>
              </a:rPr>
              <a:t>didn’t hear</a:t>
            </a:r>
            <a:r>
              <a:rPr lang="en-US" sz="2000" dirty="0">
                <a:solidFill>
                  <a:schemeClr val="tx1"/>
                </a:solidFill>
              </a:rPr>
              <a:t> the alarm.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✗ </a:t>
            </a:r>
            <a:r>
              <a:rPr lang="en-US" sz="2000" i="1" dirty="0">
                <a:solidFill>
                  <a:schemeClr val="tx1"/>
                </a:solidFill>
              </a:rPr>
              <a:t>didn’t heard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231636" y="1481328"/>
            <a:ext cx="2567178" cy="388315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31636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20" name="Shape 17"/>
          <p:cNvSpPr/>
          <p:nvPr/>
        </p:nvSpPr>
        <p:spPr>
          <a:xfrm>
            <a:off x="6231636" y="1801368"/>
            <a:ext cx="256717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QUESTION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414516" y="2084832"/>
            <a:ext cx="220141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Did + subject + base?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414516" y="2510536"/>
            <a:ext cx="2201418" cy="274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Did</a:t>
            </a:r>
            <a:r>
              <a:rPr lang="en-US" sz="2000" dirty="0">
                <a:solidFill>
                  <a:schemeClr val="tx1"/>
                </a:solidFill>
              </a:rPr>
              <a:t> the guard </a:t>
            </a:r>
            <a:r>
              <a:rPr lang="en-US" sz="2000" b="1" dirty="0">
                <a:solidFill>
                  <a:schemeClr val="tx1"/>
                </a:solidFill>
              </a:rPr>
              <a:t>hear</a:t>
            </a:r>
            <a:r>
              <a:rPr lang="en-US" sz="2000" dirty="0">
                <a:solidFill>
                  <a:schemeClr val="tx1"/>
                </a:solidFill>
              </a:rPr>
              <a:t> the alarm?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✗ </a:t>
            </a:r>
            <a:r>
              <a:rPr lang="en-US" sz="2000" i="1" dirty="0">
                <a:solidFill>
                  <a:schemeClr val="tx1"/>
                </a:solidFill>
              </a:rPr>
              <a:t>Did he heard?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9073134" y="1481328"/>
            <a:ext cx="2567178" cy="388315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073134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26" name="Shape 23"/>
          <p:cNvSpPr/>
          <p:nvPr/>
        </p:nvSpPr>
        <p:spPr>
          <a:xfrm>
            <a:off x="9073134" y="1801368"/>
            <a:ext cx="2567178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56014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SUBJECT QUESTION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256014" y="2084832"/>
            <a:ext cx="220141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Who / What + V2?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9256014" y="2510536"/>
            <a:ext cx="2201418" cy="274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Who found</a:t>
            </a:r>
            <a:r>
              <a:rPr lang="en-US" sz="2000" dirty="0">
                <a:solidFill>
                  <a:schemeClr val="tx1"/>
                </a:solidFill>
              </a:rPr>
              <a:t> the water?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What happened?</a:t>
            </a:r>
            <a:r>
              <a:rPr lang="en-US" sz="2000" dirty="0">
                <a:solidFill>
                  <a:schemeClr val="tx1"/>
                </a:solidFill>
              </a:rPr>
              <a:t> — no </a:t>
            </a:r>
            <a:r>
              <a:rPr lang="en-US" sz="2000" i="1" dirty="0">
                <a:solidFill>
                  <a:schemeClr val="tx1"/>
                </a:solidFill>
              </a:rPr>
              <a:t>did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Après </a:t>
            </a:r>
            <a:r>
              <a:rPr lang="en-US" sz="1700" b="1" dirty="0">
                <a:solidFill>
                  <a:schemeClr val="tx1"/>
                </a:solidFill>
              </a:rPr>
              <a:t>did / didn’t</a:t>
            </a:r>
            <a:r>
              <a:rPr lang="en-US" sz="1700" dirty="0">
                <a:solidFill>
                  <a:schemeClr val="tx1"/>
                </a:solidFill>
              </a:rPr>
              <a:t>, le verbe revient à la base : la marque du passé n’apparaît qu’</a:t>
            </a:r>
            <a:r>
              <a:rPr lang="en-US" sz="1700" b="1" dirty="0">
                <a:solidFill>
                  <a:schemeClr val="tx1"/>
                </a:solidFill>
              </a:rPr>
              <a:t>une seule fois</a:t>
            </a:r>
            <a:r>
              <a:rPr lang="en-US" sz="1700" dirty="0">
                <a:solidFill>
                  <a:schemeClr val="tx1"/>
                </a:solidFill>
              </a:rPr>
              <a:t>. </a:t>
            </a:r>
            <a:r>
              <a:rPr lang="en-US" sz="1700" i="1" dirty="0">
                <a:solidFill>
                  <a:schemeClr val="tx1"/>
                </a:solidFill>
              </a:rPr>
              <a:t>Did you saw</a:t>
            </a:r>
            <a:r>
              <a:rPr lang="en-US" sz="1700" dirty="0">
                <a:solidFill>
                  <a:schemeClr val="tx1"/>
                </a:solidFill>
              </a:rPr>
              <a:t> ✗ → </a:t>
            </a:r>
            <a:r>
              <a:rPr lang="en-US" sz="1700" i="1" dirty="0">
                <a:solidFill>
                  <a:schemeClr val="tx1"/>
                </a:solidFill>
              </a:rPr>
              <a:t>Did you </a:t>
            </a:r>
            <a:r>
              <a:rPr lang="en-US" sz="1700" b="1" i="1" dirty="0">
                <a:solidFill>
                  <a:schemeClr val="tx1"/>
                </a:solidFill>
              </a:rPr>
              <a:t>see</a:t>
            </a:r>
            <a:r>
              <a:rPr lang="en-US" sz="1700" dirty="0">
                <a:solidFill>
                  <a:schemeClr val="tx1"/>
                </a:solidFill>
              </a:rPr>
              <a:t> ✓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Pronouncing -ed: three sounds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5166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PRONUNCIATION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3514344" cy="3922776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/t/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locked · checked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627376"/>
            <a:ext cx="3148584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after </a:t>
            </a:r>
            <a:r>
              <a:rPr lang="en-US" sz="2000" b="1" dirty="0">
                <a:solidFill>
                  <a:schemeClr val="tx1"/>
                </a:solidFill>
              </a:rPr>
              <a:t>voiceless</a:t>
            </a:r>
            <a:r>
              <a:rPr lang="en-US" sz="2000" dirty="0">
                <a:solidFill>
                  <a:schemeClr val="tx1"/>
                </a:solidFill>
              </a:rPr>
              <a:t> sounds: p, k, f, s, sh, ch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stopped · noticed · washed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37304" y="1481328"/>
            <a:ext cx="3514344" cy="3922776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7304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14" name="Shape 11"/>
          <p:cNvSpPr/>
          <p:nvPr/>
        </p:nvSpPr>
        <p:spPr>
          <a:xfrm>
            <a:off x="4337304" y="1801368"/>
            <a:ext cx="3514344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0184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/d/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0184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called · opened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520184" y="2627376"/>
            <a:ext cx="3148584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after </a:t>
            </a:r>
            <a:r>
              <a:rPr lang="en-US" sz="2000" b="1" dirty="0">
                <a:solidFill>
                  <a:schemeClr val="tx1"/>
                </a:solidFill>
              </a:rPr>
              <a:t>voiced</a:t>
            </a:r>
            <a:r>
              <a:rPr lang="en-US" sz="2000" dirty="0">
                <a:solidFill>
                  <a:schemeClr val="tx1"/>
                </a:solidFill>
              </a:rPr>
              <a:t> sounds (vowels, b, g, l, m, n, v…)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arrived · cleaned · logged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125968" y="1481328"/>
            <a:ext cx="3514344" cy="3922776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25968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0" name="Shape 17"/>
          <p:cNvSpPr/>
          <p:nvPr/>
        </p:nvSpPr>
        <p:spPr>
          <a:xfrm>
            <a:off x="8125968" y="1801368"/>
            <a:ext cx="3514344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08848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/ɪd/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308848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started · recorded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308848" y="2627376"/>
            <a:ext cx="3148584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only after </a:t>
            </a:r>
            <a:r>
              <a:rPr lang="en-US" sz="2000" b="1" dirty="0">
                <a:solidFill>
                  <a:schemeClr val="tx1"/>
                </a:solidFill>
              </a:rPr>
              <a:t>t</a:t>
            </a:r>
            <a:r>
              <a:rPr lang="en-US" sz="2000" dirty="0">
                <a:solidFill>
                  <a:schemeClr val="tx1"/>
                </a:solidFill>
              </a:rPr>
              <a:t> or </a:t>
            </a:r>
            <a:r>
              <a:rPr lang="en-US" sz="2000" b="1" dirty="0">
                <a:solidFill>
                  <a:schemeClr val="tx1"/>
                </a:solidFill>
              </a:rPr>
              <a:t>d</a:t>
            </a:r>
            <a:r>
              <a:rPr lang="en-US" sz="2000" dirty="0">
                <a:solidFill>
                  <a:schemeClr val="tx1"/>
                </a:solidFill>
              </a:rPr>
              <a:t>: one extra syllable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inspected · flooded · reported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Astuce — </a:t>
            </a:r>
            <a:r>
              <a:rPr lang="en-US" sz="1700" dirty="0">
                <a:solidFill>
                  <a:schemeClr val="tx1"/>
                </a:solidFill>
              </a:rPr>
              <a:t>Only </a:t>
            </a:r>
            <a:r>
              <a:rPr lang="en-US" sz="1700" b="1" dirty="0">
                <a:solidFill>
                  <a:schemeClr val="tx1"/>
                </a:solidFill>
              </a:rPr>
              <a:t>t</a:t>
            </a:r>
            <a:r>
              <a:rPr lang="en-US" sz="1700" dirty="0">
                <a:solidFill>
                  <a:schemeClr val="tx1"/>
                </a:solidFill>
              </a:rPr>
              <a:t> and </a:t>
            </a:r>
            <a:r>
              <a:rPr lang="en-US" sz="1700" b="1" dirty="0">
                <a:solidFill>
                  <a:schemeClr val="tx1"/>
                </a:solidFill>
              </a:rPr>
              <a:t>d</a:t>
            </a:r>
            <a:r>
              <a:rPr lang="en-US" sz="1700" dirty="0">
                <a:solidFill>
                  <a:schemeClr val="tx1"/>
                </a:solidFill>
              </a:rPr>
              <a:t> add a syllable: </a:t>
            </a:r>
            <a:r>
              <a:rPr lang="en-US" sz="1700" i="1" dirty="0">
                <a:solidFill>
                  <a:schemeClr val="tx1"/>
                </a:solidFill>
              </a:rPr>
              <a:t>lock-ed</a:t>
            </a:r>
            <a:r>
              <a:rPr lang="en-US" sz="1700" dirty="0">
                <a:solidFill>
                  <a:schemeClr val="tx1"/>
                </a:solidFill>
              </a:rPr>
              <a:t> ✗ → /lɒkt/ ✓ · </a:t>
            </a:r>
            <a:r>
              <a:rPr lang="en-US" sz="1700" i="1" dirty="0">
                <a:solidFill>
                  <a:schemeClr val="tx1"/>
                </a:solidFill>
              </a:rPr>
              <a:t>record-ed</a:t>
            </a:r>
            <a:r>
              <a:rPr lang="en-US" sz="1700" dirty="0">
                <a:solidFill>
                  <a:schemeClr val="tx1"/>
                </a:solidFill>
              </a:rPr>
              <a:t> /rɪˈkɔːdɪd/ ✓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/t/, /d/ or /ɪd/?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Say each verb aloud, then write the sound of the ending.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locked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recorded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called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noticed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started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opened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checked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flooded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9.  </a:t>
            </a:r>
            <a:r>
              <a:rPr lang="en-US" sz="2400" dirty="0">
                <a:solidFill>
                  <a:schemeClr val="tx1"/>
                </a:solidFill>
              </a:rPr>
              <a:t>arrived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10.  </a:t>
            </a:r>
            <a:r>
              <a:rPr lang="en-US" sz="2400" dirty="0">
                <a:solidFill>
                  <a:schemeClr val="tx1"/>
                </a:solidFill>
              </a:rPr>
              <a:t>reported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/t/, /d/ or /ɪd/?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Say each verb aloud, then write the sound of the ending.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locked → </a:t>
            </a:r>
            <a:r>
              <a:rPr lang="en-US" sz="2400" b="1" dirty="0">
                <a:solidFill>
                  <a:schemeClr val="accent3"/>
                </a:solidFill>
              </a:rPr>
              <a:t>/t/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recorded → </a:t>
            </a:r>
            <a:r>
              <a:rPr lang="en-US" sz="2400" b="1" dirty="0">
                <a:solidFill>
                  <a:schemeClr val="accent3"/>
                </a:solidFill>
              </a:rPr>
              <a:t>/ɪd/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called → </a:t>
            </a:r>
            <a:r>
              <a:rPr lang="en-US" sz="2400" b="1" dirty="0">
                <a:solidFill>
                  <a:schemeClr val="accent3"/>
                </a:solidFill>
              </a:rPr>
              <a:t>/d/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noticed → </a:t>
            </a:r>
            <a:r>
              <a:rPr lang="en-US" sz="2400" b="1" dirty="0">
                <a:solidFill>
                  <a:schemeClr val="accent3"/>
                </a:solidFill>
              </a:rPr>
              <a:t>/t/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started → </a:t>
            </a:r>
            <a:r>
              <a:rPr lang="en-US" sz="2400" b="1" dirty="0">
                <a:solidFill>
                  <a:schemeClr val="accent3"/>
                </a:solidFill>
              </a:rPr>
              <a:t>/ɪd/</a:t>
            </a:r>
            <a:endParaRPr lang="en-US" sz="2400" dirty="0"/>
          </a:p>
        </p:txBody>
      </p:sp>
      <p:sp>
        <p:nvSpPr>
          <p:cNvPr id="9" name="exercise"/>
          <p:cNvSpPr txBox="1"/>
          <p:nvPr/>
        </p:nvSpPr>
        <p:spPr>
          <a:xfrm>
            <a:off x="6277356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opened → </a:t>
            </a:r>
            <a:r>
              <a:rPr lang="en-US" sz="2400" b="1" dirty="0">
                <a:solidFill>
                  <a:schemeClr val="accent3"/>
                </a:solidFill>
              </a:rPr>
              <a:t>/d/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checked → </a:t>
            </a:r>
            <a:r>
              <a:rPr lang="en-US" sz="2400" b="1" dirty="0">
                <a:solidFill>
                  <a:schemeClr val="accent3"/>
                </a:solidFill>
              </a:rPr>
              <a:t>/t/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flooded → </a:t>
            </a:r>
            <a:r>
              <a:rPr lang="en-US" sz="2400" b="1" dirty="0">
                <a:solidFill>
                  <a:schemeClr val="accent3"/>
                </a:solidFill>
              </a:rPr>
              <a:t>/ɪd/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9.  </a:t>
            </a:r>
            <a:r>
              <a:rPr lang="en-US" sz="2400" dirty="0">
                <a:solidFill>
                  <a:schemeClr val="tx1"/>
                </a:solidFill>
              </a:rPr>
              <a:t>arrived → </a:t>
            </a:r>
            <a:r>
              <a:rPr lang="en-US" sz="2400" b="1" dirty="0">
                <a:solidFill>
                  <a:schemeClr val="accent3"/>
                </a:solidFill>
              </a:rPr>
              <a:t>/d/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10.  </a:t>
            </a:r>
            <a:r>
              <a:rPr lang="en-US" sz="2400" dirty="0">
                <a:solidFill>
                  <a:schemeClr val="tx1"/>
                </a:solidFill>
              </a:rPr>
              <a:t>reported → </a:t>
            </a:r>
            <a:r>
              <a:rPr lang="en-US" sz="2400" b="1" dirty="0">
                <a:solidFill>
                  <a:schemeClr val="accent3"/>
                </a:solidFill>
              </a:rPr>
              <a:t>/ɪd/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minutes on the forms you will write today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· Write the past form. Six are irregular; two are traps.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find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go off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hear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begin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</p:txBody>
      </p:sp>
      <p:sp>
        <p:nvSpPr>
          <p:cNvPr id="8" name="exercise"/>
          <p:cNvSpPr txBox="1"/>
          <p:nvPr/>
        </p:nvSpPr>
        <p:spPr>
          <a:xfrm>
            <a:off x="43205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leave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lock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notice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shut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EXPECTED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Irregular</a:t>
            </a:r>
            <a:r>
              <a:rPr lang="en-US" sz="1800" dirty="0">
                <a:solidFill>
                  <a:schemeClr val="tx1"/>
                </a:solidFill>
              </a:rPr>
              <a:t> = learn by heart.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b="1" dirty="0">
                <a:solidFill>
                  <a:schemeClr val="tx1"/>
                </a:solidFill>
              </a:rPr>
              <a:t>trap</a:t>
            </a:r>
            <a:r>
              <a:rPr lang="en-US" sz="1800" dirty="0">
                <a:solidFill>
                  <a:schemeClr val="tx1"/>
                </a:solidFill>
              </a:rPr>
              <a:t> = a regular verb you </a:t>
            </a:r>
            <a:r>
              <a:rPr lang="en-US" sz="1800" i="1" dirty="0">
                <a:solidFill>
                  <a:schemeClr val="tx1"/>
                </a:solidFill>
              </a:rPr>
              <a:t>expect</a:t>
            </a:r>
            <a:r>
              <a:rPr lang="en-US" sz="1800" dirty="0">
                <a:solidFill>
                  <a:schemeClr val="tx1"/>
                </a:solidFill>
              </a:rPr>
              <a:t> to be irregular.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Three minutes, alone.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minutes on the forms you will write today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· Write the past form. Six are irregular; two are traps.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find → </a:t>
            </a:r>
            <a:r>
              <a:rPr lang="en-US" sz="2400" b="1" dirty="0">
                <a:solidFill>
                  <a:schemeClr val="accent3"/>
                </a:solidFill>
              </a:rPr>
              <a:t>found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go off → </a:t>
            </a:r>
            <a:r>
              <a:rPr lang="en-US" sz="2400" b="1" dirty="0">
                <a:solidFill>
                  <a:schemeClr val="accent3"/>
                </a:solidFill>
              </a:rPr>
              <a:t>went off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hear → </a:t>
            </a:r>
            <a:r>
              <a:rPr lang="en-US" sz="2400" b="1" dirty="0">
                <a:solidFill>
                  <a:schemeClr val="accent3"/>
                </a:solidFill>
              </a:rPr>
              <a:t>heard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begin → </a:t>
            </a:r>
            <a:r>
              <a:rPr lang="en-US" sz="2400" b="1" dirty="0">
                <a:solidFill>
                  <a:schemeClr val="accent3"/>
                </a:solidFill>
              </a:rPr>
              <a:t>began</a:t>
            </a:r>
            <a:endParaRPr lang="en-US" sz="2400" dirty="0"/>
          </a:p>
        </p:txBody>
      </p:sp>
      <p:sp>
        <p:nvSpPr>
          <p:cNvPr id="9" name="exercise"/>
          <p:cNvSpPr txBox="1"/>
          <p:nvPr/>
        </p:nvSpPr>
        <p:spPr>
          <a:xfrm>
            <a:off x="43205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leave → </a:t>
            </a:r>
            <a:r>
              <a:rPr lang="en-US" sz="2400" b="1" dirty="0">
                <a:solidFill>
                  <a:schemeClr val="accent3"/>
                </a:solidFill>
              </a:rPr>
              <a:t>left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lock → </a:t>
            </a:r>
            <a:r>
              <a:rPr lang="en-US" sz="2400" b="1" dirty="0">
                <a:solidFill>
                  <a:schemeClr val="accent3"/>
                </a:solidFill>
              </a:rPr>
              <a:t>locked — regular!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notice → </a:t>
            </a:r>
            <a:r>
              <a:rPr lang="en-US" sz="2400" b="1" dirty="0">
                <a:solidFill>
                  <a:schemeClr val="accent3"/>
                </a:solidFill>
              </a:rPr>
              <a:t>noticed — regular!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shut → </a:t>
            </a:r>
            <a:r>
              <a:rPr lang="en-US" sz="2400" b="1" dirty="0">
                <a:solidFill>
                  <a:schemeClr val="accent3"/>
                </a:solidFill>
              </a:rPr>
              <a:t>shut</a:t>
            </a:r>
            <a:endParaRPr lang="en-US" sz="2400" dirty="0"/>
          </a:p>
        </p:txBody>
      </p:sp>
      <p:sp>
        <p:nvSpPr>
          <p:cNvPr id="10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WATCH OUT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lock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b="1" dirty="0">
                <a:solidFill>
                  <a:schemeClr val="tx1"/>
                </a:solidFill>
              </a:rPr>
              <a:t>notice</a:t>
            </a:r>
            <a:r>
              <a:rPr lang="en-US" sz="1800" dirty="0">
                <a:solidFill>
                  <a:schemeClr val="tx1"/>
                </a:solidFill>
              </a:rPr>
              <a:t>: regular → </a:t>
            </a:r>
            <a:r>
              <a:rPr lang="en-US" sz="1800" i="1" dirty="0">
                <a:solidFill>
                  <a:schemeClr val="tx1"/>
                </a:solidFill>
              </a:rPr>
              <a:t>locked, noticed</a:t>
            </a:r>
            <a:r>
              <a:rPr lang="en-US" sz="1800" dirty="0">
                <a:solidFill>
                  <a:schemeClr val="tx1"/>
                </a:solidFill>
              </a:rPr>
              <a:t> (/t/).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shut → shut</a:t>
            </a:r>
            <a:r>
              <a:rPr lang="en-US" sz="1800" dirty="0">
                <a:solidFill>
                  <a:schemeClr val="tx1"/>
                </a:solidFill>
              </a:rPr>
              <a:t>: same form (like </a:t>
            </a:r>
            <a:r>
              <a:rPr lang="en-US" sz="1800" i="1" dirty="0">
                <a:solidFill>
                  <a:schemeClr val="tx1"/>
                </a:solidFill>
              </a:rPr>
              <a:t>put, cut, set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begin → began</a:t>
            </a:r>
            <a:r>
              <a:rPr lang="en-US" sz="1800" dirty="0">
                <a:solidFill>
                  <a:schemeClr val="tx1"/>
                </a:solidFill>
              </a:rPr>
              <a:t> (≠ begun).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Put the clock in the sentence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B · Rewrite each as a full sentence with the time.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cleaners / water / 6.50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alarm / go off / 11.41 p.m.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team / leave / 7.58 p.m.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Put the clock in the sentence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B · Rewrite each as a full sentence with the time.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cleaners / water / 6.50 → </a:t>
            </a:r>
            <a:r>
              <a:rPr lang="en-US" sz="2400" b="1" dirty="0">
                <a:solidFill>
                  <a:schemeClr val="accent3"/>
                </a:solidFill>
              </a:rPr>
              <a:t>The cleaners found the water at 6.50 a.m.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alarm / go off / 11.41 p.m. → </a:t>
            </a:r>
            <a:r>
              <a:rPr lang="en-US" sz="2400" b="1" dirty="0">
                <a:solidFill>
                  <a:schemeClr val="accent3"/>
                </a:solidFill>
              </a:rPr>
              <a:t>The alarm went off at 11.41 p.m.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team / leave / 7.58 p.m. → </a:t>
            </a:r>
            <a:r>
              <a:rPr lang="en-US" sz="2400" b="1" dirty="0">
                <a:solidFill>
                  <a:schemeClr val="accent3"/>
                </a:solidFill>
              </a:rPr>
              <a:t>The team left at 7.58 p.m.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WATCH OUT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at</a:t>
            </a:r>
            <a:r>
              <a:rPr lang="en-US" sz="1800" dirty="0">
                <a:solidFill>
                  <a:schemeClr val="tx1"/>
                </a:solidFill>
              </a:rPr>
              <a:t> + a precise time.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time → </a:t>
            </a:r>
            <a:r>
              <a:rPr lang="en-US" sz="1800" b="1" dirty="0">
                <a:solidFill>
                  <a:schemeClr val="tx1"/>
                </a:solidFill>
              </a:rPr>
              <a:t>past simple</a:t>
            </a:r>
            <a:r>
              <a:rPr lang="en-US" sz="1800" dirty="0">
                <a:solidFill>
                  <a:schemeClr val="tx1"/>
                </a:solidFill>
              </a:rPr>
              <a:t> (✗ </a:t>
            </a:r>
            <a:r>
              <a:rPr lang="en-US" sz="1800" i="1" dirty="0">
                <a:solidFill>
                  <a:schemeClr val="tx1"/>
                </a:solidFill>
              </a:rPr>
              <a:t>has gone off at…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Turn each fact into a negative, then a question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 · Two facts, two negatives, two questions.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 · The guard heard the alarm.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negative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question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 · The cleaners found the leak at midnight.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negative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question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Turn each fact into a negative, then a question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 · Two facts, two negatives, two questions.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 · The guard heard the alarm.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negative → </a:t>
            </a:r>
            <a:r>
              <a:rPr lang="en-US" sz="2400" b="1" dirty="0">
                <a:solidFill>
                  <a:schemeClr val="accent3"/>
                </a:solidFill>
              </a:rPr>
              <a:t>The guard didn’t hear the alarm.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question → </a:t>
            </a:r>
            <a:r>
              <a:rPr lang="en-US" sz="2400" b="1" dirty="0">
                <a:solidFill>
                  <a:schemeClr val="accent3"/>
                </a:solidFill>
              </a:rPr>
              <a:t>Did the guard hear the alarm?</a:t>
            </a:r>
            <a:endParaRPr lang="en-US" sz="24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 · The cleaners found the leak at midnight.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negative → </a:t>
            </a:r>
            <a:r>
              <a:rPr lang="en-US" sz="2400" b="1" dirty="0">
                <a:solidFill>
                  <a:schemeClr val="accent3"/>
                </a:solidFill>
              </a:rPr>
              <a:t>The cleaners didn’t find the leak at midnight.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question → </a:t>
            </a:r>
            <a:r>
              <a:rPr lang="en-US" sz="2400" b="1" dirty="0">
                <a:solidFill>
                  <a:schemeClr val="accent3"/>
                </a:solidFill>
              </a:rPr>
              <a:t>Did the cleaners find the leak at midnight?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WATCH OUT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did / didn’t + </a:t>
            </a:r>
            <a:r>
              <a:rPr lang="en-US" sz="1800" b="1" dirty="0">
                <a:solidFill>
                  <a:schemeClr val="tx1"/>
                </a:solidFill>
              </a:rPr>
              <a:t>base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en-US" sz="1800" i="1" dirty="0">
                <a:solidFill>
                  <a:schemeClr val="tx1"/>
                </a:solidFill>
              </a:rPr>
              <a:t>hear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i="1" dirty="0">
                <a:solidFill>
                  <a:schemeClr val="tx1"/>
                </a:solidFill>
              </a:rPr>
              <a:t>find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Formal report: </a:t>
            </a:r>
            <a:r>
              <a:rPr lang="en-US" sz="1800" b="1" dirty="0">
                <a:solidFill>
                  <a:schemeClr val="tx1"/>
                </a:solidFill>
              </a:rPr>
              <a:t>did not</a:t>
            </a:r>
            <a:r>
              <a:rPr lang="en-US" sz="1800" dirty="0">
                <a:solidFill>
                  <a:schemeClr val="tx1"/>
                </a:solidFill>
              </a:rPr>
              <a:t> (no contraction).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verbs an incident is made of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WORD FILE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An incident is told through phrasal verbs. The verb alone is not enough, and the particle changes everything.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5971032"/>
              </a:tblGrid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PHRASAL VERB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DANS CE DOSSIER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 go off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 déclencher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The alarm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went off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at 11.41.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 break down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tomber en panne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Two units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broke down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during the night.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 shut down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s’arrêter, s’éteindre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Rack A2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shut down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automatically.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 turn up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arriver, se présenter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Nobody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turned up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before 6.47.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 look into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examiner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 will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look into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the log this morning.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 sort out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régler, démêler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We must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sort this out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before Friday.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 call out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faire venir (un technicien)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Should we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call out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an engineer today?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 put off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reporter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We cannot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put off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the decision.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phrasal verbs work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5408676" cy="3883152"/>
          </a:xfrm>
          <a:prstGeom prst="roundRect">
            <a:avLst>
              <a:gd name="adj" fmla="val 2355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5408676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5408676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5042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INSEPARABLE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5042916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look into + the log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627376"/>
            <a:ext cx="5042916" cy="262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 will </a:t>
            </a:r>
            <a:r>
              <a:rPr lang="en-US" sz="2000" b="1" dirty="0">
                <a:solidFill>
                  <a:schemeClr val="tx1"/>
                </a:solidFill>
              </a:rPr>
              <a:t>look into the log</a:t>
            </a:r>
            <a:r>
              <a:rPr lang="en-US" sz="2000" dirty="0">
                <a:solidFill>
                  <a:schemeClr val="tx1"/>
                </a:solidFill>
              </a:rPr>
              <a:t>. ✗ </a:t>
            </a:r>
            <a:r>
              <a:rPr lang="en-US" sz="2000" i="1" dirty="0">
                <a:solidFill>
                  <a:schemeClr val="tx1"/>
                </a:solidFill>
              </a:rPr>
              <a:t>look the log into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object at all: the alarm </a:t>
            </a:r>
            <a:r>
              <a:rPr lang="en-US" sz="2000" b="1" dirty="0">
                <a:solidFill>
                  <a:schemeClr val="tx1"/>
                </a:solidFill>
              </a:rPr>
              <a:t>went off</a:t>
            </a:r>
            <a:r>
              <a:rPr lang="en-US" sz="2000" dirty="0">
                <a:solidFill>
                  <a:schemeClr val="tx1"/>
                </a:solidFill>
              </a:rPr>
              <a:t> · two units </a:t>
            </a:r>
            <a:r>
              <a:rPr lang="en-US" sz="2000" b="1" dirty="0">
                <a:solidFill>
                  <a:schemeClr val="tx1"/>
                </a:solidFill>
              </a:rPr>
              <a:t>broke down</a:t>
            </a:r>
            <a:r>
              <a:rPr lang="en-US" sz="2000" dirty="0">
                <a:solidFill>
                  <a:schemeClr val="tx1"/>
                </a:solidFill>
              </a:rPr>
              <a:t> · nobody </a:t>
            </a:r>
            <a:r>
              <a:rPr lang="en-US" sz="2000" b="1" dirty="0">
                <a:solidFill>
                  <a:schemeClr val="tx1"/>
                </a:solidFill>
              </a:rPr>
              <a:t>turned up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231636" y="1481328"/>
            <a:ext cx="5408676" cy="3883152"/>
          </a:xfrm>
          <a:prstGeom prst="roundRect">
            <a:avLst>
              <a:gd name="adj" fmla="val 2355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31636" y="1481328"/>
            <a:ext cx="5408676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4" name="Shape 11"/>
          <p:cNvSpPr/>
          <p:nvPr/>
        </p:nvSpPr>
        <p:spPr>
          <a:xfrm>
            <a:off x="6231636" y="1801368"/>
            <a:ext cx="5408676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4516" y="1481328"/>
            <a:ext cx="5042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SEPARABLE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14516" y="2084832"/>
            <a:ext cx="5042916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sort out the claim / sort it out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414516" y="2627376"/>
            <a:ext cx="5042916" cy="262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 must </a:t>
            </a:r>
            <a:r>
              <a:rPr lang="en-US" sz="2000" b="1" dirty="0">
                <a:solidFill>
                  <a:schemeClr val="tx1"/>
                </a:solidFill>
              </a:rPr>
              <a:t>sort out the claim</a:t>
            </a:r>
            <a:r>
              <a:rPr lang="en-US" sz="2000" dirty="0">
                <a:solidFill>
                  <a:schemeClr val="tx1"/>
                </a:solidFill>
              </a:rPr>
              <a:t> = </a:t>
            </a:r>
            <a:r>
              <a:rPr lang="en-US" sz="2000" b="1" dirty="0">
                <a:solidFill>
                  <a:schemeClr val="tx1"/>
                </a:solidFill>
              </a:rPr>
              <a:t>sort the claim out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With a pronoun, the pronoun goes </a:t>
            </a:r>
            <a:r>
              <a:rPr lang="en-US" sz="2000" b="1" dirty="0">
                <a:solidFill>
                  <a:schemeClr val="tx1"/>
                </a:solidFill>
              </a:rPr>
              <a:t>in the middle</a:t>
            </a:r>
            <a:r>
              <a:rPr lang="en-US" sz="2000" dirty="0">
                <a:solidFill>
                  <a:schemeClr val="tx1"/>
                </a:solidFill>
              </a:rPr>
              <a:t>: </a:t>
            </a:r>
            <a:r>
              <a:rPr lang="en-US" sz="2000" b="1" dirty="0">
                <a:solidFill>
                  <a:schemeClr val="tx1"/>
                </a:solidFill>
              </a:rPr>
              <a:t>sort it out</a:t>
            </a:r>
            <a:r>
              <a:rPr lang="en-US" sz="2000" dirty="0">
                <a:solidFill>
                  <a:schemeClr val="tx1"/>
                </a:solidFill>
              </a:rPr>
              <a:t> ✓ — ✗ </a:t>
            </a:r>
            <a:r>
              <a:rPr lang="en-US" sz="2000" i="1" dirty="0">
                <a:solidFill>
                  <a:schemeClr val="tx1"/>
                </a:solidFill>
              </a:rPr>
              <a:t>sort out it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Also: </a:t>
            </a:r>
            <a:r>
              <a:rPr lang="en-US" sz="2000" b="1" dirty="0">
                <a:solidFill>
                  <a:schemeClr val="tx1"/>
                </a:solidFill>
              </a:rPr>
              <a:t>call out</a:t>
            </a:r>
            <a:r>
              <a:rPr lang="en-US" sz="2000" dirty="0">
                <a:solidFill>
                  <a:schemeClr val="tx1"/>
                </a:solidFill>
              </a:rPr>
              <a:t> an engineer · </a:t>
            </a:r>
            <a:r>
              <a:rPr lang="en-US" sz="2000" b="1" dirty="0">
                <a:solidFill>
                  <a:schemeClr val="tx1"/>
                </a:solidFill>
              </a:rPr>
              <a:t>put off</a:t>
            </a:r>
            <a:r>
              <a:rPr lang="en-US" sz="2000" dirty="0">
                <a:solidFill>
                  <a:schemeClr val="tx1"/>
                </a:solidFill>
              </a:rPr>
              <a:t> the decision · </a:t>
            </a:r>
            <a:r>
              <a:rPr lang="en-US" sz="2000" b="1" dirty="0">
                <a:solidFill>
                  <a:schemeClr val="tx1"/>
                </a:solidFill>
              </a:rPr>
              <a:t>shut down</a:t>
            </a:r>
            <a:r>
              <a:rPr lang="en-US" sz="2000" dirty="0">
                <a:solidFill>
                  <a:schemeClr val="tx1"/>
                </a:solidFill>
              </a:rPr>
              <a:t> the rack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Astuce — </a:t>
            </a:r>
            <a:r>
              <a:rPr lang="en-US" sz="1700" dirty="0">
                <a:solidFill>
                  <a:schemeClr val="tx1"/>
                </a:solidFill>
              </a:rPr>
              <a:t>The </a:t>
            </a:r>
            <a:r>
              <a:rPr lang="en-US" sz="1700" b="1" dirty="0">
                <a:solidFill>
                  <a:schemeClr val="tx1"/>
                </a:solidFill>
              </a:rPr>
              <a:t>particle changes the meaning</a:t>
            </a:r>
            <a:r>
              <a:rPr lang="en-US" sz="1700" dirty="0">
                <a:solidFill>
                  <a:schemeClr val="tx1"/>
                </a:solidFill>
              </a:rPr>
              <a:t>: go </a:t>
            </a:r>
            <a:r>
              <a:rPr lang="en-US" sz="1700" b="1" dirty="0">
                <a:solidFill>
                  <a:schemeClr val="tx1"/>
                </a:solidFill>
              </a:rPr>
              <a:t>off</a:t>
            </a:r>
            <a:r>
              <a:rPr lang="en-US" sz="1700" dirty="0">
                <a:solidFill>
                  <a:schemeClr val="tx1"/>
                </a:solidFill>
              </a:rPr>
              <a:t> (se déclencher) · go </a:t>
            </a:r>
            <a:r>
              <a:rPr lang="en-US" sz="1700" b="1" dirty="0">
                <a:solidFill>
                  <a:schemeClr val="tx1"/>
                </a:solidFill>
              </a:rPr>
              <a:t>out</a:t>
            </a:r>
            <a:r>
              <a:rPr lang="en-US" sz="1700" dirty="0">
                <a:solidFill>
                  <a:schemeClr val="tx1"/>
                </a:solidFill>
              </a:rPr>
              <a:t> (s’éteindre, sortir) · go </a:t>
            </a:r>
            <a:r>
              <a:rPr lang="en-US" sz="1700" b="1" dirty="0">
                <a:solidFill>
                  <a:schemeClr val="tx1"/>
                </a:solidFill>
              </a:rPr>
              <a:t>on</a:t>
            </a:r>
            <a:r>
              <a:rPr lang="en-US" sz="1700" dirty="0">
                <a:solidFill>
                  <a:schemeClr val="tx1"/>
                </a:solidFill>
              </a:rPr>
              <a:t> (continuer) · go </a:t>
            </a:r>
            <a:r>
              <a:rPr lang="en-US" sz="1700" b="1" dirty="0">
                <a:solidFill>
                  <a:schemeClr val="tx1"/>
                </a:solidFill>
              </a:rPr>
              <a:t>down</a:t>
            </a:r>
            <a:r>
              <a:rPr lang="en-US" sz="1700" dirty="0">
                <a:solidFill>
                  <a:schemeClr val="tx1"/>
                </a:solidFill>
              </a:rPr>
              <a:t> (baisser, tomber en panne).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Say it like an incident report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Replace the verb in bold with a phrasal verb from the Word file, in the right form.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The engineer </a:t>
            </a:r>
            <a:r>
              <a:rPr lang="en-US" sz="2400" b="1" dirty="0">
                <a:solidFill>
                  <a:schemeClr val="tx1"/>
                </a:solidFill>
              </a:rPr>
              <a:t>arrived</a:t>
            </a:r>
            <a:r>
              <a:rPr lang="en-US" sz="2400" dirty="0">
                <a:solidFill>
                  <a:schemeClr val="tx1"/>
                </a:solidFill>
              </a:rPr>
              <a:t> at 9.30. → The engineer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at 9.30.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We </a:t>
            </a:r>
            <a:r>
              <a:rPr lang="en-US" sz="2400" b="1" dirty="0">
                <a:solidFill>
                  <a:schemeClr val="tx1"/>
                </a:solidFill>
              </a:rPr>
              <a:t>postponed</a:t>
            </a:r>
            <a:r>
              <a:rPr lang="en-US" sz="2400" dirty="0">
                <a:solidFill>
                  <a:schemeClr val="tx1"/>
                </a:solidFill>
              </a:rPr>
              <a:t> the meeting. → We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the meeting.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The server </a:t>
            </a:r>
            <a:r>
              <a:rPr lang="en-US" sz="2400" b="1" dirty="0">
                <a:solidFill>
                  <a:schemeClr val="tx1"/>
                </a:solidFill>
              </a:rPr>
              <a:t>stopped</a:t>
            </a:r>
            <a:r>
              <a:rPr lang="en-US" sz="2400" dirty="0">
                <a:solidFill>
                  <a:schemeClr val="tx1"/>
                </a:solidFill>
              </a:rPr>
              <a:t> automatically. → The server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automatically.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Legal will </a:t>
            </a:r>
            <a:r>
              <a:rPr lang="en-US" sz="2400" b="1" dirty="0">
                <a:solidFill>
                  <a:schemeClr val="tx1"/>
                </a:solidFill>
              </a:rPr>
              <a:t>examine</a:t>
            </a:r>
            <a:r>
              <a:rPr lang="en-US" sz="2400" dirty="0">
                <a:solidFill>
                  <a:schemeClr val="tx1"/>
                </a:solidFill>
              </a:rPr>
              <a:t> the badge log. → Legal will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the badge log.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Two cooling units </a:t>
            </a:r>
            <a:r>
              <a:rPr lang="en-US" sz="2400" b="1" dirty="0">
                <a:solidFill>
                  <a:schemeClr val="tx1"/>
                </a:solidFill>
              </a:rPr>
              <a:t>failed</a:t>
            </a:r>
            <a:r>
              <a:rPr lang="en-US" sz="2400" dirty="0">
                <a:solidFill>
                  <a:schemeClr val="tx1"/>
                </a:solidFill>
              </a:rPr>
              <a:t>. → Two cooling units </a:t>
            </a:r>
            <a:r>
              <a:rPr lang="en-US" sz="2400" dirty="0">
                <a:solidFill>
                  <a:schemeClr val="accent5"/>
                </a:solidFill>
              </a:rPr>
              <a:t>………………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We must </a:t>
            </a:r>
            <a:r>
              <a:rPr lang="en-US" sz="2400" b="1" dirty="0">
                <a:solidFill>
                  <a:schemeClr val="tx1"/>
                </a:solidFill>
              </a:rPr>
              <a:t>solve</a:t>
            </a:r>
            <a:r>
              <a:rPr lang="en-US" sz="2400" dirty="0">
                <a:solidFill>
                  <a:schemeClr val="tx1"/>
                </a:solidFill>
              </a:rPr>
              <a:t> this before Friday. → We must </a:t>
            </a:r>
            <a:r>
              <a:rPr lang="en-US" sz="2400" dirty="0">
                <a:solidFill>
                  <a:schemeClr val="accent5"/>
                </a:solidFill>
              </a:rPr>
              <a:t>…………………</a:t>
            </a:r>
            <a:r>
              <a:rPr lang="en-US" sz="2400" dirty="0">
                <a:solidFill>
                  <a:schemeClr val="tx1"/>
                </a:solidFill>
              </a:rPr>
              <a:t> before Friday.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Should we </a:t>
            </a:r>
            <a:r>
              <a:rPr lang="en-US" sz="2400" b="1" dirty="0">
                <a:solidFill>
                  <a:schemeClr val="tx1"/>
                </a:solidFill>
              </a:rPr>
              <a:t>ask</a:t>
            </a:r>
            <a:r>
              <a:rPr lang="en-US" sz="2400" dirty="0">
                <a:solidFill>
                  <a:schemeClr val="tx1"/>
                </a:solidFill>
              </a:rPr>
              <a:t> a plumber </a:t>
            </a:r>
            <a:r>
              <a:rPr lang="en-US" sz="2400" b="1" dirty="0">
                <a:solidFill>
                  <a:schemeClr val="tx1"/>
                </a:solidFill>
              </a:rPr>
              <a:t>to come</a:t>
            </a:r>
            <a:r>
              <a:rPr lang="en-US" sz="2400" dirty="0">
                <a:solidFill>
                  <a:schemeClr val="tx1"/>
                </a:solidFill>
              </a:rPr>
              <a:t> today? → Should we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a plumber today?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Say it like an incident report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Replace the verb in bold with a phrasal verb from the Word file, in the right form.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The engineer </a:t>
            </a:r>
            <a:r>
              <a:rPr lang="en-US" sz="2400" b="1" dirty="0">
                <a:solidFill>
                  <a:schemeClr val="tx1"/>
                </a:solidFill>
              </a:rPr>
              <a:t>arrived</a:t>
            </a:r>
            <a:r>
              <a:rPr lang="en-US" sz="2400" dirty="0">
                <a:solidFill>
                  <a:schemeClr val="tx1"/>
                </a:solidFill>
              </a:rPr>
              <a:t> at 9.30. → The engineer </a:t>
            </a:r>
            <a:r>
              <a:rPr lang="en-US" sz="2400" b="1" dirty="0">
                <a:solidFill>
                  <a:schemeClr val="accent3"/>
                </a:solidFill>
              </a:rPr>
              <a:t>turned up</a:t>
            </a:r>
            <a:r>
              <a:rPr lang="en-US" sz="2400" dirty="0">
                <a:solidFill>
                  <a:schemeClr val="tx1"/>
                </a:solidFill>
              </a:rPr>
              <a:t> at 9.30.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We </a:t>
            </a:r>
            <a:r>
              <a:rPr lang="en-US" sz="2400" b="1" dirty="0">
                <a:solidFill>
                  <a:schemeClr val="tx1"/>
                </a:solidFill>
              </a:rPr>
              <a:t>postponed</a:t>
            </a:r>
            <a:r>
              <a:rPr lang="en-US" sz="2400" dirty="0">
                <a:solidFill>
                  <a:schemeClr val="tx1"/>
                </a:solidFill>
              </a:rPr>
              <a:t> the meeting. → We </a:t>
            </a:r>
            <a:r>
              <a:rPr lang="en-US" sz="2400" b="1" dirty="0">
                <a:solidFill>
                  <a:schemeClr val="accent3"/>
                </a:solidFill>
              </a:rPr>
              <a:t>put off</a:t>
            </a:r>
            <a:r>
              <a:rPr lang="en-US" sz="2400" dirty="0">
                <a:solidFill>
                  <a:schemeClr val="tx1"/>
                </a:solidFill>
              </a:rPr>
              <a:t> the meeting.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The server </a:t>
            </a:r>
            <a:r>
              <a:rPr lang="en-US" sz="2400" b="1" dirty="0">
                <a:solidFill>
                  <a:schemeClr val="tx1"/>
                </a:solidFill>
              </a:rPr>
              <a:t>stopped</a:t>
            </a:r>
            <a:r>
              <a:rPr lang="en-US" sz="2400" dirty="0">
                <a:solidFill>
                  <a:schemeClr val="tx1"/>
                </a:solidFill>
              </a:rPr>
              <a:t> automatically. → The server </a:t>
            </a:r>
            <a:r>
              <a:rPr lang="en-US" sz="2400" b="1" dirty="0">
                <a:solidFill>
                  <a:schemeClr val="accent3"/>
                </a:solidFill>
              </a:rPr>
              <a:t>shut down</a:t>
            </a:r>
            <a:r>
              <a:rPr lang="en-US" sz="2400" dirty="0">
                <a:solidFill>
                  <a:schemeClr val="tx1"/>
                </a:solidFill>
              </a:rPr>
              <a:t> automatically.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Legal will </a:t>
            </a:r>
            <a:r>
              <a:rPr lang="en-US" sz="2400" b="1" dirty="0">
                <a:solidFill>
                  <a:schemeClr val="tx1"/>
                </a:solidFill>
              </a:rPr>
              <a:t>examine</a:t>
            </a:r>
            <a:r>
              <a:rPr lang="en-US" sz="2400" dirty="0">
                <a:solidFill>
                  <a:schemeClr val="tx1"/>
                </a:solidFill>
              </a:rPr>
              <a:t> the badge log. → Legal will </a:t>
            </a:r>
            <a:r>
              <a:rPr lang="en-US" sz="2400" b="1" dirty="0">
                <a:solidFill>
                  <a:schemeClr val="accent3"/>
                </a:solidFill>
              </a:rPr>
              <a:t>look into</a:t>
            </a:r>
            <a:r>
              <a:rPr lang="en-US" sz="2400" dirty="0">
                <a:solidFill>
                  <a:schemeClr val="tx1"/>
                </a:solidFill>
              </a:rPr>
              <a:t> the badge log.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Two cooling units </a:t>
            </a:r>
            <a:r>
              <a:rPr lang="en-US" sz="2400" b="1" dirty="0">
                <a:solidFill>
                  <a:schemeClr val="tx1"/>
                </a:solidFill>
              </a:rPr>
              <a:t>failed</a:t>
            </a:r>
            <a:r>
              <a:rPr lang="en-US" sz="2400" dirty="0">
                <a:solidFill>
                  <a:schemeClr val="tx1"/>
                </a:solidFill>
              </a:rPr>
              <a:t>. → Two cooling units </a:t>
            </a:r>
            <a:r>
              <a:rPr lang="en-US" sz="2400" b="1" dirty="0">
                <a:solidFill>
                  <a:schemeClr val="accent3"/>
                </a:solidFill>
              </a:rPr>
              <a:t>broke down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We must </a:t>
            </a:r>
            <a:r>
              <a:rPr lang="en-US" sz="2400" b="1" dirty="0">
                <a:solidFill>
                  <a:schemeClr val="tx1"/>
                </a:solidFill>
              </a:rPr>
              <a:t>solve</a:t>
            </a:r>
            <a:r>
              <a:rPr lang="en-US" sz="2400" dirty="0">
                <a:solidFill>
                  <a:schemeClr val="tx1"/>
                </a:solidFill>
              </a:rPr>
              <a:t> this before Friday. → We must </a:t>
            </a:r>
            <a:r>
              <a:rPr lang="en-US" sz="2400" b="1" dirty="0">
                <a:solidFill>
                  <a:schemeClr val="accent3"/>
                </a:solidFill>
              </a:rPr>
              <a:t>sort this out</a:t>
            </a:r>
            <a:r>
              <a:rPr lang="en-US" sz="2400" dirty="0">
                <a:solidFill>
                  <a:schemeClr val="tx1"/>
                </a:solidFill>
              </a:rPr>
              <a:t> before Friday.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Should we </a:t>
            </a:r>
            <a:r>
              <a:rPr lang="en-US" sz="2400" b="1" dirty="0">
                <a:solidFill>
                  <a:schemeClr val="tx1"/>
                </a:solidFill>
              </a:rPr>
              <a:t>ask</a:t>
            </a:r>
            <a:r>
              <a:rPr lang="en-US" sz="2400" dirty="0">
                <a:solidFill>
                  <a:schemeClr val="tx1"/>
                </a:solidFill>
              </a:rPr>
              <a:t> a plumber </a:t>
            </a:r>
            <a:r>
              <a:rPr lang="en-US" sz="2400" b="1" dirty="0">
                <a:solidFill>
                  <a:schemeClr val="tx1"/>
                </a:solidFill>
              </a:rPr>
              <a:t>to come</a:t>
            </a:r>
            <a:r>
              <a:rPr lang="en-US" sz="2400" dirty="0">
                <a:solidFill>
                  <a:schemeClr val="tx1"/>
                </a:solidFill>
              </a:rPr>
              <a:t> today? → Should we </a:t>
            </a:r>
            <a:r>
              <a:rPr lang="en-US" sz="2400" b="1" dirty="0">
                <a:solidFill>
                  <a:schemeClr val="accent3"/>
                </a:solidFill>
              </a:rPr>
              <a:t>call out</a:t>
            </a:r>
            <a:r>
              <a:rPr lang="en-US" sz="2400" dirty="0">
                <a:solidFill>
                  <a:schemeClr val="tx1"/>
                </a:solidFill>
              </a:rPr>
              <a:t> a plumber today?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Before you close the file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659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END OF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NEXT IN THE FILE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 leave without breakfast. On the tram, you realise you do not know one thing Mark did not say: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long the water had been running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BEFORE NEXT SESSION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Learn the </a:t>
            </a:r>
            <a:r>
              <a:rPr lang="en-US" sz="1700" b="1" dirty="0">
                <a:solidFill>
                  <a:schemeClr val="tx1"/>
                </a:solidFill>
              </a:rPr>
              <a:t>8 phrasal verbs</a:t>
            </a:r>
            <a:r>
              <a:rPr lang="en-US" sz="1700" dirty="0">
                <a:solidFill>
                  <a:schemeClr val="tx1"/>
                </a:solidFill>
              </a:rPr>
              <a:t> of the Word file (p. 7).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Learn by heart: </a:t>
            </a:r>
            <a:r>
              <a:rPr lang="en-US" sz="1700" b="1" dirty="0">
                <a:solidFill>
                  <a:schemeClr val="tx1"/>
                </a:solidFill>
              </a:rPr>
              <a:t>begin, break, leave, send, shut, take, see, hear, find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Read </a:t>
            </a:r>
            <a:r>
              <a:rPr lang="en-US" sz="1700" b="1" dirty="0">
                <a:solidFill>
                  <a:schemeClr val="tx1"/>
                </a:solidFill>
              </a:rPr>
              <a:t>Scene 2</a:t>
            </a:r>
            <a:r>
              <a:rPr lang="en-US" sz="1700" dirty="0">
                <a:solidFill>
                  <a:schemeClr val="tx1"/>
                </a:solidFill>
              </a:rPr>
              <a:t> (p. 8): who says what?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EXIT TICKET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Tell the night in three sentences with </a:t>
            </a:r>
            <a:r>
              <a:rPr lang="en-US" sz="1600" b="1" dirty="0">
                <a:solidFill>
                  <a:schemeClr val="bg1"/>
                </a:solidFill>
              </a:rPr>
              <a:t>went off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b="1" dirty="0">
                <a:solidFill>
                  <a:schemeClr val="bg1"/>
                </a:solidFill>
              </a:rPr>
              <a:t>broke down</a:t>
            </a:r>
            <a:r>
              <a:rPr lang="en-US" sz="1600" dirty="0">
                <a:solidFill>
                  <a:schemeClr val="bg1"/>
                </a:solidFill>
              </a:rPr>
              <a:t> and </a:t>
            </a:r>
            <a:r>
              <a:rPr lang="en-US" sz="1600" b="1" dirty="0">
                <a:solidFill>
                  <a:schemeClr val="bg1"/>
                </a:solidFill>
              </a:rPr>
              <a:t>turned up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2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Atlas">
  <a:themeElements>
    <a:clrScheme name="Project Atlas">
      <a:dk1>
        <a:srgbClr val="1B2333"/>
      </a:dk1>
      <a:lt1>
        <a:srgbClr val="FFFFFF"/>
      </a:lt1>
      <a:dk2>
        <a:srgbClr val="1F3864"/>
      </a:dk2>
      <a:lt2>
        <a:srgbClr val="EEF2F8"/>
      </a:lt2>
      <a:accent1>
        <a:srgbClr val="C0752A"/>
      </a:accent1>
      <a:accent2>
        <a:srgbClr val="2E75B6"/>
      </a:accent2>
      <a:accent3>
        <a:srgbClr val="3C7A3C"/>
      </a:accent3>
      <a:accent4>
        <a:srgbClr val="6E4A9E"/>
      </a:accent4>
      <a:accent5>
        <a:srgbClr val="44546A"/>
      </a:accent5>
      <a:accent6>
        <a:srgbClr val="B03A2E"/>
      </a:accent6>
      <a:hlink>
        <a:srgbClr val="2E75B6"/>
      </a:hlink>
      <a:folHlink>
        <a:srgbClr val="6E4A9E"/>
      </a:folHlink>
    </a:clrScheme>
    <a:fontScheme name="Project Atl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English UE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03 — The forms every line will stand on</dc:title>
  <dc:subject>Case File 01 — The night nobody heard</dc:subject>
  <dc:creator>A. Jouniaux</dc:creator>
  <cp:lastModifiedBy>A. Jouniaux</cp:lastModifiedBy>
  <cp:revision>1</cp:revision>
  <dcterms:created xsi:type="dcterms:W3CDTF">2026-10-03T19:30:04Z</dcterms:created>
  <dcterms:modified xsi:type="dcterms:W3CDTF">2026-10-03T19:30:04Z</dcterms:modified>
</cp:coreProperties>
</file>