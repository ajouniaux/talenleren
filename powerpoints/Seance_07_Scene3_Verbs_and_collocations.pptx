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299ab4a-10be-f5cc-d31e-11a7eb8c6773}">
          <p14:sldIdLst>
            <p14:sldId id="256"/>
          </p14:sldIdLst>
        </p14:section>
        <p14:section name="Warm-up" id="{9c31c809-ac33-ed5e-0670-dc91c8a58a66}">
          <p14:sldIdLst>
            <p14:sldId id="257"/>
            <p14:sldId id="258"/>
          </p14:sldIdLst>
        </p14:section>
        <p14:section name="Two forms of each verb" id="{7e1f563d-14d1-e2e4-54be-151851f0d60a}">
          <p14:sldIdLst>
            <p14:sldId id="259"/>
            <p14:sldId id="260"/>
            <p14:sldId id="261"/>
            <p14:sldId id="262"/>
            <p14:sldId id="263"/>
            <p14:sldId id="264"/>
          </p14:sldIdLst>
        </p14:section>
        <p14:section name="Families of verbs" id="{297e4d8c-35dc-6e0b-c692-ea05ddc6b3b4}">
          <p14:sldIdLst>
            <p14:sldId id="265"/>
            <p14:sldId id="266"/>
            <p14:sldId id="267"/>
            <p14:sldId id="268"/>
            <p14:sldId id="269"/>
            <p14:sldId id="270"/>
            <p14:sldId id="271"/>
          </p14:sldIdLst>
        </p14:section>
        <p14:section name="Questions" id="{61e2967f-2faf-9366-b6fe-6d07888338a4}">
          <p14:sldIdLst>
            <p14:sldId id="272"/>
            <p14:sldId id="273"/>
            <p14:sldId id="274"/>
            <p14:sldId id="275"/>
            <p14:sldId id="276"/>
            <p14:sldId id="277"/>
          </p14:sldIdLst>
        </p14:section>
        <p14:section name="Collocations and idioms" id="{9a235bce-a32e-8a4e-2511-6d9cb74a0e50}">
          <p14:sldIdLst>
            <p14:sldId id="278"/>
            <p14:sldId id="279"/>
            <p14:sldId id="280"/>
            <p14:sldId id="281"/>
            <p14:sldId id="282"/>
            <p14:sldId id="283"/>
            <p14:sldId id="284"/>
            <p14:sldId id="285"/>
          </p14:sldIdLst>
        </p14:section>
        <p14:section name="Clôture" id="{d191c4c8-3ed2-04d9-a931-b17cc20c1013}">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7 — Scène 3, livret p. 13–15 : consolidation avant le present perfect de la scène 4.
Objectifs : prétérit vs participe passé (deux formes, deux emplois), verbes irréguliers classés en familles, questions sujet (Who entered?) vs questions objet (Who did he call?), collocations professionnelles, deux expressions idiomatiques.
Formats variés : appariement (warm-up, collocations) · repérage dans un texte · classement en familles · intrus · phrases à compléter avec banque de mots · mots dans le désordre · texte à corriger · vrai ou faux.
Déroulé indicatif (90 min) : warm-up (5') · field note p. 13 + arbre + repérage (15') · familles + relais (15') · intrus + Dry run A (10') · questions + Dry run B–C (15') · Jeopardy (10') · collocations : appariement + mindmap + texte à corriger (15') · idiomes + vrai ou faux (5').
Les diapositives GAME et + EXTRA sont facultatives.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Réactivation de la séance 6. Les élèves justifient chaque paire : « He told needs a person: 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Réactivation de la séance 6. Les élèves justifient chaque paire : « He told needs a person: 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Repérage visuel dans un texte : les élèves soulignent (participes) et entourent (prétérits), puis justifient avec l’arbre : « have before it → participle ». Texte inventé, cohérent avec le dossier. Unit 3 et la scène 4 (present perfect) arrivent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Repérage visuel dans un texte : les élèves soulignent (participes) et entourent (prétérits), puis justifient avec l’arbre : « have before it → participle ». Texte inventé, cohérent avec le dossier. Unit 3 et la scène 4 (present perfect) arrivent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Classement en binôme (5 min). Stratégie : apprendre d’abord la famille A · B · C — ce sont les participes du present perfect de la scène 4. Prononciation : brought /brɔːt/, told /təʊld/, known /nəʊn/, written /ˈrɪtn/.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Classement en binôme (5 min). Stratégie : apprendre d’abord la famille A · B · C — ce sont les participes du present perfect de la scène 4. Prononciation : brought /brɔːt/, told /təʊld/, known /nəʊn/, written /ˈrɪtn/.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Lignes 5–6 : intrus de prononciation — faire répéter les séries à voix haute avant de dévoiler.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Lignes 5–6 : intrus de prononciation — faire répéter les séries à voix haute avant de dévoiler.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répondre oralement à chaque question une fois remise en 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répondre oralement à chaque question une fois remise en 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à lire (catégorie / valeur → question attendue) :
WHO 100 : The cleaning team. → Who entered the ground floor at 06:47?
WHO 200 : Samuel. → Who said the alarm went off at 11.40?
WHO 300 : The site manager’s badge. → Which badge entered zone 2F at 20:04?
WHAT 100 : The temperature alarm. → What went off at 23:41?
WHAT 200 : Unit 3 shut down. → What happened at 02:16?
WHAT 300 : Photos of the ceiling. → What did Iris take?
WHEN 100 : At 6.50. → When did the cleaners find the water?
WHEN 200 : At 19:58. → When did the cabling team leave zone 2F?
WHEN 300 : At 23:42. → When did the system send the notification?
HOW LONG 100 : Fifteen minutes. → How long did badge 0102 stay in zone 2F?
HOW LONG 200 : About seven hours. → How long did the water run?
HOW LONG 300 : Three minutes. → How long after the temperature alarm did the humidity alarm go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Jeu rapide : l’enseignant dit un nom (the damage, a deadline…), la classe répond avec le verbe. Puis l’inverse.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Texte inventé. Travail individuel puis par deux ; chaque correction est justifiée : « a block » (collocation) ou « have + participle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Texte inventé. Travail individuel puis par deux ; chaque correction est justifiée : « a block » (collocation) ou « have + participle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Cartons T / F (ou pouce levé / baissé). Pour chaque F, un élève donne la bonne formule dans une phrase du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Cartons T / F (ou pouce levé / baissé). Pour chaque F, un élève donne la bonne formule dans une phrase du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14600"/>
            <a:ext cx="5669280" cy="160020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2.xml"/><Relationship Id="rId7"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85800"/>
            <a:ext cx="2236470" cy="365760"/>
          </a:xfrm>
          <a:prstGeom prst="roundRect">
            <a:avLst>
              <a:gd name="adj" fmla="val 12500"/>
            </a:avLst>
          </a:prstGeom>
          <a:solidFill>
            <a:srgbClr val="C0752A"/>
          </a:solidFill>
          <a:ln/>
        </p:spPr>
        <p:txBody>
          <a:bodyPr wrap="square" lIns="0" tIns="0" rIns="0" bIns="0" rtlCol="0" anchor="ctr"/>
          <a:lstStyle/>
          <a:p>
            <a:pPr algn="ctr" indent="0" marL="0">
              <a:buNone/>
            </a:pPr>
            <a:r>
              <a:rPr lang="en-US" sz="1300" b="1" spc="100" kern="0" dirty="0">
                <a:solidFill>
                  <a:schemeClr val="bg1"/>
                </a:solidFill>
              </a:rPr>
              <a:t>SÉANCE 07 / 19</a:t>
            </a:r>
            <a:endParaRPr lang="en-US" sz="1300" dirty="0"/>
          </a:p>
        </p:txBody>
      </p:sp>
      <p:sp>
        <p:nvSpPr>
          <p:cNvPr id="3" name="Shape 1"/>
          <p:cNvSpPr/>
          <p:nvPr/>
        </p:nvSpPr>
        <p:spPr>
          <a:xfrm>
            <a:off x="548640" y="1298448"/>
            <a:ext cx="1737360" cy="914400"/>
          </a:xfrm>
          <a:prstGeom prst="roundRect">
            <a:avLst>
              <a:gd name="adj" fmla="val 8000"/>
            </a:avLst>
          </a:prstGeom>
          <a:solidFill>
            <a:srgbClr val="1F3864"/>
          </a:solidFill>
          <a:ln/>
        </p:spPr>
      </p:sp>
      <p:sp>
        <p:nvSpPr>
          <p:cNvPr id="4" name="Text 2"/>
          <p:cNvSpPr txBox="1"/>
          <p:nvPr/>
        </p:nvSpPr>
        <p:spPr>
          <a:xfrm>
            <a:off x="548640" y="1344168"/>
            <a:ext cx="1737360" cy="822960"/>
          </a:xfrm>
          <a:prstGeom prst="rect">
            <a:avLst/>
          </a:prstGeom>
          <a:noFill/>
          <a:ln/>
        </p:spPr>
        <p:txBody>
          <a:bodyPr wrap="square" lIns="0" tIns="0" rIns="0" bIns="0" rtlCol="0" anchor="ctr"/>
          <a:lstStyle/>
          <a:p>
            <a:pPr algn="ctr" indent="0" marL="0">
              <a:buNone/>
            </a:pPr>
            <a:r>
              <a:rPr lang="en-US" sz="1100" b="1" spc="300" kern="0" dirty="0">
                <a:solidFill>
                  <a:schemeClr val="bg2"/>
                </a:solidFill>
              </a:rPr>
              <a:t>SCENE 3</a:t>
            </a:r>
            <a:endParaRPr lang="en-US" sz="1100" dirty="0"/>
          </a:p>
          <a:p>
            <a:pPr algn="ctr" indent="0" marL="0">
              <a:buNone/>
            </a:pPr>
            <a:r>
              <a:rPr lang="en-US" sz="2800" b="1" dirty="0">
                <a:solidFill>
                  <a:schemeClr val="bg1"/>
                </a:solidFill>
                <a:latin typeface="+mj-lt" pitchFamily="34" charset="0"/>
                <a:ea typeface="+mj-lt" pitchFamily="34" charset="-122"/>
                <a:cs typeface="+mj-lt" pitchFamily="34" charset="-120"/>
              </a:rPr>
              <a:t>09.05</a:t>
            </a:r>
            <a:endParaRPr lang="en-US" sz="1100" dirty="0"/>
          </a:p>
        </p:txBody>
      </p:sp>
      <p:sp>
        <p:nvSpPr>
          <p:cNvPr id="5" name="Text 0"/>
          <p:cNvSpPr/>
          <p:nvPr>
            <p:ph idx="100" type="title" hasCustomPrompt="1"/>
          </p:nvPr>
        </p:nvSpPr>
        <p:spPr>
          <a:xfrm>
            <a:off x="548640" y="2514600"/>
            <a:ext cx="5669280" cy="1600200"/>
          </a:xfrm>
          <a:prstGeom prst="rect">
            <a:avLst/>
          </a:prstGeom>
          <a:noFill/>
          <a:ln/>
        </p:spPr>
        <p:txBody>
          <a:bodyPr wrap="square" lIns="0" tIns="0" rIns="0" bIns="0" rtlCol="0" anchor="t"/>
          <a:lstStyle/>
          <a:p>
            <a:pPr algn="l" indent="0" marL="0">
              <a:buNone/>
            </a:pPr>
            <a:r>
              <a:rPr lang="en-US" sz="4000" b="1" dirty="0">
                <a:solidFill>
                  <a:schemeClr val="tx2"/>
                </a:solidFill>
              </a:rPr>
              <a:t>The verbs you need</a:t>
            </a:r>
            <a:endParaRPr lang="en-US" sz="4000" dirty="0"/>
          </a:p>
          <a:p>
            <a:pPr algn="l" indent="0" marL="0">
              <a:buNone/>
            </a:pPr>
            <a:r>
              <a:rPr lang="en-US" sz="4000" b="1" dirty="0">
                <a:solidFill>
                  <a:schemeClr val="tx2"/>
                </a:solidFill>
              </a:rPr>
              <a:t>before ten o’clock</a:t>
            </a:r>
            <a:endParaRPr lang="en-US" sz="4000" dirty="0"/>
          </a:p>
        </p:txBody>
      </p:sp>
      <p:sp>
        <p:nvSpPr>
          <p:cNvPr id="6" name="Text 4"/>
          <p:cNvSpPr txBox="1"/>
          <p:nvPr/>
        </p:nvSpPr>
        <p:spPr>
          <a:xfrm>
            <a:off x="548640" y="4206240"/>
            <a:ext cx="5669280" cy="822960"/>
          </a:xfrm>
          <a:prstGeom prst="rect">
            <a:avLst/>
          </a:prstGeom>
          <a:noFill/>
          <a:ln/>
        </p:spPr>
        <p:txBody>
          <a:bodyPr wrap="square" lIns="0" tIns="0" rIns="0" bIns="0" rtlCol="0" anchor="t"/>
          <a:lstStyle/>
          <a:p>
            <a:pPr indent="0" marL="0">
              <a:buNone/>
            </a:pPr>
            <a:r>
              <a:rPr lang="en-US" sz="2000" i="1" dirty="0">
                <a:solidFill>
                  <a:schemeClr val="accent5"/>
                </a:solidFill>
              </a:rPr>
              <a:t>Past simple, past participle — and what professionals say</a:t>
            </a:r>
            <a:endParaRPr lang="en-US" sz="2000" dirty="0"/>
          </a:p>
        </p:txBody>
      </p:sp>
      <p:sp>
        <p:nvSpPr>
          <p:cNvPr id="7" name="Text 5"/>
          <p:cNvSpPr txBox="1"/>
          <p:nvPr/>
        </p:nvSpPr>
        <p:spPr>
          <a:xfrm>
            <a:off x="548640" y="5257800"/>
            <a:ext cx="5669280" cy="685800"/>
          </a:xfrm>
          <a:prstGeom prst="rect">
            <a:avLst/>
          </a:prstGeom>
          <a:noFill/>
          <a:ln/>
        </p:spPr>
        <p:txBody>
          <a:bodyPr wrap="square" lIns="0" tIns="0" rIns="0" bIns="0" rtlCol="0" anchor="t"/>
          <a:lstStyle/>
          <a:p>
            <a:pPr indent="0" marL="0">
              <a:buNone/>
            </a:pPr>
            <a:r>
              <a:rPr lang="en-US" sz="1600" b="1" dirty="0">
                <a:solidFill>
                  <a:schemeClr val="tx2"/>
                </a:solidFill>
              </a:rPr>
              <a:t>Case File 01 — The night nobody heard</a:t>
            </a:r>
            <a:endParaRPr lang="en-US" sz="1600" dirty="0"/>
          </a:p>
          <a:p>
            <a:pPr indent="0" marL="0">
              <a:buNone/>
            </a:pPr>
            <a:r>
              <a:rPr lang="en-US" sz="1400" i="1" dirty="0">
                <a:solidFill>
                  <a:schemeClr val="accent5"/>
                </a:solidFill>
              </a:rPr>
              <a:t>Livret p. 13–15</a:t>
            </a:r>
            <a:endParaRPr lang="en-US" sz="1600" dirty="0"/>
          </a:p>
        </p:txBody>
      </p:sp>
      <p:pic>
        <p:nvPicPr>
          <p:cNvPr id="8" name="illustration" descr="Scene illustration from the case file">    </p:cNvPr>
          <p:cNvPicPr>
            <a:picLocks noChangeAspect="1"/>
          </p:cNvPicPr>
          <p:nvPr/>
        </p:nvPicPr>
        <p:blipFill>
          <a:blip r:embed="rId1"/>
          <a:stretch>
            <a:fillRect/>
          </a:stretch>
        </p:blipFill>
        <p:spPr>
          <a:xfrm>
            <a:off x="6629400" y="2006810"/>
            <a:ext cx="5010912" cy="3027260"/>
          </a:xfrm>
          <a:prstGeom prst="rect">
            <a:avLst/>
          </a:prstGeom>
          <a:effectLst>
            <a:outerShdw sx="100000" sy="100000" kx="0" ky="0" algn="bl" rotWithShape="0" blurRad="101600" dist="25400" dir="36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match the two halves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6</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Each beginning (1–6) has only </a:t>
            </a:r>
            <a:r>
              <a:rPr lang="en-US" sz="1600" b="1" i="1" dirty="0">
                <a:solidFill>
                  <a:schemeClr val="accent5"/>
                </a:solidFill>
              </a:rPr>
              <a:t>one</a:t>
            </a:r>
            <a:r>
              <a:rPr lang="en-US" sz="1600" i="1" dirty="0">
                <a:solidFill>
                  <a:schemeClr val="accent5"/>
                </a:solidFill>
              </a:rPr>
              <a:t> possible ending (A–F).</a:t>
            </a:r>
            <a:endParaRPr lang="en-US" sz="1600" dirty="0"/>
          </a:p>
        </p:txBody>
      </p:sp>
      <p:sp>
        <p:nvSpPr>
          <p:cNvPr id="7" name="Shape 4"/>
          <p:cNvSpPr/>
          <p:nvPr/>
        </p:nvSpPr>
        <p:spPr>
          <a:xfrm>
            <a:off x="548640" y="2237232"/>
            <a:ext cx="3499226" cy="420116"/>
          </a:xfrm>
          <a:prstGeom prst="roundRect">
            <a:avLst>
              <a:gd name="adj" fmla="val 17412"/>
            </a:avLst>
          </a:prstGeom>
          <a:solidFill>
            <a:srgbClr val="EEF2F8"/>
          </a:solidFill>
          <a:ln w="9525">
            <a:solidFill>
              <a:srgbClr val="D5DCE6"/>
            </a:solidFill>
            <a:prstDash val="solid"/>
          </a:ln>
        </p:spPr>
      </p:sp>
      <p:sp>
        <p:nvSpPr>
          <p:cNvPr id="8" name="Text 5"/>
          <p:cNvSpPr/>
          <p:nvPr/>
        </p:nvSpPr>
        <p:spPr>
          <a:xfrm>
            <a:off x="658368" y="2273554"/>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6"/>
          <p:cNvSpPr txBox="1"/>
          <p:nvPr/>
        </p:nvSpPr>
        <p:spPr>
          <a:xfrm>
            <a:off x="1115568" y="2237232"/>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Samuel said</a:t>
            </a:r>
            <a:endParaRPr lang="en-US" sz="1800" dirty="0"/>
          </a:p>
        </p:txBody>
      </p:sp>
      <p:sp>
        <p:nvSpPr>
          <p:cNvPr id="10" name="Shape 7"/>
          <p:cNvSpPr/>
          <p:nvPr/>
        </p:nvSpPr>
        <p:spPr>
          <a:xfrm>
            <a:off x="548640" y="2767076"/>
            <a:ext cx="3499226" cy="420116"/>
          </a:xfrm>
          <a:prstGeom prst="roundRect">
            <a:avLst>
              <a:gd name="adj" fmla="val 17412"/>
            </a:avLst>
          </a:prstGeom>
          <a:solidFill>
            <a:srgbClr val="EEF2F8"/>
          </a:solidFill>
          <a:ln w="9525">
            <a:solidFill>
              <a:srgbClr val="D5DCE6"/>
            </a:solidFill>
            <a:prstDash val="solid"/>
          </a:ln>
        </p:spPr>
      </p:sp>
      <p:sp>
        <p:nvSpPr>
          <p:cNvPr id="11" name="Text 8"/>
          <p:cNvSpPr/>
          <p:nvPr/>
        </p:nvSpPr>
        <p:spPr>
          <a:xfrm>
            <a:off x="658368" y="2803398"/>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9"/>
          <p:cNvSpPr txBox="1"/>
          <p:nvPr/>
        </p:nvSpPr>
        <p:spPr>
          <a:xfrm>
            <a:off x="1115568" y="2767076"/>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He told</a:t>
            </a:r>
            <a:endParaRPr lang="en-US" sz="1800" dirty="0"/>
          </a:p>
        </p:txBody>
      </p:sp>
      <p:sp>
        <p:nvSpPr>
          <p:cNvPr id="13" name="Shape 10"/>
          <p:cNvSpPr/>
          <p:nvPr/>
        </p:nvSpPr>
        <p:spPr>
          <a:xfrm>
            <a:off x="548640" y="3296920"/>
            <a:ext cx="3499226" cy="420116"/>
          </a:xfrm>
          <a:prstGeom prst="roundRect">
            <a:avLst>
              <a:gd name="adj" fmla="val 17412"/>
            </a:avLst>
          </a:prstGeom>
          <a:solidFill>
            <a:srgbClr val="EEF2F8"/>
          </a:solidFill>
          <a:ln w="9525">
            <a:solidFill>
              <a:srgbClr val="D5DCE6"/>
            </a:solidFill>
            <a:prstDash val="solid"/>
          </a:ln>
        </p:spPr>
      </p:sp>
      <p:sp>
        <p:nvSpPr>
          <p:cNvPr id="14" name="Text 11"/>
          <p:cNvSpPr/>
          <p:nvPr/>
        </p:nvSpPr>
        <p:spPr>
          <a:xfrm>
            <a:off x="658368" y="3333242"/>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2"/>
          <p:cNvSpPr txBox="1"/>
          <p:nvPr/>
        </p:nvSpPr>
        <p:spPr>
          <a:xfrm>
            <a:off x="1115568" y="3296920"/>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Verdier claims</a:t>
            </a:r>
            <a:endParaRPr lang="en-US" sz="1800" dirty="0"/>
          </a:p>
        </p:txBody>
      </p:sp>
      <p:sp>
        <p:nvSpPr>
          <p:cNvPr id="16" name="Shape 13"/>
          <p:cNvSpPr/>
          <p:nvPr/>
        </p:nvSpPr>
        <p:spPr>
          <a:xfrm>
            <a:off x="548640" y="3826764"/>
            <a:ext cx="3499226" cy="420116"/>
          </a:xfrm>
          <a:prstGeom prst="roundRect">
            <a:avLst>
              <a:gd name="adj" fmla="val 17412"/>
            </a:avLst>
          </a:prstGeom>
          <a:solidFill>
            <a:srgbClr val="EEF2F8"/>
          </a:solidFill>
          <a:ln w="9525">
            <a:solidFill>
              <a:srgbClr val="D5DCE6"/>
            </a:solidFill>
            <a:prstDash val="solid"/>
          </a:ln>
        </p:spPr>
      </p:sp>
      <p:sp>
        <p:nvSpPr>
          <p:cNvPr id="17" name="Text 14"/>
          <p:cNvSpPr/>
          <p:nvPr/>
        </p:nvSpPr>
        <p:spPr>
          <a:xfrm>
            <a:off x="658368" y="3863086"/>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Text 15"/>
          <p:cNvSpPr txBox="1"/>
          <p:nvPr/>
        </p:nvSpPr>
        <p:spPr>
          <a:xfrm>
            <a:off x="1115568" y="3826764"/>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The log confirms</a:t>
            </a:r>
            <a:endParaRPr lang="en-US" sz="1800" dirty="0"/>
          </a:p>
        </p:txBody>
      </p:sp>
      <p:sp>
        <p:nvSpPr>
          <p:cNvPr id="19" name="Shape 16"/>
          <p:cNvSpPr/>
          <p:nvPr/>
        </p:nvSpPr>
        <p:spPr>
          <a:xfrm>
            <a:off x="548640" y="4356608"/>
            <a:ext cx="3499226" cy="420116"/>
          </a:xfrm>
          <a:prstGeom prst="roundRect">
            <a:avLst>
              <a:gd name="adj" fmla="val 17412"/>
            </a:avLst>
          </a:prstGeom>
          <a:solidFill>
            <a:srgbClr val="EEF2F8"/>
          </a:solidFill>
          <a:ln w="9525">
            <a:solidFill>
              <a:srgbClr val="D5DCE6"/>
            </a:solidFill>
            <a:prstDash val="solid"/>
          </a:ln>
        </p:spPr>
      </p:sp>
      <p:sp>
        <p:nvSpPr>
          <p:cNvPr id="20" name="Text 17"/>
          <p:cNvSpPr/>
          <p:nvPr/>
        </p:nvSpPr>
        <p:spPr>
          <a:xfrm>
            <a:off x="658368" y="439293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1" name="Text 18"/>
          <p:cNvSpPr txBox="1"/>
          <p:nvPr/>
        </p:nvSpPr>
        <p:spPr>
          <a:xfrm>
            <a:off x="1115568" y="4356608"/>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The water ran</a:t>
            </a:r>
            <a:endParaRPr lang="en-US" sz="1800" dirty="0"/>
          </a:p>
        </p:txBody>
      </p:sp>
      <p:sp>
        <p:nvSpPr>
          <p:cNvPr id="22" name="Shape 19"/>
          <p:cNvSpPr/>
          <p:nvPr/>
        </p:nvSpPr>
        <p:spPr>
          <a:xfrm>
            <a:off x="548640" y="4886452"/>
            <a:ext cx="3499226" cy="420116"/>
          </a:xfrm>
          <a:prstGeom prst="roundRect">
            <a:avLst>
              <a:gd name="adj" fmla="val 17412"/>
            </a:avLst>
          </a:prstGeom>
          <a:solidFill>
            <a:srgbClr val="EEF2F8"/>
          </a:solidFill>
          <a:ln w="9525">
            <a:solidFill>
              <a:srgbClr val="D5DCE6"/>
            </a:solidFill>
            <a:prstDash val="solid"/>
          </a:ln>
        </p:spPr>
      </p:sp>
      <p:sp>
        <p:nvSpPr>
          <p:cNvPr id="23" name="Text 20"/>
          <p:cNvSpPr/>
          <p:nvPr/>
        </p:nvSpPr>
        <p:spPr>
          <a:xfrm>
            <a:off x="658368" y="4922774"/>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4" name="Text 21"/>
          <p:cNvSpPr txBox="1"/>
          <p:nvPr/>
        </p:nvSpPr>
        <p:spPr>
          <a:xfrm>
            <a:off x="1115568" y="4886452"/>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From 23:41 to 06:47</a:t>
            </a:r>
            <a:endParaRPr lang="en-US" sz="1800" dirty="0"/>
          </a:p>
        </p:txBody>
      </p:sp>
      <p:sp>
        <p:nvSpPr>
          <p:cNvPr id="25" name="Shape 22"/>
          <p:cNvSpPr/>
          <p:nvPr/>
        </p:nvSpPr>
        <p:spPr>
          <a:xfrm>
            <a:off x="5419466" y="2237232"/>
            <a:ext cx="6220846" cy="420116"/>
          </a:xfrm>
          <a:prstGeom prst="roundRect">
            <a:avLst>
              <a:gd name="adj" fmla="val 17412"/>
            </a:avLst>
          </a:prstGeom>
          <a:solidFill>
            <a:srgbClr val="FFFFFF"/>
          </a:solidFill>
          <a:ln w="9525">
            <a:solidFill>
              <a:srgbClr val="D5DCE6"/>
            </a:solidFill>
            <a:prstDash val="solid"/>
          </a:ln>
        </p:spPr>
      </p:sp>
      <p:sp>
        <p:nvSpPr>
          <p:cNvPr id="26" name="Text 23"/>
          <p:cNvSpPr/>
          <p:nvPr/>
        </p:nvSpPr>
        <p:spPr>
          <a:xfrm>
            <a:off x="5529194" y="2273554"/>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A</a:t>
            </a:r>
            <a:endParaRPr lang="en-US" sz="1300" dirty="0"/>
          </a:p>
        </p:txBody>
      </p:sp>
      <p:sp>
        <p:nvSpPr>
          <p:cNvPr id="27" name="Text 24"/>
          <p:cNvSpPr txBox="1"/>
          <p:nvPr/>
        </p:nvSpPr>
        <p:spPr>
          <a:xfrm>
            <a:off x="5986394" y="2237232"/>
            <a:ext cx="5562478" cy="420116"/>
          </a:xfrm>
          <a:prstGeom prst="rect">
            <a:avLst/>
          </a:prstGeom>
          <a:noFill/>
          <a:ln/>
        </p:spPr>
        <p:txBody>
          <a:bodyPr wrap="square" lIns="0" tIns="0" rIns="0" bIns="0" rtlCol="0" anchor="ctr"/>
          <a:lstStyle/>
          <a:p>
            <a:pPr indent="0" marL="0">
              <a:buNone/>
            </a:pPr>
            <a:r>
              <a:rPr lang="en-US" sz="1800" dirty="0">
                <a:solidFill>
                  <a:schemeClr val="tx1"/>
                </a:solidFill>
              </a:rPr>
              <a:t>that unit 3 shut down at 02:16.</a:t>
            </a:r>
            <a:endParaRPr lang="en-US" sz="1800" dirty="0"/>
          </a:p>
        </p:txBody>
      </p:sp>
      <p:sp>
        <p:nvSpPr>
          <p:cNvPr id="28" name="Shape 25"/>
          <p:cNvSpPr/>
          <p:nvPr/>
        </p:nvSpPr>
        <p:spPr>
          <a:xfrm>
            <a:off x="5419466" y="2767076"/>
            <a:ext cx="6220846" cy="420116"/>
          </a:xfrm>
          <a:prstGeom prst="roundRect">
            <a:avLst>
              <a:gd name="adj" fmla="val 17412"/>
            </a:avLst>
          </a:prstGeom>
          <a:solidFill>
            <a:srgbClr val="FFFFFF"/>
          </a:solidFill>
          <a:ln w="9525">
            <a:solidFill>
              <a:srgbClr val="D5DCE6"/>
            </a:solidFill>
            <a:prstDash val="solid"/>
          </a:ln>
        </p:spPr>
      </p:sp>
      <p:sp>
        <p:nvSpPr>
          <p:cNvPr id="29" name="Text 26"/>
          <p:cNvSpPr/>
          <p:nvPr/>
        </p:nvSpPr>
        <p:spPr>
          <a:xfrm>
            <a:off x="5529194" y="2803398"/>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B</a:t>
            </a:r>
            <a:endParaRPr lang="en-US" sz="1300" dirty="0"/>
          </a:p>
        </p:txBody>
      </p:sp>
      <p:sp>
        <p:nvSpPr>
          <p:cNvPr id="30" name="Text 27"/>
          <p:cNvSpPr txBox="1"/>
          <p:nvPr/>
        </p:nvSpPr>
        <p:spPr>
          <a:xfrm>
            <a:off x="5986394" y="2767076"/>
            <a:ext cx="5562478" cy="420116"/>
          </a:xfrm>
          <a:prstGeom prst="rect">
            <a:avLst/>
          </a:prstGeom>
          <a:noFill/>
          <a:ln/>
        </p:spPr>
        <p:txBody>
          <a:bodyPr wrap="square" lIns="0" tIns="0" rIns="0" bIns="0" rtlCol="0" anchor="ctr"/>
          <a:lstStyle/>
          <a:p>
            <a:pPr indent="0" marL="0">
              <a:buNone/>
            </a:pPr>
            <a:r>
              <a:rPr lang="en-US" sz="1800" dirty="0">
                <a:solidFill>
                  <a:schemeClr val="tx1"/>
                </a:solidFill>
              </a:rPr>
              <a:t>that the alarm went off at 11.40.</a:t>
            </a:r>
            <a:endParaRPr lang="en-US" sz="1800" dirty="0"/>
          </a:p>
        </p:txBody>
      </p:sp>
      <p:sp>
        <p:nvSpPr>
          <p:cNvPr id="31" name="Shape 28"/>
          <p:cNvSpPr/>
          <p:nvPr/>
        </p:nvSpPr>
        <p:spPr>
          <a:xfrm>
            <a:off x="5419466" y="3296920"/>
            <a:ext cx="6220846" cy="420116"/>
          </a:xfrm>
          <a:prstGeom prst="roundRect">
            <a:avLst>
              <a:gd name="adj" fmla="val 17412"/>
            </a:avLst>
          </a:prstGeom>
          <a:solidFill>
            <a:srgbClr val="FFFFFF"/>
          </a:solidFill>
          <a:ln w="9525">
            <a:solidFill>
              <a:srgbClr val="D5DCE6"/>
            </a:solidFill>
            <a:prstDash val="solid"/>
          </a:ln>
        </p:spPr>
      </p:sp>
      <p:sp>
        <p:nvSpPr>
          <p:cNvPr id="32" name="Text 29"/>
          <p:cNvSpPr/>
          <p:nvPr/>
        </p:nvSpPr>
        <p:spPr>
          <a:xfrm>
            <a:off x="5529194" y="3333242"/>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C</a:t>
            </a:r>
            <a:endParaRPr lang="en-US" sz="1300" dirty="0"/>
          </a:p>
        </p:txBody>
      </p:sp>
      <p:sp>
        <p:nvSpPr>
          <p:cNvPr id="33" name="Text 30"/>
          <p:cNvSpPr txBox="1"/>
          <p:nvPr/>
        </p:nvSpPr>
        <p:spPr>
          <a:xfrm>
            <a:off x="5986394" y="3296920"/>
            <a:ext cx="5562478" cy="420116"/>
          </a:xfrm>
          <a:prstGeom prst="rect">
            <a:avLst/>
          </a:prstGeom>
          <a:noFill/>
          <a:ln/>
        </p:spPr>
        <p:txBody>
          <a:bodyPr wrap="square" lIns="0" tIns="0" rIns="0" bIns="0" rtlCol="0" anchor="ctr"/>
          <a:lstStyle/>
          <a:p>
            <a:pPr indent="0" marL="0">
              <a:buNone/>
            </a:pPr>
            <a:r>
              <a:rPr lang="en-US" sz="1800" dirty="0">
                <a:solidFill>
                  <a:schemeClr val="tx1"/>
                </a:solidFill>
              </a:rPr>
              <a:t>is seven hours and six minutes.</a:t>
            </a:r>
            <a:endParaRPr lang="en-US" sz="1800" dirty="0"/>
          </a:p>
        </p:txBody>
      </p:sp>
      <p:sp>
        <p:nvSpPr>
          <p:cNvPr id="34" name="Shape 31"/>
          <p:cNvSpPr/>
          <p:nvPr/>
        </p:nvSpPr>
        <p:spPr>
          <a:xfrm>
            <a:off x="5419466" y="3826764"/>
            <a:ext cx="6220846" cy="420116"/>
          </a:xfrm>
          <a:prstGeom prst="roundRect">
            <a:avLst>
              <a:gd name="adj" fmla="val 17412"/>
            </a:avLst>
          </a:prstGeom>
          <a:solidFill>
            <a:srgbClr val="FFFFFF"/>
          </a:solidFill>
          <a:ln w="9525">
            <a:solidFill>
              <a:srgbClr val="D5DCE6"/>
            </a:solidFill>
            <a:prstDash val="solid"/>
          </a:ln>
        </p:spPr>
      </p:sp>
      <p:sp>
        <p:nvSpPr>
          <p:cNvPr id="35" name="Text 32"/>
          <p:cNvSpPr/>
          <p:nvPr/>
        </p:nvSpPr>
        <p:spPr>
          <a:xfrm>
            <a:off x="5529194" y="3863086"/>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D</a:t>
            </a:r>
            <a:endParaRPr lang="en-US" sz="1300" dirty="0"/>
          </a:p>
        </p:txBody>
      </p:sp>
      <p:sp>
        <p:nvSpPr>
          <p:cNvPr id="36" name="Text 33"/>
          <p:cNvSpPr txBox="1"/>
          <p:nvPr/>
        </p:nvSpPr>
        <p:spPr>
          <a:xfrm>
            <a:off x="5986394" y="3826764"/>
            <a:ext cx="5562478" cy="420116"/>
          </a:xfrm>
          <a:prstGeom prst="rect">
            <a:avLst/>
          </a:prstGeom>
          <a:noFill/>
          <a:ln/>
        </p:spPr>
        <p:txBody>
          <a:bodyPr wrap="square" lIns="0" tIns="0" rIns="0" bIns="0" rtlCol="0" anchor="ctr"/>
          <a:lstStyle/>
          <a:p>
            <a:pPr indent="0" marL="0">
              <a:buNone/>
            </a:pPr>
            <a:r>
              <a:rPr lang="en-US" sz="1800" dirty="0">
                <a:solidFill>
                  <a:schemeClr val="tx1"/>
                </a:solidFill>
              </a:rPr>
              <a:t>us that nobody was on site.</a:t>
            </a:r>
            <a:endParaRPr lang="en-US" sz="1800" dirty="0"/>
          </a:p>
        </p:txBody>
      </p:sp>
      <p:sp>
        <p:nvSpPr>
          <p:cNvPr id="37" name="Shape 34"/>
          <p:cNvSpPr/>
          <p:nvPr/>
        </p:nvSpPr>
        <p:spPr>
          <a:xfrm>
            <a:off x="5419466" y="4356608"/>
            <a:ext cx="6220846" cy="420116"/>
          </a:xfrm>
          <a:prstGeom prst="roundRect">
            <a:avLst>
              <a:gd name="adj" fmla="val 17412"/>
            </a:avLst>
          </a:prstGeom>
          <a:solidFill>
            <a:srgbClr val="FFFFFF"/>
          </a:solidFill>
          <a:ln w="9525">
            <a:solidFill>
              <a:srgbClr val="D5DCE6"/>
            </a:solidFill>
            <a:prstDash val="solid"/>
          </a:ln>
        </p:spPr>
      </p:sp>
      <p:sp>
        <p:nvSpPr>
          <p:cNvPr id="38" name="Text 35"/>
          <p:cNvSpPr/>
          <p:nvPr/>
        </p:nvSpPr>
        <p:spPr>
          <a:xfrm>
            <a:off x="5529194" y="439293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E</a:t>
            </a:r>
            <a:endParaRPr lang="en-US" sz="1300" dirty="0"/>
          </a:p>
        </p:txBody>
      </p:sp>
      <p:sp>
        <p:nvSpPr>
          <p:cNvPr id="39" name="Text 36"/>
          <p:cNvSpPr txBox="1"/>
          <p:nvPr/>
        </p:nvSpPr>
        <p:spPr>
          <a:xfrm>
            <a:off x="5986394" y="4356608"/>
            <a:ext cx="5562478" cy="420116"/>
          </a:xfrm>
          <a:prstGeom prst="rect">
            <a:avLst/>
          </a:prstGeom>
          <a:noFill/>
          <a:ln/>
        </p:spPr>
        <p:txBody>
          <a:bodyPr wrap="square" lIns="0" tIns="0" rIns="0" bIns="0" rtlCol="0" anchor="ctr"/>
          <a:lstStyle/>
          <a:p>
            <a:pPr indent="0" marL="0">
              <a:buNone/>
            </a:pPr>
            <a:r>
              <a:rPr lang="en-US" sz="1800" dirty="0">
                <a:solidFill>
                  <a:schemeClr val="tx1"/>
                </a:solidFill>
              </a:rPr>
              <a:t>for about seven hours.</a:t>
            </a:r>
            <a:endParaRPr lang="en-US" sz="1800" dirty="0"/>
          </a:p>
        </p:txBody>
      </p:sp>
      <p:sp>
        <p:nvSpPr>
          <p:cNvPr id="40" name="Shape 37"/>
          <p:cNvSpPr/>
          <p:nvPr/>
        </p:nvSpPr>
        <p:spPr>
          <a:xfrm>
            <a:off x="5419466" y="4886452"/>
            <a:ext cx="6220846" cy="420116"/>
          </a:xfrm>
          <a:prstGeom prst="roundRect">
            <a:avLst>
              <a:gd name="adj" fmla="val 17412"/>
            </a:avLst>
          </a:prstGeom>
          <a:solidFill>
            <a:srgbClr val="FFFFFF"/>
          </a:solidFill>
          <a:ln w="9525">
            <a:solidFill>
              <a:srgbClr val="D5DCE6"/>
            </a:solidFill>
            <a:prstDash val="solid"/>
          </a:ln>
        </p:spPr>
      </p:sp>
      <p:sp>
        <p:nvSpPr>
          <p:cNvPr id="41" name="Text 38"/>
          <p:cNvSpPr/>
          <p:nvPr/>
        </p:nvSpPr>
        <p:spPr>
          <a:xfrm>
            <a:off x="5529194" y="4922774"/>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42" name="Text 39"/>
          <p:cNvSpPr txBox="1"/>
          <p:nvPr/>
        </p:nvSpPr>
        <p:spPr>
          <a:xfrm>
            <a:off x="5986394" y="4886452"/>
            <a:ext cx="5562478" cy="420116"/>
          </a:xfrm>
          <a:prstGeom prst="rect">
            <a:avLst/>
          </a:prstGeom>
          <a:noFill/>
          <a:ln/>
        </p:spPr>
        <p:txBody>
          <a:bodyPr wrap="square" lIns="0" tIns="0" rIns="0" bIns="0" rtlCol="0" anchor="ctr"/>
          <a:lstStyle/>
          <a:p>
            <a:pPr indent="0" marL="0">
              <a:buNone/>
            </a:pPr>
            <a:r>
              <a:rPr lang="en-US" sz="1800" dirty="0">
                <a:solidFill>
                  <a:schemeClr val="tx1"/>
                </a:solidFill>
              </a:rPr>
              <a:t>the pipe is old — nothing proves it.</a:t>
            </a:r>
            <a:endParaRPr lang="en-US" sz="1800" dirty="0"/>
          </a:p>
        </p:txBody>
      </p:sp>
      <p:sp>
        <p:nvSpPr>
          <p:cNvPr id="43" name="Shape 40"/>
          <p:cNvSpPr/>
          <p:nvPr/>
        </p:nvSpPr>
        <p:spPr>
          <a:xfrm>
            <a:off x="4011290" y="2383282"/>
            <a:ext cx="128016" cy="128016"/>
          </a:xfrm>
          <a:prstGeom prst="ellipse">
            <a:avLst/>
          </a:prstGeom>
          <a:solidFill>
            <a:srgbClr val="FFFFFF"/>
          </a:solidFill>
          <a:ln w="12700">
            <a:solidFill>
              <a:srgbClr val="1F3864"/>
            </a:solidFill>
            <a:prstDash val="solid"/>
          </a:ln>
        </p:spPr>
      </p:sp>
      <p:sp>
        <p:nvSpPr>
          <p:cNvPr id="44" name="Shape 41"/>
          <p:cNvSpPr/>
          <p:nvPr/>
        </p:nvSpPr>
        <p:spPr>
          <a:xfrm>
            <a:off x="4011290" y="2913126"/>
            <a:ext cx="128016" cy="128016"/>
          </a:xfrm>
          <a:prstGeom prst="ellipse">
            <a:avLst/>
          </a:prstGeom>
          <a:solidFill>
            <a:srgbClr val="FFFFFF"/>
          </a:solidFill>
          <a:ln w="12700">
            <a:solidFill>
              <a:srgbClr val="1F3864"/>
            </a:solidFill>
            <a:prstDash val="solid"/>
          </a:ln>
        </p:spPr>
      </p:sp>
      <p:sp>
        <p:nvSpPr>
          <p:cNvPr id="45" name="Shape 42"/>
          <p:cNvSpPr/>
          <p:nvPr/>
        </p:nvSpPr>
        <p:spPr>
          <a:xfrm>
            <a:off x="4011290" y="3442970"/>
            <a:ext cx="128016" cy="128016"/>
          </a:xfrm>
          <a:prstGeom prst="ellipse">
            <a:avLst/>
          </a:prstGeom>
          <a:solidFill>
            <a:srgbClr val="FFFFFF"/>
          </a:solidFill>
          <a:ln w="12700">
            <a:solidFill>
              <a:srgbClr val="1F3864"/>
            </a:solidFill>
            <a:prstDash val="solid"/>
          </a:ln>
        </p:spPr>
      </p:sp>
      <p:sp>
        <p:nvSpPr>
          <p:cNvPr id="46" name="Shape 43"/>
          <p:cNvSpPr/>
          <p:nvPr/>
        </p:nvSpPr>
        <p:spPr>
          <a:xfrm>
            <a:off x="4011290" y="3972814"/>
            <a:ext cx="128016" cy="128016"/>
          </a:xfrm>
          <a:prstGeom prst="ellipse">
            <a:avLst/>
          </a:prstGeom>
          <a:solidFill>
            <a:srgbClr val="FFFFFF"/>
          </a:solidFill>
          <a:ln w="12700">
            <a:solidFill>
              <a:srgbClr val="1F3864"/>
            </a:solidFill>
            <a:prstDash val="solid"/>
          </a:ln>
        </p:spPr>
      </p:sp>
      <p:sp>
        <p:nvSpPr>
          <p:cNvPr id="47" name="Shape 44"/>
          <p:cNvSpPr/>
          <p:nvPr/>
        </p:nvSpPr>
        <p:spPr>
          <a:xfrm>
            <a:off x="4011290" y="4502658"/>
            <a:ext cx="128016" cy="128016"/>
          </a:xfrm>
          <a:prstGeom prst="ellipse">
            <a:avLst/>
          </a:prstGeom>
          <a:solidFill>
            <a:srgbClr val="FFFFFF"/>
          </a:solidFill>
          <a:ln w="12700">
            <a:solidFill>
              <a:srgbClr val="1F3864"/>
            </a:solidFill>
            <a:prstDash val="solid"/>
          </a:ln>
        </p:spPr>
      </p:sp>
      <p:sp>
        <p:nvSpPr>
          <p:cNvPr id="48" name="Shape 45"/>
          <p:cNvSpPr/>
          <p:nvPr/>
        </p:nvSpPr>
        <p:spPr>
          <a:xfrm>
            <a:off x="4011290" y="5032502"/>
            <a:ext cx="128016" cy="128016"/>
          </a:xfrm>
          <a:prstGeom prst="ellipse">
            <a:avLst/>
          </a:prstGeom>
          <a:solidFill>
            <a:srgbClr val="FFFFFF"/>
          </a:solidFill>
          <a:ln w="12700">
            <a:solidFill>
              <a:srgbClr val="1F3864"/>
            </a:solidFill>
            <a:prstDash val="solid"/>
          </a:ln>
        </p:spPr>
      </p:sp>
      <p:sp>
        <p:nvSpPr>
          <p:cNvPr id="49" name="Shape 46"/>
          <p:cNvSpPr/>
          <p:nvPr/>
        </p:nvSpPr>
        <p:spPr>
          <a:xfrm>
            <a:off x="5328026" y="2383282"/>
            <a:ext cx="128016" cy="128016"/>
          </a:xfrm>
          <a:prstGeom prst="ellipse">
            <a:avLst/>
          </a:prstGeom>
          <a:solidFill>
            <a:srgbClr val="FFFFFF"/>
          </a:solidFill>
          <a:ln w="12700">
            <a:solidFill>
              <a:srgbClr val="C0752A"/>
            </a:solidFill>
            <a:prstDash val="solid"/>
          </a:ln>
        </p:spPr>
      </p:sp>
      <p:sp>
        <p:nvSpPr>
          <p:cNvPr id="50" name="Shape 47"/>
          <p:cNvSpPr/>
          <p:nvPr/>
        </p:nvSpPr>
        <p:spPr>
          <a:xfrm>
            <a:off x="5328026" y="2913126"/>
            <a:ext cx="128016" cy="128016"/>
          </a:xfrm>
          <a:prstGeom prst="ellipse">
            <a:avLst/>
          </a:prstGeom>
          <a:solidFill>
            <a:srgbClr val="FFFFFF"/>
          </a:solidFill>
          <a:ln w="12700">
            <a:solidFill>
              <a:srgbClr val="C0752A"/>
            </a:solidFill>
            <a:prstDash val="solid"/>
          </a:ln>
        </p:spPr>
      </p:sp>
      <p:sp>
        <p:nvSpPr>
          <p:cNvPr id="51" name="Shape 48"/>
          <p:cNvSpPr/>
          <p:nvPr/>
        </p:nvSpPr>
        <p:spPr>
          <a:xfrm>
            <a:off x="5328026" y="3442970"/>
            <a:ext cx="128016" cy="128016"/>
          </a:xfrm>
          <a:prstGeom prst="ellipse">
            <a:avLst/>
          </a:prstGeom>
          <a:solidFill>
            <a:srgbClr val="FFFFFF"/>
          </a:solidFill>
          <a:ln w="12700">
            <a:solidFill>
              <a:srgbClr val="C0752A"/>
            </a:solidFill>
            <a:prstDash val="solid"/>
          </a:ln>
        </p:spPr>
      </p:sp>
      <p:sp>
        <p:nvSpPr>
          <p:cNvPr id="52" name="Shape 49"/>
          <p:cNvSpPr/>
          <p:nvPr/>
        </p:nvSpPr>
        <p:spPr>
          <a:xfrm>
            <a:off x="5328026" y="3972814"/>
            <a:ext cx="128016" cy="128016"/>
          </a:xfrm>
          <a:prstGeom prst="ellipse">
            <a:avLst/>
          </a:prstGeom>
          <a:solidFill>
            <a:srgbClr val="FFFFFF"/>
          </a:solidFill>
          <a:ln w="12700">
            <a:solidFill>
              <a:srgbClr val="C0752A"/>
            </a:solidFill>
            <a:prstDash val="solid"/>
          </a:ln>
        </p:spPr>
      </p:sp>
      <p:sp>
        <p:nvSpPr>
          <p:cNvPr id="53" name="Shape 50"/>
          <p:cNvSpPr/>
          <p:nvPr/>
        </p:nvSpPr>
        <p:spPr>
          <a:xfrm>
            <a:off x="5328026" y="4502658"/>
            <a:ext cx="128016" cy="128016"/>
          </a:xfrm>
          <a:prstGeom prst="ellipse">
            <a:avLst/>
          </a:prstGeom>
          <a:solidFill>
            <a:srgbClr val="FFFFFF"/>
          </a:solidFill>
          <a:ln w="12700">
            <a:solidFill>
              <a:srgbClr val="C0752A"/>
            </a:solidFill>
            <a:prstDash val="solid"/>
          </a:ln>
        </p:spPr>
      </p:sp>
      <p:sp>
        <p:nvSpPr>
          <p:cNvPr id="54" name="Shape 51"/>
          <p:cNvSpPr/>
          <p:nvPr/>
        </p:nvSpPr>
        <p:spPr>
          <a:xfrm>
            <a:off x="5328026" y="5032502"/>
            <a:ext cx="128016" cy="128016"/>
          </a:xfrm>
          <a:prstGeom prst="ellipse">
            <a:avLst/>
          </a:prstGeom>
          <a:solidFill>
            <a:srgbClr val="FFFFFF"/>
          </a:solidFill>
          <a:ln w="12700">
            <a:solidFill>
              <a:srgbClr val="C0752A"/>
            </a:solidFill>
            <a:prstDash val="solid"/>
          </a:ln>
        </p:spPr>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match the two halves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6</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Each beginning (1–6) has only </a:t>
            </a:r>
            <a:r>
              <a:rPr lang="en-US" sz="1600" b="1" i="1" dirty="0">
                <a:solidFill>
                  <a:schemeClr val="accent5"/>
                </a:solidFill>
              </a:rPr>
              <a:t>one</a:t>
            </a:r>
            <a:r>
              <a:rPr lang="en-US" sz="1600" i="1" dirty="0">
                <a:solidFill>
                  <a:schemeClr val="accent5"/>
                </a:solidFill>
              </a:rPr>
              <a:t> possible ending (A–F).</a:t>
            </a:r>
            <a:endParaRPr lang="en-US" sz="1600" dirty="0"/>
          </a:p>
        </p:txBody>
      </p:sp>
      <p:sp>
        <p:nvSpPr>
          <p:cNvPr id="8" name="Shape 5"/>
          <p:cNvSpPr/>
          <p:nvPr/>
        </p:nvSpPr>
        <p:spPr>
          <a:xfrm>
            <a:off x="548640" y="2237232"/>
            <a:ext cx="3499226" cy="420116"/>
          </a:xfrm>
          <a:prstGeom prst="roundRect">
            <a:avLst>
              <a:gd name="adj" fmla="val 17412"/>
            </a:avLst>
          </a:prstGeom>
          <a:solidFill>
            <a:srgbClr val="EEF2F8"/>
          </a:solidFill>
          <a:ln w="9525">
            <a:solidFill>
              <a:srgbClr val="D5DCE6"/>
            </a:solidFill>
            <a:prstDash val="solid"/>
          </a:ln>
        </p:spPr>
      </p:sp>
      <p:sp>
        <p:nvSpPr>
          <p:cNvPr id="9" name="Text 6"/>
          <p:cNvSpPr/>
          <p:nvPr/>
        </p:nvSpPr>
        <p:spPr>
          <a:xfrm>
            <a:off x="658368" y="2273554"/>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1115568" y="2237232"/>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Samuel said</a:t>
            </a:r>
            <a:endParaRPr lang="en-US" sz="1800" dirty="0"/>
          </a:p>
        </p:txBody>
      </p:sp>
      <p:sp>
        <p:nvSpPr>
          <p:cNvPr id="11" name="Shape 8"/>
          <p:cNvSpPr/>
          <p:nvPr/>
        </p:nvSpPr>
        <p:spPr>
          <a:xfrm>
            <a:off x="548640" y="2767076"/>
            <a:ext cx="3499226" cy="420116"/>
          </a:xfrm>
          <a:prstGeom prst="roundRect">
            <a:avLst>
              <a:gd name="adj" fmla="val 17412"/>
            </a:avLst>
          </a:prstGeom>
          <a:solidFill>
            <a:srgbClr val="EEF2F8"/>
          </a:solidFill>
          <a:ln w="9525">
            <a:solidFill>
              <a:srgbClr val="D5DCE6"/>
            </a:solidFill>
            <a:prstDash val="solid"/>
          </a:ln>
        </p:spPr>
      </p:sp>
      <p:sp>
        <p:nvSpPr>
          <p:cNvPr id="12" name="Text 9"/>
          <p:cNvSpPr/>
          <p:nvPr/>
        </p:nvSpPr>
        <p:spPr>
          <a:xfrm>
            <a:off x="658368" y="2803398"/>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1115568" y="2767076"/>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He told</a:t>
            </a:r>
            <a:endParaRPr lang="en-US" sz="1800" dirty="0"/>
          </a:p>
        </p:txBody>
      </p:sp>
      <p:sp>
        <p:nvSpPr>
          <p:cNvPr id="14" name="Shape 11"/>
          <p:cNvSpPr/>
          <p:nvPr/>
        </p:nvSpPr>
        <p:spPr>
          <a:xfrm>
            <a:off x="548640" y="3296920"/>
            <a:ext cx="3499226" cy="420116"/>
          </a:xfrm>
          <a:prstGeom prst="roundRect">
            <a:avLst>
              <a:gd name="adj" fmla="val 17412"/>
            </a:avLst>
          </a:prstGeom>
          <a:solidFill>
            <a:srgbClr val="EEF2F8"/>
          </a:solidFill>
          <a:ln w="9525">
            <a:solidFill>
              <a:srgbClr val="D5DCE6"/>
            </a:solidFill>
            <a:prstDash val="solid"/>
          </a:ln>
        </p:spPr>
      </p:sp>
      <p:sp>
        <p:nvSpPr>
          <p:cNvPr id="15" name="Text 12"/>
          <p:cNvSpPr/>
          <p:nvPr/>
        </p:nvSpPr>
        <p:spPr>
          <a:xfrm>
            <a:off x="658368" y="3333242"/>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3"/>
          <p:cNvSpPr txBox="1"/>
          <p:nvPr/>
        </p:nvSpPr>
        <p:spPr>
          <a:xfrm>
            <a:off x="1115568" y="3296920"/>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Verdier claims</a:t>
            </a:r>
            <a:endParaRPr lang="en-US" sz="1800" dirty="0"/>
          </a:p>
        </p:txBody>
      </p:sp>
      <p:sp>
        <p:nvSpPr>
          <p:cNvPr id="17" name="Shape 14"/>
          <p:cNvSpPr/>
          <p:nvPr/>
        </p:nvSpPr>
        <p:spPr>
          <a:xfrm>
            <a:off x="548640" y="3826764"/>
            <a:ext cx="3499226" cy="420116"/>
          </a:xfrm>
          <a:prstGeom prst="roundRect">
            <a:avLst>
              <a:gd name="adj" fmla="val 17412"/>
            </a:avLst>
          </a:prstGeom>
          <a:solidFill>
            <a:srgbClr val="EEF2F8"/>
          </a:solidFill>
          <a:ln w="9525">
            <a:solidFill>
              <a:srgbClr val="D5DCE6"/>
            </a:solidFill>
            <a:prstDash val="solid"/>
          </a:ln>
        </p:spPr>
      </p:sp>
      <p:sp>
        <p:nvSpPr>
          <p:cNvPr id="18" name="Text 15"/>
          <p:cNvSpPr/>
          <p:nvPr/>
        </p:nvSpPr>
        <p:spPr>
          <a:xfrm>
            <a:off x="658368" y="3863086"/>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Text 16"/>
          <p:cNvSpPr txBox="1"/>
          <p:nvPr/>
        </p:nvSpPr>
        <p:spPr>
          <a:xfrm>
            <a:off x="1115568" y="3826764"/>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The log confirms</a:t>
            </a:r>
            <a:endParaRPr lang="en-US" sz="1800" dirty="0"/>
          </a:p>
        </p:txBody>
      </p:sp>
      <p:sp>
        <p:nvSpPr>
          <p:cNvPr id="20" name="Shape 17"/>
          <p:cNvSpPr/>
          <p:nvPr/>
        </p:nvSpPr>
        <p:spPr>
          <a:xfrm>
            <a:off x="548640" y="4356608"/>
            <a:ext cx="3499226" cy="420116"/>
          </a:xfrm>
          <a:prstGeom prst="roundRect">
            <a:avLst>
              <a:gd name="adj" fmla="val 17412"/>
            </a:avLst>
          </a:prstGeom>
          <a:solidFill>
            <a:srgbClr val="EEF2F8"/>
          </a:solidFill>
          <a:ln w="9525">
            <a:solidFill>
              <a:srgbClr val="D5DCE6"/>
            </a:solidFill>
            <a:prstDash val="solid"/>
          </a:ln>
        </p:spPr>
      </p:sp>
      <p:sp>
        <p:nvSpPr>
          <p:cNvPr id="21" name="Text 18"/>
          <p:cNvSpPr/>
          <p:nvPr/>
        </p:nvSpPr>
        <p:spPr>
          <a:xfrm>
            <a:off x="658368" y="439293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2" name="Text 19"/>
          <p:cNvSpPr txBox="1"/>
          <p:nvPr/>
        </p:nvSpPr>
        <p:spPr>
          <a:xfrm>
            <a:off x="1115568" y="4356608"/>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The water ran</a:t>
            </a:r>
            <a:endParaRPr lang="en-US" sz="1800" dirty="0"/>
          </a:p>
        </p:txBody>
      </p:sp>
      <p:sp>
        <p:nvSpPr>
          <p:cNvPr id="23" name="Shape 20"/>
          <p:cNvSpPr/>
          <p:nvPr/>
        </p:nvSpPr>
        <p:spPr>
          <a:xfrm>
            <a:off x="548640" y="4886452"/>
            <a:ext cx="3499226" cy="420116"/>
          </a:xfrm>
          <a:prstGeom prst="roundRect">
            <a:avLst>
              <a:gd name="adj" fmla="val 17412"/>
            </a:avLst>
          </a:prstGeom>
          <a:solidFill>
            <a:srgbClr val="EEF2F8"/>
          </a:solidFill>
          <a:ln w="9525">
            <a:solidFill>
              <a:srgbClr val="D5DCE6"/>
            </a:solidFill>
            <a:prstDash val="solid"/>
          </a:ln>
        </p:spPr>
      </p:sp>
      <p:sp>
        <p:nvSpPr>
          <p:cNvPr id="24" name="Text 21"/>
          <p:cNvSpPr/>
          <p:nvPr/>
        </p:nvSpPr>
        <p:spPr>
          <a:xfrm>
            <a:off x="658368" y="4922774"/>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5" name="Text 22"/>
          <p:cNvSpPr txBox="1"/>
          <p:nvPr/>
        </p:nvSpPr>
        <p:spPr>
          <a:xfrm>
            <a:off x="1115568" y="4886452"/>
            <a:ext cx="2840858" cy="420116"/>
          </a:xfrm>
          <a:prstGeom prst="rect">
            <a:avLst/>
          </a:prstGeom>
          <a:noFill/>
          <a:ln/>
        </p:spPr>
        <p:txBody>
          <a:bodyPr wrap="square" lIns="0" tIns="0" rIns="0" bIns="0" rtlCol="0" anchor="ctr"/>
          <a:lstStyle/>
          <a:p>
            <a:pPr indent="0" marL="0">
              <a:buNone/>
            </a:pPr>
            <a:r>
              <a:rPr lang="en-US" sz="1800" b="1" dirty="0">
                <a:solidFill>
                  <a:schemeClr val="tx2"/>
                </a:solidFill>
              </a:rPr>
              <a:t>From 23:41 to 06:47</a:t>
            </a:r>
            <a:endParaRPr lang="en-US" sz="1800" dirty="0"/>
          </a:p>
        </p:txBody>
      </p:sp>
      <p:sp>
        <p:nvSpPr>
          <p:cNvPr id="26" name="Shape 23"/>
          <p:cNvSpPr/>
          <p:nvPr/>
        </p:nvSpPr>
        <p:spPr>
          <a:xfrm>
            <a:off x="5419466" y="2237232"/>
            <a:ext cx="6220846" cy="420116"/>
          </a:xfrm>
          <a:prstGeom prst="roundRect">
            <a:avLst>
              <a:gd name="adj" fmla="val 17412"/>
            </a:avLst>
          </a:prstGeom>
          <a:solidFill>
            <a:srgbClr val="FFFFFF"/>
          </a:solidFill>
          <a:ln w="9525">
            <a:solidFill>
              <a:srgbClr val="D5DCE6"/>
            </a:solidFill>
            <a:prstDash val="solid"/>
          </a:ln>
        </p:spPr>
      </p:sp>
      <p:sp>
        <p:nvSpPr>
          <p:cNvPr id="27" name="Text 24"/>
          <p:cNvSpPr/>
          <p:nvPr/>
        </p:nvSpPr>
        <p:spPr>
          <a:xfrm>
            <a:off x="5529194" y="2273554"/>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A</a:t>
            </a:r>
            <a:endParaRPr lang="en-US" sz="1300" dirty="0"/>
          </a:p>
        </p:txBody>
      </p:sp>
      <p:sp>
        <p:nvSpPr>
          <p:cNvPr id="28" name="Text 25"/>
          <p:cNvSpPr txBox="1"/>
          <p:nvPr/>
        </p:nvSpPr>
        <p:spPr>
          <a:xfrm>
            <a:off x="5986394" y="2237232"/>
            <a:ext cx="5562478" cy="420116"/>
          </a:xfrm>
          <a:prstGeom prst="rect">
            <a:avLst/>
          </a:prstGeom>
          <a:noFill/>
          <a:ln/>
        </p:spPr>
        <p:txBody>
          <a:bodyPr wrap="square" lIns="0" tIns="0" rIns="0" bIns="0" rtlCol="0" anchor="ctr"/>
          <a:lstStyle/>
          <a:p>
            <a:pPr indent="0" marL="0">
              <a:buNone/>
            </a:pPr>
            <a:r>
              <a:rPr lang="en-US" sz="1800" dirty="0">
                <a:solidFill>
                  <a:schemeClr val="tx1"/>
                </a:solidFill>
              </a:rPr>
              <a:t>that unit 3 shut down at 02:16.</a:t>
            </a:r>
            <a:endParaRPr lang="en-US" sz="1800" dirty="0"/>
          </a:p>
        </p:txBody>
      </p:sp>
      <p:sp>
        <p:nvSpPr>
          <p:cNvPr id="29" name="Shape 26"/>
          <p:cNvSpPr/>
          <p:nvPr/>
        </p:nvSpPr>
        <p:spPr>
          <a:xfrm>
            <a:off x="5419466" y="2767076"/>
            <a:ext cx="6220846" cy="420116"/>
          </a:xfrm>
          <a:prstGeom prst="roundRect">
            <a:avLst>
              <a:gd name="adj" fmla="val 17412"/>
            </a:avLst>
          </a:prstGeom>
          <a:solidFill>
            <a:srgbClr val="FFFFFF"/>
          </a:solidFill>
          <a:ln w="9525">
            <a:solidFill>
              <a:srgbClr val="D5DCE6"/>
            </a:solidFill>
            <a:prstDash val="solid"/>
          </a:ln>
        </p:spPr>
      </p:sp>
      <p:sp>
        <p:nvSpPr>
          <p:cNvPr id="30" name="Text 27"/>
          <p:cNvSpPr/>
          <p:nvPr/>
        </p:nvSpPr>
        <p:spPr>
          <a:xfrm>
            <a:off x="5529194" y="2803398"/>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B</a:t>
            </a:r>
            <a:endParaRPr lang="en-US" sz="1300" dirty="0"/>
          </a:p>
        </p:txBody>
      </p:sp>
      <p:sp>
        <p:nvSpPr>
          <p:cNvPr id="31" name="Text 28"/>
          <p:cNvSpPr txBox="1"/>
          <p:nvPr/>
        </p:nvSpPr>
        <p:spPr>
          <a:xfrm>
            <a:off x="5986394" y="2767076"/>
            <a:ext cx="5562478" cy="420116"/>
          </a:xfrm>
          <a:prstGeom prst="rect">
            <a:avLst/>
          </a:prstGeom>
          <a:noFill/>
          <a:ln/>
        </p:spPr>
        <p:txBody>
          <a:bodyPr wrap="square" lIns="0" tIns="0" rIns="0" bIns="0" rtlCol="0" anchor="ctr"/>
          <a:lstStyle/>
          <a:p>
            <a:pPr indent="0" marL="0">
              <a:buNone/>
            </a:pPr>
            <a:r>
              <a:rPr lang="en-US" sz="1800" dirty="0">
                <a:solidFill>
                  <a:schemeClr val="tx1"/>
                </a:solidFill>
              </a:rPr>
              <a:t>that the alarm went off at 11.40.</a:t>
            </a:r>
            <a:endParaRPr lang="en-US" sz="1800" dirty="0"/>
          </a:p>
        </p:txBody>
      </p:sp>
      <p:sp>
        <p:nvSpPr>
          <p:cNvPr id="32" name="Shape 29"/>
          <p:cNvSpPr/>
          <p:nvPr/>
        </p:nvSpPr>
        <p:spPr>
          <a:xfrm>
            <a:off x="5419466" y="3296920"/>
            <a:ext cx="6220846" cy="420116"/>
          </a:xfrm>
          <a:prstGeom prst="roundRect">
            <a:avLst>
              <a:gd name="adj" fmla="val 17412"/>
            </a:avLst>
          </a:prstGeom>
          <a:solidFill>
            <a:srgbClr val="FFFFFF"/>
          </a:solidFill>
          <a:ln w="9525">
            <a:solidFill>
              <a:srgbClr val="D5DCE6"/>
            </a:solidFill>
            <a:prstDash val="solid"/>
          </a:ln>
        </p:spPr>
      </p:sp>
      <p:sp>
        <p:nvSpPr>
          <p:cNvPr id="33" name="Text 30"/>
          <p:cNvSpPr/>
          <p:nvPr/>
        </p:nvSpPr>
        <p:spPr>
          <a:xfrm>
            <a:off x="5529194" y="3333242"/>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C</a:t>
            </a:r>
            <a:endParaRPr lang="en-US" sz="1300" dirty="0"/>
          </a:p>
        </p:txBody>
      </p:sp>
      <p:sp>
        <p:nvSpPr>
          <p:cNvPr id="34" name="Text 31"/>
          <p:cNvSpPr txBox="1"/>
          <p:nvPr/>
        </p:nvSpPr>
        <p:spPr>
          <a:xfrm>
            <a:off x="5986394" y="3296920"/>
            <a:ext cx="5562478" cy="420116"/>
          </a:xfrm>
          <a:prstGeom prst="rect">
            <a:avLst/>
          </a:prstGeom>
          <a:noFill/>
          <a:ln/>
        </p:spPr>
        <p:txBody>
          <a:bodyPr wrap="square" lIns="0" tIns="0" rIns="0" bIns="0" rtlCol="0" anchor="ctr"/>
          <a:lstStyle/>
          <a:p>
            <a:pPr indent="0" marL="0">
              <a:buNone/>
            </a:pPr>
            <a:r>
              <a:rPr lang="en-US" sz="1800" dirty="0">
                <a:solidFill>
                  <a:schemeClr val="tx1"/>
                </a:solidFill>
              </a:rPr>
              <a:t>is seven hours and six minutes.</a:t>
            </a:r>
            <a:endParaRPr lang="en-US" sz="1800" dirty="0"/>
          </a:p>
        </p:txBody>
      </p:sp>
      <p:sp>
        <p:nvSpPr>
          <p:cNvPr id="35" name="Shape 32"/>
          <p:cNvSpPr/>
          <p:nvPr/>
        </p:nvSpPr>
        <p:spPr>
          <a:xfrm>
            <a:off x="5419466" y="3826764"/>
            <a:ext cx="6220846" cy="420116"/>
          </a:xfrm>
          <a:prstGeom prst="roundRect">
            <a:avLst>
              <a:gd name="adj" fmla="val 17412"/>
            </a:avLst>
          </a:prstGeom>
          <a:solidFill>
            <a:srgbClr val="FFFFFF"/>
          </a:solidFill>
          <a:ln w="9525">
            <a:solidFill>
              <a:srgbClr val="D5DCE6"/>
            </a:solidFill>
            <a:prstDash val="solid"/>
          </a:ln>
        </p:spPr>
      </p:sp>
      <p:sp>
        <p:nvSpPr>
          <p:cNvPr id="36" name="Text 33"/>
          <p:cNvSpPr/>
          <p:nvPr/>
        </p:nvSpPr>
        <p:spPr>
          <a:xfrm>
            <a:off x="5529194" y="3863086"/>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D</a:t>
            </a:r>
            <a:endParaRPr lang="en-US" sz="1300" dirty="0"/>
          </a:p>
        </p:txBody>
      </p:sp>
      <p:sp>
        <p:nvSpPr>
          <p:cNvPr id="37" name="Text 34"/>
          <p:cNvSpPr txBox="1"/>
          <p:nvPr/>
        </p:nvSpPr>
        <p:spPr>
          <a:xfrm>
            <a:off x="5986394" y="3826764"/>
            <a:ext cx="5562478" cy="420116"/>
          </a:xfrm>
          <a:prstGeom prst="rect">
            <a:avLst/>
          </a:prstGeom>
          <a:noFill/>
          <a:ln/>
        </p:spPr>
        <p:txBody>
          <a:bodyPr wrap="square" lIns="0" tIns="0" rIns="0" bIns="0" rtlCol="0" anchor="ctr"/>
          <a:lstStyle/>
          <a:p>
            <a:pPr indent="0" marL="0">
              <a:buNone/>
            </a:pPr>
            <a:r>
              <a:rPr lang="en-US" sz="1800" dirty="0">
                <a:solidFill>
                  <a:schemeClr val="tx1"/>
                </a:solidFill>
              </a:rPr>
              <a:t>us that nobody was on site.</a:t>
            </a:r>
            <a:endParaRPr lang="en-US" sz="1800" dirty="0"/>
          </a:p>
        </p:txBody>
      </p:sp>
      <p:sp>
        <p:nvSpPr>
          <p:cNvPr id="38" name="Shape 35"/>
          <p:cNvSpPr/>
          <p:nvPr/>
        </p:nvSpPr>
        <p:spPr>
          <a:xfrm>
            <a:off x="5419466" y="4356608"/>
            <a:ext cx="6220846" cy="420116"/>
          </a:xfrm>
          <a:prstGeom prst="roundRect">
            <a:avLst>
              <a:gd name="adj" fmla="val 17412"/>
            </a:avLst>
          </a:prstGeom>
          <a:solidFill>
            <a:srgbClr val="FFFFFF"/>
          </a:solidFill>
          <a:ln w="9525">
            <a:solidFill>
              <a:srgbClr val="D5DCE6"/>
            </a:solidFill>
            <a:prstDash val="solid"/>
          </a:ln>
        </p:spPr>
      </p:sp>
      <p:sp>
        <p:nvSpPr>
          <p:cNvPr id="39" name="Text 36"/>
          <p:cNvSpPr/>
          <p:nvPr/>
        </p:nvSpPr>
        <p:spPr>
          <a:xfrm>
            <a:off x="5529194" y="439293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E</a:t>
            </a:r>
            <a:endParaRPr lang="en-US" sz="1300" dirty="0"/>
          </a:p>
        </p:txBody>
      </p:sp>
      <p:sp>
        <p:nvSpPr>
          <p:cNvPr id="40" name="Text 37"/>
          <p:cNvSpPr txBox="1"/>
          <p:nvPr/>
        </p:nvSpPr>
        <p:spPr>
          <a:xfrm>
            <a:off x="5986394" y="4356608"/>
            <a:ext cx="5562478" cy="420116"/>
          </a:xfrm>
          <a:prstGeom prst="rect">
            <a:avLst/>
          </a:prstGeom>
          <a:noFill/>
          <a:ln/>
        </p:spPr>
        <p:txBody>
          <a:bodyPr wrap="square" lIns="0" tIns="0" rIns="0" bIns="0" rtlCol="0" anchor="ctr"/>
          <a:lstStyle/>
          <a:p>
            <a:pPr indent="0" marL="0">
              <a:buNone/>
            </a:pPr>
            <a:r>
              <a:rPr lang="en-US" sz="1800" dirty="0">
                <a:solidFill>
                  <a:schemeClr val="tx1"/>
                </a:solidFill>
              </a:rPr>
              <a:t>for about seven hours.</a:t>
            </a:r>
            <a:endParaRPr lang="en-US" sz="1800" dirty="0"/>
          </a:p>
        </p:txBody>
      </p:sp>
      <p:sp>
        <p:nvSpPr>
          <p:cNvPr id="41" name="Shape 38"/>
          <p:cNvSpPr/>
          <p:nvPr/>
        </p:nvSpPr>
        <p:spPr>
          <a:xfrm>
            <a:off x="5419466" y="4886452"/>
            <a:ext cx="6220846" cy="420116"/>
          </a:xfrm>
          <a:prstGeom prst="roundRect">
            <a:avLst>
              <a:gd name="adj" fmla="val 17412"/>
            </a:avLst>
          </a:prstGeom>
          <a:solidFill>
            <a:srgbClr val="FFFFFF"/>
          </a:solidFill>
          <a:ln w="9525">
            <a:solidFill>
              <a:srgbClr val="D5DCE6"/>
            </a:solidFill>
            <a:prstDash val="solid"/>
          </a:ln>
        </p:spPr>
      </p:sp>
      <p:sp>
        <p:nvSpPr>
          <p:cNvPr id="42" name="Text 39"/>
          <p:cNvSpPr/>
          <p:nvPr/>
        </p:nvSpPr>
        <p:spPr>
          <a:xfrm>
            <a:off x="5529194" y="4922774"/>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43" name="Text 40"/>
          <p:cNvSpPr txBox="1"/>
          <p:nvPr/>
        </p:nvSpPr>
        <p:spPr>
          <a:xfrm>
            <a:off x="5986394" y="4886452"/>
            <a:ext cx="5562478" cy="420116"/>
          </a:xfrm>
          <a:prstGeom prst="rect">
            <a:avLst/>
          </a:prstGeom>
          <a:noFill/>
          <a:ln/>
        </p:spPr>
        <p:txBody>
          <a:bodyPr wrap="square" lIns="0" tIns="0" rIns="0" bIns="0" rtlCol="0" anchor="ctr"/>
          <a:lstStyle/>
          <a:p>
            <a:pPr indent="0" marL="0">
              <a:buNone/>
            </a:pPr>
            <a:r>
              <a:rPr lang="en-US" sz="1800" dirty="0">
                <a:solidFill>
                  <a:schemeClr val="tx1"/>
                </a:solidFill>
              </a:rPr>
              <a:t>the pipe is old — nothing proves it.</a:t>
            </a:r>
            <a:endParaRPr lang="en-US" sz="1800" dirty="0"/>
          </a:p>
        </p:txBody>
      </p:sp>
      <p:sp>
        <p:nvSpPr>
          <p:cNvPr id="44" name="Shape 41"/>
          <p:cNvSpPr/>
          <p:nvPr/>
        </p:nvSpPr>
        <p:spPr>
          <a:xfrm>
            <a:off x="4084442" y="2447290"/>
            <a:ext cx="1298448" cy="529844"/>
          </a:xfrm>
          <a:prstGeom prst="line">
            <a:avLst/>
          </a:prstGeom>
          <a:noFill/>
          <a:ln w="28575">
            <a:solidFill>
              <a:srgbClr val="3C7A3C"/>
            </a:solidFill>
            <a:prstDash val="solid"/>
          </a:ln>
        </p:spPr>
      </p:sp>
      <p:sp>
        <p:nvSpPr>
          <p:cNvPr id="45" name="Shape 42"/>
          <p:cNvSpPr/>
          <p:nvPr/>
        </p:nvSpPr>
        <p:spPr>
          <a:xfrm>
            <a:off x="4011290" y="2383282"/>
            <a:ext cx="128016" cy="128016"/>
          </a:xfrm>
          <a:prstGeom prst="ellipse">
            <a:avLst/>
          </a:prstGeom>
          <a:solidFill>
            <a:srgbClr val="3C7A3C"/>
          </a:solidFill>
          <a:ln/>
        </p:spPr>
      </p:sp>
      <p:sp>
        <p:nvSpPr>
          <p:cNvPr id="46" name="Shape 43"/>
          <p:cNvSpPr/>
          <p:nvPr/>
        </p:nvSpPr>
        <p:spPr>
          <a:xfrm>
            <a:off x="5328026" y="2913126"/>
            <a:ext cx="128016" cy="128016"/>
          </a:xfrm>
          <a:prstGeom prst="ellipse">
            <a:avLst/>
          </a:prstGeom>
          <a:solidFill>
            <a:srgbClr val="3C7A3C"/>
          </a:solidFill>
          <a:ln/>
        </p:spPr>
      </p:sp>
      <p:sp>
        <p:nvSpPr>
          <p:cNvPr id="47" name="Shape 44"/>
          <p:cNvSpPr/>
          <p:nvPr/>
        </p:nvSpPr>
        <p:spPr>
          <a:xfrm>
            <a:off x="4084442" y="2977134"/>
            <a:ext cx="1298448" cy="1059688"/>
          </a:xfrm>
          <a:prstGeom prst="line">
            <a:avLst/>
          </a:prstGeom>
          <a:noFill/>
          <a:ln w="28575">
            <a:solidFill>
              <a:srgbClr val="3C7A3C"/>
            </a:solidFill>
            <a:prstDash val="solid"/>
          </a:ln>
        </p:spPr>
      </p:sp>
      <p:sp>
        <p:nvSpPr>
          <p:cNvPr id="48" name="Shape 45"/>
          <p:cNvSpPr/>
          <p:nvPr/>
        </p:nvSpPr>
        <p:spPr>
          <a:xfrm>
            <a:off x="4011290" y="2913126"/>
            <a:ext cx="128016" cy="128016"/>
          </a:xfrm>
          <a:prstGeom prst="ellipse">
            <a:avLst/>
          </a:prstGeom>
          <a:solidFill>
            <a:srgbClr val="3C7A3C"/>
          </a:solidFill>
          <a:ln/>
        </p:spPr>
      </p:sp>
      <p:sp>
        <p:nvSpPr>
          <p:cNvPr id="49" name="Shape 46"/>
          <p:cNvSpPr/>
          <p:nvPr/>
        </p:nvSpPr>
        <p:spPr>
          <a:xfrm>
            <a:off x="5328026" y="3972814"/>
            <a:ext cx="128016" cy="128016"/>
          </a:xfrm>
          <a:prstGeom prst="ellipse">
            <a:avLst/>
          </a:prstGeom>
          <a:solidFill>
            <a:srgbClr val="3C7A3C"/>
          </a:solidFill>
          <a:ln/>
        </p:spPr>
      </p:sp>
      <p:sp>
        <p:nvSpPr>
          <p:cNvPr id="50" name="Shape 47"/>
          <p:cNvSpPr/>
          <p:nvPr/>
        </p:nvSpPr>
        <p:spPr>
          <a:xfrm>
            <a:off x="4084442" y="3506978"/>
            <a:ext cx="1298448" cy="1589532"/>
          </a:xfrm>
          <a:prstGeom prst="line">
            <a:avLst/>
          </a:prstGeom>
          <a:noFill/>
          <a:ln w="28575">
            <a:solidFill>
              <a:srgbClr val="3C7A3C"/>
            </a:solidFill>
            <a:prstDash val="solid"/>
          </a:ln>
        </p:spPr>
      </p:sp>
      <p:sp>
        <p:nvSpPr>
          <p:cNvPr id="51" name="Shape 48"/>
          <p:cNvSpPr/>
          <p:nvPr/>
        </p:nvSpPr>
        <p:spPr>
          <a:xfrm>
            <a:off x="4011290" y="3442970"/>
            <a:ext cx="128016" cy="128016"/>
          </a:xfrm>
          <a:prstGeom prst="ellipse">
            <a:avLst/>
          </a:prstGeom>
          <a:solidFill>
            <a:srgbClr val="3C7A3C"/>
          </a:solidFill>
          <a:ln/>
        </p:spPr>
      </p:sp>
      <p:sp>
        <p:nvSpPr>
          <p:cNvPr id="52" name="Shape 49"/>
          <p:cNvSpPr/>
          <p:nvPr/>
        </p:nvSpPr>
        <p:spPr>
          <a:xfrm>
            <a:off x="5328026" y="5032502"/>
            <a:ext cx="128016" cy="128016"/>
          </a:xfrm>
          <a:prstGeom prst="ellipse">
            <a:avLst/>
          </a:prstGeom>
          <a:solidFill>
            <a:srgbClr val="3C7A3C"/>
          </a:solidFill>
          <a:ln/>
        </p:spPr>
      </p:sp>
      <p:sp>
        <p:nvSpPr>
          <p:cNvPr id="53" name="Shape 50"/>
          <p:cNvSpPr/>
          <p:nvPr/>
        </p:nvSpPr>
        <p:spPr>
          <a:xfrm flipV="1">
            <a:off x="4084442" y="2447290"/>
            <a:ext cx="1298448" cy="1589532"/>
          </a:xfrm>
          <a:prstGeom prst="line">
            <a:avLst/>
          </a:prstGeom>
          <a:noFill/>
          <a:ln w="28575">
            <a:solidFill>
              <a:srgbClr val="3C7A3C"/>
            </a:solidFill>
            <a:prstDash val="solid"/>
          </a:ln>
        </p:spPr>
      </p:sp>
      <p:sp>
        <p:nvSpPr>
          <p:cNvPr id="54" name="Shape 51"/>
          <p:cNvSpPr/>
          <p:nvPr/>
        </p:nvSpPr>
        <p:spPr>
          <a:xfrm>
            <a:off x="4011290" y="3972814"/>
            <a:ext cx="128016" cy="128016"/>
          </a:xfrm>
          <a:prstGeom prst="ellipse">
            <a:avLst/>
          </a:prstGeom>
          <a:solidFill>
            <a:srgbClr val="3C7A3C"/>
          </a:solidFill>
          <a:ln/>
        </p:spPr>
      </p:sp>
      <p:sp>
        <p:nvSpPr>
          <p:cNvPr id="55" name="Shape 52"/>
          <p:cNvSpPr/>
          <p:nvPr/>
        </p:nvSpPr>
        <p:spPr>
          <a:xfrm>
            <a:off x="5328026" y="2383282"/>
            <a:ext cx="128016" cy="128016"/>
          </a:xfrm>
          <a:prstGeom prst="ellipse">
            <a:avLst/>
          </a:prstGeom>
          <a:solidFill>
            <a:srgbClr val="3C7A3C"/>
          </a:solidFill>
          <a:ln/>
        </p:spPr>
      </p:sp>
      <p:sp>
        <p:nvSpPr>
          <p:cNvPr id="56" name="Shape 53"/>
          <p:cNvSpPr/>
          <p:nvPr/>
        </p:nvSpPr>
        <p:spPr>
          <a:xfrm>
            <a:off x="4084442" y="4566666"/>
            <a:ext cx="1298448" cy="0"/>
          </a:xfrm>
          <a:prstGeom prst="line">
            <a:avLst/>
          </a:prstGeom>
          <a:noFill/>
          <a:ln w="28575">
            <a:solidFill>
              <a:srgbClr val="3C7A3C"/>
            </a:solidFill>
            <a:prstDash val="solid"/>
          </a:ln>
        </p:spPr>
      </p:sp>
      <p:sp>
        <p:nvSpPr>
          <p:cNvPr id="57" name="Shape 54"/>
          <p:cNvSpPr/>
          <p:nvPr/>
        </p:nvSpPr>
        <p:spPr>
          <a:xfrm>
            <a:off x="4011290" y="4502658"/>
            <a:ext cx="128016" cy="128016"/>
          </a:xfrm>
          <a:prstGeom prst="ellipse">
            <a:avLst/>
          </a:prstGeom>
          <a:solidFill>
            <a:srgbClr val="3C7A3C"/>
          </a:solidFill>
          <a:ln/>
        </p:spPr>
      </p:sp>
      <p:sp>
        <p:nvSpPr>
          <p:cNvPr id="58" name="Shape 55"/>
          <p:cNvSpPr/>
          <p:nvPr/>
        </p:nvSpPr>
        <p:spPr>
          <a:xfrm>
            <a:off x="5328026" y="4502658"/>
            <a:ext cx="128016" cy="128016"/>
          </a:xfrm>
          <a:prstGeom prst="ellipse">
            <a:avLst/>
          </a:prstGeom>
          <a:solidFill>
            <a:srgbClr val="3C7A3C"/>
          </a:solidFill>
          <a:ln/>
        </p:spPr>
      </p:sp>
      <p:sp>
        <p:nvSpPr>
          <p:cNvPr id="59" name="Shape 56"/>
          <p:cNvSpPr/>
          <p:nvPr/>
        </p:nvSpPr>
        <p:spPr>
          <a:xfrm flipV="1">
            <a:off x="4084442" y="3506978"/>
            <a:ext cx="1298448" cy="1589532"/>
          </a:xfrm>
          <a:prstGeom prst="line">
            <a:avLst/>
          </a:prstGeom>
          <a:noFill/>
          <a:ln w="28575">
            <a:solidFill>
              <a:srgbClr val="3C7A3C"/>
            </a:solidFill>
            <a:prstDash val="solid"/>
          </a:ln>
        </p:spPr>
      </p:sp>
      <p:sp>
        <p:nvSpPr>
          <p:cNvPr id="60" name="Shape 57"/>
          <p:cNvSpPr/>
          <p:nvPr/>
        </p:nvSpPr>
        <p:spPr>
          <a:xfrm>
            <a:off x="4011290" y="5032502"/>
            <a:ext cx="128016" cy="128016"/>
          </a:xfrm>
          <a:prstGeom prst="ellipse">
            <a:avLst/>
          </a:prstGeom>
          <a:solidFill>
            <a:srgbClr val="3C7A3C"/>
          </a:solidFill>
          <a:ln/>
        </p:spPr>
      </p:sp>
      <p:sp>
        <p:nvSpPr>
          <p:cNvPr id="61" name="Shape 58"/>
          <p:cNvSpPr/>
          <p:nvPr/>
        </p:nvSpPr>
        <p:spPr>
          <a:xfrm>
            <a:off x="5328026" y="3442970"/>
            <a:ext cx="128016" cy="128016"/>
          </a:xfrm>
          <a:prstGeom prst="ellipse">
            <a:avLst/>
          </a:prstGeom>
          <a:solidFill>
            <a:srgbClr val="3C7A3C"/>
          </a:solidFill>
          <a:ln/>
        </p:spPr>
      </p:sp>
      <p:sp>
        <p:nvSpPr>
          <p:cNvPr id="62" name="Shape 59"/>
          <p:cNvSpPr/>
          <p:nvPr/>
        </p:nvSpPr>
        <p:spPr>
          <a:xfrm>
            <a:off x="548640" y="5535168"/>
            <a:ext cx="11091672" cy="774192"/>
          </a:xfrm>
          <a:prstGeom prst="roundRect">
            <a:avLst>
              <a:gd name="adj" fmla="val 9449"/>
            </a:avLst>
          </a:prstGeom>
          <a:solidFill>
            <a:srgbClr val="3C7A3C">
              <a:alpha val="8000"/>
            </a:srgbClr>
          </a:solidFill>
          <a:ln w="12700">
            <a:solidFill>
              <a:srgbClr val="3C7A3C"/>
            </a:solidFill>
            <a:prstDash val="solid"/>
          </a:ln>
        </p:spPr>
      </p:sp>
      <p:pic>
        <p:nvPicPr>
          <p:cNvPr id="63"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64" name="Text 60"/>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3"/>
                </a:solidFill>
              </a:rPr>
              <a:t>À retenir — </a:t>
            </a:r>
            <a:r>
              <a:rPr lang="en-US" sz="1800" b="1" dirty="0">
                <a:solidFill>
                  <a:schemeClr val="tx1"/>
                </a:solidFill>
              </a:rPr>
              <a:t>tell</a:t>
            </a:r>
            <a:r>
              <a:rPr lang="en-US" sz="1800" dirty="0">
                <a:solidFill>
                  <a:schemeClr val="tx1"/>
                </a:solidFill>
              </a:rPr>
              <a:t> + a person (</a:t>
            </a:r>
            <a:r>
              <a:rPr lang="en-US" sz="1800" i="1" dirty="0">
                <a:solidFill>
                  <a:schemeClr val="tx1"/>
                </a:solidFill>
              </a:rPr>
              <a:t>told us</a:t>
            </a:r>
            <a:r>
              <a:rPr lang="en-US" sz="1800" dirty="0">
                <a:solidFill>
                  <a:schemeClr val="tx1"/>
                </a:solidFill>
              </a:rPr>
              <a:t>) · </a:t>
            </a:r>
            <a:r>
              <a:rPr lang="en-US" sz="1800" b="1" dirty="0">
                <a:solidFill>
                  <a:schemeClr val="tx1"/>
                </a:solidFill>
              </a:rPr>
              <a:t>say</a:t>
            </a:r>
            <a:r>
              <a:rPr lang="en-US" sz="1800" dirty="0">
                <a:solidFill>
                  <a:schemeClr val="tx1"/>
                </a:solidFill>
              </a:rPr>
              <a:t> + that · </a:t>
            </a:r>
            <a:r>
              <a:rPr lang="en-US" sz="1800" b="1" dirty="0">
                <a:solidFill>
                  <a:schemeClr val="tx1"/>
                </a:solidFill>
              </a:rPr>
              <a:t>claim</a:t>
            </a:r>
            <a:r>
              <a:rPr lang="en-US" sz="1800" dirty="0">
                <a:solidFill>
                  <a:schemeClr val="tx1"/>
                </a:solidFill>
              </a:rPr>
              <a:t> = doubt · </a:t>
            </a:r>
            <a:r>
              <a:rPr lang="en-US" sz="1800" b="1" dirty="0">
                <a:solidFill>
                  <a:schemeClr val="tx1"/>
                </a:solidFill>
              </a:rPr>
              <a:t>confirm</a:t>
            </a:r>
            <a:r>
              <a:rPr lang="en-US" sz="1800" dirty="0">
                <a:solidFill>
                  <a:schemeClr val="tx1"/>
                </a:solidFill>
              </a:rPr>
              <a:t> = a document · </a:t>
            </a:r>
            <a:r>
              <a:rPr lang="en-US" sz="1800" b="1" dirty="0">
                <a:solidFill>
                  <a:schemeClr val="tx1"/>
                </a:solidFill>
              </a:rPr>
              <a:t>for</a:t>
            </a:r>
            <a:r>
              <a:rPr lang="en-US" sz="1800" dirty="0">
                <a:solidFill>
                  <a:schemeClr val="tx1"/>
                </a:solidFill>
              </a:rPr>
              <a:t> + a duration.</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verbs you will need before ten o’clock</a:t>
            </a:r>
            <a:endParaRPr lang="en-US" sz="3200" dirty="0"/>
          </a:p>
        </p:txBody>
      </p:sp>
      <p:sp>
        <p:nvSpPr>
          <p:cNvPr id="3" name="tag"/>
          <p:cNvSpPr/>
          <p:nvPr/>
        </p:nvSpPr>
        <p:spPr>
          <a:xfrm>
            <a:off x="548640" y="384048"/>
            <a:ext cx="1508760" cy="310896"/>
          </a:xfrm>
          <a:prstGeom prst="roundRect">
            <a:avLst>
              <a:gd name="adj" fmla="val 14706"/>
            </a:avLst>
          </a:prstGeom>
          <a:solidFill>
            <a:srgbClr val="44546A"/>
          </a:solidFill>
          <a:ln/>
        </p:spPr>
        <p:txBody>
          <a:bodyPr wrap="square" lIns="0" tIns="0" rIns="0" bIns="0" rtlCol="0" anchor="ctr"/>
          <a:lstStyle/>
          <a:p>
            <a:pPr algn="ctr" indent="0" marL="0">
              <a:buNone/>
            </a:pPr>
            <a:r>
              <a:rPr lang="en-US" sz="1200" b="1" spc="100" kern="0" dirty="0">
                <a:solidFill>
                  <a:schemeClr val="bg1"/>
                </a:solidFill>
              </a:rPr>
              <a:t>FIELD NOTE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13</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Fill in the two missing forms: the </a:t>
            </a:r>
            <a:r>
              <a:rPr lang="en-US" sz="1600" b="1" i="1" dirty="0">
                <a:solidFill>
                  <a:schemeClr val="accent5"/>
                </a:solidFill>
              </a:rPr>
              <a:t>past simple</a:t>
            </a:r>
            <a:r>
              <a:rPr lang="en-US" sz="1600" i="1" dirty="0">
                <a:solidFill>
                  <a:schemeClr val="accent5"/>
                </a:solidFill>
              </a:rPr>
              <a:t> (a dated fact) and the </a:t>
            </a:r>
            <a:r>
              <a:rPr lang="en-US" sz="1600" b="1" i="1" dirty="0">
                <a:solidFill>
                  <a:schemeClr val="accent5"/>
                </a:solidFill>
              </a:rPr>
              <a:t>past participle</a:t>
            </a:r>
            <a:r>
              <a:rPr lang="en-US" sz="1600" i="1" dirty="0">
                <a:solidFill>
                  <a:schemeClr val="accent5"/>
                </a:solidFill>
              </a:rPr>
              <a:t> (the result you report later).</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2011680"/>
                <a:gridCol w="2743200"/>
                <a:gridCol w="2743200"/>
                <a:gridCol w="3593592"/>
              </a:tblGrid>
              <a:tr h="526694">
                <a:tc>
                  <a:txBody>
                    <a:bodyPr/>
                    <a:lstStyle/>
                    <a:p>
                      <a:pPr algn="ctr" indent="0" marL="0">
                        <a:buNone/>
                      </a:pPr>
                      <a:r>
                        <a:rPr lang="en-US" sz="1500" b="1" dirty="0">
                          <a:solidFill>
                            <a:schemeClr val="bg1"/>
                          </a:solidFill>
                        </a:rPr>
                        <a:t>BASE</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500" b="1" dirty="0">
                          <a:solidFill>
                            <a:schemeClr val="bg1"/>
                          </a:solidFill>
                        </a:rPr>
                        <a:t>PAST SIMPLE — a dated fact</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500" b="1" dirty="0">
                          <a:solidFill>
                            <a:schemeClr val="bg1"/>
                          </a:solidFill>
                        </a:rPr>
                        <a:t>PAST PARTICIPLE — the result</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l" indent="0" marL="0">
                        <a:buNone/>
                      </a:pPr>
                      <a:r>
                        <a:rPr lang="en-US" sz="1500" b="1" dirty="0">
                          <a:solidFill>
                            <a:schemeClr val="bg1"/>
                          </a:solidFill>
                        </a:rPr>
                        <a:t>CONTEXT</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0566">
                <a:tc>
                  <a:txBody>
                    <a:bodyPr/>
                    <a:lstStyle/>
                    <a:p>
                      <a:pPr algn="ctr" indent="0" marL="0">
                        <a:buNone/>
                      </a:pPr>
                      <a:r>
                        <a:rPr lang="en-US" sz="1700" b="1" dirty="0">
                          <a:solidFill>
                            <a:schemeClr val="tx1"/>
                          </a:solidFill>
                        </a:rPr>
                        <a:t>find</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the water, at 6.50 a.m.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0566">
                <a:tc>
                  <a:txBody>
                    <a:bodyPr/>
                    <a:lstStyle/>
                    <a:p>
                      <a:pPr algn="ctr" indent="0" marL="0">
                        <a:buNone/>
                      </a:pPr>
                      <a:r>
                        <a:rPr lang="en-US" sz="1700" b="1" dirty="0">
                          <a:solidFill>
                            <a:schemeClr val="tx1"/>
                          </a:solidFill>
                        </a:rPr>
                        <a:t>go off</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alarm, at 11.41 p.m.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0566">
                <a:tc>
                  <a:txBody>
                    <a:bodyPr/>
                    <a:lstStyle/>
                    <a:p>
                      <a:pPr algn="ctr" indent="0" marL="0">
                        <a:buNone/>
                      </a:pPr>
                      <a:r>
                        <a:rPr lang="en-US" sz="1700" b="1" dirty="0">
                          <a:solidFill>
                            <a:schemeClr val="tx1"/>
                          </a:solidFill>
                        </a:rPr>
                        <a:t>leave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the team, at 7.58 p.m.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0566">
                <a:tc>
                  <a:txBody>
                    <a:bodyPr/>
                    <a:lstStyle/>
                    <a:p>
                      <a:pPr algn="ctr" indent="0" marL="0">
                        <a:buNone/>
                      </a:pPr>
                      <a:r>
                        <a:rPr lang="en-US" sz="1700" b="1" dirty="0">
                          <a:solidFill>
                            <a:schemeClr val="tx1"/>
                          </a:solidFill>
                        </a:rPr>
                        <a:t>hear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nobody, that night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0566">
                <a:tc>
                  <a:txBody>
                    <a:bodyPr/>
                    <a:lstStyle/>
                    <a:p>
                      <a:pPr algn="ctr" indent="0" marL="0">
                        <a:buNone/>
                      </a:pPr>
                      <a:r>
                        <a:rPr lang="en-US" sz="1700" b="1" dirty="0">
                          <a:solidFill>
                            <a:schemeClr val="tx1"/>
                          </a:solidFill>
                        </a:rPr>
                        <a:t>break down</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unit 3, at 2.16 a.m.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0566">
                <a:tc>
                  <a:txBody>
                    <a:bodyPr/>
                    <a:lstStyle/>
                    <a:p>
                      <a:pPr algn="ctr" indent="0" marL="0">
                        <a:buNone/>
                      </a:pPr>
                      <a:r>
                        <a:rPr lang="en-US" sz="1700" b="1" dirty="0">
                          <a:solidFill>
                            <a:schemeClr val="tx1"/>
                          </a:solidFill>
                        </a:rPr>
                        <a:t>send</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notification, at 11.42 p.m.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0566">
                <a:tc>
                  <a:txBody>
                    <a:bodyPr/>
                    <a:lstStyle/>
                    <a:p>
                      <a:pPr algn="ctr" indent="0" marL="0">
                        <a:buNone/>
                      </a:pPr>
                      <a:r>
                        <a:rPr lang="en-US" sz="1700" b="1" dirty="0">
                          <a:solidFill>
                            <a:schemeClr val="tx1"/>
                          </a:solidFill>
                        </a:rPr>
                        <a:t>take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the photographs, this morning</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673913">
                <a:tc>
                  <a:txBody>
                    <a:bodyPr/>
                    <a:lstStyle/>
                    <a:p>
                      <a:pPr algn="ctr" indent="0" marL="0">
                        <a:buNone/>
                      </a:pPr>
                      <a:r>
                        <a:rPr lang="en-US" sz="1700" b="1" dirty="0">
                          <a:solidFill>
                            <a:schemeClr val="tx1"/>
                          </a:solidFill>
                        </a:rPr>
                        <a:t>see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accent5"/>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damage, which you have not seen yet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verbs you will need before ten o’clock</a:t>
            </a:r>
            <a:endParaRPr lang="en-US" sz="3200" dirty="0"/>
          </a:p>
        </p:txBody>
      </p:sp>
      <p:sp>
        <p:nvSpPr>
          <p:cNvPr id="3" name="tag"/>
          <p:cNvSpPr/>
          <p:nvPr/>
        </p:nvSpPr>
        <p:spPr>
          <a:xfrm>
            <a:off x="548640" y="384048"/>
            <a:ext cx="1508760" cy="310896"/>
          </a:xfrm>
          <a:prstGeom prst="roundRect">
            <a:avLst>
              <a:gd name="adj" fmla="val 14706"/>
            </a:avLst>
          </a:prstGeom>
          <a:solidFill>
            <a:srgbClr val="44546A"/>
          </a:solidFill>
          <a:ln/>
        </p:spPr>
        <p:txBody>
          <a:bodyPr wrap="square" lIns="0" tIns="0" rIns="0" bIns="0" rtlCol="0" anchor="ctr"/>
          <a:lstStyle/>
          <a:p>
            <a:pPr algn="ctr" indent="0" marL="0">
              <a:buNone/>
            </a:pPr>
            <a:r>
              <a:rPr lang="en-US" sz="1200" b="1" spc="100" kern="0" dirty="0">
                <a:solidFill>
                  <a:schemeClr val="bg1"/>
                </a:solidFill>
              </a:rPr>
              <a:t>FIELD NOTE</a:t>
            </a:r>
            <a:endParaRPr lang="en-US" sz="1200" dirty="0"/>
          </a:p>
        </p:txBody>
      </p:sp>
      <p:sp>
        <p:nvSpPr>
          <p:cNvPr id="4" name="tag"/>
          <p:cNvSpPr/>
          <p:nvPr/>
        </p:nvSpPr>
        <p:spPr>
          <a:xfrm>
            <a:off x="21671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13</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Fill in the two missing forms: the </a:t>
            </a:r>
            <a:r>
              <a:rPr lang="en-US" sz="1600" b="1" i="1" dirty="0">
                <a:solidFill>
                  <a:schemeClr val="accent5"/>
                </a:solidFill>
              </a:rPr>
              <a:t>past simple</a:t>
            </a:r>
            <a:r>
              <a:rPr lang="en-US" sz="1600" i="1" dirty="0">
                <a:solidFill>
                  <a:schemeClr val="accent5"/>
                </a:solidFill>
              </a:rPr>
              <a:t> (a dated fact) and the </a:t>
            </a:r>
            <a:r>
              <a:rPr lang="en-US" sz="1600" b="1" i="1" dirty="0">
                <a:solidFill>
                  <a:schemeClr val="accent5"/>
                </a:solidFill>
              </a:rPr>
              <a:t>past participle</a:t>
            </a:r>
            <a:r>
              <a:rPr lang="en-US" sz="1600" i="1" dirty="0">
                <a:solidFill>
                  <a:schemeClr val="accent5"/>
                </a:solidFill>
              </a:rPr>
              <a:t> (the result you report later).</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2011680"/>
                <a:gridCol w="2743200"/>
                <a:gridCol w="2743200"/>
                <a:gridCol w="3593592"/>
              </a:tblGrid>
              <a:tr h="526694">
                <a:tc>
                  <a:txBody>
                    <a:bodyPr/>
                    <a:lstStyle/>
                    <a:p>
                      <a:pPr algn="ctr" indent="0" marL="0">
                        <a:buNone/>
                      </a:pPr>
                      <a:r>
                        <a:rPr lang="en-US" sz="1500" b="1" dirty="0">
                          <a:solidFill>
                            <a:schemeClr val="bg1"/>
                          </a:solidFill>
                        </a:rPr>
                        <a:t>BASE</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500" b="1" dirty="0">
                          <a:solidFill>
                            <a:schemeClr val="bg1"/>
                          </a:solidFill>
                        </a:rPr>
                        <a:t>PAST SIMPLE — a dated fact</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500" b="1" dirty="0">
                          <a:solidFill>
                            <a:schemeClr val="bg1"/>
                          </a:solidFill>
                        </a:rPr>
                        <a:t>PAST PARTICIPLE — the result</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l" indent="0" marL="0">
                        <a:buNone/>
                      </a:pPr>
                      <a:r>
                        <a:rPr lang="en-US" sz="1500" b="1" dirty="0">
                          <a:solidFill>
                            <a:schemeClr val="bg1"/>
                          </a:solidFill>
                        </a:rPr>
                        <a:t>CONTEXT</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0566">
                <a:tc>
                  <a:txBody>
                    <a:bodyPr/>
                    <a:lstStyle/>
                    <a:p>
                      <a:pPr algn="ctr" indent="0" marL="0">
                        <a:buNone/>
                      </a:pPr>
                      <a:r>
                        <a:rPr lang="en-US" sz="1700" b="1" dirty="0">
                          <a:solidFill>
                            <a:schemeClr val="tx1"/>
                          </a:solidFill>
                        </a:rPr>
                        <a:t>find</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b="1" dirty="0">
                          <a:solidFill>
                            <a:schemeClr val="accent3"/>
                          </a:solidFill>
                        </a:rPr>
                        <a:t>found</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b="1" dirty="0">
                          <a:solidFill>
                            <a:schemeClr val="accent3"/>
                          </a:solidFill>
                        </a:rPr>
                        <a:t>found</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the water, at 6.50 a.m.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0566">
                <a:tc>
                  <a:txBody>
                    <a:bodyPr/>
                    <a:lstStyle/>
                    <a:p>
                      <a:pPr algn="ctr" indent="0" marL="0">
                        <a:buNone/>
                      </a:pPr>
                      <a:r>
                        <a:rPr lang="en-US" sz="1700" b="1" dirty="0">
                          <a:solidFill>
                            <a:schemeClr val="tx1"/>
                          </a:solidFill>
                        </a:rPr>
                        <a:t>go off</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b="1" dirty="0">
                          <a:solidFill>
                            <a:schemeClr val="accent3"/>
                          </a:solidFill>
                        </a:rPr>
                        <a:t>went off</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b="1" dirty="0">
                          <a:solidFill>
                            <a:schemeClr val="accent3"/>
                          </a:solidFill>
                        </a:rPr>
                        <a:t>gone off</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alarm, at 11.41 p.m.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0566">
                <a:tc>
                  <a:txBody>
                    <a:bodyPr/>
                    <a:lstStyle/>
                    <a:p>
                      <a:pPr algn="ctr" indent="0" marL="0">
                        <a:buNone/>
                      </a:pPr>
                      <a:r>
                        <a:rPr lang="en-US" sz="1700" b="1" dirty="0">
                          <a:solidFill>
                            <a:schemeClr val="tx1"/>
                          </a:solidFill>
                        </a:rPr>
                        <a:t>leave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b="1" dirty="0">
                          <a:solidFill>
                            <a:schemeClr val="accent3"/>
                          </a:solidFill>
                        </a:rPr>
                        <a:t>left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b="1" dirty="0">
                          <a:solidFill>
                            <a:schemeClr val="accent3"/>
                          </a:solidFill>
                        </a:rPr>
                        <a:t>left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the team, at 7.58 p.m.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0566">
                <a:tc>
                  <a:txBody>
                    <a:bodyPr/>
                    <a:lstStyle/>
                    <a:p>
                      <a:pPr algn="ctr" indent="0" marL="0">
                        <a:buNone/>
                      </a:pPr>
                      <a:r>
                        <a:rPr lang="en-US" sz="1700" b="1" dirty="0">
                          <a:solidFill>
                            <a:schemeClr val="tx1"/>
                          </a:solidFill>
                        </a:rPr>
                        <a:t>hear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b="1" dirty="0">
                          <a:solidFill>
                            <a:schemeClr val="accent3"/>
                          </a:solidFill>
                        </a:rPr>
                        <a:t>heard</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b="1" dirty="0">
                          <a:solidFill>
                            <a:schemeClr val="accent3"/>
                          </a:solidFill>
                        </a:rPr>
                        <a:t>heard</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nobody, that night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0566">
                <a:tc>
                  <a:txBody>
                    <a:bodyPr/>
                    <a:lstStyle/>
                    <a:p>
                      <a:pPr algn="ctr" indent="0" marL="0">
                        <a:buNone/>
                      </a:pPr>
                      <a:r>
                        <a:rPr lang="en-US" sz="1700" b="1" dirty="0">
                          <a:solidFill>
                            <a:schemeClr val="tx1"/>
                          </a:solidFill>
                        </a:rPr>
                        <a:t>break down</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b="1" dirty="0">
                          <a:solidFill>
                            <a:schemeClr val="accent3"/>
                          </a:solidFill>
                        </a:rPr>
                        <a:t>broke down</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b="1" dirty="0">
                          <a:solidFill>
                            <a:schemeClr val="accent3"/>
                          </a:solidFill>
                        </a:rPr>
                        <a:t>broken down</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unit 3, at 2.16 a.m.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0566">
                <a:tc>
                  <a:txBody>
                    <a:bodyPr/>
                    <a:lstStyle/>
                    <a:p>
                      <a:pPr algn="ctr" indent="0" marL="0">
                        <a:buNone/>
                      </a:pPr>
                      <a:r>
                        <a:rPr lang="en-US" sz="1700" b="1" dirty="0">
                          <a:solidFill>
                            <a:schemeClr val="tx1"/>
                          </a:solidFill>
                        </a:rPr>
                        <a:t>send</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b="1" dirty="0">
                          <a:solidFill>
                            <a:schemeClr val="accent3"/>
                          </a:solidFill>
                        </a:rPr>
                        <a:t>sent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b="1" dirty="0">
                          <a:solidFill>
                            <a:schemeClr val="accent3"/>
                          </a:solidFill>
                        </a:rPr>
                        <a:t>sent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notification, at 11.42 p.m.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0566">
                <a:tc>
                  <a:txBody>
                    <a:bodyPr/>
                    <a:lstStyle/>
                    <a:p>
                      <a:pPr algn="ctr" indent="0" marL="0">
                        <a:buNone/>
                      </a:pPr>
                      <a:r>
                        <a:rPr lang="en-US" sz="1700" b="1" dirty="0">
                          <a:solidFill>
                            <a:schemeClr val="tx1"/>
                          </a:solidFill>
                        </a:rPr>
                        <a:t>take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b="1" dirty="0">
                          <a:solidFill>
                            <a:schemeClr val="accent3"/>
                          </a:solidFill>
                        </a:rPr>
                        <a:t>took</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b="1" dirty="0">
                          <a:solidFill>
                            <a:schemeClr val="accent3"/>
                          </a:solidFill>
                        </a:rPr>
                        <a:t>taken</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the photographs, this morning</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673913">
                <a:tc>
                  <a:txBody>
                    <a:bodyPr/>
                    <a:lstStyle/>
                    <a:p>
                      <a:pPr algn="ctr" indent="0" marL="0">
                        <a:buNone/>
                      </a:pPr>
                      <a:r>
                        <a:rPr lang="en-US" sz="1700" b="1" dirty="0">
                          <a:solidFill>
                            <a:schemeClr val="tx1"/>
                          </a:solidFill>
                        </a:rPr>
                        <a:t>see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b="1" dirty="0">
                          <a:solidFill>
                            <a:schemeClr val="accent3"/>
                          </a:solidFill>
                        </a:rPr>
                        <a:t>saw</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b="1" dirty="0">
                          <a:solidFill>
                            <a:schemeClr val="accent3"/>
                          </a:solidFill>
                        </a:rPr>
                        <a:t>seen</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damage, which you have not seen yet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Two forms, two jobs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13</a:t>
            </a:r>
            <a:endParaRPr lang="en-US" sz="1200" dirty="0"/>
          </a:p>
        </p:txBody>
      </p:sp>
      <p:sp>
        <p:nvSpPr>
          <p:cNvPr id="5" name="Shape 3"/>
          <p:cNvSpPr/>
          <p:nvPr/>
        </p:nvSpPr>
        <p:spPr>
          <a:xfrm>
            <a:off x="548640" y="1783080"/>
            <a:ext cx="5225796" cy="3432048"/>
          </a:xfrm>
          <a:prstGeom prst="roundRect">
            <a:avLst>
              <a:gd name="adj" fmla="val 2131"/>
            </a:avLst>
          </a:prstGeom>
          <a:solidFill>
            <a:srgbClr val="B4236A">
              <a:alpha val="8000"/>
            </a:srgbClr>
          </a:solidFill>
          <a:ln w="15875">
            <a:solidFill>
              <a:srgbClr val="B4236A"/>
            </a:solidFill>
            <a:prstDash val="solid"/>
          </a:ln>
        </p:spPr>
      </p:sp>
      <p:pic>
        <p:nvPicPr>
          <p:cNvPr id="6" name="Image 0" descr="preencoded.png">    </p:cNvPr>
          <p:cNvPicPr>
            <a:picLocks noChangeAspect="1"/>
          </p:cNvPicPr>
          <p:nvPr/>
        </p:nvPicPr>
        <p:blipFill>
          <a:blip r:embed="rId1"/>
          <a:stretch>
            <a:fillRect/>
          </a:stretch>
        </p:blipFill>
        <p:spPr>
          <a:xfrm>
            <a:off x="804672" y="2002536"/>
            <a:ext cx="384048" cy="384048"/>
          </a:xfrm>
          <a:prstGeom prst="rect">
            <a:avLst/>
          </a:prstGeom>
        </p:spPr>
      </p:pic>
      <p:sp>
        <p:nvSpPr>
          <p:cNvPr id="7" name="Text 4"/>
          <p:cNvSpPr txBox="1"/>
          <p:nvPr/>
        </p:nvSpPr>
        <p:spPr>
          <a:xfrm>
            <a:off x="1325880" y="1947672"/>
            <a:ext cx="4265676" cy="502920"/>
          </a:xfrm>
          <a:prstGeom prst="rect">
            <a:avLst/>
          </a:prstGeom>
          <a:noFill/>
          <a:ln/>
        </p:spPr>
        <p:txBody>
          <a:bodyPr wrap="square" lIns="0" tIns="0" rIns="0" bIns="0" rtlCol="0" anchor="ctr"/>
          <a:lstStyle/>
          <a:p>
            <a:pPr indent="0" marL="0">
              <a:buNone/>
            </a:pPr>
            <a:r>
              <a:rPr lang="en-US" sz="2000" b="1" dirty="0">
                <a:solidFill>
                  <a:srgbClr val="B4236A"/>
                </a:solidFill>
                <a:latin typeface="+mj-lt" pitchFamily="34" charset="0"/>
                <a:ea typeface="+mj-lt" pitchFamily="34" charset="-122"/>
                <a:cs typeface="+mj-lt" pitchFamily="34" charset="-120"/>
              </a:rPr>
              <a:t>PAST SIMPLE — the dated fact</a:t>
            </a:r>
            <a:endParaRPr lang="en-US" sz="2000" dirty="0"/>
          </a:p>
        </p:txBody>
      </p:sp>
      <p:sp>
        <p:nvSpPr>
          <p:cNvPr id="8" name="Text 5"/>
          <p:cNvSpPr txBox="1"/>
          <p:nvPr/>
        </p:nvSpPr>
        <p:spPr>
          <a:xfrm>
            <a:off x="822960" y="2624328"/>
            <a:ext cx="4722876" cy="2471928"/>
          </a:xfrm>
          <a:prstGeom prst="rect">
            <a:avLst/>
          </a:prstGeom>
          <a:noFill/>
          <a:ln/>
        </p:spPr>
        <p:txBody>
          <a:bodyPr wrap="square" lIns="0" tIns="0" rIns="0" bIns="0" rtlCol="0" anchor="t"/>
          <a:lstStyle/>
          <a:p>
            <a:pPr marL="190500" indent="-190500">
              <a:spcAft>
                <a:spcPts val="800"/>
              </a:spcAft>
              <a:buSzPct val="100000"/>
              <a:buChar char="•"/>
            </a:pPr>
            <a:r>
              <a:rPr lang="en-US" sz="2000" dirty="0">
                <a:solidFill>
                  <a:schemeClr val="tx1"/>
                </a:solidFill>
              </a:rPr>
              <a:t>Something happened </a:t>
            </a:r>
            <a:r>
              <a:rPr lang="en-US" sz="2000" b="1" dirty="0">
                <a:solidFill>
                  <a:schemeClr val="tx1"/>
                </a:solidFill>
              </a:rPr>
              <a:t>at a given time</a:t>
            </a:r>
            <a:r>
              <a:rPr lang="en-US" sz="2000" dirty="0">
                <a:solidFill>
                  <a:schemeClr val="tx1"/>
                </a:solidFill>
              </a:rPr>
              <a:t>.</a:t>
            </a:r>
            <a:endParaRPr lang="en-US" sz="2000" dirty="0"/>
          </a:p>
          <a:p>
            <a:pPr marL="190500" indent="-190500">
              <a:spcAft>
                <a:spcPts val="800"/>
              </a:spcAft>
              <a:buSzPct val="100000"/>
              <a:buChar char="•"/>
            </a:pPr>
            <a:r>
              <a:rPr lang="en-US" sz="2000" dirty="0">
                <a:solidFill>
                  <a:schemeClr val="tx1"/>
                </a:solidFill>
              </a:rPr>
              <a:t>The alarm </a:t>
            </a:r>
            <a:r>
              <a:rPr lang="en-US" sz="2000" b="1" dirty="0">
                <a:solidFill>
                  <a:srgbClr val="B4236A"/>
                </a:solidFill>
              </a:rPr>
              <a:t>went off</a:t>
            </a:r>
            <a:r>
              <a:rPr lang="en-US" sz="2000" dirty="0">
                <a:solidFill>
                  <a:schemeClr val="tx1"/>
                </a:solidFill>
              </a:rPr>
              <a:t> at 23.41.</a:t>
            </a:r>
            <a:endParaRPr lang="en-US" sz="2000" dirty="0"/>
          </a:p>
          <a:p>
            <a:pPr marL="190500" indent="-190500">
              <a:spcAft>
                <a:spcPts val="800"/>
              </a:spcAft>
              <a:buSzPct val="100000"/>
              <a:buChar char="•"/>
            </a:pPr>
            <a:r>
              <a:rPr lang="en-US" sz="2000" dirty="0">
                <a:solidFill>
                  <a:schemeClr val="tx1"/>
                </a:solidFill>
              </a:rPr>
              <a:t>The cleaners </a:t>
            </a:r>
            <a:r>
              <a:rPr lang="en-US" sz="2000" b="1" dirty="0">
                <a:solidFill>
                  <a:srgbClr val="B4236A"/>
                </a:solidFill>
              </a:rPr>
              <a:t>found</a:t>
            </a:r>
            <a:r>
              <a:rPr lang="en-US" sz="2000" dirty="0">
                <a:solidFill>
                  <a:schemeClr val="tx1"/>
                </a:solidFill>
              </a:rPr>
              <a:t> the water at 6.50.</a:t>
            </a:r>
            <a:endParaRPr lang="en-US" sz="2000" dirty="0"/>
          </a:p>
          <a:p>
            <a:pPr marL="190500" indent="-190500">
              <a:spcAft>
                <a:spcPts val="800"/>
              </a:spcAft>
              <a:buSzPct val="100000"/>
              <a:buChar char="•"/>
            </a:pPr>
            <a:r>
              <a:rPr lang="en-US" sz="2000" dirty="0">
                <a:solidFill>
                  <a:schemeClr val="tx1"/>
                </a:solidFill>
              </a:rPr>
              <a:t>Signals: </a:t>
            </a:r>
            <a:r>
              <a:rPr lang="en-US" sz="2000" b="1" dirty="0">
                <a:solidFill>
                  <a:schemeClr val="tx1"/>
                </a:solidFill>
              </a:rPr>
              <a:t>at, yesterday, last night, in November</a:t>
            </a:r>
            <a:endParaRPr lang="en-US" sz="2000" dirty="0"/>
          </a:p>
        </p:txBody>
      </p:sp>
      <p:sp>
        <p:nvSpPr>
          <p:cNvPr id="9" name="Shape 6"/>
          <p:cNvSpPr/>
          <p:nvPr/>
        </p:nvSpPr>
        <p:spPr>
          <a:xfrm>
            <a:off x="6414516" y="1783080"/>
            <a:ext cx="5225796" cy="3432048"/>
          </a:xfrm>
          <a:prstGeom prst="roundRect">
            <a:avLst>
              <a:gd name="adj" fmla="val 2131"/>
            </a:avLst>
          </a:prstGeom>
          <a:solidFill>
            <a:srgbClr val="3C7A3C">
              <a:alpha val="8000"/>
            </a:srgbClr>
          </a:solidFill>
          <a:ln w="15875">
            <a:solidFill>
              <a:srgbClr val="3C7A3C"/>
            </a:solidFill>
            <a:prstDash val="solid"/>
          </a:ln>
        </p:spPr>
      </p:sp>
      <p:pic>
        <p:nvPicPr>
          <p:cNvPr id="10" name="Image 1" descr="preencoded.png">    </p:cNvPr>
          <p:cNvPicPr>
            <a:picLocks noChangeAspect="1"/>
          </p:cNvPicPr>
          <p:nvPr/>
        </p:nvPicPr>
        <p:blipFill>
          <a:blip r:embed="rId2"/>
          <a:stretch>
            <a:fillRect/>
          </a:stretch>
        </p:blipFill>
        <p:spPr>
          <a:xfrm>
            <a:off x="6670548" y="2002536"/>
            <a:ext cx="384048" cy="384048"/>
          </a:xfrm>
          <a:prstGeom prst="rect">
            <a:avLst/>
          </a:prstGeom>
        </p:spPr>
      </p:pic>
      <p:sp>
        <p:nvSpPr>
          <p:cNvPr id="11" name="Text 7"/>
          <p:cNvSpPr txBox="1"/>
          <p:nvPr/>
        </p:nvSpPr>
        <p:spPr>
          <a:xfrm>
            <a:off x="7191756" y="1947672"/>
            <a:ext cx="4265676" cy="502920"/>
          </a:xfrm>
          <a:prstGeom prst="rect">
            <a:avLst/>
          </a:prstGeom>
          <a:noFill/>
          <a:ln/>
        </p:spPr>
        <p:txBody>
          <a:bodyPr wrap="square" lIns="0" tIns="0" rIns="0" bIns="0" rtlCol="0" anchor="ctr"/>
          <a:lstStyle/>
          <a:p>
            <a:pPr indent="0" marL="0">
              <a:buNone/>
            </a:pPr>
            <a:r>
              <a:rPr lang="en-US" sz="2000" b="1" dirty="0">
                <a:solidFill>
                  <a:schemeClr val="accent3"/>
                </a:solidFill>
                <a:latin typeface="+mj-lt" pitchFamily="34" charset="0"/>
                <a:ea typeface="+mj-lt" pitchFamily="34" charset="-122"/>
                <a:cs typeface="+mj-lt" pitchFamily="34" charset="-120"/>
              </a:rPr>
              <a:t>PAST PARTICIPLE — the result</a:t>
            </a:r>
            <a:endParaRPr lang="en-US" sz="2000" dirty="0"/>
          </a:p>
        </p:txBody>
      </p:sp>
      <p:sp>
        <p:nvSpPr>
          <p:cNvPr id="12" name="Text 8"/>
          <p:cNvSpPr txBox="1"/>
          <p:nvPr/>
        </p:nvSpPr>
        <p:spPr>
          <a:xfrm>
            <a:off x="6688836" y="2624328"/>
            <a:ext cx="4722876" cy="2471928"/>
          </a:xfrm>
          <a:prstGeom prst="rect">
            <a:avLst/>
          </a:prstGeom>
          <a:noFill/>
          <a:ln/>
        </p:spPr>
        <p:txBody>
          <a:bodyPr wrap="square" lIns="0" tIns="0" rIns="0" bIns="0" rtlCol="0" anchor="t"/>
          <a:lstStyle/>
          <a:p>
            <a:pPr marL="190500" indent="-190500">
              <a:spcAft>
                <a:spcPts val="800"/>
              </a:spcAft>
              <a:buSzPct val="100000"/>
              <a:buChar char="•"/>
            </a:pPr>
            <a:r>
              <a:rPr lang="en-US" sz="2000" dirty="0">
                <a:solidFill>
                  <a:schemeClr val="tx1"/>
                </a:solidFill>
              </a:rPr>
              <a:t>With </a:t>
            </a:r>
            <a:r>
              <a:rPr lang="en-US" sz="2000" b="1" dirty="0">
                <a:solidFill>
                  <a:schemeClr val="tx1"/>
                </a:solidFill>
              </a:rPr>
              <a:t>have</a:t>
            </a:r>
            <a:r>
              <a:rPr lang="en-US" sz="2000" dirty="0">
                <a:solidFill>
                  <a:schemeClr val="tx1"/>
                </a:solidFill>
              </a:rPr>
              <a:t>: Iris </a:t>
            </a:r>
            <a:r>
              <a:rPr lang="en-US" sz="2000" b="1" dirty="0">
                <a:solidFill>
                  <a:schemeClr val="tx1"/>
                </a:solidFill>
              </a:rPr>
              <a:t>has </a:t>
            </a:r>
            <a:r>
              <a:rPr lang="en-US" sz="2000" b="1" dirty="0">
                <a:solidFill>
                  <a:schemeClr val="accent3"/>
                </a:solidFill>
              </a:rPr>
              <a:t>taken</a:t>
            </a:r>
            <a:r>
              <a:rPr lang="en-US" sz="2000" dirty="0">
                <a:solidFill>
                  <a:schemeClr val="tx1"/>
                </a:solidFill>
              </a:rPr>
              <a:t> the photographs. </a:t>
            </a:r>
            <a:r>
              <a:rPr lang="en-US" sz="2000" i="1" dirty="0">
                <a:solidFill>
                  <a:schemeClr val="tx1"/>
                </a:solidFill>
              </a:rPr>
              <a:t>(Scene 4)</a:t>
            </a:r>
            <a:endParaRPr lang="en-US" sz="2000" dirty="0"/>
          </a:p>
          <a:p>
            <a:pPr marL="190500" indent="-190500">
              <a:spcAft>
                <a:spcPts val="800"/>
              </a:spcAft>
              <a:buSzPct val="100000"/>
              <a:buChar char="•"/>
            </a:pPr>
            <a:r>
              <a:rPr lang="en-US" sz="2000" dirty="0">
                <a:solidFill>
                  <a:schemeClr val="tx1"/>
                </a:solidFill>
              </a:rPr>
              <a:t>In the passive: the water </a:t>
            </a:r>
            <a:r>
              <a:rPr lang="en-US" sz="2000" b="1" dirty="0">
                <a:solidFill>
                  <a:schemeClr val="tx1"/>
                </a:solidFill>
              </a:rPr>
              <a:t>was </a:t>
            </a:r>
            <a:r>
              <a:rPr lang="en-US" sz="2000" b="1" dirty="0">
                <a:solidFill>
                  <a:schemeClr val="accent3"/>
                </a:solidFill>
              </a:rPr>
              <a:t>found</a:t>
            </a:r>
            <a:r>
              <a:rPr lang="en-US" sz="2000" dirty="0">
                <a:solidFill>
                  <a:schemeClr val="tx1"/>
                </a:solidFill>
              </a:rPr>
              <a:t> at 6.50. </a:t>
            </a:r>
            <a:r>
              <a:rPr lang="en-US" sz="2000" i="1" dirty="0">
                <a:solidFill>
                  <a:schemeClr val="tx1"/>
                </a:solidFill>
              </a:rPr>
              <a:t>(Scene 8)</a:t>
            </a:r>
            <a:endParaRPr lang="en-US" sz="2000" dirty="0"/>
          </a:p>
          <a:p>
            <a:pPr marL="190500" indent="-190500">
              <a:spcAft>
                <a:spcPts val="800"/>
              </a:spcAft>
              <a:buSzPct val="100000"/>
              <a:buChar char="•"/>
            </a:pPr>
            <a:r>
              <a:rPr lang="en-US" sz="2000" dirty="0">
                <a:solidFill>
                  <a:schemeClr val="tx1"/>
                </a:solidFill>
              </a:rPr>
              <a:t>Signals: </a:t>
            </a:r>
            <a:r>
              <a:rPr lang="en-US" sz="2000" b="1" dirty="0">
                <a:solidFill>
                  <a:schemeClr val="tx1"/>
                </a:solidFill>
              </a:rPr>
              <a:t>already, yet, just, so far</a:t>
            </a:r>
            <a:r>
              <a:rPr lang="en-US" sz="2000" dirty="0">
                <a:solidFill>
                  <a:schemeClr val="tx1"/>
                </a:solidFill>
              </a:rPr>
              <a:t> — no date</a:t>
            </a:r>
            <a:endParaRPr lang="en-US" sz="2000" dirty="0"/>
          </a:p>
        </p:txBody>
      </p:sp>
      <p:sp>
        <p:nvSpPr>
          <p:cNvPr id="13" name="Shape 9"/>
          <p:cNvSpPr/>
          <p:nvPr/>
        </p:nvSpPr>
        <p:spPr>
          <a:xfrm>
            <a:off x="5838444" y="3243072"/>
            <a:ext cx="512064" cy="512064"/>
          </a:xfrm>
          <a:prstGeom prst="ellipse">
            <a:avLst/>
          </a:prstGeom>
          <a:solidFill>
            <a:srgbClr val="1F3864"/>
          </a:solidFill>
          <a:ln/>
        </p:spPr>
      </p:sp>
      <p:sp>
        <p:nvSpPr>
          <p:cNvPr id="14" name="Text 10"/>
          <p:cNvSpPr txBox="1"/>
          <p:nvPr/>
        </p:nvSpPr>
        <p:spPr>
          <a:xfrm>
            <a:off x="5838444" y="3243072"/>
            <a:ext cx="512064" cy="512064"/>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 name="Shape 11"/>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16" name="Image 2" descr="preencoded.png">    </p:cNvPr>
          <p:cNvPicPr>
            <a:picLocks noChangeAspect="1"/>
          </p:cNvPicPr>
          <p:nvPr/>
        </p:nvPicPr>
        <p:blipFill>
          <a:blip r:embed="rId3"/>
          <a:stretch>
            <a:fillRect/>
          </a:stretch>
        </p:blipFill>
        <p:spPr>
          <a:xfrm>
            <a:off x="777240" y="5739384"/>
            <a:ext cx="365760" cy="365760"/>
          </a:xfrm>
          <a:prstGeom prst="rect">
            <a:avLst/>
          </a:prstGeom>
        </p:spPr>
      </p:pic>
      <p:sp>
        <p:nvSpPr>
          <p:cNvPr id="17" name="Text 12"/>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Astuce — </a:t>
            </a:r>
            <a:r>
              <a:rPr lang="en-US" sz="1800" dirty="0">
                <a:solidFill>
                  <a:schemeClr val="tx1"/>
                </a:solidFill>
              </a:rPr>
              <a:t>many verbs have </a:t>
            </a:r>
            <a:r>
              <a:rPr lang="en-US" sz="1800" b="1" dirty="0">
                <a:solidFill>
                  <a:schemeClr val="tx1"/>
                </a:solidFill>
              </a:rPr>
              <a:t>the same</a:t>
            </a:r>
            <a:r>
              <a:rPr lang="en-US" sz="1800" dirty="0">
                <a:solidFill>
                  <a:schemeClr val="tx1"/>
                </a:solidFill>
              </a:rPr>
              <a:t> two forms (found / found, left / left). Learn the ones that differ: </a:t>
            </a:r>
            <a:r>
              <a:rPr lang="en-US" sz="1800" b="1" dirty="0">
                <a:solidFill>
                  <a:schemeClr val="tx1"/>
                </a:solidFill>
              </a:rPr>
              <a:t>went / gone · took / taken · saw / seen · broke / broken · wrote / written</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participle?</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13</a:t>
            </a:r>
            <a:endParaRPr lang="en-US" sz="1200" dirty="0"/>
          </a:p>
        </p:txBody>
      </p:sp>
      <p:sp>
        <p:nvSpPr>
          <p:cNvPr id="5" name="Text 3"/>
          <p:cNvSpPr/>
          <p:nvPr/>
        </p:nvSpPr>
        <p:spPr>
          <a:xfrm>
            <a:off x="1156716" y="1737360"/>
            <a:ext cx="3493008"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went or gone? took or taken?</a:t>
            </a:r>
            <a:endParaRPr lang="en-US" sz="1500" dirty="0"/>
          </a:p>
        </p:txBody>
      </p:sp>
      <p:sp>
        <p:nvSpPr>
          <p:cNvPr id="6" name="Shape 4"/>
          <p:cNvSpPr/>
          <p:nvPr/>
        </p:nvSpPr>
        <p:spPr>
          <a:xfrm>
            <a:off x="2903220" y="2139696"/>
            <a:ext cx="0" cy="310896"/>
          </a:xfrm>
          <a:prstGeom prst="line">
            <a:avLst/>
          </a:prstGeom>
          <a:noFill/>
          <a:ln w="22225">
            <a:solidFill>
              <a:srgbClr val="44546A"/>
            </a:solidFill>
            <a:prstDash val="solid"/>
            <a:tailEnd type="triangle"/>
          </a:ln>
        </p:spPr>
      </p:sp>
      <p:sp>
        <p:nvSpPr>
          <p:cNvPr id="7" name="Shape 5"/>
          <p:cNvSpPr/>
          <p:nvPr/>
        </p:nvSpPr>
        <p:spPr>
          <a:xfrm>
            <a:off x="548640" y="246888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8" name="Shape 6"/>
          <p:cNvSpPr/>
          <p:nvPr/>
        </p:nvSpPr>
        <p:spPr>
          <a:xfrm>
            <a:off x="694944" y="2715768"/>
            <a:ext cx="438912" cy="438912"/>
          </a:xfrm>
          <a:prstGeom prst="ellipse">
            <a:avLst/>
          </a:prstGeom>
          <a:solidFill>
            <a:srgbClr val="1F3864"/>
          </a:solidFill>
          <a:ln/>
        </p:spPr>
      </p:sp>
      <p:pic>
        <p:nvPicPr>
          <p:cNvPr id="9" name="Image 0" descr="preencoded.png">    </p:cNvPr>
          <p:cNvPicPr>
            <a:picLocks noChangeAspect="1"/>
          </p:cNvPicPr>
          <p:nvPr/>
        </p:nvPicPr>
        <p:blipFill>
          <a:blip r:embed="rId1"/>
          <a:stretch>
            <a:fillRect/>
          </a:stretch>
        </p:blipFill>
        <p:spPr>
          <a:xfrm>
            <a:off x="804672" y="2825496"/>
            <a:ext cx="219456" cy="219456"/>
          </a:xfrm>
          <a:prstGeom prst="rect">
            <a:avLst/>
          </a:prstGeom>
        </p:spPr>
      </p:pic>
      <p:sp>
        <p:nvSpPr>
          <p:cNvPr id="10" name="Text 7"/>
          <p:cNvSpPr txBox="1"/>
          <p:nvPr/>
        </p:nvSpPr>
        <p:spPr>
          <a:xfrm>
            <a:off x="1261872" y="250545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Is there </a:t>
            </a:r>
            <a:r>
              <a:rPr lang="en-US" sz="1700" b="1" dirty="0">
                <a:solidFill>
                  <a:schemeClr val="tx2"/>
                </a:solidFill>
              </a:rPr>
              <a:t>have / has / had</a:t>
            </a:r>
            <a:r>
              <a:rPr lang="en-US" sz="1700" b="1" dirty="0">
                <a:solidFill>
                  <a:schemeClr val="tx2"/>
                </a:solidFill>
              </a:rPr>
              <a:t> just before it?</a:t>
            </a:r>
            <a:endParaRPr lang="en-US" sz="1700" dirty="0"/>
          </a:p>
          <a:p>
            <a:pPr indent="0" marL="0">
              <a:buNone/>
            </a:pPr>
            <a:r>
              <a:rPr lang="en-US" sz="1300" i="1" dirty="0">
                <a:solidFill>
                  <a:schemeClr val="accent5"/>
                </a:solidFill>
              </a:rPr>
              <a:t>present perfect — the result</a:t>
            </a:r>
            <a:endParaRPr lang="en-US" sz="1700" dirty="0"/>
          </a:p>
        </p:txBody>
      </p:sp>
      <p:sp>
        <p:nvSpPr>
          <p:cNvPr id="11" name="Shape 8"/>
          <p:cNvSpPr/>
          <p:nvPr/>
        </p:nvSpPr>
        <p:spPr>
          <a:xfrm>
            <a:off x="5276088" y="2935224"/>
            <a:ext cx="859536" cy="0"/>
          </a:xfrm>
          <a:prstGeom prst="line">
            <a:avLst/>
          </a:prstGeom>
          <a:noFill/>
          <a:ln w="22225">
            <a:solidFill>
              <a:srgbClr val="3C7A3C"/>
            </a:solidFill>
            <a:prstDash val="solid"/>
            <a:tailEnd type="triangle"/>
          </a:ln>
        </p:spPr>
      </p:sp>
      <p:sp>
        <p:nvSpPr>
          <p:cNvPr id="12" name="Text 9"/>
          <p:cNvSpPr txBox="1"/>
          <p:nvPr/>
        </p:nvSpPr>
        <p:spPr>
          <a:xfrm>
            <a:off x="5257800" y="262432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3" name="Shape 10"/>
          <p:cNvSpPr/>
          <p:nvPr/>
        </p:nvSpPr>
        <p:spPr>
          <a:xfrm>
            <a:off x="6172200" y="2468880"/>
            <a:ext cx="5468112" cy="932688"/>
          </a:xfrm>
          <a:prstGeom prst="roundRect">
            <a:avLst>
              <a:gd name="adj" fmla="val 7843"/>
            </a:avLst>
          </a:prstGeom>
          <a:solidFill>
            <a:srgbClr val="3C7A3C">
              <a:alpha val="12000"/>
            </a:srgbClr>
          </a:solidFill>
          <a:ln w="19050">
            <a:solidFill>
              <a:srgbClr val="3C7A3C"/>
            </a:solidFill>
            <a:prstDash val="solid"/>
          </a:ln>
        </p:spPr>
      </p:sp>
      <p:sp>
        <p:nvSpPr>
          <p:cNvPr id="14" name="Text 11"/>
          <p:cNvSpPr txBox="1"/>
          <p:nvPr/>
        </p:nvSpPr>
        <p:spPr>
          <a:xfrm>
            <a:off x="6336792" y="2505456"/>
            <a:ext cx="5138928" cy="859536"/>
          </a:xfrm>
          <a:prstGeom prst="rect">
            <a:avLst/>
          </a:prstGeom>
          <a:noFill/>
          <a:ln/>
        </p:spPr>
        <p:txBody>
          <a:bodyPr wrap="square" lIns="0" tIns="0" rIns="0" bIns="0" rtlCol="0" anchor="ctr"/>
          <a:lstStyle/>
          <a:p>
            <a:pPr indent="0" marL="0">
              <a:buNone/>
            </a:pPr>
            <a:r>
              <a:rPr lang="en-US" sz="1600" b="1" spc="50" kern="0" dirty="0">
                <a:solidFill>
                  <a:schemeClr val="accent3"/>
                </a:solidFill>
              </a:rPr>
              <a:t>PAST PARTICIPLE</a:t>
            </a:r>
            <a:endParaRPr lang="en-US" sz="1600" dirty="0"/>
          </a:p>
          <a:p>
            <a:pPr indent="0" marL="0">
              <a:buNone/>
            </a:pPr>
            <a:r>
              <a:rPr lang="en-US" sz="1600" dirty="0">
                <a:solidFill>
                  <a:schemeClr val="tx1"/>
                </a:solidFill>
              </a:rPr>
              <a:t>Iris </a:t>
            </a:r>
            <a:r>
              <a:rPr lang="en-US" sz="1600" b="1" dirty="0">
                <a:solidFill>
                  <a:schemeClr val="tx1"/>
                </a:solidFill>
              </a:rPr>
              <a:t>has </a:t>
            </a:r>
            <a:r>
              <a:rPr lang="en-US" sz="1600" b="1" dirty="0">
                <a:solidFill>
                  <a:schemeClr val="accent3"/>
                </a:solidFill>
              </a:rPr>
              <a:t>taken</a:t>
            </a:r>
            <a:r>
              <a:rPr lang="en-US" sz="1600" dirty="0">
                <a:solidFill>
                  <a:schemeClr val="tx1"/>
                </a:solidFill>
              </a:rPr>
              <a:t> the photos.</a:t>
            </a:r>
            <a:endParaRPr lang="en-US" sz="1600" dirty="0"/>
          </a:p>
        </p:txBody>
      </p:sp>
      <p:sp>
        <p:nvSpPr>
          <p:cNvPr id="15" name="Shape 12"/>
          <p:cNvSpPr/>
          <p:nvPr/>
        </p:nvSpPr>
        <p:spPr>
          <a:xfrm>
            <a:off x="2903220" y="3419856"/>
            <a:ext cx="0" cy="310896"/>
          </a:xfrm>
          <a:prstGeom prst="line">
            <a:avLst/>
          </a:prstGeom>
          <a:noFill/>
          <a:ln w="22225">
            <a:solidFill>
              <a:srgbClr val="44546A"/>
            </a:solidFill>
            <a:prstDash val="solid"/>
            <a:tailEnd type="triangle"/>
          </a:ln>
        </p:spPr>
      </p:sp>
      <p:sp>
        <p:nvSpPr>
          <p:cNvPr id="16" name="Text 13"/>
          <p:cNvSpPr txBox="1"/>
          <p:nvPr/>
        </p:nvSpPr>
        <p:spPr>
          <a:xfrm>
            <a:off x="2994660" y="340156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17" name="Shape 14"/>
          <p:cNvSpPr/>
          <p:nvPr/>
        </p:nvSpPr>
        <p:spPr>
          <a:xfrm>
            <a:off x="548640" y="374904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8" name="Shape 15"/>
          <p:cNvSpPr/>
          <p:nvPr/>
        </p:nvSpPr>
        <p:spPr>
          <a:xfrm>
            <a:off x="694944" y="3995928"/>
            <a:ext cx="438912" cy="438912"/>
          </a:xfrm>
          <a:prstGeom prst="ellipse">
            <a:avLst/>
          </a:prstGeom>
          <a:solidFill>
            <a:srgbClr val="1F3864"/>
          </a:solidFill>
          <a:ln/>
        </p:spPr>
      </p:sp>
      <p:pic>
        <p:nvPicPr>
          <p:cNvPr id="19" name="Image 1" descr="preencoded.png">    </p:cNvPr>
          <p:cNvPicPr>
            <a:picLocks noChangeAspect="1"/>
          </p:cNvPicPr>
          <p:nvPr/>
        </p:nvPicPr>
        <p:blipFill>
          <a:blip r:embed="rId2"/>
          <a:stretch>
            <a:fillRect/>
          </a:stretch>
        </p:blipFill>
        <p:spPr>
          <a:xfrm>
            <a:off x="804672" y="4105656"/>
            <a:ext cx="219456" cy="219456"/>
          </a:xfrm>
          <a:prstGeom prst="rect">
            <a:avLst/>
          </a:prstGeom>
        </p:spPr>
      </p:pic>
      <p:sp>
        <p:nvSpPr>
          <p:cNvPr id="20" name="Text 16"/>
          <p:cNvSpPr txBox="1"/>
          <p:nvPr/>
        </p:nvSpPr>
        <p:spPr>
          <a:xfrm>
            <a:off x="1261872" y="378561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Is there a form of </a:t>
            </a:r>
            <a:r>
              <a:rPr lang="en-US" sz="1700" b="1" dirty="0">
                <a:solidFill>
                  <a:schemeClr val="tx2"/>
                </a:solidFill>
              </a:rPr>
              <a:t>be</a:t>
            </a:r>
            <a:r>
              <a:rPr lang="en-US" sz="1700" b="1" dirty="0">
                <a:solidFill>
                  <a:schemeClr val="tx2"/>
                </a:solidFill>
              </a:rPr>
              <a:t> before it?</a:t>
            </a:r>
            <a:endParaRPr lang="en-US" sz="1700" dirty="0"/>
          </a:p>
          <a:p>
            <a:pPr indent="0" marL="0">
              <a:buNone/>
            </a:pPr>
            <a:r>
              <a:rPr lang="en-US" sz="1300" i="1" dirty="0">
                <a:solidFill>
                  <a:schemeClr val="accent5"/>
                </a:solidFill>
              </a:rPr>
              <a:t>was · were · is · has been — the passive</a:t>
            </a:r>
            <a:endParaRPr lang="en-US" sz="1700" dirty="0"/>
          </a:p>
        </p:txBody>
      </p:sp>
      <p:sp>
        <p:nvSpPr>
          <p:cNvPr id="21" name="Shape 17"/>
          <p:cNvSpPr/>
          <p:nvPr/>
        </p:nvSpPr>
        <p:spPr>
          <a:xfrm>
            <a:off x="5276088" y="4215384"/>
            <a:ext cx="859536" cy="0"/>
          </a:xfrm>
          <a:prstGeom prst="line">
            <a:avLst/>
          </a:prstGeom>
          <a:noFill/>
          <a:ln w="22225">
            <a:solidFill>
              <a:srgbClr val="3C7A3C"/>
            </a:solidFill>
            <a:prstDash val="solid"/>
            <a:tailEnd type="triangle"/>
          </a:ln>
        </p:spPr>
      </p:sp>
      <p:sp>
        <p:nvSpPr>
          <p:cNvPr id="22" name="Text 18"/>
          <p:cNvSpPr txBox="1"/>
          <p:nvPr/>
        </p:nvSpPr>
        <p:spPr>
          <a:xfrm>
            <a:off x="5257800" y="390448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3" name="Shape 19"/>
          <p:cNvSpPr/>
          <p:nvPr/>
        </p:nvSpPr>
        <p:spPr>
          <a:xfrm>
            <a:off x="6172200" y="3749040"/>
            <a:ext cx="5468112" cy="932688"/>
          </a:xfrm>
          <a:prstGeom prst="roundRect">
            <a:avLst>
              <a:gd name="adj" fmla="val 7843"/>
            </a:avLst>
          </a:prstGeom>
          <a:solidFill>
            <a:srgbClr val="3C7A3C">
              <a:alpha val="12000"/>
            </a:srgbClr>
          </a:solidFill>
          <a:ln w="19050">
            <a:solidFill>
              <a:srgbClr val="3C7A3C"/>
            </a:solidFill>
            <a:prstDash val="solid"/>
          </a:ln>
        </p:spPr>
      </p:sp>
      <p:sp>
        <p:nvSpPr>
          <p:cNvPr id="24" name="Text 20"/>
          <p:cNvSpPr txBox="1"/>
          <p:nvPr/>
        </p:nvSpPr>
        <p:spPr>
          <a:xfrm>
            <a:off x="6336792" y="3785616"/>
            <a:ext cx="5138928" cy="859536"/>
          </a:xfrm>
          <a:prstGeom prst="rect">
            <a:avLst/>
          </a:prstGeom>
          <a:noFill/>
          <a:ln/>
        </p:spPr>
        <p:txBody>
          <a:bodyPr wrap="square" lIns="0" tIns="0" rIns="0" bIns="0" rtlCol="0" anchor="ctr"/>
          <a:lstStyle/>
          <a:p>
            <a:pPr indent="0" marL="0">
              <a:buNone/>
            </a:pPr>
            <a:r>
              <a:rPr lang="en-US" sz="1600" b="1" spc="50" kern="0" dirty="0">
                <a:solidFill>
                  <a:schemeClr val="accent3"/>
                </a:solidFill>
              </a:rPr>
              <a:t>PAST PARTICIPLE (passive)</a:t>
            </a:r>
            <a:endParaRPr lang="en-US" sz="1600" dirty="0"/>
          </a:p>
          <a:p>
            <a:pPr indent="0" marL="0">
              <a:buNone/>
            </a:pPr>
            <a:r>
              <a:rPr lang="en-US" sz="1600" dirty="0">
                <a:solidFill>
                  <a:schemeClr val="tx1"/>
                </a:solidFill>
              </a:rPr>
              <a:t>The water </a:t>
            </a:r>
            <a:r>
              <a:rPr lang="en-US" sz="1600" b="1" dirty="0">
                <a:solidFill>
                  <a:schemeClr val="tx1"/>
                </a:solidFill>
              </a:rPr>
              <a:t>was </a:t>
            </a:r>
            <a:r>
              <a:rPr lang="en-US" sz="1600" b="1" dirty="0">
                <a:solidFill>
                  <a:schemeClr val="accent3"/>
                </a:solidFill>
              </a:rPr>
              <a:t>found</a:t>
            </a:r>
            <a:r>
              <a:rPr lang="en-US" sz="1600" dirty="0">
                <a:solidFill>
                  <a:schemeClr val="tx1"/>
                </a:solidFill>
              </a:rPr>
              <a:t> at 6.50.</a:t>
            </a:r>
            <a:endParaRPr lang="en-US" sz="1600" dirty="0"/>
          </a:p>
        </p:txBody>
      </p:sp>
      <p:sp>
        <p:nvSpPr>
          <p:cNvPr id="25" name="Shape 21"/>
          <p:cNvSpPr/>
          <p:nvPr/>
        </p:nvSpPr>
        <p:spPr>
          <a:xfrm>
            <a:off x="2903220" y="4700016"/>
            <a:ext cx="0" cy="310896"/>
          </a:xfrm>
          <a:prstGeom prst="line">
            <a:avLst/>
          </a:prstGeom>
          <a:noFill/>
          <a:ln w="22225">
            <a:solidFill>
              <a:srgbClr val="44546A"/>
            </a:solidFill>
            <a:prstDash val="solid"/>
            <a:tailEnd type="triangle"/>
          </a:ln>
        </p:spPr>
      </p:sp>
      <p:sp>
        <p:nvSpPr>
          <p:cNvPr id="26" name="Text 22"/>
          <p:cNvSpPr txBox="1"/>
          <p:nvPr/>
        </p:nvSpPr>
        <p:spPr>
          <a:xfrm>
            <a:off x="2994660" y="468172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7" name="Shape 23"/>
          <p:cNvSpPr/>
          <p:nvPr/>
        </p:nvSpPr>
        <p:spPr>
          <a:xfrm>
            <a:off x="548640" y="5029200"/>
            <a:ext cx="4709160" cy="932688"/>
          </a:xfrm>
          <a:prstGeom prst="roundRect">
            <a:avLst>
              <a:gd name="adj" fmla="val 7843"/>
            </a:avLst>
          </a:prstGeom>
          <a:solidFill>
            <a:srgbClr val="B4236A">
              <a:alpha val="12000"/>
            </a:srgbClr>
          </a:solidFill>
          <a:ln w="19050">
            <a:solidFill>
              <a:srgbClr val="B4236A"/>
            </a:solidFill>
            <a:prstDash val="solid"/>
          </a:ln>
        </p:spPr>
      </p:sp>
      <p:sp>
        <p:nvSpPr>
          <p:cNvPr id="28" name="Text 24"/>
          <p:cNvSpPr txBox="1"/>
          <p:nvPr/>
        </p:nvSpPr>
        <p:spPr>
          <a:xfrm>
            <a:off x="713232" y="5065776"/>
            <a:ext cx="4379976" cy="859536"/>
          </a:xfrm>
          <a:prstGeom prst="rect">
            <a:avLst/>
          </a:prstGeom>
          <a:noFill/>
          <a:ln/>
        </p:spPr>
        <p:txBody>
          <a:bodyPr wrap="square" lIns="0" tIns="0" rIns="0" bIns="0" rtlCol="0" anchor="ctr"/>
          <a:lstStyle/>
          <a:p>
            <a:pPr indent="0" marL="0">
              <a:buNone/>
            </a:pPr>
            <a:r>
              <a:rPr lang="en-US" sz="1600" b="1" spc="50" kern="0" dirty="0">
                <a:solidFill>
                  <a:srgbClr val="B4236A"/>
                </a:solidFill>
              </a:rPr>
              <a:t>PAST SIMPLE — the dated fact</a:t>
            </a:r>
            <a:endParaRPr lang="en-US" sz="1600" dirty="0"/>
          </a:p>
          <a:p>
            <a:pPr indent="0" marL="0">
              <a:buNone/>
            </a:pPr>
            <a:r>
              <a:rPr lang="en-US" sz="1600" dirty="0">
                <a:solidFill>
                  <a:schemeClr val="tx1"/>
                </a:solidFill>
              </a:rPr>
              <a:t>The cleaners </a:t>
            </a:r>
            <a:r>
              <a:rPr lang="en-US" sz="1600" b="1" dirty="0">
                <a:solidFill>
                  <a:srgbClr val="B4236A"/>
                </a:solidFill>
              </a:rPr>
              <a:t>found</a:t>
            </a:r>
            <a:r>
              <a:rPr lang="en-US" sz="1600" dirty="0">
                <a:solidFill>
                  <a:schemeClr val="tx1"/>
                </a:solidFill>
              </a:rPr>
              <a:t> it at 6.50. The alarm </a:t>
            </a:r>
            <a:r>
              <a:rPr lang="en-US" sz="1600" b="1" dirty="0">
                <a:solidFill>
                  <a:srgbClr val="B4236A"/>
                </a:solidFill>
              </a:rPr>
              <a:t>went off</a:t>
            </a:r>
            <a:r>
              <a:rPr lang="en-US" sz="1600" dirty="0">
                <a:solidFill>
                  <a:schemeClr val="tx1"/>
                </a:solidFill>
              </a:rPr>
              <a:t> at 23:41.</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Spot the two forms in Iris’s update</a:t>
            </a:r>
            <a:endParaRPr lang="en-US" sz="3200" dirty="0"/>
          </a:p>
        </p:txBody>
      </p:sp>
      <p:sp>
        <p:nvSpPr>
          <p:cNvPr id="3" name="tag"/>
          <p:cNvSpPr/>
          <p:nvPr/>
        </p:nvSpPr>
        <p:spPr>
          <a:xfrm>
            <a:off x="548640" y="384048"/>
            <a:ext cx="11658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READING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Find </a:t>
            </a:r>
            <a:r>
              <a:rPr lang="en-US" sz="1600" b="1" i="1" dirty="0">
                <a:solidFill>
                  <a:schemeClr val="accent5"/>
                </a:solidFill>
              </a:rPr>
              <a:t>five past participles</a:t>
            </a:r>
            <a:r>
              <a:rPr lang="en-US" sz="1600" i="1" dirty="0">
                <a:solidFill>
                  <a:schemeClr val="accent5"/>
                </a:solidFill>
              </a:rPr>
              <a:t> (a result) and </a:t>
            </a:r>
            <a:r>
              <a:rPr lang="en-US" sz="1600" b="1" i="1" dirty="0">
                <a:solidFill>
                  <a:schemeClr val="accent5"/>
                </a:solidFill>
              </a:rPr>
              <a:t>four past simple</a:t>
            </a:r>
            <a:r>
              <a:rPr lang="en-US" sz="1600" i="1" dirty="0">
                <a:solidFill>
                  <a:schemeClr val="accent5"/>
                </a:solidFill>
              </a:rPr>
              <a:t> forms (a dated fact). Use the tree!</a:t>
            </a:r>
            <a:endParaRPr lang="en-US" sz="1600" dirty="0"/>
          </a:p>
        </p:txBody>
      </p:sp>
      <p:sp>
        <p:nvSpPr>
          <p:cNvPr id="7" name="Shape 4"/>
          <p:cNvSpPr/>
          <p:nvPr/>
        </p:nvSpPr>
        <p:spPr>
          <a:xfrm>
            <a:off x="548640" y="2237232"/>
            <a:ext cx="11091672" cy="4072128"/>
          </a:xfrm>
          <a:prstGeom prst="rect">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8" name="tag"/>
          <p:cNvSpPr/>
          <p:nvPr/>
        </p:nvSpPr>
        <p:spPr>
          <a:xfrm>
            <a:off x="822960" y="2420112"/>
            <a:ext cx="19888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IRIS’S UPDATE</a:t>
            </a:r>
            <a:endParaRPr lang="en-US" sz="1200" dirty="0"/>
          </a:p>
        </p:txBody>
      </p:sp>
      <p:sp>
        <p:nvSpPr>
          <p:cNvPr id="9" name="Text 6"/>
          <p:cNvSpPr txBox="1"/>
          <p:nvPr/>
        </p:nvSpPr>
        <p:spPr>
          <a:xfrm>
            <a:off x="3040380" y="2383536"/>
            <a:ext cx="6725412" cy="384048"/>
          </a:xfrm>
          <a:prstGeom prst="rect">
            <a:avLst/>
          </a:prstGeom>
          <a:noFill/>
          <a:ln/>
        </p:spPr>
        <p:txBody>
          <a:bodyPr wrap="square" lIns="0" tIns="0" rIns="0" bIns="0" rtlCol="0" anchor="ctr"/>
          <a:lstStyle/>
          <a:p>
            <a:pPr indent="0" marL="0">
              <a:buNone/>
            </a:pPr>
            <a:r>
              <a:rPr lang="en-US" sz="1700" b="1" dirty="0">
                <a:solidFill>
                  <a:schemeClr val="accent5"/>
                </a:solidFill>
                <a:latin typeface="+mj-lt" pitchFamily="34" charset="0"/>
                <a:ea typeface="+mj-lt" pitchFamily="34" charset="-122"/>
                <a:cs typeface="+mj-lt" pitchFamily="34" charset="-120"/>
              </a:rPr>
              <a:t>Atlas House — 9.30 a.m.</a:t>
            </a:r>
            <a:endParaRPr lang="en-US" sz="1700" dirty="0"/>
          </a:p>
        </p:txBody>
      </p:sp>
      <p:sp>
        <p:nvSpPr>
          <p:cNvPr id="10" name="Shape 7"/>
          <p:cNvSpPr/>
          <p:nvPr/>
        </p:nvSpPr>
        <p:spPr>
          <a:xfrm>
            <a:off x="9765792" y="2392680"/>
            <a:ext cx="1645920" cy="384048"/>
          </a:xfrm>
          <a:prstGeom prst="roundRect">
            <a:avLst>
              <a:gd name="adj" fmla="val 47619"/>
            </a:avLst>
          </a:prstGeom>
          <a:solidFill>
            <a:srgbClr val="B4236A"/>
          </a:solidFill>
          <a:ln/>
        </p:spPr>
      </p:sp>
      <p:sp>
        <p:nvSpPr>
          <p:cNvPr id="11" name="Text 8"/>
          <p:cNvSpPr txBox="1"/>
          <p:nvPr/>
        </p:nvSpPr>
        <p:spPr>
          <a:xfrm>
            <a:off x="9765792" y="2392680"/>
            <a:ext cx="1645920" cy="384048"/>
          </a:xfrm>
          <a:prstGeom prst="rect">
            <a:avLst/>
          </a:prstGeom>
          <a:noFill/>
          <a:ln/>
        </p:spPr>
        <p:txBody>
          <a:bodyPr wrap="square" lIns="0" tIns="0" rIns="0" bIns="0" rtlCol="0" anchor="ctr"/>
          <a:lstStyle/>
          <a:p>
            <a:pPr algn="ctr" indent="0" marL="0">
              <a:buNone/>
            </a:pPr>
            <a:r>
              <a:rPr lang="en-US" sz="1400" b="1" dirty="0">
                <a:solidFill>
                  <a:schemeClr val="bg1"/>
                </a:solidFill>
              </a:rPr>
              <a:t>9 forms to find</a:t>
            </a:r>
            <a:endParaRPr lang="en-US" sz="1400" dirty="0"/>
          </a:p>
        </p:txBody>
      </p:sp>
      <p:sp>
        <p:nvSpPr>
          <p:cNvPr id="12" name="Shape 9"/>
          <p:cNvSpPr/>
          <p:nvPr/>
        </p:nvSpPr>
        <p:spPr>
          <a:xfrm>
            <a:off x="822960" y="2923032"/>
            <a:ext cx="10543032" cy="0"/>
          </a:xfrm>
          <a:prstGeom prst="line">
            <a:avLst/>
          </a:prstGeom>
          <a:noFill/>
          <a:ln w="12700">
            <a:solidFill>
              <a:srgbClr val="44546A"/>
            </a:solidFill>
            <a:prstDash val="dash"/>
          </a:ln>
        </p:spPr>
      </p:sp>
      <p:sp>
        <p:nvSpPr>
          <p:cNvPr id="13" name="Text 10"/>
          <p:cNvSpPr txBox="1"/>
          <p:nvPr/>
        </p:nvSpPr>
        <p:spPr>
          <a:xfrm>
            <a:off x="914400" y="3060192"/>
            <a:ext cx="10360152" cy="3157728"/>
          </a:xfrm>
          <a:prstGeom prst="rect">
            <a:avLst/>
          </a:prstGeom>
          <a:noFill/>
          <a:ln/>
        </p:spPr>
        <p:txBody>
          <a:bodyPr wrap="square" lIns="0" tIns="0" rIns="0" bIns="0" rtlCol="0" anchor="t"/>
          <a:lstStyle/>
          <a:p>
            <a:pPr indent="0" marL="0">
              <a:lnSpc>
                <a:spcPct val="115000"/>
              </a:lnSpc>
              <a:spcAft>
                <a:spcPts val="1000"/>
              </a:spcAft>
              <a:buNone/>
            </a:pPr>
            <a:r>
              <a:rPr lang="en-US" sz="2100" dirty="0">
                <a:solidFill>
                  <a:schemeClr val="tx1"/>
                </a:solidFill>
              </a:rPr>
              <a:t>Since 8 a.m., I have </a:t>
            </a:r>
            <a:r>
              <a:rPr lang="en-US" sz="2100" dirty="0">
                <a:solidFill>
                  <a:schemeClr val="tx1"/>
                </a:solidFill>
              </a:rPr>
              <a:t>taken</a:t>
            </a:r>
            <a:r>
              <a:rPr lang="en-US" sz="2100" dirty="0">
                <a:solidFill>
                  <a:schemeClr val="tx1"/>
                </a:solidFill>
              </a:rPr>
              <a:t> forty photos of the ceiling, and Samuel has </a:t>
            </a:r>
            <a:r>
              <a:rPr lang="en-US" sz="2100" dirty="0">
                <a:solidFill>
                  <a:schemeClr val="tx1"/>
                </a:solidFill>
              </a:rPr>
              <a:t>checked</a:t>
            </a:r>
            <a:r>
              <a:rPr lang="en-US" sz="2100" dirty="0">
                <a:solidFill>
                  <a:schemeClr val="tx1"/>
                </a:solidFill>
              </a:rPr>
              <a:t> the rack twice.</a:t>
            </a:r>
            <a:endParaRPr lang="en-US" sz="2100" dirty="0"/>
          </a:p>
          <a:p>
            <a:pPr indent="0" marL="0">
              <a:lnSpc>
                <a:spcPct val="115000"/>
              </a:lnSpc>
              <a:spcAft>
                <a:spcPts val="1000"/>
              </a:spcAft>
              <a:buNone/>
            </a:pPr>
            <a:r>
              <a:rPr lang="en-US" sz="2100" dirty="0">
                <a:solidFill>
                  <a:schemeClr val="tx1"/>
                </a:solidFill>
              </a:rPr>
              <a:t>Mark </a:t>
            </a:r>
            <a:r>
              <a:rPr lang="en-US" sz="2100" dirty="0">
                <a:solidFill>
                  <a:schemeClr val="tx1"/>
                </a:solidFill>
              </a:rPr>
              <a:t>called</a:t>
            </a:r>
            <a:r>
              <a:rPr lang="en-US" sz="2100" dirty="0">
                <a:solidFill>
                  <a:schemeClr val="tx1"/>
                </a:solidFill>
              </a:rPr>
              <a:t> me at 6.58. The cleaners </a:t>
            </a:r>
            <a:r>
              <a:rPr lang="en-US" sz="2100" dirty="0">
                <a:solidFill>
                  <a:schemeClr val="tx1"/>
                </a:solidFill>
              </a:rPr>
              <a:t>found</a:t>
            </a:r>
            <a:r>
              <a:rPr lang="en-US" sz="2100" dirty="0">
                <a:solidFill>
                  <a:schemeClr val="tx1"/>
                </a:solidFill>
              </a:rPr>
              <a:t> the water at 6.50 and </a:t>
            </a:r>
            <a:r>
              <a:rPr lang="en-US" sz="2100" dirty="0">
                <a:solidFill>
                  <a:schemeClr val="tx1"/>
                </a:solidFill>
              </a:rPr>
              <a:t>raised</a:t>
            </a:r>
            <a:r>
              <a:rPr lang="en-US" sz="2100" dirty="0">
                <a:solidFill>
                  <a:schemeClr val="tx1"/>
                </a:solidFill>
              </a:rPr>
              <a:t> the alarm. The temperature alarm </a:t>
            </a:r>
            <a:r>
              <a:rPr lang="en-US" sz="2100" dirty="0">
                <a:solidFill>
                  <a:schemeClr val="tx1"/>
                </a:solidFill>
              </a:rPr>
              <a:t>went off</a:t>
            </a:r>
            <a:r>
              <a:rPr lang="en-US" sz="2100" dirty="0">
                <a:solidFill>
                  <a:schemeClr val="tx1"/>
                </a:solidFill>
              </a:rPr>
              <a:t> at 23:41, and a notification was </a:t>
            </a:r>
            <a:r>
              <a:rPr lang="en-US" sz="2100" dirty="0">
                <a:solidFill>
                  <a:schemeClr val="tx1"/>
                </a:solidFill>
              </a:rPr>
              <a:t>sent</a:t>
            </a:r>
            <a:r>
              <a:rPr lang="en-US" sz="2100" dirty="0">
                <a:solidFill>
                  <a:schemeClr val="tx1"/>
                </a:solidFill>
              </a:rPr>
              <a:t> one minute later.</a:t>
            </a:r>
            <a:endParaRPr lang="en-US" sz="2100" dirty="0"/>
          </a:p>
          <a:p>
            <a:pPr indent="0" marL="0">
              <a:lnSpc>
                <a:spcPct val="115000"/>
              </a:lnSpc>
              <a:spcAft>
                <a:spcPts val="1000"/>
              </a:spcAft>
              <a:buNone/>
            </a:pPr>
            <a:r>
              <a:rPr lang="en-US" sz="2100" dirty="0">
                <a:solidFill>
                  <a:schemeClr val="tx1"/>
                </a:solidFill>
              </a:rPr>
              <a:t>Nobody has </a:t>
            </a:r>
            <a:r>
              <a:rPr lang="en-US" sz="2100" dirty="0">
                <a:solidFill>
                  <a:schemeClr val="tx1"/>
                </a:solidFill>
              </a:rPr>
              <a:t>seen</a:t>
            </a:r>
            <a:r>
              <a:rPr lang="en-US" sz="2100" dirty="0">
                <a:solidFill>
                  <a:schemeClr val="tx1"/>
                </a:solidFill>
              </a:rPr>
              <a:t> the floor under the rack yet, and nobody has </a:t>
            </a:r>
            <a:r>
              <a:rPr lang="en-US" sz="2100" dirty="0">
                <a:solidFill>
                  <a:schemeClr val="tx1"/>
                </a:solidFill>
              </a:rPr>
              <a:t>made</a:t>
            </a:r>
            <a:r>
              <a:rPr lang="en-US" sz="2100" dirty="0">
                <a:solidFill>
                  <a:schemeClr val="tx1"/>
                </a:solidFill>
              </a:rPr>
              <a:t> any repairs.</a:t>
            </a:r>
            <a:endParaRPr lang="en-US" sz="2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Spot the two forms in Iris’s update</a:t>
            </a:r>
            <a:endParaRPr lang="en-US" sz="3200" dirty="0"/>
          </a:p>
        </p:txBody>
      </p:sp>
      <p:sp>
        <p:nvSpPr>
          <p:cNvPr id="3" name="tag"/>
          <p:cNvSpPr/>
          <p:nvPr/>
        </p:nvSpPr>
        <p:spPr>
          <a:xfrm>
            <a:off x="548640" y="384048"/>
            <a:ext cx="11658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READING</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3"/>
                </a:solidFill>
              </a:rPr>
              <a:t>Green</a:t>
            </a:r>
            <a:r>
              <a:rPr lang="en-US" sz="1600" i="1" dirty="0">
                <a:solidFill>
                  <a:schemeClr val="accent5"/>
                </a:solidFill>
              </a:rPr>
              <a:t> = past participle (result) · </a:t>
            </a:r>
            <a:r>
              <a:rPr lang="en-US" sz="1600" b="1" i="1" dirty="0">
                <a:solidFill>
                  <a:srgbClr val="B4236A"/>
                </a:solidFill>
              </a:rPr>
              <a:t>magenta</a:t>
            </a:r>
            <a:r>
              <a:rPr lang="en-US" sz="1600" i="1" dirty="0">
                <a:solidFill>
                  <a:schemeClr val="accent5"/>
                </a:solidFill>
              </a:rPr>
              <a:t> = past simple (dated fact).</a:t>
            </a:r>
            <a:endParaRPr lang="en-US" sz="1600" dirty="0"/>
          </a:p>
        </p:txBody>
      </p:sp>
      <p:sp>
        <p:nvSpPr>
          <p:cNvPr id="8" name="Shape 5"/>
          <p:cNvSpPr/>
          <p:nvPr/>
        </p:nvSpPr>
        <p:spPr>
          <a:xfrm>
            <a:off x="548640" y="2237232"/>
            <a:ext cx="11091672" cy="4072128"/>
          </a:xfrm>
          <a:prstGeom prst="rect">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9" name="tag"/>
          <p:cNvSpPr/>
          <p:nvPr/>
        </p:nvSpPr>
        <p:spPr>
          <a:xfrm>
            <a:off x="822960" y="2420112"/>
            <a:ext cx="19888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IRIS’S UPDATE</a:t>
            </a:r>
            <a:endParaRPr lang="en-US" sz="1200" dirty="0"/>
          </a:p>
        </p:txBody>
      </p:sp>
      <p:sp>
        <p:nvSpPr>
          <p:cNvPr id="10" name="Text 7"/>
          <p:cNvSpPr txBox="1"/>
          <p:nvPr/>
        </p:nvSpPr>
        <p:spPr>
          <a:xfrm>
            <a:off x="3040380" y="2383536"/>
            <a:ext cx="6725412" cy="384048"/>
          </a:xfrm>
          <a:prstGeom prst="rect">
            <a:avLst/>
          </a:prstGeom>
          <a:noFill/>
          <a:ln/>
        </p:spPr>
        <p:txBody>
          <a:bodyPr wrap="square" lIns="0" tIns="0" rIns="0" bIns="0" rtlCol="0" anchor="ctr"/>
          <a:lstStyle/>
          <a:p>
            <a:pPr indent="0" marL="0">
              <a:buNone/>
            </a:pPr>
            <a:r>
              <a:rPr lang="en-US" sz="1700" b="1" dirty="0">
                <a:solidFill>
                  <a:schemeClr val="accent5"/>
                </a:solidFill>
                <a:latin typeface="+mj-lt" pitchFamily="34" charset="0"/>
                <a:ea typeface="+mj-lt" pitchFamily="34" charset="-122"/>
                <a:cs typeface="+mj-lt" pitchFamily="34" charset="-120"/>
              </a:rPr>
              <a:t>Atlas House — 9.30 a.m.</a:t>
            </a:r>
            <a:endParaRPr lang="en-US" sz="1700" dirty="0"/>
          </a:p>
        </p:txBody>
      </p:sp>
      <p:sp>
        <p:nvSpPr>
          <p:cNvPr id="11" name="Shape 8"/>
          <p:cNvSpPr/>
          <p:nvPr/>
        </p:nvSpPr>
        <p:spPr>
          <a:xfrm>
            <a:off x="9765792" y="2392680"/>
            <a:ext cx="1645920" cy="384048"/>
          </a:xfrm>
          <a:prstGeom prst="roundRect">
            <a:avLst>
              <a:gd name="adj" fmla="val 47619"/>
            </a:avLst>
          </a:prstGeom>
          <a:solidFill>
            <a:srgbClr val="3C7A3C"/>
          </a:solidFill>
          <a:ln/>
        </p:spPr>
      </p:sp>
      <p:sp>
        <p:nvSpPr>
          <p:cNvPr id="12" name="Text 9"/>
          <p:cNvSpPr txBox="1"/>
          <p:nvPr/>
        </p:nvSpPr>
        <p:spPr>
          <a:xfrm>
            <a:off x="9765792" y="2392680"/>
            <a:ext cx="1645920" cy="384048"/>
          </a:xfrm>
          <a:prstGeom prst="rect">
            <a:avLst/>
          </a:prstGeom>
          <a:noFill/>
          <a:ln/>
        </p:spPr>
        <p:txBody>
          <a:bodyPr wrap="square" lIns="0" tIns="0" rIns="0" bIns="0" rtlCol="0" anchor="ctr"/>
          <a:lstStyle/>
          <a:p>
            <a:pPr algn="ctr" indent="0" marL="0">
              <a:buNone/>
            </a:pPr>
            <a:r>
              <a:rPr lang="en-US" sz="1400" b="1" dirty="0">
                <a:solidFill>
                  <a:schemeClr val="bg1"/>
                </a:solidFill>
              </a:rPr>
              <a:t>✓ 9 forms</a:t>
            </a:r>
            <a:endParaRPr lang="en-US" sz="1400" dirty="0"/>
          </a:p>
        </p:txBody>
      </p:sp>
      <p:sp>
        <p:nvSpPr>
          <p:cNvPr id="13" name="Shape 10"/>
          <p:cNvSpPr/>
          <p:nvPr/>
        </p:nvSpPr>
        <p:spPr>
          <a:xfrm>
            <a:off x="822960" y="2923032"/>
            <a:ext cx="10543032" cy="0"/>
          </a:xfrm>
          <a:prstGeom prst="line">
            <a:avLst/>
          </a:prstGeom>
          <a:noFill/>
          <a:ln w="12700">
            <a:solidFill>
              <a:srgbClr val="44546A"/>
            </a:solidFill>
            <a:prstDash val="dash"/>
          </a:ln>
        </p:spPr>
      </p:sp>
      <p:sp>
        <p:nvSpPr>
          <p:cNvPr id="14" name="Text 11"/>
          <p:cNvSpPr txBox="1"/>
          <p:nvPr/>
        </p:nvSpPr>
        <p:spPr>
          <a:xfrm>
            <a:off x="914400" y="3060192"/>
            <a:ext cx="10360152" cy="3157728"/>
          </a:xfrm>
          <a:prstGeom prst="rect">
            <a:avLst/>
          </a:prstGeom>
          <a:noFill/>
          <a:ln/>
        </p:spPr>
        <p:txBody>
          <a:bodyPr wrap="square" lIns="0" tIns="0" rIns="0" bIns="0" rtlCol="0" anchor="t"/>
          <a:lstStyle/>
          <a:p>
            <a:pPr indent="0" marL="0">
              <a:lnSpc>
                <a:spcPct val="115000"/>
              </a:lnSpc>
              <a:spcAft>
                <a:spcPts val="1000"/>
              </a:spcAft>
              <a:buNone/>
            </a:pPr>
            <a:r>
              <a:rPr lang="en-US" sz="2100" dirty="0">
                <a:solidFill>
                  <a:schemeClr val="tx1"/>
                </a:solidFill>
              </a:rPr>
              <a:t>Since 8 a.m., I have </a:t>
            </a:r>
            <a:r>
              <a:rPr lang="en-US" sz="2100" b="1" dirty="0">
                <a:solidFill>
                  <a:schemeClr val="accent3"/>
                </a:solidFill>
                <a:highlight>
                  <a:srgbClr val="D9EDD5"/>
                </a:highlight>
              </a:rPr>
              <a:t>taken</a:t>
            </a:r>
            <a:r>
              <a:rPr lang="en-US" sz="2100" dirty="0">
                <a:solidFill>
                  <a:schemeClr val="tx1"/>
                </a:solidFill>
              </a:rPr>
              <a:t> forty photos of the ceiling, and Samuel has </a:t>
            </a:r>
            <a:r>
              <a:rPr lang="en-US" sz="2100" b="1" dirty="0">
                <a:solidFill>
                  <a:schemeClr val="accent3"/>
                </a:solidFill>
                <a:highlight>
                  <a:srgbClr val="D9EDD5"/>
                </a:highlight>
              </a:rPr>
              <a:t>checked</a:t>
            </a:r>
            <a:r>
              <a:rPr lang="en-US" sz="2100" dirty="0">
                <a:solidFill>
                  <a:schemeClr val="tx1"/>
                </a:solidFill>
              </a:rPr>
              <a:t> the rack twice.</a:t>
            </a:r>
            <a:endParaRPr lang="en-US" sz="2100" dirty="0"/>
          </a:p>
          <a:p>
            <a:pPr indent="0" marL="0">
              <a:lnSpc>
                <a:spcPct val="115000"/>
              </a:lnSpc>
              <a:spcAft>
                <a:spcPts val="1000"/>
              </a:spcAft>
              <a:buNone/>
            </a:pPr>
            <a:r>
              <a:rPr lang="en-US" sz="2100" dirty="0">
                <a:solidFill>
                  <a:schemeClr val="tx1"/>
                </a:solidFill>
              </a:rPr>
              <a:t>Mark </a:t>
            </a:r>
            <a:r>
              <a:rPr lang="en-US" sz="2100" b="1" dirty="0">
                <a:solidFill>
                  <a:srgbClr val="B4236A"/>
                </a:solidFill>
                <a:highlight>
                  <a:srgbClr val="F6DDE9"/>
                </a:highlight>
              </a:rPr>
              <a:t>called</a:t>
            </a:r>
            <a:r>
              <a:rPr lang="en-US" sz="2100" dirty="0">
                <a:solidFill>
                  <a:schemeClr val="tx1"/>
                </a:solidFill>
              </a:rPr>
              <a:t> me at 6.58. The cleaners </a:t>
            </a:r>
            <a:r>
              <a:rPr lang="en-US" sz="2100" b="1" dirty="0">
                <a:solidFill>
                  <a:srgbClr val="B4236A"/>
                </a:solidFill>
                <a:highlight>
                  <a:srgbClr val="F6DDE9"/>
                </a:highlight>
              </a:rPr>
              <a:t>found</a:t>
            </a:r>
            <a:r>
              <a:rPr lang="en-US" sz="2100" dirty="0">
                <a:solidFill>
                  <a:schemeClr val="tx1"/>
                </a:solidFill>
              </a:rPr>
              <a:t> the water at 6.50 and </a:t>
            </a:r>
            <a:r>
              <a:rPr lang="en-US" sz="2100" b="1" dirty="0">
                <a:solidFill>
                  <a:srgbClr val="B4236A"/>
                </a:solidFill>
                <a:highlight>
                  <a:srgbClr val="F6DDE9"/>
                </a:highlight>
              </a:rPr>
              <a:t>raised</a:t>
            </a:r>
            <a:r>
              <a:rPr lang="en-US" sz="2100" dirty="0">
                <a:solidFill>
                  <a:schemeClr val="tx1"/>
                </a:solidFill>
              </a:rPr>
              <a:t> the alarm. The temperature alarm </a:t>
            </a:r>
            <a:r>
              <a:rPr lang="en-US" sz="2100" b="1" dirty="0">
                <a:solidFill>
                  <a:srgbClr val="B4236A"/>
                </a:solidFill>
                <a:highlight>
                  <a:srgbClr val="F6DDE9"/>
                </a:highlight>
              </a:rPr>
              <a:t>went off</a:t>
            </a:r>
            <a:r>
              <a:rPr lang="en-US" sz="2100" dirty="0">
                <a:solidFill>
                  <a:schemeClr val="tx1"/>
                </a:solidFill>
              </a:rPr>
              <a:t> at 23:41, and a notification was </a:t>
            </a:r>
            <a:r>
              <a:rPr lang="en-US" sz="2100" b="1" dirty="0">
                <a:solidFill>
                  <a:schemeClr val="accent3"/>
                </a:solidFill>
                <a:highlight>
                  <a:srgbClr val="D9EDD5"/>
                </a:highlight>
              </a:rPr>
              <a:t>sent</a:t>
            </a:r>
            <a:r>
              <a:rPr lang="en-US" sz="2100" dirty="0">
                <a:solidFill>
                  <a:schemeClr val="tx1"/>
                </a:solidFill>
              </a:rPr>
              <a:t> one minute later.</a:t>
            </a:r>
            <a:endParaRPr lang="en-US" sz="2100" dirty="0"/>
          </a:p>
          <a:p>
            <a:pPr indent="0" marL="0">
              <a:lnSpc>
                <a:spcPct val="115000"/>
              </a:lnSpc>
              <a:spcAft>
                <a:spcPts val="1000"/>
              </a:spcAft>
              <a:buNone/>
            </a:pPr>
            <a:r>
              <a:rPr lang="en-US" sz="2100" dirty="0">
                <a:solidFill>
                  <a:schemeClr val="tx1"/>
                </a:solidFill>
              </a:rPr>
              <a:t>Nobody has </a:t>
            </a:r>
            <a:r>
              <a:rPr lang="en-US" sz="2100" b="1" dirty="0">
                <a:solidFill>
                  <a:schemeClr val="accent3"/>
                </a:solidFill>
                <a:highlight>
                  <a:srgbClr val="D9EDD5"/>
                </a:highlight>
              </a:rPr>
              <a:t>seen</a:t>
            </a:r>
            <a:r>
              <a:rPr lang="en-US" sz="2100" dirty="0">
                <a:solidFill>
                  <a:schemeClr val="tx1"/>
                </a:solidFill>
              </a:rPr>
              <a:t> the floor under the rack yet, and nobody has </a:t>
            </a:r>
            <a:r>
              <a:rPr lang="en-US" sz="2100" b="1" dirty="0">
                <a:solidFill>
                  <a:schemeClr val="accent3"/>
                </a:solidFill>
                <a:highlight>
                  <a:srgbClr val="D9EDD5"/>
                </a:highlight>
              </a:rPr>
              <a:t>made</a:t>
            </a:r>
            <a:r>
              <a:rPr lang="en-US" sz="2100" dirty="0">
                <a:solidFill>
                  <a:schemeClr val="tx1"/>
                </a:solidFill>
              </a:rPr>
              <a:t> any repairs.</a:t>
            </a:r>
            <a:endParaRPr lang="en-US" sz="2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Sort the verbs into four families</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Say the three forms aloud (</a:t>
            </a:r>
            <a:r>
              <a:rPr lang="en-US" sz="1600" i="1" dirty="0">
                <a:solidFill>
                  <a:schemeClr val="accent5"/>
                </a:solidFill>
              </a:rPr>
              <a:t>go · went · gone</a:t>
            </a:r>
            <a:r>
              <a:rPr lang="en-US" sz="1600" i="1" dirty="0">
                <a:solidFill>
                  <a:schemeClr val="accent5"/>
                </a:solidFill>
              </a:rPr>
              <a:t>), then put each verb in its family.</a:t>
            </a:r>
            <a:endParaRPr lang="en-US" sz="1600" dirty="0"/>
          </a:p>
        </p:txBody>
      </p:sp>
      <p:sp>
        <p:nvSpPr>
          <p:cNvPr id="7" name="Shape 4"/>
          <p:cNvSpPr/>
          <p:nvPr/>
        </p:nvSpPr>
        <p:spPr>
          <a:xfrm>
            <a:off x="548640" y="2237232"/>
            <a:ext cx="11091672" cy="1700784"/>
          </a:xfrm>
          <a:prstGeom prst="roundRect">
            <a:avLst>
              <a:gd name="adj" fmla="val 4301"/>
            </a:avLst>
          </a:prstGeom>
          <a:solidFill>
            <a:srgbClr val="C0752A">
              <a:alpha val="8000"/>
            </a:srgbClr>
          </a:solidFill>
          <a:ln w="12700">
            <a:solidFill>
              <a:srgbClr val="C0752A"/>
            </a:solidFill>
            <a:prstDash val="dash"/>
          </a:ln>
        </p:spPr>
      </p:sp>
      <p:sp>
        <p:nvSpPr>
          <p:cNvPr id="8" name="Text 5"/>
          <p:cNvSpPr txBox="1"/>
          <p:nvPr/>
        </p:nvSpPr>
        <p:spPr>
          <a:xfrm>
            <a:off x="731520" y="2237232"/>
            <a:ext cx="1005840" cy="1700784"/>
          </a:xfrm>
          <a:prstGeom prst="rect">
            <a:avLst/>
          </a:prstGeom>
          <a:noFill/>
          <a:ln/>
        </p:spPr>
        <p:txBody>
          <a:bodyPr wrap="square" lIns="0" tIns="0" rIns="0" bIns="0" rtlCol="0" anchor="ctr"/>
          <a:lstStyle/>
          <a:p>
            <a:pPr indent="0" marL="0">
              <a:buNone/>
            </a:pPr>
            <a:r>
              <a:rPr lang="en-US" sz="1100" b="1" spc="100" kern="0" dirty="0">
                <a:solidFill>
                  <a:schemeClr val="accent1"/>
                </a:solidFill>
              </a:rPr>
              <a:t>THE VERBS</a:t>
            </a:r>
            <a:endParaRPr lang="en-US" sz="1100" dirty="0"/>
          </a:p>
        </p:txBody>
      </p:sp>
      <p:sp>
        <p:nvSpPr>
          <p:cNvPr id="9" name="Text 6"/>
          <p:cNvSpPr/>
          <p:nvPr/>
        </p:nvSpPr>
        <p:spPr>
          <a:xfrm>
            <a:off x="1737360" y="2420112"/>
            <a:ext cx="64008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go</a:t>
            </a:r>
            <a:endParaRPr lang="en-US" sz="1500" dirty="0"/>
          </a:p>
        </p:txBody>
      </p:sp>
      <p:sp>
        <p:nvSpPr>
          <p:cNvPr id="10" name="Text 7"/>
          <p:cNvSpPr/>
          <p:nvPr/>
        </p:nvSpPr>
        <p:spPr>
          <a:xfrm>
            <a:off x="2505456" y="2420112"/>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find</a:t>
            </a:r>
            <a:endParaRPr lang="en-US" sz="1500" dirty="0"/>
          </a:p>
        </p:txBody>
      </p:sp>
      <p:sp>
        <p:nvSpPr>
          <p:cNvPr id="11" name="Text 8"/>
          <p:cNvSpPr/>
          <p:nvPr/>
        </p:nvSpPr>
        <p:spPr>
          <a:xfrm>
            <a:off x="3395472" y="2420112"/>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shut</a:t>
            </a:r>
            <a:endParaRPr lang="en-US" sz="1500" dirty="0"/>
          </a:p>
        </p:txBody>
      </p:sp>
      <p:sp>
        <p:nvSpPr>
          <p:cNvPr id="12" name="Text 9"/>
          <p:cNvSpPr/>
          <p:nvPr/>
        </p:nvSpPr>
        <p:spPr>
          <a:xfrm>
            <a:off x="4285488" y="2420112"/>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come</a:t>
            </a:r>
            <a:endParaRPr lang="en-US" sz="1500" dirty="0"/>
          </a:p>
        </p:txBody>
      </p:sp>
      <p:sp>
        <p:nvSpPr>
          <p:cNvPr id="13" name="Text 10"/>
          <p:cNvSpPr/>
          <p:nvPr/>
        </p:nvSpPr>
        <p:spPr>
          <a:xfrm>
            <a:off x="5175504" y="2420112"/>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take</a:t>
            </a:r>
            <a:endParaRPr lang="en-US" sz="1500" dirty="0"/>
          </a:p>
        </p:txBody>
      </p:sp>
      <p:sp>
        <p:nvSpPr>
          <p:cNvPr id="14" name="Text 11"/>
          <p:cNvSpPr/>
          <p:nvPr/>
        </p:nvSpPr>
        <p:spPr>
          <a:xfrm>
            <a:off x="6065520" y="2420112"/>
            <a:ext cx="86106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leave</a:t>
            </a:r>
            <a:endParaRPr lang="en-US" sz="1500" dirty="0"/>
          </a:p>
        </p:txBody>
      </p:sp>
      <p:sp>
        <p:nvSpPr>
          <p:cNvPr id="15" name="Text 12"/>
          <p:cNvSpPr/>
          <p:nvPr/>
        </p:nvSpPr>
        <p:spPr>
          <a:xfrm>
            <a:off x="7054596" y="2420112"/>
            <a:ext cx="66294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cut</a:t>
            </a:r>
            <a:endParaRPr lang="en-US" sz="1500" dirty="0"/>
          </a:p>
        </p:txBody>
      </p:sp>
      <p:sp>
        <p:nvSpPr>
          <p:cNvPr id="16" name="Text 13"/>
          <p:cNvSpPr/>
          <p:nvPr/>
        </p:nvSpPr>
        <p:spPr>
          <a:xfrm>
            <a:off x="7845552" y="2420112"/>
            <a:ext cx="66294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see</a:t>
            </a:r>
            <a:endParaRPr lang="en-US" sz="1500" dirty="0"/>
          </a:p>
        </p:txBody>
      </p:sp>
      <p:sp>
        <p:nvSpPr>
          <p:cNvPr id="17" name="Text 14"/>
          <p:cNvSpPr/>
          <p:nvPr/>
        </p:nvSpPr>
        <p:spPr>
          <a:xfrm>
            <a:off x="8636508" y="2420112"/>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send</a:t>
            </a:r>
            <a:endParaRPr lang="en-US" sz="1500" dirty="0"/>
          </a:p>
        </p:txBody>
      </p:sp>
      <p:sp>
        <p:nvSpPr>
          <p:cNvPr id="18" name="Text 15"/>
          <p:cNvSpPr/>
          <p:nvPr/>
        </p:nvSpPr>
        <p:spPr>
          <a:xfrm>
            <a:off x="9526524" y="2420112"/>
            <a:ext cx="66294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run</a:t>
            </a:r>
            <a:endParaRPr lang="en-US" sz="1500" dirty="0"/>
          </a:p>
        </p:txBody>
      </p:sp>
      <p:sp>
        <p:nvSpPr>
          <p:cNvPr id="19" name="Text 16"/>
          <p:cNvSpPr/>
          <p:nvPr/>
        </p:nvSpPr>
        <p:spPr>
          <a:xfrm>
            <a:off x="10317480" y="2420112"/>
            <a:ext cx="86106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break</a:t>
            </a:r>
            <a:endParaRPr lang="en-US" sz="1500" dirty="0"/>
          </a:p>
        </p:txBody>
      </p:sp>
      <p:sp>
        <p:nvSpPr>
          <p:cNvPr id="20" name="Text 17"/>
          <p:cNvSpPr/>
          <p:nvPr/>
        </p:nvSpPr>
        <p:spPr>
          <a:xfrm>
            <a:off x="1737360" y="2895600"/>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hear</a:t>
            </a:r>
            <a:endParaRPr lang="en-US" sz="1500" dirty="0"/>
          </a:p>
        </p:txBody>
      </p:sp>
      <p:sp>
        <p:nvSpPr>
          <p:cNvPr id="21" name="Text 18"/>
          <p:cNvSpPr/>
          <p:nvPr/>
        </p:nvSpPr>
        <p:spPr>
          <a:xfrm>
            <a:off x="2627376" y="2895600"/>
            <a:ext cx="66294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put</a:t>
            </a:r>
            <a:endParaRPr lang="en-US" sz="1500" dirty="0"/>
          </a:p>
        </p:txBody>
      </p:sp>
      <p:sp>
        <p:nvSpPr>
          <p:cNvPr id="22" name="Text 19"/>
          <p:cNvSpPr/>
          <p:nvPr/>
        </p:nvSpPr>
        <p:spPr>
          <a:xfrm>
            <a:off x="3418332" y="2895600"/>
            <a:ext cx="86106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write</a:t>
            </a:r>
            <a:endParaRPr lang="en-US" sz="1500" dirty="0"/>
          </a:p>
        </p:txBody>
      </p:sp>
      <p:sp>
        <p:nvSpPr>
          <p:cNvPr id="23" name="Text 20"/>
          <p:cNvSpPr/>
          <p:nvPr/>
        </p:nvSpPr>
        <p:spPr>
          <a:xfrm>
            <a:off x="4407408" y="2895600"/>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tell</a:t>
            </a:r>
            <a:endParaRPr lang="en-US" sz="1500" dirty="0"/>
          </a:p>
        </p:txBody>
      </p:sp>
      <p:sp>
        <p:nvSpPr>
          <p:cNvPr id="24" name="Text 21"/>
          <p:cNvSpPr/>
          <p:nvPr/>
        </p:nvSpPr>
        <p:spPr>
          <a:xfrm>
            <a:off x="5297424" y="2895600"/>
            <a:ext cx="64008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be</a:t>
            </a:r>
            <a:endParaRPr lang="en-US" sz="1500" dirty="0"/>
          </a:p>
        </p:txBody>
      </p:sp>
      <p:sp>
        <p:nvSpPr>
          <p:cNvPr id="25" name="Text 22"/>
          <p:cNvSpPr/>
          <p:nvPr/>
        </p:nvSpPr>
        <p:spPr>
          <a:xfrm>
            <a:off x="6065520" y="2895600"/>
            <a:ext cx="86106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bring</a:t>
            </a:r>
            <a:endParaRPr lang="en-US" sz="1500" dirty="0"/>
          </a:p>
        </p:txBody>
      </p:sp>
      <p:sp>
        <p:nvSpPr>
          <p:cNvPr id="26" name="Text 23"/>
          <p:cNvSpPr/>
          <p:nvPr/>
        </p:nvSpPr>
        <p:spPr>
          <a:xfrm>
            <a:off x="7054596" y="2895600"/>
            <a:ext cx="96012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become</a:t>
            </a:r>
            <a:endParaRPr lang="en-US" sz="1500" dirty="0"/>
          </a:p>
        </p:txBody>
      </p:sp>
      <p:sp>
        <p:nvSpPr>
          <p:cNvPr id="27" name="Text 24"/>
          <p:cNvSpPr/>
          <p:nvPr/>
        </p:nvSpPr>
        <p:spPr>
          <a:xfrm>
            <a:off x="8142732" y="2895600"/>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know</a:t>
            </a:r>
            <a:endParaRPr lang="en-US" sz="1500" dirty="0"/>
          </a:p>
        </p:txBody>
      </p:sp>
      <p:sp>
        <p:nvSpPr>
          <p:cNvPr id="28" name="Text 25"/>
          <p:cNvSpPr/>
          <p:nvPr/>
        </p:nvSpPr>
        <p:spPr>
          <a:xfrm>
            <a:off x="9032748" y="2895600"/>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make</a:t>
            </a:r>
            <a:endParaRPr lang="en-US" sz="1500" dirty="0"/>
          </a:p>
        </p:txBody>
      </p:sp>
      <p:sp>
        <p:nvSpPr>
          <p:cNvPr id="29" name="Text 26"/>
          <p:cNvSpPr/>
          <p:nvPr/>
        </p:nvSpPr>
        <p:spPr>
          <a:xfrm>
            <a:off x="9922764" y="2895600"/>
            <a:ext cx="86106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begin</a:t>
            </a:r>
            <a:endParaRPr lang="en-US" sz="1500" dirty="0"/>
          </a:p>
        </p:txBody>
      </p:sp>
      <p:sp>
        <p:nvSpPr>
          <p:cNvPr id="30" name="Text 27"/>
          <p:cNvSpPr/>
          <p:nvPr/>
        </p:nvSpPr>
        <p:spPr>
          <a:xfrm>
            <a:off x="1737360" y="3371088"/>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have</a:t>
            </a:r>
            <a:endParaRPr lang="en-US" sz="1500" dirty="0"/>
          </a:p>
        </p:txBody>
      </p:sp>
      <p:sp>
        <p:nvSpPr>
          <p:cNvPr id="31" name="Text 28"/>
          <p:cNvSpPr/>
          <p:nvPr/>
        </p:nvSpPr>
        <p:spPr>
          <a:xfrm>
            <a:off x="2627376" y="3371088"/>
            <a:ext cx="76200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ring</a:t>
            </a:r>
            <a:endParaRPr lang="en-US" sz="1500" dirty="0"/>
          </a:p>
        </p:txBody>
      </p:sp>
      <p:sp>
        <p:nvSpPr>
          <p:cNvPr id="32" name="Text 29"/>
          <p:cNvSpPr/>
          <p:nvPr/>
        </p:nvSpPr>
        <p:spPr>
          <a:xfrm>
            <a:off x="3517392" y="3371088"/>
            <a:ext cx="66294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get</a:t>
            </a:r>
            <a:endParaRPr lang="en-US" sz="1500" dirty="0"/>
          </a:p>
        </p:txBody>
      </p:sp>
      <p:sp>
        <p:nvSpPr>
          <p:cNvPr id="33" name="Text 30"/>
          <p:cNvSpPr/>
          <p:nvPr/>
        </p:nvSpPr>
        <p:spPr>
          <a:xfrm>
            <a:off x="4308348" y="3371088"/>
            <a:ext cx="86106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speak</a:t>
            </a:r>
            <a:endParaRPr lang="en-US" sz="1500" dirty="0"/>
          </a:p>
        </p:txBody>
      </p:sp>
      <p:sp>
        <p:nvSpPr>
          <p:cNvPr id="34" name="Text 31"/>
          <p:cNvSpPr/>
          <p:nvPr/>
        </p:nvSpPr>
        <p:spPr>
          <a:xfrm>
            <a:off x="5297424" y="3371088"/>
            <a:ext cx="662940"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500" b="1" dirty="0">
                <a:solidFill>
                  <a:schemeClr val="tx2"/>
                </a:solidFill>
              </a:rPr>
              <a:t>let</a:t>
            </a:r>
            <a:endParaRPr lang="en-US" sz="1500" dirty="0"/>
          </a:p>
        </p:txBody>
      </p:sp>
      <p:sp>
        <p:nvSpPr>
          <p:cNvPr id="35" name="Shape 32"/>
          <p:cNvSpPr/>
          <p:nvPr/>
        </p:nvSpPr>
        <p:spPr>
          <a:xfrm>
            <a:off x="548640" y="4212336"/>
            <a:ext cx="2622042" cy="658368"/>
          </a:xfrm>
          <a:prstGeom prst="roundRect">
            <a:avLst>
              <a:gd name="adj" fmla="val 11111"/>
            </a:avLst>
          </a:prstGeom>
          <a:solidFill>
            <a:srgbClr val="44546A"/>
          </a:solidFill>
          <a:ln/>
        </p:spPr>
      </p:sp>
      <p:sp>
        <p:nvSpPr>
          <p:cNvPr id="36" name="Text 33"/>
          <p:cNvSpPr txBox="1"/>
          <p:nvPr/>
        </p:nvSpPr>
        <p:spPr>
          <a:xfrm>
            <a:off x="640080" y="4212336"/>
            <a:ext cx="2439162" cy="658368"/>
          </a:xfrm>
          <a:prstGeom prst="rect">
            <a:avLst/>
          </a:prstGeom>
          <a:noFill/>
          <a:ln/>
        </p:spPr>
        <p:txBody>
          <a:bodyPr wrap="square" lIns="0" tIns="0" rIns="0" bIns="0" rtlCol="0" anchor="ctr"/>
          <a:lstStyle/>
          <a:p>
            <a:pPr algn="ctr" indent="0" marL="0">
              <a:buNone/>
            </a:pPr>
            <a:r>
              <a:rPr lang="en-US" sz="1500" b="1" spc="100" kern="0" dirty="0">
                <a:solidFill>
                  <a:schemeClr val="bg1"/>
                </a:solidFill>
              </a:rPr>
              <a:t>A · A · A</a:t>
            </a:r>
            <a:endParaRPr lang="en-US" sz="1500" dirty="0"/>
          </a:p>
          <a:p>
            <a:pPr algn="ctr" indent="0" marL="0">
              <a:buNone/>
            </a:pPr>
            <a:r>
              <a:rPr lang="en-US" sz="1200" i="1" dirty="0">
                <a:solidFill>
                  <a:schemeClr val="bg1"/>
                </a:solidFill>
              </a:rPr>
              <a:t>all the same</a:t>
            </a:r>
            <a:endParaRPr lang="en-US" sz="1500" dirty="0"/>
          </a:p>
        </p:txBody>
      </p:sp>
      <p:sp>
        <p:nvSpPr>
          <p:cNvPr id="37" name="Shape 34"/>
          <p:cNvSpPr/>
          <p:nvPr/>
        </p:nvSpPr>
        <p:spPr>
          <a:xfrm>
            <a:off x="548640" y="4925568"/>
            <a:ext cx="2622042" cy="1383792"/>
          </a:xfrm>
          <a:prstGeom prst="roundRect">
            <a:avLst>
              <a:gd name="adj" fmla="val 5286"/>
            </a:avLst>
          </a:prstGeom>
          <a:solidFill>
            <a:srgbClr val="44546A">
              <a:alpha val="6000"/>
            </a:srgbClr>
          </a:solidFill>
          <a:ln w="12700">
            <a:solidFill>
              <a:srgbClr val="44546A"/>
            </a:solidFill>
            <a:prstDash val="dash"/>
          </a:ln>
        </p:spPr>
      </p:sp>
      <p:sp>
        <p:nvSpPr>
          <p:cNvPr id="38" name="Shape 35"/>
          <p:cNvSpPr/>
          <p:nvPr/>
        </p:nvSpPr>
        <p:spPr>
          <a:xfrm>
            <a:off x="3371850" y="4212336"/>
            <a:ext cx="2622042" cy="658368"/>
          </a:xfrm>
          <a:prstGeom prst="roundRect">
            <a:avLst>
              <a:gd name="adj" fmla="val 11111"/>
            </a:avLst>
          </a:prstGeom>
          <a:solidFill>
            <a:srgbClr val="2E75B6"/>
          </a:solidFill>
          <a:ln/>
        </p:spPr>
      </p:sp>
      <p:sp>
        <p:nvSpPr>
          <p:cNvPr id="39" name="Text 36"/>
          <p:cNvSpPr txBox="1"/>
          <p:nvPr/>
        </p:nvSpPr>
        <p:spPr>
          <a:xfrm>
            <a:off x="3463290" y="4212336"/>
            <a:ext cx="2439162" cy="658368"/>
          </a:xfrm>
          <a:prstGeom prst="rect">
            <a:avLst/>
          </a:prstGeom>
          <a:noFill/>
          <a:ln/>
        </p:spPr>
        <p:txBody>
          <a:bodyPr wrap="square" lIns="0" tIns="0" rIns="0" bIns="0" rtlCol="0" anchor="ctr"/>
          <a:lstStyle/>
          <a:p>
            <a:pPr algn="ctr" indent="0" marL="0">
              <a:buNone/>
            </a:pPr>
            <a:r>
              <a:rPr lang="en-US" sz="1500" b="1" spc="100" kern="0" dirty="0">
                <a:solidFill>
                  <a:schemeClr val="bg1"/>
                </a:solidFill>
              </a:rPr>
              <a:t>A · B · B</a:t>
            </a:r>
            <a:endParaRPr lang="en-US" sz="1500" dirty="0"/>
          </a:p>
          <a:p>
            <a:pPr algn="ctr" indent="0" marL="0">
              <a:buNone/>
            </a:pPr>
            <a:r>
              <a:rPr lang="en-US" sz="1200" i="1" dirty="0">
                <a:solidFill>
                  <a:schemeClr val="bg1"/>
                </a:solidFill>
              </a:rPr>
              <a:t>past = participle</a:t>
            </a:r>
            <a:endParaRPr lang="en-US" sz="1500" dirty="0"/>
          </a:p>
        </p:txBody>
      </p:sp>
      <p:sp>
        <p:nvSpPr>
          <p:cNvPr id="40" name="Shape 37"/>
          <p:cNvSpPr/>
          <p:nvPr/>
        </p:nvSpPr>
        <p:spPr>
          <a:xfrm>
            <a:off x="3371850" y="4925568"/>
            <a:ext cx="2622042" cy="1383792"/>
          </a:xfrm>
          <a:prstGeom prst="roundRect">
            <a:avLst>
              <a:gd name="adj" fmla="val 5286"/>
            </a:avLst>
          </a:prstGeom>
          <a:solidFill>
            <a:srgbClr val="2E75B6">
              <a:alpha val="6000"/>
            </a:srgbClr>
          </a:solidFill>
          <a:ln w="12700">
            <a:solidFill>
              <a:srgbClr val="2E75B6"/>
            </a:solidFill>
            <a:prstDash val="dash"/>
          </a:ln>
        </p:spPr>
      </p:sp>
      <p:sp>
        <p:nvSpPr>
          <p:cNvPr id="41" name="Shape 38"/>
          <p:cNvSpPr/>
          <p:nvPr/>
        </p:nvSpPr>
        <p:spPr>
          <a:xfrm>
            <a:off x="6195060" y="4212336"/>
            <a:ext cx="2622042" cy="658368"/>
          </a:xfrm>
          <a:prstGeom prst="roundRect">
            <a:avLst>
              <a:gd name="adj" fmla="val 11111"/>
            </a:avLst>
          </a:prstGeom>
          <a:solidFill>
            <a:srgbClr val="C0752A"/>
          </a:solidFill>
          <a:ln/>
        </p:spPr>
      </p:sp>
      <p:sp>
        <p:nvSpPr>
          <p:cNvPr id="42" name="Text 39"/>
          <p:cNvSpPr txBox="1"/>
          <p:nvPr/>
        </p:nvSpPr>
        <p:spPr>
          <a:xfrm>
            <a:off x="6286500" y="4212336"/>
            <a:ext cx="2439162" cy="658368"/>
          </a:xfrm>
          <a:prstGeom prst="rect">
            <a:avLst/>
          </a:prstGeom>
          <a:noFill/>
          <a:ln/>
        </p:spPr>
        <p:txBody>
          <a:bodyPr wrap="square" lIns="0" tIns="0" rIns="0" bIns="0" rtlCol="0" anchor="ctr"/>
          <a:lstStyle/>
          <a:p>
            <a:pPr algn="ctr" indent="0" marL="0">
              <a:buNone/>
            </a:pPr>
            <a:r>
              <a:rPr lang="en-US" sz="1500" b="1" spc="100" kern="0" dirty="0">
                <a:solidFill>
                  <a:schemeClr val="bg1"/>
                </a:solidFill>
              </a:rPr>
              <a:t>A · B · A</a:t>
            </a:r>
            <a:endParaRPr lang="en-US" sz="1500" dirty="0"/>
          </a:p>
          <a:p>
            <a:pPr algn="ctr" indent="0" marL="0">
              <a:buNone/>
            </a:pPr>
            <a:r>
              <a:rPr lang="en-US" sz="1200" i="1" dirty="0">
                <a:solidFill>
                  <a:schemeClr val="bg1"/>
                </a:solidFill>
              </a:rPr>
              <a:t>base = participle</a:t>
            </a:r>
            <a:endParaRPr lang="en-US" sz="1500" dirty="0"/>
          </a:p>
        </p:txBody>
      </p:sp>
      <p:sp>
        <p:nvSpPr>
          <p:cNvPr id="43" name="Shape 40"/>
          <p:cNvSpPr/>
          <p:nvPr/>
        </p:nvSpPr>
        <p:spPr>
          <a:xfrm>
            <a:off x="6195060" y="4925568"/>
            <a:ext cx="2622042" cy="1383792"/>
          </a:xfrm>
          <a:prstGeom prst="roundRect">
            <a:avLst>
              <a:gd name="adj" fmla="val 5286"/>
            </a:avLst>
          </a:prstGeom>
          <a:solidFill>
            <a:srgbClr val="C0752A">
              <a:alpha val="6000"/>
            </a:srgbClr>
          </a:solidFill>
          <a:ln w="12700">
            <a:solidFill>
              <a:srgbClr val="C0752A"/>
            </a:solidFill>
            <a:prstDash val="dash"/>
          </a:ln>
        </p:spPr>
      </p:sp>
      <p:sp>
        <p:nvSpPr>
          <p:cNvPr id="44" name="Shape 41"/>
          <p:cNvSpPr/>
          <p:nvPr/>
        </p:nvSpPr>
        <p:spPr>
          <a:xfrm>
            <a:off x="9018270" y="4212336"/>
            <a:ext cx="2622042" cy="658368"/>
          </a:xfrm>
          <a:prstGeom prst="roundRect">
            <a:avLst>
              <a:gd name="adj" fmla="val 11111"/>
            </a:avLst>
          </a:prstGeom>
          <a:solidFill>
            <a:srgbClr val="B4236A"/>
          </a:solidFill>
          <a:ln/>
        </p:spPr>
      </p:sp>
      <p:sp>
        <p:nvSpPr>
          <p:cNvPr id="45" name="Text 42"/>
          <p:cNvSpPr txBox="1"/>
          <p:nvPr/>
        </p:nvSpPr>
        <p:spPr>
          <a:xfrm>
            <a:off x="9109710" y="4212336"/>
            <a:ext cx="2439162" cy="658368"/>
          </a:xfrm>
          <a:prstGeom prst="rect">
            <a:avLst/>
          </a:prstGeom>
          <a:noFill/>
          <a:ln/>
        </p:spPr>
        <p:txBody>
          <a:bodyPr wrap="square" lIns="0" tIns="0" rIns="0" bIns="0" rtlCol="0" anchor="ctr"/>
          <a:lstStyle/>
          <a:p>
            <a:pPr algn="ctr" indent="0" marL="0">
              <a:buNone/>
            </a:pPr>
            <a:r>
              <a:rPr lang="en-US" sz="1500" b="1" spc="100" kern="0" dirty="0">
                <a:solidFill>
                  <a:schemeClr val="bg1"/>
                </a:solidFill>
              </a:rPr>
              <a:t>A · B · C</a:t>
            </a:r>
            <a:endParaRPr lang="en-US" sz="1500" dirty="0"/>
          </a:p>
          <a:p>
            <a:pPr algn="ctr" indent="0" marL="0">
              <a:buNone/>
            </a:pPr>
            <a:r>
              <a:rPr lang="en-US" sz="1200" i="1" dirty="0">
                <a:solidFill>
                  <a:schemeClr val="bg1"/>
                </a:solidFill>
              </a:rPr>
              <a:t>three forms</a:t>
            </a:r>
            <a:endParaRPr lang="en-US" sz="1500" dirty="0"/>
          </a:p>
        </p:txBody>
      </p:sp>
      <p:sp>
        <p:nvSpPr>
          <p:cNvPr id="46" name="Shape 43"/>
          <p:cNvSpPr/>
          <p:nvPr/>
        </p:nvSpPr>
        <p:spPr>
          <a:xfrm>
            <a:off x="9018270" y="4925568"/>
            <a:ext cx="2622042" cy="1383792"/>
          </a:xfrm>
          <a:prstGeom prst="roundRect">
            <a:avLst>
              <a:gd name="adj" fmla="val 5286"/>
            </a:avLst>
          </a:prstGeom>
          <a:solidFill>
            <a:srgbClr val="B4236A">
              <a:alpha val="6000"/>
            </a:srgbClr>
          </a:solidFill>
          <a:ln w="12700">
            <a:solidFill>
              <a:srgbClr val="B4236A"/>
            </a:solidFill>
            <a:prstDash val="dash"/>
          </a:ln>
        </p:spPr>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Sort the verbs into four families</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ag"/>
          <p:cNvSpPr/>
          <p:nvPr/>
        </p:nvSpPr>
        <p:spPr>
          <a:xfrm>
            <a:off x="21671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Say the three forms aloud (</a:t>
            </a:r>
            <a:r>
              <a:rPr lang="en-US" sz="1600" i="1" dirty="0">
                <a:solidFill>
                  <a:schemeClr val="accent5"/>
                </a:solidFill>
              </a:rPr>
              <a:t>go · went · gone</a:t>
            </a:r>
            <a:r>
              <a:rPr lang="en-US" sz="1600" i="1" dirty="0">
                <a:solidFill>
                  <a:schemeClr val="accent5"/>
                </a:solidFill>
              </a:rPr>
              <a:t>), then put each verb in its family.</a:t>
            </a:r>
            <a:endParaRPr lang="en-US" sz="1600" dirty="0"/>
          </a:p>
        </p:txBody>
      </p:sp>
      <p:sp>
        <p:nvSpPr>
          <p:cNvPr id="8" name="Shape 5"/>
          <p:cNvSpPr/>
          <p:nvPr/>
        </p:nvSpPr>
        <p:spPr>
          <a:xfrm>
            <a:off x="548640" y="2237232"/>
            <a:ext cx="2622042" cy="438912"/>
          </a:xfrm>
          <a:prstGeom prst="roundRect">
            <a:avLst>
              <a:gd name="adj" fmla="val 16667"/>
            </a:avLst>
          </a:prstGeom>
          <a:solidFill>
            <a:srgbClr val="44546A"/>
          </a:solidFill>
          <a:ln/>
        </p:spPr>
      </p:sp>
      <p:sp>
        <p:nvSpPr>
          <p:cNvPr id="9" name="Text 6"/>
          <p:cNvSpPr txBox="1"/>
          <p:nvPr/>
        </p:nvSpPr>
        <p:spPr>
          <a:xfrm>
            <a:off x="640080" y="2237232"/>
            <a:ext cx="2439162" cy="438912"/>
          </a:xfrm>
          <a:prstGeom prst="rect">
            <a:avLst/>
          </a:prstGeom>
          <a:noFill/>
          <a:ln/>
        </p:spPr>
        <p:txBody>
          <a:bodyPr wrap="square" lIns="0" tIns="0" rIns="0" bIns="0" rtlCol="0" anchor="ctr"/>
          <a:lstStyle/>
          <a:p>
            <a:pPr algn="ctr" indent="0" marL="0">
              <a:buNone/>
            </a:pPr>
            <a:r>
              <a:rPr lang="en-US" sz="1500" b="1" spc="100" kern="0" dirty="0">
                <a:solidFill>
                  <a:schemeClr val="bg1"/>
                </a:solidFill>
              </a:rPr>
              <a:t>A · A · A  </a:t>
            </a:r>
            <a:r>
              <a:rPr lang="en-US" sz="1200" i="1" dirty="0">
                <a:solidFill>
                  <a:schemeClr val="bg1"/>
                </a:solidFill>
              </a:rPr>
              <a:t>all the same</a:t>
            </a:r>
            <a:endParaRPr lang="en-US" sz="1500" dirty="0"/>
          </a:p>
        </p:txBody>
      </p:sp>
      <p:sp>
        <p:nvSpPr>
          <p:cNvPr id="10" name="Shape 7"/>
          <p:cNvSpPr/>
          <p:nvPr/>
        </p:nvSpPr>
        <p:spPr>
          <a:xfrm>
            <a:off x="548640" y="2731008"/>
            <a:ext cx="2622042" cy="3578352"/>
          </a:xfrm>
          <a:prstGeom prst="roundRect">
            <a:avLst>
              <a:gd name="adj" fmla="val 2790"/>
            </a:avLst>
          </a:prstGeom>
          <a:solidFill>
            <a:srgbClr val="44546A">
              <a:alpha val="6000"/>
            </a:srgbClr>
          </a:solidFill>
          <a:ln w="12700">
            <a:solidFill>
              <a:srgbClr val="44546A"/>
            </a:solidFill>
            <a:prstDash val="solid"/>
          </a:ln>
        </p:spPr>
      </p:sp>
      <p:sp>
        <p:nvSpPr>
          <p:cNvPr id="11" name="Text 8"/>
          <p:cNvSpPr/>
          <p:nvPr/>
        </p:nvSpPr>
        <p:spPr>
          <a:xfrm>
            <a:off x="658368" y="2822448"/>
            <a:ext cx="2402586" cy="286512"/>
          </a:xfrm>
          <a:prstGeom prst="roundRect">
            <a:avLst>
              <a:gd name="adj" fmla="val 31915"/>
            </a:avLst>
          </a:prstGeom>
          <a:solidFill>
            <a:srgbClr val="FFFFFF"/>
          </a:solidFill>
          <a:ln w="12700">
            <a:solidFill>
              <a:srgbClr val="44546A"/>
            </a:solidFill>
          </a:ln>
        </p:spPr>
        <p:txBody>
          <a:bodyPr wrap="square" lIns="0" tIns="0" rIns="0" bIns="0" rtlCol="0" anchor="ctr"/>
          <a:lstStyle/>
          <a:p>
            <a:pPr algn="ctr" indent="0" marL="0">
              <a:buNone/>
            </a:pPr>
            <a:r>
              <a:rPr lang="en-US" sz="1600" dirty="0">
                <a:solidFill>
                  <a:schemeClr val="tx1"/>
                </a:solidFill>
              </a:rPr>
              <a:t>shut · shut · shut</a:t>
            </a:r>
            <a:endParaRPr lang="en-US" sz="1600" dirty="0"/>
          </a:p>
        </p:txBody>
      </p:sp>
      <p:sp>
        <p:nvSpPr>
          <p:cNvPr id="12" name="Text 9"/>
          <p:cNvSpPr/>
          <p:nvPr/>
        </p:nvSpPr>
        <p:spPr>
          <a:xfrm>
            <a:off x="658368" y="3163824"/>
            <a:ext cx="2402586" cy="286512"/>
          </a:xfrm>
          <a:prstGeom prst="roundRect">
            <a:avLst>
              <a:gd name="adj" fmla="val 31915"/>
            </a:avLst>
          </a:prstGeom>
          <a:solidFill>
            <a:srgbClr val="FFFFFF"/>
          </a:solidFill>
          <a:ln w="12700">
            <a:solidFill>
              <a:srgbClr val="44546A"/>
            </a:solidFill>
          </a:ln>
        </p:spPr>
        <p:txBody>
          <a:bodyPr wrap="square" lIns="0" tIns="0" rIns="0" bIns="0" rtlCol="0" anchor="ctr"/>
          <a:lstStyle/>
          <a:p>
            <a:pPr algn="ctr" indent="0" marL="0">
              <a:buNone/>
            </a:pPr>
            <a:r>
              <a:rPr lang="en-US" sz="1600" dirty="0">
                <a:solidFill>
                  <a:schemeClr val="tx1"/>
                </a:solidFill>
              </a:rPr>
              <a:t>cut · cut · cut</a:t>
            </a:r>
            <a:endParaRPr lang="en-US" sz="1600" dirty="0"/>
          </a:p>
        </p:txBody>
      </p:sp>
      <p:sp>
        <p:nvSpPr>
          <p:cNvPr id="13" name="Text 10"/>
          <p:cNvSpPr/>
          <p:nvPr/>
        </p:nvSpPr>
        <p:spPr>
          <a:xfrm>
            <a:off x="658368" y="3505200"/>
            <a:ext cx="2402586" cy="286512"/>
          </a:xfrm>
          <a:prstGeom prst="roundRect">
            <a:avLst>
              <a:gd name="adj" fmla="val 31915"/>
            </a:avLst>
          </a:prstGeom>
          <a:solidFill>
            <a:srgbClr val="FFFFFF"/>
          </a:solidFill>
          <a:ln w="12700">
            <a:solidFill>
              <a:srgbClr val="44546A"/>
            </a:solidFill>
          </a:ln>
        </p:spPr>
        <p:txBody>
          <a:bodyPr wrap="square" lIns="0" tIns="0" rIns="0" bIns="0" rtlCol="0" anchor="ctr"/>
          <a:lstStyle/>
          <a:p>
            <a:pPr algn="ctr" indent="0" marL="0">
              <a:buNone/>
            </a:pPr>
            <a:r>
              <a:rPr lang="en-US" sz="1600" dirty="0">
                <a:solidFill>
                  <a:schemeClr val="tx1"/>
                </a:solidFill>
              </a:rPr>
              <a:t>put · put · put</a:t>
            </a:r>
            <a:endParaRPr lang="en-US" sz="1600" dirty="0"/>
          </a:p>
        </p:txBody>
      </p:sp>
      <p:sp>
        <p:nvSpPr>
          <p:cNvPr id="14" name="Text 11"/>
          <p:cNvSpPr/>
          <p:nvPr/>
        </p:nvSpPr>
        <p:spPr>
          <a:xfrm>
            <a:off x="658368" y="3846576"/>
            <a:ext cx="2402586" cy="286512"/>
          </a:xfrm>
          <a:prstGeom prst="roundRect">
            <a:avLst>
              <a:gd name="adj" fmla="val 31915"/>
            </a:avLst>
          </a:prstGeom>
          <a:solidFill>
            <a:srgbClr val="FFFFFF"/>
          </a:solidFill>
          <a:ln w="12700">
            <a:solidFill>
              <a:srgbClr val="44546A"/>
            </a:solidFill>
          </a:ln>
        </p:spPr>
        <p:txBody>
          <a:bodyPr wrap="square" lIns="0" tIns="0" rIns="0" bIns="0" rtlCol="0" anchor="ctr"/>
          <a:lstStyle/>
          <a:p>
            <a:pPr algn="ctr" indent="0" marL="0">
              <a:buNone/>
            </a:pPr>
            <a:r>
              <a:rPr lang="en-US" sz="1600" dirty="0">
                <a:solidFill>
                  <a:schemeClr val="tx1"/>
                </a:solidFill>
              </a:rPr>
              <a:t>let · let · let</a:t>
            </a:r>
            <a:endParaRPr lang="en-US" sz="1600" dirty="0"/>
          </a:p>
        </p:txBody>
      </p:sp>
      <p:sp>
        <p:nvSpPr>
          <p:cNvPr id="15" name="Shape 12"/>
          <p:cNvSpPr/>
          <p:nvPr/>
        </p:nvSpPr>
        <p:spPr>
          <a:xfrm>
            <a:off x="3371850" y="2237232"/>
            <a:ext cx="2622042" cy="438912"/>
          </a:xfrm>
          <a:prstGeom prst="roundRect">
            <a:avLst>
              <a:gd name="adj" fmla="val 16667"/>
            </a:avLst>
          </a:prstGeom>
          <a:solidFill>
            <a:srgbClr val="2E75B6"/>
          </a:solidFill>
          <a:ln/>
        </p:spPr>
      </p:sp>
      <p:sp>
        <p:nvSpPr>
          <p:cNvPr id="16" name="Text 13"/>
          <p:cNvSpPr txBox="1"/>
          <p:nvPr/>
        </p:nvSpPr>
        <p:spPr>
          <a:xfrm>
            <a:off x="3463290" y="2237232"/>
            <a:ext cx="2439162" cy="438912"/>
          </a:xfrm>
          <a:prstGeom prst="rect">
            <a:avLst/>
          </a:prstGeom>
          <a:noFill/>
          <a:ln/>
        </p:spPr>
        <p:txBody>
          <a:bodyPr wrap="square" lIns="0" tIns="0" rIns="0" bIns="0" rtlCol="0" anchor="ctr"/>
          <a:lstStyle/>
          <a:p>
            <a:pPr algn="ctr" indent="0" marL="0">
              <a:buNone/>
            </a:pPr>
            <a:r>
              <a:rPr lang="en-US" sz="1500" b="1" spc="100" kern="0" dirty="0">
                <a:solidFill>
                  <a:schemeClr val="bg1"/>
                </a:solidFill>
              </a:rPr>
              <a:t>A · B · B  </a:t>
            </a:r>
            <a:r>
              <a:rPr lang="en-US" sz="1200" i="1" dirty="0">
                <a:solidFill>
                  <a:schemeClr val="bg1"/>
                </a:solidFill>
              </a:rPr>
              <a:t>past = participle</a:t>
            </a:r>
            <a:endParaRPr lang="en-US" sz="1500" dirty="0"/>
          </a:p>
        </p:txBody>
      </p:sp>
      <p:sp>
        <p:nvSpPr>
          <p:cNvPr id="17" name="Shape 14"/>
          <p:cNvSpPr/>
          <p:nvPr/>
        </p:nvSpPr>
        <p:spPr>
          <a:xfrm>
            <a:off x="3371850" y="2731008"/>
            <a:ext cx="2622042" cy="3578352"/>
          </a:xfrm>
          <a:prstGeom prst="roundRect">
            <a:avLst>
              <a:gd name="adj" fmla="val 2790"/>
            </a:avLst>
          </a:prstGeom>
          <a:solidFill>
            <a:srgbClr val="2E75B6">
              <a:alpha val="6000"/>
            </a:srgbClr>
          </a:solidFill>
          <a:ln w="12700">
            <a:solidFill>
              <a:srgbClr val="2E75B6"/>
            </a:solidFill>
            <a:prstDash val="solid"/>
          </a:ln>
        </p:spPr>
      </p:sp>
      <p:sp>
        <p:nvSpPr>
          <p:cNvPr id="18" name="Text 15"/>
          <p:cNvSpPr/>
          <p:nvPr/>
        </p:nvSpPr>
        <p:spPr>
          <a:xfrm>
            <a:off x="3481578" y="2822448"/>
            <a:ext cx="2402586" cy="286512"/>
          </a:xfrm>
          <a:prstGeom prst="roundRect">
            <a:avLst>
              <a:gd name="adj" fmla="val 31915"/>
            </a:avLst>
          </a:prstGeom>
          <a:solidFill>
            <a:srgbClr val="FFFFFF"/>
          </a:solidFill>
          <a:ln w="12700">
            <a:solidFill>
              <a:srgbClr val="2E75B6"/>
            </a:solidFill>
          </a:ln>
        </p:spPr>
        <p:txBody>
          <a:bodyPr wrap="square" lIns="0" tIns="0" rIns="0" bIns="0" rtlCol="0" anchor="ctr"/>
          <a:lstStyle/>
          <a:p>
            <a:pPr algn="ctr" indent="0" marL="0">
              <a:buNone/>
            </a:pPr>
            <a:r>
              <a:rPr lang="en-US" sz="1600" dirty="0">
                <a:solidFill>
                  <a:schemeClr val="tx1"/>
                </a:solidFill>
              </a:rPr>
              <a:t>find · found · found</a:t>
            </a:r>
            <a:endParaRPr lang="en-US" sz="1600" dirty="0"/>
          </a:p>
        </p:txBody>
      </p:sp>
      <p:sp>
        <p:nvSpPr>
          <p:cNvPr id="19" name="Text 16"/>
          <p:cNvSpPr/>
          <p:nvPr/>
        </p:nvSpPr>
        <p:spPr>
          <a:xfrm>
            <a:off x="3481578" y="3163824"/>
            <a:ext cx="2402586" cy="286512"/>
          </a:xfrm>
          <a:prstGeom prst="roundRect">
            <a:avLst>
              <a:gd name="adj" fmla="val 31915"/>
            </a:avLst>
          </a:prstGeom>
          <a:solidFill>
            <a:srgbClr val="FFFFFF"/>
          </a:solidFill>
          <a:ln w="12700">
            <a:solidFill>
              <a:srgbClr val="2E75B6"/>
            </a:solidFill>
          </a:ln>
        </p:spPr>
        <p:txBody>
          <a:bodyPr wrap="square" lIns="0" tIns="0" rIns="0" bIns="0" rtlCol="0" anchor="ctr"/>
          <a:lstStyle/>
          <a:p>
            <a:pPr algn="ctr" indent="0" marL="0">
              <a:buNone/>
            </a:pPr>
            <a:r>
              <a:rPr lang="en-US" sz="1600" dirty="0">
                <a:solidFill>
                  <a:schemeClr val="tx1"/>
                </a:solidFill>
              </a:rPr>
              <a:t>leave · left · left</a:t>
            </a:r>
            <a:endParaRPr lang="en-US" sz="1600" dirty="0"/>
          </a:p>
        </p:txBody>
      </p:sp>
      <p:sp>
        <p:nvSpPr>
          <p:cNvPr id="20" name="Text 17"/>
          <p:cNvSpPr/>
          <p:nvPr/>
        </p:nvSpPr>
        <p:spPr>
          <a:xfrm>
            <a:off x="3481578" y="3505200"/>
            <a:ext cx="2402586" cy="286512"/>
          </a:xfrm>
          <a:prstGeom prst="roundRect">
            <a:avLst>
              <a:gd name="adj" fmla="val 31915"/>
            </a:avLst>
          </a:prstGeom>
          <a:solidFill>
            <a:srgbClr val="FFFFFF"/>
          </a:solidFill>
          <a:ln w="12700">
            <a:solidFill>
              <a:srgbClr val="2E75B6"/>
            </a:solidFill>
          </a:ln>
        </p:spPr>
        <p:txBody>
          <a:bodyPr wrap="square" lIns="0" tIns="0" rIns="0" bIns="0" rtlCol="0" anchor="ctr"/>
          <a:lstStyle/>
          <a:p>
            <a:pPr algn="ctr" indent="0" marL="0">
              <a:buNone/>
            </a:pPr>
            <a:r>
              <a:rPr lang="en-US" sz="1600" dirty="0">
                <a:solidFill>
                  <a:schemeClr val="tx1"/>
                </a:solidFill>
              </a:rPr>
              <a:t>send · sent · sent</a:t>
            </a:r>
            <a:endParaRPr lang="en-US" sz="1600" dirty="0"/>
          </a:p>
        </p:txBody>
      </p:sp>
      <p:sp>
        <p:nvSpPr>
          <p:cNvPr id="21" name="Text 18"/>
          <p:cNvSpPr/>
          <p:nvPr/>
        </p:nvSpPr>
        <p:spPr>
          <a:xfrm>
            <a:off x="3481578" y="3846576"/>
            <a:ext cx="2402586" cy="286512"/>
          </a:xfrm>
          <a:prstGeom prst="roundRect">
            <a:avLst>
              <a:gd name="adj" fmla="val 31915"/>
            </a:avLst>
          </a:prstGeom>
          <a:solidFill>
            <a:srgbClr val="FFFFFF"/>
          </a:solidFill>
          <a:ln w="12700">
            <a:solidFill>
              <a:srgbClr val="2E75B6"/>
            </a:solidFill>
          </a:ln>
        </p:spPr>
        <p:txBody>
          <a:bodyPr wrap="square" lIns="0" tIns="0" rIns="0" bIns="0" rtlCol="0" anchor="ctr"/>
          <a:lstStyle/>
          <a:p>
            <a:pPr algn="ctr" indent="0" marL="0">
              <a:buNone/>
            </a:pPr>
            <a:r>
              <a:rPr lang="en-US" sz="1600" dirty="0">
                <a:solidFill>
                  <a:schemeClr val="tx1"/>
                </a:solidFill>
              </a:rPr>
              <a:t>hear · heard · heard</a:t>
            </a:r>
            <a:endParaRPr lang="en-US" sz="1600" dirty="0"/>
          </a:p>
        </p:txBody>
      </p:sp>
      <p:sp>
        <p:nvSpPr>
          <p:cNvPr id="22" name="Text 19"/>
          <p:cNvSpPr/>
          <p:nvPr/>
        </p:nvSpPr>
        <p:spPr>
          <a:xfrm>
            <a:off x="3481578" y="4187952"/>
            <a:ext cx="2402586" cy="286512"/>
          </a:xfrm>
          <a:prstGeom prst="roundRect">
            <a:avLst>
              <a:gd name="adj" fmla="val 31915"/>
            </a:avLst>
          </a:prstGeom>
          <a:solidFill>
            <a:srgbClr val="FFFFFF"/>
          </a:solidFill>
          <a:ln w="12700">
            <a:solidFill>
              <a:srgbClr val="2E75B6"/>
            </a:solidFill>
          </a:ln>
        </p:spPr>
        <p:txBody>
          <a:bodyPr wrap="square" lIns="0" tIns="0" rIns="0" bIns="0" rtlCol="0" anchor="ctr"/>
          <a:lstStyle/>
          <a:p>
            <a:pPr algn="ctr" indent="0" marL="0">
              <a:buNone/>
            </a:pPr>
            <a:r>
              <a:rPr lang="en-US" sz="1600" dirty="0">
                <a:solidFill>
                  <a:schemeClr val="tx1"/>
                </a:solidFill>
              </a:rPr>
              <a:t>tell · told · told</a:t>
            </a:r>
            <a:endParaRPr lang="en-US" sz="1600" dirty="0"/>
          </a:p>
        </p:txBody>
      </p:sp>
      <p:sp>
        <p:nvSpPr>
          <p:cNvPr id="23" name="Text 20"/>
          <p:cNvSpPr/>
          <p:nvPr/>
        </p:nvSpPr>
        <p:spPr>
          <a:xfrm>
            <a:off x="3481578" y="4529328"/>
            <a:ext cx="2402586" cy="286512"/>
          </a:xfrm>
          <a:prstGeom prst="roundRect">
            <a:avLst>
              <a:gd name="adj" fmla="val 31915"/>
            </a:avLst>
          </a:prstGeom>
          <a:solidFill>
            <a:srgbClr val="FFFFFF"/>
          </a:solidFill>
          <a:ln w="12700">
            <a:solidFill>
              <a:srgbClr val="2E75B6"/>
            </a:solidFill>
          </a:ln>
        </p:spPr>
        <p:txBody>
          <a:bodyPr wrap="square" lIns="0" tIns="0" rIns="0" bIns="0" rtlCol="0" anchor="ctr"/>
          <a:lstStyle/>
          <a:p>
            <a:pPr algn="ctr" indent="0" marL="0">
              <a:buNone/>
            </a:pPr>
            <a:r>
              <a:rPr lang="en-US" sz="1600" dirty="0">
                <a:solidFill>
                  <a:schemeClr val="tx1"/>
                </a:solidFill>
              </a:rPr>
              <a:t>bring · brought · brought</a:t>
            </a:r>
            <a:endParaRPr lang="en-US" sz="1600" dirty="0"/>
          </a:p>
        </p:txBody>
      </p:sp>
      <p:sp>
        <p:nvSpPr>
          <p:cNvPr id="24" name="Text 21"/>
          <p:cNvSpPr/>
          <p:nvPr/>
        </p:nvSpPr>
        <p:spPr>
          <a:xfrm>
            <a:off x="3481578" y="4870704"/>
            <a:ext cx="2402586" cy="286512"/>
          </a:xfrm>
          <a:prstGeom prst="roundRect">
            <a:avLst>
              <a:gd name="adj" fmla="val 31915"/>
            </a:avLst>
          </a:prstGeom>
          <a:solidFill>
            <a:srgbClr val="FFFFFF"/>
          </a:solidFill>
          <a:ln w="12700">
            <a:solidFill>
              <a:srgbClr val="2E75B6"/>
            </a:solidFill>
          </a:ln>
        </p:spPr>
        <p:txBody>
          <a:bodyPr wrap="square" lIns="0" tIns="0" rIns="0" bIns="0" rtlCol="0" anchor="ctr"/>
          <a:lstStyle/>
          <a:p>
            <a:pPr algn="ctr" indent="0" marL="0">
              <a:buNone/>
            </a:pPr>
            <a:r>
              <a:rPr lang="en-US" sz="1600" dirty="0">
                <a:solidFill>
                  <a:schemeClr val="tx1"/>
                </a:solidFill>
              </a:rPr>
              <a:t>make · made · made</a:t>
            </a:r>
            <a:endParaRPr lang="en-US" sz="1600" dirty="0"/>
          </a:p>
        </p:txBody>
      </p:sp>
      <p:sp>
        <p:nvSpPr>
          <p:cNvPr id="25" name="Text 22"/>
          <p:cNvSpPr/>
          <p:nvPr/>
        </p:nvSpPr>
        <p:spPr>
          <a:xfrm>
            <a:off x="3481578" y="5212080"/>
            <a:ext cx="2402586" cy="286512"/>
          </a:xfrm>
          <a:prstGeom prst="roundRect">
            <a:avLst>
              <a:gd name="adj" fmla="val 31915"/>
            </a:avLst>
          </a:prstGeom>
          <a:solidFill>
            <a:srgbClr val="FFFFFF"/>
          </a:solidFill>
          <a:ln w="12700">
            <a:solidFill>
              <a:srgbClr val="2E75B6"/>
            </a:solidFill>
          </a:ln>
        </p:spPr>
        <p:txBody>
          <a:bodyPr wrap="square" lIns="0" tIns="0" rIns="0" bIns="0" rtlCol="0" anchor="ctr"/>
          <a:lstStyle/>
          <a:p>
            <a:pPr algn="ctr" indent="0" marL="0">
              <a:buNone/>
            </a:pPr>
            <a:r>
              <a:rPr lang="en-US" sz="1600" dirty="0">
                <a:solidFill>
                  <a:schemeClr val="tx1"/>
                </a:solidFill>
              </a:rPr>
              <a:t>have · had · had</a:t>
            </a:r>
            <a:endParaRPr lang="en-US" sz="1600" dirty="0"/>
          </a:p>
        </p:txBody>
      </p:sp>
      <p:sp>
        <p:nvSpPr>
          <p:cNvPr id="26" name="Text 23"/>
          <p:cNvSpPr/>
          <p:nvPr/>
        </p:nvSpPr>
        <p:spPr>
          <a:xfrm>
            <a:off x="3481578" y="5553456"/>
            <a:ext cx="2402586" cy="286512"/>
          </a:xfrm>
          <a:prstGeom prst="roundRect">
            <a:avLst>
              <a:gd name="adj" fmla="val 31915"/>
            </a:avLst>
          </a:prstGeom>
          <a:solidFill>
            <a:srgbClr val="FFFFFF"/>
          </a:solidFill>
          <a:ln w="12700">
            <a:solidFill>
              <a:srgbClr val="2E75B6"/>
            </a:solidFill>
          </a:ln>
        </p:spPr>
        <p:txBody>
          <a:bodyPr wrap="square" lIns="0" tIns="0" rIns="0" bIns="0" rtlCol="0" anchor="ctr"/>
          <a:lstStyle/>
          <a:p>
            <a:pPr algn="ctr" indent="0" marL="0">
              <a:buNone/>
            </a:pPr>
            <a:r>
              <a:rPr lang="en-US" sz="1600" dirty="0">
                <a:solidFill>
                  <a:schemeClr val="tx1"/>
                </a:solidFill>
              </a:rPr>
              <a:t>get · got · got</a:t>
            </a:r>
            <a:endParaRPr lang="en-US" sz="1600" dirty="0"/>
          </a:p>
        </p:txBody>
      </p:sp>
      <p:sp>
        <p:nvSpPr>
          <p:cNvPr id="27" name="Shape 24"/>
          <p:cNvSpPr/>
          <p:nvPr/>
        </p:nvSpPr>
        <p:spPr>
          <a:xfrm>
            <a:off x="6195060" y="2237232"/>
            <a:ext cx="2622042" cy="438912"/>
          </a:xfrm>
          <a:prstGeom prst="roundRect">
            <a:avLst>
              <a:gd name="adj" fmla="val 16667"/>
            </a:avLst>
          </a:prstGeom>
          <a:solidFill>
            <a:srgbClr val="C0752A"/>
          </a:solidFill>
          <a:ln/>
        </p:spPr>
      </p:sp>
      <p:sp>
        <p:nvSpPr>
          <p:cNvPr id="28" name="Text 25"/>
          <p:cNvSpPr txBox="1"/>
          <p:nvPr/>
        </p:nvSpPr>
        <p:spPr>
          <a:xfrm>
            <a:off x="6286500" y="2237232"/>
            <a:ext cx="2439162" cy="438912"/>
          </a:xfrm>
          <a:prstGeom prst="rect">
            <a:avLst/>
          </a:prstGeom>
          <a:noFill/>
          <a:ln/>
        </p:spPr>
        <p:txBody>
          <a:bodyPr wrap="square" lIns="0" tIns="0" rIns="0" bIns="0" rtlCol="0" anchor="ctr"/>
          <a:lstStyle/>
          <a:p>
            <a:pPr algn="ctr" indent="0" marL="0">
              <a:buNone/>
            </a:pPr>
            <a:r>
              <a:rPr lang="en-US" sz="1500" b="1" spc="100" kern="0" dirty="0">
                <a:solidFill>
                  <a:schemeClr val="bg1"/>
                </a:solidFill>
              </a:rPr>
              <a:t>A · B · A  </a:t>
            </a:r>
            <a:r>
              <a:rPr lang="en-US" sz="1200" i="1" dirty="0">
                <a:solidFill>
                  <a:schemeClr val="bg1"/>
                </a:solidFill>
              </a:rPr>
              <a:t>base = participle</a:t>
            </a:r>
            <a:endParaRPr lang="en-US" sz="1500" dirty="0"/>
          </a:p>
        </p:txBody>
      </p:sp>
      <p:sp>
        <p:nvSpPr>
          <p:cNvPr id="29" name="Shape 26"/>
          <p:cNvSpPr/>
          <p:nvPr/>
        </p:nvSpPr>
        <p:spPr>
          <a:xfrm>
            <a:off x="6195060" y="2731008"/>
            <a:ext cx="2622042" cy="3578352"/>
          </a:xfrm>
          <a:prstGeom prst="roundRect">
            <a:avLst>
              <a:gd name="adj" fmla="val 2790"/>
            </a:avLst>
          </a:prstGeom>
          <a:solidFill>
            <a:srgbClr val="C0752A">
              <a:alpha val="6000"/>
            </a:srgbClr>
          </a:solidFill>
          <a:ln w="12700">
            <a:solidFill>
              <a:srgbClr val="C0752A"/>
            </a:solidFill>
            <a:prstDash val="solid"/>
          </a:ln>
        </p:spPr>
      </p:sp>
      <p:sp>
        <p:nvSpPr>
          <p:cNvPr id="30" name="Text 27"/>
          <p:cNvSpPr/>
          <p:nvPr/>
        </p:nvSpPr>
        <p:spPr>
          <a:xfrm>
            <a:off x="6304788" y="2822448"/>
            <a:ext cx="2402586" cy="286512"/>
          </a:xfrm>
          <a:prstGeom prst="roundRect">
            <a:avLst>
              <a:gd name="adj" fmla="val 31915"/>
            </a:avLst>
          </a:prstGeom>
          <a:solidFill>
            <a:srgbClr val="FFFFFF"/>
          </a:solidFill>
          <a:ln w="12700">
            <a:solidFill>
              <a:srgbClr val="C0752A"/>
            </a:solidFill>
          </a:ln>
        </p:spPr>
        <p:txBody>
          <a:bodyPr wrap="square" lIns="0" tIns="0" rIns="0" bIns="0" rtlCol="0" anchor="ctr"/>
          <a:lstStyle/>
          <a:p>
            <a:pPr algn="ctr" indent="0" marL="0">
              <a:buNone/>
            </a:pPr>
            <a:r>
              <a:rPr lang="en-US" sz="1600" dirty="0">
                <a:solidFill>
                  <a:schemeClr val="tx1"/>
                </a:solidFill>
              </a:rPr>
              <a:t>come · came · come</a:t>
            </a:r>
            <a:endParaRPr lang="en-US" sz="1600" dirty="0"/>
          </a:p>
        </p:txBody>
      </p:sp>
      <p:sp>
        <p:nvSpPr>
          <p:cNvPr id="31" name="Text 28"/>
          <p:cNvSpPr/>
          <p:nvPr/>
        </p:nvSpPr>
        <p:spPr>
          <a:xfrm>
            <a:off x="6304788" y="3163824"/>
            <a:ext cx="2402586" cy="286512"/>
          </a:xfrm>
          <a:prstGeom prst="roundRect">
            <a:avLst>
              <a:gd name="adj" fmla="val 31915"/>
            </a:avLst>
          </a:prstGeom>
          <a:solidFill>
            <a:srgbClr val="FFFFFF"/>
          </a:solidFill>
          <a:ln w="12700">
            <a:solidFill>
              <a:srgbClr val="C0752A"/>
            </a:solidFill>
          </a:ln>
        </p:spPr>
        <p:txBody>
          <a:bodyPr wrap="square" lIns="0" tIns="0" rIns="0" bIns="0" rtlCol="0" anchor="ctr"/>
          <a:lstStyle/>
          <a:p>
            <a:pPr algn="ctr" indent="0" marL="0">
              <a:buNone/>
            </a:pPr>
            <a:r>
              <a:rPr lang="en-US" sz="1600" dirty="0">
                <a:solidFill>
                  <a:schemeClr val="tx1"/>
                </a:solidFill>
              </a:rPr>
              <a:t>run · ran · run</a:t>
            </a:r>
            <a:endParaRPr lang="en-US" sz="1600" dirty="0"/>
          </a:p>
        </p:txBody>
      </p:sp>
      <p:sp>
        <p:nvSpPr>
          <p:cNvPr id="32" name="Text 29"/>
          <p:cNvSpPr/>
          <p:nvPr/>
        </p:nvSpPr>
        <p:spPr>
          <a:xfrm>
            <a:off x="6304788" y="3505200"/>
            <a:ext cx="2402586" cy="286512"/>
          </a:xfrm>
          <a:prstGeom prst="roundRect">
            <a:avLst>
              <a:gd name="adj" fmla="val 31915"/>
            </a:avLst>
          </a:prstGeom>
          <a:solidFill>
            <a:srgbClr val="FFFFFF"/>
          </a:solidFill>
          <a:ln w="12700">
            <a:solidFill>
              <a:srgbClr val="C0752A"/>
            </a:solidFill>
          </a:ln>
        </p:spPr>
        <p:txBody>
          <a:bodyPr wrap="square" lIns="0" tIns="0" rIns="0" bIns="0" rtlCol="0" anchor="ctr"/>
          <a:lstStyle/>
          <a:p>
            <a:pPr algn="ctr" indent="0" marL="0">
              <a:buNone/>
            </a:pPr>
            <a:r>
              <a:rPr lang="en-US" sz="1600" dirty="0">
                <a:solidFill>
                  <a:schemeClr val="tx1"/>
                </a:solidFill>
              </a:rPr>
              <a:t>become · became · become</a:t>
            </a:r>
            <a:endParaRPr lang="en-US" sz="1600" dirty="0"/>
          </a:p>
        </p:txBody>
      </p:sp>
      <p:sp>
        <p:nvSpPr>
          <p:cNvPr id="33" name="Shape 30"/>
          <p:cNvSpPr/>
          <p:nvPr/>
        </p:nvSpPr>
        <p:spPr>
          <a:xfrm>
            <a:off x="9018270" y="2237232"/>
            <a:ext cx="2622042" cy="438912"/>
          </a:xfrm>
          <a:prstGeom prst="roundRect">
            <a:avLst>
              <a:gd name="adj" fmla="val 16667"/>
            </a:avLst>
          </a:prstGeom>
          <a:solidFill>
            <a:srgbClr val="B4236A"/>
          </a:solidFill>
          <a:ln/>
        </p:spPr>
      </p:sp>
      <p:sp>
        <p:nvSpPr>
          <p:cNvPr id="34" name="Text 31"/>
          <p:cNvSpPr txBox="1"/>
          <p:nvPr/>
        </p:nvSpPr>
        <p:spPr>
          <a:xfrm>
            <a:off x="9109710" y="2237232"/>
            <a:ext cx="2439162" cy="438912"/>
          </a:xfrm>
          <a:prstGeom prst="rect">
            <a:avLst/>
          </a:prstGeom>
          <a:noFill/>
          <a:ln/>
        </p:spPr>
        <p:txBody>
          <a:bodyPr wrap="square" lIns="0" tIns="0" rIns="0" bIns="0" rtlCol="0" anchor="ctr"/>
          <a:lstStyle/>
          <a:p>
            <a:pPr algn="ctr" indent="0" marL="0">
              <a:buNone/>
            </a:pPr>
            <a:r>
              <a:rPr lang="en-US" sz="1500" b="1" spc="100" kern="0" dirty="0">
                <a:solidFill>
                  <a:schemeClr val="bg1"/>
                </a:solidFill>
              </a:rPr>
              <a:t>A · B · C  </a:t>
            </a:r>
            <a:r>
              <a:rPr lang="en-US" sz="1200" i="1" dirty="0">
                <a:solidFill>
                  <a:schemeClr val="bg1"/>
                </a:solidFill>
              </a:rPr>
              <a:t>three forms</a:t>
            </a:r>
            <a:endParaRPr lang="en-US" sz="1500" dirty="0"/>
          </a:p>
        </p:txBody>
      </p:sp>
      <p:sp>
        <p:nvSpPr>
          <p:cNvPr id="35" name="Shape 32"/>
          <p:cNvSpPr/>
          <p:nvPr/>
        </p:nvSpPr>
        <p:spPr>
          <a:xfrm>
            <a:off x="9018270" y="2731008"/>
            <a:ext cx="2622042" cy="3578352"/>
          </a:xfrm>
          <a:prstGeom prst="roundRect">
            <a:avLst>
              <a:gd name="adj" fmla="val 2790"/>
            </a:avLst>
          </a:prstGeom>
          <a:solidFill>
            <a:srgbClr val="B4236A">
              <a:alpha val="6000"/>
            </a:srgbClr>
          </a:solidFill>
          <a:ln w="12700">
            <a:solidFill>
              <a:srgbClr val="B4236A"/>
            </a:solidFill>
            <a:prstDash val="solid"/>
          </a:ln>
        </p:spPr>
      </p:sp>
      <p:sp>
        <p:nvSpPr>
          <p:cNvPr id="36" name="Text 33"/>
          <p:cNvSpPr/>
          <p:nvPr/>
        </p:nvSpPr>
        <p:spPr>
          <a:xfrm>
            <a:off x="9127998" y="2822448"/>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go · went · gone</a:t>
            </a:r>
            <a:endParaRPr lang="en-US" sz="1600" dirty="0"/>
          </a:p>
        </p:txBody>
      </p:sp>
      <p:sp>
        <p:nvSpPr>
          <p:cNvPr id="37" name="Text 34"/>
          <p:cNvSpPr/>
          <p:nvPr/>
        </p:nvSpPr>
        <p:spPr>
          <a:xfrm>
            <a:off x="9127998" y="3163824"/>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take · took · taken</a:t>
            </a:r>
            <a:endParaRPr lang="en-US" sz="1600" dirty="0"/>
          </a:p>
        </p:txBody>
      </p:sp>
      <p:sp>
        <p:nvSpPr>
          <p:cNvPr id="38" name="Text 35"/>
          <p:cNvSpPr/>
          <p:nvPr/>
        </p:nvSpPr>
        <p:spPr>
          <a:xfrm>
            <a:off x="9127998" y="3505200"/>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see · saw · seen</a:t>
            </a:r>
            <a:endParaRPr lang="en-US" sz="1600" dirty="0"/>
          </a:p>
        </p:txBody>
      </p:sp>
      <p:sp>
        <p:nvSpPr>
          <p:cNvPr id="39" name="Text 36"/>
          <p:cNvSpPr/>
          <p:nvPr/>
        </p:nvSpPr>
        <p:spPr>
          <a:xfrm>
            <a:off x="9127998" y="3846576"/>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break · broke · broken</a:t>
            </a:r>
            <a:endParaRPr lang="en-US" sz="1600" dirty="0"/>
          </a:p>
        </p:txBody>
      </p:sp>
      <p:sp>
        <p:nvSpPr>
          <p:cNvPr id="40" name="Text 37"/>
          <p:cNvSpPr/>
          <p:nvPr/>
        </p:nvSpPr>
        <p:spPr>
          <a:xfrm>
            <a:off x="9127998" y="4187952"/>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write · wrote · written</a:t>
            </a:r>
            <a:endParaRPr lang="en-US" sz="1600" dirty="0"/>
          </a:p>
        </p:txBody>
      </p:sp>
      <p:sp>
        <p:nvSpPr>
          <p:cNvPr id="41" name="Text 38"/>
          <p:cNvSpPr/>
          <p:nvPr/>
        </p:nvSpPr>
        <p:spPr>
          <a:xfrm>
            <a:off x="9127998" y="4529328"/>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be · was / were · been</a:t>
            </a:r>
            <a:endParaRPr lang="en-US" sz="1600" dirty="0"/>
          </a:p>
        </p:txBody>
      </p:sp>
      <p:sp>
        <p:nvSpPr>
          <p:cNvPr id="42" name="Text 39"/>
          <p:cNvSpPr/>
          <p:nvPr/>
        </p:nvSpPr>
        <p:spPr>
          <a:xfrm>
            <a:off x="9127998" y="4870704"/>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know · knew · known</a:t>
            </a:r>
            <a:endParaRPr lang="en-US" sz="1600" dirty="0"/>
          </a:p>
        </p:txBody>
      </p:sp>
      <p:sp>
        <p:nvSpPr>
          <p:cNvPr id="43" name="Text 40"/>
          <p:cNvSpPr/>
          <p:nvPr/>
        </p:nvSpPr>
        <p:spPr>
          <a:xfrm>
            <a:off x="9127998" y="5212080"/>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begin · began · begun</a:t>
            </a:r>
            <a:endParaRPr lang="en-US" sz="1600" dirty="0"/>
          </a:p>
        </p:txBody>
      </p:sp>
      <p:sp>
        <p:nvSpPr>
          <p:cNvPr id="44" name="Text 41"/>
          <p:cNvSpPr/>
          <p:nvPr/>
        </p:nvSpPr>
        <p:spPr>
          <a:xfrm>
            <a:off x="9127998" y="5553456"/>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ring · rang · rung</a:t>
            </a:r>
            <a:endParaRPr lang="en-US" sz="1600" dirty="0"/>
          </a:p>
        </p:txBody>
      </p:sp>
      <p:sp>
        <p:nvSpPr>
          <p:cNvPr id="45" name="Text 42"/>
          <p:cNvSpPr/>
          <p:nvPr/>
        </p:nvSpPr>
        <p:spPr>
          <a:xfrm>
            <a:off x="9127998" y="5894832"/>
            <a:ext cx="2402586" cy="286512"/>
          </a:xfrm>
          <a:prstGeom prst="roundRect">
            <a:avLst>
              <a:gd name="adj" fmla="val 31915"/>
            </a:avLst>
          </a:prstGeom>
          <a:solidFill>
            <a:srgbClr val="FFFFFF"/>
          </a:solidFill>
          <a:ln w="12700">
            <a:solidFill>
              <a:srgbClr val="B4236A"/>
            </a:solidFill>
          </a:ln>
        </p:spPr>
        <p:txBody>
          <a:bodyPr wrap="square" lIns="0" tIns="0" rIns="0" bIns="0" rtlCol="0" anchor="ctr"/>
          <a:lstStyle/>
          <a:p>
            <a:pPr algn="ctr" indent="0" marL="0">
              <a:buNone/>
            </a:pPr>
            <a:r>
              <a:rPr lang="en-US" sz="1600" dirty="0">
                <a:solidFill>
                  <a:schemeClr val="tx1"/>
                </a:solidFill>
              </a:rPr>
              <a:t>speak · spoke · spoken</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Three-form relay</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5"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6" name="Shape 4"/>
          <p:cNvSpPr/>
          <p:nvPr/>
        </p:nvSpPr>
        <p:spPr>
          <a:xfrm>
            <a:off x="777240" y="1911096"/>
            <a:ext cx="713232" cy="713232"/>
          </a:xfrm>
          <a:prstGeom prst="ellipse">
            <a:avLst/>
          </a:prstGeom>
          <a:solidFill>
            <a:srgbClr val="B4236A"/>
          </a:solidFill>
          <a:ln/>
        </p:spPr>
      </p:sp>
      <p:pic>
        <p:nvPicPr>
          <p:cNvPr id="7"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8"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Base, past, participle — and a sentence from the file.</a:t>
            </a:r>
            <a:endParaRPr lang="en-US" sz="2100" dirty="0"/>
          </a:p>
          <a:p>
            <a:pPr indent="0" marL="0">
              <a:buNone/>
            </a:pPr>
            <a:r>
              <a:rPr lang="en-US" sz="1500" i="1" dirty="0">
                <a:solidFill>
                  <a:schemeClr val="accent5"/>
                </a:solidFill>
              </a:rPr>
              <a:t>Two teams in lines · 10 minutes · speed and accuracy</a:t>
            </a:r>
            <a:endParaRPr lang="en-US" sz="2100" dirty="0"/>
          </a:p>
        </p:txBody>
      </p:sp>
      <p:sp>
        <p:nvSpPr>
          <p:cNvPr id="9"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dirty="0">
                <a:solidFill>
                  <a:schemeClr val="tx1"/>
                </a:solidFill>
              </a:rPr>
              <a:t>Your teacher points at a verb on the board: </a:t>
            </a:r>
            <a:r>
              <a:rPr lang="en-US" sz="1700" i="1" dirty="0">
                <a:solidFill>
                  <a:schemeClr val="tx1"/>
                </a:solidFill>
              </a:rPr>
              <a:t>break</a:t>
            </a:r>
            <a:r>
              <a:rPr lang="en-US" sz="1700" dirty="0">
                <a:solidFill>
                  <a:schemeClr val="tx1"/>
                </a:solidFill>
              </a:rPr>
              <a:t>.</a:t>
            </a:r>
            <a:endParaRPr lang="en-US" sz="1700" dirty="0"/>
          </a:p>
        </p:txBody>
      </p:sp>
      <p:sp>
        <p:nvSpPr>
          <p:cNvPr id="11"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dirty="0">
                <a:solidFill>
                  <a:schemeClr val="tx1"/>
                </a:solidFill>
              </a:rPr>
              <a:t>Player 1 says the </a:t>
            </a:r>
            <a:r>
              <a:rPr lang="en-US" sz="1700" b="1" dirty="0">
                <a:solidFill>
                  <a:schemeClr val="tx1"/>
                </a:solidFill>
              </a:rPr>
              <a:t>past</a:t>
            </a:r>
            <a:r>
              <a:rPr lang="en-US" sz="1700" dirty="0">
                <a:solidFill>
                  <a:schemeClr val="tx1"/>
                </a:solidFill>
              </a:rPr>
              <a:t>: </a:t>
            </a:r>
            <a:r>
              <a:rPr lang="en-US" sz="1700" i="1" dirty="0">
                <a:solidFill>
                  <a:schemeClr val="tx1"/>
                </a:solidFill>
              </a:rPr>
              <a:t>broke</a:t>
            </a:r>
            <a:r>
              <a:rPr lang="en-US" sz="1700" dirty="0">
                <a:solidFill>
                  <a:schemeClr val="tx1"/>
                </a:solidFill>
              </a:rPr>
              <a:t>. Player 2 the </a:t>
            </a:r>
            <a:r>
              <a:rPr lang="en-US" sz="1700" b="1" dirty="0">
                <a:solidFill>
                  <a:schemeClr val="tx1"/>
                </a:solidFill>
              </a:rPr>
              <a:t>participle</a:t>
            </a:r>
            <a:r>
              <a:rPr lang="en-US" sz="1700" dirty="0">
                <a:solidFill>
                  <a:schemeClr val="tx1"/>
                </a:solidFill>
              </a:rPr>
              <a:t>: </a:t>
            </a:r>
            <a:r>
              <a:rPr lang="en-US" sz="1700" i="1" dirty="0">
                <a:solidFill>
                  <a:schemeClr val="tx1"/>
                </a:solidFill>
              </a:rPr>
              <a:t>broken</a:t>
            </a:r>
            <a:r>
              <a:rPr lang="en-US" sz="1700" dirty="0">
                <a:solidFill>
                  <a:schemeClr val="tx1"/>
                </a:solidFill>
              </a:rPr>
              <a:t>.</a:t>
            </a:r>
            <a:endParaRPr lang="en-US" sz="1700" dirty="0"/>
          </a:p>
        </p:txBody>
      </p:sp>
      <p:sp>
        <p:nvSpPr>
          <p:cNvPr id="13"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dirty="0">
                <a:solidFill>
                  <a:schemeClr val="tx1"/>
                </a:solidFill>
              </a:rPr>
              <a:t>Player 3 makes a </a:t>
            </a:r>
            <a:r>
              <a:rPr lang="en-US" sz="1700" b="1" dirty="0">
                <a:solidFill>
                  <a:schemeClr val="tx1"/>
                </a:solidFill>
              </a:rPr>
              <a:t>sentence from the case</a:t>
            </a:r>
            <a:r>
              <a:rPr lang="en-US" sz="1700" dirty="0">
                <a:solidFill>
                  <a:schemeClr val="tx1"/>
                </a:solidFill>
              </a:rPr>
              <a:t>: </a:t>
            </a:r>
            <a:r>
              <a:rPr lang="en-US" sz="1700" i="1" dirty="0">
                <a:solidFill>
                  <a:schemeClr val="tx1"/>
                </a:solidFill>
              </a:rPr>
              <a:t>Unit 3 broke down at 02:16.</a:t>
            </a:r>
            <a:endParaRPr lang="en-US" sz="1700" dirty="0"/>
          </a:p>
        </p:txBody>
      </p:sp>
      <p:sp>
        <p:nvSpPr>
          <p:cNvPr id="15"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dirty="0">
                <a:solidFill>
                  <a:schemeClr val="tx1"/>
                </a:solidFill>
              </a:rPr>
              <a:t>Wrong form? The other team can </a:t>
            </a:r>
            <a:r>
              <a:rPr lang="en-US" sz="1700" b="1" dirty="0">
                <a:solidFill>
                  <a:schemeClr val="tx1"/>
                </a:solidFill>
              </a:rPr>
              <a:t>steal</a:t>
            </a:r>
            <a:r>
              <a:rPr lang="en-US" sz="1700" dirty="0">
                <a:solidFill>
                  <a:schemeClr val="tx1"/>
                </a:solidFill>
              </a:rPr>
              <a:t> the point. Then the next three players.</a:t>
            </a:r>
            <a:endParaRPr lang="en-US" sz="1700" dirty="0"/>
          </a:p>
        </p:txBody>
      </p:sp>
      <p:sp>
        <p:nvSpPr>
          <p:cNvPr id="17" name="Text 14"/>
          <p:cNvSpPr txBox="1"/>
          <p:nvPr/>
        </p:nvSpPr>
        <p:spPr>
          <a:xfrm>
            <a:off x="7360920" y="3017520"/>
            <a:ext cx="4279392" cy="310896"/>
          </a:xfrm>
          <a:prstGeom prst="rect">
            <a:avLst/>
          </a:prstGeom>
          <a:noFill/>
          <a:ln/>
        </p:spPr>
        <p:txBody>
          <a:bodyPr wrap="square" lIns="0" tIns="0" rIns="0" bIns="0" rtlCol="0" anchor="ctr"/>
          <a:lstStyle/>
          <a:p>
            <a:pPr indent="0" marL="0">
              <a:buNone/>
            </a:pPr>
            <a:r>
              <a:rPr lang="en-US" sz="1300" b="1" spc="150" kern="0" dirty="0">
                <a:solidFill>
                  <a:srgbClr val="B4236A"/>
                </a:solidFill>
              </a:rPr>
              <a:t>THE BOARD</a:t>
            </a:r>
            <a:endParaRPr lang="en-US" sz="1300" dirty="0"/>
          </a:p>
        </p:txBody>
      </p:sp>
      <p:sp>
        <p:nvSpPr>
          <p:cNvPr id="18" name="Text 15"/>
          <p:cNvSpPr/>
          <p:nvPr/>
        </p:nvSpPr>
        <p:spPr>
          <a:xfrm>
            <a:off x="7360920" y="3429000"/>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be</a:t>
            </a:r>
            <a:endParaRPr lang="en-US" sz="1700" dirty="0"/>
          </a:p>
        </p:txBody>
      </p:sp>
      <p:sp>
        <p:nvSpPr>
          <p:cNvPr id="19" name="Text 16"/>
          <p:cNvSpPr/>
          <p:nvPr/>
        </p:nvSpPr>
        <p:spPr>
          <a:xfrm>
            <a:off x="8235086" y="3429000"/>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begin</a:t>
            </a:r>
            <a:endParaRPr lang="en-US" sz="1700" dirty="0"/>
          </a:p>
        </p:txBody>
      </p:sp>
      <p:sp>
        <p:nvSpPr>
          <p:cNvPr id="20" name="Text 17"/>
          <p:cNvSpPr/>
          <p:nvPr/>
        </p:nvSpPr>
        <p:spPr>
          <a:xfrm>
            <a:off x="9109253" y="3429000"/>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break</a:t>
            </a:r>
            <a:endParaRPr lang="en-US" sz="1700" dirty="0"/>
          </a:p>
        </p:txBody>
      </p:sp>
      <p:sp>
        <p:nvSpPr>
          <p:cNvPr id="21" name="Text 18"/>
          <p:cNvSpPr/>
          <p:nvPr/>
        </p:nvSpPr>
        <p:spPr>
          <a:xfrm>
            <a:off x="9983419" y="3429000"/>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bring</a:t>
            </a:r>
            <a:endParaRPr lang="en-US" sz="1700" dirty="0"/>
          </a:p>
        </p:txBody>
      </p:sp>
      <p:sp>
        <p:nvSpPr>
          <p:cNvPr id="22" name="Text 19"/>
          <p:cNvSpPr/>
          <p:nvPr/>
        </p:nvSpPr>
        <p:spPr>
          <a:xfrm>
            <a:off x="10857586" y="3429000"/>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come</a:t>
            </a:r>
            <a:endParaRPr lang="en-US" sz="1700" dirty="0"/>
          </a:p>
        </p:txBody>
      </p:sp>
      <p:sp>
        <p:nvSpPr>
          <p:cNvPr id="23" name="Text 20"/>
          <p:cNvSpPr/>
          <p:nvPr/>
        </p:nvSpPr>
        <p:spPr>
          <a:xfrm>
            <a:off x="7360920" y="3873398"/>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find</a:t>
            </a:r>
            <a:endParaRPr lang="en-US" sz="1700" dirty="0"/>
          </a:p>
        </p:txBody>
      </p:sp>
      <p:sp>
        <p:nvSpPr>
          <p:cNvPr id="24" name="Text 21"/>
          <p:cNvSpPr/>
          <p:nvPr/>
        </p:nvSpPr>
        <p:spPr>
          <a:xfrm>
            <a:off x="8235086" y="3873398"/>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get</a:t>
            </a:r>
            <a:endParaRPr lang="en-US" sz="1700" dirty="0"/>
          </a:p>
        </p:txBody>
      </p:sp>
      <p:sp>
        <p:nvSpPr>
          <p:cNvPr id="25" name="Text 22"/>
          <p:cNvSpPr/>
          <p:nvPr/>
        </p:nvSpPr>
        <p:spPr>
          <a:xfrm>
            <a:off x="9109253" y="3873398"/>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go</a:t>
            </a:r>
            <a:endParaRPr lang="en-US" sz="1700" dirty="0"/>
          </a:p>
        </p:txBody>
      </p:sp>
      <p:sp>
        <p:nvSpPr>
          <p:cNvPr id="26" name="Text 23"/>
          <p:cNvSpPr/>
          <p:nvPr/>
        </p:nvSpPr>
        <p:spPr>
          <a:xfrm>
            <a:off x="9983419" y="3873398"/>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have</a:t>
            </a:r>
            <a:endParaRPr lang="en-US" sz="1700" dirty="0"/>
          </a:p>
        </p:txBody>
      </p:sp>
      <p:sp>
        <p:nvSpPr>
          <p:cNvPr id="27" name="Text 24"/>
          <p:cNvSpPr/>
          <p:nvPr/>
        </p:nvSpPr>
        <p:spPr>
          <a:xfrm>
            <a:off x="10857586" y="3873398"/>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hear</a:t>
            </a:r>
            <a:endParaRPr lang="en-US" sz="1700" dirty="0"/>
          </a:p>
        </p:txBody>
      </p:sp>
      <p:sp>
        <p:nvSpPr>
          <p:cNvPr id="28" name="Text 25"/>
          <p:cNvSpPr/>
          <p:nvPr/>
        </p:nvSpPr>
        <p:spPr>
          <a:xfrm>
            <a:off x="7360920" y="4317797"/>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know</a:t>
            </a:r>
            <a:endParaRPr lang="en-US" sz="1700" dirty="0"/>
          </a:p>
        </p:txBody>
      </p:sp>
      <p:sp>
        <p:nvSpPr>
          <p:cNvPr id="29" name="Text 26"/>
          <p:cNvSpPr/>
          <p:nvPr/>
        </p:nvSpPr>
        <p:spPr>
          <a:xfrm>
            <a:off x="8235086" y="4317797"/>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leave</a:t>
            </a:r>
            <a:endParaRPr lang="en-US" sz="1700" dirty="0"/>
          </a:p>
        </p:txBody>
      </p:sp>
      <p:sp>
        <p:nvSpPr>
          <p:cNvPr id="30" name="Text 27"/>
          <p:cNvSpPr/>
          <p:nvPr/>
        </p:nvSpPr>
        <p:spPr>
          <a:xfrm>
            <a:off x="9109253" y="4317797"/>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make</a:t>
            </a:r>
            <a:endParaRPr lang="en-US" sz="1700" dirty="0"/>
          </a:p>
        </p:txBody>
      </p:sp>
      <p:sp>
        <p:nvSpPr>
          <p:cNvPr id="31" name="Text 28"/>
          <p:cNvSpPr/>
          <p:nvPr/>
        </p:nvSpPr>
        <p:spPr>
          <a:xfrm>
            <a:off x="9983419" y="4317797"/>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ring</a:t>
            </a:r>
            <a:endParaRPr lang="en-US" sz="1700" dirty="0"/>
          </a:p>
        </p:txBody>
      </p:sp>
      <p:sp>
        <p:nvSpPr>
          <p:cNvPr id="32" name="Text 29"/>
          <p:cNvSpPr/>
          <p:nvPr/>
        </p:nvSpPr>
        <p:spPr>
          <a:xfrm>
            <a:off x="10857586" y="4317797"/>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run</a:t>
            </a:r>
            <a:endParaRPr lang="en-US" sz="1700" dirty="0"/>
          </a:p>
        </p:txBody>
      </p:sp>
      <p:sp>
        <p:nvSpPr>
          <p:cNvPr id="33" name="Text 30"/>
          <p:cNvSpPr/>
          <p:nvPr/>
        </p:nvSpPr>
        <p:spPr>
          <a:xfrm>
            <a:off x="7360920" y="4762195"/>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see</a:t>
            </a:r>
            <a:endParaRPr lang="en-US" sz="1700" dirty="0"/>
          </a:p>
        </p:txBody>
      </p:sp>
      <p:sp>
        <p:nvSpPr>
          <p:cNvPr id="34" name="Text 31"/>
          <p:cNvSpPr/>
          <p:nvPr/>
        </p:nvSpPr>
        <p:spPr>
          <a:xfrm>
            <a:off x="8235086" y="4762195"/>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send</a:t>
            </a:r>
            <a:endParaRPr lang="en-US" sz="1700" dirty="0"/>
          </a:p>
        </p:txBody>
      </p:sp>
      <p:sp>
        <p:nvSpPr>
          <p:cNvPr id="35" name="Text 32"/>
          <p:cNvSpPr/>
          <p:nvPr/>
        </p:nvSpPr>
        <p:spPr>
          <a:xfrm>
            <a:off x="9109253" y="4762195"/>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shut</a:t>
            </a:r>
            <a:endParaRPr lang="en-US" sz="1700" dirty="0"/>
          </a:p>
        </p:txBody>
      </p:sp>
      <p:sp>
        <p:nvSpPr>
          <p:cNvPr id="36" name="Text 33"/>
          <p:cNvSpPr/>
          <p:nvPr/>
        </p:nvSpPr>
        <p:spPr>
          <a:xfrm>
            <a:off x="9983419" y="4762195"/>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speak</a:t>
            </a:r>
            <a:endParaRPr lang="en-US" sz="1700" dirty="0"/>
          </a:p>
        </p:txBody>
      </p:sp>
      <p:sp>
        <p:nvSpPr>
          <p:cNvPr id="37" name="Text 34"/>
          <p:cNvSpPr/>
          <p:nvPr/>
        </p:nvSpPr>
        <p:spPr>
          <a:xfrm>
            <a:off x="10857586" y="4762195"/>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take</a:t>
            </a:r>
            <a:endParaRPr lang="en-US" sz="1700" dirty="0"/>
          </a:p>
        </p:txBody>
      </p:sp>
      <p:sp>
        <p:nvSpPr>
          <p:cNvPr id="38" name="Text 35"/>
          <p:cNvSpPr/>
          <p:nvPr/>
        </p:nvSpPr>
        <p:spPr>
          <a:xfrm>
            <a:off x="7360920" y="5206594"/>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tell</a:t>
            </a:r>
            <a:endParaRPr lang="en-US" sz="1700" dirty="0"/>
          </a:p>
        </p:txBody>
      </p:sp>
      <p:sp>
        <p:nvSpPr>
          <p:cNvPr id="39" name="Text 36"/>
          <p:cNvSpPr/>
          <p:nvPr/>
        </p:nvSpPr>
        <p:spPr>
          <a:xfrm>
            <a:off x="8235086" y="5206594"/>
            <a:ext cx="782726" cy="352958"/>
          </a:xfrm>
          <a:prstGeom prst="roundRect">
            <a:avLst>
              <a:gd name="adj" fmla="val 15544"/>
            </a:avLst>
          </a:prstGeom>
          <a:solidFill>
            <a:srgbClr val="EEF2F8"/>
          </a:solidFill>
          <a:ln w="9525">
            <a:solidFill>
              <a:srgbClr val="D5DCE6"/>
            </a:solid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write</a:t>
            </a:r>
            <a:endParaRPr lang="en-US" sz="1700" dirty="0"/>
          </a:p>
        </p:txBody>
      </p:sp>
      <p:sp>
        <p:nvSpPr>
          <p:cNvPr id="40" name="Shape 3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41" name="Image 1" descr="preencoded.png">    </p:cNvPr>
          <p:cNvPicPr>
            <a:picLocks noChangeAspect="1"/>
          </p:cNvPicPr>
          <p:nvPr/>
        </p:nvPicPr>
        <p:blipFill>
          <a:blip r:embed="rId2"/>
          <a:stretch>
            <a:fillRect/>
          </a:stretch>
        </p:blipFill>
        <p:spPr>
          <a:xfrm>
            <a:off x="749808" y="5870448"/>
            <a:ext cx="310896" cy="310896"/>
          </a:xfrm>
          <a:prstGeom prst="rect">
            <a:avLst/>
          </a:prstGeom>
        </p:spPr>
      </p:pic>
      <p:sp>
        <p:nvSpPr>
          <p:cNvPr id="42" name="Text 3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first team to </a:t>
            </a:r>
            <a:r>
              <a:rPr lang="en-US" sz="1700" b="1" dirty="0">
                <a:solidFill>
                  <a:schemeClr val="tx1"/>
                </a:solidFill>
              </a:rPr>
              <a:t>ten correct sentences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Find the intruder</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Grammar or pronunciation: one word in each line does not belong. Say </a:t>
            </a:r>
            <a:r>
              <a:rPr lang="en-US" sz="1600" b="1" i="1" dirty="0">
                <a:solidFill>
                  <a:schemeClr val="accent5"/>
                </a:solidFill>
              </a:rPr>
              <a:t>why</a:t>
            </a:r>
            <a:r>
              <a:rPr lang="en-US" sz="1600" i="1" dirty="0">
                <a:solidFill>
                  <a:schemeClr val="accent5"/>
                </a:solidFill>
              </a:rPr>
              <a:t>.</a:t>
            </a:r>
            <a:endParaRPr lang="en-US" sz="1600" dirty="0"/>
          </a:p>
        </p:txBody>
      </p:sp>
      <p:sp>
        <p:nvSpPr>
          <p:cNvPr id="7" name="Text 4"/>
          <p:cNvSpPr/>
          <p:nvPr/>
        </p:nvSpPr>
        <p:spPr>
          <a:xfrm>
            <a:off x="548640" y="234188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5"/>
          <p:cNvSpPr/>
          <p:nvPr/>
        </p:nvSpPr>
        <p:spPr>
          <a:xfrm>
            <a:off x="1115568" y="2310384"/>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went</a:t>
            </a:r>
            <a:endParaRPr lang="en-US" sz="1800" dirty="0"/>
          </a:p>
        </p:txBody>
      </p:sp>
      <p:sp>
        <p:nvSpPr>
          <p:cNvPr id="9" name="Text 6"/>
          <p:cNvSpPr/>
          <p:nvPr/>
        </p:nvSpPr>
        <p:spPr>
          <a:xfrm>
            <a:off x="2864358" y="2310384"/>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took</a:t>
            </a:r>
            <a:endParaRPr lang="en-US" sz="1800" dirty="0"/>
          </a:p>
        </p:txBody>
      </p:sp>
      <p:sp>
        <p:nvSpPr>
          <p:cNvPr id="10" name="Text 7"/>
          <p:cNvSpPr/>
          <p:nvPr/>
        </p:nvSpPr>
        <p:spPr>
          <a:xfrm>
            <a:off x="4613148" y="2310384"/>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saw</a:t>
            </a:r>
            <a:endParaRPr lang="en-US" sz="1800" dirty="0"/>
          </a:p>
        </p:txBody>
      </p:sp>
      <p:sp>
        <p:nvSpPr>
          <p:cNvPr id="11" name="Text 8"/>
          <p:cNvSpPr/>
          <p:nvPr/>
        </p:nvSpPr>
        <p:spPr>
          <a:xfrm>
            <a:off x="6361938" y="2310384"/>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opened</a:t>
            </a:r>
            <a:endParaRPr lang="en-US" sz="1800" dirty="0"/>
          </a:p>
        </p:txBody>
      </p:sp>
      <p:sp>
        <p:nvSpPr>
          <p:cNvPr id="12" name="Text 9"/>
          <p:cNvSpPr/>
          <p:nvPr/>
        </p:nvSpPr>
        <p:spPr>
          <a:xfrm>
            <a:off x="548640" y="3044952"/>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p:nvPr/>
        </p:nvSpPr>
        <p:spPr>
          <a:xfrm>
            <a:off x="1115568" y="3013456"/>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broken</a:t>
            </a:r>
            <a:endParaRPr lang="en-US" sz="1800" dirty="0"/>
          </a:p>
        </p:txBody>
      </p:sp>
      <p:sp>
        <p:nvSpPr>
          <p:cNvPr id="14" name="Text 11"/>
          <p:cNvSpPr/>
          <p:nvPr/>
        </p:nvSpPr>
        <p:spPr>
          <a:xfrm>
            <a:off x="2864358" y="3013456"/>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written</a:t>
            </a:r>
            <a:endParaRPr lang="en-US" sz="1800" dirty="0"/>
          </a:p>
        </p:txBody>
      </p:sp>
      <p:sp>
        <p:nvSpPr>
          <p:cNvPr id="15" name="Text 12"/>
          <p:cNvSpPr/>
          <p:nvPr/>
        </p:nvSpPr>
        <p:spPr>
          <a:xfrm>
            <a:off x="4613148" y="3013456"/>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taken</a:t>
            </a:r>
            <a:endParaRPr lang="en-US" sz="1800" dirty="0"/>
          </a:p>
        </p:txBody>
      </p:sp>
      <p:sp>
        <p:nvSpPr>
          <p:cNvPr id="16" name="Text 13"/>
          <p:cNvSpPr/>
          <p:nvPr/>
        </p:nvSpPr>
        <p:spPr>
          <a:xfrm>
            <a:off x="6361938" y="3013456"/>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left</a:t>
            </a:r>
            <a:endParaRPr lang="en-US" sz="1800" dirty="0"/>
          </a:p>
        </p:txBody>
      </p:sp>
      <p:sp>
        <p:nvSpPr>
          <p:cNvPr id="17" name="Text 14"/>
          <p:cNvSpPr/>
          <p:nvPr/>
        </p:nvSpPr>
        <p:spPr>
          <a:xfrm>
            <a:off x="548640" y="3748024"/>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5"/>
          <p:cNvSpPr/>
          <p:nvPr/>
        </p:nvSpPr>
        <p:spPr>
          <a:xfrm>
            <a:off x="1115568" y="3716528"/>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cut</a:t>
            </a:r>
            <a:endParaRPr lang="en-US" sz="1800" dirty="0"/>
          </a:p>
        </p:txBody>
      </p:sp>
      <p:sp>
        <p:nvSpPr>
          <p:cNvPr id="19" name="Text 16"/>
          <p:cNvSpPr/>
          <p:nvPr/>
        </p:nvSpPr>
        <p:spPr>
          <a:xfrm>
            <a:off x="2864358" y="3716528"/>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shut</a:t>
            </a:r>
            <a:endParaRPr lang="en-US" sz="1800" dirty="0"/>
          </a:p>
        </p:txBody>
      </p:sp>
      <p:sp>
        <p:nvSpPr>
          <p:cNvPr id="20" name="Text 17"/>
          <p:cNvSpPr/>
          <p:nvPr/>
        </p:nvSpPr>
        <p:spPr>
          <a:xfrm>
            <a:off x="4613148" y="3716528"/>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put</a:t>
            </a:r>
            <a:endParaRPr lang="en-US" sz="1800" dirty="0"/>
          </a:p>
        </p:txBody>
      </p:sp>
      <p:sp>
        <p:nvSpPr>
          <p:cNvPr id="21" name="Text 18"/>
          <p:cNvSpPr/>
          <p:nvPr/>
        </p:nvSpPr>
        <p:spPr>
          <a:xfrm>
            <a:off x="6361938" y="3716528"/>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ran</a:t>
            </a:r>
            <a:endParaRPr lang="en-US" sz="1800" dirty="0"/>
          </a:p>
        </p:txBody>
      </p:sp>
      <p:sp>
        <p:nvSpPr>
          <p:cNvPr id="22" name="Text 19"/>
          <p:cNvSpPr/>
          <p:nvPr/>
        </p:nvSpPr>
        <p:spPr>
          <a:xfrm>
            <a:off x="548640" y="4451096"/>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3" name="Text 20"/>
          <p:cNvSpPr/>
          <p:nvPr/>
        </p:nvSpPr>
        <p:spPr>
          <a:xfrm>
            <a:off x="1115568" y="4419600"/>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found</a:t>
            </a:r>
            <a:endParaRPr lang="en-US" sz="1800" dirty="0"/>
          </a:p>
        </p:txBody>
      </p:sp>
      <p:sp>
        <p:nvSpPr>
          <p:cNvPr id="24" name="Text 21"/>
          <p:cNvSpPr/>
          <p:nvPr/>
        </p:nvSpPr>
        <p:spPr>
          <a:xfrm>
            <a:off x="2864358" y="4419600"/>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heard</a:t>
            </a:r>
            <a:endParaRPr lang="en-US" sz="1800" dirty="0"/>
          </a:p>
        </p:txBody>
      </p:sp>
      <p:sp>
        <p:nvSpPr>
          <p:cNvPr id="25" name="Text 22"/>
          <p:cNvSpPr/>
          <p:nvPr/>
        </p:nvSpPr>
        <p:spPr>
          <a:xfrm>
            <a:off x="4613148" y="4419600"/>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sent</a:t>
            </a:r>
            <a:endParaRPr lang="en-US" sz="1800" dirty="0"/>
          </a:p>
        </p:txBody>
      </p:sp>
      <p:sp>
        <p:nvSpPr>
          <p:cNvPr id="26" name="Text 23"/>
          <p:cNvSpPr/>
          <p:nvPr/>
        </p:nvSpPr>
        <p:spPr>
          <a:xfrm>
            <a:off x="6361938" y="4419600"/>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gone</a:t>
            </a:r>
            <a:endParaRPr lang="en-US" sz="1800" dirty="0"/>
          </a:p>
        </p:txBody>
      </p:sp>
      <p:sp>
        <p:nvSpPr>
          <p:cNvPr id="27" name="Text 24"/>
          <p:cNvSpPr/>
          <p:nvPr/>
        </p:nvSpPr>
        <p:spPr>
          <a:xfrm>
            <a:off x="548640" y="5154168"/>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8" name="Text 25"/>
          <p:cNvSpPr/>
          <p:nvPr/>
        </p:nvSpPr>
        <p:spPr>
          <a:xfrm>
            <a:off x="1115568" y="5122672"/>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brought</a:t>
            </a:r>
            <a:endParaRPr lang="en-US" sz="1800" dirty="0"/>
          </a:p>
        </p:txBody>
      </p:sp>
      <p:sp>
        <p:nvSpPr>
          <p:cNvPr id="29" name="Text 26"/>
          <p:cNvSpPr/>
          <p:nvPr/>
        </p:nvSpPr>
        <p:spPr>
          <a:xfrm>
            <a:off x="2864358" y="5122672"/>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thought</a:t>
            </a:r>
            <a:endParaRPr lang="en-US" sz="1800" dirty="0"/>
          </a:p>
        </p:txBody>
      </p:sp>
      <p:sp>
        <p:nvSpPr>
          <p:cNvPr id="30" name="Text 27"/>
          <p:cNvSpPr/>
          <p:nvPr/>
        </p:nvSpPr>
        <p:spPr>
          <a:xfrm>
            <a:off x="4613148" y="5122672"/>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caught</a:t>
            </a:r>
            <a:endParaRPr lang="en-US" sz="1800" dirty="0"/>
          </a:p>
        </p:txBody>
      </p:sp>
      <p:sp>
        <p:nvSpPr>
          <p:cNvPr id="31" name="Text 28"/>
          <p:cNvSpPr/>
          <p:nvPr/>
        </p:nvSpPr>
        <p:spPr>
          <a:xfrm>
            <a:off x="6361938" y="5122672"/>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laughed</a:t>
            </a:r>
            <a:endParaRPr lang="en-US" sz="1800" dirty="0"/>
          </a:p>
        </p:txBody>
      </p:sp>
      <p:sp>
        <p:nvSpPr>
          <p:cNvPr id="32" name="Text 29"/>
          <p:cNvSpPr/>
          <p:nvPr/>
        </p:nvSpPr>
        <p:spPr>
          <a:xfrm>
            <a:off x="548640" y="585724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3" name="Text 30"/>
          <p:cNvSpPr/>
          <p:nvPr/>
        </p:nvSpPr>
        <p:spPr>
          <a:xfrm>
            <a:off x="1115568" y="5825744"/>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heard</a:t>
            </a:r>
            <a:endParaRPr lang="en-US" sz="1800" dirty="0"/>
          </a:p>
        </p:txBody>
      </p:sp>
      <p:sp>
        <p:nvSpPr>
          <p:cNvPr id="34" name="Text 31"/>
          <p:cNvSpPr/>
          <p:nvPr/>
        </p:nvSpPr>
        <p:spPr>
          <a:xfrm>
            <a:off x="2864358" y="5825744"/>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word</a:t>
            </a:r>
            <a:endParaRPr lang="en-US" sz="1800" dirty="0"/>
          </a:p>
        </p:txBody>
      </p:sp>
      <p:sp>
        <p:nvSpPr>
          <p:cNvPr id="35" name="Text 32"/>
          <p:cNvSpPr/>
          <p:nvPr/>
        </p:nvSpPr>
        <p:spPr>
          <a:xfrm>
            <a:off x="4613148" y="5825744"/>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bird</a:t>
            </a:r>
            <a:endParaRPr lang="en-US" sz="1800" dirty="0"/>
          </a:p>
        </p:txBody>
      </p:sp>
      <p:sp>
        <p:nvSpPr>
          <p:cNvPr id="36" name="Text 33"/>
          <p:cNvSpPr/>
          <p:nvPr/>
        </p:nvSpPr>
        <p:spPr>
          <a:xfrm>
            <a:off x="6361938" y="5825744"/>
            <a:ext cx="1620774" cy="410464"/>
          </a:xfrm>
          <a:prstGeom prst="roundRect">
            <a:avLst>
              <a:gd name="adj" fmla="val 26733"/>
            </a:avLst>
          </a:prstGeom>
          <a:solidFill>
            <a:srgbClr val="EEF2F8"/>
          </a:solidFill>
          <a:ln w="12700">
            <a:solidFill>
              <a:srgbClr val="D5DCE6"/>
            </a:solidFill>
          </a:ln>
        </p:spPr>
        <p:txBody>
          <a:bodyPr wrap="square" lIns="0" tIns="0" rIns="0" bIns="0" rtlCol="0" anchor="ctr"/>
          <a:lstStyle/>
          <a:p>
            <a:pPr algn="ctr" indent="0" marL="0">
              <a:buNone/>
            </a:pPr>
            <a:r>
              <a:rPr lang="en-US" sz="1800" dirty="0">
                <a:solidFill>
                  <a:schemeClr val="tx1"/>
                </a:solidFill>
              </a:rPr>
              <a:t>heart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Find the intruder</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ag"/>
          <p:cNvSpPr/>
          <p:nvPr/>
        </p:nvSpPr>
        <p:spPr>
          <a:xfrm>
            <a:off x="21671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Grammar or pronunciation: one word in each line does not belong. Say </a:t>
            </a:r>
            <a:r>
              <a:rPr lang="en-US" sz="1600" b="1" i="1" dirty="0">
                <a:solidFill>
                  <a:schemeClr val="accent5"/>
                </a:solidFill>
              </a:rPr>
              <a:t>why</a:t>
            </a:r>
            <a:r>
              <a:rPr lang="en-US" sz="1600" i="1" dirty="0">
                <a:solidFill>
                  <a:schemeClr val="accent5"/>
                </a:solidFill>
              </a:rPr>
              <a:t>.</a:t>
            </a:r>
            <a:endParaRPr lang="en-US" sz="1600" dirty="0"/>
          </a:p>
        </p:txBody>
      </p:sp>
      <p:sp>
        <p:nvSpPr>
          <p:cNvPr id="8" name="Text 5"/>
          <p:cNvSpPr/>
          <p:nvPr/>
        </p:nvSpPr>
        <p:spPr>
          <a:xfrm>
            <a:off x="548640" y="234188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6"/>
          <p:cNvSpPr/>
          <p:nvPr/>
        </p:nvSpPr>
        <p:spPr>
          <a:xfrm>
            <a:off x="1115568" y="2310384"/>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went</a:t>
            </a:r>
            <a:endParaRPr lang="en-US" sz="1800" dirty="0"/>
          </a:p>
        </p:txBody>
      </p:sp>
      <p:sp>
        <p:nvSpPr>
          <p:cNvPr id="10" name="Text 7"/>
          <p:cNvSpPr/>
          <p:nvPr/>
        </p:nvSpPr>
        <p:spPr>
          <a:xfrm>
            <a:off x="2864358" y="2310384"/>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took</a:t>
            </a:r>
            <a:endParaRPr lang="en-US" sz="1800" dirty="0"/>
          </a:p>
        </p:txBody>
      </p:sp>
      <p:sp>
        <p:nvSpPr>
          <p:cNvPr id="11" name="Text 8"/>
          <p:cNvSpPr/>
          <p:nvPr/>
        </p:nvSpPr>
        <p:spPr>
          <a:xfrm>
            <a:off x="4613148" y="2310384"/>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saw</a:t>
            </a:r>
            <a:endParaRPr lang="en-US" sz="1800" dirty="0"/>
          </a:p>
        </p:txBody>
      </p:sp>
      <p:sp>
        <p:nvSpPr>
          <p:cNvPr id="12" name="Text 9"/>
          <p:cNvSpPr/>
          <p:nvPr/>
        </p:nvSpPr>
        <p:spPr>
          <a:xfrm>
            <a:off x="6361938" y="2310384"/>
            <a:ext cx="1620774" cy="410464"/>
          </a:xfrm>
          <a:prstGeom prst="roundRect">
            <a:avLst>
              <a:gd name="adj" fmla="val 26733"/>
            </a:avLst>
          </a:prstGeom>
          <a:solidFill>
            <a:srgbClr val="F6DCD8"/>
          </a:solidFill>
          <a:ln w="25400">
            <a:solidFill>
              <a:srgbClr val="B03A2E"/>
            </a:solidFill>
          </a:ln>
        </p:spPr>
        <p:txBody>
          <a:bodyPr wrap="square" lIns="0" tIns="0" rIns="0" bIns="0" rtlCol="0" anchor="ctr"/>
          <a:lstStyle/>
          <a:p>
            <a:pPr algn="ctr" indent="0" marL="0">
              <a:buNone/>
            </a:pPr>
            <a:r>
              <a:rPr lang="en-US" sz="1800" b="1" strike="sngStrike" dirty="0">
                <a:solidFill>
                  <a:schemeClr val="accent6"/>
                </a:solidFill>
              </a:rPr>
              <a:t>opened</a:t>
            </a:r>
            <a:endParaRPr lang="en-US" sz="1800" dirty="0"/>
          </a:p>
        </p:txBody>
      </p:sp>
      <p:sp>
        <p:nvSpPr>
          <p:cNvPr id="13" name="Text 10"/>
          <p:cNvSpPr txBox="1"/>
          <p:nvPr/>
        </p:nvSpPr>
        <p:spPr>
          <a:xfrm>
            <a:off x="8257032" y="2237232"/>
            <a:ext cx="3383280" cy="556768"/>
          </a:xfrm>
          <a:prstGeom prst="rect">
            <a:avLst/>
          </a:prstGeom>
          <a:noFill/>
          <a:ln/>
        </p:spPr>
        <p:txBody>
          <a:bodyPr wrap="square" lIns="0" tIns="0" rIns="0" bIns="0" rtlCol="0" anchor="ctr"/>
          <a:lstStyle/>
          <a:p>
            <a:pPr indent="0" marL="0">
              <a:buNone/>
            </a:pPr>
            <a:r>
              <a:rPr lang="en-US" sz="1600" dirty="0">
                <a:solidFill>
                  <a:schemeClr val="tx2"/>
                </a:solidFill>
              </a:rPr>
              <a:t>→ </a:t>
            </a:r>
            <a:r>
              <a:rPr lang="en-US" sz="1600" b="1" dirty="0">
                <a:solidFill>
                  <a:schemeClr val="tx2"/>
                </a:solidFill>
              </a:rPr>
              <a:t>opened</a:t>
            </a:r>
            <a:r>
              <a:rPr lang="en-US" sz="1600" dirty="0">
                <a:solidFill>
                  <a:schemeClr val="tx2"/>
                </a:solidFill>
              </a:rPr>
              <a:t> is regular (-ed)</a:t>
            </a:r>
            <a:endParaRPr lang="en-US" sz="1600" dirty="0"/>
          </a:p>
        </p:txBody>
      </p:sp>
      <p:sp>
        <p:nvSpPr>
          <p:cNvPr id="14" name="Text 11"/>
          <p:cNvSpPr/>
          <p:nvPr/>
        </p:nvSpPr>
        <p:spPr>
          <a:xfrm>
            <a:off x="548640" y="3044952"/>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p:nvPr/>
        </p:nvSpPr>
        <p:spPr>
          <a:xfrm>
            <a:off x="1115568" y="3013456"/>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broken</a:t>
            </a:r>
            <a:endParaRPr lang="en-US" sz="1800" dirty="0"/>
          </a:p>
        </p:txBody>
      </p:sp>
      <p:sp>
        <p:nvSpPr>
          <p:cNvPr id="16" name="Text 13"/>
          <p:cNvSpPr/>
          <p:nvPr/>
        </p:nvSpPr>
        <p:spPr>
          <a:xfrm>
            <a:off x="2864358" y="3013456"/>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written</a:t>
            </a:r>
            <a:endParaRPr lang="en-US" sz="1800" dirty="0"/>
          </a:p>
        </p:txBody>
      </p:sp>
      <p:sp>
        <p:nvSpPr>
          <p:cNvPr id="17" name="Text 14"/>
          <p:cNvSpPr/>
          <p:nvPr/>
        </p:nvSpPr>
        <p:spPr>
          <a:xfrm>
            <a:off x="4613148" y="3013456"/>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taken</a:t>
            </a:r>
            <a:endParaRPr lang="en-US" sz="1800" dirty="0"/>
          </a:p>
        </p:txBody>
      </p:sp>
      <p:sp>
        <p:nvSpPr>
          <p:cNvPr id="18" name="Text 15"/>
          <p:cNvSpPr/>
          <p:nvPr/>
        </p:nvSpPr>
        <p:spPr>
          <a:xfrm>
            <a:off x="6361938" y="3013456"/>
            <a:ext cx="1620774" cy="410464"/>
          </a:xfrm>
          <a:prstGeom prst="roundRect">
            <a:avLst>
              <a:gd name="adj" fmla="val 26733"/>
            </a:avLst>
          </a:prstGeom>
          <a:solidFill>
            <a:srgbClr val="F6DCD8"/>
          </a:solidFill>
          <a:ln w="25400">
            <a:solidFill>
              <a:srgbClr val="B03A2E"/>
            </a:solidFill>
          </a:ln>
        </p:spPr>
        <p:txBody>
          <a:bodyPr wrap="square" lIns="0" tIns="0" rIns="0" bIns="0" rtlCol="0" anchor="ctr"/>
          <a:lstStyle/>
          <a:p>
            <a:pPr algn="ctr" indent="0" marL="0">
              <a:buNone/>
            </a:pPr>
            <a:r>
              <a:rPr lang="en-US" sz="1800" b="1" strike="sngStrike" dirty="0">
                <a:solidFill>
                  <a:schemeClr val="accent6"/>
                </a:solidFill>
              </a:rPr>
              <a:t>left</a:t>
            </a:r>
            <a:endParaRPr lang="en-US" sz="1800" dirty="0"/>
          </a:p>
        </p:txBody>
      </p:sp>
      <p:sp>
        <p:nvSpPr>
          <p:cNvPr id="19" name="Text 16"/>
          <p:cNvSpPr txBox="1"/>
          <p:nvPr/>
        </p:nvSpPr>
        <p:spPr>
          <a:xfrm>
            <a:off x="8257032" y="2940304"/>
            <a:ext cx="3383280" cy="556768"/>
          </a:xfrm>
          <a:prstGeom prst="rect">
            <a:avLst/>
          </a:prstGeom>
          <a:noFill/>
          <a:ln/>
        </p:spPr>
        <p:txBody>
          <a:bodyPr wrap="square" lIns="0" tIns="0" rIns="0" bIns="0" rtlCol="0" anchor="ctr"/>
          <a:lstStyle/>
          <a:p>
            <a:pPr indent="0" marL="0">
              <a:buNone/>
            </a:pPr>
            <a:r>
              <a:rPr lang="en-US" sz="1600" dirty="0">
                <a:solidFill>
                  <a:schemeClr val="tx2"/>
                </a:solidFill>
              </a:rPr>
              <a:t>→ </a:t>
            </a:r>
            <a:r>
              <a:rPr lang="en-US" sz="1600" b="1" dirty="0">
                <a:solidFill>
                  <a:schemeClr val="tx2"/>
                </a:solidFill>
              </a:rPr>
              <a:t>left</a:t>
            </a:r>
            <a:r>
              <a:rPr lang="en-US" sz="1600" dirty="0">
                <a:solidFill>
                  <a:schemeClr val="tx2"/>
                </a:solidFill>
              </a:rPr>
              <a:t> — no -en participle</a:t>
            </a:r>
            <a:endParaRPr lang="en-US" sz="1600" dirty="0"/>
          </a:p>
        </p:txBody>
      </p:sp>
      <p:sp>
        <p:nvSpPr>
          <p:cNvPr id="20" name="Text 17"/>
          <p:cNvSpPr/>
          <p:nvPr/>
        </p:nvSpPr>
        <p:spPr>
          <a:xfrm>
            <a:off x="548640" y="3748024"/>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ext 18"/>
          <p:cNvSpPr/>
          <p:nvPr/>
        </p:nvSpPr>
        <p:spPr>
          <a:xfrm>
            <a:off x="1115568" y="3716528"/>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cut</a:t>
            </a:r>
            <a:endParaRPr lang="en-US" sz="1800" dirty="0"/>
          </a:p>
        </p:txBody>
      </p:sp>
      <p:sp>
        <p:nvSpPr>
          <p:cNvPr id="22" name="Text 19"/>
          <p:cNvSpPr/>
          <p:nvPr/>
        </p:nvSpPr>
        <p:spPr>
          <a:xfrm>
            <a:off x="2864358" y="3716528"/>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shut</a:t>
            </a:r>
            <a:endParaRPr lang="en-US" sz="1800" dirty="0"/>
          </a:p>
        </p:txBody>
      </p:sp>
      <p:sp>
        <p:nvSpPr>
          <p:cNvPr id="23" name="Text 20"/>
          <p:cNvSpPr/>
          <p:nvPr/>
        </p:nvSpPr>
        <p:spPr>
          <a:xfrm>
            <a:off x="4613148" y="3716528"/>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put</a:t>
            </a:r>
            <a:endParaRPr lang="en-US" sz="1800" dirty="0"/>
          </a:p>
        </p:txBody>
      </p:sp>
      <p:sp>
        <p:nvSpPr>
          <p:cNvPr id="24" name="Text 21"/>
          <p:cNvSpPr/>
          <p:nvPr/>
        </p:nvSpPr>
        <p:spPr>
          <a:xfrm>
            <a:off x="6361938" y="3716528"/>
            <a:ext cx="1620774" cy="410464"/>
          </a:xfrm>
          <a:prstGeom prst="roundRect">
            <a:avLst>
              <a:gd name="adj" fmla="val 26733"/>
            </a:avLst>
          </a:prstGeom>
          <a:solidFill>
            <a:srgbClr val="F6DCD8"/>
          </a:solidFill>
          <a:ln w="25400">
            <a:solidFill>
              <a:srgbClr val="B03A2E"/>
            </a:solidFill>
          </a:ln>
        </p:spPr>
        <p:txBody>
          <a:bodyPr wrap="square" lIns="0" tIns="0" rIns="0" bIns="0" rtlCol="0" anchor="ctr"/>
          <a:lstStyle/>
          <a:p>
            <a:pPr algn="ctr" indent="0" marL="0">
              <a:buNone/>
            </a:pPr>
            <a:r>
              <a:rPr lang="en-US" sz="1800" b="1" strike="sngStrike" dirty="0">
                <a:solidFill>
                  <a:schemeClr val="accent6"/>
                </a:solidFill>
              </a:rPr>
              <a:t>ran</a:t>
            </a:r>
            <a:endParaRPr lang="en-US" sz="1800" dirty="0"/>
          </a:p>
        </p:txBody>
      </p:sp>
      <p:sp>
        <p:nvSpPr>
          <p:cNvPr id="25" name="Text 22"/>
          <p:cNvSpPr txBox="1"/>
          <p:nvPr/>
        </p:nvSpPr>
        <p:spPr>
          <a:xfrm>
            <a:off x="8257032" y="3643376"/>
            <a:ext cx="3383280" cy="556768"/>
          </a:xfrm>
          <a:prstGeom prst="rect">
            <a:avLst/>
          </a:prstGeom>
          <a:noFill/>
          <a:ln/>
        </p:spPr>
        <p:txBody>
          <a:bodyPr wrap="square" lIns="0" tIns="0" rIns="0" bIns="0" rtlCol="0" anchor="ctr"/>
          <a:lstStyle/>
          <a:p>
            <a:pPr indent="0" marL="0">
              <a:buNone/>
            </a:pPr>
            <a:r>
              <a:rPr lang="en-US" sz="1600" dirty="0">
                <a:solidFill>
                  <a:schemeClr val="tx2"/>
                </a:solidFill>
              </a:rPr>
              <a:t>→ </a:t>
            </a:r>
            <a:r>
              <a:rPr lang="en-US" sz="1600" b="1" dirty="0">
                <a:solidFill>
                  <a:schemeClr val="tx2"/>
                </a:solidFill>
              </a:rPr>
              <a:t>ran</a:t>
            </a:r>
            <a:r>
              <a:rPr lang="en-US" sz="1600" dirty="0">
                <a:solidFill>
                  <a:schemeClr val="tx2"/>
                </a:solidFill>
              </a:rPr>
              <a:t> — run · ran · run</a:t>
            </a:r>
            <a:endParaRPr lang="en-US" sz="1600" dirty="0"/>
          </a:p>
        </p:txBody>
      </p:sp>
      <p:sp>
        <p:nvSpPr>
          <p:cNvPr id="26" name="Text 23"/>
          <p:cNvSpPr/>
          <p:nvPr/>
        </p:nvSpPr>
        <p:spPr>
          <a:xfrm>
            <a:off x="548640" y="4451096"/>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7" name="Text 24"/>
          <p:cNvSpPr/>
          <p:nvPr/>
        </p:nvSpPr>
        <p:spPr>
          <a:xfrm>
            <a:off x="1115568" y="4419600"/>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found</a:t>
            </a:r>
            <a:endParaRPr lang="en-US" sz="1800" dirty="0"/>
          </a:p>
        </p:txBody>
      </p:sp>
      <p:sp>
        <p:nvSpPr>
          <p:cNvPr id="28" name="Text 25"/>
          <p:cNvSpPr/>
          <p:nvPr/>
        </p:nvSpPr>
        <p:spPr>
          <a:xfrm>
            <a:off x="2864358" y="4419600"/>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heard</a:t>
            </a:r>
            <a:endParaRPr lang="en-US" sz="1800" dirty="0"/>
          </a:p>
        </p:txBody>
      </p:sp>
      <p:sp>
        <p:nvSpPr>
          <p:cNvPr id="29" name="Text 26"/>
          <p:cNvSpPr/>
          <p:nvPr/>
        </p:nvSpPr>
        <p:spPr>
          <a:xfrm>
            <a:off x="4613148" y="4419600"/>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sent</a:t>
            </a:r>
            <a:endParaRPr lang="en-US" sz="1800" dirty="0"/>
          </a:p>
        </p:txBody>
      </p:sp>
      <p:sp>
        <p:nvSpPr>
          <p:cNvPr id="30" name="Text 27"/>
          <p:cNvSpPr/>
          <p:nvPr/>
        </p:nvSpPr>
        <p:spPr>
          <a:xfrm>
            <a:off x="6361938" y="4419600"/>
            <a:ext cx="1620774" cy="410464"/>
          </a:xfrm>
          <a:prstGeom prst="roundRect">
            <a:avLst>
              <a:gd name="adj" fmla="val 26733"/>
            </a:avLst>
          </a:prstGeom>
          <a:solidFill>
            <a:srgbClr val="F6DCD8"/>
          </a:solidFill>
          <a:ln w="25400">
            <a:solidFill>
              <a:srgbClr val="B03A2E"/>
            </a:solidFill>
          </a:ln>
        </p:spPr>
        <p:txBody>
          <a:bodyPr wrap="square" lIns="0" tIns="0" rIns="0" bIns="0" rtlCol="0" anchor="ctr"/>
          <a:lstStyle/>
          <a:p>
            <a:pPr algn="ctr" indent="0" marL="0">
              <a:buNone/>
            </a:pPr>
            <a:r>
              <a:rPr lang="en-US" sz="1800" b="1" strike="sngStrike" dirty="0">
                <a:solidFill>
                  <a:schemeClr val="accent6"/>
                </a:solidFill>
              </a:rPr>
              <a:t>gone</a:t>
            </a:r>
            <a:endParaRPr lang="en-US" sz="1800" dirty="0"/>
          </a:p>
        </p:txBody>
      </p:sp>
      <p:sp>
        <p:nvSpPr>
          <p:cNvPr id="31" name="Text 28"/>
          <p:cNvSpPr txBox="1"/>
          <p:nvPr/>
        </p:nvSpPr>
        <p:spPr>
          <a:xfrm>
            <a:off x="8257032" y="4346448"/>
            <a:ext cx="3383280" cy="556768"/>
          </a:xfrm>
          <a:prstGeom prst="rect">
            <a:avLst/>
          </a:prstGeom>
          <a:noFill/>
          <a:ln/>
        </p:spPr>
        <p:txBody>
          <a:bodyPr wrap="square" lIns="0" tIns="0" rIns="0" bIns="0" rtlCol="0" anchor="ctr"/>
          <a:lstStyle/>
          <a:p>
            <a:pPr indent="0" marL="0">
              <a:buNone/>
            </a:pPr>
            <a:r>
              <a:rPr lang="en-US" sz="1600" dirty="0">
                <a:solidFill>
                  <a:schemeClr val="tx2"/>
                </a:solidFill>
              </a:rPr>
              <a:t>→ </a:t>
            </a:r>
            <a:r>
              <a:rPr lang="en-US" sz="1600" b="1" dirty="0">
                <a:solidFill>
                  <a:schemeClr val="tx2"/>
                </a:solidFill>
              </a:rPr>
              <a:t>gone</a:t>
            </a:r>
            <a:r>
              <a:rPr lang="en-US" sz="1600" dirty="0">
                <a:solidFill>
                  <a:schemeClr val="tx2"/>
                </a:solidFill>
              </a:rPr>
              <a:t> — the past is </a:t>
            </a:r>
            <a:r>
              <a:rPr lang="en-US" sz="1600" i="1" dirty="0">
                <a:solidFill>
                  <a:schemeClr val="tx2"/>
                </a:solidFill>
              </a:rPr>
              <a:t>went</a:t>
            </a:r>
            <a:endParaRPr lang="en-US" sz="1600" dirty="0"/>
          </a:p>
        </p:txBody>
      </p:sp>
      <p:sp>
        <p:nvSpPr>
          <p:cNvPr id="32" name="Text 29"/>
          <p:cNvSpPr/>
          <p:nvPr/>
        </p:nvSpPr>
        <p:spPr>
          <a:xfrm>
            <a:off x="548640" y="5154168"/>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3" name="Text 30"/>
          <p:cNvSpPr/>
          <p:nvPr/>
        </p:nvSpPr>
        <p:spPr>
          <a:xfrm>
            <a:off x="1115568" y="5122672"/>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brought</a:t>
            </a:r>
            <a:endParaRPr lang="en-US" sz="1800" dirty="0"/>
          </a:p>
        </p:txBody>
      </p:sp>
      <p:sp>
        <p:nvSpPr>
          <p:cNvPr id="34" name="Text 31"/>
          <p:cNvSpPr/>
          <p:nvPr/>
        </p:nvSpPr>
        <p:spPr>
          <a:xfrm>
            <a:off x="2864358" y="5122672"/>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thought</a:t>
            </a:r>
            <a:endParaRPr lang="en-US" sz="1800" dirty="0"/>
          </a:p>
        </p:txBody>
      </p:sp>
      <p:sp>
        <p:nvSpPr>
          <p:cNvPr id="35" name="Text 32"/>
          <p:cNvSpPr/>
          <p:nvPr/>
        </p:nvSpPr>
        <p:spPr>
          <a:xfrm>
            <a:off x="4613148" y="5122672"/>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caught</a:t>
            </a:r>
            <a:endParaRPr lang="en-US" sz="1800" dirty="0"/>
          </a:p>
        </p:txBody>
      </p:sp>
      <p:sp>
        <p:nvSpPr>
          <p:cNvPr id="36" name="Text 33"/>
          <p:cNvSpPr/>
          <p:nvPr/>
        </p:nvSpPr>
        <p:spPr>
          <a:xfrm>
            <a:off x="6361938" y="5122672"/>
            <a:ext cx="1620774" cy="410464"/>
          </a:xfrm>
          <a:prstGeom prst="roundRect">
            <a:avLst>
              <a:gd name="adj" fmla="val 26733"/>
            </a:avLst>
          </a:prstGeom>
          <a:solidFill>
            <a:srgbClr val="F6DCD8"/>
          </a:solidFill>
          <a:ln w="25400">
            <a:solidFill>
              <a:srgbClr val="B03A2E"/>
            </a:solidFill>
          </a:ln>
        </p:spPr>
        <p:txBody>
          <a:bodyPr wrap="square" lIns="0" tIns="0" rIns="0" bIns="0" rtlCol="0" anchor="ctr"/>
          <a:lstStyle/>
          <a:p>
            <a:pPr algn="ctr" indent="0" marL="0">
              <a:buNone/>
            </a:pPr>
            <a:r>
              <a:rPr lang="en-US" sz="1800" b="1" strike="sngStrike" dirty="0">
                <a:solidFill>
                  <a:schemeClr val="accent6"/>
                </a:solidFill>
              </a:rPr>
              <a:t>laughed</a:t>
            </a:r>
            <a:endParaRPr lang="en-US" sz="1800" dirty="0"/>
          </a:p>
        </p:txBody>
      </p:sp>
      <p:sp>
        <p:nvSpPr>
          <p:cNvPr id="37" name="Text 34"/>
          <p:cNvSpPr txBox="1"/>
          <p:nvPr/>
        </p:nvSpPr>
        <p:spPr>
          <a:xfrm>
            <a:off x="8257032" y="5049520"/>
            <a:ext cx="3383280" cy="556768"/>
          </a:xfrm>
          <a:prstGeom prst="rect">
            <a:avLst/>
          </a:prstGeom>
          <a:noFill/>
          <a:ln/>
        </p:spPr>
        <p:txBody>
          <a:bodyPr wrap="square" lIns="0" tIns="0" rIns="0" bIns="0" rtlCol="0" anchor="ctr"/>
          <a:lstStyle/>
          <a:p>
            <a:pPr indent="0" marL="0">
              <a:buNone/>
            </a:pPr>
            <a:r>
              <a:rPr lang="en-US" sz="1600" dirty="0">
                <a:solidFill>
                  <a:schemeClr val="tx2"/>
                </a:solidFill>
              </a:rPr>
              <a:t>→ </a:t>
            </a:r>
            <a:r>
              <a:rPr lang="en-US" sz="1600" b="1" dirty="0">
                <a:solidFill>
                  <a:schemeClr val="tx2"/>
                </a:solidFill>
              </a:rPr>
              <a:t>laughed</a:t>
            </a:r>
            <a:r>
              <a:rPr lang="en-US" sz="1600" dirty="0">
                <a:solidFill>
                  <a:schemeClr val="tx2"/>
                </a:solidFill>
              </a:rPr>
              <a:t> /lɑːft/ — not /ɔːt/</a:t>
            </a:r>
            <a:endParaRPr lang="en-US" sz="1600" dirty="0"/>
          </a:p>
        </p:txBody>
      </p:sp>
      <p:sp>
        <p:nvSpPr>
          <p:cNvPr id="38" name="Text 35"/>
          <p:cNvSpPr/>
          <p:nvPr/>
        </p:nvSpPr>
        <p:spPr>
          <a:xfrm>
            <a:off x="548640" y="585724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9" name="Text 36"/>
          <p:cNvSpPr/>
          <p:nvPr/>
        </p:nvSpPr>
        <p:spPr>
          <a:xfrm>
            <a:off x="1115568" y="5825744"/>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heard</a:t>
            </a:r>
            <a:endParaRPr lang="en-US" sz="1800" dirty="0"/>
          </a:p>
        </p:txBody>
      </p:sp>
      <p:sp>
        <p:nvSpPr>
          <p:cNvPr id="40" name="Text 37"/>
          <p:cNvSpPr/>
          <p:nvPr/>
        </p:nvSpPr>
        <p:spPr>
          <a:xfrm>
            <a:off x="2864358" y="5825744"/>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word</a:t>
            </a:r>
            <a:endParaRPr lang="en-US" sz="1800" dirty="0"/>
          </a:p>
        </p:txBody>
      </p:sp>
      <p:sp>
        <p:nvSpPr>
          <p:cNvPr id="41" name="Text 38"/>
          <p:cNvSpPr/>
          <p:nvPr/>
        </p:nvSpPr>
        <p:spPr>
          <a:xfrm>
            <a:off x="4613148" y="5825744"/>
            <a:ext cx="1620774" cy="410464"/>
          </a:xfrm>
          <a:prstGeom prst="roundRect">
            <a:avLst>
              <a:gd name="adj" fmla="val 26733"/>
            </a:avLst>
          </a:prstGeom>
          <a:solidFill>
            <a:srgbClr val="E6F0E4"/>
          </a:solidFill>
          <a:ln w="12700">
            <a:solidFill>
              <a:srgbClr val="B9D3B4"/>
            </a:solidFill>
          </a:ln>
        </p:spPr>
        <p:txBody>
          <a:bodyPr wrap="square" lIns="0" tIns="0" rIns="0" bIns="0" rtlCol="0" anchor="ctr"/>
          <a:lstStyle/>
          <a:p>
            <a:pPr algn="ctr" indent="0" marL="0">
              <a:buNone/>
            </a:pPr>
            <a:r>
              <a:rPr lang="en-US" sz="1800" dirty="0">
                <a:solidFill>
                  <a:schemeClr val="tx1"/>
                </a:solidFill>
              </a:rPr>
              <a:t>bird</a:t>
            </a:r>
            <a:endParaRPr lang="en-US" sz="1800" dirty="0"/>
          </a:p>
        </p:txBody>
      </p:sp>
      <p:sp>
        <p:nvSpPr>
          <p:cNvPr id="42" name="Text 39"/>
          <p:cNvSpPr/>
          <p:nvPr/>
        </p:nvSpPr>
        <p:spPr>
          <a:xfrm>
            <a:off x="6361938" y="5825744"/>
            <a:ext cx="1620774" cy="410464"/>
          </a:xfrm>
          <a:prstGeom prst="roundRect">
            <a:avLst>
              <a:gd name="adj" fmla="val 26733"/>
            </a:avLst>
          </a:prstGeom>
          <a:solidFill>
            <a:srgbClr val="F6DCD8"/>
          </a:solidFill>
          <a:ln w="25400">
            <a:solidFill>
              <a:srgbClr val="B03A2E"/>
            </a:solidFill>
          </a:ln>
        </p:spPr>
        <p:txBody>
          <a:bodyPr wrap="square" lIns="0" tIns="0" rIns="0" bIns="0" rtlCol="0" anchor="ctr"/>
          <a:lstStyle/>
          <a:p>
            <a:pPr algn="ctr" indent="0" marL="0">
              <a:buNone/>
            </a:pPr>
            <a:r>
              <a:rPr lang="en-US" sz="1800" b="1" strike="sngStrike" dirty="0">
                <a:solidFill>
                  <a:schemeClr val="accent6"/>
                </a:solidFill>
              </a:rPr>
              <a:t>heart</a:t>
            </a:r>
            <a:endParaRPr lang="en-US" sz="1800" dirty="0"/>
          </a:p>
        </p:txBody>
      </p:sp>
      <p:sp>
        <p:nvSpPr>
          <p:cNvPr id="43" name="Text 40"/>
          <p:cNvSpPr txBox="1"/>
          <p:nvPr/>
        </p:nvSpPr>
        <p:spPr>
          <a:xfrm>
            <a:off x="8257032" y="5752592"/>
            <a:ext cx="3383280" cy="556768"/>
          </a:xfrm>
          <a:prstGeom prst="rect">
            <a:avLst/>
          </a:prstGeom>
          <a:noFill/>
          <a:ln/>
        </p:spPr>
        <p:txBody>
          <a:bodyPr wrap="square" lIns="0" tIns="0" rIns="0" bIns="0" rtlCol="0" anchor="ctr"/>
          <a:lstStyle/>
          <a:p>
            <a:pPr indent="0" marL="0">
              <a:buNone/>
            </a:pPr>
            <a:r>
              <a:rPr lang="en-US" sz="1600" dirty="0">
                <a:solidFill>
                  <a:schemeClr val="tx2"/>
                </a:solidFill>
              </a:rPr>
              <a:t>→ </a:t>
            </a:r>
            <a:r>
              <a:rPr lang="en-US" sz="1600" b="1" dirty="0">
                <a:solidFill>
                  <a:schemeClr val="tx2"/>
                </a:solidFill>
              </a:rPr>
              <a:t>heart</a:t>
            </a:r>
            <a:r>
              <a:rPr lang="en-US" sz="1600" dirty="0">
                <a:solidFill>
                  <a:schemeClr val="tx2"/>
                </a:solidFill>
              </a:rPr>
              <a:t> /hɑːt/ — not /ɜː/</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Two minutes with Exhibit A in front of you</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14</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A · Complete from the log. Use the words in the bank, in the past form.</a:t>
            </a:r>
            <a:endParaRPr lang="en-US" sz="1600" dirty="0"/>
          </a:p>
        </p:txBody>
      </p:sp>
      <p:sp>
        <p:nvSpPr>
          <p:cNvPr id="6" name="Shape 4"/>
          <p:cNvSpPr/>
          <p:nvPr/>
        </p:nvSpPr>
        <p:spPr>
          <a:xfrm>
            <a:off x="548640" y="2237232"/>
            <a:ext cx="11091672" cy="749808"/>
          </a:xfrm>
          <a:prstGeom prst="roundRect">
            <a:avLst>
              <a:gd name="adj" fmla="val 9756"/>
            </a:avLst>
          </a:prstGeom>
          <a:solidFill>
            <a:srgbClr val="C0752A">
              <a:alpha val="8000"/>
            </a:srgbClr>
          </a:solidFill>
          <a:ln w="12700">
            <a:solidFill>
              <a:srgbClr val="C0752A"/>
            </a:solidFill>
            <a:prstDash val="dash"/>
          </a:ln>
        </p:spPr>
      </p:sp>
      <p:sp>
        <p:nvSpPr>
          <p:cNvPr id="7" name="Text 5"/>
          <p:cNvSpPr txBox="1"/>
          <p:nvPr/>
        </p:nvSpPr>
        <p:spPr>
          <a:xfrm>
            <a:off x="731520" y="2237232"/>
            <a:ext cx="1005840" cy="749808"/>
          </a:xfrm>
          <a:prstGeom prst="rect">
            <a:avLst/>
          </a:prstGeom>
          <a:noFill/>
          <a:ln/>
        </p:spPr>
        <p:txBody>
          <a:bodyPr wrap="square" lIns="0" tIns="0" rIns="0" bIns="0" rtlCol="0" anchor="ctr"/>
          <a:lstStyle/>
          <a:p>
            <a:pPr indent="0" marL="0">
              <a:buNone/>
            </a:pPr>
            <a:r>
              <a:rPr lang="en-US" sz="1100" b="1" spc="100" kern="0" dirty="0">
                <a:solidFill>
                  <a:schemeClr val="accent1"/>
                </a:solidFill>
              </a:rPr>
              <a:t>WORD BANK</a:t>
            </a:r>
            <a:endParaRPr lang="en-US" sz="1100" dirty="0"/>
          </a:p>
        </p:txBody>
      </p:sp>
      <p:sp>
        <p:nvSpPr>
          <p:cNvPr id="8" name="Text 6"/>
          <p:cNvSpPr/>
          <p:nvPr/>
        </p:nvSpPr>
        <p:spPr>
          <a:xfrm>
            <a:off x="1737360" y="2420112"/>
            <a:ext cx="1105408"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tx2"/>
                </a:solidFill>
              </a:rPr>
              <a:t>entered</a:t>
            </a:r>
            <a:endParaRPr lang="en-US" sz="1600" dirty="0"/>
          </a:p>
        </p:txBody>
      </p:sp>
      <p:sp>
        <p:nvSpPr>
          <p:cNvPr id="9" name="Text 7"/>
          <p:cNvSpPr/>
          <p:nvPr/>
        </p:nvSpPr>
        <p:spPr>
          <a:xfrm>
            <a:off x="2970784" y="2420112"/>
            <a:ext cx="1105408"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tx2"/>
                </a:solidFill>
              </a:rPr>
              <a:t>left ×2</a:t>
            </a:r>
            <a:endParaRPr lang="en-US" sz="1600" dirty="0"/>
          </a:p>
        </p:txBody>
      </p:sp>
      <p:sp>
        <p:nvSpPr>
          <p:cNvPr id="10" name="Text 8"/>
          <p:cNvSpPr/>
          <p:nvPr/>
        </p:nvSpPr>
        <p:spPr>
          <a:xfrm>
            <a:off x="4204208" y="2420112"/>
            <a:ext cx="1211072"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tx2"/>
                </a:solidFill>
              </a:rPr>
              <a:t>went off</a:t>
            </a:r>
            <a:endParaRPr lang="en-US" sz="1600" dirty="0"/>
          </a:p>
        </p:txBody>
      </p:sp>
      <p:sp>
        <p:nvSpPr>
          <p:cNvPr id="11" name="Text 9"/>
          <p:cNvSpPr/>
          <p:nvPr/>
        </p:nvSpPr>
        <p:spPr>
          <a:xfrm>
            <a:off x="5543296" y="2420112"/>
            <a:ext cx="682752"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tx2"/>
                </a:solidFill>
              </a:rPr>
              <a:t>was</a:t>
            </a:r>
            <a:endParaRPr lang="en-US" sz="1600" dirty="0"/>
          </a:p>
        </p:txBody>
      </p:sp>
      <p:sp>
        <p:nvSpPr>
          <p:cNvPr id="12" name="Text 10"/>
          <p:cNvSpPr/>
          <p:nvPr/>
        </p:nvSpPr>
        <p:spPr>
          <a:xfrm>
            <a:off x="6354064" y="2420112"/>
            <a:ext cx="1316736"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tx2"/>
                </a:solidFill>
              </a:rPr>
              <a:t>shut down</a:t>
            </a:r>
            <a:endParaRPr lang="en-US" sz="1600" dirty="0"/>
          </a:p>
        </p:txBody>
      </p:sp>
      <p:sp>
        <p:nvSpPr>
          <p:cNvPr id="13" name="exercise"/>
          <p:cNvSpPr txBox="1"/>
          <p:nvPr/>
        </p:nvSpPr>
        <p:spPr>
          <a:xfrm>
            <a:off x="548640" y="3261360"/>
            <a:ext cx="11091672" cy="3048000"/>
          </a:xfrm>
          <a:prstGeom prst="rect">
            <a:avLst/>
          </a:prstGeom>
          <a:noFill/>
          <a:ln/>
        </p:spPr>
        <p:txBody>
          <a:bodyPr wrap="square" lIns="0" tIns="0" rIns="0" bIns="0" rtlCol="0" anchor="t"/>
          <a:lstStyle/>
          <a:p>
            <a:pPr indent="0" marL="0">
              <a:spcAft>
                <a:spcPts val="1400"/>
              </a:spcAft>
              <a:buNone/>
            </a:pPr>
            <a:r>
              <a:rPr lang="en-US" sz="2300" b="1" dirty="0">
                <a:solidFill>
                  <a:schemeClr val="tx2"/>
                </a:solidFill>
              </a:rPr>
              <a:t>1.  </a:t>
            </a:r>
            <a:r>
              <a:rPr lang="en-US" sz="2300" dirty="0">
                <a:solidFill>
                  <a:schemeClr val="tx1"/>
                </a:solidFill>
              </a:rPr>
              <a:t>The cabling team </a:t>
            </a:r>
            <a:r>
              <a:rPr lang="en-US" sz="2300" dirty="0">
                <a:solidFill>
                  <a:schemeClr val="accent5"/>
                </a:solidFill>
              </a:rPr>
              <a:t>………………</a:t>
            </a:r>
            <a:r>
              <a:rPr lang="en-US" sz="2300" dirty="0">
                <a:solidFill>
                  <a:schemeClr val="tx1"/>
                </a:solidFill>
              </a:rPr>
              <a:t> </a:t>
            </a:r>
            <a:r>
              <a:rPr lang="en-US" sz="2300" i="1" dirty="0">
                <a:solidFill>
                  <a:schemeClr val="tx1"/>
                </a:solidFill>
              </a:rPr>
              <a:t>(leave)</a:t>
            </a:r>
            <a:r>
              <a:rPr lang="en-US" sz="2300" dirty="0">
                <a:solidFill>
                  <a:schemeClr val="tx1"/>
                </a:solidFill>
              </a:rPr>
              <a:t> zone 2F at 19.58.</a:t>
            </a:r>
            <a:endParaRPr lang="en-US" sz="2300" dirty="0"/>
          </a:p>
          <a:p>
            <a:pPr indent="0" marL="0">
              <a:spcAft>
                <a:spcPts val="1400"/>
              </a:spcAft>
              <a:buNone/>
            </a:pPr>
            <a:r>
              <a:rPr lang="en-US" sz="2300" b="1" dirty="0">
                <a:solidFill>
                  <a:schemeClr val="tx2"/>
                </a:solidFill>
              </a:rPr>
              <a:t>2.  </a:t>
            </a:r>
            <a:r>
              <a:rPr lang="en-US" sz="2300" dirty="0">
                <a:solidFill>
                  <a:schemeClr val="tx1"/>
                </a:solidFill>
              </a:rPr>
              <a:t>The site manager </a:t>
            </a:r>
            <a:r>
              <a:rPr lang="en-US" sz="2300" dirty="0">
                <a:solidFill>
                  <a:schemeClr val="accent5"/>
                </a:solidFill>
              </a:rPr>
              <a:t>………………</a:t>
            </a:r>
            <a:r>
              <a:rPr lang="en-US" sz="2300" dirty="0">
                <a:solidFill>
                  <a:schemeClr val="tx1"/>
                </a:solidFill>
              </a:rPr>
              <a:t> </a:t>
            </a:r>
            <a:r>
              <a:rPr lang="en-US" sz="2300" i="1" dirty="0">
                <a:solidFill>
                  <a:schemeClr val="tx1"/>
                </a:solidFill>
              </a:rPr>
              <a:t>(enter)</a:t>
            </a:r>
            <a:r>
              <a:rPr lang="en-US" sz="2300" dirty="0">
                <a:solidFill>
                  <a:schemeClr val="tx1"/>
                </a:solidFill>
              </a:rPr>
              <a:t> at 20.04 and </a:t>
            </a:r>
            <a:r>
              <a:rPr lang="en-US" sz="2300" dirty="0">
                <a:solidFill>
                  <a:schemeClr val="accent5"/>
                </a:solidFill>
              </a:rPr>
              <a:t>………………</a:t>
            </a:r>
            <a:r>
              <a:rPr lang="en-US" sz="2300" dirty="0">
                <a:solidFill>
                  <a:schemeClr val="tx1"/>
                </a:solidFill>
              </a:rPr>
              <a:t> </a:t>
            </a:r>
            <a:r>
              <a:rPr lang="en-US" sz="2300" i="1" dirty="0">
                <a:solidFill>
                  <a:schemeClr val="tx1"/>
                </a:solidFill>
              </a:rPr>
              <a:t>(leave)</a:t>
            </a:r>
            <a:r>
              <a:rPr lang="en-US" sz="2300" dirty="0">
                <a:solidFill>
                  <a:schemeClr val="tx1"/>
                </a:solidFill>
              </a:rPr>
              <a:t> fifteen minutes later.</a:t>
            </a:r>
            <a:endParaRPr lang="en-US" sz="2300" dirty="0"/>
          </a:p>
          <a:p>
            <a:pPr indent="0" marL="0">
              <a:spcAft>
                <a:spcPts val="1400"/>
              </a:spcAft>
              <a:buNone/>
            </a:pPr>
            <a:r>
              <a:rPr lang="en-US" sz="2300" b="1" dirty="0">
                <a:solidFill>
                  <a:schemeClr val="tx2"/>
                </a:solidFill>
              </a:rPr>
              <a:t>3.  </a:t>
            </a:r>
            <a:r>
              <a:rPr lang="en-US" sz="2300" dirty="0">
                <a:solidFill>
                  <a:schemeClr val="tx1"/>
                </a:solidFill>
              </a:rPr>
              <a:t>The temperature alarm </a:t>
            </a:r>
            <a:r>
              <a:rPr lang="en-US" sz="2300" dirty="0">
                <a:solidFill>
                  <a:schemeClr val="accent5"/>
                </a:solidFill>
              </a:rPr>
              <a:t>………………</a:t>
            </a:r>
            <a:r>
              <a:rPr lang="en-US" sz="2300" dirty="0">
                <a:solidFill>
                  <a:schemeClr val="tx1"/>
                </a:solidFill>
              </a:rPr>
              <a:t> </a:t>
            </a:r>
            <a:r>
              <a:rPr lang="en-US" sz="2300" i="1" dirty="0">
                <a:solidFill>
                  <a:schemeClr val="tx1"/>
                </a:solidFill>
              </a:rPr>
              <a:t>(go off)</a:t>
            </a:r>
            <a:r>
              <a:rPr lang="en-US" sz="2300" dirty="0">
                <a:solidFill>
                  <a:schemeClr val="tx1"/>
                </a:solidFill>
              </a:rPr>
              <a:t> at 23.41.</a:t>
            </a:r>
            <a:endParaRPr lang="en-US" sz="2300" dirty="0"/>
          </a:p>
          <a:p>
            <a:pPr indent="0" marL="0">
              <a:spcAft>
                <a:spcPts val="1400"/>
              </a:spcAft>
              <a:buNone/>
            </a:pPr>
            <a:r>
              <a:rPr lang="en-US" sz="2300" b="1" dirty="0">
                <a:solidFill>
                  <a:schemeClr val="tx2"/>
                </a:solidFill>
              </a:rPr>
              <a:t>4.  </a:t>
            </a:r>
            <a:r>
              <a:rPr lang="en-US" sz="2300" dirty="0">
                <a:solidFill>
                  <a:schemeClr val="tx1"/>
                </a:solidFill>
              </a:rPr>
              <a:t>A notification </a:t>
            </a:r>
            <a:r>
              <a:rPr lang="en-US" sz="2300" dirty="0">
                <a:solidFill>
                  <a:schemeClr val="accent5"/>
                </a:solidFill>
              </a:rPr>
              <a:t>………………</a:t>
            </a:r>
            <a:r>
              <a:rPr lang="en-US" sz="2300" dirty="0">
                <a:solidFill>
                  <a:schemeClr val="tx1"/>
                </a:solidFill>
              </a:rPr>
              <a:t> </a:t>
            </a:r>
            <a:r>
              <a:rPr lang="en-US" sz="2300" i="1" dirty="0">
                <a:solidFill>
                  <a:schemeClr val="tx1"/>
                </a:solidFill>
              </a:rPr>
              <a:t>(be)</a:t>
            </a:r>
            <a:r>
              <a:rPr lang="en-US" sz="2300" dirty="0">
                <a:solidFill>
                  <a:schemeClr val="tx1"/>
                </a:solidFill>
              </a:rPr>
              <a:t> delivered one minute later.</a:t>
            </a:r>
            <a:endParaRPr lang="en-US" sz="2300" dirty="0"/>
          </a:p>
          <a:p>
            <a:pPr indent="0" marL="0">
              <a:spcAft>
                <a:spcPts val="1400"/>
              </a:spcAft>
              <a:buNone/>
            </a:pPr>
            <a:r>
              <a:rPr lang="en-US" sz="2300" b="1" dirty="0">
                <a:solidFill>
                  <a:schemeClr val="tx2"/>
                </a:solidFill>
              </a:rPr>
              <a:t>5.  </a:t>
            </a:r>
            <a:r>
              <a:rPr lang="en-US" sz="2300" dirty="0">
                <a:solidFill>
                  <a:schemeClr val="tx1"/>
                </a:solidFill>
              </a:rPr>
              <a:t>Unit 3 </a:t>
            </a:r>
            <a:r>
              <a:rPr lang="en-US" sz="2300" dirty="0">
                <a:solidFill>
                  <a:schemeClr val="accent5"/>
                </a:solidFill>
              </a:rPr>
              <a:t>………………</a:t>
            </a:r>
            <a:r>
              <a:rPr lang="en-US" sz="2300" dirty="0">
                <a:solidFill>
                  <a:schemeClr val="tx1"/>
                </a:solidFill>
              </a:rPr>
              <a:t> </a:t>
            </a:r>
            <a:r>
              <a:rPr lang="en-US" sz="2300" i="1" dirty="0">
                <a:solidFill>
                  <a:schemeClr val="tx1"/>
                </a:solidFill>
              </a:rPr>
              <a:t>(shut down)</a:t>
            </a:r>
            <a:r>
              <a:rPr lang="en-US" sz="2300" dirty="0">
                <a:solidFill>
                  <a:schemeClr val="tx1"/>
                </a:solidFill>
              </a:rPr>
              <a:t> at 02.16.</a:t>
            </a:r>
            <a:endParaRPr lang="en-US" sz="2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Two minutes with Exhibit A in front of you</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14</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A · Complete from the log. Use the words in the bank, in the past form.</a:t>
            </a:r>
            <a:endParaRPr lang="en-US" sz="1600" dirty="0"/>
          </a:p>
        </p:txBody>
      </p:sp>
      <p:sp>
        <p:nvSpPr>
          <p:cNvPr id="7" name="Shape 5"/>
          <p:cNvSpPr/>
          <p:nvPr/>
        </p:nvSpPr>
        <p:spPr>
          <a:xfrm>
            <a:off x="548640" y="2237232"/>
            <a:ext cx="11091672" cy="749808"/>
          </a:xfrm>
          <a:prstGeom prst="roundRect">
            <a:avLst>
              <a:gd name="adj" fmla="val 9756"/>
            </a:avLst>
          </a:prstGeom>
          <a:solidFill>
            <a:srgbClr val="C0752A">
              <a:alpha val="8000"/>
            </a:srgbClr>
          </a:solidFill>
          <a:ln w="12700">
            <a:solidFill>
              <a:srgbClr val="C0752A"/>
            </a:solidFill>
            <a:prstDash val="dash"/>
          </a:ln>
        </p:spPr>
      </p:sp>
      <p:sp>
        <p:nvSpPr>
          <p:cNvPr id="8" name="Text 6"/>
          <p:cNvSpPr txBox="1"/>
          <p:nvPr/>
        </p:nvSpPr>
        <p:spPr>
          <a:xfrm>
            <a:off x="731520" y="2237232"/>
            <a:ext cx="1005840" cy="749808"/>
          </a:xfrm>
          <a:prstGeom prst="rect">
            <a:avLst/>
          </a:prstGeom>
          <a:noFill/>
          <a:ln/>
        </p:spPr>
        <p:txBody>
          <a:bodyPr wrap="square" lIns="0" tIns="0" rIns="0" bIns="0" rtlCol="0" anchor="ctr"/>
          <a:lstStyle/>
          <a:p>
            <a:pPr indent="0" marL="0">
              <a:buNone/>
            </a:pPr>
            <a:r>
              <a:rPr lang="en-US" sz="1100" b="1" spc="100" kern="0" dirty="0">
                <a:solidFill>
                  <a:schemeClr val="accent1"/>
                </a:solidFill>
              </a:rPr>
              <a:t>WORD BANK</a:t>
            </a:r>
            <a:endParaRPr lang="en-US" sz="1100" dirty="0"/>
          </a:p>
        </p:txBody>
      </p:sp>
      <p:sp>
        <p:nvSpPr>
          <p:cNvPr id="9" name="Text 7"/>
          <p:cNvSpPr/>
          <p:nvPr/>
        </p:nvSpPr>
        <p:spPr>
          <a:xfrm>
            <a:off x="1737360" y="2420112"/>
            <a:ext cx="1105408"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accent5"/>
                </a:solidFill>
              </a:rPr>
              <a:t>entered</a:t>
            </a:r>
            <a:endParaRPr lang="en-US" sz="1600" dirty="0"/>
          </a:p>
        </p:txBody>
      </p:sp>
      <p:sp>
        <p:nvSpPr>
          <p:cNvPr id="10" name="Text 8"/>
          <p:cNvSpPr/>
          <p:nvPr/>
        </p:nvSpPr>
        <p:spPr>
          <a:xfrm>
            <a:off x="2970784" y="2420112"/>
            <a:ext cx="1105408"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accent5"/>
                </a:solidFill>
              </a:rPr>
              <a:t>left ×2</a:t>
            </a:r>
            <a:endParaRPr lang="en-US" sz="1600" dirty="0"/>
          </a:p>
        </p:txBody>
      </p:sp>
      <p:sp>
        <p:nvSpPr>
          <p:cNvPr id="11" name="Text 9"/>
          <p:cNvSpPr/>
          <p:nvPr/>
        </p:nvSpPr>
        <p:spPr>
          <a:xfrm>
            <a:off x="4204208" y="2420112"/>
            <a:ext cx="1211072"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accent5"/>
                </a:solidFill>
              </a:rPr>
              <a:t>went off</a:t>
            </a:r>
            <a:endParaRPr lang="en-US" sz="1600" dirty="0"/>
          </a:p>
        </p:txBody>
      </p:sp>
      <p:sp>
        <p:nvSpPr>
          <p:cNvPr id="12" name="Text 10"/>
          <p:cNvSpPr/>
          <p:nvPr/>
        </p:nvSpPr>
        <p:spPr>
          <a:xfrm>
            <a:off x="5543296" y="2420112"/>
            <a:ext cx="682752"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accent5"/>
                </a:solidFill>
              </a:rPr>
              <a:t>was</a:t>
            </a:r>
            <a:endParaRPr lang="en-US" sz="1600" dirty="0"/>
          </a:p>
        </p:txBody>
      </p:sp>
      <p:sp>
        <p:nvSpPr>
          <p:cNvPr id="13" name="Text 11"/>
          <p:cNvSpPr/>
          <p:nvPr/>
        </p:nvSpPr>
        <p:spPr>
          <a:xfrm>
            <a:off x="6354064" y="2420112"/>
            <a:ext cx="1316736" cy="384048"/>
          </a:xfrm>
          <a:prstGeom prst="roundRect">
            <a:avLst>
              <a:gd name="adj" fmla="val 47619"/>
            </a:avLst>
          </a:prstGeom>
          <a:solidFill>
            <a:srgbClr val="FFFFFF"/>
          </a:solidFill>
          <a:ln w="12700">
            <a:solidFill>
              <a:srgbClr val="C0752A"/>
            </a:solidFill>
          </a:ln>
        </p:spPr>
        <p:txBody>
          <a:bodyPr wrap="square" lIns="0" tIns="0" rIns="0" bIns="0" rtlCol="0" anchor="ctr"/>
          <a:lstStyle/>
          <a:p>
            <a:pPr algn="ctr" indent="0" marL="0">
              <a:buNone/>
            </a:pPr>
            <a:r>
              <a:rPr lang="en-US" sz="1600" b="1" dirty="0">
                <a:solidFill>
                  <a:schemeClr val="accent5"/>
                </a:solidFill>
              </a:rPr>
              <a:t>shut down</a:t>
            </a:r>
            <a:endParaRPr lang="en-US" sz="1600" dirty="0"/>
          </a:p>
        </p:txBody>
      </p:sp>
      <p:sp>
        <p:nvSpPr>
          <p:cNvPr id="14" name="exercise"/>
          <p:cNvSpPr txBox="1"/>
          <p:nvPr/>
        </p:nvSpPr>
        <p:spPr>
          <a:xfrm>
            <a:off x="548640" y="3261360"/>
            <a:ext cx="11091672" cy="3048000"/>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The cabling team </a:t>
            </a:r>
            <a:r>
              <a:rPr lang="en-US" sz="2200" b="1" dirty="0">
                <a:solidFill>
                  <a:schemeClr val="accent3"/>
                </a:solidFill>
              </a:rPr>
              <a:t>left</a:t>
            </a:r>
            <a:r>
              <a:rPr lang="en-US" sz="2200" dirty="0">
                <a:solidFill>
                  <a:schemeClr val="tx1"/>
                </a:solidFill>
              </a:rPr>
              <a:t> </a:t>
            </a:r>
            <a:r>
              <a:rPr lang="en-US" sz="2200" i="1" dirty="0">
                <a:solidFill>
                  <a:schemeClr val="tx1"/>
                </a:solidFill>
              </a:rPr>
              <a:t>(leave)</a:t>
            </a:r>
            <a:r>
              <a:rPr lang="en-US" sz="2200" dirty="0">
                <a:solidFill>
                  <a:schemeClr val="tx1"/>
                </a:solidFill>
              </a:rPr>
              <a:t> zone 2F at 19.58.</a:t>
            </a:r>
            <a:endParaRPr lang="en-US" sz="2200" dirty="0"/>
          </a:p>
          <a:p>
            <a:pPr indent="0" marL="0">
              <a:spcAft>
                <a:spcPts val="1000"/>
              </a:spcAft>
              <a:buNone/>
            </a:pPr>
            <a:r>
              <a:rPr lang="en-US" sz="2200" b="1" dirty="0">
                <a:solidFill>
                  <a:schemeClr val="tx2"/>
                </a:solidFill>
              </a:rPr>
              <a:t>2.  </a:t>
            </a:r>
            <a:r>
              <a:rPr lang="en-US" sz="2200" dirty="0">
                <a:solidFill>
                  <a:schemeClr val="tx1"/>
                </a:solidFill>
              </a:rPr>
              <a:t>The site manager </a:t>
            </a:r>
            <a:r>
              <a:rPr lang="en-US" sz="2200" b="1" dirty="0">
                <a:solidFill>
                  <a:schemeClr val="accent3"/>
                </a:solidFill>
              </a:rPr>
              <a:t>entered</a:t>
            </a:r>
            <a:r>
              <a:rPr lang="en-US" sz="2200" dirty="0">
                <a:solidFill>
                  <a:schemeClr val="tx1"/>
                </a:solidFill>
              </a:rPr>
              <a:t> </a:t>
            </a:r>
            <a:r>
              <a:rPr lang="en-US" sz="2200" i="1" dirty="0">
                <a:solidFill>
                  <a:schemeClr val="tx1"/>
                </a:solidFill>
              </a:rPr>
              <a:t>(enter)</a:t>
            </a:r>
            <a:r>
              <a:rPr lang="en-US" sz="2200" dirty="0">
                <a:solidFill>
                  <a:schemeClr val="tx1"/>
                </a:solidFill>
              </a:rPr>
              <a:t> at 20.04 and </a:t>
            </a:r>
            <a:r>
              <a:rPr lang="en-US" sz="2200" b="1" dirty="0">
                <a:solidFill>
                  <a:schemeClr val="accent3"/>
                </a:solidFill>
              </a:rPr>
              <a:t>left</a:t>
            </a:r>
            <a:r>
              <a:rPr lang="en-US" sz="2200" dirty="0">
                <a:solidFill>
                  <a:schemeClr val="tx1"/>
                </a:solidFill>
              </a:rPr>
              <a:t> </a:t>
            </a:r>
            <a:r>
              <a:rPr lang="en-US" sz="2200" i="1" dirty="0">
                <a:solidFill>
                  <a:schemeClr val="tx1"/>
                </a:solidFill>
              </a:rPr>
              <a:t>(leave)</a:t>
            </a:r>
            <a:r>
              <a:rPr lang="en-US" sz="2200" dirty="0">
                <a:solidFill>
                  <a:schemeClr val="tx1"/>
                </a:solidFill>
              </a:rPr>
              <a:t> fifteen minutes later.</a:t>
            </a:r>
            <a:endParaRPr lang="en-US" sz="2200" dirty="0"/>
          </a:p>
          <a:p>
            <a:pPr indent="0" marL="0">
              <a:spcAft>
                <a:spcPts val="1000"/>
              </a:spcAft>
              <a:buNone/>
            </a:pPr>
            <a:r>
              <a:rPr lang="en-US" sz="2200" b="1" dirty="0">
                <a:solidFill>
                  <a:schemeClr val="tx2"/>
                </a:solidFill>
              </a:rPr>
              <a:t>3.  </a:t>
            </a:r>
            <a:r>
              <a:rPr lang="en-US" sz="2200" dirty="0">
                <a:solidFill>
                  <a:schemeClr val="tx1"/>
                </a:solidFill>
              </a:rPr>
              <a:t>The temperature alarm </a:t>
            </a:r>
            <a:r>
              <a:rPr lang="en-US" sz="2200" b="1" dirty="0">
                <a:solidFill>
                  <a:schemeClr val="accent3"/>
                </a:solidFill>
              </a:rPr>
              <a:t>went off</a:t>
            </a:r>
            <a:r>
              <a:rPr lang="en-US" sz="2200" dirty="0">
                <a:solidFill>
                  <a:schemeClr val="tx1"/>
                </a:solidFill>
              </a:rPr>
              <a:t> </a:t>
            </a:r>
            <a:r>
              <a:rPr lang="en-US" sz="2200" i="1" dirty="0">
                <a:solidFill>
                  <a:schemeClr val="tx1"/>
                </a:solidFill>
              </a:rPr>
              <a:t>(go off)</a:t>
            </a:r>
            <a:r>
              <a:rPr lang="en-US" sz="2200" dirty="0">
                <a:solidFill>
                  <a:schemeClr val="tx1"/>
                </a:solidFill>
              </a:rPr>
              <a:t> at 23.41.</a:t>
            </a:r>
            <a:endParaRPr lang="en-US" sz="2200" dirty="0"/>
          </a:p>
          <a:p>
            <a:pPr indent="0" marL="0">
              <a:spcAft>
                <a:spcPts val="1000"/>
              </a:spcAft>
              <a:buNone/>
            </a:pPr>
            <a:r>
              <a:rPr lang="en-US" sz="2200" b="1" dirty="0">
                <a:solidFill>
                  <a:schemeClr val="tx2"/>
                </a:solidFill>
              </a:rPr>
              <a:t>4.  </a:t>
            </a:r>
            <a:r>
              <a:rPr lang="en-US" sz="2200" dirty="0">
                <a:solidFill>
                  <a:schemeClr val="tx1"/>
                </a:solidFill>
              </a:rPr>
              <a:t>A notification </a:t>
            </a:r>
            <a:r>
              <a:rPr lang="en-US" sz="2200" b="1" dirty="0">
                <a:solidFill>
                  <a:schemeClr val="accent3"/>
                </a:solidFill>
              </a:rPr>
              <a:t>was</a:t>
            </a:r>
            <a:r>
              <a:rPr lang="en-US" sz="2200" dirty="0">
                <a:solidFill>
                  <a:schemeClr val="tx1"/>
                </a:solidFill>
              </a:rPr>
              <a:t> </a:t>
            </a:r>
            <a:r>
              <a:rPr lang="en-US" sz="2200" i="1" dirty="0">
                <a:solidFill>
                  <a:schemeClr val="tx1"/>
                </a:solidFill>
              </a:rPr>
              <a:t>(be)</a:t>
            </a:r>
            <a:r>
              <a:rPr lang="en-US" sz="2200" dirty="0">
                <a:solidFill>
                  <a:schemeClr val="tx1"/>
                </a:solidFill>
              </a:rPr>
              <a:t> delivered one minute later.</a:t>
            </a:r>
            <a:endParaRPr lang="en-US" sz="2200" dirty="0"/>
          </a:p>
          <a:p>
            <a:pPr indent="0" marL="0">
              <a:spcAft>
                <a:spcPts val="1000"/>
              </a:spcAft>
              <a:buNone/>
            </a:pPr>
            <a:r>
              <a:rPr lang="en-US" sz="2200" b="1" dirty="0">
                <a:solidFill>
                  <a:schemeClr val="tx2"/>
                </a:solidFill>
              </a:rPr>
              <a:t>5.  </a:t>
            </a:r>
            <a:r>
              <a:rPr lang="en-US" sz="2200" dirty="0">
                <a:solidFill>
                  <a:schemeClr val="tx1"/>
                </a:solidFill>
              </a:rPr>
              <a:t>Unit 3 </a:t>
            </a:r>
            <a:r>
              <a:rPr lang="en-US" sz="2200" b="1" dirty="0">
                <a:solidFill>
                  <a:schemeClr val="accent3"/>
                </a:solidFill>
              </a:rPr>
              <a:t>shut down</a:t>
            </a:r>
            <a:r>
              <a:rPr lang="en-US" sz="2200" dirty="0">
                <a:solidFill>
                  <a:schemeClr val="tx1"/>
                </a:solidFill>
              </a:rPr>
              <a:t> </a:t>
            </a:r>
            <a:r>
              <a:rPr lang="en-US" sz="2200" i="1" dirty="0">
                <a:solidFill>
                  <a:schemeClr val="tx1"/>
                </a:solidFill>
              </a:rPr>
              <a:t>(shut down)</a:t>
            </a:r>
            <a:r>
              <a:rPr lang="en-US" sz="2200" dirty="0">
                <a:solidFill>
                  <a:schemeClr val="tx1"/>
                </a:solidFill>
              </a:rPr>
              <a:t> at 02.16.</a:t>
            </a:r>
            <a:endParaRPr lang="en-US" sz="2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Who entered? Who did he call?</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14</a:t>
            </a:r>
            <a:endParaRPr lang="en-US" sz="1200" dirty="0"/>
          </a:p>
        </p:txBody>
      </p:sp>
      <p:sp>
        <p:nvSpPr>
          <p:cNvPr id="5" name="Text 3"/>
          <p:cNvSpPr/>
          <p:nvPr/>
        </p:nvSpPr>
        <p:spPr>
          <a:xfrm>
            <a:off x="1209294" y="1737360"/>
            <a:ext cx="3387852"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A question with Who or What</a:t>
            </a:r>
            <a:endParaRPr lang="en-US" sz="1500" dirty="0"/>
          </a:p>
        </p:txBody>
      </p:sp>
      <p:sp>
        <p:nvSpPr>
          <p:cNvPr id="6" name="Shape 4"/>
          <p:cNvSpPr/>
          <p:nvPr/>
        </p:nvSpPr>
        <p:spPr>
          <a:xfrm>
            <a:off x="2903220" y="2139696"/>
            <a:ext cx="0" cy="310896"/>
          </a:xfrm>
          <a:prstGeom prst="line">
            <a:avLst/>
          </a:prstGeom>
          <a:noFill/>
          <a:ln w="22225">
            <a:solidFill>
              <a:srgbClr val="44546A"/>
            </a:solidFill>
            <a:prstDash val="solid"/>
            <a:tailEnd type="triangle"/>
          </a:ln>
        </p:spPr>
      </p:sp>
      <p:sp>
        <p:nvSpPr>
          <p:cNvPr id="7" name="Shape 5"/>
          <p:cNvSpPr/>
          <p:nvPr/>
        </p:nvSpPr>
        <p:spPr>
          <a:xfrm>
            <a:off x="548640" y="2468880"/>
            <a:ext cx="4709160" cy="598424"/>
          </a:xfrm>
          <a:prstGeom prst="roundRect">
            <a:avLst>
              <a:gd name="adj" fmla="val 12224"/>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8" name="Shape 6"/>
          <p:cNvSpPr/>
          <p:nvPr/>
        </p:nvSpPr>
        <p:spPr>
          <a:xfrm>
            <a:off x="694944" y="2548636"/>
            <a:ext cx="438912" cy="438912"/>
          </a:xfrm>
          <a:prstGeom prst="ellipse">
            <a:avLst/>
          </a:prstGeom>
          <a:solidFill>
            <a:srgbClr val="1F3864"/>
          </a:solidFill>
          <a:ln/>
        </p:spPr>
      </p:sp>
      <p:pic>
        <p:nvPicPr>
          <p:cNvPr id="9" name="Image 0" descr="preencoded.png">    </p:cNvPr>
          <p:cNvPicPr>
            <a:picLocks noChangeAspect="1"/>
          </p:cNvPicPr>
          <p:nvPr/>
        </p:nvPicPr>
        <p:blipFill>
          <a:blip r:embed="rId1"/>
          <a:stretch>
            <a:fillRect/>
          </a:stretch>
        </p:blipFill>
        <p:spPr>
          <a:xfrm>
            <a:off x="804672" y="2658364"/>
            <a:ext cx="219456" cy="219456"/>
          </a:xfrm>
          <a:prstGeom prst="rect">
            <a:avLst/>
          </a:prstGeom>
        </p:spPr>
      </p:pic>
      <p:sp>
        <p:nvSpPr>
          <p:cNvPr id="10" name="Text 7"/>
          <p:cNvSpPr txBox="1"/>
          <p:nvPr/>
        </p:nvSpPr>
        <p:spPr>
          <a:xfrm>
            <a:off x="1261872" y="2505456"/>
            <a:ext cx="3867912" cy="525272"/>
          </a:xfrm>
          <a:prstGeom prst="rect">
            <a:avLst/>
          </a:prstGeom>
          <a:noFill/>
          <a:ln/>
        </p:spPr>
        <p:txBody>
          <a:bodyPr wrap="square" lIns="0" tIns="0" rIns="0" bIns="0" rtlCol="0" anchor="ctr"/>
          <a:lstStyle/>
          <a:p>
            <a:pPr indent="0" marL="0">
              <a:buNone/>
            </a:pPr>
            <a:r>
              <a:rPr lang="en-US" sz="1700" b="1" dirty="0">
                <a:solidFill>
                  <a:schemeClr val="tx2"/>
                </a:solidFill>
              </a:rPr>
              <a:t>Is the answer the </a:t>
            </a:r>
            <a:r>
              <a:rPr lang="en-US" sz="1700" b="1" dirty="0">
                <a:solidFill>
                  <a:schemeClr val="tx2"/>
                </a:solidFill>
              </a:rPr>
              <a:t>subject</a:t>
            </a:r>
            <a:r>
              <a:rPr lang="en-US" sz="1700" b="1" dirty="0">
                <a:solidFill>
                  <a:schemeClr val="tx2"/>
                </a:solidFill>
              </a:rPr>
              <a:t>?</a:t>
            </a:r>
            <a:endParaRPr lang="en-US" sz="1700" dirty="0"/>
          </a:p>
          <a:p>
            <a:pPr indent="0" marL="0">
              <a:buNone/>
            </a:pPr>
            <a:r>
              <a:rPr lang="en-US" sz="1300" i="1" dirty="0">
                <a:solidFill>
                  <a:schemeClr val="accent5"/>
                </a:solidFill>
              </a:rPr>
              <a:t>the one who did it: </a:t>
            </a:r>
            <a:r>
              <a:rPr lang="en-US" sz="1300" b="1" i="1" dirty="0">
                <a:solidFill>
                  <a:schemeClr val="accent5"/>
                </a:solidFill>
              </a:rPr>
              <a:t>Somebody</a:t>
            </a:r>
            <a:r>
              <a:rPr lang="en-US" sz="1300" i="1" dirty="0">
                <a:solidFill>
                  <a:schemeClr val="accent5"/>
                </a:solidFill>
              </a:rPr>
              <a:t> entered at 20:04.</a:t>
            </a:r>
            <a:endParaRPr lang="en-US" sz="1700" dirty="0"/>
          </a:p>
        </p:txBody>
      </p:sp>
      <p:sp>
        <p:nvSpPr>
          <p:cNvPr id="11" name="Shape 8"/>
          <p:cNvSpPr/>
          <p:nvPr/>
        </p:nvSpPr>
        <p:spPr>
          <a:xfrm>
            <a:off x="5276088" y="2768092"/>
            <a:ext cx="859536" cy="0"/>
          </a:xfrm>
          <a:prstGeom prst="line">
            <a:avLst/>
          </a:prstGeom>
          <a:noFill/>
          <a:ln w="22225">
            <a:solidFill>
              <a:srgbClr val="3C7A3C"/>
            </a:solidFill>
            <a:prstDash val="solid"/>
            <a:tailEnd type="triangle"/>
          </a:ln>
        </p:spPr>
      </p:sp>
      <p:sp>
        <p:nvSpPr>
          <p:cNvPr id="12" name="Text 9"/>
          <p:cNvSpPr txBox="1"/>
          <p:nvPr/>
        </p:nvSpPr>
        <p:spPr>
          <a:xfrm>
            <a:off x="5257800" y="2457196"/>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3" name="Shape 10"/>
          <p:cNvSpPr/>
          <p:nvPr/>
        </p:nvSpPr>
        <p:spPr>
          <a:xfrm>
            <a:off x="6172200" y="2468880"/>
            <a:ext cx="5468112" cy="598424"/>
          </a:xfrm>
          <a:prstGeom prst="roundRect">
            <a:avLst>
              <a:gd name="adj" fmla="val 12224"/>
            </a:avLst>
          </a:prstGeom>
          <a:solidFill>
            <a:srgbClr val="6E4A9E">
              <a:alpha val="12000"/>
            </a:srgbClr>
          </a:solidFill>
          <a:ln w="19050">
            <a:solidFill>
              <a:srgbClr val="6E4A9E"/>
            </a:solidFill>
            <a:prstDash val="solid"/>
          </a:ln>
        </p:spPr>
      </p:sp>
      <p:sp>
        <p:nvSpPr>
          <p:cNvPr id="14" name="Text 11"/>
          <p:cNvSpPr txBox="1"/>
          <p:nvPr/>
        </p:nvSpPr>
        <p:spPr>
          <a:xfrm>
            <a:off x="6336792" y="2505456"/>
            <a:ext cx="5138928" cy="525272"/>
          </a:xfrm>
          <a:prstGeom prst="rect">
            <a:avLst/>
          </a:prstGeom>
          <a:noFill/>
          <a:ln/>
        </p:spPr>
        <p:txBody>
          <a:bodyPr wrap="square" lIns="0" tIns="0" rIns="0" bIns="0" rtlCol="0" anchor="ctr"/>
          <a:lstStyle/>
          <a:p>
            <a:pPr indent="0" marL="0">
              <a:buNone/>
            </a:pPr>
            <a:r>
              <a:rPr lang="en-US" sz="1300" b="1" spc="50" kern="0" dirty="0">
                <a:solidFill>
                  <a:schemeClr val="accent4"/>
                </a:solidFill>
              </a:rPr>
              <a:t>NO DID — Who / What + past simple</a:t>
            </a:r>
            <a:endParaRPr lang="en-US" sz="1300" dirty="0"/>
          </a:p>
          <a:p>
            <a:pPr indent="0" marL="0">
              <a:buNone/>
            </a:pPr>
            <a:r>
              <a:rPr lang="en-US" sz="1300" b="1" dirty="0">
                <a:solidFill>
                  <a:schemeClr val="tx1"/>
                </a:solidFill>
              </a:rPr>
              <a:t>Who entered</a:t>
            </a:r>
            <a:r>
              <a:rPr lang="en-US" sz="1300" dirty="0">
                <a:solidFill>
                  <a:schemeClr val="tx1"/>
                </a:solidFill>
              </a:rPr>
              <a:t> zone 2F at 20:04? </a:t>
            </a:r>
            <a:r>
              <a:rPr lang="en-US" sz="1300" b="1" dirty="0">
                <a:solidFill>
                  <a:schemeClr val="tx1"/>
                </a:solidFill>
              </a:rPr>
              <a:t>What happened</a:t>
            </a:r>
            <a:r>
              <a:rPr lang="en-US" sz="1300" dirty="0">
                <a:solidFill>
                  <a:schemeClr val="tx1"/>
                </a:solidFill>
              </a:rPr>
              <a:t> at 02:16?</a:t>
            </a:r>
            <a:endParaRPr lang="en-US" sz="1300" dirty="0"/>
          </a:p>
        </p:txBody>
      </p:sp>
      <p:sp>
        <p:nvSpPr>
          <p:cNvPr id="15" name="Shape 12"/>
          <p:cNvSpPr/>
          <p:nvPr/>
        </p:nvSpPr>
        <p:spPr>
          <a:xfrm>
            <a:off x="2903220" y="3085592"/>
            <a:ext cx="0" cy="310896"/>
          </a:xfrm>
          <a:prstGeom prst="line">
            <a:avLst/>
          </a:prstGeom>
          <a:noFill/>
          <a:ln w="22225">
            <a:solidFill>
              <a:srgbClr val="44546A"/>
            </a:solidFill>
            <a:prstDash val="solid"/>
            <a:tailEnd type="triangle"/>
          </a:ln>
        </p:spPr>
      </p:sp>
      <p:sp>
        <p:nvSpPr>
          <p:cNvPr id="16" name="Text 13"/>
          <p:cNvSpPr txBox="1"/>
          <p:nvPr/>
        </p:nvSpPr>
        <p:spPr>
          <a:xfrm>
            <a:off x="2994660" y="3067304"/>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17" name="Shape 14"/>
          <p:cNvSpPr/>
          <p:nvPr/>
        </p:nvSpPr>
        <p:spPr>
          <a:xfrm>
            <a:off x="548640" y="3414776"/>
            <a:ext cx="4709160" cy="598424"/>
          </a:xfrm>
          <a:prstGeom prst="roundRect">
            <a:avLst>
              <a:gd name="adj" fmla="val 12224"/>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8" name="Shape 15"/>
          <p:cNvSpPr/>
          <p:nvPr/>
        </p:nvSpPr>
        <p:spPr>
          <a:xfrm>
            <a:off x="694944" y="3494532"/>
            <a:ext cx="438912" cy="438912"/>
          </a:xfrm>
          <a:prstGeom prst="ellipse">
            <a:avLst/>
          </a:prstGeom>
          <a:solidFill>
            <a:srgbClr val="1F3864"/>
          </a:solidFill>
          <a:ln/>
        </p:spPr>
      </p:sp>
      <p:pic>
        <p:nvPicPr>
          <p:cNvPr id="19" name="Image 1" descr="preencoded.png">    </p:cNvPr>
          <p:cNvPicPr>
            <a:picLocks noChangeAspect="1"/>
          </p:cNvPicPr>
          <p:nvPr/>
        </p:nvPicPr>
        <p:blipFill>
          <a:blip r:embed="rId2"/>
          <a:stretch>
            <a:fillRect/>
          </a:stretch>
        </p:blipFill>
        <p:spPr>
          <a:xfrm>
            <a:off x="804672" y="3604260"/>
            <a:ext cx="219456" cy="219456"/>
          </a:xfrm>
          <a:prstGeom prst="rect">
            <a:avLst/>
          </a:prstGeom>
        </p:spPr>
      </p:pic>
      <p:sp>
        <p:nvSpPr>
          <p:cNvPr id="20" name="Text 16"/>
          <p:cNvSpPr txBox="1"/>
          <p:nvPr/>
        </p:nvSpPr>
        <p:spPr>
          <a:xfrm>
            <a:off x="1261872" y="3451352"/>
            <a:ext cx="3867912" cy="525272"/>
          </a:xfrm>
          <a:prstGeom prst="rect">
            <a:avLst/>
          </a:prstGeom>
          <a:noFill/>
          <a:ln/>
        </p:spPr>
        <p:txBody>
          <a:bodyPr wrap="square" lIns="0" tIns="0" rIns="0" bIns="0" rtlCol="0" anchor="ctr"/>
          <a:lstStyle/>
          <a:p>
            <a:pPr indent="0" marL="0">
              <a:buNone/>
            </a:pPr>
            <a:r>
              <a:rPr lang="en-US" sz="1700" b="1" dirty="0">
                <a:solidFill>
                  <a:schemeClr val="tx2"/>
                </a:solidFill>
              </a:rPr>
              <a:t>Is the answer the </a:t>
            </a:r>
            <a:r>
              <a:rPr lang="en-US" sz="1700" b="1" dirty="0">
                <a:solidFill>
                  <a:schemeClr val="tx2"/>
                </a:solidFill>
              </a:rPr>
              <a:t>object</a:t>
            </a:r>
            <a:r>
              <a:rPr lang="en-US" sz="1700" b="1" dirty="0">
                <a:solidFill>
                  <a:schemeClr val="tx2"/>
                </a:solidFill>
              </a:rPr>
              <a:t>?</a:t>
            </a:r>
            <a:endParaRPr lang="en-US" sz="1700" dirty="0"/>
          </a:p>
          <a:p>
            <a:pPr indent="0" marL="0">
              <a:buNone/>
            </a:pPr>
            <a:r>
              <a:rPr lang="en-US" sz="1300" i="1" dirty="0">
                <a:solidFill>
                  <a:schemeClr val="accent5"/>
                </a:solidFill>
              </a:rPr>
              <a:t>what or who it happened to: The guard called </a:t>
            </a:r>
            <a:r>
              <a:rPr lang="en-US" sz="1300" b="1" i="1" dirty="0">
                <a:solidFill>
                  <a:schemeClr val="accent5"/>
                </a:solidFill>
              </a:rPr>
              <a:t>somebody</a:t>
            </a:r>
            <a:r>
              <a:rPr lang="en-US" sz="1300" i="1" dirty="0">
                <a:solidFill>
                  <a:schemeClr val="accent5"/>
                </a:solidFill>
              </a:rPr>
              <a:t>.</a:t>
            </a:r>
            <a:endParaRPr lang="en-US" sz="1700" dirty="0"/>
          </a:p>
        </p:txBody>
      </p:sp>
      <p:sp>
        <p:nvSpPr>
          <p:cNvPr id="21" name="Shape 17"/>
          <p:cNvSpPr/>
          <p:nvPr/>
        </p:nvSpPr>
        <p:spPr>
          <a:xfrm>
            <a:off x="5276088" y="3713988"/>
            <a:ext cx="859536" cy="0"/>
          </a:xfrm>
          <a:prstGeom prst="line">
            <a:avLst/>
          </a:prstGeom>
          <a:noFill/>
          <a:ln w="22225">
            <a:solidFill>
              <a:srgbClr val="3C7A3C"/>
            </a:solidFill>
            <a:prstDash val="solid"/>
            <a:tailEnd type="triangle"/>
          </a:ln>
        </p:spPr>
      </p:sp>
      <p:sp>
        <p:nvSpPr>
          <p:cNvPr id="22" name="Text 18"/>
          <p:cNvSpPr txBox="1"/>
          <p:nvPr/>
        </p:nvSpPr>
        <p:spPr>
          <a:xfrm>
            <a:off x="5257800" y="3403092"/>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3" name="Shape 19"/>
          <p:cNvSpPr/>
          <p:nvPr/>
        </p:nvSpPr>
        <p:spPr>
          <a:xfrm>
            <a:off x="6172200" y="3414776"/>
            <a:ext cx="5468112" cy="598424"/>
          </a:xfrm>
          <a:prstGeom prst="roundRect">
            <a:avLst>
              <a:gd name="adj" fmla="val 12224"/>
            </a:avLst>
          </a:prstGeom>
          <a:solidFill>
            <a:srgbClr val="2E75B6">
              <a:alpha val="12000"/>
            </a:srgbClr>
          </a:solidFill>
          <a:ln w="19050">
            <a:solidFill>
              <a:srgbClr val="2E75B6"/>
            </a:solidFill>
            <a:prstDash val="solid"/>
          </a:ln>
        </p:spPr>
      </p:sp>
      <p:sp>
        <p:nvSpPr>
          <p:cNvPr id="24" name="Text 20"/>
          <p:cNvSpPr txBox="1"/>
          <p:nvPr/>
        </p:nvSpPr>
        <p:spPr>
          <a:xfrm>
            <a:off x="6336792" y="3451352"/>
            <a:ext cx="5138928" cy="525272"/>
          </a:xfrm>
          <a:prstGeom prst="rect">
            <a:avLst/>
          </a:prstGeom>
          <a:noFill/>
          <a:ln/>
        </p:spPr>
        <p:txBody>
          <a:bodyPr wrap="square" lIns="0" tIns="0" rIns="0" bIns="0" rtlCol="0" anchor="ctr"/>
          <a:lstStyle/>
          <a:p>
            <a:pPr indent="0" marL="0">
              <a:buNone/>
            </a:pPr>
            <a:r>
              <a:rPr lang="en-US" sz="1300" b="1" spc="50" kern="0" dirty="0">
                <a:solidFill>
                  <a:schemeClr val="accent2"/>
                </a:solidFill>
              </a:rPr>
              <a:t>DID + subject + base</a:t>
            </a:r>
            <a:endParaRPr lang="en-US" sz="1300" dirty="0"/>
          </a:p>
          <a:p>
            <a:pPr indent="0" marL="0">
              <a:buNone/>
            </a:pPr>
            <a:r>
              <a:rPr lang="en-US" sz="1300" b="1" dirty="0">
                <a:solidFill>
                  <a:schemeClr val="tx1"/>
                </a:solidFill>
              </a:rPr>
              <a:t>Who did</a:t>
            </a:r>
            <a:r>
              <a:rPr lang="en-US" sz="1300" dirty="0">
                <a:solidFill>
                  <a:schemeClr val="tx1"/>
                </a:solidFill>
              </a:rPr>
              <a:t> the guard </a:t>
            </a:r>
            <a:r>
              <a:rPr lang="en-US" sz="1300" b="1" dirty="0">
                <a:solidFill>
                  <a:schemeClr val="tx1"/>
                </a:solidFill>
              </a:rPr>
              <a:t>call</a:t>
            </a:r>
            <a:r>
              <a:rPr lang="en-US" sz="1300" dirty="0">
                <a:solidFill>
                  <a:schemeClr val="tx1"/>
                </a:solidFill>
              </a:rPr>
              <a:t>? </a:t>
            </a:r>
            <a:r>
              <a:rPr lang="en-US" sz="1300" b="1" dirty="0">
                <a:solidFill>
                  <a:schemeClr val="tx1"/>
                </a:solidFill>
              </a:rPr>
              <a:t>What did</a:t>
            </a:r>
            <a:r>
              <a:rPr lang="en-US" sz="1300" dirty="0">
                <a:solidFill>
                  <a:schemeClr val="tx1"/>
                </a:solidFill>
              </a:rPr>
              <a:t> the log </a:t>
            </a:r>
            <a:r>
              <a:rPr lang="en-US" sz="1300" b="1" dirty="0">
                <a:solidFill>
                  <a:schemeClr val="tx1"/>
                </a:solidFill>
              </a:rPr>
              <a:t>show</a:t>
            </a:r>
            <a:r>
              <a:rPr lang="en-US" sz="1300" dirty="0">
                <a:solidFill>
                  <a:schemeClr val="tx1"/>
                </a:solidFill>
              </a:rPr>
              <a:t>?</a:t>
            </a:r>
            <a:endParaRPr lang="en-US" sz="1300" dirty="0"/>
          </a:p>
        </p:txBody>
      </p:sp>
      <p:sp>
        <p:nvSpPr>
          <p:cNvPr id="25" name="Shape 21"/>
          <p:cNvSpPr/>
          <p:nvPr/>
        </p:nvSpPr>
        <p:spPr>
          <a:xfrm>
            <a:off x="2903220" y="4031488"/>
            <a:ext cx="0" cy="310896"/>
          </a:xfrm>
          <a:prstGeom prst="line">
            <a:avLst/>
          </a:prstGeom>
          <a:noFill/>
          <a:ln w="22225">
            <a:solidFill>
              <a:srgbClr val="44546A"/>
            </a:solidFill>
            <a:prstDash val="solid"/>
            <a:tailEnd type="triangle"/>
          </a:ln>
        </p:spPr>
      </p:sp>
      <p:sp>
        <p:nvSpPr>
          <p:cNvPr id="26" name="Text 22"/>
          <p:cNvSpPr txBox="1"/>
          <p:nvPr/>
        </p:nvSpPr>
        <p:spPr>
          <a:xfrm>
            <a:off x="2994660" y="4013200"/>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7" name="Shape 23"/>
          <p:cNvSpPr/>
          <p:nvPr/>
        </p:nvSpPr>
        <p:spPr>
          <a:xfrm>
            <a:off x="548640" y="4360672"/>
            <a:ext cx="4709160" cy="598424"/>
          </a:xfrm>
          <a:prstGeom prst="roundRect">
            <a:avLst>
              <a:gd name="adj" fmla="val 12224"/>
            </a:avLst>
          </a:prstGeom>
          <a:solidFill>
            <a:srgbClr val="C0752A">
              <a:alpha val="12000"/>
            </a:srgbClr>
          </a:solidFill>
          <a:ln w="19050">
            <a:solidFill>
              <a:srgbClr val="C0752A"/>
            </a:solidFill>
            <a:prstDash val="solid"/>
          </a:ln>
        </p:spPr>
      </p:sp>
      <p:sp>
        <p:nvSpPr>
          <p:cNvPr id="28" name="Text 24"/>
          <p:cNvSpPr txBox="1"/>
          <p:nvPr/>
        </p:nvSpPr>
        <p:spPr>
          <a:xfrm>
            <a:off x="713232" y="4397248"/>
            <a:ext cx="4379976" cy="525272"/>
          </a:xfrm>
          <a:prstGeom prst="rect">
            <a:avLst/>
          </a:prstGeom>
          <a:noFill/>
          <a:ln/>
        </p:spPr>
        <p:txBody>
          <a:bodyPr wrap="square" lIns="0" tIns="0" rIns="0" bIns="0" rtlCol="0" anchor="ctr"/>
          <a:lstStyle/>
          <a:p>
            <a:pPr indent="0" marL="0">
              <a:buNone/>
            </a:pPr>
            <a:r>
              <a:rPr lang="en-US" sz="1300" b="1" spc="50" kern="0" dirty="0">
                <a:solidFill>
                  <a:schemeClr val="accent1"/>
                </a:solidFill>
              </a:rPr>
              <a:t>WHEN · WHERE · HOW LONG → did + base</a:t>
            </a:r>
            <a:endParaRPr lang="en-US" sz="1300" dirty="0"/>
          </a:p>
          <a:p>
            <a:pPr indent="0" marL="0">
              <a:buNone/>
            </a:pPr>
            <a:r>
              <a:rPr lang="en-US" sz="1300" b="1" dirty="0">
                <a:solidFill>
                  <a:schemeClr val="tx1"/>
                </a:solidFill>
              </a:rPr>
              <a:t>How long did</a:t>
            </a:r>
            <a:r>
              <a:rPr lang="en-US" sz="1300" dirty="0">
                <a:solidFill>
                  <a:schemeClr val="tx1"/>
                </a:solidFill>
              </a:rPr>
              <a:t> the water </a:t>
            </a:r>
            <a:r>
              <a:rPr lang="en-US" sz="1300" b="1" dirty="0">
                <a:solidFill>
                  <a:schemeClr val="tx1"/>
                </a:solidFill>
              </a:rPr>
              <a:t>run</a:t>
            </a:r>
            <a:r>
              <a:rPr lang="en-US" sz="1300" dirty="0">
                <a:solidFill>
                  <a:schemeClr val="tx1"/>
                </a:solidFill>
              </a:rPr>
              <a:t>? </a:t>
            </a:r>
            <a:r>
              <a:rPr lang="en-US" sz="1300" b="1" dirty="0">
                <a:solidFill>
                  <a:schemeClr val="tx1"/>
                </a:solidFill>
              </a:rPr>
              <a:t>When did</a:t>
            </a:r>
            <a:r>
              <a:rPr lang="en-US" sz="1300" dirty="0">
                <a:solidFill>
                  <a:schemeClr val="tx1"/>
                </a:solidFill>
              </a:rPr>
              <a:t> the team </a:t>
            </a:r>
            <a:r>
              <a:rPr lang="en-US" sz="1300" b="1" dirty="0">
                <a:solidFill>
                  <a:schemeClr val="tx1"/>
                </a:solidFill>
              </a:rPr>
              <a:t>leave</a:t>
            </a:r>
            <a:r>
              <a:rPr lang="en-US" sz="1300" dirty="0">
                <a:solidFill>
                  <a:schemeClr val="tx1"/>
                </a:solidFill>
              </a:rPr>
              <a:t>?</a:t>
            </a:r>
            <a:endParaRPr lang="en-US" sz="1300" dirty="0"/>
          </a:p>
        </p:txBody>
      </p:sp>
      <p:sp>
        <p:nvSpPr>
          <p:cNvPr id="29" name="Shape 25"/>
          <p:cNvSpPr/>
          <p:nvPr/>
        </p:nvSpPr>
        <p:spPr>
          <a:xfrm>
            <a:off x="548640" y="5535168"/>
            <a:ext cx="11091672" cy="774192"/>
          </a:xfrm>
          <a:prstGeom prst="roundRect">
            <a:avLst>
              <a:gd name="adj" fmla="val 9449"/>
            </a:avLst>
          </a:prstGeom>
          <a:solidFill>
            <a:srgbClr val="B03A2E">
              <a:alpha val="8000"/>
            </a:srgbClr>
          </a:solidFill>
          <a:ln w="12700">
            <a:solidFill>
              <a:srgbClr val="B03A2E"/>
            </a:solidFill>
            <a:prstDash val="solid"/>
          </a:ln>
        </p:spPr>
      </p:sp>
      <p:pic>
        <p:nvPicPr>
          <p:cNvPr id="30" name="Image 2" descr="preencoded.png">    </p:cNvPr>
          <p:cNvPicPr>
            <a:picLocks noChangeAspect="1"/>
          </p:cNvPicPr>
          <p:nvPr/>
        </p:nvPicPr>
        <p:blipFill>
          <a:blip r:embed="rId3"/>
          <a:stretch>
            <a:fillRect/>
          </a:stretch>
        </p:blipFill>
        <p:spPr>
          <a:xfrm>
            <a:off x="777240" y="5739384"/>
            <a:ext cx="365760" cy="365760"/>
          </a:xfrm>
          <a:prstGeom prst="rect">
            <a:avLst/>
          </a:prstGeom>
        </p:spPr>
      </p:pic>
      <p:sp>
        <p:nvSpPr>
          <p:cNvPr id="31" name="Text 26"/>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6"/>
                </a:solidFill>
              </a:rPr>
              <a:t>Piège pour francophones — </a:t>
            </a:r>
            <a:r>
              <a:rPr lang="en-US" sz="1800" i="1" dirty="0">
                <a:solidFill>
                  <a:schemeClr val="tx1"/>
                </a:solidFill>
              </a:rPr>
              <a:t>Qui est entré ?</a:t>
            </a:r>
            <a:r>
              <a:rPr lang="en-US" sz="1800" dirty="0">
                <a:solidFill>
                  <a:schemeClr val="tx1"/>
                </a:solidFill>
              </a:rPr>
              <a:t> → </a:t>
            </a:r>
            <a:r>
              <a:rPr lang="en-US" sz="1800" b="1" dirty="0">
                <a:solidFill>
                  <a:schemeClr val="tx1"/>
                </a:solidFill>
              </a:rPr>
              <a:t>Who entered?</a:t>
            </a:r>
            <a:r>
              <a:rPr lang="en-US" sz="1800" dirty="0">
                <a:solidFill>
                  <a:schemeClr val="tx1"/>
                </a:solidFill>
              </a:rPr>
              <a:t> (✗ </a:t>
            </a:r>
            <a:r>
              <a:rPr lang="en-US" sz="1800" i="1" dirty="0">
                <a:solidFill>
                  <a:schemeClr val="tx1"/>
                </a:solidFill>
              </a:rPr>
              <a:t>Who did enter?</a:t>
            </a:r>
            <a:r>
              <a:rPr lang="en-US" sz="1800" dirty="0">
                <a:solidFill>
                  <a:schemeClr val="tx1"/>
                </a:solidFill>
              </a:rPr>
              <a:t>) · </a:t>
            </a:r>
            <a:r>
              <a:rPr lang="en-US" sz="1800" i="1" dirty="0">
                <a:solidFill>
                  <a:schemeClr val="tx1"/>
                </a:solidFill>
              </a:rPr>
              <a:t>Que s’est-il passé ?</a:t>
            </a:r>
            <a:r>
              <a:rPr lang="en-US" sz="1800" dirty="0">
                <a:solidFill>
                  <a:schemeClr val="tx1"/>
                </a:solidFill>
              </a:rPr>
              <a:t> → </a:t>
            </a:r>
            <a:r>
              <a:rPr lang="en-US" sz="1800" b="1" dirty="0">
                <a:solidFill>
                  <a:schemeClr val="tx1"/>
                </a:solidFill>
              </a:rPr>
              <a:t>What happened?</a:t>
            </a:r>
            <a:r>
              <a:rPr lang="en-US" sz="1800" dirty="0">
                <a:solidFill>
                  <a:schemeClr val="tx1"/>
                </a:solidFill>
              </a:rPr>
              <a:t> (✗ </a:t>
            </a:r>
            <a:r>
              <a:rPr lang="en-US" sz="1800" i="1" dirty="0">
                <a:solidFill>
                  <a:schemeClr val="tx1"/>
                </a:solidFill>
              </a:rPr>
              <a:t>What did happen?</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Put the words in order — with or without did?</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Subject question → </a:t>
            </a:r>
            <a:r>
              <a:rPr lang="en-US" sz="1600" b="1" i="1" dirty="0">
                <a:solidFill>
                  <a:schemeClr val="accent5"/>
                </a:solidFill>
              </a:rPr>
              <a:t>no did</a:t>
            </a:r>
            <a:r>
              <a:rPr lang="en-US" sz="1600" i="1" dirty="0">
                <a:solidFill>
                  <a:schemeClr val="accent5"/>
                </a:solidFill>
              </a:rPr>
              <a:t>. Object question → </a:t>
            </a:r>
            <a:r>
              <a:rPr lang="en-US" sz="1600" b="1" i="1" dirty="0">
                <a:solidFill>
                  <a:schemeClr val="accent5"/>
                </a:solidFill>
              </a:rPr>
              <a:t>did + base</a:t>
            </a:r>
            <a:r>
              <a:rPr lang="en-US" sz="1600" i="1" dirty="0">
                <a:solidFill>
                  <a:schemeClr val="accent5"/>
                </a:solidFill>
              </a:rPr>
              <a:t>.</a:t>
            </a:r>
            <a:endParaRPr lang="en-US" sz="1600" dirty="0"/>
          </a:p>
        </p:txBody>
      </p:sp>
      <p:sp>
        <p:nvSpPr>
          <p:cNvPr id="7" name="Text 4"/>
          <p:cNvSpPr/>
          <p:nvPr/>
        </p:nvSpPr>
        <p:spPr>
          <a:xfrm>
            <a:off x="548640" y="225552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5"/>
          <p:cNvSpPr/>
          <p:nvPr/>
        </p:nvSpPr>
        <p:spPr>
          <a:xfrm>
            <a:off x="1097280" y="2237232"/>
            <a:ext cx="1152144"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zone 2F</a:t>
            </a:r>
            <a:endParaRPr lang="en-US" sz="1600" dirty="0"/>
          </a:p>
        </p:txBody>
      </p:sp>
      <p:sp>
        <p:nvSpPr>
          <p:cNvPr id="9" name="Text 6"/>
          <p:cNvSpPr/>
          <p:nvPr/>
        </p:nvSpPr>
        <p:spPr>
          <a:xfrm>
            <a:off x="2359152" y="2237232"/>
            <a:ext cx="1152144"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entered</a:t>
            </a:r>
            <a:endParaRPr lang="en-US" sz="1600" dirty="0"/>
          </a:p>
        </p:txBody>
      </p:sp>
      <p:sp>
        <p:nvSpPr>
          <p:cNvPr id="10" name="Text 7"/>
          <p:cNvSpPr/>
          <p:nvPr/>
        </p:nvSpPr>
        <p:spPr>
          <a:xfrm>
            <a:off x="3621024" y="2237232"/>
            <a:ext cx="127101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at 20:04</a:t>
            </a:r>
            <a:endParaRPr lang="en-US" sz="1600" dirty="0"/>
          </a:p>
        </p:txBody>
      </p:sp>
      <p:sp>
        <p:nvSpPr>
          <p:cNvPr id="11" name="Text 8"/>
          <p:cNvSpPr/>
          <p:nvPr/>
        </p:nvSpPr>
        <p:spPr>
          <a:xfrm>
            <a:off x="5001768" y="2237232"/>
            <a:ext cx="67665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Who</a:t>
            </a:r>
            <a:endParaRPr lang="en-US" sz="1600" dirty="0"/>
          </a:p>
        </p:txBody>
      </p:sp>
      <p:sp>
        <p:nvSpPr>
          <p:cNvPr id="12" name="Text 9"/>
          <p:cNvSpPr/>
          <p:nvPr/>
        </p:nvSpPr>
        <p:spPr>
          <a:xfrm>
            <a:off x="5788152" y="2237232"/>
            <a:ext cx="502920"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3" name="Shape 10"/>
          <p:cNvSpPr/>
          <p:nvPr/>
        </p:nvSpPr>
        <p:spPr>
          <a:xfrm>
            <a:off x="1097280" y="2810256"/>
            <a:ext cx="6858000" cy="0"/>
          </a:xfrm>
          <a:prstGeom prst="line">
            <a:avLst/>
          </a:prstGeom>
          <a:noFill/>
          <a:ln w="12700">
            <a:solidFill>
              <a:srgbClr val="44546A"/>
            </a:solidFill>
            <a:prstDash val="sysDot"/>
          </a:ln>
        </p:spPr>
      </p:sp>
      <p:sp>
        <p:nvSpPr>
          <p:cNvPr id="14" name="Text 11"/>
          <p:cNvSpPr/>
          <p:nvPr/>
        </p:nvSpPr>
        <p:spPr>
          <a:xfrm>
            <a:off x="548640" y="3102864"/>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p:nvPr/>
        </p:nvSpPr>
        <p:spPr>
          <a:xfrm>
            <a:off x="1097280" y="3084576"/>
            <a:ext cx="1389888"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the water</a:t>
            </a:r>
            <a:endParaRPr lang="en-US" sz="1600" dirty="0"/>
          </a:p>
        </p:txBody>
      </p:sp>
      <p:sp>
        <p:nvSpPr>
          <p:cNvPr id="16" name="Text 13"/>
          <p:cNvSpPr/>
          <p:nvPr/>
        </p:nvSpPr>
        <p:spPr>
          <a:xfrm>
            <a:off x="2596896" y="3084576"/>
            <a:ext cx="67665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did</a:t>
            </a:r>
            <a:endParaRPr lang="en-US" sz="1600" dirty="0"/>
          </a:p>
        </p:txBody>
      </p:sp>
      <p:sp>
        <p:nvSpPr>
          <p:cNvPr id="17" name="Text 14"/>
          <p:cNvSpPr/>
          <p:nvPr/>
        </p:nvSpPr>
        <p:spPr>
          <a:xfrm>
            <a:off x="3383280" y="3084576"/>
            <a:ext cx="67665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run</a:t>
            </a:r>
            <a:endParaRPr lang="en-US" sz="1600" dirty="0"/>
          </a:p>
        </p:txBody>
      </p:sp>
      <p:sp>
        <p:nvSpPr>
          <p:cNvPr id="18" name="Text 15"/>
          <p:cNvSpPr/>
          <p:nvPr/>
        </p:nvSpPr>
        <p:spPr>
          <a:xfrm>
            <a:off x="4169664" y="3084576"/>
            <a:ext cx="127101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How long</a:t>
            </a:r>
            <a:endParaRPr lang="en-US" sz="1600" dirty="0"/>
          </a:p>
        </p:txBody>
      </p:sp>
      <p:sp>
        <p:nvSpPr>
          <p:cNvPr id="19" name="Text 16"/>
          <p:cNvSpPr/>
          <p:nvPr/>
        </p:nvSpPr>
        <p:spPr>
          <a:xfrm>
            <a:off x="5550408" y="3084576"/>
            <a:ext cx="502920"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20" name="Shape 17"/>
          <p:cNvSpPr/>
          <p:nvPr/>
        </p:nvSpPr>
        <p:spPr>
          <a:xfrm>
            <a:off x="1097280" y="3657600"/>
            <a:ext cx="6858000" cy="0"/>
          </a:xfrm>
          <a:prstGeom prst="line">
            <a:avLst/>
          </a:prstGeom>
          <a:noFill/>
          <a:ln w="12700">
            <a:solidFill>
              <a:srgbClr val="44546A"/>
            </a:solidFill>
            <a:prstDash val="sysDot"/>
          </a:ln>
        </p:spPr>
      </p:sp>
      <p:sp>
        <p:nvSpPr>
          <p:cNvPr id="21" name="Text 18"/>
          <p:cNvSpPr/>
          <p:nvPr/>
        </p:nvSpPr>
        <p:spPr>
          <a:xfrm>
            <a:off x="548640" y="3950208"/>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19"/>
          <p:cNvSpPr/>
          <p:nvPr/>
        </p:nvSpPr>
        <p:spPr>
          <a:xfrm>
            <a:off x="1097280" y="3931920"/>
            <a:ext cx="127101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at 02:16</a:t>
            </a:r>
            <a:endParaRPr lang="en-US" sz="1600" dirty="0"/>
          </a:p>
        </p:txBody>
      </p:sp>
      <p:sp>
        <p:nvSpPr>
          <p:cNvPr id="23" name="Text 20"/>
          <p:cNvSpPr/>
          <p:nvPr/>
        </p:nvSpPr>
        <p:spPr>
          <a:xfrm>
            <a:off x="2478024" y="3931920"/>
            <a:ext cx="127101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happened</a:t>
            </a:r>
            <a:endParaRPr lang="en-US" sz="1600" dirty="0"/>
          </a:p>
        </p:txBody>
      </p:sp>
      <p:sp>
        <p:nvSpPr>
          <p:cNvPr id="24" name="Text 21"/>
          <p:cNvSpPr/>
          <p:nvPr/>
        </p:nvSpPr>
        <p:spPr>
          <a:xfrm>
            <a:off x="3858768" y="3931920"/>
            <a:ext cx="795528"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What</a:t>
            </a:r>
            <a:endParaRPr lang="en-US" sz="1600" dirty="0"/>
          </a:p>
        </p:txBody>
      </p:sp>
      <p:sp>
        <p:nvSpPr>
          <p:cNvPr id="25" name="Text 22"/>
          <p:cNvSpPr/>
          <p:nvPr/>
        </p:nvSpPr>
        <p:spPr>
          <a:xfrm>
            <a:off x="4764024" y="3931920"/>
            <a:ext cx="502920"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26" name="Shape 23"/>
          <p:cNvSpPr/>
          <p:nvPr/>
        </p:nvSpPr>
        <p:spPr>
          <a:xfrm>
            <a:off x="1097280" y="4504944"/>
            <a:ext cx="6858000" cy="0"/>
          </a:xfrm>
          <a:prstGeom prst="line">
            <a:avLst/>
          </a:prstGeom>
          <a:noFill/>
          <a:ln w="12700">
            <a:solidFill>
              <a:srgbClr val="44546A"/>
            </a:solidFill>
            <a:prstDash val="sysDot"/>
          </a:ln>
        </p:spPr>
      </p:sp>
      <p:sp>
        <p:nvSpPr>
          <p:cNvPr id="27" name="Text 24"/>
          <p:cNvSpPr/>
          <p:nvPr/>
        </p:nvSpPr>
        <p:spPr>
          <a:xfrm>
            <a:off x="548640" y="4797552"/>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Text 25"/>
          <p:cNvSpPr/>
          <p:nvPr/>
        </p:nvSpPr>
        <p:spPr>
          <a:xfrm>
            <a:off x="1097280" y="4779264"/>
            <a:ext cx="795528"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Iris</a:t>
            </a:r>
            <a:endParaRPr lang="en-US" sz="1600" dirty="0"/>
          </a:p>
        </p:txBody>
      </p:sp>
      <p:sp>
        <p:nvSpPr>
          <p:cNvPr id="29" name="Text 26"/>
          <p:cNvSpPr/>
          <p:nvPr/>
        </p:nvSpPr>
        <p:spPr>
          <a:xfrm>
            <a:off x="2002536" y="4779264"/>
            <a:ext cx="795528"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take</a:t>
            </a:r>
            <a:endParaRPr lang="en-US" sz="1600" dirty="0"/>
          </a:p>
        </p:txBody>
      </p:sp>
      <p:sp>
        <p:nvSpPr>
          <p:cNvPr id="30" name="Text 27"/>
          <p:cNvSpPr/>
          <p:nvPr/>
        </p:nvSpPr>
        <p:spPr>
          <a:xfrm>
            <a:off x="2907792" y="4779264"/>
            <a:ext cx="67665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did</a:t>
            </a:r>
            <a:endParaRPr lang="en-US" sz="1600" dirty="0"/>
          </a:p>
        </p:txBody>
      </p:sp>
      <p:sp>
        <p:nvSpPr>
          <p:cNvPr id="31" name="Text 28"/>
          <p:cNvSpPr/>
          <p:nvPr/>
        </p:nvSpPr>
        <p:spPr>
          <a:xfrm>
            <a:off x="3694176" y="4779264"/>
            <a:ext cx="795528"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What</a:t>
            </a:r>
            <a:endParaRPr lang="en-US" sz="1600" dirty="0"/>
          </a:p>
        </p:txBody>
      </p:sp>
      <p:sp>
        <p:nvSpPr>
          <p:cNvPr id="32" name="Text 29"/>
          <p:cNvSpPr/>
          <p:nvPr/>
        </p:nvSpPr>
        <p:spPr>
          <a:xfrm>
            <a:off x="4599432" y="4779264"/>
            <a:ext cx="502920"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33" name="Shape 30"/>
          <p:cNvSpPr/>
          <p:nvPr/>
        </p:nvSpPr>
        <p:spPr>
          <a:xfrm>
            <a:off x="1097280" y="5352288"/>
            <a:ext cx="6858000" cy="0"/>
          </a:xfrm>
          <a:prstGeom prst="line">
            <a:avLst/>
          </a:prstGeom>
          <a:noFill/>
          <a:ln w="12700">
            <a:solidFill>
              <a:srgbClr val="44546A"/>
            </a:solidFill>
            <a:prstDash val="sysDot"/>
          </a:ln>
        </p:spPr>
      </p:sp>
      <p:sp>
        <p:nvSpPr>
          <p:cNvPr id="34" name="Text 31"/>
          <p:cNvSpPr/>
          <p:nvPr/>
        </p:nvSpPr>
        <p:spPr>
          <a:xfrm>
            <a:off x="548640" y="5644896"/>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5" name="Text 32"/>
          <p:cNvSpPr/>
          <p:nvPr/>
        </p:nvSpPr>
        <p:spPr>
          <a:xfrm>
            <a:off x="1097280" y="5626608"/>
            <a:ext cx="795528"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call</a:t>
            </a:r>
            <a:endParaRPr lang="en-US" sz="1600" dirty="0"/>
          </a:p>
        </p:txBody>
      </p:sp>
      <p:sp>
        <p:nvSpPr>
          <p:cNvPr id="36" name="Text 33"/>
          <p:cNvSpPr/>
          <p:nvPr/>
        </p:nvSpPr>
        <p:spPr>
          <a:xfrm>
            <a:off x="2002536" y="5626608"/>
            <a:ext cx="67665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did</a:t>
            </a:r>
            <a:endParaRPr lang="en-US" sz="1600" dirty="0"/>
          </a:p>
        </p:txBody>
      </p:sp>
      <p:sp>
        <p:nvSpPr>
          <p:cNvPr id="37" name="Text 34"/>
          <p:cNvSpPr/>
          <p:nvPr/>
        </p:nvSpPr>
        <p:spPr>
          <a:xfrm>
            <a:off x="2788920" y="5626608"/>
            <a:ext cx="795528"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Mark</a:t>
            </a:r>
            <a:endParaRPr lang="en-US" sz="1600" dirty="0"/>
          </a:p>
        </p:txBody>
      </p:sp>
      <p:sp>
        <p:nvSpPr>
          <p:cNvPr id="38" name="Text 35"/>
          <p:cNvSpPr/>
          <p:nvPr/>
        </p:nvSpPr>
        <p:spPr>
          <a:xfrm>
            <a:off x="3694176" y="5626608"/>
            <a:ext cx="676656"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Who</a:t>
            </a:r>
            <a:endParaRPr lang="en-US" sz="1600" dirty="0"/>
          </a:p>
        </p:txBody>
      </p:sp>
      <p:sp>
        <p:nvSpPr>
          <p:cNvPr id="39" name="Text 36"/>
          <p:cNvSpPr/>
          <p:nvPr/>
        </p:nvSpPr>
        <p:spPr>
          <a:xfrm>
            <a:off x="4480560" y="5626608"/>
            <a:ext cx="1152144"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at 6.58</a:t>
            </a:r>
            <a:endParaRPr lang="en-US" sz="1600" dirty="0"/>
          </a:p>
        </p:txBody>
      </p:sp>
      <p:sp>
        <p:nvSpPr>
          <p:cNvPr id="40" name="Text 37"/>
          <p:cNvSpPr/>
          <p:nvPr/>
        </p:nvSpPr>
        <p:spPr>
          <a:xfrm>
            <a:off x="5742432" y="5626608"/>
            <a:ext cx="502920" cy="327721"/>
          </a:xfrm>
          <a:prstGeom prst="roundRect">
            <a:avLst>
              <a:gd name="adj" fmla="val 50223"/>
            </a:avLst>
          </a:prstGeom>
          <a:solidFill>
            <a:srgbClr val="EEF2F8"/>
          </a:solidFill>
          <a:ln w="12700">
            <a:solidFill>
              <a:srgbClr val="D5DCE6"/>
            </a:solid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41" name="Shape 38"/>
          <p:cNvSpPr/>
          <p:nvPr/>
        </p:nvSpPr>
        <p:spPr>
          <a:xfrm>
            <a:off x="1097280" y="6199632"/>
            <a:ext cx="6858000" cy="0"/>
          </a:xfrm>
          <a:prstGeom prst="line">
            <a:avLst/>
          </a:prstGeom>
          <a:noFill/>
          <a:ln w="12700">
            <a:solidFill>
              <a:srgbClr val="44546A"/>
            </a:solidFill>
            <a:prstDash val="sysDot"/>
          </a:ln>
        </p:spPr>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Put the words in order — with or without did?</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Subject question → </a:t>
            </a:r>
            <a:r>
              <a:rPr lang="en-US" sz="1600" b="1" i="1" dirty="0">
                <a:solidFill>
                  <a:schemeClr val="accent5"/>
                </a:solidFill>
              </a:rPr>
              <a:t>no did</a:t>
            </a:r>
            <a:r>
              <a:rPr lang="en-US" sz="1600" i="1" dirty="0">
                <a:solidFill>
                  <a:schemeClr val="accent5"/>
                </a:solidFill>
              </a:rPr>
              <a:t>. Object question → </a:t>
            </a:r>
            <a:r>
              <a:rPr lang="en-US" sz="1600" b="1" i="1" dirty="0">
                <a:solidFill>
                  <a:schemeClr val="accent5"/>
                </a:solidFill>
              </a:rPr>
              <a:t>did + base</a:t>
            </a:r>
            <a:r>
              <a:rPr lang="en-US" sz="1600" i="1" dirty="0">
                <a:solidFill>
                  <a:schemeClr val="accent5"/>
                </a:solidFill>
              </a:rPr>
              <a:t>.</a:t>
            </a:r>
            <a:endParaRPr lang="en-US" sz="1600" dirty="0"/>
          </a:p>
        </p:txBody>
      </p:sp>
      <p:sp>
        <p:nvSpPr>
          <p:cNvPr id="8" name="Text 5"/>
          <p:cNvSpPr/>
          <p:nvPr/>
        </p:nvSpPr>
        <p:spPr>
          <a:xfrm>
            <a:off x="548640" y="225552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6"/>
          <p:cNvSpPr/>
          <p:nvPr/>
        </p:nvSpPr>
        <p:spPr>
          <a:xfrm>
            <a:off x="1097280" y="2237232"/>
            <a:ext cx="1152144"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zone 2F</a:t>
            </a:r>
            <a:endParaRPr lang="en-US" sz="1600" dirty="0"/>
          </a:p>
        </p:txBody>
      </p:sp>
      <p:sp>
        <p:nvSpPr>
          <p:cNvPr id="10" name="Text 7"/>
          <p:cNvSpPr/>
          <p:nvPr/>
        </p:nvSpPr>
        <p:spPr>
          <a:xfrm>
            <a:off x="2359152" y="2237232"/>
            <a:ext cx="1152144"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entered</a:t>
            </a:r>
            <a:endParaRPr lang="en-US" sz="1600" dirty="0"/>
          </a:p>
        </p:txBody>
      </p:sp>
      <p:sp>
        <p:nvSpPr>
          <p:cNvPr id="11" name="Text 8"/>
          <p:cNvSpPr/>
          <p:nvPr/>
        </p:nvSpPr>
        <p:spPr>
          <a:xfrm>
            <a:off x="3621024" y="2237232"/>
            <a:ext cx="127101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at 20:04</a:t>
            </a:r>
            <a:endParaRPr lang="en-US" sz="1600" dirty="0"/>
          </a:p>
        </p:txBody>
      </p:sp>
      <p:sp>
        <p:nvSpPr>
          <p:cNvPr id="12" name="Text 9"/>
          <p:cNvSpPr/>
          <p:nvPr/>
        </p:nvSpPr>
        <p:spPr>
          <a:xfrm>
            <a:off x="5001768" y="2237232"/>
            <a:ext cx="67665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Who</a:t>
            </a:r>
            <a:endParaRPr lang="en-US" sz="1600" dirty="0"/>
          </a:p>
        </p:txBody>
      </p:sp>
      <p:sp>
        <p:nvSpPr>
          <p:cNvPr id="13" name="Text 10"/>
          <p:cNvSpPr/>
          <p:nvPr/>
        </p:nvSpPr>
        <p:spPr>
          <a:xfrm>
            <a:off x="5788152" y="2237232"/>
            <a:ext cx="502920"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14" name="Text 11"/>
          <p:cNvSpPr txBox="1"/>
          <p:nvPr/>
        </p:nvSpPr>
        <p:spPr>
          <a:xfrm>
            <a:off x="1097280" y="2601529"/>
            <a:ext cx="10543032" cy="318455"/>
          </a:xfrm>
          <a:prstGeom prst="rect">
            <a:avLst/>
          </a:prstGeom>
          <a:noFill/>
          <a:ln/>
        </p:spPr>
        <p:txBody>
          <a:bodyPr wrap="square" lIns="0" tIns="0" rIns="0" bIns="0" rtlCol="0" anchor="ctr"/>
          <a:lstStyle/>
          <a:p>
            <a:pPr indent="0" marL="0">
              <a:buNone/>
            </a:pPr>
            <a:r>
              <a:rPr lang="en-US" sz="1900" b="1" dirty="0">
                <a:solidFill>
                  <a:schemeClr val="accent3"/>
                </a:solidFill>
              </a:rPr>
              <a:t>→ Who entered zone 2F at 20:04?</a:t>
            </a:r>
            <a:endParaRPr lang="en-US" sz="1900" dirty="0"/>
          </a:p>
        </p:txBody>
      </p:sp>
      <p:sp>
        <p:nvSpPr>
          <p:cNvPr id="15" name="Text 12"/>
          <p:cNvSpPr/>
          <p:nvPr/>
        </p:nvSpPr>
        <p:spPr>
          <a:xfrm>
            <a:off x="548640" y="3102864"/>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Text 13"/>
          <p:cNvSpPr/>
          <p:nvPr/>
        </p:nvSpPr>
        <p:spPr>
          <a:xfrm>
            <a:off x="1097280" y="3084576"/>
            <a:ext cx="1389888"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the water</a:t>
            </a:r>
            <a:endParaRPr lang="en-US" sz="1600" dirty="0"/>
          </a:p>
        </p:txBody>
      </p:sp>
      <p:sp>
        <p:nvSpPr>
          <p:cNvPr id="17" name="Text 14"/>
          <p:cNvSpPr/>
          <p:nvPr/>
        </p:nvSpPr>
        <p:spPr>
          <a:xfrm>
            <a:off x="2596896" y="3084576"/>
            <a:ext cx="67665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did</a:t>
            </a:r>
            <a:endParaRPr lang="en-US" sz="1600" dirty="0"/>
          </a:p>
        </p:txBody>
      </p:sp>
      <p:sp>
        <p:nvSpPr>
          <p:cNvPr id="18" name="Text 15"/>
          <p:cNvSpPr/>
          <p:nvPr/>
        </p:nvSpPr>
        <p:spPr>
          <a:xfrm>
            <a:off x="3383280" y="3084576"/>
            <a:ext cx="67665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run</a:t>
            </a:r>
            <a:endParaRPr lang="en-US" sz="1600" dirty="0"/>
          </a:p>
        </p:txBody>
      </p:sp>
      <p:sp>
        <p:nvSpPr>
          <p:cNvPr id="19" name="Text 16"/>
          <p:cNvSpPr/>
          <p:nvPr/>
        </p:nvSpPr>
        <p:spPr>
          <a:xfrm>
            <a:off x="4169664" y="3084576"/>
            <a:ext cx="127101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How long</a:t>
            </a:r>
            <a:endParaRPr lang="en-US" sz="1600" dirty="0"/>
          </a:p>
        </p:txBody>
      </p:sp>
      <p:sp>
        <p:nvSpPr>
          <p:cNvPr id="20" name="Text 17"/>
          <p:cNvSpPr/>
          <p:nvPr/>
        </p:nvSpPr>
        <p:spPr>
          <a:xfrm>
            <a:off x="5550408" y="3084576"/>
            <a:ext cx="502920"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1" name="Text 18"/>
          <p:cNvSpPr txBox="1"/>
          <p:nvPr/>
        </p:nvSpPr>
        <p:spPr>
          <a:xfrm>
            <a:off x="1097280" y="3448873"/>
            <a:ext cx="10543032" cy="318455"/>
          </a:xfrm>
          <a:prstGeom prst="rect">
            <a:avLst/>
          </a:prstGeom>
          <a:noFill/>
          <a:ln/>
        </p:spPr>
        <p:txBody>
          <a:bodyPr wrap="square" lIns="0" tIns="0" rIns="0" bIns="0" rtlCol="0" anchor="ctr"/>
          <a:lstStyle/>
          <a:p>
            <a:pPr indent="0" marL="0">
              <a:buNone/>
            </a:pPr>
            <a:r>
              <a:rPr lang="en-US" sz="1900" b="1" dirty="0">
                <a:solidFill>
                  <a:schemeClr val="accent3"/>
                </a:solidFill>
              </a:rPr>
              <a:t>→ How long did the water run?</a:t>
            </a:r>
            <a:endParaRPr lang="en-US" sz="1900" dirty="0"/>
          </a:p>
        </p:txBody>
      </p:sp>
      <p:sp>
        <p:nvSpPr>
          <p:cNvPr id="22" name="Text 19"/>
          <p:cNvSpPr/>
          <p:nvPr/>
        </p:nvSpPr>
        <p:spPr>
          <a:xfrm>
            <a:off x="548640" y="3950208"/>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3" name="Text 20"/>
          <p:cNvSpPr/>
          <p:nvPr/>
        </p:nvSpPr>
        <p:spPr>
          <a:xfrm>
            <a:off x="1097280" y="3931920"/>
            <a:ext cx="127101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at 02:16</a:t>
            </a:r>
            <a:endParaRPr lang="en-US" sz="1600" dirty="0"/>
          </a:p>
        </p:txBody>
      </p:sp>
      <p:sp>
        <p:nvSpPr>
          <p:cNvPr id="24" name="Text 21"/>
          <p:cNvSpPr/>
          <p:nvPr/>
        </p:nvSpPr>
        <p:spPr>
          <a:xfrm>
            <a:off x="2478024" y="3931920"/>
            <a:ext cx="127101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happened</a:t>
            </a:r>
            <a:endParaRPr lang="en-US" sz="1600" dirty="0"/>
          </a:p>
        </p:txBody>
      </p:sp>
      <p:sp>
        <p:nvSpPr>
          <p:cNvPr id="25" name="Text 22"/>
          <p:cNvSpPr/>
          <p:nvPr/>
        </p:nvSpPr>
        <p:spPr>
          <a:xfrm>
            <a:off x="3858768" y="3931920"/>
            <a:ext cx="795528"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What</a:t>
            </a:r>
            <a:endParaRPr lang="en-US" sz="1600" dirty="0"/>
          </a:p>
        </p:txBody>
      </p:sp>
      <p:sp>
        <p:nvSpPr>
          <p:cNvPr id="26" name="Text 23"/>
          <p:cNvSpPr/>
          <p:nvPr/>
        </p:nvSpPr>
        <p:spPr>
          <a:xfrm>
            <a:off x="4764024" y="3931920"/>
            <a:ext cx="502920"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7" name="Text 24"/>
          <p:cNvSpPr txBox="1"/>
          <p:nvPr/>
        </p:nvSpPr>
        <p:spPr>
          <a:xfrm>
            <a:off x="1097280" y="4296217"/>
            <a:ext cx="10543032" cy="318455"/>
          </a:xfrm>
          <a:prstGeom prst="rect">
            <a:avLst/>
          </a:prstGeom>
          <a:noFill/>
          <a:ln/>
        </p:spPr>
        <p:txBody>
          <a:bodyPr wrap="square" lIns="0" tIns="0" rIns="0" bIns="0" rtlCol="0" anchor="ctr"/>
          <a:lstStyle/>
          <a:p>
            <a:pPr indent="0" marL="0">
              <a:buNone/>
            </a:pPr>
            <a:r>
              <a:rPr lang="en-US" sz="1900" b="1" dirty="0">
                <a:solidFill>
                  <a:schemeClr val="accent3"/>
                </a:solidFill>
              </a:rPr>
              <a:t>→ What happened at 02:16?</a:t>
            </a:r>
            <a:endParaRPr lang="en-US" sz="1900" dirty="0"/>
          </a:p>
        </p:txBody>
      </p:sp>
      <p:sp>
        <p:nvSpPr>
          <p:cNvPr id="28" name="Text 25"/>
          <p:cNvSpPr/>
          <p:nvPr/>
        </p:nvSpPr>
        <p:spPr>
          <a:xfrm>
            <a:off x="548640" y="4797552"/>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9" name="Text 26"/>
          <p:cNvSpPr/>
          <p:nvPr/>
        </p:nvSpPr>
        <p:spPr>
          <a:xfrm>
            <a:off x="1097280" y="4779264"/>
            <a:ext cx="795528"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Iris</a:t>
            </a:r>
            <a:endParaRPr lang="en-US" sz="1600" dirty="0"/>
          </a:p>
        </p:txBody>
      </p:sp>
      <p:sp>
        <p:nvSpPr>
          <p:cNvPr id="30" name="Text 27"/>
          <p:cNvSpPr/>
          <p:nvPr/>
        </p:nvSpPr>
        <p:spPr>
          <a:xfrm>
            <a:off x="2002536" y="4779264"/>
            <a:ext cx="795528"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take</a:t>
            </a:r>
            <a:endParaRPr lang="en-US" sz="1600" dirty="0"/>
          </a:p>
        </p:txBody>
      </p:sp>
      <p:sp>
        <p:nvSpPr>
          <p:cNvPr id="31" name="Text 28"/>
          <p:cNvSpPr/>
          <p:nvPr/>
        </p:nvSpPr>
        <p:spPr>
          <a:xfrm>
            <a:off x="2907792" y="4779264"/>
            <a:ext cx="67665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did</a:t>
            </a:r>
            <a:endParaRPr lang="en-US" sz="1600" dirty="0"/>
          </a:p>
        </p:txBody>
      </p:sp>
      <p:sp>
        <p:nvSpPr>
          <p:cNvPr id="32" name="Text 29"/>
          <p:cNvSpPr/>
          <p:nvPr/>
        </p:nvSpPr>
        <p:spPr>
          <a:xfrm>
            <a:off x="3694176" y="4779264"/>
            <a:ext cx="795528"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What</a:t>
            </a:r>
            <a:endParaRPr lang="en-US" sz="1600" dirty="0"/>
          </a:p>
        </p:txBody>
      </p:sp>
      <p:sp>
        <p:nvSpPr>
          <p:cNvPr id="33" name="Text 30"/>
          <p:cNvSpPr/>
          <p:nvPr/>
        </p:nvSpPr>
        <p:spPr>
          <a:xfrm>
            <a:off x="4599432" y="4779264"/>
            <a:ext cx="502920"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34" name="Text 31"/>
          <p:cNvSpPr txBox="1"/>
          <p:nvPr/>
        </p:nvSpPr>
        <p:spPr>
          <a:xfrm>
            <a:off x="1097280" y="5143561"/>
            <a:ext cx="10543032" cy="318455"/>
          </a:xfrm>
          <a:prstGeom prst="rect">
            <a:avLst/>
          </a:prstGeom>
          <a:noFill/>
          <a:ln/>
        </p:spPr>
        <p:txBody>
          <a:bodyPr wrap="square" lIns="0" tIns="0" rIns="0" bIns="0" rtlCol="0" anchor="ctr"/>
          <a:lstStyle/>
          <a:p>
            <a:pPr indent="0" marL="0">
              <a:buNone/>
            </a:pPr>
            <a:r>
              <a:rPr lang="en-US" sz="1900" b="1" dirty="0">
                <a:solidFill>
                  <a:schemeClr val="accent3"/>
                </a:solidFill>
              </a:rPr>
              <a:t>→ What did Iris take? — photos of the ceiling</a:t>
            </a:r>
            <a:endParaRPr lang="en-US" sz="1900" dirty="0"/>
          </a:p>
        </p:txBody>
      </p:sp>
      <p:sp>
        <p:nvSpPr>
          <p:cNvPr id="35" name="Text 32"/>
          <p:cNvSpPr/>
          <p:nvPr/>
        </p:nvSpPr>
        <p:spPr>
          <a:xfrm>
            <a:off x="548640" y="5644896"/>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6" name="Text 33"/>
          <p:cNvSpPr/>
          <p:nvPr/>
        </p:nvSpPr>
        <p:spPr>
          <a:xfrm>
            <a:off x="1097280" y="5626608"/>
            <a:ext cx="795528"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call</a:t>
            </a:r>
            <a:endParaRPr lang="en-US" sz="1600" dirty="0"/>
          </a:p>
        </p:txBody>
      </p:sp>
      <p:sp>
        <p:nvSpPr>
          <p:cNvPr id="37" name="Text 34"/>
          <p:cNvSpPr/>
          <p:nvPr/>
        </p:nvSpPr>
        <p:spPr>
          <a:xfrm>
            <a:off x="2002536" y="5626608"/>
            <a:ext cx="67665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did</a:t>
            </a:r>
            <a:endParaRPr lang="en-US" sz="1600" dirty="0"/>
          </a:p>
        </p:txBody>
      </p:sp>
      <p:sp>
        <p:nvSpPr>
          <p:cNvPr id="38" name="Text 35"/>
          <p:cNvSpPr/>
          <p:nvPr/>
        </p:nvSpPr>
        <p:spPr>
          <a:xfrm>
            <a:off x="2788920" y="5626608"/>
            <a:ext cx="795528"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Mark</a:t>
            </a:r>
            <a:endParaRPr lang="en-US" sz="1600" dirty="0"/>
          </a:p>
        </p:txBody>
      </p:sp>
      <p:sp>
        <p:nvSpPr>
          <p:cNvPr id="39" name="Text 36"/>
          <p:cNvSpPr/>
          <p:nvPr/>
        </p:nvSpPr>
        <p:spPr>
          <a:xfrm>
            <a:off x="3694176" y="5626608"/>
            <a:ext cx="676656"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Who</a:t>
            </a:r>
            <a:endParaRPr lang="en-US" sz="1600" dirty="0"/>
          </a:p>
        </p:txBody>
      </p:sp>
      <p:sp>
        <p:nvSpPr>
          <p:cNvPr id="40" name="Text 37"/>
          <p:cNvSpPr/>
          <p:nvPr/>
        </p:nvSpPr>
        <p:spPr>
          <a:xfrm>
            <a:off x="4480560" y="5626608"/>
            <a:ext cx="1152144"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at 6.58</a:t>
            </a:r>
            <a:endParaRPr lang="en-US" sz="1600" dirty="0"/>
          </a:p>
        </p:txBody>
      </p:sp>
      <p:sp>
        <p:nvSpPr>
          <p:cNvPr id="41" name="Text 38"/>
          <p:cNvSpPr/>
          <p:nvPr/>
        </p:nvSpPr>
        <p:spPr>
          <a:xfrm>
            <a:off x="5742432" y="5626608"/>
            <a:ext cx="502920" cy="327721"/>
          </a:xfrm>
          <a:prstGeom prst="roundRect">
            <a:avLst>
              <a:gd name="adj" fmla="val 50223"/>
            </a:avLst>
          </a:prstGeom>
          <a:solidFill>
            <a:srgbClr val="F1F3F7"/>
          </a:solidFill>
          <a:ln w="12700">
            <a:solidFill>
              <a:srgbClr val="D5DCE6"/>
            </a:solid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42" name="Text 39"/>
          <p:cNvSpPr txBox="1"/>
          <p:nvPr/>
        </p:nvSpPr>
        <p:spPr>
          <a:xfrm>
            <a:off x="1097280" y="5990905"/>
            <a:ext cx="10543032" cy="318455"/>
          </a:xfrm>
          <a:prstGeom prst="rect">
            <a:avLst/>
          </a:prstGeom>
          <a:noFill/>
          <a:ln/>
        </p:spPr>
        <p:txBody>
          <a:bodyPr wrap="square" lIns="0" tIns="0" rIns="0" bIns="0" rtlCol="0" anchor="ctr"/>
          <a:lstStyle/>
          <a:p>
            <a:pPr indent="0" marL="0">
              <a:buNone/>
            </a:pPr>
            <a:r>
              <a:rPr lang="en-US" sz="1900" b="1" dirty="0">
                <a:solidFill>
                  <a:schemeClr val="accent3"/>
                </a:solidFill>
              </a:rPr>
              <a:t>→ Who did Mark call at 6.58? — you!</a:t>
            </a:r>
            <a:endParaRPr lang="en-US" sz="19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Ask the building manager — and fix the forms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14</a:t>
            </a:r>
            <a:endParaRPr lang="en-US" sz="1200" dirty="0"/>
          </a:p>
        </p:txBody>
      </p:sp>
      <p:sp>
        <p:nvSpPr>
          <p:cNvPr id="5" name="exercise"/>
          <p:cNvSpPr txBox="1"/>
          <p:nvPr/>
        </p:nvSpPr>
        <p:spPr>
          <a:xfrm>
            <a:off x="548640" y="1783080"/>
            <a:ext cx="11091672" cy="4526280"/>
          </a:xfrm>
          <a:prstGeom prst="rect">
            <a:avLst/>
          </a:prstGeom>
          <a:noFill/>
          <a:ln/>
        </p:spPr>
        <p:txBody>
          <a:bodyPr wrap="square" lIns="0" tIns="0" rIns="0" bIns="0" rtlCol="0" anchor="t"/>
          <a:lstStyle/>
          <a:p>
            <a:pPr indent="0" marL="0">
              <a:spcAft>
                <a:spcPts val="600"/>
              </a:spcAft>
              <a:buNone/>
            </a:pPr>
            <a:r>
              <a:rPr lang="en-US" sz="2400" b="1" dirty="0">
                <a:solidFill>
                  <a:schemeClr val="tx2"/>
                </a:solidFill>
              </a:rPr>
              <a:t>B · Write the question you would ask the building manager.</a:t>
            </a:r>
            <a:endParaRPr lang="en-US" sz="2400" dirty="0"/>
          </a:p>
          <a:p>
            <a:pPr indent="0" marL="0">
              <a:spcAft>
                <a:spcPts val="1400"/>
              </a:spcAft>
              <a:buNone/>
            </a:pPr>
            <a:r>
              <a:rPr lang="en-US" sz="2400" dirty="0">
                <a:solidFill>
                  <a:schemeClr val="tx1"/>
                </a:solidFill>
              </a:rPr>
              <a:t>(who / enter / 20.04) → </a:t>
            </a:r>
            <a:r>
              <a:rPr lang="en-US" sz="2400" dirty="0">
                <a:solidFill>
                  <a:schemeClr val="accent5"/>
                </a:solidFill>
              </a:rPr>
              <a:t>…………………………………………</a:t>
            </a:r>
            <a:endParaRPr lang="en-US" sz="2400" dirty="0"/>
          </a:p>
          <a:p>
            <a:pPr indent="0" marL="0">
              <a:spcAft>
                <a:spcPts val="1400"/>
              </a:spcAft>
              <a:buNone/>
            </a:pPr>
            <a:r>
              <a:rPr lang="en-US" sz="2400" dirty="0">
                <a:solidFill>
                  <a:schemeClr val="tx1"/>
                </a:solidFill>
              </a:rPr>
              <a:t>(how long / the water / run) → </a:t>
            </a:r>
            <a:r>
              <a:rPr lang="en-US" sz="2400" dirty="0">
                <a:solidFill>
                  <a:schemeClr val="accent5"/>
                </a:solidFill>
              </a:rPr>
              <a:t>…………………………………………</a:t>
            </a:r>
            <a:endParaRPr lang="en-US" sz="2400" dirty="0"/>
          </a:p>
          <a:p>
            <a:pPr indent="0" marL="0">
              <a:spcBef>
                <a:spcPts val="1000"/>
              </a:spcBef>
              <a:spcAft>
                <a:spcPts val="600"/>
              </a:spcAft>
              <a:buNone/>
            </a:pPr>
            <a:r>
              <a:rPr lang="en-US" sz="2400" b="1" dirty="0">
                <a:solidFill>
                  <a:schemeClr val="tx2"/>
                </a:solidFill>
              </a:rPr>
              <a:t>C · One word is wrong in each sentence. Correct it.</a:t>
            </a:r>
            <a:endParaRPr lang="en-US" sz="2400" dirty="0"/>
          </a:p>
          <a:p>
            <a:pPr indent="0" marL="0">
              <a:spcAft>
                <a:spcPts val="1400"/>
              </a:spcAft>
              <a:buNone/>
            </a:pPr>
            <a:r>
              <a:rPr lang="en-US" sz="2400" dirty="0">
                <a:solidFill>
                  <a:schemeClr val="tx1"/>
                </a:solidFill>
              </a:rPr>
              <a:t>The alarm </a:t>
            </a:r>
            <a:r>
              <a:rPr lang="en-US" sz="2400" dirty="0">
                <a:solidFill>
                  <a:schemeClr val="tx1"/>
                </a:solidFill>
              </a:rPr>
              <a:t>was going off</a:t>
            </a:r>
            <a:r>
              <a:rPr lang="en-US" sz="2400" dirty="0">
                <a:solidFill>
                  <a:schemeClr val="tx1"/>
                </a:solidFill>
              </a:rPr>
              <a:t> at 23.41 exactly.</a:t>
            </a:r>
            <a:endParaRPr lang="en-US" sz="2400" dirty="0"/>
          </a:p>
          <a:p>
            <a:pPr indent="0" marL="0">
              <a:spcAft>
                <a:spcPts val="1400"/>
              </a:spcAft>
              <a:buNone/>
            </a:pPr>
            <a:r>
              <a:rPr lang="en-US" sz="2400" dirty="0">
                <a:solidFill>
                  <a:schemeClr val="tx1"/>
                </a:solidFill>
              </a:rPr>
              <a:t>Nobody </a:t>
            </a:r>
            <a:r>
              <a:rPr lang="en-US" sz="2400" dirty="0">
                <a:solidFill>
                  <a:schemeClr val="tx1"/>
                </a:solidFill>
              </a:rPr>
              <a:t>did heard</a:t>
            </a:r>
            <a:r>
              <a:rPr lang="en-US" sz="2400" dirty="0">
                <a:solidFill>
                  <a:schemeClr val="tx1"/>
                </a:solidFill>
              </a:rPr>
              <a:t> the notification.</a:t>
            </a:r>
            <a:endParaRPr lang="en-US" sz="2400" dirty="0"/>
          </a:p>
          <a:p>
            <a:pPr indent="0" marL="0">
              <a:spcAft>
                <a:spcPts val="1400"/>
              </a:spcAft>
              <a:buNone/>
            </a:pPr>
            <a:r>
              <a:rPr lang="en-US" sz="2400" dirty="0">
                <a:solidFill>
                  <a:schemeClr val="tx1"/>
                </a:solidFill>
              </a:rPr>
              <a:t>The team </a:t>
            </a:r>
            <a:r>
              <a:rPr lang="en-US" sz="2400" dirty="0">
                <a:solidFill>
                  <a:schemeClr val="tx1"/>
                </a:solidFill>
              </a:rPr>
              <a:t>was leave</a:t>
            </a:r>
            <a:r>
              <a:rPr lang="en-US" sz="2400" dirty="0">
                <a:solidFill>
                  <a:schemeClr val="tx1"/>
                </a:solidFill>
              </a:rPr>
              <a:t> at 19.58.</a:t>
            </a:r>
            <a:endParaRPr lang="en-US" sz="2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Ask the building manager — and fix the forms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14</a:t>
            </a:r>
            <a:endParaRPr lang="en-US" sz="1200" dirty="0"/>
          </a:p>
        </p:txBody>
      </p:sp>
      <p:sp>
        <p:nvSpPr>
          <p:cNvPr id="6" name="exercise"/>
          <p:cNvSpPr txBox="1"/>
          <p:nvPr/>
        </p:nvSpPr>
        <p:spPr>
          <a:xfrm>
            <a:off x="548640" y="1783080"/>
            <a:ext cx="11091672" cy="3523488"/>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B · Write the question you would ask the building manager.</a:t>
            </a:r>
            <a:endParaRPr lang="en-US" sz="2200" dirty="0"/>
          </a:p>
          <a:p>
            <a:pPr indent="0" marL="0">
              <a:spcAft>
                <a:spcPts val="1000"/>
              </a:spcAft>
              <a:buNone/>
            </a:pPr>
            <a:r>
              <a:rPr lang="en-US" sz="2200" dirty="0">
                <a:solidFill>
                  <a:schemeClr val="tx1"/>
                </a:solidFill>
              </a:rPr>
              <a:t>(who / enter / 20.04) → </a:t>
            </a:r>
            <a:r>
              <a:rPr lang="en-US" sz="2200" b="1" dirty="0">
                <a:solidFill>
                  <a:schemeClr val="accent3"/>
                </a:solidFill>
              </a:rPr>
              <a:t>Who entered zone 2F at 20.04?</a:t>
            </a:r>
            <a:endParaRPr lang="en-US" sz="2200" dirty="0"/>
          </a:p>
          <a:p>
            <a:pPr indent="0" marL="0">
              <a:spcAft>
                <a:spcPts val="1000"/>
              </a:spcAft>
              <a:buNone/>
            </a:pPr>
            <a:r>
              <a:rPr lang="en-US" sz="2200" dirty="0">
                <a:solidFill>
                  <a:schemeClr val="tx1"/>
                </a:solidFill>
              </a:rPr>
              <a:t>(how long / the water / run) → </a:t>
            </a:r>
            <a:r>
              <a:rPr lang="en-US" sz="2200" b="1" dirty="0">
                <a:solidFill>
                  <a:schemeClr val="accent3"/>
                </a:solidFill>
              </a:rPr>
              <a:t>How long did the water run?</a:t>
            </a:r>
            <a:endParaRPr lang="en-US" sz="2200" dirty="0"/>
          </a:p>
          <a:p>
            <a:pPr indent="0" marL="0">
              <a:spcBef>
                <a:spcPts val="1000"/>
              </a:spcBef>
              <a:spcAft>
                <a:spcPts val="600"/>
              </a:spcAft>
              <a:buNone/>
            </a:pPr>
            <a:r>
              <a:rPr lang="en-US" sz="2200" b="1" dirty="0">
                <a:solidFill>
                  <a:schemeClr val="tx2"/>
                </a:solidFill>
              </a:rPr>
              <a:t>C · One word is wrong in each sentence. Correct it.</a:t>
            </a:r>
            <a:endParaRPr lang="en-US" sz="2200" dirty="0"/>
          </a:p>
          <a:p>
            <a:pPr indent="0" marL="0">
              <a:spcAft>
                <a:spcPts val="1000"/>
              </a:spcAft>
              <a:buNone/>
            </a:pPr>
            <a:r>
              <a:rPr lang="en-US" sz="2200" dirty="0">
                <a:solidFill>
                  <a:schemeClr val="tx1"/>
                </a:solidFill>
              </a:rPr>
              <a:t>The alarm </a:t>
            </a:r>
            <a:r>
              <a:rPr lang="en-US" sz="2200" strike="sngStrike" dirty="0">
                <a:solidFill>
                  <a:schemeClr val="accent6"/>
                </a:solidFill>
              </a:rPr>
              <a:t>was going off</a:t>
            </a:r>
            <a:r>
              <a:rPr lang="en-US" sz="2200" b="1" dirty="0">
                <a:solidFill>
                  <a:schemeClr val="accent3"/>
                </a:solidFill>
              </a:rPr>
              <a:t> went off</a:t>
            </a:r>
            <a:r>
              <a:rPr lang="en-US" sz="2200" dirty="0">
                <a:solidFill>
                  <a:schemeClr val="tx1"/>
                </a:solidFill>
              </a:rPr>
              <a:t> at 23.41 exactly.</a:t>
            </a:r>
            <a:endParaRPr lang="en-US" sz="2200" dirty="0"/>
          </a:p>
          <a:p>
            <a:pPr indent="0" marL="0">
              <a:spcAft>
                <a:spcPts val="1000"/>
              </a:spcAft>
              <a:buNone/>
            </a:pPr>
            <a:r>
              <a:rPr lang="en-US" sz="2200" dirty="0">
                <a:solidFill>
                  <a:schemeClr val="tx1"/>
                </a:solidFill>
              </a:rPr>
              <a:t>Nobody </a:t>
            </a:r>
            <a:r>
              <a:rPr lang="en-US" sz="2200" strike="sngStrike" dirty="0">
                <a:solidFill>
                  <a:schemeClr val="accent6"/>
                </a:solidFill>
              </a:rPr>
              <a:t>did heard</a:t>
            </a:r>
            <a:r>
              <a:rPr lang="en-US" sz="2200" b="1" dirty="0">
                <a:solidFill>
                  <a:schemeClr val="accent3"/>
                </a:solidFill>
              </a:rPr>
              <a:t> heard</a:t>
            </a:r>
            <a:r>
              <a:rPr lang="en-US" sz="2200" dirty="0">
                <a:solidFill>
                  <a:schemeClr val="tx1"/>
                </a:solidFill>
              </a:rPr>
              <a:t> the notification.</a:t>
            </a:r>
            <a:endParaRPr lang="en-US" sz="2200" dirty="0"/>
          </a:p>
          <a:p>
            <a:pPr indent="0" marL="0">
              <a:spcAft>
                <a:spcPts val="1000"/>
              </a:spcAft>
              <a:buNone/>
            </a:pPr>
            <a:r>
              <a:rPr lang="en-US" sz="2200" dirty="0">
                <a:solidFill>
                  <a:schemeClr val="tx1"/>
                </a:solidFill>
              </a:rPr>
              <a:t>The team </a:t>
            </a:r>
            <a:r>
              <a:rPr lang="en-US" sz="2200" strike="sngStrike" dirty="0">
                <a:solidFill>
                  <a:schemeClr val="accent6"/>
                </a:solidFill>
              </a:rPr>
              <a:t>was leave</a:t>
            </a:r>
            <a:r>
              <a:rPr lang="en-US" sz="2200" b="1" dirty="0">
                <a:solidFill>
                  <a:schemeClr val="accent3"/>
                </a:solidFill>
              </a:rPr>
              <a:t> left</a:t>
            </a:r>
            <a:r>
              <a:rPr lang="en-US" sz="2200" dirty="0">
                <a:solidFill>
                  <a:schemeClr val="tx1"/>
                </a:solidFill>
              </a:rPr>
              <a:t> at 19.58.</a:t>
            </a:r>
            <a:endParaRPr lang="en-US" sz="2200" dirty="0"/>
          </a:p>
        </p:txBody>
      </p:sp>
      <p:sp>
        <p:nvSpPr>
          <p:cNvPr id="7" name="Shape 5"/>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9" name="Text 6"/>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1"/>
                </a:solidFill>
              </a:rPr>
              <a:t>Watch out — </a:t>
            </a:r>
            <a:r>
              <a:rPr lang="en-US" sz="1800" dirty="0">
                <a:solidFill>
                  <a:schemeClr val="tx1"/>
                </a:solidFill>
              </a:rPr>
              <a:t>B1: the answer is the subject → </a:t>
            </a:r>
            <a:r>
              <a:rPr lang="en-US" sz="1800" b="1" dirty="0">
                <a:solidFill>
                  <a:schemeClr val="tx1"/>
                </a:solidFill>
              </a:rPr>
              <a:t>no did</a:t>
            </a:r>
            <a:r>
              <a:rPr lang="en-US" sz="1800" dirty="0">
                <a:solidFill>
                  <a:schemeClr val="tx1"/>
                </a:solidFill>
              </a:rPr>
              <a:t> · C2: </a:t>
            </a:r>
            <a:r>
              <a:rPr lang="en-US" sz="1800" i="1" dirty="0">
                <a:solidFill>
                  <a:schemeClr val="tx1"/>
                </a:solidFill>
              </a:rPr>
              <a:t>did</a:t>
            </a:r>
            <a:r>
              <a:rPr lang="en-US" sz="1800" dirty="0">
                <a:solidFill>
                  <a:schemeClr val="tx1"/>
                </a:solidFill>
              </a:rPr>
              <a:t> + past form = a double past. Emphatic </a:t>
            </a:r>
            <a:r>
              <a:rPr lang="en-US" sz="1800" i="1" dirty="0">
                <a:solidFill>
                  <a:schemeClr val="tx1"/>
                </a:solidFill>
              </a:rPr>
              <a:t>did hear</a:t>
            </a:r>
            <a:r>
              <a:rPr lang="en-US" sz="1800" dirty="0">
                <a:solidFill>
                  <a:schemeClr val="tx1"/>
                </a:solidFill>
              </a:rPr>
              <a:t> exists, but not in a report.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Case File Jeopardy</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Your teacher reads the </a:t>
            </a:r>
            <a:r>
              <a:rPr lang="en-US" sz="1600" b="1" i="1" dirty="0">
                <a:solidFill>
                  <a:schemeClr val="accent5"/>
                </a:solidFill>
              </a:rPr>
              <a:t>answer</a:t>
            </a:r>
            <a:r>
              <a:rPr lang="en-US" sz="1600" i="1" dirty="0">
                <a:solidFill>
                  <a:schemeClr val="accent5"/>
                </a:solidFill>
              </a:rPr>
              <a:t>. Your team gives the </a:t>
            </a:r>
            <a:r>
              <a:rPr lang="en-US" sz="1600" b="1" i="1" dirty="0">
                <a:solidFill>
                  <a:schemeClr val="accent5"/>
                </a:solidFill>
              </a:rPr>
              <a:t>question</a:t>
            </a:r>
            <a:r>
              <a:rPr lang="en-US" sz="1600" i="1" dirty="0">
                <a:solidFill>
                  <a:schemeClr val="accent5"/>
                </a:solidFill>
              </a:rPr>
              <a:t> — in the right form.</a:t>
            </a:r>
            <a:endParaRPr lang="en-US" sz="1600" dirty="0"/>
          </a:p>
        </p:txBody>
      </p:sp>
      <p:sp>
        <p:nvSpPr>
          <p:cNvPr id="7" name="Text 4"/>
          <p:cNvSpPr/>
          <p:nvPr/>
        </p:nvSpPr>
        <p:spPr>
          <a:xfrm>
            <a:off x="548640" y="2237232"/>
            <a:ext cx="2622042" cy="566928"/>
          </a:xfrm>
          <a:prstGeom prst="roundRect">
            <a:avLst>
              <a:gd name="adj" fmla="val 12903"/>
            </a:avLst>
          </a:prstGeom>
          <a:solidFill>
            <a:srgbClr val="6E4A9E"/>
          </a:solid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WHO?</a:t>
            </a:r>
            <a:endParaRPr lang="en-US" sz="2000" dirty="0"/>
          </a:p>
        </p:txBody>
      </p:sp>
      <p:sp>
        <p:nvSpPr>
          <p:cNvPr id="8" name="Text 5"/>
          <p:cNvSpPr/>
          <p:nvPr/>
        </p:nvSpPr>
        <p:spPr>
          <a:xfrm>
            <a:off x="548640" y="2968752"/>
            <a:ext cx="2622042" cy="645160"/>
          </a:xfrm>
          <a:prstGeom prst="roundRect">
            <a:avLst>
              <a:gd name="adj" fmla="val 11339"/>
            </a:avLst>
          </a:prstGeom>
          <a:solidFill>
            <a:srgbClr val="6E4A9E">
              <a:alpha val="12000"/>
            </a:srgbClr>
          </a:solidFill>
          <a:ln w="15875">
            <a:solidFill>
              <a:srgbClr val="6E4A9E"/>
            </a:solidFill>
          </a:ln>
        </p:spPr>
        <p:txBody>
          <a:bodyPr wrap="square" lIns="0" tIns="0" rIns="0" bIns="0" rtlCol="0" anchor="ctr"/>
          <a:lstStyle/>
          <a:p>
            <a:pPr algn="ctr" indent="0" marL="0">
              <a:buNone/>
            </a:pPr>
            <a:r>
              <a:rPr lang="en-US" sz="3000" b="1" dirty="0">
                <a:solidFill>
                  <a:srgbClr val="6E4A9E"/>
                </a:solidFill>
                <a:latin typeface="+mj-lt" pitchFamily="34" charset="0"/>
                <a:ea typeface="+mj-lt" pitchFamily="34" charset="-122"/>
                <a:cs typeface="+mj-lt" pitchFamily="34" charset="-120"/>
              </a:rPr>
              <a:t>100</a:t>
            </a:r>
            <a:endParaRPr lang="en-US" sz="3000" dirty="0"/>
          </a:p>
        </p:txBody>
      </p:sp>
      <p:sp>
        <p:nvSpPr>
          <p:cNvPr id="9" name="Text 6"/>
          <p:cNvSpPr/>
          <p:nvPr/>
        </p:nvSpPr>
        <p:spPr>
          <a:xfrm>
            <a:off x="548640" y="3815080"/>
            <a:ext cx="2622042" cy="645160"/>
          </a:xfrm>
          <a:prstGeom prst="roundRect">
            <a:avLst>
              <a:gd name="adj" fmla="val 11339"/>
            </a:avLst>
          </a:prstGeom>
          <a:solidFill>
            <a:srgbClr val="6E4A9E">
              <a:alpha val="12000"/>
            </a:srgbClr>
          </a:solidFill>
          <a:ln w="15875">
            <a:solidFill>
              <a:srgbClr val="6E4A9E"/>
            </a:solidFill>
          </a:ln>
        </p:spPr>
        <p:txBody>
          <a:bodyPr wrap="square" lIns="0" tIns="0" rIns="0" bIns="0" rtlCol="0" anchor="ctr"/>
          <a:lstStyle/>
          <a:p>
            <a:pPr algn="ctr" indent="0" marL="0">
              <a:buNone/>
            </a:pPr>
            <a:r>
              <a:rPr lang="en-US" sz="3000" b="1" dirty="0">
                <a:solidFill>
                  <a:srgbClr val="6E4A9E"/>
                </a:solidFill>
                <a:latin typeface="+mj-lt" pitchFamily="34" charset="0"/>
                <a:ea typeface="+mj-lt" pitchFamily="34" charset="-122"/>
                <a:cs typeface="+mj-lt" pitchFamily="34" charset="-120"/>
              </a:rPr>
              <a:t>200</a:t>
            </a:r>
            <a:endParaRPr lang="en-US" sz="3000" dirty="0"/>
          </a:p>
        </p:txBody>
      </p:sp>
      <p:sp>
        <p:nvSpPr>
          <p:cNvPr id="10" name="Text 7"/>
          <p:cNvSpPr/>
          <p:nvPr/>
        </p:nvSpPr>
        <p:spPr>
          <a:xfrm>
            <a:off x="548640" y="4661408"/>
            <a:ext cx="2622042" cy="645160"/>
          </a:xfrm>
          <a:prstGeom prst="roundRect">
            <a:avLst>
              <a:gd name="adj" fmla="val 11339"/>
            </a:avLst>
          </a:prstGeom>
          <a:solidFill>
            <a:srgbClr val="6E4A9E">
              <a:alpha val="12000"/>
            </a:srgbClr>
          </a:solidFill>
          <a:ln w="15875">
            <a:solidFill>
              <a:srgbClr val="6E4A9E"/>
            </a:solidFill>
          </a:ln>
        </p:spPr>
        <p:txBody>
          <a:bodyPr wrap="square" lIns="0" tIns="0" rIns="0" bIns="0" rtlCol="0" anchor="ctr"/>
          <a:lstStyle/>
          <a:p>
            <a:pPr algn="ctr" indent="0" marL="0">
              <a:buNone/>
            </a:pPr>
            <a:r>
              <a:rPr lang="en-US" sz="3000" b="1" dirty="0">
                <a:solidFill>
                  <a:srgbClr val="6E4A9E"/>
                </a:solidFill>
                <a:latin typeface="+mj-lt" pitchFamily="34" charset="0"/>
                <a:ea typeface="+mj-lt" pitchFamily="34" charset="-122"/>
                <a:cs typeface="+mj-lt" pitchFamily="34" charset="-120"/>
              </a:rPr>
              <a:t>300</a:t>
            </a:r>
            <a:endParaRPr lang="en-US" sz="3000" dirty="0"/>
          </a:p>
        </p:txBody>
      </p:sp>
      <p:sp>
        <p:nvSpPr>
          <p:cNvPr id="11" name="Text 8"/>
          <p:cNvSpPr/>
          <p:nvPr/>
        </p:nvSpPr>
        <p:spPr>
          <a:xfrm>
            <a:off x="3371850" y="2237232"/>
            <a:ext cx="2622042" cy="566928"/>
          </a:xfrm>
          <a:prstGeom prst="roundRect">
            <a:avLst>
              <a:gd name="adj" fmla="val 12903"/>
            </a:avLst>
          </a:prstGeom>
          <a:solidFill>
            <a:srgbClr val="2E75B6"/>
          </a:solid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WHAT?</a:t>
            </a:r>
            <a:endParaRPr lang="en-US" sz="2000" dirty="0"/>
          </a:p>
        </p:txBody>
      </p:sp>
      <p:sp>
        <p:nvSpPr>
          <p:cNvPr id="12" name="Text 9"/>
          <p:cNvSpPr/>
          <p:nvPr/>
        </p:nvSpPr>
        <p:spPr>
          <a:xfrm>
            <a:off x="3371850" y="2968752"/>
            <a:ext cx="2622042" cy="645160"/>
          </a:xfrm>
          <a:prstGeom prst="roundRect">
            <a:avLst>
              <a:gd name="adj" fmla="val 11339"/>
            </a:avLst>
          </a:prstGeom>
          <a:solidFill>
            <a:srgbClr val="2E75B6">
              <a:alpha val="12000"/>
            </a:srgbClr>
          </a:solidFill>
          <a:ln w="15875">
            <a:solidFill>
              <a:srgbClr val="2E75B6"/>
            </a:solidFill>
          </a:ln>
        </p:spPr>
        <p:txBody>
          <a:bodyPr wrap="square" lIns="0" tIns="0" rIns="0" bIns="0" rtlCol="0" anchor="ctr"/>
          <a:lstStyle/>
          <a:p>
            <a:pPr algn="ctr" indent="0" marL="0">
              <a:buNone/>
            </a:pPr>
            <a:r>
              <a:rPr lang="en-US" sz="3000" b="1" dirty="0">
                <a:solidFill>
                  <a:srgbClr val="2E75B6"/>
                </a:solidFill>
                <a:latin typeface="+mj-lt" pitchFamily="34" charset="0"/>
                <a:ea typeface="+mj-lt" pitchFamily="34" charset="-122"/>
                <a:cs typeface="+mj-lt" pitchFamily="34" charset="-120"/>
              </a:rPr>
              <a:t>100</a:t>
            </a:r>
            <a:endParaRPr lang="en-US" sz="3000" dirty="0"/>
          </a:p>
        </p:txBody>
      </p:sp>
      <p:sp>
        <p:nvSpPr>
          <p:cNvPr id="13" name="Text 10"/>
          <p:cNvSpPr/>
          <p:nvPr/>
        </p:nvSpPr>
        <p:spPr>
          <a:xfrm>
            <a:off x="3371850" y="3815080"/>
            <a:ext cx="2622042" cy="645160"/>
          </a:xfrm>
          <a:prstGeom prst="roundRect">
            <a:avLst>
              <a:gd name="adj" fmla="val 11339"/>
            </a:avLst>
          </a:prstGeom>
          <a:solidFill>
            <a:srgbClr val="2E75B6">
              <a:alpha val="12000"/>
            </a:srgbClr>
          </a:solidFill>
          <a:ln w="15875">
            <a:solidFill>
              <a:srgbClr val="2E75B6"/>
            </a:solidFill>
          </a:ln>
        </p:spPr>
        <p:txBody>
          <a:bodyPr wrap="square" lIns="0" tIns="0" rIns="0" bIns="0" rtlCol="0" anchor="ctr"/>
          <a:lstStyle/>
          <a:p>
            <a:pPr algn="ctr" indent="0" marL="0">
              <a:buNone/>
            </a:pPr>
            <a:r>
              <a:rPr lang="en-US" sz="3000" b="1" dirty="0">
                <a:solidFill>
                  <a:srgbClr val="2E75B6"/>
                </a:solidFill>
                <a:latin typeface="+mj-lt" pitchFamily="34" charset="0"/>
                <a:ea typeface="+mj-lt" pitchFamily="34" charset="-122"/>
                <a:cs typeface="+mj-lt" pitchFamily="34" charset="-120"/>
              </a:rPr>
              <a:t>200</a:t>
            </a:r>
            <a:endParaRPr lang="en-US" sz="3000" dirty="0"/>
          </a:p>
        </p:txBody>
      </p:sp>
      <p:sp>
        <p:nvSpPr>
          <p:cNvPr id="14" name="Text 11"/>
          <p:cNvSpPr/>
          <p:nvPr/>
        </p:nvSpPr>
        <p:spPr>
          <a:xfrm>
            <a:off x="3371850" y="4661408"/>
            <a:ext cx="2622042" cy="645160"/>
          </a:xfrm>
          <a:prstGeom prst="roundRect">
            <a:avLst>
              <a:gd name="adj" fmla="val 11339"/>
            </a:avLst>
          </a:prstGeom>
          <a:solidFill>
            <a:srgbClr val="2E75B6">
              <a:alpha val="12000"/>
            </a:srgbClr>
          </a:solidFill>
          <a:ln w="15875">
            <a:solidFill>
              <a:srgbClr val="2E75B6"/>
            </a:solidFill>
          </a:ln>
        </p:spPr>
        <p:txBody>
          <a:bodyPr wrap="square" lIns="0" tIns="0" rIns="0" bIns="0" rtlCol="0" anchor="ctr"/>
          <a:lstStyle/>
          <a:p>
            <a:pPr algn="ctr" indent="0" marL="0">
              <a:buNone/>
            </a:pPr>
            <a:r>
              <a:rPr lang="en-US" sz="3000" b="1" dirty="0">
                <a:solidFill>
                  <a:srgbClr val="2E75B6"/>
                </a:solidFill>
                <a:latin typeface="+mj-lt" pitchFamily="34" charset="0"/>
                <a:ea typeface="+mj-lt" pitchFamily="34" charset="-122"/>
                <a:cs typeface="+mj-lt" pitchFamily="34" charset="-120"/>
              </a:rPr>
              <a:t>300</a:t>
            </a:r>
            <a:endParaRPr lang="en-US" sz="3000" dirty="0"/>
          </a:p>
        </p:txBody>
      </p:sp>
      <p:sp>
        <p:nvSpPr>
          <p:cNvPr id="15" name="Text 12"/>
          <p:cNvSpPr/>
          <p:nvPr/>
        </p:nvSpPr>
        <p:spPr>
          <a:xfrm>
            <a:off x="6195060" y="2237232"/>
            <a:ext cx="2622042" cy="566928"/>
          </a:xfrm>
          <a:prstGeom prst="roundRect">
            <a:avLst>
              <a:gd name="adj" fmla="val 12903"/>
            </a:avLst>
          </a:prstGeom>
          <a:solidFill>
            <a:srgbClr val="C0752A"/>
          </a:solid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WHEN?</a:t>
            </a:r>
            <a:endParaRPr lang="en-US" sz="2000" dirty="0"/>
          </a:p>
        </p:txBody>
      </p:sp>
      <p:sp>
        <p:nvSpPr>
          <p:cNvPr id="16" name="Text 13"/>
          <p:cNvSpPr/>
          <p:nvPr/>
        </p:nvSpPr>
        <p:spPr>
          <a:xfrm>
            <a:off x="6195060" y="2968752"/>
            <a:ext cx="2622042" cy="645160"/>
          </a:xfrm>
          <a:prstGeom prst="roundRect">
            <a:avLst>
              <a:gd name="adj" fmla="val 11339"/>
            </a:avLst>
          </a:prstGeom>
          <a:solidFill>
            <a:srgbClr val="C0752A">
              <a:alpha val="12000"/>
            </a:srgbClr>
          </a:solidFill>
          <a:ln w="15875">
            <a:solidFill>
              <a:srgbClr val="C0752A"/>
            </a:solidFill>
          </a:ln>
        </p:spPr>
        <p:txBody>
          <a:bodyPr wrap="square" lIns="0" tIns="0" rIns="0" bIns="0" rtlCol="0" anchor="ctr"/>
          <a:lstStyle/>
          <a:p>
            <a:pPr algn="ctr" indent="0" marL="0">
              <a:buNone/>
            </a:pPr>
            <a:r>
              <a:rPr lang="en-US" sz="3000" b="1" dirty="0">
                <a:solidFill>
                  <a:srgbClr val="C0752A"/>
                </a:solidFill>
                <a:latin typeface="+mj-lt" pitchFamily="34" charset="0"/>
                <a:ea typeface="+mj-lt" pitchFamily="34" charset="-122"/>
                <a:cs typeface="+mj-lt" pitchFamily="34" charset="-120"/>
              </a:rPr>
              <a:t>100</a:t>
            </a:r>
            <a:endParaRPr lang="en-US" sz="3000" dirty="0"/>
          </a:p>
        </p:txBody>
      </p:sp>
      <p:sp>
        <p:nvSpPr>
          <p:cNvPr id="17" name="Text 14"/>
          <p:cNvSpPr/>
          <p:nvPr/>
        </p:nvSpPr>
        <p:spPr>
          <a:xfrm>
            <a:off x="6195060" y="3815080"/>
            <a:ext cx="2622042" cy="645160"/>
          </a:xfrm>
          <a:prstGeom prst="roundRect">
            <a:avLst>
              <a:gd name="adj" fmla="val 11339"/>
            </a:avLst>
          </a:prstGeom>
          <a:solidFill>
            <a:srgbClr val="C0752A">
              <a:alpha val="12000"/>
            </a:srgbClr>
          </a:solidFill>
          <a:ln w="15875">
            <a:solidFill>
              <a:srgbClr val="C0752A"/>
            </a:solidFill>
          </a:ln>
        </p:spPr>
        <p:txBody>
          <a:bodyPr wrap="square" lIns="0" tIns="0" rIns="0" bIns="0" rtlCol="0" anchor="ctr"/>
          <a:lstStyle/>
          <a:p>
            <a:pPr algn="ctr" indent="0" marL="0">
              <a:buNone/>
            </a:pPr>
            <a:r>
              <a:rPr lang="en-US" sz="3000" b="1" dirty="0">
                <a:solidFill>
                  <a:srgbClr val="C0752A"/>
                </a:solidFill>
                <a:latin typeface="+mj-lt" pitchFamily="34" charset="0"/>
                <a:ea typeface="+mj-lt" pitchFamily="34" charset="-122"/>
                <a:cs typeface="+mj-lt" pitchFamily="34" charset="-120"/>
              </a:rPr>
              <a:t>200</a:t>
            </a:r>
            <a:endParaRPr lang="en-US" sz="3000" dirty="0"/>
          </a:p>
        </p:txBody>
      </p:sp>
      <p:sp>
        <p:nvSpPr>
          <p:cNvPr id="18" name="Text 15"/>
          <p:cNvSpPr/>
          <p:nvPr/>
        </p:nvSpPr>
        <p:spPr>
          <a:xfrm>
            <a:off x="6195060" y="4661408"/>
            <a:ext cx="2622042" cy="645160"/>
          </a:xfrm>
          <a:prstGeom prst="roundRect">
            <a:avLst>
              <a:gd name="adj" fmla="val 11339"/>
            </a:avLst>
          </a:prstGeom>
          <a:solidFill>
            <a:srgbClr val="C0752A">
              <a:alpha val="12000"/>
            </a:srgbClr>
          </a:solidFill>
          <a:ln w="15875">
            <a:solidFill>
              <a:srgbClr val="C0752A"/>
            </a:solidFill>
          </a:ln>
        </p:spPr>
        <p:txBody>
          <a:bodyPr wrap="square" lIns="0" tIns="0" rIns="0" bIns="0" rtlCol="0" anchor="ctr"/>
          <a:lstStyle/>
          <a:p>
            <a:pPr algn="ctr" indent="0" marL="0">
              <a:buNone/>
            </a:pPr>
            <a:r>
              <a:rPr lang="en-US" sz="3000" b="1" dirty="0">
                <a:solidFill>
                  <a:srgbClr val="C0752A"/>
                </a:solidFill>
                <a:latin typeface="+mj-lt" pitchFamily="34" charset="0"/>
                <a:ea typeface="+mj-lt" pitchFamily="34" charset="-122"/>
                <a:cs typeface="+mj-lt" pitchFamily="34" charset="-120"/>
              </a:rPr>
              <a:t>300</a:t>
            </a:r>
            <a:endParaRPr lang="en-US" sz="3000" dirty="0"/>
          </a:p>
        </p:txBody>
      </p:sp>
      <p:sp>
        <p:nvSpPr>
          <p:cNvPr id="19" name="Text 16"/>
          <p:cNvSpPr/>
          <p:nvPr/>
        </p:nvSpPr>
        <p:spPr>
          <a:xfrm>
            <a:off x="9018270" y="2237232"/>
            <a:ext cx="2622042" cy="566928"/>
          </a:xfrm>
          <a:prstGeom prst="roundRect">
            <a:avLst>
              <a:gd name="adj" fmla="val 12903"/>
            </a:avLst>
          </a:prstGeom>
          <a:solidFill>
            <a:srgbClr val="B4236A"/>
          </a:solid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HOW LONG?</a:t>
            </a:r>
            <a:endParaRPr lang="en-US" sz="2000" dirty="0"/>
          </a:p>
        </p:txBody>
      </p:sp>
      <p:sp>
        <p:nvSpPr>
          <p:cNvPr id="20" name="Text 17"/>
          <p:cNvSpPr/>
          <p:nvPr/>
        </p:nvSpPr>
        <p:spPr>
          <a:xfrm>
            <a:off x="9018270" y="2968752"/>
            <a:ext cx="2622042" cy="645160"/>
          </a:xfrm>
          <a:prstGeom prst="roundRect">
            <a:avLst>
              <a:gd name="adj" fmla="val 11339"/>
            </a:avLst>
          </a:prstGeom>
          <a:solidFill>
            <a:srgbClr val="B4236A">
              <a:alpha val="12000"/>
            </a:srgbClr>
          </a:solidFill>
          <a:ln w="15875">
            <a:solidFill>
              <a:srgbClr val="B4236A"/>
            </a:solidFill>
          </a:ln>
        </p:spPr>
        <p:txBody>
          <a:bodyPr wrap="square" lIns="0" tIns="0" rIns="0" bIns="0" rtlCol="0" anchor="ctr"/>
          <a:lstStyle/>
          <a:p>
            <a:pPr algn="ctr" indent="0" marL="0">
              <a:buNone/>
            </a:pPr>
            <a:r>
              <a:rPr lang="en-US" sz="3000" b="1" dirty="0">
                <a:solidFill>
                  <a:srgbClr val="B4236A"/>
                </a:solidFill>
                <a:latin typeface="+mj-lt" pitchFamily="34" charset="0"/>
                <a:ea typeface="+mj-lt" pitchFamily="34" charset="-122"/>
                <a:cs typeface="+mj-lt" pitchFamily="34" charset="-120"/>
              </a:rPr>
              <a:t>100</a:t>
            </a:r>
            <a:endParaRPr lang="en-US" sz="3000" dirty="0"/>
          </a:p>
        </p:txBody>
      </p:sp>
      <p:sp>
        <p:nvSpPr>
          <p:cNvPr id="21" name="Text 18"/>
          <p:cNvSpPr/>
          <p:nvPr/>
        </p:nvSpPr>
        <p:spPr>
          <a:xfrm>
            <a:off x="9018270" y="3815080"/>
            <a:ext cx="2622042" cy="645160"/>
          </a:xfrm>
          <a:prstGeom prst="roundRect">
            <a:avLst>
              <a:gd name="adj" fmla="val 11339"/>
            </a:avLst>
          </a:prstGeom>
          <a:solidFill>
            <a:srgbClr val="B4236A">
              <a:alpha val="12000"/>
            </a:srgbClr>
          </a:solidFill>
          <a:ln w="15875">
            <a:solidFill>
              <a:srgbClr val="B4236A"/>
            </a:solidFill>
          </a:ln>
        </p:spPr>
        <p:txBody>
          <a:bodyPr wrap="square" lIns="0" tIns="0" rIns="0" bIns="0" rtlCol="0" anchor="ctr"/>
          <a:lstStyle/>
          <a:p>
            <a:pPr algn="ctr" indent="0" marL="0">
              <a:buNone/>
            </a:pPr>
            <a:r>
              <a:rPr lang="en-US" sz="3000" b="1" dirty="0">
                <a:solidFill>
                  <a:srgbClr val="B4236A"/>
                </a:solidFill>
                <a:latin typeface="+mj-lt" pitchFamily="34" charset="0"/>
                <a:ea typeface="+mj-lt" pitchFamily="34" charset="-122"/>
                <a:cs typeface="+mj-lt" pitchFamily="34" charset="-120"/>
              </a:rPr>
              <a:t>200</a:t>
            </a:r>
            <a:endParaRPr lang="en-US" sz="3000" dirty="0"/>
          </a:p>
        </p:txBody>
      </p:sp>
      <p:sp>
        <p:nvSpPr>
          <p:cNvPr id="22" name="Text 19"/>
          <p:cNvSpPr/>
          <p:nvPr/>
        </p:nvSpPr>
        <p:spPr>
          <a:xfrm>
            <a:off x="9018270" y="4661408"/>
            <a:ext cx="2622042" cy="645160"/>
          </a:xfrm>
          <a:prstGeom prst="roundRect">
            <a:avLst>
              <a:gd name="adj" fmla="val 11339"/>
            </a:avLst>
          </a:prstGeom>
          <a:solidFill>
            <a:srgbClr val="B4236A">
              <a:alpha val="12000"/>
            </a:srgbClr>
          </a:solidFill>
          <a:ln w="15875">
            <a:solidFill>
              <a:srgbClr val="B4236A"/>
            </a:solidFill>
          </a:ln>
        </p:spPr>
        <p:txBody>
          <a:bodyPr wrap="square" lIns="0" tIns="0" rIns="0" bIns="0" rtlCol="0" anchor="ctr"/>
          <a:lstStyle/>
          <a:p>
            <a:pPr algn="ctr" indent="0" marL="0">
              <a:buNone/>
            </a:pPr>
            <a:r>
              <a:rPr lang="en-US" sz="3000" b="1" dirty="0">
                <a:solidFill>
                  <a:srgbClr val="B4236A"/>
                </a:solidFill>
                <a:latin typeface="+mj-lt" pitchFamily="34" charset="0"/>
                <a:ea typeface="+mj-lt" pitchFamily="34" charset="-122"/>
                <a:cs typeface="+mj-lt" pitchFamily="34" charset="-120"/>
              </a:rPr>
              <a:t>300</a:t>
            </a:r>
            <a:endParaRPr lang="en-US" sz="3000" dirty="0"/>
          </a:p>
        </p:txBody>
      </p:sp>
      <p:sp>
        <p:nvSpPr>
          <p:cNvPr id="23" name="Shape 20"/>
          <p:cNvSpPr/>
          <p:nvPr/>
        </p:nvSpPr>
        <p:spPr>
          <a:xfrm>
            <a:off x="548640" y="5535168"/>
            <a:ext cx="11091672" cy="774192"/>
          </a:xfrm>
          <a:prstGeom prst="roundRect">
            <a:avLst>
              <a:gd name="adj" fmla="val 9449"/>
            </a:avLst>
          </a:prstGeom>
          <a:solidFill>
            <a:srgbClr val="3C7A3C">
              <a:alpha val="8000"/>
            </a:srgbClr>
          </a:solidFill>
          <a:ln w="12700">
            <a:solidFill>
              <a:srgbClr val="3C7A3C"/>
            </a:solidFill>
            <a:prstDash val="solid"/>
          </a:ln>
        </p:spPr>
      </p:sp>
      <p:pic>
        <p:nvPicPr>
          <p:cNvPr id="24"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25" name="Text 21"/>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3"/>
                </a:solidFill>
              </a:rPr>
              <a:t>Rules — </a:t>
            </a:r>
            <a:r>
              <a:rPr lang="en-US" sz="1800" dirty="0">
                <a:solidFill>
                  <a:schemeClr val="tx1"/>
                </a:solidFill>
              </a:rPr>
              <a:t>teams choose a tile; 20 seconds to answer. A correct question with a </a:t>
            </a:r>
            <a:r>
              <a:rPr lang="en-US" sz="1800" b="1" dirty="0">
                <a:solidFill>
                  <a:schemeClr val="tx1"/>
                </a:solidFill>
              </a:rPr>
              <a:t>wrong form</a:t>
            </a:r>
            <a:r>
              <a:rPr lang="en-US" sz="1800" dirty="0">
                <a:solidFill>
                  <a:schemeClr val="tx1"/>
                </a:solidFill>
              </a:rPr>
              <a:t> (</a:t>
            </a:r>
            <a:r>
              <a:rPr lang="en-US" sz="1800" i="1" dirty="0">
                <a:solidFill>
                  <a:schemeClr val="tx1"/>
                </a:solidFill>
              </a:rPr>
              <a:t>Who did enter…?</a:t>
            </a:r>
            <a:r>
              <a:rPr lang="en-US" sz="1800" dirty="0">
                <a:solidFill>
                  <a:schemeClr val="tx1"/>
                </a:solidFill>
              </a:rPr>
              <a:t>) earns half the points.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What professionals do with an alarm — match the blocks</a:t>
            </a:r>
            <a:endParaRPr lang="en-US" sz="3200" dirty="0"/>
          </a:p>
        </p:txBody>
      </p:sp>
      <p:sp>
        <p:nvSpPr>
          <p:cNvPr id="3" name="tag"/>
          <p:cNvSpPr/>
          <p:nvPr/>
        </p:nvSpPr>
        <p:spPr>
          <a:xfrm>
            <a:off x="548640" y="384048"/>
            <a:ext cx="13944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WORD FILE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15</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Verb + noun: these pairs are not a matter of choice. Match each verb (1–8) with its noun (A–H).</a:t>
            </a:r>
            <a:endParaRPr lang="en-US" sz="1600" dirty="0"/>
          </a:p>
        </p:txBody>
      </p:sp>
      <p:sp>
        <p:nvSpPr>
          <p:cNvPr id="6" name="Shape 4"/>
          <p:cNvSpPr/>
          <p:nvPr/>
        </p:nvSpPr>
        <p:spPr>
          <a:xfrm>
            <a:off x="548640" y="2237232"/>
            <a:ext cx="4860036" cy="445008"/>
          </a:xfrm>
          <a:prstGeom prst="roundRect">
            <a:avLst>
              <a:gd name="adj" fmla="val 16438"/>
            </a:avLst>
          </a:prstGeom>
          <a:solidFill>
            <a:srgbClr val="EEF2F8"/>
          </a:solidFill>
          <a:ln w="9525">
            <a:solidFill>
              <a:srgbClr val="D5DCE6"/>
            </a:solidFill>
            <a:prstDash val="solid"/>
          </a:ln>
        </p:spPr>
      </p:sp>
      <p:sp>
        <p:nvSpPr>
          <p:cNvPr id="7" name="Text 5"/>
          <p:cNvSpPr/>
          <p:nvPr/>
        </p:nvSpPr>
        <p:spPr>
          <a:xfrm>
            <a:off x="658368" y="228600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115568" y="223723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raise</a:t>
            </a:r>
            <a:endParaRPr lang="en-US" sz="1800" dirty="0"/>
          </a:p>
        </p:txBody>
      </p:sp>
      <p:sp>
        <p:nvSpPr>
          <p:cNvPr id="9" name="Shape 7"/>
          <p:cNvSpPr/>
          <p:nvPr/>
        </p:nvSpPr>
        <p:spPr>
          <a:xfrm>
            <a:off x="548640" y="2755392"/>
            <a:ext cx="4860036" cy="445008"/>
          </a:xfrm>
          <a:prstGeom prst="roundRect">
            <a:avLst>
              <a:gd name="adj" fmla="val 16438"/>
            </a:avLst>
          </a:prstGeom>
          <a:solidFill>
            <a:srgbClr val="EEF2F8"/>
          </a:solidFill>
          <a:ln w="9525">
            <a:solidFill>
              <a:srgbClr val="D5DCE6"/>
            </a:solidFill>
            <a:prstDash val="solid"/>
          </a:ln>
        </p:spPr>
      </p:sp>
      <p:sp>
        <p:nvSpPr>
          <p:cNvPr id="10" name="Text 8"/>
          <p:cNvSpPr/>
          <p:nvPr/>
        </p:nvSpPr>
        <p:spPr>
          <a:xfrm>
            <a:off x="658368" y="280416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115568" y="275539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assess</a:t>
            </a:r>
            <a:endParaRPr lang="en-US" sz="1800" dirty="0"/>
          </a:p>
        </p:txBody>
      </p:sp>
      <p:sp>
        <p:nvSpPr>
          <p:cNvPr id="12" name="Shape 10"/>
          <p:cNvSpPr/>
          <p:nvPr/>
        </p:nvSpPr>
        <p:spPr>
          <a:xfrm>
            <a:off x="548640" y="3273552"/>
            <a:ext cx="4860036" cy="445008"/>
          </a:xfrm>
          <a:prstGeom prst="roundRect">
            <a:avLst>
              <a:gd name="adj" fmla="val 16438"/>
            </a:avLst>
          </a:prstGeom>
          <a:solidFill>
            <a:srgbClr val="EEF2F8"/>
          </a:solidFill>
          <a:ln w="9525">
            <a:solidFill>
              <a:srgbClr val="D5DCE6"/>
            </a:solidFill>
            <a:prstDash val="solid"/>
          </a:ln>
        </p:spPr>
      </p:sp>
      <p:sp>
        <p:nvSpPr>
          <p:cNvPr id="13" name="Text 11"/>
          <p:cNvSpPr/>
          <p:nvPr/>
        </p:nvSpPr>
        <p:spPr>
          <a:xfrm>
            <a:off x="658368" y="332232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115568" y="327355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file</a:t>
            </a:r>
            <a:endParaRPr lang="en-US" sz="1800" dirty="0"/>
          </a:p>
        </p:txBody>
      </p:sp>
      <p:sp>
        <p:nvSpPr>
          <p:cNvPr id="15" name="Shape 13"/>
          <p:cNvSpPr/>
          <p:nvPr/>
        </p:nvSpPr>
        <p:spPr>
          <a:xfrm>
            <a:off x="548640" y="3791712"/>
            <a:ext cx="4860036" cy="445008"/>
          </a:xfrm>
          <a:prstGeom prst="roundRect">
            <a:avLst>
              <a:gd name="adj" fmla="val 16438"/>
            </a:avLst>
          </a:prstGeom>
          <a:solidFill>
            <a:srgbClr val="EEF2F8"/>
          </a:solidFill>
          <a:ln w="9525">
            <a:solidFill>
              <a:srgbClr val="D5DCE6"/>
            </a:solidFill>
            <a:prstDash val="solid"/>
          </a:ln>
        </p:spPr>
      </p:sp>
      <p:sp>
        <p:nvSpPr>
          <p:cNvPr id="16" name="Text 14"/>
          <p:cNvSpPr/>
          <p:nvPr/>
        </p:nvSpPr>
        <p:spPr>
          <a:xfrm>
            <a:off x="658368" y="384048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Text 15"/>
          <p:cNvSpPr txBox="1"/>
          <p:nvPr/>
        </p:nvSpPr>
        <p:spPr>
          <a:xfrm>
            <a:off x="1115568" y="379171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take</a:t>
            </a:r>
            <a:endParaRPr lang="en-US" sz="1800" dirty="0"/>
          </a:p>
        </p:txBody>
      </p:sp>
      <p:sp>
        <p:nvSpPr>
          <p:cNvPr id="18" name="Shape 16"/>
          <p:cNvSpPr/>
          <p:nvPr/>
        </p:nvSpPr>
        <p:spPr>
          <a:xfrm>
            <a:off x="548640" y="4309872"/>
            <a:ext cx="4860036" cy="445008"/>
          </a:xfrm>
          <a:prstGeom prst="roundRect">
            <a:avLst>
              <a:gd name="adj" fmla="val 16438"/>
            </a:avLst>
          </a:prstGeom>
          <a:solidFill>
            <a:srgbClr val="EEF2F8"/>
          </a:solidFill>
          <a:ln w="9525">
            <a:solidFill>
              <a:srgbClr val="D5DCE6"/>
            </a:solidFill>
            <a:prstDash val="solid"/>
          </a:ln>
        </p:spPr>
      </p:sp>
      <p:sp>
        <p:nvSpPr>
          <p:cNvPr id="19" name="Text 17"/>
          <p:cNvSpPr/>
          <p:nvPr/>
        </p:nvSpPr>
        <p:spPr>
          <a:xfrm>
            <a:off x="658368" y="435864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0" name="Text 18"/>
          <p:cNvSpPr txBox="1"/>
          <p:nvPr/>
        </p:nvSpPr>
        <p:spPr>
          <a:xfrm>
            <a:off x="1115568" y="430987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draw up</a:t>
            </a:r>
            <a:endParaRPr lang="en-US" sz="1800" dirty="0"/>
          </a:p>
        </p:txBody>
      </p:sp>
      <p:sp>
        <p:nvSpPr>
          <p:cNvPr id="21" name="Shape 19"/>
          <p:cNvSpPr/>
          <p:nvPr/>
        </p:nvSpPr>
        <p:spPr>
          <a:xfrm>
            <a:off x="548640" y="4828032"/>
            <a:ext cx="4860036" cy="445008"/>
          </a:xfrm>
          <a:prstGeom prst="roundRect">
            <a:avLst>
              <a:gd name="adj" fmla="val 16438"/>
            </a:avLst>
          </a:prstGeom>
          <a:solidFill>
            <a:srgbClr val="EEF2F8"/>
          </a:solidFill>
          <a:ln w="9525">
            <a:solidFill>
              <a:srgbClr val="D5DCE6"/>
            </a:solidFill>
            <a:prstDash val="solid"/>
          </a:ln>
        </p:spPr>
      </p:sp>
      <p:sp>
        <p:nvSpPr>
          <p:cNvPr id="22" name="Text 20"/>
          <p:cNvSpPr/>
          <p:nvPr/>
        </p:nvSpPr>
        <p:spPr>
          <a:xfrm>
            <a:off x="658368" y="487680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3" name="Text 21"/>
          <p:cNvSpPr txBox="1"/>
          <p:nvPr/>
        </p:nvSpPr>
        <p:spPr>
          <a:xfrm>
            <a:off x="1115568" y="482803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carry out</a:t>
            </a:r>
            <a:endParaRPr lang="en-US" sz="1800" dirty="0"/>
          </a:p>
        </p:txBody>
      </p:sp>
      <p:sp>
        <p:nvSpPr>
          <p:cNvPr id="24" name="Shape 22"/>
          <p:cNvSpPr/>
          <p:nvPr/>
        </p:nvSpPr>
        <p:spPr>
          <a:xfrm>
            <a:off x="548640" y="5346192"/>
            <a:ext cx="4860036" cy="445008"/>
          </a:xfrm>
          <a:prstGeom prst="roundRect">
            <a:avLst>
              <a:gd name="adj" fmla="val 16438"/>
            </a:avLst>
          </a:prstGeom>
          <a:solidFill>
            <a:srgbClr val="EEF2F8"/>
          </a:solidFill>
          <a:ln w="9525">
            <a:solidFill>
              <a:srgbClr val="D5DCE6"/>
            </a:solidFill>
            <a:prstDash val="solid"/>
          </a:ln>
        </p:spPr>
      </p:sp>
      <p:sp>
        <p:nvSpPr>
          <p:cNvPr id="25" name="Text 23"/>
          <p:cNvSpPr/>
          <p:nvPr/>
        </p:nvSpPr>
        <p:spPr>
          <a:xfrm>
            <a:off x="658368" y="539496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26" name="Text 24"/>
          <p:cNvSpPr txBox="1"/>
          <p:nvPr/>
        </p:nvSpPr>
        <p:spPr>
          <a:xfrm>
            <a:off x="1115568" y="534619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meet</a:t>
            </a:r>
            <a:endParaRPr lang="en-US" sz="1800" dirty="0"/>
          </a:p>
        </p:txBody>
      </p:sp>
      <p:sp>
        <p:nvSpPr>
          <p:cNvPr id="27" name="Shape 25"/>
          <p:cNvSpPr/>
          <p:nvPr/>
        </p:nvSpPr>
        <p:spPr>
          <a:xfrm>
            <a:off x="548640" y="5864352"/>
            <a:ext cx="4860036" cy="445008"/>
          </a:xfrm>
          <a:prstGeom prst="roundRect">
            <a:avLst>
              <a:gd name="adj" fmla="val 16438"/>
            </a:avLst>
          </a:prstGeom>
          <a:solidFill>
            <a:srgbClr val="EEF2F8"/>
          </a:solidFill>
          <a:ln w="9525">
            <a:solidFill>
              <a:srgbClr val="D5DCE6"/>
            </a:solidFill>
            <a:prstDash val="solid"/>
          </a:ln>
        </p:spPr>
      </p:sp>
      <p:sp>
        <p:nvSpPr>
          <p:cNvPr id="28" name="Text 26"/>
          <p:cNvSpPr/>
          <p:nvPr/>
        </p:nvSpPr>
        <p:spPr>
          <a:xfrm>
            <a:off x="658368" y="591312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29" name="Text 27"/>
          <p:cNvSpPr txBox="1"/>
          <p:nvPr/>
        </p:nvSpPr>
        <p:spPr>
          <a:xfrm>
            <a:off x="1115568" y="586435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make good</a:t>
            </a:r>
            <a:endParaRPr lang="en-US" sz="1800" dirty="0"/>
          </a:p>
        </p:txBody>
      </p:sp>
      <p:sp>
        <p:nvSpPr>
          <p:cNvPr id="30" name="Shape 28"/>
          <p:cNvSpPr/>
          <p:nvPr/>
        </p:nvSpPr>
        <p:spPr>
          <a:xfrm>
            <a:off x="6780276" y="2237232"/>
            <a:ext cx="4860036" cy="445008"/>
          </a:xfrm>
          <a:prstGeom prst="roundRect">
            <a:avLst>
              <a:gd name="adj" fmla="val 16438"/>
            </a:avLst>
          </a:prstGeom>
          <a:solidFill>
            <a:srgbClr val="FFFFFF"/>
          </a:solidFill>
          <a:ln w="9525">
            <a:solidFill>
              <a:srgbClr val="D5DCE6"/>
            </a:solidFill>
            <a:prstDash val="solid"/>
          </a:ln>
        </p:spPr>
      </p:sp>
      <p:sp>
        <p:nvSpPr>
          <p:cNvPr id="31" name="Text 29"/>
          <p:cNvSpPr/>
          <p:nvPr/>
        </p:nvSpPr>
        <p:spPr>
          <a:xfrm>
            <a:off x="6890004" y="228600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A</a:t>
            </a:r>
            <a:endParaRPr lang="en-US" sz="1300" dirty="0"/>
          </a:p>
        </p:txBody>
      </p:sp>
      <p:sp>
        <p:nvSpPr>
          <p:cNvPr id="32" name="Text 30"/>
          <p:cNvSpPr txBox="1"/>
          <p:nvPr/>
        </p:nvSpPr>
        <p:spPr>
          <a:xfrm>
            <a:off x="7347204" y="2237232"/>
            <a:ext cx="4201668" cy="445008"/>
          </a:xfrm>
          <a:prstGeom prst="rect">
            <a:avLst/>
          </a:prstGeom>
          <a:noFill/>
          <a:ln/>
        </p:spPr>
        <p:txBody>
          <a:bodyPr wrap="square" lIns="0" tIns="0" rIns="0" bIns="0" rtlCol="0" anchor="ctr"/>
          <a:lstStyle/>
          <a:p>
            <a:pPr indent="0" marL="0">
              <a:buNone/>
            </a:pPr>
            <a:r>
              <a:rPr lang="en-US" sz="1800" dirty="0">
                <a:solidFill>
                  <a:schemeClr val="tx1"/>
                </a:solidFill>
              </a:rPr>
              <a:t>an inspection</a:t>
            </a:r>
            <a:endParaRPr lang="en-US" sz="1800" dirty="0"/>
          </a:p>
        </p:txBody>
      </p:sp>
      <p:sp>
        <p:nvSpPr>
          <p:cNvPr id="33" name="Shape 31"/>
          <p:cNvSpPr/>
          <p:nvPr/>
        </p:nvSpPr>
        <p:spPr>
          <a:xfrm>
            <a:off x="6780276" y="2755392"/>
            <a:ext cx="4860036" cy="445008"/>
          </a:xfrm>
          <a:prstGeom prst="roundRect">
            <a:avLst>
              <a:gd name="adj" fmla="val 16438"/>
            </a:avLst>
          </a:prstGeom>
          <a:solidFill>
            <a:srgbClr val="FFFFFF"/>
          </a:solidFill>
          <a:ln w="9525">
            <a:solidFill>
              <a:srgbClr val="D5DCE6"/>
            </a:solidFill>
            <a:prstDash val="solid"/>
          </a:ln>
        </p:spPr>
      </p:sp>
      <p:sp>
        <p:nvSpPr>
          <p:cNvPr id="34" name="Text 32"/>
          <p:cNvSpPr/>
          <p:nvPr/>
        </p:nvSpPr>
        <p:spPr>
          <a:xfrm>
            <a:off x="6890004" y="280416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B</a:t>
            </a:r>
            <a:endParaRPr lang="en-US" sz="1300" dirty="0"/>
          </a:p>
        </p:txBody>
      </p:sp>
      <p:sp>
        <p:nvSpPr>
          <p:cNvPr id="35" name="Text 33"/>
          <p:cNvSpPr txBox="1"/>
          <p:nvPr/>
        </p:nvSpPr>
        <p:spPr>
          <a:xfrm>
            <a:off x="7347204" y="2755392"/>
            <a:ext cx="4201668" cy="445008"/>
          </a:xfrm>
          <a:prstGeom prst="rect">
            <a:avLst/>
          </a:prstGeom>
          <a:noFill/>
          <a:ln/>
        </p:spPr>
        <p:txBody>
          <a:bodyPr wrap="square" lIns="0" tIns="0" rIns="0" bIns="0" rtlCol="0" anchor="ctr"/>
          <a:lstStyle/>
          <a:p>
            <a:pPr indent="0" marL="0">
              <a:buNone/>
            </a:pPr>
            <a:r>
              <a:rPr lang="en-US" sz="1800" dirty="0">
                <a:solidFill>
                  <a:schemeClr val="tx1"/>
                </a:solidFill>
              </a:rPr>
              <a:t>a claim</a:t>
            </a:r>
            <a:endParaRPr lang="en-US" sz="1800" dirty="0"/>
          </a:p>
        </p:txBody>
      </p:sp>
      <p:sp>
        <p:nvSpPr>
          <p:cNvPr id="36" name="Shape 34"/>
          <p:cNvSpPr/>
          <p:nvPr/>
        </p:nvSpPr>
        <p:spPr>
          <a:xfrm>
            <a:off x="6780276" y="3273552"/>
            <a:ext cx="4860036" cy="445008"/>
          </a:xfrm>
          <a:prstGeom prst="roundRect">
            <a:avLst>
              <a:gd name="adj" fmla="val 16438"/>
            </a:avLst>
          </a:prstGeom>
          <a:solidFill>
            <a:srgbClr val="FFFFFF"/>
          </a:solidFill>
          <a:ln w="9525">
            <a:solidFill>
              <a:srgbClr val="D5DCE6"/>
            </a:solidFill>
            <a:prstDash val="solid"/>
          </a:ln>
        </p:spPr>
      </p:sp>
      <p:sp>
        <p:nvSpPr>
          <p:cNvPr id="37" name="Text 35"/>
          <p:cNvSpPr/>
          <p:nvPr/>
        </p:nvSpPr>
        <p:spPr>
          <a:xfrm>
            <a:off x="6890004" y="332232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C</a:t>
            </a:r>
            <a:endParaRPr lang="en-US" sz="1300" dirty="0"/>
          </a:p>
        </p:txBody>
      </p:sp>
      <p:sp>
        <p:nvSpPr>
          <p:cNvPr id="38" name="Text 36"/>
          <p:cNvSpPr txBox="1"/>
          <p:nvPr/>
        </p:nvSpPr>
        <p:spPr>
          <a:xfrm>
            <a:off x="7347204" y="3273552"/>
            <a:ext cx="4201668" cy="445008"/>
          </a:xfrm>
          <a:prstGeom prst="rect">
            <a:avLst/>
          </a:prstGeom>
          <a:noFill/>
          <a:ln/>
        </p:spPr>
        <p:txBody>
          <a:bodyPr wrap="square" lIns="0" tIns="0" rIns="0" bIns="0" rtlCol="0" anchor="ctr"/>
          <a:lstStyle/>
          <a:p>
            <a:pPr indent="0" marL="0">
              <a:buNone/>
            </a:pPr>
            <a:r>
              <a:rPr lang="en-US" sz="1800" dirty="0">
                <a:solidFill>
                  <a:schemeClr val="tx1"/>
                </a:solidFill>
              </a:rPr>
              <a:t>the floor</a:t>
            </a:r>
            <a:endParaRPr lang="en-US" sz="1800" dirty="0"/>
          </a:p>
        </p:txBody>
      </p:sp>
      <p:sp>
        <p:nvSpPr>
          <p:cNvPr id="39" name="Shape 37"/>
          <p:cNvSpPr/>
          <p:nvPr/>
        </p:nvSpPr>
        <p:spPr>
          <a:xfrm>
            <a:off x="6780276" y="3791712"/>
            <a:ext cx="4860036" cy="445008"/>
          </a:xfrm>
          <a:prstGeom prst="roundRect">
            <a:avLst>
              <a:gd name="adj" fmla="val 16438"/>
            </a:avLst>
          </a:prstGeom>
          <a:solidFill>
            <a:srgbClr val="FFFFFF"/>
          </a:solidFill>
          <a:ln w="9525">
            <a:solidFill>
              <a:srgbClr val="D5DCE6"/>
            </a:solidFill>
            <a:prstDash val="solid"/>
          </a:ln>
        </p:spPr>
      </p:sp>
      <p:sp>
        <p:nvSpPr>
          <p:cNvPr id="40" name="Text 38"/>
          <p:cNvSpPr/>
          <p:nvPr/>
        </p:nvSpPr>
        <p:spPr>
          <a:xfrm>
            <a:off x="6890004" y="384048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D</a:t>
            </a:r>
            <a:endParaRPr lang="en-US" sz="1300" dirty="0"/>
          </a:p>
        </p:txBody>
      </p:sp>
      <p:sp>
        <p:nvSpPr>
          <p:cNvPr id="41" name="Text 39"/>
          <p:cNvSpPr txBox="1"/>
          <p:nvPr/>
        </p:nvSpPr>
        <p:spPr>
          <a:xfrm>
            <a:off x="7347204" y="3791712"/>
            <a:ext cx="4201668" cy="445008"/>
          </a:xfrm>
          <a:prstGeom prst="rect">
            <a:avLst/>
          </a:prstGeom>
          <a:noFill/>
          <a:ln/>
        </p:spPr>
        <p:txBody>
          <a:bodyPr wrap="square" lIns="0" tIns="0" rIns="0" bIns="0" rtlCol="0" anchor="ctr"/>
          <a:lstStyle/>
          <a:p>
            <a:pPr indent="0" marL="0">
              <a:buNone/>
            </a:pPr>
            <a:r>
              <a:rPr lang="en-US" sz="1800" dirty="0">
                <a:solidFill>
                  <a:schemeClr val="tx1"/>
                </a:solidFill>
              </a:rPr>
              <a:t>the alarm</a:t>
            </a:r>
            <a:endParaRPr lang="en-US" sz="1800" dirty="0"/>
          </a:p>
        </p:txBody>
      </p:sp>
      <p:sp>
        <p:nvSpPr>
          <p:cNvPr id="42" name="Shape 40"/>
          <p:cNvSpPr/>
          <p:nvPr/>
        </p:nvSpPr>
        <p:spPr>
          <a:xfrm>
            <a:off x="6780276" y="4309872"/>
            <a:ext cx="4860036" cy="445008"/>
          </a:xfrm>
          <a:prstGeom prst="roundRect">
            <a:avLst>
              <a:gd name="adj" fmla="val 16438"/>
            </a:avLst>
          </a:prstGeom>
          <a:solidFill>
            <a:srgbClr val="FFFFFF"/>
          </a:solidFill>
          <a:ln w="9525">
            <a:solidFill>
              <a:srgbClr val="D5DCE6"/>
            </a:solidFill>
            <a:prstDash val="solid"/>
          </a:ln>
        </p:spPr>
      </p:sp>
      <p:sp>
        <p:nvSpPr>
          <p:cNvPr id="43" name="Text 41"/>
          <p:cNvSpPr/>
          <p:nvPr/>
        </p:nvSpPr>
        <p:spPr>
          <a:xfrm>
            <a:off x="6890004" y="435864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E</a:t>
            </a:r>
            <a:endParaRPr lang="en-US" sz="1300" dirty="0"/>
          </a:p>
        </p:txBody>
      </p:sp>
      <p:sp>
        <p:nvSpPr>
          <p:cNvPr id="44" name="Text 42"/>
          <p:cNvSpPr txBox="1"/>
          <p:nvPr/>
        </p:nvSpPr>
        <p:spPr>
          <a:xfrm>
            <a:off x="7347204" y="4309872"/>
            <a:ext cx="4201668" cy="445008"/>
          </a:xfrm>
          <a:prstGeom prst="rect">
            <a:avLst/>
          </a:prstGeom>
          <a:noFill/>
          <a:ln/>
        </p:spPr>
        <p:txBody>
          <a:bodyPr wrap="square" lIns="0" tIns="0" rIns="0" bIns="0" rtlCol="0" anchor="ctr"/>
          <a:lstStyle/>
          <a:p>
            <a:pPr indent="0" marL="0">
              <a:buNone/>
            </a:pPr>
            <a:r>
              <a:rPr lang="en-US" sz="1800" dirty="0">
                <a:solidFill>
                  <a:schemeClr val="tx1"/>
                </a:solidFill>
              </a:rPr>
              <a:t>steps</a:t>
            </a:r>
            <a:endParaRPr lang="en-US" sz="1800" dirty="0"/>
          </a:p>
        </p:txBody>
      </p:sp>
      <p:sp>
        <p:nvSpPr>
          <p:cNvPr id="45" name="Shape 43"/>
          <p:cNvSpPr/>
          <p:nvPr/>
        </p:nvSpPr>
        <p:spPr>
          <a:xfrm>
            <a:off x="6780276" y="4828032"/>
            <a:ext cx="4860036" cy="445008"/>
          </a:xfrm>
          <a:prstGeom prst="roundRect">
            <a:avLst>
              <a:gd name="adj" fmla="val 16438"/>
            </a:avLst>
          </a:prstGeom>
          <a:solidFill>
            <a:srgbClr val="FFFFFF"/>
          </a:solidFill>
          <a:ln w="9525">
            <a:solidFill>
              <a:srgbClr val="D5DCE6"/>
            </a:solidFill>
            <a:prstDash val="solid"/>
          </a:ln>
        </p:spPr>
      </p:sp>
      <p:sp>
        <p:nvSpPr>
          <p:cNvPr id="46" name="Text 44"/>
          <p:cNvSpPr/>
          <p:nvPr/>
        </p:nvSpPr>
        <p:spPr>
          <a:xfrm>
            <a:off x="6890004" y="487680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47" name="Text 45"/>
          <p:cNvSpPr txBox="1"/>
          <p:nvPr/>
        </p:nvSpPr>
        <p:spPr>
          <a:xfrm>
            <a:off x="7347204" y="4828032"/>
            <a:ext cx="4201668" cy="445008"/>
          </a:xfrm>
          <a:prstGeom prst="rect">
            <a:avLst/>
          </a:prstGeom>
          <a:noFill/>
          <a:ln/>
        </p:spPr>
        <p:txBody>
          <a:bodyPr wrap="square" lIns="0" tIns="0" rIns="0" bIns="0" rtlCol="0" anchor="ctr"/>
          <a:lstStyle/>
          <a:p>
            <a:pPr indent="0" marL="0">
              <a:buNone/>
            </a:pPr>
            <a:r>
              <a:rPr lang="en-US" sz="1800" dirty="0">
                <a:solidFill>
                  <a:schemeClr val="tx1"/>
                </a:solidFill>
              </a:rPr>
              <a:t>a deadline</a:t>
            </a:r>
            <a:endParaRPr lang="en-US" sz="1800" dirty="0"/>
          </a:p>
        </p:txBody>
      </p:sp>
      <p:sp>
        <p:nvSpPr>
          <p:cNvPr id="48" name="Shape 46"/>
          <p:cNvSpPr/>
          <p:nvPr/>
        </p:nvSpPr>
        <p:spPr>
          <a:xfrm>
            <a:off x="6780276" y="5346192"/>
            <a:ext cx="4860036" cy="445008"/>
          </a:xfrm>
          <a:prstGeom prst="roundRect">
            <a:avLst>
              <a:gd name="adj" fmla="val 16438"/>
            </a:avLst>
          </a:prstGeom>
          <a:solidFill>
            <a:srgbClr val="FFFFFF"/>
          </a:solidFill>
          <a:ln w="9525">
            <a:solidFill>
              <a:srgbClr val="D5DCE6"/>
            </a:solidFill>
            <a:prstDash val="solid"/>
          </a:ln>
        </p:spPr>
      </p:sp>
      <p:sp>
        <p:nvSpPr>
          <p:cNvPr id="49" name="Text 47"/>
          <p:cNvSpPr/>
          <p:nvPr/>
        </p:nvSpPr>
        <p:spPr>
          <a:xfrm>
            <a:off x="6890004" y="539496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G</a:t>
            </a:r>
            <a:endParaRPr lang="en-US" sz="1300" dirty="0"/>
          </a:p>
        </p:txBody>
      </p:sp>
      <p:sp>
        <p:nvSpPr>
          <p:cNvPr id="50" name="Text 48"/>
          <p:cNvSpPr txBox="1"/>
          <p:nvPr/>
        </p:nvSpPr>
        <p:spPr>
          <a:xfrm>
            <a:off x="7347204" y="5346192"/>
            <a:ext cx="4201668" cy="445008"/>
          </a:xfrm>
          <a:prstGeom prst="rect">
            <a:avLst/>
          </a:prstGeom>
          <a:noFill/>
          <a:ln/>
        </p:spPr>
        <p:txBody>
          <a:bodyPr wrap="square" lIns="0" tIns="0" rIns="0" bIns="0" rtlCol="0" anchor="ctr"/>
          <a:lstStyle/>
          <a:p>
            <a:pPr indent="0" marL="0">
              <a:buNone/>
            </a:pPr>
            <a:r>
              <a:rPr lang="en-US" sz="1800" dirty="0">
                <a:solidFill>
                  <a:schemeClr val="tx1"/>
                </a:solidFill>
              </a:rPr>
              <a:t>the damage</a:t>
            </a:r>
            <a:endParaRPr lang="en-US" sz="1800" dirty="0"/>
          </a:p>
        </p:txBody>
      </p:sp>
      <p:sp>
        <p:nvSpPr>
          <p:cNvPr id="51" name="Shape 49"/>
          <p:cNvSpPr/>
          <p:nvPr/>
        </p:nvSpPr>
        <p:spPr>
          <a:xfrm>
            <a:off x="6780276" y="5864352"/>
            <a:ext cx="4860036" cy="445008"/>
          </a:xfrm>
          <a:prstGeom prst="roundRect">
            <a:avLst>
              <a:gd name="adj" fmla="val 16438"/>
            </a:avLst>
          </a:prstGeom>
          <a:solidFill>
            <a:srgbClr val="FFFFFF"/>
          </a:solidFill>
          <a:ln w="9525">
            <a:solidFill>
              <a:srgbClr val="D5DCE6"/>
            </a:solidFill>
            <a:prstDash val="solid"/>
          </a:ln>
        </p:spPr>
      </p:sp>
      <p:sp>
        <p:nvSpPr>
          <p:cNvPr id="52" name="Text 50"/>
          <p:cNvSpPr/>
          <p:nvPr/>
        </p:nvSpPr>
        <p:spPr>
          <a:xfrm>
            <a:off x="6890004" y="591312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H</a:t>
            </a:r>
            <a:endParaRPr lang="en-US" sz="1300" dirty="0"/>
          </a:p>
        </p:txBody>
      </p:sp>
      <p:sp>
        <p:nvSpPr>
          <p:cNvPr id="53" name="Text 51"/>
          <p:cNvSpPr txBox="1"/>
          <p:nvPr/>
        </p:nvSpPr>
        <p:spPr>
          <a:xfrm>
            <a:off x="7347204" y="5864352"/>
            <a:ext cx="4201668" cy="445008"/>
          </a:xfrm>
          <a:prstGeom prst="rect">
            <a:avLst/>
          </a:prstGeom>
          <a:noFill/>
          <a:ln/>
        </p:spPr>
        <p:txBody>
          <a:bodyPr wrap="square" lIns="0" tIns="0" rIns="0" bIns="0" rtlCol="0" anchor="ctr"/>
          <a:lstStyle/>
          <a:p>
            <a:pPr indent="0" marL="0">
              <a:buNone/>
            </a:pPr>
            <a:r>
              <a:rPr lang="en-US" sz="1800" dirty="0">
                <a:solidFill>
                  <a:schemeClr val="tx1"/>
                </a:solidFill>
              </a:rPr>
              <a:t>a report</a:t>
            </a:r>
            <a:endParaRPr lang="en-US" sz="1800" dirty="0"/>
          </a:p>
        </p:txBody>
      </p:sp>
      <p:sp>
        <p:nvSpPr>
          <p:cNvPr id="54" name="Shape 52"/>
          <p:cNvSpPr/>
          <p:nvPr/>
        </p:nvSpPr>
        <p:spPr>
          <a:xfrm>
            <a:off x="5372100" y="2395728"/>
            <a:ext cx="128016" cy="128016"/>
          </a:xfrm>
          <a:prstGeom prst="ellipse">
            <a:avLst/>
          </a:prstGeom>
          <a:solidFill>
            <a:srgbClr val="FFFFFF"/>
          </a:solidFill>
          <a:ln w="12700">
            <a:solidFill>
              <a:srgbClr val="1F3864"/>
            </a:solidFill>
            <a:prstDash val="solid"/>
          </a:ln>
        </p:spPr>
      </p:sp>
      <p:sp>
        <p:nvSpPr>
          <p:cNvPr id="55" name="Shape 53"/>
          <p:cNvSpPr/>
          <p:nvPr/>
        </p:nvSpPr>
        <p:spPr>
          <a:xfrm>
            <a:off x="5372100" y="2913888"/>
            <a:ext cx="128016" cy="128016"/>
          </a:xfrm>
          <a:prstGeom prst="ellipse">
            <a:avLst/>
          </a:prstGeom>
          <a:solidFill>
            <a:srgbClr val="FFFFFF"/>
          </a:solidFill>
          <a:ln w="12700">
            <a:solidFill>
              <a:srgbClr val="1F3864"/>
            </a:solidFill>
            <a:prstDash val="solid"/>
          </a:ln>
        </p:spPr>
      </p:sp>
      <p:sp>
        <p:nvSpPr>
          <p:cNvPr id="56" name="Shape 54"/>
          <p:cNvSpPr/>
          <p:nvPr/>
        </p:nvSpPr>
        <p:spPr>
          <a:xfrm>
            <a:off x="5372100" y="3432048"/>
            <a:ext cx="128016" cy="128016"/>
          </a:xfrm>
          <a:prstGeom prst="ellipse">
            <a:avLst/>
          </a:prstGeom>
          <a:solidFill>
            <a:srgbClr val="FFFFFF"/>
          </a:solidFill>
          <a:ln w="12700">
            <a:solidFill>
              <a:srgbClr val="1F3864"/>
            </a:solidFill>
            <a:prstDash val="solid"/>
          </a:ln>
        </p:spPr>
      </p:sp>
      <p:sp>
        <p:nvSpPr>
          <p:cNvPr id="57" name="Shape 55"/>
          <p:cNvSpPr/>
          <p:nvPr/>
        </p:nvSpPr>
        <p:spPr>
          <a:xfrm>
            <a:off x="5372100" y="3950208"/>
            <a:ext cx="128016" cy="128016"/>
          </a:xfrm>
          <a:prstGeom prst="ellipse">
            <a:avLst/>
          </a:prstGeom>
          <a:solidFill>
            <a:srgbClr val="FFFFFF"/>
          </a:solidFill>
          <a:ln w="12700">
            <a:solidFill>
              <a:srgbClr val="1F3864"/>
            </a:solidFill>
            <a:prstDash val="solid"/>
          </a:ln>
        </p:spPr>
      </p:sp>
      <p:sp>
        <p:nvSpPr>
          <p:cNvPr id="58" name="Shape 56"/>
          <p:cNvSpPr/>
          <p:nvPr/>
        </p:nvSpPr>
        <p:spPr>
          <a:xfrm>
            <a:off x="5372100" y="4468368"/>
            <a:ext cx="128016" cy="128016"/>
          </a:xfrm>
          <a:prstGeom prst="ellipse">
            <a:avLst/>
          </a:prstGeom>
          <a:solidFill>
            <a:srgbClr val="FFFFFF"/>
          </a:solidFill>
          <a:ln w="12700">
            <a:solidFill>
              <a:srgbClr val="1F3864"/>
            </a:solidFill>
            <a:prstDash val="solid"/>
          </a:ln>
        </p:spPr>
      </p:sp>
      <p:sp>
        <p:nvSpPr>
          <p:cNvPr id="59" name="Shape 57"/>
          <p:cNvSpPr/>
          <p:nvPr/>
        </p:nvSpPr>
        <p:spPr>
          <a:xfrm>
            <a:off x="5372100" y="4986528"/>
            <a:ext cx="128016" cy="128016"/>
          </a:xfrm>
          <a:prstGeom prst="ellipse">
            <a:avLst/>
          </a:prstGeom>
          <a:solidFill>
            <a:srgbClr val="FFFFFF"/>
          </a:solidFill>
          <a:ln w="12700">
            <a:solidFill>
              <a:srgbClr val="1F3864"/>
            </a:solidFill>
            <a:prstDash val="solid"/>
          </a:ln>
        </p:spPr>
      </p:sp>
      <p:sp>
        <p:nvSpPr>
          <p:cNvPr id="60" name="Shape 58"/>
          <p:cNvSpPr/>
          <p:nvPr/>
        </p:nvSpPr>
        <p:spPr>
          <a:xfrm>
            <a:off x="5372100" y="5504688"/>
            <a:ext cx="128016" cy="128016"/>
          </a:xfrm>
          <a:prstGeom prst="ellipse">
            <a:avLst/>
          </a:prstGeom>
          <a:solidFill>
            <a:srgbClr val="FFFFFF"/>
          </a:solidFill>
          <a:ln w="12700">
            <a:solidFill>
              <a:srgbClr val="1F3864"/>
            </a:solidFill>
            <a:prstDash val="solid"/>
          </a:ln>
        </p:spPr>
      </p:sp>
      <p:sp>
        <p:nvSpPr>
          <p:cNvPr id="61" name="Shape 59"/>
          <p:cNvSpPr/>
          <p:nvPr/>
        </p:nvSpPr>
        <p:spPr>
          <a:xfrm>
            <a:off x="5372100" y="6022848"/>
            <a:ext cx="128016" cy="128016"/>
          </a:xfrm>
          <a:prstGeom prst="ellipse">
            <a:avLst/>
          </a:prstGeom>
          <a:solidFill>
            <a:srgbClr val="FFFFFF"/>
          </a:solidFill>
          <a:ln w="12700">
            <a:solidFill>
              <a:srgbClr val="1F3864"/>
            </a:solidFill>
            <a:prstDash val="solid"/>
          </a:ln>
        </p:spPr>
      </p:sp>
      <p:sp>
        <p:nvSpPr>
          <p:cNvPr id="62" name="Shape 60"/>
          <p:cNvSpPr/>
          <p:nvPr/>
        </p:nvSpPr>
        <p:spPr>
          <a:xfrm>
            <a:off x="6688836" y="2395728"/>
            <a:ext cx="128016" cy="128016"/>
          </a:xfrm>
          <a:prstGeom prst="ellipse">
            <a:avLst/>
          </a:prstGeom>
          <a:solidFill>
            <a:srgbClr val="FFFFFF"/>
          </a:solidFill>
          <a:ln w="12700">
            <a:solidFill>
              <a:srgbClr val="C0752A"/>
            </a:solidFill>
            <a:prstDash val="solid"/>
          </a:ln>
        </p:spPr>
      </p:sp>
      <p:sp>
        <p:nvSpPr>
          <p:cNvPr id="63" name="Shape 61"/>
          <p:cNvSpPr/>
          <p:nvPr/>
        </p:nvSpPr>
        <p:spPr>
          <a:xfrm>
            <a:off x="6688836" y="2913888"/>
            <a:ext cx="128016" cy="128016"/>
          </a:xfrm>
          <a:prstGeom prst="ellipse">
            <a:avLst/>
          </a:prstGeom>
          <a:solidFill>
            <a:srgbClr val="FFFFFF"/>
          </a:solidFill>
          <a:ln w="12700">
            <a:solidFill>
              <a:srgbClr val="C0752A"/>
            </a:solidFill>
            <a:prstDash val="solid"/>
          </a:ln>
        </p:spPr>
      </p:sp>
      <p:sp>
        <p:nvSpPr>
          <p:cNvPr id="64" name="Shape 62"/>
          <p:cNvSpPr/>
          <p:nvPr/>
        </p:nvSpPr>
        <p:spPr>
          <a:xfrm>
            <a:off x="6688836" y="3432048"/>
            <a:ext cx="128016" cy="128016"/>
          </a:xfrm>
          <a:prstGeom prst="ellipse">
            <a:avLst/>
          </a:prstGeom>
          <a:solidFill>
            <a:srgbClr val="FFFFFF"/>
          </a:solidFill>
          <a:ln w="12700">
            <a:solidFill>
              <a:srgbClr val="C0752A"/>
            </a:solidFill>
            <a:prstDash val="solid"/>
          </a:ln>
        </p:spPr>
      </p:sp>
      <p:sp>
        <p:nvSpPr>
          <p:cNvPr id="65" name="Shape 63"/>
          <p:cNvSpPr/>
          <p:nvPr/>
        </p:nvSpPr>
        <p:spPr>
          <a:xfrm>
            <a:off x="6688836" y="3950208"/>
            <a:ext cx="128016" cy="128016"/>
          </a:xfrm>
          <a:prstGeom prst="ellipse">
            <a:avLst/>
          </a:prstGeom>
          <a:solidFill>
            <a:srgbClr val="FFFFFF"/>
          </a:solidFill>
          <a:ln w="12700">
            <a:solidFill>
              <a:srgbClr val="C0752A"/>
            </a:solidFill>
            <a:prstDash val="solid"/>
          </a:ln>
        </p:spPr>
      </p:sp>
      <p:sp>
        <p:nvSpPr>
          <p:cNvPr id="66" name="Shape 64"/>
          <p:cNvSpPr/>
          <p:nvPr/>
        </p:nvSpPr>
        <p:spPr>
          <a:xfrm>
            <a:off x="6688836" y="4468368"/>
            <a:ext cx="128016" cy="128016"/>
          </a:xfrm>
          <a:prstGeom prst="ellipse">
            <a:avLst/>
          </a:prstGeom>
          <a:solidFill>
            <a:srgbClr val="FFFFFF"/>
          </a:solidFill>
          <a:ln w="12700">
            <a:solidFill>
              <a:srgbClr val="C0752A"/>
            </a:solidFill>
            <a:prstDash val="solid"/>
          </a:ln>
        </p:spPr>
      </p:sp>
      <p:sp>
        <p:nvSpPr>
          <p:cNvPr id="67" name="Shape 65"/>
          <p:cNvSpPr/>
          <p:nvPr/>
        </p:nvSpPr>
        <p:spPr>
          <a:xfrm>
            <a:off x="6688836" y="4986528"/>
            <a:ext cx="128016" cy="128016"/>
          </a:xfrm>
          <a:prstGeom prst="ellipse">
            <a:avLst/>
          </a:prstGeom>
          <a:solidFill>
            <a:srgbClr val="FFFFFF"/>
          </a:solidFill>
          <a:ln w="12700">
            <a:solidFill>
              <a:srgbClr val="C0752A"/>
            </a:solidFill>
            <a:prstDash val="solid"/>
          </a:ln>
        </p:spPr>
      </p:sp>
      <p:sp>
        <p:nvSpPr>
          <p:cNvPr id="68" name="Shape 66"/>
          <p:cNvSpPr/>
          <p:nvPr/>
        </p:nvSpPr>
        <p:spPr>
          <a:xfrm>
            <a:off x="6688836" y="5504688"/>
            <a:ext cx="128016" cy="128016"/>
          </a:xfrm>
          <a:prstGeom prst="ellipse">
            <a:avLst/>
          </a:prstGeom>
          <a:solidFill>
            <a:srgbClr val="FFFFFF"/>
          </a:solidFill>
          <a:ln w="12700">
            <a:solidFill>
              <a:srgbClr val="C0752A"/>
            </a:solidFill>
            <a:prstDash val="solid"/>
          </a:ln>
        </p:spPr>
      </p:sp>
      <p:sp>
        <p:nvSpPr>
          <p:cNvPr id="69" name="Shape 67"/>
          <p:cNvSpPr/>
          <p:nvPr/>
        </p:nvSpPr>
        <p:spPr>
          <a:xfrm>
            <a:off x="6688836" y="6022848"/>
            <a:ext cx="128016" cy="128016"/>
          </a:xfrm>
          <a:prstGeom prst="ellipse">
            <a:avLst/>
          </a:prstGeom>
          <a:solidFill>
            <a:srgbClr val="FFFFFF"/>
          </a:solidFill>
          <a:ln w="12700">
            <a:solidFill>
              <a:srgbClr val="C0752A"/>
            </a:solidFill>
            <a:prstDash val="solid"/>
          </a:ln>
        </p:spPr>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What professionals do with an alarm — match the blocks</a:t>
            </a:r>
            <a:endParaRPr lang="en-US" sz="3200" dirty="0"/>
          </a:p>
        </p:txBody>
      </p:sp>
      <p:sp>
        <p:nvSpPr>
          <p:cNvPr id="3" name="tag"/>
          <p:cNvSpPr/>
          <p:nvPr/>
        </p:nvSpPr>
        <p:spPr>
          <a:xfrm>
            <a:off x="548640" y="384048"/>
            <a:ext cx="13944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WORD FILE</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15</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Never: ✗ </a:t>
            </a:r>
            <a:r>
              <a:rPr lang="en-US" sz="1600" i="1" dirty="0">
                <a:solidFill>
                  <a:schemeClr val="accent5"/>
                </a:solidFill>
              </a:rPr>
              <a:t>lift the alarm</a:t>
            </a:r>
            <a:r>
              <a:rPr lang="en-US" sz="1600" i="1" dirty="0">
                <a:solidFill>
                  <a:schemeClr val="accent5"/>
                </a:solidFill>
              </a:rPr>
              <a:t> · ✗ </a:t>
            </a:r>
            <a:r>
              <a:rPr lang="en-US" sz="1600" i="1" dirty="0">
                <a:solidFill>
                  <a:schemeClr val="accent5"/>
                </a:solidFill>
              </a:rPr>
              <a:t>count the damage</a:t>
            </a:r>
            <a:r>
              <a:rPr lang="en-US" sz="1600" i="1" dirty="0">
                <a:solidFill>
                  <a:schemeClr val="accent5"/>
                </a:solidFill>
              </a:rPr>
              <a:t> · ✗ </a:t>
            </a:r>
            <a:r>
              <a:rPr lang="en-US" sz="1600" i="1" dirty="0">
                <a:solidFill>
                  <a:schemeClr val="accent5"/>
                </a:solidFill>
              </a:rPr>
              <a:t>do steps</a:t>
            </a:r>
            <a:r>
              <a:rPr lang="en-US" sz="1600" i="1" dirty="0">
                <a:solidFill>
                  <a:schemeClr val="accent5"/>
                </a:solidFill>
              </a:rPr>
              <a:t> · ✗ </a:t>
            </a:r>
            <a:r>
              <a:rPr lang="en-US" sz="1600" i="1" dirty="0">
                <a:solidFill>
                  <a:schemeClr val="accent5"/>
                </a:solidFill>
              </a:rPr>
              <a:t>respect a deadline</a:t>
            </a:r>
            <a:r>
              <a:rPr lang="en-US" sz="1600" i="1" dirty="0">
                <a:solidFill>
                  <a:schemeClr val="accent5"/>
                </a:solidFill>
              </a:rPr>
              <a:t> — say the </a:t>
            </a:r>
            <a:r>
              <a:rPr lang="en-US" sz="1600" b="1" i="1" dirty="0">
                <a:solidFill>
                  <a:schemeClr val="accent5"/>
                </a:solidFill>
              </a:rPr>
              <a:t>block</a:t>
            </a:r>
            <a:r>
              <a:rPr lang="en-US" sz="1600" i="1" dirty="0">
                <a:solidFill>
                  <a:schemeClr val="accent5"/>
                </a:solidFill>
              </a:rPr>
              <a:t>.</a:t>
            </a:r>
            <a:endParaRPr lang="en-US" sz="1600" dirty="0"/>
          </a:p>
        </p:txBody>
      </p:sp>
      <p:sp>
        <p:nvSpPr>
          <p:cNvPr id="7" name="Shape 5"/>
          <p:cNvSpPr/>
          <p:nvPr/>
        </p:nvSpPr>
        <p:spPr>
          <a:xfrm>
            <a:off x="548640" y="2237232"/>
            <a:ext cx="4860036" cy="445008"/>
          </a:xfrm>
          <a:prstGeom prst="roundRect">
            <a:avLst>
              <a:gd name="adj" fmla="val 16438"/>
            </a:avLst>
          </a:prstGeom>
          <a:solidFill>
            <a:srgbClr val="EEF2F8"/>
          </a:solidFill>
          <a:ln w="9525">
            <a:solidFill>
              <a:srgbClr val="D5DCE6"/>
            </a:solidFill>
            <a:prstDash val="solid"/>
          </a:ln>
        </p:spPr>
      </p:sp>
      <p:sp>
        <p:nvSpPr>
          <p:cNvPr id="8" name="Text 6"/>
          <p:cNvSpPr/>
          <p:nvPr/>
        </p:nvSpPr>
        <p:spPr>
          <a:xfrm>
            <a:off x="658368" y="228600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115568" y="223723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raise</a:t>
            </a:r>
            <a:endParaRPr lang="en-US" sz="1800" dirty="0"/>
          </a:p>
        </p:txBody>
      </p:sp>
      <p:sp>
        <p:nvSpPr>
          <p:cNvPr id="10" name="Text 8"/>
          <p:cNvSpPr txBox="1"/>
          <p:nvPr/>
        </p:nvSpPr>
        <p:spPr>
          <a:xfrm>
            <a:off x="2295144" y="2237232"/>
            <a:ext cx="3003804" cy="445008"/>
          </a:xfrm>
          <a:prstGeom prst="rect">
            <a:avLst/>
          </a:prstGeom>
          <a:noFill/>
          <a:ln/>
        </p:spPr>
        <p:txBody>
          <a:bodyPr wrap="square" lIns="0" tIns="0" rIns="0" bIns="0" rtlCol="0" anchor="ctr"/>
          <a:lstStyle/>
          <a:p>
            <a:pPr algn="r" indent="0" marL="0">
              <a:buNone/>
            </a:pPr>
            <a:r>
              <a:rPr lang="en-US" sz="1300" i="1" dirty="0">
                <a:solidFill>
                  <a:schemeClr val="accent5"/>
                </a:solidFill>
              </a:rPr>
              <a:t>donner l’alerte</a:t>
            </a:r>
            <a:endParaRPr lang="en-US" sz="1300" dirty="0"/>
          </a:p>
        </p:txBody>
      </p:sp>
      <p:sp>
        <p:nvSpPr>
          <p:cNvPr id="11" name="Shape 9"/>
          <p:cNvSpPr/>
          <p:nvPr/>
        </p:nvSpPr>
        <p:spPr>
          <a:xfrm>
            <a:off x="548640" y="2755392"/>
            <a:ext cx="4860036" cy="445008"/>
          </a:xfrm>
          <a:prstGeom prst="roundRect">
            <a:avLst>
              <a:gd name="adj" fmla="val 16438"/>
            </a:avLst>
          </a:prstGeom>
          <a:solidFill>
            <a:srgbClr val="EEF2F8"/>
          </a:solidFill>
          <a:ln w="9525">
            <a:solidFill>
              <a:srgbClr val="D5DCE6"/>
            </a:solidFill>
            <a:prstDash val="solid"/>
          </a:ln>
        </p:spPr>
      </p:sp>
      <p:sp>
        <p:nvSpPr>
          <p:cNvPr id="12" name="Text 10"/>
          <p:cNvSpPr/>
          <p:nvPr/>
        </p:nvSpPr>
        <p:spPr>
          <a:xfrm>
            <a:off x="658368" y="280416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1"/>
          <p:cNvSpPr txBox="1"/>
          <p:nvPr/>
        </p:nvSpPr>
        <p:spPr>
          <a:xfrm>
            <a:off x="1115568" y="275539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assess</a:t>
            </a:r>
            <a:endParaRPr lang="en-US" sz="1800" dirty="0"/>
          </a:p>
        </p:txBody>
      </p:sp>
      <p:sp>
        <p:nvSpPr>
          <p:cNvPr id="14" name="Text 12"/>
          <p:cNvSpPr txBox="1"/>
          <p:nvPr/>
        </p:nvSpPr>
        <p:spPr>
          <a:xfrm>
            <a:off x="2414016" y="2755392"/>
            <a:ext cx="2884932" cy="445008"/>
          </a:xfrm>
          <a:prstGeom prst="rect">
            <a:avLst/>
          </a:prstGeom>
          <a:noFill/>
          <a:ln/>
        </p:spPr>
        <p:txBody>
          <a:bodyPr wrap="square" lIns="0" tIns="0" rIns="0" bIns="0" rtlCol="0" anchor="ctr"/>
          <a:lstStyle/>
          <a:p>
            <a:pPr algn="r" indent="0" marL="0">
              <a:buNone/>
            </a:pPr>
            <a:r>
              <a:rPr lang="en-US" sz="1300" i="1" dirty="0">
                <a:solidFill>
                  <a:schemeClr val="accent5"/>
                </a:solidFill>
              </a:rPr>
              <a:t>évaluer les dégâts</a:t>
            </a:r>
            <a:endParaRPr lang="en-US" sz="1300" dirty="0"/>
          </a:p>
        </p:txBody>
      </p:sp>
      <p:sp>
        <p:nvSpPr>
          <p:cNvPr id="15" name="Shape 13"/>
          <p:cNvSpPr/>
          <p:nvPr/>
        </p:nvSpPr>
        <p:spPr>
          <a:xfrm>
            <a:off x="548640" y="3273552"/>
            <a:ext cx="4860036" cy="445008"/>
          </a:xfrm>
          <a:prstGeom prst="roundRect">
            <a:avLst>
              <a:gd name="adj" fmla="val 16438"/>
            </a:avLst>
          </a:prstGeom>
          <a:solidFill>
            <a:srgbClr val="EEF2F8"/>
          </a:solidFill>
          <a:ln w="9525">
            <a:solidFill>
              <a:srgbClr val="D5DCE6"/>
            </a:solidFill>
            <a:prstDash val="solid"/>
          </a:ln>
        </p:spPr>
      </p:sp>
      <p:sp>
        <p:nvSpPr>
          <p:cNvPr id="16" name="Text 14"/>
          <p:cNvSpPr/>
          <p:nvPr/>
        </p:nvSpPr>
        <p:spPr>
          <a:xfrm>
            <a:off x="658368" y="332232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1115568" y="327355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file</a:t>
            </a:r>
            <a:endParaRPr lang="en-US" sz="1800" dirty="0"/>
          </a:p>
        </p:txBody>
      </p:sp>
      <p:sp>
        <p:nvSpPr>
          <p:cNvPr id="18" name="Text 16"/>
          <p:cNvSpPr txBox="1"/>
          <p:nvPr/>
        </p:nvSpPr>
        <p:spPr>
          <a:xfrm>
            <a:off x="2176272" y="3273552"/>
            <a:ext cx="3122676" cy="445008"/>
          </a:xfrm>
          <a:prstGeom prst="rect">
            <a:avLst/>
          </a:prstGeom>
          <a:noFill/>
          <a:ln/>
        </p:spPr>
        <p:txBody>
          <a:bodyPr wrap="square" lIns="0" tIns="0" rIns="0" bIns="0" rtlCol="0" anchor="ctr"/>
          <a:lstStyle/>
          <a:p>
            <a:pPr algn="r" indent="0" marL="0">
              <a:buNone/>
            </a:pPr>
            <a:r>
              <a:rPr lang="en-US" sz="1300" i="1" dirty="0">
                <a:solidFill>
                  <a:schemeClr val="accent5"/>
                </a:solidFill>
              </a:rPr>
              <a:t>déclarer un sinistre</a:t>
            </a:r>
            <a:endParaRPr lang="en-US" sz="1300" dirty="0"/>
          </a:p>
        </p:txBody>
      </p:sp>
      <p:sp>
        <p:nvSpPr>
          <p:cNvPr id="19" name="Shape 17"/>
          <p:cNvSpPr/>
          <p:nvPr/>
        </p:nvSpPr>
        <p:spPr>
          <a:xfrm>
            <a:off x="548640" y="3791712"/>
            <a:ext cx="4860036" cy="445008"/>
          </a:xfrm>
          <a:prstGeom prst="roundRect">
            <a:avLst>
              <a:gd name="adj" fmla="val 16438"/>
            </a:avLst>
          </a:prstGeom>
          <a:solidFill>
            <a:srgbClr val="EEF2F8"/>
          </a:solidFill>
          <a:ln w="9525">
            <a:solidFill>
              <a:srgbClr val="D5DCE6"/>
            </a:solidFill>
            <a:prstDash val="solid"/>
          </a:ln>
        </p:spPr>
      </p:sp>
      <p:sp>
        <p:nvSpPr>
          <p:cNvPr id="20" name="Text 18"/>
          <p:cNvSpPr/>
          <p:nvPr/>
        </p:nvSpPr>
        <p:spPr>
          <a:xfrm>
            <a:off x="658368" y="384048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9"/>
          <p:cNvSpPr txBox="1"/>
          <p:nvPr/>
        </p:nvSpPr>
        <p:spPr>
          <a:xfrm>
            <a:off x="1115568" y="379171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take</a:t>
            </a:r>
            <a:endParaRPr lang="en-US" sz="1800" dirty="0"/>
          </a:p>
        </p:txBody>
      </p:sp>
      <p:sp>
        <p:nvSpPr>
          <p:cNvPr id="22" name="Text 20"/>
          <p:cNvSpPr txBox="1"/>
          <p:nvPr/>
        </p:nvSpPr>
        <p:spPr>
          <a:xfrm>
            <a:off x="2176272" y="3791712"/>
            <a:ext cx="3122676" cy="445008"/>
          </a:xfrm>
          <a:prstGeom prst="rect">
            <a:avLst/>
          </a:prstGeom>
          <a:noFill/>
          <a:ln/>
        </p:spPr>
        <p:txBody>
          <a:bodyPr wrap="square" lIns="0" tIns="0" rIns="0" bIns="0" rtlCol="0" anchor="ctr"/>
          <a:lstStyle/>
          <a:p>
            <a:pPr algn="r" indent="0" marL="0">
              <a:buNone/>
            </a:pPr>
            <a:r>
              <a:rPr lang="en-US" sz="1300" i="1" dirty="0">
                <a:solidFill>
                  <a:schemeClr val="accent5"/>
                </a:solidFill>
              </a:rPr>
              <a:t>prendre des mesures</a:t>
            </a:r>
            <a:endParaRPr lang="en-US" sz="1300" dirty="0"/>
          </a:p>
        </p:txBody>
      </p:sp>
      <p:sp>
        <p:nvSpPr>
          <p:cNvPr id="23" name="Shape 21"/>
          <p:cNvSpPr/>
          <p:nvPr/>
        </p:nvSpPr>
        <p:spPr>
          <a:xfrm>
            <a:off x="548640" y="4309872"/>
            <a:ext cx="4860036" cy="445008"/>
          </a:xfrm>
          <a:prstGeom prst="roundRect">
            <a:avLst>
              <a:gd name="adj" fmla="val 16438"/>
            </a:avLst>
          </a:prstGeom>
          <a:solidFill>
            <a:srgbClr val="EEF2F8"/>
          </a:solidFill>
          <a:ln w="9525">
            <a:solidFill>
              <a:srgbClr val="D5DCE6"/>
            </a:solidFill>
            <a:prstDash val="solid"/>
          </a:ln>
        </p:spPr>
      </p:sp>
      <p:sp>
        <p:nvSpPr>
          <p:cNvPr id="24" name="Text 22"/>
          <p:cNvSpPr/>
          <p:nvPr/>
        </p:nvSpPr>
        <p:spPr>
          <a:xfrm>
            <a:off x="658368" y="435864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5" name="Text 23"/>
          <p:cNvSpPr txBox="1"/>
          <p:nvPr/>
        </p:nvSpPr>
        <p:spPr>
          <a:xfrm>
            <a:off x="1115568" y="430987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draw up</a:t>
            </a:r>
            <a:endParaRPr lang="en-US" sz="1800" dirty="0"/>
          </a:p>
        </p:txBody>
      </p:sp>
      <p:sp>
        <p:nvSpPr>
          <p:cNvPr id="26" name="Text 24"/>
          <p:cNvSpPr txBox="1"/>
          <p:nvPr/>
        </p:nvSpPr>
        <p:spPr>
          <a:xfrm>
            <a:off x="2532888" y="4309872"/>
            <a:ext cx="2766060" cy="445008"/>
          </a:xfrm>
          <a:prstGeom prst="rect">
            <a:avLst/>
          </a:prstGeom>
          <a:noFill/>
          <a:ln/>
        </p:spPr>
        <p:txBody>
          <a:bodyPr wrap="square" lIns="0" tIns="0" rIns="0" bIns="0" rtlCol="0" anchor="ctr"/>
          <a:lstStyle/>
          <a:p>
            <a:pPr algn="r" indent="0" marL="0">
              <a:buNone/>
            </a:pPr>
            <a:r>
              <a:rPr lang="en-US" sz="1300" i="1" dirty="0">
                <a:solidFill>
                  <a:schemeClr val="accent5"/>
                </a:solidFill>
              </a:rPr>
              <a:t>rédiger un rapport</a:t>
            </a:r>
            <a:endParaRPr lang="en-US" sz="1300" dirty="0"/>
          </a:p>
        </p:txBody>
      </p:sp>
      <p:sp>
        <p:nvSpPr>
          <p:cNvPr id="27" name="Shape 25"/>
          <p:cNvSpPr/>
          <p:nvPr/>
        </p:nvSpPr>
        <p:spPr>
          <a:xfrm>
            <a:off x="548640" y="4828032"/>
            <a:ext cx="4860036" cy="445008"/>
          </a:xfrm>
          <a:prstGeom prst="roundRect">
            <a:avLst>
              <a:gd name="adj" fmla="val 16438"/>
            </a:avLst>
          </a:prstGeom>
          <a:solidFill>
            <a:srgbClr val="EEF2F8"/>
          </a:solidFill>
          <a:ln w="9525">
            <a:solidFill>
              <a:srgbClr val="D5DCE6"/>
            </a:solidFill>
            <a:prstDash val="solid"/>
          </a:ln>
        </p:spPr>
      </p:sp>
      <p:sp>
        <p:nvSpPr>
          <p:cNvPr id="28" name="Text 26"/>
          <p:cNvSpPr/>
          <p:nvPr/>
        </p:nvSpPr>
        <p:spPr>
          <a:xfrm>
            <a:off x="658368" y="487680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9" name="Text 27"/>
          <p:cNvSpPr txBox="1"/>
          <p:nvPr/>
        </p:nvSpPr>
        <p:spPr>
          <a:xfrm>
            <a:off x="1115568" y="482803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carry out</a:t>
            </a:r>
            <a:endParaRPr lang="en-US" sz="1800" dirty="0"/>
          </a:p>
        </p:txBody>
      </p:sp>
      <p:sp>
        <p:nvSpPr>
          <p:cNvPr id="30" name="Text 28"/>
          <p:cNvSpPr txBox="1"/>
          <p:nvPr/>
        </p:nvSpPr>
        <p:spPr>
          <a:xfrm>
            <a:off x="2770632" y="4828032"/>
            <a:ext cx="2528316" cy="445008"/>
          </a:xfrm>
          <a:prstGeom prst="rect">
            <a:avLst/>
          </a:prstGeom>
          <a:noFill/>
          <a:ln/>
        </p:spPr>
        <p:txBody>
          <a:bodyPr wrap="square" lIns="0" tIns="0" rIns="0" bIns="0" rtlCol="0" anchor="ctr"/>
          <a:lstStyle/>
          <a:p>
            <a:pPr algn="r" indent="0" marL="0">
              <a:buNone/>
            </a:pPr>
            <a:r>
              <a:rPr lang="en-US" sz="1300" i="1" dirty="0">
                <a:solidFill>
                  <a:schemeClr val="accent5"/>
                </a:solidFill>
              </a:rPr>
              <a:t>effectuer une inspection</a:t>
            </a:r>
            <a:endParaRPr lang="en-US" sz="1300" dirty="0"/>
          </a:p>
        </p:txBody>
      </p:sp>
      <p:sp>
        <p:nvSpPr>
          <p:cNvPr id="31" name="Shape 29"/>
          <p:cNvSpPr/>
          <p:nvPr/>
        </p:nvSpPr>
        <p:spPr>
          <a:xfrm>
            <a:off x="548640" y="5346192"/>
            <a:ext cx="4860036" cy="445008"/>
          </a:xfrm>
          <a:prstGeom prst="roundRect">
            <a:avLst>
              <a:gd name="adj" fmla="val 16438"/>
            </a:avLst>
          </a:prstGeom>
          <a:solidFill>
            <a:srgbClr val="EEF2F8"/>
          </a:solidFill>
          <a:ln w="9525">
            <a:solidFill>
              <a:srgbClr val="D5DCE6"/>
            </a:solidFill>
            <a:prstDash val="solid"/>
          </a:ln>
        </p:spPr>
      </p:sp>
      <p:sp>
        <p:nvSpPr>
          <p:cNvPr id="32" name="Text 30"/>
          <p:cNvSpPr/>
          <p:nvPr/>
        </p:nvSpPr>
        <p:spPr>
          <a:xfrm>
            <a:off x="658368" y="539496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3" name="Text 31"/>
          <p:cNvSpPr txBox="1"/>
          <p:nvPr/>
        </p:nvSpPr>
        <p:spPr>
          <a:xfrm>
            <a:off x="1115568" y="534619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meet</a:t>
            </a:r>
            <a:endParaRPr lang="en-US" sz="1800" dirty="0"/>
          </a:p>
        </p:txBody>
      </p:sp>
      <p:sp>
        <p:nvSpPr>
          <p:cNvPr id="34" name="Text 32"/>
          <p:cNvSpPr txBox="1"/>
          <p:nvPr/>
        </p:nvSpPr>
        <p:spPr>
          <a:xfrm>
            <a:off x="2176272" y="5346192"/>
            <a:ext cx="3122676" cy="445008"/>
          </a:xfrm>
          <a:prstGeom prst="rect">
            <a:avLst/>
          </a:prstGeom>
          <a:noFill/>
          <a:ln/>
        </p:spPr>
        <p:txBody>
          <a:bodyPr wrap="square" lIns="0" tIns="0" rIns="0" bIns="0" rtlCol="0" anchor="ctr"/>
          <a:lstStyle/>
          <a:p>
            <a:pPr algn="r" indent="0" marL="0">
              <a:buNone/>
            </a:pPr>
            <a:r>
              <a:rPr lang="en-US" sz="1300" i="1" dirty="0">
                <a:solidFill>
                  <a:schemeClr val="accent5"/>
                </a:solidFill>
              </a:rPr>
              <a:t>respecter un délai</a:t>
            </a:r>
            <a:endParaRPr lang="en-US" sz="1300" dirty="0"/>
          </a:p>
        </p:txBody>
      </p:sp>
      <p:sp>
        <p:nvSpPr>
          <p:cNvPr id="35" name="Shape 33"/>
          <p:cNvSpPr/>
          <p:nvPr/>
        </p:nvSpPr>
        <p:spPr>
          <a:xfrm>
            <a:off x="548640" y="5864352"/>
            <a:ext cx="4860036" cy="445008"/>
          </a:xfrm>
          <a:prstGeom prst="roundRect">
            <a:avLst>
              <a:gd name="adj" fmla="val 16438"/>
            </a:avLst>
          </a:prstGeom>
          <a:solidFill>
            <a:srgbClr val="EEF2F8"/>
          </a:solidFill>
          <a:ln w="9525">
            <a:solidFill>
              <a:srgbClr val="D5DCE6"/>
            </a:solidFill>
            <a:prstDash val="solid"/>
          </a:ln>
        </p:spPr>
      </p:sp>
      <p:sp>
        <p:nvSpPr>
          <p:cNvPr id="36" name="Text 34"/>
          <p:cNvSpPr/>
          <p:nvPr/>
        </p:nvSpPr>
        <p:spPr>
          <a:xfrm>
            <a:off x="658368" y="5913120"/>
            <a:ext cx="347472" cy="347472"/>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37" name="Text 35"/>
          <p:cNvSpPr txBox="1"/>
          <p:nvPr/>
        </p:nvSpPr>
        <p:spPr>
          <a:xfrm>
            <a:off x="1115568" y="5864352"/>
            <a:ext cx="4201668" cy="445008"/>
          </a:xfrm>
          <a:prstGeom prst="rect">
            <a:avLst/>
          </a:prstGeom>
          <a:noFill/>
          <a:ln/>
        </p:spPr>
        <p:txBody>
          <a:bodyPr wrap="square" lIns="0" tIns="0" rIns="0" bIns="0" rtlCol="0" anchor="ctr"/>
          <a:lstStyle/>
          <a:p>
            <a:pPr indent="0" marL="0">
              <a:buNone/>
            </a:pPr>
            <a:r>
              <a:rPr lang="en-US" sz="1800" b="1" dirty="0">
                <a:solidFill>
                  <a:schemeClr val="tx2"/>
                </a:solidFill>
              </a:rPr>
              <a:t>to make good</a:t>
            </a:r>
            <a:endParaRPr lang="en-US" sz="1800" dirty="0"/>
          </a:p>
        </p:txBody>
      </p:sp>
      <p:sp>
        <p:nvSpPr>
          <p:cNvPr id="38" name="Text 36"/>
          <p:cNvSpPr txBox="1"/>
          <p:nvPr/>
        </p:nvSpPr>
        <p:spPr>
          <a:xfrm>
            <a:off x="2770632" y="5864352"/>
            <a:ext cx="2528316" cy="445008"/>
          </a:xfrm>
          <a:prstGeom prst="rect">
            <a:avLst/>
          </a:prstGeom>
          <a:noFill/>
          <a:ln/>
        </p:spPr>
        <p:txBody>
          <a:bodyPr wrap="square" lIns="0" tIns="0" rIns="0" bIns="0" rtlCol="0" anchor="ctr"/>
          <a:lstStyle/>
          <a:p>
            <a:pPr algn="r" indent="0" marL="0">
              <a:buNone/>
            </a:pPr>
            <a:r>
              <a:rPr lang="en-US" sz="1300" i="1" dirty="0">
                <a:solidFill>
                  <a:schemeClr val="accent5"/>
                </a:solidFill>
              </a:rPr>
              <a:t>remettre en état</a:t>
            </a:r>
            <a:endParaRPr lang="en-US" sz="1300" dirty="0"/>
          </a:p>
        </p:txBody>
      </p:sp>
      <p:sp>
        <p:nvSpPr>
          <p:cNvPr id="39" name="Shape 37"/>
          <p:cNvSpPr/>
          <p:nvPr/>
        </p:nvSpPr>
        <p:spPr>
          <a:xfrm>
            <a:off x="6780276" y="2237232"/>
            <a:ext cx="4860036" cy="445008"/>
          </a:xfrm>
          <a:prstGeom prst="roundRect">
            <a:avLst>
              <a:gd name="adj" fmla="val 16438"/>
            </a:avLst>
          </a:prstGeom>
          <a:solidFill>
            <a:srgbClr val="FFFFFF"/>
          </a:solidFill>
          <a:ln w="9525">
            <a:solidFill>
              <a:srgbClr val="D5DCE6"/>
            </a:solidFill>
            <a:prstDash val="solid"/>
          </a:ln>
        </p:spPr>
      </p:sp>
      <p:sp>
        <p:nvSpPr>
          <p:cNvPr id="40" name="Text 38"/>
          <p:cNvSpPr/>
          <p:nvPr/>
        </p:nvSpPr>
        <p:spPr>
          <a:xfrm>
            <a:off x="6890004" y="228600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A</a:t>
            </a:r>
            <a:endParaRPr lang="en-US" sz="1300" dirty="0"/>
          </a:p>
        </p:txBody>
      </p:sp>
      <p:sp>
        <p:nvSpPr>
          <p:cNvPr id="41" name="Text 39"/>
          <p:cNvSpPr txBox="1"/>
          <p:nvPr/>
        </p:nvSpPr>
        <p:spPr>
          <a:xfrm>
            <a:off x="7347204" y="2237232"/>
            <a:ext cx="4201668" cy="445008"/>
          </a:xfrm>
          <a:prstGeom prst="rect">
            <a:avLst/>
          </a:prstGeom>
          <a:noFill/>
          <a:ln/>
        </p:spPr>
        <p:txBody>
          <a:bodyPr wrap="square" lIns="0" tIns="0" rIns="0" bIns="0" rtlCol="0" anchor="ctr"/>
          <a:lstStyle/>
          <a:p>
            <a:pPr indent="0" marL="0">
              <a:buNone/>
            </a:pPr>
            <a:r>
              <a:rPr lang="en-US" sz="1800" dirty="0">
                <a:solidFill>
                  <a:schemeClr val="tx1"/>
                </a:solidFill>
              </a:rPr>
              <a:t>an inspection</a:t>
            </a:r>
            <a:endParaRPr lang="en-US" sz="1800" dirty="0"/>
          </a:p>
        </p:txBody>
      </p:sp>
      <p:sp>
        <p:nvSpPr>
          <p:cNvPr id="42" name="Shape 40"/>
          <p:cNvSpPr/>
          <p:nvPr/>
        </p:nvSpPr>
        <p:spPr>
          <a:xfrm>
            <a:off x="6780276" y="2755392"/>
            <a:ext cx="4860036" cy="445008"/>
          </a:xfrm>
          <a:prstGeom prst="roundRect">
            <a:avLst>
              <a:gd name="adj" fmla="val 16438"/>
            </a:avLst>
          </a:prstGeom>
          <a:solidFill>
            <a:srgbClr val="FFFFFF"/>
          </a:solidFill>
          <a:ln w="9525">
            <a:solidFill>
              <a:srgbClr val="D5DCE6"/>
            </a:solidFill>
            <a:prstDash val="solid"/>
          </a:ln>
        </p:spPr>
      </p:sp>
      <p:sp>
        <p:nvSpPr>
          <p:cNvPr id="43" name="Text 41"/>
          <p:cNvSpPr/>
          <p:nvPr/>
        </p:nvSpPr>
        <p:spPr>
          <a:xfrm>
            <a:off x="6890004" y="280416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B</a:t>
            </a:r>
            <a:endParaRPr lang="en-US" sz="1300" dirty="0"/>
          </a:p>
        </p:txBody>
      </p:sp>
      <p:sp>
        <p:nvSpPr>
          <p:cNvPr id="44" name="Text 42"/>
          <p:cNvSpPr txBox="1"/>
          <p:nvPr/>
        </p:nvSpPr>
        <p:spPr>
          <a:xfrm>
            <a:off x="7347204" y="2755392"/>
            <a:ext cx="4201668" cy="445008"/>
          </a:xfrm>
          <a:prstGeom prst="rect">
            <a:avLst/>
          </a:prstGeom>
          <a:noFill/>
          <a:ln/>
        </p:spPr>
        <p:txBody>
          <a:bodyPr wrap="square" lIns="0" tIns="0" rIns="0" bIns="0" rtlCol="0" anchor="ctr"/>
          <a:lstStyle/>
          <a:p>
            <a:pPr indent="0" marL="0">
              <a:buNone/>
            </a:pPr>
            <a:r>
              <a:rPr lang="en-US" sz="1800" dirty="0">
                <a:solidFill>
                  <a:schemeClr val="tx1"/>
                </a:solidFill>
              </a:rPr>
              <a:t>a claim</a:t>
            </a:r>
            <a:endParaRPr lang="en-US" sz="1800" dirty="0"/>
          </a:p>
        </p:txBody>
      </p:sp>
      <p:sp>
        <p:nvSpPr>
          <p:cNvPr id="45" name="Shape 43"/>
          <p:cNvSpPr/>
          <p:nvPr/>
        </p:nvSpPr>
        <p:spPr>
          <a:xfrm>
            <a:off x="6780276" y="3273552"/>
            <a:ext cx="4860036" cy="445008"/>
          </a:xfrm>
          <a:prstGeom prst="roundRect">
            <a:avLst>
              <a:gd name="adj" fmla="val 16438"/>
            </a:avLst>
          </a:prstGeom>
          <a:solidFill>
            <a:srgbClr val="FFFFFF"/>
          </a:solidFill>
          <a:ln w="9525">
            <a:solidFill>
              <a:srgbClr val="D5DCE6"/>
            </a:solidFill>
            <a:prstDash val="solid"/>
          </a:ln>
        </p:spPr>
      </p:sp>
      <p:sp>
        <p:nvSpPr>
          <p:cNvPr id="46" name="Text 44"/>
          <p:cNvSpPr/>
          <p:nvPr/>
        </p:nvSpPr>
        <p:spPr>
          <a:xfrm>
            <a:off x="6890004" y="332232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C</a:t>
            </a:r>
            <a:endParaRPr lang="en-US" sz="1300" dirty="0"/>
          </a:p>
        </p:txBody>
      </p:sp>
      <p:sp>
        <p:nvSpPr>
          <p:cNvPr id="47" name="Text 45"/>
          <p:cNvSpPr txBox="1"/>
          <p:nvPr/>
        </p:nvSpPr>
        <p:spPr>
          <a:xfrm>
            <a:off x="7347204" y="3273552"/>
            <a:ext cx="4201668" cy="445008"/>
          </a:xfrm>
          <a:prstGeom prst="rect">
            <a:avLst/>
          </a:prstGeom>
          <a:noFill/>
          <a:ln/>
        </p:spPr>
        <p:txBody>
          <a:bodyPr wrap="square" lIns="0" tIns="0" rIns="0" bIns="0" rtlCol="0" anchor="ctr"/>
          <a:lstStyle/>
          <a:p>
            <a:pPr indent="0" marL="0">
              <a:buNone/>
            </a:pPr>
            <a:r>
              <a:rPr lang="en-US" sz="1800" dirty="0">
                <a:solidFill>
                  <a:schemeClr val="tx1"/>
                </a:solidFill>
              </a:rPr>
              <a:t>the floor</a:t>
            </a:r>
            <a:endParaRPr lang="en-US" sz="1800" dirty="0"/>
          </a:p>
        </p:txBody>
      </p:sp>
      <p:sp>
        <p:nvSpPr>
          <p:cNvPr id="48" name="Shape 46"/>
          <p:cNvSpPr/>
          <p:nvPr/>
        </p:nvSpPr>
        <p:spPr>
          <a:xfrm>
            <a:off x="6780276" y="3791712"/>
            <a:ext cx="4860036" cy="445008"/>
          </a:xfrm>
          <a:prstGeom prst="roundRect">
            <a:avLst>
              <a:gd name="adj" fmla="val 16438"/>
            </a:avLst>
          </a:prstGeom>
          <a:solidFill>
            <a:srgbClr val="FFFFFF"/>
          </a:solidFill>
          <a:ln w="9525">
            <a:solidFill>
              <a:srgbClr val="D5DCE6"/>
            </a:solidFill>
            <a:prstDash val="solid"/>
          </a:ln>
        </p:spPr>
      </p:sp>
      <p:sp>
        <p:nvSpPr>
          <p:cNvPr id="49" name="Text 47"/>
          <p:cNvSpPr/>
          <p:nvPr/>
        </p:nvSpPr>
        <p:spPr>
          <a:xfrm>
            <a:off x="6890004" y="384048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D</a:t>
            </a:r>
            <a:endParaRPr lang="en-US" sz="1300" dirty="0"/>
          </a:p>
        </p:txBody>
      </p:sp>
      <p:sp>
        <p:nvSpPr>
          <p:cNvPr id="50" name="Text 48"/>
          <p:cNvSpPr txBox="1"/>
          <p:nvPr/>
        </p:nvSpPr>
        <p:spPr>
          <a:xfrm>
            <a:off x="7347204" y="3791712"/>
            <a:ext cx="4201668" cy="445008"/>
          </a:xfrm>
          <a:prstGeom prst="rect">
            <a:avLst/>
          </a:prstGeom>
          <a:noFill/>
          <a:ln/>
        </p:spPr>
        <p:txBody>
          <a:bodyPr wrap="square" lIns="0" tIns="0" rIns="0" bIns="0" rtlCol="0" anchor="ctr"/>
          <a:lstStyle/>
          <a:p>
            <a:pPr indent="0" marL="0">
              <a:buNone/>
            </a:pPr>
            <a:r>
              <a:rPr lang="en-US" sz="1800" dirty="0">
                <a:solidFill>
                  <a:schemeClr val="tx1"/>
                </a:solidFill>
              </a:rPr>
              <a:t>the alarm</a:t>
            </a:r>
            <a:endParaRPr lang="en-US" sz="1800" dirty="0"/>
          </a:p>
        </p:txBody>
      </p:sp>
      <p:sp>
        <p:nvSpPr>
          <p:cNvPr id="51" name="Shape 49"/>
          <p:cNvSpPr/>
          <p:nvPr/>
        </p:nvSpPr>
        <p:spPr>
          <a:xfrm>
            <a:off x="6780276" y="4309872"/>
            <a:ext cx="4860036" cy="445008"/>
          </a:xfrm>
          <a:prstGeom prst="roundRect">
            <a:avLst>
              <a:gd name="adj" fmla="val 16438"/>
            </a:avLst>
          </a:prstGeom>
          <a:solidFill>
            <a:srgbClr val="FFFFFF"/>
          </a:solidFill>
          <a:ln w="9525">
            <a:solidFill>
              <a:srgbClr val="D5DCE6"/>
            </a:solidFill>
            <a:prstDash val="solid"/>
          </a:ln>
        </p:spPr>
      </p:sp>
      <p:sp>
        <p:nvSpPr>
          <p:cNvPr id="52" name="Text 50"/>
          <p:cNvSpPr/>
          <p:nvPr/>
        </p:nvSpPr>
        <p:spPr>
          <a:xfrm>
            <a:off x="6890004" y="435864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E</a:t>
            </a:r>
            <a:endParaRPr lang="en-US" sz="1300" dirty="0"/>
          </a:p>
        </p:txBody>
      </p:sp>
      <p:sp>
        <p:nvSpPr>
          <p:cNvPr id="53" name="Text 51"/>
          <p:cNvSpPr txBox="1"/>
          <p:nvPr/>
        </p:nvSpPr>
        <p:spPr>
          <a:xfrm>
            <a:off x="7347204" y="4309872"/>
            <a:ext cx="4201668" cy="445008"/>
          </a:xfrm>
          <a:prstGeom prst="rect">
            <a:avLst/>
          </a:prstGeom>
          <a:noFill/>
          <a:ln/>
        </p:spPr>
        <p:txBody>
          <a:bodyPr wrap="square" lIns="0" tIns="0" rIns="0" bIns="0" rtlCol="0" anchor="ctr"/>
          <a:lstStyle/>
          <a:p>
            <a:pPr indent="0" marL="0">
              <a:buNone/>
            </a:pPr>
            <a:r>
              <a:rPr lang="en-US" sz="1800" dirty="0">
                <a:solidFill>
                  <a:schemeClr val="tx1"/>
                </a:solidFill>
              </a:rPr>
              <a:t>steps</a:t>
            </a:r>
            <a:endParaRPr lang="en-US" sz="1800" dirty="0"/>
          </a:p>
        </p:txBody>
      </p:sp>
      <p:sp>
        <p:nvSpPr>
          <p:cNvPr id="54" name="Shape 52"/>
          <p:cNvSpPr/>
          <p:nvPr/>
        </p:nvSpPr>
        <p:spPr>
          <a:xfrm>
            <a:off x="6780276" y="4828032"/>
            <a:ext cx="4860036" cy="445008"/>
          </a:xfrm>
          <a:prstGeom prst="roundRect">
            <a:avLst>
              <a:gd name="adj" fmla="val 16438"/>
            </a:avLst>
          </a:prstGeom>
          <a:solidFill>
            <a:srgbClr val="FFFFFF"/>
          </a:solidFill>
          <a:ln w="9525">
            <a:solidFill>
              <a:srgbClr val="D5DCE6"/>
            </a:solidFill>
            <a:prstDash val="solid"/>
          </a:ln>
        </p:spPr>
      </p:sp>
      <p:sp>
        <p:nvSpPr>
          <p:cNvPr id="55" name="Text 53"/>
          <p:cNvSpPr/>
          <p:nvPr/>
        </p:nvSpPr>
        <p:spPr>
          <a:xfrm>
            <a:off x="6890004" y="487680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56" name="Text 54"/>
          <p:cNvSpPr txBox="1"/>
          <p:nvPr/>
        </p:nvSpPr>
        <p:spPr>
          <a:xfrm>
            <a:off x="7347204" y="4828032"/>
            <a:ext cx="4201668" cy="445008"/>
          </a:xfrm>
          <a:prstGeom prst="rect">
            <a:avLst/>
          </a:prstGeom>
          <a:noFill/>
          <a:ln/>
        </p:spPr>
        <p:txBody>
          <a:bodyPr wrap="square" lIns="0" tIns="0" rIns="0" bIns="0" rtlCol="0" anchor="ctr"/>
          <a:lstStyle/>
          <a:p>
            <a:pPr indent="0" marL="0">
              <a:buNone/>
            </a:pPr>
            <a:r>
              <a:rPr lang="en-US" sz="1800" dirty="0">
                <a:solidFill>
                  <a:schemeClr val="tx1"/>
                </a:solidFill>
              </a:rPr>
              <a:t>a deadline</a:t>
            </a:r>
            <a:endParaRPr lang="en-US" sz="1800" dirty="0"/>
          </a:p>
        </p:txBody>
      </p:sp>
      <p:sp>
        <p:nvSpPr>
          <p:cNvPr id="57" name="Shape 55"/>
          <p:cNvSpPr/>
          <p:nvPr/>
        </p:nvSpPr>
        <p:spPr>
          <a:xfrm>
            <a:off x="6780276" y="5346192"/>
            <a:ext cx="4860036" cy="445008"/>
          </a:xfrm>
          <a:prstGeom prst="roundRect">
            <a:avLst>
              <a:gd name="adj" fmla="val 16438"/>
            </a:avLst>
          </a:prstGeom>
          <a:solidFill>
            <a:srgbClr val="FFFFFF"/>
          </a:solidFill>
          <a:ln w="9525">
            <a:solidFill>
              <a:srgbClr val="D5DCE6"/>
            </a:solidFill>
            <a:prstDash val="solid"/>
          </a:ln>
        </p:spPr>
      </p:sp>
      <p:sp>
        <p:nvSpPr>
          <p:cNvPr id="58" name="Text 56"/>
          <p:cNvSpPr/>
          <p:nvPr/>
        </p:nvSpPr>
        <p:spPr>
          <a:xfrm>
            <a:off x="6890004" y="539496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G</a:t>
            </a:r>
            <a:endParaRPr lang="en-US" sz="1300" dirty="0"/>
          </a:p>
        </p:txBody>
      </p:sp>
      <p:sp>
        <p:nvSpPr>
          <p:cNvPr id="59" name="Text 57"/>
          <p:cNvSpPr txBox="1"/>
          <p:nvPr/>
        </p:nvSpPr>
        <p:spPr>
          <a:xfrm>
            <a:off x="7347204" y="5346192"/>
            <a:ext cx="4201668" cy="445008"/>
          </a:xfrm>
          <a:prstGeom prst="rect">
            <a:avLst/>
          </a:prstGeom>
          <a:noFill/>
          <a:ln/>
        </p:spPr>
        <p:txBody>
          <a:bodyPr wrap="square" lIns="0" tIns="0" rIns="0" bIns="0" rtlCol="0" anchor="ctr"/>
          <a:lstStyle/>
          <a:p>
            <a:pPr indent="0" marL="0">
              <a:buNone/>
            </a:pPr>
            <a:r>
              <a:rPr lang="en-US" sz="1800" dirty="0">
                <a:solidFill>
                  <a:schemeClr val="tx1"/>
                </a:solidFill>
              </a:rPr>
              <a:t>the damage</a:t>
            </a:r>
            <a:endParaRPr lang="en-US" sz="1800" dirty="0"/>
          </a:p>
        </p:txBody>
      </p:sp>
      <p:sp>
        <p:nvSpPr>
          <p:cNvPr id="60" name="Shape 58"/>
          <p:cNvSpPr/>
          <p:nvPr/>
        </p:nvSpPr>
        <p:spPr>
          <a:xfrm>
            <a:off x="6780276" y="5864352"/>
            <a:ext cx="4860036" cy="445008"/>
          </a:xfrm>
          <a:prstGeom prst="roundRect">
            <a:avLst>
              <a:gd name="adj" fmla="val 16438"/>
            </a:avLst>
          </a:prstGeom>
          <a:solidFill>
            <a:srgbClr val="FFFFFF"/>
          </a:solidFill>
          <a:ln w="9525">
            <a:solidFill>
              <a:srgbClr val="D5DCE6"/>
            </a:solidFill>
            <a:prstDash val="solid"/>
          </a:ln>
        </p:spPr>
      </p:sp>
      <p:sp>
        <p:nvSpPr>
          <p:cNvPr id="61" name="Text 59"/>
          <p:cNvSpPr/>
          <p:nvPr/>
        </p:nvSpPr>
        <p:spPr>
          <a:xfrm>
            <a:off x="6890004" y="5913120"/>
            <a:ext cx="347472" cy="347472"/>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H</a:t>
            </a:r>
            <a:endParaRPr lang="en-US" sz="1300" dirty="0"/>
          </a:p>
        </p:txBody>
      </p:sp>
      <p:sp>
        <p:nvSpPr>
          <p:cNvPr id="62" name="Text 60"/>
          <p:cNvSpPr txBox="1"/>
          <p:nvPr/>
        </p:nvSpPr>
        <p:spPr>
          <a:xfrm>
            <a:off x="7347204" y="5864352"/>
            <a:ext cx="4201668" cy="445008"/>
          </a:xfrm>
          <a:prstGeom prst="rect">
            <a:avLst/>
          </a:prstGeom>
          <a:noFill/>
          <a:ln/>
        </p:spPr>
        <p:txBody>
          <a:bodyPr wrap="square" lIns="0" tIns="0" rIns="0" bIns="0" rtlCol="0" anchor="ctr"/>
          <a:lstStyle/>
          <a:p>
            <a:pPr indent="0" marL="0">
              <a:buNone/>
            </a:pPr>
            <a:r>
              <a:rPr lang="en-US" sz="1800" dirty="0">
                <a:solidFill>
                  <a:schemeClr val="tx1"/>
                </a:solidFill>
              </a:rPr>
              <a:t>a report</a:t>
            </a:r>
            <a:endParaRPr lang="en-US" sz="1800" dirty="0"/>
          </a:p>
        </p:txBody>
      </p:sp>
      <p:sp>
        <p:nvSpPr>
          <p:cNvPr id="63" name="Shape 61"/>
          <p:cNvSpPr/>
          <p:nvPr/>
        </p:nvSpPr>
        <p:spPr>
          <a:xfrm>
            <a:off x="5445252" y="2459736"/>
            <a:ext cx="1298448" cy="1554480"/>
          </a:xfrm>
          <a:prstGeom prst="line">
            <a:avLst/>
          </a:prstGeom>
          <a:noFill/>
          <a:ln w="28575">
            <a:solidFill>
              <a:srgbClr val="3C7A3C"/>
            </a:solidFill>
            <a:prstDash val="solid"/>
          </a:ln>
        </p:spPr>
      </p:sp>
      <p:sp>
        <p:nvSpPr>
          <p:cNvPr id="64" name="Shape 62"/>
          <p:cNvSpPr/>
          <p:nvPr/>
        </p:nvSpPr>
        <p:spPr>
          <a:xfrm>
            <a:off x="5372100" y="2395728"/>
            <a:ext cx="128016" cy="128016"/>
          </a:xfrm>
          <a:prstGeom prst="ellipse">
            <a:avLst/>
          </a:prstGeom>
          <a:solidFill>
            <a:srgbClr val="3C7A3C"/>
          </a:solidFill>
          <a:ln/>
        </p:spPr>
      </p:sp>
      <p:sp>
        <p:nvSpPr>
          <p:cNvPr id="65" name="Shape 63"/>
          <p:cNvSpPr/>
          <p:nvPr/>
        </p:nvSpPr>
        <p:spPr>
          <a:xfrm>
            <a:off x="6688836" y="3950208"/>
            <a:ext cx="128016" cy="128016"/>
          </a:xfrm>
          <a:prstGeom prst="ellipse">
            <a:avLst/>
          </a:prstGeom>
          <a:solidFill>
            <a:srgbClr val="3C7A3C"/>
          </a:solidFill>
          <a:ln/>
        </p:spPr>
      </p:sp>
      <p:sp>
        <p:nvSpPr>
          <p:cNvPr id="66" name="Shape 64"/>
          <p:cNvSpPr/>
          <p:nvPr/>
        </p:nvSpPr>
        <p:spPr>
          <a:xfrm>
            <a:off x="5445252" y="2977896"/>
            <a:ext cx="1298448" cy="2590800"/>
          </a:xfrm>
          <a:prstGeom prst="line">
            <a:avLst/>
          </a:prstGeom>
          <a:noFill/>
          <a:ln w="28575">
            <a:solidFill>
              <a:srgbClr val="3C7A3C"/>
            </a:solidFill>
            <a:prstDash val="solid"/>
          </a:ln>
        </p:spPr>
      </p:sp>
      <p:sp>
        <p:nvSpPr>
          <p:cNvPr id="67" name="Shape 65"/>
          <p:cNvSpPr/>
          <p:nvPr/>
        </p:nvSpPr>
        <p:spPr>
          <a:xfrm>
            <a:off x="5372100" y="2913888"/>
            <a:ext cx="128016" cy="128016"/>
          </a:xfrm>
          <a:prstGeom prst="ellipse">
            <a:avLst/>
          </a:prstGeom>
          <a:solidFill>
            <a:srgbClr val="3C7A3C"/>
          </a:solidFill>
          <a:ln/>
        </p:spPr>
      </p:sp>
      <p:sp>
        <p:nvSpPr>
          <p:cNvPr id="68" name="Shape 66"/>
          <p:cNvSpPr/>
          <p:nvPr/>
        </p:nvSpPr>
        <p:spPr>
          <a:xfrm>
            <a:off x="6688836" y="5504688"/>
            <a:ext cx="128016" cy="128016"/>
          </a:xfrm>
          <a:prstGeom prst="ellipse">
            <a:avLst/>
          </a:prstGeom>
          <a:solidFill>
            <a:srgbClr val="3C7A3C"/>
          </a:solidFill>
          <a:ln/>
        </p:spPr>
      </p:sp>
      <p:sp>
        <p:nvSpPr>
          <p:cNvPr id="69" name="Shape 67"/>
          <p:cNvSpPr/>
          <p:nvPr/>
        </p:nvSpPr>
        <p:spPr>
          <a:xfrm flipV="1">
            <a:off x="5445252" y="2977896"/>
            <a:ext cx="1298448" cy="518160"/>
          </a:xfrm>
          <a:prstGeom prst="line">
            <a:avLst/>
          </a:prstGeom>
          <a:noFill/>
          <a:ln w="28575">
            <a:solidFill>
              <a:srgbClr val="3C7A3C"/>
            </a:solidFill>
            <a:prstDash val="solid"/>
          </a:ln>
        </p:spPr>
      </p:sp>
      <p:sp>
        <p:nvSpPr>
          <p:cNvPr id="70" name="Shape 68"/>
          <p:cNvSpPr/>
          <p:nvPr/>
        </p:nvSpPr>
        <p:spPr>
          <a:xfrm>
            <a:off x="5372100" y="3432048"/>
            <a:ext cx="128016" cy="128016"/>
          </a:xfrm>
          <a:prstGeom prst="ellipse">
            <a:avLst/>
          </a:prstGeom>
          <a:solidFill>
            <a:srgbClr val="3C7A3C"/>
          </a:solidFill>
          <a:ln/>
        </p:spPr>
      </p:sp>
      <p:sp>
        <p:nvSpPr>
          <p:cNvPr id="71" name="Shape 69"/>
          <p:cNvSpPr/>
          <p:nvPr/>
        </p:nvSpPr>
        <p:spPr>
          <a:xfrm>
            <a:off x="6688836" y="2913888"/>
            <a:ext cx="128016" cy="128016"/>
          </a:xfrm>
          <a:prstGeom prst="ellipse">
            <a:avLst/>
          </a:prstGeom>
          <a:solidFill>
            <a:srgbClr val="3C7A3C"/>
          </a:solidFill>
          <a:ln/>
        </p:spPr>
      </p:sp>
      <p:sp>
        <p:nvSpPr>
          <p:cNvPr id="72" name="Shape 70"/>
          <p:cNvSpPr/>
          <p:nvPr/>
        </p:nvSpPr>
        <p:spPr>
          <a:xfrm>
            <a:off x="5445252" y="4014216"/>
            <a:ext cx="1298448" cy="518160"/>
          </a:xfrm>
          <a:prstGeom prst="line">
            <a:avLst/>
          </a:prstGeom>
          <a:noFill/>
          <a:ln w="28575">
            <a:solidFill>
              <a:srgbClr val="3C7A3C"/>
            </a:solidFill>
            <a:prstDash val="solid"/>
          </a:ln>
        </p:spPr>
      </p:sp>
      <p:sp>
        <p:nvSpPr>
          <p:cNvPr id="73" name="Shape 71"/>
          <p:cNvSpPr/>
          <p:nvPr/>
        </p:nvSpPr>
        <p:spPr>
          <a:xfrm>
            <a:off x="5372100" y="3950208"/>
            <a:ext cx="128016" cy="128016"/>
          </a:xfrm>
          <a:prstGeom prst="ellipse">
            <a:avLst/>
          </a:prstGeom>
          <a:solidFill>
            <a:srgbClr val="3C7A3C"/>
          </a:solidFill>
          <a:ln/>
        </p:spPr>
      </p:sp>
      <p:sp>
        <p:nvSpPr>
          <p:cNvPr id="74" name="Shape 72"/>
          <p:cNvSpPr/>
          <p:nvPr/>
        </p:nvSpPr>
        <p:spPr>
          <a:xfrm>
            <a:off x="6688836" y="4468368"/>
            <a:ext cx="128016" cy="128016"/>
          </a:xfrm>
          <a:prstGeom prst="ellipse">
            <a:avLst/>
          </a:prstGeom>
          <a:solidFill>
            <a:srgbClr val="3C7A3C"/>
          </a:solidFill>
          <a:ln/>
        </p:spPr>
      </p:sp>
      <p:sp>
        <p:nvSpPr>
          <p:cNvPr id="75" name="Shape 73"/>
          <p:cNvSpPr/>
          <p:nvPr/>
        </p:nvSpPr>
        <p:spPr>
          <a:xfrm>
            <a:off x="5445252" y="4532376"/>
            <a:ext cx="1298448" cy="1554480"/>
          </a:xfrm>
          <a:prstGeom prst="line">
            <a:avLst/>
          </a:prstGeom>
          <a:noFill/>
          <a:ln w="28575">
            <a:solidFill>
              <a:srgbClr val="3C7A3C"/>
            </a:solidFill>
            <a:prstDash val="solid"/>
          </a:ln>
        </p:spPr>
      </p:sp>
      <p:sp>
        <p:nvSpPr>
          <p:cNvPr id="76" name="Shape 74"/>
          <p:cNvSpPr/>
          <p:nvPr/>
        </p:nvSpPr>
        <p:spPr>
          <a:xfrm>
            <a:off x="5372100" y="4468368"/>
            <a:ext cx="128016" cy="128016"/>
          </a:xfrm>
          <a:prstGeom prst="ellipse">
            <a:avLst/>
          </a:prstGeom>
          <a:solidFill>
            <a:srgbClr val="3C7A3C"/>
          </a:solidFill>
          <a:ln/>
        </p:spPr>
      </p:sp>
      <p:sp>
        <p:nvSpPr>
          <p:cNvPr id="77" name="Shape 75"/>
          <p:cNvSpPr/>
          <p:nvPr/>
        </p:nvSpPr>
        <p:spPr>
          <a:xfrm>
            <a:off x="6688836" y="6022848"/>
            <a:ext cx="128016" cy="128016"/>
          </a:xfrm>
          <a:prstGeom prst="ellipse">
            <a:avLst/>
          </a:prstGeom>
          <a:solidFill>
            <a:srgbClr val="3C7A3C"/>
          </a:solidFill>
          <a:ln/>
        </p:spPr>
      </p:sp>
      <p:sp>
        <p:nvSpPr>
          <p:cNvPr id="78" name="Shape 76"/>
          <p:cNvSpPr/>
          <p:nvPr/>
        </p:nvSpPr>
        <p:spPr>
          <a:xfrm flipV="1">
            <a:off x="5445252" y="2459736"/>
            <a:ext cx="1298448" cy="2590800"/>
          </a:xfrm>
          <a:prstGeom prst="line">
            <a:avLst/>
          </a:prstGeom>
          <a:noFill/>
          <a:ln w="28575">
            <a:solidFill>
              <a:srgbClr val="3C7A3C"/>
            </a:solidFill>
            <a:prstDash val="solid"/>
          </a:ln>
        </p:spPr>
      </p:sp>
      <p:sp>
        <p:nvSpPr>
          <p:cNvPr id="79" name="Shape 77"/>
          <p:cNvSpPr/>
          <p:nvPr/>
        </p:nvSpPr>
        <p:spPr>
          <a:xfrm>
            <a:off x="5372100" y="4986528"/>
            <a:ext cx="128016" cy="128016"/>
          </a:xfrm>
          <a:prstGeom prst="ellipse">
            <a:avLst/>
          </a:prstGeom>
          <a:solidFill>
            <a:srgbClr val="3C7A3C"/>
          </a:solidFill>
          <a:ln/>
        </p:spPr>
      </p:sp>
      <p:sp>
        <p:nvSpPr>
          <p:cNvPr id="80" name="Shape 78"/>
          <p:cNvSpPr/>
          <p:nvPr/>
        </p:nvSpPr>
        <p:spPr>
          <a:xfrm>
            <a:off x="6688836" y="2395728"/>
            <a:ext cx="128016" cy="128016"/>
          </a:xfrm>
          <a:prstGeom prst="ellipse">
            <a:avLst/>
          </a:prstGeom>
          <a:solidFill>
            <a:srgbClr val="3C7A3C"/>
          </a:solidFill>
          <a:ln/>
        </p:spPr>
      </p:sp>
      <p:sp>
        <p:nvSpPr>
          <p:cNvPr id="81" name="Shape 79"/>
          <p:cNvSpPr/>
          <p:nvPr/>
        </p:nvSpPr>
        <p:spPr>
          <a:xfrm flipV="1">
            <a:off x="5445252" y="5050536"/>
            <a:ext cx="1298448" cy="518160"/>
          </a:xfrm>
          <a:prstGeom prst="line">
            <a:avLst/>
          </a:prstGeom>
          <a:noFill/>
          <a:ln w="28575">
            <a:solidFill>
              <a:srgbClr val="3C7A3C"/>
            </a:solidFill>
            <a:prstDash val="solid"/>
          </a:ln>
        </p:spPr>
      </p:sp>
      <p:sp>
        <p:nvSpPr>
          <p:cNvPr id="82" name="Shape 80"/>
          <p:cNvSpPr/>
          <p:nvPr/>
        </p:nvSpPr>
        <p:spPr>
          <a:xfrm>
            <a:off x="5372100" y="5504688"/>
            <a:ext cx="128016" cy="128016"/>
          </a:xfrm>
          <a:prstGeom prst="ellipse">
            <a:avLst/>
          </a:prstGeom>
          <a:solidFill>
            <a:srgbClr val="3C7A3C"/>
          </a:solidFill>
          <a:ln/>
        </p:spPr>
      </p:sp>
      <p:sp>
        <p:nvSpPr>
          <p:cNvPr id="83" name="Shape 81"/>
          <p:cNvSpPr/>
          <p:nvPr/>
        </p:nvSpPr>
        <p:spPr>
          <a:xfrm>
            <a:off x="6688836" y="4986528"/>
            <a:ext cx="128016" cy="128016"/>
          </a:xfrm>
          <a:prstGeom prst="ellipse">
            <a:avLst/>
          </a:prstGeom>
          <a:solidFill>
            <a:srgbClr val="3C7A3C"/>
          </a:solidFill>
          <a:ln/>
        </p:spPr>
      </p:sp>
      <p:sp>
        <p:nvSpPr>
          <p:cNvPr id="84" name="Shape 82"/>
          <p:cNvSpPr/>
          <p:nvPr/>
        </p:nvSpPr>
        <p:spPr>
          <a:xfrm flipV="1">
            <a:off x="5445252" y="3496056"/>
            <a:ext cx="1298448" cy="2590800"/>
          </a:xfrm>
          <a:prstGeom prst="line">
            <a:avLst/>
          </a:prstGeom>
          <a:noFill/>
          <a:ln w="28575">
            <a:solidFill>
              <a:srgbClr val="3C7A3C"/>
            </a:solidFill>
            <a:prstDash val="solid"/>
          </a:ln>
        </p:spPr>
      </p:sp>
      <p:sp>
        <p:nvSpPr>
          <p:cNvPr id="85" name="Shape 83"/>
          <p:cNvSpPr/>
          <p:nvPr/>
        </p:nvSpPr>
        <p:spPr>
          <a:xfrm>
            <a:off x="5372100" y="6022848"/>
            <a:ext cx="128016" cy="128016"/>
          </a:xfrm>
          <a:prstGeom prst="ellipse">
            <a:avLst/>
          </a:prstGeom>
          <a:solidFill>
            <a:srgbClr val="3C7A3C"/>
          </a:solidFill>
          <a:ln/>
        </p:spPr>
      </p:sp>
      <p:sp>
        <p:nvSpPr>
          <p:cNvPr id="86" name="Shape 84"/>
          <p:cNvSpPr/>
          <p:nvPr/>
        </p:nvSpPr>
        <p:spPr>
          <a:xfrm>
            <a:off x="6688836" y="3432048"/>
            <a:ext cx="128016" cy="128016"/>
          </a:xfrm>
          <a:prstGeom prst="ellipse">
            <a:avLst/>
          </a:prstGeom>
          <a:solidFill>
            <a:srgbClr val="3C7A3C"/>
          </a:solidFill>
          <a:ln/>
        </p:spPr>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Mindmap — six verbs, eighteen blocks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MINDMAP</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15 · hors livret</a:t>
            </a:r>
            <a:endParaRPr lang="en-US" sz="1200" dirty="0"/>
          </a:p>
        </p:txBody>
      </p:sp>
      <p:sp>
        <p:nvSpPr>
          <p:cNvPr id="6" name="Shape 3"/>
          <p:cNvSpPr/>
          <p:nvPr/>
        </p:nvSpPr>
        <p:spPr>
          <a:xfrm flipH="1" flipV="1">
            <a:off x="5180076" y="2377440"/>
            <a:ext cx="536939" cy="966490"/>
          </a:xfrm>
          <a:prstGeom prst="line">
            <a:avLst/>
          </a:prstGeom>
          <a:noFill/>
          <a:ln w="28575">
            <a:solidFill>
              <a:srgbClr val="B03A2E"/>
            </a:solidFill>
            <a:prstDash val="solid"/>
          </a:ln>
        </p:spPr>
      </p:sp>
      <p:sp>
        <p:nvSpPr>
          <p:cNvPr id="7" name="Text 4"/>
          <p:cNvSpPr/>
          <p:nvPr/>
        </p:nvSpPr>
        <p:spPr>
          <a:xfrm>
            <a:off x="3579876" y="2176272"/>
            <a:ext cx="1600200" cy="402336"/>
          </a:xfrm>
          <a:prstGeom prst="roundRect">
            <a:avLst>
              <a:gd name="adj" fmla="val 50000"/>
            </a:avLst>
          </a:prstGeom>
          <a:solidFill>
            <a:srgbClr val="B03A2E"/>
          </a:solidFill>
          <a:ln/>
        </p:spPr>
        <p:txBody>
          <a:bodyPr wrap="square" lIns="0" tIns="0" rIns="0" bIns="0" rtlCol="0" anchor="ctr"/>
          <a:lstStyle/>
          <a:p>
            <a:pPr algn="ctr" indent="0" marL="0">
              <a:buNone/>
            </a:pPr>
            <a:r>
              <a:rPr lang="en-US" sz="1200" b="1" dirty="0">
                <a:solidFill>
                  <a:schemeClr val="bg1"/>
                </a:solidFill>
              </a:rPr>
              <a:t>RAISE</a:t>
            </a:r>
            <a:endParaRPr lang="en-US" sz="1200" dirty="0"/>
          </a:p>
        </p:txBody>
      </p:sp>
      <p:sp>
        <p:nvSpPr>
          <p:cNvPr id="8" name="Shape 5"/>
          <p:cNvSpPr/>
          <p:nvPr/>
        </p:nvSpPr>
        <p:spPr>
          <a:xfrm flipH="1" flipV="1">
            <a:off x="3351276" y="2002536"/>
            <a:ext cx="228600" cy="374904"/>
          </a:xfrm>
          <a:prstGeom prst="line">
            <a:avLst/>
          </a:prstGeom>
          <a:noFill/>
          <a:ln w="12700">
            <a:solidFill>
              <a:srgbClr val="B03A2E"/>
            </a:solidFill>
            <a:prstDash val="solid"/>
          </a:ln>
        </p:spPr>
      </p:sp>
      <p:sp>
        <p:nvSpPr>
          <p:cNvPr id="9" name="Text 6"/>
          <p:cNvSpPr/>
          <p:nvPr/>
        </p:nvSpPr>
        <p:spPr>
          <a:xfrm>
            <a:off x="2025396" y="1847088"/>
            <a:ext cx="1325880" cy="310896"/>
          </a:xfrm>
          <a:prstGeom prst="roundRect">
            <a:avLst>
              <a:gd name="adj" fmla="val 50000"/>
            </a:avLst>
          </a:prstGeom>
          <a:solidFill>
            <a:srgbClr val="FFFFFF"/>
          </a:solidFill>
          <a:ln w="15875">
            <a:solidFill>
              <a:srgbClr val="B03A2E"/>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alarm</a:t>
            </a:r>
            <a:endParaRPr lang="en-US" sz="1100" dirty="0"/>
          </a:p>
        </p:txBody>
      </p:sp>
      <p:sp>
        <p:nvSpPr>
          <p:cNvPr id="10" name="Shape 7"/>
          <p:cNvSpPr/>
          <p:nvPr/>
        </p:nvSpPr>
        <p:spPr>
          <a:xfrm flipH="1">
            <a:off x="1860804" y="2002536"/>
            <a:ext cx="164592" cy="0"/>
          </a:xfrm>
          <a:prstGeom prst="line">
            <a:avLst/>
          </a:prstGeom>
          <a:noFill/>
          <a:ln w="12700">
            <a:solidFill>
              <a:srgbClr val="B03A2E"/>
            </a:solidFill>
            <a:prstDash val="solid"/>
          </a:ln>
        </p:spPr>
      </p:sp>
      <p:sp>
        <p:nvSpPr>
          <p:cNvPr id="11" name="Text 8"/>
          <p:cNvSpPr/>
          <p:nvPr/>
        </p:nvSpPr>
        <p:spPr>
          <a:xfrm>
            <a:off x="534924" y="1847088"/>
            <a:ext cx="1325880" cy="310896"/>
          </a:xfrm>
          <a:prstGeom prst="roundRect">
            <a:avLst>
              <a:gd name="adj" fmla="val 50000"/>
            </a:avLst>
          </a:prstGeom>
          <a:solidFill>
            <a:srgbClr val="EEF2F8"/>
          </a:solidFill>
          <a:ln w="15875">
            <a:solidFill>
              <a:srgbClr val="B03A2E"/>
            </a:solidFill>
            <a:prstDash val="dash"/>
          </a:ln>
        </p:spPr>
        <p:txBody>
          <a:bodyPr wrap="square" lIns="0" tIns="0" rIns="0" bIns="0" rtlCol="0" anchor="ctr"/>
          <a:lstStyle/>
          <a:p>
            <a:pPr algn="ctr" indent="0" marL="0">
              <a:buNone/>
            </a:pPr>
            <a:r>
              <a:rPr lang="en-US" sz="1100" dirty="0">
                <a:solidFill>
                  <a:schemeClr val="tx1"/>
                </a:solidFill>
              </a:rPr>
              <a:t>donner l’alerte</a:t>
            </a:r>
            <a:endParaRPr lang="en-US" sz="1100" dirty="0"/>
          </a:p>
        </p:txBody>
      </p:sp>
      <p:sp>
        <p:nvSpPr>
          <p:cNvPr id="12" name="Shape 9"/>
          <p:cNvSpPr/>
          <p:nvPr/>
        </p:nvSpPr>
        <p:spPr>
          <a:xfrm flipH="1">
            <a:off x="3351276" y="2377440"/>
            <a:ext cx="228600" cy="0"/>
          </a:xfrm>
          <a:prstGeom prst="line">
            <a:avLst/>
          </a:prstGeom>
          <a:noFill/>
          <a:ln w="12700">
            <a:solidFill>
              <a:srgbClr val="B03A2E"/>
            </a:solidFill>
            <a:prstDash val="solid"/>
          </a:ln>
        </p:spPr>
      </p:sp>
      <p:sp>
        <p:nvSpPr>
          <p:cNvPr id="13" name="Text 10"/>
          <p:cNvSpPr/>
          <p:nvPr/>
        </p:nvSpPr>
        <p:spPr>
          <a:xfrm>
            <a:off x="2025396" y="2221992"/>
            <a:ext cx="1325880" cy="310896"/>
          </a:xfrm>
          <a:prstGeom prst="roundRect">
            <a:avLst>
              <a:gd name="adj" fmla="val 50000"/>
            </a:avLst>
          </a:prstGeom>
          <a:solidFill>
            <a:srgbClr val="FFFFFF"/>
          </a:solidFill>
          <a:ln w="15875">
            <a:solidFill>
              <a:srgbClr val="B03A2E"/>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red flag</a:t>
            </a:r>
            <a:endParaRPr lang="en-US" sz="1100" dirty="0"/>
          </a:p>
        </p:txBody>
      </p:sp>
      <p:sp>
        <p:nvSpPr>
          <p:cNvPr id="14" name="Shape 11"/>
          <p:cNvSpPr/>
          <p:nvPr/>
        </p:nvSpPr>
        <p:spPr>
          <a:xfrm flipH="1">
            <a:off x="1860804" y="2377440"/>
            <a:ext cx="164592" cy="0"/>
          </a:xfrm>
          <a:prstGeom prst="line">
            <a:avLst/>
          </a:prstGeom>
          <a:noFill/>
          <a:ln w="12700">
            <a:solidFill>
              <a:srgbClr val="B03A2E"/>
            </a:solidFill>
            <a:prstDash val="solid"/>
          </a:ln>
        </p:spPr>
      </p:sp>
      <p:sp>
        <p:nvSpPr>
          <p:cNvPr id="15" name="Text 12"/>
          <p:cNvSpPr/>
          <p:nvPr/>
        </p:nvSpPr>
        <p:spPr>
          <a:xfrm>
            <a:off x="534924" y="2221992"/>
            <a:ext cx="1325880" cy="310896"/>
          </a:xfrm>
          <a:prstGeom prst="roundRect">
            <a:avLst>
              <a:gd name="adj" fmla="val 50000"/>
            </a:avLst>
          </a:prstGeom>
          <a:solidFill>
            <a:srgbClr val="EEF2F8"/>
          </a:solidFill>
          <a:ln w="15875">
            <a:solidFill>
              <a:srgbClr val="B03A2E"/>
            </a:solidFill>
            <a:prstDash val="dash"/>
          </a:ln>
        </p:spPr>
        <p:txBody>
          <a:bodyPr wrap="square" lIns="0" tIns="0" rIns="0" bIns="0" rtlCol="0" anchor="ctr"/>
          <a:lstStyle/>
          <a:p>
            <a:pPr algn="ctr" indent="0" marL="0">
              <a:buNone/>
            </a:pPr>
            <a:r>
              <a:rPr lang="en-US" sz="1000" dirty="0">
                <a:solidFill>
                  <a:schemeClr val="tx1"/>
                </a:solidFill>
              </a:rPr>
              <a:t>signaler un risque</a:t>
            </a:r>
            <a:endParaRPr lang="en-US" sz="1000" dirty="0"/>
          </a:p>
        </p:txBody>
      </p:sp>
      <p:sp>
        <p:nvSpPr>
          <p:cNvPr id="16" name="Shape 13"/>
          <p:cNvSpPr/>
          <p:nvPr/>
        </p:nvSpPr>
        <p:spPr>
          <a:xfrm flipH="1">
            <a:off x="3351276" y="2377440"/>
            <a:ext cx="228600" cy="374904"/>
          </a:xfrm>
          <a:prstGeom prst="line">
            <a:avLst/>
          </a:prstGeom>
          <a:noFill/>
          <a:ln w="12700">
            <a:solidFill>
              <a:srgbClr val="B03A2E"/>
            </a:solidFill>
            <a:prstDash val="solid"/>
          </a:ln>
        </p:spPr>
      </p:sp>
      <p:sp>
        <p:nvSpPr>
          <p:cNvPr id="17" name="Text 14"/>
          <p:cNvSpPr/>
          <p:nvPr/>
        </p:nvSpPr>
        <p:spPr>
          <a:xfrm>
            <a:off x="2025396" y="2596896"/>
            <a:ext cx="1325880" cy="310896"/>
          </a:xfrm>
          <a:prstGeom prst="roundRect">
            <a:avLst>
              <a:gd name="adj" fmla="val 50000"/>
            </a:avLst>
          </a:prstGeom>
          <a:solidFill>
            <a:srgbClr val="FFFFFF"/>
          </a:solidFill>
          <a:ln w="15875">
            <a:solidFill>
              <a:srgbClr val="B03A2E"/>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question</a:t>
            </a:r>
            <a:endParaRPr lang="en-US" sz="1100" dirty="0"/>
          </a:p>
        </p:txBody>
      </p:sp>
      <p:sp>
        <p:nvSpPr>
          <p:cNvPr id="18" name="Shape 15"/>
          <p:cNvSpPr/>
          <p:nvPr/>
        </p:nvSpPr>
        <p:spPr>
          <a:xfrm flipH="1">
            <a:off x="1860804" y="2752344"/>
            <a:ext cx="164592" cy="0"/>
          </a:xfrm>
          <a:prstGeom prst="line">
            <a:avLst/>
          </a:prstGeom>
          <a:noFill/>
          <a:ln w="12700">
            <a:solidFill>
              <a:srgbClr val="B03A2E"/>
            </a:solidFill>
            <a:prstDash val="solid"/>
          </a:ln>
        </p:spPr>
      </p:sp>
      <p:sp>
        <p:nvSpPr>
          <p:cNvPr id="19" name="Text 16"/>
          <p:cNvSpPr/>
          <p:nvPr/>
        </p:nvSpPr>
        <p:spPr>
          <a:xfrm>
            <a:off x="534924" y="2596896"/>
            <a:ext cx="1325880" cy="310896"/>
          </a:xfrm>
          <a:prstGeom prst="roundRect">
            <a:avLst>
              <a:gd name="adj" fmla="val 50000"/>
            </a:avLst>
          </a:prstGeom>
          <a:solidFill>
            <a:srgbClr val="EEF2F8"/>
          </a:solidFill>
          <a:ln w="15875">
            <a:solidFill>
              <a:srgbClr val="B03A2E"/>
            </a:solidFill>
            <a:prstDash val="dash"/>
          </a:ln>
        </p:spPr>
        <p:txBody>
          <a:bodyPr wrap="square" lIns="0" tIns="0" rIns="0" bIns="0" rtlCol="0" anchor="ctr"/>
          <a:lstStyle/>
          <a:p>
            <a:pPr algn="ctr" indent="0" marL="0">
              <a:buNone/>
            </a:pPr>
            <a:r>
              <a:rPr lang="en-US" sz="1000" dirty="0">
                <a:solidFill>
                  <a:schemeClr val="tx1"/>
                </a:solidFill>
              </a:rPr>
              <a:t>poser une question</a:t>
            </a:r>
            <a:endParaRPr lang="en-US" sz="1000" dirty="0"/>
          </a:p>
        </p:txBody>
      </p:sp>
      <p:sp>
        <p:nvSpPr>
          <p:cNvPr id="20" name="Shape 17"/>
          <p:cNvSpPr/>
          <p:nvPr/>
        </p:nvSpPr>
        <p:spPr>
          <a:xfrm flipH="1">
            <a:off x="5180076" y="4023360"/>
            <a:ext cx="137160" cy="0"/>
          </a:xfrm>
          <a:prstGeom prst="line">
            <a:avLst/>
          </a:prstGeom>
          <a:noFill/>
          <a:ln w="28575">
            <a:solidFill>
              <a:srgbClr val="2E75B6"/>
            </a:solidFill>
            <a:prstDash val="solid"/>
          </a:ln>
        </p:spPr>
      </p:sp>
      <p:sp>
        <p:nvSpPr>
          <p:cNvPr id="21" name="Text 18"/>
          <p:cNvSpPr/>
          <p:nvPr/>
        </p:nvSpPr>
        <p:spPr>
          <a:xfrm>
            <a:off x="3579876" y="3822192"/>
            <a:ext cx="1600200" cy="402336"/>
          </a:xfrm>
          <a:prstGeom prst="roundRect">
            <a:avLst>
              <a:gd name="adj" fmla="val 50000"/>
            </a:avLst>
          </a:prstGeom>
          <a:solidFill>
            <a:srgbClr val="2E75B6"/>
          </a:solidFill>
          <a:ln/>
        </p:spPr>
        <p:txBody>
          <a:bodyPr wrap="square" lIns="0" tIns="0" rIns="0" bIns="0" rtlCol="0" anchor="ctr"/>
          <a:lstStyle/>
          <a:p>
            <a:pPr algn="ctr" indent="0" marL="0">
              <a:buNone/>
            </a:pPr>
            <a:r>
              <a:rPr lang="en-US" sz="1200" b="1" dirty="0">
                <a:solidFill>
                  <a:schemeClr val="bg1"/>
                </a:solidFill>
              </a:rPr>
              <a:t>FILE</a:t>
            </a:r>
            <a:endParaRPr lang="en-US" sz="1200" dirty="0"/>
          </a:p>
        </p:txBody>
      </p:sp>
      <p:sp>
        <p:nvSpPr>
          <p:cNvPr id="22" name="Shape 19"/>
          <p:cNvSpPr/>
          <p:nvPr/>
        </p:nvSpPr>
        <p:spPr>
          <a:xfrm flipH="1" flipV="1">
            <a:off x="3351276" y="3648456"/>
            <a:ext cx="228600" cy="374904"/>
          </a:xfrm>
          <a:prstGeom prst="line">
            <a:avLst/>
          </a:prstGeom>
          <a:noFill/>
          <a:ln w="12700">
            <a:solidFill>
              <a:srgbClr val="2E75B6"/>
            </a:solidFill>
            <a:prstDash val="solid"/>
          </a:ln>
        </p:spPr>
      </p:sp>
      <p:sp>
        <p:nvSpPr>
          <p:cNvPr id="23" name="Text 20"/>
          <p:cNvSpPr/>
          <p:nvPr/>
        </p:nvSpPr>
        <p:spPr>
          <a:xfrm>
            <a:off x="2025396" y="3493008"/>
            <a:ext cx="1325880" cy="310896"/>
          </a:xfrm>
          <a:prstGeom prst="roundRect">
            <a:avLst>
              <a:gd name="adj" fmla="val 50000"/>
            </a:avLst>
          </a:prstGeom>
          <a:solidFill>
            <a:srgbClr val="FFFFFF"/>
          </a:solidFill>
          <a:ln w="15875">
            <a:solidFill>
              <a:srgbClr val="2E75B6"/>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claim</a:t>
            </a:r>
            <a:endParaRPr lang="en-US" sz="1100" dirty="0"/>
          </a:p>
        </p:txBody>
      </p:sp>
      <p:sp>
        <p:nvSpPr>
          <p:cNvPr id="24" name="Shape 21"/>
          <p:cNvSpPr/>
          <p:nvPr/>
        </p:nvSpPr>
        <p:spPr>
          <a:xfrm flipH="1">
            <a:off x="1860804" y="3648456"/>
            <a:ext cx="164592" cy="0"/>
          </a:xfrm>
          <a:prstGeom prst="line">
            <a:avLst/>
          </a:prstGeom>
          <a:noFill/>
          <a:ln w="12700">
            <a:solidFill>
              <a:srgbClr val="2E75B6"/>
            </a:solidFill>
            <a:prstDash val="solid"/>
          </a:ln>
        </p:spPr>
      </p:sp>
      <p:sp>
        <p:nvSpPr>
          <p:cNvPr id="25" name="Text 22"/>
          <p:cNvSpPr/>
          <p:nvPr/>
        </p:nvSpPr>
        <p:spPr>
          <a:xfrm>
            <a:off x="534924" y="3493008"/>
            <a:ext cx="1325880" cy="310896"/>
          </a:xfrm>
          <a:prstGeom prst="roundRect">
            <a:avLst>
              <a:gd name="adj" fmla="val 50000"/>
            </a:avLst>
          </a:prstGeom>
          <a:solidFill>
            <a:srgbClr val="EEF2F8"/>
          </a:solidFill>
          <a:ln w="15875">
            <a:solidFill>
              <a:srgbClr val="2E75B6"/>
            </a:solidFill>
            <a:prstDash val="dash"/>
          </a:ln>
        </p:spPr>
        <p:txBody>
          <a:bodyPr wrap="square" lIns="0" tIns="0" rIns="0" bIns="0" rtlCol="0" anchor="ctr"/>
          <a:lstStyle/>
          <a:p>
            <a:pPr algn="ctr" indent="0" marL="0">
              <a:buNone/>
            </a:pPr>
            <a:r>
              <a:rPr lang="en-US" sz="1000" dirty="0">
                <a:solidFill>
                  <a:schemeClr val="tx1"/>
                </a:solidFill>
              </a:rPr>
              <a:t>déclarer un sinistre</a:t>
            </a:r>
            <a:endParaRPr lang="en-US" sz="1000" dirty="0"/>
          </a:p>
        </p:txBody>
      </p:sp>
      <p:sp>
        <p:nvSpPr>
          <p:cNvPr id="26" name="Shape 23"/>
          <p:cNvSpPr/>
          <p:nvPr/>
        </p:nvSpPr>
        <p:spPr>
          <a:xfrm flipH="1">
            <a:off x="3351276" y="4023360"/>
            <a:ext cx="228600" cy="0"/>
          </a:xfrm>
          <a:prstGeom prst="line">
            <a:avLst/>
          </a:prstGeom>
          <a:noFill/>
          <a:ln w="12700">
            <a:solidFill>
              <a:srgbClr val="2E75B6"/>
            </a:solidFill>
            <a:prstDash val="solid"/>
          </a:ln>
        </p:spPr>
      </p:sp>
      <p:sp>
        <p:nvSpPr>
          <p:cNvPr id="27" name="Text 24"/>
          <p:cNvSpPr/>
          <p:nvPr/>
        </p:nvSpPr>
        <p:spPr>
          <a:xfrm>
            <a:off x="2025396" y="3867912"/>
            <a:ext cx="1325880" cy="310896"/>
          </a:xfrm>
          <a:prstGeom prst="roundRect">
            <a:avLst>
              <a:gd name="adj" fmla="val 50000"/>
            </a:avLst>
          </a:prstGeom>
          <a:solidFill>
            <a:srgbClr val="FFFFFF"/>
          </a:solidFill>
          <a:ln w="15875">
            <a:solidFill>
              <a:srgbClr val="2E75B6"/>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report</a:t>
            </a:r>
            <a:endParaRPr lang="en-US" sz="1100" dirty="0"/>
          </a:p>
        </p:txBody>
      </p:sp>
      <p:sp>
        <p:nvSpPr>
          <p:cNvPr id="28" name="Shape 25"/>
          <p:cNvSpPr/>
          <p:nvPr/>
        </p:nvSpPr>
        <p:spPr>
          <a:xfrm flipH="1">
            <a:off x="1860804" y="4023360"/>
            <a:ext cx="164592" cy="0"/>
          </a:xfrm>
          <a:prstGeom prst="line">
            <a:avLst/>
          </a:prstGeom>
          <a:noFill/>
          <a:ln w="12700">
            <a:solidFill>
              <a:srgbClr val="2E75B6"/>
            </a:solidFill>
            <a:prstDash val="solid"/>
          </a:ln>
        </p:spPr>
      </p:sp>
      <p:sp>
        <p:nvSpPr>
          <p:cNvPr id="29" name="Text 26"/>
          <p:cNvSpPr/>
          <p:nvPr/>
        </p:nvSpPr>
        <p:spPr>
          <a:xfrm>
            <a:off x="534924" y="3867912"/>
            <a:ext cx="1325880" cy="310896"/>
          </a:xfrm>
          <a:prstGeom prst="roundRect">
            <a:avLst>
              <a:gd name="adj" fmla="val 50000"/>
            </a:avLst>
          </a:prstGeom>
          <a:solidFill>
            <a:srgbClr val="EEF2F8"/>
          </a:solidFill>
          <a:ln w="15875">
            <a:solidFill>
              <a:srgbClr val="2E75B6"/>
            </a:solidFill>
            <a:prstDash val="dash"/>
          </a:ln>
        </p:spPr>
        <p:txBody>
          <a:bodyPr wrap="square" lIns="0" tIns="0" rIns="0" bIns="0" rtlCol="0" anchor="ctr"/>
          <a:lstStyle/>
          <a:p>
            <a:pPr algn="ctr" indent="0" marL="0">
              <a:buNone/>
            </a:pPr>
            <a:r>
              <a:rPr lang="en-US" sz="1000" dirty="0">
                <a:solidFill>
                  <a:schemeClr val="tx1"/>
                </a:solidFill>
              </a:rPr>
              <a:t>déposer un rapport</a:t>
            </a:r>
            <a:endParaRPr lang="en-US" sz="1000" dirty="0"/>
          </a:p>
        </p:txBody>
      </p:sp>
      <p:sp>
        <p:nvSpPr>
          <p:cNvPr id="30" name="Shape 27"/>
          <p:cNvSpPr/>
          <p:nvPr/>
        </p:nvSpPr>
        <p:spPr>
          <a:xfrm flipH="1">
            <a:off x="3351276" y="4023360"/>
            <a:ext cx="228600" cy="374904"/>
          </a:xfrm>
          <a:prstGeom prst="line">
            <a:avLst/>
          </a:prstGeom>
          <a:noFill/>
          <a:ln w="12700">
            <a:solidFill>
              <a:srgbClr val="2E75B6"/>
            </a:solidFill>
            <a:prstDash val="solid"/>
          </a:ln>
        </p:spPr>
      </p:sp>
      <p:sp>
        <p:nvSpPr>
          <p:cNvPr id="31" name="Text 28"/>
          <p:cNvSpPr/>
          <p:nvPr/>
        </p:nvSpPr>
        <p:spPr>
          <a:xfrm>
            <a:off x="2025396" y="4242816"/>
            <a:ext cx="1325880" cy="310896"/>
          </a:xfrm>
          <a:prstGeom prst="roundRect">
            <a:avLst>
              <a:gd name="adj" fmla="val 50000"/>
            </a:avLst>
          </a:prstGeom>
          <a:solidFill>
            <a:srgbClr val="FFFFFF"/>
          </a:solidFill>
          <a:ln w="15875">
            <a:solidFill>
              <a:srgbClr val="2E75B6"/>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complaint</a:t>
            </a:r>
            <a:endParaRPr lang="en-US" sz="1100" dirty="0"/>
          </a:p>
        </p:txBody>
      </p:sp>
      <p:sp>
        <p:nvSpPr>
          <p:cNvPr id="32" name="Shape 29"/>
          <p:cNvSpPr/>
          <p:nvPr/>
        </p:nvSpPr>
        <p:spPr>
          <a:xfrm flipH="1">
            <a:off x="1860804" y="4398264"/>
            <a:ext cx="164592" cy="0"/>
          </a:xfrm>
          <a:prstGeom prst="line">
            <a:avLst/>
          </a:prstGeom>
          <a:noFill/>
          <a:ln w="12700">
            <a:solidFill>
              <a:srgbClr val="2E75B6"/>
            </a:solidFill>
            <a:prstDash val="solid"/>
          </a:ln>
        </p:spPr>
      </p:sp>
      <p:sp>
        <p:nvSpPr>
          <p:cNvPr id="33" name="Text 30"/>
          <p:cNvSpPr/>
          <p:nvPr/>
        </p:nvSpPr>
        <p:spPr>
          <a:xfrm>
            <a:off x="534924" y="4242816"/>
            <a:ext cx="1325880" cy="310896"/>
          </a:xfrm>
          <a:prstGeom prst="roundRect">
            <a:avLst>
              <a:gd name="adj" fmla="val 50000"/>
            </a:avLst>
          </a:prstGeom>
          <a:solidFill>
            <a:srgbClr val="EEF2F8"/>
          </a:solidFill>
          <a:ln w="15875">
            <a:solidFill>
              <a:srgbClr val="2E75B6"/>
            </a:solidFill>
            <a:prstDash val="dash"/>
          </a:ln>
        </p:spPr>
        <p:txBody>
          <a:bodyPr wrap="square" lIns="0" tIns="0" rIns="0" bIns="0" rtlCol="0" anchor="ctr"/>
          <a:lstStyle/>
          <a:p>
            <a:pPr algn="ctr" indent="0" marL="0">
              <a:buNone/>
            </a:pPr>
            <a:r>
              <a:rPr lang="en-US" sz="1100" dirty="0">
                <a:solidFill>
                  <a:schemeClr val="tx1"/>
                </a:solidFill>
              </a:rPr>
              <a:t>porter plainte</a:t>
            </a:r>
            <a:endParaRPr lang="en-US" sz="1100" dirty="0"/>
          </a:p>
        </p:txBody>
      </p:sp>
      <p:sp>
        <p:nvSpPr>
          <p:cNvPr id="34" name="Shape 31"/>
          <p:cNvSpPr/>
          <p:nvPr/>
        </p:nvSpPr>
        <p:spPr>
          <a:xfrm flipH="1">
            <a:off x="5180076" y="4702790"/>
            <a:ext cx="536939" cy="966490"/>
          </a:xfrm>
          <a:prstGeom prst="line">
            <a:avLst/>
          </a:prstGeom>
          <a:noFill/>
          <a:ln w="28575">
            <a:solidFill>
              <a:srgbClr val="C0752A"/>
            </a:solidFill>
            <a:prstDash val="solid"/>
          </a:ln>
        </p:spPr>
      </p:sp>
      <p:sp>
        <p:nvSpPr>
          <p:cNvPr id="35" name="Text 32"/>
          <p:cNvSpPr/>
          <p:nvPr/>
        </p:nvSpPr>
        <p:spPr>
          <a:xfrm>
            <a:off x="3579876" y="5468112"/>
            <a:ext cx="1600200" cy="402336"/>
          </a:xfrm>
          <a:prstGeom prst="roundRect">
            <a:avLst>
              <a:gd name="adj" fmla="val 50000"/>
            </a:avLst>
          </a:prstGeom>
          <a:solidFill>
            <a:srgbClr val="C0752A"/>
          </a:solidFill>
          <a:ln/>
        </p:spPr>
        <p:txBody>
          <a:bodyPr wrap="square" lIns="0" tIns="0" rIns="0" bIns="0" rtlCol="0" anchor="ctr"/>
          <a:lstStyle/>
          <a:p>
            <a:pPr algn="ctr" indent="0" marL="0">
              <a:buNone/>
            </a:pPr>
            <a:r>
              <a:rPr lang="en-US" sz="1200" b="1" dirty="0">
                <a:solidFill>
                  <a:schemeClr val="bg1"/>
                </a:solidFill>
              </a:rPr>
              <a:t>ASSESS</a:t>
            </a:r>
            <a:endParaRPr lang="en-US" sz="1200" dirty="0"/>
          </a:p>
        </p:txBody>
      </p:sp>
      <p:sp>
        <p:nvSpPr>
          <p:cNvPr id="36" name="Shape 33"/>
          <p:cNvSpPr/>
          <p:nvPr/>
        </p:nvSpPr>
        <p:spPr>
          <a:xfrm flipH="1" flipV="1">
            <a:off x="3351276" y="5294376"/>
            <a:ext cx="228600" cy="374904"/>
          </a:xfrm>
          <a:prstGeom prst="line">
            <a:avLst/>
          </a:prstGeom>
          <a:noFill/>
          <a:ln w="12700">
            <a:solidFill>
              <a:srgbClr val="C0752A"/>
            </a:solidFill>
            <a:prstDash val="solid"/>
          </a:ln>
        </p:spPr>
      </p:sp>
      <p:sp>
        <p:nvSpPr>
          <p:cNvPr id="37" name="Text 34"/>
          <p:cNvSpPr/>
          <p:nvPr/>
        </p:nvSpPr>
        <p:spPr>
          <a:xfrm>
            <a:off x="2025396" y="5138928"/>
            <a:ext cx="1325880" cy="310896"/>
          </a:xfrm>
          <a:prstGeom prst="roundRect">
            <a:avLst>
              <a:gd name="adj" fmla="val 50000"/>
            </a:avLst>
          </a:prstGeom>
          <a:solidFill>
            <a:srgbClr val="FFFFFF"/>
          </a:solidFill>
          <a:ln w="15875">
            <a:solidFill>
              <a:srgbClr val="C0752A"/>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damage</a:t>
            </a:r>
            <a:endParaRPr lang="en-US" sz="1100" dirty="0"/>
          </a:p>
        </p:txBody>
      </p:sp>
      <p:sp>
        <p:nvSpPr>
          <p:cNvPr id="38" name="Shape 35"/>
          <p:cNvSpPr/>
          <p:nvPr/>
        </p:nvSpPr>
        <p:spPr>
          <a:xfrm flipH="1">
            <a:off x="1860804" y="5294376"/>
            <a:ext cx="164592" cy="0"/>
          </a:xfrm>
          <a:prstGeom prst="line">
            <a:avLst/>
          </a:prstGeom>
          <a:noFill/>
          <a:ln w="12700">
            <a:solidFill>
              <a:srgbClr val="C0752A"/>
            </a:solidFill>
            <a:prstDash val="solid"/>
          </a:ln>
        </p:spPr>
      </p:sp>
      <p:sp>
        <p:nvSpPr>
          <p:cNvPr id="39" name="Text 36"/>
          <p:cNvSpPr/>
          <p:nvPr/>
        </p:nvSpPr>
        <p:spPr>
          <a:xfrm>
            <a:off x="534924" y="5138928"/>
            <a:ext cx="1325880" cy="310896"/>
          </a:xfrm>
          <a:prstGeom prst="roundRect">
            <a:avLst>
              <a:gd name="adj" fmla="val 50000"/>
            </a:avLst>
          </a:prstGeom>
          <a:solidFill>
            <a:srgbClr val="EEF2F8"/>
          </a:solidFill>
          <a:ln w="15875">
            <a:solidFill>
              <a:srgbClr val="C0752A"/>
            </a:solidFill>
            <a:prstDash val="dash"/>
          </a:ln>
        </p:spPr>
        <p:txBody>
          <a:bodyPr wrap="square" lIns="0" tIns="0" rIns="0" bIns="0" rtlCol="0" anchor="ctr"/>
          <a:lstStyle/>
          <a:p>
            <a:pPr algn="ctr" indent="0" marL="0">
              <a:buNone/>
            </a:pPr>
            <a:r>
              <a:rPr lang="en-US" sz="1000" dirty="0">
                <a:solidFill>
                  <a:schemeClr val="tx1"/>
                </a:solidFill>
              </a:rPr>
              <a:t>évaluer les dégâts</a:t>
            </a:r>
            <a:endParaRPr lang="en-US" sz="1000" dirty="0"/>
          </a:p>
        </p:txBody>
      </p:sp>
      <p:sp>
        <p:nvSpPr>
          <p:cNvPr id="40" name="Shape 37"/>
          <p:cNvSpPr/>
          <p:nvPr/>
        </p:nvSpPr>
        <p:spPr>
          <a:xfrm flipH="1">
            <a:off x="3351276" y="5669280"/>
            <a:ext cx="228600" cy="0"/>
          </a:xfrm>
          <a:prstGeom prst="line">
            <a:avLst/>
          </a:prstGeom>
          <a:noFill/>
          <a:ln w="12700">
            <a:solidFill>
              <a:srgbClr val="C0752A"/>
            </a:solidFill>
            <a:prstDash val="solid"/>
          </a:ln>
        </p:spPr>
      </p:sp>
      <p:sp>
        <p:nvSpPr>
          <p:cNvPr id="41" name="Text 38"/>
          <p:cNvSpPr/>
          <p:nvPr/>
        </p:nvSpPr>
        <p:spPr>
          <a:xfrm>
            <a:off x="2025396" y="5513832"/>
            <a:ext cx="1325880" cy="310896"/>
          </a:xfrm>
          <a:prstGeom prst="roundRect">
            <a:avLst>
              <a:gd name="adj" fmla="val 50000"/>
            </a:avLst>
          </a:prstGeom>
          <a:solidFill>
            <a:srgbClr val="FFFFFF"/>
          </a:solidFill>
          <a:ln w="15875">
            <a:solidFill>
              <a:srgbClr val="C0752A"/>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risk</a:t>
            </a:r>
            <a:endParaRPr lang="en-US" sz="1100" dirty="0"/>
          </a:p>
        </p:txBody>
      </p:sp>
      <p:sp>
        <p:nvSpPr>
          <p:cNvPr id="42" name="Shape 39"/>
          <p:cNvSpPr/>
          <p:nvPr/>
        </p:nvSpPr>
        <p:spPr>
          <a:xfrm flipH="1">
            <a:off x="1860804" y="5669280"/>
            <a:ext cx="164592" cy="0"/>
          </a:xfrm>
          <a:prstGeom prst="line">
            <a:avLst/>
          </a:prstGeom>
          <a:noFill/>
          <a:ln w="12700">
            <a:solidFill>
              <a:srgbClr val="C0752A"/>
            </a:solidFill>
            <a:prstDash val="solid"/>
          </a:ln>
        </p:spPr>
      </p:sp>
      <p:sp>
        <p:nvSpPr>
          <p:cNvPr id="43" name="Text 40"/>
          <p:cNvSpPr/>
          <p:nvPr/>
        </p:nvSpPr>
        <p:spPr>
          <a:xfrm>
            <a:off x="534924" y="5513832"/>
            <a:ext cx="1325880" cy="310896"/>
          </a:xfrm>
          <a:prstGeom prst="roundRect">
            <a:avLst>
              <a:gd name="adj" fmla="val 50000"/>
            </a:avLst>
          </a:prstGeom>
          <a:solidFill>
            <a:srgbClr val="EEF2F8"/>
          </a:solidFill>
          <a:ln w="15875">
            <a:solidFill>
              <a:srgbClr val="C0752A"/>
            </a:solidFill>
            <a:prstDash val="dash"/>
          </a:ln>
        </p:spPr>
        <p:txBody>
          <a:bodyPr wrap="square" lIns="0" tIns="0" rIns="0" bIns="0" rtlCol="0" anchor="ctr"/>
          <a:lstStyle/>
          <a:p>
            <a:pPr algn="ctr" indent="0" marL="0">
              <a:buNone/>
            </a:pPr>
            <a:r>
              <a:rPr lang="en-US" sz="1100" dirty="0">
                <a:solidFill>
                  <a:schemeClr val="tx1"/>
                </a:solidFill>
              </a:rPr>
              <a:t>évaluer le risque</a:t>
            </a:r>
            <a:endParaRPr lang="en-US" sz="1100" dirty="0"/>
          </a:p>
        </p:txBody>
      </p:sp>
      <p:sp>
        <p:nvSpPr>
          <p:cNvPr id="44" name="Shape 41"/>
          <p:cNvSpPr/>
          <p:nvPr/>
        </p:nvSpPr>
        <p:spPr>
          <a:xfrm flipH="1">
            <a:off x="3351276" y="5669280"/>
            <a:ext cx="228600" cy="374904"/>
          </a:xfrm>
          <a:prstGeom prst="line">
            <a:avLst/>
          </a:prstGeom>
          <a:noFill/>
          <a:ln w="12700">
            <a:solidFill>
              <a:srgbClr val="C0752A"/>
            </a:solidFill>
            <a:prstDash val="solid"/>
          </a:ln>
        </p:spPr>
      </p:sp>
      <p:sp>
        <p:nvSpPr>
          <p:cNvPr id="45" name="Text 42"/>
          <p:cNvSpPr/>
          <p:nvPr/>
        </p:nvSpPr>
        <p:spPr>
          <a:xfrm>
            <a:off x="2025396" y="5888736"/>
            <a:ext cx="1325880" cy="310896"/>
          </a:xfrm>
          <a:prstGeom prst="roundRect">
            <a:avLst>
              <a:gd name="adj" fmla="val 50000"/>
            </a:avLst>
          </a:prstGeom>
          <a:solidFill>
            <a:srgbClr val="FFFFFF"/>
          </a:solidFill>
          <a:ln w="15875">
            <a:solidFill>
              <a:srgbClr val="C0752A"/>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cost</a:t>
            </a:r>
            <a:endParaRPr lang="en-US" sz="1100" dirty="0"/>
          </a:p>
        </p:txBody>
      </p:sp>
      <p:sp>
        <p:nvSpPr>
          <p:cNvPr id="46" name="Shape 43"/>
          <p:cNvSpPr/>
          <p:nvPr/>
        </p:nvSpPr>
        <p:spPr>
          <a:xfrm flipH="1">
            <a:off x="1860804" y="6044184"/>
            <a:ext cx="164592" cy="0"/>
          </a:xfrm>
          <a:prstGeom prst="line">
            <a:avLst/>
          </a:prstGeom>
          <a:noFill/>
          <a:ln w="12700">
            <a:solidFill>
              <a:srgbClr val="C0752A"/>
            </a:solidFill>
            <a:prstDash val="solid"/>
          </a:ln>
        </p:spPr>
      </p:sp>
      <p:sp>
        <p:nvSpPr>
          <p:cNvPr id="47" name="Text 44"/>
          <p:cNvSpPr/>
          <p:nvPr/>
        </p:nvSpPr>
        <p:spPr>
          <a:xfrm>
            <a:off x="534924" y="5888736"/>
            <a:ext cx="1325880" cy="310896"/>
          </a:xfrm>
          <a:prstGeom prst="roundRect">
            <a:avLst>
              <a:gd name="adj" fmla="val 50000"/>
            </a:avLst>
          </a:prstGeom>
          <a:solidFill>
            <a:srgbClr val="EEF2F8"/>
          </a:solidFill>
          <a:ln w="15875">
            <a:solidFill>
              <a:srgbClr val="C0752A"/>
            </a:solidFill>
            <a:prstDash val="dash"/>
          </a:ln>
        </p:spPr>
        <p:txBody>
          <a:bodyPr wrap="square" lIns="0" tIns="0" rIns="0" bIns="0" rtlCol="0" anchor="ctr"/>
          <a:lstStyle/>
          <a:p>
            <a:pPr algn="ctr" indent="0" marL="0">
              <a:buNone/>
            </a:pPr>
            <a:r>
              <a:rPr lang="en-US" sz="1100" dirty="0">
                <a:solidFill>
                  <a:schemeClr val="tx1"/>
                </a:solidFill>
              </a:rPr>
              <a:t>estimer le coût</a:t>
            </a:r>
            <a:endParaRPr lang="en-US" sz="1100" dirty="0"/>
          </a:p>
        </p:txBody>
      </p:sp>
      <p:sp>
        <p:nvSpPr>
          <p:cNvPr id="48" name="Shape 45"/>
          <p:cNvSpPr/>
          <p:nvPr/>
        </p:nvSpPr>
        <p:spPr>
          <a:xfrm flipV="1">
            <a:off x="6471937" y="2377440"/>
            <a:ext cx="536939" cy="966490"/>
          </a:xfrm>
          <a:prstGeom prst="line">
            <a:avLst/>
          </a:prstGeom>
          <a:noFill/>
          <a:ln w="28575">
            <a:solidFill>
              <a:srgbClr val="3C7A3C"/>
            </a:solidFill>
            <a:prstDash val="solid"/>
          </a:ln>
        </p:spPr>
      </p:sp>
      <p:sp>
        <p:nvSpPr>
          <p:cNvPr id="49" name="Text 46"/>
          <p:cNvSpPr/>
          <p:nvPr/>
        </p:nvSpPr>
        <p:spPr>
          <a:xfrm>
            <a:off x="7008876" y="2176272"/>
            <a:ext cx="1600200" cy="402336"/>
          </a:xfrm>
          <a:prstGeom prst="roundRect">
            <a:avLst>
              <a:gd name="adj" fmla="val 50000"/>
            </a:avLst>
          </a:prstGeom>
          <a:solidFill>
            <a:srgbClr val="3C7A3C"/>
          </a:solidFill>
          <a:ln/>
        </p:spPr>
        <p:txBody>
          <a:bodyPr wrap="square" lIns="0" tIns="0" rIns="0" bIns="0" rtlCol="0" anchor="ctr"/>
          <a:lstStyle/>
          <a:p>
            <a:pPr algn="ctr" indent="0" marL="0">
              <a:buNone/>
            </a:pPr>
            <a:r>
              <a:rPr lang="en-US" sz="1200" b="1" dirty="0">
                <a:solidFill>
                  <a:schemeClr val="bg1"/>
                </a:solidFill>
              </a:rPr>
              <a:t>TAKE</a:t>
            </a:r>
            <a:endParaRPr lang="en-US" sz="1200" dirty="0"/>
          </a:p>
        </p:txBody>
      </p:sp>
      <p:sp>
        <p:nvSpPr>
          <p:cNvPr id="50" name="Shape 47"/>
          <p:cNvSpPr/>
          <p:nvPr/>
        </p:nvSpPr>
        <p:spPr>
          <a:xfrm flipV="1">
            <a:off x="8609076" y="2002536"/>
            <a:ext cx="228600" cy="374904"/>
          </a:xfrm>
          <a:prstGeom prst="line">
            <a:avLst/>
          </a:prstGeom>
          <a:noFill/>
          <a:ln w="12700">
            <a:solidFill>
              <a:srgbClr val="3C7A3C"/>
            </a:solidFill>
            <a:prstDash val="solid"/>
          </a:ln>
        </p:spPr>
      </p:sp>
      <p:sp>
        <p:nvSpPr>
          <p:cNvPr id="51" name="Text 48"/>
          <p:cNvSpPr/>
          <p:nvPr/>
        </p:nvSpPr>
        <p:spPr>
          <a:xfrm>
            <a:off x="8837676" y="1847088"/>
            <a:ext cx="1325880" cy="310896"/>
          </a:xfrm>
          <a:prstGeom prst="roundRect">
            <a:avLst>
              <a:gd name="adj" fmla="val 50000"/>
            </a:avLst>
          </a:prstGeom>
          <a:solidFill>
            <a:srgbClr val="FFFFFF"/>
          </a:solidFill>
          <a:ln w="15875">
            <a:solidFill>
              <a:srgbClr val="3C7A3C"/>
            </a:solidFill>
          </a:ln>
        </p:spPr>
        <p:txBody>
          <a:bodyPr wrap="square" lIns="0" tIns="0" rIns="0" bIns="0" rtlCol="0" anchor="ctr"/>
          <a:lstStyle/>
          <a:p>
            <a:pPr algn="ctr" indent="0" marL="0">
              <a:buNone/>
            </a:pPr>
            <a:r>
              <a:rPr lang="en-US" sz="1100" b="1" dirty="0">
                <a:solidFill>
                  <a:schemeClr val="tx1"/>
                </a:solidFill>
              </a:rPr>
              <a:t>steps</a:t>
            </a:r>
            <a:endParaRPr lang="en-US" sz="1100" dirty="0"/>
          </a:p>
        </p:txBody>
      </p:sp>
      <p:sp>
        <p:nvSpPr>
          <p:cNvPr id="52" name="Shape 49"/>
          <p:cNvSpPr/>
          <p:nvPr/>
        </p:nvSpPr>
        <p:spPr>
          <a:xfrm>
            <a:off x="10163556" y="2002536"/>
            <a:ext cx="164592" cy="0"/>
          </a:xfrm>
          <a:prstGeom prst="line">
            <a:avLst/>
          </a:prstGeom>
          <a:noFill/>
          <a:ln w="12700">
            <a:solidFill>
              <a:srgbClr val="3C7A3C"/>
            </a:solidFill>
            <a:prstDash val="solid"/>
          </a:ln>
        </p:spPr>
      </p:sp>
      <p:sp>
        <p:nvSpPr>
          <p:cNvPr id="53" name="Text 50"/>
          <p:cNvSpPr/>
          <p:nvPr/>
        </p:nvSpPr>
        <p:spPr>
          <a:xfrm>
            <a:off x="10328148" y="1847088"/>
            <a:ext cx="1325880" cy="310896"/>
          </a:xfrm>
          <a:prstGeom prst="roundRect">
            <a:avLst>
              <a:gd name="adj" fmla="val 50000"/>
            </a:avLst>
          </a:prstGeom>
          <a:solidFill>
            <a:srgbClr val="EEF2F8"/>
          </a:solidFill>
          <a:ln w="15875">
            <a:solidFill>
              <a:srgbClr val="3C7A3C"/>
            </a:solidFill>
            <a:prstDash val="dash"/>
          </a:ln>
        </p:spPr>
        <p:txBody>
          <a:bodyPr wrap="square" lIns="0" tIns="0" rIns="0" bIns="0" rtlCol="0" anchor="ctr"/>
          <a:lstStyle/>
          <a:p>
            <a:pPr algn="ctr" indent="0" marL="0">
              <a:buNone/>
            </a:pPr>
            <a:r>
              <a:rPr lang="en-US" sz="1000" dirty="0">
                <a:solidFill>
                  <a:schemeClr val="tx1"/>
                </a:solidFill>
              </a:rPr>
              <a:t>prendre des mesures</a:t>
            </a:r>
            <a:endParaRPr lang="en-US" sz="1000" dirty="0"/>
          </a:p>
        </p:txBody>
      </p:sp>
      <p:sp>
        <p:nvSpPr>
          <p:cNvPr id="54" name="Shape 51"/>
          <p:cNvSpPr/>
          <p:nvPr/>
        </p:nvSpPr>
        <p:spPr>
          <a:xfrm>
            <a:off x="8609076" y="2377440"/>
            <a:ext cx="228600" cy="0"/>
          </a:xfrm>
          <a:prstGeom prst="line">
            <a:avLst/>
          </a:prstGeom>
          <a:noFill/>
          <a:ln w="12700">
            <a:solidFill>
              <a:srgbClr val="3C7A3C"/>
            </a:solidFill>
            <a:prstDash val="solid"/>
          </a:ln>
        </p:spPr>
      </p:sp>
      <p:sp>
        <p:nvSpPr>
          <p:cNvPr id="55" name="Text 52"/>
          <p:cNvSpPr/>
          <p:nvPr/>
        </p:nvSpPr>
        <p:spPr>
          <a:xfrm>
            <a:off x="8837676" y="2221992"/>
            <a:ext cx="1325880" cy="310896"/>
          </a:xfrm>
          <a:prstGeom prst="roundRect">
            <a:avLst>
              <a:gd name="adj" fmla="val 50000"/>
            </a:avLst>
          </a:prstGeom>
          <a:solidFill>
            <a:srgbClr val="FFFFFF"/>
          </a:solidFill>
          <a:ln w="15875">
            <a:solidFill>
              <a:srgbClr val="3C7A3C"/>
            </a:solidFill>
          </a:ln>
        </p:spPr>
        <p:txBody>
          <a:bodyPr wrap="square" lIns="0" tIns="0" rIns="0" bIns="0" rtlCol="0" anchor="ctr"/>
          <a:lstStyle/>
          <a:p>
            <a:pPr algn="ctr" indent="0" marL="0">
              <a:buNone/>
            </a:pPr>
            <a:r>
              <a:rPr lang="en-US" sz="1100" b="1" dirty="0">
                <a:solidFill>
                  <a:schemeClr val="tx1"/>
                </a:solidFill>
              </a:rPr>
              <a:t>photos</a:t>
            </a:r>
            <a:endParaRPr lang="en-US" sz="1100" dirty="0"/>
          </a:p>
        </p:txBody>
      </p:sp>
      <p:sp>
        <p:nvSpPr>
          <p:cNvPr id="56" name="Shape 53"/>
          <p:cNvSpPr/>
          <p:nvPr/>
        </p:nvSpPr>
        <p:spPr>
          <a:xfrm>
            <a:off x="10163556" y="2377440"/>
            <a:ext cx="164592" cy="0"/>
          </a:xfrm>
          <a:prstGeom prst="line">
            <a:avLst/>
          </a:prstGeom>
          <a:noFill/>
          <a:ln w="12700">
            <a:solidFill>
              <a:srgbClr val="3C7A3C"/>
            </a:solidFill>
            <a:prstDash val="solid"/>
          </a:ln>
        </p:spPr>
      </p:sp>
      <p:sp>
        <p:nvSpPr>
          <p:cNvPr id="57" name="Text 54"/>
          <p:cNvSpPr/>
          <p:nvPr/>
        </p:nvSpPr>
        <p:spPr>
          <a:xfrm>
            <a:off x="10328148" y="2221992"/>
            <a:ext cx="1325880" cy="310896"/>
          </a:xfrm>
          <a:prstGeom prst="roundRect">
            <a:avLst>
              <a:gd name="adj" fmla="val 50000"/>
            </a:avLst>
          </a:prstGeom>
          <a:solidFill>
            <a:srgbClr val="EEF2F8"/>
          </a:solidFill>
          <a:ln w="15875">
            <a:solidFill>
              <a:srgbClr val="3C7A3C"/>
            </a:solidFill>
            <a:prstDash val="dash"/>
          </a:ln>
        </p:spPr>
        <p:txBody>
          <a:bodyPr wrap="square" lIns="0" tIns="0" rIns="0" bIns="0" rtlCol="0" anchor="ctr"/>
          <a:lstStyle/>
          <a:p>
            <a:pPr algn="ctr" indent="0" marL="0">
              <a:buNone/>
            </a:pPr>
            <a:r>
              <a:rPr lang="en-US" sz="1000" dirty="0">
                <a:solidFill>
                  <a:schemeClr val="tx1"/>
                </a:solidFill>
              </a:rPr>
              <a:t>prendre des photos</a:t>
            </a:r>
            <a:endParaRPr lang="en-US" sz="1000" dirty="0"/>
          </a:p>
        </p:txBody>
      </p:sp>
      <p:sp>
        <p:nvSpPr>
          <p:cNvPr id="58" name="Shape 55"/>
          <p:cNvSpPr/>
          <p:nvPr/>
        </p:nvSpPr>
        <p:spPr>
          <a:xfrm>
            <a:off x="8609076" y="2377440"/>
            <a:ext cx="228600" cy="374904"/>
          </a:xfrm>
          <a:prstGeom prst="line">
            <a:avLst/>
          </a:prstGeom>
          <a:noFill/>
          <a:ln w="12700">
            <a:solidFill>
              <a:srgbClr val="3C7A3C"/>
            </a:solidFill>
            <a:prstDash val="solid"/>
          </a:ln>
        </p:spPr>
      </p:sp>
      <p:sp>
        <p:nvSpPr>
          <p:cNvPr id="59" name="Text 56"/>
          <p:cNvSpPr/>
          <p:nvPr/>
        </p:nvSpPr>
        <p:spPr>
          <a:xfrm>
            <a:off x="8837676" y="2596896"/>
            <a:ext cx="1325880" cy="310896"/>
          </a:xfrm>
          <a:prstGeom prst="roundRect">
            <a:avLst>
              <a:gd name="adj" fmla="val 50000"/>
            </a:avLst>
          </a:prstGeom>
          <a:solidFill>
            <a:srgbClr val="FFFFFF"/>
          </a:solidFill>
          <a:ln w="15875">
            <a:solidFill>
              <a:srgbClr val="3C7A3C"/>
            </a:solidFill>
          </a:ln>
        </p:spPr>
        <p:txBody>
          <a:bodyPr wrap="square" lIns="0" tIns="0" rIns="0" bIns="0" rtlCol="0" anchor="ctr"/>
          <a:lstStyle/>
          <a:p>
            <a:pPr algn="ctr" indent="0" marL="0">
              <a:buNone/>
            </a:pPr>
            <a:r>
              <a:rPr lang="en-US" sz="1100" b="1" dirty="0">
                <a:solidFill>
                  <a:schemeClr val="tx1"/>
                </a:solidFill>
              </a:rPr>
              <a:t>notes</a:t>
            </a:r>
            <a:endParaRPr lang="en-US" sz="1100" dirty="0"/>
          </a:p>
        </p:txBody>
      </p:sp>
      <p:sp>
        <p:nvSpPr>
          <p:cNvPr id="60" name="Shape 57"/>
          <p:cNvSpPr/>
          <p:nvPr/>
        </p:nvSpPr>
        <p:spPr>
          <a:xfrm>
            <a:off x="10163556" y="2752344"/>
            <a:ext cx="164592" cy="0"/>
          </a:xfrm>
          <a:prstGeom prst="line">
            <a:avLst/>
          </a:prstGeom>
          <a:noFill/>
          <a:ln w="12700">
            <a:solidFill>
              <a:srgbClr val="3C7A3C"/>
            </a:solidFill>
            <a:prstDash val="solid"/>
          </a:ln>
        </p:spPr>
      </p:sp>
      <p:sp>
        <p:nvSpPr>
          <p:cNvPr id="61" name="Text 58"/>
          <p:cNvSpPr/>
          <p:nvPr/>
        </p:nvSpPr>
        <p:spPr>
          <a:xfrm>
            <a:off x="10328148" y="2596896"/>
            <a:ext cx="1325880" cy="310896"/>
          </a:xfrm>
          <a:prstGeom prst="roundRect">
            <a:avLst>
              <a:gd name="adj" fmla="val 50000"/>
            </a:avLst>
          </a:prstGeom>
          <a:solidFill>
            <a:srgbClr val="EEF2F8"/>
          </a:solidFill>
          <a:ln w="15875">
            <a:solidFill>
              <a:srgbClr val="3C7A3C"/>
            </a:solidFill>
            <a:prstDash val="dash"/>
          </a:ln>
        </p:spPr>
        <p:txBody>
          <a:bodyPr wrap="square" lIns="0" tIns="0" rIns="0" bIns="0" rtlCol="0" anchor="ctr"/>
          <a:lstStyle/>
          <a:p>
            <a:pPr algn="ctr" indent="0" marL="0">
              <a:buNone/>
            </a:pPr>
            <a:r>
              <a:rPr lang="en-US" sz="1100" dirty="0">
                <a:solidFill>
                  <a:schemeClr val="tx1"/>
                </a:solidFill>
              </a:rPr>
              <a:t>prendre des notes</a:t>
            </a:r>
            <a:endParaRPr lang="en-US" sz="1100" dirty="0"/>
          </a:p>
        </p:txBody>
      </p:sp>
      <p:sp>
        <p:nvSpPr>
          <p:cNvPr id="62" name="Shape 59"/>
          <p:cNvSpPr/>
          <p:nvPr/>
        </p:nvSpPr>
        <p:spPr>
          <a:xfrm>
            <a:off x="6871716" y="4023360"/>
            <a:ext cx="137160" cy="0"/>
          </a:xfrm>
          <a:prstGeom prst="line">
            <a:avLst/>
          </a:prstGeom>
          <a:noFill/>
          <a:ln w="28575">
            <a:solidFill>
              <a:srgbClr val="6E4A9E"/>
            </a:solidFill>
            <a:prstDash val="solid"/>
          </a:ln>
        </p:spPr>
      </p:sp>
      <p:sp>
        <p:nvSpPr>
          <p:cNvPr id="63" name="Text 60"/>
          <p:cNvSpPr/>
          <p:nvPr/>
        </p:nvSpPr>
        <p:spPr>
          <a:xfrm>
            <a:off x="7008876" y="3822192"/>
            <a:ext cx="1600200" cy="402336"/>
          </a:xfrm>
          <a:prstGeom prst="roundRect">
            <a:avLst>
              <a:gd name="adj" fmla="val 50000"/>
            </a:avLst>
          </a:prstGeom>
          <a:solidFill>
            <a:srgbClr val="6E4A9E"/>
          </a:solidFill>
          <a:ln/>
        </p:spPr>
        <p:txBody>
          <a:bodyPr wrap="square" lIns="0" tIns="0" rIns="0" bIns="0" rtlCol="0" anchor="ctr"/>
          <a:lstStyle/>
          <a:p>
            <a:pPr algn="ctr" indent="0" marL="0">
              <a:buNone/>
            </a:pPr>
            <a:r>
              <a:rPr lang="en-US" sz="1200" b="1" dirty="0">
                <a:solidFill>
                  <a:schemeClr val="bg1"/>
                </a:solidFill>
              </a:rPr>
              <a:t>DRAW UP</a:t>
            </a:r>
            <a:endParaRPr lang="en-US" sz="1200" dirty="0"/>
          </a:p>
        </p:txBody>
      </p:sp>
      <p:sp>
        <p:nvSpPr>
          <p:cNvPr id="64" name="Shape 61"/>
          <p:cNvSpPr/>
          <p:nvPr/>
        </p:nvSpPr>
        <p:spPr>
          <a:xfrm flipV="1">
            <a:off x="8609076" y="3648456"/>
            <a:ext cx="228600" cy="374904"/>
          </a:xfrm>
          <a:prstGeom prst="line">
            <a:avLst/>
          </a:prstGeom>
          <a:noFill/>
          <a:ln w="12700">
            <a:solidFill>
              <a:srgbClr val="6E4A9E"/>
            </a:solidFill>
            <a:prstDash val="solid"/>
          </a:ln>
        </p:spPr>
      </p:sp>
      <p:sp>
        <p:nvSpPr>
          <p:cNvPr id="65" name="Text 62"/>
          <p:cNvSpPr/>
          <p:nvPr/>
        </p:nvSpPr>
        <p:spPr>
          <a:xfrm>
            <a:off x="8837676" y="3493008"/>
            <a:ext cx="1325880" cy="310896"/>
          </a:xfrm>
          <a:prstGeom prst="roundRect">
            <a:avLst>
              <a:gd name="adj" fmla="val 50000"/>
            </a:avLst>
          </a:prstGeom>
          <a:solidFill>
            <a:srgbClr val="FFFFFF"/>
          </a:solidFill>
          <a:ln w="15875">
            <a:solidFill>
              <a:srgbClr val="6E4A9E"/>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report</a:t>
            </a:r>
            <a:endParaRPr lang="en-US" sz="1100" dirty="0"/>
          </a:p>
        </p:txBody>
      </p:sp>
      <p:sp>
        <p:nvSpPr>
          <p:cNvPr id="66" name="Shape 63"/>
          <p:cNvSpPr/>
          <p:nvPr/>
        </p:nvSpPr>
        <p:spPr>
          <a:xfrm>
            <a:off x="10163556" y="3648456"/>
            <a:ext cx="164592" cy="0"/>
          </a:xfrm>
          <a:prstGeom prst="line">
            <a:avLst/>
          </a:prstGeom>
          <a:noFill/>
          <a:ln w="12700">
            <a:solidFill>
              <a:srgbClr val="6E4A9E"/>
            </a:solidFill>
            <a:prstDash val="solid"/>
          </a:ln>
        </p:spPr>
      </p:sp>
      <p:sp>
        <p:nvSpPr>
          <p:cNvPr id="67" name="Text 64"/>
          <p:cNvSpPr/>
          <p:nvPr/>
        </p:nvSpPr>
        <p:spPr>
          <a:xfrm>
            <a:off x="10328148" y="3493008"/>
            <a:ext cx="1325880" cy="310896"/>
          </a:xfrm>
          <a:prstGeom prst="roundRect">
            <a:avLst>
              <a:gd name="adj" fmla="val 50000"/>
            </a:avLst>
          </a:prstGeom>
          <a:solidFill>
            <a:srgbClr val="EEF2F8"/>
          </a:solidFill>
          <a:ln w="15875">
            <a:solidFill>
              <a:srgbClr val="6E4A9E"/>
            </a:solidFill>
            <a:prstDash val="dash"/>
          </a:ln>
        </p:spPr>
        <p:txBody>
          <a:bodyPr wrap="square" lIns="0" tIns="0" rIns="0" bIns="0" rtlCol="0" anchor="ctr"/>
          <a:lstStyle/>
          <a:p>
            <a:pPr algn="ctr" indent="0" marL="0">
              <a:buNone/>
            </a:pPr>
            <a:r>
              <a:rPr lang="en-US" sz="1000" dirty="0">
                <a:solidFill>
                  <a:schemeClr val="tx1"/>
                </a:solidFill>
              </a:rPr>
              <a:t>rédiger un rapport</a:t>
            </a:r>
            <a:endParaRPr lang="en-US" sz="1000" dirty="0"/>
          </a:p>
        </p:txBody>
      </p:sp>
      <p:sp>
        <p:nvSpPr>
          <p:cNvPr id="68" name="Shape 65"/>
          <p:cNvSpPr/>
          <p:nvPr/>
        </p:nvSpPr>
        <p:spPr>
          <a:xfrm>
            <a:off x="8609076" y="4023360"/>
            <a:ext cx="228600" cy="0"/>
          </a:xfrm>
          <a:prstGeom prst="line">
            <a:avLst/>
          </a:prstGeom>
          <a:noFill/>
          <a:ln w="12700">
            <a:solidFill>
              <a:srgbClr val="6E4A9E"/>
            </a:solidFill>
            <a:prstDash val="solid"/>
          </a:ln>
        </p:spPr>
      </p:sp>
      <p:sp>
        <p:nvSpPr>
          <p:cNvPr id="69" name="Text 66"/>
          <p:cNvSpPr/>
          <p:nvPr/>
        </p:nvSpPr>
        <p:spPr>
          <a:xfrm>
            <a:off x="8837676" y="3867912"/>
            <a:ext cx="1325880" cy="310896"/>
          </a:xfrm>
          <a:prstGeom prst="roundRect">
            <a:avLst>
              <a:gd name="adj" fmla="val 50000"/>
            </a:avLst>
          </a:prstGeom>
          <a:solidFill>
            <a:srgbClr val="FFFFFF"/>
          </a:solidFill>
          <a:ln w="15875">
            <a:solidFill>
              <a:srgbClr val="6E4A9E"/>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list</a:t>
            </a:r>
            <a:endParaRPr lang="en-US" sz="1100" dirty="0"/>
          </a:p>
        </p:txBody>
      </p:sp>
      <p:sp>
        <p:nvSpPr>
          <p:cNvPr id="70" name="Shape 67"/>
          <p:cNvSpPr/>
          <p:nvPr/>
        </p:nvSpPr>
        <p:spPr>
          <a:xfrm>
            <a:off x="10163556" y="4023360"/>
            <a:ext cx="164592" cy="0"/>
          </a:xfrm>
          <a:prstGeom prst="line">
            <a:avLst/>
          </a:prstGeom>
          <a:noFill/>
          <a:ln w="12700">
            <a:solidFill>
              <a:srgbClr val="6E4A9E"/>
            </a:solidFill>
            <a:prstDash val="solid"/>
          </a:ln>
        </p:spPr>
      </p:sp>
      <p:sp>
        <p:nvSpPr>
          <p:cNvPr id="71" name="Text 68"/>
          <p:cNvSpPr/>
          <p:nvPr/>
        </p:nvSpPr>
        <p:spPr>
          <a:xfrm>
            <a:off x="10328148" y="3867912"/>
            <a:ext cx="1325880" cy="310896"/>
          </a:xfrm>
          <a:prstGeom prst="roundRect">
            <a:avLst>
              <a:gd name="adj" fmla="val 50000"/>
            </a:avLst>
          </a:prstGeom>
          <a:solidFill>
            <a:srgbClr val="EEF2F8"/>
          </a:solidFill>
          <a:ln w="15875">
            <a:solidFill>
              <a:srgbClr val="6E4A9E"/>
            </a:solidFill>
            <a:prstDash val="dash"/>
          </a:ln>
        </p:spPr>
        <p:txBody>
          <a:bodyPr wrap="square" lIns="0" tIns="0" rIns="0" bIns="0" rtlCol="0" anchor="ctr"/>
          <a:lstStyle/>
          <a:p>
            <a:pPr algn="ctr" indent="0" marL="0">
              <a:buNone/>
            </a:pPr>
            <a:r>
              <a:rPr lang="en-US" sz="1100" dirty="0">
                <a:solidFill>
                  <a:schemeClr val="tx1"/>
                </a:solidFill>
              </a:rPr>
              <a:t>dresser une liste</a:t>
            </a:r>
            <a:endParaRPr lang="en-US" sz="1100" dirty="0"/>
          </a:p>
        </p:txBody>
      </p:sp>
      <p:sp>
        <p:nvSpPr>
          <p:cNvPr id="72" name="Shape 69"/>
          <p:cNvSpPr/>
          <p:nvPr/>
        </p:nvSpPr>
        <p:spPr>
          <a:xfrm>
            <a:off x="8609076" y="4023360"/>
            <a:ext cx="228600" cy="374904"/>
          </a:xfrm>
          <a:prstGeom prst="line">
            <a:avLst/>
          </a:prstGeom>
          <a:noFill/>
          <a:ln w="12700">
            <a:solidFill>
              <a:srgbClr val="6E4A9E"/>
            </a:solidFill>
            <a:prstDash val="solid"/>
          </a:ln>
        </p:spPr>
      </p:sp>
      <p:sp>
        <p:nvSpPr>
          <p:cNvPr id="73" name="Text 70"/>
          <p:cNvSpPr/>
          <p:nvPr/>
        </p:nvSpPr>
        <p:spPr>
          <a:xfrm>
            <a:off x="8837676" y="4242816"/>
            <a:ext cx="1325880" cy="310896"/>
          </a:xfrm>
          <a:prstGeom prst="roundRect">
            <a:avLst>
              <a:gd name="adj" fmla="val 50000"/>
            </a:avLst>
          </a:prstGeom>
          <a:solidFill>
            <a:srgbClr val="FFFFFF"/>
          </a:solidFill>
          <a:ln w="15875">
            <a:solidFill>
              <a:srgbClr val="6E4A9E"/>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plan</a:t>
            </a:r>
            <a:endParaRPr lang="en-US" sz="1100" dirty="0"/>
          </a:p>
        </p:txBody>
      </p:sp>
      <p:sp>
        <p:nvSpPr>
          <p:cNvPr id="74" name="Shape 71"/>
          <p:cNvSpPr/>
          <p:nvPr/>
        </p:nvSpPr>
        <p:spPr>
          <a:xfrm>
            <a:off x="10163556" y="4398264"/>
            <a:ext cx="164592" cy="0"/>
          </a:xfrm>
          <a:prstGeom prst="line">
            <a:avLst/>
          </a:prstGeom>
          <a:noFill/>
          <a:ln w="12700">
            <a:solidFill>
              <a:srgbClr val="6E4A9E"/>
            </a:solidFill>
            <a:prstDash val="solid"/>
          </a:ln>
        </p:spPr>
      </p:sp>
      <p:sp>
        <p:nvSpPr>
          <p:cNvPr id="75" name="Text 72"/>
          <p:cNvSpPr/>
          <p:nvPr/>
        </p:nvSpPr>
        <p:spPr>
          <a:xfrm>
            <a:off x="10328148" y="4242816"/>
            <a:ext cx="1325880" cy="310896"/>
          </a:xfrm>
          <a:prstGeom prst="roundRect">
            <a:avLst>
              <a:gd name="adj" fmla="val 50000"/>
            </a:avLst>
          </a:prstGeom>
          <a:solidFill>
            <a:srgbClr val="EEF2F8"/>
          </a:solidFill>
          <a:ln w="15875">
            <a:solidFill>
              <a:srgbClr val="6E4A9E"/>
            </a:solidFill>
            <a:prstDash val="dash"/>
          </a:ln>
        </p:spPr>
        <p:txBody>
          <a:bodyPr wrap="square" lIns="0" tIns="0" rIns="0" bIns="0" rtlCol="0" anchor="ctr"/>
          <a:lstStyle/>
          <a:p>
            <a:pPr algn="ctr" indent="0" marL="0">
              <a:buNone/>
            </a:pPr>
            <a:r>
              <a:rPr lang="en-US" sz="1100" dirty="0">
                <a:solidFill>
                  <a:schemeClr val="tx1"/>
                </a:solidFill>
              </a:rPr>
              <a:t>établir un plan</a:t>
            </a:r>
            <a:endParaRPr lang="en-US" sz="1100" dirty="0"/>
          </a:p>
        </p:txBody>
      </p:sp>
      <p:sp>
        <p:nvSpPr>
          <p:cNvPr id="76" name="Shape 73"/>
          <p:cNvSpPr/>
          <p:nvPr/>
        </p:nvSpPr>
        <p:spPr>
          <a:xfrm>
            <a:off x="6471937" y="4702790"/>
            <a:ext cx="536939" cy="966490"/>
          </a:xfrm>
          <a:prstGeom prst="line">
            <a:avLst/>
          </a:prstGeom>
          <a:noFill/>
          <a:ln w="28575">
            <a:solidFill>
              <a:srgbClr val="B4236A"/>
            </a:solidFill>
            <a:prstDash val="solid"/>
          </a:ln>
        </p:spPr>
      </p:sp>
      <p:sp>
        <p:nvSpPr>
          <p:cNvPr id="77" name="Text 74"/>
          <p:cNvSpPr/>
          <p:nvPr/>
        </p:nvSpPr>
        <p:spPr>
          <a:xfrm>
            <a:off x="7008876" y="5468112"/>
            <a:ext cx="1600200" cy="402336"/>
          </a:xfrm>
          <a:prstGeom prst="roundRect">
            <a:avLst>
              <a:gd name="adj" fmla="val 50000"/>
            </a:avLst>
          </a:prstGeom>
          <a:solidFill>
            <a:srgbClr val="B4236A"/>
          </a:solidFill>
          <a:ln/>
        </p:spPr>
        <p:txBody>
          <a:bodyPr wrap="square" lIns="0" tIns="0" rIns="0" bIns="0" rtlCol="0" anchor="ctr"/>
          <a:lstStyle/>
          <a:p>
            <a:pPr algn="ctr" indent="0" marL="0">
              <a:buNone/>
            </a:pPr>
            <a:r>
              <a:rPr lang="en-US" sz="1200" b="1" dirty="0">
                <a:solidFill>
                  <a:schemeClr val="bg1"/>
                </a:solidFill>
              </a:rPr>
              <a:t>MEET</a:t>
            </a:r>
            <a:endParaRPr lang="en-US" sz="1200" dirty="0"/>
          </a:p>
        </p:txBody>
      </p:sp>
      <p:sp>
        <p:nvSpPr>
          <p:cNvPr id="78" name="Shape 75"/>
          <p:cNvSpPr/>
          <p:nvPr/>
        </p:nvSpPr>
        <p:spPr>
          <a:xfrm flipV="1">
            <a:off x="8609076" y="5294376"/>
            <a:ext cx="228600" cy="374904"/>
          </a:xfrm>
          <a:prstGeom prst="line">
            <a:avLst/>
          </a:prstGeom>
          <a:noFill/>
          <a:ln w="12700">
            <a:solidFill>
              <a:srgbClr val="B4236A"/>
            </a:solidFill>
            <a:prstDash val="solid"/>
          </a:ln>
        </p:spPr>
      </p:sp>
      <p:sp>
        <p:nvSpPr>
          <p:cNvPr id="79" name="Text 76"/>
          <p:cNvSpPr/>
          <p:nvPr/>
        </p:nvSpPr>
        <p:spPr>
          <a:xfrm>
            <a:off x="8837676" y="5138928"/>
            <a:ext cx="1325880" cy="310896"/>
          </a:xfrm>
          <a:prstGeom prst="roundRect">
            <a:avLst>
              <a:gd name="adj" fmla="val 50000"/>
            </a:avLst>
          </a:prstGeom>
          <a:solidFill>
            <a:srgbClr val="FFFFFF"/>
          </a:solidFill>
          <a:ln w="15875">
            <a:solidFill>
              <a:srgbClr val="B4236A"/>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deadline</a:t>
            </a:r>
            <a:endParaRPr lang="en-US" sz="1100" dirty="0"/>
          </a:p>
        </p:txBody>
      </p:sp>
      <p:sp>
        <p:nvSpPr>
          <p:cNvPr id="80" name="Shape 77"/>
          <p:cNvSpPr/>
          <p:nvPr/>
        </p:nvSpPr>
        <p:spPr>
          <a:xfrm>
            <a:off x="10163556" y="5294376"/>
            <a:ext cx="164592" cy="0"/>
          </a:xfrm>
          <a:prstGeom prst="line">
            <a:avLst/>
          </a:prstGeom>
          <a:noFill/>
          <a:ln w="12700">
            <a:solidFill>
              <a:srgbClr val="B4236A"/>
            </a:solidFill>
            <a:prstDash val="solid"/>
          </a:ln>
        </p:spPr>
      </p:sp>
      <p:sp>
        <p:nvSpPr>
          <p:cNvPr id="81" name="Text 78"/>
          <p:cNvSpPr/>
          <p:nvPr/>
        </p:nvSpPr>
        <p:spPr>
          <a:xfrm>
            <a:off x="10328148" y="5138928"/>
            <a:ext cx="1325880" cy="310896"/>
          </a:xfrm>
          <a:prstGeom prst="roundRect">
            <a:avLst>
              <a:gd name="adj" fmla="val 50000"/>
            </a:avLst>
          </a:prstGeom>
          <a:solidFill>
            <a:srgbClr val="EEF2F8"/>
          </a:solidFill>
          <a:ln w="15875">
            <a:solidFill>
              <a:srgbClr val="B4236A"/>
            </a:solidFill>
            <a:prstDash val="dash"/>
          </a:ln>
        </p:spPr>
        <p:txBody>
          <a:bodyPr wrap="square" lIns="0" tIns="0" rIns="0" bIns="0" rtlCol="0" anchor="ctr"/>
          <a:lstStyle/>
          <a:p>
            <a:pPr algn="ctr" indent="0" marL="0">
              <a:buNone/>
            </a:pPr>
            <a:r>
              <a:rPr lang="en-US" sz="1000" dirty="0">
                <a:solidFill>
                  <a:schemeClr val="tx1"/>
                </a:solidFill>
              </a:rPr>
              <a:t>respecter un délai</a:t>
            </a:r>
            <a:endParaRPr lang="en-US" sz="1000" dirty="0"/>
          </a:p>
        </p:txBody>
      </p:sp>
      <p:sp>
        <p:nvSpPr>
          <p:cNvPr id="82" name="Shape 79"/>
          <p:cNvSpPr/>
          <p:nvPr/>
        </p:nvSpPr>
        <p:spPr>
          <a:xfrm>
            <a:off x="8609076" y="5669280"/>
            <a:ext cx="228600" cy="0"/>
          </a:xfrm>
          <a:prstGeom prst="line">
            <a:avLst/>
          </a:prstGeom>
          <a:noFill/>
          <a:ln w="12700">
            <a:solidFill>
              <a:srgbClr val="B4236A"/>
            </a:solidFill>
            <a:prstDash val="solid"/>
          </a:ln>
        </p:spPr>
      </p:sp>
      <p:sp>
        <p:nvSpPr>
          <p:cNvPr id="83" name="Text 80"/>
          <p:cNvSpPr/>
          <p:nvPr/>
        </p:nvSpPr>
        <p:spPr>
          <a:xfrm>
            <a:off x="8837676" y="5513832"/>
            <a:ext cx="1325880" cy="310896"/>
          </a:xfrm>
          <a:prstGeom prst="roundRect">
            <a:avLst>
              <a:gd name="adj" fmla="val 50000"/>
            </a:avLst>
          </a:prstGeom>
          <a:solidFill>
            <a:srgbClr val="FFFFFF"/>
          </a:solidFill>
          <a:ln w="15875">
            <a:solidFill>
              <a:srgbClr val="B4236A"/>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costs</a:t>
            </a:r>
            <a:endParaRPr lang="en-US" sz="1100" dirty="0"/>
          </a:p>
        </p:txBody>
      </p:sp>
      <p:sp>
        <p:nvSpPr>
          <p:cNvPr id="84" name="Shape 81"/>
          <p:cNvSpPr/>
          <p:nvPr/>
        </p:nvSpPr>
        <p:spPr>
          <a:xfrm>
            <a:off x="10163556" y="5669280"/>
            <a:ext cx="164592" cy="0"/>
          </a:xfrm>
          <a:prstGeom prst="line">
            <a:avLst/>
          </a:prstGeom>
          <a:noFill/>
          <a:ln w="12700">
            <a:solidFill>
              <a:srgbClr val="B4236A"/>
            </a:solidFill>
            <a:prstDash val="solid"/>
          </a:ln>
        </p:spPr>
      </p:sp>
      <p:sp>
        <p:nvSpPr>
          <p:cNvPr id="85" name="Text 82"/>
          <p:cNvSpPr/>
          <p:nvPr/>
        </p:nvSpPr>
        <p:spPr>
          <a:xfrm>
            <a:off x="10328148" y="5513832"/>
            <a:ext cx="1325880" cy="310896"/>
          </a:xfrm>
          <a:prstGeom prst="roundRect">
            <a:avLst>
              <a:gd name="adj" fmla="val 50000"/>
            </a:avLst>
          </a:prstGeom>
          <a:solidFill>
            <a:srgbClr val="EEF2F8"/>
          </a:solidFill>
          <a:ln w="15875">
            <a:solidFill>
              <a:srgbClr val="B4236A"/>
            </a:solidFill>
            <a:prstDash val="dash"/>
          </a:ln>
        </p:spPr>
        <p:txBody>
          <a:bodyPr wrap="square" lIns="0" tIns="0" rIns="0" bIns="0" rtlCol="0" anchor="ctr"/>
          <a:lstStyle/>
          <a:p>
            <a:pPr algn="ctr" indent="0" marL="0">
              <a:buNone/>
            </a:pPr>
            <a:r>
              <a:rPr lang="en-US" sz="1100" dirty="0">
                <a:solidFill>
                  <a:schemeClr val="tx1"/>
                </a:solidFill>
              </a:rPr>
              <a:t>couvrir les frais</a:t>
            </a:r>
            <a:endParaRPr lang="en-US" sz="1100" dirty="0"/>
          </a:p>
        </p:txBody>
      </p:sp>
      <p:sp>
        <p:nvSpPr>
          <p:cNvPr id="86" name="Shape 83"/>
          <p:cNvSpPr/>
          <p:nvPr/>
        </p:nvSpPr>
        <p:spPr>
          <a:xfrm>
            <a:off x="8609076" y="5669280"/>
            <a:ext cx="228600" cy="374904"/>
          </a:xfrm>
          <a:prstGeom prst="line">
            <a:avLst/>
          </a:prstGeom>
          <a:noFill/>
          <a:ln w="12700">
            <a:solidFill>
              <a:srgbClr val="B4236A"/>
            </a:solidFill>
            <a:prstDash val="solid"/>
          </a:ln>
        </p:spPr>
      </p:sp>
      <p:sp>
        <p:nvSpPr>
          <p:cNvPr id="87" name="Text 84"/>
          <p:cNvSpPr/>
          <p:nvPr/>
        </p:nvSpPr>
        <p:spPr>
          <a:xfrm>
            <a:off x="8837676" y="5888736"/>
            <a:ext cx="1325880" cy="310896"/>
          </a:xfrm>
          <a:prstGeom prst="roundRect">
            <a:avLst>
              <a:gd name="adj" fmla="val 50000"/>
            </a:avLst>
          </a:prstGeom>
          <a:solidFill>
            <a:srgbClr val="FFFFFF"/>
          </a:solidFill>
          <a:ln w="15875">
            <a:solidFill>
              <a:srgbClr val="B4236A"/>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standards</a:t>
            </a:r>
            <a:endParaRPr lang="en-US" sz="1100" dirty="0"/>
          </a:p>
        </p:txBody>
      </p:sp>
      <p:sp>
        <p:nvSpPr>
          <p:cNvPr id="88" name="Shape 85"/>
          <p:cNvSpPr/>
          <p:nvPr/>
        </p:nvSpPr>
        <p:spPr>
          <a:xfrm>
            <a:off x="10163556" y="6044184"/>
            <a:ext cx="164592" cy="0"/>
          </a:xfrm>
          <a:prstGeom prst="line">
            <a:avLst/>
          </a:prstGeom>
          <a:noFill/>
          <a:ln w="12700">
            <a:solidFill>
              <a:srgbClr val="B4236A"/>
            </a:solidFill>
            <a:prstDash val="solid"/>
          </a:ln>
        </p:spPr>
      </p:sp>
      <p:sp>
        <p:nvSpPr>
          <p:cNvPr id="89" name="Text 86"/>
          <p:cNvSpPr/>
          <p:nvPr/>
        </p:nvSpPr>
        <p:spPr>
          <a:xfrm>
            <a:off x="10328148" y="5888736"/>
            <a:ext cx="1325880" cy="310896"/>
          </a:xfrm>
          <a:prstGeom prst="roundRect">
            <a:avLst>
              <a:gd name="adj" fmla="val 50000"/>
            </a:avLst>
          </a:prstGeom>
          <a:solidFill>
            <a:srgbClr val="EEF2F8"/>
          </a:solidFill>
          <a:ln w="15875">
            <a:solidFill>
              <a:srgbClr val="B4236A"/>
            </a:solidFill>
            <a:prstDash val="dash"/>
          </a:ln>
        </p:spPr>
        <p:txBody>
          <a:bodyPr wrap="square" lIns="0" tIns="0" rIns="0" bIns="0" rtlCol="0" anchor="ctr"/>
          <a:lstStyle/>
          <a:p>
            <a:pPr algn="ctr" indent="0" marL="0">
              <a:buNone/>
            </a:pPr>
            <a:r>
              <a:rPr lang="en-US" sz="1000" dirty="0">
                <a:solidFill>
                  <a:schemeClr val="tx1"/>
                </a:solidFill>
              </a:rPr>
              <a:t>respecter les normes</a:t>
            </a:r>
            <a:endParaRPr lang="en-US" sz="1000" dirty="0"/>
          </a:p>
        </p:txBody>
      </p:sp>
      <p:sp>
        <p:nvSpPr>
          <p:cNvPr id="90" name="Shape 87"/>
          <p:cNvSpPr/>
          <p:nvPr/>
        </p:nvSpPr>
        <p:spPr>
          <a:xfrm>
            <a:off x="5317236" y="3246120"/>
            <a:ext cx="1554480" cy="1554480"/>
          </a:xfrm>
          <a:prstGeom prst="ellipse">
            <a:avLst/>
          </a:prstGeom>
          <a:solidFill>
            <a:srgbClr val="EEF2F8"/>
          </a:solidFill>
          <a:ln/>
        </p:spPr>
      </p:sp>
      <p:sp>
        <p:nvSpPr>
          <p:cNvPr id="91" name="Shape 88"/>
          <p:cNvSpPr/>
          <p:nvPr/>
        </p:nvSpPr>
        <p:spPr>
          <a:xfrm>
            <a:off x="5454396" y="3383280"/>
            <a:ext cx="1280160" cy="1280160"/>
          </a:xfrm>
          <a:prstGeom prst="ellipse">
            <a:avLst/>
          </a:prstGeom>
          <a:solidFill>
            <a:srgbClr val="1F3864"/>
          </a:solidFill>
          <a:ln/>
        </p:spPr>
      </p:sp>
      <p:sp>
        <p:nvSpPr>
          <p:cNvPr id="92" name="Text 89"/>
          <p:cNvSpPr txBox="1"/>
          <p:nvPr/>
        </p:nvSpPr>
        <p:spPr>
          <a:xfrm>
            <a:off x="5472684" y="3566160"/>
            <a:ext cx="1243584" cy="91440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AN INCIDENT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intern’s note — correct it before Mark reads it</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The new intern wrote this note for Mark. Find </a:t>
            </a:r>
            <a:r>
              <a:rPr lang="en-US" sz="1600" b="1" i="1" dirty="0">
                <a:solidFill>
                  <a:schemeClr val="accent5"/>
                </a:solidFill>
              </a:rPr>
              <a:t>six mistakes</a:t>
            </a:r>
            <a:r>
              <a:rPr lang="en-US" sz="1600" i="1" dirty="0">
                <a:solidFill>
                  <a:schemeClr val="accent5"/>
                </a:solidFill>
              </a:rPr>
              <a:t>: three wrong blocks, three wrong participles.</a:t>
            </a:r>
            <a:endParaRPr lang="en-US" sz="1600" dirty="0"/>
          </a:p>
        </p:txBody>
      </p:sp>
      <p:sp>
        <p:nvSpPr>
          <p:cNvPr id="7" name="Shape 4"/>
          <p:cNvSpPr/>
          <p:nvPr/>
        </p:nvSpPr>
        <p:spPr>
          <a:xfrm>
            <a:off x="548640" y="2237232"/>
            <a:ext cx="11091672" cy="4072128"/>
          </a:xfrm>
          <a:prstGeom prst="rect">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8" name="tag"/>
          <p:cNvSpPr/>
          <p:nvPr/>
        </p:nvSpPr>
        <p:spPr>
          <a:xfrm>
            <a:off x="822960" y="2420112"/>
            <a:ext cx="198882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INTERN’S NOTE</a:t>
            </a:r>
            <a:endParaRPr lang="en-US" sz="1200" dirty="0"/>
          </a:p>
        </p:txBody>
      </p:sp>
      <p:sp>
        <p:nvSpPr>
          <p:cNvPr id="9" name="Text 6"/>
          <p:cNvSpPr txBox="1"/>
          <p:nvPr/>
        </p:nvSpPr>
        <p:spPr>
          <a:xfrm>
            <a:off x="3040380" y="2383536"/>
            <a:ext cx="6725412" cy="384048"/>
          </a:xfrm>
          <a:prstGeom prst="rect">
            <a:avLst/>
          </a:prstGeom>
          <a:noFill/>
          <a:ln/>
        </p:spPr>
        <p:txBody>
          <a:bodyPr wrap="square" lIns="0" tIns="0" rIns="0" bIns="0" rtlCol="0" anchor="ctr"/>
          <a:lstStyle/>
          <a:p>
            <a:pPr indent="0" marL="0">
              <a:buNone/>
            </a:pPr>
            <a:r>
              <a:rPr lang="en-US" sz="1700" b="1" dirty="0">
                <a:solidFill>
                  <a:schemeClr val="accent5"/>
                </a:solidFill>
                <a:latin typeface="+mj-lt" pitchFamily="34" charset="0"/>
                <a:ea typeface="+mj-lt" pitchFamily="34" charset="-122"/>
                <a:cs typeface="+mj-lt" pitchFamily="34" charset="-120"/>
              </a:rPr>
              <a:t>Atlas House — what we have done so far</a:t>
            </a:r>
            <a:endParaRPr lang="en-US" sz="1700" dirty="0"/>
          </a:p>
        </p:txBody>
      </p:sp>
      <p:sp>
        <p:nvSpPr>
          <p:cNvPr id="10" name="Shape 7"/>
          <p:cNvSpPr/>
          <p:nvPr/>
        </p:nvSpPr>
        <p:spPr>
          <a:xfrm>
            <a:off x="9765792" y="2392680"/>
            <a:ext cx="1645920" cy="384048"/>
          </a:xfrm>
          <a:prstGeom prst="roundRect">
            <a:avLst>
              <a:gd name="adj" fmla="val 47619"/>
            </a:avLst>
          </a:prstGeom>
          <a:solidFill>
            <a:srgbClr val="B4236A"/>
          </a:solidFill>
          <a:ln/>
        </p:spPr>
      </p:sp>
      <p:sp>
        <p:nvSpPr>
          <p:cNvPr id="11" name="Text 8"/>
          <p:cNvSpPr txBox="1"/>
          <p:nvPr/>
        </p:nvSpPr>
        <p:spPr>
          <a:xfrm>
            <a:off x="9765792" y="2392680"/>
            <a:ext cx="1645920" cy="384048"/>
          </a:xfrm>
          <a:prstGeom prst="rect">
            <a:avLst/>
          </a:prstGeom>
          <a:noFill/>
          <a:ln/>
        </p:spPr>
        <p:txBody>
          <a:bodyPr wrap="square" lIns="0" tIns="0" rIns="0" bIns="0" rtlCol="0" anchor="ctr"/>
          <a:lstStyle/>
          <a:p>
            <a:pPr algn="ctr" indent="0" marL="0">
              <a:buNone/>
            </a:pPr>
            <a:r>
              <a:rPr lang="en-US" sz="1400" b="1" dirty="0">
                <a:solidFill>
                  <a:schemeClr val="bg1"/>
                </a:solidFill>
              </a:rPr>
              <a:t>6 mistakes</a:t>
            </a:r>
            <a:endParaRPr lang="en-US" sz="1400" dirty="0"/>
          </a:p>
        </p:txBody>
      </p:sp>
      <p:sp>
        <p:nvSpPr>
          <p:cNvPr id="12" name="Shape 9"/>
          <p:cNvSpPr/>
          <p:nvPr/>
        </p:nvSpPr>
        <p:spPr>
          <a:xfrm>
            <a:off x="822960" y="2923032"/>
            <a:ext cx="10543032" cy="0"/>
          </a:xfrm>
          <a:prstGeom prst="line">
            <a:avLst/>
          </a:prstGeom>
          <a:noFill/>
          <a:ln w="12700">
            <a:solidFill>
              <a:srgbClr val="44546A"/>
            </a:solidFill>
            <a:prstDash val="dash"/>
          </a:ln>
        </p:spPr>
      </p:sp>
      <p:sp>
        <p:nvSpPr>
          <p:cNvPr id="13" name="Text 10"/>
          <p:cNvSpPr txBox="1"/>
          <p:nvPr/>
        </p:nvSpPr>
        <p:spPr>
          <a:xfrm>
            <a:off x="914400" y="3060192"/>
            <a:ext cx="10360152" cy="3157728"/>
          </a:xfrm>
          <a:prstGeom prst="rect">
            <a:avLst/>
          </a:prstGeom>
          <a:noFill/>
          <a:ln/>
        </p:spPr>
        <p:txBody>
          <a:bodyPr wrap="square" lIns="0" tIns="0" rIns="0" bIns="0" rtlCol="0" anchor="t"/>
          <a:lstStyle/>
          <a:p>
            <a:pPr indent="0" marL="0">
              <a:lnSpc>
                <a:spcPct val="115000"/>
              </a:lnSpc>
              <a:spcAft>
                <a:spcPts val="1000"/>
              </a:spcAft>
              <a:buNone/>
            </a:pPr>
            <a:r>
              <a:rPr lang="en-US" sz="2100" dirty="0">
                <a:solidFill>
                  <a:schemeClr val="tx1"/>
                </a:solidFill>
              </a:rPr>
              <a:t>This morning the cleaners </a:t>
            </a:r>
            <a:r>
              <a:rPr lang="en-US" sz="2100" dirty="0">
                <a:solidFill>
                  <a:schemeClr val="tx1"/>
                </a:solidFill>
              </a:rPr>
              <a:t>lifted the alarm</a:t>
            </a:r>
            <a:r>
              <a:rPr lang="en-US" sz="2100" dirty="0">
                <a:solidFill>
                  <a:schemeClr val="tx1"/>
                </a:solidFill>
              </a:rPr>
              <a:t> at 6.50.</a:t>
            </a:r>
            <a:endParaRPr lang="en-US" sz="2100" dirty="0"/>
          </a:p>
          <a:p>
            <a:pPr indent="0" marL="0">
              <a:lnSpc>
                <a:spcPct val="115000"/>
              </a:lnSpc>
              <a:spcAft>
                <a:spcPts val="1000"/>
              </a:spcAft>
              <a:buNone/>
            </a:pPr>
            <a:r>
              <a:rPr lang="en-US" sz="2100" dirty="0">
                <a:solidFill>
                  <a:schemeClr val="tx1"/>
                </a:solidFill>
              </a:rPr>
              <a:t>Iris </a:t>
            </a:r>
            <a:r>
              <a:rPr lang="en-US" sz="2100" dirty="0">
                <a:solidFill>
                  <a:schemeClr val="tx1"/>
                </a:solidFill>
              </a:rPr>
              <a:t>has took</a:t>
            </a:r>
            <a:r>
              <a:rPr lang="en-US" sz="2100" dirty="0">
                <a:solidFill>
                  <a:schemeClr val="tx1"/>
                </a:solidFill>
              </a:rPr>
              <a:t> forty photos of the ceiling, and Mark has already </a:t>
            </a:r>
            <a:r>
              <a:rPr lang="en-US" sz="2100" dirty="0">
                <a:solidFill>
                  <a:schemeClr val="tx1"/>
                </a:solidFill>
              </a:rPr>
              <a:t>did steps</a:t>
            </a:r>
            <a:r>
              <a:rPr lang="en-US" sz="2100" dirty="0">
                <a:solidFill>
                  <a:schemeClr val="tx1"/>
                </a:solidFill>
              </a:rPr>
              <a:t> to protect the servers.</a:t>
            </a:r>
            <a:endParaRPr lang="en-US" sz="2100" dirty="0"/>
          </a:p>
          <a:p>
            <a:pPr indent="0" marL="0">
              <a:lnSpc>
                <a:spcPct val="115000"/>
              </a:lnSpc>
              <a:spcAft>
                <a:spcPts val="1000"/>
              </a:spcAft>
              <a:buNone/>
            </a:pPr>
            <a:r>
              <a:rPr lang="en-US" sz="2100" dirty="0">
                <a:solidFill>
                  <a:schemeClr val="tx1"/>
                </a:solidFill>
              </a:rPr>
              <a:t>An expert will </a:t>
            </a:r>
            <a:r>
              <a:rPr lang="en-US" sz="2100" dirty="0">
                <a:solidFill>
                  <a:schemeClr val="tx1"/>
                </a:solidFill>
              </a:rPr>
              <a:t>count the damage</a:t>
            </a:r>
            <a:r>
              <a:rPr lang="en-US" sz="2100" dirty="0">
                <a:solidFill>
                  <a:schemeClr val="tx1"/>
                </a:solidFill>
              </a:rPr>
              <a:t> this afternoon. Nobody </a:t>
            </a:r>
            <a:r>
              <a:rPr lang="en-US" sz="2100" dirty="0">
                <a:solidFill>
                  <a:schemeClr val="tx1"/>
                </a:solidFill>
              </a:rPr>
              <a:t>has saw</a:t>
            </a:r>
            <a:r>
              <a:rPr lang="en-US" sz="2100" dirty="0">
                <a:solidFill>
                  <a:schemeClr val="tx1"/>
                </a:solidFill>
              </a:rPr>
              <a:t> the floor under the rack yet.</a:t>
            </a:r>
            <a:endParaRPr lang="en-US" sz="2100" dirty="0"/>
          </a:p>
          <a:p>
            <a:pPr indent="0" marL="0">
              <a:lnSpc>
                <a:spcPct val="115000"/>
              </a:lnSpc>
              <a:spcAft>
                <a:spcPts val="1000"/>
              </a:spcAft>
              <a:buNone/>
            </a:pPr>
            <a:r>
              <a:rPr lang="en-US" sz="2100" dirty="0">
                <a:solidFill>
                  <a:schemeClr val="tx1"/>
                </a:solidFill>
              </a:rPr>
              <a:t>We must </a:t>
            </a:r>
            <a:r>
              <a:rPr lang="en-US" sz="2100" dirty="0">
                <a:solidFill>
                  <a:schemeClr val="tx1"/>
                </a:solidFill>
              </a:rPr>
              <a:t>respect the deadline</a:t>
            </a:r>
            <a:r>
              <a:rPr lang="en-US" sz="2100" dirty="0">
                <a:solidFill>
                  <a:schemeClr val="tx1"/>
                </a:solidFill>
              </a:rPr>
              <a:t> of Friday.</a:t>
            </a:r>
            <a:endParaRPr lang="en-US" sz="2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intern’s note — correct it before Mark reads it</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Blocks from the Word file · participle after </a:t>
            </a:r>
            <a:r>
              <a:rPr lang="en-US" sz="1600" b="1" i="1" dirty="0">
                <a:solidFill>
                  <a:schemeClr val="accent5"/>
                </a:solidFill>
              </a:rPr>
              <a:t>have / has</a:t>
            </a:r>
            <a:r>
              <a:rPr lang="en-US" sz="1600" i="1" dirty="0">
                <a:solidFill>
                  <a:schemeClr val="accent5"/>
                </a:solidFill>
              </a:rPr>
              <a:t>.</a:t>
            </a:r>
            <a:endParaRPr lang="en-US" sz="1600" dirty="0"/>
          </a:p>
        </p:txBody>
      </p:sp>
      <p:sp>
        <p:nvSpPr>
          <p:cNvPr id="8" name="Shape 5"/>
          <p:cNvSpPr/>
          <p:nvPr/>
        </p:nvSpPr>
        <p:spPr>
          <a:xfrm>
            <a:off x="548640" y="2237232"/>
            <a:ext cx="11091672" cy="4072128"/>
          </a:xfrm>
          <a:prstGeom prst="rect">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9" name="tag"/>
          <p:cNvSpPr/>
          <p:nvPr/>
        </p:nvSpPr>
        <p:spPr>
          <a:xfrm>
            <a:off x="822960" y="2420112"/>
            <a:ext cx="198882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INTERN’S NOTE</a:t>
            </a:r>
            <a:endParaRPr lang="en-US" sz="1200" dirty="0"/>
          </a:p>
        </p:txBody>
      </p:sp>
      <p:sp>
        <p:nvSpPr>
          <p:cNvPr id="10" name="Text 7"/>
          <p:cNvSpPr txBox="1"/>
          <p:nvPr/>
        </p:nvSpPr>
        <p:spPr>
          <a:xfrm>
            <a:off x="3040380" y="2383536"/>
            <a:ext cx="6725412" cy="384048"/>
          </a:xfrm>
          <a:prstGeom prst="rect">
            <a:avLst/>
          </a:prstGeom>
          <a:noFill/>
          <a:ln/>
        </p:spPr>
        <p:txBody>
          <a:bodyPr wrap="square" lIns="0" tIns="0" rIns="0" bIns="0" rtlCol="0" anchor="ctr"/>
          <a:lstStyle/>
          <a:p>
            <a:pPr indent="0" marL="0">
              <a:buNone/>
            </a:pPr>
            <a:r>
              <a:rPr lang="en-US" sz="1700" b="1" dirty="0">
                <a:solidFill>
                  <a:schemeClr val="accent5"/>
                </a:solidFill>
                <a:latin typeface="+mj-lt" pitchFamily="34" charset="0"/>
                <a:ea typeface="+mj-lt" pitchFamily="34" charset="-122"/>
                <a:cs typeface="+mj-lt" pitchFamily="34" charset="-120"/>
              </a:rPr>
              <a:t>Atlas House — what we have done so far</a:t>
            </a:r>
            <a:endParaRPr lang="en-US" sz="1700" dirty="0"/>
          </a:p>
        </p:txBody>
      </p:sp>
      <p:sp>
        <p:nvSpPr>
          <p:cNvPr id="11" name="Shape 8"/>
          <p:cNvSpPr/>
          <p:nvPr/>
        </p:nvSpPr>
        <p:spPr>
          <a:xfrm>
            <a:off x="9765792" y="2392680"/>
            <a:ext cx="1645920" cy="384048"/>
          </a:xfrm>
          <a:prstGeom prst="roundRect">
            <a:avLst>
              <a:gd name="adj" fmla="val 47619"/>
            </a:avLst>
          </a:prstGeom>
          <a:solidFill>
            <a:srgbClr val="3C7A3C"/>
          </a:solidFill>
          <a:ln/>
        </p:spPr>
      </p:sp>
      <p:sp>
        <p:nvSpPr>
          <p:cNvPr id="12" name="Text 9"/>
          <p:cNvSpPr txBox="1"/>
          <p:nvPr/>
        </p:nvSpPr>
        <p:spPr>
          <a:xfrm>
            <a:off x="9765792" y="2392680"/>
            <a:ext cx="1645920" cy="384048"/>
          </a:xfrm>
          <a:prstGeom prst="rect">
            <a:avLst/>
          </a:prstGeom>
          <a:noFill/>
          <a:ln/>
        </p:spPr>
        <p:txBody>
          <a:bodyPr wrap="square" lIns="0" tIns="0" rIns="0" bIns="0" rtlCol="0" anchor="ctr"/>
          <a:lstStyle/>
          <a:p>
            <a:pPr algn="ctr" indent="0" marL="0">
              <a:buNone/>
            </a:pPr>
            <a:r>
              <a:rPr lang="en-US" sz="1400" b="1" dirty="0">
                <a:solidFill>
                  <a:schemeClr val="bg1"/>
                </a:solidFill>
              </a:rPr>
              <a:t>✓ 6 corrections</a:t>
            </a:r>
            <a:endParaRPr lang="en-US" sz="1400" dirty="0"/>
          </a:p>
        </p:txBody>
      </p:sp>
      <p:sp>
        <p:nvSpPr>
          <p:cNvPr id="13" name="Shape 10"/>
          <p:cNvSpPr/>
          <p:nvPr/>
        </p:nvSpPr>
        <p:spPr>
          <a:xfrm>
            <a:off x="822960" y="2923032"/>
            <a:ext cx="10543032" cy="0"/>
          </a:xfrm>
          <a:prstGeom prst="line">
            <a:avLst/>
          </a:prstGeom>
          <a:noFill/>
          <a:ln w="12700">
            <a:solidFill>
              <a:srgbClr val="44546A"/>
            </a:solidFill>
            <a:prstDash val="dash"/>
          </a:ln>
        </p:spPr>
      </p:sp>
      <p:sp>
        <p:nvSpPr>
          <p:cNvPr id="14" name="Text 11"/>
          <p:cNvSpPr txBox="1"/>
          <p:nvPr/>
        </p:nvSpPr>
        <p:spPr>
          <a:xfrm>
            <a:off x="914400" y="3060192"/>
            <a:ext cx="10360152" cy="3157728"/>
          </a:xfrm>
          <a:prstGeom prst="rect">
            <a:avLst/>
          </a:prstGeom>
          <a:noFill/>
          <a:ln/>
        </p:spPr>
        <p:txBody>
          <a:bodyPr wrap="square" lIns="0" tIns="0" rIns="0" bIns="0" rtlCol="0" anchor="t"/>
          <a:lstStyle/>
          <a:p>
            <a:pPr indent="0" marL="0">
              <a:lnSpc>
                <a:spcPct val="115000"/>
              </a:lnSpc>
              <a:spcAft>
                <a:spcPts val="1000"/>
              </a:spcAft>
              <a:buNone/>
            </a:pPr>
            <a:r>
              <a:rPr lang="en-US" sz="2100" dirty="0">
                <a:solidFill>
                  <a:schemeClr val="tx1"/>
                </a:solidFill>
              </a:rPr>
              <a:t>This morning the cleaners </a:t>
            </a:r>
            <a:r>
              <a:rPr lang="en-US" sz="2100" strike="sngStrike" dirty="0">
                <a:solidFill>
                  <a:schemeClr val="accent6"/>
                </a:solidFill>
              </a:rPr>
              <a:t>lifted the alarm</a:t>
            </a:r>
            <a:r>
              <a:rPr lang="en-US" sz="2100" b="1" dirty="0">
                <a:solidFill>
                  <a:schemeClr val="accent3"/>
                </a:solidFill>
              </a:rPr>
              <a:t> raised the alarm</a:t>
            </a:r>
            <a:r>
              <a:rPr lang="en-US" sz="2100" dirty="0">
                <a:solidFill>
                  <a:schemeClr val="tx1"/>
                </a:solidFill>
              </a:rPr>
              <a:t> at 6.50.</a:t>
            </a:r>
            <a:endParaRPr lang="en-US" sz="2100" dirty="0"/>
          </a:p>
          <a:p>
            <a:pPr indent="0" marL="0">
              <a:lnSpc>
                <a:spcPct val="115000"/>
              </a:lnSpc>
              <a:spcAft>
                <a:spcPts val="1000"/>
              </a:spcAft>
              <a:buNone/>
            </a:pPr>
            <a:r>
              <a:rPr lang="en-US" sz="2100" dirty="0">
                <a:solidFill>
                  <a:schemeClr val="tx1"/>
                </a:solidFill>
              </a:rPr>
              <a:t>Iris </a:t>
            </a:r>
            <a:r>
              <a:rPr lang="en-US" sz="2100" strike="sngStrike" dirty="0">
                <a:solidFill>
                  <a:schemeClr val="accent6"/>
                </a:solidFill>
              </a:rPr>
              <a:t>has took</a:t>
            </a:r>
            <a:r>
              <a:rPr lang="en-US" sz="2100" b="1" dirty="0">
                <a:solidFill>
                  <a:schemeClr val="accent3"/>
                </a:solidFill>
              </a:rPr>
              <a:t> has taken</a:t>
            </a:r>
            <a:r>
              <a:rPr lang="en-US" sz="2100" dirty="0">
                <a:solidFill>
                  <a:schemeClr val="tx1"/>
                </a:solidFill>
              </a:rPr>
              <a:t> forty photos of the ceiling, and Mark has already </a:t>
            </a:r>
            <a:r>
              <a:rPr lang="en-US" sz="2100" strike="sngStrike" dirty="0">
                <a:solidFill>
                  <a:schemeClr val="accent6"/>
                </a:solidFill>
              </a:rPr>
              <a:t>did steps</a:t>
            </a:r>
            <a:r>
              <a:rPr lang="en-US" sz="2100" b="1" dirty="0">
                <a:solidFill>
                  <a:schemeClr val="accent3"/>
                </a:solidFill>
              </a:rPr>
              <a:t> taken steps</a:t>
            </a:r>
            <a:r>
              <a:rPr lang="en-US" sz="2100" dirty="0">
                <a:solidFill>
                  <a:schemeClr val="tx1"/>
                </a:solidFill>
              </a:rPr>
              <a:t> to protect the servers.</a:t>
            </a:r>
            <a:endParaRPr lang="en-US" sz="2100" dirty="0"/>
          </a:p>
          <a:p>
            <a:pPr indent="0" marL="0">
              <a:lnSpc>
                <a:spcPct val="115000"/>
              </a:lnSpc>
              <a:spcAft>
                <a:spcPts val="1000"/>
              </a:spcAft>
              <a:buNone/>
            </a:pPr>
            <a:r>
              <a:rPr lang="en-US" sz="2100" dirty="0">
                <a:solidFill>
                  <a:schemeClr val="tx1"/>
                </a:solidFill>
              </a:rPr>
              <a:t>An expert will </a:t>
            </a:r>
            <a:r>
              <a:rPr lang="en-US" sz="2100" strike="sngStrike" dirty="0">
                <a:solidFill>
                  <a:schemeClr val="accent6"/>
                </a:solidFill>
              </a:rPr>
              <a:t>count the damage</a:t>
            </a:r>
            <a:r>
              <a:rPr lang="en-US" sz="2100" b="1" dirty="0">
                <a:solidFill>
                  <a:schemeClr val="accent3"/>
                </a:solidFill>
              </a:rPr>
              <a:t> assess the damage</a:t>
            </a:r>
            <a:r>
              <a:rPr lang="en-US" sz="2100" dirty="0">
                <a:solidFill>
                  <a:schemeClr val="tx1"/>
                </a:solidFill>
              </a:rPr>
              <a:t> this afternoon. Nobody </a:t>
            </a:r>
            <a:r>
              <a:rPr lang="en-US" sz="2100" strike="sngStrike" dirty="0">
                <a:solidFill>
                  <a:schemeClr val="accent6"/>
                </a:solidFill>
              </a:rPr>
              <a:t>has saw</a:t>
            </a:r>
            <a:r>
              <a:rPr lang="en-US" sz="2100" b="1" dirty="0">
                <a:solidFill>
                  <a:schemeClr val="accent3"/>
                </a:solidFill>
              </a:rPr>
              <a:t> has seen</a:t>
            </a:r>
            <a:r>
              <a:rPr lang="en-US" sz="2100" dirty="0">
                <a:solidFill>
                  <a:schemeClr val="tx1"/>
                </a:solidFill>
              </a:rPr>
              <a:t> the floor under the rack yet.</a:t>
            </a:r>
            <a:endParaRPr lang="en-US" sz="2100" dirty="0"/>
          </a:p>
          <a:p>
            <a:pPr indent="0" marL="0">
              <a:lnSpc>
                <a:spcPct val="115000"/>
              </a:lnSpc>
              <a:spcAft>
                <a:spcPts val="1000"/>
              </a:spcAft>
              <a:buNone/>
            </a:pPr>
            <a:r>
              <a:rPr lang="en-US" sz="2100" dirty="0">
                <a:solidFill>
                  <a:schemeClr val="tx1"/>
                </a:solidFill>
              </a:rPr>
              <a:t>We must </a:t>
            </a:r>
            <a:r>
              <a:rPr lang="en-US" sz="2100" strike="sngStrike" dirty="0">
                <a:solidFill>
                  <a:schemeClr val="accent6"/>
                </a:solidFill>
              </a:rPr>
              <a:t>respect the deadline</a:t>
            </a:r>
            <a:r>
              <a:rPr lang="en-US" sz="2100" b="1" dirty="0">
                <a:solidFill>
                  <a:schemeClr val="accent3"/>
                </a:solidFill>
              </a:rPr>
              <a:t> meet the deadline</a:t>
            </a:r>
            <a:r>
              <a:rPr lang="en-US" sz="2100" dirty="0">
                <a:solidFill>
                  <a:schemeClr val="tx1"/>
                </a:solidFill>
              </a:rPr>
              <a:t> of Friday.</a:t>
            </a:r>
            <a:endParaRPr lang="en-US" sz="2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Two idioms: a warning and a compliment</a:t>
            </a:r>
            <a:endParaRPr lang="en-US" sz="3200" dirty="0"/>
          </a:p>
        </p:txBody>
      </p:sp>
      <p:sp>
        <p:nvSpPr>
          <p:cNvPr id="3" name="tag"/>
          <p:cNvSpPr/>
          <p:nvPr/>
        </p:nvSpPr>
        <p:spPr>
          <a:xfrm>
            <a:off x="548640" y="384048"/>
            <a:ext cx="13944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WORD FILE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15</a:t>
            </a:r>
            <a:endParaRPr lang="en-US" sz="1200" dirty="0"/>
          </a:p>
        </p:txBody>
      </p:sp>
      <p:pic>
        <p:nvPicPr>
          <p:cNvPr id="5" name="illustration" descr="Left: a woman raises a red flag over a risk assessment. Right: Samuel reacts fast to alerts on his laptop and phone.">    </p:cNvPr>
          <p:cNvPicPr>
            <a:picLocks noChangeAspect="1"/>
          </p:cNvPicPr>
          <p:nvPr/>
        </p:nvPicPr>
        <p:blipFill>
          <a:blip r:embed="rId1"/>
          <a:stretch>
            <a:fillRect/>
          </a:stretch>
        </p:blipFill>
        <p:spPr>
          <a:xfrm>
            <a:off x="548640" y="1783080"/>
            <a:ext cx="5852160" cy="3535486"/>
          </a:xfrm>
          <a:prstGeom prst="rect">
            <a:avLst/>
          </a:prstGeom>
          <a:effectLst>
            <a:outerShdw sx="100000" sy="100000" kx="0" ky="0" algn="bl" rotWithShape="0" blurRad="101600" dist="25400" dir="3600000">
              <a:srgbClr val="000000">
                <a:alpha val="18000"/>
              </a:srgbClr>
            </a:outerShdw>
          </a:effectLst>
        </p:spPr>
      </p:pic>
      <p:sp>
        <p:nvSpPr>
          <p:cNvPr id="6" name="Shape 3"/>
          <p:cNvSpPr/>
          <p:nvPr/>
        </p:nvSpPr>
        <p:spPr>
          <a:xfrm>
            <a:off x="6766560" y="1783080"/>
            <a:ext cx="4873752" cy="994410"/>
          </a:xfrm>
          <a:prstGeom prst="roundRect">
            <a:avLst>
              <a:gd name="adj" fmla="val 7356"/>
            </a:avLst>
          </a:prstGeom>
          <a:solidFill>
            <a:srgbClr val="B03A2E">
              <a:alpha val="9000"/>
            </a:srgbClr>
          </a:solidFill>
          <a:ln w="12700">
            <a:solidFill>
              <a:srgbClr val="B03A2E"/>
            </a:solidFill>
            <a:prstDash val="solid"/>
          </a:ln>
        </p:spPr>
      </p:sp>
      <p:pic>
        <p:nvPicPr>
          <p:cNvPr id="7" name="Image 1" descr="preencoded.png">    </p:cNvPr>
          <p:cNvPicPr>
            <a:picLocks noChangeAspect="1"/>
          </p:cNvPicPr>
          <p:nvPr/>
        </p:nvPicPr>
        <p:blipFill>
          <a:blip r:embed="rId2"/>
          <a:stretch>
            <a:fillRect/>
          </a:stretch>
        </p:blipFill>
        <p:spPr>
          <a:xfrm>
            <a:off x="6949440" y="1929384"/>
            <a:ext cx="292608" cy="292608"/>
          </a:xfrm>
          <a:prstGeom prst="rect">
            <a:avLst/>
          </a:prstGeom>
        </p:spPr>
      </p:pic>
      <p:sp>
        <p:nvSpPr>
          <p:cNvPr id="8" name="Text 4"/>
          <p:cNvSpPr txBox="1"/>
          <p:nvPr/>
        </p:nvSpPr>
        <p:spPr>
          <a:xfrm>
            <a:off x="7333488" y="1892808"/>
            <a:ext cx="4142232" cy="365760"/>
          </a:xfrm>
          <a:prstGeom prst="rect">
            <a:avLst/>
          </a:prstGeom>
          <a:noFill/>
          <a:ln/>
        </p:spPr>
        <p:txBody>
          <a:bodyPr wrap="square" lIns="0" tIns="0" rIns="0" bIns="0" rtlCol="0" anchor="ctr"/>
          <a:lstStyle/>
          <a:p>
            <a:pPr indent="0" marL="0">
              <a:buNone/>
            </a:pPr>
            <a:r>
              <a:rPr lang="en-US" sz="1700" b="1" dirty="0">
                <a:solidFill>
                  <a:schemeClr val="accent6"/>
                </a:solidFill>
                <a:latin typeface="+mj-lt" pitchFamily="34" charset="0"/>
                <a:ea typeface="+mj-lt" pitchFamily="34" charset="-122"/>
                <a:cs typeface="+mj-lt" pitchFamily="34" charset="-120"/>
              </a:rPr>
              <a:t>to raise a red flag</a:t>
            </a:r>
            <a:endParaRPr lang="en-US" sz="1700" dirty="0"/>
          </a:p>
        </p:txBody>
      </p:sp>
      <p:sp>
        <p:nvSpPr>
          <p:cNvPr id="9" name="Text 5"/>
          <p:cNvSpPr txBox="1"/>
          <p:nvPr/>
        </p:nvSpPr>
        <p:spPr>
          <a:xfrm>
            <a:off x="6967728" y="2258568"/>
            <a:ext cx="4471416" cy="464058"/>
          </a:xfrm>
          <a:prstGeom prst="rect">
            <a:avLst/>
          </a:prstGeom>
          <a:noFill/>
          <a:ln/>
        </p:spPr>
        <p:txBody>
          <a:bodyPr wrap="square" lIns="0" tIns="0" rIns="0" bIns="0" rtlCol="0" anchor="t"/>
          <a:lstStyle/>
          <a:p>
            <a:pPr indent="0" marL="0">
              <a:buNone/>
            </a:pPr>
            <a:r>
              <a:rPr lang="en-US" sz="1400" dirty="0">
                <a:solidFill>
                  <a:schemeClr val="tx1"/>
                </a:solidFill>
              </a:rPr>
              <a:t>= to point out a risk. </a:t>
            </a:r>
            <a:r>
              <a:rPr lang="en-US" sz="1400" i="1" dirty="0">
                <a:solidFill>
                  <a:schemeClr val="tx1"/>
                </a:solidFill>
              </a:rPr>
              <a:t>Not a compliment: it means someone failed to warn.</a:t>
            </a:r>
            <a:endParaRPr lang="en-US" sz="1400" dirty="0"/>
          </a:p>
        </p:txBody>
      </p:sp>
      <p:sp>
        <p:nvSpPr>
          <p:cNvPr id="10" name="Shape 6"/>
          <p:cNvSpPr/>
          <p:nvPr/>
        </p:nvSpPr>
        <p:spPr>
          <a:xfrm>
            <a:off x="6766560" y="2960370"/>
            <a:ext cx="4873752" cy="994410"/>
          </a:xfrm>
          <a:prstGeom prst="roundRect">
            <a:avLst>
              <a:gd name="adj" fmla="val 7356"/>
            </a:avLst>
          </a:prstGeom>
          <a:solidFill>
            <a:srgbClr val="3C7A3C">
              <a:alpha val="9000"/>
            </a:srgbClr>
          </a:solidFill>
          <a:ln w="12700">
            <a:solidFill>
              <a:srgbClr val="3C7A3C"/>
            </a:solidFill>
            <a:prstDash val="solid"/>
          </a:ln>
        </p:spPr>
      </p:sp>
      <p:pic>
        <p:nvPicPr>
          <p:cNvPr id="11" name="Image 2" descr="preencoded.png">    </p:cNvPr>
          <p:cNvPicPr>
            <a:picLocks noChangeAspect="1"/>
          </p:cNvPicPr>
          <p:nvPr/>
        </p:nvPicPr>
        <p:blipFill>
          <a:blip r:embed="rId3"/>
          <a:stretch>
            <a:fillRect/>
          </a:stretch>
        </p:blipFill>
        <p:spPr>
          <a:xfrm>
            <a:off x="6949440" y="3106674"/>
            <a:ext cx="292608" cy="292608"/>
          </a:xfrm>
          <a:prstGeom prst="rect">
            <a:avLst/>
          </a:prstGeom>
        </p:spPr>
      </p:pic>
      <p:sp>
        <p:nvSpPr>
          <p:cNvPr id="12" name="Text 7"/>
          <p:cNvSpPr txBox="1"/>
          <p:nvPr/>
        </p:nvSpPr>
        <p:spPr>
          <a:xfrm>
            <a:off x="7333488" y="3070098"/>
            <a:ext cx="4142232" cy="365760"/>
          </a:xfrm>
          <a:prstGeom prst="rect">
            <a:avLst/>
          </a:prstGeom>
          <a:noFill/>
          <a:ln/>
        </p:spPr>
        <p:txBody>
          <a:bodyPr wrap="square" lIns="0" tIns="0" rIns="0" bIns="0" rtlCol="0" anchor="ctr"/>
          <a:lstStyle/>
          <a:p>
            <a:pPr indent="0" marL="0">
              <a:buNone/>
            </a:pPr>
            <a:r>
              <a:rPr lang="en-US" sz="1700" b="1" dirty="0">
                <a:solidFill>
                  <a:schemeClr val="accent3"/>
                </a:solidFill>
                <a:latin typeface="+mj-lt" pitchFamily="34" charset="0"/>
                <a:ea typeface="+mj-lt" pitchFamily="34" charset="-122"/>
                <a:cs typeface="+mj-lt" pitchFamily="34" charset="-120"/>
              </a:rPr>
              <a:t>to be on the ball</a:t>
            </a:r>
            <a:endParaRPr lang="en-US" sz="1700" dirty="0"/>
          </a:p>
        </p:txBody>
      </p:sp>
      <p:sp>
        <p:nvSpPr>
          <p:cNvPr id="13" name="Text 8"/>
          <p:cNvSpPr txBox="1"/>
          <p:nvPr/>
        </p:nvSpPr>
        <p:spPr>
          <a:xfrm>
            <a:off x="6967728" y="3435858"/>
            <a:ext cx="4471416" cy="464058"/>
          </a:xfrm>
          <a:prstGeom prst="rect">
            <a:avLst/>
          </a:prstGeom>
          <a:noFill/>
          <a:ln/>
        </p:spPr>
        <p:txBody>
          <a:bodyPr wrap="square" lIns="0" tIns="0" rIns="0" bIns="0" rtlCol="0" anchor="t"/>
          <a:lstStyle/>
          <a:p>
            <a:pPr indent="0" marL="0">
              <a:buNone/>
            </a:pPr>
            <a:r>
              <a:rPr lang="en-US" sz="1400" dirty="0">
                <a:solidFill>
                  <a:schemeClr val="tx1"/>
                </a:solidFill>
              </a:rPr>
              <a:t>= alert and quick to react. </a:t>
            </a:r>
            <a:r>
              <a:rPr lang="en-US" sz="1400" i="1" dirty="0">
                <a:solidFill>
                  <a:schemeClr val="tx1"/>
                </a:solidFill>
              </a:rPr>
              <a:t>A compliment.</a:t>
            </a:r>
            <a:endParaRPr lang="en-US" sz="1400" dirty="0"/>
          </a:p>
        </p:txBody>
      </p:sp>
      <p:sp>
        <p:nvSpPr>
          <p:cNvPr id="14" name="Shape 9"/>
          <p:cNvSpPr/>
          <p:nvPr/>
        </p:nvSpPr>
        <p:spPr>
          <a:xfrm>
            <a:off x="6766560" y="4137660"/>
            <a:ext cx="4873752" cy="994410"/>
          </a:xfrm>
          <a:prstGeom prst="roundRect">
            <a:avLst>
              <a:gd name="adj" fmla="val 7356"/>
            </a:avLst>
          </a:prstGeom>
          <a:solidFill>
            <a:srgbClr val="C0752A">
              <a:alpha val="9000"/>
            </a:srgbClr>
          </a:solidFill>
          <a:ln w="12700">
            <a:solidFill>
              <a:srgbClr val="C0752A"/>
            </a:solidFill>
            <a:prstDash val="solid"/>
          </a:ln>
        </p:spPr>
      </p:sp>
      <p:pic>
        <p:nvPicPr>
          <p:cNvPr id="15" name="Image 3" descr="preencoded.png">    </p:cNvPr>
          <p:cNvPicPr>
            <a:picLocks noChangeAspect="1"/>
          </p:cNvPicPr>
          <p:nvPr/>
        </p:nvPicPr>
        <p:blipFill>
          <a:blip r:embed="rId4"/>
          <a:stretch>
            <a:fillRect/>
          </a:stretch>
        </p:blipFill>
        <p:spPr>
          <a:xfrm>
            <a:off x="6949440" y="4283964"/>
            <a:ext cx="292608" cy="292608"/>
          </a:xfrm>
          <a:prstGeom prst="rect">
            <a:avLst/>
          </a:prstGeom>
        </p:spPr>
      </p:pic>
      <p:sp>
        <p:nvSpPr>
          <p:cNvPr id="16" name="Text 10"/>
          <p:cNvSpPr txBox="1"/>
          <p:nvPr/>
        </p:nvSpPr>
        <p:spPr>
          <a:xfrm>
            <a:off x="7333488" y="4247388"/>
            <a:ext cx="4142232" cy="365760"/>
          </a:xfrm>
          <a:prstGeom prst="rect">
            <a:avLst/>
          </a:prstGeom>
          <a:noFill/>
          <a:ln/>
        </p:spPr>
        <p:txBody>
          <a:bodyPr wrap="square" lIns="0" tIns="0" rIns="0" bIns="0" rtlCol="0" anchor="ctr"/>
          <a:lstStyle/>
          <a:p>
            <a:pPr indent="0" marL="0">
              <a:buNone/>
            </a:pPr>
            <a:r>
              <a:rPr lang="en-US" sz="1700" b="1" dirty="0">
                <a:solidFill>
                  <a:schemeClr val="accent1"/>
                </a:solidFill>
                <a:latin typeface="+mj-lt" pitchFamily="34" charset="0"/>
                <a:ea typeface="+mj-lt" pitchFamily="34" charset="-122"/>
                <a:cs typeface="+mj-lt" pitchFamily="34" charset="-120"/>
              </a:rPr>
              <a:t>+ to drop the ball</a:t>
            </a:r>
            <a:endParaRPr lang="en-US" sz="1700" dirty="0"/>
          </a:p>
        </p:txBody>
      </p:sp>
      <p:sp>
        <p:nvSpPr>
          <p:cNvPr id="17" name="Text 11"/>
          <p:cNvSpPr txBox="1"/>
          <p:nvPr/>
        </p:nvSpPr>
        <p:spPr>
          <a:xfrm>
            <a:off x="6967728" y="4613148"/>
            <a:ext cx="4471416" cy="464058"/>
          </a:xfrm>
          <a:prstGeom prst="rect">
            <a:avLst/>
          </a:prstGeom>
          <a:noFill/>
          <a:ln/>
        </p:spPr>
        <p:txBody>
          <a:bodyPr wrap="square" lIns="0" tIns="0" rIns="0" bIns="0" rtlCol="0" anchor="t"/>
          <a:lstStyle/>
          <a:p>
            <a:pPr indent="0" marL="0">
              <a:buNone/>
            </a:pPr>
            <a:r>
              <a:rPr lang="en-US" sz="1400" dirty="0">
                <a:solidFill>
                  <a:schemeClr val="tx1"/>
                </a:solidFill>
              </a:rPr>
              <a:t>= to make a mistake by not paying attention.</a:t>
            </a:r>
            <a:endParaRPr lang="en-US" sz="1400" dirty="0"/>
          </a:p>
        </p:txBody>
      </p:sp>
      <p:sp>
        <p:nvSpPr>
          <p:cNvPr id="18" name="Shape 12"/>
          <p:cNvSpPr/>
          <p:nvPr/>
        </p:nvSpPr>
        <p:spPr>
          <a:xfrm>
            <a:off x="6766560" y="5314950"/>
            <a:ext cx="4873752" cy="994410"/>
          </a:xfrm>
          <a:prstGeom prst="roundRect">
            <a:avLst>
              <a:gd name="adj" fmla="val 7356"/>
            </a:avLst>
          </a:prstGeom>
          <a:solidFill>
            <a:srgbClr val="2E75B6">
              <a:alpha val="9000"/>
            </a:srgbClr>
          </a:solidFill>
          <a:ln w="12700">
            <a:solidFill>
              <a:srgbClr val="2E75B6"/>
            </a:solidFill>
            <a:prstDash val="solid"/>
          </a:ln>
        </p:spPr>
      </p:sp>
      <p:pic>
        <p:nvPicPr>
          <p:cNvPr id="19" name="Image 4" descr="preencoded.png">    </p:cNvPr>
          <p:cNvPicPr>
            <a:picLocks noChangeAspect="1"/>
          </p:cNvPicPr>
          <p:nvPr/>
        </p:nvPicPr>
        <p:blipFill>
          <a:blip r:embed="rId5"/>
          <a:stretch>
            <a:fillRect/>
          </a:stretch>
        </p:blipFill>
        <p:spPr>
          <a:xfrm>
            <a:off x="6949440" y="5461254"/>
            <a:ext cx="292608" cy="292608"/>
          </a:xfrm>
          <a:prstGeom prst="rect">
            <a:avLst/>
          </a:prstGeom>
        </p:spPr>
      </p:pic>
      <p:sp>
        <p:nvSpPr>
          <p:cNvPr id="20" name="Text 13"/>
          <p:cNvSpPr txBox="1"/>
          <p:nvPr/>
        </p:nvSpPr>
        <p:spPr>
          <a:xfrm>
            <a:off x="7333488" y="5424678"/>
            <a:ext cx="4142232" cy="365760"/>
          </a:xfrm>
          <a:prstGeom prst="rect">
            <a:avLst/>
          </a:prstGeom>
          <a:noFill/>
          <a:ln/>
        </p:spPr>
        <p:txBody>
          <a:bodyPr wrap="square" lIns="0" tIns="0" rIns="0" bIns="0" rtlCol="0" anchor="ctr"/>
          <a:lstStyle/>
          <a:p>
            <a:pPr indent="0" marL="0">
              <a:buNone/>
            </a:pPr>
            <a:r>
              <a:rPr lang="en-US" sz="1700" b="1" dirty="0">
                <a:solidFill>
                  <a:schemeClr val="accent2"/>
                </a:solidFill>
                <a:latin typeface="+mj-lt" pitchFamily="34" charset="0"/>
                <a:ea typeface="+mj-lt" pitchFamily="34" charset="-122"/>
                <a:cs typeface="+mj-lt" pitchFamily="34" charset="-120"/>
              </a:rPr>
              <a:t>+ to keep an eye on</a:t>
            </a:r>
            <a:endParaRPr lang="en-US" sz="1700" dirty="0"/>
          </a:p>
        </p:txBody>
      </p:sp>
      <p:sp>
        <p:nvSpPr>
          <p:cNvPr id="21" name="Text 14"/>
          <p:cNvSpPr txBox="1"/>
          <p:nvPr/>
        </p:nvSpPr>
        <p:spPr>
          <a:xfrm>
            <a:off x="6967728" y="5790438"/>
            <a:ext cx="4471416" cy="464058"/>
          </a:xfrm>
          <a:prstGeom prst="rect">
            <a:avLst/>
          </a:prstGeom>
          <a:noFill/>
          <a:ln/>
        </p:spPr>
        <p:txBody>
          <a:bodyPr wrap="square" lIns="0" tIns="0" rIns="0" bIns="0" rtlCol="0" anchor="t"/>
          <a:lstStyle/>
          <a:p>
            <a:pPr indent="0" marL="0">
              <a:buNone/>
            </a:pPr>
            <a:r>
              <a:rPr lang="en-US" sz="1400" dirty="0">
                <a:solidFill>
                  <a:schemeClr val="tx1"/>
                </a:solidFill>
              </a:rPr>
              <a:t>= to monitor, to watch closely.</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True or false? Idioms and blocks</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15</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Hold up </a:t>
            </a:r>
            <a:r>
              <a:rPr lang="en-US" sz="1600" b="1" i="1" dirty="0">
                <a:solidFill>
                  <a:schemeClr val="accent5"/>
                </a:solidFill>
              </a:rPr>
              <a:t>T</a:t>
            </a:r>
            <a:r>
              <a:rPr lang="en-US" sz="1600" i="1" dirty="0">
                <a:solidFill>
                  <a:schemeClr val="accent5"/>
                </a:solidFill>
              </a:rPr>
              <a:t> or </a:t>
            </a:r>
            <a:r>
              <a:rPr lang="en-US" sz="1600" b="1" i="1" dirty="0">
                <a:solidFill>
                  <a:schemeClr val="accent5"/>
                </a:solidFill>
              </a:rPr>
              <a:t>F</a:t>
            </a:r>
            <a:r>
              <a:rPr lang="en-US" sz="1600" i="1" dirty="0">
                <a:solidFill>
                  <a:schemeClr val="accent5"/>
                </a:solidFill>
              </a:rPr>
              <a:t> — and correct the false ones.</a:t>
            </a:r>
            <a:endParaRPr lang="en-US" sz="1600" dirty="0"/>
          </a:p>
        </p:txBody>
      </p:sp>
      <p:sp>
        <p:nvSpPr>
          <p:cNvPr id="7" name="Shape 4"/>
          <p:cNvSpPr/>
          <p:nvPr/>
        </p:nvSpPr>
        <p:spPr>
          <a:xfrm>
            <a:off x="548640" y="2237232"/>
            <a:ext cx="11091672" cy="413004"/>
          </a:xfrm>
          <a:prstGeom prst="roundRect">
            <a:avLst>
              <a:gd name="adj" fmla="val 17712"/>
            </a:avLst>
          </a:prstGeom>
          <a:solidFill>
            <a:srgbClr val="EEF2F8"/>
          </a:solidFill>
          <a:ln w="6350">
            <a:solidFill>
              <a:srgbClr val="D5DCE6"/>
            </a:solidFill>
            <a:prstDash val="solid"/>
          </a:ln>
        </p:spPr>
      </p:sp>
      <p:sp>
        <p:nvSpPr>
          <p:cNvPr id="8" name="Text 5"/>
          <p:cNvSpPr txBox="1"/>
          <p:nvPr/>
        </p:nvSpPr>
        <p:spPr>
          <a:xfrm>
            <a:off x="685800" y="2237232"/>
            <a:ext cx="457200" cy="413004"/>
          </a:xfrm>
          <a:prstGeom prst="rect">
            <a:avLst/>
          </a:prstGeom>
          <a:noFill/>
          <a:ln/>
        </p:spPr>
        <p:txBody>
          <a:bodyPr wrap="square" lIns="0" tIns="0" rIns="0" bIns="0" rtlCol="0" anchor="ctr"/>
          <a:lstStyle/>
          <a:p>
            <a:pPr indent="0" marL="0">
              <a:buNone/>
            </a:pPr>
            <a:r>
              <a:rPr lang="en-US" sz="1500" b="1" dirty="0">
                <a:solidFill>
                  <a:schemeClr val="tx2"/>
                </a:solidFill>
              </a:rPr>
              <a:t>1.</a:t>
            </a:r>
            <a:endParaRPr lang="en-US" sz="1500" dirty="0"/>
          </a:p>
        </p:txBody>
      </p:sp>
      <p:sp>
        <p:nvSpPr>
          <p:cNvPr id="9" name="Text 6"/>
          <p:cNvSpPr txBox="1"/>
          <p:nvPr/>
        </p:nvSpPr>
        <p:spPr>
          <a:xfrm>
            <a:off x="1143000" y="2237232"/>
            <a:ext cx="8531352" cy="413004"/>
          </a:xfrm>
          <a:prstGeom prst="rect">
            <a:avLst/>
          </a:prstGeom>
          <a:noFill/>
          <a:ln/>
        </p:spPr>
        <p:txBody>
          <a:bodyPr wrap="square" lIns="0" tIns="0" rIns="0" bIns="0" rtlCol="0" anchor="ctr"/>
          <a:lstStyle/>
          <a:p>
            <a:pPr indent="0" marL="0">
              <a:buNone/>
            </a:pPr>
            <a:r>
              <a:rPr lang="en-US" sz="1500" dirty="0">
                <a:solidFill>
                  <a:schemeClr val="tx1"/>
                </a:solidFill>
              </a:rPr>
              <a:t>“To raise a red flag” is a compliment.</a:t>
            </a:r>
            <a:endParaRPr lang="en-US" sz="1500" dirty="0"/>
          </a:p>
        </p:txBody>
      </p:sp>
      <p:sp>
        <p:nvSpPr>
          <p:cNvPr id="10" name="Text 7"/>
          <p:cNvSpPr/>
          <p:nvPr/>
        </p:nvSpPr>
        <p:spPr>
          <a:xfrm>
            <a:off x="10405872" y="2310384"/>
            <a:ext cx="266700" cy="266700"/>
          </a:xfrm>
          <a:prstGeom prst="ellipse">
            <a:avLst/>
          </a:prstGeom>
          <a:solidFill>
            <a:srgbClr val="FFFFFF"/>
          </a:solidFill>
          <a:ln w="19050">
            <a:solidFill>
              <a:srgbClr val="3C7A3C"/>
            </a:solidFill>
          </a:ln>
        </p:spPr>
        <p:txBody>
          <a:bodyPr wrap="square" lIns="0" tIns="0" rIns="0" bIns="0" rtlCol="0" anchor="ctr"/>
          <a:lstStyle/>
          <a:p>
            <a:pPr algn="ctr" indent="0" marL="0">
              <a:buNone/>
            </a:pPr>
            <a:r>
              <a:rPr lang="en-US" sz="1500" b="1" dirty="0">
                <a:solidFill>
                  <a:schemeClr val="accent3"/>
                </a:solidFill>
              </a:rPr>
              <a:t>T</a:t>
            </a:r>
            <a:endParaRPr lang="en-US" sz="1500" dirty="0"/>
          </a:p>
        </p:txBody>
      </p:sp>
      <p:sp>
        <p:nvSpPr>
          <p:cNvPr id="11" name="Text 8"/>
          <p:cNvSpPr/>
          <p:nvPr/>
        </p:nvSpPr>
        <p:spPr>
          <a:xfrm>
            <a:off x="11000232" y="2310384"/>
            <a:ext cx="266700" cy="266700"/>
          </a:xfrm>
          <a:prstGeom prst="ellipse">
            <a:avLst/>
          </a:prstGeom>
          <a:solidFill>
            <a:srgbClr val="FFFFFF"/>
          </a:solidFill>
          <a:ln w="19050">
            <a:solidFill>
              <a:srgbClr val="B03A2E"/>
            </a:solidFill>
          </a:ln>
        </p:spPr>
        <p:txBody>
          <a:bodyPr wrap="square" lIns="0" tIns="0" rIns="0" bIns="0" rtlCol="0" anchor="ctr"/>
          <a:lstStyle/>
          <a:p>
            <a:pPr algn="ctr" indent="0" marL="0">
              <a:buNone/>
            </a:pPr>
            <a:r>
              <a:rPr lang="en-US" sz="1500" b="1" dirty="0">
                <a:solidFill>
                  <a:schemeClr val="accent6"/>
                </a:solidFill>
              </a:rPr>
              <a:t>F</a:t>
            </a:r>
            <a:endParaRPr lang="en-US" sz="1500" dirty="0"/>
          </a:p>
        </p:txBody>
      </p:sp>
      <p:sp>
        <p:nvSpPr>
          <p:cNvPr id="12" name="Shape 9"/>
          <p:cNvSpPr/>
          <p:nvPr/>
        </p:nvSpPr>
        <p:spPr>
          <a:xfrm>
            <a:off x="548640" y="2759964"/>
            <a:ext cx="11091672" cy="413004"/>
          </a:xfrm>
          <a:prstGeom prst="roundRect">
            <a:avLst>
              <a:gd name="adj" fmla="val 17712"/>
            </a:avLst>
          </a:prstGeom>
          <a:solidFill>
            <a:srgbClr val="FFFFFF"/>
          </a:solidFill>
          <a:ln w="6350">
            <a:solidFill>
              <a:srgbClr val="D5DCE6"/>
            </a:solidFill>
            <a:prstDash val="solid"/>
          </a:ln>
        </p:spPr>
      </p:sp>
      <p:sp>
        <p:nvSpPr>
          <p:cNvPr id="13" name="Text 10"/>
          <p:cNvSpPr txBox="1"/>
          <p:nvPr/>
        </p:nvSpPr>
        <p:spPr>
          <a:xfrm>
            <a:off x="685800" y="2759964"/>
            <a:ext cx="457200" cy="413004"/>
          </a:xfrm>
          <a:prstGeom prst="rect">
            <a:avLst/>
          </a:prstGeom>
          <a:noFill/>
          <a:ln/>
        </p:spPr>
        <p:txBody>
          <a:bodyPr wrap="square" lIns="0" tIns="0" rIns="0" bIns="0" rtlCol="0" anchor="ctr"/>
          <a:lstStyle/>
          <a:p>
            <a:pPr indent="0" marL="0">
              <a:buNone/>
            </a:pPr>
            <a:r>
              <a:rPr lang="en-US" sz="1500" b="1" dirty="0">
                <a:solidFill>
                  <a:schemeClr val="tx2"/>
                </a:solidFill>
              </a:rPr>
              <a:t>2.</a:t>
            </a:r>
            <a:endParaRPr lang="en-US" sz="1500" dirty="0"/>
          </a:p>
        </p:txBody>
      </p:sp>
      <p:sp>
        <p:nvSpPr>
          <p:cNvPr id="14" name="Text 11"/>
          <p:cNvSpPr txBox="1"/>
          <p:nvPr/>
        </p:nvSpPr>
        <p:spPr>
          <a:xfrm>
            <a:off x="1143000" y="2759964"/>
            <a:ext cx="8531352" cy="413004"/>
          </a:xfrm>
          <a:prstGeom prst="rect">
            <a:avLst/>
          </a:prstGeom>
          <a:noFill/>
          <a:ln/>
        </p:spPr>
        <p:txBody>
          <a:bodyPr wrap="square" lIns="0" tIns="0" rIns="0" bIns="0" rtlCol="0" anchor="ctr"/>
          <a:lstStyle/>
          <a:p>
            <a:pPr indent="0" marL="0">
              <a:buNone/>
            </a:pPr>
            <a:r>
              <a:rPr lang="en-US" sz="1500" dirty="0">
                <a:solidFill>
                  <a:schemeClr val="tx1"/>
                </a:solidFill>
              </a:rPr>
              <a:t>If you are “on the ball”, you react fast.</a:t>
            </a:r>
            <a:endParaRPr lang="en-US" sz="1500" dirty="0"/>
          </a:p>
        </p:txBody>
      </p:sp>
      <p:sp>
        <p:nvSpPr>
          <p:cNvPr id="15" name="Text 12"/>
          <p:cNvSpPr/>
          <p:nvPr/>
        </p:nvSpPr>
        <p:spPr>
          <a:xfrm>
            <a:off x="10405872" y="2833116"/>
            <a:ext cx="266700" cy="266700"/>
          </a:xfrm>
          <a:prstGeom prst="ellipse">
            <a:avLst/>
          </a:prstGeom>
          <a:solidFill>
            <a:srgbClr val="FFFFFF"/>
          </a:solidFill>
          <a:ln w="19050">
            <a:solidFill>
              <a:srgbClr val="3C7A3C"/>
            </a:solidFill>
          </a:ln>
        </p:spPr>
        <p:txBody>
          <a:bodyPr wrap="square" lIns="0" tIns="0" rIns="0" bIns="0" rtlCol="0" anchor="ctr"/>
          <a:lstStyle/>
          <a:p>
            <a:pPr algn="ctr" indent="0" marL="0">
              <a:buNone/>
            </a:pPr>
            <a:r>
              <a:rPr lang="en-US" sz="1500" b="1" dirty="0">
                <a:solidFill>
                  <a:schemeClr val="accent3"/>
                </a:solidFill>
              </a:rPr>
              <a:t>T</a:t>
            </a:r>
            <a:endParaRPr lang="en-US" sz="1500" dirty="0"/>
          </a:p>
        </p:txBody>
      </p:sp>
      <p:sp>
        <p:nvSpPr>
          <p:cNvPr id="16" name="Text 13"/>
          <p:cNvSpPr/>
          <p:nvPr/>
        </p:nvSpPr>
        <p:spPr>
          <a:xfrm>
            <a:off x="11000232" y="2833116"/>
            <a:ext cx="266700" cy="266700"/>
          </a:xfrm>
          <a:prstGeom prst="ellipse">
            <a:avLst/>
          </a:prstGeom>
          <a:solidFill>
            <a:srgbClr val="FFFFFF"/>
          </a:solidFill>
          <a:ln w="19050">
            <a:solidFill>
              <a:srgbClr val="B03A2E"/>
            </a:solidFill>
          </a:ln>
        </p:spPr>
        <p:txBody>
          <a:bodyPr wrap="square" lIns="0" tIns="0" rIns="0" bIns="0" rtlCol="0" anchor="ctr"/>
          <a:lstStyle/>
          <a:p>
            <a:pPr algn="ctr" indent="0" marL="0">
              <a:buNone/>
            </a:pPr>
            <a:r>
              <a:rPr lang="en-US" sz="1500" b="1" dirty="0">
                <a:solidFill>
                  <a:schemeClr val="accent6"/>
                </a:solidFill>
              </a:rPr>
              <a:t>F</a:t>
            </a:r>
            <a:endParaRPr lang="en-US" sz="1500" dirty="0"/>
          </a:p>
        </p:txBody>
      </p:sp>
      <p:sp>
        <p:nvSpPr>
          <p:cNvPr id="17" name="Shape 14"/>
          <p:cNvSpPr/>
          <p:nvPr/>
        </p:nvSpPr>
        <p:spPr>
          <a:xfrm>
            <a:off x="548640" y="3282696"/>
            <a:ext cx="11091672" cy="413004"/>
          </a:xfrm>
          <a:prstGeom prst="roundRect">
            <a:avLst>
              <a:gd name="adj" fmla="val 17712"/>
            </a:avLst>
          </a:prstGeom>
          <a:solidFill>
            <a:srgbClr val="EEF2F8"/>
          </a:solidFill>
          <a:ln w="6350">
            <a:solidFill>
              <a:srgbClr val="D5DCE6"/>
            </a:solidFill>
            <a:prstDash val="solid"/>
          </a:ln>
        </p:spPr>
      </p:sp>
      <p:sp>
        <p:nvSpPr>
          <p:cNvPr id="18" name="Text 15"/>
          <p:cNvSpPr txBox="1"/>
          <p:nvPr/>
        </p:nvSpPr>
        <p:spPr>
          <a:xfrm>
            <a:off x="685800" y="3282696"/>
            <a:ext cx="457200" cy="413004"/>
          </a:xfrm>
          <a:prstGeom prst="rect">
            <a:avLst/>
          </a:prstGeom>
          <a:noFill/>
          <a:ln/>
        </p:spPr>
        <p:txBody>
          <a:bodyPr wrap="square" lIns="0" tIns="0" rIns="0" bIns="0" rtlCol="0" anchor="ctr"/>
          <a:lstStyle/>
          <a:p>
            <a:pPr indent="0" marL="0">
              <a:buNone/>
            </a:pPr>
            <a:r>
              <a:rPr lang="en-US" sz="1500" b="1" dirty="0">
                <a:solidFill>
                  <a:schemeClr val="tx2"/>
                </a:solidFill>
              </a:rPr>
              <a:t>3.</a:t>
            </a:r>
            <a:endParaRPr lang="en-US" sz="1500" dirty="0"/>
          </a:p>
        </p:txBody>
      </p:sp>
      <p:sp>
        <p:nvSpPr>
          <p:cNvPr id="19" name="Text 16"/>
          <p:cNvSpPr txBox="1"/>
          <p:nvPr/>
        </p:nvSpPr>
        <p:spPr>
          <a:xfrm>
            <a:off x="1143000" y="3282696"/>
            <a:ext cx="8531352" cy="413004"/>
          </a:xfrm>
          <a:prstGeom prst="rect">
            <a:avLst/>
          </a:prstGeom>
          <a:noFill/>
          <a:ln/>
        </p:spPr>
        <p:txBody>
          <a:bodyPr wrap="square" lIns="0" tIns="0" rIns="0" bIns="0" rtlCol="0" anchor="ctr"/>
          <a:lstStyle/>
          <a:p>
            <a:pPr indent="0" marL="0">
              <a:buNone/>
            </a:pPr>
            <a:r>
              <a:rPr lang="en-US" sz="1500" dirty="0">
                <a:solidFill>
                  <a:schemeClr val="tx1"/>
                </a:solidFill>
              </a:rPr>
              <a:t>“To drop the ball” means to make a mistake.</a:t>
            </a:r>
            <a:endParaRPr lang="en-US" sz="1500" dirty="0"/>
          </a:p>
        </p:txBody>
      </p:sp>
      <p:sp>
        <p:nvSpPr>
          <p:cNvPr id="20" name="Text 17"/>
          <p:cNvSpPr/>
          <p:nvPr/>
        </p:nvSpPr>
        <p:spPr>
          <a:xfrm>
            <a:off x="10405872" y="3355848"/>
            <a:ext cx="266700" cy="266700"/>
          </a:xfrm>
          <a:prstGeom prst="ellipse">
            <a:avLst/>
          </a:prstGeom>
          <a:solidFill>
            <a:srgbClr val="FFFFFF"/>
          </a:solidFill>
          <a:ln w="19050">
            <a:solidFill>
              <a:srgbClr val="3C7A3C"/>
            </a:solidFill>
          </a:ln>
        </p:spPr>
        <p:txBody>
          <a:bodyPr wrap="square" lIns="0" tIns="0" rIns="0" bIns="0" rtlCol="0" anchor="ctr"/>
          <a:lstStyle/>
          <a:p>
            <a:pPr algn="ctr" indent="0" marL="0">
              <a:buNone/>
            </a:pPr>
            <a:r>
              <a:rPr lang="en-US" sz="1500" b="1" dirty="0">
                <a:solidFill>
                  <a:schemeClr val="accent3"/>
                </a:solidFill>
              </a:rPr>
              <a:t>T</a:t>
            </a:r>
            <a:endParaRPr lang="en-US" sz="1500" dirty="0"/>
          </a:p>
        </p:txBody>
      </p:sp>
      <p:sp>
        <p:nvSpPr>
          <p:cNvPr id="21" name="Text 18"/>
          <p:cNvSpPr/>
          <p:nvPr/>
        </p:nvSpPr>
        <p:spPr>
          <a:xfrm>
            <a:off x="11000232" y="3355848"/>
            <a:ext cx="266700" cy="266700"/>
          </a:xfrm>
          <a:prstGeom prst="ellipse">
            <a:avLst/>
          </a:prstGeom>
          <a:solidFill>
            <a:srgbClr val="FFFFFF"/>
          </a:solidFill>
          <a:ln w="19050">
            <a:solidFill>
              <a:srgbClr val="B03A2E"/>
            </a:solidFill>
          </a:ln>
        </p:spPr>
        <p:txBody>
          <a:bodyPr wrap="square" lIns="0" tIns="0" rIns="0" bIns="0" rtlCol="0" anchor="ctr"/>
          <a:lstStyle/>
          <a:p>
            <a:pPr algn="ctr" indent="0" marL="0">
              <a:buNone/>
            </a:pPr>
            <a:r>
              <a:rPr lang="en-US" sz="1500" b="1" dirty="0">
                <a:solidFill>
                  <a:schemeClr val="accent6"/>
                </a:solidFill>
              </a:rPr>
              <a:t>F</a:t>
            </a:r>
            <a:endParaRPr lang="en-US" sz="1500" dirty="0"/>
          </a:p>
        </p:txBody>
      </p:sp>
      <p:sp>
        <p:nvSpPr>
          <p:cNvPr id="22" name="Shape 19"/>
          <p:cNvSpPr/>
          <p:nvPr/>
        </p:nvSpPr>
        <p:spPr>
          <a:xfrm>
            <a:off x="548640" y="3805428"/>
            <a:ext cx="11091672" cy="413004"/>
          </a:xfrm>
          <a:prstGeom prst="roundRect">
            <a:avLst>
              <a:gd name="adj" fmla="val 17712"/>
            </a:avLst>
          </a:prstGeom>
          <a:solidFill>
            <a:srgbClr val="FFFFFF"/>
          </a:solidFill>
          <a:ln w="6350">
            <a:solidFill>
              <a:srgbClr val="D5DCE6"/>
            </a:solidFill>
            <a:prstDash val="solid"/>
          </a:ln>
        </p:spPr>
      </p:sp>
      <p:sp>
        <p:nvSpPr>
          <p:cNvPr id="23" name="Text 20"/>
          <p:cNvSpPr txBox="1"/>
          <p:nvPr/>
        </p:nvSpPr>
        <p:spPr>
          <a:xfrm>
            <a:off x="685800" y="3805428"/>
            <a:ext cx="457200" cy="413004"/>
          </a:xfrm>
          <a:prstGeom prst="rect">
            <a:avLst/>
          </a:prstGeom>
          <a:noFill/>
          <a:ln/>
        </p:spPr>
        <p:txBody>
          <a:bodyPr wrap="square" lIns="0" tIns="0" rIns="0" bIns="0" rtlCol="0" anchor="ctr"/>
          <a:lstStyle/>
          <a:p>
            <a:pPr indent="0" marL="0">
              <a:buNone/>
            </a:pPr>
            <a:r>
              <a:rPr lang="en-US" sz="1500" b="1" dirty="0">
                <a:solidFill>
                  <a:schemeClr val="tx2"/>
                </a:solidFill>
              </a:rPr>
              <a:t>4.</a:t>
            </a:r>
            <a:endParaRPr lang="en-US" sz="1500" dirty="0"/>
          </a:p>
        </p:txBody>
      </p:sp>
      <p:sp>
        <p:nvSpPr>
          <p:cNvPr id="24" name="Text 21"/>
          <p:cNvSpPr txBox="1"/>
          <p:nvPr/>
        </p:nvSpPr>
        <p:spPr>
          <a:xfrm>
            <a:off x="1143000" y="3805428"/>
            <a:ext cx="8531352" cy="413004"/>
          </a:xfrm>
          <a:prstGeom prst="rect">
            <a:avLst/>
          </a:prstGeom>
          <a:noFill/>
          <a:ln/>
        </p:spPr>
        <p:txBody>
          <a:bodyPr wrap="square" lIns="0" tIns="0" rIns="0" bIns="0" rtlCol="0" anchor="ctr"/>
          <a:lstStyle/>
          <a:p>
            <a:pPr indent="0" marL="0">
              <a:buNone/>
            </a:pPr>
            <a:r>
              <a:rPr lang="en-US" sz="1500" dirty="0">
                <a:solidFill>
                  <a:schemeClr val="tx1"/>
                </a:solidFill>
              </a:rPr>
              <a:t>“To keep an eye on” the pipe means to repair it.</a:t>
            </a:r>
            <a:endParaRPr lang="en-US" sz="1500" dirty="0"/>
          </a:p>
        </p:txBody>
      </p:sp>
      <p:sp>
        <p:nvSpPr>
          <p:cNvPr id="25" name="Text 22"/>
          <p:cNvSpPr/>
          <p:nvPr/>
        </p:nvSpPr>
        <p:spPr>
          <a:xfrm>
            <a:off x="10405872" y="3878580"/>
            <a:ext cx="266700" cy="266700"/>
          </a:xfrm>
          <a:prstGeom prst="ellipse">
            <a:avLst/>
          </a:prstGeom>
          <a:solidFill>
            <a:srgbClr val="FFFFFF"/>
          </a:solidFill>
          <a:ln w="19050">
            <a:solidFill>
              <a:srgbClr val="3C7A3C"/>
            </a:solidFill>
          </a:ln>
        </p:spPr>
        <p:txBody>
          <a:bodyPr wrap="square" lIns="0" tIns="0" rIns="0" bIns="0" rtlCol="0" anchor="ctr"/>
          <a:lstStyle/>
          <a:p>
            <a:pPr algn="ctr" indent="0" marL="0">
              <a:buNone/>
            </a:pPr>
            <a:r>
              <a:rPr lang="en-US" sz="1500" b="1" dirty="0">
                <a:solidFill>
                  <a:schemeClr val="accent3"/>
                </a:solidFill>
              </a:rPr>
              <a:t>T</a:t>
            </a:r>
            <a:endParaRPr lang="en-US" sz="1500" dirty="0"/>
          </a:p>
        </p:txBody>
      </p:sp>
      <p:sp>
        <p:nvSpPr>
          <p:cNvPr id="26" name="Text 23"/>
          <p:cNvSpPr/>
          <p:nvPr/>
        </p:nvSpPr>
        <p:spPr>
          <a:xfrm>
            <a:off x="11000232" y="3878580"/>
            <a:ext cx="266700" cy="266700"/>
          </a:xfrm>
          <a:prstGeom prst="ellipse">
            <a:avLst/>
          </a:prstGeom>
          <a:solidFill>
            <a:srgbClr val="FFFFFF"/>
          </a:solidFill>
          <a:ln w="19050">
            <a:solidFill>
              <a:srgbClr val="B03A2E"/>
            </a:solidFill>
          </a:ln>
        </p:spPr>
        <p:txBody>
          <a:bodyPr wrap="square" lIns="0" tIns="0" rIns="0" bIns="0" rtlCol="0" anchor="ctr"/>
          <a:lstStyle/>
          <a:p>
            <a:pPr algn="ctr" indent="0" marL="0">
              <a:buNone/>
            </a:pPr>
            <a:r>
              <a:rPr lang="en-US" sz="1500" b="1" dirty="0">
                <a:solidFill>
                  <a:schemeClr val="accent6"/>
                </a:solidFill>
              </a:rPr>
              <a:t>F</a:t>
            </a:r>
            <a:endParaRPr lang="en-US" sz="1500" dirty="0"/>
          </a:p>
        </p:txBody>
      </p:sp>
      <p:sp>
        <p:nvSpPr>
          <p:cNvPr id="27" name="Shape 24"/>
          <p:cNvSpPr/>
          <p:nvPr/>
        </p:nvSpPr>
        <p:spPr>
          <a:xfrm>
            <a:off x="548640" y="4328160"/>
            <a:ext cx="11091672" cy="413004"/>
          </a:xfrm>
          <a:prstGeom prst="roundRect">
            <a:avLst>
              <a:gd name="adj" fmla="val 17712"/>
            </a:avLst>
          </a:prstGeom>
          <a:solidFill>
            <a:srgbClr val="EEF2F8"/>
          </a:solidFill>
          <a:ln w="6350">
            <a:solidFill>
              <a:srgbClr val="D5DCE6"/>
            </a:solidFill>
            <a:prstDash val="solid"/>
          </a:ln>
        </p:spPr>
      </p:sp>
      <p:sp>
        <p:nvSpPr>
          <p:cNvPr id="28" name="Text 25"/>
          <p:cNvSpPr txBox="1"/>
          <p:nvPr/>
        </p:nvSpPr>
        <p:spPr>
          <a:xfrm>
            <a:off x="685800" y="4328160"/>
            <a:ext cx="457200" cy="413004"/>
          </a:xfrm>
          <a:prstGeom prst="rect">
            <a:avLst/>
          </a:prstGeom>
          <a:noFill/>
          <a:ln/>
        </p:spPr>
        <p:txBody>
          <a:bodyPr wrap="square" lIns="0" tIns="0" rIns="0" bIns="0" rtlCol="0" anchor="ctr"/>
          <a:lstStyle/>
          <a:p>
            <a:pPr indent="0" marL="0">
              <a:buNone/>
            </a:pPr>
            <a:r>
              <a:rPr lang="en-US" sz="1500" b="1" dirty="0">
                <a:solidFill>
                  <a:schemeClr val="tx2"/>
                </a:solidFill>
              </a:rPr>
              <a:t>5.</a:t>
            </a:r>
            <a:endParaRPr lang="en-US" sz="1500" dirty="0"/>
          </a:p>
        </p:txBody>
      </p:sp>
      <p:sp>
        <p:nvSpPr>
          <p:cNvPr id="29" name="Text 26"/>
          <p:cNvSpPr txBox="1"/>
          <p:nvPr/>
        </p:nvSpPr>
        <p:spPr>
          <a:xfrm>
            <a:off x="1143000" y="4328160"/>
            <a:ext cx="8531352" cy="413004"/>
          </a:xfrm>
          <a:prstGeom prst="rect">
            <a:avLst/>
          </a:prstGeom>
          <a:noFill/>
          <a:ln/>
        </p:spPr>
        <p:txBody>
          <a:bodyPr wrap="square" lIns="0" tIns="0" rIns="0" bIns="0" rtlCol="0" anchor="ctr"/>
          <a:lstStyle/>
          <a:p>
            <a:pPr indent="0" marL="0">
              <a:buNone/>
            </a:pPr>
            <a:r>
              <a:rPr lang="en-US" sz="1500" dirty="0">
                <a:solidFill>
                  <a:schemeClr val="tx1"/>
                </a:solidFill>
              </a:rPr>
              <a:t>In English, you “respect” a deadline.</a:t>
            </a:r>
            <a:endParaRPr lang="en-US" sz="1500" dirty="0"/>
          </a:p>
        </p:txBody>
      </p:sp>
      <p:sp>
        <p:nvSpPr>
          <p:cNvPr id="30" name="Text 27"/>
          <p:cNvSpPr/>
          <p:nvPr/>
        </p:nvSpPr>
        <p:spPr>
          <a:xfrm>
            <a:off x="10405872" y="4401312"/>
            <a:ext cx="266700" cy="266700"/>
          </a:xfrm>
          <a:prstGeom prst="ellipse">
            <a:avLst/>
          </a:prstGeom>
          <a:solidFill>
            <a:srgbClr val="FFFFFF"/>
          </a:solidFill>
          <a:ln w="19050">
            <a:solidFill>
              <a:srgbClr val="3C7A3C"/>
            </a:solidFill>
          </a:ln>
        </p:spPr>
        <p:txBody>
          <a:bodyPr wrap="square" lIns="0" tIns="0" rIns="0" bIns="0" rtlCol="0" anchor="ctr"/>
          <a:lstStyle/>
          <a:p>
            <a:pPr algn="ctr" indent="0" marL="0">
              <a:buNone/>
            </a:pPr>
            <a:r>
              <a:rPr lang="en-US" sz="1500" b="1" dirty="0">
                <a:solidFill>
                  <a:schemeClr val="accent3"/>
                </a:solidFill>
              </a:rPr>
              <a:t>T</a:t>
            </a:r>
            <a:endParaRPr lang="en-US" sz="1500" dirty="0"/>
          </a:p>
        </p:txBody>
      </p:sp>
      <p:sp>
        <p:nvSpPr>
          <p:cNvPr id="31" name="Text 28"/>
          <p:cNvSpPr/>
          <p:nvPr/>
        </p:nvSpPr>
        <p:spPr>
          <a:xfrm>
            <a:off x="11000232" y="4401312"/>
            <a:ext cx="266700" cy="266700"/>
          </a:xfrm>
          <a:prstGeom prst="ellipse">
            <a:avLst/>
          </a:prstGeom>
          <a:solidFill>
            <a:srgbClr val="FFFFFF"/>
          </a:solidFill>
          <a:ln w="19050">
            <a:solidFill>
              <a:srgbClr val="B03A2E"/>
            </a:solidFill>
          </a:ln>
        </p:spPr>
        <p:txBody>
          <a:bodyPr wrap="square" lIns="0" tIns="0" rIns="0" bIns="0" rtlCol="0" anchor="ctr"/>
          <a:lstStyle/>
          <a:p>
            <a:pPr algn="ctr" indent="0" marL="0">
              <a:buNone/>
            </a:pPr>
            <a:r>
              <a:rPr lang="en-US" sz="1500" b="1" dirty="0">
                <a:solidFill>
                  <a:schemeClr val="accent6"/>
                </a:solidFill>
              </a:rPr>
              <a:t>F</a:t>
            </a:r>
            <a:endParaRPr lang="en-US" sz="1500" dirty="0"/>
          </a:p>
        </p:txBody>
      </p:sp>
      <p:sp>
        <p:nvSpPr>
          <p:cNvPr id="32" name="Shape 29"/>
          <p:cNvSpPr/>
          <p:nvPr/>
        </p:nvSpPr>
        <p:spPr>
          <a:xfrm>
            <a:off x="548640" y="4850892"/>
            <a:ext cx="11091672" cy="413004"/>
          </a:xfrm>
          <a:prstGeom prst="roundRect">
            <a:avLst>
              <a:gd name="adj" fmla="val 17712"/>
            </a:avLst>
          </a:prstGeom>
          <a:solidFill>
            <a:srgbClr val="FFFFFF"/>
          </a:solidFill>
          <a:ln w="6350">
            <a:solidFill>
              <a:srgbClr val="D5DCE6"/>
            </a:solidFill>
            <a:prstDash val="solid"/>
          </a:ln>
        </p:spPr>
      </p:sp>
      <p:sp>
        <p:nvSpPr>
          <p:cNvPr id="33" name="Text 30"/>
          <p:cNvSpPr txBox="1"/>
          <p:nvPr/>
        </p:nvSpPr>
        <p:spPr>
          <a:xfrm>
            <a:off x="685800" y="4850892"/>
            <a:ext cx="457200" cy="413004"/>
          </a:xfrm>
          <a:prstGeom prst="rect">
            <a:avLst/>
          </a:prstGeom>
          <a:noFill/>
          <a:ln/>
        </p:spPr>
        <p:txBody>
          <a:bodyPr wrap="square" lIns="0" tIns="0" rIns="0" bIns="0" rtlCol="0" anchor="ctr"/>
          <a:lstStyle/>
          <a:p>
            <a:pPr indent="0" marL="0">
              <a:buNone/>
            </a:pPr>
            <a:r>
              <a:rPr lang="en-US" sz="1500" b="1" dirty="0">
                <a:solidFill>
                  <a:schemeClr val="tx2"/>
                </a:solidFill>
              </a:rPr>
              <a:t>6.</a:t>
            </a:r>
            <a:endParaRPr lang="en-US" sz="1500" dirty="0"/>
          </a:p>
        </p:txBody>
      </p:sp>
      <p:sp>
        <p:nvSpPr>
          <p:cNvPr id="34" name="Text 31"/>
          <p:cNvSpPr txBox="1"/>
          <p:nvPr/>
        </p:nvSpPr>
        <p:spPr>
          <a:xfrm>
            <a:off x="1143000" y="4850892"/>
            <a:ext cx="8531352" cy="413004"/>
          </a:xfrm>
          <a:prstGeom prst="rect">
            <a:avLst/>
          </a:prstGeom>
          <a:noFill/>
          <a:ln/>
        </p:spPr>
        <p:txBody>
          <a:bodyPr wrap="square" lIns="0" tIns="0" rIns="0" bIns="0" rtlCol="0" anchor="ctr"/>
          <a:lstStyle/>
          <a:p>
            <a:pPr indent="0" marL="0">
              <a:buNone/>
            </a:pPr>
            <a:r>
              <a:rPr lang="en-US" sz="1500" dirty="0">
                <a:solidFill>
                  <a:schemeClr val="tx1"/>
                </a:solidFill>
              </a:rPr>
              <a:t>“To draw up a report” means to write it.</a:t>
            </a:r>
            <a:endParaRPr lang="en-US" sz="1500" dirty="0"/>
          </a:p>
        </p:txBody>
      </p:sp>
      <p:sp>
        <p:nvSpPr>
          <p:cNvPr id="35" name="Text 32"/>
          <p:cNvSpPr/>
          <p:nvPr/>
        </p:nvSpPr>
        <p:spPr>
          <a:xfrm>
            <a:off x="10405872" y="4924044"/>
            <a:ext cx="266700" cy="266700"/>
          </a:xfrm>
          <a:prstGeom prst="ellipse">
            <a:avLst/>
          </a:prstGeom>
          <a:solidFill>
            <a:srgbClr val="FFFFFF"/>
          </a:solidFill>
          <a:ln w="19050">
            <a:solidFill>
              <a:srgbClr val="3C7A3C"/>
            </a:solidFill>
          </a:ln>
        </p:spPr>
        <p:txBody>
          <a:bodyPr wrap="square" lIns="0" tIns="0" rIns="0" bIns="0" rtlCol="0" anchor="ctr"/>
          <a:lstStyle/>
          <a:p>
            <a:pPr algn="ctr" indent="0" marL="0">
              <a:buNone/>
            </a:pPr>
            <a:r>
              <a:rPr lang="en-US" sz="1500" b="1" dirty="0">
                <a:solidFill>
                  <a:schemeClr val="accent3"/>
                </a:solidFill>
              </a:rPr>
              <a:t>T</a:t>
            </a:r>
            <a:endParaRPr lang="en-US" sz="1500" dirty="0"/>
          </a:p>
        </p:txBody>
      </p:sp>
      <p:sp>
        <p:nvSpPr>
          <p:cNvPr id="36" name="Text 33"/>
          <p:cNvSpPr/>
          <p:nvPr/>
        </p:nvSpPr>
        <p:spPr>
          <a:xfrm>
            <a:off x="11000232" y="4924044"/>
            <a:ext cx="266700" cy="266700"/>
          </a:xfrm>
          <a:prstGeom prst="ellipse">
            <a:avLst/>
          </a:prstGeom>
          <a:solidFill>
            <a:srgbClr val="FFFFFF"/>
          </a:solidFill>
          <a:ln w="19050">
            <a:solidFill>
              <a:srgbClr val="B03A2E"/>
            </a:solidFill>
          </a:ln>
        </p:spPr>
        <p:txBody>
          <a:bodyPr wrap="square" lIns="0" tIns="0" rIns="0" bIns="0" rtlCol="0" anchor="ctr"/>
          <a:lstStyle/>
          <a:p>
            <a:pPr algn="ctr" indent="0" marL="0">
              <a:buNone/>
            </a:pPr>
            <a:r>
              <a:rPr lang="en-US" sz="1500" b="1" dirty="0">
                <a:solidFill>
                  <a:schemeClr val="accent6"/>
                </a:solidFill>
              </a:rPr>
              <a:t>F</a:t>
            </a:r>
            <a:endParaRPr lang="en-US" sz="1500" dirty="0"/>
          </a:p>
        </p:txBody>
      </p:sp>
      <p:sp>
        <p:nvSpPr>
          <p:cNvPr id="37" name="Shape 34"/>
          <p:cNvSpPr/>
          <p:nvPr/>
        </p:nvSpPr>
        <p:spPr>
          <a:xfrm>
            <a:off x="548640" y="5373624"/>
            <a:ext cx="11091672" cy="413004"/>
          </a:xfrm>
          <a:prstGeom prst="roundRect">
            <a:avLst>
              <a:gd name="adj" fmla="val 17712"/>
            </a:avLst>
          </a:prstGeom>
          <a:solidFill>
            <a:srgbClr val="EEF2F8"/>
          </a:solidFill>
          <a:ln w="6350">
            <a:solidFill>
              <a:srgbClr val="D5DCE6"/>
            </a:solidFill>
            <a:prstDash val="solid"/>
          </a:ln>
        </p:spPr>
      </p:sp>
      <p:sp>
        <p:nvSpPr>
          <p:cNvPr id="38" name="Text 35"/>
          <p:cNvSpPr txBox="1"/>
          <p:nvPr/>
        </p:nvSpPr>
        <p:spPr>
          <a:xfrm>
            <a:off x="685800" y="5373624"/>
            <a:ext cx="457200" cy="413004"/>
          </a:xfrm>
          <a:prstGeom prst="rect">
            <a:avLst/>
          </a:prstGeom>
          <a:noFill/>
          <a:ln/>
        </p:spPr>
        <p:txBody>
          <a:bodyPr wrap="square" lIns="0" tIns="0" rIns="0" bIns="0" rtlCol="0" anchor="ctr"/>
          <a:lstStyle/>
          <a:p>
            <a:pPr indent="0" marL="0">
              <a:buNone/>
            </a:pPr>
            <a:r>
              <a:rPr lang="en-US" sz="1500" b="1" dirty="0">
                <a:solidFill>
                  <a:schemeClr val="tx2"/>
                </a:solidFill>
              </a:rPr>
              <a:t>7.</a:t>
            </a:r>
            <a:endParaRPr lang="en-US" sz="1500" dirty="0"/>
          </a:p>
        </p:txBody>
      </p:sp>
      <p:sp>
        <p:nvSpPr>
          <p:cNvPr id="39" name="Text 36"/>
          <p:cNvSpPr txBox="1"/>
          <p:nvPr/>
        </p:nvSpPr>
        <p:spPr>
          <a:xfrm>
            <a:off x="1143000" y="5373624"/>
            <a:ext cx="8531352" cy="413004"/>
          </a:xfrm>
          <a:prstGeom prst="rect">
            <a:avLst/>
          </a:prstGeom>
          <a:noFill/>
          <a:ln/>
        </p:spPr>
        <p:txBody>
          <a:bodyPr wrap="square" lIns="0" tIns="0" rIns="0" bIns="0" rtlCol="0" anchor="ctr"/>
          <a:lstStyle/>
          <a:p>
            <a:pPr indent="0" marL="0">
              <a:buNone/>
            </a:pPr>
            <a:r>
              <a:rPr lang="en-US" sz="1500" dirty="0">
                <a:solidFill>
                  <a:schemeClr val="tx1"/>
                </a:solidFill>
              </a:rPr>
              <a:t>You “file” a claim with an insurer.</a:t>
            </a:r>
            <a:endParaRPr lang="en-US" sz="1500" dirty="0"/>
          </a:p>
        </p:txBody>
      </p:sp>
      <p:sp>
        <p:nvSpPr>
          <p:cNvPr id="40" name="Text 37"/>
          <p:cNvSpPr/>
          <p:nvPr/>
        </p:nvSpPr>
        <p:spPr>
          <a:xfrm>
            <a:off x="10405872" y="5446776"/>
            <a:ext cx="266700" cy="266700"/>
          </a:xfrm>
          <a:prstGeom prst="ellipse">
            <a:avLst/>
          </a:prstGeom>
          <a:solidFill>
            <a:srgbClr val="FFFFFF"/>
          </a:solidFill>
          <a:ln w="19050">
            <a:solidFill>
              <a:srgbClr val="3C7A3C"/>
            </a:solidFill>
          </a:ln>
        </p:spPr>
        <p:txBody>
          <a:bodyPr wrap="square" lIns="0" tIns="0" rIns="0" bIns="0" rtlCol="0" anchor="ctr"/>
          <a:lstStyle/>
          <a:p>
            <a:pPr algn="ctr" indent="0" marL="0">
              <a:buNone/>
            </a:pPr>
            <a:r>
              <a:rPr lang="en-US" sz="1500" b="1" dirty="0">
                <a:solidFill>
                  <a:schemeClr val="accent3"/>
                </a:solidFill>
              </a:rPr>
              <a:t>T</a:t>
            </a:r>
            <a:endParaRPr lang="en-US" sz="1500" dirty="0"/>
          </a:p>
        </p:txBody>
      </p:sp>
      <p:sp>
        <p:nvSpPr>
          <p:cNvPr id="41" name="Text 38"/>
          <p:cNvSpPr/>
          <p:nvPr/>
        </p:nvSpPr>
        <p:spPr>
          <a:xfrm>
            <a:off x="11000232" y="5446776"/>
            <a:ext cx="266700" cy="266700"/>
          </a:xfrm>
          <a:prstGeom prst="ellipse">
            <a:avLst/>
          </a:prstGeom>
          <a:solidFill>
            <a:srgbClr val="FFFFFF"/>
          </a:solidFill>
          <a:ln w="19050">
            <a:solidFill>
              <a:srgbClr val="B03A2E"/>
            </a:solidFill>
          </a:ln>
        </p:spPr>
        <p:txBody>
          <a:bodyPr wrap="square" lIns="0" tIns="0" rIns="0" bIns="0" rtlCol="0" anchor="ctr"/>
          <a:lstStyle/>
          <a:p>
            <a:pPr algn="ctr" indent="0" marL="0">
              <a:buNone/>
            </a:pPr>
            <a:r>
              <a:rPr lang="en-US" sz="1500" b="1" dirty="0">
                <a:solidFill>
                  <a:schemeClr val="accent6"/>
                </a:solidFill>
              </a:rPr>
              <a:t>F</a:t>
            </a:r>
            <a:endParaRPr lang="en-US" sz="1500" dirty="0"/>
          </a:p>
        </p:txBody>
      </p:sp>
      <p:sp>
        <p:nvSpPr>
          <p:cNvPr id="42" name="Shape 39"/>
          <p:cNvSpPr/>
          <p:nvPr/>
        </p:nvSpPr>
        <p:spPr>
          <a:xfrm>
            <a:off x="548640" y="5896356"/>
            <a:ext cx="11091672" cy="413004"/>
          </a:xfrm>
          <a:prstGeom prst="roundRect">
            <a:avLst>
              <a:gd name="adj" fmla="val 17712"/>
            </a:avLst>
          </a:prstGeom>
          <a:solidFill>
            <a:srgbClr val="FFFFFF"/>
          </a:solidFill>
          <a:ln w="6350">
            <a:solidFill>
              <a:srgbClr val="D5DCE6"/>
            </a:solidFill>
            <a:prstDash val="solid"/>
          </a:ln>
        </p:spPr>
      </p:sp>
      <p:sp>
        <p:nvSpPr>
          <p:cNvPr id="43" name="Text 40"/>
          <p:cNvSpPr txBox="1"/>
          <p:nvPr/>
        </p:nvSpPr>
        <p:spPr>
          <a:xfrm>
            <a:off x="685800" y="5896356"/>
            <a:ext cx="457200" cy="413004"/>
          </a:xfrm>
          <a:prstGeom prst="rect">
            <a:avLst/>
          </a:prstGeom>
          <a:noFill/>
          <a:ln/>
        </p:spPr>
        <p:txBody>
          <a:bodyPr wrap="square" lIns="0" tIns="0" rIns="0" bIns="0" rtlCol="0" anchor="ctr"/>
          <a:lstStyle/>
          <a:p>
            <a:pPr indent="0" marL="0">
              <a:buNone/>
            </a:pPr>
            <a:r>
              <a:rPr lang="en-US" sz="1500" b="1" dirty="0">
                <a:solidFill>
                  <a:schemeClr val="tx2"/>
                </a:solidFill>
              </a:rPr>
              <a:t>8.</a:t>
            </a:r>
            <a:endParaRPr lang="en-US" sz="1500" dirty="0"/>
          </a:p>
        </p:txBody>
      </p:sp>
      <p:sp>
        <p:nvSpPr>
          <p:cNvPr id="44" name="Text 41"/>
          <p:cNvSpPr txBox="1"/>
          <p:nvPr/>
        </p:nvSpPr>
        <p:spPr>
          <a:xfrm>
            <a:off x="1143000" y="5896356"/>
            <a:ext cx="8531352" cy="413004"/>
          </a:xfrm>
          <a:prstGeom prst="rect">
            <a:avLst/>
          </a:prstGeom>
          <a:noFill/>
          <a:ln/>
        </p:spPr>
        <p:txBody>
          <a:bodyPr wrap="square" lIns="0" tIns="0" rIns="0" bIns="0" rtlCol="0" anchor="ctr"/>
          <a:lstStyle/>
          <a:p>
            <a:pPr indent="0" marL="0">
              <a:buNone/>
            </a:pPr>
            <a:r>
              <a:rPr lang="en-US" sz="1500" dirty="0">
                <a:solidFill>
                  <a:schemeClr val="tx1"/>
                </a:solidFill>
              </a:rPr>
              <a:t>“To make good the floor” means to clean it.</a:t>
            </a:r>
            <a:endParaRPr lang="en-US" sz="1500" dirty="0"/>
          </a:p>
        </p:txBody>
      </p:sp>
      <p:sp>
        <p:nvSpPr>
          <p:cNvPr id="45" name="Text 42"/>
          <p:cNvSpPr/>
          <p:nvPr/>
        </p:nvSpPr>
        <p:spPr>
          <a:xfrm>
            <a:off x="10405872" y="5969508"/>
            <a:ext cx="266700" cy="266700"/>
          </a:xfrm>
          <a:prstGeom prst="ellipse">
            <a:avLst/>
          </a:prstGeom>
          <a:solidFill>
            <a:srgbClr val="FFFFFF"/>
          </a:solidFill>
          <a:ln w="19050">
            <a:solidFill>
              <a:srgbClr val="3C7A3C"/>
            </a:solidFill>
          </a:ln>
        </p:spPr>
        <p:txBody>
          <a:bodyPr wrap="square" lIns="0" tIns="0" rIns="0" bIns="0" rtlCol="0" anchor="ctr"/>
          <a:lstStyle/>
          <a:p>
            <a:pPr algn="ctr" indent="0" marL="0">
              <a:buNone/>
            </a:pPr>
            <a:r>
              <a:rPr lang="en-US" sz="1500" b="1" dirty="0">
                <a:solidFill>
                  <a:schemeClr val="accent3"/>
                </a:solidFill>
              </a:rPr>
              <a:t>T</a:t>
            </a:r>
            <a:endParaRPr lang="en-US" sz="1500" dirty="0"/>
          </a:p>
        </p:txBody>
      </p:sp>
      <p:sp>
        <p:nvSpPr>
          <p:cNvPr id="46" name="Text 43"/>
          <p:cNvSpPr/>
          <p:nvPr/>
        </p:nvSpPr>
        <p:spPr>
          <a:xfrm>
            <a:off x="11000232" y="5969508"/>
            <a:ext cx="266700" cy="266700"/>
          </a:xfrm>
          <a:prstGeom prst="ellipse">
            <a:avLst/>
          </a:prstGeom>
          <a:solidFill>
            <a:srgbClr val="FFFFFF"/>
          </a:solidFill>
          <a:ln w="19050">
            <a:solidFill>
              <a:srgbClr val="B03A2E"/>
            </a:solidFill>
          </a:ln>
        </p:spPr>
        <p:txBody>
          <a:bodyPr wrap="square" lIns="0" tIns="0" rIns="0" bIns="0" rtlCol="0" anchor="ctr"/>
          <a:lstStyle/>
          <a:p>
            <a:pPr algn="ctr" indent="0" marL="0">
              <a:buNone/>
            </a:pPr>
            <a:r>
              <a:rPr lang="en-US" sz="1500" b="1" dirty="0">
                <a:solidFill>
                  <a:schemeClr val="accent6"/>
                </a:solidFill>
              </a:rPr>
              <a:t>F</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True or false? Idioms and blocks</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ag"/>
          <p:cNvSpPr/>
          <p:nvPr/>
        </p:nvSpPr>
        <p:spPr>
          <a:xfrm>
            <a:off x="21671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15</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Hold up </a:t>
            </a:r>
            <a:r>
              <a:rPr lang="en-US" sz="1600" b="1" i="1" dirty="0">
                <a:solidFill>
                  <a:schemeClr val="accent5"/>
                </a:solidFill>
              </a:rPr>
              <a:t>T</a:t>
            </a:r>
            <a:r>
              <a:rPr lang="en-US" sz="1600" i="1" dirty="0">
                <a:solidFill>
                  <a:schemeClr val="accent5"/>
                </a:solidFill>
              </a:rPr>
              <a:t> or </a:t>
            </a:r>
            <a:r>
              <a:rPr lang="en-US" sz="1600" b="1" i="1" dirty="0">
                <a:solidFill>
                  <a:schemeClr val="accent5"/>
                </a:solidFill>
              </a:rPr>
              <a:t>F</a:t>
            </a:r>
            <a:r>
              <a:rPr lang="en-US" sz="1600" i="1" dirty="0">
                <a:solidFill>
                  <a:schemeClr val="accent5"/>
                </a:solidFill>
              </a:rPr>
              <a:t> — and correct the false ones.</a:t>
            </a:r>
            <a:endParaRPr lang="en-US" sz="1600" dirty="0"/>
          </a:p>
        </p:txBody>
      </p:sp>
      <p:sp>
        <p:nvSpPr>
          <p:cNvPr id="8" name="Shape 5"/>
          <p:cNvSpPr/>
          <p:nvPr/>
        </p:nvSpPr>
        <p:spPr>
          <a:xfrm>
            <a:off x="548640" y="2237232"/>
            <a:ext cx="11091672" cy="413004"/>
          </a:xfrm>
          <a:prstGeom prst="roundRect">
            <a:avLst>
              <a:gd name="adj" fmla="val 17712"/>
            </a:avLst>
          </a:prstGeom>
          <a:solidFill>
            <a:srgbClr val="EEF2F8"/>
          </a:solidFill>
          <a:ln w="6350">
            <a:solidFill>
              <a:srgbClr val="D5DCE6"/>
            </a:solidFill>
            <a:prstDash val="solid"/>
          </a:ln>
        </p:spPr>
      </p:sp>
      <p:sp>
        <p:nvSpPr>
          <p:cNvPr id="9" name="Text 6"/>
          <p:cNvSpPr txBox="1"/>
          <p:nvPr/>
        </p:nvSpPr>
        <p:spPr>
          <a:xfrm>
            <a:off x="685800" y="2237232"/>
            <a:ext cx="457200" cy="413004"/>
          </a:xfrm>
          <a:prstGeom prst="rect">
            <a:avLst/>
          </a:prstGeom>
          <a:noFill/>
          <a:ln/>
        </p:spPr>
        <p:txBody>
          <a:bodyPr wrap="square" lIns="0" tIns="0" rIns="0" bIns="0" rtlCol="0" anchor="ctr"/>
          <a:lstStyle/>
          <a:p>
            <a:pPr indent="0" marL="0">
              <a:buNone/>
            </a:pPr>
            <a:r>
              <a:rPr lang="en-US" sz="1500" b="1" dirty="0">
                <a:solidFill>
                  <a:schemeClr val="tx2"/>
                </a:solidFill>
              </a:rPr>
              <a:t>1.</a:t>
            </a:r>
            <a:endParaRPr lang="en-US" sz="1500" dirty="0"/>
          </a:p>
        </p:txBody>
      </p:sp>
      <p:sp>
        <p:nvSpPr>
          <p:cNvPr id="10" name="Text 7"/>
          <p:cNvSpPr txBox="1"/>
          <p:nvPr/>
        </p:nvSpPr>
        <p:spPr>
          <a:xfrm>
            <a:off x="1143000" y="2237232"/>
            <a:ext cx="4265676" cy="413004"/>
          </a:xfrm>
          <a:prstGeom prst="rect">
            <a:avLst/>
          </a:prstGeom>
          <a:noFill/>
          <a:ln/>
        </p:spPr>
        <p:txBody>
          <a:bodyPr wrap="square" lIns="0" tIns="0" rIns="0" bIns="0" rtlCol="0" anchor="ctr"/>
          <a:lstStyle/>
          <a:p>
            <a:pPr indent="0" marL="0">
              <a:buNone/>
            </a:pPr>
            <a:r>
              <a:rPr lang="en-US" sz="1500" dirty="0">
                <a:solidFill>
                  <a:schemeClr val="tx1"/>
                </a:solidFill>
              </a:rPr>
              <a:t>“To raise a red flag” is a compliment.</a:t>
            </a:r>
            <a:endParaRPr lang="en-US" sz="1500" dirty="0"/>
          </a:p>
        </p:txBody>
      </p:sp>
      <p:sp>
        <p:nvSpPr>
          <p:cNvPr id="11" name="Text 8"/>
          <p:cNvSpPr txBox="1"/>
          <p:nvPr/>
        </p:nvSpPr>
        <p:spPr>
          <a:xfrm>
            <a:off x="5637276" y="2237232"/>
            <a:ext cx="4037076" cy="413004"/>
          </a:xfrm>
          <a:prstGeom prst="rect">
            <a:avLst/>
          </a:prstGeom>
          <a:noFill/>
          <a:ln/>
        </p:spPr>
        <p:txBody>
          <a:bodyPr wrap="square" lIns="0" tIns="0" rIns="0" bIns="0" rtlCol="0" anchor="ctr"/>
          <a:lstStyle/>
          <a:p>
            <a:pPr indent="0" marL="0">
              <a:buNone/>
            </a:pPr>
            <a:r>
              <a:rPr lang="en-US" sz="1400" b="1" dirty="0">
                <a:solidFill>
                  <a:schemeClr val="accent6"/>
                </a:solidFill>
              </a:rPr>
              <a:t>→ it points out a risk.</a:t>
            </a:r>
            <a:endParaRPr lang="en-US" sz="1400" dirty="0"/>
          </a:p>
        </p:txBody>
      </p:sp>
      <p:sp>
        <p:nvSpPr>
          <p:cNvPr id="12" name="Text 9"/>
          <p:cNvSpPr/>
          <p:nvPr/>
        </p:nvSpPr>
        <p:spPr>
          <a:xfrm>
            <a:off x="10405872" y="2310384"/>
            <a:ext cx="266700" cy="266700"/>
          </a:xfrm>
          <a:prstGeom prst="ellipse">
            <a:avLst/>
          </a:prstGeom>
          <a:solidFill>
            <a:srgbClr val="FFFFFF"/>
          </a:solidFill>
          <a:ln w="19050">
            <a:solidFill>
              <a:srgbClr val="D5DCE6"/>
            </a:solidFill>
          </a:ln>
        </p:spPr>
        <p:txBody>
          <a:bodyPr wrap="square" lIns="0" tIns="0" rIns="0" bIns="0" rtlCol="0" anchor="ctr"/>
          <a:lstStyle/>
          <a:p>
            <a:pPr algn="ctr" indent="0" marL="0">
              <a:buNone/>
            </a:pPr>
            <a:r>
              <a:rPr lang="en-US" sz="1500" b="1" dirty="0">
                <a:solidFill>
                  <a:srgbClr val="C3CAD5"/>
                </a:solidFill>
              </a:rPr>
              <a:t>T</a:t>
            </a:r>
            <a:endParaRPr lang="en-US" sz="1500" dirty="0"/>
          </a:p>
        </p:txBody>
      </p:sp>
      <p:sp>
        <p:nvSpPr>
          <p:cNvPr id="13" name="Text 10"/>
          <p:cNvSpPr/>
          <p:nvPr/>
        </p:nvSpPr>
        <p:spPr>
          <a:xfrm>
            <a:off x="11000232" y="2310384"/>
            <a:ext cx="266700" cy="266700"/>
          </a:xfrm>
          <a:prstGeom prst="ellipse">
            <a:avLst/>
          </a:prstGeom>
          <a:solidFill>
            <a:srgbClr val="B03A2E"/>
          </a:solidFill>
          <a:ln w="19050">
            <a:solidFill>
              <a:srgbClr val="B03A2E"/>
            </a:solid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14" name="Shape 11"/>
          <p:cNvSpPr/>
          <p:nvPr/>
        </p:nvSpPr>
        <p:spPr>
          <a:xfrm>
            <a:off x="548640" y="2759964"/>
            <a:ext cx="11091672" cy="413004"/>
          </a:xfrm>
          <a:prstGeom prst="roundRect">
            <a:avLst>
              <a:gd name="adj" fmla="val 17712"/>
            </a:avLst>
          </a:prstGeom>
          <a:solidFill>
            <a:srgbClr val="FFFFFF"/>
          </a:solidFill>
          <a:ln w="6350">
            <a:solidFill>
              <a:srgbClr val="D5DCE6"/>
            </a:solidFill>
            <a:prstDash val="solid"/>
          </a:ln>
        </p:spPr>
      </p:sp>
      <p:sp>
        <p:nvSpPr>
          <p:cNvPr id="15" name="Text 12"/>
          <p:cNvSpPr txBox="1"/>
          <p:nvPr/>
        </p:nvSpPr>
        <p:spPr>
          <a:xfrm>
            <a:off x="685800" y="2759964"/>
            <a:ext cx="457200" cy="413004"/>
          </a:xfrm>
          <a:prstGeom prst="rect">
            <a:avLst/>
          </a:prstGeom>
          <a:noFill/>
          <a:ln/>
        </p:spPr>
        <p:txBody>
          <a:bodyPr wrap="square" lIns="0" tIns="0" rIns="0" bIns="0" rtlCol="0" anchor="ctr"/>
          <a:lstStyle/>
          <a:p>
            <a:pPr indent="0" marL="0">
              <a:buNone/>
            </a:pPr>
            <a:r>
              <a:rPr lang="en-US" sz="1500" b="1" dirty="0">
                <a:solidFill>
                  <a:schemeClr val="tx2"/>
                </a:solidFill>
              </a:rPr>
              <a:t>2.</a:t>
            </a:r>
            <a:endParaRPr lang="en-US" sz="1500" dirty="0"/>
          </a:p>
        </p:txBody>
      </p:sp>
      <p:sp>
        <p:nvSpPr>
          <p:cNvPr id="16" name="Text 13"/>
          <p:cNvSpPr txBox="1"/>
          <p:nvPr/>
        </p:nvSpPr>
        <p:spPr>
          <a:xfrm>
            <a:off x="1143000" y="2759964"/>
            <a:ext cx="4265676" cy="413004"/>
          </a:xfrm>
          <a:prstGeom prst="rect">
            <a:avLst/>
          </a:prstGeom>
          <a:noFill/>
          <a:ln/>
        </p:spPr>
        <p:txBody>
          <a:bodyPr wrap="square" lIns="0" tIns="0" rIns="0" bIns="0" rtlCol="0" anchor="ctr"/>
          <a:lstStyle/>
          <a:p>
            <a:pPr indent="0" marL="0">
              <a:buNone/>
            </a:pPr>
            <a:r>
              <a:rPr lang="en-US" sz="1500" dirty="0">
                <a:solidFill>
                  <a:schemeClr val="tx1"/>
                </a:solidFill>
              </a:rPr>
              <a:t>If you are “on the ball”, you react fast.</a:t>
            </a:r>
            <a:endParaRPr lang="en-US" sz="1500" dirty="0"/>
          </a:p>
        </p:txBody>
      </p:sp>
      <p:sp>
        <p:nvSpPr>
          <p:cNvPr id="17" name="Text 14"/>
          <p:cNvSpPr txBox="1"/>
          <p:nvPr/>
        </p:nvSpPr>
        <p:spPr>
          <a:xfrm>
            <a:off x="5637276" y="2759964"/>
            <a:ext cx="4037076" cy="413004"/>
          </a:xfrm>
          <a:prstGeom prst="rect">
            <a:avLst/>
          </a:prstGeom>
          <a:noFill/>
          <a:ln/>
        </p:spPr>
        <p:txBody>
          <a:bodyPr wrap="square" lIns="0" tIns="0" rIns="0" bIns="0" rtlCol="0" anchor="ctr"/>
          <a:lstStyle/>
          <a:p>
            <a:pPr indent="0" marL="0">
              <a:buNone/>
            </a:pPr>
            <a:r>
              <a:rPr lang="en-US" sz="1400" b="1" dirty="0">
                <a:solidFill>
                  <a:schemeClr val="accent3"/>
                </a:solidFill>
              </a:rPr>
              <a:t>→ alert and quick to react.</a:t>
            </a:r>
            <a:endParaRPr lang="en-US" sz="1400" dirty="0"/>
          </a:p>
        </p:txBody>
      </p:sp>
      <p:sp>
        <p:nvSpPr>
          <p:cNvPr id="18" name="Text 15"/>
          <p:cNvSpPr/>
          <p:nvPr/>
        </p:nvSpPr>
        <p:spPr>
          <a:xfrm>
            <a:off x="10405872" y="2833116"/>
            <a:ext cx="266700" cy="266700"/>
          </a:xfrm>
          <a:prstGeom prst="ellipse">
            <a:avLst/>
          </a:prstGeom>
          <a:solidFill>
            <a:srgbClr val="3C7A3C"/>
          </a:solidFill>
          <a:ln w="19050">
            <a:solidFill>
              <a:srgbClr val="3C7A3C"/>
            </a:solidFill>
          </a:ln>
        </p:spPr>
        <p:txBody>
          <a:bodyPr wrap="square" lIns="0" tIns="0" rIns="0" bIns="0" rtlCol="0" anchor="ctr"/>
          <a:lstStyle/>
          <a:p>
            <a:pPr algn="ctr" indent="0" marL="0">
              <a:buNone/>
            </a:pPr>
            <a:r>
              <a:rPr lang="en-US" sz="1500" b="1" dirty="0">
                <a:solidFill>
                  <a:schemeClr val="bg1"/>
                </a:solidFill>
              </a:rPr>
              <a:t>T</a:t>
            </a:r>
            <a:endParaRPr lang="en-US" sz="1500" dirty="0"/>
          </a:p>
        </p:txBody>
      </p:sp>
      <p:sp>
        <p:nvSpPr>
          <p:cNvPr id="19" name="Text 16"/>
          <p:cNvSpPr/>
          <p:nvPr/>
        </p:nvSpPr>
        <p:spPr>
          <a:xfrm>
            <a:off x="11000232" y="2833116"/>
            <a:ext cx="266700" cy="266700"/>
          </a:xfrm>
          <a:prstGeom prst="ellipse">
            <a:avLst/>
          </a:prstGeom>
          <a:solidFill>
            <a:srgbClr val="FFFFFF"/>
          </a:solidFill>
          <a:ln w="19050">
            <a:solidFill>
              <a:srgbClr val="D5DCE6"/>
            </a:solidFill>
          </a:ln>
        </p:spPr>
        <p:txBody>
          <a:bodyPr wrap="square" lIns="0" tIns="0" rIns="0" bIns="0" rtlCol="0" anchor="ctr"/>
          <a:lstStyle/>
          <a:p>
            <a:pPr algn="ctr" indent="0" marL="0">
              <a:buNone/>
            </a:pPr>
            <a:r>
              <a:rPr lang="en-US" sz="1500" b="1" dirty="0">
                <a:solidFill>
                  <a:srgbClr val="C3CAD5"/>
                </a:solidFill>
              </a:rPr>
              <a:t>F</a:t>
            </a:r>
            <a:endParaRPr lang="en-US" sz="1500" dirty="0"/>
          </a:p>
        </p:txBody>
      </p:sp>
      <p:sp>
        <p:nvSpPr>
          <p:cNvPr id="20" name="Shape 17"/>
          <p:cNvSpPr/>
          <p:nvPr/>
        </p:nvSpPr>
        <p:spPr>
          <a:xfrm>
            <a:off x="548640" y="3282696"/>
            <a:ext cx="11091672" cy="413004"/>
          </a:xfrm>
          <a:prstGeom prst="roundRect">
            <a:avLst>
              <a:gd name="adj" fmla="val 17712"/>
            </a:avLst>
          </a:prstGeom>
          <a:solidFill>
            <a:srgbClr val="EEF2F8"/>
          </a:solidFill>
          <a:ln w="6350">
            <a:solidFill>
              <a:srgbClr val="D5DCE6"/>
            </a:solidFill>
            <a:prstDash val="solid"/>
          </a:ln>
        </p:spPr>
      </p:sp>
      <p:sp>
        <p:nvSpPr>
          <p:cNvPr id="21" name="Text 18"/>
          <p:cNvSpPr txBox="1"/>
          <p:nvPr/>
        </p:nvSpPr>
        <p:spPr>
          <a:xfrm>
            <a:off x="685800" y="3282696"/>
            <a:ext cx="457200" cy="413004"/>
          </a:xfrm>
          <a:prstGeom prst="rect">
            <a:avLst/>
          </a:prstGeom>
          <a:noFill/>
          <a:ln/>
        </p:spPr>
        <p:txBody>
          <a:bodyPr wrap="square" lIns="0" tIns="0" rIns="0" bIns="0" rtlCol="0" anchor="ctr"/>
          <a:lstStyle/>
          <a:p>
            <a:pPr indent="0" marL="0">
              <a:buNone/>
            </a:pPr>
            <a:r>
              <a:rPr lang="en-US" sz="1500" b="1" dirty="0">
                <a:solidFill>
                  <a:schemeClr val="tx2"/>
                </a:solidFill>
              </a:rPr>
              <a:t>3.</a:t>
            </a:r>
            <a:endParaRPr lang="en-US" sz="1500" dirty="0"/>
          </a:p>
        </p:txBody>
      </p:sp>
      <p:sp>
        <p:nvSpPr>
          <p:cNvPr id="22" name="Text 19"/>
          <p:cNvSpPr txBox="1"/>
          <p:nvPr/>
        </p:nvSpPr>
        <p:spPr>
          <a:xfrm>
            <a:off x="1143000" y="3282696"/>
            <a:ext cx="4265676" cy="413004"/>
          </a:xfrm>
          <a:prstGeom prst="rect">
            <a:avLst/>
          </a:prstGeom>
          <a:noFill/>
          <a:ln/>
        </p:spPr>
        <p:txBody>
          <a:bodyPr wrap="square" lIns="0" tIns="0" rIns="0" bIns="0" rtlCol="0" anchor="ctr"/>
          <a:lstStyle/>
          <a:p>
            <a:pPr indent="0" marL="0">
              <a:buNone/>
            </a:pPr>
            <a:r>
              <a:rPr lang="en-US" sz="1500" dirty="0">
                <a:solidFill>
                  <a:schemeClr val="tx1"/>
                </a:solidFill>
              </a:rPr>
              <a:t>“To drop the ball” means to make a mistake.</a:t>
            </a:r>
            <a:endParaRPr lang="en-US" sz="1500" dirty="0"/>
          </a:p>
        </p:txBody>
      </p:sp>
      <p:sp>
        <p:nvSpPr>
          <p:cNvPr id="23" name="Text 20"/>
          <p:cNvSpPr txBox="1"/>
          <p:nvPr/>
        </p:nvSpPr>
        <p:spPr>
          <a:xfrm>
            <a:off x="5637276" y="3282696"/>
            <a:ext cx="4037076" cy="413004"/>
          </a:xfrm>
          <a:prstGeom prst="rect">
            <a:avLst/>
          </a:prstGeom>
          <a:noFill/>
          <a:ln/>
        </p:spPr>
        <p:txBody>
          <a:bodyPr wrap="square" lIns="0" tIns="0" rIns="0" bIns="0" rtlCol="0" anchor="ctr"/>
          <a:lstStyle/>
          <a:p>
            <a:pPr indent="0" marL="0">
              <a:buNone/>
            </a:pPr>
            <a:r>
              <a:rPr lang="en-US" sz="1400" b="1" dirty="0">
                <a:solidFill>
                  <a:schemeClr val="accent3"/>
                </a:solidFill>
              </a:rPr>
              <a:t>→ by not paying attention.</a:t>
            </a:r>
            <a:endParaRPr lang="en-US" sz="1400" dirty="0"/>
          </a:p>
        </p:txBody>
      </p:sp>
      <p:sp>
        <p:nvSpPr>
          <p:cNvPr id="24" name="Text 21"/>
          <p:cNvSpPr/>
          <p:nvPr/>
        </p:nvSpPr>
        <p:spPr>
          <a:xfrm>
            <a:off x="10405872" y="3355848"/>
            <a:ext cx="266700" cy="266700"/>
          </a:xfrm>
          <a:prstGeom prst="ellipse">
            <a:avLst/>
          </a:prstGeom>
          <a:solidFill>
            <a:srgbClr val="3C7A3C"/>
          </a:solidFill>
          <a:ln w="19050">
            <a:solidFill>
              <a:srgbClr val="3C7A3C"/>
            </a:solidFill>
          </a:ln>
        </p:spPr>
        <p:txBody>
          <a:bodyPr wrap="square" lIns="0" tIns="0" rIns="0" bIns="0" rtlCol="0" anchor="ctr"/>
          <a:lstStyle/>
          <a:p>
            <a:pPr algn="ctr" indent="0" marL="0">
              <a:buNone/>
            </a:pPr>
            <a:r>
              <a:rPr lang="en-US" sz="1500" b="1" dirty="0">
                <a:solidFill>
                  <a:schemeClr val="bg1"/>
                </a:solidFill>
              </a:rPr>
              <a:t>T</a:t>
            </a:r>
            <a:endParaRPr lang="en-US" sz="1500" dirty="0"/>
          </a:p>
        </p:txBody>
      </p:sp>
      <p:sp>
        <p:nvSpPr>
          <p:cNvPr id="25" name="Text 22"/>
          <p:cNvSpPr/>
          <p:nvPr/>
        </p:nvSpPr>
        <p:spPr>
          <a:xfrm>
            <a:off x="11000232" y="3355848"/>
            <a:ext cx="266700" cy="266700"/>
          </a:xfrm>
          <a:prstGeom prst="ellipse">
            <a:avLst/>
          </a:prstGeom>
          <a:solidFill>
            <a:srgbClr val="FFFFFF"/>
          </a:solidFill>
          <a:ln w="19050">
            <a:solidFill>
              <a:srgbClr val="D5DCE6"/>
            </a:solidFill>
          </a:ln>
        </p:spPr>
        <p:txBody>
          <a:bodyPr wrap="square" lIns="0" tIns="0" rIns="0" bIns="0" rtlCol="0" anchor="ctr"/>
          <a:lstStyle/>
          <a:p>
            <a:pPr algn="ctr" indent="0" marL="0">
              <a:buNone/>
            </a:pPr>
            <a:r>
              <a:rPr lang="en-US" sz="1500" b="1" dirty="0">
                <a:solidFill>
                  <a:srgbClr val="C3CAD5"/>
                </a:solidFill>
              </a:rPr>
              <a:t>F</a:t>
            </a:r>
            <a:endParaRPr lang="en-US" sz="1500" dirty="0"/>
          </a:p>
        </p:txBody>
      </p:sp>
      <p:sp>
        <p:nvSpPr>
          <p:cNvPr id="26" name="Shape 23"/>
          <p:cNvSpPr/>
          <p:nvPr/>
        </p:nvSpPr>
        <p:spPr>
          <a:xfrm>
            <a:off x="548640" y="3805428"/>
            <a:ext cx="11091672" cy="413004"/>
          </a:xfrm>
          <a:prstGeom prst="roundRect">
            <a:avLst>
              <a:gd name="adj" fmla="val 17712"/>
            </a:avLst>
          </a:prstGeom>
          <a:solidFill>
            <a:srgbClr val="FFFFFF"/>
          </a:solidFill>
          <a:ln w="6350">
            <a:solidFill>
              <a:srgbClr val="D5DCE6"/>
            </a:solidFill>
            <a:prstDash val="solid"/>
          </a:ln>
        </p:spPr>
      </p:sp>
      <p:sp>
        <p:nvSpPr>
          <p:cNvPr id="27" name="Text 24"/>
          <p:cNvSpPr txBox="1"/>
          <p:nvPr/>
        </p:nvSpPr>
        <p:spPr>
          <a:xfrm>
            <a:off x="685800" y="3805428"/>
            <a:ext cx="457200" cy="413004"/>
          </a:xfrm>
          <a:prstGeom prst="rect">
            <a:avLst/>
          </a:prstGeom>
          <a:noFill/>
          <a:ln/>
        </p:spPr>
        <p:txBody>
          <a:bodyPr wrap="square" lIns="0" tIns="0" rIns="0" bIns="0" rtlCol="0" anchor="ctr"/>
          <a:lstStyle/>
          <a:p>
            <a:pPr indent="0" marL="0">
              <a:buNone/>
            </a:pPr>
            <a:r>
              <a:rPr lang="en-US" sz="1500" b="1" dirty="0">
                <a:solidFill>
                  <a:schemeClr val="tx2"/>
                </a:solidFill>
              </a:rPr>
              <a:t>4.</a:t>
            </a:r>
            <a:endParaRPr lang="en-US" sz="1500" dirty="0"/>
          </a:p>
        </p:txBody>
      </p:sp>
      <p:sp>
        <p:nvSpPr>
          <p:cNvPr id="28" name="Text 25"/>
          <p:cNvSpPr txBox="1"/>
          <p:nvPr/>
        </p:nvSpPr>
        <p:spPr>
          <a:xfrm>
            <a:off x="1143000" y="3805428"/>
            <a:ext cx="4265676" cy="413004"/>
          </a:xfrm>
          <a:prstGeom prst="rect">
            <a:avLst/>
          </a:prstGeom>
          <a:noFill/>
          <a:ln/>
        </p:spPr>
        <p:txBody>
          <a:bodyPr wrap="square" lIns="0" tIns="0" rIns="0" bIns="0" rtlCol="0" anchor="ctr"/>
          <a:lstStyle/>
          <a:p>
            <a:pPr indent="0" marL="0">
              <a:buNone/>
            </a:pPr>
            <a:r>
              <a:rPr lang="en-US" sz="1500" dirty="0">
                <a:solidFill>
                  <a:schemeClr val="tx1"/>
                </a:solidFill>
              </a:rPr>
              <a:t>“To keep an eye on” the pipe means to repair it.</a:t>
            </a:r>
            <a:endParaRPr lang="en-US" sz="1500" dirty="0"/>
          </a:p>
        </p:txBody>
      </p:sp>
      <p:sp>
        <p:nvSpPr>
          <p:cNvPr id="29" name="Text 26"/>
          <p:cNvSpPr txBox="1"/>
          <p:nvPr/>
        </p:nvSpPr>
        <p:spPr>
          <a:xfrm>
            <a:off x="5637276" y="3805428"/>
            <a:ext cx="4037076" cy="413004"/>
          </a:xfrm>
          <a:prstGeom prst="rect">
            <a:avLst/>
          </a:prstGeom>
          <a:noFill/>
          <a:ln/>
        </p:spPr>
        <p:txBody>
          <a:bodyPr wrap="square" lIns="0" tIns="0" rIns="0" bIns="0" rtlCol="0" anchor="ctr"/>
          <a:lstStyle/>
          <a:p>
            <a:pPr indent="0" marL="0">
              <a:buNone/>
            </a:pPr>
            <a:r>
              <a:rPr lang="en-US" sz="1400" b="1" dirty="0">
                <a:solidFill>
                  <a:schemeClr val="accent6"/>
                </a:solidFill>
              </a:rPr>
              <a:t>→ it means to watch it closely.</a:t>
            </a:r>
            <a:endParaRPr lang="en-US" sz="1400" dirty="0"/>
          </a:p>
        </p:txBody>
      </p:sp>
      <p:sp>
        <p:nvSpPr>
          <p:cNvPr id="30" name="Text 27"/>
          <p:cNvSpPr/>
          <p:nvPr/>
        </p:nvSpPr>
        <p:spPr>
          <a:xfrm>
            <a:off x="10405872" y="3878580"/>
            <a:ext cx="266700" cy="266700"/>
          </a:xfrm>
          <a:prstGeom prst="ellipse">
            <a:avLst/>
          </a:prstGeom>
          <a:solidFill>
            <a:srgbClr val="FFFFFF"/>
          </a:solidFill>
          <a:ln w="19050">
            <a:solidFill>
              <a:srgbClr val="D5DCE6"/>
            </a:solidFill>
          </a:ln>
        </p:spPr>
        <p:txBody>
          <a:bodyPr wrap="square" lIns="0" tIns="0" rIns="0" bIns="0" rtlCol="0" anchor="ctr"/>
          <a:lstStyle/>
          <a:p>
            <a:pPr algn="ctr" indent="0" marL="0">
              <a:buNone/>
            </a:pPr>
            <a:r>
              <a:rPr lang="en-US" sz="1500" b="1" dirty="0">
                <a:solidFill>
                  <a:srgbClr val="C3CAD5"/>
                </a:solidFill>
              </a:rPr>
              <a:t>T</a:t>
            </a:r>
            <a:endParaRPr lang="en-US" sz="1500" dirty="0"/>
          </a:p>
        </p:txBody>
      </p:sp>
      <p:sp>
        <p:nvSpPr>
          <p:cNvPr id="31" name="Text 28"/>
          <p:cNvSpPr/>
          <p:nvPr/>
        </p:nvSpPr>
        <p:spPr>
          <a:xfrm>
            <a:off x="11000232" y="3878580"/>
            <a:ext cx="266700" cy="266700"/>
          </a:xfrm>
          <a:prstGeom prst="ellipse">
            <a:avLst/>
          </a:prstGeom>
          <a:solidFill>
            <a:srgbClr val="B03A2E"/>
          </a:solidFill>
          <a:ln w="19050">
            <a:solidFill>
              <a:srgbClr val="B03A2E"/>
            </a:solid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32" name="Shape 29"/>
          <p:cNvSpPr/>
          <p:nvPr/>
        </p:nvSpPr>
        <p:spPr>
          <a:xfrm>
            <a:off x="548640" y="4328160"/>
            <a:ext cx="11091672" cy="413004"/>
          </a:xfrm>
          <a:prstGeom prst="roundRect">
            <a:avLst>
              <a:gd name="adj" fmla="val 17712"/>
            </a:avLst>
          </a:prstGeom>
          <a:solidFill>
            <a:srgbClr val="EEF2F8"/>
          </a:solidFill>
          <a:ln w="6350">
            <a:solidFill>
              <a:srgbClr val="D5DCE6"/>
            </a:solidFill>
            <a:prstDash val="solid"/>
          </a:ln>
        </p:spPr>
      </p:sp>
      <p:sp>
        <p:nvSpPr>
          <p:cNvPr id="33" name="Text 30"/>
          <p:cNvSpPr txBox="1"/>
          <p:nvPr/>
        </p:nvSpPr>
        <p:spPr>
          <a:xfrm>
            <a:off x="685800" y="4328160"/>
            <a:ext cx="457200" cy="413004"/>
          </a:xfrm>
          <a:prstGeom prst="rect">
            <a:avLst/>
          </a:prstGeom>
          <a:noFill/>
          <a:ln/>
        </p:spPr>
        <p:txBody>
          <a:bodyPr wrap="square" lIns="0" tIns="0" rIns="0" bIns="0" rtlCol="0" anchor="ctr"/>
          <a:lstStyle/>
          <a:p>
            <a:pPr indent="0" marL="0">
              <a:buNone/>
            </a:pPr>
            <a:r>
              <a:rPr lang="en-US" sz="1500" b="1" dirty="0">
                <a:solidFill>
                  <a:schemeClr val="tx2"/>
                </a:solidFill>
              </a:rPr>
              <a:t>5.</a:t>
            </a:r>
            <a:endParaRPr lang="en-US" sz="1500" dirty="0"/>
          </a:p>
        </p:txBody>
      </p:sp>
      <p:sp>
        <p:nvSpPr>
          <p:cNvPr id="34" name="Text 31"/>
          <p:cNvSpPr txBox="1"/>
          <p:nvPr/>
        </p:nvSpPr>
        <p:spPr>
          <a:xfrm>
            <a:off x="1143000" y="4328160"/>
            <a:ext cx="4265676" cy="413004"/>
          </a:xfrm>
          <a:prstGeom prst="rect">
            <a:avLst/>
          </a:prstGeom>
          <a:noFill/>
          <a:ln/>
        </p:spPr>
        <p:txBody>
          <a:bodyPr wrap="square" lIns="0" tIns="0" rIns="0" bIns="0" rtlCol="0" anchor="ctr"/>
          <a:lstStyle/>
          <a:p>
            <a:pPr indent="0" marL="0">
              <a:buNone/>
            </a:pPr>
            <a:r>
              <a:rPr lang="en-US" sz="1500" dirty="0">
                <a:solidFill>
                  <a:schemeClr val="tx1"/>
                </a:solidFill>
              </a:rPr>
              <a:t>In English, you “respect” a deadline.</a:t>
            </a:r>
            <a:endParaRPr lang="en-US" sz="1500" dirty="0"/>
          </a:p>
        </p:txBody>
      </p:sp>
      <p:sp>
        <p:nvSpPr>
          <p:cNvPr id="35" name="Text 32"/>
          <p:cNvSpPr txBox="1"/>
          <p:nvPr/>
        </p:nvSpPr>
        <p:spPr>
          <a:xfrm>
            <a:off x="5637276" y="4328160"/>
            <a:ext cx="4037076" cy="413004"/>
          </a:xfrm>
          <a:prstGeom prst="rect">
            <a:avLst/>
          </a:prstGeom>
          <a:noFill/>
          <a:ln/>
        </p:spPr>
        <p:txBody>
          <a:bodyPr wrap="square" lIns="0" tIns="0" rIns="0" bIns="0" rtlCol="0" anchor="ctr"/>
          <a:lstStyle/>
          <a:p>
            <a:pPr indent="0" marL="0">
              <a:buNone/>
            </a:pPr>
            <a:r>
              <a:rPr lang="en-US" sz="1400" b="1" dirty="0">
                <a:solidFill>
                  <a:schemeClr val="accent6"/>
                </a:solidFill>
              </a:rPr>
              <a:t>→ you </a:t>
            </a:r>
            <a:r>
              <a:rPr lang="en-US" sz="1400" b="1" dirty="0">
                <a:solidFill>
                  <a:schemeClr val="accent6"/>
                </a:solidFill>
              </a:rPr>
              <a:t>meet</a:t>
            </a:r>
            <a:r>
              <a:rPr lang="en-US" sz="1400" b="1" dirty="0">
                <a:solidFill>
                  <a:schemeClr val="accent6"/>
                </a:solidFill>
              </a:rPr>
              <a:t> a deadline.</a:t>
            </a:r>
            <a:endParaRPr lang="en-US" sz="1400" dirty="0"/>
          </a:p>
        </p:txBody>
      </p:sp>
      <p:sp>
        <p:nvSpPr>
          <p:cNvPr id="36" name="Text 33"/>
          <p:cNvSpPr/>
          <p:nvPr/>
        </p:nvSpPr>
        <p:spPr>
          <a:xfrm>
            <a:off x="10405872" y="4401312"/>
            <a:ext cx="266700" cy="266700"/>
          </a:xfrm>
          <a:prstGeom prst="ellipse">
            <a:avLst/>
          </a:prstGeom>
          <a:solidFill>
            <a:srgbClr val="FFFFFF"/>
          </a:solidFill>
          <a:ln w="19050">
            <a:solidFill>
              <a:srgbClr val="D5DCE6"/>
            </a:solidFill>
          </a:ln>
        </p:spPr>
        <p:txBody>
          <a:bodyPr wrap="square" lIns="0" tIns="0" rIns="0" bIns="0" rtlCol="0" anchor="ctr"/>
          <a:lstStyle/>
          <a:p>
            <a:pPr algn="ctr" indent="0" marL="0">
              <a:buNone/>
            </a:pPr>
            <a:r>
              <a:rPr lang="en-US" sz="1500" b="1" dirty="0">
                <a:solidFill>
                  <a:srgbClr val="C3CAD5"/>
                </a:solidFill>
              </a:rPr>
              <a:t>T</a:t>
            </a:r>
            <a:endParaRPr lang="en-US" sz="1500" dirty="0"/>
          </a:p>
        </p:txBody>
      </p:sp>
      <p:sp>
        <p:nvSpPr>
          <p:cNvPr id="37" name="Text 34"/>
          <p:cNvSpPr/>
          <p:nvPr/>
        </p:nvSpPr>
        <p:spPr>
          <a:xfrm>
            <a:off x="11000232" y="4401312"/>
            <a:ext cx="266700" cy="266700"/>
          </a:xfrm>
          <a:prstGeom prst="ellipse">
            <a:avLst/>
          </a:prstGeom>
          <a:solidFill>
            <a:srgbClr val="B03A2E"/>
          </a:solidFill>
          <a:ln w="19050">
            <a:solidFill>
              <a:srgbClr val="B03A2E"/>
            </a:solid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38" name="Shape 35"/>
          <p:cNvSpPr/>
          <p:nvPr/>
        </p:nvSpPr>
        <p:spPr>
          <a:xfrm>
            <a:off x="548640" y="4850892"/>
            <a:ext cx="11091672" cy="413004"/>
          </a:xfrm>
          <a:prstGeom prst="roundRect">
            <a:avLst>
              <a:gd name="adj" fmla="val 17712"/>
            </a:avLst>
          </a:prstGeom>
          <a:solidFill>
            <a:srgbClr val="FFFFFF"/>
          </a:solidFill>
          <a:ln w="6350">
            <a:solidFill>
              <a:srgbClr val="D5DCE6"/>
            </a:solidFill>
            <a:prstDash val="solid"/>
          </a:ln>
        </p:spPr>
      </p:sp>
      <p:sp>
        <p:nvSpPr>
          <p:cNvPr id="39" name="Text 36"/>
          <p:cNvSpPr txBox="1"/>
          <p:nvPr/>
        </p:nvSpPr>
        <p:spPr>
          <a:xfrm>
            <a:off x="685800" y="4850892"/>
            <a:ext cx="457200" cy="413004"/>
          </a:xfrm>
          <a:prstGeom prst="rect">
            <a:avLst/>
          </a:prstGeom>
          <a:noFill/>
          <a:ln/>
        </p:spPr>
        <p:txBody>
          <a:bodyPr wrap="square" lIns="0" tIns="0" rIns="0" bIns="0" rtlCol="0" anchor="ctr"/>
          <a:lstStyle/>
          <a:p>
            <a:pPr indent="0" marL="0">
              <a:buNone/>
            </a:pPr>
            <a:r>
              <a:rPr lang="en-US" sz="1500" b="1" dirty="0">
                <a:solidFill>
                  <a:schemeClr val="tx2"/>
                </a:solidFill>
              </a:rPr>
              <a:t>6.</a:t>
            </a:r>
            <a:endParaRPr lang="en-US" sz="1500" dirty="0"/>
          </a:p>
        </p:txBody>
      </p:sp>
      <p:sp>
        <p:nvSpPr>
          <p:cNvPr id="40" name="Text 37"/>
          <p:cNvSpPr txBox="1"/>
          <p:nvPr/>
        </p:nvSpPr>
        <p:spPr>
          <a:xfrm>
            <a:off x="1143000" y="4850892"/>
            <a:ext cx="4265676" cy="413004"/>
          </a:xfrm>
          <a:prstGeom prst="rect">
            <a:avLst/>
          </a:prstGeom>
          <a:noFill/>
          <a:ln/>
        </p:spPr>
        <p:txBody>
          <a:bodyPr wrap="square" lIns="0" tIns="0" rIns="0" bIns="0" rtlCol="0" anchor="ctr"/>
          <a:lstStyle/>
          <a:p>
            <a:pPr indent="0" marL="0">
              <a:buNone/>
            </a:pPr>
            <a:r>
              <a:rPr lang="en-US" sz="1500" dirty="0">
                <a:solidFill>
                  <a:schemeClr val="tx1"/>
                </a:solidFill>
              </a:rPr>
              <a:t>“To draw up a report” means to write it.</a:t>
            </a:r>
            <a:endParaRPr lang="en-US" sz="1500" dirty="0"/>
          </a:p>
        </p:txBody>
      </p:sp>
      <p:sp>
        <p:nvSpPr>
          <p:cNvPr id="41" name="Text 38"/>
          <p:cNvSpPr txBox="1"/>
          <p:nvPr/>
        </p:nvSpPr>
        <p:spPr>
          <a:xfrm>
            <a:off x="5637276" y="4850892"/>
            <a:ext cx="4037076" cy="413004"/>
          </a:xfrm>
          <a:prstGeom prst="rect">
            <a:avLst/>
          </a:prstGeom>
          <a:noFill/>
          <a:ln/>
        </p:spPr>
        <p:txBody>
          <a:bodyPr wrap="square" lIns="0" tIns="0" rIns="0" bIns="0" rtlCol="0" anchor="ctr"/>
          <a:lstStyle/>
          <a:p>
            <a:pPr indent="0" marL="0">
              <a:buNone/>
            </a:pPr>
            <a:r>
              <a:rPr lang="en-US" sz="1400" b="1" dirty="0">
                <a:solidFill>
                  <a:schemeClr val="accent3"/>
                </a:solidFill>
              </a:rPr>
              <a:t>→ rédiger un rapport.</a:t>
            </a:r>
            <a:endParaRPr lang="en-US" sz="1400" dirty="0"/>
          </a:p>
        </p:txBody>
      </p:sp>
      <p:sp>
        <p:nvSpPr>
          <p:cNvPr id="42" name="Text 39"/>
          <p:cNvSpPr/>
          <p:nvPr/>
        </p:nvSpPr>
        <p:spPr>
          <a:xfrm>
            <a:off x="10405872" y="4924044"/>
            <a:ext cx="266700" cy="266700"/>
          </a:xfrm>
          <a:prstGeom prst="ellipse">
            <a:avLst/>
          </a:prstGeom>
          <a:solidFill>
            <a:srgbClr val="3C7A3C"/>
          </a:solidFill>
          <a:ln w="19050">
            <a:solidFill>
              <a:srgbClr val="3C7A3C"/>
            </a:solidFill>
          </a:ln>
        </p:spPr>
        <p:txBody>
          <a:bodyPr wrap="square" lIns="0" tIns="0" rIns="0" bIns="0" rtlCol="0" anchor="ctr"/>
          <a:lstStyle/>
          <a:p>
            <a:pPr algn="ctr" indent="0" marL="0">
              <a:buNone/>
            </a:pPr>
            <a:r>
              <a:rPr lang="en-US" sz="1500" b="1" dirty="0">
                <a:solidFill>
                  <a:schemeClr val="bg1"/>
                </a:solidFill>
              </a:rPr>
              <a:t>T</a:t>
            </a:r>
            <a:endParaRPr lang="en-US" sz="1500" dirty="0"/>
          </a:p>
        </p:txBody>
      </p:sp>
      <p:sp>
        <p:nvSpPr>
          <p:cNvPr id="43" name="Text 40"/>
          <p:cNvSpPr/>
          <p:nvPr/>
        </p:nvSpPr>
        <p:spPr>
          <a:xfrm>
            <a:off x="11000232" y="4924044"/>
            <a:ext cx="266700" cy="266700"/>
          </a:xfrm>
          <a:prstGeom prst="ellipse">
            <a:avLst/>
          </a:prstGeom>
          <a:solidFill>
            <a:srgbClr val="FFFFFF"/>
          </a:solidFill>
          <a:ln w="19050">
            <a:solidFill>
              <a:srgbClr val="D5DCE6"/>
            </a:solidFill>
          </a:ln>
        </p:spPr>
        <p:txBody>
          <a:bodyPr wrap="square" lIns="0" tIns="0" rIns="0" bIns="0" rtlCol="0" anchor="ctr"/>
          <a:lstStyle/>
          <a:p>
            <a:pPr algn="ctr" indent="0" marL="0">
              <a:buNone/>
            </a:pPr>
            <a:r>
              <a:rPr lang="en-US" sz="1500" b="1" dirty="0">
                <a:solidFill>
                  <a:srgbClr val="C3CAD5"/>
                </a:solidFill>
              </a:rPr>
              <a:t>F</a:t>
            </a:r>
            <a:endParaRPr lang="en-US" sz="1500" dirty="0"/>
          </a:p>
        </p:txBody>
      </p:sp>
      <p:sp>
        <p:nvSpPr>
          <p:cNvPr id="44" name="Shape 41"/>
          <p:cNvSpPr/>
          <p:nvPr/>
        </p:nvSpPr>
        <p:spPr>
          <a:xfrm>
            <a:off x="548640" y="5373624"/>
            <a:ext cx="11091672" cy="413004"/>
          </a:xfrm>
          <a:prstGeom prst="roundRect">
            <a:avLst>
              <a:gd name="adj" fmla="val 17712"/>
            </a:avLst>
          </a:prstGeom>
          <a:solidFill>
            <a:srgbClr val="EEF2F8"/>
          </a:solidFill>
          <a:ln w="6350">
            <a:solidFill>
              <a:srgbClr val="D5DCE6"/>
            </a:solidFill>
            <a:prstDash val="solid"/>
          </a:ln>
        </p:spPr>
      </p:sp>
      <p:sp>
        <p:nvSpPr>
          <p:cNvPr id="45" name="Text 42"/>
          <p:cNvSpPr txBox="1"/>
          <p:nvPr/>
        </p:nvSpPr>
        <p:spPr>
          <a:xfrm>
            <a:off x="685800" y="5373624"/>
            <a:ext cx="457200" cy="413004"/>
          </a:xfrm>
          <a:prstGeom prst="rect">
            <a:avLst/>
          </a:prstGeom>
          <a:noFill/>
          <a:ln/>
        </p:spPr>
        <p:txBody>
          <a:bodyPr wrap="square" lIns="0" tIns="0" rIns="0" bIns="0" rtlCol="0" anchor="ctr"/>
          <a:lstStyle/>
          <a:p>
            <a:pPr indent="0" marL="0">
              <a:buNone/>
            </a:pPr>
            <a:r>
              <a:rPr lang="en-US" sz="1500" b="1" dirty="0">
                <a:solidFill>
                  <a:schemeClr val="tx2"/>
                </a:solidFill>
              </a:rPr>
              <a:t>7.</a:t>
            </a:r>
            <a:endParaRPr lang="en-US" sz="1500" dirty="0"/>
          </a:p>
        </p:txBody>
      </p:sp>
      <p:sp>
        <p:nvSpPr>
          <p:cNvPr id="46" name="Text 43"/>
          <p:cNvSpPr txBox="1"/>
          <p:nvPr/>
        </p:nvSpPr>
        <p:spPr>
          <a:xfrm>
            <a:off x="1143000" y="5373624"/>
            <a:ext cx="4265676" cy="413004"/>
          </a:xfrm>
          <a:prstGeom prst="rect">
            <a:avLst/>
          </a:prstGeom>
          <a:noFill/>
          <a:ln/>
        </p:spPr>
        <p:txBody>
          <a:bodyPr wrap="square" lIns="0" tIns="0" rIns="0" bIns="0" rtlCol="0" anchor="ctr"/>
          <a:lstStyle/>
          <a:p>
            <a:pPr indent="0" marL="0">
              <a:buNone/>
            </a:pPr>
            <a:r>
              <a:rPr lang="en-US" sz="1500" dirty="0">
                <a:solidFill>
                  <a:schemeClr val="tx1"/>
                </a:solidFill>
              </a:rPr>
              <a:t>You “file” a claim with an insurer.</a:t>
            </a:r>
            <a:endParaRPr lang="en-US" sz="1500" dirty="0"/>
          </a:p>
        </p:txBody>
      </p:sp>
      <p:sp>
        <p:nvSpPr>
          <p:cNvPr id="47" name="Text 44"/>
          <p:cNvSpPr txBox="1"/>
          <p:nvPr/>
        </p:nvSpPr>
        <p:spPr>
          <a:xfrm>
            <a:off x="5637276" y="5373624"/>
            <a:ext cx="4037076" cy="413004"/>
          </a:xfrm>
          <a:prstGeom prst="rect">
            <a:avLst/>
          </a:prstGeom>
          <a:noFill/>
          <a:ln/>
        </p:spPr>
        <p:txBody>
          <a:bodyPr wrap="square" lIns="0" tIns="0" rIns="0" bIns="0" rtlCol="0" anchor="ctr"/>
          <a:lstStyle/>
          <a:p>
            <a:pPr indent="0" marL="0">
              <a:buNone/>
            </a:pPr>
            <a:r>
              <a:rPr lang="en-US" sz="1400" b="1" dirty="0">
                <a:solidFill>
                  <a:schemeClr val="accent3"/>
                </a:solidFill>
              </a:rPr>
              <a:t>→ déclarer un sinistre.</a:t>
            </a:r>
            <a:endParaRPr lang="en-US" sz="1400" dirty="0"/>
          </a:p>
        </p:txBody>
      </p:sp>
      <p:sp>
        <p:nvSpPr>
          <p:cNvPr id="48" name="Text 45"/>
          <p:cNvSpPr/>
          <p:nvPr/>
        </p:nvSpPr>
        <p:spPr>
          <a:xfrm>
            <a:off x="10405872" y="5446776"/>
            <a:ext cx="266700" cy="266700"/>
          </a:xfrm>
          <a:prstGeom prst="ellipse">
            <a:avLst/>
          </a:prstGeom>
          <a:solidFill>
            <a:srgbClr val="3C7A3C"/>
          </a:solidFill>
          <a:ln w="19050">
            <a:solidFill>
              <a:srgbClr val="3C7A3C"/>
            </a:solidFill>
          </a:ln>
        </p:spPr>
        <p:txBody>
          <a:bodyPr wrap="square" lIns="0" tIns="0" rIns="0" bIns="0" rtlCol="0" anchor="ctr"/>
          <a:lstStyle/>
          <a:p>
            <a:pPr algn="ctr" indent="0" marL="0">
              <a:buNone/>
            </a:pPr>
            <a:r>
              <a:rPr lang="en-US" sz="1500" b="1" dirty="0">
                <a:solidFill>
                  <a:schemeClr val="bg1"/>
                </a:solidFill>
              </a:rPr>
              <a:t>T</a:t>
            </a:r>
            <a:endParaRPr lang="en-US" sz="1500" dirty="0"/>
          </a:p>
        </p:txBody>
      </p:sp>
      <p:sp>
        <p:nvSpPr>
          <p:cNvPr id="49" name="Text 46"/>
          <p:cNvSpPr/>
          <p:nvPr/>
        </p:nvSpPr>
        <p:spPr>
          <a:xfrm>
            <a:off x="11000232" y="5446776"/>
            <a:ext cx="266700" cy="266700"/>
          </a:xfrm>
          <a:prstGeom prst="ellipse">
            <a:avLst/>
          </a:prstGeom>
          <a:solidFill>
            <a:srgbClr val="FFFFFF"/>
          </a:solidFill>
          <a:ln w="19050">
            <a:solidFill>
              <a:srgbClr val="D5DCE6"/>
            </a:solidFill>
          </a:ln>
        </p:spPr>
        <p:txBody>
          <a:bodyPr wrap="square" lIns="0" tIns="0" rIns="0" bIns="0" rtlCol="0" anchor="ctr"/>
          <a:lstStyle/>
          <a:p>
            <a:pPr algn="ctr" indent="0" marL="0">
              <a:buNone/>
            </a:pPr>
            <a:r>
              <a:rPr lang="en-US" sz="1500" b="1" dirty="0">
                <a:solidFill>
                  <a:srgbClr val="C3CAD5"/>
                </a:solidFill>
              </a:rPr>
              <a:t>F</a:t>
            </a:r>
            <a:endParaRPr lang="en-US" sz="1500" dirty="0"/>
          </a:p>
        </p:txBody>
      </p:sp>
      <p:sp>
        <p:nvSpPr>
          <p:cNvPr id="50" name="Shape 47"/>
          <p:cNvSpPr/>
          <p:nvPr/>
        </p:nvSpPr>
        <p:spPr>
          <a:xfrm>
            <a:off x="548640" y="5896356"/>
            <a:ext cx="11091672" cy="413004"/>
          </a:xfrm>
          <a:prstGeom prst="roundRect">
            <a:avLst>
              <a:gd name="adj" fmla="val 17712"/>
            </a:avLst>
          </a:prstGeom>
          <a:solidFill>
            <a:srgbClr val="FFFFFF"/>
          </a:solidFill>
          <a:ln w="6350">
            <a:solidFill>
              <a:srgbClr val="D5DCE6"/>
            </a:solidFill>
            <a:prstDash val="solid"/>
          </a:ln>
        </p:spPr>
      </p:sp>
      <p:sp>
        <p:nvSpPr>
          <p:cNvPr id="51" name="Text 48"/>
          <p:cNvSpPr txBox="1"/>
          <p:nvPr/>
        </p:nvSpPr>
        <p:spPr>
          <a:xfrm>
            <a:off x="685800" y="5896356"/>
            <a:ext cx="457200" cy="413004"/>
          </a:xfrm>
          <a:prstGeom prst="rect">
            <a:avLst/>
          </a:prstGeom>
          <a:noFill/>
          <a:ln/>
        </p:spPr>
        <p:txBody>
          <a:bodyPr wrap="square" lIns="0" tIns="0" rIns="0" bIns="0" rtlCol="0" anchor="ctr"/>
          <a:lstStyle/>
          <a:p>
            <a:pPr indent="0" marL="0">
              <a:buNone/>
            </a:pPr>
            <a:r>
              <a:rPr lang="en-US" sz="1500" b="1" dirty="0">
                <a:solidFill>
                  <a:schemeClr val="tx2"/>
                </a:solidFill>
              </a:rPr>
              <a:t>8.</a:t>
            </a:r>
            <a:endParaRPr lang="en-US" sz="1500" dirty="0"/>
          </a:p>
        </p:txBody>
      </p:sp>
      <p:sp>
        <p:nvSpPr>
          <p:cNvPr id="52" name="Text 49"/>
          <p:cNvSpPr txBox="1"/>
          <p:nvPr/>
        </p:nvSpPr>
        <p:spPr>
          <a:xfrm>
            <a:off x="1143000" y="5896356"/>
            <a:ext cx="4265676" cy="413004"/>
          </a:xfrm>
          <a:prstGeom prst="rect">
            <a:avLst/>
          </a:prstGeom>
          <a:noFill/>
          <a:ln/>
        </p:spPr>
        <p:txBody>
          <a:bodyPr wrap="square" lIns="0" tIns="0" rIns="0" bIns="0" rtlCol="0" anchor="ctr"/>
          <a:lstStyle/>
          <a:p>
            <a:pPr indent="0" marL="0">
              <a:buNone/>
            </a:pPr>
            <a:r>
              <a:rPr lang="en-US" sz="1500" dirty="0">
                <a:solidFill>
                  <a:schemeClr val="tx1"/>
                </a:solidFill>
              </a:rPr>
              <a:t>“To make good the floor” means to clean it.</a:t>
            </a:r>
            <a:endParaRPr lang="en-US" sz="1500" dirty="0"/>
          </a:p>
        </p:txBody>
      </p:sp>
      <p:sp>
        <p:nvSpPr>
          <p:cNvPr id="53" name="Text 50"/>
          <p:cNvSpPr txBox="1"/>
          <p:nvPr/>
        </p:nvSpPr>
        <p:spPr>
          <a:xfrm>
            <a:off x="5637276" y="5896356"/>
            <a:ext cx="4037076" cy="413004"/>
          </a:xfrm>
          <a:prstGeom prst="rect">
            <a:avLst/>
          </a:prstGeom>
          <a:noFill/>
          <a:ln/>
        </p:spPr>
        <p:txBody>
          <a:bodyPr wrap="square" lIns="0" tIns="0" rIns="0" bIns="0" rtlCol="0" anchor="ctr"/>
          <a:lstStyle/>
          <a:p>
            <a:pPr indent="0" marL="0">
              <a:buNone/>
            </a:pPr>
            <a:r>
              <a:rPr lang="en-US" sz="1400" b="1" dirty="0">
                <a:solidFill>
                  <a:schemeClr val="accent6"/>
                </a:solidFill>
              </a:rPr>
              <a:t>→ it means to repair it.</a:t>
            </a:r>
            <a:endParaRPr lang="en-US" sz="1400" dirty="0"/>
          </a:p>
        </p:txBody>
      </p:sp>
      <p:sp>
        <p:nvSpPr>
          <p:cNvPr id="54" name="Text 51"/>
          <p:cNvSpPr/>
          <p:nvPr/>
        </p:nvSpPr>
        <p:spPr>
          <a:xfrm>
            <a:off x="10405872" y="5969508"/>
            <a:ext cx="266700" cy="266700"/>
          </a:xfrm>
          <a:prstGeom prst="ellipse">
            <a:avLst/>
          </a:prstGeom>
          <a:solidFill>
            <a:srgbClr val="FFFFFF"/>
          </a:solidFill>
          <a:ln w="19050">
            <a:solidFill>
              <a:srgbClr val="D5DCE6"/>
            </a:solidFill>
          </a:ln>
        </p:spPr>
        <p:txBody>
          <a:bodyPr wrap="square" lIns="0" tIns="0" rIns="0" bIns="0" rtlCol="0" anchor="ctr"/>
          <a:lstStyle/>
          <a:p>
            <a:pPr algn="ctr" indent="0" marL="0">
              <a:buNone/>
            </a:pPr>
            <a:r>
              <a:rPr lang="en-US" sz="1500" b="1" dirty="0">
                <a:solidFill>
                  <a:srgbClr val="C3CAD5"/>
                </a:solidFill>
              </a:rPr>
              <a:t>T</a:t>
            </a:r>
            <a:endParaRPr lang="en-US" sz="1500" dirty="0"/>
          </a:p>
        </p:txBody>
      </p:sp>
      <p:sp>
        <p:nvSpPr>
          <p:cNvPr id="55" name="Text 52"/>
          <p:cNvSpPr/>
          <p:nvPr/>
        </p:nvSpPr>
        <p:spPr>
          <a:xfrm>
            <a:off x="11000232" y="5969508"/>
            <a:ext cx="266700" cy="266700"/>
          </a:xfrm>
          <a:prstGeom prst="ellipse">
            <a:avLst/>
          </a:prstGeom>
          <a:solidFill>
            <a:srgbClr val="B03A2E"/>
          </a:solidFill>
          <a:ln w="19050">
            <a:solidFill>
              <a:srgbClr val="B03A2E"/>
            </a:solid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close the file</a:t>
            </a:r>
            <a:endParaRPr lang="en-US" sz="3200" dirty="0"/>
          </a:p>
        </p:txBody>
      </p:sp>
      <p:sp>
        <p:nvSpPr>
          <p:cNvPr id="3" name="tag"/>
          <p:cNvSpPr/>
          <p:nvPr/>
        </p:nvSpPr>
        <p:spPr>
          <a:xfrm>
            <a:off x="548640" y="384048"/>
            <a:ext cx="19659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END OF SESSION</a:t>
            </a:r>
            <a:endParaRPr lang="en-US" sz="1200" dirty="0"/>
          </a:p>
        </p:txBody>
      </p:sp>
      <p:sp>
        <p:nvSpPr>
          <p:cNvPr id="4" name="Shape 2"/>
          <p:cNvSpPr/>
          <p:nvPr/>
        </p:nvSpPr>
        <p:spPr>
          <a:xfrm>
            <a:off x="548640" y="1783080"/>
            <a:ext cx="6035040" cy="2697480"/>
          </a:xfrm>
          <a:prstGeom prst="roundRect">
            <a:avLst>
              <a:gd name="adj" fmla="val 2712"/>
            </a:avLst>
          </a:prstGeom>
          <a:solidFill>
            <a:srgbClr val="1F3864"/>
          </a:solidFill>
          <a:ln/>
        </p:spPr>
      </p:sp>
      <p:sp>
        <p:nvSpPr>
          <p:cNvPr id="5" name="Text 3"/>
          <p:cNvSpPr txBox="1"/>
          <p:nvPr/>
        </p:nvSpPr>
        <p:spPr>
          <a:xfrm>
            <a:off x="822960" y="1965960"/>
            <a:ext cx="4572000" cy="292608"/>
          </a:xfrm>
          <a:prstGeom prst="rect">
            <a:avLst/>
          </a:prstGeom>
          <a:noFill/>
          <a:ln/>
        </p:spPr>
        <p:txBody>
          <a:bodyPr wrap="square" lIns="0" tIns="0" rIns="0" bIns="0" rtlCol="0" anchor="ctr"/>
          <a:lstStyle/>
          <a:p>
            <a:pPr indent="0" marL="0">
              <a:buNone/>
            </a:pPr>
            <a:r>
              <a:rPr lang="en-US" sz="1300" b="1" spc="200" kern="0" dirty="0">
                <a:solidFill>
                  <a:schemeClr val="accent1"/>
                </a:solidFill>
              </a:rPr>
              <a:t>NEXT IN THE FILE</a:t>
            </a:r>
            <a:endParaRPr lang="en-US" sz="1300" dirty="0"/>
          </a:p>
        </p:txBody>
      </p:sp>
      <p:sp>
        <p:nvSpPr>
          <p:cNvPr id="6" name="Text 4"/>
          <p:cNvSpPr txBox="1"/>
          <p:nvPr/>
        </p:nvSpPr>
        <p:spPr>
          <a:xfrm>
            <a:off x="822960" y="2350008"/>
            <a:ext cx="5486400" cy="2011680"/>
          </a:xfrm>
          <a:prstGeom prst="rect">
            <a:avLst/>
          </a:prstGeom>
          <a:noFill/>
          <a:ln/>
        </p:spPr>
        <p:txBody>
          <a:bodyPr wrap="square" lIns="0" tIns="0" rIns="0" bIns="0" rtlCol="0" anchor="t"/>
          <a:lstStyle/>
          <a:p>
            <a:pPr indent="0" marL="0">
              <a:buNone/>
            </a:pPr>
            <a:r>
              <a:rPr lang="en-US" sz="2200" i="1" dirty="0">
                <a:solidFill>
                  <a:schemeClr val="bg1"/>
                </a:solidFill>
                <a:latin typeface="+mj-lt" pitchFamily="34" charset="0"/>
                <a:ea typeface="+mj-lt" pitchFamily="34" charset="-122"/>
                <a:cs typeface="+mj-lt" pitchFamily="34" charset="-120"/>
              </a:rPr>
              <a:t>At nine o’clock Mark will ask you </a:t>
            </a:r>
            <a:r>
              <a:rPr lang="en-US" sz="2200" b="1" i="1" dirty="0">
                <a:solidFill>
                  <a:schemeClr val="bg1"/>
                </a:solidFill>
                <a:latin typeface="+mj-lt" pitchFamily="34" charset="0"/>
                <a:ea typeface="+mj-lt" pitchFamily="34" charset="-122"/>
                <a:cs typeface="+mj-lt" pitchFamily="34" charset="-120"/>
              </a:rPr>
              <a:t>what holds up</a:t>
            </a:r>
            <a:r>
              <a:rPr lang="en-US" sz="2200" i="1" dirty="0">
                <a:solidFill>
                  <a:schemeClr val="bg1"/>
                </a:solidFill>
                <a:latin typeface="+mj-lt" pitchFamily="34" charset="0"/>
                <a:ea typeface="+mj-lt" pitchFamily="34" charset="-122"/>
                <a:cs typeface="+mj-lt" pitchFamily="34" charset="-120"/>
              </a:rPr>
              <a:t>. Six statements were made in the room. Which ones can you prove today?</a:t>
            </a:r>
            <a:endParaRPr lang="en-US" sz="2200" dirty="0"/>
          </a:p>
        </p:txBody>
      </p:sp>
      <p:sp>
        <p:nvSpPr>
          <p:cNvPr id="7" name="Shape 5"/>
          <p:cNvSpPr/>
          <p:nvPr/>
        </p:nvSpPr>
        <p:spPr>
          <a:xfrm>
            <a:off x="548640" y="4754880"/>
            <a:ext cx="6035040" cy="1554480"/>
          </a:xfrm>
          <a:prstGeom prst="roundRect">
            <a:avLst>
              <a:gd name="adj" fmla="val 4706"/>
            </a:avLst>
          </a:prstGeom>
          <a:solidFill>
            <a:srgbClr val="C0752A">
              <a:alpha val="12000"/>
            </a:srgbClr>
          </a:solidFill>
          <a:ln w="15875">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822960" y="4983480"/>
            <a:ext cx="329184" cy="329184"/>
          </a:xfrm>
          <a:prstGeom prst="rect">
            <a:avLst/>
          </a:prstGeom>
        </p:spPr>
      </p:pic>
      <p:sp>
        <p:nvSpPr>
          <p:cNvPr id="9" name="Text 6"/>
          <p:cNvSpPr txBox="1"/>
          <p:nvPr/>
        </p:nvSpPr>
        <p:spPr>
          <a:xfrm>
            <a:off x="1298448" y="4956048"/>
            <a:ext cx="3657600" cy="384048"/>
          </a:xfrm>
          <a:prstGeom prst="rect">
            <a:avLst/>
          </a:prstGeom>
          <a:noFill/>
          <a:ln/>
        </p:spPr>
        <p:txBody>
          <a:bodyPr wrap="square" lIns="0" tIns="0" rIns="0" bIns="0" rtlCol="0" anchor="ctr"/>
          <a:lstStyle/>
          <a:p>
            <a:pPr indent="0" marL="0">
              <a:buNone/>
            </a:pPr>
            <a:r>
              <a:rPr lang="en-US" sz="1300" b="1" spc="200" kern="0" dirty="0">
                <a:solidFill>
                  <a:schemeClr val="accent1"/>
                </a:solidFill>
              </a:rPr>
              <a:t>EXIT TICKET</a:t>
            </a:r>
            <a:endParaRPr lang="en-US" sz="1300" dirty="0"/>
          </a:p>
        </p:txBody>
      </p:sp>
      <p:sp>
        <p:nvSpPr>
          <p:cNvPr id="10" name="Text 7"/>
          <p:cNvSpPr txBox="1"/>
          <p:nvPr/>
        </p:nvSpPr>
        <p:spPr>
          <a:xfrm>
            <a:off x="822960" y="5440680"/>
            <a:ext cx="5486400" cy="777240"/>
          </a:xfrm>
          <a:prstGeom prst="rect">
            <a:avLst/>
          </a:prstGeom>
          <a:noFill/>
          <a:ln/>
        </p:spPr>
        <p:txBody>
          <a:bodyPr wrap="square" lIns="0" tIns="0" rIns="0" bIns="0" rtlCol="0" anchor="t"/>
          <a:lstStyle/>
          <a:p>
            <a:pPr indent="0" marL="0">
              <a:buNone/>
            </a:pPr>
            <a:r>
              <a:rPr lang="en-US" sz="1800" dirty="0">
                <a:solidFill>
                  <a:schemeClr val="tx1"/>
                </a:solidFill>
              </a:rPr>
              <a:t>Ask the two questions you would ask the building manager — one </a:t>
            </a:r>
            <a:r>
              <a:rPr lang="en-US" sz="1800" b="1" dirty="0">
                <a:solidFill>
                  <a:schemeClr val="tx1"/>
                </a:solidFill>
              </a:rPr>
              <a:t>Who…?</a:t>
            </a:r>
            <a:r>
              <a:rPr lang="en-US" sz="1800" dirty="0">
                <a:solidFill>
                  <a:schemeClr val="tx1"/>
                </a:solidFill>
              </a:rPr>
              <a:t>, one </a:t>
            </a:r>
            <a:r>
              <a:rPr lang="en-US" sz="1800" b="1" dirty="0">
                <a:solidFill>
                  <a:schemeClr val="tx1"/>
                </a:solidFill>
              </a:rPr>
              <a:t>How long…?</a:t>
            </a:r>
            <a:endParaRPr lang="en-US" sz="1800" dirty="0"/>
          </a:p>
        </p:txBody>
      </p:sp>
      <p:sp>
        <p:nvSpPr>
          <p:cNvPr id="11" name="Shape 8"/>
          <p:cNvSpPr/>
          <p:nvPr/>
        </p:nvSpPr>
        <p:spPr>
          <a:xfrm>
            <a:off x="6903720" y="1783080"/>
            <a:ext cx="4736592" cy="4526280"/>
          </a:xfrm>
          <a:prstGeom prst="roundRect">
            <a:avLst>
              <a:gd name="adj" fmla="val 1616"/>
            </a:avLst>
          </a:prstGeom>
          <a:solidFill>
            <a:srgbClr val="EEF2F8"/>
          </a:solidFill>
          <a:ln w="9525">
            <a:solidFill>
              <a:srgbClr val="D5DCE6"/>
            </a:solidFill>
            <a:prstDash val="solid"/>
          </a:ln>
        </p:spPr>
      </p:sp>
      <p:pic>
        <p:nvPicPr>
          <p:cNvPr id="12" name="Image 1" descr="preencoded.png">    </p:cNvPr>
          <p:cNvPicPr>
            <a:picLocks noChangeAspect="1"/>
          </p:cNvPicPr>
          <p:nvPr/>
        </p:nvPicPr>
        <p:blipFill>
          <a:blip r:embed="rId2"/>
          <a:stretch>
            <a:fillRect/>
          </a:stretch>
        </p:blipFill>
        <p:spPr>
          <a:xfrm>
            <a:off x="7159752" y="2002536"/>
            <a:ext cx="365760" cy="365760"/>
          </a:xfrm>
          <a:prstGeom prst="rect">
            <a:avLst/>
          </a:prstGeom>
        </p:spPr>
      </p:pic>
      <p:sp>
        <p:nvSpPr>
          <p:cNvPr id="13" name="Text 9"/>
          <p:cNvSpPr txBox="1"/>
          <p:nvPr/>
        </p:nvSpPr>
        <p:spPr>
          <a:xfrm>
            <a:off x="7653528" y="1984248"/>
            <a:ext cx="3822192" cy="384048"/>
          </a:xfrm>
          <a:prstGeom prst="rect">
            <a:avLst/>
          </a:prstGeom>
          <a:noFill/>
          <a:ln/>
        </p:spPr>
        <p:txBody>
          <a:bodyPr wrap="square" lIns="0" tIns="0" rIns="0" bIns="0" rtlCol="0" anchor="ctr"/>
          <a:lstStyle/>
          <a:p>
            <a:pPr indent="0" marL="0">
              <a:buNone/>
            </a:pPr>
            <a:r>
              <a:rPr lang="en-US" sz="1400" b="1" spc="100" kern="0" dirty="0">
                <a:solidFill>
                  <a:schemeClr val="tx2"/>
                </a:solidFill>
              </a:rPr>
              <a:t>BEFORE NEXT SESSION</a:t>
            </a:r>
            <a:endParaRPr lang="en-US" sz="1400" dirty="0"/>
          </a:p>
        </p:txBody>
      </p:sp>
      <p:pic>
        <p:nvPicPr>
          <p:cNvPr id="14" name="Image 2" descr="preencoded.png">    </p:cNvPr>
          <p:cNvPicPr>
            <a:picLocks noChangeAspect="1"/>
          </p:cNvPicPr>
          <p:nvPr/>
        </p:nvPicPr>
        <p:blipFill>
          <a:blip r:embed="rId3"/>
          <a:stretch>
            <a:fillRect/>
          </a:stretch>
        </p:blipFill>
        <p:spPr>
          <a:xfrm>
            <a:off x="7178040" y="2606040"/>
            <a:ext cx="256032" cy="256032"/>
          </a:xfrm>
          <a:prstGeom prst="rect">
            <a:avLst/>
          </a:prstGeom>
        </p:spPr>
      </p:pic>
      <p:sp>
        <p:nvSpPr>
          <p:cNvPr id="15" name="Text 10"/>
          <p:cNvSpPr txBox="1"/>
          <p:nvPr/>
        </p:nvSpPr>
        <p:spPr>
          <a:xfrm>
            <a:off x="7589520" y="256032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irregular verbs — </a:t>
            </a:r>
            <a:r>
              <a:rPr lang="en-US" sz="1700" b="1" dirty="0">
                <a:solidFill>
                  <a:schemeClr val="tx1"/>
                </a:solidFill>
              </a:rPr>
              <a:t>family by family</a:t>
            </a:r>
            <a:r>
              <a:rPr lang="en-US" sz="1700" dirty="0">
                <a:solidFill>
                  <a:schemeClr val="tx1"/>
                </a:solidFill>
              </a:rPr>
              <a:t>.</a:t>
            </a:r>
            <a:endParaRPr lang="en-US" sz="1700" dirty="0"/>
          </a:p>
        </p:txBody>
      </p:sp>
      <p:pic>
        <p:nvPicPr>
          <p:cNvPr id="16" name="Image 3" descr="preencoded.png">    </p:cNvPr>
          <p:cNvPicPr>
            <a:picLocks noChangeAspect="1"/>
          </p:cNvPicPr>
          <p:nvPr/>
        </p:nvPicPr>
        <p:blipFill>
          <a:blip r:embed="rId4"/>
          <a:stretch>
            <a:fillRect/>
          </a:stretch>
        </p:blipFill>
        <p:spPr>
          <a:xfrm>
            <a:off x="7178040" y="3611880"/>
            <a:ext cx="256032" cy="256032"/>
          </a:xfrm>
          <a:prstGeom prst="rect">
            <a:avLst/>
          </a:prstGeom>
        </p:spPr>
      </p:pic>
      <p:sp>
        <p:nvSpPr>
          <p:cNvPr id="17" name="Text 11"/>
          <p:cNvSpPr txBox="1"/>
          <p:nvPr/>
        </p:nvSpPr>
        <p:spPr>
          <a:xfrm>
            <a:off x="7589520" y="356616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a:t>
            </a:r>
            <a:r>
              <a:rPr lang="en-US" sz="1700" b="1" dirty="0">
                <a:solidFill>
                  <a:schemeClr val="tx1"/>
                </a:solidFill>
              </a:rPr>
              <a:t>8 blocks</a:t>
            </a:r>
            <a:r>
              <a:rPr lang="en-US" sz="1700" dirty="0">
                <a:solidFill>
                  <a:schemeClr val="tx1"/>
                </a:solidFill>
              </a:rPr>
              <a:t> of the Word file (p. 15).</a:t>
            </a:r>
            <a:endParaRPr lang="en-US" sz="1700" dirty="0"/>
          </a:p>
        </p:txBody>
      </p:sp>
      <p:pic>
        <p:nvPicPr>
          <p:cNvPr id="18" name="Image 4" descr="preencoded.png">    </p:cNvPr>
          <p:cNvPicPr>
            <a:picLocks noChangeAspect="1"/>
          </p:cNvPicPr>
          <p:nvPr/>
        </p:nvPicPr>
        <p:blipFill>
          <a:blip r:embed="rId5"/>
          <a:stretch>
            <a:fillRect/>
          </a:stretch>
        </p:blipFill>
        <p:spPr>
          <a:xfrm>
            <a:off x="7178040" y="4617720"/>
            <a:ext cx="256032" cy="256032"/>
          </a:xfrm>
          <a:prstGeom prst="rect">
            <a:avLst/>
          </a:prstGeom>
        </p:spPr>
      </p:pic>
      <p:sp>
        <p:nvSpPr>
          <p:cNvPr id="19" name="Text 12"/>
          <p:cNvSpPr txBox="1"/>
          <p:nvPr/>
        </p:nvSpPr>
        <p:spPr>
          <a:xfrm>
            <a:off x="7589520" y="4572000"/>
            <a:ext cx="3867912" cy="1005840"/>
          </a:xfrm>
          <a:prstGeom prst="rect">
            <a:avLst/>
          </a:prstGeom>
          <a:noFill/>
          <a:ln/>
        </p:spPr>
        <p:txBody>
          <a:bodyPr wrap="square" lIns="0" tIns="0" rIns="0" bIns="0" rtlCol="0" anchor="t"/>
          <a:lstStyle/>
          <a:p>
            <a:pPr indent="0" marL="0">
              <a:buNone/>
            </a:pPr>
            <a:r>
              <a:rPr lang="en-US" sz="1700" dirty="0">
                <a:solidFill>
                  <a:schemeClr val="tx1"/>
                </a:solidFill>
              </a:rPr>
              <a:t>Prepare p. 16: decide </a:t>
            </a:r>
            <a:r>
              <a:rPr lang="en-US" sz="1700" b="1" dirty="0">
                <a:solidFill>
                  <a:schemeClr val="tx1"/>
                </a:solidFill>
              </a:rPr>
              <a:t>P, N or C</a:t>
            </a:r>
            <a:r>
              <a:rPr lang="en-US" sz="1700" dirty="0">
                <a:solidFill>
                  <a:schemeClr val="tx1"/>
                </a:solidFill>
              </a:rPr>
              <a:t> for each statement.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Project Atlas">
  <a:themeElements>
    <a:clrScheme name="Project Atlas">
      <a:dk1>
        <a:srgbClr val="1B2333"/>
      </a:dk1>
      <a:lt1>
        <a:srgbClr val="FFFFFF"/>
      </a:lt1>
      <a:dk2>
        <a:srgbClr val="1F3864"/>
      </a:dk2>
      <a:lt2>
        <a:srgbClr val="EEF2F8"/>
      </a:lt2>
      <a:accent1>
        <a:srgbClr val="C0752A"/>
      </a:accent1>
      <a:accent2>
        <a:srgbClr val="2E75B6"/>
      </a:accent2>
      <a:accent3>
        <a:srgbClr val="3C7A3C"/>
      </a:accent3>
      <a:accent4>
        <a:srgbClr val="6E4A9E"/>
      </a:accent4>
      <a:accent5>
        <a:srgbClr val="44546A"/>
      </a:accent5>
      <a:accent6>
        <a:srgbClr val="B03A2E"/>
      </a:accent6>
      <a:hlink>
        <a:srgbClr val="2E75B6"/>
      </a:hlink>
      <a:folHlink>
        <a:srgbClr val="6E4A9E"/>
      </a:folHlink>
    </a:clrScheme>
    <a:fontScheme name="Project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English UE 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07 — The verbs you will need before ten o’clock</dc:title>
  <dc:subject>Case File 01 — The night nobody heard</dc:subject>
  <dc:creator>A. Jouniaux</dc:creator>
  <cp:lastModifiedBy>A. Jouniaux</cp:lastModifiedBy>
  <cp:revision>1</cp:revision>
  <dcterms:created xsi:type="dcterms:W3CDTF">2026-10-16T09:31:58Z</dcterms:created>
  <dcterms:modified xsi:type="dcterms:W3CDTF">2026-10-16T09:31:58Z</dcterms:modified>
</cp:coreProperties>
</file>