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1abf48b0-631e-a660-514b-0054c9454c67}">
          <p14:sldIdLst>
            <p14:sldId id="256"/>
          </p14:sldIdLst>
        </p14:section>
        <p14:section name="Warm-up" id="{1d504e1a-53a4-0a2b-e06c-1a7b7cbe4e78}">
          <p14:sldIdLst>
            <p14:sldId id="257"/>
            <p14:sldId id="258"/>
          </p14:sldIdLst>
        </p14:section>
        <p14:section name="Two forms of each verb" id="{151faa48-130e-b802-ad3d-8bcdc8a7d2f1}">
          <p14:sldIdLst>
            <p14:sldId id="259"/>
            <p14:sldId id="260"/>
            <p14:sldId id="261"/>
            <p14:sldId id="262"/>
            <p14:sldId id="263"/>
            <p14:sldId id="264"/>
            <p14:sldId id="265"/>
            <p14:sldId id="266"/>
          </p14:sldIdLst>
        </p14:section>
        <p14:section name="Questions" id="{9ee8d3dd-8717-d5e3-5208-850efbe2e433}">
          <p14:sldIdLst>
            <p14:sldId id="267"/>
            <p14:sldId id="268"/>
            <p14:sldId id="269"/>
            <p14:sldId id="270"/>
            <p14:sldId id="271"/>
          </p14:sldIdLst>
        </p14:section>
        <p14:section name="Collocations and idioms" id="{02600b1e-ecea-8168-9f1e-1bc58de016da}">
          <p14:sldIdLst>
            <p14:sldId id="272"/>
            <p14:sldId id="273"/>
            <p14:sldId id="274"/>
            <p14:sldId id="275"/>
            <p14:sldId id="276"/>
            <p14:sldId id="277"/>
            <p14:sldId id="278"/>
          </p14:sldIdLst>
        </p14:section>
        <p14:section name="Clôture" id="{d4c47548-b4fa-ba5e-91b5-5858f23ad0ca}">
          <p14:sldIdLst>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Séance 7 — Scène 3, livret p. 13–15 : consolidation avant le present perfect de la scène 4.
Objectifs : prétérit vs participe passé (deux formes, deux emplois), 22 verbes irréguliers classés en familles, questions sujet (Who entered?) vs questions objet (Who did he call?), collocations professionnelles, deux expressions idiomatiques.
Déroulé indicatif (90 min) : warm-up (5') · field note p. 13 + arbre (15') · familles de verbes + Three-form relay (15') · Dry run A (5') · questions sujet + Dry run B–C (15') · Case File Jeopardy (10') · Word file p. 15 + mindmap (10') · idiomes + Red flag or on the ball? (10') · extra (5').
Les diapositives GAME et + EXTRA sont facultatives.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questions suffisent : have devant → participe ; be devant → participe (passif) ; sinon → prétérit. Tester : « The team has …… (leave) » / « Unit 3 …… (break down) at 02:16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participes sont en vert. Stratégie : apprendre d’abord la famille A · B · C (trois formes différentes) — ce sont les participes du present perfect de la scène 4. Prononciation : brought /brɔːt/, told /təʊld/, known /nəʊn/, written /ˈrɪtn/.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Accepter toute phrase plausible et correcte liée au dossier. Pour corser : imposer le temps de la phrase (prétérit avec une heure, ou present perfect sans heure).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Réponses à lire (catégorie / valeur → question attendue) :
WHO 100 : The cleaning team. → Who entered the ground floor at 06:47?
WHO 200 : Samuel. → Who said the alarm went off at 11.40?
WHO 300 : The site manager’s badge. → Which badge entered zone 2F at 20:04?
WHAT 100 : The temperature alarm. → What went off at 23:41?
WHAT 200 : Unit 3 shut down. → What happened at 02:16?
WHAT 300 : Photos of the ceiling. → What did Iris take?
WHEN 100 : At 6.50. → When did the cleaners find the water?
WHEN 200 : At 19:58. → When did the cabling team leave zone 2F?
WHEN 300 : At 23:42. → When did the system send the notification?
HOW LONG 100 : Fifteen minutes. → How long did badge 0102 stay in zone 2F?
HOW LONG 200 : About seven hours. → How long did the water run?
HOW LONG 300 : Three minutes. → How long after the temperature alarm did the humidity alarm go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Sélection pour la correction collective (liste complète dans les notes de la diapositive précédente).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Faux ami : respecter un délai → meet a deadline (✗ respect a deadline).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Jeu rapide : l’enseignant dit un nom (the damage, a deadline…), la classe répond avec le verbe. Puis l’inverse.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Cartons rouge / vert (ou mains levées). Exiger une phrase complète avec l’expression. Item 5 : rappeler la règle « name the line, not the person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Cartons rouge / vert (ou mains levées). Exiger une phrase complète avec l’expression. Item 5 : rappeler la règle « name the line, not the person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Item 6 : passif — annonce la phrase « sans nom » de la scène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Item 6 : passif — annonce la phrase « sans nom » de la scène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_COVER">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514600"/>
            <a:ext cx="5669280" cy="1600200"/>
          </a:xfrm>
          <a:prstGeom prst="rect">
            <a:avLst/>
          </a:prstGeom>
          <a:noFill/>
          <a:ln/>
        </p:spPr>
        <p:txBody>
          <a:bodyPr wrap="square" rtlCol="0"/>
          <a:lstStyle>
            <a:lvl1pPr algn="l" indent="0" marL="0">
              <a:buNone/>
              <a:defRPr lang="en-US" sz="4000" b="1" dirty="0">
                <a:solidFill>
                  <a:schemeClr val="tx2"/>
                </a:solidFill>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2.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slideLayout" Target="../slideLayouts/slideLayout2.xml"/><Relationship Id="rId7"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ag"/>
          <p:cNvSpPr/>
          <p:nvPr/>
        </p:nvSpPr>
        <p:spPr>
          <a:xfrm>
            <a:off x="548640" y="685800"/>
            <a:ext cx="2236470" cy="365760"/>
          </a:xfrm>
          <a:prstGeom prst="roundRect">
            <a:avLst>
              <a:gd name="adj" fmla="val 12500"/>
            </a:avLst>
          </a:prstGeom>
          <a:solidFill>
            <a:srgbClr val="C0752A"/>
          </a:solidFill>
          <a:ln/>
        </p:spPr>
        <p:txBody>
          <a:bodyPr wrap="square" lIns="0" tIns="0" rIns="0" bIns="0" rtlCol="0" anchor="ctr"/>
          <a:lstStyle/>
          <a:p>
            <a:pPr algn="ctr" indent="0" marL="0">
              <a:buNone/>
            </a:pPr>
            <a:r>
              <a:rPr lang="en-US" sz="1300" b="1" spc="100" kern="0" dirty="0">
                <a:solidFill>
                  <a:schemeClr val="bg1"/>
                </a:solidFill>
              </a:rPr>
              <a:t>SÉANCE 07 / 19</a:t>
            </a:r>
            <a:endParaRPr lang="en-US" sz="1300" dirty="0"/>
          </a:p>
        </p:txBody>
      </p:sp>
      <p:sp>
        <p:nvSpPr>
          <p:cNvPr id="3" name="Shape 1"/>
          <p:cNvSpPr/>
          <p:nvPr/>
        </p:nvSpPr>
        <p:spPr>
          <a:xfrm>
            <a:off x="548640" y="1298448"/>
            <a:ext cx="1737360" cy="914400"/>
          </a:xfrm>
          <a:prstGeom prst="roundRect">
            <a:avLst>
              <a:gd name="adj" fmla="val 8000"/>
            </a:avLst>
          </a:prstGeom>
          <a:solidFill>
            <a:srgbClr val="1F3864"/>
          </a:solidFill>
          <a:ln/>
        </p:spPr>
      </p:sp>
      <p:sp>
        <p:nvSpPr>
          <p:cNvPr id="4" name="Text 2"/>
          <p:cNvSpPr txBox="1"/>
          <p:nvPr/>
        </p:nvSpPr>
        <p:spPr>
          <a:xfrm>
            <a:off x="548640" y="1344168"/>
            <a:ext cx="1737360" cy="822960"/>
          </a:xfrm>
          <a:prstGeom prst="rect">
            <a:avLst/>
          </a:prstGeom>
          <a:noFill/>
          <a:ln/>
        </p:spPr>
        <p:txBody>
          <a:bodyPr wrap="square" lIns="0" tIns="0" rIns="0" bIns="0" rtlCol="0" anchor="ctr"/>
          <a:lstStyle/>
          <a:p>
            <a:pPr algn="ctr" indent="0" marL="0">
              <a:buNone/>
            </a:pPr>
            <a:r>
              <a:rPr lang="en-US" sz="1100" b="1" spc="300" kern="0" dirty="0">
                <a:solidFill>
                  <a:schemeClr val="bg2"/>
                </a:solidFill>
              </a:rPr>
              <a:t>SCENE 3</a:t>
            </a:r>
            <a:endParaRPr lang="en-US" sz="1100" dirty="0"/>
          </a:p>
          <a:p>
            <a:pPr algn="ctr" indent="0" marL="0">
              <a:buNone/>
            </a:pPr>
            <a:r>
              <a:rPr lang="en-US" sz="2800" b="1" dirty="0">
                <a:solidFill>
                  <a:schemeClr val="bg1"/>
                </a:solidFill>
                <a:latin typeface="+mj-lt" pitchFamily="34" charset="0"/>
                <a:ea typeface="+mj-lt" pitchFamily="34" charset="-122"/>
                <a:cs typeface="+mj-lt" pitchFamily="34" charset="-120"/>
              </a:rPr>
              <a:t>09.05</a:t>
            </a:r>
            <a:endParaRPr lang="en-US" sz="1100" dirty="0"/>
          </a:p>
        </p:txBody>
      </p:sp>
      <p:sp>
        <p:nvSpPr>
          <p:cNvPr id="5" name="Text 0"/>
          <p:cNvSpPr/>
          <p:nvPr>
            <p:ph idx="100" type="title" hasCustomPrompt="1"/>
          </p:nvPr>
        </p:nvSpPr>
        <p:spPr>
          <a:xfrm>
            <a:off x="548640" y="2514600"/>
            <a:ext cx="5669280" cy="1600200"/>
          </a:xfrm>
          <a:prstGeom prst="rect">
            <a:avLst/>
          </a:prstGeom>
          <a:noFill/>
          <a:ln/>
        </p:spPr>
        <p:txBody>
          <a:bodyPr wrap="square" lIns="0" tIns="0" rIns="0" bIns="0" rtlCol="0" anchor="t"/>
          <a:lstStyle/>
          <a:p>
            <a:pPr algn="l" indent="0" marL="0">
              <a:buNone/>
            </a:pPr>
            <a:r>
              <a:rPr lang="en-US" sz="4000" b="1" dirty="0">
                <a:solidFill>
                  <a:schemeClr val="tx2"/>
                </a:solidFill>
              </a:rPr>
              <a:t>The verbs you need</a:t>
            </a:r>
            <a:endParaRPr lang="en-US" sz="4000" dirty="0"/>
          </a:p>
          <a:p>
            <a:pPr algn="l" indent="0" marL="0">
              <a:buNone/>
            </a:pPr>
            <a:r>
              <a:rPr lang="en-US" sz="4000" b="1" dirty="0">
                <a:solidFill>
                  <a:schemeClr val="tx2"/>
                </a:solidFill>
              </a:rPr>
              <a:t>before ten o’clock</a:t>
            </a:r>
            <a:endParaRPr lang="en-US" sz="4000" dirty="0"/>
          </a:p>
        </p:txBody>
      </p:sp>
      <p:sp>
        <p:nvSpPr>
          <p:cNvPr id="6" name="Text 4"/>
          <p:cNvSpPr txBox="1"/>
          <p:nvPr/>
        </p:nvSpPr>
        <p:spPr>
          <a:xfrm>
            <a:off x="548640" y="4206240"/>
            <a:ext cx="5669280" cy="822960"/>
          </a:xfrm>
          <a:prstGeom prst="rect">
            <a:avLst/>
          </a:prstGeom>
          <a:noFill/>
          <a:ln/>
        </p:spPr>
        <p:txBody>
          <a:bodyPr wrap="square" lIns="0" tIns="0" rIns="0" bIns="0" rtlCol="0" anchor="t"/>
          <a:lstStyle/>
          <a:p>
            <a:pPr indent="0" marL="0">
              <a:buNone/>
            </a:pPr>
            <a:r>
              <a:rPr lang="en-US" sz="2000" i="1" dirty="0">
                <a:solidFill>
                  <a:schemeClr val="accent5"/>
                </a:solidFill>
              </a:rPr>
              <a:t>Past simple, past participle — and what professionals say</a:t>
            </a:r>
            <a:endParaRPr lang="en-US" sz="2000" dirty="0"/>
          </a:p>
        </p:txBody>
      </p:sp>
      <p:sp>
        <p:nvSpPr>
          <p:cNvPr id="7" name="Text 5"/>
          <p:cNvSpPr txBox="1"/>
          <p:nvPr/>
        </p:nvSpPr>
        <p:spPr>
          <a:xfrm>
            <a:off x="548640" y="5257800"/>
            <a:ext cx="5669280" cy="685800"/>
          </a:xfrm>
          <a:prstGeom prst="rect">
            <a:avLst/>
          </a:prstGeom>
          <a:noFill/>
          <a:ln/>
        </p:spPr>
        <p:txBody>
          <a:bodyPr wrap="square" lIns="0" tIns="0" rIns="0" bIns="0" rtlCol="0" anchor="t"/>
          <a:lstStyle/>
          <a:p>
            <a:pPr indent="0" marL="0">
              <a:buNone/>
            </a:pPr>
            <a:r>
              <a:rPr lang="en-US" sz="1600" b="1" dirty="0">
                <a:solidFill>
                  <a:schemeClr val="tx2"/>
                </a:solidFill>
              </a:rPr>
              <a:t>Case File 01 — The night nobody heard</a:t>
            </a:r>
            <a:endParaRPr lang="en-US" sz="1600" dirty="0"/>
          </a:p>
          <a:p>
            <a:pPr indent="0" marL="0">
              <a:buNone/>
            </a:pPr>
            <a:r>
              <a:rPr lang="en-US" sz="1400" i="1" dirty="0">
                <a:solidFill>
                  <a:schemeClr val="accent5"/>
                </a:solidFill>
              </a:rPr>
              <a:t>Livret p. 13–15</a:t>
            </a:r>
            <a:endParaRPr lang="en-US" sz="1600" dirty="0"/>
          </a:p>
        </p:txBody>
      </p:sp>
      <p:pic>
        <p:nvPicPr>
          <p:cNvPr id="8" name="illustration" descr="Scene illustration from the case file">    </p:cNvPr>
          <p:cNvPicPr>
            <a:picLocks noChangeAspect="1"/>
          </p:cNvPicPr>
          <p:nvPr/>
        </p:nvPicPr>
        <p:blipFill>
          <a:blip r:embed="rId1"/>
          <a:stretch>
            <a:fillRect/>
          </a:stretch>
        </p:blipFill>
        <p:spPr>
          <a:xfrm>
            <a:off x="6629400" y="2006810"/>
            <a:ext cx="5010912" cy="3027260"/>
          </a:xfrm>
          <a:prstGeom prst="rect">
            <a:avLst/>
          </a:prstGeom>
          <a:effectLst>
            <a:outerShdw sx="100000" sy="100000" kx="0" ky="0" algn="bl" rotWithShape="0" blurRad="101600" dist="25400" dir="3600000">
              <a:srgbClr val="000000">
                <a:alpha val="18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Warm-up: report it, time it</a:t>
            </a:r>
            <a:endParaRPr lang="en-US" sz="3200" dirty="0"/>
          </a:p>
        </p:txBody>
      </p:sp>
      <p:sp>
        <p:nvSpPr>
          <p:cNvPr id="3" name="tag"/>
          <p:cNvSpPr/>
          <p:nvPr/>
        </p:nvSpPr>
        <p:spPr>
          <a:xfrm>
            <a:off x="548640" y="384048"/>
            <a:ext cx="1165860" cy="310896"/>
          </a:xfrm>
          <a:prstGeom prst="roundRect">
            <a:avLst>
              <a:gd name="adj" fmla="val 14706"/>
            </a:avLst>
          </a:prstGeom>
          <a:solidFill>
            <a:srgbClr val="2E75B6"/>
          </a:solidFill>
          <a:ln/>
        </p:spPr>
        <p:txBody>
          <a:bodyPr wrap="square" lIns="0" tIns="0" rIns="0" bIns="0" rtlCol="0" anchor="ctr"/>
          <a:lstStyle/>
          <a:p>
            <a:pPr algn="ctr" indent="0" marL="0">
              <a:buNone/>
            </a:pPr>
            <a:r>
              <a:rPr lang="en-US" sz="1200" b="1" spc="100" kern="0" dirty="0">
                <a:solidFill>
                  <a:schemeClr val="bg1"/>
                </a:solidFill>
              </a:rPr>
              <a:t>WARM-UP</a:t>
            </a:r>
            <a:endParaRPr lang="en-US" sz="1200" dirty="0"/>
          </a:p>
        </p:txBody>
      </p:sp>
      <p:sp>
        <p:nvSpPr>
          <p:cNvPr id="4" name="Text 2"/>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Séance 6</a:t>
            </a:r>
            <a:endParaRPr lang="en-US" sz="1200" dirty="0"/>
          </a:p>
        </p:txBody>
      </p:sp>
      <p:sp>
        <p:nvSpPr>
          <p:cNvPr id="5" name="Text 3"/>
          <p:cNvSpPr txBox="1"/>
          <p:nvPr/>
        </p:nvSpPr>
        <p:spPr>
          <a:xfrm>
            <a:off x="548640" y="1627632"/>
            <a:ext cx="11091672" cy="335280"/>
          </a:xfrm>
          <a:prstGeom prst="rect">
            <a:avLst/>
          </a:prstGeom>
          <a:noFill/>
          <a:ln/>
        </p:spPr>
        <p:txBody>
          <a:bodyPr wrap="square" lIns="0" tIns="0" rIns="0" bIns="0" rtlCol="0" anchor="t"/>
          <a:lstStyle/>
          <a:p>
            <a:pPr indent="0" marL="0">
              <a:buNone/>
            </a:pPr>
            <a:r>
              <a:rPr lang="en-US" sz="1600" i="1" dirty="0">
                <a:solidFill>
                  <a:schemeClr val="accent5"/>
                </a:solidFill>
              </a:rPr>
              <a:t>Complete with a reporting verb or a duration.</a:t>
            </a:r>
            <a:endParaRPr lang="en-US" sz="1600" dirty="0"/>
          </a:p>
        </p:txBody>
      </p:sp>
      <p:sp>
        <p:nvSpPr>
          <p:cNvPr id="6" name="exercise"/>
          <p:cNvSpPr txBox="1"/>
          <p:nvPr/>
        </p:nvSpPr>
        <p:spPr>
          <a:xfrm>
            <a:off x="548640" y="2237232"/>
            <a:ext cx="11091672" cy="4072128"/>
          </a:xfrm>
          <a:prstGeom prst="rect">
            <a:avLst/>
          </a:prstGeom>
          <a:noFill/>
          <a:ln/>
        </p:spPr>
        <p:txBody>
          <a:bodyPr wrap="square" lIns="0" tIns="0" rIns="0" bIns="0" rtlCol="0" anchor="t"/>
          <a:lstStyle/>
          <a:p>
            <a:pPr indent="0" marL="0">
              <a:spcAft>
                <a:spcPts val="1400"/>
              </a:spcAft>
              <a:buNone/>
            </a:pPr>
            <a:r>
              <a:rPr lang="en-US" sz="2600" b="1" dirty="0">
                <a:solidFill>
                  <a:schemeClr val="tx2"/>
                </a:solidFill>
              </a:rPr>
              <a:t>1.  </a:t>
            </a:r>
            <a:r>
              <a:rPr lang="en-US" sz="2600" dirty="0">
                <a:solidFill>
                  <a:schemeClr val="tx1"/>
                </a:solidFill>
              </a:rPr>
              <a:t>Samuel </a:t>
            </a:r>
            <a:r>
              <a:rPr lang="en-US" sz="2600" dirty="0">
                <a:solidFill>
                  <a:schemeClr val="accent5"/>
                </a:solidFill>
              </a:rPr>
              <a:t>………………</a:t>
            </a:r>
            <a:r>
              <a:rPr lang="en-US" sz="2600" dirty="0">
                <a:solidFill>
                  <a:schemeClr val="tx1"/>
                </a:solidFill>
              </a:rPr>
              <a:t> that the alarm went off at 11.40.</a:t>
            </a:r>
            <a:endParaRPr lang="en-US" sz="2600" dirty="0"/>
          </a:p>
          <a:p>
            <a:pPr indent="0" marL="0">
              <a:spcAft>
                <a:spcPts val="1400"/>
              </a:spcAft>
              <a:buNone/>
            </a:pPr>
            <a:r>
              <a:rPr lang="en-US" sz="2600" b="1" dirty="0">
                <a:solidFill>
                  <a:schemeClr val="tx2"/>
                </a:solidFill>
              </a:rPr>
              <a:t>2.  </a:t>
            </a:r>
            <a:r>
              <a:rPr lang="en-US" sz="2600" dirty="0">
                <a:solidFill>
                  <a:schemeClr val="tx1"/>
                </a:solidFill>
              </a:rPr>
              <a:t>He </a:t>
            </a:r>
            <a:r>
              <a:rPr lang="en-US" sz="2600" dirty="0">
                <a:solidFill>
                  <a:schemeClr val="accent5"/>
                </a:solidFill>
              </a:rPr>
              <a:t>………………</a:t>
            </a:r>
            <a:r>
              <a:rPr lang="en-US" sz="2600" dirty="0">
                <a:solidFill>
                  <a:schemeClr val="tx1"/>
                </a:solidFill>
              </a:rPr>
              <a:t> us that nobody was on site.</a:t>
            </a:r>
            <a:endParaRPr lang="en-US" sz="2600" dirty="0"/>
          </a:p>
          <a:p>
            <a:pPr indent="0" marL="0">
              <a:spcAft>
                <a:spcPts val="1400"/>
              </a:spcAft>
              <a:buNone/>
            </a:pPr>
            <a:r>
              <a:rPr lang="en-US" sz="2600" b="1" dirty="0">
                <a:solidFill>
                  <a:schemeClr val="tx2"/>
                </a:solidFill>
              </a:rPr>
              <a:t>3.  </a:t>
            </a:r>
            <a:r>
              <a:rPr lang="en-US" sz="2600" dirty="0">
                <a:solidFill>
                  <a:schemeClr val="tx1"/>
                </a:solidFill>
              </a:rPr>
              <a:t>Verdier </a:t>
            </a:r>
            <a:r>
              <a:rPr lang="en-US" sz="2600" dirty="0">
                <a:solidFill>
                  <a:schemeClr val="accent5"/>
                </a:solidFill>
              </a:rPr>
              <a:t>………………</a:t>
            </a:r>
            <a:r>
              <a:rPr lang="en-US" sz="2600" dirty="0">
                <a:solidFill>
                  <a:schemeClr val="tx1"/>
                </a:solidFill>
              </a:rPr>
              <a:t> the pipe is old — nothing proves it.</a:t>
            </a:r>
            <a:endParaRPr lang="en-US" sz="2600" dirty="0"/>
          </a:p>
          <a:p>
            <a:pPr indent="0" marL="0">
              <a:spcAft>
                <a:spcPts val="1400"/>
              </a:spcAft>
              <a:buNone/>
            </a:pPr>
            <a:r>
              <a:rPr lang="en-US" sz="2600" b="1" dirty="0">
                <a:solidFill>
                  <a:schemeClr val="tx2"/>
                </a:solidFill>
              </a:rPr>
              <a:t>4.  </a:t>
            </a:r>
            <a:r>
              <a:rPr lang="en-US" sz="2600" dirty="0">
                <a:solidFill>
                  <a:schemeClr val="tx1"/>
                </a:solidFill>
              </a:rPr>
              <a:t>The log </a:t>
            </a:r>
            <a:r>
              <a:rPr lang="en-US" sz="2600" dirty="0">
                <a:solidFill>
                  <a:schemeClr val="accent5"/>
                </a:solidFill>
              </a:rPr>
              <a:t>………………</a:t>
            </a:r>
            <a:r>
              <a:rPr lang="en-US" sz="2600" dirty="0">
                <a:solidFill>
                  <a:schemeClr val="tx1"/>
                </a:solidFill>
              </a:rPr>
              <a:t> that unit 3 shut down at 02:16.</a:t>
            </a:r>
            <a:endParaRPr lang="en-US" sz="2600" dirty="0"/>
          </a:p>
          <a:p>
            <a:pPr indent="0" marL="0">
              <a:spcAft>
                <a:spcPts val="1400"/>
              </a:spcAft>
              <a:buNone/>
            </a:pPr>
            <a:r>
              <a:rPr lang="en-US" sz="2600" b="1" dirty="0">
                <a:solidFill>
                  <a:schemeClr val="tx2"/>
                </a:solidFill>
              </a:rPr>
              <a:t>5.  </a:t>
            </a:r>
            <a:r>
              <a:rPr lang="en-US" sz="2600" dirty="0">
                <a:solidFill>
                  <a:schemeClr val="tx1"/>
                </a:solidFill>
              </a:rPr>
              <a:t>From 23:41 to 06:47 = </a:t>
            </a:r>
            <a:r>
              <a:rPr lang="en-US" sz="2600" dirty="0">
                <a:solidFill>
                  <a:schemeClr val="accent5"/>
                </a:solidFill>
              </a:rPr>
              <a:t>…………………………………………</a:t>
            </a:r>
            <a:endParaRPr lang="en-US" sz="2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Warm-up: report it, time it</a:t>
            </a:r>
            <a:endParaRPr lang="en-US" sz="3200" dirty="0"/>
          </a:p>
        </p:txBody>
      </p:sp>
      <p:sp>
        <p:nvSpPr>
          <p:cNvPr id="3" name="tag"/>
          <p:cNvSpPr/>
          <p:nvPr/>
        </p:nvSpPr>
        <p:spPr>
          <a:xfrm>
            <a:off x="548640" y="384048"/>
            <a:ext cx="1165860" cy="310896"/>
          </a:xfrm>
          <a:prstGeom prst="roundRect">
            <a:avLst>
              <a:gd name="adj" fmla="val 14706"/>
            </a:avLst>
          </a:prstGeom>
          <a:solidFill>
            <a:srgbClr val="2E75B6"/>
          </a:solidFill>
          <a:ln/>
        </p:spPr>
        <p:txBody>
          <a:bodyPr wrap="square" lIns="0" tIns="0" rIns="0" bIns="0" rtlCol="0" anchor="ctr"/>
          <a:lstStyle/>
          <a:p>
            <a:pPr algn="ctr" indent="0" marL="0">
              <a:buNone/>
            </a:pPr>
            <a:r>
              <a:rPr lang="en-US" sz="1200" b="1" spc="100" kern="0" dirty="0">
                <a:solidFill>
                  <a:schemeClr val="bg1"/>
                </a:solidFill>
              </a:rPr>
              <a:t>WARM-UP</a:t>
            </a:r>
            <a:endParaRPr lang="en-US" sz="1200" dirty="0"/>
          </a:p>
        </p:txBody>
      </p:sp>
      <p:sp>
        <p:nvSpPr>
          <p:cNvPr id="4" name="tag"/>
          <p:cNvSpPr/>
          <p:nvPr/>
        </p:nvSpPr>
        <p:spPr>
          <a:xfrm>
            <a:off x="1824228" y="384048"/>
            <a:ext cx="1874520" cy="310896"/>
          </a:xfrm>
          <a:prstGeom prst="roundRect">
            <a:avLst>
              <a:gd name="adj" fmla="val 14706"/>
            </a:avLst>
          </a:prstGeom>
          <a:solidFill>
            <a:srgbClr val="3C7A3C"/>
          </a:solidFill>
          <a:ln/>
        </p:spPr>
        <p:txBody>
          <a:bodyPr wrap="square" lIns="0" tIns="0" rIns="0" bIns="0" rtlCol="0" anchor="ctr"/>
          <a:lstStyle/>
          <a:p>
            <a:pPr algn="ctr" indent="0" marL="0">
              <a:buNone/>
            </a:pPr>
            <a:r>
              <a:rPr lang="en-US" sz="1200" b="1" spc="100" kern="0" dirty="0">
                <a:solidFill>
                  <a:schemeClr val="bg1"/>
                </a:solidFill>
              </a:rPr>
              <a:t>✓ CORRECTION</a:t>
            </a:r>
            <a:endParaRPr lang="en-US" sz="1200" dirty="0"/>
          </a:p>
        </p:txBody>
      </p:sp>
      <p:sp>
        <p:nvSpPr>
          <p:cNvPr id="5" name="Text 3"/>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Séance 6</a:t>
            </a:r>
            <a:endParaRPr lang="en-US" sz="1200" dirty="0"/>
          </a:p>
        </p:txBody>
      </p:sp>
      <p:sp>
        <p:nvSpPr>
          <p:cNvPr id="6" name="Text 4"/>
          <p:cNvSpPr txBox="1"/>
          <p:nvPr/>
        </p:nvSpPr>
        <p:spPr>
          <a:xfrm>
            <a:off x="548640" y="1627632"/>
            <a:ext cx="11091672" cy="335280"/>
          </a:xfrm>
          <a:prstGeom prst="rect">
            <a:avLst/>
          </a:prstGeom>
          <a:noFill/>
          <a:ln/>
        </p:spPr>
        <p:txBody>
          <a:bodyPr wrap="square" lIns="0" tIns="0" rIns="0" bIns="0" rtlCol="0" anchor="t"/>
          <a:lstStyle/>
          <a:p>
            <a:pPr indent="0" marL="0">
              <a:buNone/>
            </a:pPr>
            <a:r>
              <a:rPr lang="en-US" sz="1600" i="1" dirty="0">
                <a:solidFill>
                  <a:schemeClr val="accent5"/>
                </a:solidFill>
              </a:rPr>
              <a:t>Complete with a reporting verb or a duration.</a:t>
            </a:r>
            <a:endParaRPr lang="en-US" sz="1600" dirty="0"/>
          </a:p>
        </p:txBody>
      </p:sp>
      <p:sp>
        <p:nvSpPr>
          <p:cNvPr id="7" name="exercise"/>
          <p:cNvSpPr txBox="1"/>
          <p:nvPr/>
        </p:nvSpPr>
        <p:spPr>
          <a:xfrm>
            <a:off x="548640" y="2237232"/>
            <a:ext cx="11091672" cy="4072128"/>
          </a:xfrm>
          <a:prstGeom prst="rect">
            <a:avLst/>
          </a:prstGeom>
          <a:noFill/>
          <a:ln/>
        </p:spPr>
        <p:txBody>
          <a:bodyPr wrap="square" lIns="0" tIns="0" rIns="0" bIns="0" rtlCol="0" anchor="t"/>
          <a:lstStyle/>
          <a:p>
            <a:pPr indent="0" marL="0">
              <a:spcAft>
                <a:spcPts val="1000"/>
              </a:spcAft>
              <a:buNone/>
            </a:pPr>
            <a:r>
              <a:rPr lang="en-US" sz="2200" b="1" dirty="0">
                <a:solidFill>
                  <a:schemeClr val="tx2"/>
                </a:solidFill>
              </a:rPr>
              <a:t>1.  </a:t>
            </a:r>
            <a:r>
              <a:rPr lang="en-US" sz="2200" dirty="0">
                <a:solidFill>
                  <a:schemeClr val="tx1"/>
                </a:solidFill>
              </a:rPr>
              <a:t>Samuel </a:t>
            </a:r>
            <a:r>
              <a:rPr lang="en-US" sz="2200" b="1" dirty="0">
                <a:solidFill>
                  <a:schemeClr val="accent3"/>
                </a:solidFill>
              </a:rPr>
              <a:t>said</a:t>
            </a:r>
            <a:r>
              <a:rPr lang="en-US" sz="2200" dirty="0">
                <a:solidFill>
                  <a:schemeClr val="tx1"/>
                </a:solidFill>
              </a:rPr>
              <a:t> that the alarm went off at 11.40.</a:t>
            </a:r>
            <a:endParaRPr lang="en-US" sz="2200" dirty="0"/>
          </a:p>
          <a:p>
            <a:pPr indent="0" marL="0">
              <a:spcAft>
                <a:spcPts val="1000"/>
              </a:spcAft>
              <a:buNone/>
            </a:pPr>
            <a:r>
              <a:rPr lang="en-US" sz="2200" b="1" dirty="0">
                <a:solidFill>
                  <a:schemeClr val="tx2"/>
                </a:solidFill>
              </a:rPr>
              <a:t>2.  </a:t>
            </a:r>
            <a:r>
              <a:rPr lang="en-US" sz="2200" dirty="0">
                <a:solidFill>
                  <a:schemeClr val="tx1"/>
                </a:solidFill>
              </a:rPr>
              <a:t>He </a:t>
            </a:r>
            <a:r>
              <a:rPr lang="en-US" sz="2200" b="1" dirty="0">
                <a:solidFill>
                  <a:schemeClr val="accent3"/>
                </a:solidFill>
              </a:rPr>
              <a:t>told</a:t>
            </a:r>
            <a:r>
              <a:rPr lang="en-US" sz="2200" dirty="0">
                <a:solidFill>
                  <a:schemeClr val="tx1"/>
                </a:solidFill>
              </a:rPr>
              <a:t> us that nobody was on site.</a:t>
            </a:r>
            <a:endParaRPr lang="en-US" sz="2200" dirty="0"/>
          </a:p>
          <a:p>
            <a:pPr indent="0" marL="0">
              <a:spcAft>
                <a:spcPts val="1000"/>
              </a:spcAft>
              <a:buNone/>
            </a:pPr>
            <a:r>
              <a:rPr lang="en-US" sz="2200" b="1" dirty="0">
                <a:solidFill>
                  <a:schemeClr val="tx2"/>
                </a:solidFill>
              </a:rPr>
              <a:t>3.  </a:t>
            </a:r>
            <a:r>
              <a:rPr lang="en-US" sz="2200" dirty="0">
                <a:solidFill>
                  <a:schemeClr val="tx1"/>
                </a:solidFill>
              </a:rPr>
              <a:t>Verdier </a:t>
            </a:r>
            <a:r>
              <a:rPr lang="en-US" sz="2200" b="1" dirty="0">
                <a:solidFill>
                  <a:schemeClr val="accent3"/>
                </a:solidFill>
              </a:rPr>
              <a:t>claims</a:t>
            </a:r>
            <a:r>
              <a:rPr lang="en-US" sz="2200" dirty="0">
                <a:solidFill>
                  <a:schemeClr val="tx1"/>
                </a:solidFill>
              </a:rPr>
              <a:t> the pipe is old — nothing proves it.</a:t>
            </a:r>
            <a:endParaRPr lang="en-US" sz="2200" dirty="0"/>
          </a:p>
          <a:p>
            <a:pPr indent="0" marL="0">
              <a:spcAft>
                <a:spcPts val="1000"/>
              </a:spcAft>
              <a:buNone/>
            </a:pPr>
            <a:r>
              <a:rPr lang="en-US" sz="2200" b="1" dirty="0">
                <a:solidFill>
                  <a:schemeClr val="tx2"/>
                </a:solidFill>
              </a:rPr>
              <a:t>4.  </a:t>
            </a:r>
            <a:r>
              <a:rPr lang="en-US" sz="2200" dirty="0">
                <a:solidFill>
                  <a:schemeClr val="tx1"/>
                </a:solidFill>
              </a:rPr>
              <a:t>The log </a:t>
            </a:r>
            <a:r>
              <a:rPr lang="en-US" sz="2200" b="1" dirty="0">
                <a:solidFill>
                  <a:schemeClr val="accent3"/>
                </a:solidFill>
              </a:rPr>
              <a:t>confirms</a:t>
            </a:r>
            <a:r>
              <a:rPr lang="en-US" sz="2200" dirty="0">
                <a:solidFill>
                  <a:schemeClr val="tx1"/>
                </a:solidFill>
              </a:rPr>
              <a:t> that unit 3 shut down at 02:16.</a:t>
            </a:r>
            <a:endParaRPr lang="en-US" sz="2200" dirty="0"/>
          </a:p>
          <a:p>
            <a:pPr indent="0" marL="0">
              <a:spcAft>
                <a:spcPts val="1000"/>
              </a:spcAft>
              <a:buNone/>
            </a:pPr>
            <a:r>
              <a:rPr lang="en-US" sz="2200" b="1" dirty="0">
                <a:solidFill>
                  <a:schemeClr val="tx2"/>
                </a:solidFill>
              </a:rPr>
              <a:t>5.  </a:t>
            </a:r>
            <a:r>
              <a:rPr lang="en-US" sz="2200" dirty="0">
                <a:solidFill>
                  <a:schemeClr val="tx1"/>
                </a:solidFill>
              </a:rPr>
              <a:t>From 23:41 to 06:47 = </a:t>
            </a:r>
            <a:r>
              <a:rPr lang="en-US" sz="2200" b="1" dirty="0">
                <a:solidFill>
                  <a:schemeClr val="accent3"/>
                </a:solidFill>
              </a:rPr>
              <a:t>seven hours and six minutes</a:t>
            </a:r>
            <a:endParaRPr lang="en-US" sz="2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The verbs you will need before ten o’clock</a:t>
            </a:r>
            <a:endParaRPr lang="en-US" sz="3200" dirty="0"/>
          </a:p>
        </p:txBody>
      </p:sp>
      <p:sp>
        <p:nvSpPr>
          <p:cNvPr id="3" name="tag"/>
          <p:cNvSpPr/>
          <p:nvPr/>
        </p:nvSpPr>
        <p:spPr>
          <a:xfrm>
            <a:off x="548640" y="384048"/>
            <a:ext cx="1508760" cy="310896"/>
          </a:xfrm>
          <a:prstGeom prst="roundRect">
            <a:avLst>
              <a:gd name="adj" fmla="val 14706"/>
            </a:avLst>
          </a:prstGeom>
          <a:solidFill>
            <a:srgbClr val="44546A"/>
          </a:solidFill>
          <a:ln/>
        </p:spPr>
        <p:txBody>
          <a:bodyPr wrap="square" lIns="0" tIns="0" rIns="0" bIns="0" rtlCol="0" anchor="ctr"/>
          <a:lstStyle/>
          <a:p>
            <a:pPr algn="ctr" indent="0" marL="0">
              <a:buNone/>
            </a:pPr>
            <a:r>
              <a:rPr lang="en-US" sz="1200" b="1" spc="100" kern="0" dirty="0">
                <a:solidFill>
                  <a:schemeClr val="bg1"/>
                </a:solidFill>
              </a:rPr>
              <a:t>FIELD NOTE</a:t>
            </a:r>
            <a:endParaRPr lang="en-US" sz="1200" dirty="0"/>
          </a:p>
        </p:txBody>
      </p:sp>
      <p:sp>
        <p:nvSpPr>
          <p:cNvPr id="4" name="Text 2"/>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13</a:t>
            </a:r>
            <a:endParaRPr lang="en-US" sz="1200" dirty="0"/>
          </a:p>
        </p:txBody>
      </p:sp>
      <p:sp>
        <p:nvSpPr>
          <p:cNvPr id="5" name="Text 3"/>
          <p:cNvSpPr txBox="1"/>
          <p:nvPr/>
        </p:nvSpPr>
        <p:spPr>
          <a:xfrm>
            <a:off x="548640" y="1627632"/>
            <a:ext cx="11091672" cy="335280"/>
          </a:xfrm>
          <a:prstGeom prst="rect">
            <a:avLst/>
          </a:prstGeom>
          <a:noFill/>
          <a:ln/>
        </p:spPr>
        <p:txBody>
          <a:bodyPr wrap="square" lIns="0" tIns="0" rIns="0" bIns="0" rtlCol="0" anchor="t"/>
          <a:lstStyle/>
          <a:p>
            <a:pPr indent="0" marL="0">
              <a:buNone/>
            </a:pPr>
            <a:r>
              <a:rPr lang="en-US" sz="1600" i="1" dirty="0">
                <a:solidFill>
                  <a:schemeClr val="accent5"/>
                </a:solidFill>
              </a:rPr>
              <a:t>Fill in the two missing forms: the </a:t>
            </a:r>
            <a:r>
              <a:rPr lang="en-US" sz="1600" b="1" i="1" dirty="0">
                <a:solidFill>
                  <a:schemeClr val="accent5"/>
                </a:solidFill>
              </a:rPr>
              <a:t>past simple</a:t>
            </a:r>
            <a:r>
              <a:rPr lang="en-US" sz="1600" i="1" dirty="0">
                <a:solidFill>
                  <a:schemeClr val="accent5"/>
                </a:solidFill>
              </a:rPr>
              <a:t> (a dated fact) and the </a:t>
            </a:r>
            <a:r>
              <a:rPr lang="en-US" sz="1600" b="1" i="1" dirty="0">
                <a:solidFill>
                  <a:schemeClr val="accent5"/>
                </a:solidFill>
              </a:rPr>
              <a:t>past participle</a:t>
            </a:r>
            <a:r>
              <a:rPr lang="en-US" sz="1600" i="1" dirty="0">
                <a:solidFill>
                  <a:schemeClr val="accent5"/>
                </a:solidFill>
              </a:rPr>
              <a:t> (the result you report later).</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2237232"/>
          <a:ext cx="11091672" cy="914400"/>
        </p:xfrm>
        <a:graphic>
          <a:graphicData uri="http://schemas.openxmlformats.org/drawingml/2006/table">
            <a:tbl>
              <a:tblPr/>
              <a:tblGrid>
                <a:gridCol w="2011680"/>
                <a:gridCol w="2743200"/>
                <a:gridCol w="2743200"/>
                <a:gridCol w="3593592"/>
              </a:tblGrid>
              <a:tr h="526694">
                <a:tc>
                  <a:txBody>
                    <a:bodyPr/>
                    <a:lstStyle/>
                    <a:p>
                      <a:pPr algn="ctr" indent="0" marL="0">
                        <a:buNone/>
                      </a:pPr>
                      <a:r>
                        <a:rPr lang="en-US" sz="1500" b="1" dirty="0">
                          <a:solidFill>
                            <a:schemeClr val="bg1"/>
                          </a:solidFill>
                        </a:rPr>
                        <a:t>BASE</a:t>
                      </a:r>
                      <a:endParaRPr lang="en-US" sz="15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F3864"/>
                    </a:solidFill>
                  </a:tcPr>
                </a:tc>
                <a:tc>
                  <a:txBody>
                    <a:bodyPr/>
                    <a:lstStyle/>
                    <a:p>
                      <a:pPr algn="ctr" indent="0" marL="0">
                        <a:buNone/>
                      </a:pPr>
                      <a:r>
                        <a:rPr lang="en-US" sz="1500" b="1" dirty="0">
                          <a:solidFill>
                            <a:schemeClr val="bg1"/>
                          </a:solidFill>
                        </a:rPr>
                        <a:t>PAST SIMPLE — a dated fact</a:t>
                      </a:r>
                      <a:endParaRPr lang="en-US" sz="15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F3864"/>
                    </a:solidFill>
                  </a:tcPr>
                </a:tc>
                <a:tc>
                  <a:txBody>
                    <a:bodyPr/>
                    <a:lstStyle/>
                    <a:p>
                      <a:pPr algn="ctr" indent="0" marL="0">
                        <a:buNone/>
                      </a:pPr>
                      <a:r>
                        <a:rPr lang="en-US" sz="1500" b="1" dirty="0">
                          <a:solidFill>
                            <a:schemeClr val="bg1"/>
                          </a:solidFill>
                        </a:rPr>
                        <a:t>PAST PARTICIPLE — the result</a:t>
                      </a:r>
                      <a:endParaRPr lang="en-US" sz="15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F3864"/>
                    </a:solidFill>
                  </a:tcPr>
                </a:tc>
                <a:tc>
                  <a:txBody>
                    <a:bodyPr/>
                    <a:lstStyle/>
                    <a:p>
                      <a:pPr algn="l" indent="0" marL="0">
                        <a:buNone/>
                      </a:pPr>
                      <a:r>
                        <a:rPr lang="en-US" sz="1500" b="1" dirty="0">
                          <a:solidFill>
                            <a:schemeClr val="bg1"/>
                          </a:solidFill>
                        </a:rPr>
                        <a:t>CONTEXT</a:t>
                      </a:r>
                      <a:endParaRPr lang="en-US" sz="15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F3864"/>
                    </a:solidFill>
                  </a:tcPr>
                </a:tc>
              </a:tr>
              <a:tr h="410566">
                <a:tc>
                  <a:txBody>
                    <a:bodyPr/>
                    <a:lstStyle/>
                    <a:p>
                      <a:pPr algn="ctr" indent="0" marL="0">
                        <a:buNone/>
                      </a:pPr>
                      <a:r>
                        <a:rPr lang="en-US" sz="1700" b="1" dirty="0">
                          <a:solidFill>
                            <a:schemeClr val="tx1"/>
                          </a:solidFill>
                        </a:rPr>
                        <a:t>find</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700" dirty="0">
                          <a:solidFill>
                            <a:schemeClr val="accent5"/>
                          </a:solidFill>
                        </a:rPr>
                        <a:t>……………</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700" dirty="0">
                          <a:solidFill>
                            <a:schemeClr val="accent5"/>
                          </a:solidFill>
                        </a:rPr>
                        <a:t>……………</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l" indent="0" marL="0">
                        <a:buNone/>
                      </a:pPr>
                      <a:r>
                        <a:rPr lang="en-US" sz="1700" dirty="0">
                          <a:solidFill>
                            <a:schemeClr val="tx1"/>
                          </a:solidFill>
                        </a:rPr>
                        <a:t>the water, at 6.50 a.m.</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410566">
                <a:tc>
                  <a:txBody>
                    <a:bodyPr/>
                    <a:lstStyle/>
                    <a:p>
                      <a:pPr algn="ctr" indent="0" marL="0">
                        <a:buNone/>
                      </a:pPr>
                      <a:r>
                        <a:rPr lang="en-US" sz="1700" b="1" dirty="0">
                          <a:solidFill>
                            <a:schemeClr val="tx1"/>
                          </a:solidFill>
                        </a:rPr>
                        <a:t>go off</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700" dirty="0">
                          <a:solidFill>
                            <a:schemeClr val="accent5"/>
                          </a:solidFill>
                        </a:rPr>
                        <a:t>……………</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700" dirty="0">
                          <a:solidFill>
                            <a:schemeClr val="accent5"/>
                          </a:solidFill>
                        </a:rPr>
                        <a:t>……………</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l" indent="0" marL="0">
                        <a:buNone/>
                      </a:pPr>
                      <a:r>
                        <a:rPr lang="en-US" sz="1700" dirty="0">
                          <a:solidFill>
                            <a:schemeClr val="tx1"/>
                          </a:solidFill>
                        </a:rPr>
                        <a:t>the alarm, at 11.41 p.m.</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r>
              <a:tr h="410566">
                <a:tc>
                  <a:txBody>
                    <a:bodyPr/>
                    <a:lstStyle/>
                    <a:p>
                      <a:pPr algn="ctr" indent="0" marL="0">
                        <a:buNone/>
                      </a:pPr>
                      <a:r>
                        <a:rPr lang="en-US" sz="1700" b="1" dirty="0">
                          <a:solidFill>
                            <a:schemeClr val="tx1"/>
                          </a:solidFill>
                        </a:rPr>
                        <a:t>leave</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700" dirty="0">
                          <a:solidFill>
                            <a:schemeClr val="accent5"/>
                          </a:solidFill>
                        </a:rPr>
                        <a:t>……………</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700" dirty="0">
                          <a:solidFill>
                            <a:schemeClr val="accent5"/>
                          </a:solidFill>
                        </a:rPr>
                        <a:t>……………</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l" indent="0" marL="0">
                        <a:buNone/>
                      </a:pPr>
                      <a:r>
                        <a:rPr lang="en-US" sz="1700" dirty="0">
                          <a:solidFill>
                            <a:schemeClr val="tx1"/>
                          </a:solidFill>
                        </a:rPr>
                        <a:t>the team, at 7.58 p.m.</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410566">
                <a:tc>
                  <a:txBody>
                    <a:bodyPr/>
                    <a:lstStyle/>
                    <a:p>
                      <a:pPr algn="ctr" indent="0" marL="0">
                        <a:buNone/>
                      </a:pPr>
                      <a:r>
                        <a:rPr lang="en-US" sz="1700" b="1" dirty="0">
                          <a:solidFill>
                            <a:schemeClr val="tx1"/>
                          </a:solidFill>
                        </a:rPr>
                        <a:t>hear</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700" dirty="0">
                          <a:solidFill>
                            <a:schemeClr val="accent5"/>
                          </a:solidFill>
                        </a:rPr>
                        <a:t>……………</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700" dirty="0">
                          <a:solidFill>
                            <a:schemeClr val="accent5"/>
                          </a:solidFill>
                        </a:rPr>
                        <a:t>……………</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l" indent="0" marL="0">
                        <a:buNone/>
                      </a:pPr>
                      <a:r>
                        <a:rPr lang="en-US" sz="1700" dirty="0">
                          <a:solidFill>
                            <a:schemeClr val="tx1"/>
                          </a:solidFill>
                        </a:rPr>
                        <a:t>nobody, that night</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r>
              <a:tr h="410566">
                <a:tc>
                  <a:txBody>
                    <a:bodyPr/>
                    <a:lstStyle/>
                    <a:p>
                      <a:pPr algn="ctr" indent="0" marL="0">
                        <a:buNone/>
                      </a:pPr>
                      <a:r>
                        <a:rPr lang="en-US" sz="1700" b="1" dirty="0">
                          <a:solidFill>
                            <a:schemeClr val="tx1"/>
                          </a:solidFill>
                        </a:rPr>
                        <a:t>break down</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700" dirty="0">
                          <a:solidFill>
                            <a:schemeClr val="accent5"/>
                          </a:solidFill>
                        </a:rPr>
                        <a:t>……………</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700" dirty="0">
                          <a:solidFill>
                            <a:schemeClr val="accent5"/>
                          </a:solidFill>
                        </a:rPr>
                        <a:t>……………</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l" indent="0" marL="0">
                        <a:buNone/>
                      </a:pPr>
                      <a:r>
                        <a:rPr lang="en-US" sz="1700" dirty="0">
                          <a:solidFill>
                            <a:schemeClr val="tx1"/>
                          </a:solidFill>
                        </a:rPr>
                        <a:t>unit 3, at 2.16 a.m.</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410566">
                <a:tc>
                  <a:txBody>
                    <a:bodyPr/>
                    <a:lstStyle/>
                    <a:p>
                      <a:pPr algn="ctr" indent="0" marL="0">
                        <a:buNone/>
                      </a:pPr>
                      <a:r>
                        <a:rPr lang="en-US" sz="1700" b="1" dirty="0">
                          <a:solidFill>
                            <a:schemeClr val="tx1"/>
                          </a:solidFill>
                        </a:rPr>
                        <a:t>send</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700" dirty="0">
                          <a:solidFill>
                            <a:schemeClr val="accent5"/>
                          </a:solidFill>
                        </a:rPr>
                        <a:t>……………</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700" dirty="0">
                          <a:solidFill>
                            <a:schemeClr val="accent5"/>
                          </a:solidFill>
                        </a:rPr>
                        <a:t>……………</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l" indent="0" marL="0">
                        <a:buNone/>
                      </a:pPr>
                      <a:r>
                        <a:rPr lang="en-US" sz="1700" dirty="0">
                          <a:solidFill>
                            <a:schemeClr val="tx1"/>
                          </a:solidFill>
                        </a:rPr>
                        <a:t>the notification, at 11.42 p.m.</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r>
              <a:tr h="410566">
                <a:tc>
                  <a:txBody>
                    <a:bodyPr/>
                    <a:lstStyle/>
                    <a:p>
                      <a:pPr algn="ctr" indent="0" marL="0">
                        <a:buNone/>
                      </a:pPr>
                      <a:r>
                        <a:rPr lang="en-US" sz="1700" b="1" dirty="0">
                          <a:solidFill>
                            <a:schemeClr val="tx1"/>
                          </a:solidFill>
                        </a:rPr>
                        <a:t>take</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700" dirty="0">
                          <a:solidFill>
                            <a:schemeClr val="accent5"/>
                          </a:solidFill>
                        </a:rPr>
                        <a:t>……………</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700" dirty="0">
                          <a:solidFill>
                            <a:schemeClr val="accent5"/>
                          </a:solidFill>
                        </a:rPr>
                        <a:t>……………</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l" indent="0" marL="0">
                        <a:buNone/>
                      </a:pPr>
                      <a:r>
                        <a:rPr lang="en-US" sz="1700" dirty="0">
                          <a:solidFill>
                            <a:schemeClr val="tx1"/>
                          </a:solidFill>
                        </a:rPr>
                        <a:t>the photographs, this morning</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673913">
                <a:tc>
                  <a:txBody>
                    <a:bodyPr/>
                    <a:lstStyle/>
                    <a:p>
                      <a:pPr algn="ctr" indent="0" marL="0">
                        <a:buNone/>
                      </a:pPr>
                      <a:r>
                        <a:rPr lang="en-US" sz="1700" b="1" dirty="0">
                          <a:solidFill>
                            <a:schemeClr val="tx1"/>
                          </a:solidFill>
                        </a:rPr>
                        <a:t>see</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700" dirty="0">
                          <a:solidFill>
                            <a:schemeClr val="accent5"/>
                          </a:solidFill>
                        </a:rPr>
                        <a:t>……………</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700" dirty="0">
                          <a:solidFill>
                            <a:schemeClr val="accent5"/>
                          </a:solidFill>
                        </a:rPr>
                        <a:t>……………</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l" indent="0" marL="0">
                        <a:buNone/>
                      </a:pPr>
                      <a:r>
                        <a:rPr lang="en-US" sz="1700" dirty="0">
                          <a:solidFill>
                            <a:schemeClr val="tx1"/>
                          </a:solidFill>
                        </a:rPr>
                        <a:t>the damage, which you have not seen yet</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r>
            </a:tbl>
          </a:graphicData>
        </a:graphic>
      </p:graphicFrame>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The verbs you will need before ten o’clock</a:t>
            </a:r>
            <a:endParaRPr lang="en-US" sz="3200" dirty="0"/>
          </a:p>
        </p:txBody>
      </p:sp>
      <p:sp>
        <p:nvSpPr>
          <p:cNvPr id="3" name="tag"/>
          <p:cNvSpPr/>
          <p:nvPr/>
        </p:nvSpPr>
        <p:spPr>
          <a:xfrm>
            <a:off x="548640" y="384048"/>
            <a:ext cx="1508760" cy="310896"/>
          </a:xfrm>
          <a:prstGeom prst="roundRect">
            <a:avLst>
              <a:gd name="adj" fmla="val 14706"/>
            </a:avLst>
          </a:prstGeom>
          <a:solidFill>
            <a:srgbClr val="44546A"/>
          </a:solidFill>
          <a:ln/>
        </p:spPr>
        <p:txBody>
          <a:bodyPr wrap="square" lIns="0" tIns="0" rIns="0" bIns="0" rtlCol="0" anchor="ctr"/>
          <a:lstStyle/>
          <a:p>
            <a:pPr algn="ctr" indent="0" marL="0">
              <a:buNone/>
            </a:pPr>
            <a:r>
              <a:rPr lang="en-US" sz="1200" b="1" spc="100" kern="0" dirty="0">
                <a:solidFill>
                  <a:schemeClr val="bg1"/>
                </a:solidFill>
              </a:rPr>
              <a:t>FIELD NOTE</a:t>
            </a:r>
            <a:endParaRPr lang="en-US" sz="1200" dirty="0"/>
          </a:p>
        </p:txBody>
      </p:sp>
      <p:sp>
        <p:nvSpPr>
          <p:cNvPr id="4" name="tag"/>
          <p:cNvSpPr/>
          <p:nvPr/>
        </p:nvSpPr>
        <p:spPr>
          <a:xfrm>
            <a:off x="2167128" y="384048"/>
            <a:ext cx="1874520" cy="310896"/>
          </a:xfrm>
          <a:prstGeom prst="roundRect">
            <a:avLst>
              <a:gd name="adj" fmla="val 14706"/>
            </a:avLst>
          </a:prstGeom>
          <a:solidFill>
            <a:srgbClr val="3C7A3C"/>
          </a:solidFill>
          <a:ln/>
        </p:spPr>
        <p:txBody>
          <a:bodyPr wrap="square" lIns="0" tIns="0" rIns="0" bIns="0" rtlCol="0" anchor="ctr"/>
          <a:lstStyle/>
          <a:p>
            <a:pPr algn="ctr" indent="0" marL="0">
              <a:buNone/>
            </a:pPr>
            <a:r>
              <a:rPr lang="en-US" sz="1200" b="1" spc="100" kern="0" dirty="0">
                <a:solidFill>
                  <a:schemeClr val="bg1"/>
                </a:solidFill>
              </a:rPr>
              <a:t>✓ CORRECTION</a:t>
            </a:r>
            <a:endParaRPr lang="en-US" sz="1200" dirty="0"/>
          </a:p>
        </p:txBody>
      </p:sp>
      <p:sp>
        <p:nvSpPr>
          <p:cNvPr id="5" name="Text 3"/>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13</a:t>
            </a:r>
            <a:endParaRPr lang="en-US" sz="1200" dirty="0"/>
          </a:p>
        </p:txBody>
      </p:sp>
      <p:sp>
        <p:nvSpPr>
          <p:cNvPr id="6" name="Text 4"/>
          <p:cNvSpPr txBox="1"/>
          <p:nvPr/>
        </p:nvSpPr>
        <p:spPr>
          <a:xfrm>
            <a:off x="548640" y="1627632"/>
            <a:ext cx="11091672" cy="335280"/>
          </a:xfrm>
          <a:prstGeom prst="rect">
            <a:avLst/>
          </a:prstGeom>
          <a:noFill/>
          <a:ln/>
        </p:spPr>
        <p:txBody>
          <a:bodyPr wrap="square" lIns="0" tIns="0" rIns="0" bIns="0" rtlCol="0" anchor="t"/>
          <a:lstStyle/>
          <a:p>
            <a:pPr indent="0" marL="0">
              <a:buNone/>
            </a:pPr>
            <a:r>
              <a:rPr lang="en-US" sz="1600" i="1" dirty="0">
                <a:solidFill>
                  <a:schemeClr val="accent5"/>
                </a:solidFill>
              </a:rPr>
              <a:t>Fill in the two missing forms: the </a:t>
            </a:r>
            <a:r>
              <a:rPr lang="en-US" sz="1600" b="1" i="1" dirty="0">
                <a:solidFill>
                  <a:schemeClr val="accent5"/>
                </a:solidFill>
              </a:rPr>
              <a:t>past simple</a:t>
            </a:r>
            <a:r>
              <a:rPr lang="en-US" sz="1600" i="1" dirty="0">
                <a:solidFill>
                  <a:schemeClr val="accent5"/>
                </a:solidFill>
              </a:rPr>
              <a:t> (a dated fact) and the </a:t>
            </a:r>
            <a:r>
              <a:rPr lang="en-US" sz="1600" b="1" i="1" dirty="0">
                <a:solidFill>
                  <a:schemeClr val="accent5"/>
                </a:solidFill>
              </a:rPr>
              <a:t>past participle</a:t>
            </a:r>
            <a:r>
              <a:rPr lang="en-US" sz="1600" i="1" dirty="0">
                <a:solidFill>
                  <a:schemeClr val="accent5"/>
                </a:solidFill>
              </a:rPr>
              <a:t> (the result you report later).</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2237232"/>
          <a:ext cx="11091672" cy="914400"/>
        </p:xfrm>
        <a:graphic>
          <a:graphicData uri="http://schemas.openxmlformats.org/drawingml/2006/table">
            <a:tbl>
              <a:tblPr/>
              <a:tblGrid>
                <a:gridCol w="2011680"/>
                <a:gridCol w="2743200"/>
                <a:gridCol w="2743200"/>
                <a:gridCol w="3593592"/>
              </a:tblGrid>
              <a:tr h="526694">
                <a:tc>
                  <a:txBody>
                    <a:bodyPr/>
                    <a:lstStyle/>
                    <a:p>
                      <a:pPr algn="ctr" indent="0" marL="0">
                        <a:buNone/>
                      </a:pPr>
                      <a:r>
                        <a:rPr lang="en-US" sz="1500" b="1" dirty="0">
                          <a:solidFill>
                            <a:schemeClr val="bg1"/>
                          </a:solidFill>
                        </a:rPr>
                        <a:t>BASE</a:t>
                      </a:r>
                      <a:endParaRPr lang="en-US" sz="15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F3864"/>
                    </a:solidFill>
                  </a:tcPr>
                </a:tc>
                <a:tc>
                  <a:txBody>
                    <a:bodyPr/>
                    <a:lstStyle/>
                    <a:p>
                      <a:pPr algn="ctr" indent="0" marL="0">
                        <a:buNone/>
                      </a:pPr>
                      <a:r>
                        <a:rPr lang="en-US" sz="1500" b="1" dirty="0">
                          <a:solidFill>
                            <a:schemeClr val="bg1"/>
                          </a:solidFill>
                        </a:rPr>
                        <a:t>PAST SIMPLE — a dated fact</a:t>
                      </a:r>
                      <a:endParaRPr lang="en-US" sz="15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F3864"/>
                    </a:solidFill>
                  </a:tcPr>
                </a:tc>
                <a:tc>
                  <a:txBody>
                    <a:bodyPr/>
                    <a:lstStyle/>
                    <a:p>
                      <a:pPr algn="ctr" indent="0" marL="0">
                        <a:buNone/>
                      </a:pPr>
                      <a:r>
                        <a:rPr lang="en-US" sz="1500" b="1" dirty="0">
                          <a:solidFill>
                            <a:schemeClr val="bg1"/>
                          </a:solidFill>
                        </a:rPr>
                        <a:t>PAST PARTICIPLE — the result</a:t>
                      </a:r>
                      <a:endParaRPr lang="en-US" sz="15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F3864"/>
                    </a:solidFill>
                  </a:tcPr>
                </a:tc>
                <a:tc>
                  <a:txBody>
                    <a:bodyPr/>
                    <a:lstStyle/>
                    <a:p>
                      <a:pPr algn="l" indent="0" marL="0">
                        <a:buNone/>
                      </a:pPr>
                      <a:r>
                        <a:rPr lang="en-US" sz="1500" b="1" dirty="0">
                          <a:solidFill>
                            <a:schemeClr val="bg1"/>
                          </a:solidFill>
                        </a:rPr>
                        <a:t>CONTEXT</a:t>
                      </a:r>
                      <a:endParaRPr lang="en-US" sz="15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F3864"/>
                    </a:solidFill>
                  </a:tcPr>
                </a:tc>
              </a:tr>
              <a:tr h="410566">
                <a:tc>
                  <a:txBody>
                    <a:bodyPr/>
                    <a:lstStyle/>
                    <a:p>
                      <a:pPr algn="ctr" indent="0" marL="0">
                        <a:buNone/>
                      </a:pPr>
                      <a:r>
                        <a:rPr lang="en-US" sz="1700" b="1" dirty="0">
                          <a:solidFill>
                            <a:schemeClr val="tx1"/>
                          </a:solidFill>
                        </a:rPr>
                        <a:t>find</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700" b="1" dirty="0">
                          <a:solidFill>
                            <a:schemeClr val="accent3"/>
                          </a:solidFill>
                        </a:rPr>
                        <a:t>found</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700" b="1" dirty="0">
                          <a:solidFill>
                            <a:schemeClr val="accent3"/>
                          </a:solidFill>
                        </a:rPr>
                        <a:t>found</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l" indent="0" marL="0">
                        <a:buNone/>
                      </a:pPr>
                      <a:r>
                        <a:rPr lang="en-US" sz="1700" dirty="0">
                          <a:solidFill>
                            <a:schemeClr val="tx1"/>
                          </a:solidFill>
                        </a:rPr>
                        <a:t>the water, at 6.50 a.m.</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410566">
                <a:tc>
                  <a:txBody>
                    <a:bodyPr/>
                    <a:lstStyle/>
                    <a:p>
                      <a:pPr algn="ctr" indent="0" marL="0">
                        <a:buNone/>
                      </a:pPr>
                      <a:r>
                        <a:rPr lang="en-US" sz="1700" b="1" dirty="0">
                          <a:solidFill>
                            <a:schemeClr val="tx1"/>
                          </a:solidFill>
                        </a:rPr>
                        <a:t>go off</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700" b="1" dirty="0">
                          <a:solidFill>
                            <a:schemeClr val="accent3"/>
                          </a:solidFill>
                        </a:rPr>
                        <a:t>went off</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700" b="1" dirty="0">
                          <a:solidFill>
                            <a:schemeClr val="accent3"/>
                          </a:solidFill>
                        </a:rPr>
                        <a:t>gone off</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l" indent="0" marL="0">
                        <a:buNone/>
                      </a:pPr>
                      <a:r>
                        <a:rPr lang="en-US" sz="1700" dirty="0">
                          <a:solidFill>
                            <a:schemeClr val="tx1"/>
                          </a:solidFill>
                        </a:rPr>
                        <a:t>the alarm, at 11.41 p.m.</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r>
              <a:tr h="410566">
                <a:tc>
                  <a:txBody>
                    <a:bodyPr/>
                    <a:lstStyle/>
                    <a:p>
                      <a:pPr algn="ctr" indent="0" marL="0">
                        <a:buNone/>
                      </a:pPr>
                      <a:r>
                        <a:rPr lang="en-US" sz="1700" b="1" dirty="0">
                          <a:solidFill>
                            <a:schemeClr val="tx1"/>
                          </a:solidFill>
                        </a:rPr>
                        <a:t>leave</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700" b="1" dirty="0">
                          <a:solidFill>
                            <a:schemeClr val="accent3"/>
                          </a:solidFill>
                        </a:rPr>
                        <a:t>left</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700" b="1" dirty="0">
                          <a:solidFill>
                            <a:schemeClr val="accent3"/>
                          </a:solidFill>
                        </a:rPr>
                        <a:t>left</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l" indent="0" marL="0">
                        <a:buNone/>
                      </a:pPr>
                      <a:r>
                        <a:rPr lang="en-US" sz="1700" dirty="0">
                          <a:solidFill>
                            <a:schemeClr val="tx1"/>
                          </a:solidFill>
                        </a:rPr>
                        <a:t>the team, at 7.58 p.m.</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410566">
                <a:tc>
                  <a:txBody>
                    <a:bodyPr/>
                    <a:lstStyle/>
                    <a:p>
                      <a:pPr algn="ctr" indent="0" marL="0">
                        <a:buNone/>
                      </a:pPr>
                      <a:r>
                        <a:rPr lang="en-US" sz="1700" b="1" dirty="0">
                          <a:solidFill>
                            <a:schemeClr val="tx1"/>
                          </a:solidFill>
                        </a:rPr>
                        <a:t>hear</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700" b="1" dirty="0">
                          <a:solidFill>
                            <a:schemeClr val="accent3"/>
                          </a:solidFill>
                        </a:rPr>
                        <a:t>heard</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700" b="1" dirty="0">
                          <a:solidFill>
                            <a:schemeClr val="accent3"/>
                          </a:solidFill>
                        </a:rPr>
                        <a:t>heard</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l" indent="0" marL="0">
                        <a:buNone/>
                      </a:pPr>
                      <a:r>
                        <a:rPr lang="en-US" sz="1700" dirty="0">
                          <a:solidFill>
                            <a:schemeClr val="tx1"/>
                          </a:solidFill>
                        </a:rPr>
                        <a:t>nobody, that night</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r>
              <a:tr h="410566">
                <a:tc>
                  <a:txBody>
                    <a:bodyPr/>
                    <a:lstStyle/>
                    <a:p>
                      <a:pPr algn="ctr" indent="0" marL="0">
                        <a:buNone/>
                      </a:pPr>
                      <a:r>
                        <a:rPr lang="en-US" sz="1700" b="1" dirty="0">
                          <a:solidFill>
                            <a:schemeClr val="tx1"/>
                          </a:solidFill>
                        </a:rPr>
                        <a:t>break down</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700" b="1" dirty="0">
                          <a:solidFill>
                            <a:schemeClr val="accent3"/>
                          </a:solidFill>
                        </a:rPr>
                        <a:t>broke down</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700" b="1" dirty="0">
                          <a:solidFill>
                            <a:schemeClr val="accent3"/>
                          </a:solidFill>
                        </a:rPr>
                        <a:t>broken down</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l" indent="0" marL="0">
                        <a:buNone/>
                      </a:pPr>
                      <a:r>
                        <a:rPr lang="en-US" sz="1700" dirty="0">
                          <a:solidFill>
                            <a:schemeClr val="tx1"/>
                          </a:solidFill>
                        </a:rPr>
                        <a:t>unit 3, at 2.16 a.m.</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410566">
                <a:tc>
                  <a:txBody>
                    <a:bodyPr/>
                    <a:lstStyle/>
                    <a:p>
                      <a:pPr algn="ctr" indent="0" marL="0">
                        <a:buNone/>
                      </a:pPr>
                      <a:r>
                        <a:rPr lang="en-US" sz="1700" b="1" dirty="0">
                          <a:solidFill>
                            <a:schemeClr val="tx1"/>
                          </a:solidFill>
                        </a:rPr>
                        <a:t>send</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700" b="1" dirty="0">
                          <a:solidFill>
                            <a:schemeClr val="accent3"/>
                          </a:solidFill>
                        </a:rPr>
                        <a:t>sent</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700" b="1" dirty="0">
                          <a:solidFill>
                            <a:schemeClr val="accent3"/>
                          </a:solidFill>
                        </a:rPr>
                        <a:t>sent</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l" indent="0" marL="0">
                        <a:buNone/>
                      </a:pPr>
                      <a:r>
                        <a:rPr lang="en-US" sz="1700" dirty="0">
                          <a:solidFill>
                            <a:schemeClr val="tx1"/>
                          </a:solidFill>
                        </a:rPr>
                        <a:t>the notification, at 11.42 p.m.</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r>
              <a:tr h="410566">
                <a:tc>
                  <a:txBody>
                    <a:bodyPr/>
                    <a:lstStyle/>
                    <a:p>
                      <a:pPr algn="ctr" indent="0" marL="0">
                        <a:buNone/>
                      </a:pPr>
                      <a:r>
                        <a:rPr lang="en-US" sz="1700" b="1" dirty="0">
                          <a:solidFill>
                            <a:schemeClr val="tx1"/>
                          </a:solidFill>
                        </a:rPr>
                        <a:t>take</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700" b="1" dirty="0">
                          <a:solidFill>
                            <a:schemeClr val="accent3"/>
                          </a:solidFill>
                        </a:rPr>
                        <a:t>took</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700" b="1" dirty="0">
                          <a:solidFill>
                            <a:schemeClr val="accent3"/>
                          </a:solidFill>
                        </a:rPr>
                        <a:t>taken</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l" indent="0" marL="0">
                        <a:buNone/>
                      </a:pPr>
                      <a:r>
                        <a:rPr lang="en-US" sz="1700" dirty="0">
                          <a:solidFill>
                            <a:schemeClr val="tx1"/>
                          </a:solidFill>
                        </a:rPr>
                        <a:t>the photographs, this morning</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673913">
                <a:tc>
                  <a:txBody>
                    <a:bodyPr/>
                    <a:lstStyle/>
                    <a:p>
                      <a:pPr algn="ctr" indent="0" marL="0">
                        <a:buNone/>
                      </a:pPr>
                      <a:r>
                        <a:rPr lang="en-US" sz="1700" b="1" dirty="0">
                          <a:solidFill>
                            <a:schemeClr val="tx1"/>
                          </a:solidFill>
                        </a:rPr>
                        <a:t>see</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700" b="1" dirty="0">
                          <a:solidFill>
                            <a:schemeClr val="accent3"/>
                          </a:solidFill>
                        </a:rPr>
                        <a:t>saw</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700" b="1" dirty="0">
                          <a:solidFill>
                            <a:schemeClr val="accent3"/>
                          </a:solidFill>
                        </a:rPr>
                        <a:t>seen</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l" indent="0" marL="0">
                        <a:buNone/>
                      </a:pPr>
                      <a:r>
                        <a:rPr lang="en-US" sz="1700" dirty="0">
                          <a:solidFill>
                            <a:schemeClr val="tx1"/>
                          </a:solidFill>
                        </a:rPr>
                        <a:t>the damage, which you have not seen yet</a:t>
                      </a:r>
                      <a:endParaRPr lang="en-US" sz="17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r>
            </a:tbl>
          </a:graphicData>
        </a:graphic>
      </p:graphicFrame>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Two forms, two jobs</a:t>
            </a:r>
            <a:endParaRPr lang="en-US" sz="3200" dirty="0"/>
          </a:p>
        </p:txBody>
      </p:sp>
      <p:sp>
        <p:nvSpPr>
          <p:cNvPr id="3" name="tag"/>
          <p:cNvSpPr/>
          <p:nvPr/>
        </p:nvSpPr>
        <p:spPr>
          <a:xfrm>
            <a:off x="548640" y="384048"/>
            <a:ext cx="1165860" cy="310896"/>
          </a:xfrm>
          <a:prstGeom prst="roundRect">
            <a:avLst>
              <a:gd name="adj" fmla="val 14706"/>
            </a:avLst>
          </a:prstGeom>
          <a:solidFill>
            <a:srgbClr val="1F3864"/>
          </a:solidFill>
          <a:ln/>
        </p:spPr>
        <p:txBody>
          <a:bodyPr wrap="square" lIns="0" tIns="0" rIns="0" bIns="0" rtlCol="0" anchor="ctr"/>
          <a:lstStyle/>
          <a:p>
            <a:pPr algn="ctr" indent="0" marL="0">
              <a:buNone/>
            </a:pPr>
            <a:r>
              <a:rPr lang="en-US" sz="1200" b="1" spc="100" kern="0" dirty="0">
                <a:solidFill>
                  <a:schemeClr val="bg1"/>
                </a:solidFill>
              </a:rPr>
              <a:t>GRAMMAR</a:t>
            </a:r>
            <a:endParaRPr lang="en-US" sz="1200" dirty="0"/>
          </a:p>
        </p:txBody>
      </p:sp>
      <p:sp>
        <p:nvSpPr>
          <p:cNvPr id="4" name="Text 2"/>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13</a:t>
            </a:r>
            <a:endParaRPr lang="en-US" sz="1200" dirty="0"/>
          </a:p>
        </p:txBody>
      </p:sp>
      <p:sp>
        <p:nvSpPr>
          <p:cNvPr id="5" name="Shape 3"/>
          <p:cNvSpPr/>
          <p:nvPr/>
        </p:nvSpPr>
        <p:spPr>
          <a:xfrm>
            <a:off x="548640" y="1783080"/>
            <a:ext cx="5225796" cy="3432048"/>
          </a:xfrm>
          <a:prstGeom prst="roundRect">
            <a:avLst>
              <a:gd name="adj" fmla="val 2131"/>
            </a:avLst>
          </a:prstGeom>
          <a:solidFill>
            <a:srgbClr val="B4236A">
              <a:alpha val="8000"/>
            </a:srgbClr>
          </a:solidFill>
          <a:ln w="15875">
            <a:solidFill>
              <a:srgbClr val="B4236A"/>
            </a:solidFill>
            <a:prstDash val="solid"/>
          </a:ln>
        </p:spPr>
      </p:sp>
      <p:pic>
        <p:nvPicPr>
          <p:cNvPr id="6" name="Image 0" descr="preencoded.png">    </p:cNvPr>
          <p:cNvPicPr>
            <a:picLocks noChangeAspect="1"/>
          </p:cNvPicPr>
          <p:nvPr/>
        </p:nvPicPr>
        <p:blipFill>
          <a:blip r:embed="rId1"/>
          <a:stretch>
            <a:fillRect/>
          </a:stretch>
        </p:blipFill>
        <p:spPr>
          <a:xfrm>
            <a:off x="804672" y="2002536"/>
            <a:ext cx="384048" cy="384048"/>
          </a:xfrm>
          <a:prstGeom prst="rect">
            <a:avLst/>
          </a:prstGeom>
        </p:spPr>
      </p:pic>
      <p:sp>
        <p:nvSpPr>
          <p:cNvPr id="7" name="Text 4"/>
          <p:cNvSpPr txBox="1"/>
          <p:nvPr/>
        </p:nvSpPr>
        <p:spPr>
          <a:xfrm>
            <a:off x="1325880" y="1947672"/>
            <a:ext cx="4265676" cy="502920"/>
          </a:xfrm>
          <a:prstGeom prst="rect">
            <a:avLst/>
          </a:prstGeom>
          <a:noFill/>
          <a:ln/>
        </p:spPr>
        <p:txBody>
          <a:bodyPr wrap="square" lIns="0" tIns="0" rIns="0" bIns="0" rtlCol="0" anchor="ctr"/>
          <a:lstStyle/>
          <a:p>
            <a:pPr indent="0" marL="0">
              <a:buNone/>
            </a:pPr>
            <a:r>
              <a:rPr lang="en-US" sz="2000" b="1" dirty="0">
                <a:solidFill>
                  <a:srgbClr val="B4236A"/>
                </a:solidFill>
                <a:latin typeface="+mj-lt" pitchFamily="34" charset="0"/>
                <a:ea typeface="+mj-lt" pitchFamily="34" charset="-122"/>
                <a:cs typeface="+mj-lt" pitchFamily="34" charset="-120"/>
              </a:rPr>
              <a:t>PAST SIMPLE — the dated fact</a:t>
            </a:r>
            <a:endParaRPr lang="en-US" sz="2000" dirty="0"/>
          </a:p>
        </p:txBody>
      </p:sp>
      <p:sp>
        <p:nvSpPr>
          <p:cNvPr id="8" name="Text 5"/>
          <p:cNvSpPr txBox="1"/>
          <p:nvPr/>
        </p:nvSpPr>
        <p:spPr>
          <a:xfrm>
            <a:off x="822960" y="2624328"/>
            <a:ext cx="4722876" cy="2471928"/>
          </a:xfrm>
          <a:prstGeom prst="rect">
            <a:avLst/>
          </a:prstGeom>
          <a:noFill/>
          <a:ln/>
        </p:spPr>
        <p:txBody>
          <a:bodyPr wrap="square" lIns="0" tIns="0" rIns="0" bIns="0" rtlCol="0" anchor="t"/>
          <a:lstStyle/>
          <a:p>
            <a:pPr marL="190500" indent="-190500">
              <a:spcAft>
                <a:spcPts val="800"/>
              </a:spcAft>
              <a:buSzPct val="100000"/>
              <a:buChar char="•"/>
            </a:pPr>
            <a:r>
              <a:rPr lang="en-US" sz="2000" dirty="0">
                <a:solidFill>
                  <a:schemeClr val="tx1"/>
                </a:solidFill>
              </a:rPr>
              <a:t>Something happened </a:t>
            </a:r>
            <a:r>
              <a:rPr lang="en-US" sz="2000" b="1" dirty="0">
                <a:solidFill>
                  <a:schemeClr val="tx1"/>
                </a:solidFill>
              </a:rPr>
              <a:t>at a given time</a:t>
            </a:r>
            <a:r>
              <a:rPr lang="en-US" sz="2000" dirty="0">
                <a:solidFill>
                  <a:schemeClr val="tx1"/>
                </a:solidFill>
              </a:rPr>
              <a:t>.</a:t>
            </a:r>
            <a:endParaRPr lang="en-US" sz="2000" dirty="0"/>
          </a:p>
          <a:p>
            <a:pPr marL="190500" indent="-190500">
              <a:spcAft>
                <a:spcPts val="800"/>
              </a:spcAft>
              <a:buSzPct val="100000"/>
              <a:buChar char="•"/>
            </a:pPr>
            <a:r>
              <a:rPr lang="en-US" sz="2000" dirty="0">
                <a:solidFill>
                  <a:schemeClr val="tx1"/>
                </a:solidFill>
              </a:rPr>
              <a:t>The alarm </a:t>
            </a:r>
            <a:r>
              <a:rPr lang="en-US" sz="2000" b="1" dirty="0">
                <a:solidFill>
                  <a:srgbClr val="B4236A"/>
                </a:solidFill>
              </a:rPr>
              <a:t>went off</a:t>
            </a:r>
            <a:r>
              <a:rPr lang="en-US" sz="2000" dirty="0">
                <a:solidFill>
                  <a:schemeClr val="tx1"/>
                </a:solidFill>
              </a:rPr>
              <a:t> at 23.41.</a:t>
            </a:r>
            <a:endParaRPr lang="en-US" sz="2000" dirty="0"/>
          </a:p>
          <a:p>
            <a:pPr marL="190500" indent="-190500">
              <a:spcAft>
                <a:spcPts val="800"/>
              </a:spcAft>
              <a:buSzPct val="100000"/>
              <a:buChar char="•"/>
            </a:pPr>
            <a:r>
              <a:rPr lang="en-US" sz="2000" dirty="0">
                <a:solidFill>
                  <a:schemeClr val="tx1"/>
                </a:solidFill>
              </a:rPr>
              <a:t>The cleaners </a:t>
            </a:r>
            <a:r>
              <a:rPr lang="en-US" sz="2000" b="1" dirty="0">
                <a:solidFill>
                  <a:srgbClr val="B4236A"/>
                </a:solidFill>
              </a:rPr>
              <a:t>found</a:t>
            </a:r>
            <a:r>
              <a:rPr lang="en-US" sz="2000" dirty="0">
                <a:solidFill>
                  <a:schemeClr val="tx1"/>
                </a:solidFill>
              </a:rPr>
              <a:t> the water at 6.50.</a:t>
            </a:r>
            <a:endParaRPr lang="en-US" sz="2000" dirty="0"/>
          </a:p>
          <a:p>
            <a:pPr marL="190500" indent="-190500">
              <a:spcAft>
                <a:spcPts val="800"/>
              </a:spcAft>
              <a:buSzPct val="100000"/>
              <a:buChar char="•"/>
            </a:pPr>
            <a:r>
              <a:rPr lang="en-US" sz="2000" dirty="0">
                <a:solidFill>
                  <a:schemeClr val="tx1"/>
                </a:solidFill>
              </a:rPr>
              <a:t>Signals: </a:t>
            </a:r>
            <a:r>
              <a:rPr lang="en-US" sz="2000" b="1" dirty="0">
                <a:solidFill>
                  <a:schemeClr val="tx1"/>
                </a:solidFill>
              </a:rPr>
              <a:t>at, yesterday, last night, in November</a:t>
            </a:r>
            <a:endParaRPr lang="en-US" sz="2000" dirty="0"/>
          </a:p>
        </p:txBody>
      </p:sp>
      <p:sp>
        <p:nvSpPr>
          <p:cNvPr id="9" name="Shape 6"/>
          <p:cNvSpPr/>
          <p:nvPr/>
        </p:nvSpPr>
        <p:spPr>
          <a:xfrm>
            <a:off x="6414516" y="1783080"/>
            <a:ext cx="5225796" cy="3432048"/>
          </a:xfrm>
          <a:prstGeom prst="roundRect">
            <a:avLst>
              <a:gd name="adj" fmla="val 2131"/>
            </a:avLst>
          </a:prstGeom>
          <a:solidFill>
            <a:srgbClr val="3C7A3C">
              <a:alpha val="8000"/>
            </a:srgbClr>
          </a:solidFill>
          <a:ln w="15875">
            <a:solidFill>
              <a:srgbClr val="3C7A3C"/>
            </a:solidFill>
            <a:prstDash val="solid"/>
          </a:ln>
        </p:spPr>
      </p:sp>
      <p:pic>
        <p:nvPicPr>
          <p:cNvPr id="10" name="Image 1" descr="preencoded.png">    </p:cNvPr>
          <p:cNvPicPr>
            <a:picLocks noChangeAspect="1"/>
          </p:cNvPicPr>
          <p:nvPr/>
        </p:nvPicPr>
        <p:blipFill>
          <a:blip r:embed="rId2"/>
          <a:stretch>
            <a:fillRect/>
          </a:stretch>
        </p:blipFill>
        <p:spPr>
          <a:xfrm>
            <a:off x="6670548" y="2002536"/>
            <a:ext cx="384048" cy="384048"/>
          </a:xfrm>
          <a:prstGeom prst="rect">
            <a:avLst/>
          </a:prstGeom>
        </p:spPr>
      </p:pic>
      <p:sp>
        <p:nvSpPr>
          <p:cNvPr id="11" name="Text 7"/>
          <p:cNvSpPr txBox="1"/>
          <p:nvPr/>
        </p:nvSpPr>
        <p:spPr>
          <a:xfrm>
            <a:off x="7191756" y="1947672"/>
            <a:ext cx="4265676" cy="502920"/>
          </a:xfrm>
          <a:prstGeom prst="rect">
            <a:avLst/>
          </a:prstGeom>
          <a:noFill/>
          <a:ln/>
        </p:spPr>
        <p:txBody>
          <a:bodyPr wrap="square" lIns="0" tIns="0" rIns="0" bIns="0" rtlCol="0" anchor="ctr"/>
          <a:lstStyle/>
          <a:p>
            <a:pPr indent="0" marL="0">
              <a:buNone/>
            </a:pPr>
            <a:r>
              <a:rPr lang="en-US" sz="2000" b="1" dirty="0">
                <a:solidFill>
                  <a:schemeClr val="accent3"/>
                </a:solidFill>
                <a:latin typeface="+mj-lt" pitchFamily="34" charset="0"/>
                <a:ea typeface="+mj-lt" pitchFamily="34" charset="-122"/>
                <a:cs typeface="+mj-lt" pitchFamily="34" charset="-120"/>
              </a:rPr>
              <a:t>PAST PARTICIPLE — the result</a:t>
            </a:r>
            <a:endParaRPr lang="en-US" sz="2000" dirty="0"/>
          </a:p>
        </p:txBody>
      </p:sp>
      <p:sp>
        <p:nvSpPr>
          <p:cNvPr id="12" name="Text 8"/>
          <p:cNvSpPr txBox="1"/>
          <p:nvPr/>
        </p:nvSpPr>
        <p:spPr>
          <a:xfrm>
            <a:off x="6688836" y="2624328"/>
            <a:ext cx="4722876" cy="2471928"/>
          </a:xfrm>
          <a:prstGeom prst="rect">
            <a:avLst/>
          </a:prstGeom>
          <a:noFill/>
          <a:ln/>
        </p:spPr>
        <p:txBody>
          <a:bodyPr wrap="square" lIns="0" tIns="0" rIns="0" bIns="0" rtlCol="0" anchor="t"/>
          <a:lstStyle/>
          <a:p>
            <a:pPr marL="190500" indent="-190500">
              <a:spcAft>
                <a:spcPts val="800"/>
              </a:spcAft>
              <a:buSzPct val="100000"/>
              <a:buChar char="•"/>
            </a:pPr>
            <a:r>
              <a:rPr lang="en-US" sz="2000" dirty="0">
                <a:solidFill>
                  <a:schemeClr val="tx1"/>
                </a:solidFill>
              </a:rPr>
              <a:t>With </a:t>
            </a:r>
            <a:r>
              <a:rPr lang="en-US" sz="2000" b="1" dirty="0">
                <a:solidFill>
                  <a:schemeClr val="tx1"/>
                </a:solidFill>
              </a:rPr>
              <a:t>have</a:t>
            </a:r>
            <a:r>
              <a:rPr lang="en-US" sz="2000" dirty="0">
                <a:solidFill>
                  <a:schemeClr val="tx1"/>
                </a:solidFill>
              </a:rPr>
              <a:t>: Iris </a:t>
            </a:r>
            <a:r>
              <a:rPr lang="en-US" sz="2000" b="1" dirty="0">
                <a:solidFill>
                  <a:schemeClr val="tx1"/>
                </a:solidFill>
              </a:rPr>
              <a:t>has </a:t>
            </a:r>
            <a:r>
              <a:rPr lang="en-US" sz="2000" b="1" dirty="0">
                <a:solidFill>
                  <a:schemeClr val="accent3"/>
                </a:solidFill>
              </a:rPr>
              <a:t>taken</a:t>
            </a:r>
            <a:r>
              <a:rPr lang="en-US" sz="2000" dirty="0">
                <a:solidFill>
                  <a:schemeClr val="tx1"/>
                </a:solidFill>
              </a:rPr>
              <a:t> the photographs. </a:t>
            </a:r>
            <a:r>
              <a:rPr lang="en-US" sz="2000" i="1" dirty="0">
                <a:solidFill>
                  <a:schemeClr val="tx1"/>
                </a:solidFill>
              </a:rPr>
              <a:t>(Scene 4)</a:t>
            </a:r>
            <a:endParaRPr lang="en-US" sz="2000" dirty="0"/>
          </a:p>
          <a:p>
            <a:pPr marL="190500" indent="-190500">
              <a:spcAft>
                <a:spcPts val="800"/>
              </a:spcAft>
              <a:buSzPct val="100000"/>
              <a:buChar char="•"/>
            </a:pPr>
            <a:r>
              <a:rPr lang="en-US" sz="2000" dirty="0">
                <a:solidFill>
                  <a:schemeClr val="tx1"/>
                </a:solidFill>
              </a:rPr>
              <a:t>In the passive: the water </a:t>
            </a:r>
            <a:r>
              <a:rPr lang="en-US" sz="2000" b="1" dirty="0">
                <a:solidFill>
                  <a:schemeClr val="tx1"/>
                </a:solidFill>
              </a:rPr>
              <a:t>was </a:t>
            </a:r>
            <a:r>
              <a:rPr lang="en-US" sz="2000" b="1" dirty="0">
                <a:solidFill>
                  <a:schemeClr val="accent3"/>
                </a:solidFill>
              </a:rPr>
              <a:t>found</a:t>
            </a:r>
            <a:r>
              <a:rPr lang="en-US" sz="2000" dirty="0">
                <a:solidFill>
                  <a:schemeClr val="tx1"/>
                </a:solidFill>
              </a:rPr>
              <a:t> at 6.50. </a:t>
            </a:r>
            <a:r>
              <a:rPr lang="en-US" sz="2000" i="1" dirty="0">
                <a:solidFill>
                  <a:schemeClr val="tx1"/>
                </a:solidFill>
              </a:rPr>
              <a:t>(Scene 8)</a:t>
            </a:r>
            <a:endParaRPr lang="en-US" sz="2000" dirty="0"/>
          </a:p>
          <a:p>
            <a:pPr marL="190500" indent="-190500">
              <a:spcAft>
                <a:spcPts val="800"/>
              </a:spcAft>
              <a:buSzPct val="100000"/>
              <a:buChar char="•"/>
            </a:pPr>
            <a:r>
              <a:rPr lang="en-US" sz="2000" dirty="0">
                <a:solidFill>
                  <a:schemeClr val="tx1"/>
                </a:solidFill>
              </a:rPr>
              <a:t>Signals: </a:t>
            </a:r>
            <a:r>
              <a:rPr lang="en-US" sz="2000" b="1" dirty="0">
                <a:solidFill>
                  <a:schemeClr val="tx1"/>
                </a:solidFill>
              </a:rPr>
              <a:t>already, yet, just, so far</a:t>
            </a:r>
            <a:r>
              <a:rPr lang="en-US" sz="2000" dirty="0">
                <a:solidFill>
                  <a:schemeClr val="tx1"/>
                </a:solidFill>
              </a:rPr>
              <a:t> — no date</a:t>
            </a:r>
            <a:endParaRPr lang="en-US" sz="2000" dirty="0"/>
          </a:p>
        </p:txBody>
      </p:sp>
      <p:sp>
        <p:nvSpPr>
          <p:cNvPr id="13" name="Shape 9"/>
          <p:cNvSpPr/>
          <p:nvPr/>
        </p:nvSpPr>
        <p:spPr>
          <a:xfrm>
            <a:off x="5838444" y="3243072"/>
            <a:ext cx="512064" cy="512064"/>
          </a:xfrm>
          <a:prstGeom prst="ellipse">
            <a:avLst/>
          </a:prstGeom>
          <a:solidFill>
            <a:srgbClr val="1F3864"/>
          </a:solidFill>
          <a:ln/>
        </p:spPr>
      </p:sp>
      <p:sp>
        <p:nvSpPr>
          <p:cNvPr id="14" name="Text 10"/>
          <p:cNvSpPr txBox="1"/>
          <p:nvPr/>
        </p:nvSpPr>
        <p:spPr>
          <a:xfrm>
            <a:off x="5838444" y="3243072"/>
            <a:ext cx="512064" cy="512064"/>
          </a:xfrm>
          <a:prstGeom prst="rect">
            <a:avLst/>
          </a:prstGeom>
          <a:noFill/>
          <a:ln/>
        </p:spPr>
        <p:txBody>
          <a:bodyPr wrap="square" lIns="0" tIns="0" rIns="0" bIns="0" rtlCol="0" anchor="ctr"/>
          <a:lstStyle/>
          <a:p>
            <a:pPr algn="ctr" indent="0" marL="0">
              <a:buNone/>
            </a:pPr>
            <a:r>
              <a:rPr lang="en-US" sz="1300" b="1" dirty="0">
                <a:solidFill>
                  <a:schemeClr val="bg1"/>
                </a:solidFill>
              </a:rPr>
              <a:t>≠</a:t>
            </a:r>
            <a:endParaRPr lang="en-US" sz="1300" dirty="0"/>
          </a:p>
        </p:txBody>
      </p:sp>
      <p:sp>
        <p:nvSpPr>
          <p:cNvPr id="15" name="Shape 11"/>
          <p:cNvSpPr/>
          <p:nvPr/>
        </p:nvSpPr>
        <p:spPr>
          <a:xfrm>
            <a:off x="548640" y="5535168"/>
            <a:ext cx="11091672" cy="774192"/>
          </a:xfrm>
          <a:prstGeom prst="roundRect">
            <a:avLst>
              <a:gd name="adj" fmla="val 9449"/>
            </a:avLst>
          </a:prstGeom>
          <a:solidFill>
            <a:srgbClr val="2E75B6">
              <a:alpha val="8000"/>
            </a:srgbClr>
          </a:solidFill>
          <a:ln w="12700">
            <a:solidFill>
              <a:srgbClr val="2E75B6"/>
            </a:solidFill>
            <a:prstDash val="solid"/>
          </a:ln>
        </p:spPr>
      </p:sp>
      <p:pic>
        <p:nvPicPr>
          <p:cNvPr id="16" name="Image 2" descr="preencoded.png">    </p:cNvPr>
          <p:cNvPicPr>
            <a:picLocks noChangeAspect="1"/>
          </p:cNvPicPr>
          <p:nvPr/>
        </p:nvPicPr>
        <p:blipFill>
          <a:blip r:embed="rId3"/>
          <a:stretch>
            <a:fillRect/>
          </a:stretch>
        </p:blipFill>
        <p:spPr>
          <a:xfrm>
            <a:off x="777240" y="5739384"/>
            <a:ext cx="365760" cy="365760"/>
          </a:xfrm>
          <a:prstGeom prst="rect">
            <a:avLst/>
          </a:prstGeom>
        </p:spPr>
      </p:pic>
      <p:sp>
        <p:nvSpPr>
          <p:cNvPr id="17" name="Text 12"/>
          <p:cNvSpPr txBox="1"/>
          <p:nvPr/>
        </p:nvSpPr>
        <p:spPr>
          <a:xfrm>
            <a:off x="1325880" y="5590032"/>
            <a:ext cx="10085832" cy="664464"/>
          </a:xfrm>
          <a:prstGeom prst="rect">
            <a:avLst/>
          </a:prstGeom>
          <a:noFill/>
          <a:ln/>
        </p:spPr>
        <p:txBody>
          <a:bodyPr wrap="square" lIns="0" tIns="0" rIns="0" bIns="0" rtlCol="0" anchor="ctr"/>
          <a:lstStyle/>
          <a:p>
            <a:pPr indent="0" marL="0">
              <a:buNone/>
            </a:pPr>
            <a:r>
              <a:rPr lang="en-US" sz="1800" b="1" dirty="0">
                <a:solidFill>
                  <a:schemeClr val="accent2"/>
                </a:solidFill>
              </a:rPr>
              <a:t>Astuce — </a:t>
            </a:r>
            <a:r>
              <a:rPr lang="en-US" sz="1800" dirty="0">
                <a:solidFill>
                  <a:schemeClr val="tx1"/>
                </a:solidFill>
              </a:rPr>
              <a:t>many verbs have </a:t>
            </a:r>
            <a:r>
              <a:rPr lang="en-US" sz="1800" b="1" dirty="0">
                <a:solidFill>
                  <a:schemeClr val="tx1"/>
                </a:solidFill>
              </a:rPr>
              <a:t>the same</a:t>
            </a:r>
            <a:r>
              <a:rPr lang="en-US" sz="1800" dirty="0">
                <a:solidFill>
                  <a:schemeClr val="tx1"/>
                </a:solidFill>
              </a:rPr>
              <a:t> two forms (found / found, left / left). Learn the ones that differ: </a:t>
            </a:r>
            <a:r>
              <a:rPr lang="en-US" sz="1800" b="1" dirty="0">
                <a:solidFill>
                  <a:schemeClr val="tx1"/>
                </a:solidFill>
              </a:rPr>
              <a:t>went / gone · took / taken · saw / seen · broke / broken · wrote / written</a:t>
            </a:r>
            <a:r>
              <a:rPr lang="en-US" sz="1800" dirty="0">
                <a:solidFill>
                  <a:schemeClr val="tx1"/>
                </a:solidFill>
              </a:rPr>
              <a:t>.</a:t>
            </a:r>
            <a:endParaRPr lang="en-US" sz="18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Past simple or past participle?</a:t>
            </a:r>
            <a:endParaRPr lang="en-US" sz="3200" dirty="0"/>
          </a:p>
        </p:txBody>
      </p:sp>
      <p:sp>
        <p:nvSpPr>
          <p:cNvPr id="3" name="tag"/>
          <p:cNvSpPr/>
          <p:nvPr/>
        </p:nvSpPr>
        <p:spPr>
          <a:xfrm>
            <a:off x="548640" y="384048"/>
            <a:ext cx="1165860" cy="310896"/>
          </a:xfrm>
          <a:prstGeom prst="roundRect">
            <a:avLst>
              <a:gd name="adj" fmla="val 14706"/>
            </a:avLst>
          </a:prstGeom>
          <a:solidFill>
            <a:srgbClr val="1F3864"/>
          </a:solidFill>
          <a:ln/>
        </p:spPr>
        <p:txBody>
          <a:bodyPr wrap="square" lIns="0" tIns="0" rIns="0" bIns="0" rtlCol="0" anchor="ctr"/>
          <a:lstStyle/>
          <a:p>
            <a:pPr algn="ctr" indent="0" marL="0">
              <a:buNone/>
            </a:pPr>
            <a:r>
              <a:rPr lang="en-US" sz="1200" b="1" spc="100" kern="0" dirty="0">
                <a:solidFill>
                  <a:schemeClr val="bg1"/>
                </a:solidFill>
              </a:rPr>
              <a:t>GRAMMAR</a:t>
            </a:r>
            <a:endParaRPr lang="en-US" sz="1200" dirty="0"/>
          </a:p>
        </p:txBody>
      </p:sp>
      <p:sp>
        <p:nvSpPr>
          <p:cNvPr id="4" name="Text 2"/>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13</a:t>
            </a:r>
            <a:endParaRPr lang="en-US" sz="1200" dirty="0"/>
          </a:p>
        </p:txBody>
      </p:sp>
      <p:sp>
        <p:nvSpPr>
          <p:cNvPr id="6" name="Text 3"/>
          <p:cNvSpPr/>
          <p:nvPr/>
        </p:nvSpPr>
        <p:spPr>
          <a:xfrm>
            <a:off x="1156716" y="1737360"/>
            <a:ext cx="3493008" cy="384048"/>
          </a:xfrm>
          <a:prstGeom prst="roundRect">
            <a:avLst>
              <a:gd name="adj" fmla="val 47619"/>
            </a:avLst>
          </a:prstGeom>
          <a:solidFill>
            <a:srgbClr val="1F3864"/>
          </a:solidFill>
          <a:ln/>
        </p:spPr>
        <p:txBody>
          <a:bodyPr wrap="square" lIns="0" tIns="0" rIns="0" bIns="0" rtlCol="0" anchor="ctr"/>
          <a:lstStyle/>
          <a:p>
            <a:pPr algn="ctr" indent="0" marL="0">
              <a:buNone/>
            </a:pPr>
            <a:r>
              <a:rPr lang="en-US" sz="1500" b="1" dirty="0">
                <a:solidFill>
                  <a:schemeClr val="bg1"/>
                </a:solidFill>
              </a:rPr>
              <a:t>went or gone? took or taken?</a:t>
            </a:r>
            <a:endParaRPr lang="en-US" sz="1500" dirty="0"/>
          </a:p>
        </p:txBody>
      </p:sp>
      <p:sp>
        <p:nvSpPr>
          <p:cNvPr id="7" name="Shape 4"/>
          <p:cNvSpPr/>
          <p:nvPr/>
        </p:nvSpPr>
        <p:spPr>
          <a:xfrm>
            <a:off x="2903220" y="2139696"/>
            <a:ext cx="0" cy="310896"/>
          </a:xfrm>
          <a:prstGeom prst="line">
            <a:avLst/>
          </a:prstGeom>
          <a:noFill/>
          <a:ln w="22225">
            <a:solidFill>
              <a:srgbClr val="44546A"/>
            </a:solidFill>
            <a:prstDash val="solid"/>
            <a:tailEnd type="triangle"/>
          </a:ln>
        </p:spPr>
      </p:sp>
      <p:sp>
        <p:nvSpPr>
          <p:cNvPr id="8" name="Shape 5"/>
          <p:cNvSpPr/>
          <p:nvPr/>
        </p:nvSpPr>
        <p:spPr>
          <a:xfrm>
            <a:off x="548640" y="2468880"/>
            <a:ext cx="4709160" cy="932688"/>
          </a:xfrm>
          <a:prstGeom prst="roundRect">
            <a:avLst>
              <a:gd name="adj" fmla="val 7843"/>
            </a:avLst>
          </a:prstGeom>
          <a:solidFill>
            <a:srgbClr val="FFFFFF"/>
          </a:solidFill>
          <a:ln w="19050">
            <a:solidFill>
              <a:srgbClr val="1F3864"/>
            </a:solidFill>
            <a:prstDash val="solid"/>
          </a:ln>
          <a:effectLst>
            <a:outerShdw sx="100000" sy="100000" kx="0" ky="0" algn="bl" rotWithShape="0" blurRad="101600" dist="25400" dir="3600000">
              <a:srgbClr val="000000">
                <a:alpha val="18000"/>
              </a:srgbClr>
            </a:outerShdw>
          </a:effectLst>
        </p:spPr>
      </p:sp>
      <p:sp>
        <p:nvSpPr>
          <p:cNvPr id="9" name="Shape 6"/>
          <p:cNvSpPr/>
          <p:nvPr/>
        </p:nvSpPr>
        <p:spPr>
          <a:xfrm>
            <a:off x="694944" y="2715768"/>
            <a:ext cx="438912" cy="438912"/>
          </a:xfrm>
          <a:prstGeom prst="ellipse">
            <a:avLst/>
          </a:prstGeom>
          <a:solidFill>
            <a:srgbClr val="1F3864"/>
          </a:solidFill>
          <a:ln/>
        </p:spPr>
      </p:sp>
      <p:pic>
        <p:nvPicPr>
          <p:cNvPr id="10" name="Image 0" descr="preencoded.png">    </p:cNvPr>
          <p:cNvPicPr>
            <a:picLocks noChangeAspect="1"/>
          </p:cNvPicPr>
          <p:nvPr/>
        </p:nvPicPr>
        <p:blipFill>
          <a:blip r:embed="rId1"/>
          <a:stretch>
            <a:fillRect/>
          </a:stretch>
        </p:blipFill>
        <p:spPr>
          <a:xfrm>
            <a:off x="804672" y="2825496"/>
            <a:ext cx="219456" cy="219456"/>
          </a:xfrm>
          <a:prstGeom prst="rect">
            <a:avLst/>
          </a:prstGeom>
        </p:spPr>
      </p:pic>
      <p:sp>
        <p:nvSpPr>
          <p:cNvPr id="11" name="Text 7"/>
          <p:cNvSpPr txBox="1"/>
          <p:nvPr/>
        </p:nvSpPr>
        <p:spPr>
          <a:xfrm>
            <a:off x="1261872" y="2505456"/>
            <a:ext cx="3867912" cy="859536"/>
          </a:xfrm>
          <a:prstGeom prst="rect">
            <a:avLst/>
          </a:prstGeom>
          <a:noFill/>
          <a:ln/>
        </p:spPr>
        <p:txBody>
          <a:bodyPr wrap="square" lIns="0" tIns="0" rIns="0" bIns="0" rtlCol="0" anchor="ctr"/>
          <a:lstStyle/>
          <a:p>
            <a:pPr indent="0" marL="0">
              <a:buNone/>
            </a:pPr>
            <a:r>
              <a:rPr lang="en-US" sz="1700" b="1" dirty="0">
                <a:solidFill>
                  <a:schemeClr val="tx2"/>
                </a:solidFill>
              </a:rPr>
              <a:t>Is there </a:t>
            </a:r>
            <a:r>
              <a:rPr lang="en-US" sz="1700" b="1" dirty="0">
                <a:solidFill>
                  <a:schemeClr val="tx2"/>
                </a:solidFill>
              </a:rPr>
              <a:t>have / has / had</a:t>
            </a:r>
            <a:r>
              <a:rPr lang="en-US" sz="1700" b="1" dirty="0">
                <a:solidFill>
                  <a:schemeClr val="tx2"/>
                </a:solidFill>
              </a:rPr>
              <a:t> just before it?</a:t>
            </a:r>
            <a:endParaRPr lang="en-US" sz="1700" dirty="0"/>
          </a:p>
          <a:p>
            <a:pPr indent="0" marL="0">
              <a:buNone/>
            </a:pPr>
            <a:r>
              <a:rPr lang="en-US" sz="1300" i="1" dirty="0">
                <a:solidFill>
                  <a:schemeClr val="accent5"/>
                </a:solidFill>
              </a:rPr>
              <a:t>present perfect — the result</a:t>
            </a:r>
            <a:endParaRPr lang="en-US" sz="1700" dirty="0"/>
          </a:p>
        </p:txBody>
      </p:sp>
      <p:sp>
        <p:nvSpPr>
          <p:cNvPr id="12" name="Shape 8"/>
          <p:cNvSpPr/>
          <p:nvPr/>
        </p:nvSpPr>
        <p:spPr>
          <a:xfrm>
            <a:off x="5276088" y="2935224"/>
            <a:ext cx="859536" cy="0"/>
          </a:xfrm>
          <a:prstGeom prst="line">
            <a:avLst/>
          </a:prstGeom>
          <a:noFill/>
          <a:ln w="22225">
            <a:solidFill>
              <a:srgbClr val="3C7A3C"/>
            </a:solidFill>
            <a:prstDash val="solid"/>
            <a:tailEnd type="triangle"/>
          </a:ln>
        </p:spPr>
      </p:sp>
      <p:sp>
        <p:nvSpPr>
          <p:cNvPr id="13" name="Text 9"/>
          <p:cNvSpPr txBox="1"/>
          <p:nvPr/>
        </p:nvSpPr>
        <p:spPr>
          <a:xfrm>
            <a:off x="5257800" y="2624328"/>
            <a:ext cx="914400" cy="274320"/>
          </a:xfrm>
          <a:prstGeom prst="rect">
            <a:avLst/>
          </a:prstGeom>
          <a:noFill/>
          <a:ln/>
        </p:spPr>
        <p:txBody>
          <a:bodyPr wrap="square" lIns="0" tIns="0" rIns="0" bIns="0" rtlCol="0" anchor="ctr"/>
          <a:lstStyle/>
          <a:p>
            <a:pPr algn="ctr" indent="0" marL="0">
              <a:buNone/>
            </a:pPr>
            <a:r>
              <a:rPr lang="en-US" sz="1200" b="1" dirty="0">
                <a:solidFill>
                  <a:schemeClr val="accent3"/>
                </a:solidFill>
              </a:rPr>
              <a:t>YES</a:t>
            </a:r>
            <a:endParaRPr lang="en-US" sz="1200" dirty="0"/>
          </a:p>
        </p:txBody>
      </p:sp>
      <p:sp>
        <p:nvSpPr>
          <p:cNvPr id="14" name="Shape 10"/>
          <p:cNvSpPr/>
          <p:nvPr/>
        </p:nvSpPr>
        <p:spPr>
          <a:xfrm>
            <a:off x="6172200" y="2468880"/>
            <a:ext cx="5468112" cy="932688"/>
          </a:xfrm>
          <a:prstGeom prst="roundRect">
            <a:avLst>
              <a:gd name="adj" fmla="val 7843"/>
            </a:avLst>
          </a:prstGeom>
          <a:solidFill>
            <a:srgbClr val="3C7A3C">
              <a:alpha val="12000"/>
            </a:srgbClr>
          </a:solidFill>
          <a:ln w="19050">
            <a:solidFill>
              <a:srgbClr val="3C7A3C"/>
            </a:solidFill>
            <a:prstDash val="solid"/>
          </a:ln>
        </p:spPr>
      </p:sp>
      <p:sp>
        <p:nvSpPr>
          <p:cNvPr id="15" name="Text 11"/>
          <p:cNvSpPr txBox="1"/>
          <p:nvPr/>
        </p:nvSpPr>
        <p:spPr>
          <a:xfrm>
            <a:off x="6336792" y="2505456"/>
            <a:ext cx="5138928" cy="859536"/>
          </a:xfrm>
          <a:prstGeom prst="rect">
            <a:avLst/>
          </a:prstGeom>
          <a:noFill/>
          <a:ln/>
        </p:spPr>
        <p:txBody>
          <a:bodyPr wrap="square" lIns="0" tIns="0" rIns="0" bIns="0" rtlCol="0" anchor="ctr"/>
          <a:lstStyle/>
          <a:p>
            <a:pPr indent="0" marL="0">
              <a:buNone/>
            </a:pPr>
            <a:r>
              <a:rPr lang="en-US" sz="1600" b="1" spc="50" kern="0" dirty="0">
                <a:solidFill>
                  <a:schemeClr val="accent3"/>
                </a:solidFill>
              </a:rPr>
              <a:t>PAST PARTICIPLE</a:t>
            </a:r>
            <a:endParaRPr lang="en-US" sz="1600" dirty="0"/>
          </a:p>
          <a:p>
            <a:pPr indent="0" marL="0">
              <a:buNone/>
            </a:pPr>
            <a:r>
              <a:rPr lang="en-US" sz="1600" dirty="0">
                <a:solidFill>
                  <a:schemeClr val="tx1"/>
                </a:solidFill>
              </a:rPr>
              <a:t>Iris </a:t>
            </a:r>
            <a:r>
              <a:rPr lang="en-US" sz="1600" b="1" dirty="0">
                <a:solidFill>
                  <a:schemeClr val="tx1"/>
                </a:solidFill>
              </a:rPr>
              <a:t>has </a:t>
            </a:r>
            <a:r>
              <a:rPr lang="en-US" sz="1600" b="1" dirty="0">
                <a:solidFill>
                  <a:schemeClr val="accent3"/>
                </a:solidFill>
              </a:rPr>
              <a:t>taken</a:t>
            </a:r>
            <a:r>
              <a:rPr lang="en-US" sz="1600" dirty="0">
                <a:solidFill>
                  <a:schemeClr val="tx1"/>
                </a:solidFill>
              </a:rPr>
              <a:t> the photos.</a:t>
            </a:r>
            <a:endParaRPr lang="en-US" sz="1600" dirty="0"/>
          </a:p>
        </p:txBody>
      </p:sp>
      <p:sp>
        <p:nvSpPr>
          <p:cNvPr id="16" name="Shape 12"/>
          <p:cNvSpPr/>
          <p:nvPr/>
        </p:nvSpPr>
        <p:spPr>
          <a:xfrm>
            <a:off x="2903220" y="3419856"/>
            <a:ext cx="0" cy="310896"/>
          </a:xfrm>
          <a:prstGeom prst="line">
            <a:avLst/>
          </a:prstGeom>
          <a:noFill/>
          <a:ln w="22225">
            <a:solidFill>
              <a:srgbClr val="44546A"/>
            </a:solidFill>
            <a:prstDash val="solid"/>
            <a:tailEnd type="triangle"/>
          </a:ln>
        </p:spPr>
      </p:sp>
      <p:sp>
        <p:nvSpPr>
          <p:cNvPr id="17" name="Text 13"/>
          <p:cNvSpPr txBox="1"/>
          <p:nvPr/>
        </p:nvSpPr>
        <p:spPr>
          <a:xfrm>
            <a:off x="2994660" y="3401568"/>
            <a:ext cx="548640" cy="347472"/>
          </a:xfrm>
          <a:prstGeom prst="rect">
            <a:avLst/>
          </a:prstGeom>
          <a:noFill/>
          <a:ln/>
        </p:spPr>
        <p:txBody>
          <a:bodyPr wrap="square" lIns="0" tIns="0" rIns="0" bIns="0" rtlCol="0" anchor="ctr"/>
          <a:lstStyle/>
          <a:p>
            <a:pPr indent="0" marL="0">
              <a:buNone/>
            </a:pPr>
            <a:r>
              <a:rPr lang="en-US" sz="1200" b="1" dirty="0">
                <a:solidFill>
                  <a:schemeClr val="accent6"/>
                </a:solidFill>
              </a:rPr>
              <a:t>NO</a:t>
            </a:r>
            <a:endParaRPr lang="en-US" sz="1200" dirty="0"/>
          </a:p>
        </p:txBody>
      </p:sp>
      <p:sp>
        <p:nvSpPr>
          <p:cNvPr id="18" name="Shape 14"/>
          <p:cNvSpPr/>
          <p:nvPr/>
        </p:nvSpPr>
        <p:spPr>
          <a:xfrm>
            <a:off x="548640" y="3749040"/>
            <a:ext cx="4709160" cy="932688"/>
          </a:xfrm>
          <a:prstGeom prst="roundRect">
            <a:avLst>
              <a:gd name="adj" fmla="val 7843"/>
            </a:avLst>
          </a:prstGeom>
          <a:solidFill>
            <a:srgbClr val="FFFFFF"/>
          </a:solidFill>
          <a:ln w="19050">
            <a:solidFill>
              <a:srgbClr val="1F3864"/>
            </a:solidFill>
            <a:prstDash val="solid"/>
          </a:ln>
          <a:effectLst>
            <a:outerShdw sx="100000" sy="100000" kx="0" ky="0" algn="bl" rotWithShape="0" blurRad="101600" dist="25400" dir="3600000">
              <a:srgbClr val="000000">
                <a:alpha val="18000"/>
              </a:srgbClr>
            </a:outerShdw>
          </a:effectLst>
        </p:spPr>
      </p:sp>
      <p:sp>
        <p:nvSpPr>
          <p:cNvPr id="19" name="Shape 15"/>
          <p:cNvSpPr/>
          <p:nvPr/>
        </p:nvSpPr>
        <p:spPr>
          <a:xfrm>
            <a:off x="694944" y="3995928"/>
            <a:ext cx="438912" cy="438912"/>
          </a:xfrm>
          <a:prstGeom prst="ellipse">
            <a:avLst/>
          </a:prstGeom>
          <a:solidFill>
            <a:srgbClr val="1F3864"/>
          </a:solidFill>
          <a:ln/>
        </p:spPr>
      </p:sp>
      <p:pic>
        <p:nvPicPr>
          <p:cNvPr id="20" name="Image 1" descr="preencoded.png">    </p:cNvPr>
          <p:cNvPicPr>
            <a:picLocks noChangeAspect="1"/>
          </p:cNvPicPr>
          <p:nvPr/>
        </p:nvPicPr>
        <p:blipFill>
          <a:blip r:embed="rId2"/>
          <a:stretch>
            <a:fillRect/>
          </a:stretch>
        </p:blipFill>
        <p:spPr>
          <a:xfrm>
            <a:off x="804672" y="4105656"/>
            <a:ext cx="219456" cy="219456"/>
          </a:xfrm>
          <a:prstGeom prst="rect">
            <a:avLst/>
          </a:prstGeom>
        </p:spPr>
      </p:pic>
      <p:sp>
        <p:nvSpPr>
          <p:cNvPr id="21" name="Text 16"/>
          <p:cNvSpPr txBox="1"/>
          <p:nvPr/>
        </p:nvSpPr>
        <p:spPr>
          <a:xfrm>
            <a:off x="1261872" y="3785616"/>
            <a:ext cx="3867912" cy="859536"/>
          </a:xfrm>
          <a:prstGeom prst="rect">
            <a:avLst/>
          </a:prstGeom>
          <a:noFill/>
          <a:ln/>
        </p:spPr>
        <p:txBody>
          <a:bodyPr wrap="square" lIns="0" tIns="0" rIns="0" bIns="0" rtlCol="0" anchor="ctr"/>
          <a:lstStyle/>
          <a:p>
            <a:pPr indent="0" marL="0">
              <a:buNone/>
            </a:pPr>
            <a:r>
              <a:rPr lang="en-US" sz="1700" b="1" dirty="0">
                <a:solidFill>
                  <a:schemeClr val="tx2"/>
                </a:solidFill>
              </a:rPr>
              <a:t>Is there a form of </a:t>
            </a:r>
            <a:r>
              <a:rPr lang="en-US" sz="1700" b="1" dirty="0">
                <a:solidFill>
                  <a:schemeClr val="tx2"/>
                </a:solidFill>
              </a:rPr>
              <a:t>be</a:t>
            </a:r>
            <a:r>
              <a:rPr lang="en-US" sz="1700" b="1" dirty="0">
                <a:solidFill>
                  <a:schemeClr val="tx2"/>
                </a:solidFill>
              </a:rPr>
              <a:t> before it?</a:t>
            </a:r>
            <a:endParaRPr lang="en-US" sz="1700" dirty="0"/>
          </a:p>
          <a:p>
            <a:pPr indent="0" marL="0">
              <a:buNone/>
            </a:pPr>
            <a:r>
              <a:rPr lang="en-US" sz="1300" i="1" dirty="0">
                <a:solidFill>
                  <a:schemeClr val="accent5"/>
                </a:solidFill>
              </a:rPr>
              <a:t>was · were · is · has been — the passive</a:t>
            </a:r>
            <a:endParaRPr lang="en-US" sz="1700" dirty="0"/>
          </a:p>
        </p:txBody>
      </p:sp>
      <p:sp>
        <p:nvSpPr>
          <p:cNvPr id="22" name="Shape 17"/>
          <p:cNvSpPr/>
          <p:nvPr/>
        </p:nvSpPr>
        <p:spPr>
          <a:xfrm>
            <a:off x="5276088" y="4215384"/>
            <a:ext cx="859536" cy="0"/>
          </a:xfrm>
          <a:prstGeom prst="line">
            <a:avLst/>
          </a:prstGeom>
          <a:noFill/>
          <a:ln w="22225">
            <a:solidFill>
              <a:srgbClr val="3C7A3C"/>
            </a:solidFill>
            <a:prstDash val="solid"/>
            <a:tailEnd type="triangle"/>
          </a:ln>
        </p:spPr>
      </p:sp>
      <p:sp>
        <p:nvSpPr>
          <p:cNvPr id="23" name="Text 18"/>
          <p:cNvSpPr txBox="1"/>
          <p:nvPr/>
        </p:nvSpPr>
        <p:spPr>
          <a:xfrm>
            <a:off x="5257800" y="3904488"/>
            <a:ext cx="914400" cy="274320"/>
          </a:xfrm>
          <a:prstGeom prst="rect">
            <a:avLst/>
          </a:prstGeom>
          <a:noFill/>
          <a:ln/>
        </p:spPr>
        <p:txBody>
          <a:bodyPr wrap="square" lIns="0" tIns="0" rIns="0" bIns="0" rtlCol="0" anchor="ctr"/>
          <a:lstStyle/>
          <a:p>
            <a:pPr algn="ctr" indent="0" marL="0">
              <a:buNone/>
            </a:pPr>
            <a:r>
              <a:rPr lang="en-US" sz="1200" b="1" dirty="0">
                <a:solidFill>
                  <a:schemeClr val="accent3"/>
                </a:solidFill>
              </a:rPr>
              <a:t>YES</a:t>
            </a:r>
            <a:endParaRPr lang="en-US" sz="1200" dirty="0"/>
          </a:p>
        </p:txBody>
      </p:sp>
      <p:sp>
        <p:nvSpPr>
          <p:cNvPr id="24" name="Shape 19"/>
          <p:cNvSpPr/>
          <p:nvPr/>
        </p:nvSpPr>
        <p:spPr>
          <a:xfrm>
            <a:off x="6172200" y="3749040"/>
            <a:ext cx="5468112" cy="932688"/>
          </a:xfrm>
          <a:prstGeom prst="roundRect">
            <a:avLst>
              <a:gd name="adj" fmla="val 7843"/>
            </a:avLst>
          </a:prstGeom>
          <a:solidFill>
            <a:srgbClr val="3C7A3C">
              <a:alpha val="12000"/>
            </a:srgbClr>
          </a:solidFill>
          <a:ln w="19050">
            <a:solidFill>
              <a:srgbClr val="3C7A3C"/>
            </a:solidFill>
            <a:prstDash val="solid"/>
          </a:ln>
        </p:spPr>
      </p:sp>
      <p:sp>
        <p:nvSpPr>
          <p:cNvPr id="25" name="Text 20"/>
          <p:cNvSpPr txBox="1"/>
          <p:nvPr/>
        </p:nvSpPr>
        <p:spPr>
          <a:xfrm>
            <a:off x="6336792" y="3785616"/>
            <a:ext cx="5138928" cy="859536"/>
          </a:xfrm>
          <a:prstGeom prst="rect">
            <a:avLst/>
          </a:prstGeom>
          <a:noFill/>
          <a:ln/>
        </p:spPr>
        <p:txBody>
          <a:bodyPr wrap="square" lIns="0" tIns="0" rIns="0" bIns="0" rtlCol="0" anchor="ctr"/>
          <a:lstStyle/>
          <a:p>
            <a:pPr indent="0" marL="0">
              <a:buNone/>
            </a:pPr>
            <a:r>
              <a:rPr lang="en-US" sz="1600" b="1" spc="50" kern="0" dirty="0">
                <a:solidFill>
                  <a:schemeClr val="accent3"/>
                </a:solidFill>
              </a:rPr>
              <a:t>PAST PARTICIPLE (passive)</a:t>
            </a:r>
            <a:endParaRPr lang="en-US" sz="1600" dirty="0"/>
          </a:p>
          <a:p>
            <a:pPr indent="0" marL="0">
              <a:buNone/>
            </a:pPr>
            <a:r>
              <a:rPr lang="en-US" sz="1600" dirty="0">
                <a:solidFill>
                  <a:schemeClr val="tx1"/>
                </a:solidFill>
              </a:rPr>
              <a:t>The water </a:t>
            </a:r>
            <a:r>
              <a:rPr lang="en-US" sz="1600" b="1" dirty="0">
                <a:solidFill>
                  <a:schemeClr val="tx1"/>
                </a:solidFill>
              </a:rPr>
              <a:t>was </a:t>
            </a:r>
            <a:r>
              <a:rPr lang="en-US" sz="1600" b="1" dirty="0">
                <a:solidFill>
                  <a:schemeClr val="accent3"/>
                </a:solidFill>
              </a:rPr>
              <a:t>found</a:t>
            </a:r>
            <a:r>
              <a:rPr lang="en-US" sz="1600" dirty="0">
                <a:solidFill>
                  <a:schemeClr val="tx1"/>
                </a:solidFill>
              </a:rPr>
              <a:t> at 6.50.</a:t>
            </a:r>
            <a:endParaRPr lang="en-US" sz="1600" dirty="0"/>
          </a:p>
        </p:txBody>
      </p:sp>
      <p:sp>
        <p:nvSpPr>
          <p:cNvPr id="26" name="Shape 21"/>
          <p:cNvSpPr/>
          <p:nvPr/>
        </p:nvSpPr>
        <p:spPr>
          <a:xfrm>
            <a:off x="2903220" y="4700016"/>
            <a:ext cx="0" cy="310896"/>
          </a:xfrm>
          <a:prstGeom prst="line">
            <a:avLst/>
          </a:prstGeom>
          <a:noFill/>
          <a:ln w="22225">
            <a:solidFill>
              <a:srgbClr val="44546A"/>
            </a:solidFill>
            <a:prstDash val="solid"/>
            <a:tailEnd type="triangle"/>
          </a:ln>
        </p:spPr>
      </p:sp>
      <p:sp>
        <p:nvSpPr>
          <p:cNvPr id="27" name="Text 22"/>
          <p:cNvSpPr txBox="1"/>
          <p:nvPr/>
        </p:nvSpPr>
        <p:spPr>
          <a:xfrm>
            <a:off x="2994660" y="4681728"/>
            <a:ext cx="548640" cy="347472"/>
          </a:xfrm>
          <a:prstGeom prst="rect">
            <a:avLst/>
          </a:prstGeom>
          <a:noFill/>
          <a:ln/>
        </p:spPr>
        <p:txBody>
          <a:bodyPr wrap="square" lIns="0" tIns="0" rIns="0" bIns="0" rtlCol="0" anchor="ctr"/>
          <a:lstStyle/>
          <a:p>
            <a:pPr indent="0" marL="0">
              <a:buNone/>
            </a:pPr>
            <a:r>
              <a:rPr lang="en-US" sz="1200" b="1" dirty="0">
                <a:solidFill>
                  <a:schemeClr val="accent6"/>
                </a:solidFill>
              </a:rPr>
              <a:t>NO</a:t>
            </a:r>
            <a:endParaRPr lang="en-US" sz="1200" dirty="0"/>
          </a:p>
        </p:txBody>
      </p:sp>
      <p:sp>
        <p:nvSpPr>
          <p:cNvPr id="28" name="Shape 23"/>
          <p:cNvSpPr/>
          <p:nvPr/>
        </p:nvSpPr>
        <p:spPr>
          <a:xfrm>
            <a:off x="548640" y="5029200"/>
            <a:ext cx="4709160" cy="932688"/>
          </a:xfrm>
          <a:prstGeom prst="roundRect">
            <a:avLst>
              <a:gd name="adj" fmla="val 7843"/>
            </a:avLst>
          </a:prstGeom>
          <a:solidFill>
            <a:srgbClr val="B4236A">
              <a:alpha val="12000"/>
            </a:srgbClr>
          </a:solidFill>
          <a:ln w="19050">
            <a:solidFill>
              <a:srgbClr val="B4236A"/>
            </a:solidFill>
            <a:prstDash val="solid"/>
          </a:ln>
        </p:spPr>
      </p:sp>
      <p:sp>
        <p:nvSpPr>
          <p:cNvPr id="29" name="Text 24"/>
          <p:cNvSpPr txBox="1"/>
          <p:nvPr/>
        </p:nvSpPr>
        <p:spPr>
          <a:xfrm>
            <a:off x="713232" y="5065776"/>
            <a:ext cx="4379976" cy="859536"/>
          </a:xfrm>
          <a:prstGeom prst="rect">
            <a:avLst/>
          </a:prstGeom>
          <a:noFill/>
          <a:ln/>
        </p:spPr>
        <p:txBody>
          <a:bodyPr wrap="square" lIns="0" tIns="0" rIns="0" bIns="0" rtlCol="0" anchor="ctr"/>
          <a:lstStyle/>
          <a:p>
            <a:pPr indent="0" marL="0">
              <a:buNone/>
            </a:pPr>
            <a:r>
              <a:rPr lang="en-US" sz="1600" b="1" spc="50" kern="0" dirty="0">
                <a:solidFill>
                  <a:srgbClr val="B4236A"/>
                </a:solidFill>
              </a:rPr>
              <a:t>PAST SIMPLE — the dated fact</a:t>
            </a:r>
            <a:endParaRPr lang="en-US" sz="1600" dirty="0"/>
          </a:p>
          <a:p>
            <a:pPr indent="0" marL="0">
              <a:buNone/>
            </a:pPr>
            <a:r>
              <a:rPr lang="en-US" sz="1600" dirty="0">
                <a:solidFill>
                  <a:schemeClr val="tx1"/>
                </a:solidFill>
              </a:rPr>
              <a:t>The cleaners </a:t>
            </a:r>
            <a:r>
              <a:rPr lang="en-US" sz="1600" b="1" dirty="0">
                <a:solidFill>
                  <a:srgbClr val="B4236A"/>
                </a:solidFill>
              </a:rPr>
              <a:t>found</a:t>
            </a:r>
            <a:r>
              <a:rPr lang="en-US" sz="1600" dirty="0">
                <a:solidFill>
                  <a:schemeClr val="tx1"/>
                </a:solidFill>
              </a:rPr>
              <a:t> it at 6.50. The alarm </a:t>
            </a:r>
            <a:r>
              <a:rPr lang="en-US" sz="1600" b="1" dirty="0">
                <a:solidFill>
                  <a:srgbClr val="B4236A"/>
                </a:solidFill>
              </a:rPr>
              <a:t>went off</a:t>
            </a:r>
            <a:r>
              <a:rPr lang="en-US" sz="1600" dirty="0">
                <a:solidFill>
                  <a:schemeClr val="tx1"/>
                </a:solidFill>
              </a:rPr>
              <a:t> at 23:41.</a:t>
            </a:r>
            <a:endParaRPr lang="en-US" sz="1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The 22 verbs of a report, in four families</a:t>
            </a:r>
            <a:endParaRPr lang="en-US" sz="3200" dirty="0"/>
          </a:p>
        </p:txBody>
      </p:sp>
      <p:sp>
        <p:nvSpPr>
          <p:cNvPr id="3" name="tag"/>
          <p:cNvSpPr/>
          <p:nvPr/>
        </p:nvSpPr>
        <p:spPr>
          <a:xfrm>
            <a:off x="548640" y="384048"/>
            <a:ext cx="1508760" cy="310896"/>
          </a:xfrm>
          <a:prstGeom prst="roundRect">
            <a:avLst>
              <a:gd name="adj" fmla="val 14706"/>
            </a:avLst>
          </a:prstGeom>
          <a:solidFill>
            <a:srgbClr val="3C7A3C"/>
          </a:solidFill>
          <a:ln/>
        </p:spPr>
        <p:txBody>
          <a:bodyPr wrap="square" lIns="0" tIns="0" rIns="0" bIns="0" rtlCol="0" anchor="ctr"/>
          <a:lstStyle/>
          <a:p>
            <a:pPr algn="ctr" indent="0" marL="0">
              <a:buNone/>
            </a:pPr>
            <a:r>
              <a:rPr lang="en-US" sz="1200" b="1" spc="100" kern="0" dirty="0">
                <a:solidFill>
                  <a:schemeClr val="bg1"/>
                </a:solidFill>
              </a:rPr>
              <a:t>VOCABULARY</a:t>
            </a:r>
            <a:endParaRPr lang="en-US" sz="1200" dirty="0"/>
          </a:p>
        </p:txBody>
      </p:sp>
      <p:sp>
        <p:nvSpPr>
          <p:cNvPr id="4" name="Text 2"/>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livret</a:t>
            </a:r>
            <a:endParaRPr lang="en-US" sz="1200" dirty="0"/>
          </a:p>
        </p:txBody>
      </p:sp>
      <p:sp>
        <p:nvSpPr>
          <p:cNvPr id="6" name="Shape 3"/>
          <p:cNvSpPr/>
          <p:nvPr/>
        </p:nvSpPr>
        <p:spPr>
          <a:xfrm>
            <a:off x="548640" y="1783080"/>
            <a:ext cx="2567178" cy="4526280"/>
          </a:xfrm>
          <a:prstGeom prst="roundRect">
            <a:avLst>
              <a:gd name="adj" fmla="val 3562"/>
            </a:avLst>
          </a:prstGeom>
          <a:solidFill>
            <a:srgbClr val="FFFFFF"/>
          </a:solidFill>
          <a:ln w="12700">
            <a:solidFill>
              <a:srgbClr val="D5DCE6"/>
            </a:solidFill>
            <a:prstDash val="solid"/>
          </a:ln>
          <a:effectLst>
            <a:outerShdw sx="100000" sy="100000" kx="0" ky="0" algn="bl" rotWithShape="0" blurRad="101600" dist="25400" dir="3600000">
              <a:srgbClr val="000000">
                <a:alpha val="18000"/>
              </a:srgbClr>
            </a:outerShdw>
          </a:effectLst>
        </p:spPr>
      </p:sp>
      <p:sp>
        <p:nvSpPr>
          <p:cNvPr id="7" name="Shape 4"/>
          <p:cNvSpPr/>
          <p:nvPr/>
        </p:nvSpPr>
        <p:spPr>
          <a:xfrm>
            <a:off x="548640" y="1783080"/>
            <a:ext cx="2567178" cy="502920"/>
          </a:xfrm>
          <a:prstGeom prst="roundRect">
            <a:avLst>
              <a:gd name="adj" fmla="val 18182"/>
            </a:avLst>
          </a:prstGeom>
          <a:solidFill>
            <a:srgbClr val="44546A"/>
          </a:solidFill>
          <a:ln/>
        </p:spPr>
      </p:sp>
      <p:sp>
        <p:nvSpPr>
          <p:cNvPr id="8" name="Shape 5"/>
          <p:cNvSpPr/>
          <p:nvPr/>
        </p:nvSpPr>
        <p:spPr>
          <a:xfrm>
            <a:off x="548640" y="2057400"/>
            <a:ext cx="2567178" cy="228600"/>
          </a:xfrm>
          <a:prstGeom prst="rect">
            <a:avLst/>
          </a:prstGeom>
          <a:solidFill>
            <a:srgbClr val="44546A"/>
          </a:solidFill>
          <a:ln/>
        </p:spPr>
      </p:sp>
      <p:sp>
        <p:nvSpPr>
          <p:cNvPr id="9" name="Text 6"/>
          <p:cNvSpPr txBox="1"/>
          <p:nvPr/>
        </p:nvSpPr>
        <p:spPr>
          <a:xfrm>
            <a:off x="731520" y="1783080"/>
            <a:ext cx="1835658" cy="502920"/>
          </a:xfrm>
          <a:prstGeom prst="rect">
            <a:avLst/>
          </a:prstGeom>
          <a:noFill/>
          <a:ln/>
        </p:spPr>
        <p:txBody>
          <a:bodyPr wrap="square" lIns="0" tIns="0" rIns="0" bIns="0" rtlCol="0" anchor="ctr"/>
          <a:lstStyle/>
          <a:p>
            <a:pPr indent="0" marL="0">
              <a:buNone/>
            </a:pPr>
            <a:r>
              <a:rPr lang="en-US" sz="1400" b="1" spc="100" kern="0" dirty="0">
                <a:solidFill>
                  <a:schemeClr val="bg1"/>
                </a:solidFill>
              </a:rPr>
              <a:t>ALL THE SAME</a:t>
            </a:r>
            <a:endParaRPr lang="en-US" sz="1400" dirty="0"/>
          </a:p>
        </p:txBody>
      </p:sp>
      <p:sp>
        <p:nvSpPr>
          <p:cNvPr id="10" name="Text 7"/>
          <p:cNvSpPr txBox="1"/>
          <p:nvPr/>
        </p:nvSpPr>
        <p:spPr>
          <a:xfrm>
            <a:off x="731520" y="2404872"/>
            <a:ext cx="2201418" cy="457200"/>
          </a:xfrm>
          <a:prstGeom prst="rect">
            <a:avLst/>
          </a:prstGeom>
          <a:noFill/>
          <a:ln/>
        </p:spPr>
        <p:txBody>
          <a:bodyPr wrap="square" lIns="0" tIns="0" rIns="0" bIns="0" rtlCol="0" anchor="ctr"/>
          <a:lstStyle/>
          <a:p>
            <a:pPr indent="0" marL="0">
              <a:buNone/>
            </a:pPr>
            <a:r>
              <a:rPr lang="en-US" sz="2600" b="1" dirty="0">
                <a:solidFill>
                  <a:schemeClr val="accent5"/>
                </a:solidFill>
                <a:latin typeface="+mj-lt" pitchFamily="34" charset="0"/>
                <a:ea typeface="+mj-lt" pitchFamily="34" charset="-122"/>
                <a:cs typeface="+mj-lt" pitchFamily="34" charset="-120"/>
              </a:rPr>
              <a:t>A · A · A</a:t>
            </a:r>
            <a:endParaRPr lang="en-US" sz="2600" dirty="0"/>
          </a:p>
        </p:txBody>
      </p:sp>
      <p:sp>
        <p:nvSpPr>
          <p:cNvPr id="11" name="Text 8"/>
          <p:cNvSpPr txBox="1"/>
          <p:nvPr/>
        </p:nvSpPr>
        <p:spPr>
          <a:xfrm>
            <a:off x="731520" y="2926080"/>
            <a:ext cx="2201418" cy="3273552"/>
          </a:xfrm>
          <a:prstGeom prst="rect">
            <a:avLst/>
          </a:prstGeom>
          <a:noFill/>
          <a:ln/>
        </p:spPr>
        <p:txBody>
          <a:bodyPr wrap="square" lIns="0" tIns="0" rIns="0" bIns="0" rtlCol="0" anchor="t"/>
          <a:lstStyle/>
          <a:p>
            <a:pPr indent="0" marL="0">
              <a:spcAft>
                <a:spcPts val="400"/>
              </a:spcAft>
              <a:buNone/>
            </a:pPr>
            <a:r>
              <a:rPr lang="en-US" sz="1500" dirty="0">
                <a:solidFill>
                  <a:schemeClr val="tx1"/>
                </a:solidFill>
              </a:rPr>
              <a:t>shut · shut · </a:t>
            </a:r>
            <a:r>
              <a:rPr lang="en-US" sz="1500" b="1" dirty="0">
                <a:solidFill>
                  <a:schemeClr val="accent3"/>
                </a:solidFill>
              </a:rPr>
              <a:t>shut</a:t>
            </a:r>
            <a:endParaRPr lang="en-US" sz="1500" dirty="0"/>
          </a:p>
          <a:p>
            <a:pPr indent="0" marL="0">
              <a:spcAft>
                <a:spcPts val="400"/>
              </a:spcAft>
              <a:buNone/>
            </a:pPr>
            <a:r>
              <a:rPr lang="en-US" sz="1500" dirty="0">
                <a:solidFill>
                  <a:schemeClr val="tx1"/>
                </a:solidFill>
              </a:rPr>
              <a:t>put · put · </a:t>
            </a:r>
            <a:r>
              <a:rPr lang="en-US" sz="1500" b="1" dirty="0">
                <a:solidFill>
                  <a:schemeClr val="accent3"/>
                </a:solidFill>
              </a:rPr>
              <a:t>put</a:t>
            </a:r>
            <a:endParaRPr lang="en-US" sz="1500" dirty="0"/>
          </a:p>
          <a:p>
            <a:pPr indent="0" marL="0">
              <a:spcAft>
                <a:spcPts val="400"/>
              </a:spcAft>
              <a:buNone/>
            </a:pPr>
            <a:r>
              <a:rPr lang="en-US" sz="1500" dirty="0">
                <a:solidFill>
                  <a:schemeClr val="tx1"/>
                </a:solidFill>
              </a:rPr>
              <a:t>cut · cut · </a:t>
            </a:r>
            <a:r>
              <a:rPr lang="en-US" sz="1500" b="1" dirty="0">
                <a:solidFill>
                  <a:schemeClr val="accent3"/>
                </a:solidFill>
              </a:rPr>
              <a:t>cut</a:t>
            </a:r>
            <a:endParaRPr lang="en-US" sz="1500" dirty="0"/>
          </a:p>
          <a:p>
            <a:pPr indent="0" marL="0">
              <a:spcAft>
                <a:spcPts val="400"/>
              </a:spcAft>
              <a:buNone/>
            </a:pPr>
            <a:r>
              <a:rPr lang="en-US" sz="1500" dirty="0">
                <a:solidFill>
                  <a:schemeClr val="tx1"/>
                </a:solidFill>
              </a:rPr>
              <a:t>let · let · </a:t>
            </a:r>
            <a:r>
              <a:rPr lang="en-US" sz="1500" b="1" dirty="0">
                <a:solidFill>
                  <a:schemeClr val="accent3"/>
                </a:solidFill>
              </a:rPr>
              <a:t>let</a:t>
            </a:r>
            <a:endParaRPr lang="en-US" sz="1500" dirty="0"/>
          </a:p>
          <a:p>
            <a:pPr indent="0" marL="0">
              <a:spcAft>
                <a:spcPts val="400"/>
              </a:spcAft>
              <a:buNone/>
            </a:pPr>
            <a:r>
              <a:rPr lang="en-US" sz="1500" dirty="0">
                <a:solidFill>
                  <a:schemeClr val="tx1"/>
                </a:solidFill>
              </a:rPr>
              <a:t>set · set · </a:t>
            </a:r>
            <a:r>
              <a:rPr lang="en-US" sz="1500" b="1" dirty="0">
                <a:solidFill>
                  <a:schemeClr val="accent3"/>
                </a:solidFill>
              </a:rPr>
              <a:t>set</a:t>
            </a:r>
            <a:endParaRPr lang="en-US" sz="1500" dirty="0"/>
          </a:p>
          <a:p>
            <a:pPr indent="0" marL="0">
              <a:spcAft>
                <a:spcPts val="400"/>
              </a:spcAft>
              <a:buNone/>
            </a:pPr>
            <a:r>
              <a:rPr lang="en-US" sz="1500" dirty="0">
                <a:solidFill>
                  <a:schemeClr val="tx1"/>
                </a:solidFill>
              </a:rPr>
              <a:t>cost · cost · </a:t>
            </a:r>
            <a:r>
              <a:rPr lang="en-US" sz="1500" b="1" dirty="0">
                <a:solidFill>
                  <a:schemeClr val="accent3"/>
                </a:solidFill>
              </a:rPr>
              <a:t>cost</a:t>
            </a:r>
            <a:endParaRPr lang="en-US" sz="1500" dirty="0"/>
          </a:p>
        </p:txBody>
      </p:sp>
      <p:sp>
        <p:nvSpPr>
          <p:cNvPr id="12" name="Shape 9"/>
          <p:cNvSpPr/>
          <p:nvPr/>
        </p:nvSpPr>
        <p:spPr>
          <a:xfrm>
            <a:off x="3390138" y="1783080"/>
            <a:ext cx="2567178" cy="4526280"/>
          </a:xfrm>
          <a:prstGeom prst="roundRect">
            <a:avLst>
              <a:gd name="adj" fmla="val 3562"/>
            </a:avLst>
          </a:prstGeom>
          <a:solidFill>
            <a:srgbClr val="FFFFFF"/>
          </a:solidFill>
          <a:ln w="12700">
            <a:solidFill>
              <a:srgbClr val="D5DCE6"/>
            </a:solidFill>
            <a:prstDash val="solid"/>
          </a:ln>
          <a:effectLst>
            <a:outerShdw sx="100000" sy="100000" kx="0" ky="0" algn="bl" rotWithShape="0" blurRad="101600" dist="25400" dir="3600000">
              <a:srgbClr val="000000">
                <a:alpha val="18000"/>
              </a:srgbClr>
            </a:outerShdw>
          </a:effectLst>
        </p:spPr>
      </p:sp>
      <p:sp>
        <p:nvSpPr>
          <p:cNvPr id="13" name="Shape 10"/>
          <p:cNvSpPr/>
          <p:nvPr/>
        </p:nvSpPr>
        <p:spPr>
          <a:xfrm>
            <a:off x="3390138" y="1783080"/>
            <a:ext cx="2567178" cy="502920"/>
          </a:xfrm>
          <a:prstGeom prst="roundRect">
            <a:avLst>
              <a:gd name="adj" fmla="val 18182"/>
            </a:avLst>
          </a:prstGeom>
          <a:solidFill>
            <a:srgbClr val="2E75B6"/>
          </a:solidFill>
          <a:ln/>
        </p:spPr>
      </p:sp>
      <p:sp>
        <p:nvSpPr>
          <p:cNvPr id="14" name="Shape 11"/>
          <p:cNvSpPr/>
          <p:nvPr/>
        </p:nvSpPr>
        <p:spPr>
          <a:xfrm>
            <a:off x="3390138" y="2057400"/>
            <a:ext cx="2567178" cy="228600"/>
          </a:xfrm>
          <a:prstGeom prst="rect">
            <a:avLst/>
          </a:prstGeom>
          <a:solidFill>
            <a:srgbClr val="2E75B6"/>
          </a:solidFill>
          <a:ln/>
        </p:spPr>
      </p:sp>
      <p:sp>
        <p:nvSpPr>
          <p:cNvPr id="15" name="Text 12"/>
          <p:cNvSpPr txBox="1"/>
          <p:nvPr/>
        </p:nvSpPr>
        <p:spPr>
          <a:xfrm>
            <a:off x="3573018" y="1783080"/>
            <a:ext cx="1835658" cy="502920"/>
          </a:xfrm>
          <a:prstGeom prst="rect">
            <a:avLst/>
          </a:prstGeom>
          <a:noFill/>
          <a:ln/>
        </p:spPr>
        <p:txBody>
          <a:bodyPr wrap="square" lIns="0" tIns="0" rIns="0" bIns="0" rtlCol="0" anchor="ctr"/>
          <a:lstStyle/>
          <a:p>
            <a:pPr indent="0" marL="0">
              <a:buNone/>
            </a:pPr>
            <a:r>
              <a:rPr lang="en-US" sz="1400" b="1" spc="100" kern="0" dirty="0">
                <a:solidFill>
                  <a:schemeClr val="bg1"/>
                </a:solidFill>
              </a:rPr>
              <a:t>PAST = PARTICIPLE</a:t>
            </a:r>
            <a:endParaRPr lang="en-US" sz="1400" dirty="0"/>
          </a:p>
        </p:txBody>
      </p:sp>
      <p:sp>
        <p:nvSpPr>
          <p:cNvPr id="16" name="Text 13"/>
          <p:cNvSpPr txBox="1"/>
          <p:nvPr/>
        </p:nvSpPr>
        <p:spPr>
          <a:xfrm>
            <a:off x="3573018" y="2404872"/>
            <a:ext cx="2201418" cy="457200"/>
          </a:xfrm>
          <a:prstGeom prst="rect">
            <a:avLst/>
          </a:prstGeom>
          <a:noFill/>
          <a:ln/>
        </p:spPr>
        <p:txBody>
          <a:bodyPr wrap="square" lIns="0" tIns="0" rIns="0" bIns="0" rtlCol="0" anchor="ctr"/>
          <a:lstStyle/>
          <a:p>
            <a:pPr indent="0" marL="0">
              <a:buNone/>
            </a:pPr>
            <a:r>
              <a:rPr lang="en-US" sz="2600" b="1" dirty="0">
                <a:solidFill>
                  <a:schemeClr val="accent2"/>
                </a:solidFill>
                <a:latin typeface="+mj-lt" pitchFamily="34" charset="0"/>
                <a:ea typeface="+mj-lt" pitchFamily="34" charset="-122"/>
                <a:cs typeface="+mj-lt" pitchFamily="34" charset="-120"/>
              </a:rPr>
              <a:t>A · B · B</a:t>
            </a:r>
            <a:endParaRPr lang="en-US" sz="2600" dirty="0"/>
          </a:p>
        </p:txBody>
      </p:sp>
      <p:sp>
        <p:nvSpPr>
          <p:cNvPr id="17" name="Text 14"/>
          <p:cNvSpPr txBox="1"/>
          <p:nvPr/>
        </p:nvSpPr>
        <p:spPr>
          <a:xfrm>
            <a:off x="3573018" y="2926080"/>
            <a:ext cx="2201418" cy="3273552"/>
          </a:xfrm>
          <a:prstGeom prst="rect">
            <a:avLst/>
          </a:prstGeom>
          <a:noFill/>
          <a:ln/>
        </p:spPr>
        <p:txBody>
          <a:bodyPr wrap="square" lIns="0" tIns="0" rIns="0" bIns="0" rtlCol="0" anchor="t"/>
          <a:lstStyle/>
          <a:p>
            <a:pPr indent="0" marL="0">
              <a:spcAft>
                <a:spcPts val="400"/>
              </a:spcAft>
              <a:buNone/>
            </a:pPr>
            <a:r>
              <a:rPr lang="en-US" sz="1500" dirty="0">
                <a:solidFill>
                  <a:schemeClr val="tx1"/>
                </a:solidFill>
              </a:rPr>
              <a:t>find · found · </a:t>
            </a:r>
            <a:r>
              <a:rPr lang="en-US" sz="1500" b="1" dirty="0">
                <a:solidFill>
                  <a:schemeClr val="accent3"/>
                </a:solidFill>
              </a:rPr>
              <a:t>found</a:t>
            </a:r>
            <a:endParaRPr lang="en-US" sz="1500" dirty="0"/>
          </a:p>
          <a:p>
            <a:pPr indent="0" marL="0">
              <a:spcAft>
                <a:spcPts val="400"/>
              </a:spcAft>
              <a:buNone/>
            </a:pPr>
            <a:r>
              <a:rPr lang="en-US" sz="1500" dirty="0">
                <a:solidFill>
                  <a:schemeClr val="tx1"/>
                </a:solidFill>
              </a:rPr>
              <a:t>leave · left · </a:t>
            </a:r>
            <a:r>
              <a:rPr lang="en-US" sz="1500" b="1" dirty="0">
                <a:solidFill>
                  <a:schemeClr val="accent3"/>
                </a:solidFill>
              </a:rPr>
              <a:t>left</a:t>
            </a:r>
            <a:endParaRPr lang="en-US" sz="1500" dirty="0"/>
          </a:p>
          <a:p>
            <a:pPr indent="0" marL="0">
              <a:spcAft>
                <a:spcPts val="400"/>
              </a:spcAft>
              <a:buNone/>
            </a:pPr>
            <a:r>
              <a:rPr lang="en-US" sz="1500" dirty="0">
                <a:solidFill>
                  <a:schemeClr val="tx1"/>
                </a:solidFill>
              </a:rPr>
              <a:t>hear · heard · </a:t>
            </a:r>
            <a:r>
              <a:rPr lang="en-US" sz="1500" b="1" dirty="0">
                <a:solidFill>
                  <a:schemeClr val="accent3"/>
                </a:solidFill>
              </a:rPr>
              <a:t>heard</a:t>
            </a:r>
            <a:endParaRPr lang="en-US" sz="1500" dirty="0"/>
          </a:p>
          <a:p>
            <a:pPr indent="0" marL="0">
              <a:spcAft>
                <a:spcPts val="400"/>
              </a:spcAft>
              <a:buNone/>
            </a:pPr>
            <a:r>
              <a:rPr lang="en-US" sz="1500" dirty="0">
                <a:solidFill>
                  <a:schemeClr val="tx1"/>
                </a:solidFill>
              </a:rPr>
              <a:t>send · sent · </a:t>
            </a:r>
            <a:r>
              <a:rPr lang="en-US" sz="1500" b="1" dirty="0">
                <a:solidFill>
                  <a:schemeClr val="accent3"/>
                </a:solidFill>
              </a:rPr>
              <a:t>sent</a:t>
            </a:r>
            <a:endParaRPr lang="en-US" sz="1500" dirty="0"/>
          </a:p>
          <a:p>
            <a:pPr indent="0" marL="0">
              <a:spcAft>
                <a:spcPts val="400"/>
              </a:spcAft>
              <a:buNone/>
            </a:pPr>
            <a:r>
              <a:rPr lang="en-US" sz="1500" dirty="0">
                <a:solidFill>
                  <a:schemeClr val="tx1"/>
                </a:solidFill>
              </a:rPr>
              <a:t>tell · told · </a:t>
            </a:r>
            <a:r>
              <a:rPr lang="en-US" sz="1500" b="1" dirty="0">
                <a:solidFill>
                  <a:schemeClr val="accent3"/>
                </a:solidFill>
              </a:rPr>
              <a:t>told</a:t>
            </a:r>
            <a:endParaRPr lang="en-US" sz="1500" dirty="0"/>
          </a:p>
          <a:p>
            <a:pPr indent="0" marL="0">
              <a:spcAft>
                <a:spcPts val="400"/>
              </a:spcAft>
              <a:buNone/>
            </a:pPr>
            <a:r>
              <a:rPr lang="en-US" sz="1500" dirty="0">
                <a:solidFill>
                  <a:schemeClr val="tx1"/>
                </a:solidFill>
              </a:rPr>
              <a:t>bring · brought · </a:t>
            </a:r>
            <a:r>
              <a:rPr lang="en-US" sz="1500" b="1" dirty="0">
                <a:solidFill>
                  <a:schemeClr val="accent3"/>
                </a:solidFill>
              </a:rPr>
              <a:t>brought</a:t>
            </a:r>
            <a:endParaRPr lang="en-US" sz="1500" dirty="0"/>
          </a:p>
          <a:p>
            <a:pPr indent="0" marL="0">
              <a:spcAft>
                <a:spcPts val="400"/>
              </a:spcAft>
              <a:buNone/>
            </a:pPr>
            <a:r>
              <a:rPr lang="en-US" sz="1500" dirty="0">
                <a:solidFill>
                  <a:schemeClr val="tx1"/>
                </a:solidFill>
              </a:rPr>
              <a:t>make · made · </a:t>
            </a:r>
            <a:r>
              <a:rPr lang="en-US" sz="1500" b="1" dirty="0">
                <a:solidFill>
                  <a:schemeClr val="accent3"/>
                </a:solidFill>
              </a:rPr>
              <a:t>made</a:t>
            </a:r>
            <a:endParaRPr lang="en-US" sz="1500" dirty="0"/>
          </a:p>
          <a:p>
            <a:pPr indent="0" marL="0">
              <a:spcAft>
                <a:spcPts val="400"/>
              </a:spcAft>
              <a:buNone/>
            </a:pPr>
            <a:r>
              <a:rPr lang="en-US" sz="1500" dirty="0">
                <a:solidFill>
                  <a:schemeClr val="tx1"/>
                </a:solidFill>
              </a:rPr>
              <a:t>have · had · </a:t>
            </a:r>
            <a:r>
              <a:rPr lang="en-US" sz="1500" b="1" dirty="0">
                <a:solidFill>
                  <a:schemeClr val="accent3"/>
                </a:solidFill>
              </a:rPr>
              <a:t>had</a:t>
            </a:r>
            <a:endParaRPr lang="en-US" sz="1500" dirty="0"/>
          </a:p>
          <a:p>
            <a:pPr indent="0" marL="0">
              <a:spcAft>
                <a:spcPts val="400"/>
              </a:spcAft>
              <a:buNone/>
            </a:pPr>
            <a:r>
              <a:rPr lang="en-US" sz="1500" dirty="0">
                <a:solidFill>
                  <a:schemeClr val="tx1"/>
                </a:solidFill>
              </a:rPr>
              <a:t>get · got · </a:t>
            </a:r>
            <a:r>
              <a:rPr lang="en-US" sz="1500" b="1" dirty="0">
                <a:solidFill>
                  <a:schemeClr val="accent3"/>
                </a:solidFill>
              </a:rPr>
              <a:t>got</a:t>
            </a:r>
            <a:endParaRPr lang="en-US" sz="1500" dirty="0"/>
          </a:p>
        </p:txBody>
      </p:sp>
      <p:sp>
        <p:nvSpPr>
          <p:cNvPr id="18" name="Shape 15"/>
          <p:cNvSpPr/>
          <p:nvPr/>
        </p:nvSpPr>
        <p:spPr>
          <a:xfrm>
            <a:off x="6231636" y="1783080"/>
            <a:ext cx="2567178" cy="4526280"/>
          </a:xfrm>
          <a:prstGeom prst="roundRect">
            <a:avLst>
              <a:gd name="adj" fmla="val 3562"/>
            </a:avLst>
          </a:prstGeom>
          <a:solidFill>
            <a:srgbClr val="FFFFFF"/>
          </a:solidFill>
          <a:ln w="12700">
            <a:solidFill>
              <a:srgbClr val="D5DCE6"/>
            </a:solidFill>
            <a:prstDash val="solid"/>
          </a:ln>
          <a:effectLst>
            <a:outerShdw sx="100000" sy="100000" kx="0" ky="0" algn="bl" rotWithShape="0" blurRad="101600" dist="25400" dir="3600000">
              <a:srgbClr val="000000">
                <a:alpha val="18000"/>
              </a:srgbClr>
            </a:outerShdw>
          </a:effectLst>
        </p:spPr>
      </p:sp>
      <p:sp>
        <p:nvSpPr>
          <p:cNvPr id="19" name="Shape 16"/>
          <p:cNvSpPr/>
          <p:nvPr/>
        </p:nvSpPr>
        <p:spPr>
          <a:xfrm>
            <a:off x="6231636" y="1783080"/>
            <a:ext cx="2567178" cy="502920"/>
          </a:xfrm>
          <a:prstGeom prst="roundRect">
            <a:avLst>
              <a:gd name="adj" fmla="val 18182"/>
            </a:avLst>
          </a:prstGeom>
          <a:solidFill>
            <a:srgbClr val="C0752A"/>
          </a:solidFill>
          <a:ln/>
        </p:spPr>
      </p:sp>
      <p:sp>
        <p:nvSpPr>
          <p:cNvPr id="20" name="Shape 17"/>
          <p:cNvSpPr/>
          <p:nvPr/>
        </p:nvSpPr>
        <p:spPr>
          <a:xfrm>
            <a:off x="6231636" y="2057400"/>
            <a:ext cx="2567178" cy="228600"/>
          </a:xfrm>
          <a:prstGeom prst="rect">
            <a:avLst/>
          </a:prstGeom>
          <a:solidFill>
            <a:srgbClr val="C0752A"/>
          </a:solidFill>
          <a:ln/>
        </p:spPr>
      </p:sp>
      <p:sp>
        <p:nvSpPr>
          <p:cNvPr id="21" name="Text 18"/>
          <p:cNvSpPr txBox="1"/>
          <p:nvPr/>
        </p:nvSpPr>
        <p:spPr>
          <a:xfrm>
            <a:off x="6414516" y="1783080"/>
            <a:ext cx="1835658" cy="502920"/>
          </a:xfrm>
          <a:prstGeom prst="rect">
            <a:avLst/>
          </a:prstGeom>
          <a:noFill/>
          <a:ln/>
        </p:spPr>
        <p:txBody>
          <a:bodyPr wrap="square" lIns="0" tIns="0" rIns="0" bIns="0" rtlCol="0" anchor="ctr"/>
          <a:lstStyle/>
          <a:p>
            <a:pPr indent="0" marL="0">
              <a:buNone/>
            </a:pPr>
            <a:r>
              <a:rPr lang="en-US" sz="1400" b="1" spc="100" kern="0" dirty="0">
                <a:solidFill>
                  <a:schemeClr val="bg1"/>
                </a:solidFill>
              </a:rPr>
              <a:t>BASE = PARTICIPLE</a:t>
            </a:r>
            <a:endParaRPr lang="en-US" sz="1400" dirty="0"/>
          </a:p>
        </p:txBody>
      </p:sp>
      <p:sp>
        <p:nvSpPr>
          <p:cNvPr id="22" name="Text 19"/>
          <p:cNvSpPr txBox="1"/>
          <p:nvPr/>
        </p:nvSpPr>
        <p:spPr>
          <a:xfrm>
            <a:off x="6414516" y="2404872"/>
            <a:ext cx="2201418" cy="457200"/>
          </a:xfrm>
          <a:prstGeom prst="rect">
            <a:avLst/>
          </a:prstGeom>
          <a:noFill/>
          <a:ln/>
        </p:spPr>
        <p:txBody>
          <a:bodyPr wrap="square" lIns="0" tIns="0" rIns="0" bIns="0" rtlCol="0" anchor="ctr"/>
          <a:lstStyle/>
          <a:p>
            <a:pPr indent="0" marL="0">
              <a:buNone/>
            </a:pPr>
            <a:r>
              <a:rPr lang="en-US" sz="2600" b="1" dirty="0">
                <a:solidFill>
                  <a:schemeClr val="accent1"/>
                </a:solidFill>
                <a:latin typeface="+mj-lt" pitchFamily="34" charset="0"/>
                <a:ea typeface="+mj-lt" pitchFamily="34" charset="-122"/>
                <a:cs typeface="+mj-lt" pitchFamily="34" charset="-120"/>
              </a:rPr>
              <a:t>A · B · A</a:t>
            </a:r>
            <a:endParaRPr lang="en-US" sz="2600" dirty="0"/>
          </a:p>
        </p:txBody>
      </p:sp>
      <p:sp>
        <p:nvSpPr>
          <p:cNvPr id="23" name="Text 20"/>
          <p:cNvSpPr txBox="1"/>
          <p:nvPr/>
        </p:nvSpPr>
        <p:spPr>
          <a:xfrm>
            <a:off x="6414516" y="2926080"/>
            <a:ext cx="2201418" cy="3273552"/>
          </a:xfrm>
          <a:prstGeom prst="rect">
            <a:avLst/>
          </a:prstGeom>
          <a:noFill/>
          <a:ln/>
        </p:spPr>
        <p:txBody>
          <a:bodyPr wrap="square" lIns="0" tIns="0" rIns="0" bIns="0" rtlCol="0" anchor="t"/>
          <a:lstStyle/>
          <a:p>
            <a:pPr indent="0" marL="0">
              <a:spcAft>
                <a:spcPts val="400"/>
              </a:spcAft>
              <a:buNone/>
            </a:pPr>
            <a:r>
              <a:rPr lang="en-US" sz="1500" dirty="0">
                <a:solidFill>
                  <a:schemeClr val="tx1"/>
                </a:solidFill>
              </a:rPr>
              <a:t>come · came · </a:t>
            </a:r>
            <a:r>
              <a:rPr lang="en-US" sz="1500" b="1" dirty="0">
                <a:solidFill>
                  <a:schemeClr val="accent3"/>
                </a:solidFill>
              </a:rPr>
              <a:t>come</a:t>
            </a:r>
            <a:endParaRPr lang="en-US" sz="1500" dirty="0"/>
          </a:p>
          <a:p>
            <a:pPr indent="0" marL="0">
              <a:spcAft>
                <a:spcPts val="400"/>
              </a:spcAft>
              <a:buNone/>
            </a:pPr>
            <a:r>
              <a:rPr lang="en-US" sz="1500" dirty="0">
                <a:solidFill>
                  <a:schemeClr val="tx1"/>
                </a:solidFill>
              </a:rPr>
              <a:t>run · ran · </a:t>
            </a:r>
            <a:r>
              <a:rPr lang="en-US" sz="1500" b="1" dirty="0">
                <a:solidFill>
                  <a:schemeClr val="accent3"/>
                </a:solidFill>
              </a:rPr>
              <a:t>run</a:t>
            </a:r>
            <a:endParaRPr lang="en-US" sz="1500" dirty="0"/>
          </a:p>
          <a:p>
            <a:pPr indent="0" marL="0">
              <a:spcAft>
                <a:spcPts val="400"/>
              </a:spcAft>
              <a:buNone/>
            </a:pPr>
            <a:r>
              <a:rPr lang="en-US" sz="1500" dirty="0">
                <a:solidFill>
                  <a:schemeClr val="tx1"/>
                </a:solidFill>
              </a:rPr>
              <a:t>become · became · </a:t>
            </a:r>
            <a:r>
              <a:rPr lang="en-US" sz="1500" b="1" dirty="0">
                <a:solidFill>
                  <a:schemeClr val="accent3"/>
                </a:solidFill>
              </a:rPr>
              <a:t>become</a:t>
            </a:r>
            <a:endParaRPr lang="en-US" sz="1500" dirty="0"/>
          </a:p>
        </p:txBody>
      </p:sp>
      <p:sp>
        <p:nvSpPr>
          <p:cNvPr id="24" name="Shape 21"/>
          <p:cNvSpPr/>
          <p:nvPr/>
        </p:nvSpPr>
        <p:spPr>
          <a:xfrm>
            <a:off x="9073134" y="1783080"/>
            <a:ext cx="2567178" cy="4526280"/>
          </a:xfrm>
          <a:prstGeom prst="roundRect">
            <a:avLst>
              <a:gd name="adj" fmla="val 3562"/>
            </a:avLst>
          </a:prstGeom>
          <a:solidFill>
            <a:srgbClr val="FFFFFF"/>
          </a:solidFill>
          <a:ln w="12700">
            <a:solidFill>
              <a:srgbClr val="D5DCE6"/>
            </a:solidFill>
            <a:prstDash val="solid"/>
          </a:ln>
          <a:effectLst>
            <a:outerShdw sx="100000" sy="100000" kx="0" ky="0" algn="bl" rotWithShape="0" blurRad="101600" dist="25400" dir="3600000">
              <a:srgbClr val="000000">
                <a:alpha val="18000"/>
              </a:srgbClr>
            </a:outerShdw>
          </a:effectLst>
        </p:spPr>
      </p:sp>
      <p:sp>
        <p:nvSpPr>
          <p:cNvPr id="25" name="Shape 22"/>
          <p:cNvSpPr/>
          <p:nvPr/>
        </p:nvSpPr>
        <p:spPr>
          <a:xfrm>
            <a:off x="9073134" y="1783080"/>
            <a:ext cx="2567178" cy="502920"/>
          </a:xfrm>
          <a:prstGeom prst="roundRect">
            <a:avLst>
              <a:gd name="adj" fmla="val 18182"/>
            </a:avLst>
          </a:prstGeom>
          <a:solidFill>
            <a:srgbClr val="B4236A"/>
          </a:solidFill>
          <a:ln/>
        </p:spPr>
      </p:sp>
      <p:sp>
        <p:nvSpPr>
          <p:cNvPr id="26" name="Shape 23"/>
          <p:cNvSpPr/>
          <p:nvPr/>
        </p:nvSpPr>
        <p:spPr>
          <a:xfrm>
            <a:off x="9073134" y="2057400"/>
            <a:ext cx="2567178" cy="228600"/>
          </a:xfrm>
          <a:prstGeom prst="rect">
            <a:avLst/>
          </a:prstGeom>
          <a:solidFill>
            <a:srgbClr val="B4236A"/>
          </a:solidFill>
          <a:ln/>
        </p:spPr>
      </p:sp>
      <p:sp>
        <p:nvSpPr>
          <p:cNvPr id="27" name="Text 24"/>
          <p:cNvSpPr txBox="1"/>
          <p:nvPr/>
        </p:nvSpPr>
        <p:spPr>
          <a:xfrm>
            <a:off x="9256014" y="1783080"/>
            <a:ext cx="1835658" cy="502920"/>
          </a:xfrm>
          <a:prstGeom prst="rect">
            <a:avLst/>
          </a:prstGeom>
          <a:noFill/>
          <a:ln/>
        </p:spPr>
        <p:txBody>
          <a:bodyPr wrap="square" lIns="0" tIns="0" rIns="0" bIns="0" rtlCol="0" anchor="ctr"/>
          <a:lstStyle/>
          <a:p>
            <a:pPr indent="0" marL="0">
              <a:buNone/>
            </a:pPr>
            <a:r>
              <a:rPr lang="en-US" sz="1400" b="1" spc="100" kern="0" dirty="0">
                <a:solidFill>
                  <a:schemeClr val="bg1"/>
                </a:solidFill>
              </a:rPr>
              <a:t>THREE FORMS</a:t>
            </a:r>
            <a:endParaRPr lang="en-US" sz="1400" dirty="0"/>
          </a:p>
        </p:txBody>
      </p:sp>
      <p:sp>
        <p:nvSpPr>
          <p:cNvPr id="28" name="Text 25"/>
          <p:cNvSpPr txBox="1"/>
          <p:nvPr/>
        </p:nvSpPr>
        <p:spPr>
          <a:xfrm>
            <a:off x="9256014" y="2404872"/>
            <a:ext cx="2201418" cy="457200"/>
          </a:xfrm>
          <a:prstGeom prst="rect">
            <a:avLst/>
          </a:prstGeom>
          <a:noFill/>
          <a:ln/>
        </p:spPr>
        <p:txBody>
          <a:bodyPr wrap="square" lIns="0" tIns="0" rIns="0" bIns="0" rtlCol="0" anchor="ctr"/>
          <a:lstStyle/>
          <a:p>
            <a:pPr indent="0" marL="0">
              <a:buNone/>
            </a:pPr>
            <a:r>
              <a:rPr lang="en-US" sz="2600" b="1" dirty="0">
                <a:solidFill>
                  <a:srgbClr val="B4236A"/>
                </a:solidFill>
                <a:latin typeface="+mj-lt" pitchFamily="34" charset="0"/>
                <a:ea typeface="+mj-lt" pitchFamily="34" charset="-122"/>
                <a:cs typeface="+mj-lt" pitchFamily="34" charset="-120"/>
              </a:rPr>
              <a:t>A · B · C</a:t>
            </a:r>
            <a:endParaRPr lang="en-US" sz="2600" dirty="0"/>
          </a:p>
        </p:txBody>
      </p:sp>
      <p:sp>
        <p:nvSpPr>
          <p:cNvPr id="29" name="Text 26"/>
          <p:cNvSpPr txBox="1"/>
          <p:nvPr/>
        </p:nvSpPr>
        <p:spPr>
          <a:xfrm>
            <a:off x="9256014" y="2926080"/>
            <a:ext cx="2201418" cy="3273552"/>
          </a:xfrm>
          <a:prstGeom prst="rect">
            <a:avLst/>
          </a:prstGeom>
          <a:noFill/>
          <a:ln/>
        </p:spPr>
        <p:txBody>
          <a:bodyPr wrap="square" lIns="0" tIns="0" rIns="0" bIns="0" rtlCol="0" anchor="t"/>
          <a:lstStyle/>
          <a:p>
            <a:pPr indent="0" marL="0">
              <a:spcAft>
                <a:spcPts val="400"/>
              </a:spcAft>
              <a:buNone/>
            </a:pPr>
            <a:r>
              <a:rPr lang="en-US" sz="1500" dirty="0">
                <a:solidFill>
                  <a:schemeClr val="tx1"/>
                </a:solidFill>
              </a:rPr>
              <a:t>be · was / were · </a:t>
            </a:r>
            <a:r>
              <a:rPr lang="en-US" sz="1500" b="1" dirty="0">
                <a:solidFill>
                  <a:schemeClr val="accent3"/>
                </a:solidFill>
              </a:rPr>
              <a:t>been</a:t>
            </a:r>
            <a:endParaRPr lang="en-US" sz="1500" dirty="0"/>
          </a:p>
          <a:p>
            <a:pPr indent="0" marL="0">
              <a:spcAft>
                <a:spcPts val="400"/>
              </a:spcAft>
              <a:buNone/>
            </a:pPr>
            <a:r>
              <a:rPr lang="en-US" sz="1500" dirty="0">
                <a:solidFill>
                  <a:schemeClr val="tx1"/>
                </a:solidFill>
              </a:rPr>
              <a:t>begin · began · </a:t>
            </a:r>
            <a:r>
              <a:rPr lang="en-US" sz="1500" b="1" dirty="0">
                <a:solidFill>
                  <a:schemeClr val="accent3"/>
                </a:solidFill>
              </a:rPr>
              <a:t>begun</a:t>
            </a:r>
            <a:endParaRPr lang="en-US" sz="1500" dirty="0"/>
          </a:p>
          <a:p>
            <a:pPr indent="0" marL="0">
              <a:spcAft>
                <a:spcPts val="400"/>
              </a:spcAft>
              <a:buNone/>
            </a:pPr>
            <a:r>
              <a:rPr lang="en-US" sz="1500" dirty="0">
                <a:solidFill>
                  <a:schemeClr val="tx1"/>
                </a:solidFill>
              </a:rPr>
              <a:t>break · broke · </a:t>
            </a:r>
            <a:r>
              <a:rPr lang="en-US" sz="1500" b="1" dirty="0">
                <a:solidFill>
                  <a:schemeClr val="accent3"/>
                </a:solidFill>
              </a:rPr>
              <a:t>broken</a:t>
            </a:r>
            <a:endParaRPr lang="en-US" sz="1500" dirty="0"/>
          </a:p>
          <a:p>
            <a:pPr indent="0" marL="0">
              <a:spcAft>
                <a:spcPts val="400"/>
              </a:spcAft>
              <a:buNone/>
            </a:pPr>
            <a:r>
              <a:rPr lang="en-US" sz="1500" dirty="0">
                <a:solidFill>
                  <a:schemeClr val="tx1"/>
                </a:solidFill>
              </a:rPr>
              <a:t>go · went · </a:t>
            </a:r>
            <a:r>
              <a:rPr lang="en-US" sz="1500" b="1" dirty="0">
                <a:solidFill>
                  <a:schemeClr val="accent3"/>
                </a:solidFill>
              </a:rPr>
              <a:t>gone</a:t>
            </a:r>
            <a:endParaRPr lang="en-US" sz="1500" dirty="0"/>
          </a:p>
          <a:p>
            <a:pPr indent="0" marL="0">
              <a:spcAft>
                <a:spcPts val="400"/>
              </a:spcAft>
              <a:buNone/>
            </a:pPr>
            <a:r>
              <a:rPr lang="en-US" sz="1500" dirty="0">
                <a:solidFill>
                  <a:schemeClr val="tx1"/>
                </a:solidFill>
              </a:rPr>
              <a:t>know · knew · </a:t>
            </a:r>
            <a:r>
              <a:rPr lang="en-US" sz="1500" b="1" dirty="0">
                <a:solidFill>
                  <a:schemeClr val="accent3"/>
                </a:solidFill>
              </a:rPr>
              <a:t>known</a:t>
            </a:r>
            <a:endParaRPr lang="en-US" sz="1500" dirty="0"/>
          </a:p>
          <a:p>
            <a:pPr indent="0" marL="0">
              <a:spcAft>
                <a:spcPts val="400"/>
              </a:spcAft>
              <a:buNone/>
            </a:pPr>
            <a:r>
              <a:rPr lang="en-US" sz="1500" dirty="0">
                <a:solidFill>
                  <a:schemeClr val="tx1"/>
                </a:solidFill>
              </a:rPr>
              <a:t>ring · rang · </a:t>
            </a:r>
            <a:r>
              <a:rPr lang="en-US" sz="1500" b="1" dirty="0">
                <a:solidFill>
                  <a:schemeClr val="accent3"/>
                </a:solidFill>
              </a:rPr>
              <a:t>rung</a:t>
            </a:r>
            <a:endParaRPr lang="en-US" sz="1500" dirty="0"/>
          </a:p>
          <a:p>
            <a:pPr indent="0" marL="0">
              <a:spcAft>
                <a:spcPts val="400"/>
              </a:spcAft>
              <a:buNone/>
            </a:pPr>
            <a:r>
              <a:rPr lang="en-US" sz="1500" dirty="0">
                <a:solidFill>
                  <a:schemeClr val="tx1"/>
                </a:solidFill>
              </a:rPr>
              <a:t>see · saw · </a:t>
            </a:r>
            <a:r>
              <a:rPr lang="en-US" sz="1500" b="1" dirty="0">
                <a:solidFill>
                  <a:schemeClr val="accent3"/>
                </a:solidFill>
              </a:rPr>
              <a:t>seen</a:t>
            </a:r>
            <a:endParaRPr lang="en-US" sz="1500" dirty="0"/>
          </a:p>
          <a:p>
            <a:pPr indent="0" marL="0">
              <a:spcAft>
                <a:spcPts val="400"/>
              </a:spcAft>
              <a:buNone/>
            </a:pPr>
            <a:r>
              <a:rPr lang="en-US" sz="1500" dirty="0">
                <a:solidFill>
                  <a:schemeClr val="tx1"/>
                </a:solidFill>
              </a:rPr>
              <a:t>speak · spoke · </a:t>
            </a:r>
            <a:r>
              <a:rPr lang="en-US" sz="1500" b="1" dirty="0">
                <a:solidFill>
                  <a:schemeClr val="accent3"/>
                </a:solidFill>
              </a:rPr>
              <a:t>spoken</a:t>
            </a:r>
            <a:endParaRPr lang="en-US" sz="1500" dirty="0"/>
          </a:p>
          <a:p>
            <a:pPr indent="0" marL="0">
              <a:spcAft>
                <a:spcPts val="400"/>
              </a:spcAft>
              <a:buNone/>
            </a:pPr>
            <a:r>
              <a:rPr lang="en-US" sz="1500" dirty="0">
                <a:solidFill>
                  <a:schemeClr val="tx1"/>
                </a:solidFill>
              </a:rPr>
              <a:t>take · took · </a:t>
            </a:r>
            <a:r>
              <a:rPr lang="en-US" sz="1500" b="1" dirty="0">
                <a:solidFill>
                  <a:schemeClr val="accent3"/>
                </a:solidFill>
              </a:rPr>
              <a:t>taken</a:t>
            </a:r>
            <a:endParaRPr lang="en-US" sz="1500" dirty="0"/>
          </a:p>
          <a:p>
            <a:pPr indent="0" marL="0">
              <a:spcAft>
                <a:spcPts val="400"/>
              </a:spcAft>
              <a:buNone/>
            </a:pPr>
            <a:r>
              <a:rPr lang="en-US" sz="1500" dirty="0">
                <a:solidFill>
                  <a:schemeClr val="tx1"/>
                </a:solidFill>
              </a:rPr>
              <a:t>write · wrote · </a:t>
            </a:r>
            <a:r>
              <a:rPr lang="en-US" sz="1500" b="1" dirty="0">
                <a:solidFill>
                  <a:schemeClr val="accent3"/>
                </a:solidFill>
              </a:rPr>
              <a:t>written</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Three-form relay</a:t>
            </a:r>
            <a:endParaRPr lang="en-US" sz="3200" dirty="0"/>
          </a:p>
        </p:txBody>
      </p:sp>
      <p:sp>
        <p:nvSpPr>
          <p:cNvPr id="3" name="tag"/>
          <p:cNvSpPr/>
          <p:nvPr/>
        </p:nvSpPr>
        <p:spPr>
          <a:xfrm>
            <a:off x="548640" y="384048"/>
            <a:ext cx="822960" cy="310896"/>
          </a:xfrm>
          <a:prstGeom prst="roundRect">
            <a:avLst>
              <a:gd name="adj" fmla="val 14706"/>
            </a:avLst>
          </a:prstGeom>
          <a:solidFill>
            <a:srgbClr val="B4236A"/>
          </a:solidFill>
          <a:ln/>
        </p:spPr>
        <p:txBody>
          <a:bodyPr wrap="square" lIns="0" tIns="0" rIns="0" bIns="0" rtlCol="0" anchor="ctr"/>
          <a:lstStyle/>
          <a:p>
            <a:pPr algn="ctr" indent="0" marL="0">
              <a:buNone/>
            </a:pPr>
            <a:r>
              <a:rPr lang="en-US" sz="1200" b="1" spc="100" kern="0" dirty="0">
                <a:solidFill>
                  <a:schemeClr val="bg1"/>
                </a:solidFill>
              </a:rPr>
              <a:t>GAME</a:t>
            </a:r>
            <a:endParaRPr lang="en-US" sz="1200" dirty="0"/>
          </a:p>
        </p:txBody>
      </p:sp>
      <p:sp>
        <p:nvSpPr>
          <p:cNvPr id="4" name="Text 2"/>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livret</a:t>
            </a:r>
            <a:endParaRPr lang="en-US" sz="1200" dirty="0"/>
          </a:p>
        </p:txBody>
      </p:sp>
      <p:sp>
        <p:nvSpPr>
          <p:cNvPr id="6" name="Shape 3"/>
          <p:cNvSpPr/>
          <p:nvPr/>
        </p:nvSpPr>
        <p:spPr>
          <a:xfrm>
            <a:off x="548640" y="1783080"/>
            <a:ext cx="11091672" cy="960120"/>
          </a:xfrm>
          <a:prstGeom prst="roundRect">
            <a:avLst>
              <a:gd name="adj" fmla="val 7619"/>
            </a:avLst>
          </a:prstGeom>
          <a:solidFill>
            <a:srgbClr val="B4236A">
              <a:alpha val="8000"/>
            </a:srgbClr>
          </a:solidFill>
          <a:ln w="12700">
            <a:solidFill>
              <a:srgbClr val="B4236A"/>
            </a:solidFill>
            <a:prstDash val="solid"/>
          </a:ln>
        </p:spPr>
      </p:sp>
      <p:sp>
        <p:nvSpPr>
          <p:cNvPr id="7" name="Shape 4"/>
          <p:cNvSpPr/>
          <p:nvPr/>
        </p:nvSpPr>
        <p:spPr>
          <a:xfrm>
            <a:off x="777240" y="1911096"/>
            <a:ext cx="713232" cy="713232"/>
          </a:xfrm>
          <a:prstGeom prst="ellipse">
            <a:avLst/>
          </a:prstGeom>
          <a:solidFill>
            <a:srgbClr val="B4236A"/>
          </a:solidFill>
          <a:ln/>
        </p:spPr>
      </p:sp>
      <p:pic>
        <p:nvPicPr>
          <p:cNvPr id="8" name="Image 0" descr="preencoded.png">    </p:cNvPr>
          <p:cNvPicPr>
            <a:picLocks noChangeAspect="1"/>
          </p:cNvPicPr>
          <p:nvPr/>
        </p:nvPicPr>
        <p:blipFill>
          <a:blip r:embed="rId1"/>
          <a:stretch>
            <a:fillRect/>
          </a:stretch>
        </p:blipFill>
        <p:spPr>
          <a:xfrm>
            <a:off x="955548" y="2089404"/>
            <a:ext cx="356616" cy="356616"/>
          </a:xfrm>
          <a:prstGeom prst="rect">
            <a:avLst/>
          </a:prstGeom>
        </p:spPr>
      </p:pic>
      <p:sp>
        <p:nvSpPr>
          <p:cNvPr id="9" name="Text 5"/>
          <p:cNvSpPr txBox="1"/>
          <p:nvPr/>
        </p:nvSpPr>
        <p:spPr>
          <a:xfrm>
            <a:off x="1691640" y="1837944"/>
            <a:ext cx="9765792" cy="850392"/>
          </a:xfrm>
          <a:prstGeom prst="rect">
            <a:avLst/>
          </a:prstGeom>
          <a:noFill/>
          <a:ln/>
        </p:spPr>
        <p:txBody>
          <a:bodyPr wrap="square" lIns="0" tIns="0" rIns="0" bIns="0" rtlCol="0" anchor="ctr"/>
          <a:lstStyle/>
          <a:p>
            <a:pPr indent="0" marL="0">
              <a:buNone/>
            </a:pPr>
            <a:r>
              <a:rPr lang="en-US" sz="2100" b="1" dirty="0">
                <a:solidFill>
                  <a:srgbClr val="B4236A"/>
                </a:solidFill>
                <a:latin typeface="+mj-lt" pitchFamily="34" charset="0"/>
                <a:ea typeface="+mj-lt" pitchFamily="34" charset="-122"/>
                <a:cs typeface="+mj-lt" pitchFamily="34" charset="-120"/>
              </a:rPr>
              <a:t>Base, past, participle — and a sentence from the file.</a:t>
            </a:r>
            <a:endParaRPr lang="en-US" sz="2100" dirty="0"/>
          </a:p>
          <a:p>
            <a:pPr indent="0" marL="0">
              <a:buNone/>
            </a:pPr>
            <a:r>
              <a:rPr lang="en-US" sz="1500" i="1" dirty="0">
                <a:solidFill>
                  <a:schemeClr val="accent5"/>
                </a:solidFill>
              </a:rPr>
              <a:t>Two teams in lines · 10 minutes · speed and accuracy</a:t>
            </a:r>
            <a:endParaRPr lang="en-US" sz="2100" dirty="0"/>
          </a:p>
        </p:txBody>
      </p:sp>
      <p:sp>
        <p:nvSpPr>
          <p:cNvPr id="10" name="Text 6"/>
          <p:cNvSpPr/>
          <p:nvPr/>
        </p:nvSpPr>
        <p:spPr>
          <a:xfrm>
            <a:off x="548640" y="3072384"/>
            <a:ext cx="365760" cy="365760"/>
          </a:xfrm>
          <a:prstGeom prst="ellipse">
            <a:avLst/>
          </a:prstGeom>
          <a:solidFill>
            <a:srgbClr val="B4236A"/>
          </a:solidFill>
          <a:ln w="15875">
            <a:solidFill>
              <a:srgbClr val="FFFFFF"/>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1" name="Text 7"/>
          <p:cNvSpPr txBox="1"/>
          <p:nvPr/>
        </p:nvSpPr>
        <p:spPr>
          <a:xfrm>
            <a:off x="1097280" y="3017520"/>
            <a:ext cx="5897880" cy="635508"/>
          </a:xfrm>
          <a:prstGeom prst="rect">
            <a:avLst/>
          </a:prstGeom>
          <a:noFill/>
          <a:ln/>
        </p:spPr>
        <p:txBody>
          <a:bodyPr wrap="square" lIns="0" tIns="0" rIns="0" bIns="0" rtlCol="0" anchor="t"/>
          <a:lstStyle/>
          <a:p>
            <a:pPr indent="0" marL="0">
              <a:buNone/>
            </a:pPr>
            <a:r>
              <a:rPr lang="en-US" sz="1700" dirty="0">
                <a:solidFill>
                  <a:schemeClr val="tx1"/>
                </a:solidFill>
              </a:rPr>
              <a:t>Your teacher points at a verb on the board: </a:t>
            </a:r>
            <a:r>
              <a:rPr lang="en-US" sz="1700" i="1" dirty="0">
                <a:solidFill>
                  <a:schemeClr val="tx1"/>
                </a:solidFill>
              </a:rPr>
              <a:t>break</a:t>
            </a:r>
            <a:r>
              <a:rPr lang="en-US" sz="1700" dirty="0">
                <a:solidFill>
                  <a:schemeClr val="tx1"/>
                </a:solidFill>
              </a:rPr>
              <a:t>.</a:t>
            </a:r>
            <a:endParaRPr lang="en-US" sz="1700" dirty="0"/>
          </a:p>
        </p:txBody>
      </p:sp>
      <p:sp>
        <p:nvSpPr>
          <p:cNvPr id="12" name="Text 8"/>
          <p:cNvSpPr/>
          <p:nvPr/>
        </p:nvSpPr>
        <p:spPr>
          <a:xfrm>
            <a:off x="548640" y="3707892"/>
            <a:ext cx="365760" cy="365760"/>
          </a:xfrm>
          <a:prstGeom prst="ellipse">
            <a:avLst/>
          </a:prstGeom>
          <a:solidFill>
            <a:srgbClr val="B4236A"/>
          </a:solidFill>
          <a:ln w="15875">
            <a:solidFill>
              <a:srgbClr val="FFFFFF"/>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ext 9"/>
          <p:cNvSpPr txBox="1"/>
          <p:nvPr/>
        </p:nvSpPr>
        <p:spPr>
          <a:xfrm>
            <a:off x="1097280" y="3653028"/>
            <a:ext cx="5897880" cy="635508"/>
          </a:xfrm>
          <a:prstGeom prst="rect">
            <a:avLst/>
          </a:prstGeom>
          <a:noFill/>
          <a:ln/>
        </p:spPr>
        <p:txBody>
          <a:bodyPr wrap="square" lIns="0" tIns="0" rIns="0" bIns="0" rtlCol="0" anchor="t"/>
          <a:lstStyle/>
          <a:p>
            <a:pPr indent="0" marL="0">
              <a:buNone/>
            </a:pPr>
            <a:r>
              <a:rPr lang="en-US" sz="1700" dirty="0">
                <a:solidFill>
                  <a:schemeClr val="tx1"/>
                </a:solidFill>
              </a:rPr>
              <a:t>Player 1 says the </a:t>
            </a:r>
            <a:r>
              <a:rPr lang="en-US" sz="1700" b="1" dirty="0">
                <a:solidFill>
                  <a:schemeClr val="tx1"/>
                </a:solidFill>
              </a:rPr>
              <a:t>past</a:t>
            </a:r>
            <a:r>
              <a:rPr lang="en-US" sz="1700" dirty="0">
                <a:solidFill>
                  <a:schemeClr val="tx1"/>
                </a:solidFill>
              </a:rPr>
              <a:t>: </a:t>
            </a:r>
            <a:r>
              <a:rPr lang="en-US" sz="1700" i="1" dirty="0">
                <a:solidFill>
                  <a:schemeClr val="tx1"/>
                </a:solidFill>
              </a:rPr>
              <a:t>broke</a:t>
            </a:r>
            <a:r>
              <a:rPr lang="en-US" sz="1700" dirty="0">
                <a:solidFill>
                  <a:schemeClr val="tx1"/>
                </a:solidFill>
              </a:rPr>
              <a:t>. Player 2 the </a:t>
            </a:r>
            <a:r>
              <a:rPr lang="en-US" sz="1700" b="1" dirty="0">
                <a:solidFill>
                  <a:schemeClr val="tx1"/>
                </a:solidFill>
              </a:rPr>
              <a:t>participle</a:t>
            </a:r>
            <a:r>
              <a:rPr lang="en-US" sz="1700" dirty="0">
                <a:solidFill>
                  <a:schemeClr val="tx1"/>
                </a:solidFill>
              </a:rPr>
              <a:t>: </a:t>
            </a:r>
            <a:r>
              <a:rPr lang="en-US" sz="1700" i="1" dirty="0">
                <a:solidFill>
                  <a:schemeClr val="tx1"/>
                </a:solidFill>
              </a:rPr>
              <a:t>broken</a:t>
            </a:r>
            <a:r>
              <a:rPr lang="en-US" sz="1700" dirty="0">
                <a:solidFill>
                  <a:schemeClr val="tx1"/>
                </a:solidFill>
              </a:rPr>
              <a:t>.</a:t>
            </a:r>
            <a:endParaRPr lang="en-US" sz="1700" dirty="0"/>
          </a:p>
        </p:txBody>
      </p:sp>
      <p:sp>
        <p:nvSpPr>
          <p:cNvPr id="14" name="Text 10"/>
          <p:cNvSpPr/>
          <p:nvPr/>
        </p:nvSpPr>
        <p:spPr>
          <a:xfrm>
            <a:off x="548640" y="4343400"/>
            <a:ext cx="365760" cy="365760"/>
          </a:xfrm>
          <a:prstGeom prst="ellipse">
            <a:avLst/>
          </a:prstGeom>
          <a:solidFill>
            <a:srgbClr val="B4236A"/>
          </a:solidFill>
          <a:ln w="15875">
            <a:solidFill>
              <a:srgbClr val="FFFFFF"/>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Text 11"/>
          <p:cNvSpPr txBox="1"/>
          <p:nvPr/>
        </p:nvSpPr>
        <p:spPr>
          <a:xfrm>
            <a:off x="1097280" y="4288536"/>
            <a:ext cx="5897880" cy="635508"/>
          </a:xfrm>
          <a:prstGeom prst="rect">
            <a:avLst/>
          </a:prstGeom>
          <a:noFill/>
          <a:ln/>
        </p:spPr>
        <p:txBody>
          <a:bodyPr wrap="square" lIns="0" tIns="0" rIns="0" bIns="0" rtlCol="0" anchor="t"/>
          <a:lstStyle/>
          <a:p>
            <a:pPr indent="0" marL="0">
              <a:buNone/>
            </a:pPr>
            <a:r>
              <a:rPr lang="en-US" sz="1700" dirty="0">
                <a:solidFill>
                  <a:schemeClr val="tx1"/>
                </a:solidFill>
              </a:rPr>
              <a:t>Player 3 makes a </a:t>
            </a:r>
            <a:r>
              <a:rPr lang="en-US" sz="1700" b="1" dirty="0">
                <a:solidFill>
                  <a:schemeClr val="tx1"/>
                </a:solidFill>
              </a:rPr>
              <a:t>sentence from the case</a:t>
            </a:r>
            <a:r>
              <a:rPr lang="en-US" sz="1700" dirty="0">
                <a:solidFill>
                  <a:schemeClr val="tx1"/>
                </a:solidFill>
              </a:rPr>
              <a:t>: </a:t>
            </a:r>
            <a:r>
              <a:rPr lang="en-US" sz="1700" i="1" dirty="0">
                <a:solidFill>
                  <a:schemeClr val="tx1"/>
                </a:solidFill>
              </a:rPr>
              <a:t>Unit 3 broke down at 02:16.</a:t>
            </a:r>
            <a:endParaRPr lang="en-US" sz="1700" dirty="0"/>
          </a:p>
        </p:txBody>
      </p:sp>
      <p:sp>
        <p:nvSpPr>
          <p:cNvPr id="16" name="Text 12"/>
          <p:cNvSpPr/>
          <p:nvPr/>
        </p:nvSpPr>
        <p:spPr>
          <a:xfrm>
            <a:off x="548640" y="4978908"/>
            <a:ext cx="365760" cy="365760"/>
          </a:xfrm>
          <a:prstGeom prst="ellipse">
            <a:avLst/>
          </a:prstGeom>
          <a:solidFill>
            <a:srgbClr val="B4236A"/>
          </a:solidFill>
          <a:ln w="15875">
            <a:solidFill>
              <a:srgbClr val="FFFFFF"/>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7" name="Text 13"/>
          <p:cNvSpPr txBox="1"/>
          <p:nvPr/>
        </p:nvSpPr>
        <p:spPr>
          <a:xfrm>
            <a:off x="1097280" y="4924044"/>
            <a:ext cx="5897880" cy="635508"/>
          </a:xfrm>
          <a:prstGeom prst="rect">
            <a:avLst/>
          </a:prstGeom>
          <a:noFill/>
          <a:ln/>
        </p:spPr>
        <p:txBody>
          <a:bodyPr wrap="square" lIns="0" tIns="0" rIns="0" bIns="0" rtlCol="0" anchor="t"/>
          <a:lstStyle/>
          <a:p>
            <a:pPr indent="0" marL="0">
              <a:buNone/>
            </a:pPr>
            <a:r>
              <a:rPr lang="en-US" sz="1700" dirty="0">
                <a:solidFill>
                  <a:schemeClr val="tx1"/>
                </a:solidFill>
              </a:rPr>
              <a:t>Wrong form? The other team can </a:t>
            </a:r>
            <a:r>
              <a:rPr lang="en-US" sz="1700" b="1" dirty="0">
                <a:solidFill>
                  <a:schemeClr val="tx1"/>
                </a:solidFill>
              </a:rPr>
              <a:t>steal</a:t>
            </a:r>
            <a:r>
              <a:rPr lang="en-US" sz="1700" dirty="0">
                <a:solidFill>
                  <a:schemeClr val="tx1"/>
                </a:solidFill>
              </a:rPr>
              <a:t> the point. Then the next three players.</a:t>
            </a:r>
            <a:endParaRPr lang="en-US" sz="1700" dirty="0"/>
          </a:p>
        </p:txBody>
      </p:sp>
      <p:sp>
        <p:nvSpPr>
          <p:cNvPr id="18" name="Text 14"/>
          <p:cNvSpPr txBox="1"/>
          <p:nvPr/>
        </p:nvSpPr>
        <p:spPr>
          <a:xfrm>
            <a:off x="7360920" y="3017520"/>
            <a:ext cx="4279392" cy="310896"/>
          </a:xfrm>
          <a:prstGeom prst="rect">
            <a:avLst/>
          </a:prstGeom>
          <a:noFill/>
          <a:ln/>
        </p:spPr>
        <p:txBody>
          <a:bodyPr wrap="square" lIns="0" tIns="0" rIns="0" bIns="0" rtlCol="0" anchor="ctr"/>
          <a:lstStyle/>
          <a:p>
            <a:pPr indent="0" marL="0">
              <a:buNone/>
            </a:pPr>
            <a:r>
              <a:rPr lang="en-US" sz="1300" b="1" spc="150" kern="0" dirty="0">
                <a:solidFill>
                  <a:srgbClr val="B4236A"/>
                </a:solidFill>
              </a:rPr>
              <a:t>THE BOARD</a:t>
            </a:r>
            <a:endParaRPr lang="en-US" sz="1300" dirty="0"/>
          </a:p>
        </p:txBody>
      </p:sp>
      <p:sp>
        <p:nvSpPr>
          <p:cNvPr id="19" name="Text 15"/>
          <p:cNvSpPr/>
          <p:nvPr/>
        </p:nvSpPr>
        <p:spPr>
          <a:xfrm>
            <a:off x="7360920" y="3429000"/>
            <a:ext cx="782726" cy="352958"/>
          </a:xfrm>
          <a:prstGeom prst="roundRect">
            <a:avLst>
              <a:gd name="adj" fmla="val 15544"/>
            </a:avLst>
          </a:prstGeom>
          <a:solidFill>
            <a:srgbClr val="EEF2F8"/>
          </a:solidFill>
          <a:ln w="9525">
            <a:solidFill>
              <a:srgbClr val="D5DCE6"/>
            </a:solidFill>
          </a:ln>
        </p:spPr>
        <p:txBody>
          <a:bodyPr wrap="square" lIns="0" tIns="0" rIns="0" bIns="0" rtlCol="0" anchor="ctr"/>
          <a:lstStyle/>
          <a:p>
            <a:pPr algn="ctr" indent="0" marL="0">
              <a:buNone/>
            </a:pPr>
            <a:r>
              <a:rPr lang="en-US" sz="1700" b="1" dirty="0">
                <a:solidFill>
                  <a:schemeClr val="tx2"/>
                </a:solidFill>
                <a:latin typeface="+mj-lt" pitchFamily="34" charset="0"/>
                <a:ea typeface="+mj-lt" pitchFamily="34" charset="-122"/>
                <a:cs typeface="+mj-lt" pitchFamily="34" charset="-120"/>
              </a:rPr>
              <a:t>be</a:t>
            </a:r>
            <a:endParaRPr lang="en-US" sz="1700" dirty="0"/>
          </a:p>
        </p:txBody>
      </p:sp>
      <p:sp>
        <p:nvSpPr>
          <p:cNvPr id="20" name="Text 16"/>
          <p:cNvSpPr/>
          <p:nvPr/>
        </p:nvSpPr>
        <p:spPr>
          <a:xfrm>
            <a:off x="8235086" y="3429000"/>
            <a:ext cx="782726" cy="352958"/>
          </a:xfrm>
          <a:prstGeom prst="roundRect">
            <a:avLst>
              <a:gd name="adj" fmla="val 15544"/>
            </a:avLst>
          </a:prstGeom>
          <a:solidFill>
            <a:srgbClr val="EEF2F8"/>
          </a:solidFill>
          <a:ln w="9525">
            <a:solidFill>
              <a:srgbClr val="D5DCE6"/>
            </a:solidFill>
          </a:ln>
        </p:spPr>
        <p:txBody>
          <a:bodyPr wrap="square" lIns="0" tIns="0" rIns="0" bIns="0" rtlCol="0" anchor="ctr"/>
          <a:lstStyle/>
          <a:p>
            <a:pPr algn="ctr" indent="0" marL="0">
              <a:buNone/>
            </a:pPr>
            <a:r>
              <a:rPr lang="en-US" sz="1700" b="1" dirty="0">
                <a:solidFill>
                  <a:schemeClr val="tx2"/>
                </a:solidFill>
                <a:latin typeface="+mj-lt" pitchFamily="34" charset="0"/>
                <a:ea typeface="+mj-lt" pitchFamily="34" charset="-122"/>
                <a:cs typeface="+mj-lt" pitchFamily="34" charset="-120"/>
              </a:rPr>
              <a:t>begin</a:t>
            </a:r>
            <a:endParaRPr lang="en-US" sz="1700" dirty="0"/>
          </a:p>
        </p:txBody>
      </p:sp>
      <p:sp>
        <p:nvSpPr>
          <p:cNvPr id="21" name="Text 17"/>
          <p:cNvSpPr/>
          <p:nvPr/>
        </p:nvSpPr>
        <p:spPr>
          <a:xfrm>
            <a:off x="9109253" y="3429000"/>
            <a:ext cx="782726" cy="352958"/>
          </a:xfrm>
          <a:prstGeom prst="roundRect">
            <a:avLst>
              <a:gd name="adj" fmla="val 15544"/>
            </a:avLst>
          </a:prstGeom>
          <a:solidFill>
            <a:srgbClr val="EEF2F8"/>
          </a:solidFill>
          <a:ln w="9525">
            <a:solidFill>
              <a:srgbClr val="D5DCE6"/>
            </a:solidFill>
          </a:ln>
        </p:spPr>
        <p:txBody>
          <a:bodyPr wrap="square" lIns="0" tIns="0" rIns="0" bIns="0" rtlCol="0" anchor="ctr"/>
          <a:lstStyle/>
          <a:p>
            <a:pPr algn="ctr" indent="0" marL="0">
              <a:buNone/>
            </a:pPr>
            <a:r>
              <a:rPr lang="en-US" sz="1700" b="1" dirty="0">
                <a:solidFill>
                  <a:schemeClr val="tx2"/>
                </a:solidFill>
                <a:latin typeface="+mj-lt" pitchFamily="34" charset="0"/>
                <a:ea typeface="+mj-lt" pitchFamily="34" charset="-122"/>
                <a:cs typeface="+mj-lt" pitchFamily="34" charset="-120"/>
              </a:rPr>
              <a:t>break</a:t>
            </a:r>
            <a:endParaRPr lang="en-US" sz="1700" dirty="0"/>
          </a:p>
        </p:txBody>
      </p:sp>
      <p:sp>
        <p:nvSpPr>
          <p:cNvPr id="22" name="Text 18"/>
          <p:cNvSpPr/>
          <p:nvPr/>
        </p:nvSpPr>
        <p:spPr>
          <a:xfrm>
            <a:off x="9983419" y="3429000"/>
            <a:ext cx="782726" cy="352958"/>
          </a:xfrm>
          <a:prstGeom prst="roundRect">
            <a:avLst>
              <a:gd name="adj" fmla="val 15544"/>
            </a:avLst>
          </a:prstGeom>
          <a:solidFill>
            <a:srgbClr val="EEF2F8"/>
          </a:solidFill>
          <a:ln w="9525">
            <a:solidFill>
              <a:srgbClr val="D5DCE6"/>
            </a:solidFill>
          </a:ln>
        </p:spPr>
        <p:txBody>
          <a:bodyPr wrap="square" lIns="0" tIns="0" rIns="0" bIns="0" rtlCol="0" anchor="ctr"/>
          <a:lstStyle/>
          <a:p>
            <a:pPr algn="ctr" indent="0" marL="0">
              <a:buNone/>
            </a:pPr>
            <a:r>
              <a:rPr lang="en-US" sz="1700" b="1" dirty="0">
                <a:solidFill>
                  <a:schemeClr val="tx2"/>
                </a:solidFill>
                <a:latin typeface="+mj-lt" pitchFamily="34" charset="0"/>
                <a:ea typeface="+mj-lt" pitchFamily="34" charset="-122"/>
                <a:cs typeface="+mj-lt" pitchFamily="34" charset="-120"/>
              </a:rPr>
              <a:t>bring</a:t>
            </a:r>
            <a:endParaRPr lang="en-US" sz="1700" dirty="0"/>
          </a:p>
        </p:txBody>
      </p:sp>
      <p:sp>
        <p:nvSpPr>
          <p:cNvPr id="23" name="Text 19"/>
          <p:cNvSpPr/>
          <p:nvPr/>
        </p:nvSpPr>
        <p:spPr>
          <a:xfrm>
            <a:off x="10857586" y="3429000"/>
            <a:ext cx="782726" cy="352958"/>
          </a:xfrm>
          <a:prstGeom prst="roundRect">
            <a:avLst>
              <a:gd name="adj" fmla="val 15544"/>
            </a:avLst>
          </a:prstGeom>
          <a:solidFill>
            <a:srgbClr val="EEF2F8"/>
          </a:solidFill>
          <a:ln w="9525">
            <a:solidFill>
              <a:srgbClr val="D5DCE6"/>
            </a:solidFill>
          </a:ln>
        </p:spPr>
        <p:txBody>
          <a:bodyPr wrap="square" lIns="0" tIns="0" rIns="0" bIns="0" rtlCol="0" anchor="ctr"/>
          <a:lstStyle/>
          <a:p>
            <a:pPr algn="ctr" indent="0" marL="0">
              <a:buNone/>
            </a:pPr>
            <a:r>
              <a:rPr lang="en-US" sz="1700" b="1" dirty="0">
                <a:solidFill>
                  <a:schemeClr val="tx2"/>
                </a:solidFill>
                <a:latin typeface="+mj-lt" pitchFamily="34" charset="0"/>
                <a:ea typeface="+mj-lt" pitchFamily="34" charset="-122"/>
                <a:cs typeface="+mj-lt" pitchFamily="34" charset="-120"/>
              </a:rPr>
              <a:t>come</a:t>
            </a:r>
            <a:endParaRPr lang="en-US" sz="1700" dirty="0"/>
          </a:p>
        </p:txBody>
      </p:sp>
      <p:sp>
        <p:nvSpPr>
          <p:cNvPr id="24" name="Text 20"/>
          <p:cNvSpPr/>
          <p:nvPr/>
        </p:nvSpPr>
        <p:spPr>
          <a:xfrm>
            <a:off x="7360920" y="3873398"/>
            <a:ext cx="782726" cy="352958"/>
          </a:xfrm>
          <a:prstGeom prst="roundRect">
            <a:avLst>
              <a:gd name="adj" fmla="val 15544"/>
            </a:avLst>
          </a:prstGeom>
          <a:solidFill>
            <a:srgbClr val="EEF2F8"/>
          </a:solidFill>
          <a:ln w="9525">
            <a:solidFill>
              <a:srgbClr val="D5DCE6"/>
            </a:solidFill>
          </a:ln>
        </p:spPr>
        <p:txBody>
          <a:bodyPr wrap="square" lIns="0" tIns="0" rIns="0" bIns="0" rtlCol="0" anchor="ctr"/>
          <a:lstStyle/>
          <a:p>
            <a:pPr algn="ctr" indent="0" marL="0">
              <a:buNone/>
            </a:pPr>
            <a:r>
              <a:rPr lang="en-US" sz="1700" b="1" dirty="0">
                <a:solidFill>
                  <a:schemeClr val="tx2"/>
                </a:solidFill>
                <a:latin typeface="+mj-lt" pitchFamily="34" charset="0"/>
                <a:ea typeface="+mj-lt" pitchFamily="34" charset="-122"/>
                <a:cs typeface="+mj-lt" pitchFamily="34" charset="-120"/>
              </a:rPr>
              <a:t>find</a:t>
            </a:r>
            <a:endParaRPr lang="en-US" sz="1700" dirty="0"/>
          </a:p>
        </p:txBody>
      </p:sp>
      <p:sp>
        <p:nvSpPr>
          <p:cNvPr id="25" name="Text 21"/>
          <p:cNvSpPr/>
          <p:nvPr/>
        </p:nvSpPr>
        <p:spPr>
          <a:xfrm>
            <a:off x="8235086" y="3873398"/>
            <a:ext cx="782726" cy="352958"/>
          </a:xfrm>
          <a:prstGeom prst="roundRect">
            <a:avLst>
              <a:gd name="adj" fmla="val 15544"/>
            </a:avLst>
          </a:prstGeom>
          <a:solidFill>
            <a:srgbClr val="EEF2F8"/>
          </a:solidFill>
          <a:ln w="9525">
            <a:solidFill>
              <a:srgbClr val="D5DCE6"/>
            </a:solidFill>
          </a:ln>
        </p:spPr>
        <p:txBody>
          <a:bodyPr wrap="square" lIns="0" tIns="0" rIns="0" bIns="0" rtlCol="0" anchor="ctr"/>
          <a:lstStyle/>
          <a:p>
            <a:pPr algn="ctr" indent="0" marL="0">
              <a:buNone/>
            </a:pPr>
            <a:r>
              <a:rPr lang="en-US" sz="1700" b="1" dirty="0">
                <a:solidFill>
                  <a:schemeClr val="tx2"/>
                </a:solidFill>
                <a:latin typeface="+mj-lt" pitchFamily="34" charset="0"/>
                <a:ea typeface="+mj-lt" pitchFamily="34" charset="-122"/>
                <a:cs typeface="+mj-lt" pitchFamily="34" charset="-120"/>
              </a:rPr>
              <a:t>get</a:t>
            </a:r>
            <a:endParaRPr lang="en-US" sz="1700" dirty="0"/>
          </a:p>
        </p:txBody>
      </p:sp>
      <p:sp>
        <p:nvSpPr>
          <p:cNvPr id="26" name="Text 22"/>
          <p:cNvSpPr/>
          <p:nvPr/>
        </p:nvSpPr>
        <p:spPr>
          <a:xfrm>
            <a:off x="9109253" y="3873398"/>
            <a:ext cx="782726" cy="352958"/>
          </a:xfrm>
          <a:prstGeom prst="roundRect">
            <a:avLst>
              <a:gd name="adj" fmla="val 15544"/>
            </a:avLst>
          </a:prstGeom>
          <a:solidFill>
            <a:srgbClr val="EEF2F8"/>
          </a:solidFill>
          <a:ln w="9525">
            <a:solidFill>
              <a:srgbClr val="D5DCE6"/>
            </a:solidFill>
          </a:ln>
        </p:spPr>
        <p:txBody>
          <a:bodyPr wrap="square" lIns="0" tIns="0" rIns="0" bIns="0" rtlCol="0" anchor="ctr"/>
          <a:lstStyle/>
          <a:p>
            <a:pPr algn="ctr" indent="0" marL="0">
              <a:buNone/>
            </a:pPr>
            <a:r>
              <a:rPr lang="en-US" sz="1700" b="1" dirty="0">
                <a:solidFill>
                  <a:schemeClr val="tx2"/>
                </a:solidFill>
                <a:latin typeface="+mj-lt" pitchFamily="34" charset="0"/>
                <a:ea typeface="+mj-lt" pitchFamily="34" charset="-122"/>
                <a:cs typeface="+mj-lt" pitchFamily="34" charset="-120"/>
              </a:rPr>
              <a:t>go</a:t>
            </a:r>
            <a:endParaRPr lang="en-US" sz="1700" dirty="0"/>
          </a:p>
        </p:txBody>
      </p:sp>
      <p:sp>
        <p:nvSpPr>
          <p:cNvPr id="27" name="Text 23"/>
          <p:cNvSpPr/>
          <p:nvPr/>
        </p:nvSpPr>
        <p:spPr>
          <a:xfrm>
            <a:off x="9983419" y="3873398"/>
            <a:ext cx="782726" cy="352958"/>
          </a:xfrm>
          <a:prstGeom prst="roundRect">
            <a:avLst>
              <a:gd name="adj" fmla="val 15544"/>
            </a:avLst>
          </a:prstGeom>
          <a:solidFill>
            <a:srgbClr val="EEF2F8"/>
          </a:solidFill>
          <a:ln w="9525">
            <a:solidFill>
              <a:srgbClr val="D5DCE6"/>
            </a:solidFill>
          </a:ln>
        </p:spPr>
        <p:txBody>
          <a:bodyPr wrap="square" lIns="0" tIns="0" rIns="0" bIns="0" rtlCol="0" anchor="ctr"/>
          <a:lstStyle/>
          <a:p>
            <a:pPr algn="ctr" indent="0" marL="0">
              <a:buNone/>
            </a:pPr>
            <a:r>
              <a:rPr lang="en-US" sz="1700" b="1" dirty="0">
                <a:solidFill>
                  <a:schemeClr val="tx2"/>
                </a:solidFill>
                <a:latin typeface="+mj-lt" pitchFamily="34" charset="0"/>
                <a:ea typeface="+mj-lt" pitchFamily="34" charset="-122"/>
                <a:cs typeface="+mj-lt" pitchFamily="34" charset="-120"/>
              </a:rPr>
              <a:t>have</a:t>
            </a:r>
            <a:endParaRPr lang="en-US" sz="1700" dirty="0"/>
          </a:p>
        </p:txBody>
      </p:sp>
      <p:sp>
        <p:nvSpPr>
          <p:cNvPr id="28" name="Text 24"/>
          <p:cNvSpPr/>
          <p:nvPr/>
        </p:nvSpPr>
        <p:spPr>
          <a:xfrm>
            <a:off x="10857586" y="3873398"/>
            <a:ext cx="782726" cy="352958"/>
          </a:xfrm>
          <a:prstGeom prst="roundRect">
            <a:avLst>
              <a:gd name="adj" fmla="val 15544"/>
            </a:avLst>
          </a:prstGeom>
          <a:solidFill>
            <a:srgbClr val="EEF2F8"/>
          </a:solidFill>
          <a:ln w="9525">
            <a:solidFill>
              <a:srgbClr val="D5DCE6"/>
            </a:solidFill>
          </a:ln>
        </p:spPr>
        <p:txBody>
          <a:bodyPr wrap="square" lIns="0" tIns="0" rIns="0" bIns="0" rtlCol="0" anchor="ctr"/>
          <a:lstStyle/>
          <a:p>
            <a:pPr algn="ctr" indent="0" marL="0">
              <a:buNone/>
            </a:pPr>
            <a:r>
              <a:rPr lang="en-US" sz="1700" b="1" dirty="0">
                <a:solidFill>
                  <a:schemeClr val="tx2"/>
                </a:solidFill>
                <a:latin typeface="+mj-lt" pitchFamily="34" charset="0"/>
                <a:ea typeface="+mj-lt" pitchFamily="34" charset="-122"/>
                <a:cs typeface="+mj-lt" pitchFamily="34" charset="-120"/>
              </a:rPr>
              <a:t>hear</a:t>
            </a:r>
            <a:endParaRPr lang="en-US" sz="1700" dirty="0"/>
          </a:p>
        </p:txBody>
      </p:sp>
      <p:sp>
        <p:nvSpPr>
          <p:cNvPr id="29" name="Text 25"/>
          <p:cNvSpPr/>
          <p:nvPr/>
        </p:nvSpPr>
        <p:spPr>
          <a:xfrm>
            <a:off x="7360920" y="4317797"/>
            <a:ext cx="782726" cy="352958"/>
          </a:xfrm>
          <a:prstGeom prst="roundRect">
            <a:avLst>
              <a:gd name="adj" fmla="val 15544"/>
            </a:avLst>
          </a:prstGeom>
          <a:solidFill>
            <a:srgbClr val="EEF2F8"/>
          </a:solidFill>
          <a:ln w="9525">
            <a:solidFill>
              <a:srgbClr val="D5DCE6"/>
            </a:solidFill>
          </a:ln>
        </p:spPr>
        <p:txBody>
          <a:bodyPr wrap="square" lIns="0" tIns="0" rIns="0" bIns="0" rtlCol="0" anchor="ctr"/>
          <a:lstStyle/>
          <a:p>
            <a:pPr algn="ctr" indent="0" marL="0">
              <a:buNone/>
            </a:pPr>
            <a:r>
              <a:rPr lang="en-US" sz="1700" b="1" dirty="0">
                <a:solidFill>
                  <a:schemeClr val="tx2"/>
                </a:solidFill>
                <a:latin typeface="+mj-lt" pitchFamily="34" charset="0"/>
                <a:ea typeface="+mj-lt" pitchFamily="34" charset="-122"/>
                <a:cs typeface="+mj-lt" pitchFamily="34" charset="-120"/>
              </a:rPr>
              <a:t>know</a:t>
            </a:r>
            <a:endParaRPr lang="en-US" sz="1700" dirty="0"/>
          </a:p>
        </p:txBody>
      </p:sp>
      <p:sp>
        <p:nvSpPr>
          <p:cNvPr id="30" name="Text 26"/>
          <p:cNvSpPr/>
          <p:nvPr/>
        </p:nvSpPr>
        <p:spPr>
          <a:xfrm>
            <a:off x="8235086" y="4317797"/>
            <a:ext cx="782726" cy="352958"/>
          </a:xfrm>
          <a:prstGeom prst="roundRect">
            <a:avLst>
              <a:gd name="adj" fmla="val 15544"/>
            </a:avLst>
          </a:prstGeom>
          <a:solidFill>
            <a:srgbClr val="EEF2F8"/>
          </a:solidFill>
          <a:ln w="9525">
            <a:solidFill>
              <a:srgbClr val="D5DCE6"/>
            </a:solidFill>
          </a:ln>
        </p:spPr>
        <p:txBody>
          <a:bodyPr wrap="square" lIns="0" tIns="0" rIns="0" bIns="0" rtlCol="0" anchor="ctr"/>
          <a:lstStyle/>
          <a:p>
            <a:pPr algn="ctr" indent="0" marL="0">
              <a:buNone/>
            </a:pPr>
            <a:r>
              <a:rPr lang="en-US" sz="1700" b="1" dirty="0">
                <a:solidFill>
                  <a:schemeClr val="tx2"/>
                </a:solidFill>
                <a:latin typeface="+mj-lt" pitchFamily="34" charset="0"/>
                <a:ea typeface="+mj-lt" pitchFamily="34" charset="-122"/>
                <a:cs typeface="+mj-lt" pitchFamily="34" charset="-120"/>
              </a:rPr>
              <a:t>leave</a:t>
            </a:r>
            <a:endParaRPr lang="en-US" sz="1700" dirty="0"/>
          </a:p>
        </p:txBody>
      </p:sp>
      <p:sp>
        <p:nvSpPr>
          <p:cNvPr id="31" name="Text 27"/>
          <p:cNvSpPr/>
          <p:nvPr/>
        </p:nvSpPr>
        <p:spPr>
          <a:xfrm>
            <a:off x="9109253" y="4317797"/>
            <a:ext cx="782726" cy="352958"/>
          </a:xfrm>
          <a:prstGeom prst="roundRect">
            <a:avLst>
              <a:gd name="adj" fmla="val 15544"/>
            </a:avLst>
          </a:prstGeom>
          <a:solidFill>
            <a:srgbClr val="EEF2F8"/>
          </a:solidFill>
          <a:ln w="9525">
            <a:solidFill>
              <a:srgbClr val="D5DCE6"/>
            </a:solidFill>
          </a:ln>
        </p:spPr>
        <p:txBody>
          <a:bodyPr wrap="square" lIns="0" tIns="0" rIns="0" bIns="0" rtlCol="0" anchor="ctr"/>
          <a:lstStyle/>
          <a:p>
            <a:pPr algn="ctr" indent="0" marL="0">
              <a:buNone/>
            </a:pPr>
            <a:r>
              <a:rPr lang="en-US" sz="1700" b="1" dirty="0">
                <a:solidFill>
                  <a:schemeClr val="tx2"/>
                </a:solidFill>
                <a:latin typeface="+mj-lt" pitchFamily="34" charset="0"/>
                <a:ea typeface="+mj-lt" pitchFamily="34" charset="-122"/>
                <a:cs typeface="+mj-lt" pitchFamily="34" charset="-120"/>
              </a:rPr>
              <a:t>make</a:t>
            </a:r>
            <a:endParaRPr lang="en-US" sz="1700" dirty="0"/>
          </a:p>
        </p:txBody>
      </p:sp>
      <p:sp>
        <p:nvSpPr>
          <p:cNvPr id="32" name="Text 28"/>
          <p:cNvSpPr/>
          <p:nvPr/>
        </p:nvSpPr>
        <p:spPr>
          <a:xfrm>
            <a:off x="9983419" y="4317797"/>
            <a:ext cx="782726" cy="352958"/>
          </a:xfrm>
          <a:prstGeom prst="roundRect">
            <a:avLst>
              <a:gd name="adj" fmla="val 15544"/>
            </a:avLst>
          </a:prstGeom>
          <a:solidFill>
            <a:srgbClr val="EEF2F8"/>
          </a:solidFill>
          <a:ln w="9525">
            <a:solidFill>
              <a:srgbClr val="D5DCE6"/>
            </a:solidFill>
          </a:ln>
        </p:spPr>
        <p:txBody>
          <a:bodyPr wrap="square" lIns="0" tIns="0" rIns="0" bIns="0" rtlCol="0" anchor="ctr"/>
          <a:lstStyle/>
          <a:p>
            <a:pPr algn="ctr" indent="0" marL="0">
              <a:buNone/>
            </a:pPr>
            <a:r>
              <a:rPr lang="en-US" sz="1700" b="1" dirty="0">
                <a:solidFill>
                  <a:schemeClr val="tx2"/>
                </a:solidFill>
                <a:latin typeface="+mj-lt" pitchFamily="34" charset="0"/>
                <a:ea typeface="+mj-lt" pitchFamily="34" charset="-122"/>
                <a:cs typeface="+mj-lt" pitchFamily="34" charset="-120"/>
              </a:rPr>
              <a:t>ring</a:t>
            </a:r>
            <a:endParaRPr lang="en-US" sz="1700" dirty="0"/>
          </a:p>
        </p:txBody>
      </p:sp>
      <p:sp>
        <p:nvSpPr>
          <p:cNvPr id="33" name="Text 29"/>
          <p:cNvSpPr/>
          <p:nvPr/>
        </p:nvSpPr>
        <p:spPr>
          <a:xfrm>
            <a:off x="10857586" y="4317797"/>
            <a:ext cx="782726" cy="352958"/>
          </a:xfrm>
          <a:prstGeom prst="roundRect">
            <a:avLst>
              <a:gd name="adj" fmla="val 15544"/>
            </a:avLst>
          </a:prstGeom>
          <a:solidFill>
            <a:srgbClr val="EEF2F8"/>
          </a:solidFill>
          <a:ln w="9525">
            <a:solidFill>
              <a:srgbClr val="D5DCE6"/>
            </a:solidFill>
          </a:ln>
        </p:spPr>
        <p:txBody>
          <a:bodyPr wrap="square" lIns="0" tIns="0" rIns="0" bIns="0" rtlCol="0" anchor="ctr"/>
          <a:lstStyle/>
          <a:p>
            <a:pPr algn="ctr" indent="0" marL="0">
              <a:buNone/>
            </a:pPr>
            <a:r>
              <a:rPr lang="en-US" sz="1700" b="1" dirty="0">
                <a:solidFill>
                  <a:schemeClr val="tx2"/>
                </a:solidFill>
                <a:latin typeface="+mj-lt" pitchFamily="34" charset="0"/>
                <a:ea typeface="+mj-lt" pitchFamily="34" charset="-122"/>
                <a:cs typeface="+mj-lt" pitchFamily="34" charset="-120"/>
              </a:rPr>
              <a:t>run</a:t>
            </a:r>
            <a:endParaRPr lang="en-US" sz="1700" dirty="0"/>
          </a:p>
        </p:txBody>
      </p:sp>
      <p:sp>
        <p:nvSpPr>
          <p:cNvPr id="34" name="Text 30"/>
          <p:cNvSpPr/>
          <p:nvPr/>
        </p:nvSpPr>
        <p:spPr>
          <a:xfrm>
            <a:off x="7360920" y="4762195"/>
            <a:ext cx="782726" cy="352958"/>
          </a:xfrm>
          <a:prstGeom prst="roundRect">
            <a:avLst>
              <a:gd name="adj" fmla="val 15544"/>
            </a:avLst>
          </a:prstGeom>
          <a:solidFill>
            <a:srgbClr val="EEF2F8"/>
          </a:solidFill>
          <a:ln w="9525">
            <a:solidFill>
              <a:srgbClr val="D5DCE6"/>
            </a:solidFill>
          </a:ln>
        </p:spPr>
        <p:txBody>
          <a:bodyPr wrap="square" lIns="0" tIns="0" rIns="0" bIns="0" rtlCol="0" anchor="ctr"/>
          <a:lstStyle/>
          <a:p>
            <a:pPr algn="ctr" indent="0" marL="0">
              <a:buNone/>
            </a:pPr>
            <a:r>
              <a:rPr lang="en-US" sz="1700" b="1" dirty="0">
                <a:solidFill>
                  <a:schemeClr val="tx2"/>
                </a:solidFill>
                <a:latin typeface="+mj-lt" pitchFamily="34" charset="0"/>
                <a:ea typeface="+mj-lt" pitchFamily="34" charset="-122"/>
                <a:cs typeface="+mj-lt" pitchFamily="34" charset="-120"/>
              </a:rPr>
              <a:t>see</a:t>
            </a:r>
            <a:endParaRPr lang="en-US" sz="1700" dirty="0"/>
          </a:p>
        </p:txBody>
      </p:sp>
      <p:sp>
        <p:nvSpPr>
          <p:cNvPr id="35" name="Text 31"/>
          <p:cNvSpPr/>
          <p:nvPr/>
        </p:nvSpPr>
        <p:spPr>
          <a:xfrm>
            <a:off x="8235086" y="4762195"/>
            <a:ext cx="782726" cy="352958"/>
          </a:xfrm>
          <a:prstGeom prst="roundRect">
            <a:avLst>
              <a:gd name="adj" fmla="val 15544"/>
            </a:avLst>
          </a:prstGeom>
          <a:solidFill>
            <a:srgbClr val="EEF2F8"/>
          </a:solidFill>
          <a:ln w="9525">
            <a:solidFill>
              <a:srgbClr val="D5DCE6"/>
            </a:solidFill>
          </a:ln>
        </p:spPr>
        <p:txBody>
          <a:bodyPr wrap="square" lIns="0" tIns="0" rIns="0" bIns="0" rtlCol="0" anchor="ctr"/>
          <a:lstStyle/>
          <a:p>
            <a:pPr algn="ctr" indent="0" marL="0">
              <a:buNone/>
            </a:pPr>
            <a:r>
              <a:rPr lang="en-US" sz="1700" b="1" dirty="0">
                <a:solidFill>
                  <a:schemeClr val="tx2"/>
                </a:solidFill>
                <a:latin typeface="+mj-lt" pitchFamily="34" charset="0"/>
                <a:ea typeface="+mj-lt" pitchFamily="34" charset="-122"/>
                <a:cs typeface="+mj-lt" pitchFamily="34" charset="-120"/>
              </a:rPr>
              <a:t>send</a:t>
            </a:r>
            <a:endParaRPr lang="en-US" sz="1700" dirty="0"/>
          </a:p>
        </p:txBody>
      </p:sp>
      <p:sp>
        <p:nvSpPr>
          <p:cNvPr id="36" name="Text 32"/>
          <p:cNvSpPr/>
          <p:nvPr/>
        </p:nvSpPr>
        <p:spPr>
          <a:xfrm>
            <a:off x="9109253" y="4762195"/>
            <a:ext cx="782726" cy="352958"/>
          </a:xfrm>
          <a:prstGeom prst="roundRect">
            <a:avLst>
              <a:gd name="adj" fmla="val 15544"/>
            </a:avLst>
          </a:prstGeom>
          <a:solidFill>
            <a:srgbClr val="EEF2F8"/>
          </a:solidFill>
          <a:ln w="9525">
            <a:solidFill>
              <a:srgbClr val="D5DCE6"/>
            </a:solidFill>
          </a:ln>
        </p:spPr>
        <p:txBody>
          <a:bodyPr wrap="square" lIns="0" tIns="0" rIns="0" bIns="0" rtlCol="0" anchor="ctr"/>
          <a:lstStyle/>
          <a:p>
            <a:pPr algn="ctr" indent="0" marL="0">
              <a:buNone/>
            </a:pPr>
            <a:r>
              <a:rPr lang="en-US" sz="1700" b="1" dirty="0">
                <a:solidFill>
                  <a:schemeClr val="tx2"/>
                </a:solidFill>
                <a:latin typeface="+mj-lt" pitchFamily="34" charset="0"/>
                <a:ea typeface="+mj-lt" pitchFamily="34" charset="-122"/>
                <a:cs typeface="+mj-lt" pitchFamily="34" charset="-120"/>
              </a:rPr>
              <a:t>shut</a:t>
            </a:r>
            <a:endParaRPr lang="en-US" sz="1700" dirty="0"/>
          </a:p>
        </p:txBody>
      </p:sp>
      <p:sp>
        <p:nvSpPr>
          <p:cNvPr id="37" name="Text 33"/>
          <p:cNvSpPr/>
          <p:nvPr/>
        </p:nvSpPr>
        <p:spPr>
          <a:xfrm>
            <a:off x="9983419" y="4762195"/>
            <a:ext cx="782726" cy="352958"/>
          </a:xfrm>
          <a:prstGeom prst="roundRect">
            <a:avLst>
              <a:gd name="adj" fmla="val 15544"/>
            </a:avLst>
          </a:prstGeom>
          <a:solidFill>
            <a:srgbClr val="EEF2F8"/>
          </a:solidFill>
          <a:ln w="9525">
            <a:solidFill>
              <a:srgbClr val="D5DCE6"/>
            </a:solidFill>
          </a:ln>
        </p:spPr>
        <p:txBody>
          <a:bodyPr wrap="square" lIns="0" tIns="0" rIns="0" bIns="0" rtlCol="0" anchor="ctr"/>
          <a:lstStyle/>
          <a:p>
            <a:pPr algn="ctr" indent="0" marL="0">
              <a:buNone/>
            </a:pPr>
            <a:r>
              <a:rPr lang="en-US" sz="1700" b="1" dirty="0">
                <a:solidFill>
                  <a:schemeClr val="tx2"/>
                </a:solidFill>
                <a:latin typeface="+mj-lt" pitchFamily="34" charset="0"/>
                <a:ea typeface="+mj-lt" pitchFamily="34" charset="-122"/>
                <a:cs typeface="+mj-lt" pitchFamily="34" charset="-120"/>
              </a:rPr>
              <a:t>speak</a:t>
            </a:r>
            <a:endParaRPr lang="en-US" sz="1700" dirty="0"/>
          </a:p>
        </p:txBody>
      </p:sp>
      <p:sp>
        <p:nvSpPr>
          <p:cNvPr id="38" name="Text 34"/>
          <p:cNvSpPr/>
          <p:nvPr/>
        </p:nvSpPr>
        <p:spPr>
          <a:xfrm>
            <a:off x="10857586" y="4762195"/>
            <a:ext cx="782726" cy="352958"/>
          </a:xfrm>
          <a:prstGeom prst="roundRect">
            <a:avLst>
              <a:gd name="adj" fmla="val 15544"/>
            </a:avLst>
          </a:prstGeom>
          <a:solidFill>
            <a:srgbClr val="EEF2F8"/>
          </a:solidFill>
          <a:ln w="9525">
            <a:solidFill>
              <a:srgbClr val="D5DCE6"/>
            </a:solidFill>
          </a:ln>
        </p:spPr>
        <p:txBody>
          <a:bodyPr wrap="square" lIns="0" tIns="0" rIns="0" bIns="0" rtlCol="0" anchor="ctr"/>
          <a:lstStyle/>
          <a:p>
            <a:pPr algn="ctr" indent="0" marL="0">
              <a:buNone/>
            </a:pPr>
            <a:r>
              <a:rPr lang="en-US" sz="1700" b="1" dirty="0">
                <a:solidFill>
                  <a:schemeClr val="tx2"/>
                </a:solidFill>
                <a:latin typeface="+mj-lt" pitchFamily="34" charset="0"/>
                <a:ea typeface="+mj-lt" pitchFamily="34" charset="-122"/>
                <a:cs typeface="+mj-lt" pitchFamily="34" charset="-120"/>
              </a:rPr>
              <a:t>take</a:t>
            </a:r>
            <a:endParaRPr lang="en-US" sz="1700" dirty="0"/>
          </a:p>
        </p:txBody>
      </p:sp>
      <p:sp>
        <p:nvSpPr>
          <p:cNvPr id="39" name="Text 35"/>
          <p:cNvSpPr/>
          <p:nvPr/>
        </p:nvSpPr>
        <p:spPr>
          <a:xfrm>
            <a:off x="7360920" y="5206594"/>
            <a:ext cx="782726" cy="352958"/>
          </a:xfrm>
          <a:prstGeom prst="roundRect">
            <a:avLst>
              <a:gd name="adj" fmla="val 15544"/>
            </a:avLst>
          </a:prstGeom>
          <a:solidFill>
            <a:srgbClr val="EEF2F8"/>
          </a:solidFill>
          <a:ln w="9525">
            <a:solidFill>
              <a:srgbClr val="D5DCE6"/>
            </a:solidFill>
          </a:ln>
        </p:spPr>
        <p:txBody>
          <a:bodyPr wrap="square" lIns="0" tIns="0" rIns="0" bIns="0" rtlCol="0" anchor="ctr"/>
          <a:lstStyle/>
          <a:p>
            <a:pPr algn="ctr" indent="0" marL="0">
              <a:buNone/>
            </a:pPr>
            <a:r>
              <a:rPr lang="en-US" sz="1700" b="1" dirty="0">
                <a:solidFill>
                  <a:schemeClr val="tx2"/>
                </a:solidFill>
                <a:latin typeface="+mj-lt" pitchFamily="34" charset="0"/>
                <a:ea typeface="+mj-lt" pitchFamily="34" charset="-122"/>
                <a:cs typeface="+mj-lt" pitchFamily="34" charset="-120"/>
              </a:rPr>
              <a:t>tell</a:t>
            </a:r>
            <a:endParaRPr lang="en-US" sz="1700" dirty="0"/>
          </a:p>
        </p:txBody>
      </p:sp>
      <p:sp>
        <p:nvSpPr>
          <p:cNvPr id="40" name="Text 36"/>
          <p:cNvSpPr/>
          <p:nvPr/>
        </p:nvSpPr>
        <p:spPr>
          <a:xfrm>
            <a:off x="8235086" y="5206594"/>
            <a:ext cx="782726" cy="352958"/>
          </a:xfrm>
          <a:prstGeom prst="roundRect">
            <a:avLst>
              <a:gd name="adj" fmla="val 15544"/>
            </a:avLst>
          </a:prstGeom>
          <a:solidFill>
            <a:srgbClr val="EEF2F8"/>
          </a:solidFill>
          <a:ln w="9525">
            <a:solidFill>
              <a:srgbClr val="D5DCE6"/>
            </a:solidFill>
          </a:ln>
        </p:spPr>
        <p:txBody>
          <a:bodyPr wrap="square" lIns="0" tIns="0" rIns="0" bIns="0" rtlCol="0" anchor="ctr"/>
          <a:lstStyle/>
          <a:p>
            <a:pPr algn="ctr" indent="0" marL="0">
              <a:buNone/>
            </a:pPr>
            <a:r>
              <a:rPr lang="en-US" sz="1700" b="1" dirty="0">
                <a:solidFill>
                  <a:schemeClr val="tx2"/>
                </a:solidFill>
                <a:latin typeface="+mj-lt" pitchFamily="34" charset="0"/>
                <a:ea typeface="+mj-lt" pitchFamily="34" charset="-122"/>
                <a:cs typeface="+mj-lt" pitchFamily="34" charset="-120"/>
              </a:rPr>
              <a:t>write</a:t>
            </a:r>
            <a:endParaRPr lang="en-US" sz="1700" dirty="0"/>
          </a:p>
        </p:txBody>
      </p:sp>
      <p:sp>
        <p:nvSpPr>
          <p:cNvPr id="41" name="Shape 37"/>
          <p:cNvSpPr/>
          <p:nvPr/>
        </p:nvSpPr>
        <p:spPr>
          <a:xfrm>
            <a:off x="548640" y="5742432"/>
            <a:ext cx="11091672" cy="566928"/>
          </a:xfrm>
          <a:prstGeom prst="roundRect">
            <a:avLst>
              <a:gd name="adj" fmla="val 12903"/>
            </a:avLst>
          </a:prstGeom>
          <a:solidFill>
            <a:srgbClr val="C0752A">
              <a:alpha val="10000"/>
            </a:srgbClr>
          </a:solidFill>
          <a:ln w="12700">
            <a:solidFill>
              <a:srgbClr val="C0752A"/>
            </a:solidFill>
            <a:prstDash val="solid"/>
          </a:ln>
        </p:spPr>
      </p:sp>
      <p:pic>
        <p:nvPicPr>
          <p:cNvPr id="42" name="Image 1" descr="preencoded.png">    </p:cNvPr>
          <p:cNvPicPr>
            <a:picLocks noChangeAspect="1"/>
          </p:cNvPicPr>
          <p:nvPr/>
        </p:nvPicPr>
        <p:blipFill>
          <a:blip r:embed="rId2"/>
          <a:stretch>
            <a:fillRect/>
          </a:stretch>
        </p:blipFill>
        <p:spPr>
          <a:xfrm>
            <a:off x="749808" y="5870448"/>
            <a:ext cx="310896" cy="310896"/>
          </a:xfrm>
          <a:prstGeom prst="rect">
            <a:avLst/>
          </a:prstGeom>
        </p:spPr>
      </p:pic>
      <p:sp>
        <p:nvSpPr>
          <p:cNvPr id="43" name="Text 38"/>
          <p:cNvSpPr txBox="1"/>
          <p:nvPr/>
        </p:nvSpPr>
        <p:spPr>
          <a:xfrm>
            <a:off x="1234440" y="5742432"/>
            <a:ext cx="10222992" cy="566928"/>
          </a:xfrm>
          <a:prstGeom prst="rect">
            <a:avLst/>
          </a:prstGeom>
          <a:noFill/>
          <a:ln/>
        </p:spPr>
        <p:txBody>
          <a:bodyPr wrap="square" lIns="0" tIns="0" rIns="0" bIns="0" rtlCol="0" anchor="ctr"/>
          <a:lstStyle/>
          <a:p>
            <a:pPr indent="0" marL="0">
              <a:buNone/>
            </a:pPr>
            <a:r>
              <a:rPr lang="en-US" sz="1700" b="1" dirty="0">
                <a:solidFill>
                  <a:schemeClr val="tx1"/>
                </a:solidFill>
              </a:rPr>
              <a:t>To win —</a:t>
            </a:r>
            <a:r>
              <a:rPr lang="en-US" sz="1700" dirty="0">
                <a:solidFill>
                  <a:schemeClr val="tx1"/>
                </a:solidFill>
              </a:rPr>
              <a:t> the first team to </a:t>
            </a:r>
            <a:r>
              <a:rPr lang="en-US" sz="1700" b="1" dirty="0">
                <a:solidFill>
                  <a:schemeClr val="tx1"/>
                </a:solidFill>
              </a:rPr>
              <a:t>ten correct sentences</a:t>
            </a:r>
            <a:r>
              <a:rPr lang="en-US" sz="1700" dirty="0">
                <a:solidFill>
                  <a:schemeClr val="tx1"/>
                </a:solidFill>
              </a:rPr>
              <a:t>.</a:t>
            </a:r>
            <a:endParaRPr lang="en-US" sz="17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Two minutes with Exhibit A in front of you</a:t>
            </a:r>
            <a:endParaRPr lang="en-US" sz="3200" dirty="0"/>
          </a:p>
        </p:txBody>
      </p:sp>
      <p:sp>
        <p:nvSpPr>
          <p:cNvPr id="3" name="tag"/>
          <p:cNvSpPr/>
          <p:nvPr/>
        </p:nvSpPr>
        <p:spPr>
          <a:xfrm>
            <a:off x="548640" y="384048"/>
            <a:ext cx="1165860" cy="310896"/>
          </a:xfrm>
          <a:prstGeom prst="roundRect">
            <a:avLst>
              <a:gd name="adj" fmla="val 14706"/>
            </a:avLst>
          </a:prstGeom>
          <a:solidFill>
            <a:srgbClr val="2E75B6"/>
          </a:solidFill>
          <a:ln/>
        </p:spPr>
        <p:txBody>
          <a:bodyPr wrap="square" lIns="0" tIns="0" rIns="0" bIns="0" rtlCol="0" anchor="ctr"/>
          <a:lstStyle/>
          <a:p>
            <a:pPr algn="ctr" indent="0" marL="0">
              <a:buNone/>
            </a:pPr>
            <a:r>
              <a:rPr lang="en-US" sz="1200" b="1" spc="100" kern="0" dirty="0">
                <a:solidFill>
                  <a:schemeClr val="bg1"/>
                </a:solidFill>
              </a:rPr>
              <a:t>DRY RUN</a:t>
            </a:r>
            <a:endParaRPr lang="en-US" sz="1200" dirty="0"/>
          </a:p>
        </p:txBody>
      </p:sp>
      <p:sp>
        <p:nvSpPr>
          <p:cNvPr id="4" name="Text 2"/>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14</a:t>
            </a:r>
            <a:endParaRPr lang="en-US" sz="1200" dirty="0"/>
          </a:p>
        </p:txBody>
      </p:sp>
      <p:sp>
        <p:nvSpPr>
          <p:cNvPr id="5" name="Text 3"/>
          <p:cNvSpPr txBox="1"/>
          <p:nvPr/>
        </p:nvSpPr>
        <p:spPr>
          <a:xfrm>
            <a:off x="548640" y="1627632"/>
            <a:ext cx="11091672" cy="335280"/>
          </a:xfrm>
          <a:prstGeom prst="rect">
            <a:avLst/>
          </a:prstGeom>
          <a:noFill/>
          <a:ln/>
        </p:spPr>
        <p:txBody>
          <a:bodyPr wrap="square" lIns="0" tIns="0" rIns="0" bIns="0" rtlCol="0" anchor="t"/>
          <a:lstStyle/>
          <a:p>
            <a:pPr indent="0" marL="0">
              <a:buNone/>
            </a:pPr>
            <a:r>
              <a:rPr lang="en-US" sz="1600" i="1" dirty="0">
                <a:solidFill>
                  <a:schemeClr val="accent5"/>
                </a:solidFill>
              </a:rPr>
              <a:t>A · Complete from the log. Use the past form.</a:t>
            </a:r>
            <a:endParaRPr lang="en-US" sz="1600" dirty="0"/>
          </a:p>
        </p:txBody>
      </p:sp>
      <p:sp>
        <p:nvSpPr>
          <p:cNvPr id="6" name="exercise"/>
          <p:cNvSpPr txBox="1"/>
          <p:nvPr/>
        </p:nvSpPr>
        <p:spPr>
          <a:xfrm>
            <a:off x="548640" y="2237232"/>
            <a:ext cx="11091672" cy="4072128"/>
          </a:xfrm>
          <a:prstGeom prst="rect">
            <a:avLst/>
          </a:prstGeom>
          <a:noFill/>
          <a:ln/>
        </p:spPr>
        <p:txBody>
          <a:bodyPr wrap="square" lIns="0" tIns="0" rIns="0" bIns="0" rtlCol="0" anchor="t"/>
          <a:lstStyle/>
          <a:p>
            <a:pPr indent="0" marL="0">
              <a:spcAft>
                <a:spcPts val="1400"/>
              </a:spcAft>
              <a:buNone/>
            </a:pPr>
            <a:r>
              <a:rPr lang="en-US" sz="2600" b="1" dirty="0">
                <a:solidFill>
                  <a:schemeClr val="tx2"/>
                </a:solidFill>
              </a:rPr>
              <a:t>1.  </a:t>
            </a:r>
            <a:r>
              <a:rPr lang="en-US" sz="2600" dirty="0">
                <a:solidFill>
                  <a:schemeClr val="tx1"/>
                </a:solidFill>
              </a:rPr>
              <a:t>The cabling team </a:t>
            </a:r>
            <a:r>
              <a:rPr lang="en-US" sz="2600" dirty="0">
                <a:solidFill>
                  <a:schemeClr val="accent5"/>
                </a:solidFill>
              </a:rPr>
              <a:t>………………</a:t>
            </a:r>
            <a:r>
              <a:rPr lang="en-US" sz="2600" dirty="0">
                <a:solidFill>
                  <a:schemeClr val="tx1"/>
                </a:solidFill>
              </a:rPr>
              <a:t> </a:t>
            </a:r>
            <a:r>
              <a:rPr lang="en-US" sz="2600" i="1" dirty="0">
                <a:solidFill>
                  <a:schemeClr val="tx1"/>
                </a:solidFill>
              </a:rPr>
              <a:t>(leave)</a:t>
            </a:r>
            <a:r>
              <a:rPr lang="en-US" sz="2600" dirty="0">
                <a:solidFill>
                  <a:schemeClr val="tx1"/>
                </a:solidFill>
              </a:rPr>
              <a:t> zone 2F at 19.58.</a:t>
            </a:r>
            <a:endParaRPr lang="en-US" sz="2600" dirty="0"/>
          </a:p>
          <a:p>
            <a:pPr indent="0" marL="0">
              <a:spcAft>
                <a:spcPts val="1400"/>
              </a:spcAft>
              <a:buNone/>
            </a:pPr>
            <a:r>
              <a:rPr lang="en-US" sz="2600" b="1" dirty="0">
                <a:solidFill>
                  <a:schemeClr val="tx2"/>
                </a:solidFill>
              </a:rPr>
              <a:t>2.  </a:t>
            </a:r>
            <a:r>
              <a:rPr lang="en-US" sz="2600" dirty="0">
                <a:solidFill>
                  <a:schemeClr val="tx1"/>
                </a:solidFill>
              </a:rPr>
              <a:t>The site manager </a:t>
            </a:r>
            <a:r>
              <a:rPr lang="en-US" sz="2600" dirty="0">
                <a:solidFill>
                  <a:schemeClr val="accent5"/>
                </a:solidFill>
              </a:rPr>
              <a:t>………………</a:t>
            </a:r>
            <a:r>
              <a:rPr lang="en-US" sz="2600" dirty="0">
                <a:solidFill>
                  <a:schemeClr val="tx1"/>
                </a:solidFill>
              </a:rPr>
              <a:t> </a:t>
            </a:r>
            <a:r>
              <a:rPr lang="en-US" sz="2600" i="1" dirty="0">
                <a:solidFill>
                  <a:schemeClr val="tx1"/>
                </a:solidFill>
              </a:rPr>
              <a:t>(enter)</a:t>
            </a:r>
            <a:r>
              <a:rPr lang="en-US" sz="2600" dirty="0">
                <a:solidFill>
                  <a:schemeClr val="tx1"/>
                </a:solidFill>
              </a:rPr>
              <a:t> at 20.04 and </a:t>
            </a:r>
            <a:r>
              <a:rPr lang="en-US" sz="2600" dirty="0">
                <a:solidFill>
                  <a:schemeClr val="accent5"/>
                </a:solidFill>
              </a:rPr>
              <a:t>………………</a:t>
            </a:r>
            <a:r>
              <a:rPr lang="en-US" sz="2600" dirty="0">
                <a:solidFill>
                  <a:schemeClr val="tx1"/>
                </a:solidFill>
              </a:rPr>
              <a:t> </a:t>
            </a:r>
            <a:r>
              <a:rPr lang="en-US" sz="2600" i="1" dirty="0">
                <a:solidFill>
                  <a:schemeClr val="tx1"/>
                </a:solidFill>
              </a:rPr>
              <a:t>(leave)</a:t>
            </a:r>
            <a:r>
              <a:rPr lang="en-US" sz="2600" dirty="0">
                <a:solidFill>
                  <a:schemeClr val="tx1"/>
                </a:solidFill>
              </a:rPr>
              <a:t> fifteen minutes later.</a:t>
            </a:r>
            <a:endParaRPr lang="en-US" sz="2600" dirty="0"/>
          </a:p>
          <a:p>
            <a:pPr indent="0" marL="0">
              <a:spcAft>
                <a:spcPts val="1400"/>
              </a:spcAft>
              <a:buNone/>
            </a:pPr>
            <a:r>
              <a:rPr lang="en-US" sz="2600" b="1" dirty="0">
                <a:solidFill>
                  <a:schemeClr val="tx2"/>
                </a:solidFill>
              </a:rPr>
              <a:t>3.  </a:t>
            </a:r>
            <a:r>
              <a:rPr lang="en-US" sz="2600" dirty="0">
                <a:solidFill>
                  <a:schemeClr val="tx1"/>
                </a:solidFill>
              </a:rPr>
              <a:t>The temperature alarm </a:t>
            </a:r>
            <a:r>
              <a:rPr lang="en-US" sz="2600" dirty="0">
                <a:solidFill>
                  <a:schemeClr val="accent5"/>
                </a:solidFill>
              </a:rPr>
              <a:t>………………</a:t>
            </a:r>
            <a:r>
              <a:rPr lang="en-US" sz="2600" dirty="0">
                <a:solidFill>
                  <a:schemeClr val="tx1"/>
                </a:solidFill>
              </a:rPr>
              <a:t> </a:t>
            </a:r>
            <a:r>
              <a:rPr lang="en-US" sz="2600" i="1" dirty="0">
                <a:solidFill>
                  <a:schemeClr val="tx1"/>
                </a:solidFill>
              </a:rPr>
              <a:t>(go off)</a:t>
            </a:r>
            <a:r>
              <a:rPr lang="en-US" sz="2600" dirty="0">
                <a:solidFill>
                  <a:schemeClr val="tx1"/>
                </a:solidFill>
              </a:rPr>
              <a:t> at 23.41.</a:t>
            </a:r>
            <a:endParaRPr lang="en-US" sz="2600" dirty="0"/>
          </a:p>
          <a:p>
            <a:pPr indent="0" marL="0">
              <a:spcAft>
                <a:spcPts val="1400"/>
              </a:spcAft>
              <a:buNone/>
            </a:pPr>
            <a:r>
              <a:rPr lang="en-US" sz="2600" b="1" dirty="0">
                <a:solidFill>
                  <a:schemeClr val="tx2"/>
                </a:solidFill>
              </a:rPr>
              <a:t>4.  </a:t>
            </a:r>
            <a:r>
              <a:rPr lang="en-US" sz="2600" dirty="0">
                <a:solidFill>
                  <a:schemeClr val="tx1"/>
                </a:solidFill>
              </a:rPr>
              <a:t>A notification </a:t>
            </a:r>
            <a:r>
              <a:rPr lang="en-US" sz="2600" dirty="0">
                <a:solidFill>
                  <a:schemeClr val="accent5"/>
                </a:solidFill>
              </a:rPr>
              <a:t>………………</a:t>
            </a:r>
            <a:r>
              <a:rPr lang="en-US" sz="2600" dirty="0">
                <a:solidFill>
                  <a:schemeClr val="tx1"/>
                </a:solidFill>
              </a:rPr>
              <a:t> </a:t>
            </a:r>
            <a:r>
              <a:rPr lang="en-US" sz="2600" i="1" dirty="0">
                <a:solidFill>
                  <a:schemeClr val="tx1"/>
                </a:solidFill>
              </a:rPr>
              <a:t>(be)</a:t>
            </a:r>
            <a:r>
              <a:rPr lang="en-US" sz="2600" dirty="0">
                <a:solidFill>
                  <a:schemeClr val="tx1"/>
                </a:solidFill>
              </a:rPr>
              <a:t> delivered one minute later.</a:t>
            </a:r>
            <a:endParaRPr lang="en-US" sz="2600" dirty="0"/>
          </a:p>
          <a:p>
            <a:pPr indent="0" marL="0">
              <a:spcAft>
                <a:spcPts val="1400"/>
              </a:spcAft>
              <a:buNone/>
            </a:pPr>
            <a:r>
              <a:rPr lang="en-US" sz="2600" b="1" dirty="0">
                <a:solidFill>
                  <a:schemeClr val="tx2"/>
                </a:solidFill>
              </a:rPr>
              <a:t>5.  </a:t>
            </a:r>
            <a:r>
              <a:rPr lang="en-US" sz="2600" dirty="0">
                <a:solidFill>
                  <a:schemeClr val="tx1"/>
                </a:solidFill>
              </a:rPr>
              <a:t>Unit 3 </a:t>
            </a:r>
            <a:r>
              <a:rPr lang="en-US" sz="2600" dirty="0">
                <a:solidFill>
                  <a:schemeClr val="accent5"/>
                </a:solidFill>
              </a:rPr>
              <a:t>………………</a:t>
            </a:r>
            <a:r>
              <a:rPr lang="en-US" sz="2600" dirty="0">
                <a:solidFill>
                  <a:schemeClr val="tx1"/>
                </a:solidFill>
              </a:rPr>
              <a:t> </a:t>
            </a:r>
            <a:r>
              <a:rPr lang="en-US" sz="2600" i="1" dirty="0">
                <a:solidFill>
                  <a:schemeClr val="tx1"/>
                </a:solidFill>
              </a:rPr>
              <a:t>(shut down)</a:t>
            </a:r>
            <a:r>
              <a:rPr lang="en-US" sz="2600" dirty="0">
                <a:solidFill>
                  <a:schemeClr val="tx1"/>
                </a:solidFill>
              </a:rPr>
              <a:t> at 02.16.</a:t>
            </a:r>
            <a:endParaRPr lang="en-US" sz="2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Two minutes with Exhibit A in front of you</a:t>
            </a:r>
            <a:endParaRPr lang="en-US" sz="3200" dirty="0"/>
          </a:p>
        </p:txBody>
      </p:sp>
      <p:sp>
        <p:nvSpPr>
          <p:cNvPr id="3" name="tag"/>
          <p:cNvSpPr/>
          <p:nvPr/>
        </p:nvSpPr>
        <p:spPr>
          <a:xfrm>
            <a:off x="548640" y="384048"/>
            <a:ext cx="1165860" cy="310896"/>
          </a:xfrm>
          <a:prstGeom prst="roundRect">
            <a:avLst>
              <a:gd name="adj" fmla="val 14706"/>
            </a:avLst>
          </a:prstGeom>
          <a:solidFill>
            <a:srgbClr val="2E75B6"/>
          </a:solidFill>
          <a:ln/>
        </p:spPr>
        <p:txBody>
          <a:bodyPr wrap="square" lIns="0" tIns="0" rIns="0" bIns="0" rtlCol="0" anchor="ctr"/>
          <a:lstStyle/>
          <a:p>
            <a:pPr algn="ctr" indent="0" marL="0">
              <a:buNone/>
            </a:pPr>
            <a:r>
              <a:rPr lang="en-US" sz="1200" b="1" spc="100" kern="0" dirty="0">
                <a:solidFill>
                  <a:schemeClr val="bg1"/>
                </a:solidFill>
              </a:rPr>
              <a:t>DRY RUN</a:t>
            </a:r>
            <a:endParaRPr lang="en-US" sz="1200" dirty="0"/>
          </a:p>
        </p:txBody>
      </p:sp>
      <p:sp>
        <p:nvSpPr>
          <p:cNvPr id="4" name="tag"/>
          <p:cNvSpPr/>
          <p:nvPr/>
        </p:nvSpPr>
        <p:spPr>
          <a:xfrm>
            <a:off x="1824228" y="384048"/>
            <a:ext cx="1874520" cy="310896"/>
          </a:xfrm>
          <a:prstGeom prst="roundRect">
            <a:avLst>
              <a:gd name="adj" fmla="val 14706"/>
            </a:avLst>
          </a:prstGeom>
          <a:solidFill>
            <a:srgbClr val="3C7A3C"/>
          </a:solidFill>
          <a:ln/>
        </p:spPr>
        <p:txBody>
          <a:bodyPr wrap="square" lIns="0" tIns="0" rIns="0" bIns="0" rtlCol="0" anchor="ctr"/>
          <a:lstStyle/>
          <a:p>
            <a:pPr algn="ctr" indent="0" marL="0">
              <a:buNone/>
            </a:pPr>
            <a:r>
              <a:rPr lang="en-US" sz="1200" b="1" spc="100" kern="0" dirty="0">
                <a:solidFill>
                  <a:schemeClr val="bg1"/>
                </a:solidFill>
              </a:rPr>
              <a:t>✓ CORRECTION</a:t>
            </a:r>
            <a:endParaRPr lang="en-US" sz="1200" dirty="0"/>
          </a:p>
        </p:txBody>
      </p:sp>
      <p:sp>
        <p:nvSpPr>
          <p:cNvPr id="5" name="Text 3"/>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14</a:t>
            </a:r>
            <a:endParaRPr lang="en-US" sz="1200" dirty="0"/>
          </a:p>
        </p:txBody>
      </p:sp>
      <p:sp>
        <p:nvSpPr>
          <p:cNvPr id="6" name="Text 4"/>
          <p:cNvSpPr txBox="1"/>
          <p:nvPr/>
        </p:nvSpPr>
        <p:spPr>
          <a:xfrm>
            <a:off x="548640" y="1627632"/>
            <a:ext cx="11091672" cy="335280"/>
          </a:xfrm>
          <a:prstGeom prst="rect">
            <a:avLst/>
          </a:prstGeom>
          <a:noFill/>
          <a:ln/>
        </p:spPr>
        <p:txBody>
          <a:bodyPr wrap="square" lIns="0" tIns="0" rIns="0" bIns="0" rtlCol="0" anchor="t"/>
          <a:lstStyle/>
          <a:p>
            <a:pPr indent="0" marL="0">
              <a:buNone/>
            </a:pPr>
            <a:r>
              <a:rPr lang="en-US" sz="1600" i="1" dirty="0">
                <a:solidFill>
                  <a:schemeClr val="accent5"/>
                </a:solidFill>
              </a:rPr>
              <a:t>A · Complete from the log. Use the past form.</a:t>
            </a:r>
            <a:endParaRPr lang="en-US" sz="1600" dirty="0"/>
          </a:p>
        </p:txBody>
      </p:sp>
      <p:sp>
        <p:nvSpPr>
          <p:cNvPr id="7" name="exercise"/>
          <p:cNvSpPr txBox="1"/>
          <p:nvPr/>
        </p:nvSpPr>
        <p:spPr>
          <a:xfrm>
            <a:off x="548640" y="2237232"/>
            <a:ext cx="11091672" cy="4072128"/>
          </a:xfrm>
          <a:prstGeom prst="rect">
            <a:avLst/>
          </a:prstGeom>
          <a:noFill/>
          <a:ln/>
        </p:spPr>
        <p:txBody>
          <a:bodyPr wrap="square" lIns="0" tIns="0" rIns="0" bIns="0" rtlCol="0" anchor="t"/>
          <a:lstStyle/>
          <a:p>
            <a:pPr indent="0" marL="0">
              <a:spcAft>
                <a:spcPts val="1000"/>
              </a:spcAft>
              <a:buNone/>
            </a:pPr>
            <a:r>
              <a:rPr lang="en-US" sz="2200" b="1" dirty="0">
                <a:solidFill>
                  <a:schemeClr val="tx2"/>
                </a:solidFill>
              </a:rPr>
              <a:t>1.  </a:t>
            </a:r>
            <a:r>
              <a:rPr lang="en-US" sz="2200" dirty="0">
                <a:solidFill>
                  <a:schemeClr val="tx1"/>
                </a:solidFill>
              </a:rPr>
              <a:t>The cabling team </a:t>
            </a:r>
            <a:r>
              <a:rPr lang="en-US" sz="2200" b="1" dirty="0">
                <a:solidFill>
                  <a:schemeClr val="accent3"/>
                </a:solidFill>
              </a:rPr>
              <a:t>left</a:t>
            </a:r>
            <a:r>
              <a:rPr lang="en-US" sz="2200" dirty="0">
                <a:solidFill>
                  <a:schemeClr val="tx1"/>
                </a:solidFill>
              </a:rPr>
              <a:t> </a:t>
            </a:r>
            <a:r>
              <a:rPr lang="en-US" sz="2200" i="1" dirty="0">
                <a:solidFill>
                  <a:schemeClr val="tx1"/>
                </a:solidFill>
              </a:rPr>
              <a:t>(leave)</a:t>
            </a:r>
            <a:r>
              <a:rPr lang="en-US" sz="2200" dirty="0">
                <a:solidFill>
                  <a:schemeClr val="tx1"/>
                </a:solidFill>
              </a:rPr>
              <a:t> zone 2F at 19.58.</a:t>
            </a:r>
            <a:endParaRPr lang="en-US" sz="2200" dirty="0"/>
          </a:p>
          <a:p>
            <a:pPr indent="0" marL="0">
              <a:spcAft>
                <a:spcPts val="1000"/>
              </a:spcAft>
              <a:buNone/>
            </a:pPr>
            <a:r>
              <a:rPr lang="en-US" sz="2200" b="1" dirty="0">
                <a:solidFill>
                  <a:schemeClr val="tx2"/>
                </a:solidFill>
              </a:rPr>
              <a:t>2.  </a:t>
            </a:r>
            <a:r>
              <a:rPr lang="en-US" sz="2200" dirty="0">
                <a:solidFill>
                  <a:schemeClr val="tx1"/>
                </a:solidFill>
              </a:rPr>
              <a:t>The site manager </a:t>
            </a:r>
            <a:r>
              <a:rPr lang="en-US" sz="2200" b="1" dirty="0">
                <a:solidFill>
                  <a:schemeClr val="accent3"/>
                </a:solidFill>
              </a:rPr>
              <a:t>entered</a:t>
            </a:r>
            <a:r>
              <a:rPr lang="en-US" sz="2200" dirty="0">
                <a:solidFill>
                  <a:schemeClr val="tx1"/>
                </a:solidFill>
              </a:rPr>
              <a:t> </a:t>
            </a:r>
            <a:r>
              <a:rPr lang="en-US" sz="2200" i="1" dirty="0">
                <a:solidFill>
                  <a:schemeClr val="tx1"/>
                </a:solidFill>
              </a:rPr>
              <a:t>(enter)</a:t>
            </a:r>
            <a:r>
              <a:rPr lang="en-US" sz="2200" dirty="0">
                <a:solidFill>
                  <a:schemeClr val="tx1"/>
                </a:solidFill>
              </a:rPr>
              <a:t> at 20.04 and </a:t>
            </a:r>
            <a:r>
              <a:rPr lang="en-US" sz="2200" b="1" dirty="0">
                <a:solidFill>
                  <a:schemeClr val="accent3"/>
                </a:solidFill>
              </a:rPr>
              <a:t>left</a:t>
            </a:r>
            <a:r>
              <a:rPr lang="en-US" sz="2200" dirty="0">
                <a:solidFill>
                  <a:schemeClr val="tx1"/>
                </a:solidFill>
              </a:rPr>
              <a:t> </a:t>
            </a:r>
            <a:r>
              <a:rPr lang="en-US" sz="2200" i="1" dirty="0">
                <a:solidFill>
                  <a:schemeClr val="tx1"/>
                </a:solidFill>
              </a:rPr>
              <a:t>(leave)</a:t>
            </a:r>
            <a:r>
              <a:rPr lang="en-US" sz="2200" dirty="0">
                <a:solidFill>
                  <a:schemeClr val="tx1"/>
                </a:solidFill>
              </a:rPr>
              <a:t> fifteen minutes later.</a:t>
            </a:r>
            <a:endParaRPr lang="en-US" sz="2200" dirty="0"/>
          </a:p>
          <a:p>
            <a:pPr indent="0" marL="0">
              <a:spcAft>
                <a:spcPts val="1000"/>
              </a:spcAft>
              <a:buNone/>
            </a:pPr>
            <a:r>
              <a:rPr lang="en-US" sz="2200" b="1" dirty="0">
                <a:solidFill>
                  <a:schemeClr val="tx2"/>
                </a:solidFill>
              </a:rPr>
              <a:t>3.  </a:t>
            </a:r>
            <a:r>
              <a:rPr lang="en-US" sz="2200" dirty="0">
                <a:solidFill>
                  <a:schemeClr val="tx1"/>
                </a:solidFill>
              </a:rPr>
              <a:t>The temperature alarm </a:t>
            </a:r>
            <a:r>
              <a:rPr lang="en-US" sz="2200" b="1" dirty="0">
                <a:solidFill>
                  <a:schemeClr val="accent3"/>
                </a:solidFill>
              </a:rPr>
              <a:t>went off</a:t>
            </a:r>
            <a:r>
              <a:rPr lang="en-US" sz="2200" dirty="0">
                <a:solidFill>
                  <a:schemeClr val="tx1"/>
                </a:solidFill>
              </a:rPr>
              <a:t> </a:t>
            </a:r>
            <a:r>
              <a:rPr lang="en-US" sz="2200" i="1" dirty="0">
                <a:solidFill>
                  <a:schemeClr val="tx1"/>
                </a:solidFill>
              </a:rPr>
              <a:t>(go off)</a:t>
            </a:r>
            <a:r>
              <a:rPr lang="en-US" sz="2200" dirty="0">
                <a:solidFill>
                  <a:schemeClr val="tx1"/>
                </a:solidFill>
              </a:rPr>
              <a:t> at 23.41.</a:t>
            </a:r>
            <a:endParaRPr lang="en-US" sz="2200" dirty="0"/>
          </a:p>
          <a:p>
            <a:pPr indent="0" marL="0">
              <a:spcAft>
                <a:spcPts val="1000"/>
              </a:spcAft>
              <a:buNone/>
            </a:pPr>
            <a:r>
              <a:rPr lang="en-US" sz="2200" b="1" dirty="0">
                <a:solidFill>
                  <a:schemeClr val="tx2"/>
                </a:solidFill>
              </a:rPr>
              <a:t>4.  </a:t>
            </a:r>
            <a:r>
              <a:rPr lang="en-US" sz="2200" dirty="0">
                <a:solidFill>
                  <a:schemeClr val="tx1"/>
                </a:solidFill>
              </a:rPr>
              <a:t>A notification </a:t>
            </a:r>
            <a:r>
              <a:rPr lang="en-US" sz="2200" b="1" dirty="0">
                <a:solidFill>
                  <a:schemeClr val="accent3"/>
                </a:solidFill>
              </a:rPr>
              <a:t>was</a:t>
            </a:r>
            <a:r>
              <a:rPr lang="en-US" sz="2200" dirty="0">
                <a:solidFill>
                  <a:schemeClr val="tx1"/>
                </a:solidFill>
              </a:rPr>
              <a:t> </a:t>
            </a:r>
            <a:r>
              <a:rPr lang="en-US" sz="2200" i="1" dirty="0">
                <a:solidFill>
                  <a:schemeClr val="tx1"/>
                </a:solidFill>
              </a:rPr>
              <a:t>(be)</a:t>
            </a:r>
            <a:r>
              <a:rPr lang="en-US" sz="2200" dirty="0">
                <a:solidFill>
                  <a:schemeClr val="tx1"/>
                </a:solidFill>
              </a:rPr>
              <a:t> delivered one minute later.</a:t>
            </a:r>
            <a:endParaRPr lang="en-US" sz="2200" dirty="0"/>
          </a:p>
          <a:p>
            <a:pPr indent="0" marL="0">
              <a:spcAft>
                <a:spcPts val="1000"/>
              </a:spcAft>
              <a:buNone/>
            </a:pPr>
            <a:r>
              <a:rPr lang="en-US" sz="2200" b="1" dirty="0">
                <a:solidFill>
                  <a:schemeClr val="tx2"/>
                </a:solidFill>
              </a:rPr>
              <a:t>5.  </a:t>
            </a:r>
            <a:r>
              <a:rPr lang="en-US" sz="2200" dirty="0">
                <a:solidFill>
                  <a:schemeClr val="tx1"/>
                </a:solidFill>
              </a:rPr>
              <a:t>Unit 3 </a:t>
            </a:r>
            <a:r>
              <a:rPr lang="en-US" sz="2200" b="1" dirty="0">
                <a:solidFill>
                  <a:schemeClr val="accent3"/>
                </a:solidFill>
              </a:rPr>
              <a:t>shut down</a:t>
            </a:r>
            <a:r>
              <a:rPr lang="en-US" sz="2200" dirty="0">
                <a:solidFill>
                  <a:schemeClr val="tx1"/>
                </a:solidFill>
              </a:rPr>
              <a:t> </a:t>
            </a:r>
            <a:r>
              <a:rPr lang="en-US" sz="2200" i="1" dirty="0">
                <a:solidFill>
                  <a:schemeClr val="tx1"/>
                </a:solidFill>
              </a:rPr>
              <a:t>(shut down)</a:t>
            </a:r>
            <a:r>
              <a:rPr lang="en-US" sz="2200" dirty="0">
                <a:solidFill>
                  <a:schemeClr val="tx1"/>
                </a:solidFill>
              </a:rPr>
              <a:t> at 02.16.</a:t>
            </a:r>
            <a:endParaRPr lang="en-US" sz="2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Who entered? Who did he call?</a:t>
            </a:r>
            <a:endParaRPr lang="en-US" sz="3200" dirty="0"/>
          </a:p>
        </p:txBody>
      </p:sp>
      <p:sp>
        <p:nvSpPr>
          <p:cNvPr id="3" name="tag"/>
          <p:cNvSpPr/>
          <p:nvPr/>
        </p:nvSpPr>
        <p:spPr>
          <a:xfrm>
            <a:off x="548640" y="384048"/>
            <a:ext cx="1165860" cy="310896"/>
          </a:xfrm>
          <a:prstGeom prst="roundRect">
            <a:avLst>
              <a:gd name="adj" fmla="val 14706"/>
            </a:avLst>
          </a:prstGeom>
          <a:solidFill>
            <a:srgbClr val="1F3864"/>
          </a:solidFill>
          <a:ln/>
        </p:spPr>
        <p:txBody>
          <a:bodyPr wrap="square" lIns="0" tIns="0" rIns="0" bIns="0" rtlCol="0" anchor="ctr"/>
          <a:lstStyle/>
          <a:p>
            <a:pPr algn="ctr" indent="0" marL="0">
              <a:buNone/>
            </a:pPr>
            <a:r>
              <a:rPr lang="en-US" sz="1200" b="1" spc="100" kern="0" dirty="0">
                <a:solidFill>
                  <a:schemeClr val="bg1"/>
                </a:solidFill>
              </a:rPr>
              <a:t>GRAMMAR</a:t>
            </a:r>
            <a:endParaRPr lang="en-US" sz="1200" dirty="0"/>
          </a:p>
        </p:txBody>
      </p:sp>
      <p:sp>
        <p:nvSpPr>
          <p:cNvPr id="4" name="Text 2"/>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14</a:t>
            </a:r>
            <a:endParaRPr lang="en-US" sz="1200" dirty="0"/>
          </a:p>
        </p:txBody>
      </p:sp>
      <p:sp>
        <p:nvSpPr>
          <p:cNvPr id="5" name="Text 3"/>
          <p:cNvSpPr/>
          <p:nvPr/>
        </p:nvSpPr>
        <p:spPr>
          <a:xfrm>
            <a:off x="1209294" y="1737360"/>
            <a:ext cx="3387852" cy="384048"/>
          </a:xfrm>
          <a:prstGeom prst="roundRect">
            <a:avLst>
              <a:gd name="adj" fmla="val 47619"/>
            </a:avLst>
          </a:prstGeom>
          <a:solidFill>
            <a:srgbClr val="1F3864"/>
          </a:solidFill>
          <a:ln/>
        </p:spPr>
        <p:txBody>
          <a:bodyPr wrap="square" lIns="0" tIns="0" rIns="0" bIns="0" rtlCol="0" anchor="ctr"/>
          <a:lstStyle/>
          <a:p>
            <a:pPr algn="ctr" indent="0" marL="0">
              <a:buNone/>
            </a:pPr>
            <a:r>
              <a:rPr lang="en-US" sz="1500" b="1" dirty="0">
                <a:solidFill>
                  <a:schemeClr val="bg1"/>
                </a:solidFill>
              </a:rPr>
              <a:t>A question with Who or What</a:t>
            </a:r>
            <a:endParaRPr lang="en-US" sz="1500" dirty="0"/>
          </a:p>
        </p:txBody>
      </p:sp>
      <p:sp>
        <p:nvSpPr>
          <p:cNvPr id="6" name="Shape 4"/>
          <p:cNvSpPr/>
          <p:nvPr/>
        </p:nvSpPr>
        <p:spPr>
          <a:xfrm>
            <a:off x="2903220" y="2139696"/>
            <a:ext cx="0" cy="310896"/>
          </a:xfrm>
          <a:prstGeom prst="line">
            <a:avLst/>
          </a:prstGeom>
          <a:noFill/>
          <a:ln w="22225">
            <a:solidFill>
              <a:srgbClr val="44546A"/>
            </a:solidFill>
            <a:prstDash val="solid"/>
            <a:tailEnd type="triangle"/>
          </a:ln>
        </p:spPr>
      </p:sp>
      <p:sp>
        <p:nvSpPr>
          <p:cNvPr id="7" name="Shape 5"/>
          <p:cNvSpPr/>
          <p:nvPr/>
        </p:nvSpPr>
        <p:spPr>
          <a:xfrm>
            <a:off x="548640" y="2468880"/>
            <a:ext cx="4709160" cy="598424"/>
          </a:xfrm>
          <a:prstGeom prst="roundRect">
            <a:avLst>
              <a:gd name="adj" fmla="val 12224"/>
            </a:avLst>
          </a:prstGeom>
          <a:solidFill>
            <a:srgbClr val="FFFFFF"/>
          </a:solidFill>
          <a:ln w="19050">
            <a:solidFill>
              <a:srgbClr val="1F3864"/>
            </a:solidFill>
            <a:prstDash val="solid"/>
          </a:ln>
          <a:effectLst>
            <a:outerShdw sx="100000" sy="100000" kx="0" ky="0" algn="bl" rotWithShape="0" blurRad="101600" dist="25400" dir="3600000">
              <a:srgbClr val="000000">
                <a:alpha val="18000"/>
              </a:srgbClr>
            </a:outerShdw>
          </a:effectLst>
        </p:spPr>
      </p:sp>
      <p:sp>
        <p:nvSpPr>
          <p:cNvPr id="8" name="Shape 6"/>
          <p:cNvSpPr/>
          <p:nvPr/>
        </p:nvSpPr>
        <p:spPr>
          <a:xfrm>
            <a:off x="694944" y="2548636"/>
            <a:ext cx="438912" cy="438912"/>
          </a:xfrm>
          <a:prstGeom prst="ellipse">
            <a:avLst/>
          </a:prstGeom>
          <a:solidFill>
            <a:srgbClr val="1F3864"/>
          </a:solidFill>
          <a:ln/>
        </p:spPr>
      </p:sp>
      <p:pic>
        <p:nvPicPr>
          <p:cNvPr id="9" name="Image 0" descr="preencoded.png">    </p:cNvPr>
          <p:cNvPicPr>
            <a:picLocks noChangeAspect="1"/>
          </p:cNvPicPr>
          <p:nvPr/>
        </p:nvPicPr>
        <p:blipFill>
          <a:blip r:embed="rId1"/>
          <a:stretch>
            <a:fillRect/>
          </a:stretch>
        </p:blipFill>
        <p:spPr>
          <a:xfrm>
            <a:off x="804672" y="2658364"/>
            <a:ext cx="219456" cy="219456"/>
          </a:xfrm>
          <a:prstGeom prst="rect">
            <a:avLst/>
          </a:prstGeom>
        </p:spPr>
      </p:pic>
      <p:sp>
        <p:nvSpPr>
          <p:cNvPr id="10" name="Text 7"/>
          <p:cNvSpPr txBox="1"/>
          <p:nvPr/>
        </p:nvSpPr>
        <p:spPr>
          <a:xfrm>
            <a:off x="1261872" y="2505456"/>
            <a:ext cx="3867912" cy="525272"/>
          </a:xfrm>
          <a:prstGeom prst="rect">
            <a:avLst/>
          </a:prstGeom>
          <a:noFill/>
          <a:ln/>
        </p:spPr>
        <p:txBody>
          <a:bodyPr wrap="square" lIns="0" tIns="0" rIns="0" bIns="0" rtlCol="0" anchor="ctr"/>
          <a:lstStyle/>
          <a:p>
            <a:pPr indent="0" marL="0">
              <a:buNone/>
            </a:pPr>
            <a:r>
              <a:rPr lang="en-US" sz="1700" b="1" dirty="0">
                <a:solidFill>
                  <a:schemeClr val="tx2"/>
                </a:solidFill>
              </a:rPr>
              <a:t>Is the answer the </a:t>
            </a:r>
            <a:r>
              <a:rPr lang="en-US" sz="1700" b="1" dirty="0">
                <a:solidFill>
                  <a:schemeClr val="tx2"/>
                </a:solidFill>
              </a:rPr>
              <a:t>subject</a:t>
            </a:r>
            <a:r>
              <a:rPr lang="en-US" sz="1700" b="1" dirty="0">
                <a:solidFill>
                  <a:schemeClr val="tx2"/>
                </a:solidFill>
              </a:rPr>
              <a:t>?</a:t>
            </a:r>
            <a:endParaRPr lang="en-US" sz="1700" dirty="0"/>
          </a:p>
          <a:p>
            <a:pPr indent="0" marL="0">
              <a:buNone/>
            </a:pPr>
            <a:r>
              <a:rPr lang="en-US" sz="1300" i="1" dirty="0">
                <a:solidFill>
                  <a:schemeClr val="accent5"/>
                </a:solidFill>
              </a:rPr>
              <a:t>the one who did it: </a:t>
            </a:r>
            <a:r>
              <a:rPr lang="en-US" sz="1300" b="1" i="1" dirty="0">
                <a:solidFill>
                  <a:schemeClr val="accent5"/>
                </a:solidFill>
              </a:rPr>
              <a:t>Somebody</a:t>
            </a:r>
            <a:r>
              <a:rPr lang="en-US" sz="1300" i="1" dirty="0">
                <a:solidFill>
                  <a:schemeClr val="accent5"/>
                </a:solidFill>
              </a:rPr>
              <a:t> entered at 20:04.</a:t>
            </a:r>
            <a:endParaRPr lang="en-US" sz="1700" dirty="0"/>
          </a:p>
        </p:txBody>
      </p:sp>
      <p:sp>
        <p:nvSpPr>
          <p:cNvPr id="11" name="Shape 8"/>
          <p:cNvSpPr/>
          <p:nvPr/>
        </p:nvSpPr>
        <p:spPr>
          <a:xfrm>
            <a:off x="5276088" y="2768092"/>
            <a:ext cx="859536" cy="0"/>
          </a:xfrm>
          <a:prstGeom prst="line">
            <a:avLst/>
          </a:prstGeom>
          <a:noFill/>
          <a:ln w="22225">
            <a:solidFill>
              <a:srgbClr val="3C7A3C"/>
            </a:solidFill>
            <a:prstDash val="solid"/>
            <a:tailEnd type="triangle"/>
          </a:ln>
        </p:spPr>
      </p:sp>
      <p:sp>
        <p:nvSpPr>
          <p:cNvPr id="12" name="Text 9"/>
          <p:cNvSpPr txBox="1"/>
          <p:nvPr/>
        </p:nvSpPr>
        <p:spPr>
          <a:xfrm>
            <a:off x="5257800" y="2457196"/>
            <a:ext cx="914400" cy="274320"/>
          </a:xfrm>
          <a:prstGeom prst="rect">
            <a:avLst/>
          </a:prstGeom>
          <a:noFill/>
          <a:ln/>
        </p:spPr>
        <p:txBody>
          <a:bodyPr wrap="square" lIns="0" tIns="0" rIns="0" bIns="0" rtlCol="0" anchor="ctr"/>
          <a:lstStyle/>
          <a:p>
            <a:pPr algn="ctr" indent="0" marL="0">
              <a:buNone/>
            </a:pPr>
            <a:r>
              <a:rPr lang="en-US" sz="1200" b="1" dirty="0">
                <a:solidFill>
                  <a:schemeClr val="accent3"/>
                </a:solidFill>
              </a:rPr>
              <a:t>YES</a:t>
            </a:r>
            <a:endParaRPr lang="en-US" sz="1200" dirty="0"/>
          </a:p>
        </p:txBody>
      </p:sp>
      <p:sp>
        <p:nvSpPr>
          <p:cNvPr id="13" name="Shape 10"/>
          <p:cNvSpPr/>
          <p:nvPr/>
        </p:nvSpPr>
        <p:spPr>
          <a:xfrm>
            <a:off x="6172200" y="2468880"/>
            <a:ext cx="5468112" cy="598424"/>
          </a:xfrm>
          <a:prstGeom prst="roundRect">
            <a:avLst>
              <a:gd name="adj" fmla="val 12224"/>
            </a:avLst>
          </a:prstGeom>
          <a:solidFill>
            <a:srgbClr val="6E4A9E">
              <a:alpha val="12000"/>
            </a:srgbClr>
          </a:solidFill>
          <a:ln w="19050">
            <a:solidFill>
              <a:srgbClr val="6E4A9E"/>
            </a:solidFill>
            <a:prstDash val="solid"/>
          </a:ln>
        </p:spPr>
      </p:sp>
      <p:sp>
        <p:nvSpPr>
          <p:cNvPr id="14" name="Text 11"/>
          <p:cNvSpPr txBox="1"/>
          <p:nvPr/>
        </p:nvSpPr>
        <p:spPr>
          <a:xfrm>
            <a:off x="6336792" y="2505456"/>
            <a:ext cx="5138928" cy="525272"/>
          </a:xfrm>
          <a:prstGeom prst="rect">
            <a:avLst/>
          </a:prstGeom>
          <a:noFill/>
          <a:ln/>
        </p:spPr>
        <p:txBody>
          <a:bodyPr wrap="square" lIns="0" tIns="0" rIns="0" bIns="0" rtlCol="0" anchor="ctr"/>
          <a:lstStyle/>
          <a:p>
            <a:pPr indent="0" marL="0">
              <a:buNone/>
            </a:pPr>
            <a:r>
              <a:rPr lang="en-US" sz="1300" b="1" spc="50" kern="0" dirty="0">
                <a:solidFill>
                  <a:schemeClr val="accent4"/>
                </a:solidFill>
              </a:rPr>
              <a:t>NO DID — Who / What + past simple</a:t>
            </a:r>
            <a:endParaRPr lang="en-US" sz="1300" dirty="0"/>
          </a:p>
          <a:p>
            <a:pPr indent="0" marL="0">
              <a:buNone/>
            </a:pPr>
            <a:r>
              <a:rPr lang="en-US" sz="1300" b="1" dirty="0">
                <a:solidFill>
                  <a:schemeClr val="tx1"/>
                </a:solidFill>
              </a:rPr>
              <a:t>Who entered</a:t>
            </a:r>
            <a:r>
              <a:rPr lang="en-US" sz="1300" dirty="0">
                <a:solidFill>
                  <a:schemeClr val="tx1"/>
                </a:solidFill>
              </a:rPr>
              <a:t> zone 2F at 20:04? </a:t>
            </a:r>
            <a:r>
              <a:rPr lang="en-US" sz="1300" b="1" dirty="0">
                <a:solidFill>
                  <a:schemeClr val="tx1"/>
                </a:solidFill>
              </a:rPr>
              <a:t>What happened</a:t>
            </a:r>
            <a:r>
              <a:rPr lang="en-US" sz="1300" dirty="0">
                <a:solidFill>
                  <a:schemeClr val="tx1"/>
                </a:solidFill>
              </a:rPr>
              <a:t> at 02:16?</a:t>
            </a:r>
            <a:endParaRPr lang="en-US" sz="1300" dirty="0"/>
          </a:p>
        </p:txBody>
      </p:sp>
      <p:sp>
        <p:nvSpPr>
          <p:cNvPr id="15" name="Shape 12"/>
          <p:cNvSpPr/>
          <p:nvPr/>
        </p:nvSpPr>
        <p:spPr>
          <a:xfrm>
            <a:off x="2903220" y="3085592"/>
            <a:ext cx="0" cy="310896"/>
          </a:xfrm>
          <a:prstGeom prst="line">
            <a:avLst/>
          </a:prstGeom>
          <a:noFill/>
          <a:ln w="22225">
            <a:solidFill>
              <a:srgbClr val="44546A"/>
            </a:solidFill>
            <a:prstDash val="solid"/>
            <a:tailEnd type="triangle"/>
          </a:ln>
        </p:spPr>
      </p:sp>
      <p:sp>
        <p:nvSpPr>
          <p:cNvPr id="16" name="Text 13"/>
          <p:cNvSpPr txBox="1"/>
          <p:nvPr/>
        </p:nvSpPr>
        <p:spPr>
          <a:xfrm>
            <a:off x="2994660" y="3067304"/>
            <a:ext cx="548640" cy="347472"/>
          </a:xfrm>
          <a:prstGeom prst="rect">
            <a:avLst/>
          </a:prstGeom>
          <a:noFill/>
          <a:ln/>
        </p:spPr>
        <p:txBody>
          <a:bodyPr wrap="square" lIns="0" tIns="0" rIns="0" bIns="0" rtlCol="0" anchor="ctr"/>
          <a:lstStyle/>
          <a:p>
            <a:pPr indent="0" marL="0">
              <a:buNone/>
            </a:pPr>
            <a:r>
              <a:rPr lang="en-US" sz="1200" b="1" dirty="0">
                <a:solidFill>
                  <a:schemeClr val="accent6"/>
                </a:solidFill>
              </a:rPr>
              <a:t>NO</a:t>
            </a:r>
            <a:endParaRPr lang="en-US" sz="1200" dirty="0"/>
          </a:p>
        </p:txBody>
      </p:sp>
      <p:sp>
        <p:nvSpPr>
          <p:cNvPr id="17" name="Shape 14"/>
          <p:cNvSpPr/>
          <p:nvPr/>
        </p:nvSpPr>
        <p:spPr>
          <a:xfrm>
            <a:off x="548640" y="3414776"/>
            <a:ext cx="4709160" cy="598424"/>
          </a:xfrm>
          <a:prstGeom prst="roundRect">
            <a:avLst>
              <a:gd name="adj" fmla="val 12224"/>
            </a:avLst>
          </a:prstGeom>
          <a:solidFill>
            <a:srgbClr val="FFFFFF"/>
          </a:solidFill>
          <a:ln w="19050">
            <a:solidFill>
              <a:srgbClr val="1F3864"/>
            </a:solidFill>
            <a:prstDash val="solid"/>
          </a:ln>
          <a:effectLst>
            <a:outerShdw sx="100000" sy="100000" kx="0" ky="0" algn="bl" rotWithShape="0" blurRad="101600" dist="25400" dir="3600000">
              <a:srgbClr val="000000">
                <a:alpha val="18000"/>
              </a:srgbClr>
            </a:outerShdw>
          </a:effectLst>
        </p:spPr>
      </p:sp>
      <p:sp>
        <p:nvSpPr>
          <p:cNvPr id="18" name="Shape 15"/>
          <p:cNvSpPr/>
          <p:nvPr/>
        </p:nvSpPr>
        <p:spPr>
          <a:xfrm>
            <a:off x="694944" y="3494532"/>
            <a:ext cx="438912" cy="438912"/>
          </a:xfrm>
          <a:prstGeom prst="ellipse">
            <a:avLst/>
          </a:prstGeom>
          <a:solidFill>
            <a:srgbClr val="1F3864"/>
          </a:solidFill>
          <a:ln/>
        </p:spPr>
      </p:sp>
      <p:pic>
        <p:nvPicPr>
          <p:cNvPr id="19" name="Image 1" descr="preencoded.png">    </p:cNvPr>
          <p:cNvPicPr>
            <a:picLocks noChangeAspect="1"/>
          </p:cNvPicPr>
          <p:nvPr/>
        </p:nvPicPr>
        <p:blipFill>
          <a:blip r:embed="rId2"/>
          <a:stretch>
            <a:fillRect/>
          </a:stretch>
        </p:blipFill>
        <p:spPr>
          <a:xfrm>
            <a:off x="804672" y="3604260"/>
            <a:ext cx="219456" cy="219456"/>
          </a:xfrm>
          <a:prstGeom prst="rect">
            <a:avLst/>
          </a:prstGeom>
        </p:spPr>
      </p:pic>
      <p:sp>
        <p:nvSpPr>
          <p:cNvPr id="20" name="Text 16"/>
          <p:cNvSpPr txBox="1"/>
          <p:nvPr/>
        </p:nvSpPr>
        <p:spPr>
          <a:xfrm>
            <a:off x="1261872" y="3451352"/>
            <a:ext cx="3867912" cy="525272"/>
          </a:xfrm>
          <a:prstGeom prst="rect">
            <a:avLst/>
          </a:prstGeom>
          <a:noFill/>
          <a:ln/>
        </p:spPr>
        <p:txBody>
          <a:bodyPr wrap="square" lIns="0" tIns="0" rIns="0" bIns="0" rtlCol="0" anchor="ctr"/>
          <a:lstStyle/>
          <a:p>
            <a:pPr indent="0" marL="0">
              <a:buNone/>
            </a:pPr>
            <a:r>
              <a:rPr lang="en-US" sz="1700" b="1" dirty="0">
                <a:solidFill>
                  <a:schemeClr val="tx2"/>
                </a:solidFill>
              </a:rPr>
              <a:t>Is the answer the </a:t>
            </a:r>
            <a:r>
              <a:rPr lang="en-US" sz="1700" b="1" dirty="0">
                <a:solidFill>
                  <a:schemeClr val="tx2"/>
                </a:solidFill>
              </a:rPr>
              <a:t>object</a:t>
            </a:r>
            <a:r>
              <a:rPr lang="en-US" sz="1700" b="1" dirty="0">
                <a:solidFill>
                  <a:schemeClr val="tx2"/>
                </a:solidFill>
              </a:rPr>
              <a:t>?</a:t>
            </a:r>
            <a:endParaRPr lang="en-US" sz="1700" dirty="0"/>
          </a:p>
          <a:p>
            <a:pPr indent="0" marL="0">
              <a:buNone/>
            </a:pPr>
            <a:r>
              <a:rPr lang="en-US" sz="1300" i="1" dirty="0">
                <a:solidFill>
                  <a:schemeClr val="accent5"/>
                </a:solidFill>
              </a:rPr>
              <a:t>what or who it happened to: The guard called </a:t>
            </a:r>
            <a:r>
              <a:rPr lang="en-US" sz="1300" b="1" i="1" dirty="0">
                <a:solidFill>
                  <a:schemeClr val="accent5"/>
                </a:solidFill>
              </a:rPr>
              <a:t>somebody</a:t>
            </a:r>
            <a:r>
              <a:rPr lang="en-US" sz="1300" i="1" dirty="0">
                <a:solidFill>
                  <a:schemeClr val="accent5"/>
                </a:solidFill>
              </a:rPr>
              <a:t>.</a:t>
            </a:r>
            <a:endParaRPr lang="en-US" sz="1700" dirty="0"/>
          </a:p>
        </p:txBody>
      </p:sp>
      <p:sp>
        <p:nvSpPr>
          <p:cNvPr id="21" name="Shape 17"/>
          <p:cNvSpPr/>
          <p:nvPr/>
        </p:nvSpPr>
        <p:spPr>
          <a:xfrm>
            <a:off x="5276088" y="3713988"/>
            <a:ext cx="859536" cy="0"/>
          </a:xfrm>
          <a:prstGeom prst="line">
            <a:avLst/>
          </a:prstGeom>
          <a:noFill/>
          <a:ln w="22225">
            <a:solidFill>
              <a:srgbClr val="3C7A3C"/>
            </a:solidFill>
            <a:prstDash val="solid"/>
            <a:tailEnd type="triangle"/>
          </a:ln>
        </p:spPr>
      </p:sp>
      <p:sp>
        <p:nvSpPr>
          <p:cNvPr id="22" name="Text 18"/>
          <p:cNvSpPr txBox="1"/>
          <p:nvPr/>
        </p:nvSpPr>
        <p:spPr>
          <a:xfrm>
            <a:off x="5257800" y="3403092"/>
            <a:ext cx="914400" cy="274320"/>
          </a:xfrm>
          <a:prstGeom prst="rect">
            <a:avLst/>
          </a:prstGeom>
          <a:noFill/>
          <a:ln/>
        </p:spPr>
        <p:txBody>
          <a:bodyPr wrap="square" lIns="0" tIns="0" rIns="0" bIns="0" rtlCol="0" anchor="ctr"/>
          <a:lstStyle/>
          <a:p>
            <a:pPr algn="ctr" indent="0" marL="0">
              <a:buNone/>
            </a:pPr>
            <a:r>
              <a:rPr lang="en-US" sz="1200" b="1" dirty="0">
                <a:solidFill>
                  <a:schemeClr val="accent3"/>
                </a:solidFill>
              </a:rPr>
              <a:t>YES</a:t>
            </a:r>
            <a:endParaRPr lang="en-US" sz="1200" dirty="0"/>
          </a:p>
        </p:txBody>
      </p:sp>
      <p:sp>
        <p:nvSpPr>
          <p:cNvPr id="23" name="Shape 19"/>
          <p:cNvSpPr/>
          <p:nvPr/>
        </p:nvSpPr>
        <p:spPr>
          <a:xfrm>
            <a:off x="6172200" y="3414776"/>
            <a:ext cx="5468112" cy="598424"/>
          </a:xfrm>
          <a:prstGeom prst="roundRect">
            <a:avLst>
              <a:gd name="adj" fmla="val 12224"/>
            </a:avLst>
          </a:prstGeom>
          <a:solidFill>
            <a:srgbClr val="2E75B6">
              <a:alpha val="12000"/>
            </a:srgbClr>
          </a:solidFill>
          <a:ln w="19050">
            <a:solidFill>
              <a:srgbClr val="2E75B6"/>
            </a:solidFill>
            <a:prstDash val="solid"/>
          </a:ln>
        </p:spPr>
      </p:sp>
      <p:sp>
        <p:nvSpPr>
          <p:cNvPr id="24" name="Text 20"/>
          <p:cNvSpPr txBox="1"/>
          <p:nvPr/>
        </p:nvSpPr>
        <p:spPr>
          <a:xfrm>
            <a:off x="6336792" y="3451352"/>
            <a:ext cx="5138928" cy="525272"/>
          </a:xfrm>
          <a:prstGeom prst="rect">
            <a:avLst/>
          </a:prstGeom>
          <a:noFill/>
          <a:ln/>
        </p:spPr>
        <p:txBody>
          <a:bodyPr wrap="square" lIns="0" tIns="0" rIns="0" bIns="0" rtlCol="0" anchor="ctr"/>
          <a:lstStyle/>
          <a:p>
            <a:pPr indent="0" marL="0">
              <a:buNone/>
            </a:pPr>
            <a:r>
              <a:rPr lang="en-US" sz="1300" b="1" spc="50" kern="0" dirty="0">
                <a:solidFill>
                  <a:schemeClr val="accent2"/>
                </a:solidFill>
              </a:rPr>
              <a:t>DID + subject + base</a:t>
            </a:r>
            <a:endParaRPr lang="en-US" sz="1300" dirty="0"/>
          </a:p>
          <a:p>
            <a:pPr indent="0" marL="0">
              <a:buNone/>
            </a:pPr>
            <a:r>
              <a:rPr lang="en-US" sz="1300" b="1" dirty="0">
                <a:solidFill>
                  <a:schemeClr val="tx1"/>
                </a:solidFill>
              </a:rPr>
              <a:t>Who did</a:t>
            </a:r>
            <a:r>
              <a:rPr lang="en-US" sz="1300" dirty="0">
                <a:solidFill>
                  <a:schemeClr val="tx1"/>
                </a:solidFill>
              </a:rPr>
              <a:t> the guard </a:t>
            </a:r>
            <a:r>
              <a:rPr lang="en-US" sz="1300" b="1" dirty="0">
                <a:solidFill>
                  <a:schemeClr val="tx1"/>
                </a:solidFill>
              </a:rPr>
              <a:t>call</a:t>
            </a:r>
            <a:r>
              <a:rPr lang="en-US" sz="1300" dirty="0">
                <a:solidFill>
                  <a:schemeClr val="tx1"/>
                </a:solidFill>
              </a:rPr>
              <a:t>? </a:t>
            </a:r>
            <a:r>
              <a:rPr lang="en-US" sz="1300" b="1" dirty="0">
                <a:solidFill>
                  <a:schemeClr val="tx1"/>
                </a:solidFill>
              </a:rPr>
              <a:t>What did</a:t>
            </a:r>
            <a:r>
              <a:rPr lang="en-US" sz="1300" dirty="0">
                <a:solidFill>
                  <a:schemeClr val="tx1"/>
                </a:solidFill>
              </a:rPr>
              <a:t> the log </a:t>
            </a:r>
            <a:r>
              <a:rPr lang="en-US" sz="1300" b="1" dirty="0">
                <a:solidFill>
                  <a:schemeClr val="tx1"/>
                </a:solidFill>
              </a:rPr>
              <a:t>show</a:t>
            </a:r>
            <a:r>
              <a:rPr lang="en-US" sz="1300" dirty="0">
                <a:solidFill>
                  <a:schemeClr val="tx1"/>
                </a:solidFill>
              </a:rPr>
              <a:t>?</a:t>
            </a:r>
            <a:endParaRPr lang="en-US" sz="1300" dirty="0"/>
          </a:p>
        </p:txBody>
      </p:sp>
      <p:sp>
        <p:nvSpPr>
          <p:cNvPr id="25" name="Shape 21"/>
          <p:cNvSpPr/>
          <p:nvPr/>
        </p:nvSpPr>
        <p:spPr>
          <a:xfrm>
            <a:off x="2903220" y="4031488"/>
            <a:ext cx="0" cy="310896"/>
          </a:xfrm>
          <a:prstGeom prst="line">
            <a:avLst/>
          </a:prstGeom>
          <a:noFill/>
          <a:ln w="22225">
            <a:solidFill>
              <a:srgbClr val="44546A"/>
            </a:solidFill>
            <a:prstDash val="solid"/>
            <a:tailEnd type="triangle"/>
          </a:ln>
        </p:spPr>
      </p:sp>
      <p:sp>
        <p:nvSpPr>
          <p:cNvPr id="26" name="Text 22"/>
          <p:cNvSpPr txBox="1"/>
          <p:nvPr/>
        </p:nvSpPr>
        <p:spPr>
          <a:xfrm>
            <a:off x="2994660" y="4013200"/>
            <a:ext cx="548640" cy="347472"/>
          </a:xfrm>
          <a:prstGeom prst="rect">
            <a:avLst/>
          </a:prstGeom>
          <a:noFill/>
          <a:ln/>
        </p:spPr>
        <p:txBody>
          <a:bodyPr wrap="square" lIns="0" tIns="0" rIns="0" bIns="0" rtlCol="0" anchor="ctr"/>
          <a:lstStyle/>
          <a:p>
            <a:pPr indent="0" marL="0">
              <a:buNone/>
            </a:pPr>
            <a:r>
              <a:rPr lang="en-US" sz="1200" b="1" dirty="0">
                <a:solidFill>
                  <a:schemeClr val="accent6"/>
                </a:solidFill>
              </a:rPr>
              <a:t>NO</a:t>
            </a:r>
            <a:endParaRPr lang="en-US" sz="1200" dirty="0"/>
          </a:p>
        </p:txBody>
      </p:sp>
      <p:sp>
        <p:nvSpPr>
          <p:cNvPr id="27" name="Shape 23"/>
          <p:cNvSpPr/>
          <p:nvPr/>
        </p:nvSpPr>
        <p:spPr>
          <a:xfrm>
            <a:off x="548640" y="4360672"/>
            <a:ext cx="4709160" cy="598424"/>
          </a:xfrm>
          <a:prstGeom prst="roundRect">
            <a:avLst>
              <a:gd name="adj" fmla="val 12224"/>
            </a:avLst>
          </a:prstGeom>
          <a:solidFill>
            <a:srgbClr val="C0752A">
              <a:alpha val="12000"/>
            </a:srgbClr>
          </a:solidFill>
          <a:ln w="19050">
            <a:solidFill>
              <a:srgbClr val="C0752A"/>
            </a:solidFill>
            <a:prstDash val="solid"/>
          </a:ln>
        </p:spPr>
      </p:sp>
      <p:sp>
        <p:nvSpPr>
          <p:cNvPr id="28" name="Text 24"/>
          <p:cNvSpPr txBox="1"/>
          <p:nvPr/>
        </p:nvSpPr>
        <p:spPr>
          <a:xfrm>
            <a:off x="713232" y="4397248"/>
            <a:ext cx="4379976" cy="525272"/>
          </a:xfrm>
          <a:prstGeom prst="rect">
            <a:avLst/>
          </a:prstGeom>
          <a:noFill/>
          <a:ln/>
        </p:spPr>
        <p:txBody>
          <a:bodyPr wrap="square" lIns="0" tIns="0" rIns="0" bIns="0" rtlCol="0" anchor="ctr"/>
          <a:lstStyle/>
          <a:p>
            <a:pPr indent="0" marL="0">
              <a:buNone/>
            </a:pPr>
            <a:r>
              <a:rPr lang="en-US" sz="1300" b="1" spc="50" kern="0" dirty="0">
                <a:solidFill>
                  <a:schemeClr val="accent1"/>
                </a:solidFill>
              </a:rPr>
              <a:t>WHEN · WHERE · HOW LONG → did + base</a:t>
            </a:r>
            <a:endParaRPr lang="en-US" sz="1300" dirty="0"/>
          </a:p>
          <a:p>
            <a:pPr indent="0" marL="0">
              <a:buNone/>
            </a:pPr>
            <a:r>
              <a:rPr lang="en-US" sz="1300" b="1" dirty="0">
                <a:solidFill>
                  <a:schemeClr val="tx1"/>
                </a:solidFill>
              </a:rPr>
              <a:t>How long did</a:t>
            </a:r>
            <a:r>
              <a:rPr lang="en-US" sz="1300" dirty="0">
                <a:solidFill>
                  <a:schemeClr val="tx1"/>
                </a:solidFill>
              </a:rPr>
              <a:t> the water </a:t>
            </a:r>
            <a:r>
              <a:rPr lang="en-US" sz="1300" b="1" dirty="0">
                <a:solidFill>
                  <a:schemeClr val="tx1"/>
                </a:solidFill>
              </a:rPr>
              <a:t>run</a:t>
            </a:r>
            <a:r>
              <a:rPr lang="en-US" sz="1300" dirty="0">
                <a:solidFill>
                  <a:schemeClr val="tx1"/>
                </a:solidFill>
              </a:rPr>
              <a:t>? </a:t>
            </a:r>
            <a:r>
              <a:rPr lang="en-US" sz="1300" b="1" dirty="0">
                <a:solidFill>
                  <a:schemeClr val="tx1"/>
                </a:solidFill>
              </a:rPr>
              <a:t>When did</a:t>
            </a:r>
            <a:r>
              <a:rPr lang="en-US" sz="1300" dirty="0">
                <a:solidFill>
                  <a:schemeClr val="tx1"/>
                </a:solidFill>
              </a:rPr>
              <a:t> the team </a:t>
            </a:r>
            <a:r>
              <a:rPr lang="en-US" sz="1300" b="1" dirty="0">
                <a:solidFill>
                  <a:schemeClr val="tx1"/>
                </a:solidFill>
              </a:rPr>
              <a:t>leave</a:t>
            </a:r>
            <a:r>
              <a:rPr lang="en-US" sz="1300" dirty="0">
                <a:solidFill>
                  <a:schemeClr val="tx1"/>
                </a:solidFill>
              </a:rPr>
              <a:t>?</a:t>
            </a:r>
            <a:endParaRPr lang="en-US" sz="1300" dirty="0"/>
          </a:p>
        </p:txBody>
      </p:sp>
      <p:sp>
        <p:nvSpPr>
          <p:cNvPr id="29" name="Shape 25"/>
          <p:cNvSpPr/>
          <p:nvPr/>
        </p:nvSpPr>
        <p:spPr>
          <a:xfrm>
            <a:off x="548640" y="5535168"/>
            <a:ext cx="11091672" cy="774192"/>
          </a:xfrm>
          <a:prstGeom prst="roundRect">
            <a:avLst>
              <a:gd name="adj" fmla="val 9449"/>
            </a:avLst>
          </a:prstGeom>
          <a:solidFill>
            <a:srgbClr val="B03A2E">
              <a:alpha val="8000"/>
            </a:srgbClr>
          </a:solidFill>
          <a:ln w="12700">
            <a:solidFill>
              <a:srgbClr val="B03A2E"/>
            </a:solidFill>
            <a:prstDash val="solid"/>
          </a:ln>
        </p:spPr>
      </p:sp>
      <p:pic>
        <p:nvPicPr>
          <p:cNvPr id="30" name="Image 2" descr="preencoded.png">    </p:cNvPr>
          <p:cNvPicPr>
            <a:picLocks noChangeAspect="1"/>
          </p:cNvPicPr>
          <p:nvPr/>
        </p:nvPicPr>
        <p:blipFill>
          <a:blip r:embed="rId3"/>
          <a:stretch>
            <a:fillRect/>
          </a:stretch>
        </p:blipFill>
        <p:spPr>
          <a:xfrm>
            <a:off x="777240" y="5739384"/>
            <a:ext cx="365760" cy="365760"/>
          </a:xfrm>
          <a:prstGeom prst="rect">
            <a:avLst/>
          </a:prstGeom>
        </p:spPr>
      </p:pic>
      <p:sp>
        <p:nvSpPr>
          <p:cNvPr id="31" name="Text 26"/>
          <p:cNvSpPr txBox="1"/>
          <p:nvPr/>
        </p:nvSpPr>
        <p:spPr>
          <a:xfrm>
            <a:off x="1325880" y="5590032"/>
            <a:ext cx="10085832" cy="664464"/>
          </a:xfrm>
          <a:prstGeom prst="rect">
            <a:avLst/>
          </a:prstGeom>
          <a:noFill/>
          <a:ln/>
        </p:spPr>
        <p:txBody>
          <a:bodyPr wrap="square" lIns="0" tIns="0" rIns="0" bIns="0" rtlCol="0" anchor="ctr"/>
          <a:lstStyle/>
          <a:p>
            <a:pPr indent="0" marL="0">
              <a:buNone/>
            </a:pPr>
            <a:r>
              <a:rPr lang="en-US" sz="1800" b="1" dirty="0">
                <a:solidFill>
                  <a:schemeClr val="accent6"/>
                </a:solidFill>
              </a:rPr>
              <a:t>Piège pour francophones — </a:t>
            </a:r>
            <a:r>
              <a:rPr lang="en-US" sz="1800" i="1" dirty="0">
                <a:solidFill>
                  <a:schemeClr val="tx1"/>
                </a:solidFill>
              </a:rPr>
              <a:t>Qui est entré ?</a:t>
            </a:r>
            <a:r>
              <a:rPr lang="en-US" sz="1800" dirty="0">
                <a:solidFill>
                  <a:schemeClr val="tx1"/>
                </a:solidFill>
              </a:rPr>
              <a:t> → </a:t>
            </a:r>
            <a:r>
              <a:rPr lang="en-US" sz="1800" b="1" dirty="0">
                <a:solidFill>
                  <a:schemeClr val="tx1"/>
                </a:solidFill>
              </a:rPr>
              <a:t>Who entered?</a:t>
            </a:r>
            <a:r>
              <a:rPr lang="en-US" sz="1800" dirty="0">
                <a:solidFill>
                  <a:schemeClr val="tx1"/>
                </a:solidFill>
              </a:rPr>
              <a:t> (✗ </a:t>
            </a:r>
            <a:r>
              <a:rPr lang="en-US" sz="1800" i="1" dirty="0">
                <a:solidFill>
                  <a:schemeClr val="tx1"/>
                </a:solidFill>
              </a:rPr>
              <a:t>Who did enter?</a:t>
            </a:r>
            <a:r>
              <a:rPr lang="en-US" sz="1800" dirty="0">
                <a:solidFill>
                  <a:schemeClr val="tx1"/>
                </a:solidFill>
              </a:rPr>
              <a:t>) · </a:t>
            </a:r>
            <a:r>
              <a:rPr lang="en-US" sz="1800" i="1" dirty="0">
                <a:solidFill>
                  <a:schemeClr val="tx1"/>
                </a:solidFill>
              </a:rPr>
              <a:t>Que s’est-il passé ?</a:t>
            </a:r>
            <a:r>
              <a:rPr lang="en-US" sz="1800" dirty="0">
                <a:solidFill>
                  <a:schemeClr val="tx1"/>
                </a:solidFill>
              </a:rPr>
              <a:t> → </a:t>
            </a:r>
            <a:r>
              <a:rPr lang="en-US" sz="1800" b="1" dirty="0">
                <a:solidFill>
                  <a:schemeClr val="tx1"/>
                </a:solidFill>
              </a:rPr>
              <a:t>What happened?</a:t>
            </a:r>
            <a:r>
              <a:rPr lang="en-US" sz="1800" dirty="0">
                <a:solidFill>
                  <a:schemeClr val="tx1"/>
                </a:solidFill>
              </a:rPr>
              <a:t> (✗ </a:t>
            </a:r>
            <a:r>
              <a:rPr lang="en-US" sz="1800" i="1" dirty="0">
                <a:solidFill>
                  <a:schemeClr val="tx1"/>
                </a:solidFill>
              </a:rPr>
              <a:t>What did happen?</a:t>
            </a:r>
            <a:r>
              <a:rPr lang="en-US" sz="1800" dirty="0">
                <a:solidFill>
                  <a:schemeClr val="tx1"/>
                </a:solidFill>
              </a:rPr>
              <a:t>)</a:t>
            </a:r>
            <a:endParaRPr lang="en-US" sz="18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Ask the building manager — and fix the forms</a:t>
            </a:r>
            <a:endParaRPr lang="en-US" sz="3200" dirty="0"/>
          </a:p>
        </p:txBody>
      </p:sp>
      <p:sp>
        <p:nvSpPr>
          <p:cNvPr id="3" name="tag"/>
          <p:cNvSpPr/>
          <p:nvPr/>
        </p:nvSpPr>
        <p:spPr>
          <a:xfrm>
            <a:off x="548640" y="384048"/>
            <a:ext cx="1165860" cy="310896"/>
          </a:xfrm>
          <a:prstGeom prst="roundRect">
            <a:avLst>
              <a:gd name="adj" fmla="val 14706"/>
            </a:avLst>
          </a:prstGeom>
          <a:solidFill>
            <a:srgbClr val="2E75B6"/>
          </a:solidFill>
          <a:ln/>
        </p:spPr>
        <p:txBody>
          <a:bodyPr wrap="square" lIns="0" tIns="0" rIns="0" bIns="0" rtlCol="0" anchor="ctr"/>
          <a:lstStyle/>
          <a:p>
            <a:pPr algn="ctr" indent="0" marL="0">
              <a:buNone/>
            </a:pPr>
            <a:r>
              <a:rPr lang="en-US" sz="1200" b="1" spc="100" kern="0" dirty="0">
                <a:solidFill>
                  <a:schemeClr val="bg1"/>
                </a:solidFill>
              </a:rPr>
              <a:t>DRY RUN</a:t>
            </a:r>
            <a:endParaRPr lang="en-US" sz="1200" dirty="0"/>
          </a:p>
        </p:txBody>
      </p:sp>
      <p:sp>
        <p:nvSpPr>
          <p:cNvPr id="4" name="Text 2"/>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14</a:t>
            </a:r>
            <a:endParaRPr lang="en-US" sz="1200" dirty="0"/>
          </a:p>
        </p:txBody>
      </p:sp>
      <p:sp>
        <p:nvSpPr>
          <p:cNvPr id="5" name="exercise"/>
          <p:cNvSpPr txBox="1"/>
          <p:nvPr/>
        </p:nvSpPr>
        <p:spPr>
          <a:xfrm>
            <a:off x="548640" y="1783080"/>
            <a:ext cx="11091672" cy="4526280"/>
          </a:xfrm>
          <a:prstGeom prst="rect">
            <a:avLst/>
          </a:prstGeom>
          <a:noFill/>
          <a:ln/>
        </p:spPr>
        <p:txBody>
          <a:bodyPr wrap="square" lIns="0" tIns="0" rIns="0" bIns="0" rtlCol="0" anchor="t"/>
          <a:lstStyle/>
          <a:p>
            <a:pPr indent="0" marL="0">
              <a:spcAft>
                <a:spcPts val="600"/>
              </a:spcAft>
              <a:buNone/>
            </a:pPr>
            <a:r>
              <a:rPr lang="en-US" sz="2400" b="1" dirty="0">
                <a:solidFill>
                  <a:schemeClr val="tx2"/>
                </a:solidFill>
              </a:rPr>
              <a:t>B · Write the question you would ask the building manager.</a:t>
            </a:r>
            <a:endParaRPr lang="en-US" sz="2400" dirty="0"/>
          </a:p>
          <a:p>
            <a:pPr indent="0" marL="0">
              <a:spcAft>
                <a:spcPts val="1400"/>
              </a:spcAft>
              <a:buNone/>
            </a:pPr>
            <a:r>
              <a:rPr lang="en-US" sz="2400" dirty="0">
                <a:solidFill>
                  <a:schemeClr val="tx1"/>
                </a:solidFill>
              </a:rPr>
              <a:t>(who / enter / 20.04) → </a:t>
            </a:r>
            <a:r>
              <a:rPr lang="en-US" sz="2400" dirty="0">
                <a:solidFill>
                  <a:schemeClr val="accent5"/>
                </a:solidFill>
              </a:rPr>
              <a:t>…………………………………………</a:t>
            </a:r>
            <a:endParaRPr lang="en-US" sz="2400" dirty="0"/>
          </a:p>
          <a:p>
            <a:pPr indent="0" marL="0">
              <a:spcAft>
                <a:spcPts val="1400"/>
              </a:spcAft>
              <a:buNone/>
            </a:pPr>
            <a:r>
              <a:rPr lang="en-US" sz="2400" dirty="0">
                <a:solidFill>
                  <a:schemeClr val="tx1"/>
                </a:solidFill>
              </a:rPr>
              <a:t>(how long / the water / run) → </a:t>
            </a:r>
            <a:r>
              <a:rPr lang="en-US" sz="2400" dirty="0">
                <a:solidFill>
                  <a:schemeClr val="accent5"/>
                </a:solidFill>
              </a:rPr>
              <a:t>…………………………………………</a:t>
            </a:r>
            <a:endParaRPr lang="en-US" sz="2400" dirty="0"/>
          </a:p>
          <a:p>
            <a:pPr indent="0" marL="0">
              <a:spcBef>
                <a:spcPts val="1000"/>
              </a:spcBef>
              <a:spcAft>
                <a:spcPts val="600"/>
              </a:spcAft>
              <a:buNone/>
            </a:pPr>
            <a:r>
              <a:rPr lang="en-US" sz="2400" b="1" dirty="0">
                <a:solidFill>
                  <a:schemeClr val="tx2"/>
                </a:solidFill>
              </a:rPr>
              <a:t>C · One word is wrong in each sentence. Correct it.</a:t>
            </a:r>
            <a:endParaRPr lang="en-US" sz="2400" dirty="0"/>
          </a:p>
          <a:p>
            <a:pPr indent="0" marL="0">
              <a:spcAft>
                <a:spcPts val="1400"/>
              </a:spcAft>
              <a:buNone/>
            </a:pPr>
            <a:r>
              <a:rPr lang="en-US" sz="2400" dirty="0">
                <a:solidFill>
                  <a:schemeClr val="tx1"/>
                </a:solidFill>
              </a:rPr>
              <a:t>The alarm </a:t>
            </a:r>
            <a:r>
              <a:rPr lang="en-US" sz="2400" dirty="0">
                <a:solidFill>
                  <a:schemeClr val="tx1"/>
                </a:solidFill>
              </a:rPr>
              <a:t>was going off</a:t>
            </a:r>
            <a:r>
              <a:rPr lang="en-US" sz="2400" dirty="0">
                <a:solidFill>
                  <a:schemeClr val="tx1"/>
                </a:solidFill>
              </a:rPr>
              <a:t> </a:t>
            </a:r>
            <a:r>
              <a:rPr lang="en-US" sz="2400" dirty="0">
                <a:solidFill>
                  <a:schemeClr val="tx1"/>
                </a:solidFill>
              </a:rPr>
              <a:t> at 23.41 exactly.</a:t>
            </a:r>
            <a:endParaRPr lang="en-US" sz="2400" dirty="0"/>
          </a:p>
          <a:p>
            <a:pPr indent="0" marL="0">
              <a:spcAft>
                <a:spcPts val="1400"/>
              </a:spcAft>
              <a:buNone/>
            </a:pPr>
            <a:r>
              <a:rPr lang="en-US" sz="2400" dirty="0">
                <a:solidFill>
                  <a:schemeClr val="tx1"/>
                </a:solidFill>
              </a:rPr>
              <a:t>Nobody </a:t>
            </a:r>
            <a:r>
              <a:rPr lang="en-US" sz="2400" dirty="0">
                <a:solidFill>
                  <a:schemeClr val="tx1"/>
                </a:solidFill>
              </a:rPr>
              <a:t>did heard</a:t>
            </a:r>
            <a:r>
              <a:rPr lang="en-US" sz="2400" dirty="0">
                <a:solidFill>
                  <a:schemeClr val="tx1"/>
                </a:solidFill>
              </a:rPr>
              <a:t> </a:t>
            </a:r>
            <a:r>
              <a:rPr lang="en-US" sz="2400" dirty="0">
                <a:solidFill>
                  <a:schemeClr val="tx1"/>
                </a:solidFill>
              </a:rPr>
              <a:t> the notification.</a:t>
            </a:r>
            <a:endParaRPr lang="en-US" sz="2400" dirty="0"/>
          </a:p>
          <a:p>
            <a:pPr indent="0" marL="0">
              <a:spcAft>
                <a:spcPts val="1400"/>
              </a:spcAft>
              <a:buNone/>
            </a:pPr>
            <a:r>
              <a:rPr lang="en-US" sz="2400" dirty="0">
                <a:solidFill>
                  <a:schemeClr val="tx1"/>
                </a:solidFill>
              </a:rPr>
              <a:t>The team </a:t>
            </a:r>
            <a:r>
              <a:rPr lang="en-US" sz="2400" dirty="0">
                <a:solidFill>
                  <a:schemeClr val="tx1"/>
                </a:solidFill>
              </a:rPr>
              <a:t>was leave</a:t>
            </a:r>
            <a:r>
              <a:rPr lang="en-US" sz="2400" dirty="0">
                <a:solidFill>
                  <a:schemeClr val="tx1"/>
                </a:solidFill>
              </a:rPr>
              <a:t> </a:t>
            </a:r>
            <a:r>
              <a:rPr lang="en-US" sz="2400" dirty="0">
                <a:solidFill>
                  <a:schemeClr val="tx1"/>
                </a:solidFill>
              </a:rPr>
              <a:t> at 19.58.</a:t>
            </a:r>
            <a:endParaRPr lang="en-US" sz="2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Ask the building manager — and fix the forms</a:t>
            </a:r>
            <a:endParaRPr lang="en-US" sz="3200" dirty="0"/>
          </a:p>
        </p:txBody>
      </p:sp>
      <p:sp>
        <p:nvSpPr>
          <p:cNvPr id="3" name="tag"/>
          <p:cNvSpPr/>
          <p:nvPr/>
        </p:nvSpPr>
        <p:spPr>
          <a:xfrm>
            <a:off x="548640" y="384048"/>
            <a:ext cx="1165860" cy="310896"/>
          </a:xfrm>
          <a:prstGeom prst="roundRect">
            <a:avLst>
              <a:gd name="adj" fmla="val 14706"/>
            </a:avLst>
          </a:prstGeom>
          <a:solidFill>
            <a:srgbClr val="2E75B6"/>
          </a:solidFill>
          <a:ln/>
        </p:spPr>
        <p:txBody>
          <a:bodyPr wrap="square" lIns="0" tIns="0" rIns="0" bIns="0" rtlCol="0" anchor="ctr"/>
          <a:lstStyle/>
          <a:p>
            <a:pPr algn="ctr" indent="0" marL="0">
              <a:buNone/>
            </a:pPr>
            <a:r>
              <a:rPr lang="en-US" sz="1200" b="1" spc="100" kern="0" dirty="0">
                <a:solidFill>
                  <a:schemeClr val="bg1"/>
                </a:solidFill>
              </a:rPr>
              <a:t>DRY RUN</a:t>
            </a:r>
            <a:endParaRPr lang="en-US" sz="1200" dirty="0"/>
          </a:p>
        </p:txBody>
      </p:sp>
      <p:sp>
        <p:nvSpPr>
          <p:cNvPr id="4" name="tag"/>
          <p:cNvSpPr/>
          <p:nvPr/>
        </p:nvSpPr>
        <p:spPr>
          <a:xfrm>
            <a:off x="1824228" y="384048"/>
            <a:ext cx="1874520" cy="310896"/>
          </a:xfrm>
          <a:prstGeom prst="roundRect">
            <a:avLst>
              <a:gd name="adj" fmla="val 14706"/>
            </a:avLst>
          </a:prstGeom>
          <a:solidFill>
            <a:srgbClr val="3C7A3C"/>
          </a:solidFill>
          <a:ln/>
        </p:spPr>
        <p:txBody>
          <a:bodyPr wrap="square" lIns="0" tIns="0" rIns="0" bIns="0" rtlCol="0" anchor="ctr"/>
          <a:lstStyle/>
          <a:p>
            <a:pPr algn="ctr" indent="0" marL="0">
              <a:buNone/>
            </a:pPr>
            <a:r>
              <a:rPr lang="en-US" sz="1200" b="1" spc="100" kern="0" dirty="0">
                <a:solidFill>
                  <a:schemeClr val="bg1"/>
                </a:solidFill>
              </a:rPr>
              <a:t>✓ CORRECTION</a:t>
            </a:r>
            <a:endParaRPr lang="en-US" sz="1200" dirty="0"/>
          </a:p>
        </p:txBody>
      </p:sp>
      <p:sp>
        <p:nvSpPr>
          <p:cNvPr id="5" name="Text 3"/>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14</a:t>
            </a:r>
            <a:endParaRPr lang="en-US" sz="1200" dirty="0"/>
          </a:p>
        </p:txBody>
      </p:sp>
      <p:sp>
        <p:nvSpPr>
          <p:cNvPr id="6" name="exercise"/>
          <p:cNvSpPr txBox="1"/>
          <p:nvPr/>
        </p:nvSpPr>
        <p:spPr>
          <a:xfrm>
            <a:off x="548640" y="1783080"/>
            <a:ext cx="11091672" cy="3523488"/>
          </a:xfrm>
          <a:prstGeom prst="rect">
            <a:avLst/>
          </a:prstGeom>
          <a:noFill/>
          <a:ln/>
        </p:spPr>
        <p:txBody>
          <a:bodyPr wrap="square" lIns="0" tIns="0" rIns="0" bIns="0" rtlCol="0" anchor="t"/>
          <a:lstStyle/>
          <a:p>
            <a:pPr indent="0" marL="0">
              <a:spcAft>
                <a:spcPts val="600"/>
              </a:spcAft>
              <a:buNone/>
            </a:pPr>
            <a:r>
              <a:rPr lang="en-US" sz="2200" b="1" dirty="0">
                <a:solidFill>
                  <a:schemeClr val="tx2"/>
                </a:solidFill>
              </a:rPr>
              <a:t>B · Write the question you would ask the building manager.</a:t>
            </a:r>
            <a:endParaRPr lang="en-US" sz="2200" dirty="0"/>
          </a:p>
          <a:p>
            <a:pPr indent="0" marL="0">
              <a:spcAft>
                <a:spcPts val="1000"/>
              </a:spcAft>
              <a:buNone/>
            </a:pPr>
            <a:r>
              <a:rPr lang="en-US" sz="2200" dirty="0">
                <a:solidFill>
                  <a:schemeClr val="tx1"/>
                </a:solidFill>
              </a:rPr>
              <a:t>(who / enter / 20.04) → </a:t>
            </a:r>
            <a:r>
              <a:rPr lang="en-US" sz="2200" b="1" dirty="0">
                <a:solidFill>
                  <a:schemeClr val="accent3"/>
                </a:solidFill>
              </a:rPr>
              <a:t>Who entered zone 2F at 20.04?</a:t>
            </a:r>
            <a:endParaRPr lang="en-US" sz="2200" dirty="0"/>
          </a:p>
          <a:p>
            <a:pPr indent="0" marL="0">
              <a:spcAft>
                <a:spcPts val="1000"/>
              </a:spcAft>
              <a:buNone/>
            </a:pPr>
            <a:r>
              <a:rPr lang="en-US" sz="2200" dirty="0">
                <a:solidFill>
                  <a:schemeClr val="tx1"/>
                </a:solidFill>
              </a:rPr>
              <a:t>(how long / the water / run) → </a:t>
            </a:r>
            <a:r>
              <a:rPr lang="en-US" sz="2200" b="1" dirty="0">
                <a:solidFill>
                  <a:schemeClr val="accent3"/>
                </a:solidFill>
              </a:rPr>
              <a:t>How long did the water run?</a:t>
            </a:r>
            <a:endParaRPr lang="en-US" sz="2200" dirty="0"/>
          </a:p>
          <a:p>
            <a:pPr indent="0" marL="0">
              <a:spcBef>
                <a:spcPts val="1000"/>
              </a:spcBef>
              <a:spcAft>
                <a:spcPts val="600"/>
              </a:spcAft>
              <a:buNone/>
            </a:pPr>
            <a:r>
              <a:rPr lang="en-US" sz="2200" b="1" dirty="0">
                <a:solidFill>
                  <a:schemeClr val="tx2"/>
                </a:solidFill>
              </a:rPr>
              <a:t>C · One word is wrong in each sentence. Correct it.</a:t>
            </a:r>
            <a:endParaRPr lang="en-US" sz="2200" dirty="0"/>
          </a:p>
          <a:p>
            <a:pPr indent="0" marL="0">
              <a:spcAft>
                <a:spcPts val="1000"/>
              </a:spcAft>
              <a:buNone/>
            </a:pPr>
            <a:r>
              <a:rPr lang="en-US" sz="2200" dirty="0">
                <a:solidFill>
                  <a:schemeClr val="tx1"/>
                </a:solidFill>
              </a:rPr>
              <a:t>The alarm </a:t>
            </a:r>
            <a:r>
              <a:rPr lang="en-US" sz="2200" strike="sngStrike" dirty="0">
                <a:solidFill>
                  <a:schemeClr val="accent6"/>
                </a:solidFill>
              </a:rPr>
              <a:t>was going off</a:t>
            </a:r>
            <a:r>
              <a:rPr lang="en-US" sz="2200" dirty="0">
                <a:solidFill>
                  <a:schemeClr val="tx1"/>
                </a:solidFill>
              </a:rPr>
              <a:t> </a:t>
            </a:r>
            <a:r>
              <a:rPr lang="en-US" sz="2200" b="1" dirty="0">
                <a:solidFill>
                  <a:schemeClr val="accent3"/>
                </a:solidFill>
              </a:rPr>
              <a:t>went off</a:t>
            </a:r>
            <a:r>
              <a:rPr lang="en-US" sz="2200" dirty="0">
                <a:solidFill>
                  <a:schemeClr val="tx1"/>
                </a:solidFill>
              </a:rPr>
              <a:t> at 23.41 exactly.</a:t>
            </a:r>
            <a:endParaRPr lang="en-US" sz="2200" dirty="0"/>
          </a:p>
          <a:p>
            <a:pPr indent="0" marL="0">
              <a:spcAft>
                <a:spcPts val="1000"/>
              </a:spcAft>
              <a:buNone/>
            </a:pPr>
            <a:r>
              <a:rPr lang="en-US" sz="2200" dirty="0">
                <a:solidFill>
                  <a:schemeClr val="tx1"/>
                </a:solidFill>
              </a:rPr>
              <a:t>Nobody </a:t>
            </a:r>
            <a:r>
              <a:rPr lang="en-US" sz="2200" strike="sngStrike" dirty="0">
                <a:solidFill>
                  <a:schemeClr val="accent6"/>
                </a:solidFill>
              </a:rPr>
              <a:t>did heard</a:t>
            </a:r>
            <a:r>
              <a:rPr lang="en-US" sz="2200" dirty="0">
                <a:solidFill>
                  <a:schemeClr val="tx1"/>
                </a:solidFill>
              </a:rPr>
              <a:t> </a:t>
            </a:r>
            <a:r>
              <a:rPr lang="en-US" sz="2200" b="1" dirty="0">
                <a:solidFill>
                  <a:schemeClr val="accent3"/>
                </a:solidFill>
              </a:rPr>
              <a:t>heard</a:t>
            </a:r>
            <a:r>
              <a:rPr lang="en-US" sz="2200" dirty="0">
                <a:solidFill>
                  <a:schemeClr val="tx1"/>
                </a:solidFill>
              </a:rPr>
              <a:t> the notification.</a:t>
            </a:r>
            <a:endParaRPr lang="en-US" sz="2200" dirty="0"/>
          </a:p>
          <a:p>
            <a:pPr indent="0" marL="0">
              <a:spcAft>
                <a:spcPts val="1000"/>
              </a:spcAft>
              <a:buNone/>
            </a:pPr>
            <a:r>
              <a:rPr lang="en-US" sz="2200" dirty="0">
                <a:solidFill>
                  <a:schemeClr val="tx1"/>
                </a:solidFill>
              </a:rPr>
              <a:t>The team </a:t>
            </a:r>
            <a:r>
              <a:rPr lang="en-US" sz="2200" strike="sngStrike" dirty="0">
                <a:solidFill>
                  <a:schemeClr val="accent6"/>
                </a:solidFill>
              </a:rPr>
              <a:t>was leave</a:t>
            </a:r>
            <a:r>
              <a:rPr lang="en-US" sz="2200" dirty="0">
                <a:solidFill>
                  <a:schemeClr val="tx1"/>
                </a:solidFill>
              </a:rPr>
              <a:t> </a:t>
            </a:r>
            <a:r>
              <a:rPr lang="en-US" sz="2200" b="1" dirty="0">
                <a:solidFill>
                  <a:schemeClr val="accent3"/>
                </a:solidFill>
              </a:rPr>
              <a:t>left</a:t>
            </a:r>
            <a:r>
              <a:rPr lang="en-US" sz="2200" dirty="0">
                <a:solidFill>
                  <a:schemeClr val="tx1"/>
                </a:solidFill>
              </a:rPr>
              <a:t> at 19.58.</a:t>
            </a:r>
            <a:endParaRPr lang="en-US" sz="2200" dirty="0"/>
          </a:p>
        </p:txBody>
      </p:sp>
      <p:sp>
        <p:nvSpPr>
          <p:cNvPr id="7" name="Shape 5"/>
          <p:cNvSpPr/>
          <p:nvPr/>
        </p:nvSpPr>
        <p:spPr>
          <a:xfrm>
            <a:off x="548640" y="5535168"/>
            <a:ext cx="11091672" cy="774192"/>
          </a:xfrm>
          <a:prstGeom prst="roundRect">
            <a:avLst>
              <a:gd name="adj" fmla="val 9449"/>
            </a:avLst>
          </a:prstGeom>
          <a:solidFill>
            <a:srgbClr val="C0752A">
              <a:alpha val="8000"/>
            </a:srgbClr>
          </a:solidFill>
          <a:ln w="12700">
            <a:solidFill>
              <a:srgbClr val="C0752A"/>
            </a:solidFill>
            <a:prstDash val="solid"/>
          </a:ln>
        </p:spPr>
      </p:sp>
      <p:pic>
        <p:nvPicPr>
          <p:cNvPr id="8" name="Image 0" descr="preencoded.png">    </p:cNvPr>
          <p:cNvPicPr>
            <a:picLocks noChangeAspect="1"/>
          </p:cNvPicPr>
          <p:nvPr/>
        </p:nvPicPr>
        <p:blipFill>
          <a:blip r:embed="rId1"/>
          <a:stretch>
            <a:fillRect/>
          </a:stretch>
        </p:blipFill>
        <p:spPr>
          <a:xfrm>
            <a:off x="777240" y="5739384"/>
            <a:ext cx="365760" cy="365760"/>
          </a:xfrm>
          <a:prstGeom prst="rect">
            <a:avLst/>
          </a:prstGeom>
        </p:spPr>
      </p:pic>
      <p:sp>
        <p:nvSpPr>
          <p:cNvPr id="9" name="Text 6"/>
          <p:cNvSpPr txBox="1"/>
          <p:nvPr/>
        </p:nvSpPr>
        <p:spPr>
          <a:xfrm>
            <a:off x="1325880" y="5590032"/>
            <a:ext cx="10085832" cy="664464"/>
          </a:xfrm>
          <a:prstGeom prst="rect">
            <a:avLst/>
          </a:prstGeom>
          <a:noFill/>
          <a:ln/>
        </p:spPr>
        <p:txBody>
          <a:bodyPr wrap="square" lIns="0" tIns="0" rIns="0" bIns="0" rtlCol="0" anchor="ctr"/>
          <a:lstStyle/>
          <a:p>
            <a:pPr indent="0" marL="0">
              <a:buNone/>
            </a:pPr>
            <a:r>
              <a:rPr lang="en-US" sz="1800" b="1" dirty="0">
                <a:solidFill>
                  <a:schemeClr val="accent1"/>
                </a:solidFill>
              </a:rPr>
              <a:t>Watch out — </a:t>
            </a:r>
            <a:r>
              <a:rPr lang="en-US" sz="1800" dirty="0">
                <a:solidFill>
                  <a:schemeClr val="tx1"/>
                </a:solidFill>
              </a:rPr>
              <a:t>B1: the answer is the subject → </a:t>
            </a:r>
            <a:r>
              <a:rPr lang="en-US" sz="1800" b="1" dirty="0">
                <a:solidFill>
                  <a:schemeClr val="tx1"/>
                </a:solidFill>
              </a:rPr>
              <a:t>no did</a:t>
            </a:r>
            <a:r>
              <a:rPr lang="en-US" sz="1800" dirty="0">
                <a:solidFill>
                  <a:schemeClr val="tx1"/>
                </a:solidFill>
              </a:rPr>
              <a:t> · C2: </a:t>
            </a:r>
            <a:r>
              <a:rPr lang="en-US" sz="1800" i="1" dirty="0">
                <a:solidFill>
                  <a:schemeClr val="tx1"/>
                </a:solidFill>
              </a:rPr>
              <a:t>did</a:t>
            </a:r>
            <a:r>
              <a:rPr lang="en-US" sz="1800" dirty="0">
                <a:solidFill>
                  <a:schemeClr val="tx1"/>
                </a:solidFill>
              </a:rPr>
              <a:t> + past form = a double past. Emphatic </a:t>
            </a:r>
            <a:r>
              <a:rPr lang="en-US" sz="1800" i="1" dirty="0">
                <a:solidFill>
                  <a:schemeClr val="tx1"/>
                </a:solidFill>
              </a:rPr>
              <a:t>did hear</a:t>
            </a:r>
            <a:r>
              <a:rPr lang="en-US" sz="1800" dirty="0">
                <a:solidFill>
                  <a:schemeClr val="tx1"/>
                </a:solidFill>
              </a:rPr>
              <a:t> exists, but not in a report.</a:t>
            </a:r>
            <a:endParaRPr lang="en-US" sz="18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Case File Jeopardy</a:t>
            </a:r>
            <a:endParaRPr lang="en-US" sz="3200" dirty="0"/>
          </a:p>
        </p:txBody>
      </p:sp>
      <p:sp>
        <p:nvSpPr>
          <p:cNvPr id="3" name="tag"/>
          <p:cNvSpPr/>
          <p:nvPr/>
        </p:nvSpPr>
        <p:spPr>
          <a:xfrm>
            <a:off x="548640" y="384048"/>
            <a:ext cx="822960" cy="310896"/>
          </a:xfrm>
          <a:prstGeom prst="roundRect">
            <a:avLst>
              <a:gd name="adj" fmla="val 14706"/>
            </a:avLst>
          </a:prstGeom>
          <a:solidFill>
            <a:srgbClr val="B4236A"/>
          </a:solidFill>
          <a:ln/>
        </p:spPr>
        <p:txBody>
          <a:bodyPr wrap="square" lIns="0" tIns="0" rIns="0" bIns="0" rtlCol="0" anchor="ctr"/>
          <a:lstStyle/>
          <a:p>
            <a:pPr algn="ctr" indent="0" marL="0">
              <a:buNone/>
            </a:pPr>
            <a:r>
              <a:rPr lang="en-US" sz="1200" b="1" spc="100" kern="0" dirty="0">
                <a:solidFill>
                  <a:schemeClr val="bg1"/>
                </a:solidFill>
              </a:rPr>
              <a:t>GAME</a:t>
            </a:r>
            <a:endParaRPr lang="en-US" sz="1200" dirty="0"/>
          </a:p>
        </p:txBody>
      </p:sp>
      <p:sp>
        <p:nvSpPr>
          <p:cNvPr id="4" name="Text 2"/>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livret</a:t>
            </a:r>
            <a:endParaRPr lang="en-US" sz="1200" dirty="0"/>
          </a:p>
        </p:txBody>
      </p:sp>
      <p:sp>
        <p:nvSpPr>
          <p:cNvPr id="6" name="Text 3"/>
          <p:cNvSpPr txBox="1"/>
          <p:nvPr/>
        </p:nvSpPr>
        <p:spPr>
          <a:xfrm>
            <a:off x="548640" y="1627632"/>
            <a:ext cx="11091672" cy="335280"/>
          </a:xfrm>
          <a:prstGeom prst="rect">
            <a:avLst/>
          </a:prstGeom>
          <a:noFill/>
          <a:ln/>
        </p:spPr>
        <p:txBody>
          <a:bodyPr wrap="square" lIns="0" tIns="0" rIns="0" bIns="0" rtlCol="0" anchor="t"/>
          <a:lstStyle/>
          <a:p>
            <a:pPr indent="0" marL="0">
              <a:buNone/>
            </a:pPr>
            <a:r>
              <a:rPr lang="en-US" sz="1600" i="1" dirty="0">
                <a:solidFill>
                  <a:schemeClr val="accent5"/>
                </a:solidFill>
              </a:rPr>
              <a:t>Your teacher reads the </a:t>
            </a:r>
            <a:r>
              <a:rPr lang="en-US" sz="1600" b="1" i="1" dirty="0">
                <a:solidFill>
                  <a:schemeClr val="accent5"/>
                </a:solidFill>
              </a:rPr>
              <a:t>answer</a:t>
            </a:r>
            <a:r>
              <a:rPr lang="en-US" sz="1600" i="1" dirty="0">
                <a:solidFill>
                  <a:schemeClr val="accent5"/>
                </a:solidFill>
              </a:rPr>
              <a:t>. Your team gives the </a:t>
            </a:r>
            <a:r>
              <a:rPr lang="en-US" sz="1600" b="1" i="1" dirty="0">
                <a:solidFill>
                  <a:schemeClr val="accent5"/>
                </a:solidFill>
              </a:rPr>
              <a:t>question</a:t>
            </a:r>
            <a:r>
              <a:rPr lang="en-US" sz="1600" i="1" dirty="0">
                <a:solidFill>
                  <a:schemeClr val="accent5"/>
                </a:solidFill>
              </a:rPr>
              <a:t> — in the right form.</a:t>
            </a:r>
            <a:endParaRPr lang="en-US" sz="1600" dirty="0"/>
          </a:p>
        </p:txBody>
      </p:sp>
      <p:sp>
        <p:nvSpPr>
          <p:cNvPr id="7" name="Text 4"/>
          <p:cNvSpPr/>
          <p:nvPr/>
        </p:nvSpPr>
        <p:spPr>
          <a:xfrm>
            <a:off x="548640" y="2237232"/>
            <a:ext cx="2622042" cy="566928"/>
          </a:xfrm>
          <a:prstGeom prst="roundRect">
            <a:avLst>
              <a:gd name="adj" fmla="val 12903"/>
            </a:avLst>
          </a:prstGeom>
          <a:solidFill>
            <a:srgbClr val="6E4A9E"/>
          </a:solid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WHO?</a:t>
            </a:r>
            <a:endParaRPr lang="en-US" sz="2000" dirty="0"/>
          </a:p>
        </p:txBody>
      </p:sp>
      <p:sp>
        <p:nvSpPr>
          <p:cNvPr id="8" name="Text 5"/>
          <p:cNvSpPr/>
          <p:nvPr/>
        </p:nvSpPr>
        <p:spPr>
          <a:xfrm>
            <a:off x="548640" y="2968752"/>
            <a:ext cx="2622042" cy="645160"/>
          </a:xfrm>
          <a:prstGeom prst="roundRect">
            <a:avLst>
              <a:gd name="adj" fmla="val 11339"/>
            </a:avLst>
          </a:prstGeom>
          <a:solidFill>
            <a:srgbClr val="6E4A9E">
              <a:alpha val="12000"/>
            </a:srgbClr>
          </a:solidFill>
          <a:ln w="15875">
            <a:solidFill>
              <a:srgbClr val="6E4A9E"/>
            </a:solidFill>
          </a:ln>
        </p:spPr>
        <p:txBody>
          <a:bodyPr wrap="square" lIns="0" tIns="0" rIns="0" bIns="0" rtlCol="0" anchor="ctr"/>
          <a:lstStyle/>
          <a:p>
            <a:pPr algn="ctr" indent="0" marL="0">
              <a:buNone/>
            </a:pPr>
            <a:r>
              <a:rPr lang="en-US" sz="3000" b="1" dirty="0">
                <a:solidFill>
                  <a:srgbClr val="6E4A9E"/>
                </a:solidFill>
                <a:latin typeface="+mj-lt" pitchFamily="34" charset="0"/>
                <a:ea typeface="+mj-lt" pitchFamily="34" charset="-122"/>
                <a:cs typeface="+mj-lt" pitchFamily="34" charset="-120"/>
              </a:rPr>
              <a:t>100</a:t>
            </a:r>
            <a:endParaRPr lang="en-US" sz="3000" dirty="0"/>
          </a:p>
        </p:txBody>
      </p:sp>
      <p:sp>
        <p:nvSpPr>
          <p:cNvPr id="9" name="Text 6"/>
          <p:cNvSpPr/>
          <p:nvPr/>
        </p:nvSpPr>
        <p:spPr>
          <a:xfrm>
            <a:off x="548640" y="3815080"/>
            <a:ext cx="2622042" cy="645160"/>
          </a:xfrm>
          <a:prstGeom prst="roundRect">
            <a:avLst>
              <a:gd name="adj" fmla="val 11339"/>
            </a:avLst>
          </a:prstGeom>
          <a:solidFill>
            <a:srgbClr val="6E4A9E">
              <a:alpha val="12000"/>
            </a:srgbClr>
          </a:solidFill>
          <a:ln w="15875">
            <a:solidFill>
              <a:srgbClr val="6E4A9E"/>
            </a:solidFill>
          </a:ln>
        </p:spPr>
        <p:txBody>
          <a:bodyPr wrap="square" lIns="0" tIns="0" rIns="0" bIns="0" rtlCol="0" anchor="ctr"/>
          <a:lstStyle/>
          <a:p>
            <a:pPr algn="ctr" indent="0" marL="0">
              <a:buNone/>
            </a:pPr>
            <a:r>
              <a:rPr lang="en-US" sz="3000" b="1" dirty="0">
                <a:solidFill>
                  <a:srgbClr val="6E4A9E"/>
                </a:solidFill>
                <a:latin typeface="+mj-lt" pitchFamily="34" charset="0"/>
                <a:ea typeface="+mj-lt" pitchFamily="34" charset="-122"/>
                <a:cs typeface="+mj-lt" pitchFamily="34" charset="-120"/>
              </a:rPr>
              <a:t>200</a:t>
            </a:r>
            <a:endParaRPr lang="en-US" sz="3000" dirty="0"/>
          </a:p>
        </p:txBody>
      </p:sp>
      <p:sp>
        <p:nvSpPr>
          <p:cNvPr id="10" name="Text 7"/>
          <p:cNvSpPr/>
          <p:nvPr/>
        </p:nvSpPr>
        <p:spPr>
          <a:xfrm>
            <a:off x="548640" y="4661408"/>
            <a:ext cx="2622042" cy="645160"/>
          </a:xfrm>
          <a:prstGeom prst="roundRect">
            <a:avLst>
              <a:gd name="adj" fmla="val 11339"/>
            </a:avLst>
          </a:prstGeom>
          <a:solidFill>
            <a:srgbClr val="6E4A9E">
              <a:alpha val="12000"/>
            </a:srgbClr>
          </a:solidFill>
          <a:ln w="15875">
            <a:solidFill>
              <a:srgbClr val="6E4A9E"/>
            </a:solidFill>
          </a:ln>
        </p:spPr>
        <p:txBody>
          <a:bodyPr wrap="square" lIns="0" tIns="0" rIns="0" bIns="0" rtlCol="0" anchor="ctr"/>
          <a:lstStyle/>
          <a:p>
            <a:pPr algn="ctr" indent="0" marL="0">
              <a:buNone/>
            </a:pPr>
            <a:r>
              <a:rPr lang="en-US" sz="3000" b="1" dirty="0">
                <a:solidFill>
                  <a:srgbClr val="6E4A9E"/>
                </a:solidFill>
                <a:latin typeface="+mj-lt" pitchFamily="34" charset="0"/>
                <a:ea typeface="+mj-lt" pitchFamily="34" charset="-122"/>
                <a:cs typeface="+mj-lt" pitchFamily="34" charset="-120"/>
              </a:rPr>
              <a:t>300</a:t>
            </a:r>
            <a:endParaRPr lang="en-US" sz="3000" dirty="0"/>
          </a:p>
        </p:txBody>
      </p:sp>
      <p:sp>
        <p:nvSpPr>
          <p:cNvPr id="11" name="Text 8"/>
          <p:cNvSpPr/>
          <p:nvPr/>
        </p:nvSpPr>
        <p:spPr>
          <a:xfrm>
            <a:off x="3371850" y="2237232"/>
            <a:ext cx="2622042" cy="566928"/>
          </a:xfrm>
          <a:prstGeom prst="roundRect">
            <a:avLst>
              <a:gd name="adj" fmla="val 12903"/>
            </a:avLst>
          </a:prstGeom>
          <a:solidFill>
            <a:srgbClr val="2E75B6"/>
          </a:solid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WHAT?</a:t>
            </a:r>
            <a:endParaRPr lang="en-US" sz="2000" dirty="0"/>
          </a:p>
        </p:txBody>
      </p:sp>
      <p:sp>
        <p:nvSpPr>
          <p:cNvPr id="12" name="Text 9"/>
          <p:cNvSpPr/>
          <p:nvPr/>
        </p:nvSpPr>
        <p:spPr>
          <a:xfrm>
            <a:off x="3371850" y="2968752"/>
            <a:ext cx="2622042" cy="645160"/>
          </a:xfrm>
          <a:prstGeom prst="roundRect">
            <a:avLst>
              <a:gd name="adj" fmla="val 11339"/>
            </a:avLst>
          </a:prstGeom>
          <a:solidFill>
            <a:srgbClr val="2E75B6">
              <a:alpha val="12000"/>
            </a:srgbClr>
          </a:solidFill>
          <a:ln w="15875">
            <a:solidFill>
              <a:srgbClr val="2E75B6"/>
            </a:solidFill>
          </a:ln>
        </p:spPr>
        <p:txBody>
          <a:bodyPr wrap="square" lIns="0" tIns="0" rIns="0" bIns="0" rtlCol="0" anchor="ctr"/>
          <a:lstStyle/>
          <a:p>
            <a:pPr algn="ctr" indent="0" marL="0">
              <a:buNone/>
            </a:pPr>
            <a:r>
              <a:rPr lang="en-US" sz="3000" b="1" dirty="0">
                <a:solidFill>
                  <a:srgbClr val="2E75B6"/>
                </a:solidFill>
                <a:latin typeface="+mj-lt" pitchFamily="34" charset="0"/>
                <a:ea typeface="+mj-lt" pitchFamily="34" charset="-122"/>
                <a:cs typeface="+mj-lt" pitchFamily="34" charset="-120"/>
              </a:rPr>
              <a:t>100</a:t>
            </a:r>
            <a:endParaRPr lang="en-US" sz="3000" dirty="0"/>
          </a:p>
        </p:txBody>
      </p:sp>
      <p:sp>
        <p:nvSpPr>
          <p:cNvPr id="13" name="Text 10"/>
          <p:cNvSpPr/>
          <p:nvPr/>
        </p:nvSpPr>
        <p:spPr>
          <a:xfrm>
            <a:off x="3371850" y="3815080"/>
            <a:ext cx="2622042" cy="645160"/>
          </a:xfrm>
          <a:prstGeom prst="roundRect">
            <a:avLst>
              <a:gd name="adj" fmla="val 11339"/>
            </a:avLst>
          </a:prstGeom>
          <a:solidFill>
            <a:srgbClr val="2E75B6">
              <a:alpha val="12000"/>
            </a:srgbClr>
          </a:solidFill>
          <a:ln w="15875">
            <a:solidFill>
              <a:srgbClr val="2E75B6"/>
            </a:solidFill>
          </a:ln>
        </p:spPr>
        <p:txBody>
          <a:bodyPr wrap="square" lIns="0" tIns="0" rIns="0" bIns="0" rtlCol="0" anchor="ctr"/>
          <a:lstStyle/>
          <a:p>
            <a:pPr algn="ctr" indent="0" marL="0">
              <a:buNone/>
            </a:pPr>
            <a:r>
              <a:rPr lang="en-US" sz="3000" b="1" dirty="0">
                <a:solidFill>
                  <a:srgbClr val="2E75B6"/>
                </a:solidFill>
                <a:latin typeface="+mj-lt" pitchFamily="34" charset="0"/>
                <a:ea typeface="+mj-lt" pitchFamily="34" charset="-122"/>
                <a:cs typeface="+mj-lt" pitchFamily="34" charset="-120"/>
              </a:rPr>
              <a:t>200</a:t>
            </a:r>
            <a:endParaRPr lang="en-US" sz="3000" dirty="0"/>
          </a:p>
        </p:txBody>
      </p:sp>
      <p:sp>
        <p:nvSpPr>
          <p:cNvPr id="14" name="Text 11"/>
          <p:cNvSpPr/>
          <p:nvPr/>
        </p:nvSpPr>
        <p:spPr>
          <a:xfrm>
            <a:off x="3371850" y="4661408"/>
            <a:ext cx="2622042" cy="645160"/>
          </a:xfrm>
          <a:prstGeom prst="roundRect">
            <a:avLst>
              <a:gd name="adj" fmla="val 11339"/>
            </a:avLst>
          </a:prstGeom>
          <a:solidFill>
            <a:srgbClr val="2E75B6">
              <a:alpha val="12000"/>
            </a:srgbClr>
          </a:solidFill>
          <a:ln w="15875">
            <a:solidFill>
              <a:srgbClr val="2E75B6"/>
            </a:solidFill>
          </a:ln>
        </p:spPr>
        <p:txBody>
          <a:bodyPr wrap="square" lIns="0" tIns="0" rIns="0" bIns="0" rtlCol="0" anchor="ctr"/>
          <a:lstStyle/>
          <a:p>
            <a:pPr algn="ctr" indent="0" marL="0">
              <a:buNone/>
            </a:pPr>
            <a:r>
              <a:rPr lang="en-US" sz="3000" b="1" dirty="0">
                <a:solidFill>
                  <a:srgbClr val="2E75B6"/>
                </a:solidFill>
                <a:latin typeface="+mj-lt" pitchFamily="34" charset="0"/>
                <a:ea typeface="+mj-lt" pitchFamily="34" charset="-122"/>
                <a:cs typeface="+mj-lt" pitchFamily="34" charset="-120"/>
              </a:rPr>
              <a:t>300</a:t>
            </a:r>
            <a:endParaRPr lang="en-US" sz="3000" dirty="0"/>
          </a:p>
        </p:txBody>
      </p:sp>
      <p:sp>
        <p:nvSpPr>
          <p:cNvPr id="15" name="Text 12"/>
          <p:cNvSpPr/>
          <p:nvPr/>
        </p:nvSpPr>
        <p:spPr>
          <a:xfrm>
            <a:off x="6195060" y="2237232"/>
            <a:ext cx="2622042" cy="566928"/>
          </a:xfrm>
          <a:prstGeom prst="roundRect">
            <a:avLst>
              <a:gd name="adj" fmla="val 12903"/>
            </a:avLst>
          </a:prstGeom>
          <a:solidFill>
            <a:srgbClr val="C0752A"/>
          </a:solid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WHEN?</a:t>
            </a:r>
            <a:endParaRPr lang="en-US" sz="2000" dirty="0"/>
          </a:p>
        </p:txBody>
      </p:sp>
      <p:sp>
        <p:nvSpPr>
          <p:cNvPr id="16" name="Text 13"/>
          <p:cNvSpPr/>
          <p:nvPr/>
        </p:nvSpPr>
        <p:spPr>
          <a:xfrm>
            <a:off x="6195060" y="2968752"/>
            <a:ext cx="2622042" cy="645160"/>
          </a:xfrm>
          <a:prstGeom prst="roundRect">
            <a:avLst>
              <a:gd name="adj" fmla="val 11339"/>
            </a:avLst>
          </a:prstGeom>
          <a:solidFill>
            <a:srgbClr val="C0752A">
              <a:alpha val="12000"/>
            </a:srgbClr>
          </a:solidFill>
          <a:ln w="15875">
            <a:solidFill>
              <a:srgbClr val="C0752A"/>
            </a:solidFill>
          </a:ln>
        </p:spPr>
        <p:txBody>
          <a:bodyPr wrap="square" lIns="0" tIns="0" rIns="0" bIns="0" rtlCol="0" anchor="ctr"/>
          <a:lstStyle/>
          <a:p>
            <a:pPr algn="ctr" indent="0" marL="0">
              <a:buNone/>
            </a:pPr>
            <a:r>
              <a:rPr lang="en-US" sz="3000" b="1" dirty="0">
                <a:solidFill>
                  <a:srgbClr val="C0752A"/>
                </a:solidFill>
                <a:latin typeface="+mj-lt" pitchFamily="34" charset="0"/>
                <a:ea typeface="+mj-lt" pitchFamily="34" charset="-122"/>
                <a:cs typeface="+mj-lt" pitchFamily="34" charset="-120"/>
              </a:rPr>
              <a:t>100</a:t>
            </a:r>
            <a:endParaRPr lang="en-US" sz="3000" dirty="0"/>
          </a:p>
        </p:txBody>
      </p:sp>
      <p:sp>
        <p:nvSpPr>
          <p:cNvPr id="17" name="Text 14"/>
          <p:cNvSpPr/>
          <p:nvPr/>
        </p:nvSpPr>
        <p:spPr>
          <a:xfrm>
            <a:off x="6195060" y="3815080"/>
            <a:ext cx="2622042" cy="645160"/>
          </a:xfrm>
          <a:prstGeom prst="roundRect">
            <a:avLst>
              <a:gd name="adj" fmla="val 11339"/>
            </a:avLst>
          </a:prstGeom>
          <a:solidFill>
            <a:srgbClr val="C0752A">
              <a:alpha val="12000"/>
            </a:srgbClr>
          </a:solidFill>
          <a:ln w="15875">
            <a:solidFill>
              <a:srgbClr val="C0752A"/>
            </a:solidFill>
          </a:ln>
        </p:spPr>
        <p:txBody>
          <a:bodyPr wrap="square" lIns="0" tIns="0" rIns="0" bIns="0" rtlCol="0" anchor="ctr"/>
          <a:lstStyle/>
          <a:p>
            <a:pPr algn="ctr" indent="0" marL="0">
              <a:buNone/>
            </a:pPr>
            <a:r>
              <a:rPr lang="en-US" sz="3000" b="1" dirty="0">
                <a:solidFill>
                  <a:srgbClr val="C0752A"/>
                </a:solidFill>
                <a:latin typeface="+mj-lt" pitchFamily="34" charset="0"/>
                <a:ea typeface="+mj-lt" pitchFamily="34" charset="-122"/>
                <a:cs typeface="+mj-lt" pitchFamily="34" charset="-120"/>
              </a:rPr>
              <a:t>200</a:t>
            </a:r>
            <a:endParaRPr lang="en-US" sz="3000" dirty="0"/>
          </a:p>
        </p:txBody>
      </p:sp>
      <p:sp>
        <p:nvSpPr>
          <p:cNvPr id="18" name="Text 15"/>
          <p:cNvSpPr/>
          <p:nvPr/>
        </p:nvSpPr>
        <p:spPr>
          <a:xfrm>
            <a:off x="6195060" y="4661408"/>
            <a:ext cx="2622042" cy="645160"/>
          </a:xfrm>
          <a:prstGeom prst="roundRect">
            <a:avLst>
              <a:gd name="adj" fmla="val 11339"/>
            </a:avLst>
          </a:prstGeom>
          <a:solidFill>
            <a:srgbClr val="C0752A">
              <a:alpha val="12000"/>
            </a:srgbClr>
          </a:solidFill>
          <a:ln w="15875">
            <a:solidFill>
              <a:srgbClr val="C0752A"/>
            </a:solidFill>
          </a:ln>
        </p:spPr>
        <p:txBody>
          <a:bodyPr wrap="square" lIns="0" tIns="0" rIns="0" bIns="0" rtlCol="0" anchor="ctr"/>
          <a:lstStyle/>
          <a:p>
            <a:pPr algn="ctr" indent="0" marL="0">
              <a:buNone/>
            </a:pPr>
            <a:r>
              <a:rPr lang="en-US" sz="3000" b="1" dirty="0">
                <a:solidFill>
                  <a:srgbClr val="C0752A"/>
                </a:solidFill>
                <a:latin typeface="+mj-lt" pitchFamily="34" charset="0"/>
                <a:ea typeface="+mj-lt" pitchFamily="34" charset="-122"/>
                <a:cs typeface="+mj-lt" pitchFamily="34" charset="-120"/>
              </a:rPr>
              <a:t>300</a:t>
            </a:r>
            <a:endParaRPr lang="en-US" sz="3000" dirty="0"/>
          </a:p>
        </p:txBody>
      </p:sp>
      <p:sp>
        <p:nvSpPr>
          <p:cNvPr id="19" name="Text 16"/>
          <p:cNvSpPr/>
          <p:nvPr/>
        </p:nvSpPr>
        <p:spPr>
          <a:xfrm>
            <a:off x="9018270" y="2237232"/>
            <a:ext cx="2622042" cy="566928"/>
          </a:xfrm>
          <a:prstGeom prst="roundRect">
            <a:avLst>
              <a:gd name="adj" fmla="val 12903"/>
            </a:avLst>
          </a:prstGeom>
          <a:solidFill>
            <a:srgbClr val="B4236A"/>
          </a:solid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HOW LONG?</a:t>
            </a:r>
            <a:endParaRPr lang="en-US" sz="2000" dirty="0"/>
          </a:p>
        </p:txBody>
      </p:sp>
      <p:sp>
        <p:nvSpPr>
          <p:cNvPr id="20" name="Text 17"/>
          <p:cNvSpPr/>
          <p:nvPr/>
        </p:nvSpPr>
        <p:spPr>
          <a:xfrm>
            <a:off x="9018270" y="2968752"/>
            <a:ext cx="2622042" cy="645160"/>
          </a:xfrm>
          <a:prstGeom prst="roundRect">
            <a:avLst>
              <a:gd name="adj" fmla="val 11339"/>
            </a:avLst>
          </a:prstGeom>
          <a:solidFill>
            <a:srgbClr val="B4236A">
              <a:alpha val="12000"/>
            </a:srgbClr>
          </a:solidFill>
          <a:ln w="15875">
            <a:solidFill>
              <a:srgbClr val="B4236A"/>
            </a:solidFill>
          </a:ln>
        </p:spPr>
        <p:txBody>
          <a:bodyPr wrap="square" lIns="0" tIns="0" rIns="0" bIns="0" rtlCol="0" anchor="ctr"/>
          <a:lstStyle/>
          <a:p>
            <a:pPr algn="ctr" indent="0" marL="0">
              <a:buNone/>
            </a:pPr>
            <a:r>
              <a:rPr lang="en-US" sz="3000" b="1" dirty="0">
                <a:solidFill>
                  <a:srgbClr val="B4236A"/>
                </a:solidFill>
                <a:latin typeface="+mj-lt" pitchFamily="34" charset="0"/>
                <a:ea typeface="+mj-lt" pitchFamily="34" charset="-122"/>
                <a:cs typeface="+mj-lt" pitchFamily="34" charset="-120"/>
              </a:rPr>
              <a:t>100</a:t>
            </a:r>
            <a:endParaRPr lang="en-US" sz="3000" dirty="0"/>
          </a:p>
        </p:txBody>
      </p:sp>
      <p:sp>
        <p:nvSpPr>
          <p:cNvPr id="21" name="Text 18"/>
          <p:cNvSpPr/>
          <p:nvPr/>
        </p:nvSpPr>
        <p:spPr>
          <a:xfrm>
            <a:off x="9018270" y="3815080"/>
            <a:ext cx="2622042" cy="645160"/>
          </a:xfrm>
          <a:prstGeom prst="roundRect">
            <a:avLst>
              <a:gd name="adj" fmla="val 11339"/>
            </a:avLst>
          </a:prstGeom>
          <a:solidFill>
            <a:srgbClr val="B4236A">
              <a:alpha val="12000"/>
            </a:srgbClr>
          </a:solidFill>
          <a:ln w="15875">
            <a:solidFill>
              <a:srgbClr val="B4236A"/>
            </a:solidFill>
          </a:ln>
        </p:spPr>
        <p:txBody>
          <a:bodyPr wrap="square" lIns="0" tIns="0" rIns="0" bIns="0" rtlCol="0" anchor="ctr"/>
          <a:lstStyle/>
          <a:p>
            <a:pPr algn="ctr" indent="0" marL="0">
              <a:buNone/>
            </a:pPr>
            <a:r>
              <a:rPr lang="en-US" sz="3000" b="1" dirty="0">
                <a:solidFill>
                  <a:srgbClr val="B4236A"/>
                </a:solidFill>
                <a:latin typeface="+mj-lt" pitchFamily="34" charset="0"/>
                <a:ea typeface="+mj-lt" pitchFamily="34" charset="-122"/>
                <a:cs typeface="+mj-lt" pitchFamily="34" charset="-120"/>
              </a:rPr>
              <a:t>200</a:t>
            </a:r>
            <a:endParaRPr lang="en-US" sz="3000" dirty="0"/>
          </a:p>
        </p:txBody>
      </p:sp>
      <p:sp>
        <p:nvSpPr>
          <p:cNvPr id="22" name="Text 19"/>
          <p:cNvSpPr/>
          <p:nvPr/>
        </p:nvSpPr>
        <p:spPr>
          <a:xfrm>
            <a:off x="9018270" y="4661408"/>
            <a:ext cx="2622042" cy="645160"/>
          </a:xfrm>
          <a:prstGeom prst="roundRect">
            <a:avLst>
              <a:gd name="adj" fmla="val 11339"/>
            </a:avLst>
          </a:prstGeom>
          <a:solidFill>
            <a:srgbClr val="B4236A">
              <a:alpha val="12000"/>
            </a:srgbClr>
          </a:solidFill>
          <a:ln w="15875">
            <a:solidFill>
              <a:srgbClr val="B4236A"/>
            </a:solidFill>
          </a:ln>
        </p:spPr>
        <p:txBody>
          <a:bodyPr wrap="square" lIns="0" tIns="0" rIns="0" bIns="0" rtlCol="0" anchor="ctr"/>
          <a:lstStyle/>
          <a:p>
            <a:pPr algn="ctr" indent="0" marL="0">
              <a:buNone/>
            </a:pPr>
            <a:r>
              <a:rPr lang="en-US" sz="3000" b="1" dirty="0">
                <a:solidFill>
                  <a:srgbClr val="B4236A"/>
                </a:solidFill>
                <a:latin typeface="+mj-lt" pitchFamily="34" charset="0"/>
                <a:ea typeface="+mj-lt" pitchFamily="34" charset="-122"/>
                <a:cs typeface="+mj-lt" pitchFamily="34" charset="-120"/>
              </a:rPr>
              <a:t>300</a:t>
            </a:r>
            <a:endParaRPr lang="en-US" sz="3000" dirty="0"/>
          </a:p>
        </p:txBody>
      </p:sp>
      <p:sp>
        <p:nvSpPr>
          <p:cNvPr id="23" name="Shape 20"/>
          <p:cNvSpPr/>
          <p:nvPr/>
        </p:nvSpPr>
        <p:spPr>
          <a:xfrm>
            <a:off x="548640" y="5535168"/>
            <a:ext cx="11091672" cy="774192"/>
          </a:xfrm>
          <a:prstGeom prst="roundRect">
            <a:avLst>
              <a:gd name="adj" fmla="val 9449"/>
            </a:avLst>
          </a:prstGeom>
          <a:solidFill>
            <a:srgbClr val="3C7A3C">
              <a:alpha val="8000"/>
            </a:srgbClr>
          </a:solidFill>
          <a:ln w="12700">
            <a:solidFill>
              <a:srgbClr val="3C7A3C"/>
            </a:solidFill>
            <a:prstDash val="solid"/>
          </a:ln>
        </p:spPr>
      </p:sp>
      <p:pic>
        <p:nvPicPr>
          <p:cNvPr id="24" name="Image 0" descr="preencoded.png">    </p:cNvPr>
          <p:cNvPicPr>
            <a:picLocks noChangeAspect="1"/>
          </p:cNvPicPr>
          <p:nvPr/>
        </p:nvPicPr>
        <p:blipFill>
          <a:blip r:embed="rId1"/>
          <a:stretch>
            <a:fillRect/>
          </a:stretch>
        </p:blipFill>
        <p:spPr>
          <a:xfrm>
            <a:off x="777240" y="5739384"/>
            <a:ext cx="365760" cy="365760"/>
          </a:xfrm>
          <a:prstGeom prst="rect">
            <a:avLst/>
          </a:prstGeom>
        </p:spPr>
      </p:pic>
      <p:sp>
        <p:nvSpPr>
          <p:cNvPr id="25" name="Text 21"/>
          <p:cNvSpPr txBox="1"/>
          <p:nvPr/>
        </p:nvSpPr>
        <p:spPr>
          <a:xfrm>
            <a:off x="1325880" y="5590032"/>
            <a:ext cx="10085832" cy="664464"/>
          </a:xfrm>
          <a:prstGeom prst="rect">
            <a:avLst/>
          </a:prstGeom>
          <a:noFill/>
          <a:ln/>
        </p:spPr>
        <p:txBody>
          <a:bodyPr wrap="square" lIns="0" tIns="0" rIns="0" bIns="0" rtlCol="0" anchor="ctr"/>
          <a:lstStyle/>
          <a:p>
            <a:pPr indent="0" marL="0">
              <a:buNone/>
            </a:pPr>
            <a:r>
              <a:rPr lang="en-US" sz="1800" b="1" dirty="0">
                <a:solidFill>
                  <a:schemeClr val="accent3"/>
                </a:solidFill>
              </a:rPr>
              <a:t>Rules — </a:t>
            </a:r>
            <a:r>
              <a:rPr lang="en-US" sz="1800" dirty="0">
                <a:solidFill>
                  <a:schemeClr val="tx1"/>
                </a:solidFill>
              </a:rPr>
              <a:t>teams choose a tile; 20 seconds to answer. A correct question with a </a:t>
            </a:r>
            <a:r>
              <a:rPr lang="en-US" sz="1800" b="1" dirty="0">
                <a:solidFill>
                  <a:schemeClr val="tx1"/>
                </a:solidFill>
              </a:rPr>
              <a:t>wrong form</a:t>
            </a:r>
            <a:r>
              <a:rPr lang="en-US" sz="1800" dirty="0">
                <a:solidFill>
                  <a:schemeClr val="tx1"/>
                </a:solidFill>
              </a:rPr>
              <a:t> (</a:t>
            </a:r>
            <a:r>
              <a:rPr lang="en-US" sz="1800" i="1" dirty="0">
                <a:solidFill>
                  <a:schemeClr val="tx1"/>
                </a:solidFill>
              </a:rPr>
              <a:t>Who did enter…?</a:t>
            </a:r>
            <a:r>
              <a:rPr lang="en-US" sz="1800" dirty="0">
                <a:solidFill>
                  <a:schemeClr val="tx1"/>
                </a:solidFill>
              </a:rPr>
              <a:t>) earns half the points.</a:t>
            </a:r>
            <a:endParaRPr lang="en-US" sz="18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Case File Jeopardy — the questions</a:t>
            </a:r>
            <a:endParaRPr lang="en-US" sz="3200" dirty="0"/>
          </a:p>
        </p:txBody>
      </p:sp>
      <p:sp>
        <p:nvSpPr>
          <p:cNvPr id="3" name="tag"/>
          <p:cNvSpPr/>
          <p:nvPr/>
        </p:nvSpPr>
        <p:spPr>
          <a:xfrm>
            <a:off x="548640" y="384048"/>
            <a:ext cx="822960" cy="310896"/>
          </a:xfrm>
          <a:prstGeom prst="roundRect">
            <a:avLst>
              <a:gd name="adj" fmla="val 14706"/>
            </a:avLst>
          </a:prstGeom>
          <a:solidFill>
            <a:srgbClr val="B4236A"/>
          </a:solidFill>
          <a:ln/>
        </p:spPr>
        <p:txBody>
          <a:bodyPr wrap="square" lIns="0" tIns="0" rIns="0" bIns="0" rtlCol="0" anchor="ctr"/>
          <a:lstStyle/>
          <a:p>
            <a:pPr algn="ctr" indent="0" marL="0">
              <a:buNone/>
            </a:pPr>
            <a:r>
              <a:rPr lang="en-US" sz="1200" b="1" spc="100" kern="0" dirty="0">
                <a:solidFill>
                  <a:schemeClr val="bg1"/>
                </a:solidFill>
              </a:rPr>
              <a:t>GAME</a:t>
            </a:r>
            <a:endParaRPr lang="en-US" sz="1200" dirty="0"/>
          </a:p>
        </p:txBody>
      </p:sp>
      <p:sp>
        <p:nvSpPr>
          <p:cNvPr id="4" name="tag"/>
          <p:cNvSpPr/>
          <p:nvPr/>
        </p:nvSpPr>
        <p:spPr>
          <a:xfrm>
            <a:off x="1481328" y="384048"/>
            <a:ext cx="1874520" cy="310896"/>
          </a:xfrm>
          <a:prstGeom prst="roundRect">
            <a:avLst>
              <a:gd name="adj" fmla="val 14706"/>
            </a:avLst>
          </a:prstGeom>
          <a:solidFill>
            <a:srgbClr val="3C7A3C"/>
          </a:solidFill>
          <a:ln/>
        </p:spPr>
        <p:txBody>
          <a:bodyPr wrap="square" lIns="0" tIns="0" rIns="0" bIns="0" rtlCol="0" anchor="ctr"/>
          <a:lstStyle/>
          <a:p>
            <a:pPr algn="ctr" indent="0" marL="0">
              <a:buNone/>
            </a:pPr>
            <a:r>
              <a:rPr lang="en-US" sz="1200" b="1" spc="100" kern="0" dirty="0">
                <a:solidFill>
                  <a:schemeClr val="bg1"/>
                </a:solidFill>
              </a:rPr>
              <a:t>✓ CORRECTION</a:t>
            </a:r>
            <a:endParaRPr lang="en-US" sz="1200" dirty="0"/>
          </a:p>
        </p:txBody>
      </p:sp>
      <p:sp>
        <p:nvSpPr>
          <p:cNvPr id="5" name="Text 3"/>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livret</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4206240"/>
                <a:gridCol w="6885432"/>
              </a:tblGrid>
              <a:tr h="556870">
                <a:tc>
                  <a:txBody>
                    <a:bodyPr/>
                    <a:lstStyle/>
                    <a:p>
                      <a:pPr algn="l" indent="0" marL="0">
                        <a:buNone/>
                      </a:pPr>
                      <a:r>
                        <a:rPr lang="en-US" sz="1400" b="1" dirty="0">
                          <a:solidFill>
                            <a:schemeClr val="bg1"/>
                          </a:solidFill>
                        </a:rPr>
                        <a:t>THE ANSWER</a:t>
                      </a:r>
                      <a:endParaRPr lang="en-US" sz="14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F3864"/>
                    </a:solidFill>
                  </a:tcPr>
                </a:tc>
                <a:tc>
                  <a:txBody>
                    <a:bodyPr/>
                    <a:lstStyle/>
                    <a:p>
                      <a:pPr algn="l" indent="0" marL="0">
                        <a:buNone/>
                      </a:pPr>
                      <a:r>
                        <a:rPr lang="en-US" sz="1400" b="1" dirty="0">
                          <a:solidFill>
                            <a:schemeClr val="bg1"/>
                          </a:solidFill>
                        </a:rPr>
                        <a:t>THE QUESTION</a:t>
                      </a:r>
                      <a:endParaRPr lang="en-US" sz="14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F3864"/>
                    </a:solidFill>
                  </a:tcPr>
                </a:tc>
              </a:tr>
              <a:tr h="440741">
                <a:tc>
                  <a:txBody>
                    <a:bodyPr/>
                    <a:lstStyle/>
                    <a:p>
                      <a:pPr algn="l" indent="0" marL="0">
                        <a:buNone/>
                      </a:pPr>
                      <a:r>
                        <a:rPr lang="en-US" sz="1600" b="1" dirty="0">
                          <a:solidFill>
                            <a:schemeClr val="tx1"/>
                          </a:solidFill>
                        </a:rPr>
                        <a:t>WHO? 100</a:t>
                      </a:r>
                      <a:r>
                        <a:rPr lang="en-US" sz="1600" dirty="0">
                          <a:solidFill>
                            <a:schemeClr val="tx1"/>
                          </a:solidFill>
                        </a:rPr>
                        <a:t> — The cleaning team.</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l" indent="0" marL="0">
                        <a:buNone/>
                      </a:pPr>
                      <a:r>
                        <a:rPr lang="en-US" sz="1600" b="1" dirty="0">
                          <a:solidFill>
                            <a:schemeClr val="accent3"/>
                          </a:solidFill>
                        </a:rPr>
                        <a:t>Who entered the ground floor at 06:47?</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440741">
                <a:tc>
                  <a:txBody>
                    <a:bodyPr/>
                    <a:lstStyle/>
                    <a:p>
                      <a:pPr algn="l" indent="0" marL="0">
                        <a:buNone/>
                      </a:pPr>
                      <a:r>
                        <a:rPr lang="en-US" sz="1600" b="1" dirty="0">
                          <a:solidFill>
                            <a:schemeClr val="tx1"/>
                          </a:solidFill>
                        </a:rPr>
                        <a:t>WHO? 200</a:t>
                      </a:r>
                      <a:r>
                        <a:rPr lang="en-US" sz="1600" dirty="0">
                          <a:solidFill>
                            <a:schemeClr val="tx1"/>
                          </a:solidFill>
                        </a:rPr>
                        <a:t> — Samuel.</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l" indent="0" marL="0">
                        <a:buNone/>
                      </a:pPr>
                      <a:r>
                        <a:rPr lang="en-US" sz="1600" b="1" dirty="0">
                          <a:solidFill>
                            <a:schemeClr val="accent3"/>
                          </a:solidFill>
                        </a:rPr>
                        <a:t>Who said the alarm went off at 11.40?</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r>
              <a:tr h="440741">
                <a:tc>
                  <a:txBody>
                    <a:bodyPr/>
                    <a:lstStyle/>
                    <a:p>
                      <a:pPr algn="l" indent="0" marL="0">
                        <a:buNone/>
                      </a:pPr>
                      <a:r>
                        <a:rPr lang="en-US" sz="1600" b="1" dirty="0">
                          <a:solidFill>
                            <a:schemeClr val="tx1"/>
                          </a:solidFill>
                        </a:rPr>
                        <a:t>WHAT? 100</a:t>
                      </a:r>
                      <a:r>
                        <a:rPr lang="en-US" sz="1600" dirty="0">
                          <a:solidFill>
                            <a:schemeClr val="tx1"/>
                          </a:solidFill>
                        </a:rPr>
                        <a:t> — The temperature alarm.</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l" indent="0" marL="0">
                        <a:buNone/>
                      </a:pPr>
                      <a:r>
                        <a:rPr lang="en-US" sz="1600" b="1" dirty="0">
                          <a:solidFill>
                            <a:schemeClr val="accent3"/>
                          </a:solidFill>
                        </a:rPr>
                        <a:t>What went off at 23:41?</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440741">
                <a:tc>
                  <a:txBody>
                    <a:bodyPr/>
                    <a:lstStyle/>
                    <a:p>
                      <a:pPr algn="l" indent="0" marL="0">
                        <a:buNone/>
                      </a:pPr>
                      <a:r>
                        <a:rPr lang="en-US" sz="1600" b="1" dirty="0">
                          <a:solidFill>
                            <a:schemeClr val="tx1"/>
                          </a:solidFill>
                        </a:rPr>
                        <a:t>WHAT? 200</a:t>
                      </a:r>
                      <a:r>
                        <a:rPr lang="en-US" sz="1600" dirty="0">
                          <a:solidFill>
                            <a:schemeClr val="tx1"/>
                          </a:solidFill>
                        </a:rPr>
                        <a:t> — Unit 3 shut down.</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l" indent="0" marL="0">
                        <a:buNone/>
                      </a:pPr>
                      <a:r>
                        <a:rPr lang="en-US" sz="1600" b="1" dirty="0">
                          <a:solidFill>
                            <a:schemeClr val="accent3"/>
                          </a:solidFill>
                        </a:rPr>
                        <a:t>What happened at 02:16?</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r>
              <a:tr h="440741">
                <a:tc>
                  <a:txBody>
                    <a:bodyPr/>
                    <a:lstStyle/>
                    <a:p>
                      <a:pPr algn="l" indent="0" marL="0">
                        <a:buNone/>
                      </a:pPr>
                      <a:r>
                        <a:rPr lang="en-US" sz="1600" b="1" dirty="0">
                          <a:solidFill>
                            <a:schemeClr val="tx1"/>
                          </a:solidFill>
                        </a:rPr>
                        <a:t>WHAT? 300</a:t>
                      </a:r>
                      <a:r>
                        <a:rPr lang="en-US" sz="1600" dirty="0">
                          <a:solidFill>
                            <a:schemeClr val="tx1"/>
                          </a:solidFill>
                        </a:rPr>
                        <a:t> — Photos of the ceiling.</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l" indent="0" marL="0">
                        <a:buNone/>
                      </a:pPr>
                      <a:r>
                        <a:rPr lang="en-US" sz="1600" b="1" dirty="0">
                          <a:solidFill>
                            <a:schemeClr val="accent3"/>
                          </a:solidFill>
                        </a:rPr>
                        <a:t>What did Iris take?</a:t>
                      </a:r>
                      <a:r>
                        <a:rPr lang="en-US" sz="1600" dirty="0">
                          <a:solidFill>
                            <a:schemeClr val="tx1"/>
                          </a:solidFill>
                        </a:rPr>
                        <a:t> </a:t>
                      </a:r>
                      <a:r>
                        <a:rPr lang="en-US" sz="1600" i="1" dirty="0">
                          <a:solidFill>
                            <a:schemeClr val="tx1"/>
                          </a:solidFill>
                        </a:rPr>
                        <a:t>(object question)</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440741">
                <a:tc>
                  <a:txBody>
                    <a:bodyPr/>
                    <a:lstStyle/>
                    <a:p>
                      <a:pPr algn="l" indent="0" marL="0">
                        <a:buNone/>
                      </a:pPr>
                      <a:r>
                        <a:rPr lang="en-US" sz="1600" b="1" dirty="0">
                          <a:solidFill>
                            <a:schemeClr val="tx1"/>
                          </a:solidFill>
                        </a:rPr>
                        <a:t>WHEN? 100</a:t>
                      </a:r>
                      <a:r>
                        <a:rPr lang="en-US" sz="1600" dirty="0">
                          <a:solidFill>
                            <a:schemeClr val="tx1"/>
                          </a:solidFill>
                        </a:rPr>
                        <a:t> — At 6.50.</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l" indent="0" marL="0">
                        <a:buNone/>
                      </a:pPr>
                      <a:r>
                        <a:rPr lang="en-US" sz="1600" b="1" dirty="0">
                          <a:solidFill>
                            <a:schemeClr val="accent3"/>
                          </a:solidFill>
                        </a:rPr>
                        <a:t>When did the cleaners find the water?</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r>
              <a:tr h="440741">
                <a:tc>
                  <a:txBody>
                    <a:bodyPr/>
                    <a:lstStyle/>
                    <a:p>
                      <a:pPr algn="l" indent="0" marL="0">
                        <a:buNone/>
                      </a:pPr>
                      <a:r>
                        <a:rPr lang="en-US" sz="1600" b="1" dirty="0">
                          <a:solidFill>
                            <a:schemeClr val="tx1"/>
                          </a:solidFill>
                        </a:rPr>
                        <a:t>WHEN? 300</a:t>
                      </a:r>
                      <a:r>
                        <a:rPr lang="en-US" sz="1600" dirty="0">
                          <a:solidFill>
                            <a:schemeClr val="tx1"/>
                          </a:solidFill>
                        </a:rPr>
                        <a:t> — At 23:42.</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l" indent="0" marL="0">
                        <a:buNone/>
                      </a:pPr>
                      <a:r>
                        <a:rPr lang="en-US" sz="1600" b="1" dirty="0">
                          <a:solidFill>
                            <a:schemeClr val="accent3"/>
                          </a:solidFill>
                        </a:rPr>
                        <a:t>When did the system send the notification?</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440741">
                <a:tc>
                  <a:txBody>
                    <a:bodyPr/>
                    <a:lstStyle/>
                    <a:p>
                      <a:pPr algn="l" indent="0" marL="0">
                        <a:buNone/>
                      </a:pPr>
                      <a:r>
                        <a:rPr lang="en-US" sz="1600" b="1" dirty="0">
                          <a:solidFill>
                            <a:schemeClr val="tx1"/>
                          </a:solidFill>
                        </a:rPr>
                        <a:t>HOW LONG? 100</a:t>
                      </a:r>
                      <a:r>
                        <a:rPr lang="en-US" sz="1600" dirty="0">
                          <a:solidFill>
                            <a:schemeClr val="tx1"/>
                          </a:solidFill>
                        </a:rPr>
                        <a:t> — Fifteen minutes.</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l" indent="0" marL="0">
                        <a:buNone/>
                      </a:pPr>
                      <a:r>
                        <a:rPr lang="en-US" sz="1600" b="1" dirty="0">
                          <a:solidFill>
                            <a:schemeClr val="accent3"/>
                          </a:solidFill>
                        </a:rPr>
                        <a:t>How long did badge 0102 stay in zone 2F?</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r>
              <a:tr h="440741">
                <a:tc>
                  <a:txBody>
                    <a:bodyPr/>
                    <a:lstStyle/>
                    <a:p>
                      <a:pPr algn="l" indent="0" marL="0">
                        <a:buNone/>
                      </a:pPr>
                      <a:r>
                        <a:rPr lang="en-US" sz="1600" b="1" dirty="0">
                          <a:solidFill>
                            <a:schemeClr val="tx1"/>
                          </a:solidFill>
                        </a:rPr>
                        <a:t>HOW LONG? 200</a:t>
                      </a:r>
                      <a:r>
                        <a:rPr lang="en-US" sz="1600" dirty="0">
                          <a:solidFill>
                            <a:schemeClr val="tx1"/>
                          </a:solidFill>
                        </a:rPr>
                        <a:t> — About seven hours.</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l" indent="0" marL="0">
                        <a:buNone/>
                      </a:pPr>
                      <a:r>
                        <a:rPr lang="en-US" sz="1600" b="1" dirty="0">
                          <a:solidFill>
                            <a:schemeClr val="accent3"/>
                          </a:solidFill>
                        </a:rPr>
                        <a:t>How long did the water run?</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What professionals do with an alarm</a:t>
            </a:r>
            <a:endParaRPr lang="en-US" sz="3200" dirty="0"/>
          </a:p>
        </p:txBody>
      </p:sp>
      <p:sp>
        <p:nvSpPr>
          <p:cNvPr id="3" name="tag"/>
          <p:cNvSpPr/>
          <p:nvPr/>
        </p:nvSpPr>
        <p:spPr>
          <a:xfrm>
            <a:off x="548640" y="384048"/>
            <a:ext cx="1394460" cy="310896"/>
          </a:xfrm>
          <a:prstGeom prst="roundRect">
            <a:avLst>
              <a:gd name="adj" fmla="val 14706"/>
            </a:avLst>
          </a:prstGeom>
          <a:solidFill>
            <a:srgbClr val="3C7A3C"/>
          </a:solidFill>
          <a:ln/>
        </p:spPr>
        <p:txBody>
          <a:bodyPr wrap="square" lIns="0" tIns="0" rIns="0" bIns="0" rtlCol="0" anchor="ctr"/>
          <a:lstStyle/>
          <a:p>
            <a:pPr algn="ctr" indent="0" marL="0">
              <a:buNone/>
            </a:pPr>
            <a:r>
              <a:rPr lang="en-US" sz="1200" b="1" spc="100" kern="0" dirty="0">
                <a:solidFill>
                  <a:schemeClr val="bg1"/>
                </a:solidFill>
              </a:rPr>
              <a:t>WORD FILE</a:t>
            </a:r>
            <a:endParaRPr lang="en-US" sz="1200" dirty="0"/>
          </a:p>
        </p:txBody>
      </p:sp>
      <p:sp>
        <p:nvSpPr>
          <p:cNvPr id="4" name="tag"/>
          <p:cNvSpPr/>
          <p:nvPr/>
        </p:nvSpPr>
        <p:spPr>
          <a:xfrm>
            <a:off x="2052828" y="384048"/>
            <a:ext cx="1874520" cy="310896"/>
          </a:xfrm>
          <a:prstGeom prst="roundRect">
            <a:avLst>
              <a:gd name="adj" fmla="val 14706"/>
            </a:avLst>
          </a:prstGeom>
          <a:solidFill>
            <a:srgbClr val="3C7A3C"/>
          </a:solidFill>
          <a:ln/>
        </p:spPr>
        <p:txBody>
          <a:bodyPr wrap="square" lIns="0" tIns="0" rIns="0" bIns="0" rtlCol="0" anchor="ctr"/>
          <a:lstStyle/>
          <a:p>
            <a:pPr algn="ctr" indent="0" marL="0">
              <a:buNone/>
            </a:pPr>
            <a:r>
              <a:rPr lang="en-US" sz="1200" b="1" spc="100" kern="0" dirty="0">
                <a:solidFill>
                  <a:schemeClr val="bg1"/>
                </a:solidFill>
              </a:rPr>
              <a:t>✓ CORRECTION</a:t>
            </a:r>
            <a:endParaRPr lang="en-US" sz="1200" dirty="0"/>
          </a:p>
        </p:txBody>
      </p:sp>
      <p:sp>
        <p:nvSpPr>
          <p:cNvPr id="5" name="Text 3"/>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15</a:t>
            </a:r>
            <a:endParaRPr lang="en-US" sz="1200" dirty="0"/>
          </a:p>
        </p:txBody>
      </p:sp>
      <p:sp>
        <p:nvSpPr>
          <p:cNvPr id="7" name="Text 4"/>
          <p:cNvSpPr txBox="1"/>
          <p:nvPr/>
        </p:nvSpPr>
        <p:spPr>
          <a:xfrm>
            <a:off x="548640" y="1627632"/>
            <a:ext cx="11091672" cy="335280"/>
          </a:xfrm>
          <a:prstGeom prst="rect">
            <a:avLst/>
          </a:prstGeom>
          <a:noFill/>
          <a:ln/>
        </p:spPr>
        <p:txBody>
          <a:bodyPr wrap="square" lIns="0" tIns="0" rIns="0" bIns="0" rtlCol="0" anchor="t"/>
          <a:lstStyle/>
          <a:p>
            <a:pPr indent="0" marL="0">
              <a:buNone/>
            </a:pPr>
            <a:r>
              <a:rPr lang="en-US" sz="1600" i="1" dirty="0">
                <a:solidFill>
                  <a:schemeClr val="accent5"/>
                </a:solidFill>
              </a:rPr>
              <a:t>These verb + noun pairs are not a matter of choice: you learn them as </a:t>
            </a:r>
            <a:r>
              <a:rPr lang="en-US" sz="1600" b="1" i="1" dirty="0">
                <a:solidFill>
                  <a:schemeClr val="accent5"/>
                </a:solidFill>
              </a:rPr>
              <a:t>one block</a:t>
            </a:r>
            <a:r>
              <a:rPr lang="en-US" sz="1600" i="1" dirty="0">
                <a:solidFill>
                  <a:schemeClr val="accent5"/>
                </a:solidFill>
              </a:rPr>
              <a:t>.</a:t>
            </a:r>
            <a:endParaRPr lang="en-US" sz="1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2237232"/>
          <a:ext cx="11091672" cy="914400"/>
        </p:xfrm>
        <a:graphic>
          <a:graphicData uri="http://schemas.openxmlformats.org/drawingml/2006/table">
            <a:tbl>
              <a:tblPr/>
              <a:tblGrid>
                <a:gridCol w="3657600"/>
                <a:gridCol w="3657600"/>
                <a:gridCol w="3776472"/>
              </a:tblGrid>
              <a:tr h="555955">
                <a:tc>
                  <a:txBody>
                    <a:bodyPr/>
                    <a:lstStyle/>
                    <a:p>
                      <a:pPr algn="ctr" indent="0" marL="0">
                        <a:buNone/>
                      </a:pPr>
                      <a:r>
                        <a:rPr lang="en-US" sz="1600" b="1" dirty="0">
                          <a:solidFill>
                            <a:schemeClr val="bg1"/>
                          </a:solidFill>
                        </a:rPr>
                        <a:t>PROFESSIONALS SAY</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F3864"/>
                    </a:solidFill>
                  </a:tcPr>
                </a:tc>
                <a:tc>
                  <a:txBody>
                    <a:bodyPr/>
                    <a:lstStyle/>
                    <a:p>
                      <a:pPr algn="ctr" indent="0" marL="0">
                        <a:buNone/>
                      </a:pPr>
                      <a:r>
                        <a:rPr lang="en-US" sz="1600" b="1" dirty="0">
                          <a:solidFill>
                            <a:schemeClr val="bg1"/>
                          </a:solidFill>
                        </a:rPr>
                        <a:t>THEY NEVER SAY</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F3864"/>
                    </a:solidFill>
                  </a:tcPr>
                </a:tc>
                <a:tc>
                  <a:txBody>
                    <a:bodyPr/>
                    <a:lstStyle/>
                    <a:p>
                      <a:pPr algn="ctr" indent="0" marL="0">
                        <a:buNone/>
                      </a:pPr>
                      <a:r>
                        <a:rPr lang="en-US" sz="1600" b="1" dirty="0">
                          <a:solidFill>
                            <a:schemeClr val="bg1"/>
                          </a:solidFill>
                        </a:rPr>
                        <a:t>FRANÇAIS</a:t>
                      </a:r>
                      <a:endParaRPr lang="en-US" sz="16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F3864"/>
                    </a:solidFill>
                  </a:tcPr>
                </a:tc>
              </a:tr>
              <a:tr h="439826">
                <a:tc>
                  <a:txBody>
                    <a:bodyPr/>
                    <a:lstStyle/>
                    <a:p>
                      <a:pPr algn="ctr" indent="0" marL="0">
                        <a:buNone/>
                      </a:pPr>
                      <a:r>
                        <a:rPr lang="en-US" sz="1800" dirty="0">
                          <a:solidFill>
                            <a:schemeClr val="tx1"/>
                          </a:solidFill>
                        </a:rPr>
                        <a:t>to </a:t>
                      </a:r>
                      <a:r>
                        <a:rPr lang="en-US" sz="1800" b="1" dirty="0">
                          <a:solidFill>
                            <a:schemeClr val="tx1"/>
                          </a:solidFill>
                        </a:rPr>
                        <a:t>raise</a:t>
                      </a:r>
                      <a:r>
                        <a:rPr lang="en-US" sz="1800" dirty="0">
                          <a:solidFill>
                            <a:schemeClr val="tx1"/>
                          </a:solidFill>
                        </a:rPr>
                        <a:t> the alarm</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strike="sngStrike" dirty="0">
                          <a:solidFill>
                            <a:schemeClr val="accent6"/>
                          </a:solidFill>
                        </a:rPr>
                        <a:t>to lift the alarm</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dirty="0">
                          <a:solidFill>
                            <a:schemeClr val="tx1"/>
                          </a:solidFill>
                        </a:rPr>
                        <a:t>donner l’alerte</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439826">
                <a:tc>
                  <a:txBody>
                    <a:bodyPr/>
                    <a:lstStyle/>
                    <a:p>
                      <a:pPr algn="ctr" indent="0" marL="0">
                        <a:buNone/>
                      </a:pPr>
                      <a:r>
                        <a:rPr lang="en-US" sz="1800" dirty="0">
                          <a:solidFill>
                            <a:schemeClr val="tx1"/>
                          </a:solidFill>
                        </a:rPr>
                        <a:t>to </a:t>
                      </a:r>
                      <a:r>
                        <a:rPr lang="en-US" sz="1800" b="1" dirty="0">
                          <a:solidFill>
                            <a:schemeClr val="tx1"/>
                          </a:solidFill>
                        </a:rPr>
                        <a:t>assess</a:t>
                      </a:r>
                      <a:r>
                        <a:rPr lang="en-US" sz="1800" dirty="0">
                          <a:solidFill>
                            <a:schemeClr val="tx1"/>
                          </a:solidFill>
                        </a:rPr>
                        <a:t> the damage</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800" strike="sngStrike" dirty="0">
                          <a:solidFill>
                            <a:schemeClr val="accent6"/>
                          </a:solidFill>
                        </a:rPr>
                        <a:t>to count the damage</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800" dirty="0">
                          <a:solidFill>
                            <a:schemeClr val="tx1"/>
                          </a:solidFill>
                        </a:rPr>
                        <a:t>évaluer les dégâts</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r>
              <a:tr h="439826">
                <a:tc>
                  <a:txBody>
                    <a:bodyPr/>
                    <a:lstStyle/>
                    <a:p>
                      <a:pPr algn="ctr" indent="0" marL="0">
                        <a:buNone/>
                      </a:pPr>
                      <a:r>
                        <a:rPr lang="en-US" sz="1800" dirty="0">
                          <a:solidFill>
                            <a:schemeClr val="tx1"/>
                          </a:solidFill>
                        </a:rPr>
                        <a:t>to </a:t>
                      </a:r>
                      <a:r>
                        <a:rPr lang="en-US" sz="1800" b="1" dirty="0">
                          <a:solidFill>
                            <a:schemeClr val="tx1"/>
                          </a:solidFill>
                        </a:rPr>
                        <a:t>file</a:t>
                      </a:r>
                      <a:r>
                        <a:rPr lang="en-US" sz="1800" dirty="0">
                          <a:solidFill>
                            <a:schemeClr val="tx1"/>
                          </a:solidFill>
                        </a:rPr>
                        <a:t> a claim</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strike="sngStrike" dirty="0">
                          <a:solidFill>
                            <a:schemeClr val="accent6"/>
                          </a:solidFill>
                        </a:rPr>
                        <a:t>to make a claim file</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dirty="0">
                          <a:solidFill>
                            <a:schemeClr val="tx1"/>
                          </a:solidFill>
                        </a:rPr>
                        <a:t>déclarer un sinistre</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439826">
                <a:tc>
                  <a:txBody>
                    <a:bodyPr/>
                    <a:lstStyle/>
                    <a:p>
                      <a:pPr algn="ctr" indent="0" marL="0">
                        <a:buNone/>
                      </a:pPr>
                      <a:r>
                        <a:rPr lang="en-US" sz="1800" dirty="0">
                          <a:solidFill>
                            <a:schemeClr val="tx1"/>
                          </a:solidFill>
                        </a:rPr>
                        <a:t>to </a:t>
                      </a:r>
                      <a:r>
                        <a:rPr lang="en-US" sz="1800" b="1" dirty="0">
                          <a:solidFill>
                            <a:schemeClr val="tx1"/>
                          </a:solidFill>
                        </a:rPr>
                        <a:t>take</a:t>
                      </a:r>
                      <a:r>
                        <a:rPr lang="en-US" sz="1800" dirty="0">
                          <a:solidFill>
                            <a:schemeClr val="tx1"/>
                          </a:solidFill>
                        </a:rPr>
                        <a:t> steps</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800" strike="sngStrike" dirty="0">
                          <a:solidFill>
                            <a:schemeClr val="accent6"/>
                          </a:solidFill>
                        </a:rPr>
                        <a:t>to do steps</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800" dirty="0">
                          <a:solidFill>
                            <a:schemeClr val="tx1"/>
                          </a:solidFill>
                        </a:rPr>
                        <a:t>prendre des mesures</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r>
              <a:tr h="439826">
                <a:tc>
                  <a:txBody>
                    <a:bodyPr/>
                    <a:lstStyle/>
                    <a:p>
                      <a:pPr algn="ctr" indent="0" marL="0">
                        <a:buNone/>
                      </a:pPr>
                      <a:r>
                        <a:rPr lang="en-US" sz="1800" dirty="0">
                          <a:solidFill>
                            <a:schemeClr val="tx1"/>
                          </a:solidFill>
                        </a:rPr>
                        <a:t>to </a:t>
                      </a:r>
                      <a:r>
                        <a:rPr lang="en-US" sz="1800" b="1" dirty="0">
                          <a:solidFill>
                            <a:schemeClr val="tx1"/>
                          </a:solidFill>
                        </a:rPr>
                        <a:t>draw up</a:t>
                      </a:r>
                      <a:r>
                        <a:rPr lang="en-US" sz="1800" dirty="0">
                          <a:solidFill>
                            <a:schemeClr val="tx1"/>
                          </a:solidFill>
                        </a:rPr>
                        <a:t> a report</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strike="sngStrike" dirty="0">
                          <a:solidFill>
                            <a:schemeClr val="accent6"/>
                          </a:solidFill>
                        </a:rPr>
                        <a:t>to put up a report</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dirty="0">
                          <a:solidFill>
                            <a:schemeClr val="tx1"/>
                          </a:solidFill>
                        </a:rPr>
                        <a:t>rédiger / établir un rapport</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439826">
                <a:tc>
                  <a:txBody>
                    <a:bodyPr/>
                    <a:lstStyle/>
                    <a:p>
                      <a:pPr algn="ctr" indent="0" marL="0">
                        <a:buNone/>
                      </a:pPr>
                      <a:r>
                        <a:rPr lang="en-US" sz="1800" dirty="0">
                          <a:solidFill>
                            <a:schemeClr val="tx1"/>
                          </a:solidFill>
                        </a:rPr>
                        <a:t>to </a:t>
                      </a:r>
                      <a:r>
                        <a:rPr lang="en-US" sz="1800" b="1" dirty="0">
                          <a:solidFill>
                            <a:schemeClr val="tx1"/>
                          </a:solidFill>
                        </a:rPr>
                        <a:t>carry out</a:t>
                      </a:r>
                      <a:r>
                        <a:rPr lang="en-US" sz="1800" dirty="0">
                          <a:solidFill>
                            <a:schemeClr val="tx1"/>
                          </a:solidFill>
                        </a:rPr>
                        <a:t> an inspection</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800" strike="sngStrike" dirty="0">
                          <a:solidFill>
                            <a:schemeClr val="accent6"/>
                          </a:solidFill>
                        </a:rPr>
                        <a:t>to run an inspection</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800" dirty="0">
                          <a:solidFill>
                            <a:schemeClr val="tx1"/>
                          </a:solidFill>
                        </a:rPr>
                        <a:t>effectuer une inspection</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r>
              <a:tr h="439826">
                <a:tc>
                  <a:txBody>
                    <a:bodyPr/>
                    <a:lstStyle/>
                    <a:p>
                      <a:pPr algn="ctr" indent="0" marL="0">
                        <a:buNone/>
                      </a:pPr>
                      <a:r>
                        <a:rPr lang="en-US" sz="1800" dirty="0">
                          <a:solidFill>
                            <a:schemeClr val="tx1"/>
                          </a:solidFill>
                        </a:rPr>
                        <a:t>to </a:t>
                      </a:r>
                      <a:r>
                        <a:rPr lang="en-US" sz="1800" b="1" dirty="0">
                          <a:solidFill>
                            <a:schemeClr val="tx1"/>
                          </a:solidFill>
                        </a:rPr>
                        <a:t>meet</a:t>
                      </a:r>
                      <a:r>
                        <a:rPr lang="en-US" sz="1800" dirty="0">
                          <a:solidFill>
                            <a:schemeClr val="tx1"/>
                          </a:solidFill>
                        </a:rPr>
                        <a:t> a deadline</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strike="sngStrike" dirty="0">
                          <a:solidFill>
                            <a:schemeClr val="accent6"/>
                          </a:solidFill>
                        </a:rPr>
                        <a:t>to respect a deadline</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algn="ctr" indent="0" marL="0">
                        <a:buNone/>
                      </a:pPr>
                      <a:r>
                        <a:rPr lang="en-US" sz="1800" dirty="0">
                          <a:solidFill>
                            <a:schemeClr val="tx1"/>
                          </a:solidFill>
                        </a:rPr>
                        <a:t>respecter un délai</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r>
              <a:tr h="439826">
                <a:tc>
                  <a:txBody>
                    <a:bodyPr/>
                    <a:lstStyle/>
                    <a:p>
                      <a:pPr algn="ctr" indent="0" marL="0">
                        <a:buNone/>
                      </a:pPr>
                      <a:r>
                        <a:rPr lang="en-US" sz="1800" dirty="0">
                          <a:solidFill>
                            <a:schemeClr val="tx1"/>
                          </a:solidFill>
                        </a:rPr>
                        <a:t>to </a:t>
                      </a:r>
                      <a:r>
                        <a:rPr lang="en-US" sz="1800" b="1" dirty="0">
                          <a:solidFill>
                            <a:schemeClr val="tx1"/>
                          </a:solidFill>
                        </a:rPr>
                        <a:t>make good</a:t>
                      </a:r>
                      <a:r>
                        <a:rPr lang="en-US" sz="1800" dirty="0">
                          <a:solidFill>
                            <a:schemeClr val="tx1"/>
                          </a:solidFill>
                        </a:rPr>
                        <a:t> the floor</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800" strike="sngStrike" dirty="0">
                          <a:solidFill>
                            <a:schemeClr val="accent6"/>
                          </a:solidFill>
                        </a:rPr>
                        <a:t>to repair back the floor</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c>
                  <a:txBody>
                    <a:bodyPr/>
                    <a:lstStyle/>
                    <a:p>
                      <a:pPr algn="ctr" indent="0" marL="0">
                        <a:buNone/>
                      </a:pPr>
                      <a:r>
                        <a:rPr lang="en-US" sz="1800" dirty="0">
                          <a:solidFill>
                            <a:schemeClr val="tx1"/>
                          </a:solidFill>
                        </a:rPr>
                        <a:t>remettre le sol en état</a:t>
                      </a:r>
                      <a:endParaRPr lang="en-US" sz="1800" dirty="0"/>
                    </a:p>
                  </a:txBody>
                  <a:tcPr marL="109728" marR="109728"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EF2F8"/>
                    </a:solidFill>
                  </a:tcPr>
                </a:tc>
              </a:tr>
            </a:tbl>
          </a:graphicData>
        </a:graphic>
      </p:graphicFrame>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Mindmap — six verbs, eighteen blocks</a:t>
            </a:r>
            <a:endParaRPr lang="en-US" sz="3200" dirty="0"/>
          </a:p>
        </p:txBody>
      </p:sp>
      <p:sp>
        <p:nvSpPr>
          <p:cNvPr id="3" name="tag"/>
          <p:cNvSpPr/>
          <p:nvPr/>
        </p:nvSpPr>
        <p:spPr>
          <a:xfrm>
            <a:off x="548640" y="384048"/>
            <a:ext cx="1165860" cy="310896"/>
          </a:xfrm>
          <a:prstGeom prst="roundRect">
            <a:avLst>
              <a:gd name="adj" fmla="val 14706"/>
            </a:avLst>
          </a:prstGeom>
          <a:solidFill>
            <a:srgbClr val="2E75B6"/>
          </a:solidFill>
          <a:ln/>
        </p:spPr>
        <p:txBody>
          <a:bodyPr wrap="square" lIns="0" tIns="0" rIns="0" bIns="0" rtlCol="0" anchor="ctr"/>
          <a:lstStyle/>
          <a:p>
            <a:pPr algn="ctr" indent="0" marL="0">
              <a:buNone/>
            </a:pPr>
            <a:r>
              <a:rPr lang="en-US" sz="1200" b="1" spc="100" kern="0" dirty="0">
                <a:solidFill>
                  <a:schemeClr val="bg1"/>
                </a:solidFill>
              </a:rPr>
              <a:t>MINDMAP</a:t>
            </a:r>
            <a:endParaRPr lang="en-US" sz="1200" dirty="0"/>
          </a:p>
        </p:txBody>
      </p:sp>
      <p:sp>
        <p:nvSpPr>
          <p:cNvPr id="4" name="Text 2"/>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15 · hors livret</a:t>
            </a:r>
            <a:endParaRPr lang="en-US" sz="1200" dirty="0"/>
          </a:p>
        </p:txBody>
      </p:sp>
      <p:sp>
        <p:nvSpPr>
          <p:cNvPr id="6" name="Shape 3"/>
          <p:cNvSpPr/>
          <p:nvPr/>
        </p:nvSpPr>
        <p:spPr>
          <a:xfrm flipH="1" flipV="1">
            <a:off x="5180076" y="2377440"/>
            <a:ext cx="536939" cy="966490"/>
          </a:xfrm>
          <a:prstGeom prst="line">
            <a:avLst/>
          </a:prstGeom>
          <a:noFill/>
          <a:ln w="28575">
            <a:solidFill>
              <a:srgbClr val="B03A2E"/>
            </a:solidFill>
            <a:prstDash val="solid"/>
          </a:ln>
        </p:spPr>
      </p:sp>
      <p:sp>
        <p:nvSpPr>
          <p:cNvPr id="7" name="Text 4"/>
          <p:cNvSpPr/>
          <p:nvPr/>
        </p:nvSpPr>
        <p:spPr>
          <a:xfrm>
            <a:off x="3579876" y="2176272"/>
            <a:ext cx="1600200" cy="402336"/>
          </a:xfrm>
          <a:prstGeom prst="roundRect">
            <a:avLst>
              <a:gd name="adj" fmla="val 50000"/>
            </a:avLst>
          </a:prstGeom>
          <a:solidFill>
            <a:srgbClr val="B03A2E"/>
          </a:solidFill>
          <a:ln/>
        </p:spPr>
        <p:txBody>
          <a:bodyPr wrap="square" lIns="0" tIns="0" rIns="0" bIns="0" rtlCol="0" anchor="ctr"/>
          <a:lstStyle/>
          <a:p>
            <a:pPr algn="ctr" indent="0" marL="0">
              <a:buNone/>
            </a:pPr>
            <a:r>
              <a:rPr lang="en-US" sz="1200" b="1" dirty="0">
                <a:solidFill>
                  <a:schemeClr val="bg1"/>
                </a:solidFill>
              </a:rPr>
              <a:t>RAISE</a:t>
            </a:r>
            <a:endParaRPr lang="en-US" sz="1200" dirty="0"/>
          </a:p>
        </p:txBody>
      </p:sp>
      <p:sp>
        <p:nvSpPr>
          <p:cNvPr id="8" name="Shape 5"/>
          <p:cNvSpPr/>
          <p:nvPr/>
        </p:nvSpPr>
        <p:spPr>
          <a:xfrm flipH="1" flipV="1">
            <a:off x="3351276" y="2002536"/>
            <a:ext cx="228600" cy="374904"/>
          </a:xfrm>
          <a:prstGeom prst="line">
            <a:avLst/>
          </a:prstGeom>
          <a:noFill/>
          <a:ln w="12700">
            <a:solidFill>
              <a:srgbClr val="B03A2E"/>
            </a:solidFill>
            <a:prstDash val="solid"/>
          </a:ln>
        </p:spPr>
      </p:sp>
      <p:sp>
        <p:nvSpPr>
          <p:cNvPr id="9" name="Text 6"/>
          <p:cNvSpPr/>
          <p:nvPr/>
        </p:nvSpPr>
        <p:spPr>
          <a:xfrm>
            <a:off x="2025396" y="1847088"/>
            <a:ext cx="1325880" cy="310896"/>
          </a:xfrm>
          <a:prstGeom prst="roundRect">
            <a:avLst>
              <a:gd name="adj" fmla="val 50000"/>
            </a:avLst>
          </a:prstGeom>
          <a:solidFill>
            <a:srgbClr val="FFFFFF"/>
          </a:solidFill>
          <a:ln w="15875">
            <a:solidFill>
              <a:srgbClr val="B03A2E"/>
            </a:solidFill>
          </a:ln>
        </p:spPr>
        <p:txBody>
          <a:bodyPr wrap="square" lIns="0" tIns="0" rIns="0" bIns="0" rtlCol="0" anchor="ctr"/>
          <a:lstStyle/>
          <a:p>
            <a:pPr algn="ctr" indent="0" marL="0">
              <a:buNone/>
            </a:pPr>
            <a:r>
              <a:rPr lang="en-US" sz="1100" dirty="0">
                <a:solidFill>
                  <a:schemeClr val="tx1"/>
                </a:solidFill>
              </a:rPr>
              <a:t>the </a:t>
            </a:r>
            <a:r>
              <a:rPr lang="en-US" sz="1100" b="1" dirty="0">
                <a:solidFill>
                  <a:schemeClr val="tx1"/>
                </a:solidFill>
              </a:rPr>
              <a:t>alarm</a:t>
            </a:r>
            <a:endParaRPr lang="en-US" sz="1100" dirty="0"/>
          </a:p>
        </p:txBody>
      </p:sp>
      <p:sp>
        <p:nvSpPr>
          <p:cNvPr id="10" name="Shape 7"/>
          <p:cNvSpPr/>
          <p:nvPr/>
        </p:nvSpPr>
        <p:spPr>
          <a:xfrm flipH="1">
            <a:off x="1860804" y="2002536"/>
            <a:ext cx="164592" cy="0"/>
          </a:xfrm>
          <a:prstGeom prst="line">
            <a:avLst/>
          </a:prstGeom>
          <a:noFill/>
          <a:ln w="12700">
            <a:solidFill>
              <a:srgbClr val="B03A2E"/>
            </a:solidFill>
            <a:prstDash val="solid"/>
          </a:ln>
        </p:spPr>
      </p:sp>
      <p:sp>
        <p:nvSpPr>
          <p:cNvPr id="11" name="Text 8"/>
          <p:cNvSpPr/>
          <p:nvPr/>
        </p:nvSpPr>
        <p:spPr>
          <a:xfrm>
            <a:off x="534924" y="1847088"/>
            <a:ext cx="1325880" cy="310896"/>
          </a:xfrm>
          <a:prstGeom prst="roundRect">
            <a:avLst>
              <a:gd name="adj" fmla="val 50000"/>
            </a:avLst>
          </a:prstGeom>
          <a:solidFill>
            <a:srgbClr val="EEF2F8"/>
          </a:solidFill>
          <a:ln w="15875">
            <a:solidFill>
              <a:srgbClr val="B03A2E"/>
            </a:solidFill>
            <a:prstDash val="dash"/>
          </a:ln>
        </p:spPr>
        <p:txBody>
          <a:bodyPr wrap="square" lIns="0" tIns="0" rIns="0" bIns="0" rtlCol="0" anchor="ctr"/>
          <a:lstStyle/>
          <a:p>
            <a:pPr algn="ctr" indent="0" marL="0">
              <a:buNone/>
            </a:pPr>
            <a:r>
              <a:rPr lang="en-US" sz="1100" dirty="0">
                <a:solidFill>
                  <a:schemeClr val="tx1"/>
                </a:solidFill>
              </a:rPr>
              <a:t>donner l’alerte</a:t>
            </a:r>
            <a:endParaRPr lang="en-US" sz="1100" dirty="0"/>
          </a:p>
        </p:txBody>
      </p:sp>
      <p:sp>
        <p:nvSpPr>
          <p:cNvPr id="12" name="Shape 9"/>
          <p:cNvSpPr/>
          <p:nvPr/>
        </p:nvSpPr>
        <p:spPr>
          <a:xfrm flipH="1">
            <a:off x="3351276" y="2377440"/>
            <a:ext cx="228600" cy="0"/>
          </a:xfrm>
          <a:prstGeom prst="line">
            <a:avLst/>
          </a:prstGeom>
          <a:noFill/>
          <a:ln w="12700">
            <a:solidFill>
              <a:srgbClr val="B03A2E"/>
            </a:solidFill>
            <a:prstDash val="solid"/>
          </a:ln>
        </p:spPr>
      </p:sp>
      <p:sp>
        <p:nvSpPr>
          <p:cNvPr id="13" name="Text 10"/>
          <p:cNvSpPr/>
          <p:nvPr/>
        </p:nvSpPr>
        <p:spPr>
          <a:xfrm>
            <a:off x="2025396" y="2221992"/>
            <a:ext cx="1325880" cy="310896"/>
          </a:xfrm>
          <a:prstGeom prst="roundRect">
            <a:avLst>
              <a:gd name="adj" fmla="val 50000"/>
            </a:avLst>
          </a:prstGeom>
          <a:solidFill>
            <a:srgbClr val="FFFFFF"/>
          </a:solidFill>
          <a:ln w="15875">
            <a:solidFill>
              <a:srgbClr val="B03A2E"/>
            </a:solidFill>
          </a:ln>
        </p:spPr>
        <p:txBody>
          <a:bodyPr wrap="square" lIns="0" tIns="0" rIns="0" bIns="0" rtlCol="0" anchor="ctr"/>
          <a:lstStyle/>
          <a:p>
            <a:pPr algn="ctr" indent="0" marL="0">
              <a:buNone/>
            </a:pPr>
            <a:r>
              <a:rPr lang="en-US" sz="1100" dirty="0">
                <a:solidFill>
                  <a:schemeClr val="tx1"/>
                </a:solidFill>
              </a:rPr>
              <a:t>a </a:t>
            </a:r>
            <a:r>
              <a:rPr lang="en-US" sz="1100" b="1" dirty="0">
                <a:solidFill>
                  <a:schemeClr val="tx1"/>
                </a:solidFill>
              </a:rPr>
              <a:t>red flag</a:t>
            </a:r>
            <a:endParaRPr lang="en-US" sz="1100" dirty="0"/>
          </a:p>
        </p:txBody>
      </p:sp>
      <p:sp>
        <p:nvSpPr>
          <p:cNvPr id="14" name="Shape 11"/>
          <p:cNvSpPr/>
          <p:nvPr/>
        </p:nvSpPr>
        <p:spPr>
          <a:xfrm flipH="1">
            <a:off x="1860804" y="2377440"/>
            <a:ext cx="164592" cy="0"/>
          </a:xfrm>
          <a:prstGeom prst="line">
            <a:avLst/>
          </a:prstGeom>
          <a:noFill/>
          <a:ln w="12700">
            <a:solidFill>
              <a:srgbClr val="B03A2E"/>
            </a:solidFill>
            <a:prstDash val="solid"/>
          </a:ln>
        </p:spPr>
      </p:sp>
      <p:sp>
        <p:nvSpPr>
          <p:cNvPr id="15" name="Text 12"/>
          <p:cNvSpPr/>
          <p:nvPr/>
        </p:nvSpPr>
        <p:spPr>
          <a:xfrm>
            <a:off x="534924" y="2221992"/>
            <a:ext cx="1325880" cy="310896"/>
          </a:xfrm>
          <a:prstGeom prst="roundRect">
            <a:avLst>
              <a:gd name="adj" fmla="val 50000"/>
            </a:avLst>
          </a:prstGeom>
          <a:solidFill>
            <a:srgbClr val="EEF2F8"/>
          </a:solidFill>
          <a:ln w="15875">
            <a:solidFill>
              <a:srgbClr val="B03A2E"/>
            </a:solidFill>
            <a:prstDash val="dash"/>
          </a:ln>
        </p:spPr>
        <p:txBody>
          <a:bodyPr wrap="square" lIns="0" tIns="0" rIns="0" bIns="0" rtlCol="0" anchor="ctr"/>
          <a:lstStyle/>
          <a:p>
            <a:pPr algn="ctr" indent="0" marL="0">
              <a:buNone/>
            </a:pPr>
            <a:r>
              <a:rPr lang="en-US" sz="1000" dirty="0">
                <a:solidFill>
                  <a:schemeClr val="tx1"/>
                </a:solidFill>
              </a:rPr>
              <a:t>signaler un risque</a:t>
            </a:r>
            <a:endParaRPr lang="en-US" sz="1000" dirty="0"/>
          </a:p>
        </p:txBody>
      </p:sp>
      <p:sp>
        <p:nvSpPr>
          <p:cNvPr id="16" name="Shape 13"/>
          <p:cNvSpPr/>
          <p:nvPr/>
        </p:nvSpPr>
        <p:spPr>
          <a:xfrm flipH="1">
            <a:off x="3351276" y="2377440"/>
            <a:ext cx="228600" cy="374904"/>
          </a:xfrm>
          <a:prstGeom prst="line">
            <a:avLst/>
          </a:prstGeom>
          <a:noFill/>
          <a:ln w="12700">
            <a:solidFill>
              <a:srgbClr val="B03A2E"/>
            </a:solidFill>
            <a:prstDash val="solid"/>
          </a:ln>
        </p:spPr>
      </p:sp>
      <p:sp>
        <p:nvSpPr>
          <p:cNvPr id="17" name="Text 14"/>
          <p:cNvSpPr/>
          <p:nvPr/>
        </p:nvSpPr>
        <p:spPr>
          <a:xfrm>
            <a:off x="2025396" y="2596896"/>
            <a:ext cx="1325880" cy="310896"/>
          </a:xfrm>
          <a:prstGeom prst="roundRect">
            <a:avLst>
              <a:gd name="adj" fmla="val 50000"/>
            </a:avLst>
          </a:prstGeom>
          <a:solidFill>
            <a:srgbClr val="FFFFFF"/>
          </a:solidFill>
          <a:ln w="15875">
            <a:solidFill>
              <a:srgbClr val="B03A2E"/>
            </a:solidFill>
          </a:ln>
        </p:spPr>
        <p:txBody>
          <a:bodyPr wrap="square" lIns="0" tIns="0" rIns="0" bIns="0" rtlCol="0" anchor="ctr"/>
          <a:lstStyle/>
          <a:p>
            <a:pPr algn="ctr" indent="0" marL="0">
              <a:buNone/>
            </a:pPr>
            <a:r>
              <a:rPr lang="en-US" sz="1100" dirty="0">
                <a:solidFill>
                  <a:schemeClr val="tx1"/>
                </a:solidFill>
              </a:rPr>
              <a:t>a </a:t>
            </a:r>
            <a:r>
              <a:rPr lang="en-US" sz="1100" b="1" dirty="0">
                <a:solidFill>
                  <a:schemeClr val="tx1"/>
                </a:solidFill>
              </a:rPr>
              <a:t>question</a:t>
            </a:r>
            <a:endParaRPr lang="en-US" sz="1100" dirty="0"/>
          </a:p>
        </p:txBody>
      </p:sp>
      <p:sp>
        <p:nvSpPr>
          <p:cNvPr id="18" name="Shape 15"/>
          <p:cNvSpPr/>
          <p:nvPr/>
        </p:nvSpPr>
        <p:spPr>
          <a:xfrm flipH="1">
            <a:off x="1860804" y="2752344"/>
            <a:ext cx="164592" cy="0"/>
          </a:xfrm>
          <a:prstGeom prst="line">
            <a:avLst/>
          </a:prstGeom>
          <a:noFill/>
          <a:ln w="12700">
            <a:solidFill>
              <a:srgbClr val="B03A2E"/>
            </a:solidFill>
            <a:prstDash val="solid"/>
          </a:ln>
        </p:spPr>
      </p:sp>
      <p:sp>
        <p:nvSpPr>
          <p:cNvPr id="19" name="Text 16"/>
          <p:cNvSpPr/>
          <p:nvPr/>
        </p:nvSpPr>
        <p:spPr>
          <a:xfrm>
            <a:off x="534924" y="2596896"/>
            <a:ext cx="1325880" cy="310896"/>
          </a:xfrm>
          <a:prstGeom prst="roundRect">
            <a:avLst>
              <a:gd name="adj" fmla="val 50000"/>
            </a:avLst>
          </a:prstGeom>
          <a:solidFill>
            <a:srgbClr val="EEF2F8"/>
          </a:solidFill>
          <a:ln w="15875">
            <a:solidFill>
              <a:srgbClr val="B03A2E"/>
            </a:solidFill>
            <a:prstDash val="dash"/>
          </a:ln>
        </p:spPr>
        <p:txBody>
          <a:bodyPr wrap="square" lIns="0" tIns="0" rIns="0" bIns="0" rtlCol="0" anchor="ctr"/>
          <a:lstStyle/>
          <a:p>
            <a:pPr algn="ctr" indent="0" marL="0">
              <a:buNone/>
            </a:pPr>
            <a:r>
              <a:rPr lang="en-US" sz="1000" dirty="0">
                <a:solidFill>
                  <a:schemeClr val="tx1"/>
                </a:solidFill>
              </a:rPr>
              <a:t>poser une question</a:t>
            </a:r>
            <a:endParaRPr lang="en-US" sz="1000" dirty="0"/>
          </a:p>
        </p:txBody>
      </p:sp>
      <p:sp>
        <p:nvSpPr>
          <p:cNvPr id="20" name="Shape 17"/>
          <p:cNvSpPr/>
          <p:nvPr/>
        </p:nvSpPr>
        <p:spPr>
          <a:xfrm flipH="1">
            <a:off x="5180076" y="4023360"/>
            <a:ext cx="137160" cy="0"/>
          </a:xfrm>
          <a:prstGeom prst="line">
            <a:avLst/>
          </a:prstGeom>
          <a:noFill/>
          <a:ln w="28575">
            <a:solidFill>
              <a:srgbClr val="2E75B6"/>
            </a:solidFill>
            <a:prstDash val="solid"/>
          </a:ln>
        </p:spPr>
      </p:sp>
      <p:sp>
        <p:nvSpPr>
          <p:cNvPr id="21" name="Text 18"/>
          <p:cNvSpPr/>
          <p:nvPr/>
        </p:nvSpPr>
        <p:spPr>
          <a:xfrm>
            <a:off x="3579876" y="3822192"/>
            <a:ext cx="1600200" cy="402336"/>
          </a:xfrm>
          <a:prstGeom prst="roundRect">
            <a:avLst>
              <a:gd name="adj" fmla="val 50000"/>
            </a:avLst>
          </a:prstGeom>
          <a:solidFill>
            <a:srgbClr val="2E75B6"/>
          </a:solidFill>
          <a:ln/>
        </p:spPr>
        <p:txBody>
          <a:bodyPr wrap="square" lIns="0" tIns="0" rIns="0" bIns="0" rtlCol="0" anchor="ctr"/>
          <a:lstStyle/>
          <a:p>
            <a:pPr algn="ctr" indent="0" marL="0">
              <a:buNone/>
            </a:pPr>
            <a:r>
              <a:rPr lang="en-US" sz="1200" b="1" dirty="0">
                <a:solidFill>
                  <a:schemeClr val="bg1"/>
                </a:solidFill>
              </a:rPr>
              <a:t>FILE</a:t>
            </a:r>
            <a:endParaRPr lang="en-US" sz="1200" dirty="0"/>
          </a:p>
        </p:txBody>
      </p:sp>
      <p:sp>
        <p:nvSpPr>
          <p:cNvPr id="22" name="Shape 19"/>
          <p:cNvSpPr/>
          <p:nvPr/>
        </p:nvSpPr>
        <p:spPr>
          <a:xfrm flipH="1" flipV="1">
            <a:off x="3351276" y="3648456"/>
            <a:ext cx="228600" cy="374904"/>
          </a:xfrm>
          <a:prstGeom prst="line">
            <a:avLst/>
          </a:prstGeom>
          <a:noFill/>
          <a:ln w="12700">
            <a:solidFill>
              <a:srgbClr val="2E75B6"/>
            </a:solidFill>
            <a:prstDash val="solid"/>
          </a:ln>
        </p:spPr>
      </p:sp>
      <p:sp>
        <p:nvSpPr>
          <p:cNvPr id="23" name="Text 20"/>
          <p:cNvSpPr/>
          <p:nvPr/>
        </p:nvSpPr>
        <p:spPr>
          <a:xfrm>
            <a:off x="2025396" y="3493008"/>
            <a:ext cx="1325880" cy="310896"/>
          </a:xfrm>
          <a:prstGeom prst="roundRect">
            <a:avLst>
              <a:gd name="adj" fmla="val 50000"/>
            </a:avLst>
          </a:prstGeom>
          <a:solidFill>
            <a:srgbClr val="FFFFFF"/>
          </a:solidFill>
          <a:ln w="15875">
            <a:solidFill>
              <a:srgbClr val="2E75B6"/>
            </a:solidFill>
          </a:ln>
        </p:spPr>
        <p:txBody>
          <a:bodyPr wrap="square" lIns="0" tIns="0" rIns="0" bIns="0" rtlCol="0" anchor="ctr"/>
          <a:lstStyle/>
          <a:p>
            <a:pPr algn="ctr" indent="0" marL="0">
              <a:buNone/>
            </a:pPr>
            <a:r>
              <a:rPr lang="en-US" sz="1100" dirty="0">
                <a:solidFill>
                  <a:schemeClr val="tx1"/>
                </a:solidFill>
              </a:rPr>
              <a:t>a </a:t>
            </a:r>
            <a:r>
              <a:rPr lang="en-US" sz="1100" b="1" dirty="0">
                <a:solidFill>
                  <a:schemeClr val="tx1"/>
                </a:solidFill>
              </a:rPr>
              <a:t>claim</a:t>
            </a:r>
            <a:endParaRPr lang="en-US" sz="1100" dirty="0"/>
          </a:p>
        </p:txBody>
      </p:sp>
      <p:sp>
        <p:nvSpPr>
          <p:cNvPr id="24" name="Shape 21"/>
          <p:cNvSpPr/>
          <p:nvPr/>
        </p:nvSpPr>
        <p:spPr>
          <a:xfrm flipH="1">
            <a:off x="1860804" y="3648456"/>
            <a:ext cx="164592" cy="0"/>
          </a:xfrm>
          <a:prstGeom prst="line">
            <a:avLst/>
          </a:prstGeom>
          <a:noFill/>
          <a:ln w="12700">
            <a:solidFill>
              <a:srgbClr val="2E75B6"/>
            </a:solidFill>
            <a:prstDash val="solid"/>
          </a:ln>
        </p:spPr>
      </p:sp>
      <p:sp>
        <p:nvSpPr>
          <p:cNvPr id="25" name="Text 22"/>
          <p:cNvSpPr/>
          <p:nvPr/>
        </p:nvSpPr>
        <p:spPr>
          <a:xfrm>
            <a:off x="534924" y="3493008"/>
            <a:ext cx="1325880" cy="310896"/>
          </a:xfrm>
          <a:prstGeom prst="roundRect">
            <a:avLst>
              <a:gd name="adj" fmla="val 50000"/>
            </a:avLst>
          </a:prstGeom>
          <a:solidFill>
            <a:srgbClr val="EEF2F8"/>
          </a:solidFill>
          <a:ln w="15875">
            <a:solidFill>
              <a:srgbClr val="2E75B6"/>
            </a:solidFill>
            <a:prstDash val="dash"/>
          </a:ln>
        </p:spPr>
        <p:txBody>
          <a:bodyPr wrap="square" lIns="0" tIns="0" rIns="0" bIns="0" rtlCol="0" anchor="ctr"/>
          <a:lstStyle/>
          <a:p>
            <a:pPr algn="ctr" indent="0" marL="0">
              <a:buNone/>
            </a:pPr>
            <a:r>
              <a:rPr lang="en-US" sz="1000" dirty="0">
                <a:solidFill>
                  <a:schemeClr val="tx1"/>
                </a:solidFill>
              </a:rPr>
              <a:t>déclarer un sinistre</a:t>
            </a:r>
            <a:endParaRPr lang="en-US" sz="1000" dirty="0"/>
          </a:p>
        </p:txBody>
      </p:sp>
      <p:sp>
        <p:nvSpPr>
          <p:cNvPr id="26" name="Shape 23"/>
          <p:cNvSpPr/>
          <p:nvPr/>
        </p:nvSpPr>
        <p:spPr>
          <a:xfrm flipH="1">
            <a:off x="3351276" y="4023360"/>
            <a:ext cx="228600" cy="0"/>
          </a:xfrm>
          <a:prstGeom prst="line">
            <a:avLst/>
          </a:prstGeom>
          <a:noFill/>
          <a:ln w="12700">
            <a:solidFill>
              <a:srgbClr val="2E75B6"/>
            </a:solidFill>
            <a:prstDash val="solid"/>
          </a:ln>
        </p:spPr>
      </p:sp>
      <p:sp>
        <p:nvSpPr>
          <p:cNvPr id="27" name="Text 24"/>
          <p:cNvSpPr/>
          <p:nvPr/>
        </p:nvSpPr>
        <p:spPr>
          <a:xfrm>
            <a:off x="2025396" y="3867912"/>
            <a:ext cx="1325880" cy="310896"/>
          </a:xfrm>
          <a:prstGeom prst="roundRect">
            <a:avLst>
              <a:gd name="adj" fmla="val 50000"/>
            </a:avLst>
          </a:prstGeom>
          <a:solidFill>
            <a:srgbClr val="FFFFFF"/>
          </a:solidFill>
          <a:ln w="15875">
            <a:solidFill>
              <a:srgbClr val="2E75B6"/>
            </a:solidFill>
          </a:ln>
        </p:spPr>
        <p:txBody>
          <a:bodyPr wrap="square" lIns="0" tIns="0" rIns="0" bIns="0" rtlCol="0" anchor="ctr"/>
          <a:lstStyle/>
          <a:p>
            <a:pPr algn="ctr" indent="0" marL="0">
              <a:buNone/>
            </a:pPr>
            <a:r>
              <a:rPr lang="en-US" sz="1100" dirty="0">
                <a:solidFill>
                  <a:schemeClr val="tx1"/>
                </a:solidFill>
              </a:rPr>
              <a:t>a </a:t>
            </a:r>
            <a:r>
              <a:rPr lang="en-US" sz="1100" b="1" dirty="0">
                <a:solidFill>
                  <a:schemeClr val="tx1"/>
                </a:solidFill>
              </a:rPr>
              <a:t>report</a:t>
            </a:r>
            <a:endParaRPr lang="en-US" sz="1100" dirty="0"/>
          </a:p>
        </p:txBody>
      </p:sp>
      <p:sp>
        <p:nvSpPr>
          <p:cNvPr id="28" name="Shape 25"/>
          <p:cNvSpPr/>
          <p:nvPr/>
        </p:nvSpPr>
        <p:spPr>
          <a:xfrm flipH="1">
            <a:off x="1860804" y="4023360"/>
            <a:ext cx="164592" cy="0"/>
          </a:xfrm>
          <a:prstGeom prst="line">
            <a:avLst/>
          </a:prstGeom>
          <a:noFill/>
          <a:ln w="12700">
            <a:solidFill>
              <a:srgbClr val="2E75B6"/>
            </a:solidFill>
            <a:prstDash val="solid"/>
          </a:ln>
        </p:spPr>
      </p:sp>
      <p:sp>
        <p:nvSpPr>
          <p:cNvPr id="29" name="Text 26"/>
          <p:cNvSpPr/>
          <p:nvPr/>
        </p:nvSpPr>
        <p:spPr>
          <a:xfrm>
            <a:off x="534924" y="3867912"/>
            <a:ext cx="1325880" cy="310896"/>
          </a:xfrm>
          <a:prstGeom prst="roundRect">
            <a:avLst>
              <a:gd name="adj" fmla="val 50000"/>
            </a:avLst>
          </a:prstGeom>
          <a:solidFill>
            <a:srgbClr val="EEF2F8"/>
          </a:solidFill>
          <a:ln w="15875">
            <a:solidFill>
              <a:srgbClr val="2E75B6"/>
            </a:solidFill>
            <a:prstDash val="dash"/>
          </a:ln>
        </p:spPr>
        <p:txBody>
          <a:bodyPr wrap="square" lIns="0" tIns="0" rIns="0" bIns="0" rtlCol="0" anchor="ctr"/>
          <a:lstStyle/>
          <a:p>
            <a:pPr algn="ctr" indent="0" marL="0">
              <a:buNone/>
            </a:pPr>
            <a:r>
              <a:rPr lang="en-US" sz="1000" dirty="0">
                <a:solidFill>
                  <a:schemeClr val="tx1"/>
                </a:solidFill>
              </a:rPr>
              <a:t>déposer un rapport</a:t>
            </a:r>
            <a:endParaRPr lang="en-US" sz="1000" dirty="0"/>
          </a:p>
        </p:txBody>
      </p:sp>
      <p:sp>
        <p:nvSpPr>
          <p:cNvPr id="30" name="Shape 27"/>
          <p:cNvSpPr/>
          <p:nvPr/>
        </p:nvSpPr>
        <p:spPr>
          <a:xfrm flipH="1">
            <a:off x="3351276" y="4023360"/>
            <a:ext cx="228600" cy="374904"/>
          </a:xfrm>
          <a:prstGeom prst="line">
            <a:avLst/>
          </a:prstGeom>
          <a:noFill/>
          <a:ln w="12700">
            <a:solidFill>
              <a:srgbClr val="2E75B6"/>
            </a:solidFill>
            <a:prstDash val="solid"/>
          </a:ln>
        </p:spPr>
      </p:sp>
      <p:sp>
        <p:nvSpPr>
          <p:cNvPr id="31" name="Text 28"/>
          <p:cNvSpPr/>
          <p:nvPr/>
        </p:nvSpPr>
        <p:spPr>
          <a:xfrm>
            <a:off x="2025396" y="4242816"/>
            <a:ext cx="1325880" cy="310896"/>
          </a:xfrm>
          <a:prstGeom prst="roundRect">
            <a:avLst>
              <a:gd name="adj" fmla="val 50000"/>
            </a:avLst>
          </a:prstGeom>
          <a:solidFill>
            <a:srgbClr val="FFFFFF"/>
          </a:solidFill>
          <a:ln w="15875">
            <a:solidFill>
              <a:srgbClr val="2E75B6"/>
            </a:solidFill>
          </a:ln>
        </p:spPr>
        <p:txBody>
          <a:bodyPr wrap="square" lIns="0" tIns="0" rIns="0" bIns="0" rtlCol="0" anchor="ctr"/>
          <a:lstStyle/>
          <a:p>
            <a:pPr algn="ctr" indent="0" marL="0">
              <a:buNone/>
            </a:pPr>
            <a:r>
              <a:rPr lang="en-US" sz="1100" dirty="0">
                <a:solidFill>
                  <a:schemeClr val="tx1"/>
                </a:solidFill>
              </a:rPr>
              <a:t>a </a:t>
            </a:r>
            <a:r>
              <a:rPr lang="en-US" sz="1100" b="1" dirty="0">
                <a:solidFill>
                  <a:schemeClr val="tx1"/>
                </a:solidFill>
              </a:rPr>
              <a:t>complaint</a:t>
            </a:r>
            <a:endParaRPr lang="en-US" sz="1100" dirty="0"/>
          </a:p>
        </p:txBody>
      </p:sp>
      <p:sp>
        <p:nvSpPr>
          <p:cNvPr id="32" name="Shape 29"/>
          <p:cNvSpPr/>
          <p:nvPr/>
        </p:nvSpPr>
        <p:spPr>
          <a:xfrm flipH="1">
            <a:off x="1860804" y="4398264"/>
            <a:ext cx="164592" cy="0"/>
          </a:xfrm>
          <a:prstGeom prst="line">
            <a:avLst/>
          </a:prstGeom>
          <a:noFill/>
          <a:ln w="12700">
            <a:solidFill>
              <a:srgbClr val="2E75B6"/>
            </a:solidFill>
            <a:prstDash val="solid"/>
          </a:ln>
        </p:spPr>
      </p:sp>
      <p:sp>
        <p:nvSpPr>
          <p:cNvPr id="33" name="Text 30"/>
          <p:cNvSpPr/>
          <p:nvPr/>
        </p:nvSpPr>
        <p:spPr>
          <a:xfrm>
            <a:off x="534924" y="4242816"/>
            <a:ext cx="1325880" cy="310896"/>
          </a:xfrm>
          <a:prstGeom prst="roundRect">
            <a:avLst>
              <a:gd name="adj" fmla="val 50000"/>
            </a:avLst>
          </a:prstGeom>
          <a:solidFill>
            <a:srgbClr val="EEF2F8"/>
          </a:solidFill>
          <a:ln w="15875">
            <a:solidFill>
              <a:srgbClr val="2E75B6"/>
            </a:solidFill>
            <a:prstDash val="dash"/>
          </a:ln>
        </p:spPr>
        <p:txBody>
          <a:bodyPr wrap="square" lIns="0" tIns="0" rIns="0" bIns="0" rtlCol="0" anchor="ctr"/>
          <a:lstStyle/>
          <a:p>
            <a:pPr algn="ctr" indent="0" marL="0">
              <a:buNone/>
            </a:pPr>
            <a:r>
              <a:rPr lang="en-US" sz="1100" dirty="0">
                <a:solidFill>
                  <a:schemeClr val="tx1"/>
                </a:solidFill>
              </a:rPr>
              <a:t>porter plainte</a:t>
            </a:r>
            <a:endParaRPr lang="en-US" sz="1100" dirty="0"/>
          </a:p>
        </p:txBody>
      </p:sp>
      <p:sp>
        <p:nvSpPr>
          <p:cNvPr id="34" name="Shape 31"/>
          <p:cNvSpPr/>
          <p:nvPr/>
        </p:nvSpPr>
        <p:spPr>
          <a:xfrm flipH="1">
            <a:off x="5180076" y="4702790"/>
            <a:ext cx="536939" cy="966490"/>
          </a:xfrm>
          <a:prstGeom prst="line">
            <a:avLst/>
          </a:prstGeom>
          <a:noFill/>
          <a:ln w="28575">
            <a:solidFill>
              <a:srgbClr val="C0752A"/>
            </a:solidFill>
            <a:prstDash val="solid"/>
          </a:ln>
        </p:spPr>
      </p:sp>
      <p:sp>
        <p:nvSpPr>
          <p:cNvPr id="35" name="Text 32"/>
          <p:cNvSpPr/>
          <p:nvPr/>
        </p:nvSpPr>
        <p:spPr>
          <a:xfrm>
            <a:off x="3579876" y="5468112"/>
            <a:ext cx="1600200" cy="402336"/>
          </a:xfrm>
          <a:prstGeom prst="roundRect">
            <a:avLst>
              <a:gd name="adj" fmla="val 50000"/>
            </a:avLst>
          </a:prstGeom>
          <a:solidFill>
            <a:srgbClr val="C0752A"/>
          </a:solidFill>
          <a:ln/>
        </p:spPr>
        <p:txBody>
          <a:bodyPr wrap="square" lIns="0" tIns="0" rIns="0" bIns="0" rtlCol="0" anchor="ctr"/>
          <a:lstStyle/>
          <a:p>
            <a:pPr algn="ctr" indent="0" marL="0">
              <a:buNone/>
            </a:pPr>
            <a:r>
              <a:rPr lang="en-US" sz="1200" b="1" dirty="0">
                <a:solidFill>
                  <a:schemeClr val="bg1"/>
                </a:solidFill>
              </a:rPr>
              <a:t>ASSESS</a:t>
            </a:r>
            <a:endParaRPr lang="en-US" sz="1200" dirty="0"/>
          </a:p>
        </p:txBody>
      </p:sp>
      <p:sp>
        <p:nvSpPr>
          <p:cNvPr id="36" name="Shape 33"/>
          <p:cNvSpPr/>
          <p:nvPr/>
        </p:nvSpPr>
        <p:spPr>
          <a:xfrm flipH="1" flipV="1">
            <a:off x="3351276" y="5294376"/>
            <a:ext cx="228600" cy="374904"/>
          </a:xfrm>
          <a:prstGeom prst="line">
            <a:avLst/>
          </a:prstGeom>
          <a:noFill/>
          <a:ln w="12700">
            <a:solidFill>
              <a:srgbClr val="C0752A"/>
            </a:solidFill>
            <a:prstDash val="solid"/>
          </a:ln>
        </p:spPr>
      </p:sp>
      <p:sp>
        <p:nvSpPr>
          <p:cNvPr id="37" name="Text 34"/>
          <p:cNvSpPr/>
          <p:nvPr/>
        </p:nvSpPr>
        <p:spPr>
          <a:xfrm>
            <a:off x="2025396" y="5138928"/>
            <a:ext cx="1325880" cy="310896"/>
          </a:xfrm>
          <a:prstGeom prst="roundRect">
            <a:avLst>
              <a:gd name="adj" fmla="val 50000"/>
            </a:avLst>
          </a:prstGeom>
          <a:solidFill>
            <a:srgbClr val="FFFFFF"/>
          </a:solidFill>
          <a:ln w="15875">
            <a:solidFill>
              <a:srgbClr val="C0752A"/>
            </a:solidFill>
          </a:ln>
        </p:spPr>
        <p:txBody>
          <a:bodyPr wrap="square" lIns="0" tIns="0" rIns="0" bIns="0" rtlCol="0" anchor="ctr"/>
          <a:lstStyle/>
          <a:p>
            <a:pPr algn="ctr" indent="0" marL="0">
              <a:buNone/>
            </a:pPr>
            <a:r>
              <a:rPr lang="en-US" sz="1100" dirty="0">
                <a:solidFill>
                  <a:schemeClr val="tx1"/>
                </a:solidFill>
              </a:rPr>
              <a:t>the </a:t>
            </a:r>
            <a:r>
              <a:rPr lang="en-US" sz="1100" b="1" dirty="0">
                <a:solidFill>
                  <a:schemeClr val="tx1"/>
                </a:solidFill>
              </a:rPr>
              <a:t>damage</a:t>
            </a:r>
            <a:endParaRPr lang="en-US" sz="1100" dirty="0"/>
          </a:p>
        </p:txBody>
      </p:sp>
      <p:sp>
        <p:nvSpPr>
          <p:cNvPr id="38" name="Shape 35"/>
          <p:cNvSpPr/>
          <p:nvPr/>
        </p:nvSpPr>
        <p:spPr>
          <a:xfrm flipH="1">
            <a:off x="1860804" y="5294376"/>
            <a:ext cx="164592" cy="0"/>
          </a:xfrm>
          <a:prstGeom prst="line">
            <a:avLst/>
          </a:prstGeom>
          <a:noFill/>
          <a:ln w="12700">
            <a:solidFill>
              <a:srgbClr val="C0752A"/>
            </a:solidFill>
            <a:prstDash val="solid"/>
          </a:ln>
        </p:spPr>
      </p:sp>
      <p:sp>
        <p:nvSpPr>
          <p:cNvPr id="39" name="Text 36"/>
          <p:cNvSpPr/>
          <p:nvPr/>
        </p:nvSpPr>
        <p:spPr>
          <a:xfrm>
            <a:off x="534924" y="5138928"/>
            <a:ext cx="1325880" cy="310896"/>
          </a:xfrm>
          <a:prstGeom prst="roundRect">
            <a:avLst>
              <a:gd name="adj" fmla="val 50000"/>
            </a:avLst>
          </a:prstGeom>
          <a:solidFill>
            <a:srgbClr val="EEF2F8"/>
          </a:solidFill>
          <a:ln w="15875">
            <a:solidFill>
              <a:srgbClr val="C0752A"/>
            </a:solidFill>
            <a:prstDash val="dash"/>
          </a:ln>
        </p:spPr>
        <p:txBody>
          <a:bodyPr wrap="square" lIns="0" tIns="0" rIns="0" bIns="0" rtlCol="0" anchor="ctr"/>
          <a:lstStyle/>
          <a:p>
            <a:pPr algn="ctr" indent="0" marL="0">
              <a:buNone/>
            </a:pPr>
            <a:r>
              <a:rPr lang="en-US" sz="1000" dirty="0">
                <a:solidFill>
                  <a:schemeClr val="tx1"/>
                </a:solidFill>
              </a:rPr>
              <a:t>évaluer les dégâts</a:t>
            </a:r>
            <a:endParaRPr lang="en-US" sz="1000" dirty="0"/>
          </a:p>
        </p:txBody>
      </p:sp>
      <p:sp>
        <p:nvSpPr>
          <p:cNvPr id="40" name="Shape 37"/>
          <p:cNvSpPr/>
          <p:nvPr/>
        </p:nvSpPr>
        <p:spPr>
          <a:xfrm flipH="1">
            <a:off x="3351276" y="5669280"/>
            <a:ext cx="228600" cy="0"/>
          </a:xfrm>
          <a:prstGeom prst="line">
            <a:avLst/>
          </a:prstGeom>
          <a:noFill/>
          <a:ln w="12700">
            <a:solidFill>
              <a:srgbClr val="C0752A"/>
            </a:solidFill>
            <a:prstDash val="solid"/>
          </a:ln>
        </p:spPr>
      </p:sp>
      <p:sp>
        <p:nvSpPr>
          <p:cNvPr id="41" name="Text 38"/>
          <p:cNvSpPr/>
          <p:nvPr/>
        </p:nvSpPr>
        <p:spPr>
          <a:xfrm>
            <a:off x="2025396" y="5513832"/>
            <a:ext cx="1325880" cy="310896"/>
          </a:xfrm>
          <a:prstGeom prst="roundRect">
            <a:avLst>
              <a:gd name="adj" fmla="val 50000"/>
            </a:avLst>
          </a:prstGeom>
          <a:solidFill>
            <a:srgbClr val="FFFFFF"/>
          </a:solidFill>
          <a:ln w="15875">
            <a:solidFill>
              <a:srgbClr val="C0752A"/>
            </a:solidFill>
          </a:ln>
        </p:spPr>
        <p:txBody>
          <a:bodyPr wrap="square" lIns="0" tIns="0" rIns="0" bIns="0" rtlCol="0" anchor="ctr"/>
          <a:lstStyle/>
          <a:p>
            <a:pPr algn="ctr" indent="0" marL="0">
              <a:buNone/>
            </a:pPr>
            <a:r>
              <a:rPr lang="en-US" sz="1100" dirty="0">
                <a:solidFill>
                  <a:schemeClr val="tx1"/>
                </a:solidFill>
              </a:rPr>
              <a:t>the </a:t>
            </a:r>
            <a:r>
              <a:rPr lang="en-US" sz="1100" b="1" dirty="0">
                <a:solidFill>
                  <a:schemeClr val="tx1"/>
                </a:solidFill>
              </a:rPr>
              <a:t>risk</a:t>
            </a:r>
            <a:endParaRPr lang="en-US" sz="1100" dirty="0"/>
          </a:p>
        </p:txBody>
      </p:sp>
      <p:sp>
        <p:nvSpPr>
          <p:cNvPr id="42" name="Shape 39"/>
          <p:cNvSpPr/>
          <p:nvPr/>
        </p:nvSpPr>
        <p:spPr>
          <a:xfrm flipH="1">
            <a:off x="1860804" y="5669280"/>
            <a:ext cx="164592" cy="0"/>
          </a:xfrm>
          <a:prstGeom prst="line">
            <a:avLst/>
          </a:prstGeom>
          <a:noFill/>
          <a:ln w="12700">
            <a:solidFill>
              <a:srgbClr val="C0752A"/>
            </a:solidFill>
            <a:prstDash val="solid"/>
          </a:ln>
        </p:spPr>
      </p:sp>
      <p:sp>
        <p:nvSpPr>
          <p:cNvPr id="43" name="Text 40"/>
          <p:cNvSpPr/>
          <p:nvPr/>
        </p:nvSpPr>
        <p:spPr>
          <a:xfrm>
            <a:off x="534924" y="5513832"/>
            <a:ext cx="1325880" cy="310896"/>
          </a:xfrm>
          <a:prstGeom prst="roundRect">
            <a:avLst>
              <a:gd name="adj" fmla="val 50000"/>
            </a:avLst>
          </a:prstGeom>
          <a:solidFill>
            <a:srgbClr val="EEF2F8"/>
          </a:solidFill>
          <a:ln w="15875">
            <a:solidFill>
              <a:srgbClr val="C0752A"/>
            </a:solidFill>
            <a:prstDash val="dash"/>
          </a:ln>
        </p:spPr>
        <p:txBody>
          <a:bodyPr wrap="square" lIns="0" tIns="0" rIns="0" bIns="0" rtlCol="0" anchor="ctr"/>
          <a:lstStyle/>
          <a:p>
            <a:pPr algn="ctr" indent="0" marL="0">
              <a:buNone/>
            </a:pPr>
            <a:r>
              <a:rPr lang="en-US" sz="1100" dirty="0">
                <a:solidFill>
                  <a:schemeClr val="tx1"/>
                </a:solidFill>
              </a:rPr>
              <a:t>évaluer le risque</a:t>
            </a:r>
            <a:endParaRPr lang="en-US" sz="1100" dirty="0"/>
          </a:p>
        </p:txBody>
      </p:sp>
      <p:sp>
        <p:nvSpPr>
          <p:cNvPr id="44" name="Shape 41"/>
          <p:cNvSpPr/>
          <p:nvPr/>
        </p:nvSpPr>
        <p:spPr>
          <a:xfrm flipH="1">
            <a:off x="3351276" y="5669280"/>
            <a:ext cx="228600" cy="374904"/>
          </a:xfrm>
          <a:prstGeom prst="line">
            <a:avLst/>
          </a:prstGeom>
          <a:noFill/>
          <a:ln w="12700">
            <a:solidFill>
              <a:srgbClr val="C0752A"/>
            </a:solidFill>
            <a:prstDash val="solid"/>
          </a:ln>
        </p:spPr>
      </p:sp>
      <p:sp>
        <p:nvSpPr>
          <p:cNvPr id="45" name="Text 42"/>
          <p:cNvSpPr/>
          <p:nvPr/>
        </p:nvSpPr>
        <p:spPr>
          <a:xfrm>
            <a:off x="2025396" y="5888736"/>
            <a:ext cx="1325880" cy="310896"/>
          </a:xfrm>
          <a:prstGeom prst="roundRect">
            <a:avLst>
              <a:gd name="adj" fmla="val 50000"/>
            </a:avLst>
          </a:prstGeom>
          <a:solidFill>
            <a:srgbClr val="FFFFFF"/>
          </a:solidFill>
          <a:ln w="15875">
            <a:solidFill>
              <a:srgbClr val="C0752A"/>
            </a:solidFill>
          </a:ln>
        </p:spPr>
        <p:txBody>
          <a:bodyPr wrap="square" lIns="0" tIns="0" rIns="0" bIns="0" rtlCol="0" anchor="ctr"/>
          <a:lstStyle/>
          <a:p>
            <a:pPr algn="ctr" indent="0" marL="0">
              <a:buNone/>
            </a:pPr>
            <a:r>
              <a:rPr lang="en-US" sz="1100" dirty="0">
                <a:solidFill>
                  <a:schemeClr val="tx1"/>
                </a:solidFill>
              </a:rPr>
              <a:t>the </a:t>
            </a:r>
            <a:r>
              <a:rPr lang="en-US" sz="1100" b="1" dirty="0">
                <a:solidFill>
                  <a:schemeClr val="tx1"/>
                </a:solidFill>
              </a:rPr>
              <a:t>cost</a:t>
            </a:r>
            <a:endParaRPr lang="en-US" sz="1100" dirty="0"/>
          </a:p>
        </p:txBody>
      </p:sp>
      <p:sp>
        <p:nvSpPr>
          <p:cNvPr id="46" name="Shape 43"/>
          <p:cNvSpPr/>
          <p:nvPr/>
        </p:nvSpPr>
        <p:spPr>
          <a:xfrm flipH="1">
            <a:off x="1860804" y="6044184"/>
            <a:ext cx="164592" cy="0"/>
          </a:xfrm>
          <a:prstGeom prst="line">
            <a:avLst/>
          </a:prstGeom>
          <a:noFill/>
          <a:ln w="12700">
            <a:solidFill>
              <a:srgbClr val="C0752A"/>
            </a:solidFill>
            <a:prstDash val="solid"/>
          </a:ln>
        </p:spPr>
      </p:sp>
      <p:sp>
        <p:nvSpPr>
          <p:cNvPr id="47" name="Text 44"/>
          <p:cNvSpPr/>
          <p:nvPr/>
        </p:nvSpPr>
        <p:spPr>
          <a:xfrm>
            <a:off x="534924" y="5888736"/>
            <a:ext cx="1325880" cy="310896"/>
          </a:xfrm>
          <a:prstGeom prst="roundRect">
            <a:avLst>
              <a:gd name="adj" fmla="val 50000"/>
            </a:avLst>
          </a:prstGeom>
          <a:solidFill>
            <a:srgbClr val="EEF2F8"/>
          </a:solidFill>
          <a:ln w="15875">
            <a:solidFill>
              <a:srgbClr val="C0752A"/>
            </a:solidFill>
            <a:prstDash val="dash"/>
          </a:ln>
        </p:spPr>
        <p:txBody>
          <a:bodyPr wrap="square" lIns="0" tIns="0" rIns="0" bIns="0" rtlCol="0" anchor="ctr"/>
          <a:lstStyle/>
          <a:p>
            <a:pPr algn="ctr" indent="0" marL="0">
              <a:buNone/>
            </a:pPr>
            <a:r>
              <a:rPr lang="en-US" sz="1100" dirty="0">
                <a:solidFill>
                  <a:schemeClr val="tx1"/>
                </a:solidFill>
              </a:rPr>
              <a:t>estimer le coût</a:t>
            </a:r>
            <a:endParaRPr lang="en-US" sz="1100" dirty="0"/>
          </a:p>
        </p:txBody>
      </p:sp>
      <p:sp>
        <p:nvSpPr>
          <p:cNvPr id="48" name="Shape 45"/>
          <p:cNvSpPr/>
          <p:nvPr/>
        </p:nvSpPr>
        <p:spPr>
          <a:xfrm flipV="1">
            <a:off x="6471937" y="2377440"/>
            <a:ext cx="536939" cy="966490"/>
          </a:xfrm>
          <a:prstGeom prst="line">
            <a:avLst/>
          </a:prstGeom>
          <a:noFill/>
          <a:ln w="28575">
            <a:solidFill>
              <a:srgbClr val="3C7A3C"/>
            </a:solidFill>
            <a:prstDash val="solid"/>
          </a:ln>
        </p:spPr>
      </p:sp>
      <p:sp>
        <p:nvSpPr>
          <p:cNvPr id="49" name="Text 46"/>
          <p:cNvSpPr/>
          <p:nvPr/>
        </p:nvSpPr>
        <p:spPr>
          <a:xfrm>
            <a:off x="7008876" y="2176272"/>
            <a:ext cx="1600200" cy="402336"/>
          </a:xfrm>
          <a:prstGeom prst="roundRect">
            <a:avLst>
              <a:gd name="adj" fmla="val 50000"/>
            </a:avLst>
          </a:prstGeom>
          <a:solidFill>
            <a:srgbClr val="3C7A3C"/>
          </a:solidFill>
          <a:ln/>
        </p:spPr>
        <p:txBody>
          <a:bodyPr wrap="square" lIns="0" tIns="0" rIns="0" bIns="0" rtlCol="0" anchor="ctr"/>
          <a:lstStyle/>
          <a:p>
            <a:pPr algn="ctr" indent="0" marL="0">
              <a:buNone/>
            </a:pPr>
            <a:r>
              <a:rPr lang="en-US" sz="1200" b="1" dirty="0">
                <a:solidFill>
                  <a:schemeClr val="bg1"/>
                </a:solidFill>
              </a:rPr>
              <a:t>TAKE</a:t>
            </a:r>
            <a:endParaRPr lang="en-US" sz="1200" dirty="0"/>
          </a:p>
        </p:txBody>
      </p:sp>
      <p:sp>
        <p:nvSpPr>
          <p:cNvPr id="50" name="Shape 47"/>
          <p:cNvSpPr/>
          <p:nvPr/>
        </p:nvSpPr>
        <p:spPr>
          <a:xfrm flipV="1">
            <a:off x="8609076" y="2002536"/>
            <a:ext cx="228600" cy="374904"/>
          </a:xfrm>
          <a:prstGeom prst="line">
            <a:avLst/>
          </a:prstGeom>
          <a:noFill/>
          <a:ln w="12700">
            <a:solidFill>
              <a:srgbClr val="3C7A3C"/>
            </a:solidFill>
            <a:prstDash val="solid"/>
          </a:ln>
        </p:spPr>
      </p:sp>
      <p:sp>
        <p:nvSpPr>
          <p:cNvPr id="51" name="Text 48"/>
          <p:cNvSpPr/>
          <p:nvPr/>
        </p:nvSpPr>
        <p:spPr>
          <a:xfrm>
            <a:off x="8837676" y="1847088"/>
            <a:ext cx="1325880" cy="310896"/>
          </a:xfrm>
          <a:prstGeom prst="roundRect">
            <a:avLst>
              <a:gd name="adj" fmla="val 50000"/>
            </a:avLst>
          </a:prstGeom>
          <a:solidFill>
            <a:srgbClr val="FFFFFF"/>
          </a:solidFill>
          <a:ln w="15875">
            <a:solidFill>
              <a:srgbClr val="3C7A3C"/>
            </a:solidFill>
          </a:ln>
        </p:spPr>
        <p:txBody>
          <a:bodyPr wrap="square" lIns="0" tIns="0" rIns="0" bIns="0" rtlCol="0" anchor="ctr"/>
          <a:lstStyle/>
          <a:p>
            <a:pPr algn="ctr" indent="0" marL="0">
              <a:buNone/>
            </a:pPr>
            <a:r>
              <a:rPr lang="en-US" sz="1100" b="1" dirty="0">
                <a:solidFill>
                  <a:schemeClr val="tx1"/>
                </a:solidFill>
              </a:rPr>
              <a:t>steps</a:t>
            </a:r>
            <a:endParaRPr lang="en-US" sz="1100" dirty="0"/>
          </a:p>
        </p:txBody>
      </p:sp>
      <p:sp>
        <p:nvSpPr>
          <p:cNvPr id="52" name="Shape 49"/>
          <p:cNvSpPr/>
          <p:nvPr/>
        </p:nvSpPr>
        <p:spPr>
          <a:xfrm>
            <a:off x="10163556" y="2002536"/>
            <a:ext cx="164592" cy="0"/>
          </a:xfrm>
          <a:prstGeom prst="line">
            <a:avLst/>
          </a:prstGeom>
          <a:noFill/>
          <a:ln w="12700">
            <a:solidFill>
              <a:srgbClr val="3C7A3C"/>
            </a:solidFill>
            <a:prstDash val="solid"/>
          </a:ln>
        </p:spPr>
      </p:sp>
      <p:sp>
        <p:nvSpPr>
          <p:cNvPr id="53" name="Text 50"/>
          <p:cNvSpPr/>
          <p:nvPr/>
        </p:nvSpPr>
        <p:spPr>
          <a:xfrm>
            <a:off x="10328148" y="1847088"/>
            <a:ext cx="1325880" cy="310896"/>
          </a:xfrm>
          <a:prstGeom prst="roundRect">
            <a:avLst>
              <a:gd name="adj" fmla="val 50000"/>
            </a:avLst>
          </a:prstGeom>
          <a:solidFill>
            <a:srgbClr val="EEF2F8"/>
          </a:solidFill>
          <a:ln w="15875">
            <a:solidFill>
              <a:srgbClr val="3C7A3C"/>
            </a:solidFill>
            <a:prstDash val="dash"/>
          </a:ln>
        </p:spPr>
        <p:txBody>
          <a:bodyPr wrap="square" lIns="0" tIns="0" rIns="0" bIns="0" rtlCol="0" anchor="ctr"/>
          <a:lstStyle/>
          <a:p>
            <a:pPr algn="ctr" indent="0" marL="0">
              <a:buNone/>
            </a:pPr>
            <a:r>
              <a:rPr lang="en-US" sz="1000" dirty="0">
                <a:solidFill>
                  <a:schemeClr val="tx1"/>
                </a:solidFill>
              </a:rPr>
              <a:t>prendre des mesures</a:t>
            </a:r>
            <a:endParaRPr lang="en-US" sz="1000" dirty="0"/>
          </a:p>
        </p:txBody>
      </p:sp>
      <p:sp>
        <p:nvSpPr>
          <p:cNvPr id="54" name="Shape 51"/>
          <p:cNvSpPr/>
          <p:nvPr/>
        </p:nvSpPr>
        <p:spPr>
          <a:xfrm>
            <a:off x="8609076" y="2377440"/>
            <a:ext cx="228600" cy="0"/>
          </a:xfrm>
          <a:prstGeom prst="line">
            <a:avLst/>
          </a:prstGeom>
          <a:noFill/>
          <a:ln w="12700">
            <a:solidFill>
              <a:srgbClr val="3C7A3C"/>
            </a:solidFill>
            <a:prstDash val="solid"/>
          </a:ln>
        </p:spPr>
      </p:sp>
      <p:sp>
        <p:nvSpPr>
          <p:cNvPr id="55" name="Text 52"/>
          <p:cNvSpPr/>
          <p:nvPr/>
        </p:nvSpPr>
        <p:spPr>
          <a:xfrm>
            <a:off x="8837676" y="2221992"/>
            <a:ext cx="1325880" cy="310896"/>
          </a:xfrm>
          <a:prstGeom prst="roundRect">
            <a:avLst>
              <a:gd name="adj" fmla="val 50000"/>
            </a:avLst>
          </a:prstGeom>
          <a:solidFill>
            <a:srgbClr val="FFFFFF"/>
          </a:solidFill>
          <a:ln w="15875">
            <a:solidFill>
              <a:srgbClr val="3C7A3C"/>
            </a:solidFill>
          </a:ln>
        </p:spPr>
        <p:txBody>
          <a:bodyPr wrap="square" lIns="0" tIns="0" rIns="0" bIns="0" rtlCol="0" anchor="ctr"/>
          <a:lstStyle/>
          <a:p>
            <a:pPr algn="ctr" indent="0" marL="0">
              <a:buNone/>
            </a:pPr>
            <a:r>
              <a:rPr lang="en-US" sz="1100" b="1" dirty="0">
                <a:solidFill>
                  <a:schemeClr val="tx1"/>
                </a:solidFill>
              </a:rPr>
              <a:t>photos</a:t>
            </a:r>
            <a:endParaRPr lang="en-US" sz="1100" dirty="0"/>
          </a:p>
        </p:txBody>
      </p:sp>
      <p:sp>
        <p:nvSpPr>
          <p:cNvPr id="56" name="Shape 53"/>
          <p:cNvSpPr/>
          <p:nvPr/>
        </p:nvSpPr>
        <p:spPr>
          <a:xfrm>
            <a:off x="10163556" y="2377440"/>
            <a:ext cx="164592" cy="0"/>
          </a:xfrm>
          <a:prstGeom prst="line">
            <a:avLst/>
          </a:prstGeom>
          <a:noFill/>
          <a:ln w="12700">
            <a:solidFill>
              <a:srgbClr val="3C7A3C"/>
            </a:solidFill>
            <a:prstDash val="solid"/>
          </a:ln>
        </p:spPr>
      </p:sp>
      <p:sp>
        <p:nvSpPr>
          <p:cNvPr id="57" name="Text 54"/>
          <p:cNvSpPr/>
          <p:nvPr/>
        </p:nvSpPr>
        <p:spPr>
          <a:xfrm>
            <a:off x="10328148" y="2221992"/>
            <a:ext cx="1325880" cy="310896"/>
          </a:xfrm>
          <a:prstGeom prst="roundRect">
            <a:avLst>
              <a:gd name="adj" fmla="val 50000"/>
            </a:avLst>
          </a:prstGeom>
          <a:solidFill>
            <a:srgbClr val="EEF2F8"/>
          </a:solidFill>
          <a:ln w="15875">
            <a:solidFill>
              <a:srgbClr val="3C7A3C"/>
            </a:solidFill>
            <a:prstDash val="dash"/>
          </a:ln>
        </p:spPr>
        <p:txBody>
          <a:bodyPr wrap="square" lIns="0" tIns="0" rIns="0" bIns="0" rtlCol="0" anchor="ctr"/>
          <a:lstStyle/>
          <a:p>
            <a:pPr algn="ctr" indent="0" marL="0">
              <a:buNone/>
            </a:pPr>
            <a:r>
              <a:rPr lang="en-US" sz="1000" dirty="0">
                <a:solidFill>
                  <a:schemeClr val="tx1"/>
                </a:solidFill>
              </a:rPr>
              <a:t>prendre des photos</a:t>
            </a:r>
            <a:endParaRPr lang="en-US" sz="1000" dirty="0"/>
          </a:p>
        </p:txBody>
      </p:sp>
      <p:sp>
        <p:nvSpPr>
          <p:cNvPr id="58" name="Shape 55"/>
          <p:cNvSpPr/>
          <p:nvPr/>
        </p:nvSpPr>
        <p:spPr>
          <a:xfrm>
            <a:off x="8609076" y="2377440"/>
            <a:ext cx="228600" cy="374904"/>
          </a:xfrm>
          <a:prstGeom prst="line">
            <a:avLst/>
          </a:prstGeom>
          <a:noFill/>
          <a:ln w="12700">
            <a:solidFill>
              <a:srgbClr val="3C7A3C"/>
            </a:solidFill>
            <a:prstDash val="solid"/>
          </a:ln>
        </p:spPr>
      </p:sp>
      <p:sp>
        <p:nvSpPr>
          <p:cNvPr id="59" name="Text 56"/>
          <p:cNvSpPr/>
          <p:nvPr/>
        </p:nvSpPr>
        <p:spPr>
          <a:xfrm>
            <a:off x="8837676" y="2596896"/>
            <a:ext cx="1325880" cy="310896"/>
          </a:xfrm>
          <a:prstGeom prst="roundRect">
            <a:avLst>
              <a:gd name="adj" fmla="val 50000"/>
            </a:avLst>
          </a:prstGeom>
          <a:solidFill>
            <a:srgbClr val="FFFFFF"/>
          </a:solidFill>
          <a:ln w="15875">
            <a:solidFill>
              <a:srgbClr val="3C7A3C"/>
            </a:solidFill>
          </a:ln>
        </p:spPr>
        <p:txBody>
          <a:bodyPr wrap="square" lIns="0" tIns="0" rIns="0" bIns="0" rtlCol="0" anchor="ctr"/>
          <a:lstStyle/>
          <a:p>
            <a:pPr algn="ctr" indent="0" marL="0">
              <a:buNone/>
            </a:pPr>
            <a:r>
              <a:rPr lang="en-US" sz="1100" b="1" dirty="0">
                <a:solidFill>
                  <a:schemeClr val="tx1"/>
                </a:solidFill>
              </a:rPr>
              <a:t>notes</a:t>
            </a:r>
            <a:endParaRPr lang="en-US" sz="1100" dirty="0"/>
          </a:p>
        </p:txBody>
      </p:sp>
      <p:sp>
        <p:nvSpPr>
          <p:cNvPr id="60" name="Shape 57"/>
          <p:cNvSpPr/>
          <p:nvPr/>
        </p:nvSpPr>
        <p:spPr>
          <a:xfrm>
            <a:off x="10163556" y="2752344"/>
            <a:ext cx="164592" cy="0"/>
          </a:xfrm>
          <a:prstGeom prst="line">
            <a:avLst/>
          </a:prstGeom>
          <a:noFill/>
          <a:ln w="12700">
            <a:solidFill>
              <a:srgbClr val="3C7A3C"/>
            </a:solidFill>
            <a:prstDash val="solid"/>
          </a:ln>
        </p:spPr>
      </p:sp>
      <p:sp>
        <p:nvSpPr>
          <p:cNvPr id="61" name="Text 58"/>
          <p:cNvSpPr/>
          <p:nvPr/>
        </p:nvSpPr>
        <p:spPr>
          <a:xfrm>
            <a:off x="10328148" y="2596896"/>
            <a:ext cx="1325880" cy="310896"/>
          </a:xfrm>
          <a:prstGeom prst="roundRect">
            <a:avLst>
              <a:gd name="adj" fmla="val 50000"/>
            </a:avLst>
          </a:prstGeom>
          <a:solidFill>
            <a:srgbClr val="EEF2F8"/>
          </a:solidFill>
          <a:ln w="15875">
            <a:solidFill>
              <a:srgbClr val="3C7A3C"/>
            </a:solidFill>
            <a:prstDash val="dash"/>
          </a:ln>
        </p:spPr>
        <p:txBody>
          <a:bodyPr wrap="square" lIns="0" tIns="0" rIns="0" bIns="0" rtlCol="0" anchor="ctr"/>
          <a:lstStyle/>
          <a:p>
            <a:pPr algn="ctr" indent="0" marL="0">
              <a:buNone/>
            </a:pPr>
            <a:r>
              <a:rPr lang="en-US" sz="1100" dirty="0">
                <a:solidFill>
                  <a:schemeClr val="tx1"/>
                </a:solidFill>
              </a:rPr>
              <a:t>prendre des notes</a:t>
            </a:r>
            <a:endParaRPr lang="en-US" sz="1100" dirty="0"/>
          </a:p>
        </p:txBody>
      </p:sp>
      <p:sp>
        <p:nvSpPr>
          <p:cNvPr id="62" name="Shape 59"/>
          <p:cNvSpPr/>
          <p:nvPr/>
        </p:nvSpPr>
        <p:spPr>
          <a:xfrm>
            <a:off x="6871716" y="4023360"/>
            <a:ext cx="137160" cy="0"/>
          </a:xfrm>
          <a:prstGeom prst="line">
            <a:avLst/>
          </a:prstGeom>
          <a:noFill/>
          <a:ln w="28575">
            <a:solidFill>
              <a:srgbClr val="6E4A9E"/>
            </a:solidFill>
            <a:prstDash val="solid"/>
          </a:ln>
        </p:spPr>
      </p:sp>
      <p:sp>
        <p:nvSpPr>
          <p:cNvPr id="63" name="Text 60"/>
          <p:cNvSpPr/>
          <p:nvPr/>
        </p:nvSpPr>
        <p:spPr>
          <a:xfrm>
            <a:off x="7008876" y="3822192"/>
            <a:ext cx="1600200" cy="402336"/>
          </a:xfrm>
          <a:prstGeom prst="roundRect">
            <a:avLst>
              <a:gd name="adj" fmla="val 50000"/>
            </a:avLst>
          </a:prstGeom>
          <a:solidFill>
            <a:srgbClr val="6E4A9E"/>
          </a:solidFill>
          <a:ln/>
        </p:spPr>
        <p:txBody>
          <a:bodyPr wrap="square" lIns="0" tIns="0" rIns="0" bIns="0" rtlCol="0" anchor="ctr"/>
          <a:lstStyle/>
          <a:p>
            <a:pPr algn="ctr" indent="0" marL="0">
              <a:buNone/>
            </a:pPr>
            <a:r>
              <a:rPr lang="en-US" sz="1200" b="1" dirty="0">
                <a:solidFill>
                  <a:schemeClr val="bg1"/>
                </a:solidFill>
              </a:rPr>
              <a:t>DRAW UP</a:t>
            </a:r>
            <a:endParaRPr lang="en-US" sz="1200" dirty="0"/>
          </a:p>
        </p:txBody>
      </p:sp>
      <p:sp>
        <p:nvSpPr>
          <p:cNvPr id="64" name="Shape 61"/>
          <p:cNvSpPr/>
          <p:nvPr/>
        </p:nvSpPr>
        <p:spPr>
          <a:xfrm flipV="1">
            <a:off x="8609076" y="3648456"/>
            <a:ext cx="228600" cy="374904"/>
          </a:xfrm>
          <a:prstGeom prst="line">
            <a:avLst/>
          </a:prstGeom>
          <a:noFill/>
          <a:ln w="12700">
            <a:solidFill>
              <a:srgbClr val="6E4A9E"/>
            </a:solidFill>
            <a:prstDash val="solid"/>
          </a:ln>
        </p:spPr>
      </p:sp>
      <p:sp>
        <p:nvSpPr>
          <p:cNvPr id="65" name="Text 62"/>
          <p:cNvSpPr/>
          <p:nvPr/>
        </p:nvSpPr>
        <p:spPr>
          <a:xfrm>
            <a:off x="8837676" y="3493008"/>
            <a:ext cx="1325880" cy="310896"/>
          </a:xfrm>
          <a:prstGeom prst="roundRect">
            <a:avLst>
              <a:gd name="adj" fmla="val 50000"/>
            </a:avLst>
          </a:prstGeom>
          <a:solidFill>
            <a:srgbClr val="FFFFFF"/>
          </a:solidFill>
          <a:ln w="15875">
            <a:solidFill>
              <a:srgbClr val="6E4A9E"/>
            </a:solidFill>
          </a:ln>
        </p:spPr>
        <p:txBody>
          <a:bodyPr wrap="square" lIns="0" tIns="0" rIns="0" bIns="0" rtlCol="0" anchor="ctr"/>
          <a:lstStyle/>
          <a:p>
            <a:pPr algn="ctr" indent="0" marL="0">
              <a:buNone/>
            </a:pPr>
            <a:r>
              <a:rPr lang="en-US" sz="1100" dirty="0">
                <a:solidFill>
                  <a:schemeClr val="tx1"/>
                </a:solidFill>
              </a:rPr>
              <a:t>a </a:t>
            </a:r>
            <a:r>
              <a:rPr lang="en-US" sz="1100" b="1" dirty="0">
                <a:solidFill>
                  <a:schemeClr val="tx1"/>
                </a:solidFill>
              </a:rPr>
              <a:t>report</a:t>
            </a:r>
            <a:endParaRPr lang="en-US" sz="1100" dirty="0"/>
          </a:p>
        </p:txBody>
      </p:sp>
      <p:sp>
        <p:nvSpPr>
          <p:cNvPr id="66" name="Shape 63"/>
          <p:cNvSpPr/>
          <p:nvPr/>
        </p:nvSpPr>
        <p:spPr>
          <a:xfrm>
            <a:off x="10163556" y="3648456"/>
            <a:ext cx="164592" cy="0"/>
          </a:xfrm>
          <a:prstGeom prst="line">
            <a:avLst/>
          </a:prstGeom>
          <a:noFill/>
          <a:ln w="12700">
            <a:solidFill>
              <a:srgbClr val="6E4A9E"/>
            </a:solidFill>
            <a:prstDash val="solid"/>
          </a:ln>
        </p:spPr>
      </p:sp>
      <p:sp>
        <p:nvSpPr>
          <p:cNvPr id="67" name="Text 64"/>
          <p:cNvSpPr/>
          <p:nvPr/>
        </p:nvSpPr>
        <p:spPr>
          <a:xfrm>
            <a:off x="10328148" y="3493008"/>
            <a:ext cx="1325880" cy="310896"/>
          </a:xfrm>
          <a:prstGeom prst="roundRect">
            <a:avLst>
              <a:gd name="adj" fmla="val 50000"/>
            </a:avLst>
          </a:prstGeom>
          <a:solidFill>
            <a:srgbClr val="EEF2F8"/>
          </a:solidFill>
          <a:ln w="15875">
            <a:solidFill>
              <a:srgbClr val="6E4A9E"/>
            </a:solidFill>
            <a:prstDash val="dash"/>
          </a:ln>
        </p:spPr>
        <p:txBody>
          <a:bodyPr wrap="square" lIns="0" tIns="0" rIns="0" bIns="0" rtlCol="0" anchor="ctr"/>
          <a:lstStyle/>
          <a:p>
            <a:pPr algn="ctr" indent="0" marL="0">
              <a:buNone/>
            </a:pPr>
            <a:r>
              <a:rPr lang="en-US" sz="1000" dirty="0">
                <a:solidFill>
                  <a:schemeClr val="tx1"/>
                </a:solidFill>
              </a:rPr>
              <a:t>rédiger un rapport</a:t>
            </a:r>
            <a:endParaRPr lang="en-US" sz="1000" dirty="0"/>
          </a:p>
        </p:txBody>
      </p:sp>
      <p:sp>
        <p:nvSpPr>
          <p:cNvPr id="68" name="Shape 65"/>
          <p:cNvSpPr/>
          <p:nvPr/>
        </p:nvSpPr>
        <p:spPr>
          <a:xfrm>
            <a:off x="8609076" y="4023360"/>
            <a:ext cx="228600" cy="0"/>
          </a:xfrm>
          <a:prstGeom prst="line">
            <a:avLst/>
          </a:prstGeom>
          <a:noFill/>
          <a:ln w="12700">
            <a:solidFill>
              <a:srgbClr val="6E4A9E"/>
            </a:solidFill>
            <a:prstDash val="solid"/>
          </a:ln>
        </p:spPr>
      </p:sp>
      <p:sp>
        <p:nvSpPr>
          <p:cNvPr id="69" name="Text 66"/>
          <p:cNvSpPr/>
          <p:nvPr/>
        </p:nvSpPr>
        <p:spPr>
          <a:xfrm>
            <a:off x="8837676" y="3867912"/>
            <a:ext cx="1325880" cy="310896"/>
          </a:xfrm>
          <a:prstGeom prst="roundRect">
            <a:avLst>
              <a:gd name="adj" fmla="val 50000"/>
            </a:avLst>
          </a:prstGeom>
          <a:solidFill>
            <a:srgbClr val="FFFFFF"/>
          </a:solidFill>
          <a:ln w="15875">
            <a:solidFill>
              <a:srgbClr val="6E4A9E"/>
            </a:solidFill>
          </a:ln>
        </p:spPr>
        <p:txBody>
          <a:bodyPr wrap="square" lIns="0" tIns="0" rIns="0" bIns="0" rtlCol="0" anchor="ctr"/>
          <a:lstStyle/>
          <a:p>
            <a:pPr algn="ctr" indent="0" marL="0">
              <a:buNone/>
            </a:pPr>
            <a:r>
              <a:rPr lang="en-US" sz="1100" dirty="0">
                <a:solidFill>
                  <a:schemeClr val="tx1"/>
                </a:solidFill>
              </a:rPr>
              <a:t>a </a:t>
            </a:r>
            <a:r>
              <a:rPr lang="en-US" sz="1100" b="1" dirty="0">
                <a:solidFill>
                  <a:schemeClr val="tx1"/>
                </a:solidFill>
              </a:rPr>
              <a:t>list</a:t>
            </a:r>
            <a:endParaRPr lang="en-US" sz="1100" dirty="0"/>
          </a:p>
        </p:txBody>
      </p:sp>
      <p:sp>
        <p:nvSpPr>
          <p:cNvPr id="70" name="Shape 67"/>
          <p:cNvSpPr/>
          <p:nvPr/>
        </p:nvSpPr>
        <p:spPr>
          <a:xfrm>
            <a:off x="10163556" y="4023360"/>
            <a:ext cx="164592" cy="0"/>
          </a:xfrm>
          <a:prstGeom prst="line">
            <a:avLst/>
          </a:prstGeom>
          <a:noFill/>
          <a:ln w="12700">
            <a:solidFill>
              <a:srgbClr val="6E4A9E"/>
            </a:solidFill>
            <a:prstDash val="solid"/>
          </a:ln>
        </p:spPr>
      </p:sp>
      <p:sp>
        <p:nvSpPr>
          <p:cNvPr id="71" name="Text 68"/>
          <p:cNvSpPr/>
          <p:nvPr/>
        </p:nvSpPr>
        <p:spPr>
          <a:xfrm>
            <a:off x="10328148" y="3867912"/>
            <a:ext cx="1325880" cy="310896"/>
          </a:xfrm>
          <a:prstGeom prst="roundRect">
            <a:avLst>
              <a:gd name="adj" fmla="val 50000"/>
            </a:avLst>
          </a:prstGeom>
          <a:solidFill>
            <a:srgbClr val="EEF2F8"/>
          </a:solidFill>
          <a:ln w="15875">
            <a:solidFill>
              <a:srgbClr val="6E4A9E"/>
            </a:solidFill>
            <a:prstDash val="dash"/>
          </a:ln>
        </p:spPr>
        <p:txBody>
          <a:bodyPr wrap="square" lIns="0" tIns="0" rIns="0" bIns="0" rtlCol="0" anchor="ctr"/>
          <a:lstStyle/>
          <a:p>
            <a:pPr algn="ctr" indent="0" marL="0">
              <a:buNone/>
            </a:pPr>
            <a:r>
              <a:rPr lang="en-US" sz="1100" dirty="0">
                <a:solidFill>
                  <a:schemeClr val="tx1"/>
                </a:solidFill>
              </a:rPr>
              <a:t>dresser une liste</a:t>
            </a:r>
            <a:endParaRPr lang="en-US" sz="1100" dirty="0"/>
          </a:p>
        </p:txBody>
      </p:sp>
      <p:sp>
        <p:nvSpPr>
          <p:cNvPr id="72" name="Shape 69"/>
          <p:cNvSpPr/>
          <p:nvPr/>
        </p:nvSpPr>
        <p:spPr>
          <a:xfrm>
            <a:off x="8609076" y="4023360"/>
            <a:ext cx="228600" cy="374904"/>
          </a:xfrm>
          <a:prstGeom prst="line">
            <a:avLst/>
          </a:prstGeom>
          <a:noFill/>
          <a:ln w="12700">
            <a:solidFill>
              <a:srgbClr val="6E4A9E"/>
            </a:solidFill>
            <a:prstDash val="solid"/>
          </a:ln>
        </p:spPr>
      </p:sp>
      <p:sp>
        <p:nvSpPr>
          <p:cNvPr id="73" name="Text 70"/>
          <p:cNvSpPr/>
          <p:nvPr/>
        </p:nvSpPr>
        <p:spPr>
          <a:xfrm>
            <a:off x="8837676" y="4242816"/>
            <a:ext cx="1325880" cy="310896"/>
          </a:xfrm>
          <a:prstGeom prst="roundRect">
            <a:avLst>
              <a:gd name="adj" fmla="val 50000"/>
            </a:avLst>
          </a:prstGeom>
          <a:solidFill>
            <a:srgbClr val="FFFFFF"/>
          </a:solidFill>
          <a:ln w="15875">
            <a:solidFill>
              <a:srgbClr val="6E4A9E"/>
            </a:solidFill>
          </a:ln>
        </p:spPr>
        <p:txBody>
          <a:bodyPr wrap="square" lIns="0" tIns="0" rIns="0" bIns="0" rtlCol="0" anchor="ctr"/>
          <a:lstStyle/>
          <a:p>
            <a:pPr algn="ctr" indent="0" marL="0">
              <a:buNone/>
            </a:pPr>
            <a:r>
              <a:rPr lang="en-US" sz="1100" dirty="0">
                <a:solidFill>
                  <a:schemeClr val="tx1"/>
                </a:solidFill>
              </a:rPr>
              <a:t>a </a:t>
            </a:r>
            <a:r>
              <a:rPr lang="en-US" sz="1100" b="1" dirty="0">
                <a:solidFill>
                  <a:schemeClr val="tx1"/>
                </a:solidFill>
              </a:rPr>
              <a:t>plan</a:t>
            </a:r>
            <a:endParaRPr lang="en-US" sz="1100" dirty="0"/>
          </a:p>
        </p:txBody>
      </p:sp>
      <p:sp>
        <p:nvSpPr>
          <p:cNvPr id="74" name="Shape 71"/>
          <p:cNvSpPr/>
          <p:nvPr/>
        </p:nvSpPr>
        <p:spPr>
          <a:xfrm>
            <a:off x="10163556" y="4398264"/>
            <a:ext cx="164592" cy="0"/>
          </a:xfrm>
          <a:prstGeom prst="line">
            <a:avLst/>
          </a:prstGeom>
          <a:noFill/>
          <a:ln w="12700">
            <a:solidFill>
              <a:srgbClr val="6E4A9E"/>
            </a:solidFill>
            <a:prstDash val="solid"/>
          </a:ln>
        </p:spPr>
      </p:sp>
      <p:sp>
        <p:nvSpPr>
          <p:cNvPr id="75" name="Text 72"/>
          <p:cNvSpPr/>
          <p:nvPr/>
        </p:nvSpPr>
        <p:spPr>
          <a:xfrm>
            <a:off x="10328148" y="4242816"/>
            <a:ext cx="1325880" cy="310896"/>
          </a:xfrm>
          <a:prstGeom prst="roundRect">
            <a:avLst>
              <a:gd name="adj" fmla="val 50000"/>
            </a:avLst>
          </a:prstGeom>
          <a:solidFill>
            <a:srgbClr val="EEF2F8"/>
          </a:solidFill>
          <a:ln w="15875">
            <a:solidFill>
              <a:srgbClr val="6E4A9E"/>
            </a:solidFill>
            <a:prstDash val="dash"/>
          </a:ln>
        </p:spPr>
        <p:txBody>
          <a:bodyPr wrap="square" lIns="0" tIns="0" rIns="0" bIns="0" rtlCol="0" anchor="ctr"/>
          <a:lstStyle/>
          <a:p>
            <a:pPr algn="ctr" indent="0" marL="0">
              <a:buNone/>
            </a:pPr>
            <a:r>
              <a:rPr lang="en-US" sz="1100" dirty="0">
                <a:solidFill>
                  <a:schemeClr val="tx1"/>
                </a:solidFill>
              </a:rPr>
              <a:t>établir un plan</a:t>
            </a:r>
            <a:endParaRPr lang="en-US" sz="1100" dirty="0"/>
          </a:p>
        </p:txBody>
      </p:sp>
      <p:sp>
        <p:nvSpPr>
          <p:cNvPr id="76" name="Shape 73"/>
          <p:cNvSpPr/>
          <p:nvPr/>
        </p:nvSpPr>
        <p:spPr>
          <a:xfrm>
            <a:off x="6471937" y="4702790"/>
            <a:ext cx="536939" cy="966490"/>
          </a:xfrm>
          <a:prstGeom prst="line">
            <a:avLst/>
          </a:prstGeom>
          <a:noFill/>
          <a:ln w="28575">
            <a:solidFill>
              <a:srgbClr val="B4236A"/>
            </a:solidFill>
            <a:prstDash val="solid"/>
          </a:ln>
        </p:spPr>
      </p:sp>
      <p:sp>
        <p:nvSpPr>
          <p:cNvPr id="77" name="Text 74"/>
          <p:cNvSpPr/>
          <p:nvPr/>
        </p:nvSpPr>
        <p:spPr>
          <a:xfrm>
            <a:off x="7008876" y="5468112"/>
            <a:ext cx="1600200" cy="402336"/>
          </a:xfrm>
          <a:prstGeom prst="roundRect">
            <a:avLst>
              <a:gd name="adj" fmla="val 50000"/>
            </a:avLst>
          </a:prstGeom>
          <a:solidFill>
            <a:srgbClr val="B4236A"/>
          </a:solidFill>
          <a:ln/>
        </p:spPr>
        <p:txBody>
          <a:bodyPr wrap="square" lIns="0" tIns="0" rIns="0" bIns="0" rtlCol="0" anchor="ctr"/>
          <a:lstStyle/>
          <a:p>
            <a:pPr algn="ctr" indent="0" marL="0">
              <a:buNone/>
            </a:pPr>
            <a:r>
              <a:rPr lang="en-US" sz="1200" b="1" dirty="0">
                <a:solidFill>
                  <a:schemeClr val="bg1"/>
                </a:solidFill>
              </a:rPr>
              <a:t>MEET</a:t>
            </a:r>
            <a:endParaRPr lang="en-US" sz="1200" dirty="0"/>
          </a:p>
        </p:txBody>
      </p:sp>
      <p:sp>
        <p:nvSpPr>
          <p:cNvPr id="78" name="Shape 75"/>
          <p:cNvSpPr/>
          <p:nvPr/>
        </p:nvSpPr>
        <p:spPr>
          <a:xfrm flipV="1">
            <a:off x="8609076" y="5294376"/>
            <a:ext cx="228600" cy="374904"/>
          </a:xfrm>
          <a:prstGeom prst="line">
            <a:avLst/>
          </a:prstGeom>
          <a:noFill/>
          <a:ln w="12700">
            <a:solidFill>
              <a:srgbClr val="B4236A"/>
            </a:solidFill>
            <a:prstDash val="solid"/>
          </a:ln>
        </p:spPr>
      </p:sp>
      <p:sp>
        <p:nvSpPr>
          <p:cNvPr id="79" name="Text 76"/>
          <p:cNvSpPr/>
          <p:nvPr/>
        </p:nvSpPr>
        <p:spPr>
          <a:xfrm>
            <a:off x="8837676" y="5138928"/>
            <a:ext cx="1325880" cy="310896"/>
          </a:xfrm>
          <a:prstGeom prst="roundRect">
            <a:avLst>
              <a:gd name="adj" fmla="val 50000"/>
            </a:avLst>
          </a:prstGeom>
          <a:solidFill>
            <a:srgbClr val="FFFFFF"/>
          </a:solidFill>
          <a:ln w="15875">
            <a:solidFill>
              <a:srgbClr val="B4236A"/>
            </a:solidFill>
          </a:ln>
        </p:spPr>
        <p:txBody>
          <a:bodyPr wrap="square" lIns="0" tIns="0" rIns="0" bIns="0" rtlCol="0" anchor="ctr"/>
          <a:lstStyle/>
          <a:p>
            <a:pPr algn="ctr" indent="0" marL="0">
              <a:buNone/>
            </a:pPr>
            <a:r>
              <a:rPr lang="en-US" sz="1100" dirty="0">
                <a:solidFill>
                  <a:schemeClr val="tx1"/>
                </a:solidFill>
              </a:rPr>
              <a:t>a </a:t>
            </a:r>
            <a:r>
              <a:rPr lang="en-US" sz="1100" b="1" dirty="0">
                <a:solidFill>
                  <a:schemeClr val="tx1"/>
                </a:solidFill>
              </a:rPr>
              <a:t>deadline</a:t>
            </a:r>
            <a:endParaRPr lang="en-US" sz="1100" dirty="0"/>
          </a:p>
        </p:txBody>
      </p:sp>
      <p:sp>
        <p:nvSpPr>
          <p:cNvPr id="80" name="Shape 77"/>
          <p:cNvSpPr/>
          <p:nvPr/>
        </p:nvSpPr>
        <p:spPr>
          <a:xfrm>
            <a:off x="10163556" y="5294376"/>
            <a:ext cx="164592" cy="0"/>
          </a:xfrm>
          <a:prstGeom prst="line">
            <a:avLst/>
          </a:prstGeom>
          <a:noFill/>
          <a:ln w="12700">
            <a:solidFill>
              <a:srgbClr val="B4236A"/>
            </a:solidFill>
            <a:prstDash val="solid"/>
          </a:ln>
        </p:spPr>
      </p:sp>
      <p:sp>
        <p:nvSpPr>
          <p:cNvPr id="81" name="Text 78"/>
          <p:cNvSpPr/>
          <p:nvPr/>
        </p:nvSpPr>
        <p:spPr>
          <a:xfrm>
            <a:off x="10328148" y="5138928"/>
            <a:ext cx="1325880" cy="310896"/>
          </a:xfrm>
          <a:prstGeom prst="roundRect">
            <a:avLst>
              <a:gd name="adj" fmla="val 50000"/>
            </a:avLst>
          </a:prstGeom>
          <a:solidFill>
            <a:srgbClr val="EEF2F8"/>
          </a:solidFill>
          <a:ln w="15875">
            <a:solidFill>
              <a:srgbClr val="B4236A"/>
            </a:solidFill>
            <a:prstDash val="dash"/>
          </a:ln>
        </p:spPr>
        <p:txBody>
          <a:bodyPr wrap="square" lIns="0" tIns="0" rIns="0" bIns="0" rtlCol="0" anchor="ctr"/>
          <a:lstStyle/>
          <a:p>
            <a:pPr algn="ctr" indent="0" marL="0">
              <a:buNone/>
            </a:pPr>
            <a:r>
              <a:rPr lang="en-US" sz="1000" dirty="0">
                <a:solidFill>
                  <a:schemeClr val="tx1"/>
                </a:solidFill>
              </a:rPr>
              <a:t>respecter un délai</a:t>
            </a:r>
            <a:endParaRPr lang="en-US" sz="1000" dirty="0"/>
          </a:p>
        </p:txBody>
      </p:sp>
      <p:sp>
        <p:nvSpPr>
          <p:cNvPr id="82" name="Shape 79"/>
          <p:cNvSpPr/>
          <p:nvPr/>
        </p:nvSpPr>
        <p:spPr>
          <a:xfrm>
            <a:off x="8609076" y="5669280"/>
            <a:ext cx="228600" cy="0"/>
          </a:xfrm>
          <a:prstGeom prst="line">
            <a:avLst/>
          </a:prstGeom>
          <a:noFill/>
          <a:ln w="12700">
            <a:solidFill>
              <a:srgbClr val="B4236A"/>
            </a:solidFill>
            <a:prstDash val="solid"/>
          </a:ln>
        </p:spPr>
      </p:sp>
      <p:sp>
        <p:nvSpPr>
          <p:cNvPr id="83" name="Text 80"/>
          <p:cNvSpPr/>
          <p:nvPr/>
        </p:nvSpPr>
        <p:spPr>
          <a:xfrm>
            <a:off x="8837676" y="5513832"/>
            <a:ext cx="1325880" cy="310896"/>
          </a:xfrm>
          <a:prstGeom prst="roundRect">
            <a:avLst>
              <a:gd name="adj" fmla="val 50000"/>
            </a:avLst>
          </a:prstGeom>
          <a:solidFill>
            <a:srgbClr val="FFFFFF"/>
          </a:solidFill>
          <a:ln w="15875">
            <a:solidFill>
              <a:srgbClr val="B4236A"/>
            </a:solidFill>
          </a:ln>
        </p:spPr>
        <p:txBody>
          <a:bodyPr wrap="square" lIns="0" tIns="0" rIns="0" bIns="0" rtlCol="0" anchor="ctr"/>
          <a:lstStyle/>
          <a:p>
            <a:pPr algn="ctr" indent="0" marL="0">
              <a:buNone/>
            </a:pPr>
            <a:r>
              <a:rPr lang="en-US" sz="1100" dirty="0">
                <a:solidFill>
                  <a:schemeClr val="tx1"/>
                </a:solidFill>
              </a:rPr>
              <a:t>the </a:t>
            </a:r>
            <a:r>
              <a:rPr lang="en-US" sz="1100" b="1" dirty="0">
                <a:solidFill>
                  <a:schemeClr val="tx1"/>
                </a:solidFill>
              </a:rPr>
              <a:t>costs</a:t>
            </a:r>
            <a:endParaRPr lang="en-US" sz="1100" dirty="0"/>
          </a:p>
        </p:txBody>
      </p:sp>
      <p:sp>
        <p:nvSpPr>
          <p:cNvPr id="84" name="Shape 81"/>
          <p:cNvSpPr/>
          <p:nvPr/>
        </p:nvSpPr>
        <p:spPr>
          <a:xfrm>
            <a:off x="10163556" y="5669280"/>
            <a:ext cx="164592" cy="0"/>
          </a:xfrm>
          <a:prstGeom prst="line">
            <a:avLst/>
          </a:prstGeom>
          <a:noFill/>
          <a:ln w="12700">
            <a:solidFill>
              <a:srgbClr val="B4236A"/>
            </a:solidFill>
            <a:prstDash val="solid"/>
          </a:ln>
        </p:spPr>
      </p:sp>
      <p:sp>
        <p:nvSpPr>
          <p:cNvPr id="85" name="Text 82"/>
          <p:cNvSpPr/>
          <p:nvPr/>
        </p:nvSpPr>
        <p:spPr>
          <a:xfrm>
            <a:off x="10328148" y="5513832"/>
            <a:ext cx="1325880" cy="310896"/>
          </a:xfrm>
          <a:prstGeom prst="roundRect">
            <a:avLst>
              <a:gd name="adj" fmla="val 50000"/>
            </a:avLst>
          </a:prstGeom>
          <a:solidFill>
            <a:srgbClr val="EEF2F8"/>
          </a:solidFill>
          <a:ln w="15875">
            <a:solidFill>
              <a:srgbClr val="B4236A"/>
            </a:solidFill>
            <a:prstDash val="dash"/>
          </a:ln>
        </p:spPr>
        <p:txBody>
          <a:bodyPr wrap="square" lIns="0" tIns="0" rIns="0" bIns="0" rtlCol="0" anchor="ctr"/>
          <a:lstStyle/>
          <a:p>
            <a:pPr algn="ctr" indent="0" marL="0">
              <a:buNone/>
            </a:pPr>
            <a:r>
              <a:rPr lang="en-US" sz="1100" dirty="0">
                <a:solidFill>
                  <a:schemeClr val="tx1"/>
                </a:solidFill>
              </a:rPr>
              <a:t>couvrir les frais</a:t>
            </a:r>
            <a:endParaRPr lang="en-US" sz="1100" dirty="0"/>
          </a:p>
        </p:txBody>
      </p:sp>
      <p:sp>
        <p:nvSpPr>
          <p:cNvPr id="86" name="Shape 83"/>
          <p:cNvSpPr/>
          <p:nvPr/>
        </p:nvSpPr>
        <p:spPr>
          <a:xfrm>
            <a:off x="8609076" y="5669280"/>
            <a:ext cx="228600" cy="374904"/>
          </a:xfrm>
          <a:prstGeom prst="line">
            <a:avLst/>
          </a:prstGeom>
          <a:noFill/>
          <a:ln w="12700">
            <a:solidFill>
              <a:srgbClr val="B4236A"/>
            </a:solidFill>
            <a:prstDash val="solid"/>
          </a:ln>
        </p:spPr>
      </p:sp>
      <p:sp>
        <p:nvSpPr>
          <p:cNvPr id="87" name="Text 84"/>
          <p:cNvSpPr/>
          <p:nvPr/>
        </p:nvSpPr>
        <p:spPr>
          <a:xfrm>
            <a:off x="8837676" y="5888736"/>
            <a:ext cx="1325880" cy="310896"/>
          </a:xfrm>
          <a:prstGeom prst="roundRect">
            <a:avLst>
              <a:gd name="adj" fmla="val 50000"/>
            </a:avLst>
          </a:prstGeom>
          <a:solidFill>
            <a:srgbClr val="FFFFFF"/>
          </a:solidFill>
          <a:ln w="15875">
            <a:solidFill>
              <a:srgbClr val="B4236A"/>
            </a:solidFill>
          </a:ln>
        </p:spPr>
        <p:txBody>
          <a:bodyPr wrap="square" lIns="0" tIns="0" rIns="0" bIns="0" rtlCol="0" anchor="ctr"/>
          <a:lstStyle/>
          <a:p>
            <a:pPr algn="ctr" indent="0" marL="0">
              <a:buNone/>
            </a:pPr>
            <a:r>
              <a:rPr lang="en-US" sz="1100" dirty="0">
                <a:solidFill>
                  <a:schemeClr val="tx1"/>
                </a:solidFill>
              </a:rPr>
              <a:t>the </a:t>
            </a:r>
            <a:r>
              <a:rPr lang="en-US" sz="1100" b="1" dirty="0">
                <a:solidFill>
                  <a:schemeClr val="tx1"/>
                </a:solidFill>
              </a:rPr>
              <a:t>standards</a:t>
            </a:r>
            <a:endParaRPr lang="en-US" sz="1100" dirty="0"/>
          </a:p>
        </p:txBody>
      </p:sp>
      <p:sp>
        <p:nvSpPr>
          <p:cNvPr id="88" name="Shape 85"/>
          <p:cNvSpPr/>
          <p:nvPr/>
        </p:nvSpPr>
        <p:spPr>
          <a:xfrm>
            <a:off x="10163556" y="6044184"/>
            <a:ext cx="164592" cy="0"/>
          </a:xfrm>
          <a:prstGeom prst="line">
            <a:avLst/>
          </a:prstGeom>
          <a:noFill/>
          <a:ln w="12700">
            <a:solidFill>
              <a:srgbClr val="B4236A"/>
            </a:solidFill>
            <a:prstDash val="solid"/>
          </a:ln>
        </p:spPr>
      </p:sp>
      <p:sp>
        <p:nvSpPr>
          <p:cNvPr id="89" name="Text 86"/>
          <p:cNvSpPr/>
          <p:nvPr/>
        </p:nvSpPr>
        <p:spPr>
          <a:xfrm>
            <a:off x="10328148" y="5888736"/>
            <a:ext cx="1325880" cy="310896"/>
          </a:xfrm>
          <a:prstGeom prst="roundRect">
            <a:avLst>
              <a:gd name="adj" fmla="val 50000"/>
            </a:avLst>
          </a:prstGeom>
          <a:solidFill>
            <a:srgbClr val="EEF2F8"/>
          </a:solidFill>
          <a:ln w="15875">
            <a:solidFill>
              <a:srgbClr val="B4236A"/>
            </a:solidFill>
            <a:prstDash val="dash"/>
          </a:ln>
        </p:spPr>
        <p:txBody>
          <a:bodyPr wrap="square" lIns="0" tIns="0" rIns="0" bIns="0" rtlCol="0" anchor="ctr"/>
          <a:lstStyle/>
          <a:p>
            <a:pPr algn="ctr" indent="0" marL="0">
              <a:buNone/>
            </a:pPr>
            <a:r>
              <a:rPr lang="en-US" sz="1000" dirty="0">
                <a:solidFill>
                  <a:schemeClr val="tx1"/>
                </a:solidFill>
              </a:rPr>
              <a:t>respecter les normes</a:t>
            </a:r>
            <a:endParaRPr lang="en-US" sz="1000" dirty="0"/>
          </a:p>
        </p:txBody>
      </p:sp>
      <p:sp>
        <p:nvSpPr>
          <p:cNvPr id="90" name="Shape 87"/>
          <p:cNvSpPr/>
          <p:nvPr/>
        </p:nvSpPr>
        <p:spPr>
          <a:xfrm>
            <a:off x="5317236" y="3246120"/>
            <a:ext cx="1554480" cy="1554480"/>
          </a:xfrm>
          <a:prstGeom prst="ellipse">
            <a:avLst/>
          </a:prstGeom>
          <a:solidFill>
            <a:srgbClr val="EEF2F8"/>
          </a:solidFill>
          <a:ln/>
        </p:spPr>
      </p:sp>
      <p:sp>
        <p:nvSpPr>
          <p:cNvPr id="91" name="Shape 88"/>
          <p:cNvSpPr/>
          <p:nvPr/>
        </p:nvSpPr>
        <p:spPr>
          <a:xfrm>
            <a:off x="5454396" y="3383280"/>
            <a:ext cx="1280160" cy="1280160"/>
          </a:xfrm>
          <a:prstGeom prst="ellipse">
            <a:avLst/>
          </a:prstGeom>
          <a:solidFill>
            <a:srgbClr val="1F3864"/>
          </a:solidFill>
          <a:ln/>
        </p:spPr>
      </p:sp>
      <p:sp>
        <p:nvSpPr>
          <p:cNvPr id="92" name="Text 89"/>
          <p:cNvSpPr txBox="1"/>
          <p:nvPr/>
        </p:nvSpPr>
        <p:spPr>
          <a:xfrm>
            <a:off x="5472684" y="3566160"/>
            <a:ext cx="1243584" cy="914400"/>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AN INCIDENT</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Two idioms: a warning and a compliment</a:t>
            </a:r>
            <a:endParaRPr lang="en-US" sz="3200" dirty="0"/>
          </a:p>
        </p:txBody>
      </p:sp>
      <p:sp>
        <p:nvSpPr>
          <p:cNvPr id="3" name="tag"/>
          <p:cNvSpPr/>
          <p:nvPr/>
        </p:nvSpPr>
        <p:spPr>
          <a:xfrm>
            <a:off x="548640" y="384048"/>
            <a:ext cx="1394460" cy="310896"/>
          </a:xfrm>
          <a:prstGeom prst="roundRect">
            <a:avLst>
              <a:gd name="adj" fmla="val 14706"/>
            </a:avLst>
          </a:prstGeom>
          <a:solidFill>
            <a:srgbClr val="3C7A3C"/>
          </a:solidFill>
          <a:ln/>
        </p:spPr>
        <p:txBody>
          <a:bodyPr wrap="square" lIns="0" tIns="0" rIns="0" bIns="0" rtlCol="0" anchor="ctr"/>
          <a:lstStyle/>
          <a:p>
            <a:pPr algn="ctr" indent="0" marL="0">
              <a:buNone/>
            </a:pPr>
            <a:r>
              <a:rPr lang="en-US" sz="1200" b="1" spc="100" kern="0" dirty="0">
                <a:solidFill>
                  <a:schemeClr val="bg1"/>
                </a:solidFill>
              </a:rPr>
              <a:t>WORD FILE</a:t>
            </a:r>
            <a:endParaRPr lang="en-US" sz="1200" dirty="0"/>
          </a:p>
        </p:txBody>
      </p:sp>
      <p:sp>
        <p:nvSpPr>
          <p:cNvPr id="4" name="Text 2"/>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15</a:t>
            </a:r>
            <a:endParaRPr lang="en-US" sz="1200" dirty="0"/>
          </a:p>
        </p:txBody>
      </p:sp>
      <p:pic>
        <p:nvPicPr>
          <p:cNvPr id="5" name="illustration" descr="Left: a woman raises a red flag over a risk assessment. Right: Samuel reacts fast to alerts on his laptop and phone.">    </p:cNvPr>
          <p:cNvPicPr>
            <a:picLocks noChangeAspect="1"/>
          </p:cNvPicPr>
          <p:nvPr/>
        </p:nvPicPr>
        <p:blipFill>
          <a:blip r:embed="rId1"/>
          <a:stretch>
            <a:fillRect/>
          </a:stretch>
        </p:blipFill>
        <p:spPr>
          <a:xfrm>
            <a:off x="548640" y="1783080"/>
            <a:ext cx="5852160" cy="3535486"/>
          </a:xfrm>
          <a:prstGeom prst="rect">
            <a:avLst/>
          </a:prstGeom>
          <a:effectLst>
            <a:outerShdw sx="100000" sy="100000" kx="0" ky="0" algn="bl" rotWithShape="0" blurRad="101600" dist="25400" dir="3600000">
              <a:srgbClr val="000000">
                <a:alpha val="18000"/>
              </a:srgbClr>
            </a:outerShdw>
          </a:effectLst>
        </p:spPr>
      </p:pic>
      <p:sp>
        <p:nvSpPr>
          <p:cNvPr id="6" name="Shape 3"/>
          <p:cNvSpPr/>
          <p:nvPr/>
        </p:nvSpPr>
        <p:spPr>
          <a:xfrm>
            <a:off x="6766560" y="1783080"/>
            <a:ext cx="4873752" cy="994410"/>
          </a:xfrm>
          <a:prstGeom prst="roundRect">
            <a:avLst>
              <a:gd name="adj" fmla="val 7356"/>
            </a:avLst>
          </a:prstGeom>
          <a:solidFill>
            <a:srgbClr val="B03A2E">
              <a:alpha val="9000"/>
            </a:srgbClr>
          </a:solidFill>
          <a:ln w="12700">
            <a:solidFill>
              <a:srgbClr val="B03A2E"/>
            </a:solidFill>
            <a:prstDash val="solid"/>
          </a:ln>
        </p:spPr>
      </p:sp>
      <p:pic>
        <p:nvPicPr>
          <p:cNvPr id="7" name="Image 1" descr="preencoded.png">    </p:cNvPr>
          <p:cNvPicPr>
            <a:picLocks noChangeAspect="1"/>
          </p:cNvPicPr>
          <p:nvPr/>
        </p:nvPicPr>
        <p:blipFill>
          <a:blip r:embed="rId2"/>
          <a:stretch>
            <a:fillRect/>
          </a:stretch>
        </p:blipFill>
        <p:spPr>
          <a:xfrm>
            <a:off x="6949440" y="1929384"/>
            <a:ext cx="292608" cy="292608"/>
          </a:xfrm>
          <a:prstGeom prst="rect">
            <a:avLst/>
          </a:prstGeom>
        </p:spPr>
      </p:pic>
      <p:sp>
        <p:nvSpPr>
          <p:cNvPr id="8" name="Text 4"/>
          <p:cNvSpPr txBox="1"/>
          <p:nvPr/>
        </p:nvSpPr>
        <p:spPr>
          <a:xfrm>
            <a:off x="7333488" y="1892808"/>
            <a:ext cx="4142232" cy="365760"/>
          </a:xfrm>
          <a:prstGeom prst="rect">
            <a:avLst/>
          </a:prstGeom>
          <a:noFill/>
          <a:ln/>
        </p:spPr>
        <p:txBody>
          <a:bodyPr wrap="square" lIns="0" tIns="0" rIns="0" bIns="0" rtlCol="0" anchor="ctr"/>
          <a:lstStyle/>
          <a:p>
            <a:pPr indent="0" marL="0">
              <a:buNone/>
            </a:pPr>
            <a:r>
              <a:rPr lang="en-US" sz="1700" b="1" dirty="0">
                <a:solidFill>
                  <a:schemeClr val="accent6"/>
                </a:solidFill>
                <a:latin typeface="+mj-lt" pitchFamily="34" charset="0"/>
                <a:ea typeface="+mj-lt" pitchFamily="34" charset="-122"/>
                <a:cs typeface="+mj-lt" pitchFamily="34" charset="-120"/>
              </a:rPr>
              <a:t>to raise a red flag</a:t>
            </a:r>
            <a:endParaRPr lang="en-US" sz="1700" dirty="0"/>
          </a:p>
        </p:txBody>
      </p:sp>
      <p:sp>
        <p:nvSpPr>
          <p:cNvPr id="9" name="Text 5"/>
          <p:cNvSpPr txBox="1"/>
          <p:nvPr/>
        </p:nvSpPr>
        <p:spPr>
          <a:xfrm>
            <a:off x="6967728" y="2258568"/>
            <a:ext cx="4471416" cy="464058"/>
          </a:xfrm>
          <a:prstGeom prst="rect">
            <a:avLst/>
          </a:prstGeom>
          <a:noFill/>
          <a:ln/>
        </p:spPr>
        <p:txBody>
          <a:bodyPr wrap="square" lIns="0" tIns="0" rIns="0" bIns="0" rtlCol="0" anchor="t"/>
          <a:lstStyle/>
          <a:p>
            <a:pPr indent="0" marL="0">
              <a:buNone/>
            </a:pPr>
            <a:r>
              <a:rPr lang="en-US" sz="1400" dirty="0">
                <a:solidFill>
                  <a:schemeClr val="tx1"/>
                </a:solidFill>
              </a:rPr>
              <a:t>= to point out a risk. </a:t>
            </a:r>
            <a:r>
              <a:rPr lang="en-US" sz="1400" i="1" dirty="0">
                <a:solidFill>
                  <a:schemeClr val="tx1"/>
                </a:solidFill>
              </a:rPr>
              <a:t>Not a compliment: it means someone failed to warn.</a:t>
            </a:r>
            <a:endParaRPr lang="en-US" sz="1400" dirty="0"/>
          </a:p>
        </p:txBody>
      </p:sp>
      <p:sp>
        <p:nvSpPr>
          <p:cNvPr id="10" name="Shape 6"/>
          <p:cNvSpPr/>
          <p:nvPr/>
        </p:nvSpPr>
        <p:spPr>
          <a:xfrm>
            <a:off x="6766560" y="2960370"/>
            <a:ext cx="4873752" cy="994410"/>
          </a:xfrm>
          <a:prstGeom prst="roundRect">
            <a:avLst>
              <a:gd name="adj" fmla="val 7356"/>
            </a:avLst>
          </a:prstGeom>
          <a:solidFill>
            <a:srgbClr val="3C7A3C">
              <a:alpha val="9000"/>
            </a:srgbClr>
          </a:solidFill>
          <a:ln w="12700">
            <a:solidFill>
              <a:srgbClr val="3C7A3C"/>
            </a:solidFill>
            <a:prstDash val="solid"/>
          </a:ln>
        </p:spPr>
      </p:sp>
      <p:pic>
        <p:nvPicPr>
          <p:cNvPr id="11" name="Image 2" descr="preencoded.png">    </p:cNvPr>
          <p:cNvPicPr>
            <a:picLocks noChangeAspect="1"/>
          </p:cNvPicPr>
          <p:nvPr/>
        </p:nvPicPr>
        <p:blipFill>
          <a:blip r:embed="rId3"/>
          <a:stretch>
            <a:fillRect/>
          </a:stretch>
        </p:blipFill>
        <p:spPr>
          <a:xfrm>
            <a:off x="6949440" y="3106674"/>
            <a:ext cx="292608" cy="292608"/>
          </a:xfrm>
          <a:prstGeom prst="rect">
            <a:avLst/>
          </a:prstGeom>
        </p:spPr>
      </p:pic>
      <p:sp>
        <p:nvSpPr>
          <p:cNvPr id="12" name="Text 7"/>
          <p:cNvSpPr txBox="1"/>
          <p:nvPr/>
        </p:nvSpPr>
        <p:spPr>
          <a:xfrm>
            <a:off x="7333488" y="3070098"/>
            <a:ext cx="4142232" cy="365760"/>
          </a:xfrm>
          <a:prstGeom prst="rect">
            <a:avLst/>
          </a:prstGeom>
          <a:noFill/>
          <a:ln/>
        </p:spPr>
        <p:txBody>
          <a:bodyPr wrap="square" lIns="0" tIns="0" rIns="0" bIns="0" rtlCol="0" anchor="ctr"/>
          <a:lstStyle/>
          <a:p>
            <a:pPr indent="0" marL="0">
              <a:buNone/>
            </a:pPr>
            <a:r>
              <a:rPr lang="en-US" sz="1700" b="1" dirty="0">
                <a:solidFill>
                  <a:schemeClr val="accent3"/>
                </a:solidFill>
                <a:latin typeface="+mj-lt" pitchFamily="34" charset="0"/>
                <a:ea typeface="+mj-lt" pitchFamily="34" charset="-122"/>
                <a:cs typeface="+mj-lt" pitchFamily="34" charset="-120"/>
              </a:rPr>
              <a:t>to be on the ball</a:t>
            </a:r>
            <a:endParaRPr lang="en-US" sz="1700" dirty="0"/>
          </a:p>
        </p:txBody>
      </p:sp>
      <p:sp>
        <p:nvSpPr>
          <p:cNvPr id="13" name="Text 8"/>
          <p:cNvSpPr txBox="1"/>
          <p:nvPr/>
        </p:nvSpPr>
        <p:spPr>
          <a:xfrm>
            <a:off x="6967728" y="3435858"/>
            <a:ext cx="4471416" cy="464058"/>
          </a:xfrm>
          <a:prstGeom prst="rect">
            <a:avLst/>
          </a:prstGeom>
          <a:noFill/>
          <a:ln/>
        </p:spPr>
        <p:txBody>
          <a:bodyPr wrap="square" lIns="0" tIns="0" rIns="0" bIns="0" rtlCol="0" anchor="t"/>
          <a:lstStyle/>
          <a:p>
            <a:pPr indent="0" marL="0">
              <a:buNone/>
            </a:pPr>
            <a:r>
              <a:rPr lang="en-US" sz="1400" dirty="0">
                <a:solidFill>
                  <a:schemeClr val="tx1"/>
                </a:solidFill>
              </a:rPr>
              <a:t>= alert and quick to react. </a:t>
            </a:r>
            <a:r>
              <a:rPr lang="en-US" sz="1400" i="1" dirty="0">
                <a:solidFill>
                  <a:schemeClr val="tx1"/>
                </a:solidFill>
              </a:rPr>
              <a:t>A compliment.</a:t>
            </a:r>
            <a:endParaRPr lang="en-US" sz="1400" dirty="0"/>
          </a:p>
        </p:txBody>
      </p:sp>
      <p:sp>
        <p:nvSpPr>
          <p:cNvPr id="14" name="Shape 9"/>
          <p:cNvSpPr/>
          <p:nvPr/>
        </p:nvSpPr>
        <p:spPr>
          <a:xfrm>
            <a:off x="6766560" y="4137660"/>
            <a:ext cx="4873752" cy="994410"/>
          </a:xfrm>
          <a:prstGeom prst="roundRect">
            <a:avLst>
              <a:gd name="adj" fmla="val 7356"/>
            </a:avLst>
          </a:prstGeom>
          <a:solidFill>
            <a:srgbClr val="C0752A">
              <a:alpha val="9000"/>
            </a:srgbClr>
          </a:solidFill>
          <a:ln w="12700">
            <a:solidFill>
              <a:srgbClr val="C0752A"/>
            </a:solidFill>
            <a:prstDash val="solid"/>
          </a:ln>
        </p:spPr>
      </p:sp>
      <p:pic>
        <p:nvPicPr>
          <p:cNvPr id="15" name="Image 3" descr="preencoded.png">    </p:cNvPr>
          <p:cNvPicPr>
            <a:picLocks noChangeAspect="1"/>
          </p:cNvPicPr>
          <p:nvPr/>
        </p:nvPicPr>
        <p:blipFill>
          <a:blip r:embed="rId4"/>
          <a:stretch>
            <a:fillRect/>
          </a:stretch>
        </p:blipFill>
        <p:spPr>
          <a:xfrm>
            <a:off x="6949440" y="4283964"/>
            <a:ext cx="292608" cy="292608"/>
          </a:xfrm>
          <a:prstGeom prst="rect">
            <a:avLst/>
          </a:prstGeom>
        </p:spPr>
      </p:pic>
      <p:sp>
        <p:nvSpPr>
          <p:cNvPr id="16" name="Text 10"/>
          <p:cNvSpPr txBox="1"/>
          <p:nvPr/>
        </p:nvSpPr>
        <p:spPr>
          <a:xfrm>
            <a:off x="7333488" y="4247388"/>
            <a:ext cx="4142232" cy="365760"/>
          </a:xfrm>
          <a:prstGeom prst="rect">
            <a:avLst/>
          </a:prstGeom>
          <a:noFill/>
          <a:ln/>
        </p:spPr>
        <p:txBody>
          <a:bodyPr wrap="square" lIns="0" tIns="0" rIns="0" bIns="0" rtlCol="0" anchor="ctr"/>
          <a:lstStyle/>
          <a:p>
            <a:pPr indent="0" marL="0">
              <a:buNone/>
            </a:pPr>
            <a:r>
              <a:rPr lang="en-US" sz="1700" b="1" dirty="0">
                <a:solidFill>
                  <a:schemeClr val="accent1"/>
                </a:solidFill>
                <a:latin typeface="+mj-lt" pitchFamily="34" charset="0"/>
                <a:ea typeface="+mj-lt" pitchFamily="34" charset="-122"/>
                <a:cs typeface="+mj-lt" pitchFamily="34" charset="-120"/>
              </a:rPr>
              <a:t>+ to drop the ball</a:t>
            </a:r>
            <a:endParaRPr lang="en-US" sz="1700" dirty="0"/>
          </a:p>
        </p:txBody>
      </p:sp>
      <p:sp>
        <p:nvSpPr>
          <p:cNvPr id="17" name="Text 11"/>
          <p:cNvSpPr txBox="1"/>
          <p:nvPr/>
        </p:nvSpPr>
        <p:spPr>
          <a:xfrm>
            <a:off x="6967728" y="4613148"/>
            <a:ext cx="4471416" cy="464058"/>
          </a:xfrm>
          <a:prstGeom prst="rect">
            <a:avLst/>
          </a:prstGeom>
          <a:noFill/>
          <a:ln/>
        </p:spPr>
        <p:txBody>
          <a:bodyPr wrap="square" lIns="0" tIns="0" rIns="0" bIns="0" rtlCol="0" anchor="t"/>
          <a:lstStyle/>
          <a:p>
            <a:pPr indent="0" marL="0">
              <a:buNone/>
            </a:pPr>
            <a:r>
              <a:rPr lang="en-US" sz="1400" dirty="0">
                <a:solidFill>
                  <a:schemeClr val="tx1"/>
                </a:solidFill>
              </a:rPr>
              <a:t>= to make a mistake by not paying attention.</a:t>
            </a:r>
            <a:endParaRPr lang="en-US" sz="1400" dirty="0"/>
          </a:p>
        </p:txBody>
      </p:sp>
      <p:sp>
        <p:nvSpPr>
          <p:cNvPr id="18" name="Shape 12"/>
          <p:cNvSpPr/>
          <p:nvPr/>
        </p:nvSpPr>
        <p:spPr>
          <a:xfrm>
            <a:off x="6766560" y="5314950"/>
            <a:ext cx="4873752" cy="994410"/>
          </a:xfrm>
          <a:prstGeom prst="roundRect">
            <a:avLst>
              <a:gd name="adj" fmla="val 7356"/>
            </a:avLst>
          </a:prstGeom>
          <a:solidFill>
            <a:srgbClr val="2E75B6">
              <a:alpha val="9000"/>
            </a:srgbClr>
          </a:solidFill>
          <a:ln w="12700">
            <a:solidFill>
              <a:srgbClr val="2E75B6"/>
            </a:solidFill>
            <a:prstDash val="solid"/>
          </a:ln>
        </p:spPr>
      </p:sp>
      <p:pic>
        <p:nvPicPr>
          <p:cNvPr id="19" name="Image 4" descr="preencoded.png">    </p:cNvPr>
          <p:cNvPicPr>
            <a:picLocks noChangeAspect="1"/>
          </p:cNvPicPr>
          <p:nvPr/>
        </p:nvPicPr>
        <p:blipFill>
          <a:blip r:embed="rId5"/>
          <a:stretch>
            <a:fillRect/>
          </a:stretch>
        </p:blipFill>
        <p:spPr>
          <a:xfrm>
            <a:off x="6949440" y="5461254"/>
            <a:ext cx="292608" cy="292608"/>
          </a:xfrm>
          <a:prstGeom prst="rect">
            <a:avLst/>
          </a:prstGeom>
        </p:spPr>
      </p:pic>
      <p:sp>
        <p:nvSpPr>
          <p:cNvPr id="20" name="Text 13"/>
          <p:cNvSpPr txBox="1"/>
          <p:nvPr/>
        </p:nvSpPr>
        <p:spPr>
          <a:xfrm>
            <a:off x="7333488" y="5424678"/>
            <a:ext cx="4142232" cy="365760"/>
          </a:xfrm>
          <a:prstGeom prst="rect">
            <a:avLst/>
          </a:prstGeom>
          <a:noFill/>
          <a:ln/>
        </p:spPr>
        <p:txBody>
          <a:bodyPr wrap="square" lIns="0" tIns="0" rIns="0" bIns="0" rtlCol="0" anchor="ctr"/>
          <a:lstStyle/>
          <a:p>
            <a:pPr indent="0" marL="0">
              <a:buNone/>
            </a:pPr>
            <a:r>
              <a:rPr lang="en-US" sz="1700" b="1" dirty="0">
                <a:solidFill>
                  <a:schemeClr val="accent2"/>
                </a:solidFill>
                <a:latin typeface="+mj-lt" pitchFamily="34" charset="0"/>
                <a:ea typeface="+mj-lt" pitchFamily="34" charset="-122"/>
                <a:cs typeface="+mj-lt" pitchFamily="34" charset="-120"/>
              </a:rPr>
              <a:t>+ to keep an eye on</a:t>
            </a:r>
            <a:endParaRPr lang="en-US" sz="1700" dirty="0"/>
          </a:p>
        </p:txBody>
      </p:sp>
      <p:sp>
        <p:nvSpPr>
          <p:cNvPr id="21" name="Text 14"/>
          <p:cNvSpPr txBox="1"/>
          <p:nvPr/>
        </p:nvSpPr>
        <p:spPr>
          <a:xfrm>
            <a:off x="6967728" y="5790438"/>
            <a:ext cx="4471416" cy="464058"/>
          </a:xfrm>
          <a:prstGeom prst="rect">
            <a:avLst/>
          </a:prstGeom>
          <a:noFill/>
          <a:ln/>
        </p:spPr>
        <p:txBody>
          <a:bodyPr wrap="square" lIns="0" tIns="0" rIns="0" bIns="0" rtlCol="0" anchor="t"/>
          <a:lstStyle/>
          <a:p>
            <a:pPr indent="0" marL="0">
              <a:buNone/>
            </a:pPr>
            <a:r>
              <a:rPr lang="en-US" sz="1400" dirty="0">
                <a:solidFill>
                  <a:schemeClr val="tx1"/>
                </a:solidFill>
              </a:rPr>
              <a:t>= to monitor, to watch closely.</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Red flag or on the ball?</a:t>
            </a:r>
            <a:endParaRPr lang="en-US" sz="3200" dirty="0"/>
          </a:p>
        </p:txBody>
      </p:sp>
      <p:sp>
        <p:nvSpPr>
          <p:cNvPr id="3" name="tag"/>
          <p:cNvSpPr/>
          <p:nvPr/>
        </p:nvSpPr>
        <p:spPr>
          <a:xfrm>
            <a:off x="548640" y="384048"/>
            <a:ext cx="822960" cy="310896"/>
          </a:xfrm>
          <a:prstGeom prst="roundRect">
            <a:avLst>
              <a:gd name="adj" fmla="val 14706"/>
            </a:avLst>
          </a:prstGeom>
          <a:solidFill>
            <a:srgbClr val="B4236A"/>
          </a:solidFill>
          <a:ln/>
        </p:spPr>
        <p:txBody>
          <a:bodyPr wrap="square" lIns="0" tIns="0" rIns="0" bIns="0" rtlCol="0" anchor="ctr"/>
          <a:lstStyle/>
          <a:p>
            <a:pPr algn="ctr" indent="0" marL="0">
              <a:buNone/>
            </a:pPr>
            <a:r>
              <a:rPr lang="en-US" sz="1200" b="1" spc="100" kern="0" dirty="0">
                <a:solidFill>
                  <a:schemeClr val="bg1"/>
                </a:solidFill>
              </a:rPr>
              <a:t>GAME</a:t>
            </a:r>
            <a:endParaRPr lang="en-US" sz="1200" dirty="0"/>
          </a:p>
        </p:txBody>
      </p:sp>
      <p:sp>
        <p:nvSpPr>
          <p:cNvPr id="4" name="Text 2"/>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livret</a:t>
            </a:r>
            <a:endParaRPr lang="en-US" sz="1200" dirty="0"/>
          </a:p>
        </p:txBody>
      </p:sp>
      <p:sp>
        <p:nvSpPr>
          <p:cNvPr id="6" name="Text 3"/>
          <p:cNvSpPr txBox="1"/>
          <p:nvPr/>
        </p:nvSpPr>
        <p:spPr>
          <a:xfrm>
            <a:off x="548640" y="1627632"/>
            <a:ext cx="11091672" cy="335280"/>
          </a:xfrm>
          <a:prstGeom prst="rect">
            <a:avLst/>
          </a:prstGeom>
          <a:noFill/>
          <a:ln/>
        </p:spPr>
        <p:txBody>
          <a:bodyPr wrap="square" lIns="0" tIns="0" rIns="0" bIns="0" rtlCol="0" anchor="t"/>
          <a:lstStyle/>
          <a:p>
            <a:pPr indent="0" marL="0">
              <a:buNone/>
            </a:pPr>
            <a:r>
              <a:rPr lang="en-US" sz="1600" i="1" dirty="0">
                <a:solidFill>
                  <a:schemeClr val="accent5"/>
                </a:solidFill>
              </a:rPr>
              <a:t>Your teacher reads each situation. Hold up </a:t>
            </a:r>
            <a:r>
              <a:rPr lang="en-US" sz="1600" b="1" i="1" dirty="0">
                <a:solidFill>
                  <a:schemeClr val="accent5"/>
                </a:solidFill>
              </a:rPr>
              <a:t>red</a:t>
            </a:r>
            <a:r>
              <a:rPr lang="en-US" sz="1600" i="1" dirty="0">
                <a:solidFill>
                  <a:schemeClr val="accent5"/>
                </a:solidFill>
              </a:rPr>
              <a:t> (a red flag) or </a:t>
            </a:r>
            <a:r>
              <a:rPr lang="en-US" sz="1600" b="1" i="1" dirty="0">
                <a:solidFill>
                  <a:schemeClr val="accent5"/>
                </a:solidFill>
              </a:rPr>
              <a:t>green</a:t>
            </a:r>
            <a:r>
              <a:rPr lang="en-US" sz="1600" i="1" dirty="0">
                <a:solidFill>
                  <a:schemeClr val="accent5"/>
                </a:solidFill>
              </a:rPr>
              <a:t> (on the ball) — then say it in a full sentence.</a:t>
            </a:r>
            <a:endParaRPr lang="en-US" sz="1600" dirty="0"/>
          </a:p>
        </p:txBody>
      </p:sp>
      <p:sp>
        <p:nvSpPr>
          <p:cNvPr id="7" name="exercise"/>
          <p:cNvSpPr txBox="1"/>
          <p:nvPr/>
        </p:nvSpPr>
        <p:spPr>
          <a:xfrm>
            <a:off x="548640" y="2237232"/>
            <a:ext cx="11091672" cy="4072128"/>
          </a:xfrm>
          <a:prstGeom prst="rect">
            <a:avLst/>
          </a:prstGeom>
          <a:noFill/>
          <a:ln/>
        </p:spPr>
        <p:txBody>
          <a:bodyPr wrap="square" lIns="0" tIns="0" rIns="0" bIns="0" rtlCol="0" anchor="t"/>
          <a:lstStyle/>
          <a:p>
            <a:pPr indent="0" marL="0">
              <a:spcAft>
                <a:spcPts val="1400"/>
              </a:spcAft>
              <a:buNone/>
            </a:pPr>
            <a:r>
              <a:rPr lang="en-US" sz="2100" b="1" dirty="0">
                <a:solidFill>
                  <a:schemeClr val="tx2"/>
                </a:solidFill>
              </a:rPr>
              <a:t>1.  </a:t>
            </a:r>
            <a:r>
              <a:rPr lang="en-US" sz="2100" dirty="0">
                <a:solidFill>
                  <a:schemeClr val="tx1"/>
                </a:solidFill>
              </a:rPr>
              <a:t>The cleaners called for help two minutes after they found the water.</a:t>
            </a:r>
            <a:endParaRPr lang="en-US" sz="2100" dirty="0"/>
          </a:p>
          <a:p>
            <a:pPr indent="0" marL="0">
              <a:spcAft>
                <a:spcPts val="1400"/>
              </a:spcAft>
              <a:buNone/>
            </a:pPr>
            <a:r>
              <a:rPr lang="en-US" sz="2100" b="1" dirty="0">
                <a:solidFill>
                  <a:schemeClr val="tx2"/>
                </a:solidFill>
              </a:rPr>
              <a:t>2.  </a:t>
            </a:r>
            <a:r>
              <a:rPr lang="en-US" sz="2100" dirty="0">
                <a:solidFill>
                  <a:schemeClr val="tx1"/>
                </a:solidFill>
              </a:rPr>
              <a:t>A notification was delivered at 23:42 — and nobody reacted.</a:t>
            </a:r>
            <a:endParaRPr lang="en-US" sz="2100" dirty="0"/>
          </a:p>
          <a:p>
            <a:pPr indent="0" marL="0">
              <a:spcAft>
                <a:spcPts val="1400"/>
              </a:spcAft>
              <a:buNone/>
            </a:pPr>
            <a:r>
              <a:rPr lang="en-US" sz="2100" b="1" dirty="0">
                <a:solidFill>
                  <a:schemeClr val="tx2"/>
                </a:solidFill>
              </a:rPr>
              <a:t>3.  </a:t>
            </a:r>
            <a:r>
              <a:rPr lang="en-US" sz="2100" dirty="0">
                <a:solidFill>
                  <a:schemeClr val="tx1"/>
                </a:solidFill>
              </a:rPr>
              <a:t>Samuel printed the log before anybody asked him.</a:t>
            </a:r>
            <a:endParaRPr lang="en-US" sz="2100" dirty="0"/>
          </a:p>
          <a:p>
            <a:pPr indent="0" marL="0">
              <a:spcAft>
                <a:spcPts val="1400"/>
              </a:spcAft>
              <a:buNone/>
            </a:pPr>
            <a:r>
              <a:rPr lang="en-US" sz="2100" b="1" dirty="0">
                <a:solidFill>
                  <a:schemeClr val="tx2"/>
                </a:solidFill>
              </a:rPr>
              <a:t>4.  </a:t>
            </a:r>
            <a:r>
              <a:rPr lang="en-US" sz="2100" dirty="0">
                <a:solidFill>
                  <a:schemeClr val="tx1"/>
                </a:solidFill>
              </a:rPr>
              <a:t>The same pipe has caused trouble since the summer, and nobody repaired it.</a:t>
            </a:r>
            <a:endParaRPr lang="en-US" sz="2100" dirty="0"/>
          </a:p>
          <a:p>
            <a:pPr indent="0" marL="0">
              <a:spcAft>
                <a:spcPts val="1400"/>
              </a:spcAft>
              <a:buNone/>
            </a:pPr>
            <a:r>
              <a:rPr lang="en-US" sz="2100" b="1" dirty="0">
                <a:solidFill>
                  <a:schemeClr val="tx2"/>
                </a:solidFill>
              </a:rPr>
              <a:t>5.  </a:t>
            </a:r>
            <a:r>
              <a:rPr lang="en-US" sz="2100" dirty="0">
                <a:solidFill>
                  <a:schemeClr val="tx1"/>
                </a:solidFill>
              </a:rPr>
              <a:t>A badge entered zone 2F after the works had ended.</a:t>
            </a:r>
            <a:endParaRPr lang="en-US" sz="2100" dirty="0"/>
          </a:p>
          <a:p>
            <a:pPr indent="0" marL="0">
              <a:spcAft>
                <a:spcPts val="1400"/>
              </a:spcAft>
              <a:buNone/>
            </a:pPr>
            <a:r>
              <a:rPr lang="en-US" sz="2100" b="1" dirty="0">
                <a:solidFill>
                  <a:schemeClr val="tx2"/>
                </a:solidFill>
              </a:rPr>
              <a:t>6.  </a:t>
            </a:r>
            <a:r>
              <a:rPr lang="en-US" sz="2100" dirty="0">
                <a:solidFill>
                  <a:schemeClr val="tx1"/>
                </a:solidFill>
              </a:rPr>
              <a:t>Iris photographed the ceiling before anything was moved.</a:t>
            </a:r>
            <a:endParaRPr lang="en-US" sz="21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Red flag or on the ball?</a:t>
            </a:r>
            <a:endParaRPr lang="en-US" sz="3200" dirty="0"/>
          </a:p>
        </p:txBody>
      </p:sp>
      <p:sp>
        <p:nvSpPr>
          <p:cNvPr id="3" name="tag"/>
          <p:cNvSpPr/>
          <p:nvPr/>
        </p:nvSpPr>
        <p:spPr>
          <a:xfrm>
            <a:off x="548640" y="384048"/>
            <a:ext cx="822960" cy="310896"/>
          </a:xfrm>
          <a:prstGeom prst="roundRect">
            <a:avLst>
              <a:gd name="adj" fmla="val 14706"/>
            </a:avLst>
          </a:prstGeom>
          <a:solidFill>
            <a:srgbClr val="B4236A"/>
          </a:solidFill>
          <a:ln/>
        </p:spPr>
        <p:txBody>
          <a:bodyPr wrap="square" lIns="0" tIns="0" rIns="0" bIns="0" rtlCol="0" anchor="ctr"/>
          <a:lstStyle/>
          <a:p>
            <a:pPr algn="ctr" indent="0" marL="0">
              <a:buNone/>
            </a:pPr>
            <a:r>
              <a:rPr lang="en-US" sz="1200" b="1" spc="100" kern="0" dirty="0">
                <a:solidFill>
                  <a:schemeClr val="bg1"/>
                </a:solidFill>
              </a:rPr>
              <a:t>GAME</a:t>
            </a:r>
            <a:endParaRPr lang="en-US" sz="1200" dirty="0"/>
          </a:p>
        </p:txBody>
      </p:sp>
      <p:sp>
        <p:nvSpPr>
          <p:cNvPr id="4" name="tag"/>
          <p:cNvSpPr/>
          <p:nvPr/>
        </p:nvSpPr>
        <p:spPr>
          <a:xfrm>
            <a:off x="1481328" y="384048"/>
            <a:ext cx="1874520" cy="310896"/>
          </a:xfrm>
          <a:prstGeom prst="roundRect">
            <a:avLst>
              <a:gd name="adj" fmla="val 14706"/>
            </a:avLst>
          </a:prstGeom>
          <a:solidFill>
            <a:srgbClr val="3C7A3C"/>
          </a:solidFill>
          <a:ln/>
        </p:spPr>
        <p:txBody>
          <a:bodyPr wrap="square" lIns="0" tIns="0" rIns="0" bIns="0" rtlCol="0" anchor="ctr"/>
          <a:lstStyle/>
          <a:p>
            <a:pPr algn="ctr" indent="0" marL="0">
              <a:buNone/>
            </a:pPr>
            <a:r>
              <a:rPr lang="en-US" sz="1200" b="1" spc="100" kern="0" dirty="0">
                <a:solidFill>
                  <a:schemeClr val="bg1"/>
                </a:solidFill>
              </a:rPr>
              <a:t>✓ CORRECTION</a:t>
            </a:r>
            <a:endParaRPr lang="en-US" sz="1200" dirty="0"/>
          </a:p>
        </p:txBody>
      </p:sp>
      <p:sp>
        <p:nvSpPr>
          <p:cNvPr id="5" name="Text 3"/>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livret</a:t>
            </a:r>
            <a:endParaRPr lang="en-US" sz="1200" dirty="0"/>
          </a:p>
        </p:txBody>
      </p:sp>
      <p:sp>
        <p:nvSpPr>
          <p:cNvPr id="7" name="Text 4"/>
          <p:cNvSpPr txBox="1"/>
          <p:nvPr/>
        </p:nvSpPr>
        <p:spPr>
          <a:xfrm>
            <a:off x="548640" y="1627632"/>
            <a:ext cx="11091672" cy="335280"/>
          </a:xfrm>
          <a:prstGeom prst="rect">
            <a:avLst/>
          </a:prstGeom>
          <a:noFill/>
          <a:ln/>
        </p:spPr>
        <p:txBody>
          <a:bodyPr wrap="square" lIns="0" tIns="0" rIns="0" bIns="0" rtlCol="0" anchor="t"/>
          <a:lstStyle/>
          <a:p>
            <a:pPr indent="0" marL="0">
              <a:buNone/>
            </a:pPr>
            <a:r>
              <a:rPr lang="en-US" sz="1600" i="1" dirty="0">
                <a:solidFill>
                  <a:schemeClr val="accent5"/>
                </a:solidFill>
              </a:rPr>
              <a:t>Your teacher reads each situation. Hold up </a:t>
            </a:r>
            <a:r>
              <a:rPr lang="en-US" sz="1600" b="1" i="1" dirty="0">
                <a:solidFill>
                  <a:schemeClr val="accent5"/>
                </a:solidFill>
              </a:rPr>
              <a:t>red</a:t>
            </a:r>
            <a:r>
              <a:rPr lang="en-US" sz="1600" i="1" dirty="0">
                <a:solidFill>
                  <a:schemeClr val="accent5"/>
                </a:solidFill>
              </a:rPr>
              <a:t> (a red flag) or </a:t>
            </a:r>
            <a:r>
              <a:rPr lang="en-US" sz="1600" b="1" i="1" dirty="0">
                <a:solidFill>
                  <a:schemeClr val="accent5"/>
                </a:solidFill>
              </a:rPr>
              <a:t>green</a:t>
            </a:r>
            <a:r>
              <a:rPr lang="en-US" sz="1600" i="1" dirty="0">
                <a:solidFill>
                  <a:schemeClr val="accent5"/>
                </a:solidFill>
              </a:rPr>
              <a:t> (on the ball) — then say it in a full sentence.</a:t>
            </a:r>
            <a:endParaRPr lang="en-US" sz="1600" dirty="0"/>
          </a:p>
        </p:txBody>
      </p:sp>
      <p:sp>
        <p:nvSpPr>
          <p:cNvPr id="8" name="exercise"/>
          <p:cNvSpPr txBox="1"/>
          <p:nvPr/>
        </p:nvSpPr>
        <p:spPr>
          <a:xfrm>
            <a:off x="548640" y="2237232"/>
            <a:ext cx="11091672" cy="4072128"/>
          </a:xfrm>
          <a:prstGeom prst="rect">
            <a:avLst/>
          </a:prstGeom>
          <a:noFill/>
          <a:ln/>
        </p:spPr>
        <p:txBody>
          <a:bodyPr wrap="square" lIns="0" tIns="0" rIns="0" bIns="0" rtlCol="0" anchor="t"/>
          <a:lstStyle/>
          <a:p>
            <a:pPr indent="0" marL="0">
              <a:spcAft>
                <a:spcPts val="300"/>
              </a:spcAft>
              <a:buNone/>
            </a:pPr>
            <a:r>
              <a:rPr lang="en-US" sz="1700" b="1" dirty="0">
                <a:solidFill>
                  <a:schemeClr val="tx2"/>
                </a:solidFill>
              </a:rPr>
              <a:t>1.  </a:t>
            </a:r>
            <a:r>
              <a:rPr lang="en-US" sz="1700" dirty="0">
                <a:solidFill>
                  <a:schemeClr val="tx1"/>
                </a:solidFill>
              </a:rPr>
              <a:t>The cleaners called for help two minutes after they found the water.</a:t>
            </a:r>
            <a:endParaRPr lang="en-US" sz="1700" dirty="0"/>
          </a:p>
          <a:p>
            <a:pPr indent="0" marL="0">
              <a:spcAft>
                <a:spcPts val="1100"/>
              </a:spcAft>
              <a:buNone/>
            </a:pPr>
            <a:r>
              <a:rPr lang="en-US" sz="1700" b="1" dirty="0">
                <a:solidFill>
                  <a:schemeClr val="tx2"/>
                </a:solidFill>
              </a:rPr>
              <a:t>→ </a:t>
            </a:r>
            <a:r>
              <a:rPr lang="en-US" sz="1700" b="1" dirty="0">
                <a:solidFill>
                  <a:schemeClr val="tx2"/>
                </a:solidFill>
              </a:rPr>
              <a:t>The cleaners </a:t>
            </a:r>
            <a:r>
              <a:rPr lang="en-US" sz="1700" b="1" dirty="0">
                <a:solidFill>
                  <a:schemeClr val="tx2"/>
                </a:solidFill>
              </a:rPr>
              <a:t>were on the ball</a:t>
            </a:r>
            <a:r>
              <a:rPr lang="en-US" sz="1700" b="1" dirty="0">
                <a:solidFill>
                  <a:schemeClr val="tx2"/>
                </a:solidFill>
              </a:rPr>
              <a:t>: they reacted at once.</a:t>
            </a:r>
            <a:endParaRPr lang="en-US" sz="1700" dirty="0"/>
          </a:p>
          <a:p>
            <a:pPr indent="0" marL="0">
              <a:spcAft>
                <a:spcPts val="300"/>
              </a:spcAft>
              <a:buNone/>
            </a:pPr>
            <a:r>
              <a:rPr lang="en-US" sz="1700" b="1" dirty="0">
                <a:solidFill>
                  <a:schemeClr val="tx2"/>
                </a:solidFill>
              </a:rPr>
              <a:t>2.  </a:t>
            </a:r>
            <a:r>
              <a:rPr lang="en-US" sz="1700" dirty="0">
                <a:solidFill>
                  <a:schemeClr val="tx1"/>
                </a:solidFill>
              </a:rPr>
              <a:t>A notification was delivered at 23:42 — and nobody reacted.</a:t>
            </a:r>
            <a:endParaRPr lang="en-US" sz="1700" dirty="0"/>
          </a:p>
          <a:p>
            <a:pPr indent="0" marL="0">
              <a:spcAft>
                <a:spcPts val="1100"/>
              </a:spcAft>
              <a:buNone/>
            </a:pPr>
            <a:r>
              <a:rPr lang="en-US" sz="1700" b="1" dirty="0">
                <a:solidFill>
                  <a:schemeClr val="tx2"/>
                </a:solidFill>
              </a:rPr>
              <a:t>→ </a:t>
            </a:r>
            <a:r>
              <a:rPr lang="en-US" sz="1700" b="1" dirty="0">
                <a:solidFill>
                  <a:schemeClr val="tx2"/>
                </a:solidFill>
              </a:rPr>
              <a:t>That </a:t>
            </a:r>
            <a:r>
              <a:rPr lang="en-US" sz="1700" b="1" dirty="0">
                <a:solidFill>
                  <a:schemeClr val="tx2"/>
                </a:solidFill>
              </a:rPr>
              <a:t>raises a red flag</a:t>
            </a:r>
            <a:r>
              <a:rPr lang="en-US" sz="1700" b="1" dirty="0">
                <a:solidFill>
                  <a:schemeClr val="tx2"/>
                </a:solidFill>
              </a:rPr>
              <a:t>: somebody could have known.</a:t>
            </a:r>
            <a:endParaRPr lang="en-US" sz="1700" dirty="0"/>
          </a:p>
          <a:p>
            <a:pPr indent="0" marL="0">
              <a:spcAft>
                <a:spcPts val="300"/>
              </a:spcAft>
              <a:buNone/>
            </a:pPr>
            <a:r>
              <a:rPr lang="en-US" sz="1700" b="1" dirty="0">
                <a:solidFill>
                  <a:schemeClr val="tx2"/>
                </a:solidFill>
              </a:rPr>
              <a:t>3.  </a:t>
            </a:r>
            <a:r>
              <a:rPr lang="en-US" sz="1700" dirty="0">
                <a:solidFill>
                  <a:schemeClr val="tx1"/>
                </a:solidFill>
              </a:rPr>
              <a:t>Samuel printed the log before anybody asked him.</a:t>
            </a:r>
            <a:endParaRPr lang="en-US" sz="1700" dirty="0"/>
          </a:p>
          <a:p>
            <a:pPr indent="0" marL="0">
              <a:spcAft>
                <a:spcPts val="1100"/>
              </a:spcAft>
              <a:buNone/>
            </a:pPr>
            <a:r>
              <a:rPr lang="en-US" sz="1700" b="1" dirty="0">
                <a:solidFill>
                  <a:schemeClr val="tx2"/>
                </a:solidFill>
              </a:rPr>
              <a:t>→ </a:t>
            </a:r>
            <a:r>
              <a:rPr lang="en-US" sz="1700" b="1" dirty="0">
                <a:solidFill>
                  <a:schemeClr val="tx2"/>
                </a:solidFill>
              </a:rPr>
              <a:t>Samuel </a:t>
            </a:r>
            <a:r>
              <a:rPr lang="en-US" sz="1700" b="1" dirty="0">
                <a:solidFill>
                  <a:schemeClr val="tx2"/>
                </a:solidFill>
              </a:rPr>
              <a:t>was on the ball</a:t>
            </a:r>
            <a:r>
              <a:rPr lang="en-US" sz="1700" b="1" dirty="0">
                <a:solidFill>
                  <a:schemeClr val="tx2"/>
                </a:solidFill>
              </a:rPr>
              <a:t>.</a:t>
            </a:r>
            <a:endParaRPr lang="en-US" sz="1700" dirty="0"/>
          </a:p>
          <a:p>
            <a:pPr indent="0" marL="0">
              <a:spcAft>
                <a:spcPts val="300"/>
              </a:spcAft>
              <a:buNone/>
            </a:pPr>
            <a:r>
              <a:rPr lang="en-US" sz="1700" b="1" dirty="0">
                <a:solidFill>
                  <a:schemeClr val="tx2"/>
                </a:solidFill>
              </a:rPr>
              <a:t>4.  </a:t>
            </a:r>
            <a:r>
              <a:rPr lang="en-US" sz="1700" dirty="0">
                <a:solidFill>
                  <a:schemeClr val="tx1"/>
                </a:solidFill>
              </a:rPr>
              <a:t>The same pipe has caused trouble since the summer, and nobody repaired it.</a:t>
            </a:r>
            <a:endParaRPr lang="en-US" sz="1700" dirty="0"/>
          </a:p>
          <a:p>
            <a:pPr indent="0" marL="0">
              <a:spcAft>
                <a:spcPts val="1100"/>
              </a:spcAft>
              <a:buNone/>
            </a:pPr>
            <a:r>
              <a:rPr lang="en-US" sz="1700" b="1" dirty="0">
                <a:solidFill>
                  <a:schemeClr val="tx2"/>
                </a:solidFill>
              </a:rPr>
              <a:t>→ </a:t>
            </a:r>
            <a:r>
              <a:rPr lang="en-US" sz="1700" b="1" dirty="0">
                <a:solidFill>
                  <a:schemeClr val="tx2"/>
                </a:solidFill>
              </a:rPr>
              <a:t>That </a:t>
            </a:r>
            <a:r>
              <a:rPr lang="en-US" sz="1700" b="1" dirty="0">
                <a:solidFill>
                  <a:schemeClr val="tx2"/>
                </a:solidFill>
              </a:rPr>
              <a:t>raises a red flag</a:t>
            </a:r>
            <a:r>
              <a:rPr lang="en-US" sz="1700" b="1" dirty="0">
                <a:solidFill>
                  <a:schemeClr val="tx2"/>
                </a:solidFill>
              </a:rPr>
              <a:t>: somebody </a:t>
            </a:r>
            <a:r>
              <a:rPr lang="en-US" sz="1700" b="1" dirty="0">
                <a:solidFill>
                  <a:schemeClr val="tx2"/>
                </a:solidFill>
              </a:rPr>
              <a:t>dropped the ball</a:t>
            </a:r>
            <a:r>
              <a:rPr lang="en-US" sz="1700" b="1" dirty="0">
                <a:solidFill>
                  <a:schemeClr val="tx2"/>
                </a:solidFill>
              </a:rPr>
              <a:t>.</a:t>
            </a:r>
            <a:endParaRPr lang="en-US" sz="1700" dirty="0"/>
          </a:p>
          <a:p>
            <a:pPr indent="0" marL="0">
              <a:spcAft>
                <a:spcPts val="300"/>
              </a:spcAft>
              <a:buNone/>
            </a:pPr>
            <a:r>
              <a:rPr lang="en-US" sz="1700" b="1" dirty="0">
                <a:solidFill>
                  <a:schemeClr val="tx2"/>
                </a:solidFill>
              </a:rPr>
              <a:t>5.  </a:t>
            </a:r>
            <a:r>
              <a:rPr lang="en-US" sz="1700" dirty="0">
                <a:solidFill>
                  <a:schemeClr val="tx1"/>
                </a:solidFill>
              </a:rPr>
              <a:t>A badge entered zone 2F after the works had ended.</a:t>
            </a:r>
            <a:endParaRPr lang="en-US" sz="1700" dirty="0"/>
          </a:p>
          <a:p>
            <a:pPr indent="0" marL="0">
              <a:spcAft>
                <a:spcPts val="1100"/>
              </a:spcAft>
              <a:buNone/>
            </a:pPr>
            <a:r>
              <a:rPr lang="en-US" sz="1700" b="1" dirty="0">
                <a:solidFill>
                  <a:schemeClr val="tx2"/>
                </a:solidFill>
              </a:rPr>
              <a:t>→ </a:t>
            </a:r>
            <a:r>
              <a:rPr lang="en-US" sz="1700" b="1" dirty="0">
                <a:solidFill>
                  <a:schemeClr val="tx2"/>
                </a:solidFill>
              </a:rPr>
              <a:t>That </a:t>
            </a:r>
            <a:r>
              <a:rPr lang="en-US" sz="1700" b="1" dirty="0">
                <a:solidFill>
                  <a:schemeClr val="tx2"/>
                </a:solidFill>
              </a:rPr>
              <a:t>raises a red flag</a:t>
            </a:r>
            <a:r>
              <a:rPr lang="en-US" sz="1700" b="1" dirty="0">
                <a:solidFill>
                  <a:schemeClr val="tx2"/>
                </a:solidFill>
              </a:rPr>
              <a:t> — to check, without naming anyone.</a:t>
            </a:r>
            <a:endParaRPr lang="en-US" sz="1700" dirty="0"/>
          </a:p>
          <a:p>
            <a:pPr indent="0" marL="0">
              <a:spcAft>
                <a:spcPts val="300"/>
              </a:spcAft>
              <a:buNone/>
            </a:pPr>
            <a:r>
              <a:rPr lang="en-US" sz="1700" b="1" dirty="0">
                <a:solidFill>
                  <a:schemeClr val="tx2"/>
                </a:solidFill>
              </a:rPr>
              <a:t>6.  </a:t>
            </a:r>
            <a:r>
              <a:rPr lang="en-US" sz="1700" dirty="0">
                <a:solidFill>
                  <a:schemeClr val="tx1"/>
                </a:solidFill>
              </a:rPr>
              <a:t>Iris photographed the ceiling before anything was moved.</a:t>
            </a:r>
            <a:endParaRPr lang="en-US" sz="1700" dirty="0"/>
          </a:p>
          <a:p>
            <a:pPr indent="0" marL="0">
              <a:spcAft>
                <a:spcPts val="1100"/>
              </a:spcAft>
              <a:buNone/>
            </a:pPr>
            <a:r>
              <a:rPr lang="en-US" sz="1700" b="1" dirty="0">
                <a:solidFill>
                  <a:schemeClr val="tx2"/>
                </a:solidFill>
              </a:rPr>
              <a:t>→ </a:t>
            </a:r>
            <a:r>
              <a:rPr lang="en-US" sz="1700" b="1" dirty="0">
                <a:solidFill>
                  <a:schemeClr val="tx2"/>
                </a:solidFill>
              </a:rPr>
              <a:t>Iris </a:t>
            </a:r>
            <a:r>
              <a:rPr lang="en-US" sz="1700" b="1" dirty="0">
                <a:solidFill>
                  <a:schemeClr val="tx2"/>
                </a:solidFill>
              </a:rPr>
              <a:t>was on the ball</a:t>
            </a:r>
            <a:r>
              <a:rPr lang="en-US" sz="1700" b="1" dirty="0">
                <a:solidFill>
                  <a:schemeClr val="tx2"/>
                </a:solidFill>
              </a:rPr>
              <a:t>.</a:t>
            </a:r>
            <a:endParaRPr lang="en-US" sz="17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Use the block, not the translation</a:t>
            </a:r>
            <a:endParaRPr lang="en-US" sz="3200" dirty="0"/>
          </a:p>
        </p:txBody>
      </p:sp>
      <p:sp>
        <p:nvSpPr>
          <p:cNvPr id="3" name="tag"/>
          <p:cNvSpPr/>
          <p:nvPr/>
        </p:nvSpPr>
        <p:spPr>
          <a:xfrm>
            <a:off x="548640" y="384048"/>
            <a:ext cx="1165860" cy="310896"/>
          </a:xfrm>
          <a:prstGeom prst="roundRect">
            <a:avLst>
              <a:gd name="adj" fmla="val 14706"/>
            </a:avLst>
          </a:prstGeom>
          <a:solidFill>
            <a:srgbClr val="1F3864"/>
          </a:solidFill>
          <a:ln/>
        </p:spPr>
        <p:txBody>
          <a:bodyPr wrap="square" lIns="0" tIns="0" rIns="0" bIns="0" rtlCol="0" anchor="ctr"/>
          <a:lstStyle/>
          <a:p>
            <a:pPr algn="ctr" indent="0" marL="0">
              <a:buNone/>
            </a:pPr>
            <a:r>
              <a:rPr lang="en-US" sz="1200" b="1" spc="100" kern="0" dirty="0">
                <a:solidFill>
                  <a:schemeClr val="bg1"/>
                </a:solidFill>
              </a:rPr>
              <a:t>+ EXTRA</a:t>
            </a:r>
            <a:endParaRPr lang="en-US" sz="1200" dirty="0"/>
          </a:p>
        </p:txBody>
      </p:sp>
      <p:sp>
        <p:nvSpPr>
          <p:cNvPr id="4" name="Text 2"/>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livret</a:t>
            </a:r>
            <a:endParaRPr lang="en-US" sz="1200" dirty="0"/>
          </a:p>
        </p:txBody>
      </p:sp>
      <p:sp>
        <p:nvSpPr>
          <p:cNvPr id="6" name="Text 3"/>
          <p:cNvSpPr txBox="1"/>
          <p:nvPr/>
        </p:nvSpPr>
        <p:spPr>
          <a:xfrm>
            <a:off x="548640" y="1627632"/>
            <a:ext cx="11091672" cy="335280"/>
          </a:xfrm>
          <a:prstGeom prst="rect">
            <a:avLst/>
          </a:prstGeom>
          <a:noFill/>
          <a:ln/>
        </p:spPr>
        <p:txBody>
          <a:bodyPr wrap="square" lIns="0" tIns="0" rIns="0" bIns="0" rtlCol="0" anchor="t"/>
          <a:lstStyle/>
          <a:p>
            <a:pPr indent="0" marL="0">
              <a:buNone/>
            </a:pPr>
            <a:r>
              <a:rPr lang="en-US" sz="1600" i="1" dirty="0">
                <a:solidFill>
                  <a:schemeClr val="accent5"/>
                </a:solidFill>
              </a:rPr>
              <a:t>Complete with the right collocation (verb + noun), in the right form.</a:t>
            </a:r>
            <a:endParaRPr lang="en-US" sz="1600" dirty="0"/>
          </a:p>
        </p:txBody>
      </p:sp>
      <p:sp>
        <p:nvSpPr>
          <p:cNvPr id="7" name="exercise"/>
          <p:cNvSpPr txBox="1"/>
          <p:nvPr/>
        </p:nvSpPr>
        <p:spPr>
          <a:xfrm>
            <a:off x="548640" y="2237232"/>
            <a:ext cx="11091672" cy="4072128"/>
          </a:xfrm>
          <a:prstGeom prst="rect">
            <a:avLst/>
          </a:prstGeom>
          <a:noFill/>
          <a:ln/>
        </p:spPr>
        <p:txBody>
          <a:bodyPr wrap="square" lIns="0" tIns="0" rIns="0" bIns="0" rtlCol="0" anchor="t"/>
          <a:lstStyle/>
          <a:p>
            <a:pPr indent="0" marL="0">
              <a:spcAft>
                <a:spcPts val="1400"/>
              </a:spcAft>
              <a:buNone/>
            </a:pPr>
            <a:r>
              <a:rPr lang="en-US" sz="1900" b="1" dirty="0">
                <a:solidFill>
                  <a:schemeClr val="tx2"/>
                </a:solidFill>
              </a:rPr>
              <a:t>1.  </a:t>
            </a:r>
            <a:r>
              <a:rPr lang="en-US" sz="1900" dirty="0">
                <a:solidFill>
                  <a:schemeClr val="tx1"/>
                </a:solidFill>
              </a:rPr>
              <a:t>The cleaners </a:t>
            </a:r>
            <a:r>
              <a:rPr lang="en-US" sz="1900" dirty="0">
                <a:solidFill>
                  <a:schemeClr val="accent5"/>
                </a:solidFill>
              </a:rPr>
              <a:t>…………………………</a:t>
            </a:r>
            <a:r>
              <a:rPr lang="en-US" sz="1900" dirty="0">
                <a:solidFill>
                  <a:schemeClr val="tx1"/>
                </a:solidFill>
              </a:rPr>
              <a:t> at 6.50.</a:t>
            </a:r>
            <a:endParaRPr lang="en-US" sz="1900" dirty="0"/>
          </a:p>
          <a:p>
            <a:pPr indent="0" marL="0">
              <a:spcAft>
                <a:spcPts val="1400"/>
              </a:spcAft>
              <a:buNone/>
            </a:pPr>
            <a:r>
              <a:rPr lang="en-US" sz="1900" b="1" dirty="0">
                <a:solidFill>
                  <a:schemeClr val="tx2"/>
                </a:solidFill>
              </a:rPr>
              <a:t>2.  </a:t>
            </a:r>
            <a:r>
              <a:rPr lang="en-US" sz="1900" dirty="0">
                <a:solidFill>
                  <a:schemeClr val="tx1"/>
                </a:solidFill>
              </a:rPr>
              <a:t>An expert will </a:t>
            </a:r>
            <a:r>
              <a:rPr lang="en-US" sz="1900" dirty="0">
                <a:solidFill>
                  <a:schemeClr val="accent5"/>
                </a:solidFill>
              </a:rPr>
              <a:t>…………………………</a:t>
            </a:r>
            <a:r>
              <a:rPr lang="en-US" sz="1900" dirty="0">
                <a:solidFill>
                  <a:schemeClr val="tx1"/>
                </a:solidFill>
              </a:rPr>
              <a:t> this afternoon.</a:t>
            </a:r>
            <a:endParaRPr lang="en-US" sz="1900" dirty="0"/>
          </a:p>
          <a:p>
            <a:pPr indent="0" marL="0">
              <a:spcAft>
                <a:spcPts val="1400"/>
              </a:spcAft>
              <a:buNone/>
            </a:pPr>
            <a:r>
              <a:rPr lang="en-US" sz="1900" b="1" dirty="0">
                <a:solidFill>
                  <a:schemeClr val="tx2"/>
                </a:solidFill>
              </a:rPr>
              <a:t>3.  </a:t>
            </a:r>
            <a:r>
              <a:rPr lang="en-US" sz="1900" dirty="0">
                <a:solidFill>
                  <a:schemeClr val="tx1"/>
                </a:solidFill>
              </a:rPr>
              <a:t>We should not </a:t>
            </a:r>
            <a:r>
              <a:rPr lang="en-US" sz="1900" dirty="0">
                <a:solidFill>
                  <a:schemeClr val="accent5"/>
                </a:solidFill>
              </a:rPr>
              <a:t>…………………</a:t>
            </a:r>
            <a:r>
              <a:rPr lang="en-US" sz="1900" dirty="0">
                <a:solidFill>
                  <a:schemeClr val="tx1"/>
                </a:solidFill>
              </a:rPr>
              <a:t> before the cause is established.</a:t>
            </a:r>
            <a:endParaRPr lang="en-US" sz="1900" dirty="0"/>
          </a:p>
          <a:p>
            <a:pPr indent="0" marL="0">
              <a:spcAft>
                <a:spcPts val="1400"/>
              </a:spcAft>
              <a:buNone/>
            </a:pPr>
            <a:r>
              <a:rPr lang="en-US" sz="1900" b="1" dirty="0">
                <a:solidFill>
                  <a:schemeClr val="tx2"/>
                </a:solidFill>
              </a:rPr>
              <a:t>4.  </a:t>
            </a:r>
            <a:r>
              <a:rPr lang="en-US" sz="1900" dirty="0">
                <a:solidFill>
                  <a:schemeClr val="tx1"/>
                </a:solidFill>
              </a:rPr>
              <a:t>Legal has already </a:t>
            </a:r>
            <a:r>
              <a:rPr lang="en-US" sz="1900" dirty="0">
                <a:solidFill>
                  <a:schemeClr val="accent5"/>
                </a:solidFill>
              </a:rPr>
              <a:t>…………………</a:t>
            </a:r>
            <a:r>
              <a:rPr lang="en-US" sz="1900" dirty="0">
                <a:solidFill>
                  <a:schemeClr val="tx1"/>
                </a:solidFill>
              </a:rPr>
              <a:t> to protect the file.</a:t>
            </a:r>
            <a:endParaRPr lang="en-US" sz="1900" dirty="0"/>
          </a:p>
          <a:p>
            <a:pPr indent="0" marL="0">
              <a:spcAft>
                <a:spcPts val="1400"/>
              </a:spcAft>
              <a:buNone/>
            </a:pPr>
            <a:r>
              <a:rPr lang="en-US" sz="1900" b="1" dirty="0">
                <a:solidFill>
                  <a:schemeClr val="tx2"/>
                </a:solidFill>
              </a:rPr>
              <a:t>5.  </a:t>
            </a:r>
            <a:r>
              <a:rPr lang="en-US" sz="1900" dirty="0">
                <a:solidFill>
                  <a:schemeClr val="tx1"/>
                </a:solidFill>
              </a:rPr>
              <a:t>You must </a:t>
            </a:r>
            <a:r>
              <a:rPr lang="en-US" sz="1900" dirty="0">
                <a:solidFill>
                  <a:schemeClr val="accent5"/>
                </a:solidFill>
              </a:rPr>
              <a:t>…………………………</a:t>
            </a:r>
            <a:r>
              <a:rPr lang="en-US" sz="1900" dirty="0">
                <a:solidFill>
                  <a:schemeClr val="tx1"/>
                </a:solidFill>
              </a:rPr>
              <a:t> by 5 p.m.</a:t>
            </a:r>
            <a:endParaRPr lang="en-US" sz="1900" dirty="0"/>
          </a:p>
          <a:p>
            <a:pPr indent="0" marL="0">
              <a:spcAft>
                <a:spcPts val="1400"/>
              </a:spcAft>
              <a:buNone/>
            </a:pPr>
            <a:r>
              <a:rPr lang="en-US" sz="1900" b="1" dirty="0">
                <a:solidFill>
                  <a:schemeClr val="tx2"/>
                </a:solidFill>
              </a:rPr>
              <a:t>6.  </a:t>
            </a:r>
            <a:r>
              <a:rPr lang="en-US" sz="1900" dirty="0">
                <a:solidFill>
                  <a:schemeClr val="tx1"/>
                </a:solidFill>
              </a:rPr>
              <a:t>A final inspection </a:t>
            </a:r>
            <a:r>
              <a:rPr lang="en-US" sz="1900" dirty="0">
                <a:solidFill>
                  <a:schemeClr val="accent5"/>
                </a:solidFill>
              </a:rPr>
              <a:t>………………………</a:t>
            </a:r>
            <a:r>
              <a:rPr lang="en-US" sz="1900" dirty="0">
                <a:solidFill>
                  <a:schemeClr val="tx1"/>
                </a:solidFill>
              </a:rPr>
              <a:t> at 20.04.</a:t>
            </a:r>
            <a:endParaRPr lang="en-US" sz="1900" dirty="0"/>
          </a:p>
          <a:p>
            <a:pPr indent="0" marL="0">
              <a:spcAft>
                <a:spcPts val="1400"/>
              </a:spcAft>
              <a:buNone/>
            </a:pPr>
            <a:r>
              <a:rPr lang="en-US" sz="1900" b="1" dirty="0">
                <a:solidFill>
                  <a:schemeClr val="tx2"/>
                </a:solidFill>
              </a:rPr>
              <a:t>7.  </a:t>
            </a:r>
            <a:r>
              <a:rPr lang="en-US" sz="1900" dirty="0">
                <a:solidFill>
                  <a:schemeClr val="tx1"/>
                </a:solidFill>
              </a:rPr>
              <a:t>If the estimate arrives late, we will not </a:t>
            </a:r>
            <a:r>
              <a:rPr lang="en-US" sz="1900" dirty="0">
                <a:solidFill>
                  <a:schemeClr val="accent5"/>
                </a:solidFill>
              </a:rPr>
              <a:t>…………………………</a:t>
            </a:r>
            <a:r>
              <a:rPr lang="en-US" sz="1900" dirty="0">
                <a:solidFill>
                  <a:schemeClr val="tx1"/>
                </a:solidFill>
              </a:rPr>
              <a:t>.</a:t>
            </a:r>
            <a:endParaRPr lang="en-US" sz="1900" dirty="0"/>
          </a:p>
          <a:p>
            <a:pPr indent="0" marL="0">
              <a:spcAft>
                <a:spcPts val="1400"/>
              </a:spcAft>
              <a:buNone/>
            </a:pPr>
            <a:r>
              <a:rPr lang="en-US" sz="1900" b="1" dirty="0">
                <a:solidFill>
                  <a:schemeClr val="tx2"/>
                </a:solidFill>
              </a:rPr>
              <a:t>8.  </a:t>
            </a:r>
            <a:r>
              <a:rPr lang="en-US" sz="1900" dirty="0">
                <a:solidFill>
                  <a:schemeClr val="tx1"/>
                </a:solidFill>
              </a:rPr>
              <a:t>The property manager must </a:t>
            </a:r>
            <a:r>
              <a:rPr lang="en-US" sz="1900" dirty="0">
                <a:solidFill>
                  <a:schemeClr val="accent5"/>
                </a:solidFill>
              </a:rPr>
              <a:t>……………………………</a:t>
            </a:r>
            <a:r>
              <a:rPr lang="en-US" sz="1900" dirty="0">
                <a:solidFill>
                  <a:schemeClr val="tx1"/>
                </a:solidFill>
              </a:rPr>
              <a:t> before the handover.</a:t>
            </a:r>
            <a:endParaRPr lang="en-US" sz="19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Use the block, not the translation</a:t>
            </a:r>
            <a:endParaRPr lang="en-US" sz="3200" dirty="0"/>
          </a:p>
        </p:txBody>
      </p:sp>
      <p:sp>
        <p:nvSpPr>
          <p:cNvPr id="3" name="tag"/>
          <p:cNvSpPr/>
          <p:nvPr/>
        </p:nvSpPr>
        <p:spPr>
          <a:xfrm>
            <a:off x="548640" y="384048"/>
            <a:ext cx="1165860" cy="310896"/>
          </a:xfrm>
          <a:prstGeom prst="roundRect">
            <a:avLst>
              <a:gd name="adj" fmla="val 14706"/>
            </a:avLst>
          </a:prstGeom>
          <a:solidFill>
            <a:srgbClr val="1F3864"/>
          </a:solidFill>
          <a:ln/>
        </p:spPr>
        <p:txBody>
          <a:bodyPr wrap="square" lIns="0" tIns="0" rIns="0" bIns="0" rtlCol="0" anchor="ctr"/>
          <a:lstStyle/>
          <a:p>
            <a:pPr algn="ctr" indent="0" marL="0">
              <a:buNone/>
            </a:pPr>
            <a:r>
              <a:rPr lang="en-US" sz="1200" b="1" spc="100" kern="0" dirty="0">
                <a:solidFill>
                  <a:schemeClr val="bg1"/>
                </a:solidFill>
              </a:rPr>
              <a:t>+ EXTRA</a:t>
            </a:r>
            <a:endParaRPr lang="en-US" sz="1200" dirty="0"/>
          </a:p>
        </p:txBody>
      </p:sp>
      <p:sp>
        <p:nvSpPr>
          <p:cNvPr id="4" name="tag"/>
          <p:cNvSpPr/>
          <p:nvPr/>
        </p:nvSpPr>
        <p:spPr>
          <a:xfrm>
            <a:off x="1824228" y="384048"/>
            <a:ext cx="1874520" cy="310896"/>
          </a:xfrm>
          <a:prstGeom prst="roundRect">
            <a:avLst>
              <a:gd name="adj" fmla="val 14706"/>
            </a:avLst>
          </a:prstGeom>
          <a:solidFill>
            <a:srgbClr val="3C7A3C"/>
          </a:solidFill>
          <a:ln/>
        </p:spPr>
        <p:txBody>
          <a:bodyPr wrap="square" lIns="0" tIns="0" rIns="0" bIns="0" rtlCol="0" anchor="ctr"/>
          <a:lstStyle/>
          <a:p>
            <a:pPr algn="ctr" indent="0" marL="0">
              <a:buNone/>
            </a:pPr>
            <a:r>
              <a:rPr lang="en-US" sz="1200" b="1" spc="100" kern="0" dirty="0">
                <a:solidFill>
                  <a:schemeClr val="bg1"/>
                </a:solidFill>
              </a:rPr>
              <a:t>✓ CORRECTION</a:t>
            </a:r>
            <a:endParaRPr lang="en-US" sz="1200" dirty="0"/>
          </a:p>
        </p:txBody>
      </p:sp>
      <p:sp>
        <p:nvSpPr>
          <p:cNvPr id="5" name="Text 3"/>
          <p:cNvSpPr txBox="1"/>
          <p:nvPr/>
        </p:nvSpPr>
        <p:spPr>
          <a:xfrm>
            <a:off x="8897112" y="365760"/>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livret</a:t>
            </a:r>
            <a:endParaRPr lang="en-US" sz="1200" dirty="0"/>
          </a:p>
        </p:txBody>
      </p:sp>
      <p:sp>
        <p:nvSpPr>
          <p:cNvPr id="7" name="Text 4"/>
          <p:cNvSpPr txBox="1"/>
          <p:nvPr/>
        </p:nvSpPr>
        <p:spPr>
          <a:xfrm>
            <a:off x="548640" y="1627632"/>
            <a:ext cx="11091672" cy="335280"/>
          </a:xfrm>
          <a:prstGeom prst="rect">
            <a:avLst/>
          </a:prstGeom>
          <a:noFill/>
          <a:ln/>
        </p:spPr>
        <p:txBody>
          <a:bodyPr wrap="square" lIns="0" tIns="0" rIns="0" bIns="0" rtlCol="0" anchor="t"/>
          <a:lstStyle/>
          <a:p>
            <a:pPr indent="0" marL="0">
              <a:buNone/>
            </a:pPr>
            <a:r>
              <a:rPr lang="en-US" sz="1600" i="1" dirty="0">
                <a:solidFill>
                  <a:schemeClr val="accent5"/>
                </a:solidFill>
              </a:rPr>
              <a:t>Complete with the right collocation (verb + noun), in the right form.</a:t>
            </a:r>
            <a:endParaRPr lang="en-US" sz="1600" dirty="0"/>
          </a:p>
        </p:txBody>
      </p:sp>
      <p:sp>
        <p:nvSpPr>
          <p:cNvPr id="8" name="exercise"/>
          <p:cNvSpPr txBox="1"/>
          <p:nvPr/>
        </p:nvSpPr>
        <p:spPr>
          <a:xfrm>
            <a:off x="548640" y="2237232"/>
            <a:ext cx="11091672" cy="4072128"/>
          </a:xfrm>
          <a:prstGeom prst="rect">
            <a:avLst/>
          </a:prstGeom>
          <a:noFill/>
          <a:ln/>
        </p:spPr>
        <p:txBody>
          <a:bodyPr wrap="square" lIns="0" tIns="0" rIns="0" bIns="0" rtlCol="0" anchor="t"/>
          <a:lstStyle/>
          <a:p>
            <a:pPr indent="0" marL="0">
              <a:spcAft>
                <a:spcPts val="1000"/>
              </a:spcAft>
              <a:buNone/>
            </a:pPr>
            <a:r>
              <a:rPr lang="en-US" sz="2000" b="1" dirty="0">
                <a:solidFill>
                  <a:schemeClr val="tx2"/>
                </a:solidFill>
              </a:rPr>
              <a:t>1.  </a:t>
            </a:r>
            <a:r>
              <a:rPr lang="en-US" sz="2000" dirty="0">
                <a:solidFill>
                  <a:schemeClr val="tx1"/>
                </a:solidFill>
              </a:rPr>
              <a:t>The cleaners </a:t>
            </a:r>
            <a:r>
              <a:rPr lang="en-US" sz="2000" b="1" dirty="0">
                <a:solidFill>
                  <a:schemeClr val="accent3"/>
                </a:solidFill>
              </a:rPr>
              <a:t>raised the alarm</a:t>
            </a:r>
            <a:r>
              <a:rPr lang="en-US" sz="2000" dirty="0">
                <a:solidFill>
                  <a:schemeClr val="tx1"/>
                </a:solidFill>
              </a:rPr>
              <a:t> at 6.50.</a:t>
            </a:r>
            <a:endParaRPr lang="en-US" sz="2000" dirty="0"/>
          </a:p>
          <a:p>
            <a:pPr indent="0" marL="0">
              <a:spcAft>
                <a:spcPts val="1000"/>
              </a:spcAft>
              <a:buNone/>
            </a:pPr>
            <a:r>
              <a:rPr lang="en-US" sz="2000" b="1" dirty="0">
                <a:solidFill>
                  <a:schemeClr val="tx2"/>
                </a:solidFill>
              </a:rPr>
              <a:t>2.  </a:t>
            </a:r>
            <a:r>
              <a:rPr lang="en-US" sz="2000" dirty="0">
                <a:solidFill>
                  <a:schemeClr val="tx1"/>
                </a:solidFill>
              </a:rPr>
              <a:t>An expert will </a:t>
            </a:r>
            <a:r>
              <a:rPr lang="en-US" sz="2000" b="1" dirty="0">
                <a:solidFill>
                  <a:schemeClr val="accent3"/>
                </a:solidFill>
              </a:rPr>
              <a:t>assess the damage</a:t>
            </a:r>
            <a:r>
              <a:rPr lang="en-US" sz="2000" dirty="0">
                <a:solidFill>
                  <a:schemeClr val="tx1"/>
                </a:solidFill>
              </a:rPr>
              <a:t> this afternoon.</a:t>
            </a:r>
            <a:endParaRPr lang="en-US" sz="2000" dirty="0"/>
          </a:p>
          <a:p>
            <a:pPr indent="0" marL="0">
              <a:spcAft>
                <a:spcPts val="1000"/>
              </a:spcAft>
              <a:buNone/>
            </a:pPr>
            <a:r>
              <a:rPr lang="en-US" sz="2000" b="1" dirty="0">
                <a:solidFill>
                  <a:schemeClr val="tx2"/>
                </a:solidFill>
              </a:rPr>
              <a:t>3.  </a:t>
            </a:r>
            <a:r>
              <a:rPr lang="en-US" sz="2000" dirty="0">
                <a:solidFill>
                  <a:schemeClr val="tx1"/>
                </a:solidFill>
              </a:rPr>
              <a:t>We should not </a:t>
            </a:r>
            <a:r>
              <a:rPr lang="en-US" sz="2000" b="1" dirty="0">
                <a:solidFill>
                  <a:schemeClr val="accent3"/>
                </a:solidFill>
              </a:rPr>
              <a:t>file a claim</a:t>
            </a:r>
            <a:r>
              <a:rPr lang="en-US" sz="2000" dirty="0">
                <a:solidFill>
                  <a:schemeClr val="tx1"/>
                </a:solidFill>
              </a:rPr>
              <a:t> before the cause is established.</a:t>
            </a:r>
            <a:endParaRPr lang="en-US" sz="2000" dirty="0"/>
          </a:p>
          <a:p>
            <a:pPr indent="0" marL="0">
              <a:spcAft>
                <a:spcPts val="1000"/>
              </a:spcAft>
              <a:buNone/>
            </a:pPr>
            <a:r>
              <a:rPr lang="en-US" sz="2000" b="1" dirty="0">
                <a:solidFill>
                  <a:schemeClr val="tx2"/>
                </a:solidFill>
              </a:rPr>
              <a:t>4.  </a:t>
            </a:r>
            <a:r>
              <a:rPr lang="en-US" sz="2000" dirty="0">
                <a:solidFill>
                  <a:schemeClr val="tx1"/>
                </a:solidFill>
              </a:rPr>
              <a:t>Legal has already </a:t>
            </a:r>
            <a:r>
              <a:rPr lang="en-US" sz="2000" b="1" dirty="0">
                <a:solidFill>
                  <a:schemeClr val="accent3"/>
                </a:solidFill>
              </a:rPr>
              <a:t>taken steps</a:t>
            </a:r>
            <a:r>
              <a:rPr lang="en-US" sz="2000" dirty="0">
                <a:solidFill>
                  <a:schemeClr val="tx1"/>
                </a:solidFill>
              </a:rPr>
              <a:t> to protect the file.</a:t>
            </a:r>
            <a:endParaRPr lang="en-US" sz="2000" dirty="0"/>
          </a:p>
          <a:p>
            <a:pPr indent="0" marL="0">
              <a:spcAft>
                <a:spcPts val="1000"/>
              </a:spcAft>
              <a:buNone/>
            </a:pPr>
            <a:r>
              <a:rPr lang="en-US" sz="2000" b="1" dirty="0">
                <a:solidFill>
                  <a:schemeClr val="tx2"/>
                </a:solidFill>
              </a:rPr>
              <a:t>5.  </a:t>
            </a:r>
            <a:r>
              <a:rPr lang="en-US" sz="2000" dirty="0">
                <a:solidFill>
                  <a:schemeClr val="tx1"/>
                </a:solidFill>
              </a:rPr>
              <a:t>You must </a:t>
            </a:r>
            <a:r>
              <a:rPr lang="en-US" sz="2000" b="1" dirty="0">
                <a:solidFill>
                  <a:schemeClr val="accent3"/>
                </a:solidFill>
              </a:rPr>
              <a:t>draw up a report</a:t>
            </a:r>
            <a:r>
              <a:rPr lang="en-US" sz="2000" dirty="0">
                <a:solidFill>
                  <a:schemeClr val="tx1"/>
                </a:solidFill>
              </a:rPr>
              <a:t> by 5 p.m.</a:t>
            </a:r>
            <a:endParaRPr lang="en-US" sz="2000" dirty="0"/>
          </a:p>
          <a:p>
            <a:pPr indent="0" marL="0">
              <a:spcAft>
                <a:spcPts val="1000"/>
              </a:spcAft>
              <a:buNone/>
            </a:pPr>
            <a:r>
              <a:rPr lang="en-US" sz="2000" b="1" dirty="0">
                <a:solidFill>
                  <a:schemeClr val="tx2"/>
                </a:solidFill>
              </a:rPr>
              <a:t>6.  </a:t>
            </a:r>
            <a:r>
              <a:rPr lang="en-US" sz="2000" dirty="0">
                <a:solidFill>
                  <a:schemeClr val="tx1"/>
                </a:solidFill>
              </a:rPr>
              <a:t>A final inspection </a:t>
            </a:r>
            <a:r>
              <a:rPr lang="en-US" sz="2000" b="1" dirty="0">
                <a:solidFill>
                  <a:schemeClr val="accent3"/>
                </a:solidFill>
              </a:rPr>
              <a:t>was carried out</a:t>
            </a:r>
            <a:r>
              <a:rPr lang="en-US" sz="2000" dirty="0">
                <a:solidFill>
                  <a:schemeClr val="tx1"/>
                </a:solidFill>
              </a:rPr>
              <a:t> at 20.04.</a:t>
            </a:r>
            <a:endParaRPr lang="en-US" sz="2000" dirty="0"/>
          </a:p>
          <a:p>
            <a:pPr indent="0" marL="0">
              <a:spcAft>
                <a:spcPts val="1000"/>
              </a:spcAft>
              <a:buNone/>
            </a:pPr>
            <a:r>
              <a:rPr lang="en-US" sz="2000" b="1" dirty="0">
                <a:solidFill>
                  <a:schemeClr val="tx2"/>
                </a:solidFill>
              </a:rPr>
              <a:t>7.  </a:t>
            </a:r>
            <a:r>
              <a:rPr lang="en-US" sz="2000" dirty="0">
                <a:solidFill>
                  <a:schemeClr val="tx1"/>
                </a:solidFill>
              </a:rPr>
              <a:t>If the estimate arrives late, we will not </a:t>
            </a:r>
            <a:r>
              <a:rPr lang="en-US" sz="2000" b="1" dirty="0">
                <a:solidFill>
                  <a:schemeClr val="accent3"/>
                </a:solidFill>
              </a:rPr>
              <a:t>meet the deadline</a:t>
            </a:r>
            <a:r>
              <a:rPr lang="en-US" sz="2000" dirty="0">
                <a:solidFill>
                  <a:schemeClr val="tx1"/>
                </a:solidFill>
              </a:rPr>
              <a:t>.</a:t>
            </a:r>
            <a:endParaRPr lang="en-US" sz="2000" dirty="0"/>
          </a:p>
          <a:p>
            <a:pPr indent="0" marL="0">
              <a:spcAft>
                <a:spcPts val="1000"/>
              </a:spcAft>
              <a:buNone/>
            </a:pPr>
            <a:r>
              <a:rPr lang="en-US" sz="2000" b="1" dirty="0">
                <a:solidFill>
                  <a:schemeClr val="tx2"/>
                </a:solidFill>
              </a:rPr>
              <a:t>8.  </a:t>
            </a:r>
            <a:r>
              <a:rPr lang="en-US" sz="2000" dirty="0">
                <a:solidFill>
                  <a:schemeClr val="tx1"/>
                </a:solidFill>
              </a:rPr>
              <a:t>The property manager must </a:t>
            </a:r>
            <a:r>
              <a:rPr lang="en-US" sz="2000" b="1" dirty="0">
                <a:solidFill>
                  <a:schemeClr val="accent3"/>
                </a:solidFill>
              </a:rPr>
              <a:t>make good the floor</a:t>
            </a:r>
            <a:r>
              <a:rPr lang="en-US" sz="2000" dirty="0">
                <a:solidFill>
                  <a:schemeClr val="tx1"/>
                </a:solidFill>
              </a:rPr>
              <a:t> before the handover.</a:t>
            </a:r>
            <a:endParaRPr lang="en-US" sz="2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1672" cy="685800"/>
          </a:xfrm>
          <a:prstGeom prst="rect">
            <a:avLst/>
          </a:prstGeom>
          <a:noFill/>
          <a:ln/>
        </p:spPr>
        <p:txBody>
          <a:bodyPr wrap="square" lIns="0" tIns="0" rIns="0" bIns="0" rtlCol="0" anchor="ctr"/>
          <a:lstStyle/>
          <a:p>
            <a:pPr algn="l" indent="0" marL="0">
              <a:buNone/>
            </a:pPr>
            <a:r>
              <a:rPr lang="en-US" sz="3200" b="1" dirty="0">
                <a:solidFill>
                  <a:schemeClr val="tx2"/>
                </a:solidFill>
              </a:rPr>
              <a:t>Before you close the file</a:t>
            </a:r>
            <a:endParaRPr lang="en-US" sz="3200" dirty="0"/>
          </a:p>
        </p:txBody>
      </p:sp>
      <p:sp>
        <p:nvSpPr>
          <p:cNvPr id="3" name="tag"/>
          <p:cNvSpPr/>
          <p:nvPr/>
        </p:nvSpPr>
        <p:spPr>
          <a:xfrm>
            <a:off x="548640" y="384048"/>
            <a:ext cx="1965960" cy="310896"/>
          </a:xfrm>
          <a:prstGeom prst="roundRect">
            <a:avLst>
              <a:gd name="adj" fmla="val 14706"/>
            </a:avLst>
          </a:prstGeom>
          <a:solidFill>
            <a:srgbClr val="C0752A"/>
          </a:solidFill>
          <a:ln/>
        </p:spPr>
        <p:txBody>
          <a:bodyPr wrap="square" lIns="0" tIns="0" rIns="0" bIns="0" rtlCol="0" anchor="ctr"/>
          <a:lstStyle/>
          <a:p>
            <a:pPr algn="ctr" indent="0" marL="0">
              <a:buNone/>
            </a:pPr>
            <a:r>
              <a:rPr lang="en-US" sz="1200" b="1" spc="100" kern="0" dirty="0">
                <a:solidFill>
                  <a:schemeClr val="bg1"/>
                </a:solidFill>
              </a:rPr>
              <a:t>END OF SESSION</a:t>
            </a:r>
            <a:endParaRPr lang="en-US" sz="1200" dirty="0"/>
          </a:p>
        </p:txBody>
      </p:sp>
      <p:sp>
        <p:nvSpPr>
          <p:cNvPr id="4" name="Shape 2"/>
          <p:cNvSpPr/>
          <p:nvPr/>
        </p:nvSpPr>
        <p:spPr>
          <a:xfrm>
            <a:off x="548640" y="1783080"/>
            <a:ext cx="6035040" cy="2697480"/>
          </a:xfrm>
          <a:prstGeom prst="roundRect">
            <a:avLst>
              <a:gd name="adj" fmla="val 2712"/>
            </a:avLst>
          </a:prstGeom>
          <a:solidFill>
            <a:srgbClr val="1F3864"/>
          </a:solidFill>
          <a:ln/>
        </p:spPr>
      </p:sp>
      <p:sp>
        <p:nvSpPr>
          <p:cNvPr id="5" name="Text 3"/>
          <p:cNvSpPr txBox="1"/>
          <p:nvPr/>
        </p:nvSpPr>
        <p:spPr>
          <a:xfrm>
            <a:off x="822960" y="1965960"/>
            <a:ext cx="4572000" cy="292608"/>
          </a:xfrm>
          <a:prstGeom prst="rect">
            <a:avLst/>
          </a:prstGeom>
          <a:noFill/>
          <a:ln/>
        </p:spPr>
        <p:txBody>
          <a:bodyPr wrap="square" lIns="0" tIns="0" rIns="0" bIns="0" rtlCol="0" anchor="ctr"/>
          <a:lstStyle/>
          <a:p>
            <a:pPr indent="0" marL="0">
              <a:buNone/>
            </a:pPr>
            <a:r>
              <a:rPr lang="en-US" sz="1300" b="1" spc="200" kern="0" dirty="0">
                <a:solidFill>
                  <a:schemeClr val="accent1"/>
                </a:solidFill>
              </a:rPr>
              <a:t>NEXT IN THE FILE</a:t>
            </a:r>
            <a:endParaRPr lang="en-US" sz="1300" dirty="0"/>
          </a:p>
        </p:txBody>
      </p:sp>
      <p:sp>
        <p:nvSpPr>
          <p:cNvPr id="6" name="Text 4"/>
          <p:cNvSpPr txBox="1"/>
          <p:nvPr/>
        </p:nvSpPr>
        <p:spPr>
          <a:xfrm>
            <a:off x="822960" y="2350008"/>
            <a:ext cx="5486400" cy="2011680"/>
          </a:xfrm>
          <a:prstGeom prst="rect">
            <a:avLst/>
          </a:prstGeom>
          <a:noFill/>
          <a:ln/>
        </p:spPr>
        <p:txBody>
          <a:bodyPr wrap="square" lIns="0" tIns="0" rIns="0" bIns="0" rtlCol="0" anchor="t"/>
          <a:lstStyle/>
          <a:p>
            <a:pPr indent="0" marL="0">
              <a:buNone/>
            </a:pPr>
            <a:r>
              <a:rPr lang="en-US" sz="2200" i="1" dirty="0">
                <a:solidFill>
                  <a:schemeClr val="bg1"/>
                </a:solidFill>
                <a:latin typeface="+mj-lt" pitchFamily="34" charset="0"/>
                <a:ea typeface="+mj-lt" pitchFamily="34" charset="-122"/>
                <a:cs typeface="+mj-lt" pitchFamily="34" charset="-120"/>
              </a:rPr>
              <a:t>At nine o’clock Mark will ask you </a:t>
            </a:r>
            <a:r>
              <a:rPr lang="en-US" sz="2200" b="1" i="1" dirty="0">
                <a:solidFill>
                  <a:schemeClr val="bg1"/>
                </a:solidFill>
                <a:latin typeface="+mj-lt" pitchFamily="34" charset="0"/>
                <a:ea typeface="+mj-lt" pitchFamily="34" charset="-122"/>
                <a:cs typeface="+mj-lt" pitchFamily="34" charset="-120"/>
              </a:rPr>
              <a:t>what holds up</a:t>
            </a:r>
            <a:r>
              <a:rPr lang="en-US" sz="2200" i="1" dirty="0">
                <a:solidFill>
                  <a:schemeClr val="bg1"/>
                </a:solidFill>
                <a:latin typeface="+mj-lt" pitchFamily="34" charset="0"/>
                <a:ea typeface="+mj-lt" pitchFamily="34" charset="-122"/>
                <a:cs typeface="+mj-lt" pitchFamily="34" charset="-120"/>
              </a:rPr>
              <a:t>. Six statements were made in the room. Which ones can you prove today?</a:t>
            </a:r>
            <a:endParaRPr lang="en-US" sz="2200" dirty="0"/>
          </a:p>
        </p:txBody>
      </p:sp>
      <p:sp>
        <p:nvSpPr>
          <p:cNvPr id="7" name="Shape 5"/>
          <p:cNvSpPr/>
          <p:nvPr/>
        </p:nvSpPr>
        <p:spPr>
          <a:xfrm>
            <a:off x="548640" y="4754880"/>
            <a:ext cx="6035040" cy="1554480"/>
          </a:xfrm>
          <a:prstGeom prst="roundRect">
            <a:avLst>
              <a:gd name="adj" fmla="val 4706"/>
            </a:avLst>
          </a:prstGeom>
          <a:solidFill>
            <a:srgbClr val="C0752A">
              <a:alpha val="12000"/>
            </a:srgbClr>
          </a:solidFill>
          <a:ln w="15875">
            <a:solidFill>
              <a:srgbClr val="C0752A"/>
            </a:solidFill>
            <a:prstDash val="solid"/>
          </a:ln>
        </p:spPr>
      </p:sp>
      <p:pic>
        <p:nvPicPr>
          <p:cNvPr id="8" name="Image 0" descr="preencoded.png">    </p:cNvPr>
          <p:cNvPicPr>
            <a:picLocks noChangeAspect="1"/>
          </p:cNvPicPr>
          <p:nvPr/>
        </p:nvPicPr>
        <p:blipFill>
          <a:blip r:embed="rId1"/>
          <a:stretch>
            <a:fillRect/>
          </a:stretch>
        </p:blipFill>
        <p:spPr>
          <a:xfrm>
            <a:off x="822960" y="4983480"/>
            <a:ext cx="329184" cy="329184"/>
          </a:xfrm>
          <a:prstGeom prst="rect">
            <a:avLst/>
          </a:prstGeom>
        </p:spPr>
      </p:pic>
      <p:sp>
        <p:nvSpPr>
          <p:cNvPr id="9" name="Text 6"/>
          <p:cNvSpPr txBox="1"/>
          <p:nvPr/>
        </p:nvSpPr>
        <p:spPr>
          <a:xfrm>
            <a:off x="1298448" y="4956048"/>
            <a:ext cx="3657600" cy="384048"/>
          </a:xfrm>
          <a:prstGeom prst="rect">
            <a:avLst/>
          </a:prstGeom>
          <a:noFill/>
          <a:ln/>
        </p:spPr>
        <p:txBody>
          <a:bodyPr wrap="square" lIns="0" tIns="0" rIns="0" bIns="0" rtlCol="0" anchor="ctr"/>
          <a:lstStyle/>
          <a:p>
            <a:pPr indent="0" marL="0">
              <a:buNone/>
            </a:pPr>
            <a:r>
              <a:rPr lang="en-US" sz="1300" b="1" spc="200" kern="0" dirty="0">
                <a:solidFill>
                  <a:schemeClr val="accent1"/>
                </a:solidFill>
              </a:rPr>
              <a:t>EXIT TICKET</a:t>
            </a:r>
            <a:endParaRPr lang="en-US" sz="1300" dirty="0"/>
          </a:p>
        </p:txBody>
      </p:sp>
      <p:sp>
        <p:nvSpPr>
          <p:cNvPr id="10" name="Text 7"/>
          <p:cNvSpPr txBox="1"/>
          <p:nvPr/>
        </p:nvSpPr>
        <p:spPr>
          <a:xfrm>
            <a:off x="822960" y="5440680"/>
            <a:ext cx="5486400" cy="777240"/>
          </a:xfrm>
          <a:prstGeom prst="rect">
            <a:avLst/>
          </a:prstGeom>
          <a:noFill/>
          <a:ln/>
        </p:spPr>
        <p:txBody>
          <a:bodyPr wrap="square" lIns="0" tIns="0" rIns="0" bIns="0" rtlCol="0" anchor="t"/>
          <a:lstStyle/>
          <a:p>
            <a:pPr indent="0" marL="0">
              <a:buNone/>
            </a:pPr>
            <a:r>
              <a:rPr lang="en-US" sz="1800" dirty="0">
                <a:solidFill>
                  <a:schemeClr val="tx1"/>
                </a:solidFill>
              </a:rPr>
              <a:t>Ask the two questions you would ask the building manager — one </a:t>
            </a:r>
            <a:r>
              <a:rPr lang="en-US" sz="1800" b="1" dirty="0">
                <a:solidFill>
                  <a:schemeClr val="tx1"/>
                </a:solidFill>
              </a:rPr>
              <a:t>Who…?</a:t>
            </a:r>
            <a:r>
              <a:rPr lang="en-US" sz="1800" dirty="0">
                <a:solidFill>
                  <a:schemeClr val="tx1"/>
                </a:solidFill>
              </a:rPr>
              <a:t>, one </a:t>
            </a:r>
            <a:r>
              <a:rPr lang="en-US" sz="1800" b="1" dirty="0">
                <a:solidFill>
                  <a:schemeClr val="tx1"/>
                </a:solidFill>
              </a:rPr>
              <a:t>How long…?</a:t>
            </a:r>
            <a:endParaRPr lang="en-US" sz="1800" dirty="0"/>
          </a:p>
        </p:txBody>
      </p:sp>
      <p:sp>
        <p:nvSpPr>
          <p:cNvPr id="11" name="Shape 8"/>
          <p:cNvSpPr/>
          <p:nvPr/>
        </p:nvSpPr>
        <p:spPr>
          <a:xfrm>
            <a:off x="6903720" y="1783080"/>
            <a:ext cx="4736592" cy="4526280"/>
          </a:xfrm>
          <a:prstGeom prst="roundRect">
            <a:avLst>
              <a:gd name="adj" fmla="val 1616"/>
            </a:avLst>
          </a:prstGeom>
          <a:solidFill>
            <a:srgbClr val="EEF2F8"/>
          </a:solidFill>
          <a:ln w="9525">
            <a:solidFill>
              <a:srgbClr val="D5DCE6"/>
            </a:solidFill>
            <a:prstDash val="solid"/>
          </a:ln>
        </p:spPr>
      </p:sp>
      <p:pic>
        <p:nvPicPr>
          <p:cNvPr id="12" name="Image 1" descr="preencoded.png">    </p:cNvPr>
          <p:cNvPicPr>
            <a:picLocks noChangeAspect="1"/>
          </p:cNvPicPr>
          <p:nvPr/>
        </p:nvPicPr>
        <p:blipFill>
          <a:blip r:embed="rId2"/>
          <a:stretch>
            <a:fillRect/>
          </a:stretch>
        </p:blipFill>
        <p:spPr>
          <a:xfrm>
            <a:off x="7159752" y="2002536"/>
            <a:ext cx="365760" cy="365760"/>
          </a:xfrm>
          <a:prstGeom prst="rect">
            <a:avLst/>
          </a:prstGeom>
        </p:spPr>
      </p:pic>
      <p:sp>
        <p:nvSpPr>
          <p:cNvPr id="13" name="Text 9"/>
          <p:cNvSpPr txBox="1"/>
          <p:nvPr/>
        </p:nvSpPr>
        <p:spPr>
          <a:xfrm>
            <a:off x="7653528" y="1984248"/>
            <a:ext cx="3822192" cy="384048"/>
          </a:xfrm>
          <a:prstGeom prst="rect">
            <a:avLst/>
          </a:prstGeom>
          <a:noFill/>
          <a:ln/>
        </p:spPr>
        <p:txBody>
          <a:bodyPr wrap="square" lIns="0" tIns="0" rIns="0" bIns="0" rtlCol="0" anchor="ctr"/>
          <a:lstStyle/>
          <a:p>
            <a:pPr indent="0" marL="0">
              <a:buNone/>
            </a:pPr>
            <a:r>
              <a:rPr lang="en-US" sz="1400" b="1" spc="100" kern="0" dirty="0">
                <a:solidFill>
                  <a:schemeClr val="tx2"/>
                </a:solidFill>
              </a:rPr>
              <a:t>BEFORE NEXT SESSION</a:t>
            </a:r>
            <a:endParaRPr lang="en-US" sz="1400" dirty="0"/>
          </a:p>
        </p:txBody>
      </p:sp>
      <p:pic>
        <p:nvPicPr>
          <p:cNvPr id="14" name="Image 2" descr="preencoded.png">    </p:cNvPr>
          <p:cNvPicPr>
            <a:picLocks noChangeAspect="1"/>
          </p:cNvPicPr>
          <p:nvPr/>
        </p:nvPicPr>
        <p:blipFill>
          <a:blip r:embed="rId3"/>
          <a:stretch>
            <a:fillRect/>
          </a:stretch>
        </p:blipFill>
        <p:spPr>
          <a:xfrm>
            <a:off x="7178040" y="2606040"/>
            <a:ext cx="256032" cy="256032"/>
          </a:xfrm>
          <a:prstGeom prst="rect">
            <a:avLst/>
          </a:prstGeom>
        </p:spPr>
      </p:pic>
      <p:sp>
        <p:nvSpPr>
          <p:cNvPr id="15" name="Text 10"/>
          <p:cNvSpPr txBox="1"/>
          <p:nvPr/>
        </p:nvSpPr>
        <p:spPr>
          <a:xfrm>
            <a:off x="7589520" y="2560320"/>
            <a:ext cx="3867912" cy="1005840"/>
          </a:xfrm>
          <a:prstGeom prst="rect">
            <a:avLst/>
          </a:prstGeom>
          <a:noFill/>
          <a:ln/>
        </p:spPr>
        <p:txBody>
          <a:bodyPr wrap="square" lIns="0" tIns="0" rIns="0" bIns="0" rtlCol="0" anchor="t"/>
          <a:lstStyle/>
          <a:p>
            <a:pPr indent="0" marL="0">
              <a:buNone/>
            </a:pPr>
            <a:r>
              <a:rPr lang="en-US" sz="1700" dirty="0">
                <a:solidFill>
                  <a:schemeClr val="tx1"/>
                </a:solidFill>
              </a:rPr>
              <a:t>Learn the </a:t>
            </a:r>
            <a:r>
              <a:rPr lang="en-US" sz="1700" b="1" dirty="0">
                <a:solidFill>
                  <a:schemeClr val="tx1"/>
                </a:solidFill>
              </a:rPr>
              <a:t>22 irregular verbs</a:t>
            </a:r>
            <a:r>
              <a:rPr lang="en-US" sz="1700" dirty="0">
                <a:solidFill>
                  <a:schemeClr val="tx1"/>
                </a:solidFill>
              </a:rPr>
              <a:t> — family by family.</a:t>
            </a:r>
            <a:endParaRPr lang="en-US" sz="1700" dirty="0"/>
          </a:p>
        </p:txBody>
      </p:sp>
      <p:pic>
        <p:nvPicPr>
          <p:cNvPr id="16" name="Image 3" descr="preencoded.png">    </p:cNvPr>
          <p:cNvPicPr>
            <a:picLocks noChangeAspect="1"/>
          </p:cNvPicPr>
          <p:nvPr/>
        </p:nvPicPr>
        <p:blipFill>
          <a:blip r:embed="rId4"/>
          <a:stretch>
            <a:fillRect/>
          </a:stretch>
        </p:blipFill>
        <p:spPr>
          <a:xfrm>
            <a:off x="7178040" y="3611880"/>
            <a:ext cx="256032" cy="256032"/>
          </a:xfrm>
          <a:prstGeom prst="rect">
            <a:avLst/>
          </a:prstGeom>
        </p:spPr>
      </p:pic>
      <p:sp>
        <p:nvSpPr>
          <p:cNvPr id="17" name="Text 11"/>
          <p:cNvSpPr txBox="1"/>
          <p:nvPr/>
        </p:nvSpPr>
        <p:spPr>
          <a:xfrm>
            <a:off x="7589520" y="3566160"/>
            <a:ext cx="3867912" cy="1005840"/>
          </a:xfrm>
          <a:prstGeom prst="rect">
            <a:avLst/>
          </a:prstGeom>
          <a:noFill/>
          <a:ln/>
        </p:spPr>
        <p:txBody>
          <a:bodyPr wrap="square" lIns="0" tIns="0" rIns="0" bIns="0" rtlCol="0" anchor="t"/>
          <a:lstStyle/>
          <a:p>
            <a:pPr indent="0" marL="0">
              <a:buNone/>
            </a:pPr>
            <a:r>
              <a:rPr lang="en-US" sz="1700" dirty="0">
                <a:solidFill>
                  <a:schemeClr val="tx1"/>
                </a:solidFill>
              </a:rPr>
              <a:t>Learn the </a:t>
            </a:r>
            <a:r>
              <a:rPr lang="en-US" sz="1700" b="1" dirty="0">
                <a:solidFill>
                  <a:schemeClr val="tx1"/>
                </a:solidFill>
              </a:rPr>
              <a:t>8 collocations</a:t>
            </a:r>
            <a:r>
              <a:rPr lang="en-US" sz="1700" dirty="0">
                <a:solidFill>
                  <a:schemeClr val="tx1"/>
                </a:solidFill>
              </a:rPr>
              <a:t> of the Word file (p. 15).</a:t>
            </a:r>
            <a:endParaRPr lang="en-US" sz="1700" dirty="0"/>
          </a:p>
        </p:txBody>
      </p:sp>
      <p:pic>
        <p:nvPicPr>
          <p:cNvPr id="18" name="Image 4" descr="preencoded.png">    </p:cNvPr>
          <p:cNvPicPr>
            <a:picLocks noChangeAspect="1"/>
          </p:cNvPicPr>
          <p:nvPr/>
        </p:nvPicPr>
        <p:blipFill>
          <a:blip r:embed="rId5"/>
          <a:stretch>
            <a:fillRect/>
          </a:stretch>
        </p:blipFill>
        <p:spPr>
          <a:xfrm>
            <a:off x="7178040" y="4617720"/>
            <a:ext cx="256032" cy="256032"/>
          </a:xfrm>
          <a:prstGeom prst="rect">
            <a:avLst/>
          </a:prstGeom>
        </p:spPr>
      </p:pic>
      <p:sp>
        <p:nvSpPr>
          <p:cNvPr id="19" name="Text 12"/>
          <p:cNvSpPr txBox="1"/>
          <p:nvPr/>
        </p:nvSpPr>
        <p:spPr>
          <a:xfrm>
            <a:off x="7589520" y="4572000"/>
            <a:ext cx="3867912" cy="1005840"/>
          </a:xfrm>
          <a:prstGeom prst="rect">
            <a:avLst/>
          </a:prstGeom>
          <a:noFill/>
          <a:ln/>
        </p:spPr>
        <p:txBody>
          <a:bodyPr wrap="square" lIns="0" tIns="0" rIns="0" bIns="0" rtlCol="0" anchor="t"/>
          <a:lstStyle/>
          <a:p>
            <a:pPr indent="0" marL="0">
              <a:buNone/>
            </a:pPr>
            <a:r>
              <a:rPr lang="en-US" sz="1700" dirty="0">
                <a:solidFill>
                  <a:schemeClr val="tx1"/>
                </a:solidFill>
              </a:rPr>
              <a:t>Prepare p. 16: decide </a:t>
            </a:r>
            <a:r>
              <a:rPr lang="en-US" sz="1700" b="1" dirty="0">
                <a:solidFill>
                  <a:schemeClr val="tx1"/>
                </a:solidFill>
              </a:rPr>
              <a:t>P, N or C</a:t>
            </a:r>
            <a:r>
              <a:rPr lang="en-US" sz="1700" dirty="0">
                <a:solidFill>
                  <a:schemeClr val="tx1"/>
                </a:solidFill>
              </a:rPr>
              <a:t> for each statement.</a:t>
            </a:r>
            <a:endParaRPr lang="en-US" sz="17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4546A"/>
                </a:solidFill>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Project Atlas">
  <a:themeElements>
    <a:clrScheme name="Project Atlas">
      <a:dk1>
        <a:srgbClr val="1B2333"/>
      </a:dk1>
      <a:lt1>
        <a:srgbClr val="FFFFFF"/>
      </a:lt1>
      <a:dk2>
        <a:srgbClr val="1F3864"/>
      </a:dk2>
      <a:lt2>
        <a:srgbClr val="EEF2F8"/>
      </a:lt2>
      <a:accent1>
        <a:srgbClr val="C0752A"/>
      </a:accent1>
      <a:accent2>
        <a:srgbClr val="2E75B6"/>
      </a:accent2>
      <a:accent3>
        <a:srgbClr val="3C7A3C"/>
      </a:accent3>
      <a:accent4>
        <a:srgbClr val="6E4A9E"/>
      </a:accent4>
      <a:accent5>
        <a:srgbClr val="44546A"/>
      </a:accent5>
      <a:accent6>
        <a:srgbClr val="B03A2E"/>
      </a:accent6>
      <a:hlink>
        <a:srgbClr val="2E75B6"/>
      </a:hlink>
      <a:folHlink>
        <a:srgbClr val="6E4A9E"/>
      </a:folHlink>
    </a:clrScheme>
    <a:fontScheme name="Project Atla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English UE 3</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Séance 07 — The verbs you will need before ten o’clock</dc:title>
  <dc:subject>Case File 01 — The night nobody heard</dc:subject>
  <dc:creator>A. Jouniaux</dc:creator>
  <cp:lastModifiedBy>A. Jouniaux</cp:lastModifiedBy>
  <cp:revision>1</cp:revision>
  <dcterms:created xsi:type="dcterms:W3CDTF">2026-10-16T08:11:54Z</dcterms:created>
  <dcterms:modified xsi:type="dcterms:W3CDTF">2026-10-16T08:11:54Z</dcterms:modified>
</cp:coreProperties>
</file>