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1f9aecb-5f4e-0748-b52b-53e6d18def3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lôture" id="{4aaf3f26-ea2f-ea92-9057-69feaa7cc02c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Consolidation : prétérit / participe passé (préparation du present perfect de la scène 4), questions sujet, collocations professionnelles.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 de référence à apprendre pour la scène 4 (present perfect). Les participes sont en 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6 : passif — annonce la phrase « sans nom » de la scène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6 : passif — annonce la phrase « sans nom » de la scène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07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3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verbs you will need before ten o’clock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Past simple, past participle — and what professionals say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13–15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82225"/>
            <a:ext cx="5120640" cy="309355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13–15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</a:t>
            </a:r>
            <a:r>
              <a:rPr lang="en-US" sz="1800" b="1" dirty="0">
                <a:solidFill>
                  <a:schemeClr val="tx1"/>
                </a:solidFill>
              </a:rPr>
              <a:t>verb table</a:t>
            </a:r>
            <a:r>
              <a:rPr lang="en-US" sz="1800" dirty="0">
                <a:solidFill>
                  <a:schemeClr val="tx1"/>
                </a:solidFill>
              </a:rPr>
              <a:t> (dated fact / result) and the collocations a professional report uses.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Irregular verbs: past simple vs past participle · subject questions (</a:t>
            </a:r>
            <a:r>
              <a:rPr lang="en-US" sz="1400" i="1" dirty="0">
                <a:solidFill>
                  <a:schemeClr val="tx1"/>
                </a:solidFill>
              </a:rPr>
              <a:t>Who entered…?</a:t>
            </a:r>
            <a:r>
              <a:rPr lang="en-US" sz="1400" dirty="0">
                <a:solidFill>
                  <a:schemeClr val="tx1"/>
                </a:solidFill>
              </a:rPr>
              <a:t>) · verb + noun collocations (</a:t>
            </a:r>
            <a:r>
              <a:rPr lang="en-US" sz="1400" i="1" dirty="0">
                <a:solidFill>
                  <a:schemeClr val="tx1"/>
                </a:solidFill>
              </a:rPr>
              <a:t>raise the alarm, file a claim…</a:t>
            </a:r>
            <a:r>
              <a:rPr lang="en-US" sz="1400" dirty="0">
                <a:solidFill>
                  <a:schemeClr val="tx1"/>
                </a:solidFill>
              </a:rPr>
              <a:t>) · two idioms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Accuracy · sounding like a professional, not like a translation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reporting verbs, durations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Field note: two forms of each verb (p. 13)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22 irregular verbs for a report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A (p. 14)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Who…? questions + Dry run B–C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 file: collocations (p. 15)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Extra practice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report it, time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6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that the alarm went off at 11.40.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He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us that nobody was on site.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Verdier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pipe is old — nothing proves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log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that unit 3 shut down at 02:16.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From 23:41 to 06:47 =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report it, time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6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b="1" dirty="0">
                <a:solidFill>
                  <a:schemeClr val="accent3"/>
                </a:solidFill>
              </a:rPr>
              <a:t>said</a:t>
            </a:r>
            <a:r>
              <a:rPr lang="en-US" sz="2400" dirty="0">
                <a:solidFill>
                  <a:schemeClr val="tx1"/>
                </a:solidFill>
              </a:rPr>
              <a:t> that the alarm went off at 11.40.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He </a:t>
            </a:r>
            <a:r>
              <a:rPr lang="en-US" sz="2400" b="1" dirty="0">
                <a:solidFill>
                  <a:schemeClr val="accent3"/>
                </a:solidFill>
              </a:rPr>
              <a:t>told</a:t>
            </a:r>
            <a:r>
              <a:rPr lang="en-US" sz="2400" dirty="0">
                <a:solidFill>
                  <a:schemeClr val="tx1"/>
                </a:solidFill>
              </a:rPr>
              <a:t> us that nobody was on site.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Verdier </a:t>
            </a:r>
            <a:r>
              <a:rPr lang="en-US" sz="2400" b="1" dirty="0">
                <a:solidFill>
                  <a:schemeClr val="accent3"/>
                </a:solidFill>
              </a:rPr>
              <a:t>claims</a:t>
            </a:r>
            <a:r>
              <a:rPr lang="en-US" sz="2400" dirty="0">
                <a:solidFill>
                  <a:schemeClr val="tx1"/>
                </a:solidFill>
              </a:rPr>
              <a:t> the pipe is old — nothing proves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log </a:t>
            </a:r>
            <a:r>
              <a:rPr lang="en-US" sz="2400" b="1" dirty="0">
                <a:solidFill>
                  <a:schemeClr val="accent3"/>
                </a:solidFill>
              </a:rPr>
              <a:t>confirms</a:t>
            </a:r>
            <a:r>
              <a:rPr lang="en-US" sz="2400" dirty="0">
                <a:solidFill>
                  <a:schemeClr val="tx1"/>
                </a:solidFill>
              </a:rPr>
              <a:t> that unit 3 shut down at 02:16.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From 23:41 to 06:47 = </a:t>
            </a:r>
            <a:r>
              <a:rPr lang="en-US" sz="2400" b="1" dirty="0">
                <a:solidFill>
                  <a:schemeClr val="accent3"/>
                </a:solidFill>
              </a:rPr>
              <a:t>seven hours and six minutes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verbs you will need before ten o’clock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Fill in the two missing forms: the past simple, for something that happened at a given time, and the past participle, for the result you report later.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61032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743200"/>
                <a:gridCol w="3593592"/>
              </a:tblGrid>
              <a:tr h="5157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PAST SIMPLE — a dated fact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PAST PARTICIPLE — the result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CONTEXT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find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water, at 6.50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go off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alarm, at 11.41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leave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team, at 7.58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hear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nobody, that night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break down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unit 3, at 2.16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send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notification, at 11.42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take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photographs, this morning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95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see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damage, which you have not seen yet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verbs you will need before ten o’clock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1671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Fill in the two missing forms: the past simple, for something that happened at a given time, and the past participle, for the result you report later.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61032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743200"/>
                <a:gridCol w="3593592"/>
              </a:tblGrid>
              <a:tr h="5157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PAST SIMPLE — a dated fact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PAST PARTICIPLE — the result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CONTEXT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find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found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found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water, at 6.50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go off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went off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gone off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alarm, at 11.41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leave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left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left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team, at 7.58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hear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heard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heard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nobody, that night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break down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broke down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broken down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unit 3, at 2.16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send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sent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sent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notification, at 11.42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69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take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took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taken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photographs, this morning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958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see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saw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seen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damage, which you have not seen yet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forms, two jobs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225796" cy="3883152"/>
          </a:xfrm>
          <a:prstGeom prst="roundRect">
            <a:avLst>
              <a:gd name="adj" fmla="val 2355"/>
            </a:avLst>
          </a:prstGeom>
          <a:solidFill>
            <a:schemeClr val="accent1">
              <a:alpha val="8000"/>
            </a:schemeClr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824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PAST SIMPLE — the dated fact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04288"/>
            <a:ext cx="4768596" cy="292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Something happened </a:t>
            </a:r>
            <a:r>
              <a:rPr lang="en-US" sz="2000" b="1" dirty="0">
                <a:solidFill>
                  <a:schemeClr val="tx1"/>
                </a:solidFill>
              </a:rPr>
              <a:t>at a given time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alarm </a:t>
            </a:r>
            <a:r>
              <a:rPr lang="en-US" sz="2000" b="1" dirty="0">
                <a:solidFill>
                  <a:schemeClr val="tx1"/>
                </a:solidFill>
              </a:rPr>
              <a:t>went off</a:t>
            </a:r>
            <a:r>
              <a:rPr lang="en-US" sz="2000" dirty="0">
                <a:solidFill>
                  <a:schemeClr val="tx1"/>
                </a:solidFill>
              </a:rPr>
              <a:t> at 23.41.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cleaners </a:t>
            </a:r>
            <a:r>
              <a:rPr lang="en-US" sz="2000" b="1" dirty="0">
                <a:solidFill>
                  <a:schemeClr val="tx1"/>
                </a:solidFill>
              </a:rPr>
              <a:t>found</a:t>
            </a:r>
            <a:r>
              <a:rPr lang="en-US" sz="2000" dirty="0">
                <a:solidFill>
                  <a:schemeClr val="tx1"/>
                </a:solidFill>
              </a:rPr>
              <a:t> the water at 6.50.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Signals: </a:t>
            </a:r>
            <a:r>
              <a:rPr lang="en-US" sz="2000" b="1" dirty="0">
                <a:solidFill>
                  <a:schemeClr val="tx1"/>
                </a:solidFill>
              </a:rPr>
              <a:t>at, yesterday, last night, in November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14516" y="1481328"/>
            <a:ext cx="5225796" cy="3883152"/>
          </a:xfrm>
          <a:prstGeom prst="roundRect">
            <a:avLst>
              <a:gd name="adj" fmla="val 2355"/>
            </a:avLst>
          </a:prstGeom>
          <a:solidFill>
            <a:schemeClr val="accent3">
              <a:alpha val="8000"/>
            </a:schemeClr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16824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46036" y="161848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PAST PARTICIPLE — the result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43116" y="2304288"/>
            <a:ext cx="4768596" cy="292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With </a:t>
            </a:r>
            <a:r>
              <a:rPr lang="en-US" sz="2000" b="1" dirty="0">
                <a:solidFill>
                  <a:schemeClr val="tx1"/>
                </a:solidFill>
              </a:rPr>
              <a:t>have</a:t>
            </a:r>
            <a:r>
              <a:rPr lang="en-US" sz="2000" dirty="0">
                <a:solidFill>
                  <a:schemeClr val="tx1"/>
                </a:solidFill>
              </a:rPr>
              <a:t>: Iris </a:t>
            </a:r>
            <a:r>
              <a:rPr lang="en-US" sz="2000" b="1" dirty="0">
                <a:solidFill>
                  <a:schemeClr val="tx1"/>
                </a:solidFill>
              </a:rPr>
              <a:t>has taken</a:t>
            </a:r>
            <a:r>
              <a:rPr lang="en-US" sz="2000" dirty="0">
                <a:solidFill>
                  <a:schemeClr val="tx1"/>
                </a:solidFill>
              </a:rPr>
              <a:t> the photographs. (Scene 4)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 the passive: the water </a:t>
            </a:r>
            <a:r>
              <a:rPr lang="en-US" sz="2000" b="1" dirty="0">
                <a:solidFill>
                  <a:schemeClr val="tx1"/>
                </a:solidFill>
              </a:rPr>
              <a:t>was found</a:t>
            </a:r>
            <a:r>
              <a:rPr lang="en-US" sz="2000" dirty="0">
                <a:solidFill>
                  <a:schemeClr val="tx1"/>
                </a:solidFill>
              </a:rPr>
              <a:t> at 6.50. (Scene 8)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Signals: </a:t>
            </a:r>
            <a:r>
              <a:rPr lang="en-US" sz="2000" b="1" dirty="0">
                <a:solidFill>
                  <a:schemeClr val="tx1"/>
                </a:solidFill>
              </a:rPr>
              <a:t>already, yet, just, so far</a:t>
            </a:r>
            <a:r>
              <a:rPr lang="en-US" sz="2000" dirty="0">
                <a:solidFill>
                  <a:schemeClr val="tx1"/>
                </a:solidFill>
              </a:rPr>
              <a:t> — no date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838444" y="3166872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38444" y="3166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≠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Astuce — </a:t>
            </a:r>
            <a:r>
              <a:rPr lang="en-US" sz="1700" dirty="0">
                <a:solidFill>
                  <a:schemeClr val="tx1"/>
                </a:solidFill>
              </a:rPr>
              <a:t>Many verbs have </a:t>
            </a:r>
            <a:r>
              <a:rPr lang="en-US" sz="1700" b="1" dirty="0">
                <a:solidFill>
                  <a:schemeClr val="tx1"/>
                </a:solidFill>
              </a:rPr>
              <a:t>the same</a:t>
            </a:r>
            <a:r>
              <a:rPr lang="en-US" sz="1700" dirty="0">
                <a:solidFill>
                  <a:schemeClr val="tx1"/>
                </a:solidFill>
              </a:rPr>
              <a:t> two forms (found / found, left / left). Learn the ones that differ: </a:t>
            </a:r>
            <a:r>
              <a:rPr lang="en-US" sz="1700" b="1" dirty="0">
                <a:solidFill>
                  <a:schemeClr val="tx1"/>
                </a:solidFill>
              </a:rPr>
              <a:t>went / gone · took / taken · saw / seen · broke / broken · wrote / written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22 irregular verbs for an incident report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79676"/>
                <a:gridCol w="1737360"/>
                <a:gridCol w="1828800"/>
                <a:gridCol w="1979676"/>
              </a:tblGrid>
              <a:tr h="4901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PAST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PARTICIPLE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PAST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PARTICIPLE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be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was / were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been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begin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began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begun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break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broke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broken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bring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brought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brought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come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came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come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find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found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found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get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got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got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went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gone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have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had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hear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heard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know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knew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known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leave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left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left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make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made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made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ring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rang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rung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run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run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see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saw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seen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send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sent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shut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shut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shut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speak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spoke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spoken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take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took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taken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tell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told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told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2"/>
                          </a:solidFill>
                        </a:rPr>
                        <a:t>write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wrote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3"/>
                          </a:solidFill>
                        </a:rPr>
                        <a:t>written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minutes with Exhibit A in front of you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Complete from the log. Use the past form.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cabling team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(leave)</a:t>
            </a:r>
            <a:r>
              <a:rPr lang="en-US" sz="2400" dirty="0">
                <a:solidFill>
                  <a:schemeClr val="tx1"/>
                </a:solidFill>
              </a:rPr>
              <a:t> zone 2F at 19.58.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The site manager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(enter)</a:t>
            </a:r>
            <a:r>
              <a:rPr lang="en-US" sz="2400" dirty="0">
                <a:solidFill>
                  <a:schemeClr val="tx1"/>
                </a:solidFill>
              </a:rPr>
              <a:t> at 20.04 and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(leave)</a:t>
            </a:r>
            <a:r>
              <a:rPr lang="en-US" sz="2400" dirty="0">
                <a:solidFill>
                  <a:schemeClr val="tx1"/>
                </a:solidFill>
              </a:rPr>
              <a:t> fifteen minutes later.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temperature alarm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(go off)</a:t>
            </a:r>
            <a:r>
              <a:rPr lang="en-US" sz="2400" dirty="0">
                <a:solidFill>
                  <a:schemeClr val="tx1"/>
                </a:solidFill>
              </a:rPr>
              <a:t> at 23.41.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A notification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(be)</a:t>
            </a:r>
            <a:r>
              <a:rPr lang="en-US" sz="2400" dirty="0">
                <a:solidFill>
                  <a:schemeClr val="tx1"/>
                </a:solidFill>
              </a:rPr>
              <a:t> delivered one minute later.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Unit 3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(shut down)</a:t>
            </a:r>
            <a:r>
              <a:rPr lang="en-US" sz="2400" dirty="0">
                <a:solidFill>
                  <a:schemeClr val="tx1"/>
                </a:solidFill>
              </a:rPr>
              <a:t> at 02.16.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minutes with Exhibit A in front of you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Complete from the log. Use the past form.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cabling team </a:t>
            </a:r>
            <a:r>
              <a:rPr lang="en-US" sz="2400" b="1" dirty="0">
                <a:solidFill>
                  <a:schemeClr val="accent3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(leave)</a:t>
            </a:r>
            <a:r>
              <a:rPr lang="en-US" sz="2400" dirty="0">
                <a:solidFill>
                  <a:schemeClr val="tx1"/>
                </a:solidFill>
              </a:rPr>
              <a:t> zone 2F at 19.58.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The site manager </a:t>
            </a:r>
            <a:r>
              <a:rPr lang="en-US" sz="2400" b="1" dirty="0">
                <a:solidFill>
                  <a:schemeClr val="accent3"/>
                </a:solidFill>
              </a:rPr>
              <a:t>entered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(enter)</a:t>
            </a:r>
            <a:r>
              <a:rPr lang="en-US" sz="2400" dirty="0">
                <a:solidFill>
                  <a:schemeClr val="tx1"/>
                </a:solidFill>
              </a:rPr>
              <a:t> at 20.04 and </a:t>
            </a:r>
            <a:r>
              <a:rPr lang="en-US" sz="2400" b="1" dirty="0">
                <a:solidFill>
                  <a:schemeClr val="accent3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(leave)</a:t>
            </a:r>
            <a:r>
              <a:rPr lang="en-US" sz="2400" dirty="0">
                <a:solidFill>
                  <a:schemeClr val="tx1"/>
                </a:solidFill>
              </a:rPr>
              <a:t> fifteen minutes later.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temperature alarm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(go off)</a:t>
            </a:r>
            <a:r>
              <a:rPr lang="en-US" sz="2400" dirty="0">
                <a:solidFill>
                  <a:schemeClr val="tx1"/>
                </a:solidFill>
              </a:rPr>
              <a:t> at 23.41.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A notification </a:t>
            </a:r>
            <a:r>
              <a:rPr lang="en-US" sz="2400" b="1" dirty="0">
                <a:solidFill>
                  <a:schemeClr val="accent3"/>
                </a:solidFill>
              </a:rPr>
              <a:t>was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(be)</a:t>
            </a:r>
            <a:r>
              <a:rPr lang="en-US" sz="2400" dirty="0">
                <a:solidFill>
                  <a:schemeClr val="tx1"/>
                </a:solidFill>
              </a:rPr>
              <a:t> delivered one minute later.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Unit 3 </a:t>
            </a:r>
            <a:r>
              <a:rPr lang="en-US" sz="2400" b="1" dirty="0">
                <a:solidFill>
                  <a:schemeClr val="accent3"/>
                </a:solidFill>
              </a:rPr>
              <a:t>shut down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i="1" dirty="0">
                <a:solidFill>
                  <a:schemeClr val="tx1"/>
                </a:solidFill>
              </a:rPr>
              <a:t>(shut down)</a:t>
            </a:r>
            <a:r>
              <a:rPr lang="en-US" sz="2400" dirty="0">
                <a:solidFill>
                  <a:schemeClr val="tx1"/>
                </a:solidFill>
              </a:rPr>
              <a:t> at 02.16.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Who entered? — questions without did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SUBJECT QUESTION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/ What + V2 …?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39746"/>
            <a:ext cx="3148584" cy="275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answer is the </a:t>
            </a:r>
            <a:r>
              <a:rPr lang="en-US" sz="2000" b="1" dirty="0">
                <a:solidFill>
                  <a:schemeClr val="tx1"/>
                </a:solidFill>
              </a:rPr>
              <a:t>subject</a:t>
            </a:r>
            <a:r>
              <a:rPr lang="en-US" sz="2000" dirty="0">
                <a:solidFill>
                  <a:schemeClr val="tx1"/>
                </a:solidFill>
              </a:rPr>
              <a:t>: </a:t>
            </a:r>
            <a:r>
              <a:rPr lang="en-US" sz="2000" b="1" i="1" dirty="0">
                <a:solidFill>
                  <a:schemeClr val="tx1"/>
                </a:solidFill>
              </a:rPr>
              <a:t>Somebody</a:t>
            </a:r>
            <a:r>
              <a:rPr lang="en-US" sz="2000" i="1" dirty="0">
                <a:solidFill>
                  <a:schemeClr val="tx1"/>
                </a:solidFill>
              </a:rPr>
              <a:t> entered at 20.04.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Who entered</a:t>
            </a:r>
            <a:r>
              <a:rPr lang="en-US" sz="2000" dirty="0">
                <a:solidFill>
                  <a:schemeClr val="tx1"/>
                </a:solidFill>
              </a:rPr>
              <a:t> zone 2F at 20.04?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What happened</a:t>
            </a:r>
            <a:r>
              <a:rPr lang="en-US" sz="2000" dirty="0">
                <a:solidFill>
                  <a:schemeClr val="tx1"/>
                </a:solidFill>
              </a:rPr>
              <a:t> at 02.16?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</a:t>
            </a:r>
            <a:r>
              <a:rPr lang="en-US" sz="2000" i="1" dirty="0">
                <a:solidFill>
                  <a:schemeClr val="tx1"/>
                </a:solidFill>
              </a:rPr>
              <a:t>did</a:t>
            </a:r>
            <a:r>
              <a:rPr lang="en-US" sz="2000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OBJECT QUESTION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/ What + did + S + base?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20184" y="2539746"/>
            <a:ext cx="3148584" cy="275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answer is the </a:t>
            </a:r>
            <a:r>
              <a:rPr lang="en-US" sz="2000" b="1" dirty="0">
                <a:solidFill>
                  <a:schemeClr val="tx1"/>
                </a:solidFill>
              </a:rPr>
              <a:t>object</a:t>
            </a:r>
            <a:r>
              <a:rPr lang="en-US" sz="2000" dirty="0">
                <a:solidFill>
                  <a:schemeClr val="tx1"/>
                </a:solidFill>
              </a:rPr>
              <a:t>: </a:t>
            </a:r>
            <a:r>
              <a:rPr lang="en-US" sz="2000" i="1" dirty="0">
                <a:solidFill>
                  <a:schemeClr val="tx1"/>
                </a:solidFill>
              </a:rPr>
              <a:t>The guard called </a:t>
            </a:r>
            <a:r>
              <a:rPr lang="en-US" sz="2000" b="1" i="1" dirty="0">
                <a:solidFill>
                  <a:schemeClr val="tx1"/>
                </a:solidFill>
              </a:rPr>
              <a:t>somebody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Who did</a:t>
            </a:r>
            <a:r>
              <a:rPr lang="en-US" sz="2000" dirty="0">
                <a:solidFill>
                  <a:schemeClr val="tx1"/>
                </a:solidFill>
              </a:rPr>
              <a:t> the guard </a:t>
            </a:r>
            <a:r>
              <a:rPr lang="en-US" sz="2000" b="1" dirty="0">
                <a:solidFill>
                  <a:schemeClr val="tx1"/>
                </a:solidFill>
              </a:rPr>
              <a:t>call</a:t>
            </a:r>
            <a:r>
              <a:rPr lang="en-US" sz="2000" dirty="0">
                <a:solidFill>
                  <a:schemeClr val="tx1"/>
                </a:solidFill>
              </a:rPr>
              <a:t>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What did</a:t>
            </a:r>
            <a:r>
              <a:rPr lang="en-US" sz="2000" dirty="0">
                <a:solidFill>
                  <a:schemeClr val="tx1"/>
                </a:solidFill>
              </a:rPr>
              <a:t> the log </a:t>
            </a:r>
            <a:r>
              <a:rPr lang="en-US" sz="2000" b="1" dirty="0">
                <a:solidFill>
                  <a:schemeClr val="tx1"/>
                </a:solidFill>
              </a:rPr>
              <a:t>show</a:t>
            </a:r>
            <a:r>
              <a:rPr lang="en-US" sz="2000" dirty="0">
                <a:solidFill>
                  <a:schemeClr val="tx1"/>
                </a:solidFill>
              </a:rPr>
              <a:t>?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125968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HOW LONG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8848" y="2084832"/>
            <a:ext cx="3148584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long did … + base?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08848" y="2539746"/>
            <a:ext cx="3148584" cy="275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How long did</a:t>
            </a:r>
            <a:r>
              <a:rPr lang="en-US" sz="2000" dirty="0">
                <a:solidFill>
                  <a:schemeClr val="tx1"/>
                </a:solidFill>
              </a:rPr>
              <a:t> the water </a:t>
            </a:r>
            <a:r>
              <a:rPr lang="en-US" sz="2000" b="1" dirty="0">
                <a:solidFill>
                  <a:schemeClr val="tx1"/>
                </a:solidFill>
              </a:rPr>
              <a:t>run</a:t>
            </a:r>
            <a:r>
              <a:rPr lang="en-US" sz="2000" dirty="0">
                <a:solidFill>
                  <a:schemeClr val="tx1"/>
                </a:solidFill>
              </a:rPr>
              <a:t>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</a:t>
            </a:r>
            <a:r>
              <a:rPr lang="en-US" sz="2000" b="1" dirty="0">
                <a:solidFill>
                  <a:schemeClr val="tx1"/>
                </a:solidFill>
              </a:rPr>
              <a:t>How long was</a:t>
            </a:r>
            <a:r>
              <a:rPr lang="en-US" sz="2000" dirty="0">
                <a:solidFill>
                  <a:schemeClr val="tx1"/>
                </a:solidFill>
              </a:rPr>
              <a:t> the water </a:t>
            </a:r>
            <a:r>
              <a:rPr lang="en-US" sz="2000" b="1" dirty="0">
                <a:solidFill>
                  <a:schemeClr val="tx1"/>
                </a:solidFill>
              </a:rPr>
              <a:t>running</a:t>
            </a:r>
            <a:r>
              <a:rPr lang="en-US" sz="2000" dirty="0">
                <a:solidFill>
                  <a:schemeClr val="tx1"/>
                </a:solidFill>
              </a:rPr>
              <a:t>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(present perfect version: Scene 6)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Qui est entré ?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Who entered?</a:t>
            </a:r>
            <a:r>
              <a:rPr lang="en-US" sz="1700" dirty="0">
                <a:solidFill>
                  <a:schemeClr val="tx1"/>
                </a:solidFill>
              </a:rPr>
              <a:t> (✗ </a:t>
            </a:r>
            <a:r>
              <a:rPr lang="en-US" sz="1700" i="1" dirty="0">
                <a:solidFill>
                  <a:schemeClr val="tx1"/>
                </a:solidFill>
              </a:rPr>
              <a:t>Who did enter?</a:t>
            </a:r>
            <a:r>
              <a:rPr lang="en-US" sz="1700" dirty="0">
                <a:solidFill>
                  <a:schemeClr val="tx1"/>
                </a:solidFill>
              </a:rPr>
              <a:t>) · </a:t>
            </a:r>
            <a:r>
              <a:rPr lang="en-US" sz="1700" i="1" dirty="0">
                <a:solidFill>
                  <a:schemeClr val="tx1"/>
                </a:solidFill>
              </a:rPr>
              <a:t>Que s’est-il passé ?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What happened?</a:t>
            </a:r>
            <a:r>
              <a:rPr lang="en-US" sz="1700" dirty="0">
                <a:solidFill>
                  <a:schemeClr val="tx1"/>
                </a:solidFill>
              </a:rPr>
              <a:t> (✗ </a:t>
            </a:r>
            <a:r>
              <a:rPr lang="en-US" sz="1700" i="1" dirty="0">
                <a:solidFill>
                  <a:schemeClr val="tx1"/>
                </a:solidFill>
              </a:rPr>
              <a:t>What did happen?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Ask the building manager — and fix the forms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14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B · Write the question you would ask the building manager.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(who / enter / 20.04)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the water / run)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C · One word is wrong in each sentence. Correct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dirty="0">
                <a:solidFill>
                  <a:schemeClr val="tx1"/>
                </a:solidFill>
              </a:rPr>
              <a:t>was going off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 at 23.41 exactly.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dirty="0">
                <a:solidFill>
                  <a:schemeClr val="tx1"/>
                </a:solidFill>
              </a:rPr>
              <a:t>did heard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 the notification.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dirty="0">
                <a:solidFill>
                  <a:schemeClr val="tx1"/>
                </a:solidFill>
              </a:rPr>
              <a:t>was leave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 at 19.58.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Ask the building manager — and fix the forms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14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B · Write the question you would ask the building manager.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(who / enter / 20.04) → </a:t>
            </a:r>
            <a:r>
              <a:rPr lang="en-US" sz="2400" b="1" dirty="0">
                <a:solidFill>
                  <a:schemeClr val="accent3"/>
                </a:solidFill>
              </a:rPr>
              <a:t>Who entered zone 2F at 20.04?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the water / run) → </a:t>
            </a:r>
            <a:r>
              <a:rPr lang="en-US" sz="2400" b="1" dirty="0">
                <a:solidFill>
                  <a:schemeClr val="accent3"/>
                </a:solidFill>
              </a:rPr>
              <a:t>How long did the water run?</a:t>
            </a:r>
            <a:endParaRPr lang="en-US" sz="2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C · One word is wrong in each sentence. Correct it.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strike="sngStrike" dirty="0">
                <a:solidFill>
                  <a:schemeClr val="accent6"/>
                </a:solidFill>
              </a:rPr>
              <a:t>was going off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at 23.41 exactly.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strike="sngStrike" dirty="0">
                <a:solidFill>
                  <a:schemeClr val="accent6"/>
                </a:solidFill>
              </a:rPr>
              <a:t>did heard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chemeClr val="accent3"/>
                </a:solidFill>
              </a:rPr>
              <a:t>heard</a:t>
            </a:r>
            <a:r>
              <a:rPr lang="en-US" sz="2400" dirty="0">
                <a:solidFill>
                  <a:schemeClr val="tx1"/>
                </a:solidFill>
              </a:rPr>
              <a:t> the notification.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The team </a:t>
            </a:r>
            <a:r>
              <a:rPr lang="en-US" sz="2400" strike="sngStrike" dirty="0">
                <a:solidFill>
                  <a:schemeClr val="accent6"/>
                </a:solidFill>
              </a:rPr>
              <a:t>was leave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chemeClr val="accent3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at 19.58.</a:t>
            </a:r>
            <a:endParaRPr lang="en-US" sz="24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B1: the answer is the subject → </a:t>
            </a:r>
            <a:r>
              <a:rPr lang="en-US" sz="1800" b="1" dirty="0">
                <a:solidFill>
                  <a:schemeClr val="tx1"/>
                </a:solidFill>
              </a:rPr>
              <a:t>no did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C2: </a:t>
            </a:r>
            <a:r>
              <a:rPr lang="en-US" sz="1800" i="1" dirty="0">
                <a:solidFill>
                  <a:schemeClr val="tx1"/>
                </a:solidFill>
              </a:rPr>
              <a:t>did</a:t>
            </a:r>
            <a:r>
              <a:rPr lang="en-US" sz="1800" dirty="0">
                <a:solidFill>
                  <a:schemeClr val="tx1"/>
                </a:solidFill>
              </a:rPr>
              <a:t> + past form = double past. Emphatic </a:t>
            </a:r>
            <a:r>
              <a:rPr lang="en-US" sz="1800" i="1" dirty="0">
                <a:solidFill>
                  <a:schemeClr val="tx1"/>
                </a:solidFill>
              </a:rPr>
              <a:t>did hear</a:t>
            </a:r>
            <a:r>
              <a:rPr lang="en-US" sz="1800" dirty="0">
                <a:solidFill>
                  <a:schemeClr val="tx1"/>
                </a:solidFill>
              </a:rPr>
              <a:t> exists, but not in a report.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professionals do with an alarm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These verb + noun pairs are not a matter of choice: you learn them as one block.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17192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76472"/>
              </a:tblGrid>
              <a:tr h="5742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PROFESSIONALS SAY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THEY NEVER SAY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raise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the alarm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lift the alarm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donner l’alerte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assess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the damage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count the damage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évaluer les dégâts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file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a claim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make a claim file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déclarer un sinistre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take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steps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do steps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prendre des mesures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draw up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a report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put up a report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rédiger / établir un rapport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carry out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an inspection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run an inspection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effectuer une inspection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meet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a deadline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respect a deadline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respecter un délai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45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make good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the floor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6"/>
                          </a:solidFill>
                        </a:rPr>
                        <a:t>to repair back the floor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remettre le sol en état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idioms: a warning and a compliment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15</a:t>
            </a:r>
            <a:endParaRPr lang="en-US" sz="1200" dirty="0"/>
          </a:p>
        </p:txBody>
      </p:sp>
      <p:pic>
        <p:nvPicPr>
          <p:cNvPr id="5" name="illustration" descr="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205472" cy="4353067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6" name="aside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60000"/>
              </a:scheme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1664208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41080" y="163677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IDIOMS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38744" y="2075688"/>
            <a:ext cx="323697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to raise a red flag</a:t>
            </a:r>
            <a:r>
              <a:rPr lang="en-US" sz="1800" dirty="0">
                <a:solidFill>
                  <a:schemeClr val="tx1"/>
                </a:solidFill>
              </a:rPr>
              <a:t> = to point out a risk — </a:t>
            </a:r>
            <a:r>
              <a:rPr lang="en-US" sz="1800" i="1" dirty="0">
                <a:solidFill>
                  <a:schemeClr val="tx1"/>
                </a:solidFill>
              </a:rPr>
              <a:t>not a compliment: someone failed to warn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to be on the ball</a:t>
            </a:r>
            <a:r>
              <a:rPr lang="en-US" sz="1800" dirty="0">
                <a:solidFill>
                  <a:schemeClr val="tx1"/>
                </a:solidFill>
              </a:rPr>
              <a:t> = alert and quick to react — </a:t>
            </a:r>
            <a:r>
              <a:rPr lang="en-US" sz="1800" i="1" dirty="0">
                <a:solidFill>
                  <a:schemeClr val="tx1"/>
                </a:solidFill>
              </a:rPr>
              <a:t>a compliment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+ </a:t>
            </a:r>
            <a:r>
              <a:rPr lang="en-US" sz="1800" b="1" dirty="0">
                <a:solidFill>
                  <a:schemeClr val="tx1"/>
                </a:solidFill>
              </a:rPr>
              <a:t>to drop the ball</a:t>
            </a:r>
            <a:r>
              <a:rPr lang="en-US" sz="1800" dirty="0">
                <a:solidFill>
                  <a:schemeClr val="tx1"/>
                </a:solidFill>
              </a:rPr>
              <a:t> = to make a mistake by not paying attention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+ </a:t>
            </a:r>
            <a:r>
              <a:rPr lang="en-US" sz="1800" b="1" dirty="0">
                <a:solidFill>
                  <a:schemeClr val="tx1"/>
                </a:solidFill>
              </a:rPr>
              <a:t>to keep an eye on</a:t>
            </a:r>
            <a:r>
              <a:rPr lang="en-US" sz="1800" dirty="0">
                <a:solidFill>
                  <a:schemeClr val="tx1"/>
                </a:solidFill>
              </a:rPr>
              <a:t> = to monitor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Use the block, not the translation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with the right collocation (verb + noun), in the right form.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 at 6.50.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An expert will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 this afternoon.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We should not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r>
              <a:rPr lang="en-US" sz="2400" dirty="0">
                <a:solidFill>
                  <a:schemeClr val="tx1"/>
                </a:solidFill>
              </a:rPr>
              <a:t> before the cause is established.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Legal has already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to protect the file.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You must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 by 5 p.m.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A final inspection </a:t>
            </a:r>
            <a:r>
              <a:rPr lang="en-US" sz="2400" dirty="0">
                <a:solidFill>
                  <a:schemeClr val="accent5"/>
                </a:solidFill>
              </a:rPr>
              <a:t>……………………</a:t>
            </a:r>
            <a:r>
              <a:rPr lang="en-US" sz="2400" dirty="0">
                <a:solidFill>
                  <a:schemeClr val="tx1"/>
                </a:solidFill>
              </a:rPr>
              <a:t> at 20.04.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If the estimate arrives late, we will not </a:t>
            </a:r>
            <a:r>
              <a:rPr lang="en-US" sz="2400" dirty="0">
                <a:solidFill>
                  <a:schemeClr val="accent5"/>
                </a:solidFill>
              </a:rPr>
              <a:t>………………………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The property manager must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r>
              <a:rPr lang="en-US" sz="2400" dirty="0">
                <a:solidFill>
                  <a:schemeClr val="tx1"/>
                </a:solidFill>
              </a:rPr>
              <a:t> before the handover.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Use the block, not the translation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with the right collocation (verb + noun), in the right form.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b="1" dirty="0">
                <a:solidFill>
                  <a:schemeClr val="accent3"/>
                </a:solidFill>
              </a:rPr>
              <a:t>raised the alarm</a:t>
            </a:r>
            <a:r>
              <a:rPr lang="en-US" sz="2400" dirty="0">
                <a:solidFill>
                  <a:schemeClr val="tx1"/>
                </a:solidFill>
              </a:rPr>
              <a:t> at 6.50.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An expert will </a:t>
            </a:r>
            <a:r>
              <a:rPr lang="en-US" sz="2400" b="1" dirty="0">
                <a:solidFill>
                  <a:schemeClr val="accent3"/>
                </a:solidFill>
              </a:rPr>
              <a:t>assess the damage</a:t>
            </a:r>
            <a:r>
              <a:rPr lang="en-US" sz="2400" dirty="0">
                <a:solidFill>
                  <a:schemeClr val="tx1"/>
                </a:solidFill>
              </a:rPr>
              <a:t> this afternoon.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We should not </a:t>
            </a:r>
            <a:r>
              <a:rPr lang="en-US" sz="2400" b="1" dirty="0">
                <a:solidFill>
                  <a:schemeClr val="accent3"/>
                </a:solidFill>
              </a:rPr>
              <a:t>file a claim</a:t>
            </a:r>
            <a:r>
              <a:rPr lang="en-US" sz="2400" dirty="0">
                <a:solidFill>
                  <a:schemeClr val="tx1"/>
                </a:solidFill>
              </a:rPr>
              <a:t> before the cause is established.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Legal has already </a:t>
            </a:r>
            <a:r>
              <a:rPr lang="en-US" sz="2400" b="1" dirty="0">
                <a:solidFill>
                  <a:schemeClr val="accent3"/>
                </a:solidFill>
              </a:rPr>
              <a:t>taken steps</a:t>
            </a:r>
            <a:r>
              <a:rPr lang="en-US" sz="2400" dirty="0">
                <a:solidFill>
                  <a:schemeClr val="tx1"/>
                </a:solidFill>
              </a:rPr>
              <a:t> to protect the file.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You must </a:t>
            </a:r>
            <a:r>
              <a:rPr lang="en-US" sz="2400" b="1" dirty="0">
                <a:solidFill>
                  <a:schemeClr val="accent3"/>
                </a:solidFill>
              </a:rPr>
              <a:t>draw up a report</a:t>
            </a:r>
            <a:r>
              <a:rPr lang="en-US" sz="2400" dirty="0">
                <a:solidFill>
                  <a:schemeClr val="tx1"/>
                </a:solidFill>
              </a:rPr>
              <a:t> by 5 p.m.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A final inspection </a:t>
            </a:r>
            <a:r>
              <a:rPr lang="en-US" sz="2400" b="1" dirty="0">
                <a:solidFill>
                  <a:schemeClr val="accent3"/>
                </a:solidFill>
              </a:rPr>
              <a:t>was carried out</a:t>
            </a:r>
            <a:r>
              <a:rPr lang="en-US" sz="2400" dirty="0">
                <a:solidFill>
                  <a:schemeClr val="tx1"/>
                </a:solidFill>
              </a:rPr>
              <a:t> at 20.04.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If the estimate arrives late, we will not </a:t>
            </a:r>
            <a:r>
              <a:rPr lang="en-US" sz="2400" b="1" dirty="0">
                <a:solidFill>
                  <a:schemeClr val="accent3"/>
                </a:solidFill>
              </a:rPr>
              <a:t>meet the deadline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The property manager must </a:t>
            </a:r>
            <a:r>
              <a:rPr lang="en-US" sz="2400" b="1" dirty="0">
                <a:solidFill>
                  <a:schemeClr val="accent3"/>
                </a:solidFill>
              </a:rPr>
              <a:t>make good the floor</a:t>
            </a:r>
            <a:r>
              <a:rPr lang="en-US" sz="2400" dirty="0">
                <a:solidFill>
                  <a:schemeClr val="tx1"/>
                </a:solidFill>
              </a:rPr>
              <a:t> before the handover.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 nine o’clock Mark will ask you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holds up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 Six statements were made in the room. Which ones can you prove today?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22 irregular verbs</a:t>
            </a:r>
            <a:r>
              <a:rPr lang="en-US" sz="1700" dirty="0">
                <a:solidFill>
                  <a:schemeClr val="tx1"/>
                </a:solidFill>
              </a:rPr>
              <a:t> (three forms).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8 collocations</a:t>
            </a:r>
            <a:r>
              <a:rPr lang="en-US" sz="1700" dirty="0">
                <a:solidFill>
                  <a:schemeClr val="tx1"/>
                </a:solidFill>
              </a:rPr>
              <a:t> of the Word file (p. 15).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Prepare p. 16: decide </a:t>
            </a:r>
            <a:r>
              <a:rPr lang="en-US" sz="1700" b="1" dirty="0">
                <a:solidFill>
                  <a:schemeClr val="tx1"/>
                </a:solidFill>
              </a:rPr>
              <a:t>P, N or C</a:t>
            </a:r>
            <a:r>
              <a:rPr lang="en-US" sz="1700" dirty="0">
                <a:solidFill>
                  <a:schemeClr val="tx1"/>
                </a:solidFill>
              </a:rPr>
              <a:t> for each statement.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Ask the two questions you would ask the building manager — one </a:t>
            </a:r>
            <a:r>
              <a:rPr lang="en-US" sz="1600" b="1" dirty="0">
                <a:solidFill>
                  <a:schemeClr val="bg1"/>
                </a:solidFill>
              </a:rPr>
              <a:t>Who…?</a:t>
            </a:r>
            <a:r>
              <a:rPr lang="en-US" sz="1600" dirty="0">
                <a:solidFill>
                  <a:schemeClr val="bg1"/>
                </a:solidFill>
              </a:rPr>
              <a:t>, one </a:t>
            </a:r>
            <a:r>
              <a:rPr lang="en-US" sz="1600" b="1" dirty="0">
                <a:solidFill>
                  <a:schemeClr val="bg1"/>
                </a:solidFill>
              </a:rPr>
              <a:t>How long…?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07 — The verbs you will need before ten o’clock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