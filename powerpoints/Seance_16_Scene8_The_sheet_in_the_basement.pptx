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ba168f99-c106-0f54-f43e-935d6edc641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Clôture" id="{f7e79074-ec7b-26a1-62ac-b52caf4fd4b2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Scène 8 : l’Exhibit C (registre de maintenance préventive) montre que le défaut du joint 4 est connu depuis juin. Grammaire : fermé et daté (prétérit) vs encore ouvert (present perfect), passif, « This is the second time we have had…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Pistes d’arguments : chaque groupe rédige ensuite UNE phrase de décision et UNE phrase de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English UE 3 · Case File 01 — The night nobody heard · Séance 16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English UE 3 · Case File 01 — The night nobody heard · Séance 16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English UE 3 · A. Jouniaux · Project Atlas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16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SCENE 8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15.40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sheet in the basement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This document changes the question — and therefore the tenses of your report.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Case File 01 — The night nobody heard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38–41</a:t>
            </a:r>
            <a:endParaRPr lang="en-US" sz="1800" dirty="0"/>
          </a:p>
        </p:txBody>
      </p:sp>
      <p:pic>
        <p:nvPicPr>
          <p:cNvPr id="6" name="illustration" descr="Scene 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2120"/>
            <a:ext cx="5120640" cy="341376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Today's mission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BRIEFING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38–41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BY THE END OF THE SESSION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Four sentences rewritten</a:t>
            </a:r>
            <a:r>
              <a:rPr lang="en-US" sz="1800" dirty="0">
                <a:solidFill>
                  <a:schemeClr val="tx1"/>
                </a:solidFill>
              </a:rPr>
              <a:t> in the light of Exhibit C — and a group decision: do we attach it?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LANGUAGE FOCUS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Closed &amp; dated (past simple) vs still open (present perfect) · </a:t>
            </a:r>
            <a:r>
              <a:rPr lang="en-US" sz="1400" b="1" dirty="0">
                <a:solidFill>
                  <a:schemeClr val="tx1"/>
                </a:solidFill>
              </a:rPr>
              <a:t>since</a:t>
            </a:r>
            <a:r>
              <a:rPr lang="en-US" sz="1400" dirty="0">
                <a:solidFill>
                  <a:schemeClr val="tx1"/>
                </a:solidFill>
              </a:rPr>
              <a:t> + present perfect · the passive (</a:t>
            </a:r>
            <a:r>
              <a:rPr lang="en-US" sz="1400" i="1" dirty="0">
                <a:solidFill>
                  <a:schemeClr val="tx1"/>
                </a:solidFill>
              </a:rPr>
              <a:t>was inspected, has been carried out</a:t>
            </a:r>
            <a:r>
              <a:rPr lang="en-US" sz="1400" dirty="0">
                <a:solidFill>
                  <a:schemeClr val="tx1"/>
                </a:solidFill>
              </a:rPr>
              <a:t>) · </a:t>
            </a:r>
            <a:r>
              <a:rPr lang="en-US" sz="1400" i="1" dirty="0">
                <a:solidFill>
                  <a:schemeClr val="tx1"/>
                </a:solidFill>
              </a:rPr>
              <a:t>This is the second time we have had…</a:t>
            </a:r>
            <a:r>
              <a:rPr lang="en-US" sz="1400" dirty="0">
                <a:solidFill>
                  <a:schemeClr val="tx1"/>
                </a:solidFill>
              </a:rPr>
              <a:t> · </a:t>
            </a:r>
            <a:r>
              <a:rPr lang="en-US" sz="1400" i="1" dirty="0">
                <a:solidFill>
                  <a:schemeClr val="tx1"/>
                </a:solidFill>
              </a:rPr>
              <a:t>provided that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SKILLS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Re-reading your own draft against new evidence · arguing for a decision with a condition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ROADMAP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Warm-up: idioms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Scene 8 + Exhibit C (p. 38)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Read it before Mark does (p. 39)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Field note: closed or still open? (p. 40)</a:t>
            </a:r>
            <a:endParaRPr lang="en-US" sz="1600" dirty="0"/>
          </a:p>
        </p:txBody>
      </p:sp>
      <p:sp>
        <p:nvSpPr>
          <p:cNvPr id="37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8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Dry run A–C (p. 40)</a:t>
            </a:r>
            <a:endParaRPr lang="en-US" sz="1600" dirty="0"/>
          </a:p>
        </p:txBody>
      </p:sp>
      <p:sp>
        <p:nvSpPr>
          <p:cNvPr id="41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2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4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Rewrite your noon draft (p. 41)</a:t>
            </a:r>
            <a:endParaRPr lang="en-US" sz="1600" dirty="0"/>
          </a:p>
        </p:txBody>
      </p:sp>
      <p:sp>
        <p:nvSpPr>
          <p:cNvPr id="45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46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8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Team call: attach Exhibit C? (p. 41)</a:t>
            </a:r>
            <a:endParaRPr lang="en-US" sz="1600" dirty="0"/>
          </a:p>
        </p:txBody>
      </p:sp>
      <p:sp>
        <p:nvSpPr>
          <p:cNvPr id="49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50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2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Wrap-up</a:t>
            </a:r>
            <a:endParaRPr lang="en-US" sz="1600" dirty="0"/>
          </a:p>
        </p:txBody>
      </p:sp>
      <p:sp>
        <p:nvSpPr>
          <p:cNvPr id="53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careful idioms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15</a:t>
            </a:r>
            <a:endParaRPr lang="en-US" sz="1200" dirty="0"/>
          </a:p>
        </p:txBody>
      </p:sp>
      <p:sp>
        <p:nvSpPr>
          <p:cNvPr id="5" name="exercise"/>
          <p:cNvSpPr txBox="1"/>
          <p:nvPr/>
        </p:nvSpPr>
        <p:spPr>
          <a:xfrm>
            <a:off x="548640" y="1481328"/>
            <a:ext cx="11091672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conclure trop vite → to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écarter une hypothèse → to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par précaution → to be </a:t>
            </a:r>
            <a:r>
              <a:rPr lang="en-US" sz="2400" dirty="0">
                <a:solidFill>
                  <a:schemeClr val="accent5"/>
                </a:solidFill>
              </a:rPr>
              <a:t>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une hypothèse peu probable →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une hypothèse fondée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Warm-up: careful idioms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WARM-UP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Séance 15</a:t>
            </a:r>
            <a:endParaRPr lang="en-US" sz="12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481328"/>
            <a:ext cx="11091672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conclure trop vite → to </a:t>
            </a:r>
            <a:r>
              <a:rPr lang="en-US" sz="2400" b="1" dirty="0">
                <a:solidFill>
                  <a:schemeClr val="accent3"/>
                </a:solidFill>
              </a:rPr>
              <a:t>jump to conclusions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écarter une hypothèse → to </a:t>
            </a:r>
            <a:r>
              <a:rPr lang="en-US" sz="2400" b="1" dirty="0">
                <a:solidFill>
                  <a:schemeClr val="accent3"/>
                </a:solidFill>
              </a:rPr>
              <a:t>rule out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par précaution → to be </a:t>
            </a:r>
            <a:r>
              <a:rPr lang="en-US" sz="2400" b="1" dirty="0">
                <a:solidFill>
                  <a:schemeClr val="accent3"/>
                </a:solidFill>
              </a:rPr>
              <a:t>on the safe side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une hypothèse peu probable → </a:t>
            </a:r>
            <a:r>
              <a:rPr lang="en-US" sz="2400" b="1" dirty="0">
                <a:solidFill>
                  <a:schemeClr val="accent3"/>
                </a:solidFill>
              </a:rPr>
              <a:t>a long shot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une hypothèse fondée → </a:t>
            </a:r>
            <a:r>
              <a:rPr lang="en-US" sz="2400" b="1" dirty="0">
                <a:solidFill>
                  <a:schemeClr val="accent3"/>
                </a:solidFill>
              </a:rPr>
              <a:t>an educated guess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sheet in the basement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SCENE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38</a:t>
            </a:r>
            <a:endParaRPr lang="en-US" sz="1200" dirty="0"/>
          </a:p>
        </p:txBody>
      </p:sp>
      <p:pic>
        <p:nvPicPr>
          <p:cNvPr id="5" name="illustration" descr="Iris holds up a wet sheet in a plastic sleeve; Mark: “That is dated June.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402336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99516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99516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SCENE 8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15.40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2560320"/>
            <a:ext cx="4645152" cy="238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The paper is a </a:t>
            </a:r>
            <a:r>
              <a:rPr lang="en-US" sz="1900" b="1" dirty="0">
                <a:solidFill>
                  <a:schemeClr val="tx1"/>
                </a:solidFill>
              </a:rPr>
              <a:t>maintenance record</a:t>
            </a:r>
            <a:r>
              <a:rPr lang="en-US" sz="1900" dirty="0">
                <a:solidFill>
                  <a:schemeClr val="tx1"/>
                </a:solidFill>
              </a:rPr>
              <a:t>. It has been pinned to a board in the basement </a:t>
            </a:r>
            <a:r>
              <a:rPr lang="en-US" sz="1900" b="1" dirty="0">
                <a:solidFill>
                  <a:schemeClr val="tx1"/>
                </a:solidFill>
              </a:rPr>
              <a:t>for months</a:t>
            </a:r>
            <a:r>
              <a:rPr lang="en-US" sz="1900" dirty="0">
                <a:solidFill>
                  <a:schemeClr val="tx1"/>
                </a:solidFill>
              </a:rPr>
              <a:t>, behind a cupboard nobody moves.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The ink has run at the bottom, but the top is perfectly legible.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“That is dated June.”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995160" y="5123688"/>
            <a:ext cx="4645152" cy="1167384"/>
          </a:xfrm>
          <a:prstGeom prst="roundRect">
            <a:avLst>
              <a:gd name="adj" fmla="val 6266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78040" y="521512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ASK THE CLASS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5507736"/>
            <a:ext cx="4279392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Why does a date in </a:t>
            </a:r>
            <a:r>
              <a:rPr lang="en-US" sz="1700" b="1" dirty="0">
                <a:solidFill>
                  <a:schemeClr val="tx1"/>
                </a:solidFill>
              </a:rPr>
              <a:t>June</a:t>
            </a:r>
            <a:r>
              <a:rPr lang="en-US" sz="1700" dirty="0">
                <a:solidFill>
                  <a:schemeClr val="tx1"/>
                </a:solidFill>
              </a:rPr>
              <a:t> change the tenses of your report?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Exhibit C — the maintenance record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EXHIBIT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7406640" cy="4809744"/>
          </a:xfrm>
          <a:prstGeom prst="rect">
            <a:avLst/>
          </a:prstGeom>
          <a:solidFill>
            <a:schemeClr val="bg1"/>
          </a:solidFill>
          <a:ln w="12700">
            <a:solidFill>
              <a:srgbClr val="44546A"/>
            </a:solidFill>
            <a:prstDash val="dash"/>
          </a:ln>
        </p:spPr>
      </p:sp>
      <p:sp>
        <p:nvSpPr>
          <p:cNvPr id="6" name="tag"/>
          <p:cNvSpPr/>
          <p:nvPr/>
        </p:nvSpPr>
        <p:spPr>
          <a:xfrm>
            <a:off x="777240" y="1645920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EXHIBIT C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400300" y="1609344"/>
            <a:ext cx="5463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Preventive maintenance record — Atlas House — 2F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14 June   </a:t>
            </a:r>
            <a:r>
              <a:rPr lang="en-US" sz="2000" dirty="0">
                <a:solidFill>
                  <a:schemeClr val="tx1"/>
                </a:solidFill>
              </a:rPr>
              <a:t>Riser 2F — visual inspection — </a:t>
            </a:r>
            <a:r>
              <a:rPr lang="en-US" sz="2000" i="1" dirty="0">
                <a:solidFill>
                  <a:schemeClr val="tx1"/>
                </a:solidFill>
              </a:rPr>
              <a:t>minor seepage at joint 4 — MONITOR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19 July   </a:t>
            </a:r>
            <a:r>
              <a:rPr lang="en-US" sz="2000" dirty="0">
                <a:solidFill>
                  <a:schemeClr val="tx1"/>
                </a:solidFill>
              </a:rPr>
              <a:t>Riser 2F — joint 4 — </a:t>
            </a:r>
            <a:r>
              <a:rPr lang="en-US" sz="2000" i="1" dirty="0">
                <a:solidFill>
                  <a:schemeClr val="tx1"/>
                </a:solidFill>
              </a:rPr>
              <a:t>seepage confirmed — repair recommended — quotation requested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06 September   </a:t>
            </a:r>
            <a:r>
              <a:rPr lang="en-US" sz="2000" dirty="0">
                <a:solidFill>
                  <a:schemeClr val="tx1"/>
                </a:solidFill>
              </a:rPr>
              <a:t>Riser 2F — joint 4 — </a:t>
            </a:r>
            <a:r>
              <a:rPr lang="en-US" sz="2000" i="1" dirty="0">
                <a:solidFill>
                  <a:schemeClr val="tx1"/>
                </a:solidFill>
              </a:rPr>
              <a:t>no change — quotation not received — MONITOR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08 November   </a:t>
            </a:r>
            <a:r>
              <a:rPr lang="en-US" sz="2000" dirty="0">
                <a:solidFill>
                  <a:schemeClr val="tx1"/>
                </a:solidFill>
              </a:rPr>
              <a:t>Riser 2F — joint 4 — </a:t>
            </a:r>
            <a:r>
              <a:rPr lang="en-US" sz="2000" i="1" dirty="0">
                <a:solidFill>
                  <a:schemeClr val="tx1"/>
                </a:solidFill>
              </a:rPr>
              <a:t>temporary repair carried out — permanent repair still required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Signed:   </a:t>
            </a:r>
            <a:r>
              <a:rPr lang="en-US" sz="2000" dirty="0">
                <a:solidFill>
                  <a:schemeClr val="tx1"/>
                </a:solidFill>
              </a:rPr>
              <a:t>technical services — </a:t>
            </a:r>
            <a:r>
              <a:rPr lang="en-US" sz="2000" i="1" dirty="0">
                <a:solidFill>
                  <a:schemeClr val="tx1"/>
                </a:solidFill>
              </a:rPr>
              <a:t>no further entry after 08 November</a:t>
            </a:r>
            <a:endParaRPr lang="en-US" sz="2000" dirty="0"/>
          </a:p>
        </p:txBody>
      </p:sp>
      <p:sp>
        <p:nvSpPr>
          <p:cNvPr id="9" name="aside"/>
          <p:cNvSpPr/>
          <p:nvPr/>
        </p:nvSpPr>
        <p:spPr>
          <a:xfrm>
            <a:off x="8275320" y="1481328"/>
            <a:ext cx="3364992" cy="4809744"/>
          </a:xfrm>
          <a:prstGeom prst="roundRect">
            <a:avLst>
              <a:gd name="adj" fmla="val 2174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66420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842248" y="163677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3"/>
                </a:solidFill>
              </a:rPr>
              <a:t>MAINTENANCE WORDS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439912" y="2075688"/>
            <a:ext cx="30358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seepage</a:t>
            </a:r>
            <a:r>
              <a:rPr lang="en-US" sz="1800" dirty="0">
                <a:solidFill>
                  <a:schemeClr val="tx1"/>
                </a:solidFill>
              </a:rPr>
              <a:t> = un suintement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 riser</a:t>
            </a:r>
            <a:r>
              <a:rPr lang="en-US" sz="1800" dirty="0">
                <a:solidFill>
                  <a:schemeClr val="tx1"/>
                </a:solidFill>
              </a:rPr>
              <a:t> = une colonne montante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 joint</a:t>
            </a:r>
            <a:r>
              <a:rPr lang="en-US" sz="1800" dirty="0">
                <a:solidFill>
                  <a:schemeClr val="tx1"/>
                </a:solidFill>
              </a:rPr>
              <a:t> = un raccord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to monitor</a:t>
            </a:r>
            <a:r>
              <a:rPr lang="en-US" sz="1800" dirty="0">
                <a:solidFill>
                  <a:schemeClr val="tx1"/>
                </a:solidFill>
              </a:rPr>
              <a:t> = surveiller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 quotation</a:t>
            </a:r>
            <a:r>
              <a:rPr lang="en-US" sz="1800" dirty="0">
                <a:solidFill>
                  <a:schemeClr val="tx1"/>
                </a:solidFill>
              </a:rPr>
              <a:t> = un devis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temporary ≠ permanent</a:t>
            </a:r>
            <a:r>
              <a:rPr lang="en-US" sz="1800" dirty="0">
                <a:solidFill>
                  <a:schemeClr val="tx1"/>
                </a:solidFill>
              </a:rPr>
              <a:t> repair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it before Mark does — Q1 · Q2 · Q3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You have a forty-second head start on everyone. Use it.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1.</a:t>
            </a:r>
            <a:r>
              <a:rPr lang="en-US" sz="2600" dirty="0">
                <a:solidFill>
                  <a:schemeClr val="tx1"/>
                </a:solidFill>
              </a:rPr>
              <a:t> When was the problem first written down and by whom?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2.</a:t>
            </a:r>
            <a:r>
              <a:rPr lang="en-US" sz="2600" dirty="0">
                <a:solidFill>
                  <a:schemeClr val="tx1"/>
                </a:solidFill>
              </a:rPr>
              <a:t> What was recommended in July, and what happened to that recommendation?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3.</a:t>
            </a:r>
            <a:r>
              <a:rPr lang="en-US" sz="2600" dirty="0">
                <a:solidFill>
                  <a:schemeClr val="tx1"/>
                </a:solidFill>
              </a:rPr>
              <a:t> The November entry uses two words that matter: </a:t>
            </a:r>
            <a:r>
              <a:rPr lang="en-US" sz="2600" i="1" dirty="0">
                <a:solidFill>
                  <a:schemeClr val="tx1"/>
                </a:solidFill>
              </a:rPr>
              <a:t>temporary</a:t>
            </a:r>
            <a:r>
              <a:rPr lang="en-US" sz="2600" dirty="0">
                <a:solidFill>
                  <a:schemeClr val="tx1"/>
                </a:solidFill>
              </a:rPr>
              <a:t> and </a:t>
            </a:r>
            <a:r>
              <a:rPr lang="en-US" sz="2600" i="1" dirty="0">
                <a:solidFill>
                  <a:schemeClr val="tx1"/>
                </a:solidFill>
              </a:rPr>
              <a:t>still required</a:t>
            </a:r>
            <a:r>
              <a:rPr lang="en-US" sz="2600" dirty="0">
                <a:solidFill>
                  <a:schemeClr val="tx1"/>
                </a:solidFill>
              </a:rPr>
              <a:t>. What do they establish, taken together?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it before Mark does — Q1 · Q2 · Q3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You have a forty-second head start on everyone. Use it.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1.</a:t>
            </a:r>
            <a:r>
              <a:rPr lang="en-US" sz="2400" dirty="0">
                <a:solidFill>
                  <a:schemeClr val="tx1"/>
                </a:solidFill>
              </a:rPr>
              <a:t> When was the problem first written down and by whom?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dirty="0">
                <a:solidFill>
                  <a:schemeClr val="accent3"/>
                </a:solidFill>
              </a:rPr>
              <a:t>On </a:t>
            </a:r>
            <a:r>
              <a:rPr lang="en-US" sz="2400" b="1" dirty="0">
                <a:solidFill>
                  <a:schemeClr val="accent3"/>
                </a:solidFill>
              </a:rPr>
              <a:t>14 June</a:t>
            </a:r>
            <a:r>
              <a:rPr lang="en-US" sz="2400" dirty="0">
                <a:solidFill>
                  <a:schemeClr val="accent3"/>
                </a:solidFill>
              </a:rPr>
              <a:t>, by </a:t>
            </a:r>
            <a:r>
              <a:rPr lang="en-US" sz="2400" b="1" dirty="0">
                <a:solidFill>
                  <a:schemeClr val="accent3"/>
                </a:solidFill>
              </a:rPr>
              <a:t>technical services</a:t>
            </a:r>
            <a:r>
              <a:rPr lang="en-US" sz="2400" dirty="0">
                <a:solidFill>
                  <a:schemeClr val="accent3"/>
                </a:solidFill>
              </a:rPr>
              <a:t> (visual inspection: minor seepage at joint 4).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2.</a:t>
            </a:r>
            <a:r>
              <a:rPr lang="en-US" sz="2400" dirty="0">
                <a:solidFill>
                  <a:schemeClr val="tx1"/>
                </a:solidFill>
              </a:rPr>
              <a:t> What was recommended in July, and what happened to that recommendation?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dirty="0">
                <a:solidFill>
                  <a:schemeClr val="accent3"/>
                </a:solidFill>
              </a:rPr>
              <a:t>A </a:t>
            </a:r>
            <a:r>
              <a:rPr lang="en-US" sz="2400" b="1" dirty="0">
                <a:solidFill>
                  <a:schemeClr val="accent3"/>
                </a:solidFill>
              </a:rPr>
              <a:t>repair</a:t>
            </a:r>
            <a:r>
              <a:rPr lang="en-US" sz="2400" dirty="0">
                <a:solidFill>
                  <a:schemeClr val="accent3"/>
                </a:solidFill>
              </a:rPr>
              <a:t> was recommended and a </a:t>
            </a:r>
            <a:r>
              <a:rPr lang="en-US" sz="2400" b="1" dirty="0">
                <a:solidFill>
                  <a:schemeClr val="accent3"/>
                </a:solidFill>
              </a:rPr>
              <a:t>quotation requested</a:t>
            </a:r>
            <a:r>
              <a:rPr lang="en-US" sz="2400" dirty="0">
                <a:solidFill>
                  <a:schemeClr val="accent3"/>
                </a:solidFill>
              </a:rPr>
              <a:t> (19 July). The quotation </a:t>
            </a:r>
            <a:r>
              <a:rPr lang="en-US" sz="2400" b="1" dirty="0">
                <a:solidFill>
                  <a:schemeClr val="accent3"/>
                </a:solidFill>
              </a:rPr>
              <a:t>was never received</a:t>
            </a:r>
            <a:r>
              <a:rPr lang="en-US" sz="2400" dirty="0">
                <a:solidFill>
                  <a:schemeClr val="accent3"/>
                </a:solidFill>
              </a:rPr>
              <a:t> (6 Sept.); only a </a:t>
            </a:r>
            <a:r>
              <a:rPr lang="en-US" sz="2400" b="1" dirty="0">
                <a:solidFill>
                  <a:schemeClr val="accent3"/>
                </a:solidFill>
              </a:rPr>
              <a:t>temporary</a:t>
            </a:r>
            <a:r>
              <a:rPr lang="en-US" sz="2400" dirty="0">
                <a:solidFill>
                  <a:schemeClr val="accent3"/>
                </a:solidFill>
              </a:rPr>
              <a:t> repair was carried out, on 8 November.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3.</a:t>
            </a:r>
            <a:r>
              <a:rPr lang="en-US" sz="2400" dirty="0">
                <a:solidFill>
                  <a:schemeClr val="tx1"/>
                </a:solidFill>
              </a:rPr>
              <a:t> The November entry uses two words that matter: </a:t>
            </a:r>
            <a:r>
              <a:rPr lang="en-US" sz="2400" i="1" dirty="0">
                <a:solidFill>
                  <a:schemeClr val="tx1"/>
                </a:solidFill>
              </a:rPr>
              <a:t>temporary</a:t>
            </a:r>
            <a:r>
              <a:rPr lang="en-US" sz="2400" dirty="0">
                <a:solidFill>
                  <a:schemeClr val="tx1"/>
                </a:solidFill>
              </a:rPr>
              <a:t> and </a:t>
            </a:r>
            <a:r>
              <a:rPr lang="en-US" sz="2400" i="1" dirty="0">
                <a:solidFill>
                  <a:schemeClr val="tx1"/>
                </a:solidFill>
              </a:rPr>
              <a:t>still required</a:t>
            </a:r>
            <a:r>
              <a:rPr lang="en-US" sz="2400" dirty="0">
                <a:solidFill>
                  <a:schemeClr val="tx1"/>
                </a:solidFill>
              </a:rPr>
              <a:t>. What do they establish, taken together?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dirty="0">
                <a:solidFill>
                  <a:schemeClr val="accent3"/>
                </a:solidFill>
              </a:rPr>
              <a:t>That the defect was </a:t>
            </a:r>
            <a:r>
              <a:rPr lang="en-US" sz="2400" b="1" dirty="0">
                <a:solidFill>
                  <a:schemeClr val="accent3"/>
                </a:solidFill>
              </a:rPr>
              <a:t>known</a:t>
            </a:r>
            <a:r>
              <a:rPr lang="en-US" sz="2400" dirty="0">
                <a:solidFill>
                  <a:schemeClr val="accent3"/>
                </a:solidFill>
              </a:rPr>
              <a:t> and </a:t>
            </a:r>
            <a:r>
              <a:rPr lang="en-US" sz="2400" b="1" dirty="0">
                <a:solidFill>
                  <a:schemeClr val="accent3"/>
                </a:solidFill>
              </a:rPr>
              <a:t>never permanently fixed</a:t>
            </a:r>
            <a:r>
              <a:rPr lang="en-US" sz="2400" dirty="0">
                <a:solidFill>
                  <a:schemeClr val="accent3"/>
                </a:solidFill>
              </a:rPr>
              <a:t>: on 8 November the problem was </a:t>
            </a:r>
            <a:r>
              <a:rPr lang="en-US" sz="2400" b="1" dirty="0">
                <a:solidFill>
                  <a:schemeClr val="accent3"/>
                </a:solidFill>
              </a:rPr>
              <a:t>still open</a:t>
            </a:r>
            <a:r>
              <a:rPr lang="en-US" sz="2400" dirty="0">
                <a:solidFill>
                  <a:schemeClr val="accent3"/>
                </a:solidFill>
              </a:rPr>
              <a:t>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it before Mark does — Q4 · Q5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39</a:t>
            </a:r>
            <a:endParaRPr lang="en-US" sz="1200" dirty="0"/>
          </a:p>
        </p:txBody>
      </p:sp>
      <p:sp>
        <p:nvSpPr>
          <p:cNvPr id="5" name="exercise"/>
          <p:cNvSpPr txBox="1"/>
          <p:nvPr/>
        </p:nvSpPr>
        <p:spPr>
          <a:xfrm>
            <a:off x="548640" y="1481328"/>
            <a:ext cx="7178040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4.</a:t>
            </a:r>
            <a:r>
              <a:rPr lang="en-US" sz="2600" dirty="0">
                <a:solidFill>
                  <a:schemeClr val="tx1"/>
                </a:solidFill>
              </a:rPr>
              <a:t> This morning, Samuel said the trouble had lasted “since the summer”. </a:t>
            </a:r>
            <a:r>
              <a:rPr lang="en-US" sz="2600" b="1" dirty="0">
                <a:solidFill>
                  <a:schemeClr val="tx1"/>
                </a:solidFill>
              </a:rPr>
              <a:t>Does Exhibit C confirm him, correct him, or extend him?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5.</a:t>
            </a:r>
            <a:r>
              <a:rPr lang="en-US" sz="2600" dirty="0">
                <a:solidFill>
                  <a:schemeClr val="tx1"/>
                </a:solidFill>
              </a:rPr>
              <a:t> One line of this record is worse for us than the badge entry in Exhibit A. </a:t>
            </a:r>
            <a:r>
              <a:rPr lang="en-US" sz="2600" b="1" dirty="0">
                <a:solidFill>
                  <a:schemeClr val="tx1"/>
                </a:solidFill>
              </a:rPr>
              <a:t>Which one, and why?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it before Mark does — Q4 · Q5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39</a:t>
            </a:r>
            <a:endParaRPr lang="en-US" sz="12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481328"/>
            <a:ext cx="7178040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4.</a:t>
            </a:r>
            <a:r>
              <a:rPr lang="en-US" sz="2100" dirty="0">
                <a:solidFill>
                  <a:schemeClr val="tx1"/>
                </a:solidFill>
              </a:rPr>
              <a:t> This morning, Samuel said the trouble had lasted “since the summer”. </a:t>
            </a:r>
            <a:r>
              <a:rPr lang="en-US" sz="2100" b="1" dirty="0">
                <a:solidFill>
                  <a:schemeClr val="tx1"/>
                </a:solidFill>
              </a:rPr>
              <a:t>Does Exhibit C confirm him, correct him, or extend him?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accent3"/>
                </a:solidFill>
              </a:rPr>
              <a:t>→ </a:t>
            </a:r>
            <a:r>
              <a:rPr lang="en-US" sz="2100" dirty="0">
                <a:solidFill>
                  <a:schemeClr val="accent3"/>
                </a:solidFill>
              </a:rPr>
              <a:t>It </a:t>
            </a:r>
            <a:r>
              <a:rPr lang="en-US" sz="2100" b="1" dirty="0">
                <a:solidFill>
                  <a:schemeClr val="accent3"/>
                </a:solidFill>
              </a:rPr>
              <a:t>extends</a:t>
            </a:r>
            <a:r>
              <a:rPr lang="en-US" sz="2100" dirty="0">
                <a:solidFill>
                  <a:schemeClr val="accent3"/>
                </a:solidFill>
              </a:rPr>
              <a:t> him (and confirms him): the trouble is documented </a:t>
            </a:r>
            <a:r>
              <a:rPr lang="en-US" sz="2100" b="1" dirty="0">
                <a:solidFill>
                  <a:schemeClr val="accent3"/>
                </a:solidFill>
              </a:rPr>
              <a:t>since 14 June</a:t>
            </a:r>
            <a:r>
              <a:rPr lang="en-US" sz="2100" dirty="0">
                <a:solidFill>
                  <a:schemeClr val="accent3"/>
                </a:solidFill>
              </a:rPr>
              <a:t>, in writing — not just remembered.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5.</a:t>
            </a:r>
            <a:r>
              <a:rPr lang="en-US" sz="2100" dirty="0">
                <a:solidFill>
                  <a:schemeClr val="tx1"/>
                </a:solidFill>
              </a:rPr>
              <a:t> One line of this record is worse for us than the badge entry in Exhibit A. </a:t>
            </a:r>
            <a:r>
              <a:rPr lang="en-US" sz="2100" b="1" dirty="0">
                <a:solidFill>
                  <a:schemeClr val="tx1"/>
                </a:solidFill>
              </a:rPr>
              <a:t>Which one, and why?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accent3"/>
                </a:solidFill>
              </a:rPr>
              <a:t>→ </a:t>
            </a:r>
            <a:r>
              <a:rPr lang="en-US" sz="2100" b="1" dirty="0">
                <a:solidFill>
                  <a:schemeClr val="accent3"/>
                </a:solidFill>
              </a:rPr>
              <a:t>08 November</a:t>
            </a:r>
            <a:r>
              <a:rPr lang="en-US" sz="2100" dirty="0">
                <a:solidFill>
                  <a:schemeClr val="accent3"/>
                </a:solidFill>
              </a:rPr>
              <a:t> — </a:t>
            </a:r>
            <a:r>
              <a:rPr lang="en-US" sz="2100" i="1" dirty="0">
                <a:solidFill>
                  <a:schemeClr val="accent3"/>
                </a:solidFill>
              </a:rPr>
              <a:t>permanent repair still required</a:t>
            </a:r>
            <a:r>
              <a:rPr lang="en-US" sz="2100" dirty="0">
                <a:solidFill>
                  <a:schemeClr val="accent3"/>
                </a:solidFill>
              </a:rPr>
              <a:t> (+ </a:t>
            </a:r>
            <a:r>
              <a:rPr lang="en-US" sz="2100" i="1" dirty="0">
                <a:solidFill>
                  <a:schemeClr val="accent3"/>
                </a:solidFill>
              </a:rPr>
              <a:t>no further entry</a:t>
            </a:r>
            <a:r>
              <a:rPr lang="en-US" sz="2100" dirty="0">
                <a:solidFill>
                  <a:schemeClr val="accent3"/>
                </a:solidFill>
              </a:rPr>
              <a:t>): the defect was </a:t>
            </a:r>
            <a:r>
              <a:rPr lang="en-US" sz="2100" b="1" dirty="0">
                <a:solidFill>
                  <a:schemeClr val="accent3"/>
                </a:solidFill>
              </a:rPr>
              <a:t>known and left unrepaired</a:t>
            </a:r>
            <a:r>
              <a:rPr lang="en-US" sz="2100" dirty="0">
                <a:solidFill>
                  <a:schemeClr val="accent3"/>
                </a:solidFill>
              </a:rPr>
              <a:t>. An insurer can call that a </a:t>
            </a:r>
            <a:r>
              <a:rPr lang="en-US" sz="2100" b="1" dirty="0">
                <a:solidFill>
                  <a:schemeClr val="accent3"/>
                </a:solidFill>
              </a:rPr>
              <a:t>maintenance failure</a:t>
            </a:r>
            <a:r>
              <a:rPr lang="en-US" sz="2100" dirty="0">
                <a:solidFill>
                  <a:schemeClr val="accent3"/>
                </a:solidFill>
              </a:rPr>
              <a:t>, not a sudden accident — and it points at an organisation, in writing.</a:t>
            </a:r>
            <a:endParaRPr lang="en-US" sz="2100" dirty="0"/>
          </a:p>
        </p:txBody>
      </p:sp>
      <p:sp>
        <p:nvSpPr>
          <p:cNvPr id="7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WATCH OUT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Also defensible: </a:t>
            </a:r>
            <a:r>
              <a:rPr lang="en-US" sz="1800" b="1" dirty="0">
                <a:solidFill>
                  <a:schemeClr val="tx1"/>
                </a:solidFill>
              </a:rPr>
              <a:t>19 July</a:t>
            </a:r>
            <a:r>
              <a:rPr lang="en-US" sz="1800" dirty="0">
                <a:solidFill>
                  <a:schemeClr val="tx1"/>
                </a:solidFill>
              </a:rPr>
              <a:t> (repair recommended, never done) or </a:t>
            </a:r>
            <a:r>
              <a:rPr lang="en-US" sz="1800" b="1" dirty="0">
                <a:solidFill>
                  <a:schemeClr val="tx1"/>
                </a:solidFill>
              </a:rPr>
              <a:t>06 September</a:t>
            </a:r>
            <a:r>
              <a:rPr lang="en-US" sz="1800" dirty="0">
                <a:solidFill>
                  <a:schemeClr val="tx1"/>
                </a:solidFill>
              </a:rPr>
              <a:t> (quotation not received — MONITOR).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document that changes your tenses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FIELD NOTE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40</a:t>
            </a:r>
            <a:endParaRPr lang="en-US" sz="1200" dirty="0"/>
          </a:p>
        </p:txBody>
      </p:sp>
      <p:pic>
        <p:nvPicPr>
          <p:cNvPr id="5" name="illustration" descr="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202808" cy="4809744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6" name="aside"/>
          <p:cNvSpPr/>
          <p:nvPr/>
        </p:nvSpPr>
        <p:spPr>
          <a:xfrm>
            <a:off x="8071488" y="1481328"/>
            <a:ext cx="3568824" cy="4809744"/>
          </a:xfrm>
          <a:prstGeom prst="roundRect">
            <a:avLst>
              <a:gd name="adj" fmla="val 2050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4368" y="1664208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38416" y="1636776"/>
            <a:ext cx="2837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ON THE BOARD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36080" y="2075688"/>
            <a:ext cx="323964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CLOSED &amp; DATED → PAST SIMPLE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en-US" sz="1800" i="1" dirty="0">
                <a:solidFill>
                  <a:schemeClr val="tx1"/>
                </a:solidFill>
              </a:rPr>
              <a:t>The joint </a:t>
            </a:r>
            <a:r>
              <a:rPr lang="en-US" sz="1800" b="1" i="1" dirty="0">
                <a:solidFill>
                  <a:schemeClr val="tx1"/>
                </a:solidFill>
              </a:rPr>
              <a:t>was inspected</a:t>
            </a:r>
            <a:r>
              <a:rPr lang="en-US" sz="1800" i="1" dirty="0">
                <a:solidFill>
                  <a:schemeClr val="tx1"/>
                </a:solidFill>
              </a:rPr>
              <a:t> on 14 June. A temporary repair </a:t>
            </a:r>
            <a:r>
              <a:rPr lang="en-US" sz="1800" b="1" i="1" dirty="0">
                <a:solidFill>
                  <a:schemeClr val="tx1"/>
                </a:solidFill>
              </a:rPr>
              <a:t>was carried out</a:t>
            </a:r>
            <a:r>
              <a:rPr lang="en-US" sz="1800" i="1" dirty="0">
                <a:solidFill>
                  <a:schemeClr val="tx1"/>
                </a:solidFill>
              </a:rPr>
              <a:t> in November.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STILL OPEN → PRESENT PERFECT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en-US" sz="1800" i="1" dirty="0">
                <a:solidFill>
                  <a:schemeClr val="tx1"/>
                </a:solidFill>
              </a:rPr>
              <a:t>The joint </a:t>
            </a:r>
            <a:r>
              <a:rPr lang="en-US" sz="1800" b="1" i="1" dirty="0">
                <a:solidFill>
                  <a:schemeClr val="tx1"/>
                </a:solidFill>
              </a:rPr>
              <a:t>has been</a:t>
            </a:r>
            <a:r>
              <a:rPr lang="en-US" sz="1800" i="1" dirty="0">
                <a:solidFill>
                  <a:schemeClr val="tx1"/>
                </a:solidFill>
              </a:rPr>
              <a:t> faulty since June. A permanent repair </a:t>
            </a:r>
            <a:r>
              <a:rPr lang="en-US" sz="1800" b="1" i="1" dirty="0">
                <a:solidFill>
                  <a:schemeClr val="tx1"/>
                </a:solidFill>
              </a:rPr>
              <a:t>has still not been carried out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SINCE JUNE</a:t>
            </a:r>
            <a:r>
              <a:rPr lang="en-US" sz="1800" dirty="0">
                <a:solidFill>
                  <a:schemeClr val="tx1"/>
                </a:solidFill>
              </a:rPr>
              <a:t> = always </a:t>
            </a:r>
            <a:r>
              <a:rPr lang="en-US" sz="1800" b="1" dirty="0">
                <a:solidFill>
                  <a:schemeClr val="tx1"/>
                </a:solidFill>
              </a:rPr>
              <a:t>have been</a:t>
            </a:r>
            <a:r>
              <a:rPr lang="en-US" sz="1800" dirty="0">
                <a:solidFill>
                  <a:schemeClr val="tx1"/>
                </a:solidFill>
              </a:rPr>
              <a:t>: ✗ </a:t>
            </a:r>
            <a:r>
              <a:rPr lang="en-US" sz="1800" i="1" dirty="0">
                <a:solidFill>
                  <a:schemeClr val="tx1"/>
                </a:solidFill>
              </a:rPr>
              <a:t>the joint is faulty since June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Closed and dated, or still open?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54283" y="1901952"/>
            <a:ext cx="9057057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1927435" y="1901952"/>
            <a:ext cx="89107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joint </a:t>
            </a:r>
            <a:r>
              <a:rPr lang="en-US" sz="1500" b="1" dirty="0">
                <a:solidFill>
                  <a:schemeClr val="tx1"/>
                </a:solidFill>
              </a:rPr>
              <a:t>has been</a:t>
            </a:r>
            <a:r>
              <a:rPr lang="en-US" sz="1500" b="1" dirty="0">
                <a:solidFill>
                  <a:schemeClr val="tx1"/>
                </a:solidFill>
              </a:rPr>
              <a:t> faulty </a:t>
            </a:r>
            <a:r>
              <a:rPr lang="en-US" sz="1500" b="1" dirty="0">
                <a:solidFill>
                  <a:schemeClr val="tx1"/>
                </a:solidFill>
              </a:rPr>
              <a:t>since June</a:t>
            </a:r>
            <a:r>
              <a:rPr lang="en-US" sz="1500" b="1" dirty="0">
                <a:solidFill>
                  <a:schemeClr val="tx1"/>
                </a:solidFill>
              </a:rPr>
              <a:t> — still open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10927080" cy="0"/>
          </a:xfrm>
          <a:prstGeom prst="line">
            <a:avLst/>
          </a:prstGeom>
          <a:noFill/>
          <a:ln w="317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85288" y="2514600"/>
            <a:ext cx="0" cy="14630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6648" y="2679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June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4167" y="2514600"/>
            <a:ext cx="0" cy="14630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5527" y="2679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July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03045" y="2514600"/>
            <a:ext cx="0" cy="14630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54405" y="2679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August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1924" y="2514600"/>
            <a:ext cx="0" cy="14630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3284" y="2679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September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20803" y="2514600"/>
            <a:ext cx="0" cy="14630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72163" y="2679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October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29681" y="2514600"/>
            <a:ext cx="0" cy="14630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81041" y="2679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November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11340" y="1572768"/>
            <a:ext cx="0" cy="1197864"/>
          </a:xfrm>
          <a:prstGeom prst="line">
            <a:avLst/>
          </a:prstGeom>
          <a:noFill/>
          <a:ln w="25400">
            <a:solidFill>
              <a:srgbClr val="B03A2E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10454140" y="2679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NOW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735411" y="2468880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54283" y="2706624"/>
            <a:ext cx="0" cy="292608"/>
          </a:xfrm>
          <a:prstGeom prst="line">
            <a:avLst/>
          </a:prstGeom>
          <a:noFill/>
          <a:ln w="12700">
            <a:solidFill>
              <a:srgbClr val="C0752A"/>
            </a:solidFill>
            <a:prstDash val="sysDot"/>
          </a:ln>
        </p:spPr>
      </p:sp>
      <p:sp>
        <p:nvSpPr>
          <p:cNvPr id="24" name="Text 22"/>
          <p:cNvSpPr txBox="1"/>
          <p:nvPr/>
        </p:nvSpPr>
        <p:spPr>
          <a:xfrm>
            <a:off x="894163" y="299923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14 June: </a:t>
            </a:r>
            <a:r>
              <a:rPr lang="en-US" sz="1400" b="1" dirty="0">
                <a:solidFill>
                  <a:schemeClr val="tx1"/>
                </a:solidFill>
              </a:rPr>
              <a:t>was inspected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700622" y="2468880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19494" y="2706624"/>
            <a:ext cx="0" cy="950976"/>
          </a:xfrm>
          <a:prstGeom prst="line">
            <a:avLst/>
          </a:prstGeom>
          <a:noFill/>
          <a:ln w="12700">
            <a:solidFill>
              <a:srgbClr val="C0752A"/>
            </a:solidFill>
            <a:prstDash val="sysDot"/>
          </a:ln>
        </p:spPr>
      </p:sp>
      <p:sp>
        <p:nvSpPr>
          <p:cNvPr id="27" name="Text 25"/>
          <p:cNvSpPr txBox="1"/>
          <p:nvPr/>
        </p:nvSpPr>
        <p:spPr>
          <a:xfrm>
            <a:off x="2676494" y="3657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19 July: repair </a:t>
            </a:r>
            <a:r>
              <a:rPr lang="en-US" sz="1400" b="1" dirty="0">
                <a:solidFill>
                  <a:schemeClr val="tx1"/>
                </a:solidFill>
              </a:rPr>
              <a:t>was recommended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34828" y="2468880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53700" y="2706624"/>
            <a:ext cx="0" cy="292608"/>
          </a:xfrm>
          <a:prstGeom prst="line">
            <a:avLst/>
          </a:prstGeom>
          <a:noFill/>
          <a:ln w="12700">
            <a:solidFill>
              <a:srgbClr val="C0752A"/>
            </a:solidFill>
            <a:prstDash val="sysDot"/>
          </a:ln>
        </p:spPr>
      </p:sp>
      <p:sp>
        <p:nvSpPr>
          <p:cNvPr id="30" name="Text 28"/>
          <p:cNvSpPr txBox="1"/>
          <p:nvPr/>
        </p:nvSpPr>
        <p:spPr>
          <a:xfrm>
            <a:off x="5364980" y="299923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Sept.: quotation </a:t>
            </a:r>
            <a:r>
              <a:rPr lang="en-US" sz="1400" b="1" dirty="0">
                <a:solidFill>
                  <a:schemeClr val="tx1"/>
                </a:solidFill>
              </a:rPr>
              <a:t>was not received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9150" y="2468880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48022" y="2706624"/>
            <a:ext cx="0" cy="950976"/>
          </a:xfrm>
          <a:prstGeom prst="line">
            <a:avLst/>
          </a:prstGeom>
          <a:noFill/>
          <a:ln w="12700">
            <a:solidFill>
              <a:srgbClr val="C0752A"/>
            </a:solidFill>
            <a:prstDash val="sysDot"/>
          </a:ln>
        </p:spPr>
      </p:sp>
      <p:sp>
        <p:nvSpPr>
          <p:cNvPr id="33" name="Text 31"/>
          <p:cNvSpPr txBox="1"/>
          <p:nvPr/>
        </p:nvSpPr>
        <p:spPr>
          <a:xfrm>
            <a:off x="6976422" y="36576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Nov.: temporary repair </a:t>
            </a:r>
            <a:r>
              <a:rPr lang="en-US" sz="1400" b="1" dirty="0">
                <a:solidFill>
                  <a:schemeClr val="tx1"/>
                </a:solidFill>
              </a:rPr>
              <a:t>was carried out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" y="5980176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97280" y="59070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closed &amp; dated → </a:t>
            </a:r>
            <a:r>
              <a:rPr lang="en-US" sz="1500" b="1" dirty="0">
                <a:solidFill>
                  <a:schemeClr val="tx1"/>
                </a:solidFill>
              </a:rPr>
              <a:t>past simple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080760" y="5980176"/>
            <a:ext cx="457200" cy="237744"/>
          </a:xfrm>
          <a:prstGeom prst="roundRect">
            <a:avLst>
              <a:gd name="adj" fmla="val 19231"/>
            </a:avLst>
          </a:prstGeom>
          <a:solidFill>
            <a:schemeClr val="accent6">
              <a:alpha val="85000"/>
            </a:scheme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629400" y="59070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still open, up to now → </a:t>
            </a:r>
            <a:r>
              <a:rPr lang="en-US" sz="1500" b="1" dirty="0">
                <a:solidFill>
                  <a:schemeClr val="tx1"/>
                </a:solidFill>
              </a:rPr>
              <a:t>present perfect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passive: the report’s favourite form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38–40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514344" cy="3922776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01368"/>
            <a:ext cx="3514344" cy="182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FORM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be + past participle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27376"/>
            <a:ext cx="3148584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joint </a:t>
            </a:r>
            <a:r>
              <a:rPr lang="en-US" sz="2000" b="1" dirty="0">
                <a:solidFill>
                  <a:schemeClr val="tx1"/>
                </a:solidFill>
              </a:rPr>
              <a:t>was inspected</a:t>
            </a:r>
            <a:r>
              <a:rPr lang="en-US" sz="2000" dirty="0">
                <a:solidFill>
                  <a:schemeClr val="tx1"/>
                </a:solidFill>
              </a:rPr>
              <a:t>. (past)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repair </a:t>
            </a:r>
            <a:r>
              <a:rPr lang="en-US" sz="2000" b="1" dirty="0">
                <a:solidFill>
                  <a:schemeClr val="tx1"/>
                </a:solidFill>
              </a:rPr>
              <a:t>has been carried out</a:t>
            </a:r>
            <a:r>
              <a:rPr lang="en-US" sz="2000" dirty="0">
                <a:solidFill>
                  <a:schemeClr val="tx1"/>
                </a:solidFill>
              </a:rPr>
              <a:t>. (present perfect)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repair </a:t>
            </a:r>
            <a:r>
              <a:rPr lang="en-US" sz="2000" b="1" dirty="0">
                <a:solidFill>
                  <a:schemeClr val="tx1"/>
                </a:solidFill>
              </a:rPr>
              <a:t>is required</a:t>
            </a:r>
            <a:r>
              <a:rPr lang="en-US" sz="2000" dirty="0">
                <a:solidFill>
                  <a:schemeClr val="tx1"/>
                </a:solidFill>
              </a:rPr>
              <a:t>. (present)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37304" y="1481328"/>
            <a:ext cx="3514344" cy="3922776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7304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13" name="Shape 11"/>
          <p:cNvSpPr/>
          <p:nvPr/>
        </p:nvSpPr>
        <p:spPr>
          <a:xfrm>
            <a:off x="4337304" y="1801368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0184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WHY IN A REPORT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20184" y="2084832"/>
            <a:ext cx="3148584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doer is </a:t>
            </a:r>
            <a:r>
              <a:rPr lang="en-US" sz="2000" b="1" dirty="0">
                <a:solidFill>
                  <a:schemeClr val="tx1"/>
                </a:solidFill>
              </a:rPr>
              <a:t>unknown</a:t>
            </a:r>
            <a:r>
              <a:rPr lang="en-US" sz="2000" dirty="0">
                <a:solidFill>
                  <a:schemeClr val="tx1"/>
                </a:solidFill>
              </a:rPr>
              <a:t> or </a:t>
            </a:r>
            <a:r>
              <a:rPr lang="en-US" sz="2000" b="1" dirty="0">
                <a:solidFill>
                  <a:schemeClr val="tx1"/>
                </a:solidFill>
              </a:rPr>
              <a:t>unimportant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</a:t>
            </a:r>
            <a:r>
              <a:rPr lang="en-US" sz="2000" b="1" dirty="0">
                <a:solidFill>
                  <a:schemeClr val="tx1"/>
                </a:solidFill>
              </a:rPr>
              <a:t>names nobody</a:t>
            </a:r>
            <a:r>
              <a:rPr lang="en-US" sz="2000" dirty="0">
                <a:solidFill>
                  <a:schemeClr val="tx1"/>
                </a:solidFill>
              </a:rPr>
              <a:t>: </a:t>
            </a:r>
            <a:r>
              <a:rPr lang="en-US" sz="2000" i="1" dirty="0">
                <a:solidFill>
                  <a:schemeClr val="tx1"/>
                </a:solidFill>
              </a:rPr>
              <a:t>A final inspection was carried out at 20.04.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25968" y="1481328"/>
            <a:ext cx="3514344" cy="3922776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25968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801368"/>
            <a:ext cx="3514344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08848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BY + AGENT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08848" y="2084832"/>
            <a:ext cx="3148584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Only if it matters: </a:t>
            </a:r>
            <a:r>
              <a:rPr lang="en-US" sz="2000" i="1" dirty="0">
                <a:solidFill>
                  <a:schemeClr val="tx1"/>
                </a:solidFill>
              </a:rPr>
              <a:t>The record was signed </a:t>
            </a:r>
            <a:r>
              <a:rPr lang="en-US" sz="2000" b="1" i="1" dirty="0">
                <a:solidFill>
                  <a:schemeClr val="tx1"/>
                </a:solidFill>
              </a:rPr>
              <a:t>by technical services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Usually left out in a report.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On a réparé le joint</a:t>
            </a:r>
            <a:r>
              <a:rPr lang="en-US" sz="1700" dirty="0">
                <a:solidFill>
                  <a:schemeClr val="tx1"/>
                </a:solidFill>
              </a:rPr>
              <a:t> → The joint </a:t>
            </a:r>
            <a:r>
              <a:rPr lang="en-US" sz="1700" b="1" dirty="0">
                <a:solidFill>
                  <a:schemeClr val="tx1"/>
                </a:solidFill>
              </a:rPr>
              <a:t>was repaired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One repaired the joint</a:t>
            </a:r>
            <a:r>
              <a:rPr lang="en-US" sz="1700" dirty="0">
                <a:solidFill>
                  <a:schemeClr val="tx1"/>
                </a:solidFill>
              </a:rPr>
              <a:t>). </a:t>
            </a:r>
            <a:r>
              <a:rPr lang="en-US" sz="1700" i="1" dirty="0">
                <a:solidFill>
                  <a:schemeClr val="tx1"/>
                </a:solidFill>
              </a:rPr>
              <a:t>On nous a dit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b="1" dirty="0">
                <a:solidFill>
                  <a:schemeClr val="tx1"/>
                </a:solidFill>
              </a:rPr>
              <a:t>We were told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minutes before you touch your draft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· Choose the form, then write in three words why.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The joint </a:t>
            </a:r>
            <a:r>
              <a:rPr lang="en-US" sz="2400" dirty="0">
                <a:solidFill>
                  <a:schemeClr val="tx1"/>
                </a:solidFill>
              </a:rPr>
              <a:t>was inspected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has been inspected</a:t>
            </a:r>
            <a:r>
              <a:rPr lang="en-US" sz="2400" dirty="0">
                <a:solidFill>
                  <a:schemeClr val="tx1"/>
                </a:solidFill>
              </a:rPr>
              <a:t> on 14 June. 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A permanent repair </a:t>
            </a:r>
            <a:r>
              <a:rPr lang="en-US" sz="2400" dirty="0">
                <a:solidFill>
                  <a:schemeClr val="tx1"/>
                </a:solidFill>
              </a:rPr>
              <a:t>was never carried out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has never been carried out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We </a:t>
            </a:r>
            <a:r>
              <a:rPr lang="en-US" sz="2400" dirty="0">
                <a:solidFill>
                  <a:schemeClr val="tx1"/>
                </a:solidFill>
              </a:rPr>
              <a:t>had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have had</a:t>
            </a:r>
            <a:r>
              <a:rPr lang="en-US" sz="2400" dirty="0">
                <a:solidFill>
                  <a:schemeClr val="tx1"/>
                </a:solidFill>
              </a:rPr>
              <a:t> two failures on this riser this year. 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The temporary repair </a:t>
            </a:r>
            <a:r>
              <a:rPr lang="en-US" sz="2400" dirty="0">
                <a:solidFill>
                  <a:schemeClr val="tx1"/>
                </a:solidFill>
              </a:rPr>
              <a:t>held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has held</a:t>
            </a:r>
            <a:r>
              <a:rPr lang="en-US" sz="2400" dirty="0">
                <a:solidFill>
                  <a:schemeClr val="tx1"/>
                </a:solidFill>
              </a:rPr>
              <a:t> in November. 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minutes before you touch your draft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· Choose the form, then write in three words why.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The joint </a:t>
            </a:r>
            <a:r>
              <a:rPr lang="en-US" sz="2400" b="1" dirty="0">
                <a:solidFill>
                  <a:schemeClr val="accent3"/>
                </a:solidFill>
              </a:rPr>
              <a:t>was inspected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strike="sngStrike" dirty="0">
                <a:solidFill>
                  <a:schemeClr val="accent6"/>
                </a:solidFill>
              </a:rPr>
              <a:t>has been inspected</a:t>
            </a:r>
            <a:r>
              <a:rPr lang="en-US" sz="2400" dirty="0">
                <a:solidFill>
                  <a:schemeClr val="tx1"/>
                </a:solidFill>
              </a:rPr>
              <a:t> on 14 June. </a:t>
            </a:r>
            <a:r>
              <a:rPr lang="en-US" sz="2400" b="1" dirty="0">
                <a:solidFill>
                  <a:schemeClr val="accent3"/>
                </a:solidFill>
              </a:rPr>
              <a:t>→ a date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A permanent repair </a:t>
            </a:r>
            <a:r>
              <a:rPr lang="en-US" sz="2400" strike="sngStrike" dirty="0">
                <a:solidFill>
                  <a:schemeClr val="accent6"/>
                </a:solidFill>
              </a:rPr>
              <a:t>was never carried out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b="1" dirty="0">
                <a:solidFill>
                  <a:schemeClr val="accent3"/>
                </a:solidFill>
              </a:rPr>
              <a:t>has never been carried out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b="1" dirty="0">
                <a:solidFill>
                  <a:schemeClr val="accent3"/>
                </a:solidFill>
              </a:rPr>
              <a:t>→ still open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We </a:t>
            </a:r>
            <a:r>
              <a:rPr lang="en-US" sz="2400" strike="sngStrike" dirty="0">
                <a:solidFill>
                  <a:schemeClr val="accent6"/>
                </a:solidFill>
              </a:rPr>
              <a:t>had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b="1" dirty="0">
                <a:solidFill>
                  <a:schemeClr val="accent3"/>
                </a:solidFill>
              </a:rPr>
              <a:t>have had</a:t>
            </a:r>
            <a:r>
              <a:rPr lang="en-US" sz="2400" dirty="0">
                <a:solidFill>
                  <a:schemeClr val="tx1"/>
                </a:solidFill>
              </a:rPr>
              <a:t> two failures on this riser this year. </a:t>
            </a:r>
            <a:r>
              <a:rPr lang="en-US" sz="2400" b="1" dirty="0">
                <a:solidFill>
                  <a:schemeClr val="accent3"/>
                </a:solidFill>
              </a:rPr>
              <a:t>→ year not finished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The temporary repair </a:t>
            </a:r>
            <a:r>
              <a:rPr lang="en-US" sz="2400" b="1" dirty="0">
                <a:solidFill>
                  <a:schemeClr val="accent3"/>
                </a:solidFill>
              </a:rPr>
              <a:t>held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strike="sngStrike" dirty="0">
                <a:solidFill>
                  <a:schemeClr val="accent6"/>
                </a:solidFill>
              </a:rPr>
              <a:t>has held</a:t>
            </a:r>
            <a:r>
              <a:rPr lang="en-US" sz="2400" dirty="0">
                <a:solidFill>
                  <a:schemeClr val="tx1"/>
                </a:solidFill>
              </a:rPr>
              <a:t> in November. </a:t>
            </a:r>
            <a:r>
              <a:rPr lang="en-US" sz="2400" b="1" dirty="0">
                <a:solidFill>
                  <a:schemeClr val="accent3"/>
                </a:solidFill>
              </a:rPr>
              <a:t>→ a date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New marker, new tense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40</a:t>
            </a:r>
            <a:endParaRPr lang="en-US" sz="1200" dirty="0"/>
          </a:p>
        </p:txBody>
      </p:sp>
      <p:sp>
        <p:nvSpPr>
          <p:cNvPr id="5" name="exercise"/>
          <p:cNvSpPr txBox="1"/>
          <p:nvPr/>
        </p:nvSpPr>
        <p:spPr>
          <a:xfrm>
            <a:off x="548640" y="1481328"/>
            <a:ext cx="11091672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B · Rewrite with the new marker.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We had a problem with this joint in November. </a:t>
            </a:r>
            <a:r>
              <a:rPr lang="en-US" sz="2400" b="1" dirty="0">
                <a:solidFill>
                  <a:schemeClr val="tx1"/>
                </a:solidFill>
              </a:rPr>
              <a:t>(since June)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Nobody repaired it permanently. </a:t>
            </a:r>
            <a:r>
              <a:rPr lang="en-US" sz="2400" b="1" dirty="0">
                <a:solidFill>
                  <a:schemeClr val="tx1"/>
                </a:solidFill>
              </a:rPr>
              <a:t>(and it is still not repaired)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C · The structure that will win you a mark.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This is the second time we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</a:rPr>
              <a:t>(have)</a:t>
            </a:r>
            <a:r>
              <a:rPr lang="en-US" sz="2400" dirty="0">
                <a:solidFill>
                  <a:schemeClr val="tx1"/>
                </a:solidFill>
              </a:rPr>
              <a:t> a failure on riser 2F.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It is the worst leak I </a:t>
            </a:r>
            <a:r>
              <a:rPr lang="en-US" sz="2400" dirty="0">
                <a:solidFill>
                  <a:schemeClr val="accent5"/>
                </a:solidFill>
              </a:rPr>
              <a:t>……………………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</a:rPr>
              <a:t>(ever / see)</a:t>
            </a:r>
            <a:r>
              <a:rPr lang="en-US" sz="2400" dirty="0">
                <a:solidFill>
                  <a:schemeClr val="tx1"/>
                </a:solidFill>
              </a:rPr>
              <a:t> in this building.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New marker, new tense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40</a:t>
            </a:r>
            <a:endParaRPr lang="en-US" sz="12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481328"/>
            <a:ext cx="11091672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B · Rewrite with the new marker.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We had a problem with this joint in November. </a:t>
            </a:r>
            <a:r>
              <a:rPr lang="en-US" sz="2400" b="1" dirty="0">
                <a:solidFill>
                  <a:schemeClr val="tx1"/>
                </a:solidFill>
              </a:rPr>
              <a:t>(since June)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b="1" dirty="0">
                <a:solidFill>
                  <a:schemeClr val="accent3"/>
                </a:solidFill>
              </a:rPr>
              <a:t>We have had a problem with this joint since June.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Nobody repaired it permanently. </a:t>
            </a:r>
            <a:r>
              <a:rPr lang="en-US" sz="2400" b="1" dirty="0">
                <a:solidFill>
                  <a:schemeClr val="tx1"/>
                </a:solidFill>
              </a:rPr>
              <a:t>(and it is still not repaired)</a:t>
            </a:r>
            <a:r>
              <a:rPr lang="en-US" sz="2400" dirty="0">
                <a:solidFill>
                  <a:schemeClr val="tx1"/>
                </a:solidFill>
              </a:rPr>
              <a:t> → </a:t>
            </a:r>
            <a:r>
              <a:rPr lang="en-US" sz="2400" b="1" dirty="0">
                <a:solidFill>
                  <a:schemeClr val="accent3"/>
                </a:solidFill>
              </a:rPr>
              <a:t>Nobody has repaired it permanently.</a:t>
            </a:r>
            <a:endParaRPr lang="en-US" sz="24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C · The structure that will win you a mark.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This is the second time we </a:t>
            </a:r>
            <a:r>
              <a:rPr lang="en-US" sz="2400" b="1" dirty="0">
                <a:solidFill>
                  <a:schemeClr val="accent3"/>
                </a:solidFill>
              </a:rPr>
              <a:t>have had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</a:rPr>
              <a:t>(have)</a:t>
            </a:r>
            <a:r>
              <a:rPr lang="en-US" sz="2400" dirty="0">
                <a:solidFill>
                  <a:schemeClr val="tx1"/>
                </a:solidFill>
              </a:rPr>
              <a:t> a failure on riser 2F.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It is the worst leak I </a:t>
            </a:r>
            <a:r>
              <a:rPr lang="en-US" sz="2400" b="1" dirty="0">
                <a:solidFill>
                  <a:schemeClr val="accent3"/>
                </a:solidFill>
              </a:rPr>
              <a:t>have ever seen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</a:rPr>
              <a:t>(ever / see)</a:t>
            </a:r>
            <a:r>
              <a:rPr lang="en-US" sz="2400" dirty="0">
                <a:solidFill>
                  <a:schemeClr val="tx1"/>
                </a:solidFill>
              </a:rPr>
              <a:t> in this building.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“This is the second time we have had…”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40–41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408676" cy="3922776"/>
          </a:xfrm>
          <a:prstGeom prst="roundRect">
            <a:avLst>
              <a:gd name="adj" fmla="val 233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81328"/>
            <a:ext cx="5408676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01368"/>
            <a:ext cx="5408676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481328"/>
            <a:ext cx="5042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THE FIRST / SECOND TIME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84832"/>
            <a:ext cx="5042916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This is the second time + present perfect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68956"/>
            <a:ext cx="5042916" cy="272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This is the second time we </a:t>
            </a:r>
            <a:r>
              <a:rPr lang="en-US" sz="2000" b="1" dirty="0">
                <a:solidFill>
                  <a:schemeClr val="tx1"/>
                </a:solidFill>
              </a:rPr>
              <a:t>have had</a:t>
            </a:r>
            <a:r>
              <a:rPr lang="en-US" sz="2000" dirty="0">
                <a:solidFill>
                  <a:schemeClr val="tx1"/>
                </a:solidFill>
              </a:rPr>
              <a:t> a failure.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✗ </a:t>
            </a:r>
            <a:r>
              <a:rPr lang="en-US" sz="2000" i="1" dirty="0">
                <a:solidFill>
                  <a:schemeClr val="tx1"/>
                </a:solidFill>
              </a:rPr>
              <a:t>we had</a:t>
            </a:r>
            <a:r>
              <a:rPr lang="en-US" sz="2000" dirty="0">
                <a:solidFill>
                  <a:schemeClr val="tx1"/>
                </a:solidFill>
              </a:rPr>
              <a:t> · ✗ </a:t>
            </a:r>
            <a:r>
              <a:rPr lang="en-US" sz="2000" i="1" dirty="0">
                <a:solidFill>
                  <a:schemeClr val="tx1"/>
                </a:solidFill>
              </a:rPr>
              <a:t>we have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is the first time I </a:t>
            </a:r>
            <a:r>
              <a:rPr lang="en-US" sz="2000" b="1" dirty="0">
                <a:solidFill>
                  <a:schemeClr val="tx1"/>
                </a:solidFill>
              </a:rPr>
              <a:t>have seen</a:t>
            </a:r>
            <a:r>
              <a:rPr lang="en-US" sz="2000" dirty="0">
                <a:solidFill>
                  <a:schemeClr val="tx1"/>
                </a:solidFill>
              </a:rPr>
              <a:t> this.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31636" y="1481328"/>
            <a:ext cx="5408676" cy="3922776"/>
          </a:xfrm>
          <a:prstGeom prst="roundRect">
            <a:avLst>
              <a:gd name="adj" fmla="val 233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1636" y="1481328"/>
            <a:ext cx="5408676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3" name="Shape 11"/>
          <p:cNvSpPr/>
          <p:nvPr/>
        </p:nvSpPr>
        <p:spPr>
          <a:xfrm>
            <a:off x="6231636" y="1801368"/>
            <a:ext cx="5408676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4516" y="1481328"/>
            <a:ext cx="5042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THE WORST … EVER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14516" y="2084832"/>
            <a:ext cx="5042916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worst … I have ever + participle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14516" y="2568956"/>
            <a:ext cx="5042916" cy="272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is the </a:t>
            </a:r>
            <a:r>
              <a:rPr lang="en-US" sz="2000" b="1" dirty="0">
                <a:solidFill>
                  <a:schemeClr val="tx1"/>
                </a:solidFill>
              </a:rPr>
              <a:t>worst</a:t>
            </a:r>
            <a:r>
              <a:rPr lang="en-US" sz="2000" dirty="0">
                <a:solidFill>
                  <a:schemeClr val="tx1"/>
                </a:solidFill>
              </a:rPr>
              <a:t> leak I </a:t>
            </a:r>
            <a:r>
              <a:rPr lang="en-US" sz="2000" b="1" dirty="0">
                <a:solidFill>
                  <a:schemeClr val="tx1"/>
                </a:solidFill>
              </a:rPr>
              <a:t>have ever seen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is the </a:t>
            </a:r>
            <a:r>
              <a:rPr lang="en-US" sz="2000" b="1" dirty="0">
                <a:solidFill>
                  <a:schemeClr val="tx1"/>
                </a:solidFill>
              </a:rPr>
              <a:t>most serious</a:t>
            </a:r>
            <a:r>
              <a:rPr lang="en-US" sz="2000" dirty="0">
                <a:solidFill>
                  <a:schemeClr val="tx1"/>
                </a:solidFill>
              </a:rPr>
              <a:t> incident we </a:t>
            </a:r>
            <a:r>
              <a:rPr lang="en-US" sz="2000" b="1" dirty="0">
                <a:solidFill>
                  <a:schemeClr val="tx1"/>
                </a:solidFill>
              </a:rPr>
              <a:t>have had</a:t>
            </a:r>
            <a:r>
              <a:rPr lang="en-US" sz="2000" dirty="0">
                <a:solidFill>
                  <a:schemeClr val="tx1"/>
                </a:solidFill>
              </a:rPr>
              <a:t> this year.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C’est la première fois que je vois ça</a:t>
            </a:r>
            <a:r>
              <a:rPr lang="en-US" sz="1700" dirty="0">
                <a:solidFill>
                  <a:schemeClr val="tx1"/>
                </a:solidFill>
              </a:rPr>
              <a:t> → This is the first time I </a:t>
            </a:r>
            <a:r>
              <a:rPr lang="en-US" sz="1700" b="1" dirty="0">
                <a:solidFill>
                  <a:schemeClr val="tx1"/>
                </a:solidFill>
              </a:rPr>
              <a:t>have seen</a:t>
            </a:r>
            <a:r>
              <a:rPr lang="en-US" sz="1700" dirty="0">
                <a:solidFill>
                  <a:schemeClr val="tx1"/>
                </a:solidFill>
              </a:rPr>
              <a:t> this (✗ </a:t>
            </a:r>
            <a:r>
              <a:rPr lang="en-US" sz="1700" i="1" dirty="0">
                <a:solidFill>
                  <a:schemeClr val="tx1"/>
                </a:solidFill>
              </a:rPr>
              <a:t>I see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Rewrite what you had already written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Four sentences from your noon draft have become incorrect. Correct them before 5 p.m.</a:t>
            </a:r>
            <a:endParaRPr lang="en-US" sz="16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The pipe failed last night. → </a:t>
            </a:r>
            <a:r>
              <a:rPr lang="en-US" sz="2600" i="1" dirty="0">
                <a:solidFill>
                  <a:schemeClr val="tx1"/>
                </a:solidFill>
              </a:rPr>
              <a:t>(with Exhibit C in front of you)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We had a problem with this joint in November. → </a:t>
            </a:r>
            <a:r>
              <a:rPr lang="en-US" sz="2600" i="1" dirty="0">
                <a:solidFill>
                  <a:schemeClr val="tx1"/>
                </a:solidFill>
              </a:rPr>
              <a:t>(since June)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Nobody repaired the joint permanently. → </a:t>
            </a:r>
            <a:r>
              <a:rPr lang="en-US" sz="2600" i="1" dirty="0">
                <a:solidFill>
                  <a:schemeClr val="tx1"/>
                </a:solidFill>
              </a:rPr>
              <a:t>(and it is still not repaired)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This is the first incident on riser 2F. → </a:t>
            </a:r>
            <a:r>
              <a:rPr lang="en-US" sz="2600" i="1" dirty="0">
                <a:solidFill>
                  <a:schemeClr val="tx1"/>
                </a:solidFill>
              </a:rPr>
              <a:t>(second time, this year)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Rewrite what you had already written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YOUR MOVE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Four sentences from your noon draft have become incorrect. Correct them before 5 p.m.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The pipe failed last night. → </a:t>
            </a:r>
            <a:r>
              <a:rPr lang="en-US" sz="2400" i="1" dirty="0">
                <a:solidFill>
                  <a:schemeClr val="tx1"/>
                </a:solidFill>
              </a:rPr>
              <a:t>(with Exhibit C in front of you)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dirty="0">
                <a:solidFill>
                  <a:schemeClr val="accent3"/>
                </a:solidFill>
              </a:rPr>
              <a:t>The joint, which </a:t>
            </a:r>
            <a:r>
              <a:rPr lang="en-US" sz="2400" b="1" dirty="0">
                <a:solidFill>
                  <a:schemeClr val="accent3"/>
                </a:solidFill>
              </a:rPr>
              <a:t>has been</a:t>
            </a:r>
            <a:r>
              <a:rPr lang="en-US" sz="2400" dirty="0">
                <a:solidFill>
                  <a:schemeClr val="accent3"/>
                </a:solidFill>
              </a:rPr>
              <a:t> under observation </a:t>
            </a:r>
            <a:r>
              <a:rPr lang="en-US" sz="2400" b="1" dirty="0">
                <a:solidFill>
                  <a:schemeClr val="accent3"/>
                </a:solidFill>
              </a:rPr>
              <a:t>since 14 June</a:t>
            </a:r>
            <a:r>
              <a:rPr lang="en-US" sz="2400" dirty="0">
                <a:solidFill>
                  <a:schemeClr val="accent3"/>
                </a:solidFill>
              </a:rPr>
              <a:t>, failed last night.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We had a problem with this joint in November. → </a:t>
            </a:r>
            <a:r>
              <a:rPr lang="en-US" sz="2400" i="1" dirty="0">
                <a:solidFill>
                  <a:schemeClr val="tx1"/>
                </a:solidFill>
              </a:rPr>
              <a:t>(since June)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dirty="0">
                <a:solidFill>
                  <a:schemeClr val="accent3"/>
                </a:solidFill>
              </a:rPr>
              <a:t>We </a:t>
            </a:r>
            <a:r>
              <a:rPr lang="en-US" sz="2400" b="1" dirty="0">
                <a:solidFill>
                  <a:schemeClr val="accent3"/>
                </a:solidFill>
              </a:rPr>
              <a:t>have had</a:t>
            </a:r>
            <a:r>
              <a:rPr lang="en-US" sz="2400" dirty="0">
                <a:solidFill>
                  <a:schemeClr val="accent3"/>
                </a:solidFill>
              </a:rPr>
              <a:t> a problem with this joint </a:t>
            </a:r>
            <a:r>
              <a:rPr lang="en-US" sz="2400" b="1" dirty="0">
                <a:solidFill>
                  <a:schemeClr val="accent3"/>
                </a:solidFill>
              </a:rPr>
              <a:t>since June</a:t>
            </a:r>
            <a:r>
              <a:rPr lang="en-US" sz="2400" dirty="0">
                <a:solidFill>
                  <a:schemeClr val="accent3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Nobody repaired the joint permanently. → </a:t>
            </a:r>
            <a:r>
              <a:rPr lang="en-US" sz="2400" i="1" dirty="0">
                <a:solidFill>
                  <a:schemeClr val="tx1"/>
                </a:solidFill>
              </a:rPr>
              <a:t>(and it is still not repaired)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dirty="0">
                <a:solidFill>
                  <a:schemeClr val="accent3"/>
                </a:solidFill>
              </a:rPr>
              <a:t>The joint </a:t>
            </a:r>
            <a:r>
              <a:rPr lang="en-US" sz="2400" b="1" dirty="0">
                <a:solidFill>
                  <a:schemeClr val="accent3"/>
                </a:solidFill>
              </a:rPr>
              <a:t>has not been</a:t>
            </a:r>
            <a:r>
              <a:rPr lang="en-US" sz="2400" dirty="0">
                <a:solidFill>
                  <a:schemeClr val="accent3"/>
                </a:solidFill>
              </a:rPr>
              <a:t> permanently repaired.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This is the first incident on riser 2F. → </a:t>
            </a:r>
            <a:r>
              <a:rPr lang="en-US" sz="2400" i="1" dirty="0">
                <a:solidFill>
                  <a:schemeClr val="tx1"/>
                </a:solidFill>
              </a:rPr>
              <a:t>(second time, this year)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accent3"/>
                </a:solidFill>
              </a:rPr>
              <a:t>→ </a:t>
            </a:r>
            <a:r>
              <a:rPr lang="en-US" sz="2400" dirty="0">
                <a:solidFill>
                  <a:schemeClr val="accent3"/>
                </a:solidFill>
              </a:rPr>
              <a:t>This is the </a:t>
            </a:r>
            <a:r>
              <a:rPr lang="en-US" sz="2400" b="1" dirty="0">
                <a:solidFill>
                  <a:schemeClr val="accent3"/>
                </a:solidFill>
              </a:rPr>
              <a:t>second time</a:t>
            </a:r>
            <a:r>
              <a:rPr lang="en-US" sz="2400" dirty="0">
                <a:solidFill>
                  <a:schemeClr val="accent3"/>
                </a:solidFill>
              </a:rPr>
              <a:t> we </a:t>
            </a:r>
            <a:r>
              <a:rPr lang="en-US" sz="2400" b="1" dirty="0">
                <a:solidFill>
                  <a:schemeClr val="accent3"/>
                </a:solidFill>
              </a:rPr>
              <a:t>have had</a:t>
            </a:r>
            <a:r>
              <a:rPr lang="en-US" sz="2400" dirty="0">
                <a:solidFill>
                  <a:schemeClr val="accent3"/>
                </a:solidFill>
              </a:rPr>
              <a:t> an incident on riser 2F this year.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Team call: do we attach Exhibit C tonight?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TEAM CALL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Exhibit C protects you against one accusation and exposes you to another. Argue for 90 seconds from your field.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89760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1F4E7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00072"/>
            <a:ext cx="347472" cy="3474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ACC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999488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What does Exhibit C protect you against — and expose you to?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208776" y="1889760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45936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0E7C6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1000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345936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IT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351776" y="1999488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What does Exhibit C protect you against — and expose you to?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48640" y="4204716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434187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8B3A2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41502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5800" y="48082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LAW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691640" y="4314444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What does Exhibit C protect you against — and expose you to?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6208776" y="4204716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45936" y="434187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8782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41502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345936" y="48082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351776" y="4314444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What does Exhibit C protect you against — and expose you to?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Team call: do we attach Exhibit C tonight?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TEAM CALL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0528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Exhibit C protects you against one accusation and exposes you to another. Argue for 90 seconds from your field.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889760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1F4E7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0007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ACC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691640" y="1999488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What does Exhibit C protect you against — and expose you to?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Protects:</a:t>
            </a:r>
            <a:r>
              <a:rPr lang="en-US" sz="1800" dirty="0">
                <a:solidFill>
                  <a:schemeClr val="accent3"/>
                </a:solidFill>
              </a:rPr>
              <a:t> the problem was monitored. </a:t>
            </a:r>
            <a:r>
              <a:rPr lang="en-US" sz="1800" b="1" dirty="0">
                <a:solidFill>
                  <a:schemeClr val="accent3"/>
                </a:solidFill>
              </a:rPr>
              <a:t>Exposes:</a:t>
            </a:r>
            <a:r>
              <a:rPr lang="en-US" sz="1800" dirty="0">
                <a:solidFill>
                  <a:schemeClr val="accent3"/>
                </a:solidFill>
              </a:rPr>
              <a:t> a known defect may reduce the payout. </a:t>
            </a:r>
            <a:r>
              <a:rPr lang="en-US" sz="1800" i="1" dirty="0">
                <a:solidFill>
                  <a:schemeClr val="accent3"/>
                </a:solidFill>
              </a:rPr>
              <a:t>We should attach it, provided that the provision is reviewed.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08776" y="1889760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45936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0E7C6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10007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45936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7351776" y="1999488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What does Exhibit C protect you against — and expose you to?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Protects:</a:t>
            </a:r>
            <a:r>
              <a:rPr lang="en-US" sz="1800" dirty="0">
                <a:solidFill>
                  <a:schemeClr val="accent3"/>
                </a:solidFill>
              </a:rPr>
              <a:t> the IT equipment did not cause the leak. </a:t>
            </a:r>
            <a:r>
              <a:rPr lang="en-US" sz="1800" b="1" dirty="0">
                <a:solidFill>
                  <a:schemeClr val="accent3"/>
                </a:solidFill>
              </a:rPr>
              <a:t>Exposes:</a:t>
            </a:r>
            <a:r>
              <a:rPr lang="en-US" sz="1800" dirty="0">
                <a:solidFill>
                  <a:schemeClr val="accent3"/>
                </a:solidFill>
              </a:rPr>
              <a:t> the rack sat under a known leak. </a:t>
            </a:r>
            <a:r>
              <a:rPr lang="en-US" sz="1800" i="1" dirty="0">
                <a:solidFill>
                  <a:schemeClr val="accent3"/>
                </a:solidFill>
              </a:rPr>
              <a:t>…provided that we recommend moving the rack.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4204716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434187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8B3A2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4150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" y="48082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LAW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691640" y="4314444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What does Exhibit C protect you against — and expose you to?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Protects:</a:t>
            </a:r>
            <a:r>
              <a:rPr lang="en-US" sz="1800" dirty="0">
                <a:solidFill>
                  <a:schemeClr val="accent3"/>
                </a:solidFill>
              </a:rPr>
              <a:t> against the charge of hiding evidence. </a:t>
            </a:r>
            <a:r>
              <a:rPr lang="en-US" sz="1800" b="1" dirty="0">
                <a:solidFill>
                  <a:schemeClr val="accent3"/>
                </a:solidFill>
              </a:rPr>
              <a:t>Exposes:</a:t>
            </a:r>
            <a:r>
              <a:rPr lang="en-US" sz="1800" dirty="0">
                <a:solidFill>
                  <a:schemeClr val="accent3"/>
                </a:solidFill>
              </a:rPr>
              <a:t> documented knowledge = possible negligence. </a:t>
            </a:r>
            <a:r>
              <a:rPr lang="en-US" sz="1800" i="1" dirty="0">
                <a:solidFill>
                  <a:schemeClr val="accent3"/>
                </a:solidFill>
              </a:rPr>
              <a:t>…provided that legal reviews it first.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6208776" y="4204716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45936" y="434187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8782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415028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345936" y="48082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7351776" y="4314444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What does Exhibit C protect you against — and expose you to?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→ </a:t>
            </a:r>
            <a:r>
              <a:rPr lang="en-US" sz="1800" b="1" dirty="0">
                <a:solidFill>
                  <a:schemeClr val="accent3"/>
                </a:solidFill>
              </a:rPr>
              <a:t>Protects:</a:t>
            </a:r>
            <a:r>
              <a:rPr lang="en-US" sz="1800" dirty="0">
                <a:solidFill>
                  <a:schemeClr val="accent3"/>
                </a:solidFill>
              </a:rPr>
              <a:t> inspections did take place. </a:t>
            </a:r>
            <a:r>
              <a:rPr lang="en-US" sz="1800" b="1" dirty="0">
                <a:solidFill>
                  <a:schemeClr val="accent3"/>
                </a:solidFill>
              </a:rPr>
              <a:t>Exposes:</a:t>
            </a:r>
            <a:r>
              <a:rPr lang="en-US" sz="1800" dirty="0">
                <a:solidFill>
                  <a:schemeClr val="accent3"/>
                </a:solidFill>
              </a:rPr>
              <a:t> the permanent repair was never done. </a:t>
            </a:r>
            <a:r>
              <a:rPr lang="en-US" sz="1800" i="1" dirty="0">
                <a:solidFill>
                  <a:schemeClr val="accent3"/>
                </a:solidFill>
              </a:rPr>
              <a:t>…provided that we commit to inspecting the whole run.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Decide — with a condition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group writes </a:t>
            </a:r>
            <a:r>
              <a:rPr lang="en-US" sz="1800" b="1" dirty="0">
                <a:solidFill>
                  <a:schemeClr val="tx1"/>
                </a:solidFill>
              </a:rPr>
              <a:t>one sentence</a:t>
            </a:r>
            <a:r>
              <a:rPr lang="en-US" sz="1800" dirty="0">
                <a:solidFill>
                  <a:schemeClr val="tx1"/>
                </a:solidFill>
              </a:rPr>
              <a:t> giving its decision and </a:t>
            </a:r>
            <a:r>
              <a:rPr lang="en-US" sz="1800" b="1" dirty="0">
                <a:solidFill>
                  <a:schemeClr val="tx1"/>
                </a:solidFill>
              </a:rPr>
              <a:t>one sentence</a:t>
            </a:r>
            <a:r>
              <a:rPr lang="en-US" sz="1800" dirty="0">
                <a:solidFill>
                  <a:schemeClr val="tx1"/>
                </a:solidFill>
              </a:rPr>
              <a:t> giving the condition attached to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47672"/>
            <a:ext cx="2567178" cy="345643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67712"/>
            <a:ext cx="2567178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PROVIDED THAT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51176"/>
            <a:ext cx="220141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 should attach it, </a:t>
            </a:r>
            <a:r>
              <a:rPr lang="en-US" sz="2000" b="1" dirty="0">
                <a:solidFill>
                  <a:schemeClr val="tx1"/>
                </a:solidFill>
              </a:rPr>
              <a:t>provided that</a:t>
            </a:r>
            <a:r>
              <a:rPr lang="en-US" sz="2000" dirty="0">
                <a:solidFill>
                  <a:schemeClr val="tx1"/>
                </a:solidFill>
              </a:rPr>
              <a:t> legal reviews it first.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90138" y="1947672"/>
            <a:ext cx="2567178" cy="345643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0138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3" name="Shape 11"/>
          <p:cNvSpPr/>
          <p:nvPr/>
        </p:nvSpPr>
        <p:spPr>
          <a:xfrm>
            <a:off x="3390138" y="2267712"/>
            <a:ext cx="256717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73018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AS LONG 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73018" y="2551176"/>
            <a:ext cx="220141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… </a:t>
            </a:r>
            <a:r>
              <a:rPr lang="en-US" sz="2000" b="1" dirty="0">
                <a:solidFill>
                  <a:schemeClr val="tx1"/>
                </a:solidFill>
              </a:rPr>
              <a:t>as long as</a:t>
            </a:r>
            <a:r>
              <a:rPr lang="en-US" sz="2000" dirty="0">
                <a:solidFill>
                  <a:schemeClr val="tx1"/>
                </a:solidFill>
              </a:rPr>
              <a:t> the report states only dated facts.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31636" y="1947672"/>
            <a:ext cx="2567178" cy="345643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1636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18" name="Shape 16"/>
          <p:cNvSpPr/>
          <p:nvPr/>
        </p:nvSpPr>
        <p:spPr>
          <a:xfrm>
            <a:off x="6231636" y="2267712"/>
            <a:ext cx="2567178" cy="1828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14516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UNLESS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14516" y="2551176"/>
            <a:ext cx="220141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 should attach it </a:t>
            </a:r>
            <a:r>
              <a:rPr lang="en-US" sz="2000" b="1" dirty="0">
                <a:solidFill>
                  <a:schemeClr val="tx1"/>
                </a:solidFill>
              </a:rPr>
              <a:t>unless</a:t>
            </a:r>
            <a:r>
              <a:rPr lang="en-US" sz="2000" dirty="0">
                <a:solidFill>
                  <a:schemeClr val="tx1"/>
                </a:solidFill>
              </a:rPr>
              <a:t> the landlord objects in writing.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073134" y="1947672"/>
            <a:ext cx="2567178" cy="3456432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73134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3" name="Shape 21"/>
          <p:cNvSpPr/>
          <p:nvPr/>
        </p:nvSpPr>
        <p:spPr>
          <a:xfrm>
            <a:off x="9073134" y="2267712"/>
            <a:ext cx="2567178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56014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ON CONDITION THAT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56014" y="2551176"/>
            <a:ext cx="220141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… </a:t>
            </a:r>
            <a:r>
              <a:rPr lang="en-US" sz="2000" b="1" dirty="0">
                <a:solidFill>
                  <a:schemeClr val="tx1"/>
                </a:solidFill>
              </a:rPr>
              <a:t>on condition that</a:t>
            </a:r>
            <a:r>
              <a:rPr lang="en-US" sz="2000" dirty="0">
                <a:solidFill>
                  <a:schemeClr val="tx1"/>
                </a:solidFill>
              </a:rPr>
              <a:t> we recommend a full inspection.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After </a:t>
            </a:r>
            <a:r>
              <a:rPr lang="en-US" sz="1700" i="1" dirty="0">
                <a:solidFill>
                  <a:schemeClr val="tx1"/>
                </a:solidFill>
              </a:rPr>
              <a:t>provided that, as long as, unless</a:t>
            </a:r>
            <a:r>
              <a:rPr lang="en-US" sz="1700" dirty="0">
                <a:solidFill>
                  <a:schemeClr val="tx1"/>
                </a:solidFill>
              </a:rPr>
              <a:t>: </a:t>
            </a:r>
            <a:r>
              <a:rPr lang="en-US" sz="1700" b="1" dirty="0">
                <a:solidFill>
                  <a:schemeClr val="tx1"/>
                </a:solidFill>
              </a:rPr>
              <a:t>present tense</a:t>
            </a:r>
            <a:r>
              <a:rPr lang="en-US" sz="1700" dirty="0">
                <a:solidFill>
                  <a:schemeClr val="tx1"/>
                </a:solidFill>
              </a:rPr>
              <a:t>, not </a:t>
            </a:r>
            <a:r>
              <a:rPr lang="en-US" sz="1700" i="1" dirty="0">
                <a:solidFill>
                  <a:schemeClr val="tx1"/>
                </a:solidFill>
              </a:rPr>
              <a:t>will</a:t>
            </a:r>
            <a:r>
              <a:rPr lang="en-US" sz="1700" dirty="0">
                <a:solidFill>
                  <a:schemeClr val="tx1"/>
                </a:solidFill>
              </a:rPr>
              <a:t>: ✗ </a:t>
            </a:r>
            <a:r>
              <a:rPr lang="en-US" sz="1700" i="1" dirty="0">
                <a:solidFill>
                  <a:schemeClr val="tx1"/>
                </a:solidFill>
              </a:rPr>
              <a:t>provided that legal will review it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Before you close the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659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END OF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NEXT IN THE FILE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Mark reads Exhibit C twice. Then he looks at the clock: 16.05.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“Right,” he says. “You have an hour.”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BEFORE NEXT SESSION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Learn: closed &amp; dated → </a:t>
            </a:r>
            <a:r>
              <a:rPr lang="en-US" sz="1700" b="1" dirty="0">
                <a:solidFill>
                  <a:schemeClr val="tx1"/>
                </a:solidFill>
              </a:rPr>
              <a:t>past simple</a:t>
            </a:r>
            <a:r>
              <a:rPr lang="en-US" sz="1700" dirty="0">
                <a:solidFill>
                  <a:schemeClr val="tx1"/>
                </a:solidFill>
              </a:rPr>
              <a:t> · still open → </a:t>
            </a:r>
            <a:r>
              <a:rPr lang="en-US" sz="1700" b="1" dirty="0">
                <a:solidFill>
                  <a:schemeClr val="tx1"/>
                </a:solidFill>
              </a:rPr>
              <a:t>present perfect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Learn the passive in three tenses: </a:t>
            </a:r>
            <a:r>
              <a:rPr lang="en-US" sz="1700" b="1" dirty="0">
                <a:solidFill>
                  <a:schemeClr val="tx1"/>
                </a:solidFill>
              </a:rPr>
              <a:t>was / has been / is</a:t>
            </a:r>
            <a:r>
              <a:rPr lang="en-US" sz="1700" dirty="0">
                <a:solidFill>
                  <a:schemeClr val="tx1"/>
                </a:solidFill>
              </a:rPr>
              <a:t> + participle.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Bring your firm’s file (p. 45–46) and all your notes: you write the report next session.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EXIT TICKET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Complete: </a:t>
            </a:r>
            <a:r>
              <a:rPr lang="en-US" sz="1600" i="1" dirty="0">
                <a:solidFill>
                  <a:schemeClr val="bg1"/>
                </a:solidFill>
              </a:rPr>
              <a:t>This is the second time we …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1600" i="1" dirty="0">
                <a:solidFill>
                  <a:schemeClr val="bg1"/>
                </a:solidFill>
              </a:rPr>
              <a:t>The joint has been … since …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">
  <a:themeElements>
    <a:clrScheme name="Project Atlas">
      <a:dk1>
        <a:srgbClr val="1B2333"/>
      </a:dk1>
      <a:lt1>
        <a:srgbClr val="FFFFFF"/>
      </a:lt1>
      <a:dk2>
        <a:srgbClr val="1F3864"/>
      </a:dk2>
      <a:lt2>
        <a:srgbClr val="EEF2F8"/>
      </a:lt2>
      <a:accent1>
        <a:srgbClr val="C0752A"/>
      </a:accent1>
      <a:accent2>
        <a:srgbClr val="2E75B6"/>
      </a:accent2>
      <a:accent3>
        <a:srgbClr val="3C7A3C"/>
      </a:accent3>
      <a:accent4>
        <a:srgbClr val="6E4A9E"/>
      </a:accent4>
      <a:accent5>
        <a:srgbClr val="44546A"/>
      </a:accent5>
      <a:accent6>
        <a:srgbClr val="B03A2E"/>
      </a:accent6>
      <a:hlink>
        <a:srgbClr val="2E75B6"/>
      </a:hlink>
      <a:folHlink>
        <a:srgbClr val="6E4A9E"/>
      </a:folHlink>
    </a:clrScheme>
    <a:fontScheme name="Project At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English UE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16 — The sheet in the basement</dc:title>
  <dc:subject>Case File 01 — The night nobody heard</dc:subject>
  <dc:creator>A. Jouniaux</dc:creator>
  <cp:lastModifiedBy>A. Jouniaux</cp:lastModifiedBy>
  <cp:revision>1</cp:revision>
  <dcterms:created xsi:type="dcterms:W3CDTF">2026-10-03T19:30:05Z</dcterms:created>
  <dcterms:modified xsi:type="dcterms:W3CDTF">2026-10-03T19:30:05Z</dcterms:modified>
</cp:coreProperties>
</file>