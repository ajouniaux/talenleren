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uverture" id="{bb6ac73e-a09e-e577-4068-f2960ab93a36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</p14:sldIdLst>
        </p14:section>
        <p14:section name="Clôture" id="{9622cd47-3fe0-198e-ae80-32f4ae432205}">
          <p14:sldIdLst>
            <p14:sldId id="27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Consolidation des modaux (Dry run p. 35), expressions de prudence (Word file p. 36) et rédaction des quatre phrases du tableau (p. 37), qui serviront au rapport.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Exemples de formulations : chaque groupe garde ses propres hypothèses ; vérifier modal, forme et absence de nom.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TLAS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English UE 3 · Case File 01 — The night nobody heard · Séance 15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TLAS_DARK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English UE 3 · Case File 01 — The night nobody heard · Séance 15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EEF2F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TLAS_COVER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263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English UE 3 · A. Jouniaux · Project Atlas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1874520"/>
            <a:ext cx="576072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3794760"/>
            <a:ext cx="576072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/>
          <p:nvPr/>
        </p:nvSpPr>
        <p:spPr>
          <a:xfrm>
            <a:off x="548640" y="640080"/>
            <a:ext cx="2369820" cy="384048"/>
          </a:xfrm>
          <a:prstGeom prst="roundRect">
            <a:avLst>
              <a:gd name="adj" fmla="val 11905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chemeClr val="bg1"/>
                </a:solidFill>
              </a:rPr>
              <a:t>SÉANCE 15 / 19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bg2"/>
                </a:solidFill>
              </a:rPr>
              <a:t>SCENE 7</a:t>
            </a:r>
            <a:endParaRPr lang="en-US" sz="1300" dirty="0"/>
          </a:p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13.00</a:t>
            </a:r>
            <a:endParaRPr lang="en-US" sz="130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1874520"/>
            <a:ext cx="5760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Saying what you think without committing yourself</a:t>
            </a:r>
            <a:endParaRPr lang="en-US" sz="4000" dirty="0"/>
          </a:p>
        </p:txBody>
      </p:sp>
      <p:sp>
        <p:nvSpPr>
          <p:cNvPr id="5" name="Text 1"/>
          <p:cNvSpPr/>
          <p:nvPr>
            <p:ph idx="102" type="body" hasCustomPrompt="1"/>
          </p:nvPr>
        </p:nvSpPr>
        <p:spPr>
          <a:xfrm>
            <a:off x="548640" y="3794760"/>
            <a:ext cx="5760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800" i="1" dirty="0">
                <a:solidFill>
                  <a:schemeClr val="bg2"/>
                </a:solidFill>
              </a:rPr>
              <a:t>A poorly formed modal, and the sentence loses all authority.</a:t>
            </a: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chemeClr val="bg2"/>
                </a:solidFill>
              </a:rPr>
              <a:t>Case File 01 — The night nobody heard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Livret p. 35–37</a:t>
            </a:r>
            <a:endParaRPr lang="en-US" sz="1800" dirty="0"/>
          </a:p>
        </p:txBody>
      </p:sp>
      <p:pic>
        <p:nvPicPr>
          <p:cNvPr id="6" name="illustration" descr="Scene illustration from the case fi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1720941"/>
            <a:ext cx="5120640" cy="3416118"/>
          </a:xfrm>
          <a:prstGeom prst="rect">
            <a:avLst/>
          </a:prstGeom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Today's mission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80160" cy="310896"/>
          </a:xfrm>
          <a:prstGeom prst="roundRect">
            <a:avLst>
              <a:gd name="adj" fmla="val 14706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BRIEFING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35–37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525780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1709928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1847088"/>
            <a:ext cx="292608" cy="29260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481328" y="1655064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BY THE END OF THE SESSION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1481328" y="1947672"/>
            <a:ext cx="41605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Your group’s </a:t>
            </a:r>
            <a:r>
              <a:rPr lang="en-US" sz="1800" b="1" dirty="0">
                <a:solidFill>
                  <a:schemeClr val="tx1"/>
                </a:solidFill>
              </a:rPr>
              <a:t>four sentences</a:t>
            </a:r>
            <a:r>
              <a:rPr lang="en-US" sz="1800" dirty="0">
                <a:solidFill>
                  <a:schemeClr val="tx1"/>
                </a:solidFill>
              </a:rPr>
              <a:t> for the board — and for tonight’s report.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548640" y="3136392"/>
            <a:ext cx="525780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49808" y="3337560"/>
            <a:ext cx="566928" cy="566928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" y="347472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481328" y="3282696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2"/>
                </a:solidFill>
              </a:rPr>
              <a:t>LANGUAGE FOCUS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1481328" y="3575304"/>
            <a:ext cx="41605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Modal forms (no -s, no to, no do) · </a:t>
            </a:r>
            <a:r>
              <a:rPr lang="en-US" sz="1700" b="1" dirty="0">
                <a:solidFill>
                  <a:schemeClr val="tx1"/>
                </a:solidFill>
              </a:rPr>
              <a:t>should / had better / must</a:t>
            </a:r>
            <a:r>
              <a:rPr lang="en-US" sz="1700" dirty="0">
                <a:solidFill>
                  <a:schemeClr val="tx1"/>
                </a:solidFill>
              </a:rPr>
              <a:t> · hedging idioms (</a:t>
            </a:r>
            <a:r>
              <a:rPr lang="en-US" sz="1700" i="1" dirty="0">
                <a:solidFill>
                  <a:schemeClr val="tx1"/>
                </a:solidFill>
              </a:rPr>
              <a:t>rule out, long shot, educated guess…</a:t>
            </a:r>
            <a:r>
              <a:rPr lang="en-US" sz="1700" dirty="0">
                <a:solidFill>
                  <a:schemeClr val="tx1"/>
                </a:solidFill>
              </a:rPr>
              <a:t>)</a:t>
            </a:r>
            <a:endParaRPr lang="en-US" sz="1700" dirty="0"/>
          </a:p>
        </p:txBody>
      </p:sp>
      <p:sp>
        <p:nvSpPr>
          <p:cNvPr id="15" name="Shape 11"/>
          <p:cNvSpPr/>
          <p:nvPr/>
        </p:nvSpPr>
        <p:spPr>
          <a:xfrm>
            <a:off x="548640" y="4764024"/>
            <a:ext cx="525780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49808" y="4965192"/>
            <a:ext cx="566928" cy="566928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5102352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481328" y="4910328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3"/>
                </a:solidFill>
              </a:rPr>
              <a:t>SKILLS</a:t>
            </a:r>
            <a:endParaRPr lang="en-US" sz="1200" dirty="0"/>
          </a:p>
        </p:txBody>
      </p:sp>
      <p:sp>
        <p:nvSpPr>
          <p:cNvPr id="19" name="Text 14"/>
          <p:cNvSpPr txBox="1"/>
          <p:nvPr/>
        </p:nvSpPr>
        <p:spPr>
          <a:xfrm>
            <a:off x="1481328" y="5202936"/>
            <a:ext cx="41605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Diplomatic language · giving and receiving peer feedback</a:t>
            </a:r>
            <a:endParaRPr lang="en-US" sz="1800" dirty="0"/>
          </a:p>
        </p:txBody>
      </p:sp>
      <p:sp>
        <p:nvSpPr>
          <p:cNvPr id="20" name="Text 15"/>
          <p:cNvSpPr txBox="1"/>
          <p:nvPr/>
        </p:nvSpPr>
        <p:spPr>
          <a:xfrm>
            <a:off x="6263640" y="1463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5"/>
                </a:solidFill>
              </a:rPr>
              <a:t>ROADMAP</a:t>
            </a:r>
            <a:endParaRPr lang="en-US" sz="1300" dirty="0"/>
          </a:p>
        </p:txBody>
      </p:sp>
      <p:sp>
        <p:nvSpPr>
          <p:cNvPr id="21" name="Text 16"/>
          <p:cNvSpPr txBox="1"/>
          <p:nvPr/>
        </p:nvSpPr>
        <p:spPr>
          <a:xfrm>
            <a:off x="8897112" y="1463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≈ 90 min (indicatif)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6263640" y="1959674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3" name="Text 18"/>
          <p:cNvSpPr txBox="1"/>
          <p:nvPr/>
        </p:nvSpPr>
        <p:spPr>
          <a:xfrm>
            <a:off x="6263640" y="195967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24" name="Text 19"/>
          <p:cNvSpPr txBox="1"/>
          <p:nvPr/>
        </p:nvSpPr>
        <p:spPr>
          <a:xfrm>
            <a:off x="6784848" y="1874520"/>
            <a:ext cx="4114800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Warm-up: the certainty scale</a:t>
            </a:r>
            <a:endParaRPr lang="en-US" sz="1600" dirty="0"/>
          </a:p>
        </p:txBody>
      </p:sp>
      <p:sp>
        <p:nvSpPr>
          <p:cNvPr id="25" name="Text 20"/>
          <p:cNvSpPr txBox="1"/>
          <p:nvPr/>
        </p:nvSpPr>
        <p:spPr>
          <a:xfrm>
            <a:off x="10972800" y="1874520"/>
            <a:ext cx="667512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5'</a:t>
            </a:r>
            <a:endParaRPr lang="en-US" sz="1500" dirty="0"/>
          </a:p>
        </p:txBody>
      </p:sp>
      <p:sp>
        <p:nvSpPr>
          <p:cNvPr id="26" name="Shape 21"/>
          <p:cNvSpPr/>
          <p:nvPr/>
        </p:nvSpPr>
        <p:spPr>
          <a:xfrm>
            <a:off x="6263640" y="2514029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7" name="Text 22"/>
          <p:cNvSpPr txBox="1"/>
          <p:nvPr/>
        </p:nvSpPr>
        <p:spPr>
          <a:xfrm>
            <a:off x="6263640" y="2514029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28" name="Text 23"/>
          <p:cNvSpPr txBox="1"/>
          <p:nvPr/>
        </p:nvSpPr>
        <p:spPr>
          <a:xfrm>
            <a:off x="6784848" y="2428875"/>
            <a:ext cx="4114800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Dry run A (p. 35)</a:t>
            </a:r>
            <a:endParaRPr lang="en-US" sz="1600" dirty="0"/>
          </a:p>
        </p:txBody>
      </p:sp>
      <p:sp>
        <p:nvSpPr>
          <p:cNvPr id="29" name="Text 24"/>
          <p:cNvSpPr txBox="1"/>
          <p:nvPr/>
        </p:nvSpPr>
        <p:spPr>
          <a:xfrm>
            <a:off x="10972800" y="2428875"/>
            <a:ext cx="667512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10'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6263640" y="3068384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31" name="Text 26"/>
          <p:cNvSpPr txBox="1"/>
          <p:nvPr/>
        </p:nvSpPr>
        <p:spPr>
          <a:xfrm>
            <a:off x="6263640" y="30683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32" name="Text 27"/>
          <p:cNvSpPr txBox="1"/>
          <p:nvPr/>
        </p:nvSpPr>
        <p:spPr>
          <a:xfrm>
            <a:off x="6784848" y="2983230"/>
            <a:ext cx="4114800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Dry run B–C (p. 35)</a:t>
            </a:r>
            <a:endParaRPr lang="en-US" sz="1600" dirty="0"/>
          </a:p>
        </p:txBody>
      </p:sp>
      <p:sp>
        <p:nvSpPr>
          <p:cNvPr id="33" name="Text 28"/>
          <p:cNvSpPr txBox="1"/>
          <p:nvPr/>
        </p:nvSpPr>
        <p:spPr>
          <a:xfrm>
            <a:off x="10972800" y="2983230"/>
            <a:ext cx="667512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15'</a:t>
            </a:r>
            <a:endParaRPr lang="en-US" sz="1500" dirty="0"/>
          </a:p>
        </p:txBody>
      </p:sp>
      <p:sp>
        <p:nvSpPr>
          <p:cNvPr id="34" name="Shape 29"/>
          <p:cNvSpPr/>
          <p:nvPr/>
        </p:nvSpPr>
        <p:spPr>
          <a:xfrm>
            <a:off x="6263640" y="3622738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35" name="Text 30"/>
          <p:cNvSpPr txBox="1"/>
          <p:nvPr/>
        </p:nvSpPr>
        <p:spPr>
          <a:xfrm>
            <a:off x="6263640" y="362273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36" name="Text 31"/>
          <p:cNvSpPr txBox="1"/>
          <p:nvPr/>
        </p:nvSpPr>
        <p:spPr>
          <a:xfrm>
            <a:off x="6784848" y="3537585"/>
            <a:ext cx="4114800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Should, had better, must</a:t>
            </a:r>
            <a:endParaRPr lang="en-US" sz="1600" dirty="0"/>
          </a:p>
        </p:txBody>
      </p:sp>
      <p:sp>
        <p:nvSpPr>
          <p:cNvPr id="37" name="Text 32"/>
          <p:cNvSpPr txBox="1"/>
          <p:nvPr/>
        </p:nvSpPr>
        <p:spPr>
          <a:xfrm>
            <a:off x="10972800" y="3537585"/>
            <a:ext cx="667512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10'</a:t>
            </a:r>
            <a:endParaRPr lang="en-US" sz="1500" dirty="0"/>
          </a:p>
        </p:txBody>
      </p:sp>
      <p:sp>
        <p:nvSpPr>
          <p:cNvPr id="38" name="Shape 33"/>
          <p:cNvSpPr/>
          <p:nvPr/>
        </p:nvSpPr>
        <p:spPr>
          <a:xfrm>
            <a:off x="6263640" y="4177093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39" name="Text 34"/>
          <p:cNvSpPr txBox="1"/>
          <p:nvPr/>
        </p:nvSpPr>
        <p:spPr>
          <a:xfrm>
            <a:off x="6263640" y="417709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40" name="Text 35"/>
          <p:cNvSpPr txBox="1"/>
          <p:nvPr/>
        </p:nvSpPr>
        <p:spPr>
          <a:xfrm>
            <a:off x="6784848" y="4091940"/>
            <a:ext cx="4114800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Word file: idioms (p. 36)</a:t>
            </a:r>
            <a:endParaRPr lang="en-US" sz="1600" dirty="0"/>
          </a:p>
        </p:txBody>
      </p:sp>
      <p:sp>
        <p:nvSpPr>
          <p:cNvPr id="41" name="Text 36"/>
          <p:cNvSpPr txBox="1"/>
          <p:nvPr/>
        </p:nvSpPr>
        <p:spPr>
          <a:xfrm>
            <a:off x="10972800" y="4091940"/>
            <a:ext cx="667512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15'</a:t>
            </a:r>
            <a:endParaRPr lang="en-US" sz="1500" dirty="0"/>
          </a:p>
        </p:txBody>
      </p:sp>
      <p:sp>
        <p:nvSpPr>
          <p:cNvPr id="42" name="Shape 37"/>
          <p:cNvSpPr/>
          <p:nvPr/>
        </p:nvSpPr>
        <p:spPr>
          <a:xfrm>
            <a:off x="6263640" y="4731449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43" name="Text 38"/>
          <p:cNvSpPr txBox="1"/>
          <p:nvPr/>
        </p:nvSpPr>
        <p:spPr>
          <a:xfrm>
            <a:off x="6263640" y="4731449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44" name="Text 39"/>
          <p:cNvSpPr txBox="1"/>
          <p:nvPr/>
        </p:nvSpPr>
        <p:spPr>
          <a:xfrm>
            <a:off x="6784848" y="4646295"/>
            <a:ext cx="4114800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Hedging toolkit</a:t>
            </a:r>
            <a:endParaRPr lang="en-US" sz="1600" dirty="0"/>
          </a:p>
        </p:txBody>
      </p:sp>
      <p:sp>
        <p:nvSpPr>
          <p:cNvPr id="45" name="Text 40"/>
          <p:cNvSpPr txBox="1"/>
          <p:nvPr/>
        </p:nvSpPr>
        <p:spPr>
          <a:xfrm>
            <a:off x="10972800" y="4646295"/>
            <a:ext cx="667512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5'</a:t>
            </a:r>
            <a:endParaRPr lang="en-US" sz="1500" dirty="0"/>
          </a:p>
        </p:txBody>
      </p:sp>
      <p:sp>
        <p:nvSpPr>
          <p:cNvPr id="46" name="Shape 41"/>
          <p:cNvSpPr/>
          <p:nvPr/>
        </p:nvSpPr>
        <p:spPr>
          <a:xfrm>
            <a:off x="6263640" y="5285804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47" name="Text 42"/>
          <p:cNvSpPr txBox="1"/>
          <p:nvPr/>
        </p:nvSpPr>
        <p:spPr>
          <a:xfrm>
            <a:off x="6263640" y="52858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7</a:t>
            </a:r>
            <a:endParaRPr lang="en-US" sz="1300" dirty="0"/>
          </a:p>
        </p:txBody>
      </p:sp>
      <p:sp>
        <p:nvSpPr>
          <p:cNvPr id="48" name="Text 43"/>
          <p:cNvSpPr txBox="1"/>
          <p:nvPr/>
        </p:nvSpPr>
        <p:spPr>
          <a:xfrm>
            <a:off x="6784848" y="5200650"/>
            <a:ext cx="4114800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Your four sentences (p. 37)</a:t>
            </a:r>
            <a:endParaRPr lang="en-US" sz="1600" dirty="0"/>
          </a:p>
        </p:txBody>
      </p:sp>
      <p:sp>
        <p:nvSpPr>
          <p:cNvPr id="49" name="Text 44"/>
          <p:cNvSpPr txBox="1"/>
          <p:nvPr/>
        </p:nvSpPr>
        <p:spPr>
          <a:xfrm>
            <a:off x="10972800" y="5200650"/>
            <a:ext cx="667512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20'</a:t>
            </a:r>
            <a:endParaRPr lang="en-US" sz="1500" dirty="0"/>
          </a:p>
        </p:txBody>
      </p:sp>
      <p:sp>
        <p:nvSpPr>
          <p:cNvPr id="50" name="Shape 45"/>
          <p:cNvSpPr/>
          <p:nvPr/>
        </p:nvSpPr>
        <p:spPr>
          <a:xfrm>
            <a:off x="6263640" y="5840158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51" name="Text 46"/>
          <p:cNvSpPr txBox="1"/>
          <p:nvPr/>
        </p:nvSpPr>
        <p:spPr>
          <a:xfrm>
            <a:off x="6263640" y="584015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8</a:t>
            </a:r>
            <a:endParaRPr lang="en-US" sz="1300" dirty="0"/>
          </a:p>
        </p:txBody>
      </p:sp>
      <p:sp>
        <p:nvSpPr>
          <p:cNvPr id="52" name="Text 47"/>
          <p:cNvSpPr txBox="1"/>
          <p:nvPr/>
        </p:nvSpPr>
        <p:spPr>
          <a:xfrm>
            <a:off x="6784848" y="5755005"/>
            <a:ext cx="4114800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Gallery walk + wrap-up</a:t>
            </a:r>
            <a:endParaRPr lang="en-US" sz="1600" dirty="0"/>
          </a:p>
        </p:txBody>
      </p:sp>
      <p:sp>
        <p:nvSpPr>
          <p:cNvPr id="53" name="Text 48"/>
          <p:cNvSpPr txBox="1"/>
          <p:nvPr/>
        </p:nvSpPr>
        <p:spPr>
          <a:xfrm>
            <a:off x="10972800" y="5755005"/>
            <a:ext cx="667512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10'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Warm-up: which word?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165860" cy="310896"/>
          </a:xfrm>
          <a:prstGeom prst="roundRect">
            <a:avLst>
              <a:gd name="adj" fmla="val 14706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WARM-UP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Séance 14</a:t>
            </a:r>
            <a:endParaRPr lang="en-US" sz="1200" dirty="0"/>
          </a:p>
        </p:txBody>
      </p:sp>
      <p:sp>
        <p:nvSpPr>
          <p:cNvPr id="5" name="exercise"/>
          <p:cNvSpPr txBox="1"/>
          <p:nvPr/>
        </p:nvSpPr>
        <p:spPr>
          <a:xfrm>
            <a:off x="548640" y="1481328"/>
            <a:ext cx="5362956" cy="4809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1.  </a:t>
            </a:r>
            <a:r>
              <a:rPr lang="en-US" sz="2400" dirty="0">
                <a:solidFill>
                  <a:schemeClr val="tx1"/>
                </a:solidFill>
              </a:rPr>
              <a:t>≈ 95 % → </a:t>
            </a:r>
            <a:r>
              <a:rPr lang="en-US" sz="2400" dirty="0">
                <a:solidFill>
                  <a:schemeClr val="accent5"/>
                </a:solidFill>
              </a:rPr>
              <a:t>……………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2.  </a:t>
            </a:r>
            <a:r>
              <a:rPr lang="en-US" sz="2400" dirty="0">
                <a:solidFill>
                  <a:schemeClr val="tx1"/>
                </a:solidFill>
              </a:rPr>
              <a:t>≈ 50 % → </a:t>
            </a:r>
            <a:r>
              <a:rPr lang="en-US" sz="2400" dirty="0">
                <a:solidFill>
                  <a:schemeClr val="accent5"/>
                </a:solidFill>
              </a:rPr>
              <a:t>……………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3.  </a:t>
            </a:r>
            <a:r>
              <a:rPr lang="en-US" sz="2400" dirty="0">
                <a:solidFill>
                  <a:schemeClr val="tx1"/>
                </a:solidFill>
              </a:rPr>
              <a:t>≈ 40 % → </a:t>
            </a:r>
            <a:r>
              <a:rPr lang="en-US" sz="2400" dirty="0">
                <a:solidFill>
                  <a:schemeClr val="accent5"/>
                </a:solidFill>
              </a:rPr>
              <a:t>……………</a:t>
            </a:r>
            <a:endParaRPr lang="en-US" sz="2400" dirty="0"/>
          </a:p>
        </p:txBody>
      </p:sp>
      <p:sp>
        <p:nvSpPr>
          <p:cNvPr id="6" name="exercise"/>
          <p:cNvSpPr txBox="1"/>
          <p:nvPr/>
        </p:nvSpPr>
        <p:spPr>
          <a:xfrm>
            <a:off x="6277356" y="1481328"/>
            <a:ext cx="5362956" cy="4809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4.  </a:t>
            </a:r>
            <a:r>
              <a:rPr lang="en-US" sz="2400" dirty="0">
                <a:solidFill>
                  <a:schemeClr val="tx1"/>
                </a:solidFill>
              </a:rPr>
              <a:t>≈ 5 % → </a:t>
            </a:r>
            <a:r>
              <a:rPr lang="en-US" sz="2400" dirty="0">
                <a:solidFill>
                  <a:schemeClr val="accent5"/>
                </a:solidFill>
              </a:rPr>
              <a:t>……………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5.  </a:t>
            </a:r>
            <a:r>
              <a:rPr lang="en-US" sz="2400" dirty="0">
                <a:solidFill>
                  <a:schemeClr val="tx1"/>
                </a:solidFill>
              </a:rPr>
              <a:t>advice → </a:t>
            </a:r>
            <a:r>
              <a:rPr lang="en-US" sz="2400" dirty="0">
                <a:solidFill>
                  <a:schemeClr val="accent5"/>
                </a:solidFill>
              </a:rPr>
              <a:t>……………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6.  </a:t>
            </a:r>
            <a:r>
              <a:rPr lang="en-US" sz="2400" dirty="0">
                <a:solidFill>
                  <a:schemeClr val="tx1"/>
                </a:solidFill>
              </a:rPr>
              <a:t>interdiction → </a:t>
            </a:r>
            <a:r>
              <a:rPr lang="en-US" sz="2400" dirty="0">
                <a:solidFill>
                  <a:schemeClr val="accent5"/>
                </a:solidFill>
              </a:rPr>
              <a:t>……………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Warm-up: which word?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165860" cy="310896"/>
          </a:xfrm>
          <a:prstGeom prst="roundRect">
            <a:avLst>
              <a:gd name="adj" fmla="val 14706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WARM-UP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1824228" y="237744"/>
            <a:ext cx="1874520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✓ CORRECTION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Séance 14</a:t>
            </a:r>
            <a:endParaRPr lang="en-US" sz="1200" dirty="0"/>
          </a:p>
        </p:txBody>
      </p:sp>
      <p:sp>
        <p:nvSpPr>
          <p:cNvPr id="6" name="exercise"/>
          <p:cNvSpPr txBox="1"/>
          <p:nvPr/>
        </p:nvSpPr>
        <p:spPr>
          <a:xfrm>
            <a:off x="548640" y="1481328"/>
            <a:ext cx="5362956" cy="4809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1.  </a:t>
            </a:r>
            <a:r>
              <a:rPr lang="en-US" sz="2400" dirty="0">
                <a:solidFill>
                  <a:schemeClr val="tx1"/>
                </a:solidFill>
              </a:rPr>
              <a:t>≈ 95 % → </a:t>
            </a:r>
            <a:r>
              <a:rPr lang="en-US" sz="2400" b="1" dirty="0">
                <a:solidFill>
                  <a:schemeClr val="accent3"/>
                </a:solidFill>
              </a:rPr>
              <a:t>must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2.  </a:t>
            </a:r>
            <a:r>
              <a:rPr lang="en-US" sz="2400" dirty="0">
                <a:solidFill>
                  <a:schemeClr val="tx1"/>
                </a:solidFill>
              </a:rPr>
              <a:t>≈ 50 % → </a:t>
            </a:r>
            <a:r>
              <a:rPr lang="en-US" sz="2400" b="1" dirty="0">
                <a:solidFill>
                  <a:schemeClr val="accent3"/>
                </a:solidFill>
              </a:rPr>
              <a:t>may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3.  </a:t>
            </a:r>
            <a:r>
              <a:rPr lang="en-US" sz="2400" dirty="0">
                <a:solidFill>
                  <a:schemeClr val="tx1"/>
                </a:solidFill>
              </a:rPr>
              <a:t>≈ 40 % → </a:t>
            </a:r>
            <a:r>
              <a:rPr lang="en-US" sz="2400" b="1" dirty="0">
                <a:solidFill>
                  <a:schemeClr val="accent3"/>
                </a:solidFill>
              </a:rPr>
              <a:t>might</a:t>
            </a:r>
            <a:endParaRPr lang="en-US" sz="2400" dirty="0"/>
          </a:p>
        </p:txBody>
      </p:sp>
      <p:sp>
        <p:nvSpPr>
          <p:cNvPr id="7" name="exercise"/>
          <p:cNvSpPr txBox="1"/>
          <p:nvPr/>
        </p:nvSpPr>
        <p:spPr>
          <a:xfrm>
            <a:off x="6277356" y="1481328"/>
            <a:ext cx="5362956" cy="4809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4.  </a:t>
            </a:r>
            <a:r>
              <a:rPr lang="en-US" sz="2400" dirty="0">
                <a:solidFill>
                  <a:schemeClr val="tx1"/>
                </a:solidFill>
              </a:rPr>
              <a:t>≈ 5 % → </a:t>
            </a:r>
            <a:r>
              <a:rPr lang="en-US" sz="2400" b="1" dirty="0">
                <a:solidFill>
                  <a:schemeClr val="accent3"/>
                </a:solidFill>
              </a:rPr>
              <a:t>can’t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5.  </a:t>
            </a:r>
            <a:r>
              <a:rPr lang="en-US" sz="2400" dirty="0">
                <a:solidFill>
                  <a:schemeClr val="tx1"/>
                </a:solidFill>
              </a:rPr>
              <a:t>advice → </a:t>
            </a:r>
            <a:r>
              <a:rPr lang="en-US" sz="2400" b="1" dirty="0">
                <a:solidFill>
                  <a:schemeClr val="accent3"/>
                </a:solidFill>
              </a:rPr>
              <a:t>should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6.  </a:t>
            </a:r>
            <a:r>
              <a:rPr lang="en-US" sz="2400" dirty="0">
                <a:solidFill>
                  <a:schemeClr val="tx1"/>
                </a:solidFill>
              </a:rPr>
              <a:t>interdiction → </a:t>
            </a:r>
            <a:r>
              <a:rPr lang="en-US" sz="2400" b="1" dirty="0">
                <a:solidFill>
                  <a:schemeClr val="accent3"/>
                </a:solidFill>
              </a:rPr>
              <a:t>mustn’t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Two minutes on the four words that will be on the board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165860" cy="310896"/>
          </a:xfrm>
          <a:prstGeom prst="roundRect">
            <a:avLst>
              <a:gd name="adj" fmla="val 14706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DRY RUN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35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81328"/>
            <a:ext cx="7178040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A · Correct the form: five of these six are wrong.</a:t>
            </a:r>
            <a:endParaRPr lang="en-US" sz="1600" dirty="0"/>
          </a:p>
        </p:txBody>
      </p:sp>
      <p:sp>
        <p:nvSpPr>
          <p:cNvPr id="6" name="exercise"/>
          <p:cNvSpPr txBox="1"/>
          <p:nvPr/>
        </p:nvSpPr>
        <p:spPr>
          <a:xfrm>
            <a:off x="548640" y="1926336"/>
            <a:ext cx="7178040" cy="4364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1.  </a:t>
            </a:r>
            <a:r>
              <a:rPr lang="en-US" sz="2400" dirty="0">
                <a:solidFill>
                  <a:schemeClr val="tx1"/>
                </a:solidFill>
              </a:rPr>
              <a:t>She </a:t>
            </a:r>
            <a:r>
              <a:rPr lang="en-US" sz="2400" dirty="0">
                <a:solidFill>
                  <a:schemeClr val="tx1"/>
                </a:solidFill>
              </a:rPr>
              <a:t>mights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>
                <a:solidFill>
                  <a:schemeClr val="tx1"/>
                </a:solidFill>
              </a:rPr>
              <a:t> be right.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2.  </a:t>
            </a:r>
            <a:r>
              <a:rPr lang="en-US" sz="2400" dirty="0">
                <a:solidFill>
                  <a:schemeClr val="tx1"/>
                </a:solidFill>
              </a:rPr>
              <a:t>We </a:t>
            </a:r>
            <a:r>
              <a:rPr lang="en-US" sz="2400" dirty="0">
                <a:solidFill>
                  <a:schemeClr val="tx1"/>
                </a:solidFill>
              </a:rPr>
              <a:t>should to wait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>
                <a:solidFill>
                  <a:schemeClr val="tx1"/>
                </a:solidFill>
              </a:rPr>
              <a:t>.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3.  </a:t>
            </a:r>
            <a:r>
              <a:rPr lang="en-US" sz="2400" dirty="0">
                <a:solidFill>
                  <a:schemeClr val="tx1"/>
                </a:solidFill>
              </a:rPr>
              <a:t>It may be the same joint. 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4.  </a:t>
            </a:r>
            <a:r>
              <a:rPr lang="en-US" sz="2400" dirty="0">
                <a:solidFill>
                  <a:schemeClr val="tx1"/>
                </a:solidFill>
              </a:rPr>
              <a:t>They </a:t>
            </a:r>
            <a:r>
              <a:rPr lang="en-US" sz="2400" dirty="0">
                <a:solidFill>
                  <a:schemeClr val="tx1"/>
                </a:solidFill>
              </a:rPr>
              <a:t>must to notify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>
                <a:solidFill>
                  <a:schemeClr val="tx1"/>
                </a:solidFill>
              </a:rPr>
              <a:t> the landlord.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5.  </a:t>
            </a:r>
            <a:r>
              <a:rPr lang="en-US" sz="2400" dirty="0">
                <a:solidFill>
                  <a:schemeClr val="tx1"/>
                </a:solidFill>
              </a:rPr>
              <a:t>Do we should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>
                <a:solidFill>
                  <a:schemeClr val="tx1"/>
                </a:solidFill>
              </a:rPr>
              <a:t> call her?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6.  </a:t>
            </a:r>
            <a:r>
              <a:rPr lang="en-US" sz="2400" dirty="0">
                <a:solidFill>
                  <a:schemeClr val="tx1"/>
                </a:solidFill>
              </a:rPr>
              <a:t>We </a:t>
            </a:r>
            <a:r>
              <a:rPr lang="en-US" sz="2400" dirty="0">
                <a:solidFill>
                  <a:schemeClr val="tx1"/>
                </a:solidFill>
              </a:rPr>
              <a:t>had better to decide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>
                <a:solidFill>
                  <a:schemeClr val="tx1"/>
                </a:solidFill>
              </a:rPr>
              <a:t> today.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Two minutes on the four words that will be on the board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165860" cy="310896"/>
          </a:xfrm>
          <a:prstGeom prst="roundRect">
            <a:avLst>
              <a:gd name="adj" fmla="val 14706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DRY RUN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1824228" y="237744"/>
            <a:ext cx="1874520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✓ CORRECTION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35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481328"/>
            <a:ext cx="7178040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A · Correct the form: five of these six are wrong.</a:t>
            </a:r>
            <a:endParaRPr lang="en-US" sz="1600" dirty="0"/>
          </a:p>
        </p:txBody>
      </p:sp>
      <p:sp>
        <p:nvSpPr>
          <p:cNvPr id="7" name="exercise"/>
          <p:cNvSpPr txBox="1"/>
          <p:nvPr/>
        </p:nvSpPr>
        <p:spPr>
          <a:xfrm>
            <a:off x="548640" y="1926336"/>
            <a:ext cx="7178040" cy="4364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1.  </a:t>
            </a:r>
            <a:r>
              <a:rPr lang="en-US" sz="2400" dirty="0">
                <a:solidFill>
                  <a:schemeClr val="tx1"/>
                </a:solidFill>
              </a:rPr>
              <a:t>She </a:t>
            </a:r>
            <a:r>
              <a:rPr lang="en-US" sz="2400" strike="sngStrike" dirty="0">
                <a:solidFill>
                  <a:schemeClr val="accent6"/>
                </a:solidFill>
              </a:rPr>
              <a:t>mights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b="1" dirty="0">
                <a:solidFill>
                  <a:schemeClr val="accent3"/>
                </a:solidFill>
              </a:rPr>
              <a:t>might</a:t>
            </a:r>
            <a:r>
              <a:rPr lang="en-US" sz="2400" dirty="0">
                <a:solidFill>
                  <a:schemeClr val="tx1"/>
                </a:solidFill>
              </a:rPr>
              <a:t> be right.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2.  </a:t>
            </a:r>
            <a:r>
              <a:rPr lang="en-US" sz="2400" dirty="0">
                <a:solidFill>
                  <a:schemeClr val="tx1"/>
                </a:solidFill>
              </a:rPr>
              <a:t>We </a:t>
            </a:r>
            <a:r>
              <a:rPr lang="en-US" sz="2400" strike="sngStrike" dirty="0">
                <a:solidFill>
                  <a:schemeClr val="accent6"/>
                </a:solidFill>
              </a:rPr>
              <a:t>should to wait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b="1" dirty="0">
                <a:solidFill>
                  <a:schemeClr val="accent3"/>
                </a:solidFill>
              </a:rPr>
              <a:t>should wait</a:t>
            </a:r>
            <a:r>
              <a:rPr lang="en-US" sz="2400" dirty="0">
                <a:solidFill>
                  <a:schemeClr val="tx1"/>
                </a:solidFill>
              </a:rPr>
              <a:t>.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3.  </a:t>
            </a:r>
            <a:r>
              <a:rPr lang="en-US" sz="2400" dirty="0">
                <a:solidFill>
                  <a:schemeClr val="tx1"/>
                </a:solidFill>
              </a:rPr>
              <a:t>It may be the same joint. </a:t>
            </a:r>
            <a:r>
              <a:rPr lang="en-US" sz="2400" b="1" dirty="0">
                <a:solidFill>
                  <a:schemeClr val="accent3"/>
                </a:solidFill>
              </a:rPr>
              <a:t>✓ correct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4.  </a:t>
            </a:r>
            <a:r>
              <a:rPr lang="en-US" sz="2400" dirty="0">
                <a:solidFill>
                  <a:schemeClr val="tx1"/>
                </a:solidFill>
              </a:rPr>
              <a:t>They </a:t>
            </a:r>
            <a:r>
              <a:rPr lang="en-US" sz="2400" strike="sngStrike" dirty="0">
                <a:solidFill>
                  <a:schemeClr val="accent6"/>
                </a:solidFill>
              </a:rPr>
              <a:t>must to notify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b="1" dirty="0">
                <a:solidFill>
                  <a:schemeClr val="accent3"/>
                </a:solidFill>
              </a:rPr>
              <a:t>must notify</a:t>
            </a:r>
            <a:r>
              <a:rPr lang="en-US" sz="2400" dirty="0">
                <a:solidFill>
                  <a:schemeClr val="tx1"/>
                </a:solidFill>
              </a:rPr>
              <a:t> the landlord.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5.  </a:t>
            </a:r>
            <a:r>
              <a:rPr lang="en-US" sz="2400" strike="sngStrike" dirty="0">
                <a:solidFill>
                  <a:schemeClr val="accent6"/>
                </a:solidFill>
              </a:rPr>
              <a:t>Do we should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b="1" dirty="0">
                <a:solidFill>
                  <a:schemeClr val="accent3"/>
                </a:solidFill>
              </a:rPr>
              <a:t>Should we</a:t>
            </a:r>
            <a:r>
              <a:rPr lang="en-US" sz="2400" dirty="0">
                <a:solidFill>
                  <a:schemeClr val="tx1"/>
                </a:solidFill>
              </a:rPr>
              <a:t> call her?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6.  </a:t>
            </a:r>
            <a:r>
              <a:rPr lang="en-US" sz="2400" dirty="0">
                <a:solidFill>
                  <a:schemeClr val="tx1"/>
                </a:solidFill>
              </a:rPr>
              <a:t>We </a:t>
            </a:r>
            <a:r>
              <a:rPr lang="en-US" sz="2400" strike="sngStrike" dirty="0">
                <a:solidFill>
                  <a:schemeClr val="accent6"/>
                </a:solidFill>
              </a:rPr>
              <a:t>had better to decide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b="1" dirty="0">
                <a:solidFill>
                  <a:schemeClr val="accent3"/>
                </a:solidFill>
              </a:rPr>
              <a:t>had better decide</a:t>
            </a:r>
            <a:r>
              <a:rPr lang="en-US" sz="2400" dirty="0">
                <a:solidFill>
                  <a:schemeClr val="tx1"/>
                </a:solidFill>
              </a:rPr>
              <a:t> today.</a:t>
            </a:r>
            <a:endParaRPr lang="en-US" sz="2400" dirty="0"/>
          </a:p>
        </p:txBody>
      </p:sp>
      <p:sp>
        <p:nvSpPr>
          <p:cNvPr id="8" name="aside"/>
          <p:cNvSpPr/>
          <p:nvPr/>
        </p:nvSpPr>
        <p:spPr>
          <a:xfrm>
            <a:off x="8046720" y="1481328"/>
            <a:ext cx="3593592" cy="4809744"/>
          </a:xfrm>
          <a:prstGeom prst="roundRect">
            <a:avLst>
              <a:gd name="adj" fmla="val 2036"/>
            </a:avLst>
          </a:prstGeom>
          <a:solidFill>
            <a:schemeClr val="accent6">
              <a:alpha val="10000"/>
            </a:schemeClr>
          </a:solidFill>
          <a:ln w="12700">
            <a:solidFill>
              <a:schemeClr val="accent6">
                <a:alpha val="60000"/>
              </a:schemeClr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1664208"/>
            <a:ext cx="292608" cy="292608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8613648" y="1636776"/>
            <a:ext cx="2862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accent6"/>
                </a:solidFill>
              </a:rPr>
              <a:t>WATCH OUT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8211312" y="2075688"/>
            <a:ext cx="3264408" cy="4078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No </a:t>
            </a:r>
            <a:r>
              <a:rPr lang="en-US" sz="1800" b="1" dirty="0">
                <a:solidFill>
                  <a:schemeClr val="tx1"/>
                </a:solidFill>
              </a:rPr>
              <a:t>-s</a:t>
            </a:r>
            <a:r>
              <a:rPr lang="en-US" sz="1800" dirty="0">
                <a:solidFill>
                  <a:schemeClr val="tx1"/>
                </a:solidFill>
              </a:rPr>
              <a:t>, no </a:t>
            </a:r>
            <a:r>
              <a:rPr lang="en-US" sz="1800" b="1" dirty="0">
                <a:solidFill>
                  <a:schemeClr val="tx1"/>
                </a:solidFill>
              </a:rPr>
              <a:t>to</a:t>
            </a:r>
            <a:r>
              <a:rPr lang="en-US" sz="1800" dirty="0">
                <a:solidFill>
                  <a:schemeClr val="tx1"/>
                </a:solidFill>
              </a:rPr>
              <a:t>, no </a:t>
            </a:r>
            <a:r>
              <a:rPr lang="en-US" sz="1800" b="1" dirty="0">
                <a:solidFill>
                  <a:schemeClr val="tx1"/>
                </a:solidFill>
              </a:rPr>
              <a:t>do</a:t>
            </a:r>
            <a:r>
              <a:rPr lang="en-US" sz="1800" dirty="0">
                <a:solidFill>
                  <a:schemeClr val="tx1"/>
                </a:solidFill>
              </a:rPr>
              <a:t> after a modal.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i="1" dirty="0">
                <a:solidFill>
                  <a:schemeClr val="tx1"/>
                </a:solidFill>
              </a:rPr>
              <a:t>had better</a:t>
            </a:r>
            <a:r>
              <a:rPr lang="en-US" sz="1800" dirty="0">
                <a:solidFill>
                  <a:schemeClr val="tx1"/>
                </a:solidFill>
              </a:rPr>
              <a:t> + base form (no </a:t>
            </a:r>
            <a:r>
              <a:rPr lang="en-US" sz="1800" i="1" dirty="0">
                <a:solidFill>
                  <a:schemeClr val="tx1"/>
                </a:solidFill>
              </a:rPr>
              <a:t>to</a:t>
            </a:r>
            <a:r>
              <a:rPr lang="en-US" sz="1800" dirty="0">
                <a:solidFill>
                  <a:schemeClr val="tx1"/>
                </a:solidFill>
              </a:rPr>
              <a:t>).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Match the modal to the percentage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165860" cy="310896"/>
          </a:xfrm>
          <a:prstGeom prst="roundRect">
            <a:avLst>
              <a:gd name="adj" fmla="val 14706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DRY RUN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35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81328"/>
            <a:ext cx="7178040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B · Rewrite with the modal that matches the percentage.</a:t>
            </a:r>
            <a:endParaRPr lang="en-US" sz="1600" dirty="0"/>
          </a:p>
        </p:txBody>
      </p:sp>
      <p:sp>
        <p:nvSpPr>
          <p:cNvPr id="6" name="exercise"/>
          <p:cNvSpPr txBox="1"/>
          <p:nvPr/>
        </p:nvSpPr>
        <p:spPr>
          <a:xfrm>
            <a:off x="548640" y="1926336"/>
            <a:ext cx="7178040" cy="4364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1.  </a:t>
            </a:r>
            <a:r>
              <a:rPr lang="en-US" sz="2400" dirty="0">
                <a:solidFill>
                  <a:schemeClr val="tx1"/>
                </a:solidFill>
              </a:rPr>
              <a:t>Perhaps the alarm was faulty. </a:t>
            </a:r>
            <a:r>
              <a:rPr lang="en-US" sz="2400" b="1" dirty="0">
                <a:solidFill>
                  <a:schemeClr val="tx1"/>
                </a:solidFill>
              </a:rPr>
              <a:t>(40 %)</a:t>
            </a:r>
            <a:r>
              <a:rPr lang="en-US" sz="2400" dirty="0">
                <a:solidFill>
                  <a:schemeClr val="tx1"/>
                </a:solidFill>
              </a:rPr>
              <a:t> → </a:t>
            </a:r>
            <a:r>
              <a:rPr lang="en-US" sz="2400" dirty="0">
                <a:solidFill>
                  <a:schemeClr val="accent5"/>
                </a:solidFill>
              </a:rPr>
              <a:t>……………………………………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2.  </a:t>
            </a:r>
            <a:r>
              <a:rPr lang="en-US" sz="2400" dirty="0">
                <a:solidFill>
                  <a:schemeClr val="tx1"/>
                </a:solidFill>
              </a:rPr>
              <a:t>It is impossible: they left at 19.58. </a:t>
            </a:r>
            <a:r>
              <a:rPr lang="en-US" sz="2400" b="1" dirty="0">
                <a:solidFill>
                  <a:schemeClr val="tx1"/>
                </a:solidFill>
              </a:rPr>
              <a:t>(0 %)</a:t>
            </a:r>
            <a:r>
              <a:rPr lang="en-US" sz="2400" dirty="0">
                <a:solidFill>
                  <a:schemeClr val="tx1"/>
                </a:solidFill>
              </a:rPr>
              <a:t> → </a:t>
            </a:r>
            <a:r>
              <a:rPr lang="en-US" sz="2400" dirty="0">
                <a:solidFill>
                  <a:schemeClr val="accent5"/>
                </a:solidFill>
              </a:rPr>
              <a:t>……………………………………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3.  </a:t>
            </a:r>
            <a:r>
              <a:rPr lang="en-US" sz="2400" dirty="0">
                <a:solidFill>
                  <a:schemeClr val="tx1"/>
                </a:solidFill>
              </a:rPr>
              <a:t>I am almost sure the joint caused it. </a:t>
            </a:r>
            <a:r>
              <a:rPr lang="en-US" sz="2400" b="1" dirty="0">
                <a:solidFill>
                  <a:schemeClr val="tx1"/>
                </a:solidFill>
              </a:rPr>
              <a:t>(95 %)</a:t>
            </a:r>
            <a:r>
              <a:rPr lang="en-US" sz="2400" dirty="0">
                <a:solidFill>
                  <a:schemeClr val="tx1"/>
                </a:solidFill>
              </a:rPr>
              <a:t> → </a:t>
            </a:r>
            <a:r>
              <a:rPr lang="en-US" sz="2400" dirty="0">
                <a:solidFill>
                  <a:schemeClr val="accent5"/>
                </a:solidFill>
              </a:rPr>
              <a:t>……………………………………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Match the modal to the percentage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165860" cy="310896"/>
          </a:xfrm>
          <a:prstGeom prst="roundRect">
            <a:avLst>
              <a:gd name="adj" fmla="val 14706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DRY RUN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1824228" y="237744"/>
            <a:ext cx="1874520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✓ CORRECTION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35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481328"/>
            <a:ext cx="7178040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B · Rewrite with the modal that matches the percentage.</a:t>
            </a:r>
            <a:endParaRPr lang="en-US" sz="1600" dirty="0"/>
          </a:p>
        </p:txBody>
      </p:sp>
      <p:sp>
        <p:nvSpPr>
          <p:cNvPr id="7" name="exercise"/>
          <p:cNvSpPr txBox="1"/>
          <p:nvPr/>
        </p:nvSpPr>
        <p:spPr>
          <a:xfrm>
            <a:off x="548640" y="1926336"/>
            <a:ext cx="7178040" cy="4364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1.  </a:t>
            </a:r>
            <a:r>
              <a:rPr lang="en-US" sz="2400" dirty="0">
                <a:solidFill>
                  <a:schemeClr val="tx1"/>
                </a:solidFill>
              </a:rPr>
              <a:t>Perhaps the alarm was faulty. </a:t>
            </a:r>
            <a:r>
              <a:rPr lang="en-US" sz="2400" b="1" dirty="0">
                <a:solidFill>
                  <a:schemeClr val="tx1"/>
                </a:solidFill>
              </a:rPr>
              <a:t>(40 %)</a:t>
            </a:r>
            <a:r>
              <a:rPr lang="en-US" sz="2400" dirty="0">
                <a:solidFill>
                  <a:schemeClr val="tx1"/>
                </a:solidFill>
              </a:rPr>
              <a:t> → </a:t>
            </a:r>
            <a:r>
              <a:rPr lang="en-US" sz="2400" b="1" dirty="0">
                <a:solidFill>
                  <a:schemeClr val="accent3"/>
                </a:solidFill>
              </a:rPr>
              <a:t>The alarm might have been faulty.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2.  </a:t>
            </a:r>
            <a:r>
              <a:rPr lang="en-US" sz="2400" dirty="0">
                <a:solidFill>
                  <a:schemeClr val="tx1"/>
                </a:solidFill>
              </a:rPr>
              <a:t>It is impossible: they left at 19.58. </a:t>
            </a:r>
            <a:r>
              <a:rPr lang="en-US" sz="2400" b="1" dirty="0">
                <a:solidFill>
                  <a:schemeClr val="tx1"/>
                </a:solidFill>
              </a:rPr>
              <a:t>(0 %)</a:t>
            </a:r>
            <a:r>
              <a:rPr lang="en-US" sz="2400" dirty="0">
                <a:solidFill>
                  <a:schemeClr val="tx1"/>
                </a:solidFill>
              </a:rPr>
              <a:t> → </a:t>
            </a:r>
            <a:r>
              <a:rPr lang="en-US" sz="2400" b="1" dirty="0">
                <a:solidFill>
                  <a:schemeClr val="accent3"/>
                </a:solidFill>
              </a:rPr>
              <a:t>It can’t have been the cabling team: they left at 19.58.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3.  </a:t>
            </a:r>
            <a:r>
              <a:rPr lang="en-US" sz="2400" dirty="0">
                <a:solidFill>
                  <a:schemeClr val="tx1"/>
                </a:solidFill>
              </a:rPr>
              <a:t>I am almost sure the joint caused it. </a:t>
            </a:r>
            <a:r>
              <a:rPr lang="en-US" sz="2400" b="1" dirty="0">
                <a:solidFill>
                  <a:schemeClr val="tx1"/>
                </a:solidFill>
              </a:rPr>
              <a:t>(95 %)</a:t>
            </a:r>
            <a:r>
              <a:rPr lang="en-US" sz="2400" dirty="0">
                <a:solidFill>
                  <a:schemeClr val="tx1"/>
                </a:solidFill>
              </a:rPr>
              <a:t> → </a:t>
            </a:r>
            <a:r>
              <a:rPr lang="en-US" sz="2400" b="1" dirty="0">
                <a:solidFill>
                  <a:schemeClr val="accent3"/>
                </a:solidFill>
              </a:rPr>
              <a:t>The joint must have caused it.</a:t>
            </a:r>
            <a:endParaRPr lang="en-US" sz="2400" dirty="0"/>
          </a:p>
        </p:txBody>
      </p:sp>
      <p:sp>
        <p:nvSpPr>
          <p:cNvPr id="8" name="aside"/>
          <p:cNvSpPr/>
          <p:nvPr/>
        </p:nvSpPr>
        <p:spPr>
          <a:xfrm>
            <a:off x="8046720" y="1481328"/>
            <a:ext cx="3593592" cy="4809744"/>
          </a:xfrm>
          <a:prstGeom prst="roundRect">
            <a:avLst>
              <a:gd name="adj" fmla="val 2036"/>
            </a:avLst>
          </a:prstGeom>
          <a:solidFill>
            <a:schemeClr val="accent6">
              <a:alpha val="10000"/>
            </a:schemeClr>
          </a:solidFill>
          <a:ln w="12700">
            <a:solidFill>
              <a:schemeClr val="accent6">
                <a:alpha val="60000"/>
              </a:schemeClr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1664208"/>
            <a:ext cx="292608" cy="292608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8613648" y="1636776"/>
            <a:ext cx="2862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accent6"/>
                </a:solidFill>
              </a:rPr>
              <a:t>WATCH OUT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8211312" y="2075688"/>
            <a:ext cx="3264408" cy="4078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A </a:t>
            </a:r>
            <a:r>
              <a:rPr lang="en-US" sz="1800" b="1" dirty="0">
                <a:solidFill>
                  <a:schemeClr val="tx1"/>
                </a:solidFill>
              </a:rPr>
              <a:t>past</a:t>
            </a:r>
            <a:r>
              <a:rPr lang="en-US" sz="1800" dirty="0">
                <a:solidFill>
                  <a:schemeClr val="tx1"/>
                </a:solidFill>
              </a:rPr>
              <a:t> situation → modal + </a:t>
            </a:r>
            <a:r>
              <a:rPr lang="en-US" sz="1800" b="1" dirty="0">
                <a:solidFill>
                  <a:schemeClr val="tx1"/>
                </a:solidFill>
              </a:rPr>
              <a:t>have + participle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Present forms (</a:t>
            </a:r>
            <a:r>
              <a:rPr lang="en-US" sz="1800" i="1" dirty="0">
                <a:solidFill>
                  <a:schemeClr val="tx1"/>
                </a:solidFill>
              </a:rPr>
              <a:t>might be, can’t be, must be</a:t>
            </a:r>
            <a:r>
              <a:rPr lang="en-US" sz="1800" dirty="0">
                <a:solidFill>
                  <a:schemeClr val="tx1"/>
                </a:solidFill>
              </a:rPr>
              <a:t>) are fine when the sentence is about </a:t>
            </a:r>
            <a:r>
              <a:rPr lang="en-US" sz="1800" b="1" dirty="0">
                <a:solidFill>
                  <a:schemeClr val="tx1"/>
                </a:solidFill>
              </a:rPr>
              <a:t>now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Turn the fear into a recommendation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165860" cy="310896"/>
          </a:xfrm>
          <a:prstGeom prst="roundRect">
            <a:avLst>
              <a:gd name="adj" fmla="val 14706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DRY RUN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35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81328"/>
            <a:ext cx="11091672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C · One sentence with </a:t>
            </a:r>
            <a:r>
              <a:rPr lang="en-US" sz="1600" i="1" dirty="0">
                <a:solidFill>
                  <a:schemeClr val="accent5"/>
                </a:solidFill>
              </a:rPr>
              <a:t>should</a:t>
            </a:r>
            <a:r>
              <a:rPr lang="en-US" sz="1600" i="1" dirty="0">
                <a:solidFill>
                  <a:schemeClr val="accent5"/>
                </a:solidFill>
              </a:rPr>
              <a:t>, one with </a:t>
            </a:r>
            <a:r>
              <a:rPr lang="en-US" sz="1600" i="1" dirty="0">
                <a:solidFill>
                  <a:schemeClr val="accent5"/>
                </a:solidFill>
              </a:rPr>
              <a:t>had better</a:t>
            </a:r>
            <a:r>
              <a:rPr lang="en-US" sz="1600" i="1" dirty="0">
                <a:solidFill>
                  <a:schemeClr val="accent5"/>
                </a:solidFill>
              </a:rPr>
              <a:t>.</a:t>
            </a:r>
            <a:endParaRPr lang="en-US" sz="1600" dirty="0"/>
          </a:p>
        </p:txBody>
      </p:sp>
      <p:sp>
        <p:nvSpPr>
          <p:cNvPr id="6" name="exercise"/>
          <p:cNvSpPr txBox="1"/>
          <p:nvPr/>
        </p:nvSpPr>
        <p:spPr>
          <a:xfrm>
            <a:off x="548640" y="1926336"/>
            <a:ext cx="11091672" cy="4364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1.  </a:t>
            </a:r>
            <a:r>
              <a:rPr lang="en-US" sz="2400" dirty="0">
                <a:solidFill>
                  <a:schemeClr val="tx1"/>
                </a:solidFill>
              </a:rPr>
              <a:t>Nobody has inspected the basement. → </a:t>
            </a:r>
            <a:r>
              <a:rPr lang="en-US" sz="2400" dirty="0">
                <a:solidFill>
                  <a:schemeClr val="accent5"/>
                </a:solidFill>
              </a:rPr>
              <a:t>……………………………………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2.  </a:t>
            </a:r>
            <a:r>
              <a:rPr lang="en-US" sz="2400" dirty="0">
                <a:solidFill>
                  <a:schemeClr val="tx1"/>
                </a:solidFill>
              </a:rPr>
              <a:t>The landlord has not been told. → </a:t>
            </a:r>
            <a:r>
              <a:rPr lang="en-US" sz="2400" dirty="0">
                <a:solidFill>
                  <a:schemeClr val="accent5"/>
                </a:solidFill>
              </a:rPr>
              <a:t>……………………………………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Turn the fear into a recommendation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165860" cy="310896"/>
          </a:xfrm>
          <a:prstGeom prst="roundRect">
            <a:avLst>
              <a:gd name="adj" fmla="val 14706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DRY RUN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1824228" y="237744"/>
            <a:ext cx="1874520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✓ CORRECTION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35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481328"/>
            <a:ext cx="11091672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C · One sentence with </a:t>
            </a:r>
            <a:r>
              <a:rPr lang="en-US" sz="1600" i="1" dirty="0">
                <a:solidFill>
                  <a:schemeClr val="accent5"/>
                </a:solidFill>
              </a:rPr>
              <a:t>should</a:t>
            </a:r>
            <a:r>
              <a:rPr lang="en-US" sz="1600" i="1" dirty="0">
                <a:solidFill>
                  <a:schemeClr val="accent5"/>
                </a:solidFill>
              </a:rPr>
              <a:t>, one with </a:t>
            </a:r>
            <a:r>
              <a:rPr lang="en-US" sz="1600" i="1" dirty="0">
                <a:solidFill>
                  <a:schemeClr val="accent5"/>
                </a:solidFill>
              </a:rPr>
              <a:t>had better</a:t>
            </a:r>
            <a:r>
              <a:rPr lang="en-US" sz="1600" i="1" dirty="0">
                <a:solidFill>
                  <a:schemeClr val="accent5"/>
                </a:solidFill>
              </a:rPr>
              <a:t>.</a:t>
            </a:r>
            <a:endParaRPr lang="en-US" sz="1600" dirty="0"/>
          </a:p>
        </p:txBody>
      </p:sp>
      <p:sp>
        <p:nvSpPr>
          <p:cNvPr id="7" name="exercise"/>
          <p:cNvSpPr txBox="1"/>
          <p:nvPr/>
        </p:nvSpPr>
        <p:spPr>
          <a:xfrm>
            <a:off x="548640" y="1926336"/>
            <a:ext cx="11091672" cy="4364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1.  </a:t>
            </a:r>
            <a:r>
              <a:rPr lang="en-US" sz="2400" dirty="0">
                <a:solidFill>
                  <a:schemeClr val="tx1"/>
                </a:solidFill>
              </a:rPr>
              <a:t>Nobody has inspected the basement. → </a:t>
            </a:r>
            <a:r>
              <a:rPr lang="en-US" sz="2400" b="1" dirty="0">
                <a:solidFill>
                  <a:schemeClr val="accent3"/>
                </a:solidFill>
              </a:rPr>
              <a:t>We should inspect the basement today.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2.  </a:t>
            </a:r>
            <a:r>
              <a:rPr lang="en-US" sz="2400" dirty="0">
                <a:solidFill>
                  <a:schemeClr val="tx1"/>
                </a:solidFill>
              </a:rPr>
              <a:t>The landlord has not been told. → </a:t>
            </a:r>
            <a:r>
              <a:rPr lang="en-US" sz="2400" b="1" dirty="0">
                <a:solidFill>
                  <a:schemeClr val="accent3"/>
                </a:solidFill>
              </a:rPr>
              <a:t>We had better notify the landlord in writing today.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Should, had better, must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165860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GRAMMAR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34–35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481328"/>
            <a:ext cx="3514344" cy="3922776"/>
          </a:xfrm>
          <a:prstGeom prst="roundRect">
            <a:avLst>
              <a:gd name="adj" fmla="val 2602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481328"/>
            <a:ext cx="3514344" cy="502920"/>
          </a:xfrm>
          <a:prstGeom prst="roundRect">
            <a:avLst>
              <a:gd name="adj" fmla="val 18182"/>
            </a:avLst>
          </a:prstGeom>
          <a:solidFill>
            <a:schemeClr val="accent3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801368"/>
            <a:ext cx="3514344" cy="18288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1481328"/>
            <a:ext cx="3148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chemeClr val="bg1"/>
                </a:solidFill>
              </a:rPr>
              <a:t>SHOULD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084832"/>
            <a:ext cx="3148584" cy="405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should + base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2627376"/>
            <a:ext cx="3148584" cy="266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= advice, recommendation</a:t>
            </a:r>
            <a:endParaRPr lang="en-US" sz="20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We </a:t>
            </a:r>
            <a:r>
              <a:rPr lang="en-US" sz="2000" b="1" dirty="0">
                <a:solidFill>
                  <a:schemeClr val="tx1"/>
                </a:solidFill>
              </a:rPr>
              <a:t>should</a:t>
            </a:r>
            <a:r>
              <a:rPr lang="en-US" sz="2000" dirty="0">
                <a:solidFill>
                  <a:schemeClr val="tx1"/>
                </a:solidFill>
              </a:rPr>
              <a:t> inspect the whole run.</a:t>
            </a:r>
            <a:endParaRPr lang="en-US" sz="20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Neg: </a:t>
            </a:r>
            <a:r>
              <a:rPr lang="en-US" sz="2000" b="1" dirty="0">
                <a:solidFill>
                  <a:schemeClr val="tx1"/>
                </a:solidFill>
              </a:rPr>
              <a:t>shouldn’t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4337304" y="1481328"/>
            <a:ext cx="3514344" cy="3922776"/>
          </a:xfrm>
          <a:prstGeom prst="roundRect">
            <a:avLst>
              <a:gd name="adj" fmla="val 2602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337304" y="1481328"/>
            <a:ext cx="3514344" cy="502920"/>
          </a:xfrm>
          <a:prstGeom prst="roundRect">
            <a:avLst>
              <a:gd name="adj" fmla="val 18182"/>
            </a:avLst>
          </a:prstGeom>
          <a:solidFill>
            <a:schemeClr val="accent1"/>
          </a:solidFill>
          <a:ln/>
        </p:spPr>
      </p:sp>
      <p:sp>
        <p:nvSpPr>
          <p:cNvPr id="13" name="Shape 11"/>
          <p:cNvSpPr/>
          <p:nvPr/>
        </p:nvSpPr>
        <p:spPr>
          <a:xfrm>
            <a:off x="4337304" y="1801368"/>
            <a:ext cx="3514344" cy="18288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20184" y="1481328"/>
            <a:ext cx="3148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chemeClr val="bg1"/>
                </a:solidFill>
              </a:rPr>
              <a:t>HAD BETTER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520184" y="2084832"/>
            <a:ext cx="3148584" cy="405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’d better + base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4520184" y="2627376"/>
            <a:ext cx="3148584" cy="266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= strong advice, a warning (or else…)</a:t>
            </a:r>
            <a:endParaRPr lang="en-US" sz="20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We</a:t>
            </a:r>
            <a:r>
              <a:rPr lang="en-US" sz="2000" b="1" dirty="0">
                <a:solidFill>
                  <a:schemeClr val="tx1"/>
                </a:solidFill>
              </a:rPr>
              <a:t>’d better</a:t>
            </a:r>
            <a:r>
              <a:rPr lang="en-US" sz="2000" dirty="0">
                <a:solidFill>
                  <a:schemeClr val="tx1"/>
                </a:solidFill>
              </a:rPr>
              <a:t> tell the landlord today.</a:t>
            </a:r>
            <a:endParaRPr lang="en-US" sz="20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Neg: </a:t>
            </a:r>
            <a:r>
              <a:rPr lang="en-US" sz="2000" b="1" dirty="0">
                <a:solidFill>
                  <a:schemeClr val="tx1"/>
                </a:solidFill>
              </a:rPr>
              <a:t>had better not</a:t>
            </a:r>
            <a:r>
              <a:rPr lang="en-US" sz="2000" dirty="0">
                <a:solidFill>
                  <a:schemeClr val="tx1"/>
                </a:solidFill>
              </a:rPr>
              <a:t> (✗ </a:t>
            </a:r>
            <a:r>
              <a:rPr lang="en-US" sz="2000" i="1" dirty="0">
                <a:solidFill>
                  <a:schemeClr val="tx1"/>
                </a:solidFill>
              </a:rPr>
              <a:t>hadn’t better</a:t>
            </a:r>
            <a:r>
              <a:rPr lang="en-US" sz="2000" dirty="0">
                <a:solidFill>
                  <a:schemeClr val="tx1"/>
                </a:solidFill>
              </a:rPr>
              <a:t>)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8125968" y="1481328"/>
            <a:ext cx="3514344" cy="3922776"/>
          </a:xfrm>
          <a:prstGeom prst="roundRect">
            <a:avLst>
              <a:gd name="adj" fmla="val 2602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125968" y="1481328"/>
            <a:ext cx="3514344" cy="502920"/>
          </a:xfrm>
          <a:prstGeom prst="roundRect">
            <a:avLst>
              <a:gd name="adj" fmla="val 18182"/>
            </a:avLst>
          </a:prstGeom>
          <a:solidFill>
            <a:schemeClr val="accent6"/>
          </a:solidFill>
          <a:ln/>
        </p:spPr>
      </p:sp>
      <p:sp>
        <p:nvSpPr>
          <p:cNvPr id="19" name="Shape 17"/>
          <p:cNvSpPr/>
          <p:nvPr/>
        </p:nvSpPr>
        <p:spPr>
          <a:xfrm>
            <a:off x="8125968" y="1801368"/>
            <a:ext cx="3514344" cy="182880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308848" y="1481328"/>
            <a:ext cx="3148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chemeClr val="bg1"/>
                </a:solidFill>
              </a:rPr>
              <a:t>MUST / HAVE TO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8308848" y="2084832"/>
            <a:ext cx="3148584" cy="405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6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must · have to + base</a:t>
            </a:r>
            <a:endParaRPr lang="en-US" sz="2400" dirty="0"/>
          </a:p>
        </p:txBody>
      </p:sp>
      <p:sp>
        <p:nvSpPr>
          <p:cNvPr id="22" name="Text 20"/>
          <p:cNvSpPr txBox="1"/>
          <p:nvPr/>
        </p:nvSpPr>
        <p:spPr>
          <a:xfrm>
            <a:off x="8308848" y="2627376"/>
            <a:ext cx="3148584" cy="266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= obligation</a:t>
            </a:r>
            <a:endParaRPr lang="en-US" sz="20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We </a:t>
            </a:r>
            <a:r>
              <a:rPr lang="en-US" sz="2000" b="1" dirty="0">
                <a:solidFill>
                  <a:schemeClr val="tx1"/>
                </a:solidFill>
              </a:rPr>
              <a:t>must</a:t>
            </a:r>
            <a:r>
              <a:rPr lang="en-US" sz="2000" dirty="0">
                <a:solidFill>
                  <a:schemeClr val="tx1"/>
                </a:solidFill>
              </a:rPr>
              <a:t> notify the insurer.</a:t>
            </a:r>
            <a:endParaRPr lang="en-US" sz="20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have to</a:t>
            </a:r>
            <a:r>
              <a:rPr lang="en-US" sz="2000" dirty="0">
                <a:solidFill>
                  <a:schemeClr val="tx1"/>
                </a:solidFill>
              </a:rPr>
              <a:t> = an external rule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548640" y="5605272"/>
            <a:ext cx="11091672" cy="685800"/>
          </a:xfrm>
          <a:prstGeom prst="roundRect">
            <a:avLst>
              <a:gd name="adj" fmla="val 10667"/>
            </a:avLst>
          </a:prstGeom>
          <a:solidFill>
            <a:schemeClr val="accent6">
              <a:alpha val="10000"/>
            </a:schemeClr>
          </a:solidFill>
          <a:ln w="9525">
            <a:solidFill>
              <a:schemeClr val="accent6">
                <a:alpha val="70000"/>
              </a:schemeClr>
            </a:solidFill>
            <a:prstDash val="solid"/>
          </a:ln>
        </p:spPr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5783580"/>
            <a:ext cx="329184" cy="329184"/>
          </a:xfrm>
          <a:prstGeom prst="rect">
            <a:avLst/>
          </a:prstGeom>
        </p:spPr>
      </p:pic>
      <p:sp>
        <p:nvSpPr>
          <p:cNvPr id="25" name="Text 22"/>
          <p:cNvSpPr txBox="1"/>
          <p:nvPr/>
        </p:nvSpPr>
        <p:spPr>
          <a:xfrm>
            <a:off x="1234440" y="5641848"/>
            <a:ext cx="102870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6"/>
                </a:solidFill>
              </a:rPr>
              <a:t>Piège pour francophones — </a:t>
            </a:r>
            <a:r>
              <a:rPr lang="en-US" sz="1700" i="1" dirty="0">
                <a:solidFill>
                  <a:schemeClr val="tx1"/>
                </a:solidFill>
              </a:rPr>
              <a:t>Nous ferions mieux de</a:t>
            </a:r>
            <a:r>
              <a:rPr lang="en-US" sz="1700" dirty="0">
                <a:solidFill>
                  <a:schemeClr val="tx1"/>
                </a:solidFill>
              </a:rPr>
              <a:t> → </a:t>
            </a:r>
            <a:r>
              <a:rPr lang="en-US" sz="1700" b="1" dirty="0">
                <a:solidFill>
                  <a:schemeClr val="tx1"/>
                </a:solidFill>
              </a:rPr>
              <a:t>We had better</a:t>
            </a:r>
            <a:r>
              <a:rPr lang="en-US" sz="1700" dirty="0">
                <a:solidFill>
                  <a:schemeClr val="tx1"/>
                </a:solidFill>
              </a:rPr>
              <a:t> (✗ </a:t>
            </a:r>
            <a:r>
              <a:rPr lang="en-US" sz="1700" i="1" dirty="0">
                <a:solidFill>
                  <a:schemeClr val="tx1"/>
                </a:solidFill>
              </a:rPr>
              <a:t>We would better</a:t>
            </a:r>
            <a:r>
              <a:rPr lang="en-US" sz="1700" dirty="0">
                <a:solidFill>
                  <a:schemeClr val="tx1"/>
                </a:solidFill>
              </a:rPr>
              <a:t>) · malgré </a:t>
            </a:r>
            <a:r>
              <a:rPr lang="en-US" sz="1700" i="1" dirty="0">
                <a:solidFill>
                  <a:schemeClr val="tx1"/>
                </a:solidFill>
              </a:rPr>
              <a:t>had</a:t>
            </a:r>
            <a:r>
              <a:rPr lang="en-US" sz="1700" dirty="0">
                <a:solidFill>
                  <a:schemeClr val="tx1"/>
                </a:solidFill>
              </a:rPr>
              <a:t>, le sens est </a:t>
            </a:r>
            <a:r>
              <a:rPr lang="en-US" sz="1700" b="1" dirty="0">
                <a:solidFill>
                  <a:schemeClr val="tx1"/>
                </a:solidFill>
              </a:rPr>
              <a:t>présent / futur</a:t>
            </a:r>
            <a:r>
              <a:rPr lang="en-US" sz="1700" dirty="0">
                <a:solidFill>
                  <a:schemeClr val="tx1"/>
                </a:solidFill>
              </a:rPr>
              <a:t>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Saying what you think without committing yourself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394460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WORD FILE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36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81328"/>
            <a:ext cx="11091672" cy="344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A professional who is guessing says so. These expressions protect you while allowing you to speak.</a:t>
            </a:r>
            <a:endParaRPr lang="en-US" sz="16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17192"/>
          <a:ext cx="11091672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2743200"/>
                <a:gridCol w="5239512"/>
              </a:tblGrid>
              <a:tr h="52852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IDIOM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FRENCH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EXAMPLE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to 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jump to conclusions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conclure trop vite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Let us not 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jump to conclusions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 before the survey.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to give somebody 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the benefit of the doubt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accorder le bénéfice du doute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I would 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give the team the benefit of the doubt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to be 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on the safe side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par précaution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To be on the safe side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, close the room today.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a 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long shot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une hypothèse peu probable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It is 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a long shot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, but the drainage may be blocked.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to 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rule out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écarter une hypothèse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We cannot 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rule out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 human error.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to 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point the finger at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accuser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Nobody wants to 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point the finger at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 the contractor.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an 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educated guess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une hypothèse fondée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At this stage it is 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an educated guess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, no more.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Idioms in a new context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165860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+ EXTRA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Hors livret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81328"/>
            <a:ext cx="11091672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Complete with an idiom from the Word file.</a:t>
            </a:r>
            <a:endParaRPr lang="en-US" sz="1600" dirty="0"/>
          </a:p>
        </p:txBody>
      </p:sp>
      <p:sp>
        <p:nvSpPr>
          <p:cNvPr id="6" name="exercise"/>
          <p:cNvSpPr txBox="1"/>
          <p:nvPr/>
        </p:nvSpPr>
        <p:spPr>
          <a:xfrm>
            <a:off x="548640" y="1926336"/>
            <a:ext cx="11091672" cy="4364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2300" b="1" dirty="0">
                <a:solidFill>
                  <a:schemeClr val="tx2"/>
                </a:solidFill>
              </a:rPr>
              <a:t>1.  </a:t>
            </a:r>
            <a:r>
              <a:rPr lang="en-US" sz="2300" dirty="0">
                <a:solidFill>
                  <a:schemeClr val="tx1"/>
                </a:solidFill>
              </a:rPr>
              <a:t>Samuel thinks it is the same joint, but we have no record yet — let’s not </a:t>
            </a:r>
            <a:r>
              <a:rPr lang="en-US" sz="2300" dirty="0">
                <a:solidFill>
                  <a:schemeClr val="accent5"/>
                </a:solidFill>
              </a:rPr>
              <a:t>…………………………</a:t>
            </a:r>
            <a:r>
              <a:rPr lang="en-US" sz="2300" dirty="0">
                <a:solidFill>
                  <a:schemeClr val="tx1"/>
                </a:solidFill>
              </a:rPr>
              <a:t>.</a:t>
            </a:r>
            <a:endParaRPr lang="en-US" sz="2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300" b="1" dirty="0">
                <a:solidFill>
                  <a:schemeClr val="tx2"/>
                </a:solidFill>
              </a:rPr>
              <a:t>2.  </a:t>
            </a:r>
            <a:r>
              <a:rPr lang="en-US" sz="2300" dirty="0">
                <a:solidFill>
                  <a:schemeClr val="tx1"/>
                </a:solidFill>
              </a:rPr>
              <a:t>The badge entry looks bad, but I would </a:t>
            </a:r>
            <a:r>
              <a:rPr lang="en-US" sz="2300" dirty="0">
                <a:solidFill>
                  <a:schemeClr val="accent5"/>
                </a:solidFill>
              </a:rPr>
              <a:t>……………………………………</a:t>
            </a:r>
            <a:r>
              <a:rPr lang="en-US" sz="2300" dirty="0">
                <a:solidFill>
                  <a:schemeClr val="tx1"/>
                </a:solidFill>
              </a:rPr>
              <a:t>: it lasted fifteen minutes.</a:t>
            </a:r>
            <a:endParaRPr lang="en-US" sz="2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300" b="1" dirty="0">
                <a:solidFill>
                  <a:schemeClr val="tx2"/>
                </a:solidFill>
              </a:rPr>
              <a:t>3.  </a:t>
            </a:r>
            <a:r>
              <a:rPr lang="en-US" sz="2300" dirty="0">
                <a:solidFill>
                  <a:schemeClr val="tx1"/>
                </a:solidFill>
              </a:rPr>
              <a:t>The floor may not be safe. To be </a:t>
            </a:r>
            <a:r>
              <a:rPr lang="en-US" sz="2300" dirty="0">
                <a:solidFill>
                  <a:schemeClr val="accent5"/>
                </a:solidFill>
              </a:rPr>
              <a:t>………………………</a:t>
            </a:r>
            <a:r>
              <a:rPr lang="en-US" sz="2300" dirty="0">
                <a:solidFill>
                  <a:schemeClr val="tx1"/>
                </a:solidFill>
              </a:rPr>
              <a:t>, nobody goes in without boots.</a:t>
            </a:r>
            <a:endParaRPr lang="en-US" sz="2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300" b="1" dirty="0">
                <a:solidFill>
                  <a:schemeClr val="tx2"/>
                </a:solidFill>
              </a:rPr>
              <a:t>4.  </a:t>
            </a:r>
            <a:r>
              <a:rPr lang="en-US" sz="2300" dirty="0">
                <a:solidFill>
                  <a:schemeClr val="tx1"/>
                </a:solidFill>
              </a:rPr>
              <a:t>A blocked drain? It’s </a:t>
            </a:r>
            <a:r>
              <a:rPr lang="en-US" sz="2300" dirty="0">
                <a:solidFill>
                  <a:schemeClr val="accent5"/>
                </a:solidFill>
              </a:rPr>
              <a:t>………………</a:t>
            </a:r>
            <a:r>
              <a:rPr lang="en-US" sz="2300" dirty="0">
                <a:solidFill>
                  <a:schemeClr val="tx1"/>
                </a:solidFill>
              </a:rPr>
              <a:t>, but Iris will check.</a:t>
            </a:r>
            <a:endParaRPr lang="en-US" sz="2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300" b="1" dirty="0">
                <a:solidFill>
                  <a:schemeClr val="tx2"/>
                </a:solidFill>
              </a:rPr>
              <a:t>5.  </a:t>
            </a:r>
            <a:r>
              <a:rPr lang="en-US" sz="2300" dirty="0">
                <a:solidFill>
                  <a:schemeClr val="tx1"/>
                </a:solidFill>
              </a:rPr>
              <a:t>The room was dry at 19.58, so we can </a:t>
            </a:r>
            <a:r>
              <a:rPr lang="en-US" sz="2300" dirty="0">
                <a:solidFill>
                  <a:schemeClr val="accent5"/>
                </a:solidFill>
              </a:rPr>
              <a:t>……………</a:t>
            </a:r>
            <a:r>
              <a:rPr lang="en-US" sz="2300" dirty="0">
                <a:solidFill>
                  <a:schemeClr val="tx1"/>
                </a:solidFill>
              </a:rPr>
              <a:t> a leak during the works.</a:t>
            </a:r>
            <a:endParaRPr lang="en-US" sz="2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300" b="1" dirty="0">
                <a:solidFill>
                  <a:schemeClr val="tx2"/>
                </a:solidFill>
              </a:rPr>
              <a:t>6.  </a:t>
            </a:r>
            <a:r>
              <a:rPr lang="en-US" sz="2300" dirty="0">
                <a:solidFill>
                  <a:schemeClr val="tx1"/>
                </a:solidFill>
              </a:rPr>
              <a:t>Legal says: never </a:t>
            </a:r>
            <a:r>
              <a:rPr lang="en-US" sz="2300" dirty="0">
                <a:solidFill>
                  <a:schemeClr val="accent5"/>
                </a:solidFill>
              </a:rPr>
              <a:t>…………………………</a:t>
            </a:r>
            <a:r>
              <a:rPr lang="en-US" sz="2300" dirty="0">
                <a:solidFill>
                  <a:schemeClr val="tx1"/>
                </a:solidFill>
              </a:rPr>
              <a:t> anyone in writing.</a:t>
            </a:r>
            <a:endParaRPr lang="en-US" sz="2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300" b="1" dirty="0">
                <a:solidFill>
                  <a:schemeClr val="tx2"/>
                </a:solidFill>
              </a:rPr>
              <a:t>7.  </a:t>
            </a:r>
            <a:r>
              <a:rPr lang="en-US" sz="2300" dirty="0">
                <a:solidFill>
                  <a:schemeClr val="tx1"/>
                </a:solidFill>
              </a:rPr>
              <a:t>It is not a certainty — it is </a:t>
            </a:r>
            <a:r>
              <a:rPr lang="en-US" sz="2300" dirty="0">
                <a:solidFill>
                  <a:schemeClr val="accent5"/>
                </a:solidFill>
              </a:rPr>
              <a:t>………………………</a:t>
            </a:r>
            <a:r>
              <a:rPr lang="en-US" sz="2300" dirty="0">
                <a:solidFill>
                  <a:schemeClr val="tx1"/>
                </a:solidFill>
              </a:rPr>
              <a:t> based on the alarm sequence.</a:t>
            </a:r>
            <a:endParaRPr lang="en-US" sz="2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Idioms in a new context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165860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+ EXTRA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1824228" y="237744"/>
            <a:ext cx="1874520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✓ CORRECTION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Hors livret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481328"/>
            <a:ext cx="11091672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Complete with an idiom from the Word file.</a:t>
            </a:r>
            <a:endParaRPr lang="en-US" sz="1600" dirty="0"/>
          </a:p>
        </p:txBody>
      </p:sp>
      <p:sp>
        <p:nvSpPr>
          <p:cNvPr id="7" name="exercise"/>
          <p:cNvSpPr txBox="1"/>
          <p:nvPr/>
        </p:nvSpPr>
        <p:spPr>
          <a:xfrm>
            <a:off x="548640" y="1926336"/>
            <a:ext cx="11091672" cy="4364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2300" b="1" dirty="0">
                <a:solidFill>
                  <a:schemeClr val="tx2"/>
                </a:solidFill>
              </a:rPr>
              <a:t>1.  </a:t>
            </a:r>
            <a:r>
              <a:rPr lang="en-US" sz="2300" dirty="0">
                <a:solidFill>
                  <a:schemeClr val="tx1"/>
                </a:solidFill>
              </a:rPr>
              <a:t>Samuel thinks it is the same joint, but we have no record yet — let’s not </a:t>
            </a:r>
            <a:r>
              <a:rPr lang="en-US" sz="2300" b="1" dirty="0">
                <a:solidFill>
                  <a:schemeClr val="accent3"/>
                </a:solidFill>
              </a:rPr>
              <a:t>jump to conclusions</a:t>
            </a:r>
            <a:r>
              <a:rPr lang="en-US" sz="2300" dirty="0">
                <a:solidFill>
                  <a:schemeClr val="tx1"/>
                </a:solidFill>
              </a:rPr>
              <a:t>.</a:t>
            </a:r>
            <a:endParaRPr lang="en-US" sz="2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300" b="1" dirty="0">
                <a:solidFill>
                  <a:schemeClr val="tx2"/>
                </a:solidFill>
              </a:rPr>
              <a:t>2.  </a:t>
            </a:r>
            <a:r>
              <a:rPr lang="en-US" sz="2300" dirty="0">
                <a:solidFill>
                  <a:schemeClr val="tx1"/>
                </a:solidFill>
              </a:rPr>
              <a:t>The badge entry looks bad, but I would </a:t>
            </a:r>
            <a:r>
              <a:rPr lang="en-US" sz="2300" b="1" dirty="0">
                <a:solidFill>
                  <a:schemeClr val="accent3"/>
                </a:solidFill>
              </a:rPr>
              <a:t>give the site staff the benefit of the doubt</a:t>
            </a:r>
            <a:r>
              <a:rPr lang="en-US" sz="2300" dirty="0">
                <a:solidFill>
                  <a:schemeClr val="tx1"/>
                </a:solidFill>
              </a:rPr>
              <a:t>: it lasted fifteen minutes.</a:t>
            </a:r>
            <a:endParaRPr lang="en-US" sz="2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300" b="1" dirty="0">
                <a:solidFill>
                  <a:schemeClr val="tx2"/>
                </a:solidFill>
              </a:rPr>
              <a:t>3.  </a:t>
            </a:r>
            <a:r>
              <a:rPr lang="en-US" sz="2300" dirty="0">
                <a:solidFill>
                  <a:schemeClr val="tx1"/>
                </a:solidFill>
              </a:rPr>
              <a:t>The floor may not be safe. To be </a:t>
            </a:r>
            <a:r>
              <a:rPr lang="en-US" sz="2300" b="1" dirty="0">
                <a:solidFill>
                  <a:schemeClr val="accent3"/>
                </a:solidFill>
              </a:rPr>
              <a:t>on the safe side</a:t>
            </a:r>
            <a:r>
              <a:rPr lang="en-US" sz="2300" dirty="0">
                <a:solidFill>
                  <a:schemeClr val="tx1"/>
                </a:solidFill>
              </a:rPr>
              <a:t>, nobody goes in without boots.</a:t>
            </a:r>
            <a:endParaRPr lang="en-US" sz="2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300" b="1" dirty="0">
                <a:solidFill>
                  <a:schemeClr val="tx2"/>
                </a:solidFill>
              </a:rPr>
              <a:t>4.  </a:t>
            </a:r>
            <a:r>
              <a:rPr lang="en-US" sz="2300" dirty="0">
                <a:solidFill>
                  <a:schemeClr val="tx1"/>
                </a:solidFill>
              </a:rPr>
              <a:t>A blocked drain? It’s </a:t>
            </a:r>
            <a:r>
              <a:rPr lang="en-US" sz="2300" b="1" dirty="0">
                <a:solidFill>
                  <a:schemeClr val="accent3"/>
                </a:solidFill>
              </a:rPr>
              <a:t>a long shot</a:t>
            </a:r>
            <a:r>
              <a:rPr lang="en-US" sz="2300" dirty="0">
                <a:solidFill>
                  <a:schemeClr val="tx1"/>
                </a:solidFill>
              </a:rPr>
              <a:t>, but Iris will check.</a:t>
            </a:r>
            <a:endParaRPr lang="en-US" sz="2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300" b="1" dirty="0">
                <a:solidFill>
                  <a:schemeClr val="tx2"/>
                </a:solidFill>
              </a:rPr>
              <a:t>5.  </a:t>
            </a:r>
            <a:r>
              <a:rPr lang="en-US" sz="2300" dirty="0">
                <a:solidFill>
                  <a:schemeClr val="tx1"/>
                </a:solidFill>
              </a:rPr>
              <a:t>The room was dry at 19.58, so we can </a:t>
            </a:r>
            <a:r>
              <a:rPr lang="en-US" sz="2300" b="1" dirty="0">
                <a:solidFill>
                  <a:schemeClr val="accent3"/>
                </a:solidFill>
              </a:rPr>
              <a:t>rule out</a:t>
            </a:r>
            <a:r>
              <a:rPr lang="en-US" sz="2300" dirty="0">
                <a:solidFill>
                  <a:schemeClr val="tx1"/>
                </a:solidFill>
              </a:rPr>
              <a:t> a leak during the works.</a:t>
            </a:r>
            <a:endParaRPr lang="en-US" sz="2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300" b="1" dirty="0">
                <a:solidFill>
                  <a:schemeClr val="tx2"/>
                </a:solidFill>
              </a:rPr>
              <a:t>6.  </a:t>
            </a:r>
            <a:r>
              <a:rPr lang="en-US" sz="2300" dirty="0">
                <a:solidFill>
                  <a:schemeClr val="tx1"/>
                </a:solidFill>
              </a:rPr>
              <a:t>Legal says: never </a:t>
            </a:r>
            <a:r>
              <a:rPr lang="en-US" sz="2300" b="1" dirty="0">
                <a:solidFill>
                  <a:schemeClr val="accent3"/>
                </a:solidFill>
              </a:rPr>
              <a:t>point the finger at</a:t>
            </a:r>
            <a:r>
              <a:rPr lang="en-US" sz="2300" dirty="0">
                <a:solidFill>
                  <a:schemeClr val="tx1"/>
                </a:solidFill>
              </a:rPr>
              <a:t> anyone in writing.</a:t>
            </a:r>
            <a:endParaRPr lang="en-US" sz="2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300" b="1" dirty="0">
                <a:solidFill>
                  <a:schemeClr val="tx2"/>
                </a:solidFill>
              </a:rPr>
              <a:t>7.  </a:t>
            </a:r>
            <a:r>
              <a:rPr lang="en-US" sz="2300" dirty="0">
                <a:solidFill>
                  <a:schemeClr val="tx1"/>
                </a:solidFill>
              </a:rPr>
              <a:t>It is not a certainty — it is </a:t>
            </a:r>
            <a:r>
              <a:rPr lang="en-US" sz="2300" b="1" dirty="0">
                <a:solidFill>
                  <a:schemeClr val="accent3"/>
                </a:solidFill>
              </a:rPr>
              <a:t>an educated guess</a:t>
            </a:r>
            <a:r>
              <a:rPr lang="en-US" sz="2300" dirty="0">
                <a:solidFill>
                  <a:schemeClr val="tx1"/>
                </a:solidFill>
              </a:rPr>
              <a:t> based on the alarm sequence.</a:t>
            </a:r>
            <a:endParaRPr lang="en-US" sz="2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Hedging toolkit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165860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WRITING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Hors livret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481328"/>
            <a:ext cx="3514344" cy="4809744"/>
          </a:xfrm>
          <a:prstGeom prst="roundRect">
            <a:avLst>
              <a:gd name="adj" fmla="val 2602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481328"/>
            <a:ext cx="3514344" cy="502920"/>
          </a:xfrm>
          <a:prstGeom prst="roundRect">
            <a:avLst>
              <a:gd name="adj" fmla="val 18182"/>
            </a:avLst>
          </a:prstGeom>
          <a:solidFill>
            <a:schemeClr val="accent2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801368"/>
            <a:ext cx="3514344" cy="18288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1481328"/>
            <a:ext cx="3148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chemeClr val="bg1"/>
                </a:solidFill>
              </a:rPr>
              <a:t>SOFTEN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084832"/>
            <a:ext cx="3148584" cy="4096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It seems that</a:t>
            </a:r>
            <a:r>
              <a:rPr lang="en-US" sz="2000" dirty="0">
                <a:solidFill>
                  <a:schemeClr val="tx1"/>
                </a:solidFill>
              </a:rPr>
              <a:t> …</a:t>
            </a:r>
            <a:endParaRPr lang="en-US" sz="20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It appears that</a:t>
            </a:r>
            <a:r>
              <a:rPr lang="en-US" sz="2000" dirty="0">
                <a:solidFill>
                  <a:schemeClr val="tx1"/>
                </a:solidFill>
              </a:rPr>
              <a:t> …</a:t>
            </a:r>
            <a:endParaRPr lang="en-US" sz="20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This would suggest that</a:t>
            </a:r>
            <a:r>
              <a:rPr lang="en-US" sz="2000" dirty="0">
                <a:solidFill>
                  <a:schemeClr val="tx1"/>
                </a:solidFill>
              </a:rPr>
              <a:t> …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337304" y="1481328"/>
            <a:ext cx="3514344" cy="4809744"/>
          </a:xfrm>
          <a:prstGeom prst="roundRect">
            <a:avLst>
              <a:gd name="adj" fmla="val 2602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37304" y="1481328"/>
            <a:ext cx="3514344" cy="502920"/>
          </a:xfrm>
          <a:prstGeom prst="roundRect">
            <a:avLst>
              <a:gd name="adj" fmla="val 18182"/>
            </a:avLst>
          </a:prstGeom>
          <a:solidFill>
            <a:schemeClr val="accent1"/>
          </a:solidFill>
          <a:ln/>
        </p:spPr>
      </p:sp>
      <p:sp>
        <p:nvSpPr>
          <p:cNvPr id="12" name="Shape 10"/>
          <p:cNvSpPr/>
          <p:nvPr/>
        </p:nvSpPr>
        <p:spPr>
          <a:xfrm>
            <a:off x="4337304" y="1801368"/>
            <a:ext cx="3514344" cy="18288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20184" y="1481328"/>
            <a:ext cx="3148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chemeClr val="bg1"/>
                </a:solidFill>
              </a:rPr>
              <a:t>LIMIT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520184" y="2084832"/>
            <a:ext cx="3148584" cy="4096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At this stage</a:t>
            </a:r>
            <a:r>
              <a:rPr lang="en-US" sz="2000" dirty="0">
                <a:solidFill>
                  <a:schemeClr val="tx1"/>
                </a:solidFill>
              </a:rPr>
              <a:t>, …</a:t>
            </a:r>
            <a:endParaRPr lang="en-US" sz="20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So far</a:t>
            </a:r>
            <a:r>
              <a:rPr lang="en-US" sz="2000" dirty="0">
                <a:solidFill>
                  <a:schemeClr val="tx1"/>
                </a:solidFill>
              </a:rPr>
              <a:t>, there is </a:t>
            </a:r>
            <a:r>
              <a:rPr lang="en-US" sz="2000" b="1" dirty="0">
                <a:solidFill>
                  <a:schemeClr val="tx1"/>
                </a:solidFill>
              </a:rPr>
              <a:t>no evidence that</a:t>
            </a:r>
            <a:r>
              <a:rPr lang="en-US" sz="2000" dirty="0">
                <a:solidFill>
                  <a:schemeClr val="tx1"/>
                </a:solidFill>
              </a:rPr>
              <a:t> …</a:t>
            </a:r>
            <a:endParaRPr lang="en-US" sz="20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It is too early to say whether</a:t>
            </a:r>
            <a:r>
              <a:rPr lang="en-US" sz="2000" dirty="0">
                <a:solidFill>
                  <a:schemeClr val="tx1"/>
                </a:solidFill>
              </a:rPr>
              <a:t> …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8125968" y="1481328"/>
            <a:ext cx="3514344" cy="4809744"/>
          </a:xfrm>
          <a:prstGeom prst="roundRect">
            <a:avLst>
              <a:gd name="adj" fmla="val 2602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125968" y="1481328"/>
            <a:ext cx="3514344" cy="502920"/>
          </a:xfrm>
          <a:prstGeom prst="roundRect">
            <a:avLst>
              <a:gd name="adj" fmla="val 18182"/>
            </a:avLst>
          </a:prstGeom>
          <a:solidFill>
            <a:schemeClr val="accent3"/>
          </a:solidFill>
          <a:ln/>
        </p:spPr>
      </p:sp>
      <p:sp>
        <p:nvSpPr>
          <p:cNvPr id="17" name="Shape 15"/>
          <p:cNvSpPr/>
          <p:nvPr/>
        </p:nvSpPr>
        <p:spPr>
          <a:xfrm>
            <a:off x="8125968" y="1801368"/>
            <a:ext cx="3514344" cy="18288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308848" y="1481328"/>
            <a:ext cx="3148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chemeClr val="bg1"/>
                </a:solidFill>
              </a:rPr>
              <a:t>PROTECT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8308848" y="2084832"/>
            <a:ext cx="3148584" cy="4096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We cannot rule out</a:t>
            </a:r>
            <a:r>
              <a:rPr lang="en-US" sz="2000" dirty="0">
                <a:solidFill>
                  <a:schemeClr val="tx1"/>
                </a:solidFill>
              </a:rPr>
              <a:t> …</a:t>
            </a:r>
            <a:endParaRPr lang="en-US" sz="20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Pending</a:t>
            </a:r>
            <a:r>
              <a:rPr lang="en-US" sz="2000" dirty="0">
                <a:solidFill>
                  <a:schemeClr val="tx1"/>
                </a:solidFill>
              </a:rPr>
              <a:t> the basement inspection, …</a:t>
            </a:r>
            <a:endParaRPr lang="en-US" sz="20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Subject to</a:t>
            </a:r>
            <a:r>
              <a:rPr lang="en-US" sz="2000" dirty="0">
                <a:solidFill>
                  <a:schemeClr val="tx1"/>
                </a:solidFill>
              </a:rPr>
              <a:t> confirmation, …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Put your four sentences on the board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394460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YOUR MOVE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37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81328"/>
            <a:ext cx="11091672" cy="615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That is what Mark will photograph — and what will go, word for word, into tonight’s report. Rewrite your group’s four sentences with the right modal.</a:t>
            </a:r>
            <a:endParaRPr lang="en-US" sz="1600" dirty="0"/>
          </a:p>
        </p:txBody>
      </p:sp>
      <p:sp>
        <p:nvSpPr>
          <p:cNvPr id="6" name="exercise"/>
          <p:cNvSpPr txBox="1"/>
          <p:nvPr/>
        </p:nvSpPr>
        <p:spPr>
          <a:xfrm>
            <a:off x="548640" y="2170176"/>
            <a:ext cx="11091672" cy="412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2600" b="1" dirty="0">
                <a:solidFill>
                  <a:schemeClr val="tx2"/>
                </a:solidFill>
              </a:rPr>
              <a:t>1.  </a:t>
            </a:r>
            <a:r>
              <a:rPr lang="en-US" sz="2600" b="1" dirty="0">
                <a:solidFill>
                  <a:schemeClr val="tx1"/>
                </a:solidFill>
              </a:rPr>
              <a:t>Ruled out</a:t>
            </a:r>
            <a:r>
              <a:rPr lang="en-US" sz="2600" dirty="0">
                <a:solidFill>
                  <a:schemeClr val="tx1"/>
                </a:solidFill>
              </a:rPr>
              <a:t> — start here: it is the only one where you have proof (</a:t>
            </a:r>
            <a:r>
              <a:rPr lang="en-US" sz="2600" i="1" dirty="0">
                <a:solidFill>
                  <a:schemeClr val="tx1"/>
                </a:solidFill>
              </a:rPr>
              <a:t>can’t</a:t>
            </a:r>
            <a:r>
              <a:rPr lang="en-US" sz="2600" dirty="0">
                <a:solidFill>
                  <a:schemeClr val="tx1"/>
                </a:solidFill>
              </a:rPr>
              <a:t>).</a:t>
            </a:r>
            <a:endParaRPr lang="en-US" sz="2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600" b="1" dirty="0">
                <a:solidFill>
                  <a:schemeClr val="tx2"/>
                </a:solidFill>
              </a:rPr>
              <a:t>2.  </a:t>
            </a:r>
            <a:r>
              <a:rPr lang="en-US" sz="2600" b="1" dirty="0">
                <a:solidFill>
                  <a:schemeClr val="tx1"/>
                </a:solidFill>
              </a:rPr>
              <a:t>Hypothesis 1</a:t>
            </a:r>
            <a:r>
              <a:rPr lang="en-US" sz="2600" dirty="0">
                <a:solidFill>
                  <a:schemeClr val="tx1"/>
                </a:solidFill>
              </a:rPr>
              <a:t> (</a:t>
            </a:r>
            <a:r>
              <a:rPr lang="en-US" sz="2600" i="1" dirty="0">
                <a:solidFill>
                  <a:schemeClr val="tx1"/>
                </a:solidFill>
              </a:rPr>
              <a:t>may / might</a:t>
            </a:r>
            <a:r>
              <a:rPr lang="en-US" sz="2600" dirty="0">
                <a:solidFill>
                  <a:schemeClr val="tx1"/>
                </a:solidFill>
              </a:rPr>
              <a:t>)</a:t>
            </a:r>
            <a:endParaRPr lang="en-US" sz="2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600" b="1" dirty="0">
                <a:solidFill>
                  <a:schemeClr val="tx2"/>
                </a:solidFill>
              </a:rPr>
              <a:t>3.  </a:t>
            </a:r>
            <a:r>
              <a:rPr lang="en-US" sz="2600" b="1" dirty="0">
                <a:solidFill>
                  <a:schemeClr val="tx1"/>
                </a:solidFill>
              </a:rPr>
              <a:t>Hypothesis 2</a:t>
            </a:r>
            <a:r>
              <a:rPr lang="en-US" sz="2600" dirty="0">
                <a:solidFill>
                  <a:schemeClr val="tx1"/>
                </a:solidFill>
              </a:rPr>
              <a:t> (</a:t>
            </a:r>
            <a:r>
              <a:rPr lang="en-US" sz="2600" i="1" dirty="0">
                <a:solidFill>
                  <a:schemeClr val="tx1"/>
                </a:solidFill>
              </a:rPr>
              <a:t>may / might</a:t>
            </a:r>
            <a:r>
              <a:rPr lang="en-US" sz="2600" dirty="0">
                <a:solidFill>
                  <a:schemeClr val="tx1"/>
                </a:solidFill>
              </a:rPr>
              <a:t>)</a:t>
            </a:r>
            <a:endParaRPr lang="en-US" sz="2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600" b="1" dirty="0">
                <a:solidFill>
                  <a:schemeClr val="tx2"/>
                </a:solidFill>
              </a:rPr>
              <a:t>4.  </a:t>
            </a:r>
            <a:r>
              <a:rPr lang="en-US" sz="2600" b="1" dirty="0">
                <a:solidFill>
                  <a:schemeClr val="tx1"/>
                </a:solidFill>
              </a:rPr>
              <a:t>Recommendation</a:t>
            </a:r>
            <a:r>
              <a:rPr lang="en-US" sz="2600" dirty="0">
                <a:solidFill>
                  <a:schemeClr val="tx1"/>
                </a:solidFill>
              </a:rPr>
              <a:t> (</a:t>
            </a:r>
            <a:r>
              <a:rPr lang="en-US" sz="2600" i="1" dirty="0">
                <a:solidFill>
                  <a:schemeClr val="tx1"/>
                </a:solidFill>
              </a:rPr>
              <a:t>should / had better</a:t>
            </a:r>
            <a:r>
              <a:rPr lang="en-US" sz="2600" dirty="0">
                <a:solidFill>
                  <a:schemeClr val="tx1"/>
                </a:solidFill>
              </a:rPr>
              <a:t>)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Put your four sentences on the board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394460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YOUR MOVE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2052828" y="237744"/>
            <a:ext cx="1874520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✓ CORRECTION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37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481328"/>
            <a:ext cx="11091672" cy="615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That is what Mark will photograph — and what will go, word for word, into tonight’s report. Rewrite your group’s four sentences with the right modal.</a:t>
            </a:r>
            <a:endParaRPr lang="en-US" sz="1600" dirty="0"/>
          </a:p>
        </p:txBody>
      </p:sp>
      <p:sp>
        <p:nvSpPr>
          <p:cNvPr id="8" name="exercise"/>
          <p:cNvSpPr txBox="1"/>
          <p:nvPr/>
        </p:nvSpPr>
        <p:spPr>
          <a:xfrm>
            <a:off x="548640" y="2170176"/>
            <a:ext cx="11091672" cy="412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900" b="1" dirty="0">
                <a:solidFill>
                  <a:schemeClr val="tx2"/>
                </a:solidFill>
              </a:rPr>
              <a:t>1.  </a:t>
            </a:r>
            <a:r>
              <a:rPr lang="en-US" sz="1900" b="1" dirty="0">
                <a:solidFill>
                  <a:schemeClr val="tx1"/>
                </a:solidFill>
              </a:rPr>
              <a:t>Ruled out</a:t>
            </a:r>
            <a:r>
              <a:rPr lang="en-US" sz="1900" dirty="0">
                <a:solidFill>
                  <a:schemeClr val="tx1"/>
                </a:solidFill>
              </a:rPr>
              <a:t> — start here: it is the only one where you have proof (</a:t>
            </a:r>
            <a:r>
              <a:rPr lang="en-US" sz="1900" i="1" dirty="0">
                <a:solidFill>
                  <a:schemeClr val="tx1"/>
                </a:solidFill>
              </a:rPr>
              <a:t>can’t</a:t>
            </a:r>
            <a:r>
              <a:rPr lang="en-US" sz="1900" dirty="0">
                <a:solidFill>
                  <a:schemeClr val="tx1"/>
                </a:solidFill>
              </a:rPr>
              <a:t>).</a:t>
            </a:r>
            <a:endParaRPr lang="en-US" sz="19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900" b="1" dirty="0">
                <a:solidFill>
                  <a:schemeClr val="accent3"/>
                </a:solidFill>
              </a:rPr>
              <a:t>→ </a:t>
            </a:r>
            <a:r>
              <a:rPr lang="en-US" sz="1900" i="1" dirty="0">
                <a:solidFill>
                  <a:schemeClr val="accent3"/>
                </a:solidFill>
              </a:rPr>
              <a:t>The leak can’t have started during the cabling works: the room was dry when the team left at 19.58.</a:t>
            </a:r>
            <a:endParaRPr lang="en-US" sz="1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900" b="1" dirty="0">
                <a:solidFill>
                  <a:schemeClr val="tx2"/>
                </a:solidFill>
              </a:rPr>
              <a:t>2.  </a:t>
            </a:r>
            <a:r>
              <a:rPr lang="en-US" sz="1900" b="1" dirty="0">
                <a:solidFill>
                  <a:schemeClr val="tx1"/>
                </a:solidFill>
              </a:rPr>
              <a:t>Hypothesis 1</a:t>
            </a:r>
            <a:r>
              <a:rPr lang="en-US" sz="1900" dirty="0">
                <a:solidFill>
                  <a:schemeClr val="tx1"/>
                </a:solidFill>
              </a:rPr>
              <a:t> (</a:t>
            </a:r>
            <a:r>
              <a:rPr lang="en-US" sz="1900" i="1" dirty="0">
                <a:solidFill>
                  <a:schemeClr val="tx1"/>
                </a:solidFill>
              </a:rPr>
              <a:t>may / might</a:t>
            </a:r>
            <a:r>
              <a:rPr lang="en-US" sz="1900" dirty="0">
                <a:solidFill>
                  <a:schemeClr val="tx1"/>
                </a:solidFill>
              </a:rPr>
              <a:t>)</a:t>
            </a:r>
            <a:endParaRPr lang="en-US" sz="19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900" b="1" dirty="0">
                <a:solidFill>
                  <a:schemeClr val="accent3"/>
                </a:solidFill>
              </a:rPr>
              <a:t>→ </a:t>
            </a:r>
            <a:r>
              <a:rPr lang="en-US" sz="1900" i="1" dirty="0">
                <a:solidFill>
                  <a:schemeClr val="accent3"/>
                </a:solidFill>
              </a:rPr>
              <a:t>The water might have come from the same section of pipework as last November.</a:t>
            </a:r>
            <a:endParaRPr lang="en-US" sz="1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900" b="1" dirty="0">
                <a:solidFill>
                  <a:schemeClr val="tx2"/>
                </a:solidFill>
              </a:rPr>
              <a:t>3.  </a:t>
            </a:r>
            <a:r>
              <a:rPr lang="en-US" sz="1900" b="1" dirty="0">
                <a:solidFill>
                  <a:schemeClr val="tx1"/>
                </a:solidFill>
              </a:rPr>
              <a:t>Hypothesis 2</a:t>
            </a:r>
            <a:r>
              <a:rPr lang="en-US" sz="1900" dirty="0">
                <a:solidFill>
                  <a:schemeClr val="tx1"/>
                </a:solidFill>
              </a:rPr>
              <a:t> (</a:t>
            </a:r>
            <a:r>
              <a:rPr lang="en-US" sz="1900" i="1" dirty="0">
                <a:solidFill>
                  <a:schemeClr val="tx1"/>
                </a:solidFill>
              </a:rPr>
              <a:t>may / might</a:t>
            </a:r>
            <a:r>
              <a:rPr lang="en-US" sz="1900" dirty="0">
                <a:solidFill>
                  <a:schemeClr val="tx1"/>
                </a:solidFill>
              </a:rPr>
              <a:t>)</a:t>
            </a:r>
            <a:endParaRPr lang="en-US" sz="19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900" b="1" dirty="0">
                <a:solidFill>
                  <a:schemeClr val="accent3"/>
                </a:solidFill>
              </a:rPr>
              <a:t>→ </a:t>
            </a:r>
            <a:r>
              <a:rPr lang="en-US" sz="1900" i="1" dirty="0">
                <a:solidFill>
                  <a:schemeClr val="accent3"/>
                </a:solidFill>
              </a:rPr>
              <a:t>The leak may have started above the ceiling, since the humidity alarm followed the temperature alarm by three minutes.</a:t>
            </a:r>
            <a:endParaRPr lang="en-US" sz="1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900" b="1" dirty="0">
                <a:solidFill>
                  <a:schemeClr val="tx2"/>
                </a:solidFill>
              </a:rPr>
              <a:t>4.  </a:t>
            </a:r>
            <a:r>
              <a:rPr lang="en-US" sz="1900" b="1" dirty="0">
                <a:solidFill>
                  <a:schemeClr val="tx1"/>
                </a:solidFill>
              </a:rPr>
              <a:t>Recommendation</a:t>
            </a:r>
            <a:r>
              <a:rPr lang="en-US" sz="1900" dirty="0">
                <a:solidFill>
                  <a:schemeClr val="tx1"/>
                </a:solidFill>
              </a:rPr>
              <a:t> (</a:t>
            </a:r>
            <a:r>
              <a:rPr lang="en-US" sz="1900" i="1" dirty="0">
                <a:solidFill>
                  <a:schemeClr val="tx1"/>
                </a:solidFill>
              </a:rPr>
              <a:t>should / had better</a:t>
            </a:r>
            <a:r>
              <a:rPr lang="en-US" sz="1900" dirty="0">
                <a:solidFill>
                  <a:schemeClr val="tx1"/>
                </a:solidFill>
              </a:rPr>
              <a:t>)</a:t>
            </a:r>
            <a:endParaRPr lang="en-US" sz="19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900" b="1" dirty="0">
                <a:solidFill>
                  <a:schemeClr val="accent3"/>
                </a:solidFill>
              </a:rPr>
              <a:t>→ </a:t>
            </a:r>
            <a:r>
              <a:rPr lang="en-US" sz="1900" i="1" dirty="0">
                <a:solidFill>
                  <a:schemeClr val="accent3"/>
                </a:solidFill>
              </a:rPr>
              <a:t>We should inspect the whole run, including the basement, before the handover.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Gallery walk: check another group’s board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508760" cy="310896"/>
          </a:xfrm>
          <a:prstGeom prst="roundRect">
            <a:avLst>
              <a:gd name="adj" fmla="val 14706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SELF-CHECK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37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81328"/>
            <a:ext cx="11091672" cy="31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chemeClr val="accent5"/>
                </a:solidFill>
              </a:rPr>
              <a:t>Read two other boards. Tick, then leave one sticky note: </a:t>
            </a:r>
            <a:r>
              <a:rPr lang="en-US" sz="1700" i="1" dirty="0">
                <a:solidFill>
                  <a:schemeClr val="accent5"/>
                </a:solidFill>
              </a:rPr>
              <a:t>one thing that works, one thing to fix</a:t>
            </a:r>
            <a:r>
              <a:rPr lang="en-US" sz="1700" i="1" dirty="0">
                <a:solidFill>
                  <a:schemeClr val="accent5"/>
                </a:solidFill>
              </a:rPr>
              <a:t>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1941576"/>
            <a:ext cx="11091672" cy="704088"/>
          </a:xfrm>
          <a:prstGeom prst="roundRect">
            <a:avLst>
              <a:gd name="adj" fmla="val 7792"/>
            </a:avLst>
          </a:prstGeom>
          <a:solidFill>
            <a:schemeClr val="bg2"/>
          </a:solidFill>
          <a:ln w="6350">
            <a:solidFill>
              <a:srgbClr val="D5DCE6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138172"/>
            <a:ext cx="310896" cy="310896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207008" y="1941576"/>
            <a:ext cx="1031443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Each sentence states its </a:t>
            </a:r>
            <a:r>
              <a:rPr lang="en-US" sz="1900" b="1" dirty="0">
                <a:solidFill>
                  <a:schemeClr val="tx1"/>
                </a:solidFill>
              </a:rPr>
              <a:t>degree of certainty</a:t>
            </a:r>
            <a:r>
              <a:rPr lang="en-US" sz="1900" dirty="0">
                <a:solidFill>
                  <a:schemeClr val="tx1"/>
                </a:solidFill>
              </a:rPr>
              <a:t> (can’t · might · may · should).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548640" y="2718816"/>
            <a:ext cx="11091672" cy="704088"/>
          </a:xfrm>
          <a:prstGeom prst="roundRect">
            <a:avLst>
              <a:gd name="adj" fmla="val 7792"/>
            </a:avLst>
          </a:prstGeom>
          <a:solidFill>
            <a:schemeClr val="bg1"/>
          </a:solidFill>
          <a:ln w="6350">
            <a:solidFill>
              <a:srgbClr val="D5DCE6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915412"/>
            <a:ext cx="310896" cy="31089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207008" y="2718816"/>
            <a:ext cx="1031443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The modal is </a:t>
            </a:r>
            <a:r>
              <a:rPr lang="en-US" sz="1900" b="1" dirty="0">
                <a:solidFill>
                  <a:schemeClr val="tx1"/>
                </a:solidFill>
              </a:rPr>
              <a:t>well formed</a:t>
            </a:r>
            <a:r>
              <a:rPr lang="en-US" sz="1900" dirty="0">
                <a:solidFill>
                  <a:schemeClr val="tx1"/>
                </a:solidFill>
              </a:rPr>
              <a:t>: no -s, no to, no do.</a:t>
            </a:r>
            <a:endParaRPr lang="en-US" sz="1900" dirty="0"/>
          </a:p>
        </p:txBody>
      </p:sp>
      <p:sp>
        <p:nvSpPr>
          <p:cNvPr id="12" name="Shape 8"/>
          <p:cNvSpPr/>
          <p:nvPr/>
        </p:nvSpPr>
        <p:spPr>
          <a:xfrm>
            <a:off x="548640" y="3496056"/>
            <a:ext cx="11091672" cy="704088"/>
          </a:xfrm>
          <a:prstGeom prst="roundRect">
            <a:avLst>
              <a:gd name="adj" fmla="val 7792"/>
            </a:avLst>
          </a:prstGeom>
          <a:solidFill>
            <a:schemeClr val="bg2"/>
          </a:solidFill>
          <a:ln w="6350">
            <a:solidFill>
              <a:srgbClr val="D5DCE6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692652"/>
            <a:ext cx="310896" cy="31089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207008" y="3496056"/>
            <a:ext cx="1031443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Each hypothesis is backed by </a:t>
            </a:r>
            <a:r>
              <a:rPr lang="en-US" sz="1900" b="1" dirty="0">
                <a:solidFill>
                  <a:schemeClr val="tx1"/>
                </a:solidFill>
              </a:rPr>
              <a:t>one fact</a:t>
            </a:r>
            <a:r>
              <a:rPr lang="en-US" sz="1900" dirty="0">
                <a:solidFill>
                  <a:schemeClr val="tx1"/>
                </a:solidFill>
              </a:rPr>
              <a:t> from the file.</a:t>
            </a:r>
            <a:endParaRPr lang="en-US" sz="1900" dirty="0"/>
          </a:p>
        </p:txBody>
      </p:sp>
      <p:sp>
        <p:nvSpPr>
          <p:cNvPr id="15" name="Shape 10"/>
          <p:cNvSpPr/>
          <p:nvPr/>
        </p:nvSpPr>
        <p:spPr>
          <a:xfrm>
            <a:off x="548640" y="4273296"/>
            <a:ext cx="11091672" cy="704088"/>
          </a:xfrm>
          <a:prstGeom prst="roundRect">
            <a:avLst>
              <a:gd name="adj" fmla="val 7792"/>
            </a:avLst>
          </a:prstGeom>
          <a:solidFill>
            <a:schemeClr val="bg1"/>
          </a:solidFill>
          <a:ln w="6350">
            <a:solidFill>
              <a:srgbClr val="D5DCE6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469892"/>
            <a:ext cx="310896" cy="310896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207008" y="4273296"/>
            <a:ext cx="1031443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No person</a:t>
            </a:r>
            <a:r>
              <a:rPr lang="en-US" sz="1900" dirty="0">
                <a:solidFill>
                  <a:schemeClr val="tx1"/>
                </a:solidFill>
              </a:rPr>
              <a:t> is named — no name, no badge, no job title.</a:t>
            </a:r>
            <a:endParaRPr lang="en-US" sz="1900" dirty="0"/>
          </a:p>
        </p:txBody>
      </p:sp>
      <p:sp>
        <p:nvSpPr>
          <p:cNvPr id="18" name="Shape 12"/>
          <p:cNvSpPr/>
          <p:nvPr/>
        </p:nvSpPr>
        <p:spPr>
          <a:xfrm>
            <a:off x="548640" y="5050536"/>
            <a:ext cx="11091672" cy="704088"/>
          </a:xfrm>
          <a:prstGeom prst="roundRect">
            <a:avLst>
              <a:gd name="adj" fmla="val 7792"/>
            </a:avLst>
          </a:prstGeom>
          <a:solidFill>
            <a:schemeClr val="bg2"/>
          </a:solidFill>
          <a:ln w="6350">
            <a:solidFill>
              <a:srgbClr val="D5DCE6"/>
            </a:solidFill>
            <a:prstDash val="solid"/>
          </a:ln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5247132"/>
            <a:ext cx="310896" cy="310896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1207008" y="5050536"/>
            <a:ext cx="1031443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The recommendation says </a:t>
            </a:r>
            <a:r>
              <a:rPr lang="en-US" sz="1900" b="1" dirty="0">
                <a:solidFill>
                  <a:schemeClr val="tx1"/>
                </a:solidFill>
              </a:rPr>
              <a:t>what</a:t>
            </a:r>
            <a:r>
              <a:rPr lang="en-US" sz="1900" dirty="0">
                <a:solidFill>
                  <a:schemeClr val="tx1"/>
                </a:solidFill>
              </a:rPr>
              <a:t>, and </a:t>
            </a:r>
            <a:r>
              <a:rPr lang="en-US" sz="1900" b="1" dirty="0">
                <a:solidFill>
                  <a:schemeClr val="tx1"/>
                </a:solidFill>
              </a:rPr>
              <a:t>before when</a:t>
            </a:r>
            <a:r>
              <a:rPr lang="en-US" sz="1900" dirty="0">
                <a:solidFill>
                  <a:schemeClr val="tx1"/>
                </a:solidFill>
              </a:rPr>
              <a:t>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Before you close the file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965960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END OF SESSION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6035040" cy="3108960"/>
          </a:xfrm>
          <a:prstGeom prst="roundRect">
            <a:avLst>
              <a:gd name="adj" fmla="val 2941"/>
            </a:avLst>
          </a:prstGeom>
          <a:solidFill>
            <a:schemeClr val="bg1">
              <a:alpha val="10000"/>
            </a:schemeClr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7373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NEXT IN THE FILE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14884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i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At 15.20, Iris comes back up from the basement with a wet sheet of paper in a plastic sleeve. She does not say anything. </a:t>
            </a:r>
            <a:r>
              <a:rPr lang="en-US" sz="2400" b="1" i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She just puts it on the table.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903720" y="1554480"/>
            <a:ext cx="4736592" cy="4709160"/>
          </a:xfrm>
          <a:prstGeom prst="roundRect">
            <a:avLst>
              <a:gd name="adj" fmla="val 1942"/>
            </a:avLst>
          </a:prstGeom>
          <a:solidFill>
            <a:schemeClr val="bg1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1755648"/>
            <a:ext cx="365760" cy="36576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7635240" y="173736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tx2"/>
                </a:solidFill>
              </a:rPr>
              <a:t>BEFORE NEXT SESSION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7132320" y="2286000"/>
            <a:ext cx="42976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Learn the </a:t>
            </a:r>
            <a:r>
              <a:rPr lang="en-US" sz="1700" b="1" dirty="0">
                <a:solidFill>
                  <a:schemeClr val="tx1"/>
                </a:solidFill>
              </a:rPr>
              <a:t>7 idioms</a:t>
            </a:r>
            <a:r>
              <a:rPr lang="en-US" sz="1700" dirty="0">
                <a:solidFill>
                  <a:schemeClr val="tx1"/>
                </a:solidFill>
              </a:rPr>
              <a:t> (p. 36).</a:t>
            </a:r>
            <a:endParaRPr lang="en-US" sz="17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Learn </a:t>
            </a:r>
            <a:r>
              <a:rPr lang="en-US" sz="1700" b="1" dirty="0">
                <a:solidFill>
                  <a:schemeClr val="tx1"/>
                </a:solidFill>
              </a:rPr>
              <a:t>should · had better · must</a:t>
            </a:r>
            <a:r>
              <a:rPr lang="en-US" sz="1700" dirty="0">
                <a:solidFill>
                  <a:schemeClr val="tx1"/>
                </a:solidFill>
              </a:rPr>
              <a:t> + their negatives.</a:t>
            </a:r>
            <a:endParaRPr lang="en-US" sz="17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Copy your group’s four sentences: you will need them tonight.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548640" y="4892040"/>
            <a:ext cx="6035040" cy="1371600"/>
          </a:xfrm>
          <a:prstGeom prst="roundRect">
            <a:avLst>
              <a:gd name="adj" fmla="val 6667"/>
            </a:avLst>
          </a:prstGeom>
          <a:solidFill>
            <a:schemeClr val="accent1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77240" y="4983480"/>
            <a:ext cx="5623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chemeClr val="bg1"/>
                </a:solidFill>
              </a:rPr>
              <a:t>EXIT TICKET  </a:t>
            </a:r>
            <a:endParaRPr lang="en-US" sz="1300" dirty="0"/>
          </a:p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Rewrite with a modal: </a:t>
            </a:r>
            <a:r>
              <a:rPr lang="en-US" sz="1600" i="1" dirty="0">
                <a:solidFill>
                  <a:schemeClr val="bg1"/>
                </a:solidFill>
              </a:rPr>
              <a:t>The pipe caused the leak.</a:t>
            </a:r>
            <a:r>
              <a:rPr lang="en-US" sz="1600" dirty="0">
                <a:solidFill>
                  <a:schemeClr val="bg1"/>
                </a:solidFill>
              </a:rPr>
              <a:t> (you are 40 % sure)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EEF2F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roject Atlas">
  <a:themeElements>
    <a:clrScheme name="Project Atlas">
      <a:dk1>
        <a:srgbClr val="1B2333"/>
      </a:dk1>
      <a:lt1>
        <a:srgbClr val="FFFFFF"/>
      </a:lt1>
      <a:dk2>
        <a:srgbClr val="1F3864"/>
      </a:dk2>
      <a:lt2>
        <a:srgbClr val="EEF2F8"/>
      </a:lt2>
      <a:accent1>
        <a:srgbClr val="C0752A"/>
      </a:accent1>
      <a:accent2>
        <a:srgbClr val="2E75B6"/>
      </a:accent2>
      <a:accent3>
        <a:srgbClr val="3C7A3C"/>
      </a:accent3>
      <a:accent4>
        <a:srgbClr val="6E4A9E"/>
      </a:accent4>
      <a:accent5>
        <a:srgbClr val="44546A"/>
      </a:accent5>
      <a:accent6>
        <a:srgbClr val="B03A2E"/>
      </a:accent6>
      <a:hlink>
        <a:srgbClr val="2E75B6"/>
      </a:hlink>
      <a:folHlink>
        <a:srgbClr val="6E4A9E"/>
      </a:folHlink>
    </a:clrScheme>
    <a:fontScheme name="Project Atla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English UE 3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Séance 15 — Saying what you think without committing yourself</dc:title>
  <dc:subject>Case File 01 — The night nobody heard</dc:subject>
  <dc:creator>A. Jouniaux</dc:creator>
  <cp:lastModifiedBy>A. Jouniaux</cp:lastModifiedBy>
  <cp:revision>1</cp:revision>
  <dcterms:created xsi:type="dcterms:W3CDTF">2026-10-03T19:30:05Z</dcterms:created>
  <dcterms:modified xsi:type="dcterms:W3CDTF">2026-10-03T19:30:05Z</dcterms:modified>
</cp:coreProperties>
</file>