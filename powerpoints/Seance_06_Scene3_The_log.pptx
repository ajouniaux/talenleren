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22ce407-3244-5182-e157-2973b36f07c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ôture" id="{b2b1ed0f-0d29-5063-27f7-6b08642b775a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Scène 3 : l’Exhibit A (journal de la GTB) contredit ce qui a été dit dans la salle. Compétences : lire des données, comparer deux sources, nommer sans accuser.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Bulles de l’image : « Do not write that badge number anywhere. » / « The log does not say what you think it says. » Faire émettre des hypothèses avant de projeter l’Exhibit.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à voix haute de chaque ligne (heures en deux façons). Laisser 2 minutes de lecture silencieuse avec les trois questions de droite.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Demander un vote à main levée avant la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Demander un vote à main levée avant la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 : accepter aussi 23:42 → 06:47 (7 h 05), si l’élève part de la notification. Q5 : insister sur la limite de la preuve.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Prépare la scène 9 (« the fact stays, the number goes »). Le livret fait dire à Mark à la fin de la scène 3 : « Do not write that badge number anywhere. Not yet.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ajoutée : elle prépare directement « Sort the witnesses » (p. 16, séance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ajoutée : elle prépare directement « Sort the witnesses » (p. 16, séance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06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06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06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3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What the log really says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A printed sheet, eight lines, and one contradiction.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11–12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2120"/>
            <a:ext cx="5120640" cy="34137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11–12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reading of </a:t>
            </a:r>
            <a:r>
              <a:rPr lang="en-US" sz="1800" b="1" dirty="0">
                <a:solidFill>
                  <a:schemeClr val="tx1"/>
                </a:solidFill>
              </a:rPr>
              <a:t>the log against the room</a:t>
            </a:r>
            <a:r>
              <a:rPr lang="en-US" sz="1800" dirty="0">
                <a:solidFill>
                  <a:schemeClr val="tx1"/>
                </a:solidFill>
              </a:rPr>
              <a:t> — six answers the insurer cannot contest.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Reading 24-hour times aloud · durations (</a:t>
            </a:r>
            <a:r>
              <a:rPr lang="en-US" sz="1400" i="1" dirty="0">
                <a:solidFill>
                  <a:schemeClr val="tx1"/>
                </a:solidFill>
              </a:rPr>
              <a:t>from… to, between… and, for</a:t>
            </a:r>
            <a:r>
              <a:rPr lang="en-US" sz="1400" dirty="0">
                <a:solidFill>
                  <a:schemeClr val="tx1"/>
                </a:solidFill>
              </a:rPr>
              <a:t>) · comparing sources (</a:t>
            </a:r>
            <a:r>
              <a:rPr lang="en-US" sz="1400" i="1" dirty="0">
                <a:solidFill>
                  <a:schemeClr val="tx1"/>
                </a:solidFill>
              </a:rPr>
              <a:t>matches, contradicts, one minute later</a:t>
            </a:r>
            <a:r>
              <a:rPr lang="en-US" sz="1400" dirty="0">
                <a:solidFill>
                  <a:schemeClr val="tx1"/>
                </a:solidFill>
              </a:rPr>
              <a:t>) · reporting verbs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Reading data critically · cross-checking two sources · naming nobody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spelling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Scene 3 + Exhibit A (p. 11)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Reading a log aloud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Your move Q1–Q3 (p. 12)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Your move Q4–Q6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room vs the log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Reporting verbs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-ing and past forms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5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run →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stop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notice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</p:txBody>
      </p:sp>
      <p:sp>
        <p:nvSpPr>
          <p:cNvPr id="6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carry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leave → </a:t>
            </a:r>
            <a:r>
              <a:rPr lang="en-US" sz="2400" dirty="0">
                <a:solidFill>
                  <a:schemeClr val="accent5"/>
                </a:solidFill>
              </a:rPr>
              <a:t>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lie (mentir) →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-ing and past forms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5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run → </a:t>
            </a:r>
            <a:r>
              <a:rPr lang="en-US" sz="2400" b="1" dirty="0">
                <a:solidFill>
                  <a:schemeClr val="accent3"/>
                </a:solidFill>
              </a:rPr>
              <a:t>running / ran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stop → </a:t>
            </a:r>
            <a:r>
              <a:rPr lang="en-US" sz="2400" b="1" dirty="0">
                <a:solidFill>
                  <a:schemeClr val="accent3"/>
                </a:solidFill>
              </a:rPr>
              <a:t>stopping / stopped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notice → </a:t>
            </a:r>
            <a:r>
              <a:rPr lang="en-US" sz="2400" b="1" dirty="0">
                <a:solidFill>
                  <a:schemeClr val="accent3"/>
                </a:solidFill>
              </a:rPr>
              <a:t>noticing / noticed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carry → </a:t>
            </a:r>
            <a:r>
              <a:rPr lang="en-US" sz="2400" b="1" dirty="0">
                <a:solidFill>
                  <a:schemeClr val="accent3"/>
                </a:solidFill>
              </a:rPr>
              <a:t>carrying / carried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leave → </a:t>
            </a:r>
            <a:r>
              <a:rPr lang="en-US" sz="2400" b="1" dirty="0">
                <a:solidFill>
                  <a:schemeClr val="accent3"/>
                </a:solidFill>
              </a:rPr>
              <a:t>leaving / left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lie (mentir) → </a:t>
            </a:r>
            <a:r>
              <a:rPr lang="en-US" sz="2400" b="1" dirty="0">
                <a:solidFill>
                  <a:schemeClr val="accent3"/>
                </a:solidFill>
              </a:rPr>
              <a:t>lying / lied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the log really says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pic>
        <p:nvPicPr>
          <p:cNvPr id="6" name="illustration" descr="Samuel taps a line of the printed alarm log on the table while Mark and Iris look 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40233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995160" y="15087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95160" y="15544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3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995160" y="2560320"/>
            <a:ext cx="4645152" cy="238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Samuel puts a printout on the table. It is the </a:t>
            </a:r>
            <a:r>
              <a:rPr lang="en-US" sz="2000" b="1" dirty="0">
                <a:solidFill>
                  <a:schemeClr val="tx1"/>
                </a:solidFill>
              </a:rPr>
              <a:t>building management system log</a:t>
            </a:r>
            <a:r>
              <a:rPr lang="en-US" sz="2000" dirty="0">
                <a:solidFill>
                  <a:schemeClr val="tx1"/>
                </a:solidFill>
              </a:rPr>
              <a:t> for the night.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Eight lines.</a:t>
            </a:r>
            <a:r>
              <a:rPr lang="en-US" sz="2000" dirty="0">
                <a:solidFill>
                  <a:schemeClr val="tx1"/>
                </a:solidFill>
              </a:rPr>
              <a:t> He taps the fourth one with his finger and says nothing.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995160" y="5123688"/>
            <a:ext cx="4645152" cy="1167384"/>
          </a:xfrm>
          <a:prstGeom prst="roundRect">
            <a:avLst>
              <a:gd name="adj" fmla="val 6266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178040" y="521512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5507736"/>
            <a:ext cx="4279392" cy="71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Why would someone say nothing — and just tap a line?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Exhibit A — the night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406640" cy="4809744"/>
          </a:xfrm>
          <a:prstGeom prst="rect">
            <a:avLst/>
          </a:prstGeom>
          <a:solidFill>
            <a:schemeClr val="bg1"/>
          </a:solidFill>
          <a:ln w="12700">
            <a:solidFill>
              <a:srgbClr val="44546A"/>
            </a:solidFill>
            <a:prstDash val="dash"/>
          </a:ln>
        </p:spPr>
      </p:sp>
      <p:sp>
        <p:nvSpPr>
          <p:cNvPr id="7" name="tag"/>
          <p:cNvSpPr/>
          <p:nvPr/>
        </p:nvSpPr>
        <p:spPr>
          <a:xfrm>
            <a:off x="777240" y="1645920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400300" y="1609344"/>
            <a:ext cx="5463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Building management — night log, Monday to Tuesday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48840"/>
            <a:ext cx="69494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19:58   </a:t>
            </a:r>
            <a:r>
              <a:rPr lang="en-US" sz="2000" dirty="0">
                <a:solidFill>
                  <a:schemeClr val="tx1"/>
                </a:solidFill>
              </a:rPr>
              <a:t>Zone 2F — cabling works — access badge 0447 — exit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20:04   </a:t>
            </a:r>
            <a:r>
              <a:rPr lang="en-US" sz="2000" dirty="0">
                <a:solidFill>
                  <a:schemeClr val="tx1"/>
                </a:solidFill>
              </a:rPr>
              <a:t>Zone 2F — access badge 0102 — entry — site manager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20:19   </a:t>
            </a:r>
            <a:r>
              <a:rPr lang="en-US" sz="2000" dirty="0">
                <a:solidFill>
                  <a:schemeClr val="tx1"/>
                </a:solidFill>
              </a:rPr>
              <a:t>Zone 2F — access badge 0102 — exit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23:41   </a:t>
            </a:r>
            <a:r>
              <a:rPr lang="en-US" sz="2000" dirty="0">
                <a:solidFill>
                  <a:schemeClr val="tx1"/>
                </a:solidFill>
              </a:rPr>
              <a:t>Zone 2F technical room — TEMPERATURE ALARM — threshold 28 °C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23:42   </a:t>
            </a:r>
            <a:r>
              <a:rPr lang="en-US" sz="2000" dirty="0">
                <a:solidFill>
                  <a:schemeClr val="tx1"/>
                </a:solidFill>
              </a:rPr>
              <a:t>Alarm notification sent — mobile 0470 22 14 09 — status: </a:t>
            </a:r>
            <a:r>
              <a:rPr lang="en-US" sz="2000" b="1" dirty="0">
                <a:solidFill>
                  <a:schemeClr val="tx1"/>
                </a:solidFill>
              </a:rPr>
              <a:t>delivered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23:44   </a:t>
            </a:r>
            <a:r>
              <a:rPr lang="en-US" sz="2000" dirty="0">
                <a:solidFill>
                  <a:schemeClr val="tx1"/>
                </a:solidFill>
              </a:rPr>
              <a:t>Zone 2F technical room — HUMIDITY ALARM — threshold 85 %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02:16   </a:t>
            </a:r>
            <a:r>
              <a:rPr lang="en-US" sz="2000" dirty="0">
                <a:solidFill>
                  <a:schemeClr val="tx1"/>
                </a:solidFill>
              </a:rPr>
              <a:t>Server rack A2 — unit 3 — automatic shutdown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06:47   </a:t>
            </a:r>
            <a:r>
              <a:rPr lang="en-US" sz="2000" dirty="0">
                <a:solidFill>
                  <a:schemeClr val="tx1"/>
                </a:solidFill>
              </a:rPr>
              <a:t>Zone GF — access badge 0771 — entry — cleaning team</a:t>
            </a:r>
            <a:endParaRPr lang="en-US" sz="2000" dirty="0"/>
          </a:p>
        </p:txBody>
      </p:sp>
      <p:sp>
        <p:nvSpPr>
          <p:cNvPr id="10" name="aside"/>
          <p:cNvSpPr/>
          <p:nvPr/>
        </p:nvSpPr>
        <p:spPr>
          <a:xfrm>
            <a:off x="8275320" y="1481328"/>
            <a:ext cx="3364992" cy="4809744"/>
          </a:xfrm>
          <a:prstGeom prst="roundRect">
            <a:avLst>
              <a:gd name="adj" fmla="val 217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66420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42248" y="1636776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1"/>
                </a:solidFill>
              </a:rPr>
              <a:t>READ IT LIKE AN ASSESSOR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39912" y="2075688"/>
            <a:ext cx="30358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Which line is </a:t>
            </a:r>
            <a:r>
              <a:rPr lang="en-US" sz="1800" b="1" dirty="0">
                <a:solidFill>
                  <a:schemeClr val="tx1"/>
                </a:solidFill>
              </a:rPr>
              <a:t>one minute</a:t>
            </a:r>
            <a:r>
              <a:rPr lang="en-US" sz="1800" dirty="0">
                <a:solidFill>
                  <a:schemeClr val="tx1"/>
                </a:solidFill>
              </a:rPr>
              <a:t> off what Samuel said?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Which line shows </a:t>
            </a:r>
            <a:r>
              <a:rPr lang="en-US" sz="1800" b="1" dirty="0">
                <a:solidFill>
                  <a:schemeClr val="tx1"/>
                </a:solidFill>
              </a:rPr>
              <a:t>somebody</a:t>
            </a:r>
            <a:r>
              <a:rPr lang="en-US" sz="1800" dirty="0">
                <a:solidFill>
                  <a:schemeClr val="tx1"/>
                </a:solidFill>
              </a:rPr>
              <a:t> in 2F after the works?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Which line shows somebody </a:t>
            </a:r>
            <a:r>
              <a:rPr lang="en-US" sz="1800" b="1" dirty="0">
                <a:solidFill>
                  <a:schemeClr val="tx1"/>
                </a:solidFill>
              </a:rPr>
              <a:t>could</a:t>
            </a:r>
            <a:r>
              <a:rPr lang="en-US" sz="1800" dirty="0">
                <a:solidFill>
                  <a:schemeClr val="tx1"/>
                </a:solidFill>
              </a:rPr>
              <a:t> have known?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words of a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VOCABULARY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  <a:gridCol w="5513832"/>
              </a:tblGrid>
              <a:tr h="5532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ENGLISH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EXHIBIT A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 threshold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 seuil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TEMPERATURE ALARM —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threshold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28 °C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an access badge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 badge d’accès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access badge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0447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an entry · an exit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une entrée · une sortie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badge 0102 —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entry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… —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exit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 notification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une alerte, une notification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Alarm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notification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sent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delivered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remis (au destinataire)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status: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delivered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humidity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l’humidité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HUMIDITY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ALARM — threshold 85 %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an automatic shutdown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 arrêt automatique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unit 3 —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automatic shutdown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GF · 2F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rez-de-chaussée · 2e étage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Zone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GF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— cleaning team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Reading a log aloud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11–12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READ THE TIME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23:41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27376"/>
            <a:ext cx="3148584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i="1" dirty="0">
                <a:solidFill>
                  <a:schemeClr val="tx1"/>
                </a:solidFill>
              </a:rPr>
              <a:t>twenty-three forty-one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or </a:t>
            </a:r>
            <a:r>
              <a:rPr lang="en-US" sz="2000" i="1" dirty="0">
                <a:solidFill>
                  <a:schemeClr val="tx1"/>
                </a:solidFill>
              </a:rPr>
              <a:t>eleven forty-one p.m.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20:04 → </a:t>
            </a:r>
            <a:r>
              <a:rPr lang="en-US" sz="2000" i="1" dirty="0">
                <a:solidFill>
                  <a:schemeClr val="tx1"/>
                </a:solidFill>
              </a:rPr>
              <a:t>twenty oh four</a:t>
            </a:r>
            <a:r>
              <a:rPr lang="en-US" sz="2000" dirty="0">
                <a:solidFill>
                  <a:schemeClr val="tx1"/>
                </a:solidFill>
              </a:rPr>
              <a:t> · 02:16 → </a:t>
            </a:r>
            <a:r>
              <a:rPr lang="en-US" sz="2000" i="1" dirty="0">
                <a:solidFill>
                  <a:schemeClr val="tx1"/>
                </a:solidFill>
              </a:rPr>
              <a:t>two sixteen a.m.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37304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GIVE A DURATION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0184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20:04 to 20:19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520184" y="2627376"/>
            <a:ext cx="3148584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= </a:t>
            </a:r>
            <a:r>
              <a:rPr lang="en-US" sz="2000" b="1" dirty="0">
                <a:solidFill>
                  <a:schemeClr val="tx1"/>
                </a:solidFill>
              </a:rPr>
              <a:t>fifteen minutes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between</a:t>
            </a:r>
            <a:r>
              <a:rPr lang="en-US" sz="2000" dirty="0">
                <a:solidFill>
                  <a:schemeClr val="tx1"/>
                </a:solidFill>
              </a:rPr>
              <a:t> 23:41 </a:t>
            </a:r>
            <a:r>
              <a:rPr lang="en-US" sz="2000" b="1" dirty="0">
                <a:solidFill>
                  <a:schemeClr val="tx1"/>
                </a:solidFill>
              </a:rPr>
              <a:t>and</a:t>
            </a:r>
            <a:r>
              <a:rPr lang="en-US" sz="2000" dirty="0">
                <a:solidFill>
                  <a:schemeClr val="tx1"/>
                </a:solidFill>
              </a:rPr>
              <a:t> 06:47 = </a:t>
            </a:r>
            <a:r>
              <a:rPr lang="en-US" sz="2000" b="1" dirty="0">
                <a:solidFill>
                  <a:schemeClr val="tx1"/>
                </a:solidFill>
              </a:rPr>
              <a:t>seven hours and six minutes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water ran </a:t>
            </a:r>
            <a:r>
              <a:rPr lang="en-US" sz="2000" b="1" dirty="0">
                <a:solidFill>
                  <a:schemeClr val="tx1"/>
                </a:solidFill>
              </a:rPr>
              <a:t>for about seven hours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125968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COMPARE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8848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minute later than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308848" y="2627376"/>
            <a:ext cx="3148584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23:41 is </a:t>
            </a:r>
            <a:r>
              <a:rPr lang="en-US" sz="2000" b="1" dirty="0">
                <a:solidFill>
                  <a:schemeClr val="tx1"/>
                </a:solidFill>
              </a:rPr>
              <a:t>one minute later than</a:t>
            </a:r>
            <a:r>
              <a:rPr lang="en-US" sz="2000" dirty="0">
                <a:solidFill>
                  <a:schemeClr val="tx1"/>
                </a:solidFill>
              </a:rPr>
              <a:t> Samuel said.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humidity alarm came </a:t>
            </a:r>
            <a:r>
              <a:rPr lang="en-US" sz="2000" b="1" dirty="0">
                <a:solidFill>
                  <a:schemeClr val="tx1"/>
                </a:solidFill>
              </a:rPr>
              <a:t>three minutes after</a:t>
            </a:r>
            <a:r>
              <a:rPr lang="en-US" sz="2000" dirty="0">
                <a:solidFill>
                  <a:schemeClr val="tx1"/>
                </a:solidFill>
              </a:rPr>
              <a:t> the temperature alarm.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log </a:t>
            </a:r>
            <a:r>
              <a:rPr lang="en-US" sz="2000" b="1" dirty="0">
                <a:solidFill>
                  <a:schemeClr val="tx1"/>
                </a:solidFill>
              </a:rPr>
              <a:t>matches / contradicts / confirms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pendant sept heures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b="1" dirty="0">
                <a:solidFill>
                  <a:schemeClr val="tx1"/>
                </a:solidFill>
              </a:rPr>
              <a:t>for</a:t>
            </a:r>
            <a:r>
              <a:rPr lang="en-US" sz="1700" dirty="0">
                <a:solidFill>
                  <a:schemeClr val="tx1"/>
                </a:solidFill>
              </a:rPr>
              <a:t> seven hours (✗ </a:t>
            </a:r>
            <a:r>
              <a:rPr lang="en-US" sz="1700" i="1" dirty="0">
                <a:solidFill>
                  <a:schemeClr val="tx1"/>
                </a:solidFill>
              </a:rPr>
              <a:t>during seven hours</a:t>
            </a:r>
            <a:r>
              <a:rPr lang="en-US" sz="1700" dirty="0">
                <a:solidFill>
                  <a:schemeClr val="tx1"/>
                </a:solidFill>
              </a:rPr>
              <a:t>) · </a:t>
            </a:r>
            <a:r>
              <a:rPr lang="en-US" sz="1700" b="1" dirty="0">
                <a:solidFill>
                  <a:schemeClr val="tx1"/>
                </a:solidFill>
              </a:rPr>
              <a:t>during</a:t>
            </a:r>
            <a:r>
              <a:rPr lang="en-US" sz="1700" dirty="0">
                <a:solidFill>
                  <a:schemeClr val="tx1"/>
                </a:solidFill>
              </a:rPr>
              <a:t> + a noun: </a:t>
            </a:r>
            <a:r>
              <a:rPr lang="en-US" sz="1700" i="1" dirty="0">
                <a:solidFill>
                  <a:schemeClr val="tx1"/>
                </a:solidFill>
              </a:rPr>
              <a:t>during the night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Samuel said the alarm went off at 11.40 p.m. </a:t>
            </a:r>
            <a:r>
              <a:rPr lang="en-US" sz="2200" b="1" dirty="0">
                <a:solidFill>
                  <a:schemeClr val="tx1"/>
                </a:solidFill>
              </a:rPr>
              <a:t>What does the log actually show?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same time, to the minute — Samuel read it from the log.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45352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114032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23:41 — one minute later than he remembered, so his figure came from memory.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152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23:44 — he confused the temperature alarm with the humidity alarm.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245352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28232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28232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114032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log gives no time for the alarm, only for the notification.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Samuel said the alarm went off at 11.40 p.m. </a:t>
            </a:r>
            <a:r>
              <a:rPr lang="en-US" sz="2200" b="1" dirty="0">
                <a:solidFill>
                  <a:schemeClr val="tx1"/>
                </a:solidFill>
              </a:rPr>
              <a:t>What does the log actually show?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same time, to the minute — Samuel read it from the log.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245352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28232" y="2756916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28232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14032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23:41 — one minute later than he remembered, so his figure came from memory.</a:t>
            </a:r>
            <a:endParaRPr lang="en-US" sz="18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3112" y="2624328"/>
            <a:ext cx="292608" cy="29260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31520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23:44 — he confused the temperature alarm with the humidity alarm.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245352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28232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28232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114032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log gives no time for the alarm, only for the notification.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4864608"/>
            <a:ext cx="11091672" cy="1426464"/>
          </a:xfrm>
          <a:prstGeom prst="roundRect">
            <a:avLst>
              <a:gd name="adj" fmla="val 5128"/>
            </a:avLst>
          </a:prstGeom>
          <a:solidFill>
            <a:schemeClr val="accent3">
              <a:alpha val="8000"/>
            </a:scheme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Why?  </a:t>
            </a:r>
            <a:r>
              <a:rPr lang="en-US" sz="1800" dirty="0">
                <a:solidFill>
                  <a:schemeClr val="tx1"/>
                </a:solidFill>
              </a:rPr>
              <a:t>Samuel said </a:t>
            </a:r>
            <a:r>
              <a:rPr lang="en-US" sz="1800" b="1" dirty="0">
                <a:solidFill>
                  <a:schemeClr val="tx1"/>
                </a:solidFill>
              </a:rPr>
              <a:t>11.40 p.m.</a:t>
            </a:r>
            <a:r>
              <a:rPr lang="en-US" sz="1800" dirty="0">
                <a:solidFill>
                  <a:schemeClr val="tx1"/>
                </a:solidFill>
              </a:rPr>
              <a:t>; the log says </a:t>
            </a:r>
            <a:r>
              <a:rPr lang="en-US" sz="1800" b="1" dirty="0">
                <a:solidFill>
                  <a:schemeClr val="tx1"/>
                </a:solidFill>
              </a:rPr>
              <a:t>23:41</a:t>
            </a:r>
            <a:r>
              <a:rPr lang="en-US" sz="1800" dirty="0">
                <a:solidFill>
                  <a:schemeClr val="tx1"/>
                </a:solidFill>
              </a:rPr>
              <a:t>. One minute is nothing — unless the assessor notices that the figure came </a:t>
            </a:r>
            <a:r>
              <a:rPr lang="en-US" sz="1800" b="1" dirty="0">
                <a:solidFill>
                  <a:schemeClr val="tx1"/>
                </a:solidFill>
              </a:rPr>
              <a:t>from memory</a:t>
            </a:r>
            <a:r>
              <a:rPr lang="en-US" sz="1800" dirty="0">
                <a:solidFill>
                  <a:schemeClr val="tx1"/>
                </a:solidFill>
              </a:rPr>
              <a:t>. In the report, every time comes </a:t>
            </a:r>
            <a:r>
              <a:rPr lang="en-US" sz="1800" b="1" dirty="0">
                <a:solidFill>
                  <a:schemeClr val="tx1"/>
                </a:solidFill>
              </a:rPr>
              <a:t>from Exhibit A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Q2 · Q4 · Q5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2.</a:t>
            </a:r>
            <a:r>
              <a:rPr lang="en-US" sz="2600" dirty="0">
                <a:solidFill>
                  <a:schemeClr val="tx1"/>
                </a:solidFill>
              </a:rPr>
              <a:t> Samuel said that nobody was on site that night. </a:t>
            </a:r>
            <a:r>
              <a:rPr lang="en-US" sz="2600" b="1" dirty="0">
                <a:solidFill>
                  <a:schemeClr val="tx1"/>
                </a:solidFill>
              </a:rPr>
              <a:t>Which line shows that somebody was in zone 2F after the cabling team had gone, and for how long?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4.</a:t>
            </a:r>
            <a:r>
              <a:rPr lang="en-US" sz="2600" dirty="0">
                <a:solidFill>
                  <a:schemeClr val="tx1"/>
                </a:solidFill>
              </a:rPr>
              <a:t> Between which two lines did the water run without anyone knowing? Give the length of that period.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5.</a:t>
            </a:r>
            <a:r>
              <a:rPr lang="en-US" sz="2600" dirty="0">
                <a:solidFill>
                  <a:schemeClr val="tx1"/>
                </a:solidFill>
              </a:rPr>
              <a:t> What happened at 02:16, and what does it prove about the water?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Q2 · Q4 · Q5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2.</a:t>
            </a:r>
            <a:r>
              <a:rPr lang="en-US" sz="2200" dirty="0">
                <a:solidFill>
                  <a:schemeClr val="tx1"/>
                </a:solidFill>
              </a:rPr>
              <a:t> Samuel said that nobody was on site that night. </a:t>
            </a:r>
            <a:r>
              <a:rPr lang="en-US" sz="2200" b="1" dirty="0">
                <a:solidFill>
                  <a:schemeClr val="tx1"/>
                </a:solidFill>
              </a:rPr>
              <a:t>Which line shows that somebody was in zone 2F after the cabling team had gone, and for how long?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→ </a:t>
            </a:r>
            <a:r>
              <a:rPr lang="en-US" sz="2200" dirty="0">
                <a:solidFill>
                  <a:schemeClr val="accent3"/>
                </a:solidFill>
              </a:rPr>
              <a:t>Lines </a:t>
            </a:r>
            <a:r>
              <a:rPr lang="en-US" sz="2200" b="1" dirty="0">
                <a:solidFill>
                  <a:schemeClr val="accent3"/>
                </a:solidFill>
              </a:rPr>
              <a:t>20:04</a:t>
            </a:r>
            <a:r>
              <a:rPr lang="en-US" sz="2200" dirty="0">
                <a:solidFill>
                  <a:schemeClr val="accent3"/>
                </a:solidFill>
              </a:rPr>
              <a:t> (badge 0102 — entry) and </a:t>
            </a:r>
            <a:r>
              <a:rPr lang="en-US" sz="2200" b="1" dirty="0">
                <a:solidFill>
                  <a:schemeClr val="accent3"/>
                </a:solidFill>
              </a:rPr>
              <a:t>20:19</a:t>
            </a:r>
            <a:r>
              <a:rPr lang="en-US" sz="2200" dirty="0">
                <a:solidFill>
                  <a:schemeClr val="accent3"/>
                </a:solidFill>
              </a:rPr>
              <a:t> (exit): somebody was in zone 2F for </a:t>
            </a:r>
            <a:r>
              <a:rPr lang="en-US" sz="2200" b="1" dirty="0">
                <a:solidFill>
                  <a:schemeClr val="accent3"/>
                </a:solidFill>
              </a:rPr>
              <a:t>fifteen minutes</a:t>
            </a:r>
            <a:r>
              <a:rPr lang="en-US" sz="2200" dirty="0">
                <a:solidFill>
                  <a:schemeClr val="accent3"/>
                </a:solidFill>
              </a:rPr>
              <a:t> after the cabling team left at 19:58.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4.</a:t>
            </a:r>
            <a:r>
              <a:rPr lang="en-US" sz="2200" dirty="0">
                <a:solidFill>
                  <a:schemeClr val="tx1"/>
                </a:solidFill>
              </a:rPr>
              <a:t> Between which two lines did the water run without anyone knowing? Give the length of that period.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→ </a:t>
            </a:r>
            <a:r>
              <a:rPr lang="en-US" sz="2200" dirty="0">
                <a:solidFill>
                  <a:schemeClr val="accent3"/>
                </a:solidFill>
              </a:rPr>
              <a:t>Between </a:t>
            </a:r>
            <a:r>
              <a:rPr lang="en-US" sz="2200" b="1" dirty="0">
                <a:solidFill>
                  <a:schemeClr val="accent3"/>
                </a:solidFill>
              </a:rPr>
              <a:t>23:41</a:t>
            </a:r>
            <a:r>
              <a:rPr lang="en-US" sz="2200" dirty="0">
                <a:solidFill>
                  <a:schemeClr val="accent3"/>
                </a:solidFill>
              </a:rPr>
              <a:t> (temperature alarm) and </a:t>
            </a:r>
            <a:r>
              <a:rPr lang="en-US" sz="2200" b="1" dirty="0">
                <a:solidFill>
                  <a:schemeClr val="accent3"/>
                </a:solidFill>
              </a:rPr>
              <a:t>06:47</a:t>
            </a:r>
            <a:r>
              <a:rPr lang="en-US" sz="2200" dirty="0">
                <a:solidFill>
                  <a:schemeClr val="accent3"/>
                </a:solidFill>
              </a:rPr>
              <a:t> (cleaning team entry): about </a:t>
            </a:r>
            <a:r>
              <a:rPr lang="en-US" sz="2200" b="1" dirty="0">
                <a:solidFill>
                  <a:schemeClr val="accent3"/>
                </a:solidFill>
              </a:rPr>
              <a:t>seven hours</a:t>
            </a:r>
            <a:r>
              <a:rPr lang="en-US" sz="2200" dirty="0">
                <a:solidFill>
                  <a:schemeClr val="accent3"/>
                </a:solidFill>
              </a:rPr>
              <a:t> (7 h 06).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5.</a:t>
            </a:r>
            <a:r>
              <a:rPr lang="en-US" sz="2200" dirty="0">
                <a:solidFill>
                  <a:schemeClr val="tx1"/>
                </a:solidFill>
              </a:rPr>
              <a:t> What happened at 02:16, and what does it prove about the water?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→ </a:t>
            </a:r>
            <a:r>
              <a:rPr lang="en-US" sz="2200" dirty="0">
                <a:solidFill>
                  <a:schemeClr val="accent3"/>
                </a:solidFill>
              </a:rPr>
              <a:t>Unit 3 of rack A2 </a:t>
            </a:r>
            <a:r>
              <a:rPr lang="en-US" sz="2200" b="1" dirty="0">
                <a:solidFill>
                  <a:schemeClr val="accent3"/>
                </a:solidFill>
              </a:rPr>
              <a:t>shut down automatically</a:t>
            </a:r>
            <a:r>
              <a:rPr lang="en-US" sz="2200" dirty="0">
                <a:solidFill>
                  <a:schemeClr val="accent3"/>
                </a:solidFill>
              </a:rPr>
              <a:t>: the damage </a:t>
            </a:r>
            <a:r>
              <a:rPr lang="en-US" sz="2200" b="1" dirty="0">
                <a:solidFill>
                  <a:schemeClr val="accent3"/>
                </a:solidFill>
              </a:rPr>
              <a:t>was still spreading</a:t>
            </a:r>
            <a:r>
              <a:rPr lang="en-US" sz="2200" dirty="0">
                <a:solidFill>
                  <a:schemeClr val="accent3"/>
                </a:solidFill>
              </a:rPr>
              <a:t> more than two hours after the alarm. It does </a:t>
            </a:r>
            <a:r>
              <a:rPr lang="en-US" sz="2200" b="1" dirty="0">
                <a:solidFill>
                  <a:schemeClr val="accent3"/>
                </a:solidFill>
              </a:rPr>
              <a:t>not</a:t>
            </a:r>
            <a:r>
              <a:rPr lang="en-US" sz="2200" dirty="0">
                <a:solidFill>
                  <a:schemeClr val="accent3"/>
                </a:solidFill>
              </a:rPr>
              <a:t> prove where the water came from.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Q3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</a:t>
            </a:r>
            <a:r>
              <a:rPr lang="en-US" sz="2200" dirty="0">
                <a:solidFill>
                  <a:schemeClr val="tx1"/>
                </a:solidFill>
              </a:rPr>
              <a:t> One line shows that somebody </a:t>
            </a:r>
            <a:r>
              <a:rPr lang="en-US" sz="2200" b="1" dirty="0">
                <a:solidFill>
                  <a:schemeClr val="tx1"/>
                </a:solidFill>
              </a:rPr>
              <a:t>could</a:t>
            </a:r>
            <a:r>
              <a:rPr lang="en-US" sz="2200" dirty="0">
                <a:solidFill>
                  <a:schemeClr val="tx1"/>
                </a:solidFill>
              </a:rPr>
              <a:t> have known during the night. Which one?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23:41 — the temperature alarm reached its threshold.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5352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23:42 — a notification was sent to a mobile and marked </a:t>
            </a:r>
            <a:r>
              <a:rPr lang="en-US" sz="1800" i="1" dirty="0">
                <a:solidFill>
                  <a:schemeClr val="tx1"/>
                </a:solidFill>
              </a:rPr>
              <a:t>delivered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02:16 — a server unit shut down automatically.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45352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06:47 — the cleaning team entered the ground floor.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Q3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</a:t>
            </a:r>
            <a:r>
              <a:rPr lang="en-US" sz="2200" dirty="0">
                <a:solidFill>
                  <a:schemeClr val="tx1"/>
                </a:solidFill>
              </a:rPr>
              <a:t> One line shows that somebody </a:t>
            </a:r>
            <a:r>
              <a:rPr lang="en-US" sz="2200" b="1" dirty="0">
                <a:solidFill>
                  <a:schemeClr val="tx1"/>
                </a:solidFill>
              </a:rPr>
              <a:t>could</a:t>
            </a:r>
            <a:r>
              <a:rPr lang="en-US" sz="2200" dirty="0">
                <a:solidFill>
                  <a:schemeClr val="tx1"/>
                </a:solidFill>
              </a:rPr>
              <a:t> have known during the night. Which one?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23:41 — the temperature alarm reached its threshold.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45352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8232" y="2756916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14032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23:42 — a notification was sent to a mobile and marked </a:t>
            </a:r>
            <a:r>
              <a:rPr lang="en-US" sz="1800" i="1" dirty="0">
                <a:solidFill>
                  <a:schemeClr val="tx1"/>
                </a:solidFill>
              </a:rPr>
              <a:t>delivered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3112" y="2624328"/>
            <a:ext cx="292608" cy="29260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02:16 — a server unit shut down automatically.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245352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28232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114032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06:47 — the cleaning team entered the ground floor.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864608"/>
            <a:ext cx="11091672" cy="1426464"/>
          </a:xfrm>
          <a:prstGeom prst="roundRect">
            <a:avLst>
              <a:gd name="adj" fmla="val 5128"/>
            </a:avLst>
          </a:prstGeom>
          <a:solidFill>
            <a:schemeClr val="accent3">
              <a:alpha val="8000"/>
            </a:scheme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Why?  </a:t>
            </a:r>
            <a:r>
              <a:rPr lang="en-US" sz="1800" dirty="0">
                <a:solidFill>
                  <a:schemeClr val="tx1"/>
                </a:solidFill>
              </a:rPr>
              <a:t>23:42: a notification was </a:t>
            </a:r>
            <a:r>
              <a:rPr lang="en-US" sz="1800" b="1" dirty="0">
                <a:solidFill>
                  <a:schemeClr val="tx1"/>
                </a:solidFill>
              </a:rPr>
              <a:t>sent</a:t>
            </a:r>
            <a:r>
              <a:rPr lang="en-US" sz="1800" dirty="0">
                <a:solidFill>
                  <a:schemeClr val="tx1"/>
                </a:solidFill>
              </a:rPr>
              <a:t> and </a:t>
            </a:r>
            <a:r>
              <a:rPr lang="en-US" sz="1800" b="1" dirty="0">
                <a:solidFill>
                  <a:schemeClr val="tx1"/>
                </a:solidFill>
              </a:rPr>
              <a:t>delivered</a:t>
            </a:r>
            <a:r>
              <a:rPr lang="en-US" sz="1800" dirty="0">
                <a:solidFill>
                  <a:schemeClr val="tx1"/>
                </a:solidFill>
              </a:rPr>
              <a:t> to a mobile — the phone received it, so somebody </a:t>
            </a:r>
            <a:r>
              <a:rPr lang="en-US" sz="1800" b="1" dirty="0">
                <a:solidFill>
                  <a:schemeClr val="tx1"/>
                </a:solidFill>
              </a:rPr>
              <a:t>could</a:t>
            </a:r>
            <a:r>
              <a:rPr lang="en-US" sz="1800" dirty="0">
                <a:solidFill>
                  <a:schemeClr val="tx1"/>
                </a:solidFill>
              </a:rPr>
              <a:t> have known. It does not prove that anybody </a:t>
            </a:r>
            <a:r>
              <a:rPr lang="en-US" sz="1800" b="1" dirty="0">
                <a:solidFill>
                  <a:schemeClr val="tx1"/>
                </a:solidFill>
              </a:rPr>
              <a:t>read</a:t>
            </a:r>
            <a:r>
              <a:rPr lang="en-US" sz="1800" dirty="0">
                <a:solidFill>
                  <a:schemeClr val="tx1"/>
                </a:solidFill>
              </a:rPr>
              <a:t> it (see the IT expert, next session).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Q6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6.</a:t>
            </a:r>
            <a:r>
              <a:rPr lang="en-US" sz="2600" dirty="0">
                <a:solidFill>
                  <a:schemeClr val="tx1"/>
                </a:solidFill>
              </a:rPr>
              <a:t> Which single line of this log is the most dangerous for us, and who does it point at? Answer in two lines — </a:t>
            </a:r>
            <a:r>
              <a:rPr lang="en-US" sz="2600" b="1" dirty="0">
                <a:solidFill>
                  <a:schemeClr val="tx1"/>
                </a:solidFill>
              </a:rPr>
              <a:t>and be careful how you name that person.</a:t>
            </a:r>
            <a:endParaRPr lang="en-US" sz="2600" dirty="0"/>
          </a:p>
        </p:txBody>
      </p:sp>
      <p:sp>
        <p:nvSpPr>
          <p:cNvPr id="6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Name the </a:t>
            </a:r>
            <a:r>
              <a:rPr lang="en-US" sz="1800" b="1" dirty="0">
                <a:solidFill>
                  <a:schemeClr val="tx1"/>
                </a:solidFill>
              </a:rPr>
              <a:t>line</a:t>
            </a:r>
            <a:r>
              <a:rPr lang="en-US" sz="1800" dirty="0">
                <a:solidFill>
                  <a:schemeClr val="tx1"/>
                </a:solidFill>
              </a:rPr>
              <a:t>, not the person.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 an </a:t>
            </a:r>
            <a:r>
              <a:rPr lang="en-US" sz="1800" b="1" dirty="0">
                <a:solidFill>
                  <a:schemeClr val="tx1"/>
                </a:solidFill>
              </a:rPr>
              <a:t>impersonal subject</a:t>
            </a:r>
            <a:r>
              <a:rPr lang="en-US" sz="1800" dirty="0">
                <a:solidFill>
                  <a:schemeClr val="tx1"/>
                </a:solidFill>
              </a:rPr>
              <a:t>: </a:t>
            </a:r>
            <a:r>
              <a:rPr lang="en-US" sz="1800" i="1" dirty="0">
                <a:solidFill>
                  <a:schemeClr val="tx1"/>
                </a:solidFill>
              </a:rPr>
              <a:t>an access was recorded…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Q6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6.</a:t>
            </a:r>
            <a:r>
              <a:rPr lang="en-US" sz="2400" dirty="0">
                <a:solidFill>
                  <a:schemeClr val="tx1"/>
                </a:solidFill>
              </a:rPr>
              <a:t> Which single line of this log is the most dangerous for us, and who does it point at? Answer in two lines — </a:t>
            </a:r>
            <a:r>
              <a:rPr lang="en-US" sz="2400" b="1" dirty="0">
                <a:solidFill>
                  <a:schemeClr val="tx1"/>
                </a:solidFill>
              </a:rPr>
              <a:t>and be careful how you name that person.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3"/>
                </a:solidFill>
              </a:rPr>
              <a:t>→ </a:t>
            </a:r>
            <a:r>
              <a:rPr lang="en-US" sz="2400" b="1" dirty="0">
                <a:solidFill>
                  <a:schemeClr val="accent3"/>
                </a:solidFill>
              </a:rPr>
              <a:t>20:04</a:t>
            </a:r>
            <a:r>
              <a:rPr lang="en-US" sz="2400" dirty="0">
                <a:solidFill>
                  <a:schemeClr val="accent3"/>
                </a:solidFill>
              </a:rPr>
              <a:t> — badge 0102, entry, “site manager”: it places one identifiable person in zone 2F </a:t>
            </a:r>
            <a:r>
              <a:rPr lang="en-US" sz="2400" b="1" dirty="0">
                <a:solidFill>
                  <a:schemeClr val="accent3"/>
                </a:solidFill>
              </a:rPr>
              <a:t>after</a:t>
            </a:r>
            <a:r>
              <a:rPr lang="en-US" sz="2400" dirty="0">
                <a:solidFill>
                  <a:schemeClr val="accent3"/>
                </a:solidFill>
              </a:rPr>
              <a:t> the works, a few hours before the alarm. Careful wording: </a:t>
            </a:r>
            <a:r>
              <a:rPr lang="en-US" sz="2400" i="1" dirty="0">
                <a:solidFill>
                  <a:schemeClr val="accent3"/>
                </a:solidFill>
              </a:rPr>
              <a:t>An access to zone 2F was recorded at 20:04.</a:t>
            </a:r>
            <a:r>
              <a:rPr lang="en-US" sz="2400" dirty="0">
                <a:solidFill>
                  <a:schemeClr val="accent3"/>
                </a:solidFill>
              </a:rPr>
              <a:t> — no badge number, no job title.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Also acceptable: </a:t>
            </a:r>
            <a:r>
              <a:rPr lang="en-US" sz="1800" b="1" dirty="0">
                <a:solidFill>
                  <a:schemeClr val="tx1"/>
                </a:solidFill>
              </a:rPr>
              <a:t>23:42</a:t>
            </a:r>
            <a:r>
              <a:rPr lang="en-US" sz="1800" dirty="0">
                <a:solidFill>
                  <a:schemeClr val="tx1"/>
                </a:solidFill>
              </a:rPr>
              <a:t> (the mobile that received the alert) — if justified.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dirty="0">
                <a:solidFill>
                  <a:schemeClr val="tx1"/>
                </a:solidFill>
              </a:rPr>
              <a:t>The site manager entered the room at 20:04.</a:t>
            </a:r>
            <a:r>
              <a:rPr lang="en-US" sz="1800" dirty="0">
                <a:solidFill>
                  <a:schemeClr val="tx1"/>
                </a:solidFill>
              </a:rPr>
              <a:t> = an accusation.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room vs the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8–12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What was said at 08.15 — what Exhibit A shows — your verdict.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017520"/>
                <a:gridCol w="3867912"/>
              </a:tblGrid>
              <a:tr h="60533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THE ROOM (08.15)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THE LOG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VERDICT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Samuel: the alarm went off at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11.40 p.m.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Iris: the team was working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until eight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nobody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was on site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56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Mark: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two units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have stopped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Briefing: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nobody heard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room vs the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8–12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What was said at 08.15 — what Exhibit A shows — your verdict.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017520"/>
                <a:gridCol w="3867912"/>
              </a:tblGrid>
              <a:tr h="60533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THE ROOM (08.15)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THE LOG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VERDICT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Samuel: the alarm went off at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11.40 p.m.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23:41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one minute off — from memory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Iris: the team was working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until eight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exit at 19:58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roughly matches — write 19:58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Samuel: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nobody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was on site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badge entry 20:04 → 20:19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contradicted (until 20:19)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56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Mark: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two units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have stopped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only unit 3 (02:16)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partly confirmed — check unit 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15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Briefing: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nobody heard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notification delivered 23:42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not proved — somebody could have known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Reporting verbs: how much do they commit you?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2567178" cy="3922776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5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2567178" cy="1828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SAID / TOLD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2201418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neutral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27376"/>
            <a:ext cx="2201418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Samuel </a:t>
            </a:r>
            <a:r>
              <a:rPr lang="en-US" sz="2000" b="1" dirty="0">
                <a:solidFill>
                  <a:schemeClr val="tx1"/>
                </a:solidFill>
              </a:rPr>
              <a:t>said (that)</a:t>
            </a:r>
            <a:r>
              <a:rPr lang="en-US" sz="2000" dirty="0">
                <a:solidFill>
                  <a:schemeClr val="tx1"/>
                </a:solidFill>
              </a:rPr>
              <a:t> the alarm went off at 11.40.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He </a:t>
            </a:r>
            <a:r>
              <a:rPr lang="en-US" sz="2000" b="1" dirty="0">
                <a:solidFill>
                  <a:schemeClr val="tx1"/>
                </a:solidFill>
              </a:rPr>
              <a:t>told us (that)</a:t>
            </a:r>
            <a:r>
              <a:rPr lang="en-US" sz="2000" dirty="0">
                <a:solidFill>
                  <a:schemeClr val="tx1"/>
                </a:solidFill>
              </a:rPr>
              <a:t> nobody was on site.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90138" y="1481328"/>
            <a:ext cx="2567178" cy="3922776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90138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/>
        </p:spPr>
      </p:sp>
      <p:sp>
        <p:nvSpPr>
          <p:cNvPr id="13" name="Shape 11"/>
          <p:cNvSpPr/>
          <p:nvPr/>
        </p:nvSpPr>
        <p:spPr>
          <a:xfrm>
            <a:off x="3390138" y="1801368"/>
            <a:ext cx="2567178" cy="1828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73018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CLAIMED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73018" y="2084832"/>
            <a:ext cx="2201418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doubt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73018" y="2627376"/>
            <a:ext cx="2201418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Verdier </a:t>
            </a:r>
            <a:r>
              <a:rPr lang="en-US" sz="2000" b="1" dirty="0">
                <a:solidFill>
                  <a:schemeClr val="tx1"/>
                </a:solidFill>
              </a:rPr>
              <a:t>claims</a:t>
            </a:r>
            <a:r>
              <a:rPr lang="en-US" sz="2000" dirty="0">
                <a:solidFill>
                  <a:schemeClr val="tx1"/>
                </a:solidFill>
              </a:rPr>
              <a:t> the pipe is old.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= he says so; nothing proves it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1636" y="1481328"/>
            <a:ext cx="2567178" cy="3922776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1636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1636" y="1801368"/>
            <a:ext cx="2567178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REPORTED / STATED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4516" y="2084832"/>
            <a:ext cx="2201418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formal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2627376"/>
            <a:ext cx="2201418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cleaners </a:t>
            </a:r>
            <a:r>
              <a:rPr lang="en-US" sz="2000" b="1" dirty="0">
                <a:solidFill>
                  <a:schemeClr val="tx1"/>
                </a:solidFill>
              </a:rPr>
              <a:t>reported</a:t>
            </a:r>
            <a:r>
              <a:rPr lang="en-US" sz="2000" dirty="0">
                <a:solidFill>
                  <a:schemeClr val="tx1"/>
                </a:solidFill>
              </a:rPr>
              <a:t> water in the room.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log </a:t>
            </a:r>
            <a:r>
              <a:rPr lang="en-US" sz="2000" b="1" dirty="0">
                <a:solidFill>
                  <a:schemeClr val="tx1"/>
                </a:solidFill>
              </a:rPr>
              <a:t>states</a:t>
            </a:r>
            <a:r>
              <a:rPr lang="en-US" sz="2000" dirty="0">
                <a:solidFill>
                  <a:schemeClr val="tx1"/>
                </a:solidFill>
              </a:rPr>
              <a:t> 23:41.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3134" y="1481328"/>
            <a:ext cx="2567178" cy="3922776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73134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3134" y="1801368"/>
            <a:ext cx="2567178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56014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CONFIRMED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56014" y="2084832"/>
            <a:ext cx="2201418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certainty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9256014" y="2627376"/>
            <a:ext cx="2201418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log </a:t>
            </a:r>
            <a:r>
              <a:rPr lang="en-US" sz="2000" b="1" dirty="0">
                <a:solidFill>
                  <a:schemeClr val="tx1"/>
                </a:solidFill>
              </a:rPr>
              <a:t>confirms</a:t>
            </a:r>
            <a:r>
              <a:rPr lang="en-US" sz="2000" dirty="0">
                <a:solidFill>
                  <a:schemeClr val="tx1"/>
                </a:solidFill>
              </a:rPr>
              <a:t> that unit 3 shut down at 02:16.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dire à quelqu’un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b="1" dirty="0">
                <a:solidFill>
                  <a:schemeClr val="tx1"/>
                </a:solidFill>
              </a:rPr>
              <a:t>tell</a:t>
            </a:r>
            <a:r>
              <a:rPr lang="en-US" sz="1700" dirty="0">
                <a:solidFill>
                  <a:schemeClr val="tx1"/>
                </a:solidFill>
              </a:rPr>
              <a:t> somebody (✗ </a:t>
            </a:r>
            <a:r>
              <a:rPr lang="en-US" sz="1700" i="1" dirty="0">
                <a:solidFill>
                  <a:schemeClr val="tx1"/>
                </a:solidFill>
              </a:rPr>
              <a:t>say somebody</a:t>
            </a:r>
            <a:r>
              <a:rPr lang="en-US" sz="1700" dirty="0">
                <a:solidFill>
                  <a:schemeClr val="tx1"/>
                </a:solidFill>
              </a:rPr>
              <a:t>) · </a:t>
            </a:r>
            <a:r>
              <a:rPr lang="en-US" sz="1700" i="1" dirty="0">
                <a:solidFill>
                  <a:schemeClr val="tx1"/>
                </a:solidFill>
              </a:rPr>
              <a:t>He said me</a:t>
            </a:r>
            <a:r>
              <a:rPr lang="en-US" sz="1700" dirty="0">
                <a:solidFill>
                  <a:schemeClr val="tx1"/>
                </a:solidFill>
              </a:rPr>
              <a:t> ✗ → </a:t>
            </a:r>
            <a:r>
              <a:rPr lang="en-US" sz="1700" b="1" dirty="0">
                <a:solidFill>
                  <a:schemeClr val="tx1"/>
                </a:solidFill>
              </a:rPr>
              <a:t>He told me</a:t>
            </a:r>
            <a:r>
              <a:rPr lang="en-US" sz="1700" dirty="0">
                <a:solidFill>
                  <a:schemeClr val="tx1"/>
                </a:solidFill>
              </a:rPr>
              <a:t> ✓ / </a:t>
            </a:r>
            <a:r>
              <a:rPr lang="en-US" sz="1700" b="1" dirty="0">
                <a:solidFill>
                  <a:schemeClr val="tx1"/>
                </a:solidFill>
              </a:rPr>
              <a:t>He said to me</a:t>
            </a:r>
            <a:r>
              <a:rPr lang="en-US" sz="1700" dirty="0">
                <a:solidFill>
                  <a:schemeClr val="tx1"/>
                </a:solidFill>
              </a:rPr>
              <a:t> ✓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Report it — at the right level of certainty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Rewrite each statement with a reporting verb that shows how much you trust it.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Samuel: “The alarm went off at 11.40.” (the log says 23:41)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Verdier: “The pipe is old.” (nothing supports it)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log: unit 3 shut down at 02:16.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Iris to Mark: “The floor is soaked.”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Report it — at the right level of certainty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Rewrite each statement with a reporting verb that shows how much you trust it.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Samuel: “The alarm went off at 11.40.” (the log says 23:41) → </a:t>
            </a:r>
            <a:r>
              <a:rPr lang="en-US" sz="2400" b="1" dirty="0">
                <a:solidFill>
                  <a:schemeClr val="accent3"/>
                </a:solidFill>
              </a:rPr>
              <a:t>Samuel said that the alarm went off at 11.40, but the log shows 23:41.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Verdier: “The pipe is old.” (nothing supports it) → </a:t>
            </a:r>
            <a:r>
              <a:rPr lang="en-US" sz="2400" b="1" dirty="0">
                <a:solidFill>
                  <a:schemeClr val="accent3"/>
                </a:solidFill>
              </a:rPr>
              <a:t>Verdier claims that the pipe is old.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log: unit 3 shut down at 02:16. → </a:t>
            </a:r>
            <a:r>
              <a:rPr lang="en-US" sz="2400" b="1" dirty="0">
                <a:solidFill>
                  <a:schemeClr val="accent3"/>
                </a:solidFill>
              </a:rPr>
              <a:t>The log confirms that unit 3 shut down at 02:16.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Iris to Mark: “The floor is soaked.” → </a:t>
            </a:r>
            <a:r>
              <a:rPr lang="en-US" sz="2400" b="1" dirty="0">
                <a:solidFill>
                  <a:schemeClr val="accent3"/>
                </a:solidFill>
              </a:rPr>
              <a:t>Iris told Mark that the floor was soaked.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log does not say what Samuel remembered. Before ten o’clock, you will need eight verbs — and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forms of each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: the dated fact, and the result.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words of a log.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Read Exhibit A aloud at home: every time, </a:t>
            </a:r>
            <a:r>
              <a:rPr lang="en-US" sz="1700" b="1" dirty="0">
                <a:solidFill>
                  <a:schemeClr val="tx1"/>
                </a:solidFill>
              </a:rPr>
              <a:t>two ways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reporting verbs: </a:t>
            </a:r>
            <a:r>
              <a:rPr lang="en-US" sz="1700" b="1" dirty="0">
                <a:solidFill>
                  <a:schemeClr val="tx1"/>
                </a:solidFill>
              </a:rPr>
              <a:t>say, tell, claim, report, confirm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 one sentence: what does line </a:t>
            </a:r>
            <a:r>
              <a:rPr lang="en-US" sz="1600" b="1" dirty="0">
                <a:solidFill>
                  <a:schemeClr val="bg1"/>
                </a:solidFill>
              </a:rPr>
              <a:t>23:42</a:t>
            </a:r>
            <a:r>
              <a:rPr lang="en-US" sz="1600" dirty="0">
                <a:solidFill>
                  <a:schemeClr val="bg1"/>
                </a:solidFill>
              </a:rPr>
              <a:t> prove — and what does it </a:t>
            </a:r>
            <a:r>
              <a:rPr lang="en-US" sz="1600" b="1" dirty="0">
                <a:solidFill>
                  <a:schemeClr val="bg1"/>
                </a:solidFill>
              </a:rPr>
              <a:t>not</a:t>
            </a:r>
            <a:r>
              <a:rPr lang="en-US" sz="1600" dirty="0">
                <a:solidFill>
                  <a:schemeClr val="bg1"/>
                </a:solidFill>
              </a:rPr>
              <a:t> prove?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06 — What the log really says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