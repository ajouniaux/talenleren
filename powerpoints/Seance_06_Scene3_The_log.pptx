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a65d2e9b-daea-91ad-7c60-6cf10f56eda2}">
          <p14:sldIdLst>
            <p14:sldId id="256"/>
          </p14:sldIdLst>
        </p14:section>
        <p14:section name="Warm-up" id="{25c8d55e-13d0-f774-f5ff-ca11648ab54b}">
          <p14:sldIdLst>
            <p14:sldId id="257"/>
            <p14:sldId id="258"/>
          </p14:sldIdLst>
        </p14:section>
        <p14:section name="Exhibit A" id="{de95856f-a9f3-dadb-0a62-1551249356c7}">
          <p14:sldIdLst>
            <p14:sldId id="259"/>
            <p14:sldId id="260"/>
            <p14:sldId id="261"/>
            <p14:sldId id="262"/>
            <p14:sldId id="263"/>
          </p14:sldIdLst>
        </p14:section>
        <p14:section name="Times and durations" id="{5fa8953a-9d50-23b2-decd-c663f59884a9}">
          <p14:sldIdLst>
            <p14:sldId id="264"/>
            <p14:sldId id="265"/>
            <p14:sldId id="266"/>
            <p14:sldId id="267"/>
          </p14:sldIdLst>
        </p14:section>
        <p14:section name="Your move" id="{f5013e14-3a66-7dc8-9912-be88b3eedf6d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Reporting verbs" id="{e8950e21-8409-1bfd-6ba7-28dd598368f0}">
          <p14:sldIdLst>
            <p14:sldId id="279"/>
            <p14:sldId id="280"/>
            <p14:sldId id="281"/>
            <p14:sldId id="282"/>
            <p14:sldId id="283"/>
          </p14:sldIdLst>
        </p14:section>
        <p14:section name="Clôture" id="{1b86c4f6-55d9-a551-9b77-90239f36b31b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6 — Scène 3 (09.05), livret p. 11–12 : l’Exhibit A (journal de la GTB) contredit ce qui a été dit dans la salle.
Objectifs : lire des données, dire les heures (24 h, a.m. / p.m.), donner une durée, comparer deux sources, rapporter des propos (say, tell, claim, confirm), nommer sans accuser.
Déroulé indicatif (90 min) : warm-up (5') · scène + Exhibit A + mots du journal (15') · lire les heures + Time bingo (15') · Back to the board (10') · Your move Q1–Q6 (25') · arbre « Can I write it? » + room vs log (10') · reporting verbs + Press conference (10').
Les diapositives GAME et + EXTRA sont facultatives.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Bulles de l’image : « Do not write that badge number anywhere. » / « The log does not say what you think it says. » Faire émettre des hypothèses (may / might, séance 4) avant de projeter l’Exhibit.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à voix haute de chaque ligne, les heures de deux façons (twenty-three forty-one / eleven forty-one p.m.).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silencieuse, 2 minutes. Les élèves répondent par le numéro de ligne (l’heure), pas par un nom.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lignes surlignées portent le numéro de la question. Ces trois lignes reviennent dans Your move Q1–Q3.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Prononciation : threshold /ˈθreʃhəʊld/ · humidity /hjuːˈmɪdəti/ · sensor /ˈsensə/ · GF = ground floor (UK) = first floor (US)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lire Exhibit A ligne par ligne avec deux lectures de l’heure. ✗ during seven hours → for seven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dans le désordre, en variant les formes :
20:04 twenty oh four / eight oh four p.m. · 23:41 twenty-three forty-one / eleven forty-one p.m. · 06:47 six forty-seven a.m. / thirteen minutes to seven · 02:16 two sixteen a.m. / sixteen minutes past two · 19:58 nineteen fifty-eight / two minutes to eight · 23:42 eleven forty-two p.m. · 20:19 eight nineteen p.m. · 23:44 sixteen minutes to midnight · 12:00 noon / midday · 00:00 midnight · 07:15 a quarter past seven · 18:30 half past six p.m. · 13:05 five past one p.m. · 08:50 ten to nine a.m. · 21:40 twenty to ten p.m. · 06:50 ten to seven a.m.
Vérifier la ligne gagnante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Dictée en binôme : écoute, prononciation des heures, épellation éventuelle (« Sorry, did you say fifteen or fifty? »). Ces deux journaux sont inventés, hors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Outil pour les questions Q1 à Q6 et pour le tableau « The room vs the log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à main levée avant la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à main levée avant la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: accepter aussi 23:42 → 06:47 (7 h 05), si l’élève part de la notification. Q5 : insister sur la limite de la preuve.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Prépare la scène 9 (« the fact stays, the number goes »). Le livret fait dire à Mark à la fin de la scène 3 : « Do not write that badge number anywhere. Not yet.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les lignes de l’Exhibit A dans l’arbre. La tournure passive (was recorded, was sent) permet de rapporter un fait sans nommer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: elle prépare directement « Sort the witnesses » (p. 16, séance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: elle prépare directement « Sort the witnesses » (p. 16, séance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Concordance des temps : au discours indirect après un verbe au passé, le présent recule au prétérit (is → was).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: un journaliste « à scandale » essaie d’obtenir un nom ; les porte-parole doivent rester factuels (passif, « an access was recorded »). Bon réinvestissement de l’arbre « Can I write it in the report?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85800"/>
            <a:ext cx="2236470" cy="365760"/>
          </a:xfrm>
          <a:prstGeom prst="roundRect">
            <a:avLst>
              <a:gd name="adj" fmla="val 1250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SÉANCE 06 / 19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SCENE 3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09.05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What the log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really says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A printed sheet, eight lines, and one contradiction.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 File 01 — The night nobody heard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Livret p. 11–12</a:t>
            </a:r>
            <a:endParaRPr lang="en-US" sz="1600" dirty="0"/>
          </a:p>
        </p:txBody>
      </p:sp>
      <p:pic>
        <p:nvPicPr>
          <p:cNvPr id="8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50136"/>
            <a:ext cx="5010912" cy="334060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-ing and past forms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Write the -ing form and the past form. Use the spelling tree.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2237232"/>
            <a:ext cx="5317236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run → </a:t>
            </a:r>
            <a:r>
              <a:rPr lang="en-US" sz="2600" dirty="0">
                <a:solidFill>
                  <a:schemeClr val="accent5"/>
                </a:solidFill>
              </a:rPr>
              <a:t>……………………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stop → </a:t>
            </a:r>
            <a:r>
              <a:rPr lang="en-US" sz="2600" dirty="0">
                <a:solidFill>
                  <a:schemeClr val="accent5"/>
                </a:solidFill>
              </a:rPr>
              <a:t>……………………………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notice → </a:t>
            </a:r>
            <a:r>
              <a:rPr lang="en-US" sz="2600" dirty="0">
                <a:solidFill>
                  <a:schemeClr val="accent5"/>
                </a:solidFill>
              </a:rPr>
              <a:t>……………………………</a:t>
            </a:r>
            <a:endParaRPr lang="en-US" sz="2600" dirty="0"/>
          </a:p>
        </p:txBody>
      </p:sp>
      <p:sp>
        <p:nvSpPr>
          <p:cNvPr id="7" name="exercise"/>
          <p:cNvSpPr txBox="1"/>
          <p:nvPr/>
        </p:nvSpPr>
        <p:spPr>
          <a:xfrm>
            <a:off x="6323076" y="2237232"/>
            <a:ext cx="5317236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carry → </a:t>
            </a:r>
            <a:r>
              <a:rPr lang="en-US" sz="2600" dirty="0">
                <a:solidFill>
                  <a:schemeClr val="accent5"/>
                </a:solidFill>
              </a:rPr>
              <a:t>……………………………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leave → </a:t>
            </a:r>
            <a:r>
              <a:rPr lang="en-US" sz="2600" dirty="0">
                <a:solidFill>
                  <a:schemeClr val="accent5"/>
                </a:solidFill>
              </a:rPr>
              <a:t>……………………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6.  </a:t>
            </a:r>
            <a:r>
              <a:rPr lang="en-US" sz="2600" dirty="0">
                <a:solidFill>
                  <a:schemeClr val="tx1"/>
                </a:solidFill>
              </a:rPr>
              <a:t>lie (mentir) → </a:t>
            </a:r>
            <a:r>
              <a:rPr lang="en-US" sz="2600" dirty="0">
                <a:solidFill>
                  <a:schemeClr val="accent5"/>
                </a:solidFill>
              </a:rPr>
              <a:t>…………………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-ing and past forms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Write the -ing form and the past form. Use the spelling tree.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237232"/>
            <a:ext cx="5317236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run → </a:t>
            </a:r>
            <a:r>
              <a:rPr lang="en-US" sz="2400" b="1" dirty="0">
                <a:solidFill>
                  <a:schemeClr val="accent3"/>
                </a:solidFill>
              </a:rPr>
              <a:t>running / ran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stop → </a:t>
            </a:r>
            <a:r>
              <a:rPr lang="en-US" sz="2400" b="1" dirty="0">
                <a:solidFill>
                  <a:schemeClr val="accent3"/>
                </a:solidFill>
              </a:rPr>
              <a:t>stopping / stopped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notice → </a:t>
            </a:r>
            <a:r>
              <a:rPr lang="en-US" sz="2400" b="1" dirty="0">
                <a:solidFill>
                  <a:schemeClr val="accent3"/>
                </a:solidFill>
              </a:rPr>
              <a:t>noticing / noticed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323076" y="2237232"/>
            <a:ext cx="5317236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carry → </a:t>
            </a:r>
            <a:r>
              <a:rPr lang="en-US" sz="2400" b="1" dirty="0">
                <a:solidFill>
                  <a:schemeClr val="accent3"/>
                </a:solidFill>
              </a:rPr>
              <a:t>carrying / carried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leave → </a:t>
            </a:r>
            <a:r>
              <a:rPr lang="en-US" sz="2400" b="1" dirty="0">
                <a:solidFill>
                  <a:schemeClr val="accent3"/>
                </a:solidFill>
              </a:rPr>
              <a:t>leaving / left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lie (mentir) → </a:t>
            </a:r>
            <a:r>
              <a:rPr lang="en-US" sz="2400" b="1" dirty="0">
                <a:solidFill>
                  <a:schemeClr val="accent3"/>
                </a:solidFill>
              </a:rPr>
              <a:t>lying / lied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log really says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9372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pic>
        <p:nvPicPr>
          <p:cNvPr id="6" name="illustration" descr="Samuel taps a line of the printed alarm log on the table while Mark and Iris look 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40233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783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3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09.05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880360"/>
            <a:ext cx="46451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Samuel puts a printout on the table. It is the </a:t>
            </a:r>
            <a:r>
              <a:rPr lang="en-US" sz="2000" b="1" dirty="0">
                <a:solidFill>
                  <a:schemeClr val="tx1"/>
                </a:solidFill>
              </a:rPr>
              <a:t>building management system log</a:t>
            </a:r>
            <a:r>
              <a:rPr lang="en-US" sz="2000" dirty="0">
                <a:solidFill>
                  <a:schemeClr val="tx1"/>
                </a:solidFill>
              </a:rPr>
              <a:t> for the night.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Eight lines.</a:t>
            </a:r>
            <a:r>
              <a:rPr lang="en-US" sz="2000" dirty="0">
                <a:solidFill>
                  <a:schemeClr val="tx1"/>
                </a:solidFill>
              </a:rPr>
              <a:t> He taps one of them with his finger and says nothing.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995160" y="4910328"/>
            <a:ext cx="4645152" cy="1399032"/>
          </a:xfrm>
          <a:prstGeom prst="roundRect">
            <a:avLst>
              <a:gd name="adj" fmla="val 5229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96328" y="502005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96328" y="5312664"/>
            <a:ext cx="42428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Why would someone say nothing — and just </a:t>
            </a:r>
            <a:r>
              <a:rPr lang="en-US" sz="1700" b="1" dirty="0">
                <a:solidFill>
                  <a:schemeClr val="tx1"/>
                </a:solidFill>
              </a:rPr>
              <a:t>tap a line</a:t>
            </a:r>
            <a:r>
              <a:rPr lang="en-US" sz="1700" dirty="0">
                <a:solidFill>
                  <a:schemeClr val="tx1"/>
                </a:solidFill>
              </a:rPr>
              <a:t>? Make two guesses with </a:t>
            </a:r>
            <a:r>
              <a:rPr lang="en-US" sz="1700" i="1" dirty="0">
                <a:solidFill>
                  <a:schemeClr val="tx1"/>
                </a:solidFill>
              </a:rPr>
              <a:t>may</a:t>
            </a:r>
            <a:r>
              <a:rPr lang="en-US" sz="1700" dirty="0">
                <a:solidFill>
                  <a:schemeClr val="tx1"/>
                </a:solidFill>
              </a:rPr>
              <a:t> or </a:t>
            </a:r>
            <a:r>
              <a:rPr lang="en-US" sz="1700" i="1" dirty="0">
                <a:solidFill>
                  <a:schemeClr val="tx1"/>
                </a:solidFill>
              </a:rPr>
              <a:t>might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Exhibit A — the night log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tag"/>
          <p:cNvSpPr/>
          <p:nvPr/>
        </p:nvSpPr>
        <p:spPr>
          <a:xfrm>
            <a:off x="822960" y="1965960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EXHIBIT 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446020" y="1929384"/>
            <a:ext cx="8874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Building management — night log, Monday to Tuesday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2441448"/>
            <a:ext cx="10543032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868680" y="253288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19:58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2532888"/>
            <a:ext cx="926287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Zone 2F — cabling works — access badge 0447 — exit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85800" y="2995803"/>
            <a:ext cx="1081735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299580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20:04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2995803"/>
            <a:ext cx="926287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Zone 2F — access badge 0102 — entry — site manager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45871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20:19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2148840" y="3458718"/>
            <a:ext cx="926287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Zone 2F — access badge 0102 — exit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85800" y="3921633"/>
            <a:ext cx="1081735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392163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23:41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2148840" y="3921633"/>
            <a:ext cx="926287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Zone 2F technical room — TEMPERATURE ALARM — threshold 28 °C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38454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23:42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2148840" y="4384548"/>
            <a:ext cx="926287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Alarm notification sent — mobile 0470 22 14 09 — status: </a:t>
            </a:r>
            <a:r>
              <a:rPr lang="en-US" sz="2000" b="1" dirty="0">
                <a:solidFill>
                  <a:schemeClr val="tx1"/>
                </a:solidFill>
              </a:rPr>
              <a:t>delivered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85800" y="4847463"/>
            <a:ext cx="1081735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8680" y="484746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2148840" y="4847463"/>
            <a:ext cx="926287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Zone 2F technical room — HUMIDITY ALARM — threshold 85 %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531037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02:16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2148840" y="5310378"/>
            <a:ext cx="926287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Server rack A2 — unit 3 — automatic shutdown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85800" y="5773293"/>
            <a:ext cx="1081735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68680" y="577329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06:47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2148840" y="5773293"/>
            <a:ext cx="926287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Zone GF — access badge 0771 — entry — cleaning team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it like an assessor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738835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tag"/>
          <p:cNvSpPr/>
          <p:nvPr/>
        </p:nvSpPr>
        <p:spPr>
          <a:xfrm>
            <a:off x="822960" y="1965960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EXHIBIT 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446020" y="1929384"/>
            <a:ext cx="51709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Night log, Monday to Tuesday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441448"/>
            <a:ext cx="6839712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868680" y="253288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19:58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2532888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— cabling works — access badge 0447 — exit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800" y="2995803"/>
            <a:ext cx="711403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299580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20:04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2995803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— access badge 0102 — entry — site manager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45871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20:19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148840" y="3458718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— access badge 0102 — exit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921633"/>
            <a:ext cx="711403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392163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23:41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148840" y="3921633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technical room — TEMPERATURE ALARM — threshold 28 °C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38454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23:42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148840" y="4384548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Alarm notification sent — mobile 0470 22 14 09 — status: </a:t>
            </a:r>
            <a:r>
              <a:rPr lang="en-US" sz="1500" b="1" dirty="0">
                <a:solidFill>
                  <a:schemeClr val="tx1"/>
                </a:solidFill>
              </a:rPr>
              <a:t>delivered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85800" y="4847463"/>
            <a:ext cx="711403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8680" y="484746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148840" y="4847463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technical room — HUMIDITY ALARM — threshold 85 %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531037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02:16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148840" y="5310378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Server rack A2 — unit 3 — automatic shutdown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85800" y="5773293"/>
            <a:ext cx="711403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68680" y="577329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06:47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2148840" y="5773293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GF — access badge 0771 — entry — cleaning team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257032" y="1783080"/>
            <a:ext cx="3383280" cy="4526280"/>
          </a:xfrm>
          <a:prstGeom prst="roundRect">
            <a:avLst>
              <a:gd name="adj" fmla="val 2162"/>
            </a:avLst>
          </a:prstGeom>
          <a:solidFill>
            <a:srgbClr val="C0752A">
              <a:alpha val="9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96596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82396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READ IT LIKE AN ASSESSOR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8458200" y="2404872"/>
            <a:ext cx="2999232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1.  </a:t>
            </a:r>
            <a:r>
              <a:rPr lang="en-US" sz="1900" dirty="0">
                <a:solidFill>
                  <a:schemeClr val="tx1"/>
                </a:solidFill>
              </a:rPr>
              <a:t>Which line is </a:t>
            </a:r>
            <a:r>
              <a:rPr lang="en-US" sz="1900" b="1" dirty="0">
                <a:solidFill>
                  <a:schemeClr val="tx1"/>
                </a:solidFill>
              </a:rPr>
              <a:t>one minute</a:t>
            </a:r>
            <a:r>
              <a:rPr lang="en-US" sz="1900" dirty="0">
                <a:solidFill>
                  <a:schemeClr val="tx1"/>
                </a:solidFill>
              </a:rPr>
              <a:t> off what Samuel said?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2.  </a:t>
            </a:r>
            <a:r>
              <a:rPr lang="en-US" sz="1900" dirty="0">
                <a:solidFill>
                  <a:schemeClr val="tx1"/>
                </a:solidFill>
              </a:rPr>
              <a:t>Which line shows </a:t>
            </a:r>
            <a:r>
              <a:rPr lang="en-US" sz="1900" b="1" dirty="0">
                <a:solidFill>
                  <a:schemeClr val="tx1"/>
                </a:solidFill>
              </a:rPr>
              <a:t>somebody</a:t>
            </a:r>
            <a:r>
              <a:rPr lang="en-US" sz="1900" dirty="0">
                <a:solidFill>
                  <a:schemeClr val="tx1"/>
                </a:solidFill>
              </a:rPr>
              <a:t> in 2F after the works?</a:t>
            </a:r>
            <a:endParaRPr lang="en-US" sz="19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3.  </a:t>
            </a:r>
            <a:r>
              <a:rPr lang="en-US" sz="1900" dirty="0">
                <a:solidFill>
                  <a:schemeClr val="tx1"/>
                </a:solidFill>
              </a:rPr>
              <a:t>Which line shows that somebody </a:t>
            </a:r>
            <a:r>
              <a:rPr lang="en-US" sz="1900" b="1" dirty="0">
                <a:solidFill>
                  <a:schemeClr val="tx1"/>
                </a:solidFill>
              </a:rPr>
              <a:t>could</a:t>
            </a:r>
            <a:r>
              <a:rPr lang="en-US" sz="1900" dirty="0">
                <a:solidFill>
                  <a:schemeClr val="tx1"/>
                </a:solidFill>
              </a:rPr>
              <a:t> have known?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it like an assessor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738835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tag"/>
          <p:cNvSpPr/>
          <p:nvPr/>
        </p:nvSpPr>
        <p:spPr>
          <a:xfrm>
            <a:off x="822960" y="1965960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EXHIBIT 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446020" y="1929384"/>
            <a:ext cx="51709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Night log, Monday to Tuesday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2441448"/>
            <a:ext cx="6839712" cy="0"/>
          </a:xfrm>
          <a:prstGeom prst="line">
            <a:avLst/>
          </a:prstGeom>
          <a:noFill/>
          <a:ln w="12700">
            <a:solidFill>
              <a:srgbClr val="44546A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868680" y="253288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19:58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532888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— cabling works — access badge 0447 — exit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2995803"/>
            <a:ext cx="7114032" cy="462915"/>
          </a:xfrm>
          <a:prstGeom prst="rect">
            <a:avLst/>
          </a:prstGeom>
          <a:solidFill>
            <a:srgbClr val="F7C03B">
              <a:alpha val="45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299580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2995803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— access badge 0102 — entry — site manager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98080" y="3080957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3458718"/>
            <a:ext cx="7114032" cy="462915"/>
          </a:xfrm>
          <a:prstGeom prst="rect">
            <a:avLst/>
          </a:prstGeom>
          <a:solidFill>
            <a:srgbClr val="F7C03B">
              <a:alpha val="45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345871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20:19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148840" y="3458718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— access badge 0102 — exit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498080" y="3543871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5800" y="3921633"/>
            <a:ext cx="7114032" cy="462915"/>
          </a:xfrm>
          <a:prstGeom prst="rect">
            <a:avLst/>
          </a:prstGeom>
          <a:solidFill>
            <a:srgbClr val="F7C03B">
              <a:alpha val="45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8680" y="392163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23:41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148840" y="3921633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technical room — TEMPERATURE ALARM — threshold 28 °C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498080" y="4006787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4384548"/>
            <a:ext cx="7114032" cy="462915"/>
          </a:xfrm>
          <a:prstGeom prst="rect">
            <a:avLst/>
          </a:prstGeom>
          <a:solidFill>
            <a:srgbClr val="F7C03B">
              <a:alpha val="45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68680" y="438454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23:42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2148840" y="4384548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Alarm notification sent — mobile 0470 22 14 09 — status: </a:t>
            </a:r>
            <a:r>
              <a:rPr lang="en-US" sz="1500" b="1" dirty="0">
                <a:solidFill>
                  <a:schemeClr val="tx1"/>
                </a:solidFill>
              </a:rPr>
              <a:t>delivered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498080" y="4469702"/>
            <a:ext cx="292608" cy="292608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" y="4847463"/>
            <a:ext cx="711403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68680" y="484746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23:44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2148840" y="4847463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2F technical room — HUMIDITY ALARM — threshold 85 %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" y="5310378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02:16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2148840" y="5310378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Server rack A2 — unit 3 — automatic shutdown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85800" y="5773293"/>
            <a:ext cx="7114032" cy="46291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68680" y="5773293"/>
            <a:ext cx="118872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06:47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2148840" y="5773293"/>
            <a:ext cx="555955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GF — access badge 0771 — entry — cleaning team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257032" y="1783080"/>
            <a:ext cx="3383280" cy="4526280"/>
          </a:xfrm>
          <a:prstGeom prst="roundRect">
            <a:avLst>
              <a:gd name="adj" fmla="val 2162"/>
            </a:avLst>
          </a:prstGeom>
          <a:solidFill>
            <a:srgbClr val="C0752A">
              <a:alpha val="9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965960"/>
            <a:ext cx="274320" cy="27432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882396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READ IT LIKE AN ASSESSOR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8458200" y="2404872"/>
            <a:ext cx="2999232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 </a:t>
            </a:r>
            <a:r>
              <a:rPr lang="en-US" sz="1700" dirty="0">
                <a:solidFill>
                  <a:schemeClr val="tx1"/>
                </a:solidFill>
              </a:rPr>
              <a:t>Which line is </a:t>
            </a:r>
            <a:r>
              <a:rPr lang="en-US" sz="1700" b="1" dirty="0">
                <a:solidFill>
                  <a:schemeClr val="tx1"/>
                </a:solidFill>
              </a:rPr>
              <a:t>one minute</a:t>
            </a:r>
            <a:r>
              <a:rPr lang="en-US" sz="1700" dirty="0">
                <a:solidFill>
                  <a:schemeClr val="tx1"/>
                </a:solidFill>
              </a:rPr>
              <a:t> off what Samuel said?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→ </a:t>
            </a:r>
            <a:r>
              <a:rPr lang="en-US" sz="1700" b="1" dirty="0">
                <a:solidFill>
                  <a:schemeClr val="tx2"/>
                </a:solidFill>
              </a:rPr>
              <a:t>23:41</a:t>
            </a:r>
            <a:r>
              <a:rPr lang="en-US" sz="1700" b="1" dirty="0">
                <a:solidFill>
                  <a:schemeClr val="tx2"/>
                </a:solidFill>
              </a:rPr>
              <a:t> — Samuel said 11.40.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2.  </a:t>
            </a:r>
            <a:r>
              <a:rPr lang="en-US" sz="1700" dirty="0">
                <a:solidFill>
                  <a:schemeClr val="tx1"/>
                </a:solidFill>
              </a:rPr>
              <a:t>Which line shows </a:t>
            </a:r>
            <a:r>
              <a:rPr lang="en-US" sz="1700" b="1" dirty="0">
                <a:solidFill>
                  <a:schemeClr val="tx1"/>
                </a:solidFill>
              </a:rPr>
              <a:t>somebody</a:t>
            </a:r>
            <a:r>
              <a:rPr lang="en-US" sz="1700" dirty="0">
                <a:solidFill>
                  <a:schemeClr val="tx1"/>
                </a:solidFill>
              </a:rPr>
              <a:t> in 2F after the works?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→ </a:t>
            </a:r>
            <a:r>
              <a:rPr lang="en-US" sz="1700" b="1" dirty="0">
                <a:solidFill>
                  <a:schemeClr val="tx2"/>
                </a:solidFill>
              </a:rPr>
              <a:t>20:04</a:t>
            </a:r>
            <a:r>
              <a:rPr lang="en-US" sz="1700" b="1" dirty="0">
                <a:solidFill>
                  <a:schemeClr val="tx2"/>
                </a:solidFill>
              </a:rPr>
              <a:t> — an entry, until the exit at </a:t>
            </a:r>
            <a:r>
              <a:rPr lang="en-US" sz="1700" b="1" dirty="0">
                <a:solidFill>
                  <a:schemeClr val="tx2"/>
                </a:solidFill>
              </a:rPr>
              <a:t>20:19</a:t>
            </a:r>
            <a:r>
              <a:rPr lang="en-US" sz="1700" b="1" dirty="0">
                <a:solidFill>
                  <a:schemeClr val="tx2"/>
                </a:solidFill>
              </a:rPr>
              <a:t>.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 </a:t>
            </a:r>
            <a:r>
              <a:rPr lang="en-US" sz="1700" dirty="0">
                <a:solidFill>
                  <a:schemeClr val="tx1"/>
                </a:solidFill>
              </a:rPr>
              <a:t>Which line shows that somebody </a:t>
            </a:r>
            <a:r>
              <a:rPr lang="en-US" sz="1700" b="1" dirty="0">
                <a:solidFill>
                  <a:schemeClr val="tx1"/>
                </a:solidFill>
              </a:rPr>
              <a:t>could</a:t>
            </a:r>
            <a:r>
              <a:rPr lang="en-US" sz="1700" dirty="0">
                <a:solidFill>
                  <a:schemeClr val="tx1"/>
                </a:solidFill>
              </a:rPr>
              <a:t> have known?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→ </a:t>
            </a:r>
            <a:r>
              <a:rPr lang="en-US" sz="1700" b="1" dirty="0">
                <a:solidFill>
                  <a:schemeClr val="tx2"/>
                </a:solidFill>
              </a:rPr>
              <a:t>23:42</a:t>
            </a:r>
            <a:r>
              <a:rPr lang="en-US" sz="1700" b="1" dirty="0">
                <a:solidFill>
                  <a:schemeClr val="tx2"/>
                </a:solidFill>
              </a:rPr>
              <a:t> — a notification was </a:t>
            </a:r>
            <a:r>
              <a:rPr lang="en-US" sz="1700" b="1" dirty="0">
                <a:solidFill>
                  <a:schemeClr val="tx2"/>
                </a:solidFill>
              </a:rPr>
              <a:t>delivered</a:t>
            </a:r>
            <a:r>
              <a:rPr lang="en-US" sz="1700" b="1" dirty="0">
                <a:solidFill>
                  <a:schemeClr val="tx2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words of a log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WORD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5330952"/>
              </a:tblGrid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ENGLISH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 EXHIBIT 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log · a line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 journal · une ligne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Samuel taps a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line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of the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printout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impression papier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 puts a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printout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on the table.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threshold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 seuil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TEMPERATURE ALARM —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threshold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28 °C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 access badge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 badge d’accès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access badge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0447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 entry · an exit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entrée · une sortie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badge 0102 —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entry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… —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exit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notification · delivered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alerte · remise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Alarm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notification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sent — status: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delivered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humidity · a sensor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l’humidité · un capteur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HUMIDITY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ALARM — threshold 85 %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 automatic shutdown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 arrêt automatique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unit 3 —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automatic shutdown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rack · a unit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 baie · un serveur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Server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rack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A2 —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unit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GF · 2F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rez-de-chaussée · 2e étage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Zone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GF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— cleaning team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a time, give a duration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11–12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293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+ 24-HOUR CLOCK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2219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23:41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7523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twenty-three forty-one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9808" y="31181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3209544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= eleven forty-one </a:t>
            </a:r>
            <a:r>
              <a:rPr lang="en-US" sz="1700" b="1" dirty="0">
                <a:solidFill>
                  <a:schemeClr val="tx1"/>
                </a:solidFill>
              </a:rPr>
              <a:t>p.m.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71850" y="1783080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73018" y="19293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+ A ZERO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73018" y="22219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20:04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3573018" y="27523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twenty oh four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573018" y="31181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73018" y="3209544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= four minutes past eight </a:t>
            </a:r>
            <a:r>
              <a:rPr lang="en-US" sz="1700" b="1" dirty="0">
                <a:solidFill>
                  <a:schemeClr val="tx1"/>
                </a:solidFill>
              </a:rPr>
              <a:t>p.m.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195060" y="1783080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96228" y="19293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+ MORNING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96228" y="22219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06:47</a:t>
            </a:r>
            <a:endParaRPr lang="en-US" sz="2300" dirty="0"/>
          </a:p>
        </p:txBody>
      </p:sp>
      <p:sp>
        <p:nvSpPr>
          <p:cNvPr id="21" name="Text 18"/>
          <p:cNvSpPr txBox="1"/>
          <p:nvPr/>
        </p:nvSpPr>
        <p:spPr>
          <a:xfrm>
            <a:off x="6396228" y="27523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six forty-seven a.m.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396228" y="31181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96228" y="3209544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a.m.</a:t>
            </a:r>
            <a:r>
              <a:rPr lang="en-US" sz="1700" dirty="0">
                <a:solidFill>
                  <a:schemeClr val="tx1"/>
                </a:solidFill>
              </a:rPr>
              <a:t> = from midnight to noon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9018270" y="1783080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19438" y="1929384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+ SPOKEN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19438" y="2221992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ten to seven</a:t>
            </a:r>
            <a:endParaRPr lang="en-US" sz="2300" dirty="0"/>
          </a:p>
        </p:txBody>
      </p:sp>
      <p:sp>
        <p:nvSpPr>
          <p:cNvPr id="27" name="Text 24"/>
          <p:cNvSpPr txBox="1"/>
          <p:nvPr/>
        </p:nvSpPr>
        <p:spPr>
          <a:xfrm>
            <a:off x="9219438" y="2752344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= 06:50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219438" y="3118104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19438" y="3209544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 quarter past</a:t>
            </a:r>
            <a:r>
              <a:rPr lang="en-US" sz="1700" dirty="0">
                <a:solidFill>
                  <a:schemeClr val="tx1"/>
                </a:solidFill>
              </a:rPr>
              <a:t> eight = 08:15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548640" y="4146804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4293108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+ FROM … TO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49808" y="4585716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from … to</a:t>
            </a:r>
            <a:endParaRPr lang="en-US" sz="2300" dirty="0"/>
          </a:p>
        </p:txBody>
      </p:sp>
      <p:sp>
        <p:nvSpPr>
          <p:cNvPr id="33" name="Text 30"/>
          <p:cNvSpPr txBox="1"/>
          <p:nvPr/>
        </p:nvSpPr>
        <p:spPr>
          <a:xfrm>
            <a:off x="749808" y="5116068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de … à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49808" y="5481828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9808" y="5573268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from</a:t>
            </a:r>
            <a:r>
              <a:rPr lang="en-US" sz="1700" dirty="0">
                <a:solidFill>
                  <a:schemeClr val="tx1"/>
                </a:solidFill>
              </a:rPr>
              <a:t> 20:04 </a:t>
            </a:r>
            <a:r>
              <a:rPr lang="en-US" sz="1700" b="1" dirty="0">
                <a:solidFill>
                  <a:schemeClr val="tx1"/>
                </a:solidFill>
              </a:rPr>
              <a:t>to</a:t>
            </a:r>
            <a:r>
              <a:rPr lang="en-US" sz="1700" dirty="0">
                <a:solidFill>
                  <a:schemeClr val="tx1"/>
                </a:solidFill>
              </a:rPr>
              <a:t> 20:19 = fifteen minutes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3371850" y="4146804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573018" y="4293108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+ BETWEEN … AND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3573018" y="4585716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between … and</a:t>
            </a:r>
            <a:endParaRPr lang="en-US" sz="2300" dirty="0"/>
          </a:p>
        </p:txBody>
      </p:sp>
      <p:sp>
        <p:nvSpPr>
          <p:cNvPr id="39" name="Text 36"/>
          <p:cNvSpPr txBox="1"/>
          <p:nvPr/>
        </p:nvSpPr>
        <p:spPr>
          <a:xfrm>
            <a:off x="3573018" y="5116068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entre … et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3573018" y="5481828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573018" y="5573268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between</a:t>
            </a:r>
            <a:r>
              <a:rPr lang="en-US" sz="1700" dirty="0">
                <a:solidFill>
                  <a:schemeClr val="tx1"/>
                </a:solidFill>
              </a:rPr>
              <a:t> 23:41 </a:t>
            </a:r>
            <a:r>
              <a:rPr lang="en-US" sz="1700" b="1" dirty="0">
                <a:solidFill>
                  <a:schemeClr val="tx1"/>
                </a:solidFill>
              </a:rPr>
              <a:t>and</a:t>
            </a:r>
            <a:r>
              <a:rPr lang="en-US" sz="1700" dirty="0">
                <a:solidFill>
                  <a:schemeClr val="tx1"/>
                </a:solidFill>
              </a:rPr>
              <a:t> 06:47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6195060" y="4146804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96228" y="4293108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+ A DURATION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396228" y="4585716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</a:t>
            </a:r>
            <a:endParaRPr lang="en-US" sz="2300" dirty="0"/>
          </a:p>
        </p:txBody>
      </p:sp>
      <p:sp>
        <p:nvSpPr>
          <p:cNvPr id="45" name="Text 42"/>
          <p:cNvSpPr txBox="1"/>
          <p:nvPr/>
        </p:nvSpPr>
        <p:spPr>
          <a:xfrm>
            <a:off x="6396228" y="5116068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pendant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396228" y="5481828"/>
            <a:ext cx="221970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396228" y="5573268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water ran </a:t>
            </a:r>
            <a:r>
              <a:rPr lang="en-US" sz="1700" b="1" dirty="0">
                <a:solidFill>
                  <a:schemeClr val="tx1"/>
                </a:solidFill>
              </a:rPr>
              <a:t>for</a:t>
            </a:r>
            <a:r>
              <a:rPr lang="en-US" sz="1700" dirty="0">
                <a:solidFill>
                  <a:schemeClr val="tx1"/>
                </a:solidFill>
              </a:rPr>
              <a:t> about seven hours.</a:t>
            </a:r>
            <a:endParaRPr lang="en-US" sz="1700" dirty="0"/>
          </a:p>
        </p:txBody>
      </p:sp>
      <p:sp>
        <p:nvSpPr>
          <p:cNvPr id="48" name="Shape 45"/>
          <p:cNvSpPr/>
          <p:nvPr/>
        </p:nvSpPr>
        <p:spPr>
          <a:xfrm>
            <a:off x="9018270" y="4146804"/>
            <a:ext cx="2622042" cy="2162556"/>
          </a:xfrm>
          <a:prstGeom prst="roundRect">
            <a:avLst>
              <a:gd name="adj" fmla="val 3383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219438" y="4293108"/>
            <a:ext cx="221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⚠ </a:t>
            </a:r>
            <a:r>
              <a:rPr lang="en-US" sz="1200" b="1" spc="150" kern="0" dirty="0">
                <a:solidFill>
                  <a:schemeClr val="accent1"/>
                </a:solidFill>
              </a:rPr>
              <a:t>ATTENTION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9219438" y="4585716"/>
            <a:ext cx="2219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 ≠ during</a:t>
            </a:r>
            <a:endParaRPr lang="en-US" sz="2300" dirty="0"/>
          </a:p>
        </p:txBody>
      </p:sp>
      <p:sp>
        <p:nvSpPr>
          <p:cNvPr id="51" name="Text 48"/>
          <p:cNvSpPr txBox="1"/>
          <p:nvPr/>
        </p:nvSpPr>
        <p:spPr>
          <a:xfrm>
            <a:off x="9219438" y="5116068"/>
            <a:ext cx="22197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pendant + durée · + nom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9219438" y="5481828"/>
            <a:ext cx="2219706" cy="0"/>
          </a:xfrm>
          <a:prstGeom prst="line">
            <a:avLst/>
          </a:prstGeom>
          <a:noFill/>
          <a:ln w="9525">
            <a:solidFill>
              <a:srgbClr val="C0752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219438" y="5573268"/>
            <a:ext cx="221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for</a:t>
            </a:r>
            <a:r>
              <a:rPr lang="en-US" sz="1700" dirty="0">
                <a:solidFill>
                  <a:schemeClr val="tx1"/>
                </a:solidFill>
              </a:rPr>
              <a:t> seven hours · </a:t>
            </a:r>
            <a:r>
              <a:rPr lang="en-US" sz="1700" b="1" dirty="0">
                <a:solidFill>
                  <a:schemeClr val="tx1"/>
                </a:solidFill>
              </a:rPr>
              <a:t>during</a:t>
            </a:r>
            <a:r>
              <a:rPr lang="en-US" sz="1700" dirty="0">
                <a:solidFill>
                  <a:schemeClr val="tx1"/>
                </a:solidFill>
              </a:rPr>
              <a:t> the night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Time bingo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11096"/>
            <a:ext cx="713232" cy="713232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89404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37944"/>
            <a:ext cx="9765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Hear the time — find it on your card.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Everybody · 10 minutes · listening to times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3017520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Draw a 3 × 3 grid. Copy </a:t>
            </a:r>
            <a:r>
              <a:rPr lang="en-US" sz="1700" b="1" dirty="0">
                <a:solidFill>
                  <a:schemeClr val="tx1"/>
                </a:solidFill>
              </a:rPr>
              <a:t>nine times</a:t>
            </a:r>
            <a:r>
              <a:rPr lang="en-US" sz="1700" dirty="0">
                <a:solidFill>
                  <a:schemeClr val="tx1"/>
                </a:solidFill>
              </a:rPr>
              <a:t> from the board, in any order.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48640" y="3707892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653028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Your teacher reads times — in different ways: </a:t>
            </a:r>
            <a:r>
              <a:rPr lang="en-US" sz="1700" i="1" dirty="0">
                <a:solidFill>
                  <a:schemeClr val="tx1"/>
                </a:solidFill>
              </a:rPr>
              <a:t>twenty oh four · eight oh four p.m. · four minutes past eight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4288536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Cross out every time you hear.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48640" y="4978908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924044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Three in a line: shout </a:t>
            </a:r>
            <a:r>
              <a:rPr lang="en-US" sz="1700" b="1" dirty="0">
                <a:solidFill>
                  <a:schemeClr val="tx1"/>
                </a:solidFill>
              </a:rPr>
              <a:t>“Bingo!”</a:t>
            </a:r>
            <a:r>
              <a:rPr lang="en-US" sz="1700" dirty="0">
                <a:solidFill>
                  <a:schemeClr val="tx1"/>
                </a:solidFill>
              </a:rPr>
              <a:t> — then read your line aloud, </a:t>
            </a:r>
            <a:r>
              <a:rPr lang="en-US" sz="1700" b="1" dirty="0">
                <a:solidFill>
                  <a:schemeClr val="tx1"/>
                </a:solidFill>
              </a:rPr>
              <a:t>two ways</a:t>
            </a:r>
            <a:r>
              <a:rPr lang="en-US" sz="1700" dirty="0">
                <a:solidFill>
                  <a:schemeClr val="tx1"/>
                </a:solidFill>
              </a:rPr>
              <a:t> each.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7360920" y="301752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4236A"/>
                </a:solidFill>
              </a:rPr>
              <a:t>THE BOARD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360920" y="3429000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20:04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8453628" y="3429000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23:41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9546336" y="3429000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06:47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0639044" y="3429000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02:16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360920" y="3984498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19:58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453628" y="3984498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23:42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9546336" y="3984498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20:19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0639044" y="3984498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23:44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360920" y="4539996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12:00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8453628" y="4539996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00:00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9546336" y="4539996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07:15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10639044" y="4539996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18:30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7360920" y="5095494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13:05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8453628" y="5095494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08:50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9546336" y="5095494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21:40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10639044" y="5095494"/>
            <a:ext cx="1001268" cy="464058"/>
          </a:xfrm>
          <a:prstGeom prst="roundRect">
            <a:avLst>
              <a:gd name="adj" fmla="val 11823"/>
            </a:avLst>
          </a:prstGeom>
          <a:solidFill>
            <a:srgbClr val="EEF2F8"/>
          </a:solidFill>
          <a:ln w="952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06:50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870448"/>
            <a:ext cx="310896" cy="310896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234440" y="5742432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 win —</a:t>
            </a:r>
            <a:r>
              <a:rPr lang="en-US" sz="1700" dirty="0">
                <a:solidFill>
                  <a:schemeClr val="tx1"/>
                </a:solidFill>
              </a:rPr>
              <a:t> the first correct line. Second round: a student reads the times.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Back to the board — read a log aloud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225796" cy="3432048"/>
          </a:xfrm>
          <a:prstGeom prst="roundRect">
            <a:avLst>
              <a:gd name="adj" fmla="val 2131"/>
            </a:avLst>
          </a:prstGeom>
          <a:solidFill>
            <a:srgbClr val="2E75B6">
              <a:alpha val="8000"/>
            </a:srgbClr>
          </a:solidFill>
          <a:ln w="15875">
            <a:solidFill>
              <a:srgbClr val="2E75B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0253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947672"/>
            <a:ext cx="4265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LOG 1 — A reads, B writes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24328"/>
            <a:ext cx="4722876" cy="247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18:30</a:t>
            </a:r>
            <a:r>
              <a:rPr lang="en-US" sz="1900" dirty="0">
                <a:solidFill>
                  <a:schemeClr val="tx1"/>
                </a:solidFill>
              </a:rPr>
              <a:t> — Zone GF — main door — locked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21:15</a:t>
            </a:r>
            <a:r>
              <a:rPr lang="en-US" sz="1900" dirty="0">
                <a:solidFill>
                  <a:schemeClr val="tx1"/>
                </a:solidFill>
              </a:rPr>
              <a:t> — Zone 1F — motion sensor — alarm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21:32</a:t>
            </a:r>
            <a:r>
              <a:rPr lang="en-US" sz="1900" dirty="0">
                <a:solidFill>
                  <a:schemeClr val="tx1"/>
                </a:solidFill>
              </a:rPr>
              <a:t> — security patrol — arrived on site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21:40</a:t>
            </a:r>
            <a:r>
              <a:rPr lang="en-US" sz="1900" dirty="0">
                <a:solidFill>
                  <a:schemeClr val="tx1"/>
                </a:solidFill>
              </a:rPr>
              <a:t> — Zone 1F — window open — false alarm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00:05</a:t>
            </a:r>
            <a:r>
              <a:rPr lang="en-US" sz="1900" dirty="0">
                <a:solidFill>
                  <a:schemeClr val="tx1"/>
                </a:solidFill>
              </a:rPr>
              <a:t> — Zone 2F — temperature 24 °C — normal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414516" y="1783080"/>
            <a:ext cx="5225796" cy="3432048"/>
          </a:xfrm>
          <a:prstGeom prst="roundRect">
            <a:avLst>
              <a:gd name="adj" fmla="val 2131"/>
            </a:avLst>
          </a:prstGeom>
          <a:solidFill>
            <a:srgbClr val="6E4A9E">
              <a:alpha val="8000"/>
            </a:srgbClr>
          </a:solidFill>
          <a:ln w="15875">
            <a:solidFill>
              <a:srgbClr val="6E4A9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00253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91756" y="1947672"/>
            <a:ext cx="4265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LOG 2 — B reads, A writes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688836" y="2624328"/>
            <a:ext cx="4722876" cy="247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06:12</a:t>
            </a:r>
            <a:r>
              <a:rPr lang="en-US" sz="1900" dirty="0">
                <a:solidFill>
                  <a:schemeClr val="tx1"/>
                </a:solidFill>
              </a:rPr>
              <a:t> — Zone GF — badge entry — cleaning team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07:03</a:t>
            </a:r>
            <a:r>
              <a:rPr lang="en-US" sz="1900" dirty="0">
                <a:solidFill>
                  <a:schemeClr val="tx1"/>
                </a:solidFill>
              </a:rPr>
              <a:t> — car park — barrier — opened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08:45</a:t>
            </a:r>
            <a:r>
              <a:rPr lang="en-US" sz="1900" dirty="0">
                <a:solidFill>
                  <a:schemeClr val="tx1"/>
                </a:solidFill>
              </a:rPr>
              <a:t> — Zone 3F — lift 2 — out of order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10:20</a:t>
            </a:r>
            <a:r>
              <a:rPr lang="en-US" sz="1900" dirty="0">
                <a:solidFill>
                  <a:schemeClr val="tx1"/>
                </a:solidFill>
              </a:rPr>
              <a:t> — lift engineer — arrived on site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12:00</a:t>
            </a:r>
            <a:r>
              <a:rPr lang="en-US" sz="1900" dirty="0">
                <a:solidFill>
                  <a:schemeClr val="tx1"/>
                </a:solidFill>
              </a:rPr>
              <a:t> — Zone 3F — lift 2 — back in service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5838444" y="3243072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48" y="3389376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How to play — </a:t>
            </a:r>
            <a:r>
              <a:rPr lang="en-US" sz="1800" dirty="0">
                <a:solidFill>
                  <a:schemeClr val="tx1"/>
                </a:solidFill>
              </a:rPr>
              <a:t>B sits </a:t>
            </a:r>
            <a:r>
              <a:rPr lang="en-US" sz="1800" b="1" dirty="0">
                <a:solidFill>
                  <a:schemeClr val="tx1"/>
                </a:solidFill>
              </a:rPr>
              <a:t>with their back to the screen</a:t>
            </a:r>
            <a:r>
              <a:rPr lang="en-US" sz="1800" dirty="0">
                <a:solidFill>
                  <a:schemeClr val="tx1"/>
                </a:solidFill>
              </a:rPr>
              <a:t> and writes Log 1 as A reads it. Then swap for Log 2. Check together: every time right? Read times </a:t>
            </a:r>
            <a:r>
              <a:rPr lang="en-US" sz="1800" b="1" dirty="0">
                <a:solidFill>
                  <a:schemeClr val="tx1"/>
                </a:solidFill>
              </a:rPr>
              <a:t>two ways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room vs the log: words to compare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508760" y="1783080"/>
            <a:ext cx="384048" cy="754380"/>
          </a:xfrm>
          <a:prstGeom prst="rect">
            <a:avLst/>
          </a:prstGeom>
          <a:solidFill>
            <a:srgbClr val="3C7A3C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83080"/>
            <a:ext cx="868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✓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167128" y="1828800"/>
            <a:ext cx="9473184" cy="662940"/>
          </a:xfrm>
          <a:prstGeom prst="roundRect">
            <a:avLst>
              <a:gd name="adj" fmla="val 11034"/>
            </a:avLst>
          </a:prstGeom>
          <a:solidFill>
            <a:srgbClr val="3C7A3C">
              <a:alpha val="7000"/>
            </a:srgbClr>
          </a:solidFill>
          <a:ln w="9525">
            <a:solidFill>
              <a:srgbClr val="3C7A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50008" y="182880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MATCHES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995928" y="1828800"/>
            <a:ext cx="3566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matches · confirms · is consistent with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699248" y="1828800"/>
            <a:ext cx="380390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The log confirms that unit 3 shut down at 02:16.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508760" y="2537460"/>
            <a:ext cx="384048" cy="754380"/>
          </a:xfrm>
          <a:prstGeom prst="rect">
            <a:avLst/>
          </a:prstGeom>
          <a:solidFill>
            <a:srgbClr val="5E9A3C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537460"/>
            <a:ext cx="868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E9A3C"/>
                </a:solidFill>
              </a:rPr>
              <a:t>≈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167128" y="2583180"/>
            <a:ext cx="9473184" cy="662940"/>
          </a:xfrm>
          <a:prstGeom prst="roundRect">
            <a:avLst>
              <a:gd name="adj" fmla="val 11034"/>
            </a:avLst>
          </a:prstGeom>
          <a:solidFill>
            <a:srgbClr val="5E9A3C">
              <a:alpha val="7000"/>
            </a:srgbClr>
          </a:solidFill>
          <a:ln w="9525">
            <a:solidFill>
              <a:srgbClr val="5E9A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50008" y="258318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E9A3C"/>
                </a:solidFill>
              </a:rPr>
              <a:t>ROUGHLY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995928" y="2583180"/>
            <a:ext cx="3566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roughly matches · is close to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699248" y="2583180"/>
            <a:ext cx="380390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“Until eight” roughly matches 19:58.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508760" y="3291840"/>
            <a:ext cx="384048" cy="754380"/>
          </a:xfrm>
          <a:prstGeom prst="rect">
            <a:avLst/>
          </a:prstGeom>
          <a:solidFill>
            <a:srgbClr val="2E75B6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291840"/>
            <a:ext cx="868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+1 min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167128" y="3337560"/>
            <a:ext cx="9473184" cy="662940"/>
          </a:xfrm>
          <a:prstGeom prst="roundRect">
            <a:avLst>
              <a:gd name="adj" fmla="val 11034"/>
            </a:avLst>
          </a:prstGeom>
          <a:solidFill>
            <a:srgbClr val="2E75B6">
              <a:alpha val="7000"/>
            </a:srgbClr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350008" y="333756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A GAP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995928" y="3337560"/>
            <a:ext cx="3566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minute later than · three minutes after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699248" y="3337560"/>
            <a:ext cx="380390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23:41 is one minute later than Samuel said.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508760" y="4046220"/>
            <a:ext cx="384048" cy="754380"/>
          </a:xfrm>
          <a:prstGeom prst="rect">
            <a:avLst/>
          </a:prstGeom>
          <a:solidFill>
            <a:srgbClr val="C0752A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046220"/>
            <a:ext cx="868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½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167128" y="4091940"/>
            <a:ext cx="9473184" cy="662940"/>
          </a:xfrm>
          <a:prstGeom prst="roundRect">
            <a:avLst>
              <a:gd name="adj" fmla="val 11034"/>
            </a:avLst>
          </a:prstGeom>
          <a:solidFill>
            <a:srgbClr val="C0752A">
              <a:alpha val="7000"/>
            </a:srgbClr>
          </a:solidFill>
          <a:ln w="9525">
            <a:solidFill>
              <a:srgbClr val="C0752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350008" y="409194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PARTLY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995928" y="4091940"/>
            <a:ext cx="3566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partly confirms · only shows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4091940"/>
            <a:ext cx="380390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The log only shows unit 3 — not two units.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508760" y="4800600"/>
            <a:ext cx="384048" cy="754380"/>
          </a:xfrm>
          <a:prstGeom prst="rect">
            <a:avLst/>
          </a:prstGeom>
          <a:solidFill>
            <a:srgbClr val="B03A2E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4800600"/>
            <a:ext cx="868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✗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167128" y="4846320"/>
            <a:ext cx="9473184" cy="662940"/>
          </a:xfrm>
          <a:prstGeom prst="roundRect">
            <a:avLst>
              <a:gd name="adj" fmla="val 11034"/>
            </a:avLst>
          </a:prstGeom>
          <a:solidFill>
            <a:srgbClr val="B03A2E">
              <a:alpha val="7000"/>
            </a:srgbClr>
          </a:solidFill>
          <a:ln w="9525">
            <a:solidFill>
              <a:srgbClr val="B03A2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350008" y="484632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CONTRADICTS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995928" y="4846320"/>
            <a:ext cx="3566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contradicts · does not match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7699248" y="4846320"/>
            <a:ext cx="380390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The 20:04 entry contradicts “nobody was on site”.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508760" y="5554980"/>
            <a:ext cx="384048" cy="754380"/>
          </a:xfrm>
          <a:prstGeom prst="rect">
            <a:avLst/>
          </a:prstGeom>
          <a:solidFill>
            <a:srgbClr val="44546A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" y="5554980"/>
            <a:ext cx="868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∅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2167128" y="5600700"/>
            <a:ext cx="9473184" cy="662940"/>
          </a:xfrm>
          <a:prstGeom prst="roundRect">
            <a:avLst>
              <a:gd name="adj" fmla="val 11034"/>
            </a:avLst>
          </a:prstGeom>
          <a:solidFill>
            <a:srgbClr val="44546A">
              <a:alpha val="7000"/>
            </a:srgbClr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50008" y="5600700"/>
            <a:ext cx="16002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NO RECORD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3995928" y="5600700"/>
            <a:ext cx="3566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log does not say · there is no record of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5600700"/>
            <a:ext cx="380390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There is no record of anyone reading the alert.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log against the room — Q1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Vote with your fingers: one finger = A, two = B…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37232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</a:t>
            </a:r>
            <a:r>
              <a:rPr lang="en-US" sz="2200" dirty="0">
                <a:solidFill>
                  <a:schemeClr val="tx1"/>
                </a:solidFill>
              </a:rPr>
              <a:t> Samuel said the alarm went off at 11.40 p.m. </a:t>
            </a:r>
            <a:r>
              <a:rPr lang="en-US" sz="2200" b="1" dirty="0">
                <a:solidFill>
                  <a:schemeClr val="tx1"/>
                </a:solidFill>
              </a:rPr>
              <a:t>What does the log actually show?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947416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294888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3002280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same time, to the minute — Samuel read it from the log.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08776" y="2947416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3294888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77456" y="3002280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23:41 — one minute later than he remembered, so his figure came from memory.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4364736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4712208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419600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23:44 — he confused the temperature alarm with the humidity alarm.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208776" y="4364736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9944" y="4712208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77456" y="4419600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log gives no time for the alarm, only for the notification.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log against the room — Q1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Vote with your fingers: one finger = A, two = B…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37232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</a:t>
            </a:r>
            <a:r>
              <a:rPr lang="en-US" sz="2200" dirty="0">
                <a:solidFill>
                  <a:schemeClr val="tx1"/>
                </a:solidFill>
              </a:rPr>
              <a:t> Samuel said the alarm went off at 11.40 p.m. </a:t>
            </a:r>
            <a:r>
              <a:rPr lang="en-US" sz="2200" b="1" dirty="0">
                <a:solidFill>
                  <a:schemeClr val="tx1"/>
                </a:solidFill>
              </a:rPr>
              <a:t>What does the log actually show?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947416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226308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3002280"/>
            <a:ext cx="41056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The same time, to the minute — Samuel read it from the log.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08776" y="2947416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3C7A3C">
              <a:alpha val="14000"/>
            </a:srgbClr>
          </a:solidFill>
          <a:ln w="25400">
            <a:solidFill>
              <a:srgbClr val="3C7A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3226308"/>
            <a:ext cx="493776" cy="49377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77456" y="3002280"/>
            <a:ext cx="41056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23:41 — one minute later than he remembered, so his figure came from memory.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075432"/>
            <a:ext cx="292608" cy="2926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227576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9808" y="4506468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4282440"/>
            <a:ext cx="41056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23:44 — he confused the temperature alarm with the humidity alarm.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208776" y="4227576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9944" y="4506468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7077456" y="4282440"/>
            <a:ext cx="41056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The log gives no time for the alarm, only for the notification.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548640" y="5507736"/>
            <a:ext cx="11091672" cy="801624"/>
          </a:xfrm>
          <a:prstGeom prst="roundRect">
            <a:avLst>
              <a:gd name="adj" fmla="val 9125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25668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25880" y="5562600"/>
            <a:ext cx="10085832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Why?  </a:t>
            </a:r>
            <a:r>
              <a:rPr lang="en-US" sz="1700" dirty="0">
                <a:solidFill>
                  <a:schemeClr val="tx1"/>
                </a:solidFill>
              </a:rPr>
              <a:t>Samuel said </a:t>
            </a:r>
            <a:r>
              <a:rPr lang="en-US" sz="1700" b="1" dirty="0">
                <a:solidFill>
                  <a:schemeClr val="tx1"/>
                </a:solidFill>
              </a:rPr>
              <a:t>11.40 p.m.</a:t>
            </a:r>
            <a:r>
              <a:rPr lang="en-US" sz="1700" dirty="0">
                <a:solidFill>
                  <a:schemeClr val="tx1"/>
                </a:solidFill>
              </a:rPr>
              <a:t>; the log says </a:t>
            </a:r>
            <a:r>
              <a:rPr lang="en-US" sz="1700" b="1" dirty="0">
                <a:solidFill>
                  <a:schemeClr val="tx1"/>
                </a:solidFill>
              </a:rPr>
              <a:t>23:41</a:t>
            </a:r>
            <a:r>
              <a:rPr lang="en-US" sz="1700" dirty="0">
                <a:solidFill>
                  <a:schemeClr val="tx1"/>
                </a:solidFill>
              </a:rPr>
              <a:t>. One minute is nothing — unless the assessor notices that the figure came </a:t>
            </a:r>
            <a:r>
              <a:rPr lang="en-US" sz="1700" b="1" dirty="0">
                <a:solidFill>
                  <a:schemeClr val="tx1"/>
                </a:solidFill>
              </a:rPr>
              <a:t>from memory</a:t>
            </a:r>
            <a:r>
              <a:rPr lang="en-US" sz="1700" dirty="0">
                <a:solidFill>
                  <a:schemeClr val="tx1"/>
                </a:solidFill>
              </a:rPr>
              <a:t>. In the report, every time comes </a:t>
            </a:r>
            <a:r>
              <a:rPr lang="en-US" sz="1700" b="1" dirty="0">
                <a:solidFill>
                  <a:schemeClr val="tx1"/>
                </a:solidFill>
              </a:rPr>
              <a:t>from Exhibit A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log against the room — Q2 · Q4 · Q5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5" name="exercise"/>
          <p:cNvSpPr txBox="1"/>
          <p:nvPr/>
        </p:nvSpPr>
        <p:spPr>
          <a:xfrm>
            <a:off x="548640" y="1783080"/>
            <a:ext cx="1109167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2.</a:t>
            </a:r>
            <a:r>
              <a:rPr lang="en-US" sz="2200" dirty="0">
                <a:solidFill>
                  <a:schemeClr val="tx1"/>
                </a:solidFill>
              </a:rPr>
              <a:t> Samuel said that nobody was on site that night. </a:t>
            </a:r>
            <a:r>
              <a:rPr lang="en-US" sz="2200" b="1" dirty="0">
                <a:solidFill>
                  <a:schemeClr val="tx1"/>
                </a:solidFill>
              </a:rPr>
              <a:t>Which line shows that somebody was in zone 2F after the cabling team had gone, and for how long?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4.</a:t>
            </a:r>
            <a:r>
              <a:rPr lang="en-US" sz="2200" dirty="0">
                <a:solidFill>
                  <a:schemeClr val="tx1"/>
                </a:solidFill>
              </a:rPr>
              <a:t> Between which two lines did the water run without anyone knowing? Give the length of that period.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5.</a:t>
            </a:r>
            <a:r>
              <a:rPr lang="en-US" sz="2200" dirty="0">
                <a:solidFill>
                  <a:schemeClr val="tx1"/>
                </a:solidFill>
              </a:rPr>
              <a:t> What happened at 02:16, and what does it prove about the water?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log against the room — Q2 · Q4 · Q5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783080"/>
            <a:ext cx="1109167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</a:t>
            </a:r>
            <a:r>
              <a:rPr lang="en-US" sz="1700" dirty="0">
                <a:solidFill>
                  <a:schemeClr val="tx1"/>
                </a:solidFill>
              </a:rPr>
              <a:t> Samuel said that nobody was on site that night. </a:t>
            </a:r>
            <a:r>
              <a:rPr lang="en-US" sz="1700" b="1" dirty="0">
                <a:solidFill>
                  <a:schemeClr val="tx1"/>
                </a:solidFill>
              </a:rPr>
              <a:t>Which line shows that somebody was in zone 2F after the cabling team had gone, and for how long?</a:t>
            </a:r>
            <a:endParaRPr lang="en-US" sz="17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→ </a:t>
            </a:r>
            <a:r>
              <a:rPr lang="en-US" sz="1700" b="1" dirty="0">
                <a:solidFill>
                  <a:schemeClr val="tx2"/>
                </a:solidFill>
              </a:rPr>
              <a:t>Lines </a:t>
            </a:r>
            <a:r>
              <a:rPr lang="en-US" sz="1700" b="1" dirty="0">
                <a:solidFill>
                  <a:schemeClr val="tx2"/>
                </a:solidFill>
              </a:rPr>
              <a:t>20:04</a:t>
            </a:r>
            <a:r>
              <a:rPr lang="en-US" sz="1700" b="1" dirty="0">
                <a:solidFill>
                  <a:schemeClr val="tx2"/>
                </a:solidFill>
              </a:rPr>
              <a:t> (entry) and </a:t>
            </a:r>
            <a:r>
              <a:rPr lang="en-US" sz="1700" b="1" dirty="0">
                <a:solidFill>
                  <a:schemeClr val="tx2"/>
                </a:solidFill>
              </a:rPr>
              <a:t>20:19</a:t>
            </a:r>
            <a:r>
              <a:rPr lang="en-US" sz="1700" b="1" dirty="0">
                <a:solidFill>
                  <a:schemeClr val="tx2"/>
                </a:solidFill>
              </a:rPr>
              <a:t> (exit): somebody was in zone 2F for </a:t>
            </a:r>
            <a:r>
              <a:rPr lang="en-US" sz="1700" b="1" dirty="0">
                <a:solidFill>
                  <a:schemeClr val="tx2"/>
                </a:solidFill>
              </a:rPr>
              <a:t>fifteen minutes</a:t>
            </a:r>
            <a:r>
              <a:rPr lang="en-US" sz="1700" b="1" dirty="0">
                <a:solidFill>
                  <a:schemeClr val="tx2"/>
                </a:solidFill>
              </a:rPr>
              <a:t> after the cabling team left at 19:58.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</a:t>
            </a:r>
            <a:r>
              <a:rPr lang="en-US" sz="1700" dirty="0">
                <a:solidFill>
                  <a:schemeClr val="tx1"/>
                </a:solidFill>
              </a:rPr>
              <a:t> Between which two lines did the water run without anyone knowing? Give the length of that period.</a:t>
            </a:r>
            <a:endParaRPr lang="en-US" sz="17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→ </a:t>
            </a:r>
            <a:r>
              <a:rPr lang="en-US" sz="1700" b="1" dirty="0">
                <a:solidFill>
                  <a:schemeClr val="tx2"/>
                </a:solidFill>
              </a:rPr>
              <a:t>Between </a:t>
            </a:r>
            <a:r>
              <a:rPr lang="en-US" sz="1700" b="1" dirty="0">
                <a:solidFill>
                  <a:schemeClr val="tx2"/>
                </a:solidFill>
              </a:rPr>
              <a:t>23:41</a:t>
            </a:r>
            <a:r>
              <a:rPr lang="en-US" sz="1700" b="1" dirty="0">
                <a:solidFill>
                  <a:schemeClr val="tx2"/>
                </a:solidFill>
              </a:rPr>
              <a:t> (temperature alarm) and </a:t>
            </a:r>
            <a:r>
              <a:rPr lang="en-US" sz="1700" b="1" dirty="0">
                <a:solidFill>
                  <a:schemeClr val="tx2"/>
                </a:solidFill>
              </a:rPr>
              <a:t>06:47</a:t>
            </a:r>
            <a:r>
              <a:rPr lang="en-US" sz="1700" b="1" dirty="0">
                <a:solidFill>
                  <a:schemeClr val="tx2"/>
                </a:solidFill>
              </a:rPr>
              <a:t> (cleaning team entry): about </a:t>
            </a:r>
            <a:r>
              <a:rPr lang="en-US" sz="1700" b="1" dirty="0">
                <a:solidFill>
                  <a:schemeClr val="tx2"/>
                </a:solidFill>
              </a:rPr>
              <a:t>seven hours</a:t>
            </a:r>
            <a:r>
              <a:rPr lang="en-US" sz="1700" b="1" dirty="0">
                <a:solidFill>
                  <a:schemeClr val="tx2"/>
                </a:solidFill>
              </a:rPr>
              <a:t> (7 h 06).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5.</a:t>
            </a:r>
            <a:r>
              <a:rPr lang="en-US" sz="1700" dirty="0">
                <a:solidFill>
                  <a:schemeClr val="tx1"/>
                </a:solidFill>
              </a:rPr>
              <a:t> What happened at 02:16, and what does it prove about the water?</a:t>
            </a:r>
            <a:endParaRPr lang="en-US" sz="17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→ </a:t>
            </a:r>
            <a:r>
              <a:rPr lang="en-US" sz="1700" b="1" dirty="0">
                <a:solidFill>
                  <a:schemeClr val="tx2"/>
                </a:solidFill>
              </a:rPr>
              <a:t>Unit 3 of rack A2 </a:t>
            </a:r>
            <a:r>
              <a:rPr lang="en-US" sz="1700" b="1" dirty="0">
                <a:solidFill>
                  <a:schemeClr val="tx2"/>
                </a:solidFill>
              </a:rPr>
              <a:t>shut down automatically</a:t>
            </a:r>
            <a:r>
              <a:rPr lang="en-US" sz="1700" b="1" dirty="0">
                <a:solidFill>
                  <a:schemeClr val="tx2"/>
                </a:solidFill>
              </a:rPr>
              <a:t>: the damage </a:t>
            </a:r>
            <a:r>
              <a:rPr lang="en-US" sz="1700" b="1" dirty="0">
                <a:solidFill>
                  <a:schemeClr val="tx2"/>
                </a:solidFill>
              </a:rPr>
              <a:t>was still spreading</a:t>
            </a:r>
            <a:r>
              <a:rPr lang="en-US" sz="1700" b="1" dirty="0">
                <a:solidFill>
                  <a:schemeClr val="tx2"/>
                </a:solidFill>
              </a:rPr>
              <a:t> more than two hours after the alarm. It does </a:t>
            </a:r>
            <a:r>
              <a:rPr lang="en-US" sz="1700" b="1" dirty="0">
                <a:solidFill>
                  <a:schemeClr val="tx2"/>
                </a:solidFill>
              </a:rPr>
              <a:t>not</a:t>
            </a:r>
            <a:r>
              <a:rPr lang="en-US" sz="1700" b="1" dirty="0">
                <a:solidFill>
                  <a:schemeClr val="tx2"/>
                </a:solidFill>
              </a:rPr>
              <a:t> prove where the water came from.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log against the room — Q3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3.</a:t>
            </a:r>
            <a:r>
              <a:rPr lang="en-US" sz="2200" dirty="0">
                <a:solidFill>
                  <a:schemeClr val="tx1"/>
                </a:solidFill>
              </a:rPr>
              <a:t> One line shows that somebody </a:t>
            </a:r>
            <a:r>
              <a:rPr lang="en-US" sz="2200" b="1" dirty="0">
                <a:solidFill>
                  <a:schemeClr val="tx1"/>
                </a:solidFill>
              </a:rPr>
              <a:t>could</a:t>
            </a:r>
            <a:r>
              <a:rPr lang="en-US" sz="2200" dirty="0">
                <a:solidFill>
                  <a:schemeClr val="tx1"/>
                </a:solidFill>
              </a:rPr>
              <a:t> have known during the night. Which one?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23:41 — the temperature alarm reached its threshold.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23:42 — a notification was sent to a mobile and marked </a:t>
            </a:r>
            <a:r>
              <a:rPr lang="en-US" sz="1900" i="1" dirty="0">
                <a:solidFill>
                  <a:schemeClr val="tx1"/>
                </a:solidFill>
              </a:rPr>
              <a:t>delivered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02:16 — a server unit shut down automatically.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06:47 — the cleaning team entered the ground floor.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log against the room — Q3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3.</a:t>
            </a:r>
            <a:r>
              <a:rPr lang="en-US" sz="2200" dirty="0">
                <a:solidFill>
                  <a:schemeClr val="tx1"/>
                </a:solidFill>
              </a:rPr>
              <a:t> One line shows that somebody </a:t>
            </a:r>
            <a:r>
              <a:rPr lang="en-US" sz="2200" b="1" dirty="0">
                <a:solidFill>
                  <a:schemeClr val="tx1"/>
                </a:solidFill>
              </a:rPr>
              <a:t>could</a:t>
            </a:r>
            <a:r>
              <a:rPr lang="en-US" sz="2200" dirty="0">
                <a:solidFill>
                  <a:schemeClr val="tx1"/>
                </a:solidFill>
              </a:rPr>
              <a:t> have known during the night. Which one?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23:41 — the temperature alarm reached its threshold.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3C7A3C">
              <a:alpha val="14000"/>
            </a:srgbClr>
          </a:solidFill>
          <a:ln w="25400">
            <a:solidFill>
              <a:srgbClr val="3C7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23:42 — a notification was sent to a mobile and marked </a:t>
            </a:r>
            <a:r>
              <a:rPr lang="en-US" sz="1900" i="1" dirty="0">
                <a:solidFill>
                  <a:schemeClr val="tx1"/>
                </a:solidFill>
              </a:rPr>
              <a:t>delivered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621280"/>
            <a:ext cx="292608" cy="2926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02:16 — a server unit shut down automatically.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06:47 — the cleaning team entered the ground floor.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8640" y="5507736"/>
            <a:ext cx="11091672" cy="801624"/>
          </a:xfrm>
          <a:prstGeom prst="roundRect">
            <a:avLst>
              <a:gd name="adj" fmla="val 9125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25668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25880" y="5562600"/>
            <a:ext cx="10085832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Why?  </a:t>
            </a:r>
            <a:r>
              <a:rPr lang="en-US" sz="1700" dirty="0">
                <a:solidFill>
                  <a:schemeClr val="tx1"/>
                </a:solidFill>
              </a:rPr>
              <a:t>23:42: a notification was </a:t>
            </a:r>
            <a:r>
              <a:rPr lang="en-US" sz="1700" b="1" dirty="0">
                <a:solidFill>
                  <a:schemeClr val="tx1"/>
                </a:solidFill>
              </a:rPr>
              <a:t>sent</a:t>
            </a:r>
            <a:r>
              <a:rPr lang="en-US" sz="1700" dirty="0">
                <a:solidFill>
                  <a:schemeClr val="tx1"/>
                </a:solidFill>
              </a:rPr>
              <a:t> and </a:t>
            </a:r>
            <a:r>
              <a:rPr lang="en-US" sz="1700" b="1" dirty="0">
                <a:solidFill>
                  <a:schemeClr val="tx1"/>
                </a:solidFill>
              </a:rPr>
              <a:t>delivered</a:t>
            </a:r>
            <a:r>
              <a:rPr lang="en-US" sz="1700" dirty="0">
                <a:solidFill>
                  <a:schemeClr val="tx1"/>
                </a:solidFill>
              </a:rPr>
              <a:t> to a mobile — the phone received it, so somebody </a:t>
            </a:r>
            <a:r>
              <a:rPr lang="en-US" sz="1700" b="1" dirty="0">
                <a:solidFill>
                  <a:schemeClr val="tx1"/>
                </a:solidFill>
              </a:rPr>
              <a:t>could</a:t>
            </a:r>
            <a:r>
              <a:rPr lang="en-US" sz="1700" dirty="0">
                <a:solidFill>
                  <a:schemeClr val="tx1"/>
                </a:solidFill>
              </a:rPr>
              <a:t> have known. It does not prove that anybody </a:t>
            </a:r>
            <a:r>
              <a:rPr lang="en-US" sz="1700" b="1" dirty="0">
                <a:solidFill>
                  <a:schemeClr val="tx1"/>
                </a:solidFill>
              </a:rPr>
              <a:t>read</a:t>
            </a:r>
            <a:r>
              <a:rPr lang="en-US" sz="1700" dirty="0">
                <a:solidFill>
                  <a:schemeClr val="tx1"/>
                </a:solidFill>
              </a:rPr>
              <a:t> it (see the IT expert, Séance 8).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log against the room — Q6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5" name="exercise"/>
          <p:cNvSpPr txBox="1"/>
          <p:nvPr/>
        </p:nvSpPr>
        <p:spPr>
          <a:xfrm>
            <a:off x="548640" y="1783080"/>
            <a:ext cx="1109167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6.</a:t>
            </a:r>
            <a:r>
              <a:rPr lang="en-US" sz="2400" dirty="0">
                <a:solidFill>
                  <a:schemeClr val="tx1"/>
                </a:solidFill>
              </a:rPr>
              <a:t> Which single line of this log is the most dangerous for us, and who does it point at? Answer in two lines — </a:t>
            </a:r>
            <a:r>
              <a:rPr lang="en-US" sz="2400" b="1" dirty="0">
                <a:solidFill>
                  <a:schemeClr val="tx1"/>
                </a:solidFill>
              </a:rPr>
              <a:t>and be careful how you name that person.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log against the room — Q6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783080"/>
            <a:ext cx="11091672" cy="352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6.</a:t>
            </a:r>
            <a:r>
              <a:rPr lang="en-US" sz="2000" dirty="0">
                <a:solidFill>
                  <a:schemeClr val="tx1"/>
                </a:solidFill>
              </a:rPr>
              <a:t> Which single line of this log is the most dangerous for us, and who does it point at? Answer in two lines — </a:t>
            </a:r>
            <a:r>
              <a:rPr lang="en-US" sz="2000" b="1" dirty="0">
                <a:solidFill>
                  <a:schemeClr val="tx1"/>
                </a:solidFill>
              </a:rPr>
              <a:t>and be careful how you name that person.</a:t>
            </a:r>
            <a:endParaRPr lang="en-US" sz="20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→ </a:t>
            </a:r>
            <a:r>
              <a:rPr lang="en-US" sz="2000" b="1" dirty="0">
                <a:solidFill>
                  <a:schemeClr val="tx2"/>
                </a:solidFill>
              </a:rPr>
              <a:t>20:04</a:t>
            </a:r>
            <a:r>
              <a:rPr lang="en-US" sz="2000" b="1" dirty="0">
                <a:solidFill>
                  <a:schemeClr val="tx2"/>
                </a:solidFill>
              </a:rPr>
              <a:t> — badge 0102, entry, “site manager”: it places one identifiable person in zone 2F </a:t>
            </a:r>
            <a:r>
              <a:rPr lang="en-US" sz="2000" b="1" dirty="0">
                <a:solidFill>
                  <a:schemeClr val="tx2"/>
                </a:solidFill>
              </a:rPr>
              <a:t>after</a:t>
            </a:r>
            <a:r>
              <a:rPr lang="en-US" sz="2000" b="1" dirty="0">
                <a:solidFill>
                  <a:schemeClr val="tx2"/>
                </a:solidFill>
              </a:rPr>
              <a:t> the works, a few hours before the alarm. Careful wording: </a:t>
            </a:r>
            <a:r>
              <a:rPr lang="en-US" sz="2000" b="1" i="1" dirty="0">
                <a:solidFill>
                  <a:schemeClr val="tx2"/>
                </a:solidFill>
              </a:rPr>
              <a:t>An access to zone 2F was recorded at 20:04.</a:t>
            </a:r>
            <a:r>
              <a:rPr lang="en-US" sz="2000" b="1" dirty="0">
                <a:solidFill>
                  <a:schemeClr val="tx2"/>
                </a:solidFill>
              </a:rPr>
              <a:t> — no badge number, no job title.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Watch out — </a:t>
            </a:r>
            <a:r>
              <a:rPr lang="en-US" sz="1800" dirty="0">
                <a:solidFill>
                  <a:schemeClr val="tx1"/>
                </a:solidFill>
              </a:rPr>
              <a:t>also acceptable: </a:t>
            </a:r>
            <a:r>
              <a:rPr lang="en-US" sz="1800" b="1" dirty="0">
                <a:solidFill>
                  <a:schemeClr val="tx1"/>
                </a:solidFill>
              </a:rPr>
              <a:t>23:42</a:t>
            </a:r>
            <a:r>
              <a:rPr lang="en-US" sz="1800" dirty="0">
                <a:solidFill>
                  <a:schemeClr val="tx1"/>
                </a:solidFill>
              </a:rPr>
              <a:t> (the mobile that received the alert), if justified · ✗ </a:t>
            </a:r>
            <a:r>
              <a:rPr lang="en-US" sz="1800" i="1" dirty="0">
                <a:solidFill>
                  <a:schemeClr val="tx1"/>
                </a:solidFill>
              </a:rPr>
              <a:t>The site manager entered the room at 20:04.</a:t>
            </a:r>
            <a:r>
              <a:rPr lang="en-US" sz="1800" dirty="0">
                <a:solidFill>
                  <a:schemeClr val="tx1"/>
                </a:solidFill>
              </a:rPr>
              <a:t> = an accusation.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Can I write it in the report?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09294" y="1737360"/>
            <a:ext cx="3387852" cy="384048"/>
          </a:xfrm>
          <a:prstGeom prst="roundRect">
            <a:avLst>
              <a:gd name="adj" fmla="val 47619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Something you want to write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903220" y="2139696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48640" y="2468880"/>
            <a:ext cx="4709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" y="2715768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82549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2505456"/>
            <a:ext cx="38679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 it only a </a:t>
            </a:r>
            <a:r>
              <a:rPr lang="en-US" sz="1700" b="1" dirty="0">
                <a:solidFill>
                  <a:schemeClr val="tx2"/>
                </a:solidFill>
              </a:rPr>
              <a:t>memory</a:t>
            </a:r>
            <a:r>
              <a:rPr lang="en-US" sz="1700" b="1" dirty="0">
                <a:solidFill>
                  <a:schemeClr val="tx2"/>
                </a:solidFill>
              </a:rPr>
              <a:t> or a </a:t>
            </a:r>
            <a:r>
              <a:rPr lang="en-US" sz="1700" b="1" dirty="0">
                <a:solidFill>
                  <a:schemeClr val="tx2"/>
                </a:solidFill>
              </a:rPr>
              <a:t>guess</a:t>
            </a:r>
            <a:r>
              <a:rPr lang="en-US" sz="1700" b="1" dirty="0">
                <a:solidFill>
                  <a:schemeClr val="tx2"/>
                </a:solidFill>
              </a:rPr>
              <a:t>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“around eleven” · “I think” · “nobody was there”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276088" y="2935224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525780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468880"/>
            <a:ext cx="5468112" cy="932688"/>
          </a:xfrm>
          <a:prstGeom prst="roundRect">
            <a:avLst>
              <a:gd name="adj" fmla="val 7843"/>
            </a:avLst>
          </a:prstGeom>
          <a:solidFill>
            <a:srgbClr val="B03A2E">
              <a:alpha val="12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36792" y="2505456"/>
            <a:ext cx="5138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6"/>
                </a:solidFill>
              </a:rPr>
              <a:t>NOT AS A FACT — check it first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Samuel remembers 11.40; the log shows 23:41.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903220" y="3419856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2994660" y="3401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749040"/>
            <a:ext cx="47091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4944" y="3995928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10565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61872" y="3785616"/>
            <a:ext cx="38679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Does it </a:t>
            </a:r>
            <a:r>
              <a:rPr lang="en-US" sz="1700" b="1" dirty="0">
                <a:solidFill>
                  <a:schemeClr val="tx2"/>
                </a:solidFill>
              </a:rPr>
              <a:t>name</a:t>
            </a:r>
            <a:r>
              <a:rPr lang="en-US" sz="1700" b="1" dirty="0">
                <a:solidFill>
                  <a:schemeClr val="tx2"/>
                </a:solidFill>
              </a:rPr>
              <a:t> someone — a name, a badge, a job title?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badge 0102 · “site manager”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276088" y="4215384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23" name="Text 18"/>
          <p:cNvSpPr txBox="1"/>
          <p:nvPr/>
        </p:nvSpPr>
        <p:spPr>
          <a:xfrm>
            <a:off x="525780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72200" y="3749040"/>
            <a:ext cx="5468112" cy="932688"/>
          </a:xfrm>
          <a:prstGeom prst="roundRect">
            <a:avLst>
              <a:gd name="adj" fmla="val 7843"/>
            </a:avLst>
          </a:prstGeom>
          <a:solidFill>
            <a:srgbClr val="C0752A">
              <a:alpha val="12000"/>
            </a:srgbClr>
          </a:solidFill>
          <a:ln w="19050">
            <a:solidFill>
              <a:srgbClr val="C0752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336792" y="3785616"/>
            <a:ext cx="51389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1"/>
                </a:solidFill>
              </a:rPr>
              <a:t>REMOVE THE NAME — KEEP THE FACT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An access to zone 2F </a:t>
            </a:r>
            <a:r>
              <a:rPr lang="en-US" sz="1600" b="1" i="1" dirty="0">
                <a:solidFill>
                  <a:schemeClr val="tx1"/>
                </a:solidFill>
              </a:rPr>
              <a:t>was recorded</a:t>
            </a:r>
            <a:r>
              <a:rPr lang="en-US" sz="1600" i="1" dirty="0">
                <a:solidFill>
                  <a:schemeClr val="tx1"/>
                </a:solidFill>
              </a:rPr>
              <a:t> at 20:04.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2903220" y="4700016"/>
            <a:ext cx="0" cy="310896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7" name="Text 22"/>
          <p:cNvSpPr txBox="1"/>
          <p:nvPr/>
        </p:nvSpPr>
        <p:spPr>
          <a:xfrm>
            <a:off x="2994660" y="46817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8640" y="5029200"/>
            <a:ext cx="4709160" cy="932688"/>
          </a:xfrm>
          <a:prstGeom prst="roundRect">
            <a:avLst>
              <a:gd name="adj" fmla="val 7843"/>
            </a:avLst>
          </a:prstGeom>
          <a:solidFill>
            <a:srgbClr val="3C7A3C">
              <a:alpha val="12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13232" y="5065776"/>
            <a:ext cx="4379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3"/>
                </a:solidFill>
              </a:rPr>
              <a:t>WRITE IT — with its time and its source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 temperature alarm went off at 23:41 (Exhibit A).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room vs the log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8–12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What was said at 08.15 — what Exhibit A shows — your verdict, with a word from the comparison scale.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37232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017520"/>
                <a:gridCol w="386791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IN THE ROOM (08.15)</a:t>
                      </a:r>
                      <a:endParaRPr lang="en-US" sz="18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IN THE LOG</a:t>
                      </a:r>
                      <a:endParaRPr lang="en-US" sz="18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8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Samuel: the alarm went off at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11.40 p.m.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Iris: the team was working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until eight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03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Samuel: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nobody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was on site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3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Mark: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two units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have stopped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Briefing: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nobody heard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it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room vs the log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8–12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What was said at 08.15 — what Exhibit A shows — your verdict, with a word from the comparison scale.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37232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017520"/>
                <a:gridCol w="386791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IN THE ROOM (08.15)</a:t>
                      </a:r>
                      <a:endParaRPr lang="en-US" sz="18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IN THE LOG</a:t>
                      </a:r>
                      <a:endParaRPr lang="en-US" sz="18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8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Samuel: the alarm went off at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11.40 p.m.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23:41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one minute later — from memory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Iris: the team was working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until eight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exit at 19:58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roughly matches — write 19:58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03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Samuel: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nobody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was on site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entry 20:04 → exit 20:19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contradicts it (until 20:19)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3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Mark: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two units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have stopped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only unit 3 (02:16)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partly confirms — check unit 2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Briefing: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nobody heard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it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notification delivered 23:42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not proved — somebody could have known</a:t>
                      </a:r>
                      <a:endParaRPr lang="en-US" sz="20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Reporting verbs: how much do they commit you?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2938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NEUTRAL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21992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say (that)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52344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dire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3118104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209544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Samuel </a:t>
            </a:r>
            <a:r>
              <a:rPr lang="en-US" sz="1700" b="1" dirty="0">
                <a:solidFill>
                  <a:schemeClr val="tx1"/>
                </a:solidFill>
              </a:rPr>
              <a:t>said</a:t>
            </a:r>
            <a:r>
              <a:rPr lang="en-US" sz="1700" dirty="0">
                <a:solidFill>
                  <a:schemeClr val="tx1"/>
                </a:solidFill>
              </a:rPr>
              <a:t> (that) the alarm went off at 11.40.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12920" y="1783080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4088" y="192938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NEUTRAL + A PERSON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14088" y="2221992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tell + sb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14088" y="2752344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dire à quelqu’un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14088" y="3118104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14088" y="3209544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He </a:t>
            </a:r>
            <a:r>
              <a:rPr lang="en-US" sz="1700" b="1" dirty="0">
                <a:solidFill>
                  <a:schemeClr val="tx1"/>
                </a:solidFill>
              </a:rPr>
              <a:t>told us</a:t>
            </a:r>
            <a:r>
              <a:rPr lang="en-US" sz="1700" dirty="0">
                <a:solidFill>
                  <a:schemeClr val="tx1"/>
                </a:solidFill>
              </a:rPr>
              <a:t> (that) nobody was on site.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77200" y="1783080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8368" y="192938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DOUBT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78368" y="2221992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claim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278368" y="2752344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prétendre, affirmer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78368" y="3118104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8368" y="3209544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Verdier </a:t>
            </a:r>
            <a:r>
              <a:rPr lang="en-US" sz="1700" b="1" dirty="0">
                <a:solidFill>
                  <a:schemeClr val="tx1"/>
                </a:solidFill>
              </a:rPr>
              <a:t>claims</a:t>
            </a:r>
            <a:r>
              <a:rPr lang="en-US" sz="1700" dirty="0">
                <a:solidFill>
                  <a:schemeClr val="tx1"/>
                </a:solidFill>
              </a:rPr>
              <a:t> the pipe is old. </a:t>
            </a:r>
            <a:r>
              <a:rPr lang="en-US" sz="1700" i="1" dirty="0">
                <a:solidFill>
                  <a:schemeClr val="tx1"/>
                </a:solidFill>
              </a:rPr>
              <a:t>Nothing proves it.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4146804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2931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FORMAL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585716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 · state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116068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signaler · indiquer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49808" y="5481828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5573268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cleaners </a:t>
            </a:r>
            <a:r>
              <a:rPr lang="en-US" sz="1700" b="1" dirty="0">
                <a:solidFill>
                  <a:schemeClr val="tx1"/>
                </a:solidFill>
              </a:rPr>
              <a:t>reported</a:t>
            </a:r>
            <a:r>
              <a:rPr lang="en-US" sz="1700" dirty="0">
                <a:solidFill>
                  <a:schemeClr val="tx1"/>
                </a:solidFill>
              </a:rPr>
              <a:t> water. The log </a:t>
            </a:r>
            <a:r>
              <a:rPr lang="en-US" sz="1700" b="1" dirty="0">
                <a:solidFill>
                  <a:schemeClr val="tx1"/>
                </a:solidFill>
              </a:rPr>
              <a:t>states</a:t>
            </a:r>
            <a:r>
              <a:rPr lang="en-US" sz="1700" dirty="0">
                <a:solidFill>
                  <a:schemeClr val="tx1"/>
                </a:solidFill>
              </a:rPr>
              <a:t> 23:41.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312920" y="4146804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14088" y="42931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CERTAINTY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14088" y="4585716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4514088" y="5116068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confirmer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14088" y="5481828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14088" y="5573268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log </a:t>
            </a:r>
            <a:r>
              <a:rPr lang="en-US" sz="1700" b="1" dirty="0">
                <a:solidFill>
                  <a:schemeClr val="tx1"/>
                </a:solidFill>
              </a:rPr>
              <a:t>confirms</a:t>
            </a:r>
            <a:r>
              <a:rPr lang="en-US" sz="1700" dirty="0">
                <a:solidFill>
                  <a:schemeClr val="tx1"/>
                </a:solidFill>
              </a:rPr>
              <a:t> that unit 3 shut down at 02:16.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077200" y="4146804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78368" y="42931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⚠ </a:t>
            </a:r>
            <a:r>
              <a:rPr lang="en-US" sz="1200" b="1" spc="150" kern="0" dirty="0">
                <a:solidFill>
                  <a:schemeClr val="accent1"/>
                </a:solidFill>
              </a:rPr>
              <a:t>ATTENTION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78368" y="4585716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say ≠ tell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8278368" y="5116068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✗ </a:t>
            </a:r>
            <a:r>
              <a:rPr lang="en-US" sz="1500" i="1" dirty="0">
                <a:solidFill>
                  <a:schemeClr val="accent5"/>
                </a:solidFill>
              </a:rPr>
              <a:t>He said me</a:t>
            </a:r>
            <a:r>
              <a:rPr lang="en-US" sz="1500" dirty="0">
                <a:solidFill>
                  <a:schemeClr val="accent5"/>
                </a:solidFill>
              </a:rPr>
              <a:t> · ✗ </a:t>
            </a:r>
            <a:r>
              <a:rPr lang="en-US" sz="1500" i="1" dirty="0">
                <a:solidFill>
                  <a:schemeClr val="accent5"/>
                </a:solidFill>
              </a:rPr>
              <a:t>say somebody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278368" y="5481828"/>
            <a:ext cx="3160776" cy="0"/>
          </a:xfrm>
          <a:prstGeom prst="line">
            <a:avLst/>
          </a:prstGeom>
          <a:noFill/>
          <a:ln w="9525">
            <a:solidFill>
              <a:srgbClr val="C075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78368" y="5573268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✓ He </a:t>
            </a:r>
            <a:r>
              <a:rPr lang="en-US" sz="1700" b="1" dirty="0">
                <a:solidFill>
                  <a:schemeClr val="tx1"/>
                </a:solidFill>
              </a:rPr>
              <a:t>told me</a:t>
            </a:r>
            <a:r>
              <a:rPr lang="en-US" sz="1700" dirty="0">
                <a:solidFill>
                  <a:schemeClr val="tx1"/>
                </a:solidFill>
              </a:rPr>
              <a:t> · ✓ He </a:t>
            </a:r>
            <a:r>
              <a:rPr lang="en-US" sz="1700" b="1" dirty="0">
                <a:solidFill>
                  <a:schemeClr val="tx1"/>
                </a:solidFill>
              </a:rPr>
              <a:t>said to 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Say, tell, claim or confirm?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09294" y="1737360"/>
            <a:ext cx="3387852" cy="384048"/>
          </a:xfrm>
          <a:prstGeom prst="roundRect">
            <a:avLst>
              <a:gd name="adj" fmla="val 47619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Reporting what someone said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903220" y="2139696"/>
            <a:ext cx="0" cy="201168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48640" y="2359152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" y="2514600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6243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2395728"/>
            <a:ext cx="3867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 there a </a:t>
            </a:r>
            <a:r>
              <a:rPr lang="en-US" sz="1700" b="1" dirty="0">
                <a:solidFill>
                  <a:schemeClr val="tx2"/>
                </a:solidFill>
              </a:rPr>
              <a:t>person</a:t>
            </a:r>
            <a:r>
              <a:rPr lang="en-US" sz="1700" b="1" dirty="0">
                <a:solidFill>
                  <a:schemeClr val="tx2"/>
                </a:solidFill>
              </a:rPr>
              <a:t> right after the verb?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… us · Mark · the insurer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276088" y="2734056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52578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359152"/>
            <a:ext cx="5468112" cy="749808"/>
          </a:xfrm>
          <a:prstGeom prst="roundRect">
            <a:avLst>
              <a:gd name="adj" fmla="val 9756"/>
            </a:avLst>
          </a:prstGeom>
          <a:solidFill>
            <a:srgbClr val="2E75B6">
              <a:alpha val="12000"/>
            </a:srgbClr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36792" y="2395728"/>
            <a:ext cx="5138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2"/>
                </a:solidFill>
              </a:rPr>
              <a:t>TELL + PERSON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Iris </a:t>
            </a:r>
            <a:r>
              <a:rPr lang="en-US" sz="1600" b="1" dirty="0">
                <a:solidFill>
                  <a:schemeClr val="tx1"/>
                </a:solidFill>
              </a:rPr>
              <a:t>told Mark</a:t>
            </a:r>
            <a:r>
              <a:rPr lang="en-US" sz="1600" dirty="0">
                <a:solidFill>
                  <a:schemeClr val="tx1"/>
                </a:solidFill>
              </a:rPr>
              <a:t> that the floor was soaked.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903220" y="3127248"/>
            <a:ext cx="0" cy="201168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2994660" y="31089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346704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4944" y="3502152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11880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61872" y="3383280"/>
            <a:ext cx="3867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 you </a:t>
            </a:r>
            <a:r>
              <a:rPr lang="en-US" sz="1700" b="1" dirty="0">
                <a:solidFill>
                  <a:schemeClr val="tx2"/>
                </a:solidFill>
              </a:rPr>
              <a:t>doubt</a:t>
            </a:r>
            <a:r>
              <a:rPr lang="en-US" sz="1700" b="1" dirty="0">
                <a:solidFill>
                  <a:schemeClr val="tx2"/>
                </a:solidFill>
              </a:rPr>
              <a:t> it — nothing supports it?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no document, no witness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276088" y="3721608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23" name="Text 18"/>
          <p:cNvSpPr txBox="1"/>
          <p:nvPr/>
        </p:nvSpPr>
        <p:spPr>
          <a:xfrm>
            <a:off x="5257800" y="3410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72200" y="3346704"/>
            <a:ext cx="5468112" cy="749808"/>
          </a:xfrm>
          <a:prstGeom prst="roundRect">
            <a:avLst>
              <a:gd name="adj" fmla="val 9756"/>
            </a:avLst>
          </a:prstGeom>
          <a:solidFill>
            <a:srgbClr val="B03A2E">
              <a:alpha val="12000"/>
            </a:srgbClr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336792" y="3383280"/>
            <a:ext cx="5138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6"/>
                </a:solidFill>
              </a:rPr>
              <a:t>CLAIM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Verdier </a:t>
            </a:r>
            <a:r>
              <a:rPr lang="en-US" sz="1600" b="1" dirty="0">
                <a:solidFill>
                  <a:schemeClr val="tx1"/>
                </a:solidFill>
              </a:rPr>
              <a:t>claims</a:t>
            </a:r>
            <a:r>
              <a:rPr lang="en-US" sz="1600" dirty="0">
                <a:solidFill>
                  <a:schemeClr val="tx1"/>
                </a:solidFill>
              </a:rPr>
              <a:t> that the pipe is old.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2903220" y="4114800"/>
            <a:ext cx="0" cy="201168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7" name="Text 22"/>
          <p:cNvSpPr txBox="1"/>
          <p:nvPr/>
        </p:nvSpPr>
        <p:spPr>
          <a:xfrm>
            <a:off x="2994660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8640" y="4334256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94944" y="4489704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599432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261872" y="4370832"/>
            <a:ext cx="3867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 it in a </a:t>
            </a:r>
            <a:r>
              <a:rPr lang="en-US" sz="1700" b="1" dirty="0">
                <a:solidFill>
                  <a:schemeClr val="tx2"/>
                </a:solidFill>
              </a:rPr>
              <a:t>document</a:t>
            </a:r>
            <a:r>
              <a:rPr lang="en-US" sz="1700" b="1" dirty="0">
                <a:solidFill>
                  <a:schemeClr val="tx2"/>
                </a:solidFill>
              </a:rPr>
              <a:t>, or proved?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the log · a photo · a report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5276088" y="4709160"/>
            <a:ext cx="859536" cy="0"/>
          </a:xfrm>
          <a:prstGeom prst="line">
            <a:avLst/>
          </a:prstGeom>
          <a:noFill/>
          <a:ln w="22225">
            <a:solidFill>
              <a:srgbClr val="3C7A3C"/>
            </a:solidFill>
            <a:prstDash val="solid"/>
            <a:tailEnd type="triangle"/>
          </a:ln>
        </p:spPr>
      </p:sp>
      <p:sp>
        <p:nvSpPr>
          <p:cNvPr id="33" name="Text 27"/>
          <p:cNvSpPr txBox="1"/>
          <p:nvPr/>
        </p:nvSpPr>
        <p:spPr>
          <a:xfrm>
            <a:off x="5257800" y="4398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YES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172200" y="4334256"/>
            <a:ext cx="5468112" cy="749808"/>
          </a:xfrm>
          <a:prstGeom prst="roundRect">
            <a:avLst>
              <a:gd name="adj" fmla="val 9756"/>
            </a:avLst>
          </a:prstGeom>
          <a:solidFill>
            <a:srgbClr val="3C7A3C">
              <a:alpha val="12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336792" y="4370832"/>
            <a:ext cx="5138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accent3"/>
                </a:solidFill>
              </a:rPr>
              <a:t>CONFIRM · STATE · REPORT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log </a:t>
            </a:r>
            <a:r>
              <a:rPr lang="en-US" sz="1600" b="1" dirty="0">
                <a:solidFill>
                  <a:schemeClr val="tx1"/>
                </a:solidFill>
              </a:rPr>
              <a:t>confirms</a:t>
            </a:r>
            <a:r>
              <a:rPr lang="en-US" sz="1600" dirty="0">
                <a:solidFill>
                  <a:schemeClr val="tx1"/>
                </a:solidFill>
              </a:rPr>
              <a:t> that unit 3 shut down.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2903220" y="5102352"/>
            <a:ext cx="0" cy="201168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37" name="Text 31"/>
          <p:cNvSpPr txBox="1"/>
          <p:nvPr/>
        </p:nvSpPr>
        <p:spPr>
          <a:xfrm>
            <a:off x="2994660" y="5084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NO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48640" y="5321808"/>
            <a:ext cx="4709160" cy="749808"/>
          </a:xfrm>
          <a:prstGeom prst="roundRect">
            <a:avLst>
              <a:gd name="adj" fmla="val 9756"/>
            </a:avLst>
          </a:prstGeom>
          <a:solidFill>
            <a:srgbClr val="1F3864">
              <a:alpha val="12000"/>
            </a:srgbClr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13232" y="5358384"/>
            <a:ext cx="4379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chemeClr val="tx2"/>
                </a:solidFill>
              </a:rPr>
              <a:t>SAY (THAT)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Samuel </a:t>
            </a:r>
            <a:r>
              <a:rPr lang="en-US" sz="1600" b="1" dirty="0">
                <a:solidFill>
                  <a:schemeClr val="tx1"/>
                </a:solidFill>
              </a:rPr>
              <a:t>said</a:t>
            </a:r>
            <a:r>
              <a:rPr lang="en-US" sz="1600" dirty="0">
                <a:solidFill>
                  <a:schemeClr val="tx1"/>
                </a:solidFill>
              </a:rPr>
              <a:t> that the alarm went off at 11.40.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Report it — at the right level of certainty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Rewrite each statement with a reporting verb that shows how much you trust it.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2237232"/>
            <a:ext cx="11091672" cy="318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Samuel: “The alarm went off at 11.40.” </a:t>
            </a:r>
            <a:r>
              <a:rPr lang="en-US" sz="2200" i="1" dirty="0">
                <a:solidFill>
                  <a:schemeClr val="tx1"/>
                </a:solidFill>
              </a:rPr>
              <a:t>(the log says 23:41)</a:t>
            </a:r>
            <a:r>
              <a:rPr lang="en-US" sz="2200" dirty="0">
                <a:solidFill>
                  <a:schemeClr val="tx1"/>
                </a:solidFill>
              </a:rPr>
              <a:t>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Verdier: “The pipe is old.” </a:t>
            </a:r>
            <a:r>
              <a:rPr lang="en-US" sz="2200" i="1" dirty="0">
                <a:solidFill>
                  <a:schemeClr val="tx1"/>
                </a:solidFill>
              </a:rPr>
              <a:t>(nothing supports it)</a:t>
            </a:r>
            <a:r>
              <a:rPr lang="en-US" sz="2200" dirty="0">
                <a:solidFill>
                  <a:schemeClr val="tx1"/>
                </a:solidFill>
              </a:rPr>
              <a:t>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The log: unit 3 shut down at 02:16.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Iris to Mark: “The floor is soaked.” → </a:t>
            </a:r>
            <a:r>
              <a:rPr lang="en-US" sz="2200" dirty="0">
                <a:solidFill>
                  <a:schemeClr val="accent5"/>
                </a:solidFill>
              </a:rPr>
              <a:t>…………………………………………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56509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97296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5705856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One step back — </a:t>
            </a:r>
            <a:r>
              <a:rPr lang="en-US" sz="1800" i="1" dirty="0">
                <a:solidFill>
                  <a:schemeClr val="tx1"/>
                </a:solidFill>
              </a:rPr>
              <a:t>“The floor </a:t>
            </a:r>
            <a:r>
              <a:rPr lang="en-US" sz="1800" b="1" i="1" dirty="0">
                <a:solidFill>
                  <a:schemeClr val="tx1"/>
                </a:solidFill>
              </a:rPr>
              <a:t>is</a:t>
            </a:r>
            <a:r>
              <a:rPr lang="en-US" sz="1800" i="1" dirty="0">
                <a:solidFill>
                  <a:schemeClr val="tx1"/>
                </a:solidFill>
              </a:rPr>
              <a:t> soaked.”</a:t>
            </a:r>
            <a:r>
              <a:rPr lang="en-US" sz="1800" dirty="0">
                <a:solidFill>
                  <a:schemeClr val="tx1"/>
                </a:solidFill>
              </a:rPr>
              <a:t> → Iris told Mark that the floor </a:t>
            </a:r>
            <a:r>
              <a:rPr lang="en-US" sz="1800" b="1" dirty="0">
                <a:solidFill>
                  <a:schemeClr val="tx1"/>
                </a:solidFill>
              </a:rPr>
              <a:t>was</a:t>
            </a:r>
            <a:r>
              <a:rPr lang="en-US" sz="1800" dirty="0">
                <a:solidFill>
                  <a:schemeClr val="tx1"/>
                </a:solidFill>
              </a:rPr>
              <a:t> soaked.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Report it — at the right level of certainty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Rewrite each statement with a reporting verb that shows how much you trust it.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1.  </a:t>
            </a:r>
            <a:r>
              <a:rPr lang="en-US" sz="1900" dirty="0">
                <a:solidFill>
                  <a:schemeClr val="tx1"/>
                </a:solidFill>
              </a:rPr>
              <a:t>Samuel: “The alarm went off at 11.40.” </a:t>
            </a:r>
            <a:r>
              <a:rPr lang="en-US" sz="1900" i="1" dirty="0">
                <a:solidFill>
                  <a:schemeClr val="tx1"/>
                </a:solidFill>
              </a:rPr>
              <a:t>(the log says 23:41)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accent3"/>
                </a:solidFill>
              </a:rPr>
              <a:t>Samuel said that the alarm went off at 11.40, but the log shows 23:41.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2.  </a:t>
            </a:r>
            <a:r>
              <a:rPr lang="en-US" sz="1900" dirty="0">
                <a:solidFill>
                  <a:schemeClr val="tx1"/>
                </a:solidFill>
              </a:rPr>
              <a:t>Verdier: “The pipe is old.” </a:t>
            </a:r>
            <a:r>
              <a:rPr lang="en-US" sz="1900" i="1" dirty="0">
                <a:solidFill>
                  <a:schemeClr val="tx1"/>
                </a:solidFill>
              </a:rPr>
              <a:t>(nothing supports it)</a:t>
            </a:r>
            <a:r>
              <a:rPr lang="en-US" sz="1900" dirty="0">
                <a:solidFill>
                  <a:schemeClr val="tx1"/>
                </a:solidFill>
              </a:rPr>
              <a:t> → </a:t>
            </a:r>
            <a:r>
              <a:rPr lang="en-US" sz="1900" b="1" dirty="0">
                <a:solidFill>
                  <a:schemeClr val="accent3"/>
                </a:solidFill>
              </a:rPr>
              <a:t>Verdier claims that the pipe is old.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3.  </a:t>
            </a:r>
            <a:r>
              <a:rPr lang="en-US" sz="1900" dirty="0">
                <a:solidFill>
                  <a:schemeClr val="tx1"/>
                </a:solidFill>
              </a:rPr>
              <a:t>The log: unit 3 shut down at 02:16. → </a:t>
            </a:r>
            <a:r>
              <a:rPr lang="en-US" sz="1900" b="1" dirty="0">
                <a:solidFill>
                  <a:schemeClr val="accent3"/>
                </a:solidFill>
              </a:rPr>
              <a:t>The log confirms that unit 3 shut down at 02:16.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4.  </a:t>
            </a:r>
            <a:r>
              <a:rPr lang="en-US" sz="1900" dirty="0">
                <a:solidFill>
                  <a:schemeClr val="tx1"/>
                </a:solidFill>
              </a:rPr>
              <a:t>Iris to Mark: “The floor is soaked.” → </a:t>
            </a:r>
            <a:r>
              <a:rPr lang="en-US" sz="1900" b="1" dirty="0">
                <a:solidFill>
                  <a:schemeClr val="accent3"/>
                </a:solidFill>
              </a:rPr>
              <a:t>Iris told Mark that the floor was soaked.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Press conference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11096"/>
            <a:ext cx="713232" cy="713232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89404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37944"/>
            <a:ext cx="9765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Atlas House speaks to the press — the journalists report it.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Whole class · 15 minutes · speaking, listening, reporting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2E75B6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3017520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Two </a:t>
            </a:r>
            <a:r>
              <a:rPr lang="en-US" sz="1700" b="1" dirty="0">
                <a:solidFill>
                  <a:schemeClr val="tx1"/>
                </a:solidFill>
              </a:rPr>
              <a:t>spokespeople</a:t>
            </a:r>
            <a:r>
              <a:rPr lang="en-US" sz="1700" dirty="0">
                <a:solidFill>
                  <a:schemeClr val="tx1"/>
                </a:solidFill>
              </a:rPr>
              <a:t> prepare a 30-second statement from Exhibit A — facts only.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48640" y="3707892"/>
            <a:ext cx="365760" cy="365760"/>
          </a:xfrm>
          <a:prstGeom prst="ellipse">
            <a:avLst/>
          </a:prstGeom>
          <a:solidFill>
            <a:srgbClr val="2E75B6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653028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</a:t>
            </a:r>
            <a:r>
              <a:rPr lang="en-US" sz="1700" b="1" dirty="0">
                <a:solidFill>
                  <a:schemeClr val="tx1"/>
                </a:solidFill>
              </a:rPr>
              <a:t>journalists</a:t>
            </a:r>
            <a:r>
              <a:rPr lang="en-US" sz="1700" dirty="0">
                <a:solidFill>
                  <a:schemeClr val="tx1"/>
                </a:solidFill>
              </a:rPr>
              <a:t> ask questions: </a:t>
            </a:r>
            <a:r>
              <a:rPr lang="en-US" sz="1700" i="1" dirty="0">
                <a:solidFill>
                  <a:schemeClr val="tx1"/>
                </a:solidFill>
              </a:rPr>
              <a:t>What time exactly…? Can you confirm…? Who…?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2E75B6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4288536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spokespeople answer — careful: </a:t>
            </a:r>
            <a:r>
              <a:rPr lang="en-US" sz="1700" b="1" dirty="0">
                <a:solidFill>
                  <a:schemeClr val="tx1"/>
                </a:solidFill>
              </a:rPr>
              <a:t>no names, no badge numbers</a:t>
            </a:r>
            <a:r>
              <a:rPr lang="en-US" sz="1700" dirty="0">
                <a:solidFill>
                  <a:schemeClr val="tx1"/>
                </a:solidFill>
              </a:rPr>
              <a:t>!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48640" y="4978908"/>
            <a:ext cx="365760" cy="365760"/>
          </a:xfrm>
          <a:prstGeom prst="ellipse">
            <a:avLst/>
          </a:prstGeom>
          <a:solidFill>
            <a:srgbClr val="2E75B6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924044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Each journalist says a one-line </a:t>
            </a:r>
            <a:r>
              <a:rPr lang="en-US" sz="1700" b="1" dirty="0">
                <a:solidFill>
                  <a:schemeClr val="tx1"/>
                </a:solidFill>
              </a:rPr>
              <a:t>headline</a:t>
            </a:r>
            <a:r>
              <a:rPr lang="en-US" sz="1700" dirty="0">
                <a:solidFill>
                  <a:schemeClr val="tx1"/>
                </a:solidFill>
              </a:rPr>
              <a:t> with a reporting verb: </a:t>
            </a:r>
            <a:r>
              <a:rPr lang="en-US" sz="1700" i="1" dirty="0">
                <a:solidFill>
                  <a:schemeClr val="tx1"/>
                </a:solidFill>
              </a:rPr>
              <a:t>Atlas House confirms that…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360920" y="3017520"/>
            <a:ext cx="4279392" cy="2542032"/>
          </a:xfrm>
          <a:prstGeom prst="roundRect">
            <a:avLst>
              <a:gd name="adj" fmla="val 2878"/>
            </a:avLst>
          </a:prstGeom>
          <a:solidFill>
            <a:srgbClr val="6E4A9E">
              <a:alpha val="8000"/>
            </a:srgbClr>
          </a:solidFill>
          <a:ln w="9525">
            <a:solidFill>
              <a:srgbClr val="6E4A9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1821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27848" y="31546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4"/>
                </a:solidFill>
              </a:rPr>
              <a:t>SAY IT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562088" y="3611880"/>
            <a:ext cx="38953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Can you confirm that…?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What time exactly did…?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We cannot confirm that yet.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No comment at this stage.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i="1" dirty="0">
                <a:solidFill>
                  <a:schemeClr val="tx1"/>
                </a:solidFill>
              </a:rPr>
              <a:t>Atlas House </a:t>
            </a:r>
            <a:r>
              <a:rPr lang="en-US" sz="1400" b="1" i="1" dirty="0">
                <a:solidFill>
                  <a:schemeClr val="tx1"/>
                </a:solidFill>
              </a:rPr>
              <a:t>claims / confirms / reports</a:t>
            </a:r>
            <a:r>
              <a:rPr lang="en-US" sz="1400" i="1" dirty="0">
                <a:solidFill>
                  <a:schemeClr val="tx1"/>
                </a:solidFill>
              </a:rPr>
              <a:t> that…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87044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5742432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 win —</a:t>
            </a:r>
            <a:r>
              <a:rPr lang="en-US" sz="1700" dirty="0">
                <a:solidFill>
                  <a:schemeClr val="tx1"/>
                </a:solidFill>
              </a:rPr>
              <a:t> the best headline: </a:t>
            </a:r>
            <a:r>
              <a:rPr lang="en-US" sz="1700" b="1" dirty="0">
                <a:solidFill>
                  <a:schemeClr val="tx1"/>
                </a:solidFill>
              </a:rPr>
              <a:t>true, precise — and it names nobody.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log does not say what Samuel remembered. Before ten o’clock, you will need eight verbs — and </a:t>
            </a:r>
            <a:r>
              <a:rPr lang="en-US" sz="22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two forms of each</a:t>
            </a: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: the dated fact, and the result.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EXIT TICKET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one sentence: what does line </a:t>
            </a:r>
            <a:r>
              <a:rPr lang="en-US" sz="1800" b="1" dirty="0">
                <a:solidFill>
                  <a:schemeClr val="tx1"/>
                </a:solidFill>
              </a:rPr>
              <a:t>23:42</a:t>
            </a:r>
            <a:r>
              <a:rPr lang="en-US" sz="1800" dirty="0">
                <a:solidFill>
                  <a:schemeClr val="tx1"/>
                </a:solidFill>
              </a:rPr>
              <a:t> prove — and what does it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prove?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4736592" cy="4526280"/>
          </a:xfrm>
          <a:prstGeom prst="roundRect">
            <a:avLst>
              <a:gd name="adj" fmla="val 1616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00253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19842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06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56032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words of a log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6118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56616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Exhibit A aloud at home: every time, </a:t>
            </a:r>
            <a:r>
              <a:rPr lang="en-US" sz="1700" b="1" dirty="0">
                <a:solidFill>
                  <a:schemeClr val="tx1"/>
                </a:solidFill>
              </a:rPr>
              <a:t>two ways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6177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89520" y="4572000"/>
            <a:ext cx="3867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reporting verbs: </a:t>
            </a:r>
            <a:r>
              <a:rPr lang="en-US" sz="1700" b="1" dirty="0">
                <a:solidFill>
                  <a:schemeClr val="tx1"/>
                </a:solidFill>
              </a:rPr>
              <a:t>say, tell, claim, report, confirm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06 — What the log really says</dc:title>
  <dc:subject>Case File 01 — The night nobody heard</dc:subject>
  <dc:creator>A. Jouniaux</dc:creator>
  <cp:lastModifiedBy>A. Jouniaux</cp:lastModifiedBy>
  <cp:revision>1</cp:revision>
  <dcterms:created xsi:type="dcterms:W3CDTF">2026-10-16T08:11:54Z</dcterms:created>
  <dcterms:modified xsi:type="dcterms:W3CDTF">2026-10-16T08:11:54Z</dcterms:modified>
</cp:coreProperties>
</file>