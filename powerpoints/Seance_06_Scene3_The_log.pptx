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f9608aa-81d7-a4fe-eb76-a0bd76c8b008}">
          <p14:sldIdLst>
            <p14:sldId id="256"/>
          </p14:sldIdLst>
        </p14:section>
        <p14:section name="Warm-up" id="{ce4df24c-e9d9-fd78-a4be-be24d2b0b9d0}">
          <p14:sldIdLst>
            <p14:sldId id="257"/>
            <p14:sldId id="258"/>
          </p14:sldIdLst>
        </p14:section>
        <p14:section name="Exhibit A" id="{321c1e0b-d693-08c0-283a-f1ae10bfe252}">
          <p14:sldIdLst>
            <p14:sldId id="259"/>
            <p14:sldId id="260"/>
            <p14:sldId id="261"/>
            <p14:sldId id="262"/>
          </p14:sldIdLst>
        </p14:section>
        <p14:section name="Words of a log" id="{ed7888c6-ce2f-525b-b4b2-aa4e9c195930}">
          <p14:sldIdLst>
            <p14:sldId id="263"/>
            <p14:sldId id="264"/>
            <p14:sldId id="265"/>
            <p14:sldId id="266"/>
          </p14:sldIdLst>
        </p14:section>
        <p14:section name="Times and durations" id="{89db3609-c047-34d2-7e6d-3f323c67b7c3}">
          <p14:sldIdLst>
            <p14:sldId id="267"/>
            <p14:sldId id="268"/>
          </p14:sldIdLst>
        </p14:section>
        <p14:section name="The night, in order" id="{3188fb29-53b0-b273-e490-0ad7d410bc7a}">
          <p14:sldIdLst>
            <p14:sldId id="269"/>
            <p14:sldId id="270"/>
            <p14:sldId id="271"/>
            <p14:sldId id="272"/>
          </p14:sldIdLst>
        </p14:section>
        <p14:section name="Your move" id="{02dcd25d-2da1-ef91-947a-bc03466e87cd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Reporting verbs" id="{525e14f5-aaa8-8475-7774-e6200f3b15fd}">
          <p14:sldIdLst>
            <p14:sldId id="282"/>
            <p14:sldId id="283"/>
            <p14:sldId id="284"/>
            <p14:sldId id="285"/>
            <p14:sldId id="286"/>
          </p14:sldIdLst>
        </p14:section>
        <p14:section name="Clôture" id="{122ddec9-24d7-5edf-b02a-73d4749449b0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Séance 6 — Scène 3 (09.05), livret p. 11–12 : l’Exhibit A (journal de la GTB) contredit ce qui a été dit dans la salle.
Objectifs : lire des données, dire les heures (24 h, a.m. / p.m.), donner une durée, comparer deux sources, rapporter des propos (say, tell, claim, confirm), nommer sans accuser.
Formats variés : intrus (warm-up) · repérage dans l’Exhibit · appariement · mots mêlés · remise en ordre · classement · phrases à compléter · QCM · texte à corriger.
Déroulé indicatif (90 min) : warm-up (5') · scène + Exhibit A + repérage (15') · vocabulaire : appariement + mots mêlés (10') · heures + Time bingo (10') · remise en ordre + classement (15') · Your move Q1–Q6 (20') · arbres + texte à corriger (10') · Press conference (5').
Les diapositives GAME et + EXTRA sont facultatives.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 de l’arbre d’orthographe de la séance 5. Faire épeler la bonne forme à voix haute, en anglais.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 de l’arbre d’orthographe de la séance 5. Faire épeler la bonne forme à voix haute, en anglais.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Bulles de l’image : « Do not write that badge number anywhere. » / « The log does not say what you think it says. » Faire émettre des hypothèses (may / might, séance 4) avant de projeter l’Exhibit.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à voix haute de chaque ligne, les heures de deux façons (twenty-three forty-one / eleven forty-one p.m.).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Repérage visuel, 2 minutes : les élèves répondent par l’heure de la ligne, pas par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lignes surlignées portent le numéro de la question. Ces trois lignes reviennent dans Your move Q1–Q3.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mêlés en binôme, 4 minutes : les mots sont horizontaux (→) ou verticaux (↓). Le premier binôme qui trouve les 12 mots les lit à voix haute dans une phrase tirée de l’Exhibit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mêlés en binôme, 4 minutes : les mots sont horizontaux (→) ou verticaux (↓). Le premier binôme qui trouve les 12 mots les lit à voix haute dans une phrase tirée de l’Exhibit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✗ during seven hours → for seven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dans le désordre, en variant les formes :
20:04 twenty oh four / eight oh four p.m. · 23:41 twenty-three forty-one / eleven forty-one p.m. · 06:47 six forty-seven a.m. / thirteen minutes to seven · 02:16 two sixteen a.m. · 19:58 two minutes to eight · 23:42 eleven forty-two p.m. · 20:19 eight nineteen p.m. · 23:44 sixteen minutes to midnight · 12:00 noon · 00:00 midnight · 07:15 a quarter past seven · 18:30 half past six p.m. · 13:05 five past one p.m. · 08:50 ten to nine a.m. · 21:40 twenty to ten p.m. · 06:50 ten to seven a.m.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Remise en ordre de mémoire (2 min), puis vérification dans l’Exhibit A. Faire raconter la nuit en binôme avec les connecteurs de la séance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Remise en ordre de mémoire (2 min), puis vérification dans l’Exhibit A. Faire raconter la nuit en binôme avec les connecteurs de la séance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Classement en binôme, puis justification à l’oral avec le mot de la colonne : « The log roughly matches what Iris said: the exit was at 19:58.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Nobody heard » : le journal montre une notification délivrée à 23:42 — quelqu’un aurait pu savoir — mais il ne dit rien de ce que les gens ont entendu.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Q4 : accepter aussi 23:42 → 06:47 (7 h 05), si l’élève part de la notification. Q5 : insister sur la limite de la preuve.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Q6 du livret : d’abord identifier la ligne (20:04) et la personne visée (le site manager), puis choisir la formulation. Accepter aussi 23:42 comme ligne dangereuse si c’est justifié.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Prépare la scène 9 (« the fact stays, the number goes »). Le livret fait dire à Mark : « Do not write that badge number anywhere. Not yet.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Concordance des temps : « The floor is soaked. » → Iris told Mark that the floor was soaked.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individuelle (3 min), comparaison par deux, puis correction collective. Chaque correction est justifiée par une règle vue dans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say → tell + personne · 2. l’heure vient du journal (23:41), pas de la mémoire · 3. claim exprime un doute : un journal confirme · 4. ne nommer personne : tournure passive · 5. heure précise → prétérit (séance 3) · 6. pendant + durée →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: un journaliste « à scandale » essaie d’obtenir un nom ; les porte-parole doivent rester factuels (passif, « an access was recorded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514600"/>
            <a:ext cx="566928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85800"/>
            <a:ext cx="2236470" cy="365760"/>
          </a:xfrm>
          <a:prstGeom prst="roundRect">
            <a:avLst>
              <a:gd name="adj" fmla="val 12500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SÉANCE 06 / 19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298448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4416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chemeClr val="bg2"/>
                </a:solidFill>
              </a:rPr>
              <a:t>SCENE 3</a:t>
            </a:r>
            <a:endParaRPr lang="en-US" sz="11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51460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What the log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really says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A printed sheet, eight lines, and one contradiction.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Case File 01 — The night nobody heard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Livret p. 11–12</a:t>
            </a:r>
            <a:endParaRPr lang="en-US" sz="1600" dirty="0"/>
          </a:p>
        </p:txBody>
      </p:sp>
      <p:pic>
        <p:nvPicPr>
          <p:cNvPr id="8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850136"/>
            <a:ext cx="5010912" cy="3340608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find the spelling mistake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5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One form in each line is </a:t>
            </a:r>
            <a:r>
              <a:rPr lang="en-US" sz="1600" b="1" i="1" dirty="0">
                <a:solidFill>
                  <a:schemeClr val="accent5"/>
                </a:solidFill>
              </a:rPr>
              <a:t>wrong</a:t>
            </a:r>
            <a:r>
              <a:rPr lang="en-US" sz="1600" i="1" dirty="0">
                <a:solidFill>
                  <a:schemeClr val="accent5"/>
                </a:solidFill>
              </a:rPr>
              <a:t>. Find it — and spell it right.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234188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1556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running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86435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stoping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61314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planned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36193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lying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48640" y="3044952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noticed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286435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carried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61314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lieing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36193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travelled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48640" y="3748024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1556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visitted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286435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opened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61314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happened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36193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preferred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548640" y="4451096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1556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286435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carryed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461314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studied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36193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tried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48640" y="5154168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1556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leaving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286435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noticeing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61314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arriving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36193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taking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548640" y="585724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111556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began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286435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runned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61314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left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636193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EF2F8"/>
          </a:solidFill>
          <a:ln w="12700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heard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find the spelling mistake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5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One form in each line is </a:t>
            </a:r>
            <a:r>
              <a:rPr lang="en-US" sz="1600" b="1" i="1" dirty="0">
                <a:solidFill>
                  <a:schemeClr val="accent5"/>
                </a:solidFill>
              </a:rPr>
              <a:t>wrong</a:t>
            </a:r>
            <a:r>
              <a:rPr lang="en-US" sz="1600" i="1" dirty="0">
                <a:solidFill>
                  <a:schemeClr val="accent5"/>
                </a:solidFill>
              </a:rPr>
              <a:t>. Find it — and spell it right.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34188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1556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running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86435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stoping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61314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planned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361938" y="231038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lying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57032" y="2237232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stopping</a:t>
            </a:r>
            <a:r>
              <a:rPr lang="en-US" sz="1600" dirty="0">
                <a:solidFill>
                  <a:schemeClr val="tx2"/>
                </a:solidFill>
              </a:rPr>
              <a:t> — double the p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3044952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1556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noticed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86435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carried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1314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lieing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361938" y="3013456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travelled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257032" y="2940304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lying</a:t>
            </a:r>
            <a:r>
              <a:rPr lang="en-US" sz="1600" dirty="0">
                <a:solidFill>
                  <a:schemeClr val="tx2"/>
                </a:solidFill>
              </a:rPr>
              <a:t> — ie → y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" y="3748024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1556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visitted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286435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opened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61314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happened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361938" y="3716528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preferred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257032" y="3643376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visited</a:t>
            </a:r>
            <a:r>
              <a:rPr lang="en-US" sz="1600" dirty="0">
                <a:solidFill>
                  <a:schemeClr val="tx2"/>
                </a:solidFill>
              </a:rPr>
              <a:t> — VIsit: no double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48640" y="4451096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11556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carrying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286435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carryed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61314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studied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361938" y="4419600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tried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257032" y="4346448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carried</a:t>
            </a:r>
            <a:r>
              <a:rPr lang="en-US" sz="1600" dirty="0">
                <a:solidFill>
                  <a:schemeClr val="tx2"/>
                </a:solidFill>
              </a:rPr>
              <a:t> — consonant + y → ied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48640" y="5154168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111556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leaving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286435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noticeing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461314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arriving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6361938" y="5122672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taking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8257032" y="5049520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noticing</a:t>
            </a:r>
            <a:r>
              <a:rPr lang="en-US" sz="1600" dirty="0">
                <a:solidFill>
                  <a:schemeClr val="tx2"/>
                </a:solidFill>
              </a:rPr>
              <a:t> — drop the -e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48640" y="585724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111556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began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286435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F6DCD8"/>
          </a:solidFill>
          <a:ln w="254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trike="sngStrike" dirty="0">
                <a:solidFill>
                  <a:schemeClr val="accent6"/>
                </a:solidFill>
              </a:rPr>
              <a:t>runned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461314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left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6361938" y="5825744"/>
            <a:ext cx="1620774" cy="410464"/>
          </a:xfrm>
          <a:prstGeom prst="roundRect">
            <a:avLst>
              <a:gd name="adj" fmla="val 26733"/>
            </a:avLst>
          </a:prstGeom>
          <a:solidFill>
            <a:srgbClr val="E6F0E4"/>
          </a:solidFill>
          <a:ln w="12700">
            <a:solidFill>
              <a:srgbClr val="B9D3B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heard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8257032" y="5752592"/>
            <a:ext cx="3383280" cy="556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</a:t>
            </a:r>
            <a:r>
              <a:rPr lang="en-US" sz="1600" b="1" dirty="0">
                <a:solidFill>
                  <a:schemeClr val="tx2"/>
                </a:solidFill>
              </a:rPr>
              <a:t>ran</a:t>
            </a:r>
            <a:r>
              <a:rPr lang="en-US" sz="1600" dirty="0">
                <a:solidFill>
                  <a:schemeClr val="tx2"/>
                </a:solidFill>
              </a:rPr>
              <a:t> — irregular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the log really says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9372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pic>
        <p:nvPicPr>
          <p:cNvPr id="6" name="illustration" descr="Samuel taps a line of the printed alarm log on the table while Mark and Iris look 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035040" cy="40233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783080"/>
            <a:ext cx="1600200" cy="868680"/>
          </a:xfrm>
          <a:prstGeom prst="roundRect">
            <a:avLst>
              <a:gd name="adj" fmla="val 8421"/>
            </a:avLst>
          </a:prstGeom>
          <a:solidFill>
            <a:srgbClr val="1F3864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8288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3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09.05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880360"/>
            <a:ext cx="464515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Samuel puts a printout on the table. It is the </a:t>
            </a:r>
            <a:r>
              <a:rPr lang="en-US" sz="2000" b="1" dirty="0">
                <a:solidFill>
                  <a:schemeClr val="tx1"/>
                </a:solidFill>
              </a:rPr>
              <a:t>building management system log</a:t>
            </a:r>
            <a:r>
              <a:rPr lang="en-US" sz="2000" dirty="0">
                <a:solidFill>
                  <a:schemeClr val="tx1"/>
                </a:solidFill>
              </a:rPr>
              <a:t> for the night.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Eight lines.</a:t>
            </a:r>
            <a:r>
              <a:rPr lang="en-US" sz="2000" dirty="0">
                <a:solidFill>
                  <a:schemeClr val="tx1"/>
                </a:solidFill>
              </a:rPr>
              <a:t> He taps one of them with his finger and says nothing.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995160" y="4910328"/>
            <a:ext cx="4645152" cy="1399032"/>
          </a:xfrm>
          <a:prstGeom prst="roundRect">
            <a:avLst>
              <a:gd name="adj" fmla="val 5229"/>
            </a:avLst>
          </a:prstGeom>
          <a:solidFill>
            <a:srgbClr val="C0752A">
              <a:alpha val="10000"/>
            </a:srgb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96328" y="502005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96328" y="5312664"/>
            <a:ext cx="424281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Why would someone say nothing — and just </a:t>
            </a:r>
            <a:r>
              <a:rPr lang="en-US" sz="1700" b="1" dirty="0">
                <a:solidFill>
                  <a:schemeClr val="tx1"/>
                </a:solidFill>
              </a:rPr>
              <a:t>tap a line</a:t>
            </a:r>
            <a:r>
              <a:rPr lang="en-US" sz="1700" dirty="0">
                <a:solidFill>
                  <a:schemeClr val="tx1"/>
                </a:solidFill>
              </a:rPr>
              <a:t>? Make two guesses with </a:t>
            </a:r>
            <a:r>
              <a:rPr lang="en-US" sz="1700" i="1" dirty="0">
                <a:solidFill>
                  <a:schemeClr val="tx1"/>
                </a:solidFill>
              </a:rPr>
              <a:t>may</a:t>
            </a:r>
            <a:r>
              <a:rPr lang="en-US" sz="1700" dirty="0">
                <a:solidFill>
                  <a:schemeClr val="tx1"/>
                </a:solidFill>
              </a:rPr>
              <a:t> or </a:t>
            </a:r>
            <a:r>
              <a:rPr lang="en-US" sz="1700" i="1" dirty="0">
                <a:solidFill>
                  <a:schemeClr val="tx1"/>
                </a:solidFill>
              </a:rPr>
              <a:t>might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Exhibit A — the night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READING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91672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822960" y="1965960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446020" y="1929384"/>
            <a:ext cx="88742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Building management — night log, Monday to Tuesday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2441448"/>
            <a:ext cx="10543032" cy="0"/>
          </a:xfrm>
          <a:prstGeom prst="line">
            <a:avLst/>
          </a:prstGeom>
          <a:noFill/>
          <a:ln w="12700">
            <a:solidFill>
              <a:srgbClr val="44546A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868680" y="253288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19:58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2532888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2F — cabling works — access badge 0447 — exit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85800" y="2995803"/>
            <a:ext cx="1081735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99580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20:04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2995803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2F — access badge 0102 — entry — site manager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5871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20:19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3458718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2F — access badge 0102 — exit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85800" y="3921633"/>
            <a:ext cx="1081735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92163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23:41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921633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2F technical room — TEMPERATURE ALARM — threshold 28 °C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38454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23:42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148840" y="4384548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Alarm notification sent — mobile 0470 22 14 09 — status: </a:t>
            </a:r>
            <a:r>
              <a:rPr lang="en-US" sz="2000" b="1" dirty="0">
                <a:solidFill>
                  <a:schemeClr val="tx1"/>
                </a:solidFill>
              </a:rPr>
              <a:t>delivered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85800" y="4847463"/>
            <a:ext cx="1081735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8680" y="484746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23:44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4847463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2F technical room — HUMIDITY ALARM — threshold 85 %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531037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02:16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148840" y="5310378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Server rack A2 — unit 3 — automatic shutdown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685800" y="5773293"/>
            <a:ext cx="1081735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8680" y="577329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06:47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148840" y="5773293"/>
            <a:ext cx="926287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Zone GF — access badge 0771 — entry — cleaning team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Spot it in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READING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7388352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822960" y="1965960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446020" y="1929384"/>
            <a:ext cx="51709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Night log, Monday to Tuesday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2441448"/>
            <a:ext cx="6839712" cy="0"/>
          </a:xfrm>
          <a:prstGeom prst="line">
            <a:avLst/>
          </a:prstGeom>
          <a:noFill/>
          <a:ln w="12700">
            <a:solidFill>
              <a:srgbClr val="44546A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868680" y="253288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19:58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253288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cabling works — access badge 0447 — exit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85800" y="299580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8680" y="299580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20:04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299580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access badge 0102 — entry — site manager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5871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20:19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345871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access badge 0102 — exit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85800" y="392163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92163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23:41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92163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technical room — TEMPERATURE ALARM — threshold 28 °C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38454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23:42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2148840" y="438454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Alarm notification sent — mobile 0470 22 14 09 — status: </a:t>
            </a:r>
            <a:r>
              <a:rPr lang="en-US" sz="1500" b="1" dirty="0">
                <a:solidFill>
                  <a:schemeClr val="tx1"/>
                </a:solidFill>
              </a:rPr>
              <a:t>delivered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85800" y="484746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68680" y="484746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23:44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484746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technical room — HUMIDITY ALARM — threshold 85 %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531037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02:16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2148840" y="531037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 rack A2 — unit 3 — automatic shutdown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85800" y="577329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8680" y="577329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06:47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2148840" y="577329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GF — access badge 0771 — entry — cleaning team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8257032" y="1783080"/>
            <a:ext cx="3383280" cy="4526280"/>
          </a:xfrm>
          <a:prstGeom prst="roundRect">
            <a:avLst>
              <a:gd name="adj" fmla="val 2162"/>
            </a:avLst>
          </a:prstGeom>
          <a:solidFill>
            <a:srgbClr val="C0752A">
              <a:alpha val="9000"/>
            </a:srgbClr>
          </a:solidFill>
          <a:ln w="12700">
            <a:solidFill>
              <a:srgbClr val="C0752A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965960"/>
            <a:ext cx="274320" cy="2743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8823960" y="19202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READ IT LIKE AN ASSESSOR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8458200" y="2404872"/>
            <a:ext cx="2999232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1.  </a:t>
            </a:r>
            <a:r>
              <a:rPr lang="en-US" sz="1900" dirty="0">
                <a:solidFill>
                  <a:schemeClr val="tx1"/>
                </a:solidFill>
              </a:rPr>
              <a:t>Which line is </a:t>
            </a:r>
            <a:r>
              <a:rPr lang="en-US" sz="1900" b="1" dirty="0">
                <a:solidFill>
                  <a:schemeClr val="tx1"/>
                </a:solidFill>
              </a:rPr>
              <a:t>one minute</a:t>
            </a:r>
            <a:r>
              <a:rPr lang="en-US" sz="1900" dirty="0">
                <a:solidFill>
                  <a:schemeClr val="tx1"/>
                </a:solidFill>
              </a:rPr>
              <a:t> off what Samuel said?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2.  </a:t>
            </a:r>
            <a:r>
              <a:rPr lang="en-US" sz="1900" dirty="0">
                <a:solidFill>
                  <a:schemeClr val="tx1"/>
                </a:solidFill>
              </a:rPr>
              <a:t>Which line shows </a:t>
            </a:r>
            <a:r>
              <a:rPr lang="en-US" sz="1900" b="1" dirty="0">
                <a:solidFill>
                  <a:schemeClr val="tx1"/>
                </a:solidFill>
              </a:rPr>
              <a:t>somebody</a:t>
            </a:r>
            <a:r>
              <a:rPr lang="en-US" sz="1900" dirty="0">
                <a:solidFill>
                  <a:schemeClr val="tx1"/>
                </a:solidFill>
              </a:rPr>
              <a:t> in 2F after the works?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accent1"/>
                </a:solidFill>
              </a:rPr>
              <a:t>3.  </a:t>
            </a:r>
            <a:r>
              <a:rPr lang="en-US" sz="1900" dirty="0">
                <a:solidFill>
                  <a:schemeClr val="tx1"/>
                </a:solidFill>
              </a:rPr>
              <a:t>Which line shows that somebody </a:t>
            </a:r>
            <a:r>
              <a:rPr lang="en-US" sz="1900" b="1" dirty="0">
                <a:solidFill>
                  <a:schemeClr val="tx1"/>
                </a:solidFill>
              </a:rPr>
              <a:t>could</a:t>
            </a:r>
            <a:r>
              <a:rPr lang="en-US" sz="1900" dirty="0">
                <a:solidFill>
                  <a:schemeClr val="tx1"/>
                </a:solidFill>
              </a:rPr>
              <a:t> have known?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Spot it in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READING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7388352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tag"/>
          <p:cNvSpPr/>
          <p:nvPr/>
        </p:nvSpPr>
        <p:spPr>
          <a:xfrm>
            <a:off x="822960" y="1965960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 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46020" y="1929384"/>
            <a:ext cx="51709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Night log, Monday to Tuesday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2441448"/>
            <a:ext cx="6839712" cy="0"/>
          </a:xfrm>
          <a:prstGeom prst="line">
            <a:avLst/>
          </a:prstGeom>
          <a:noFill/>
          <a:ln w="12700">
            <a:solidFill>
              <a:srgbClr val="44546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868680" y="253288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19:58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253288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cabling works — access badge 0447 — exit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85800" y="2995803"/>
            <a:ext cx="7114032" cy="462915"/>
          </a:xfrm>
          <a:prstGeom prst="rect">
            <a:avLst/>
          </a:prstGeom>
          <a:solidFill>
            <a:srgbClr val="F7C03B">
              <a:alpha val="45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299580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148840" y="299580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access badge 0102 — entry — site manager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498080" y="3080957"/>
            <a:ext cx="292608" cy="292608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3458718"/>
            <a:ext cx="7114032" cy="462915"/>
          </a:xfrm>
          <a:prstGeom prst="rect">
            <a:avLst/>
          </a:prstGeom>
          <a:solidFill>
            <a:srgbClr val="F7C03B">
              <a:alpha val="45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45871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20:19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45871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— access badge 0102 — exit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498080" y="3543871"/>
            <a:ext cx="292608" cy="292608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" y="3921633"/>
            <a:ext cx="7114032" cy="462915"/>
          </a:xfrm>
          <a:prstGeom prst="rect">
            <a:avLst/>
          </a:prstGeom>
          <a:solidFill>
            <a:srgbClr val="F7C03B">
              <a:alpha val="45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68680" y="392163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23:41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148840" y="392163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technical room — TEMPERATURE ALARM — threshold 28 °C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498080" y="4006787"/>
            <a:ext cx="292608" cy="292608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85800" y="4384548"/>
            <a:ext cx="7114032" cy="462915"/>
          </a:xfrm>
          <a:prstGeom prst="rect">
            <a:avLst/>
          </a:prstGeom>
          <a:solidFill>
            <a:srgbClr val="F7C03B">
              <a:alpha val="45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8680" y="438454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23:42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2148840" y="438454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Alarm notification sent — mobile 0470 22 14 09 — status: </a:t>
            </a:r>
            <a:r>
              <a:rPr lang="en-US" sz="1500" b="1" dirty="0">
                <a:solidFill>
                  <a:schemeClr val="tx1"/>
                </a:solidFill>
              </a:rPr>
              <a:t>delivered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498080" y="4469702"/>
            <a:ext cx="292608" cy="292608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85800" y="484746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68680" y="484746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23:44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2148840" y="484746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2F technical room — HUMIDITY ALARM — threshold 85 %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5310378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2148840" y="5310378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 rack A2 — unit 3 — automatic shutdown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5800" y="5773293"/>
            <a:ext cx="7114032" cy="462915"/>
          </a:xfrm>
          <a:prstGeom prst="rect">
            <a:avLst/>
          </a:prstGeom>
          <a:solidFill>
            <a:srgbClr val="EEF2F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68680" y="5773293"/>
            <a:ext cx="1188720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06:47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2148840" y="5773293"/>
            <a:ext cx="5559552" cy="46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Zone GF — access badge 0771 — entry — cleaning team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257032" y="1783080"/>
            <a:ext cx="3383280" cy="4526280"/>
          </a:xfrm>
          <a:prstGeom prst="roundRect">
            <a:avLst>
              <a:gd name="adj" fmla="val 2162"/>
            </a:avLst>
          </a:prstGeom>
          <a:solidFill>
            <a:srgbClr val="C0752A">
              <a:alpha val="9000"/>
            </a:srgbClr>
          </a:solidFill>
          <a:ln w="12700">
            <a:solidFill>
              <a:srgbClr val="C0752A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965960"/>
            <a:ext cx="274320" cy="27432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8823960" y="19202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READ IT LIKE AN ASSESSOR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8458200" y="2404872"/>
            <a:ext cx="2999232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 </a:t>
            </a:r>
            <a:r>
              <a:rPr lang="en-US" sz="1700" dirty="0">
                <a:solidFill>
                  <a:schemeClr val="tx1"/>
                </a:solidFill>
              </a:rPr>
              <a:t>Which line is </a:t>
            </a:r>
            <a:r>
              <a:rPr lang="en-US" sz="1700" b="1" dirty="0">
                <a:solidFill>
                  <a:schemeClr val="tx1"/>
                </a:solidFill>
              </a:rPr>
              <a:t>one minute</a:t>
            </a:r>
            <a:r>
              <a:rPr lang="en-US" sz="1700" dirty="0">
                <a:solidFill>
                  <a:schemeClr val="tx1"/>
                </a:solidFill>
              </a:rPr>
              <a:t> off what Samuel said?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→ </a:t>
            </a:r>
            <a:r>
              <a:rPr lang="en-US" sz="1700" b="1" dirty="0">
                <a:solidFill>
                  <a:schemeClr val="tx2"/>
                </a:solidFill>
              </a:rPr>
              <a:t>23:41</a:t>
            </a:r>
            <a:r>
              <a:rPr lang="en-US" sz="1700" b="1" dirty="0">
                <a:solidFill>
                  <a:schemeClr val="tx2"/>
                </a:solidFill>
              </a:rPr>
              <a:t> — Samuel said 11.40.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2.  </a:t>
            </a:r>
            <a:r>
              <a:rPr lang="en-US" sz="1700" dirty="0">
                <a:solidFill>
                  <a:schemeClr val="tx1"/>
                </a:solidFill>
              </a:rPr>
              <a:t>Which line shows </a:t>
            </a:r>
            <a:r>
              <a:rPr lang="en-US" sz="1700" b="1" dirty="0">
                <a:solidFill>
                  <a:schemeClr val="tx1"/>
                </a:solidFill>
              </a:rPr>
              <a:t>somebody</a:t>
            </a:r>
            <a:r>
              <a:rPr lang="en-US" sz="1700" dirty="0">
                <a:solidFill>
                  <a:schemeClr val="tx1"/>
                </a:solidFill>
              </a:rPr>
              <a:t> in 2F after the works?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→ </a:t>
            </a:r>
            <a:r>
              <a:rPr lang="en-US" sz="1700" b="1" dirty="0">
                <a:solidFill>
                  <a:schemeClr val="tx2"/>
                </a:solidFill>
              </a:rPr>
              <a:t>20:04</a:t>
            </a:r>
            <a:r>
              <a:rPr lang="en-US" sz="1700" b="1" dirty="0">
                <a:solidFill>
                  <a:schemeClr val="tx2"/>
                </a:solidFill>
              </a:rPr>
              <a:t> — an entry, until the exit at </a:t>
            </a:r>
            <a:r>
              <a:rPr lang="en-US" sz="1700" b="1" dirty="0">
                <a:solidFill>
                  <a:schemeClr val="tx2"/>
                </a:solidFill>
              </a:rPr>
              <a:t>20:19</a:t>
            </a:r>
            <a:r>
              <a:rPr lang="en-US" sz="1700" b="1" dirty="0">
                <a:solidFill>
                  <a:schemeClr val="tx2"/>
                </a:solidFill>
              </a:rPr>
              <a:t>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 </a:t>
            </a:r>
            <a:r>
              <a:rPr lang="en-US" sz="1700" dirty="0">
                <a:solidFill>
                  <a:schemeClr val="tx1"/>
                </a:solidFill>
              </a:rPr>
              <a:t>Which line shows that somebody </a:t>
            </a:r>
            <a:r>
              <a:rPr lang="en-US" sz="1700" b="1" dirty="0">
                <a:solidFill>
                  <a:schemeClr val="tx1"/>
                </a:solidFill>
              </a:rPr>
              <a:t>could</a:t>
            </a:r>
            <a:r>
              <a:rPr lang="en-US" sz="1700" dirty="0">
                <a:solidFill>
                  <a:schemeClr val="tx1"/>
                </a:solidFill>
              </a:rPr>
              <a:t> have known?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→ </a:t>
            </a:r>
            <a:r>
              <a:rPr lang="en-US" sz="1700" b="1" dirty="0">
                <a:solidFill>
                  <a:schemeClr val="tx2"/>
                </a:solidFill>
              </a:rPr>
              <a:t>23:42</a:t>
            </a:r>
            <a:r>
              <a:rPr lang="en-US" sz="1700" b="1" dirty="0">
                <a:solidFill>
                  <a:schemeClr val="tx2"/>
                </a:solidFill>
              </a:rPr>
              <a:t> — a notification was </a:t>
            </a:r>
            <a:r>
              <a:rPr lang="en-US" sz="1700" b="1" dirty="0">
                <a:solidFill>
                  <a:schemeClr val="tx2"/>
                </a:solidFill>
              </a:rPr>
              <a:t>delivered</a:t>
            </a:r>
            <a:r>
              <a:rPr lang="en-US" sz="1700" b="1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words of a log — match them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Match each word (1–8) with its meaning (A–H).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3723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28600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23723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 threshold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5539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80416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5539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entry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32232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27355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exit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79171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84048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379171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delivered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0987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435864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430987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humidity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82803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487680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482803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automatic shutdown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48640" y="534619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39496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534619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 printout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586435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591312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" y="586435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GF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002670" y="223723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12398" y="228600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69598" y="223723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water in the air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002670" y="275539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12398" y="280416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69598" y="275539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level that starts an alarm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002670" y="327355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12398" y="332232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69598" y="327355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document on paper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6002670" y="379171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12398" y="384048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69598" y="379171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badge going out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02670" y="430987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12398" y="435864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69598" y="430987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ground floor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02670" y="482803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12398" y="487680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69598" y="482803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badge going in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002670" y="534619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12398" y="539496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69598" y="534619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machine stops by itself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002670" y="586435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12398" y="591312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69598" y="586435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reached the phone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4594494" y="239572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94494" y="291388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94494" y="343204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4494" y="395020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594494" y="446836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94494" y="498652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594494" y="550468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94494" y="602284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911230" y="239572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1230" y="291388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11230" y="343204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11230" y="395020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911230" y="446836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911230" y="498652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911230" y="550468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11230" y="6022848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words of a log — match them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VOCABULARY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1671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5"/>
                </a:solidFill>
              </a:rPr>
              <a:t>GF</a:t>
            </a:r>
            <a:r>
              <a:rPr lang="en-US" sz="1600" i="1" dirty="0">
                <a:solidFill>
                  <a:schemeClr val="accent5"/>
                </a:solidFill>
              </a:rPr>
              <a:t> = ground floor (UK) = </a:t>
            </a:r>
            <a:r>
              <a:rPr lang="en-US" sz="1600" i="1" dirty="0">
                <a:solidFill>
                  <a:schemeClr val="accent5"/>
                </a:solidFill>
              </a:rPr>
              <a:t>first floor</a:t>
            </a:r>
            <a:r>
              <a:rPr lang="en-US" sz="1600" i="1" dirty="0">
                <a:solidFill>
                  <a:schemeClr val="accent5"/>
                </a:solidFill>
              </a:rPr>
              <a:t> (US) · say: threshold /ˈθreʃhəʊld/ · humidity /hjuːˈmɪdəti/.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3723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28600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23723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 threshold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237232"/>
            <a:ext cx="186958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un seuil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5539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80416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75539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entry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295144" y="2755392"/>
            <a:ext cx="2226198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une entrée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7355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32232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327355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exit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76272" y="3273552"/>
            <a:ext cx="234507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une sortie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9171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84048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" y="379171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delivered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2414016" y="3791712"/>
            <a:ext cx="2107326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remis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0987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35864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" y="430987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humidity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2295144" y="4309872"/>
            <a:ext cx="2226198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l’humidité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82803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87680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" y="482803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an automatic shutdown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3606942" y="4828032"/>
            <a:ext cx="91440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un arrêt automatique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534619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539496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" y="534619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 printout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2532888" y="5346192"/>
            <a:ext cx="198845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une impression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864352"/>
            <a:ext cx="4082430" cy="445008"/>
          </a:xfrm>
          <a:prstGeom prst="roundRect">
            <a:avLst>
              <a:gd name="adj" fmla="val 16438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5913120"/>
            <a:ext cx="347472" cy="347472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15568" y="5864352"/>
            <a:ext cx="3424062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GF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581912" y="5864352"/>
            <a:ext cx="2939430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02670" y="223723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12398" y="228600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69598" y="223723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water in the air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02670" y="275539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12398" y="280416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69598" y="275539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level that starts an alarm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02670" y="327355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12398" y="332232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69598" y="327355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document on paper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002670" y="379171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12398" y="384048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69598" y="379171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badge going out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002670" y="430987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12398" y="435864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69598" y="430987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ground floor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002670" y="482803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12398" y="487680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69598" y="482803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badge going in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6002670" y="534619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12398" y="539496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69598" y="534619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machine stops by itself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002670" y="5864352"/>
            <a:ext cx="5637642" cy="445008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12398" y="5913120"/>
            <a:ext cx="347472" cy="347472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69598" y="5864352"/>
            <a:ext cx="4979274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it reached the phone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4667646" y="2459736"/>
            <a:ext cx="1298448" cy="51816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94494" y="239572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65" name="Shape 63"/>
          <p:cNvSpPr/>
          <p:nvPr/>
        </p:nvSpPr>
        <p:spPr>
          <a:xfrm>
            <a:off x="5911230" y="291388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66" name="Shape 64"/>
          <p:cNvSpPr/>
          <p:nvPr/>
        </p:nvSpPr>
        <p:spPr>
          <a:xfrm>
            <a:off x="4667646" y="2977896"/>
            <a:ext cx="1298448" cy="207264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94494" y="291388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68" name="Shape 66"/>
          <p:cNvSpPr/>
          <p:nvPr/>
        </p:nvSpPr>
        <p:spPr>
          <a:xfrm>
            <a:off x="5911230" y="498652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69" name="Shape 67"/>
          <p:cNvSpPr/>
          <p:nvPr/>
        </p:nvSpPr>
        <p:spPr>
          <a:xfrm>
            <a:off x="4667646" y="3496056"/>
            <a:ext cx="1298448" cy="51816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94494" y="343204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1" name="Shape 69"/>
          <p:cNvSpPr/>
          <p:nvPr/>
        </p:nvSpPr>
        <p:spPr>
          <a:xfrm>
            <a:off x="5911230" y="395020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2" name="Shape 70"/>
          <p:cNvSpPr/>
          <p:nvPr/>
        </p:nvSpPr>
        <p:spPr>
          <a:xfrm>
            <a:off x="4667646" y="4014216"/>
            <a:ext cx="1298448" cy="207264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94494" y="395020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4" name="Shape 72"/>
          <p:cNvSpPr/>
          <p:nvPr/>
        </p:nvSpPr>
        <p:spPr>
          <a:xfrm>
            <a:off x="5911230" y="602284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5" name="Shape 73"/>
          <p:cNvSpPr/>
          <p:nvPr/>
        </p:nvSpPr>
        <p:spPr>
          <a:xfrm flipV="1">
            <a:off x="4667646" y="2459736"/>
            <a:ext cx="1298448" cy="207264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594494" y="446836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7" name="Shape 75"/>
          <p:cNvSpPr/>
          <p:nvPr/>
        </p:nvSpPr>
        <p:spPr>
          <a:xfrm>
            <a:off x="5911230" y="239572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78" name="Shape 76"/>
          <p:cNvSpPr/>
          <p:nvPr/>
        </p:nvSpPr>
        <p:spPr>
          <a:xfrm>
            <a:off x="4667646" y="5050536"/>
            <a:ext cx="1298448" cy="51816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94494" y="498652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80" name="Shape 78"/>
          <p:cNvSpPr/>
          <p:nvPr/>
        </p:nvSpPr>
        <p:spPr>
          <a:xfrm>
            <a:off x="5911230" y="550468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81" name="Shape 79"/>
          <p:cNvSpPr/>
          <p:nvPr/>
        </p:nvSpPr>
        <p:spPr>
          <a:xfrm flipV="1">
            <a:off x="4667646" y="3496056"/>
            <a:ext cx="1298448" cy="207264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94494" y="550468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83" name="Shape 81"/>
          <p:cNvSpPr/>
          <p:nvPr/>
        </p:nvSpPr>
        <p:spPr>
          <a:xfrm>
            <a:off x="5911230" y="343204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84" name="Shape 82"/>
          <p:cNvSpPr/>
          <p:nvPr/>
        </p:nvSpPr>
        <p:spPr>
          <a:xfrm flipV="1">
            <a:off x="4667646" y="4532376"/>
            <a:ext cx="1298448" cy="1554480"/>
          </a:xfrm>
          <a:prstGeom prst="line">
            <a:avLst/>
          </a:prstGeom>
          <a:noFill/>
          <a:ln w="28575">
            <a:solidFill>
              <a:srgbClr val="3C7A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94494" y="602284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86" name="Shape 84"/>
          <p:cNvSpPr/>
          <p:nvPr/>
        </p:nvSpPr>
        <p:spPr>
          <a:xfrm>
            <a:off x="5911230" y="4468368"/>
            <a:ext cx="128016" cy="128016"/>
          </a:xfrm>
          <a:prstGeom prst="ellipse">
            <a:avLst/>
          </a:prstGeom>
          <a:solidFill>
            <a:srgbClr val="3C7A3C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Twelve words hidden in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5431536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0126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53896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906524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2359152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81178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6440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717036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169664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622292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07492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52754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00126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453896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906524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359152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81178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326440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717036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169664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22292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07492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552754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100126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1453896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906524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2359152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281178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326440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3717036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4169664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4622292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507492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52754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100126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1453896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6" name="Text 43"/>
          <p:cNvSpPr txBox="1"/>
          <p:nvPr/>
        </p:nvSpPr>
        <p:spPr>
          <a:xfrm>
            <a:off x="1906524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359152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281178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326440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3717036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700" dirty="0"/>
          </a:p>
        </p:txBody>
      </p:sp>
      <p:sp>
        <p:nvSpPr>
          <p:cNvPr id="51" name="Text 48"/>
          <p:cNvSpPr txBox="1"/>
          <p:nvPr/>
        </p:nvSpPr>
        <p:spPr>
          <a:xfrm>
            <a:off x="4169664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4622292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507492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552754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55" name="Text 52"/>
          <p:cNvSpPr txBox="1"/>
          <p:nvPr/>
        </p:nvSpPr>
        <p:spPr>
          <a:xfrm>
            <a:off x="54864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56" name="Text 53"/>
          <p:cNvSpPr txBox="1"/>
          <p:nvPr/>
        </p:nvSpPr>
        <p:spPr>
          <a:xfrm>
            <a:off x="100126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1453896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1906524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59" name="Text 56"/>
          <p:cNvSpPr txBox="1"/>
          <p:nvPr/>
        </p:nvSpPr>
        <p:spPr>
          <a:xfrm>
            <a:off x="2359152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60" name="Text 57"/>
          <p:cNvSpPr txBox="1"/>
          <p:nvPr/>
        </p:nvSpPr>
        <p:spPr>
          <a:xfrm>
            <a:off x="281178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61" name="Text 58"/>
          <p:cNvSpPr txBox="1"/>
          <p:nvPr/>
        </p:nvSpPr>
        <p:spPr>
          <a:xfrm>
            <a:off x="326440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62" name="Text 59"/>
          <p:cNvSpPr txBox="1"/>
          <p:nvPr/>
        </p:nvSpPr>
        <p:spPr>
          <a:xfrm>
            <a:off x="3717036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63" name="Text 60"/>
          <p:cNvSpPr txBox="1"/>
          <p:nvPr/>
        </p:nvSpPr>
        <p:spPr>
          <a:xfrm>
            <a:off x="4169664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4622292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65" name="Text 62"/>
          <p:cNvSpPr txBox="1"/>
          <p:nvPr/>
        </p:nvSpPr>
        <p:spPr>
          <a:xfrm>
            <a:off x="507492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552754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68" name="Text 65"/>
          <p:cNvSpPr txBox="1"/>
          <p:nvPr/>
        </p:nvSpPr>
        <p:spPr>
          <a:xfrm>
            <a:off x="100126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1453896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70" name="Text 67"/>
          <p:cNvSpPr txBox="1"/>
          <p:nvPr/>
        </p:nvSpPr>
        <p:spPr>
          <a:xfrm>
            <a:off x="1906524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71" name="Text 68"/>
          <p:cNvSpPr txBox="1"/>
          <p:nvPr/>
        </p:nvSpPr>
        <p:spPr>
          <a:xfrm>
            <a:off x="2359152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81178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326440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4" name="Text 71"/>
          <p:cNvSpPr txBox="1"/>
          <p:nvPr/>
        </p:nvSpPr>
        <p:spPr>
          <a:xfrm>
            <a:off x="3717036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4169664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76" name="Text 73"/>
          <p:cNvSpPr txBox="1"/>
          <p:nvPr/>
        </p:nvSpPr>
        <p:spPr>
          <a:xfrm>
            <a:off x="4622292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77" name="Text 74"/>
          <p:cNvSpPr txBox="1"/>
          <p:nvPr/>
        </p:nvSpPr>
        <p:spPr>
          <a:xfrm>
            <a:off x="507492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700" dirty="0"/>
          </a:p>
        </p:txBody>
      </p:sp>
      <p:sp>
        <p:nvSpPr>
          <p:cNvPr id="78" name="Text 75"/>
          <p:cNvSpPr txBox="1"/>
          <p:nvPr/>
        </p:nvSpPr>
        <p:spPr>
          <a:xfrm>
            <a:off x="552754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79" name="Text 76"/>
          <p:cNvSpPr txBox="1"/>
          <p:nvPr/>
        </p:nvSpPr>
        <p:spPr>
          <a:xfrm>
            <a:off x="54864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80" name="Text 77"/>
          <p:cNvSpPr txBox="1"/>
          <p:nvPr/>
        </p:nvSpPr>
        <p:spPr>
          <a:xfrm>
            <a:off x="100126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81" name="Text 78"/>
          <p:cNvSpPr txBox="1"/>
          <p:nvPr/>
        </p:nvSpPr>
        <p:spPr>
          <a:xfrm>
            <a:off x="1453896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82" name="Text 79"/>
          <p:cNvSpPr txBox="1"/>
          <p:nvPr/>
        </p:nvSpPr>
        <p:spPr>
          <a:xfrm>
            <a:off x="1906524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83" name="Text 80"/>
          <p:cNvSpPr txBox="1"/>
          <p:nvPr/>
        </p:nvSpPr>
        <p:spPr>
          <a:xfrm>
            <a:off x="2359152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700" dirty="0"/>
          </a:p>
        </p:txBody>
      </p:sp>
      <p:sp>
        <p:nvSpPr>
          <p:cNvPr id="84" name="Text 81"/>
          <p:cNvSpPr txBox="1"/>
          <p:nvPr/>
        </p:nvSpPr>
        <p:spPr>
          <a:xfrm>
            <a:off x="281178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326440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86" name="Text 83"/>
          <p:cNvSpPr txBox="1"/>
          <p:nvPr/>
        </p:nvSpPr>
        <p:spPr>
          <a:xfrm>
            <a:off x="3717036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4169664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4622292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89" name="Text 86"/>
          <p:cNvSpPr txBox="1"/>
          <p:nvPr/>
        </p:nvSpPr>
        <p:spPr>
          <a:xfrm>
            <a:off x="507492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90" name="Text 87"/>
          <p:cNvSpPr txBox="1"/>
          <p:nvPr/>
        </p:nvSpPr>
        <p:spPr>
          <a:xfrm>
            <a:off x="552754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91" name="Text 88"/>
          <p:cNvSpPr txBox="1"/>
          <p:nvPr/>
        </p:nvSpPr>
        <p:spPr>
          <a:xfrm>
            <a:off x="54864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92" name="Text 89"/>
          <p:cNvSpPr txBox="1"/>
          <p:nvPr/>
        </p:nvSpPr>
        <p:spPr>
          <a:xfrm>
            <a:off x="100126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93" name="Text 90"/>
          <p:cNvSpPr txBox="1"/>
          <p:nvPr/>
        </p:nvSpPr>
        <p:spPr>
          <a:xfrm>
            <a:off x="1453896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94" name="Text 91"/>
          <p:cNvSpPr txBox="1"/>
          <p:nvPr/>
        </p:nvSpPr>
        <p:spPr>
          <a:xfrm>
            <a:off x="1906524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95" name="Text 92"/>
          <p:cNvSpPr txBox="1"/>
          <p:nvPr/>
        </p:nvSpPr>
        <p:spPr>
          <a:xfrm>
            <a:off x="2359152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96" name="Text 93"/>
          <p:cNvSpPr txBox="1"/>
          <p:nvPr/>
        </p:nvSpPr>
        <p:spPr>
          <a:xfrm>
            <a:off x="281178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97" name="Text 94"/>
          <p:cNvSpPr txBox="1"/>
          <p:nvPr/>
        </p:nvSpPr>
        <p:spPr>
          <a:xfrm>
            <a:off x="326440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98" name="Text 95"/>
          <p:cNvSpPr txBox="1"/>
          <p:nvPr/>
        </p:nvSpPr>
        <p:spPr>
          <a:xfrm>
            <a:off x="3717036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99" name="Text 96"/>
          <p:cNvSpPr txBox="1"/>
          <p:nvPr/>
        </p:nvSpPr>
        <p:spPr>
          <a:xfrm>
            <a:off x="4169664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00" name="Text 97"/>
          <p:cNvSpPr txBox="1"/>
          <p:nvPr/>
        </p:nvSpPr>
        <p:spPr>
          <a:xfrm>
            <a:off x="4622292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101" name="Text 98"/>
          <p:cNvSpPr txBox="1"/>
          <p:nvPr/>
        </p:nvSpPr>
        <p:spPr>
          <a:xfrm>
            <a:off x="507492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102" name="Text 99"/>
          <p:cNvSpPr txBox="1"/>
          <p:nvPr/>
        </p:nvSpPr>
        <p:spPr>
          <a:xfrm>
            <a:off x="552754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03" name="Text 100"/>
          <p:cNvSpPr txBox="1"/>
          <p:nvPr/>
        </p:nvSpPr>
        <p:spPr>
          <a:xfrm>
            <a:off x="54864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04" name="Text 101"/>
          <p:cNvSpPr txBox="1"/>
          <p:nvPr/>
        </p:nvSpPr>
        <p:spPr>
          <a:xfrm>
            <a:off x="100126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05" name="Text 102"/>
          <p:cNvSpPr txBox="1"/>
          <p:nvPr/>
        </p:nvSpPr>
        <p:spPr>
          <a:xfrm>
            <a:off x="1453896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700" dirty="0"/>
          </a:p>
        </p:txBody>
      </p:sp>
      <p:sp>
        <p:nvSpPr>
          <p:cNvPr id="106" name="Text 103"/>
          <p:cNvSpPr txBox="1"/>
          <p:nvPr/>
        </p:nvSpPr>
        <p:spPr>
          <a:xfrm>
            <a:off x="1906524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2359152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08" name="Text 105"/>
          <p:cNvSpPr txBox="1"/>
          <p:nvPr/>
        </p:nvSpPr>
        <p:spPr>
          <a:xfrm>
            <a:off x="281178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109" name="Text 106"/>
          <p:cNvSpPr txBox="1"/>
          <p:nvPr/>
        </p:nvSpPr>
        <p:spPr>
          <a:xfrm>
            <a:off x="326440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10" name="Text 107"/>
          <p:cNvSpPr txBox="1"/>
          <p:nvPr/>
        </p:nvSpPr>
        <p:spPr>
          <a:xfrm>
            <a:off x="3717036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11" name="Text 108"/>
          <p:cNvSpPr txBox="1"/>
          <p:nvPr/>
        </p:nvSpPr>
        <p:spPr>
          <a:xfrm>
            <a:off x="4169664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12" name="Text 109"/>
          <p:cNvSpPr txBox="1"/>
          <p:nvPr/>
        </p:nvSpPr>
        <p:spPr>
          <a:xfrm>
            <a:off x="4622292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13" name="Text 110"/>
          <p:cNvSpPr txBox="1"/>
          <p:nvPr/>
        </p:nvSpPr>
        <p:spPr>
          <a:xfrm>
            <a:off x="507492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14" name="Text 111"/>
          <p:cNvSpPr txBox="1"/>
          <p:nvPr/>
        </p:nvSpPr>
        <p:spPr>
          <a:xfrm>
            <a:off x="552754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15" name="Text 112"/>
          <p:cNvSpPr txBox="1"/>
          <p:nvPr/>
        </p:nvSpPr>
        <p:spPr>
          <a:xfrm>
            <a:off x="54864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116" name="Text 113"/>
          <p:cNvSpPr txBox="1"/>
          <p:nvPr/>
        </p:nvSpPr>
        <p:spPr>
          <a:xfrm>
            <a:off x="100126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117" name="Text 114"/>
          <p:cNvSpPr txBox="1"/>
          <p:nvPr/>
        </p:nvSpPr>
        <p:spPr>
          <a:xfrm>
            <a:off x="1453896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18" name="Text 115"/>
          <p:cNvSpPr txBox="1"/>
          <p:nvPr/>
        </p:nvSpPr>
        <p:spPr>
          <a:xfrm>
            <a:off x="1906524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19" name="Text 116"/>
          <p:cNvSpPr txBox="1"/>
          <p:nvPr/>
        </p:nvSpPr>
        <p:spPr>
          <a:xfrm>
            <a:off x="2359152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120" name="Text 117"/>
          <p:cNvSpPr txBox="1"/>
          <p:nvPr/>
        </p:nvSpPr>
        <p:spPr>
          <a:xfrm>
            <a:off x="281178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21" name="Text 118"/>
          <p:cNvSpPr txBox="1"/>
          <p:nvPr/>
        </p:nvSpPr>
        <p:spPr>
          <a:xfrm>
            <a:off x="326440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22" name="Text 119"/>
          <p:cNvSpPr txBox="1"/>
          <p:nvPr/>
        </p:nvSpPr>
        <p:spPr>
          <a:xfrm>
            <a:off x="3717036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23" name="Text 120"/>
          <p:cNvSpPr txBox="1"/>
          <p:nvPr/>
        </p:nvSpPr>
        <p:spPr>
          <a:xfrm>
            <a:off x="4169664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124" name="Text 121"/>
          <p:cNvSpPr txBox="1"/>
          <p:nvPr/>
        </p:nvSpPr>
        <p:spPr>
          <a:xfrm>
            <a:off x="4622292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125" name="Text 122"/>
          <p:cNvSpPr txBox="1"/>
          <p:nvPr/>
        </p:nvSpPr>
        <p:spPr>
          <a:xfrm>
            <a:off x="507492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26" name="Text 123"/>
          <p:cNvSpPr txBox="1"/>
          <p:nvPr/>
        </p:nvSpPr>
        <p:spPr>
          <a:xfrm>
            <a:off x="552754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27" name="Text 124"/>
          <p:cNvSpPr txBox="1"/>
          <p:nvPr/>
        </p:nvSpPr>
        <p:spPr>
          <a:xfrm>
            <a:off x="6437376" y="1783080"/>
            <a:ext cx="5202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236A"/>
                </a:solidFill>
              </a:rPr>
              <a:t>FIND 12 WORDS</a:t>
            </a:r>
            <a:endParaRPr lang="en-US" sz="1300" dirty="0"/>
          </a:p>
        </p:txBody>
      </p:sp>
      <p:pic>
        <p:nvPicPr>
          <p:cNvPr id="1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76" y="2350008"/>
            <a:ext cx="237744" cy="237744"/>
          </a:xfrm>
          <a:prstGeom prst="rect">
            <a:avLst/>
          </a:prstGeom>
        </p:spPr>
      </p:pic>
      <p:sp>
        <p:nvSpPr>
          <p:cNvPr id="129" name="Text 125"/>
          <p:cNvSpPr txBox="1"/>
          <p:nvPr/>
        </p:nvSpPr>
        <p:spPr>
          <a:xfrm>
            <a:off x="676656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threshold</a:t>
            </a:r>
            <a:endParaRPr lang="en-US" sz="1500" dirty="0"/>
          </a:p>
        </p:txBody>
      </p:sp>
      <p:pic>
        <p:nvPicPr>
          <p:cNvPr id="1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76" y="2807208"/>
            <a:ext cx="237744" cy="237744"/>
          </a:xfrm>
          <a:prstGeom prst="rect">
            <a:avLst/>
          </a:prstGeom>
        </p:spPr>
      </p:pic>
      <p:sp>
        <p:nvSpPr>
          <p:cNvPr id="131" name="Text 126"/>
          <p:cNvSpPr txBox="1"/>
          <p:nvPr/>
        </p:nvSpPr>
        <p:spPr>
          <a:xfrm>
            <a:off x="6766560" y="26974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rack</a:t>
            </a:r>
            <a:endParaRPr lang="en-US" sz="1500" dirty="0"/>
          </a:p>
        </p:txBody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3264408"/>
            <a:ext cx="237744" cy="237744"/>
          </a:xfrm>
          <a:prstGeom prst="rect">
            <a:avLst/>
          </a:prstGeom>
        </p:spPr>
      </p:pic>
      <p:sp>
        <p:nvSpPr>
          <p:cNvPr id="133" name="Text 127"/>
          <p:cNvSpPr txBox="1"/>
          <p:nvPr/>
        </p:nvSpPr>
        <p:spPr>
          <a:xfrm>
            <a:off x="6766560" y="31546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shutdown</a:t>
            </a:r>
            <a:endParaRPr lang="en-US" sz="1500" dirty="0"/>
          </a:p>
        </p:txBody>
      </p:sp>
      <p:pic>
        <p:nvPicPr>
          <p:cNvPr id="1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3721608"/>
            <a:ext cx="237744" cy="237744"/>
          </a:xfrm>
          <a:prstGeom prst="rect">
            <a:avLst/>
          </a:prstGeom>
        </p:spPr>
      </p:pic>
      <p:sp>
        <p:nvSpPr>
          <p:cNvPr id="135" name="Text 128"/>
          <p:cNvSpPr txBox="1"/>
          <p:nvPr/>
        </p:nvSpPr>
        <p:spPr>
          <a:xfrm>
            <a:off x="6766560" y="36118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humidity</a:t>
            </a:r>
            <a:endParaRPr lang="en-US" sz="1500" dirty="0"/>
          </a:p>
        </p:txBody>
      </p:sp>
      <p:pic>
        <p:nvPicPr>
          <p:cNvPr id="1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178808"/>
            <a:ext cx="237744" cy="237744"/>
          </a:xfrm>
          <a:prstGeom prst="rect">
            <a:avLst/>
          </a:prstGeom>
        </p:spPr>
      </p:pic>
      <p:sp>
        <p:nvSpPr>
          <p:cNvPr id="137" name="Text 129"/>
          <p:cNvSpPr txBox="1"/>
          <p:nvPr/>
        </p:nvSpPr>
        <p:spPr>
          <a:xfrm>
            <a:off x="6766560" y="40690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entry</a:t>
            </a:r>
            <a:endParaRPr lang="en-US" sz="1500" dirty="0"/>
          </a:p>
        </p:txBody>
      </p:sp>
      <p:pic>
        <p:nvPicPr>
          <p:cNvPr id="1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636008"/>
            <a:ext cx="237744" cy="237744"/>
          </a:xfrm>
          <a:prstGeom prst="rect">
            <a:avLst/>
          </a:prstGeom>
        </p:spPr>
      </p:pic>
      <p:sp>
        <p:nvSpPr>
          <p:cNvPr id="139" name="Text 130"/>
          <p:cNvSpPr txBox="1"/>
          <p:nvPr/>
        </p:nvSpPr>
        <p:spPr>
          <a:xfrm>
            <a:off x="6766560" y="4526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exit</a:t>
            </a:r>
            <a:endParaRPr lang="en-US" sz="1500" dirty="0"/>
          </a:p>
        </p:txBody>
      </p:sp>
      <p:pic>
        <p:nvPicPr>
          <p:cNvPr id="1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8844" y="2350008"/>
            <a:ext cx="237744" cy="237744"/>
          </a:xfrm>
          <a:prstGeom prst="rect">
            <a:avLst/>
          </a:prstGeom>
        </p:spPr>
      </p:pic>
      <p:sp>
        <p:nvSpPr>
          <p:cNvPr id="141" name="Text 131"/>
          <p:cNvSpPr txBox="1"/>
          <p:nvPr/>
        </p:nvSpPr>
        <p:spPr>
          <a:xfrm>
            <a:off x="936802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unit</a:t>
            </a:r>
            <a:endParaRPr lang="en-US" sz="1500" dirty="0"/>
          </a:p>
        </p:txBody>
      </p:sp>
      <p:pic>
        <p:nvPicPr>
          <p:cNvPr id="1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8844" y="2807208"/>
            <a:ext cx="237744" cy="237744"/>
          </a:xfrm>
          <a:prstGeom prst="rect">
            <a:avLst/>
          </a:prstGeom>
        </p:spPr>
      </p:pic>
      <p:sp>
        <p:nvSpPr>
          <p:cNvPr id="143" name="Text 132"/>
          <p:cNvSpPr txBox="1"/>
          <p:nvPr/>
        </p:nvSpPr>
        <p:spPr>
          <a:xfrm>
            <a:off x="9368028" y="26974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alarm</a:t>
            </a:r>
            <a:endParaRPr lang="en-US" sz="1500" dirty="0"/>
          </a:p>
        </p:txBody>
      </p:sp>
      <p:pic>
        <p:nvPicPr>
          <p:cNvPr id="1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8844" y="3264408"/>
            <a:ext cx="237744" cy="237744"/>
          </a:xfrm>
          <a:prstGeom prst="rect">
            <a:avLst/>
          </a:prstGeom>
        </p:spPr>
      </p:pic>
      <p:sp>
        <p:nvSpPr>
          <p:cNvPr id="145" name="Text 133"/>
          <p:cNvSpPr txBox="1"/>
          <p:nvPr/>
        </p:nvSpPr>
        <p:spPr>
          <a:xfrm>
            <a:off x="9368028" y="31546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badge</a:t>
            </a:r>
            <a:endParaRPr lang="en-US" sz="1500" dirty="0"/>
          </a:p>
        </p:txBody>
      </p:sp>
      <p:pic>
        <p:nvPicPr>
          <p:cNvPr id="1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8844" y="3721608"/>
            <a:ext cx="237744" cy="237744"/>
          </a:xfrm>
          <a:prstGeom prst="rect">
            <a:avLst/>
          </a:prstGeom>
        </p:spPr>
      </p:pic>
      <p:sp>
        <p:nvSpPr>
          <p:cNvPr id="147" name="Text 134"/>
          <p:cNvSpPr txBox="1"/>
          <p:nvPr/>
        </p:nvSpPr>
        <p:spPr>
          <a:xfrm>
            <a:off x="9368028" y="36118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sensor</a:t>
            </a:r>
            <a:endParaRPr lang="en-US" sz="1500" dirty="0"/>
          </a:p>
        </p:txBody>
      </p:sp>
      <p:pic>
        <p:nvPicPr>
          <p:cNvPr id="1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8844" y="4178808"/>
            <a:ext cx="237744" cy="237744"/>
          </a:xfrm>
          <a:prstGeom prst="rect">
            <a:avLst/>
          </a:prstGeom>
        </p:spPr>
      </p:pic>
      <p:sp>
        <p:nvSpPr>
          <p:cNvPr id="149" name="Text 135"/>
          <p:cNvSpPr txBox="1"/>
          <p:nvPr/>
        </p:nvSpPr>
        <p:spPr>
          <a:xfrm>
            <a:off x="9368028" y="40690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zone</a:t>
            </a:r>
            <a:endParaRPr lang="en-US" sz="1500" dirty="0"/>
          </a:p>
        </p:txBody>
      </p:sp>
      <p:pic>
        <p:nvPicPr>
          <p:cNvPr id="1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8844" y="4636008"/>
            <a:ext cx="237744" cy="237744"/>
          </a:xfrm>
          <a:prstGeom prst="rect">
            <a:avLst/>
          </a:prstGeom>
        </p:spPr>
      </p:pic>
      <p:sp>
        <p:nvSpPr>
          <p:cNvPr id="151" name="Text 136"/>
          <p:cNvSpPr txBox="1"/>
          <p:nvPr/>
        </p:nvSpPr>
        <p:spPr>
          <a:xfrm>
            <a:off x="9368028" y="4526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Twelve words hidden in the log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4813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5431536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85216" y="1819656"/>
            <a:ext cx="4000500" cy="379476"/>
          </a:xfrm>
          <a:prstGeom prst="roundRect">
            <a:avLst>
              <a:gd name="adj" fmla="val 47711"/>
            </a:avLst>
          </a:prstGeom>
          <a:solidFill>
            <a:srgbClr val="D9EDD5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37844" y="2272284"/>
            <a:ext cx="1737360" cy="379476"/>
          </a:xfrm>
          <a:prstGeom prst="roundRect">
            <a:avLst>
              <a:gd name="adj" fmla="val 47711"/>
            </a:avLst>
          </a:prstGeom>
          <a:solidFill>
            <a:srgbClr val="DCE8F5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90472" y="2724912"/>
            <a:ext cx="3547872" cy="379476"/>
          </a:xfrm>
          <a:prstGeom prst="roundRect">
            <a:avLst>
              <a:gd name="adj" fmla="val 47711"/>
            </a:avLst>
          </a:prstGeom>
          <a:solidFill>
            <a:srgbClr val="FBE3CC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3630168"/>
            <a:ext cx="3547872" cy="379476"/>
          </a:xfrm>
          <a:prstGeom prst="roundRect">
            <a:avLst>
              <a:gd name="adj" fmla="val 47711"/>
            </a:avLst>
          </a:prstGeom>
          <a:solidFill>
            <a:srgbClr val="E8DFF2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85216" y="4535424"/>
            <a:ext cx="2189988" cy="379476"/>
          </a:xfrm>
          <a:prstGeom prst="roundRect">
            <a:avLst>
              <a:gd name="adj" fmla="val 47711"/>
            </a:avLst>
          </a:prstGeom>
          <a:solidFill>
            <a:srgbClr val="F6DDE9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37844" y="5440680"/>
            <a:ext cx="1737360" cy="379476"/>
          </a:xfrm>
          <a:prstGeom prst="roundRect">
            <a:avLst>
              <a:gd name="adj" fmla="val 47711"/>
            </a:avLst>
          </a:prstGeom>
          <a:solidFill>
            <a:srgbClr val="FFF0BF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85216" y="5893308"/>
            <a:ext cx="1737360" cy="379476"/>
          </a:xfrm>
          <a:prstGeom prst="roundRect">
            <a:avLst>
              <a:gd name="adj" fmla="val 47711"/>
            </a:avLst>
          </a:prstGeom>
          <a:solidFill>
            <a:srgbClr val="D9EDD5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48356" y="5893308"/>
            <a:ext cx="2189988" cy="379476"/>
          </a:xfrm>
          <a:prstGeom prst="roundRect">
            <a:avLst>
              <a:gd name="adj" fmla="val 47711"/>
            </a:avLst>
          </a:prstGeom>
          <a:solidFill>
            <a:srgbClr val="DCE8F5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" y="2724912"/>
            <a:ext cx="379476" cy="2189988"/>
          </a:xfrm>
          <a:prstGeom prst="roundRect">
            <a:avLst>
              <a:gd name="adj" fmla="val 47711"/>
            </a:avLst>
          </a:prstGeom>
          <a:solidFill>
            <a:srgbClr val="FBE3CC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564124" y="2272284"/>
            <a:ext cx="379476" cy="2642616"/>
          </a:xfrm>
          <a:prstGeom prst="roundRect">
            <a:avLst>
              <a:gd name="adj" fmla="val 47711"/>
            </a:avLst>
          </a:prstGeom>
          <a:solidFill>
            <a:srgbClr val="E8DFF2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11496" y="4082796"/>
            <a:ext cx="379476" cy="1737360"/>
          </a:xfrm>
          <a:prstGeom prst="roundRect">
            <a:avLst>
              <a:gd name="adj" fmla="val 47711"/>
            </a:avLst>
          </a:prstGeom>
          <a:solidFill>
            <a:srgbClr val="F6DDE9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753612" y="4535424"/>
            <a:ext cx="379476" cy="1284732"/>
          </a:xfrm>
          <a:prstGeom prst="roundRect">
            <a:avLst>
              <a:gd name="adj" fmla="val 47711"/>
            </a:avLst>
          </a:prstGeom>
          <a:solidFill>
            <a:srgbClr val="FFF0BF"/>
          </a:solidFill>
          <a:ln w="9525">
            <a:solidFill>
              <a:srgbClr val="B9C3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00126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453896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1906524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359152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281178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26440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3717036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169664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4622292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5074920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527548" y="178308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100126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453896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1906524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2359152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81178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326440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3717036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4169664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622292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527548" y="223570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100126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46" name="Text 43"/>
          <p:cNvSpPr txBox="1"/>
          <p:nvPr/>
        </p:nvSpPr>
        <p:spPr>
          <a:xfrm>
            <a:off x="1453896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1906524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2359152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281178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326440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51" name="Text 48"/>
          <p:cNvSpPr txBox="1"/>
          <p:nvPr/>
        </p:nvSpPr>
        <p:spPr>
          <a:xfrm>
            <a:off x="3717036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4169664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4622292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5074920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55" name="Text 52"/>
          <p:cNvSpPr txBox="1"/>
          <p:nvPr/>
        </p:nvSpPr>
        <p:spPr>
          <a:xfrm>
            <a:off x="5527548" y="268833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56" name="Text 53"/>
          <p:cNvSpPr txBox="1"/>
          <p:nvPr/>
        </p:nvSpPr>
        <p:spPr>
          <a:xfrm>
            <a:off x="54864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100126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1453896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59" name="Text 56"/>
          <p:cNvSpPr txBox="1"/>
          <p:nvPr/>
        </p:nvSpPr>
        <p:spPr>
          <a:xfrm>
            <a:off x="1906524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60" name="Text 57"/>
          <p:cNvSpPr txBox="1"/>
          <p:nvPr/>
        </p:nvSpPr>
        <p:spPr>
          <a:xfrm>
            <a:off x="2359152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61" name="Text 58"/>
          <p:cNvSpPr txBox="1"/>
          <p:nvPr/>
        </p:nvSpPr>
        <p:spPr>
          <a:xfrm>
            <a:off x="281178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62" name="Text 59"/>
          <p:cNvSpPr txBox="1"/>
          <p:nvPr/>
        </p:nvSpPr>
        <p:spPr>
          <a:xfrm>
            <a:off x="326440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63" name="Text 60"/>
          <p:cNvSpPr txBox="1"/>
          <p:nvPr/>
        </p:nvSpPr>
        <p:spPr>
          <a:xfrm>
            <a:off x="3717036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4169664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65" name="Text 62"/>
          <p:cNvSpPr txBox="1"/>
          <p:nvPr/>
        </p:nvSpPr>
        <p:spPr>
          <a:xfrm>
            <a:off x="4622292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5074920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5527548" y="314096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68" name="Text 65"/>
          <p:cNvSpPr txBox="1"/>
          <p:nvPr/>
        </p:nvSpPr>
        <p:spPr>
          <a:xfrm>
            <a:off x="54864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100126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70" name="Text 67"/>
          <p:cNvSpPr txBox="1"/>
          <p:nvPr/>
        </p:nvSpPr>
        <p:spPr>
          <a:xfrm>
            <a:off x="1453896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71" name="Text 68"/>
          <p:cNvSpPr txBox="1"/>
          <p:nvPr/>
        </p:nvSpPr>
        <p:spPr>
          <a:xfrm>
            <a:off x="1906524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359152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281178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74" name="Text 71"/>
          <p:cNvSpPr txBox="1"/>
          <p:nvPr/>
        </p:nvSpPr>
        <p:spPr>
          <a:xfrm>
            <a:off x="326440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3717036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76" name="Text 73"/>
          <p:cNvSpPr txBox="1"/>
          <p:nvPr/>
        </p:nvSpPr>
        <p:spPr>
          <a:xfrm>
            <a:off x="4169664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77" name="Text 74"/>
          <p:cNvSpPr txBox="1"/>
          <p:nvPr/>
        </p:nvSpPr>
        <p:spPr>
          <a:xfrm>
            <a:off x="4622292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78" name="Text 75"/>
          <p:cNvSpPr txBox="1"/>
          <p:nvPr/>
        </p:nvSpPr>
        <p:spPr>
          <a:xfrm>
            <a:off x="5074920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700" dirty="0"/>
          </a:p>
        </p:txBody>
      </p:sp>
      <p:sp>
        <p:nvSpPr>
          <p:cNvPr id="79" name="Text 76"/>
          <p:cNvSpPr txBox="1"/>
          <p:nvPr/>
        </p:nvSpPr>
        <p:spPr>
          <a:xfrm>
            <a:off x="5527548" y="359359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80" name="Text 77"/>
          <p:cNvSpPr txBox="1"/>
          <p:nvPr/>
        </p:nvSpPr>
        <p:spPr>
          <a:xfrm>
            <a:off x="54864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81" name="Text 78"/>
          <p:cNvSpPr txBox="1"/>
          <p:nvPr/>
        </p:nvSpPr>
        <p:spPr>
          <a:xfrm>
            <a:off x="100126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700" dirty="0"/>
          </a:p>
        </p:txBody>
      </p:sp>
      <p:sp>
        <p:nvSpPr>
          <p:cNvPr id="82" name="Text 79"/>
          <p:cNvSpPr txBox="1"/>
          <p:nvPr/>
        </p:nvSpPr>
        <p:spPr>
          <a:xfrm>
            <a:off x="1453896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83" name="Text 80"/>
          <p:cNvSpPr txBox="1"/>
          <p:nvPr/>
        </p:nvSpPr>
        <p:spPr>
          <a:xfrm>
            <a:off x="1906524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84" name="Text 81"/>
          <p:cNvSpPr txBox="1"/>
          <p:nvPr/>
        </p:nvSpPr>
        <p:spPr>
          <a:xfrm>
            <a:off x="2359152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281178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86" name="Text 83"/>
          <p:cNvSpPr txBox="1"/>
          <p:nvPr/>
        </p:nvSpPr>
        <p:spPr>
          <a:xfrm>
            <a:off x="326440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3717036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4169664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89" name="Text 86"/>
          <p:cNvSpPr txBox="1"/>
          <p:nvPr/>
        </p:nvSpPr>
        <p:spPr>
          <a:xfrm>
            <a:off x="4622292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90" name="Text 87"/>
          <p:cNvSpPr txBox="1"/>
          <p:nvPr/>
        </p:nvSpPr>
        <p:spPr>
          <a:xfrm>
            <a:off x="5074920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700" dirty="0"/>
          </a:p>
        </p:txBody>
      </p:sp>
      <p:sp>
        <p:nvSpPr>
          <p:cNvPr id="91" name="Text 88"/>
          <p:cNvSpPr txBox="1"/>
          <p:nvPr/>
        </p:nvSpPr>
        <p:spPr>
          <a:xfrm>
            <a:off x="5527548" y="4046220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92" name="Text 89"/>
          <p:cNvSpPr txBox="1"/>
          <p:nvPr/>
        </p:nvSpPr>
        <p:spPr>
          <a:xfrm>
            <a:off x="54864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93" name="Text 90"/>
          <p:cNvSpPr txBox="1"/>
          <p:nvPr/>
        </p:nvSpPr>
        <p:spPr>
          <a:xfrm>
            <a:off x="100126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94" name="Text 91"/>
          <p:cNvSpPr txBox="1"/>
          <p:nvPr/>
        </p:nvSpPr>
        <p:spPr>
          <a:xfrm>
            <a:off x="1453896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95" name="Text 92"/>
          <p:cNvSpPr txBox="1"/>
          <p:nvPr/>
        </p:nvSpPr>
        <p:spPr>
          <a:xfrm>
            <a:off x="1906524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96" name="Text 93"/>
          <p:cNvSpPr txBox="1"/>
          <p:nvPr/>
        </p:nvSpPr>
        <p:spPr>
          <a:xfrm>
            <a:off x="2359152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700" dirty="0"/>
          </a:p>
        </p:txBody>
      </p:sp>
      <p:sp>
        <p:nvSpPr>
          <p:cNvPr id="97" name="Text 94"/>
          <p:cNvSpPr txBox="1"/>
          <p:nvPr/>
        </p:nvSpPr>
        <p:spPr>
          <a:xfrm>
            <a:off x="281178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98" name="Text 95"/>
          <p:cNvSpPr txBox="1"/>
          <p:nvPr/>
        </p:nvSpPr>
        <p:spPr>
          <a:xfrm>
            <a:off x="326440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99" name="Text 96"/>
          <p:cNvSpPr txBox="1"/>
          <p:nvPr/>
        </p:nvSpPr>
        <p:spPr>
          <a:xfrm>
            <a:off x="3717036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00" name="Text 97"/>
          <p:cNvSpPr txBox="1"/>
          <p:nvPr/>
        </p:nvSpPr>
        <p:spPr>
          <a:xfrm>
            <a:off x="4169664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01" name="Text 98"/>
          <p:cNvSpPr txBox="1"/>
          <p:nvPr/>
        </p:nvSpPr>
        <p:spPr>
          <a:xfrm>
            <a:off x="4622292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02" name="Text 99"/>
          <p:cNvSpPr txBox="1"/>
          <p:nvPr/>
        </p:nvSpPr>
        <p:spPr>
          <a:xfrm>
            <a:off x="5074920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03" name="Text 100"/>
          <p:cNvSpPr txBox="1"/>
          <p:nvPr/>
        </p:nvSpPr>
        <p:spPr>
          <a:xfrm>
            <a:off x="5527548" y="4498848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104" name="Text 101"/>
          <p:cNvSpPr txBox="1"/>
          <p:nvPr/>
        </p:nvSpPr>
        <p:spPr>
          <a:xfrm>
            <a:off x="54864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105" name="Text 102"/>
          <p:cNvSpPr txBox="1"/>
          <p:nvPr/>
        </p:nvSpPr>
        <p:spPr>
          <a:xfrm>
            <a:off x="100126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106" name="Text 103"/>
          <p:cNvSpPr txBox="1"/>
          <p:nvPr/>
        </p:nvSpPr>
        <p:spPr>
          <a:xfrm>
            <a:off x="1453896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1906524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08" name="Text 105"/>
          <p:cNvSpPr txBox="1"/>
          <p:nvPr/>
        </p:nvSpPr>
        <p:spPr>
          <a:xfrm>
            <a:off x="2359152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09" name="Text 106"/>
          <p:cNvSpPr txBox="1"/>
          <p:nvPr/>
        </p:nvSpPr>
        <p:spPr>
          <a:xfrm>
            <a:off x="281178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10" name="Text 107"/>
          <p:cNvSpPr txBox="1"/>
          <p:nvPr/>
        </p:nvSpPr>
        <p:spPr>
          <a:xfrm>
            <a:off x="326440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111" name="Text 108"/>
          <p:cNvSpPr txBox="1"/>
          <p:nvPr/>
        </p:nvSpPr>
        <p:spPr>
          <a:xfrm>
            <a:off x="3717036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700" dirty="0"/>
          </a:p>
        </p:txBody>
      </p:sp>
      <p:sp>
        <p:nvSpPr>
          <p:cNvPr id="112" name="Text 109"/>
          <p:cNvSpPr txBox="1"/>
          <p:nvPr/>
        </p:nvSpPr>
        <p:spPr>
          <a:xfrm>
            <a:off x="4169664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13" name="Text 110"/>
          <p:cNvSpPr txBox="1"/>
          <p:nvPr/>
        </p:nvSpPr>
        <p:spPr>
          <a:xfrm>
            <a:off x="4622292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700" dirty="0"/>
          </a:p>
        </p:txBody>
      </p:sp>
      <p:sp>
        <p:nvSpPr>
          <p:cNvPr id="114" name="Text 111"/>
          <p:cNvSpPr txBox="1"/>
          <p:nvPr/>
        </p:nvSpPr>
        <p:spPr>
          <a:xfrm>
            <a:off x="5074920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115" name="Text 112"/>
          <p:cNvSpPr txBox="1"/>
          <p:nvPr/>
        </p:nvSpPr>
        <p:spPr>
          <a:xfrm>
            <a:off x="5527548" y="4951476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16" name="Text 113"/>
          <p:cNvSpPr txBox="1"/>
          <p:nvPr/>
        </p:nvSpPr>
        <p:spPr>
          <a:xfrm>
            <a:off x="54864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17" name="Text 114"/>
          <p:cNvSpPr txBox="1"/>
          <p:nvPr/>
        </p:nvSpPr>
        <p:spPr>
          <a:xfrm>
            <a:off x="100126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18" name="Text 115"/>
          <p:cNvSpPr txBox="1"/>
          <p:nvPr/>
        </p:nvSpPr>
        <p:spPr>
          <a:xfrm>
            <a:off x="1453896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700" dirty="0"/>
          </a:p>
        </p:txBody>
      </p:sp>
      <p:sp>
        <p:nvSpPr>
          <p:cNvPr id="119" name="Text 116"/>
          <p:cNvSpPr txBox="1"/>
          <p:nvPr/>
        </p:nvSpPr>
        <p:spPr>
          <a:xfrm>
            <a:off x="1906524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20" name="Text 117"/>
          <p:cNvSpPr txBox="1"/>
          <p:nvPr/>
        </p:nvSpPr>
        <p:spPr>
          <a:xfrm>
            <a:off x="2359152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21" name="Text 118"/>
          <p:cNvSpPr txBox="1"/>
          <p:nvPr/>
        </p:nvSpPr>
        <p:spPr>
          <a:xfrm>
            <a:off x="281178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700" dirty="0"/>
          </a:p>
        </p:txBody>
      </p:sp>
      <p:sp>
        <p:nvSpPr>
          <p:cNvPr id="122" name="Text 119"/>
          <p:cNvSpPr txBox="1"/>
          <p:nvPr/>
        </p:nvSpPr>
        <p:spPr>
          <a:xfrm>
            <a:off x="326440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23" name="Text 120"/>
          <p:cNvSpPr txBox="1"/>
          <p:nvPr/>
        </p:nvSpPr>
        <p:spPr>
          <a:xfrm>
            <a:off x="3717036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24" name="Text 121"/>
          <p:cNvSpPr txBox="1"/>
          <p:nvPr/>
        </p:nvSpPr>
        <p:spPr>
          <a:xfrm>
            <a:off x="4169664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700" dirty="0"/>
          </a:p>
        </p:txBody>
      </p:sp>
      <p:sp>
        <p:nvSpPr>
          <p:cNvPr id="125" name="Text 122"/>
          <p:cNvSpPr txBox="1"/>
          <p:nvPr/>
        </p:nvSpPr>
        <p:spPr>
          <a:xfrm>
            <a:off x="4622292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126" name="Text 123"/>
          <p:cNvSpPr txBox="1"/>
          <p:nvPr/>
        </p:nvSpPr>
        <p:spPr>
          <a:xfrm>
            <a:off x="5074920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27" name="Text 124"/>
          <p:cNvSpPr txBox="1"/>
          <p:nvPr/>
        </p:nvSpPr>
        <p:spPr>
          <a:xfrm>
            <a:off x="5527548" y="5404104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28" name="Text 125"/>
          <p:cNvSpPr txBox="1"/>
          <p:nvPr/>
        </p:nvSpPr>
        <p:spPr>
          <a:xfrm>
            <a:off x="54864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en-US" sz="1700" dirty="0"/>
          </a:p>
        </p:txBody>
      </p:sp>
      <p:sp>
        <p:nvSpPr>
          <p:cNvPr id="129" name="Text 126"/>
          <p:cNvSpPr txBox="1"/>
          <p:nvPr/>
        </p:nvSpPr>
        <p:spPr>
          <a:xfrm>
            <a:off x="100126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700" dirty="0"/>
          </a:p>
        </p:txBody>
      </p:sp>
      <p:sp>
        <p:nvSpPr>
          <p:cNvPr id="130" name="Text 127"/>
          <p:cNvSpPr txBox="1"/>
          <p:nvPr/>
        </p:nvSpPr>
        <p:spPr>
          <a:xfrm>
            <a:off x="1453896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31" name="Text 128"/>
          <p:cNvSpPr txBox="1"/>
          <p:nvPr/>
        </p:nvSpPr>
        <p:spPr>
          <a:xfrm>
            <a:off x="1906524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700" dirty="0"/>
          </a:p>
        </p:txBody>
      </p:sp>
      <p:sp>
        <p:nvSpPr>
          <p:cNvPr id="132" name="Text 129"/>
          <p:cNvSpPr txBox="1"/>
          <p:nvPr/>
        </p:nvSpPr>
        <p:spPr>
          <a:xfrm>
            <a:off x="2359152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133" name="Text 130"/>
          <p:cNvSpPr txBox="1"/>
          <p:nvPr/>
        </p:nvSpPr>
        <p:spPr>
          <a:xfrm>
            <a:off x="281178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34" name="Text 131"/>
          <p:cNvSpPr txBox="1"/>
          <p:nvPr/>
        </p:nvSpPr>
        <p:spPr>
          <a:xfrm>
            <a:off x="326440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135" name="Text 132"/>
          <p:cNvSpPr txBox="1"/>
          <p:nvPr/>
        </p:nvSpPr>
        <p:spPr>
          <a:xfrm>
            <a:off x="3717036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36" name="Text 133"/>
          <p:cNvSpPr txBox="1"/>
          <p:nvPr/>
        </p:nvSpPr>
        <p:spPr>
          <a:xfrm>
            <a:off x="4169664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700" dirty="0"/>
          </a:p>
        </p:txBody>
      </p:sp>
      <p:sp>
        <p:nvSpPr>
          <p:cNvPr id="137" name="Text 134"/>
          <p:cNvSpPr txBox="1"/>
          <p:nvPr/>
        </p:nvSpPr>
        <p:spPr>
          <a:xfrm>
            <a:off x="4622292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138" name="Text 135"/>
          <p:cNvSpPr txBox="1"/>
          <p:nvPr/>
        </p:nvSpPr>
        <p:spPr>
          <a:xfrm>
            <a:off x="5074920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700" dirty="0"/>
          </a:p>
        </p:txBody>
      </p:sp>
      <p:sp>
        <p:nvSpPr>
          <p:cNvPr id="139" name="Text 136"/>
          <p:cNvSpPr txBox="1"/>
          <p:nvPr/>
        </p:nvSpPr>
        <p:spPr>
          <a:xfrm>
            <a:off x="5527548" y="5856732"/>
            <a:ext cx="452628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1700" dirty="0"/>
          </a:p>
        </p:txBody>
      </p:sp>
      <p:sp>
        <p:nvSpPr>
          <p:cNvPr id="140" name="Text 137"/>
          <p:cNvSpPr txBox="1"/>
          <p:nvPr/>
        </p:nvSpPr>
        <p:spPr>
          <a:xfrm>
            <a:off x="6437376" y="1783080"/>
            <a:ext cx="5202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236A"/>
                </a:solidFill>
              </a:rPr>
              <a:t>FIND 12 WORDS</a:t>
            </a:r>
            <a:endParaRPr lang="en-US" sz="1300" dirty="0"/>
          </a:p>
        </p:txBody>
      </p:sp>
      <p:pic>
        <p:nvPicPr>
          <p:cNvPr id="1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76" y="2350008"/>
            <a:ext cx="237744" cy="237744"/>
          </a:xfrm>
          <a:prstGeom prst="rect">
            <a:avLst/>
          </a:prstGeom>
        </p:spPr>
      </p:pic>
      <p:sp>
        <p:nvSpPr>
          <p:cNvPr id="142" name="Text 138"/>
          <p:cNvSpPr txBox="1"/>
          <p:nvPr/>
        </p:nvSpPr>
        <p:spPr>
          <a:xfrm>
            <a:off x="676656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threshold</a:t>
            </a:r>
            <a:r>
              <a:rPr lang="en-US" sz="1100" i="1" dirty="0">
                <a:solidFill>
                  <a:schemeClr val="accent5"/>
                </a:solidFill>
              </a:rPr>
              <a:t>  seuil</a:t>
            </a:r>
            <a:endParaRPr lang="en-US" sz="1500" dirty="0"/>
          </a:p>
        </p:txBody>
      </p:sp>
      <p:pic>
        <p:nvPicPr>
          <p:cNvPr id="1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76" y="2807208"/>
            <a:ext cx="237744" cy="237744"/>
          </a:xfrm>
          <a:prstGeom prst="rect">
            <a:avLst/>
          </a:prstGeom>
        </p:spPr>
      </p:pic>
      <p:sp>
        <p:nvSpPr>
          <p:cNvPr id="144" name="Text 139"/>
          <p:cNvSpPr txBox="1"/>
          <p:nvPr/>
        </p:nvSpPr>
        <p:spPr>
          <a:xfrm>
            <a:off x="6766560" y="26974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rack</a:t>
            </a:r>
            <a:r>
              <a:rPr lang="en-US" sz="1100" i="1" dirty="0">
                <a:solidFill>
                  <a:schemeClr val="accent5"/>
                </a:solidFill>
              </a:rPr>
              <a:t>  baie</a:t>
            </a:r>
            <a:endParaRPr lang="en-US" sz="1500" dirty="0"/>
          </a:p>
        </p:txBody>
      </p:sp>
      <p:pic>
        <p:nvPicPr>
          <p:cNvPr id="1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3264408"/>
            <a:ext cx="237744" cy="237744"/>
          </a:xfrm>
          <a:prstGeom prst="rect">
            <a:avLst/>
          </a:prstGeom>
        </p:spPr>
      </p:pic>
      <p:sp>
        <p:nvSpPr>
          <p:cNvPr id="146" name="Text 140"/>
          <p:cNvSpPr txBox="1"/>
          <p:nvPr/>
        </p:nvSpPr>
        <p:spPr>
          <a:xfrm>
            <a:off x="6766560" y="31546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shutdown</a:t>
            </a:r>
            <a:r>
              <a:rPr lang="en-US" sz="1100" i="1" dirty="0">
                <a:solidFill>
                  <a:schemeClr val="accent5"/>
                </a:solidFill>
              </a:rPr>
              <a:t>  arrêt</a:t>
            </a:r>
            <a:endParaRPr lang="en-US" sz="1500" dirty="0"/>
          </a:p>
        </p:txBody>
      </p:sp>
      <p:pic>
        <p:nvPicPr>
          <p:cNvPr id="1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3721608"/>
            <a:ext cx="237744" cy="237744"/>
          </a:xfrm>
          <a:prstGeom prst="rect">
            <a:avLst/>
          </a:prstGeom>
        </p:spPr>
      </p:pic>
      <p:sp>
        <p:nvSpPr>
          <p:cNvPr id="148" name="Text 141"/>
          <p:cNvSpPr txBox="1"/>
          <p:nvPr/>
        </p:nvSpPr>
        <p:spPr>
          <a:xfrm>
            <a:off x="6766560" y="36118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humidity</a:t>
            </a:r>
            <a:r>
              <a:rPr lang="en-US" sz="1100" i="1" dirty="0">
                <a:solidFill>
                  <a:schemeClr val="accent5"/>
                </a:solidFill>
              </a:rPr>
              <a:t>  humidité</a:t>
            </a:r>
            <a:endParaRPr lang="en-US" sz="1500" dirty="0"/>
          </a:p>
        </p:txBody>
      </p:sp>
      <p:pic>
        <p:nvPicPr>
          <p:cNvPr id="1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4178808"/>
            <a:ext cx="237744" cy="237744"/>
          </a:xfrm>
          <a:prstGeom prst="rect">
            <a:avLst/>
          </a:prstGeom>
        </p:spPr>
      </p:pic>
      <p:sp>
        <p:nvSpPr>
          <p:cNvPr id="150" name="Text 142"/>
          <p:cNvSpPr txBox="1"/>
          <p:nvPr/>
        </p:nvSpPr>
        <p:spPr>
          <a:xfrm>
            <a:off x="6766560" y="40690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entry</a:t>
            </a:r>
            <a:r>
              <a:rPr lang="en-US" sz="1100" i="1" dirty="0">
                <a:solidFill>
                  <a:schemeClr val="accent5"/>
                </a:solidFill>
              </a:rPr>
              <a:t>  entrée</a:t>
            </a:r>
            <a:endParaRPr lang="en-US" sz="1500" dirty="0"/>
          </a:p>
        </p:txBody>
      </p:sp>
      <p:pic>
        <p:nvPicPr>
          <p:cNvPr id="1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376" y="4636008"/>
            <a:ext cx="237744" cy="237744"/>
          </a:xfrm>
          <a:prstGeom prst="rect">
            <a:avLst/>
          </a:prstGeom>
        </p:spPr>
      </p:pic>
      <p:sp>
        <p:nvSpPr>
          <p:cNvPr id="152" name="Text 143"/>
          <p:cNvSpPr txBox="1"/>
          <p:nvPr/>
        </p:nvSpPr>
        <p:spPr>
          <a:xfrm>
            <a:off x="6766560" y="4526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exit</a:t>
            </a:r>
            <a:r>
              <a:rPr lang="en-US" sz="1100" i="1" dirty="0">
                <a:solidFill>
                  <a:schemeClr val="accent5"/>
                </a:solidFill>
              </a:rPr>
              <a:t>  sortie</a:t>
            </a:r>
            <a:endParaRPr lang="en-US" sz="1500" dirty="0"/>
          </a:p>
        </p:txBody>
      </p:sp>
      <p:pic>
        <p:nvPicPr>
          <p:cNvPr id="15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8844" y="2350008"/>
            <a:ext cx="237744" cy="237744"/>
          </a:xfrm>
          <a:prstGeom prst="rect">
            <a:avLst/>
          </a:prstGeom>
        </p:spPr>
      </p:pic>
      <p:sp>
        <p:nvSpPr>
          <p:cNvPr id="154" name="Text 144"/>
          <p:cNvSpPr txBox="1"/>
          <p:nvPr/>
        </p:nvSpPr>
        <p:spPr>
          <a:xfrm>
            <a:off x="936802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unit</a:t>
            </a:r>
            <a:r>
              <a:rPr lang="en-US" sz="1100" i="1" dirty="0">
                <a:solidFill>
                  <a:schemeClr val="accent5"/>
                </a:solidFill>
              </a:rPr>
              <a:t>  serveur</a:t>
            </a:r>
            <a:endParaRPr lang="en-US" sz="1500" dirty="0"/>
          </a:p>
        </p:txBody>
      </p:sp>
      <p:pic>
        <p:nvPicPr>
          <p:cNvPr id="1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8844" y="2807208"/>
            <a:ext cx="237744" cy="237744"/>
          </a:xfrm>
          <a:prstGeom prst="rect">
            <a:avLst/>
          </a:prstGeom>
        </p:spPr>
      </p:pic>
      <p:sp>
        <p:nvSpPr>
          <p:cNvPr id="156" name="Text 145"/>
          <p:cNvSpPr txBox="1"/>
          <p:nvPr/>
        </p:nvSpPr>
        <p:spPr>
          <a:xfrm>
            <a:off x="9368028" y="26974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alarm</a:t>
            </a:r>
            <a:r>
              <a:rPr lang="en-US" sz="1100" i="1" dirty="0">
                <a:solidFill>
                  <a:schemeClr val="accent5"/>
                </a:solidFill>
              </a:rPr>
              <a:t>  alarme</a:t>
            </a:r>
            <a:endParaRPr lang="en-US" sz="1500" dirty="0"/>
          </a:p>
        </p:txBody>
      </p:sp>
      <p:pic>
        <p:nvPicPr>
          <p:cNvPr id="1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8844" y="3264408"/>
            <a:ext cx="237744" cy="237744"/>
          </a:xfrm>
          <a:prstGeom prst="rect">
            <a:avLst/>
          </a:prstGeom>
        </p:spPr>
      </p:pic>
      <p:sp>
        <p:nvSpPr>
          <p:cNvPr id="158" name="Text 146"/>
          <p:cNvSpPr txBox="1"/>
          <p:nvPr/>
        </p:nvSpPr>
        <p:spPr>
          <a:xfrm>
            <a:off x="9368028" y="31546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badge</a:t>
            </a:r>
            <a:r>
              <a:rPr lang="en-US" sz="1100" i="1" dirty="0">
                <a:solidFill>
                  <a:schemeClr val="accent5"/>
                </a:solidFill>
              </a:rPr>
              <a:t>  badge</a:t>
            </a:r>
            <a:endParaRPr lang="en-US" sz="1500" dirty="0"/>
          </a:p>
        </p:txBody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38844" y="3721608"/>
            <a:ext cx="237744" cy="237744"/>
          </a:xfrm>
          <a:prstGeom prst="rect">
            <a:avLst/>
          </a:prstGeom>
        </p:spPr>
      </p:pic>
      <p:sp>
        <p:nvSpPr>
          <p:cNvPr id="160" name="Text 147"/>
          <p:cNvSpPr txBox="1"/>
          <p:nvPr/>
        </p:nvSpPr>
        <p:spPr>
          <a:xfrm>
            <a:off x="9368028" y="36118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sensor</a:t>
            </a:r>
            <a:r>
              <a:rPr lang="en-US" sz="1100" i="1" dirty="0">
                <a:solidFill>
                  <a:schemeClr val="accent5"/>
                </a:solidFill>
              </a:rPr>
              <a:t>  capteur</a:t>
            </a:r>
            <a:endParaRPr lang="en-US" sz="1500" dirty="0"/>
          </a:p>
        </p:txBody>
      </p:sp>
      <p:pic>
        <p:nvPicPr>
          <p:cNvPr id="1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8844" y="4178808"/>
            <a:ext cx="237744" cy="237744"/>
          </a:xfrm>
          <a:prstGeom prst="rect">
            <a:avLst/>
          </a:prstGeom>
        </p:spPr>
      </p:pic>
      <p:sp>
        <p:nvSpPr>
          <p:cNvPr id="162" name="Text 148"/>
          <p:cNvSpPr txBox="1"/>
          <p:nvPr/>
        </p:nvSpPr>
        <p:spPr>
          <a:xfrm>
            <a:off x="9368028" y="40690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zone</a:t>
            </a:r>
            <a:r>
              <a:rPr lang="en-US" sz="1100" i="1" dirty="0">
                <a:solidFill>
                  <a:schemeClr val="accent5"/>
                </a:solidFill>
              </a:rPr>
              <a:t>  zone</a:t>
            </a:r>
            <a:endParaRPr lang="en-US" sz="1500" dirty="0"/>
          </a:p>
        </p:txBody>
      </p:sp>
      <p:pic>
        <p:nvPicPr>
          <p:cNvPr id="1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38844" y="4636008"/>
            <a:ext cx="237744" cy="237744"/>
          </a:xfrm>
          <a:prstGeom prst="rect">
            <a:avLst/>
          </a:prstGeom>
        </p:spPr>
      </p:pic>
      <p:sp>
        <p:nvSpPr>
          <p:cNvPr id="164" name="Text 149"/>
          <p:cNvSpPr txBox="1"/>
          <p:nvPr/>
        </p:nvSpPr>
        <p:spPr>
          <a:xfrm>
            <a:off x="9368028" y="4526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</a:t>
            </a:r>
            <a:r>
              <a:rPr lang="en-US" sz="1100" i="1" dirty="0">
                <a:solidFill>
                  <a:schemeClr val="accent5"/>
                </a:solidFill>
              </a:rPr>
              <a:t>  journal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a time, give a duration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11–12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19293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+ 24-HOUR CLOCK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2219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23:41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7523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twenty-three forty-one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49808" y="31181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3209544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= eleven forty-one </a:t>
            </a:r>
            <a:r>
              <a:rPr lang="en-US" sz="1700" b="1" dirty="0">
                <a:solidFill>
                  <a:schemeClr val="tx1"/>
                </a:solidFill>
              </a:rPr>
              <a:t>p.m.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371850" y="1783080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73018" y="19293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A ZERO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73018" y="22219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20:04</a:t>
            </a:r>
            <a:endParaRPr lang="en-US" sz="2300" dirty="0"/>
          </a:p>
        </p:txBody>
      </p:sp>
      <p:sp>
        <p:nvSpPr>
          <p:cNvPr id="15" name="Text 12"/>
          <p:cNvSpPr txBox="1"/>
          <p:nvPr/>
        </p:nvSpPr>
        <p:spPr>
          <a:xfrm>
            <a:off x="3573018" y="27523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twenty oh four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573018" y="31181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73018" y="3209544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= four minutes past eight </a:t>
            </a:r>
            <a:r>
              <a:rPr lang="en-US" sz="1700" b="1" dirty="0">
                <a:solidFill>
                  <a:schemeClr val="tx1"/>
                </a:solidFill>
              </a:rPr>
              <a:t>p.m.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5060" y="1783080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96228" y="19293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MORNING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96228" y="22219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06:47</a:t>
            </a:r>
            <a:endParaRPr lang="en-US" sz="2300" dirty="0"/>
          </a:p>
        </p:txBody>
      </p:sp>
      <p:sp>
        <p:nvSpPr>
          <p:cNvPr id="21" name="Text 18"/>
          <p:cNvSpPr txBox="1"/>
          <p:nvPr/>
        </p:nvSpPr>
        <p:spPr>
          <a:xfrm>
            <a:off x="6396228" y="27523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six forty-seven a.m.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96228" y="31181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96228" y="3209544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a.m.</a:t>
            </a:r>
            <a:r>
              <a:rPr lang="en-US" sz="1700" dirty="0">
                <a:solidFill>
                  <a:schemeClr val="tx1"/>
                </a:solidFill>
              </a:rPr>
              <a:t> = from midnight to noon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9018270" y="1783080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19438" y="1929384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SPOKEN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9219438" y="2221992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 to seven</a:t>
            </a:r>
            <a:endParaRPr lang="en-US" sz="2300" dirty="0"/>
          </a:p>
        </p:txBody>
      </p:sp>
      <p:sp>
        <p:nvSpPr>
          <p:cNvPr id="27" name="Text 24"/>
          <p:cNvSpPr txBox="1"/>
          <p:nvPr/>
        </p:nvSpPr>
        <p:spPr>
          <a:xfrm>
            <a:off x="9219438" y="2752344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= 06:50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9219438" y="3118104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219438" y="3209544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quarter past</a:t>
            </a:r>
            <a:r>
              <a:rPr lang="en-US" sz="1700" dirty="0">
                <a:solidFill>
                  <a:schemeClr val="tx1"/>
                </a:solidFill>
              </a:rPr>
              <a:t> eight = 08:15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48640" y="4146804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49808" y="4293108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FROM … TO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749808" y="4585716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 … to</a:t>
            </a:r>
            <a:endParaRPr lang="en-US" sz="23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5116068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de … à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49808" y="5481828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9808" y="5573268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from</a:t>
            </a:r>
            <a:r>
              <a:rPr lang="en-US" sz="1700" dirty="0">
                <a:solidFill>
                  <a:schemeClr val="tx1"/>
                </a:solidFill>
              </a:rPr>
              <a:t> 20:04 </a:t>
            </a:r>
            <a:r>
              <a:rPr lang="en-US" sz="1700" b="1" dirty="0">
                <a:solidFill>
                  <a:schemeClr val="tx1"/>
                </a:solidFill>
              </a:rPr>
              <a:t>to</a:t>
            </a:r>
            <a:r>
              <a:rPr lang="en-US" sz="1700" dirty="0">
                <a:solidFill>
                  <a:schemeClr val="tx1"/>
                </a:solidFill>
              </a:rPr>
              <a:t> 20:19 = fifteen minutes</a:t>
            </a:r>
            <a:endParaRPr lang="en-US" sz="1700" dirty="0"/>
          </a:p>
        </p:txBody>
      </p:sp>
      <p:sp>
        <p:nvSpPr>
          <p:cNvPr id="36" name="Shape 33"/>
          <p:cNvSpPr/>
          <p:nvPr/>
        </p:nvSpPr>
        <p:spPr>
          <a:xfrm>
            <a:off x="3371850" y="4146804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573018" y="4293108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BETWEEN … AND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3573018" y="4585716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between … and</a:t>
            </a:r>
            <a:endParaRPr lang="en-US" sz="2300" dirty="0"/>
          </a:p>
        </p:txBody>
      </p:sp>
      <p:sp>
        <p:nvSpPr>
          <p:cNvPr id="39" name="Text 36"/>
          <p:cNvSpPr txBox="1"/>
          <p:nvPr/>
        </p:nvSpPr>
        <p:spPr>
          <a:xfrm>
            <a:off x="3573018" y="5116068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entre … et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3573018" y="5481828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573018" y="5573268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between</a:t>
            </a:r>
            <a:r>
              <a:rPr lang="en-US" sz="1700" dirty="0">
                <a:solidFill>
                  <a:schemeClr val="tx1"/>
                </a:solidFill>
              </a:rPr>
              <a:t> 23:41 </a:t>
            </a:r>
            <a:r>
              <a:rPr lang="en-US" sz="1700" b="1" dirty="0">
                <a:solidFill>
                  <a:schemeClr val="tx1"/>
                </a:solidFill>
              </a:rPr>
              <a:t>and</a:t>
            </a:r>
            <a:r>
              <a:rPr lang="en-US" sz="1700" dirty="0">
                <a:solidFill>
                  <a:schemeClr val="tx1"/>
                </a:solidFill>
              </a:rPr>
              <a:t> 06:47</a:t>
            </a:r>
            <a:endParaRPr lang="en-US" sz="1700" dirty="0"/>
          </a:p>
        </p:txBody>
      </p:sp>
      <p:sp>
        <p:nvSpPr>
          <p:cNvPr id="42" name="Shape 39"/>
          <p:cNvSpPr/>
          <p:nvPr/>
        </p:nvSpPr>
        <p:spPr>
          <a:xfrm>
            <a:off x="6195060" y="4146804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396228" y="4293108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+ A DURATION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96228" y="4585716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</a:t>
            </a:r>
            <a:endParaRPr lang="en-US" sz="2300" dirty="0"/>
          </a:p>
        </p:txBody>
      </p:sp>
      <p:sp>
        <p:nvSpPr>
          <p:cNvPr id="45" name="Text 42"/>
          <p:cNvSpPr txBox="1"/>
          <p:nvPr/>
        </p:nvSpPr>
        <p:spPr>
          <a:xfrm>
            <a:off x="6396228" y="5116068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pendant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6396228" y="5481828"/>
            <a:ext cx="221970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96228" y="5573268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water ran </a:t>
            </a:r>
            <a:r>
              <a:rPr lang="en-US" sz="1700" b="1" dirty="0">
                <a:solidFill>
                  <a:schemeClr val="tx1"/>
                </a:solidFill>
              </a:rPr>
              <a:t>for</a:t>
            </a:r>
            <a:r>
              <a:rPr lang="en-US" sz="1700" dirty="0">
                <a:solidFill>
                  <a:schemeClr val="tx1"/>
                </a:solidFill>
              </a:rPr>
              <a:t> about seven hours.</a:t>
            </a:r>
            <a:endParaRPr lang="en-US" sz="1700" dirty="0"/>
          </a:p>
        </p:txBody>
      </p:sp>
      <p:sp>
        <p:nvSpPr>
          <p:cNvPr id="48" name="Shape 45"/>
          <p:cNvSpPr/>
          <p:nvPr/>
        </p:nvSpPr>
        <p:spPr>
          <a:xfrm>
            <a:off x="9018270" y="4146804"/>
            <a:ext cx="2622042" cy="2162556"/>
          </a:xfrm>
          <a:prstGeom prst="roundRect">
            <a:avLst>
              <a:gd name="adj" fmla="val 3383"/>
            </a:avLst>
          </a:prstGeom>
          <a:solidFill>
            <a:srgbClr val="C0752A">
              <a:alpha val="12000"/>
            </a:srgbClr>
          </a:solidFill>
          <a:ln w="15875">
            <a:solidFill>
              <a:srgbClr val="C0752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219438" y="4293108"/>
            <a:ext cx="221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⚠ </a:t>
            </a:r>
            <a:r>
              <a:rPr lang="en-US" sz="1200" b="1" spc="150" kern="0" dirty="0">
                <a:solidFill>
                  <a:schemeClr val="accent1"/>
                </a:solidFill>
              </a:rPr>
              <a:t>ATTENTION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9219438" y="4585716"/>
            <a:ext cx="221970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≠ during</a:t>
            </a:r>
            <a:endParaRPr lang="en-US" sz="2300" dirty="0"/>
          </a:p>
        </p:txBody>
      </p:sp>
      <p:sp>
        <p:nvSpPr>
          <p:cNvPr id="51" name="Text 48"/>
          <p:cNvSpPr txBox="1"/>
          <p:nvPr/>
        </p:nvSpPr>
        <p:spPr>
          <a:xfrm>
            <a:off x="9219438" y="5116068"/>
            <a:ext cx="22197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pendant + durée · + nom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9219438" y="5481828"/>
            <a:ext cx="2219706" cy="0"/>
          </a:xfrm>
          <a:prstGeom prst="line">
            <a:avLst/>
          </a:prstGeom>
          <a:noFill/>
          <a:ln w="9525">
            <a:solidFill>
              <a:srgbClr val="C0752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219438" y="5573268"/>
            <a:ext cx="221970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for</a:t>
            </a:r>
            <a:r>
              <a:rPr lang="en-US" sz="1700" dirty="0">
                <a:solidFill>
                  <a:schemeClr val="tx1"/>
                </a:solidFill>
              </a:rPr>
              <a:t> seven hours · </a:t>
            </a:r>
            <a:r>
              <a:rPr lang="en-US" sz="1700" b="1" dirty="0">
                <a:solidFill>
                  <a:schemeClr val="tx1"/>
                </a:solidFill>
              </a:rPr>
              <a:t>during</a:t>
            </a:r>
            <a:r>
              <a:rPr lang="en-US" sz="1700" dirty="0">
                <a:solidFill>
                  <a:schemeClr val="tx1"/>
                </a:solidFill>
              </a:rPr>
              <a:t> the night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Time bingo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B4236A">
              <a:alpha val="8000"/>
            </a:srgb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11096"/>
            <a:ext cx="713232" cy="713232"/>
          </a:xfrm>
          <a:prstGeom prst="ellipse">
            <a:avLst/>
          </a:prstGeom>
          <a:solidFill>
            <a:srgbClr val="B4236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89404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1837944"/>
            <a:ext cx="97657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236A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Hear the time — find it on your card.</a:t>
            </a:r>
            <a:endParaRPr lang="en-US" sz="21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Everybody · 10 minutes · listening to times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548640" y="3072384"/>
            <a:ext cx="365760" cy="365760"/>
          </a:xfrm>
          <a:prstGeom prst="ellipse">
            <a:avLst/>
          </a:prstGeom>
          <a:solidFill>
            <a:srgbClr val="B4236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3017520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Draw a 3 × 3 grid. Copy </a:t>
            </a:r>
            <a:r>
              <a:rPr lang="en-US" sz="1700" b="1" dirty="0">
                <a:solidFill>
                  <a:schemeClr val="tx1"/>
                </a:solidFill>
              </a:rPr>
              <a:t>nine times</a:t>
            </a:r>
            <a:r>
              <a:rPr lang="en-US" sz="1700" dirty="0">
                <a:solidFill>
                  <a:schemeClr val="tx1"/>
                </a:solidFill>
              </a:rPr>
              <a:t> from the board, in any order.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48640" y="3707892"/>
            <a:ext cx="365760" cy="365760"/>
          </a:xfrm>
          <a:prstGeom prst="ellipse">
            <a:avLst/>
          </a:prstGeom>
          <a:solidFill>
            <a:srgbClr val="B4236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97280" y="3653028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Your teacher reads times — in different ways: </a:t>
            </a:r>
            <a:r>
              <a:rPr lang="en-US" sz="1700" i="1" dirty="0">
                <a:solidFill>
                  <a:schemeClr val="tx1"/>
                </a:solidFill>
              </a:rPr>
              <a:t>twenty oh four · eight oh four p.m. · four minutes past eight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solidFill>
            <a:srgbClr val="B4236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97280" y="4288536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Cross out every time you hear.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48640" y="4978908"/>
            <a:ext cx="365760" cy="365760"/>
          </a:xfrm>
          <a:prstGeom prst="ellipse">
            <a:avLst/>
          </a:prstGeom>
          <a:solidFill>
            <a:srgbClr val="B4236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97280" y="4924044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Three in a line: shout </a:t>
            </a:r>
            <a:r>
              <a:rPr lang="en-US" sz="1700" b="1" dirty="0">
                <a:solidFill>
                  <a:schemeClr val="tx1"/>
                </a:solidFill>
              </a:rPr>
              <a:t>“Bingo!”</a:t>
            </a:r>
            <a:r>
              <a:rPr lang="en-US" sz="1700" dirty="0">
                <a:solidFill>
                  <a:schemeClr val="tx1"/>
                </a:solidFill>
              </a:rPr>
              <a:t> — then read your line aloud, </a:t>
            </a:r>
            <a:r>
              <a:rPr lang="en-US" sz="1700" b="1" dirty="0">
                <a:solidFill>
                  <a:schemeClr val="tx1"/>
                </a:solidFill>
              </a:rPr>
              <a:t>two ways</a:t>
            </a:r>
            <a:r>
              <a:rPr lang="en-US" sz="1700" dirty="0">
                <a:solidFill>
                  <a:schemeClr val="tx1"/>
                </a:solidFill>
              </a:rPr>
              <a:t> each.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301752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236A"/>
                </a:solidFill>
              </a:rPr>
              <a:t>THE BOARD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360920" y="3429000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20:04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8453628" y="3429000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23:41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9546336" y="3429000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06:47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10639044" y="3429000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02:16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7360920" y="3984498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19:58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8453628" y="3984498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23:42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9546336" y="3984498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20:19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10639044" y="3984498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23:44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7360920" y="4539996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12:00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8453628" y="4539996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00:00</a:t>
            </a:r>
            <a:endParaRPr lang="en-US" sz="2000" dirty="0"/>
          </a:p>
        </p:txBody>
      </p:sp>
      <p:sp>
        <p:nvSpPr>
          <p:cNvPr id="29" name="Text 25"/>
          <p:cNvSpPr/>
          <p:nvPr/>
        </p:nvSpPr>
        <p:spPr>
          <a:xfrm>
            <a:off x="9546336" y="4539996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07:15</a:t>
            </a:r>
            <a:endParaRPr lang="en-US" sz="2000" dirty="0"/>
          </a:p>
        </p:txBody>
      </p:sp>
      <p:sp>
        <p:nvSpPr>
          <p:cNvPr id="30" name="Text 26"/>
          <p:cNvSpPr/>
          <p:nvPr/>
        </p:nvSpPr>
        <p:spPr>
          <a:xfrm>
            <a:off x="10639044" y="4539996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18:30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7360920" y="5095494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13:05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8453628" y="5095494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08:50</a:t>
            </a:r>
            <a:endParaRPr lang="en-US" sz="2000" dirty="0"/>
          </a:p>
        </p:txBody>
      </p:sp>
      <p:sp>
        <p:nvSpPr>
          <p:cNvPr id="33" name="Text 29"/>
          <p:cNvSpPr/>
          <p:nvPr/>
        </p:nvSpPr>
        <p:spPr>
          <a:xfrm>
            <a:off x="9546336" y="5095494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21:40</a:t>
            </a:r>
            <a:endParaRPr lang="en-US" sz="2000" dirty="0"/>
          </a:p>
        </p:txBody>
      </p:sp>
      <p:sp>
        <p:nvSpPr>
          <p:cNvPr id="34" name="Text 30"/>
          <p:cNvSpPr/>
          <p:nvPr/>
        </p:nvSpPr>
        <p:spPr>
          <a:xfrm>
            <a:off x="10639044" y="5095494"/>
            <a:ext cx="1001268" cy="464058"/>
          </a:xfrm>
          <a:prstGeom prst="roundRect">
            <a:avLst>
              <a:gd name="adj" fmla="val 11823"/>
            </a:avLst>
          </a:prstGeom>
          <a:solidFill>
            <a:srgbClr val="EEF2F8"/>
          </a:solidFill>
          <a:ln w="9525">
            <a:solidFill>
              <a:srgbClr val="D5DC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06:50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C0752A">
              <a:alpha val="10000"/>
            </a:srgbClr>
          </a:solidFill>
          <a:ln w="12700">
            <a:solidFill>
              <a:srgbClr val="C0752A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5870448"/>
            <a:ext cx="310896" cy="31089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234440" y="5742432"/>
            <a:ext cx="10222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 win —</a:t>
            </a:r>
            <a:r>
              <a:rPr lang="en-US" sz="1700" dirty="0">
                <a:solidFill>
                  <a:schemeClr val="tx1"/>
                </a:solidFill>
              </a:rPr>
              <a:t> the first correct line. Second round: a student reads the times.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Put the night back in order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READING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Booklets </a:t>
            </a:r>
            <a:r>
              <a:rPr lang="en-US" sz="1600" b="1" i="1" dirty="0">
                <a:solidFill>
                  <a:schemeClr val="accent5"/>
                </a:solidFill>
              </a:rPr>
              <a:t>closed</a:t>
            </a:r>
            <a:r>
              <a:rPr lang="en-US" sz="1600" i="1" dirty="0">
                <a:solidFill>
                  <a:schemeClr val="accent5"/>
                </a:solidFill>
              </a:rPr>
              <a:t>! Number the eight events from 1 to 8 — then check with Exhibit A.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2268855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24128" y="2277999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63040" y="2237232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08760" y="2237232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temperature alarm went off.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2789301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024128" y="2798445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63040" y="2757678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508760" y="2757678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cleaning team entered the ground floor.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48640" y="3309747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24128" y="3318891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463040" y="3278124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3278124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badge entered zone 2F after the works.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3830193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024128" y="3839337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63040" y="3798570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508760" y="3798570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humidity alarm went off.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548640" y="4350639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4128" y="4359783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463040" y="4319016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508760" y="4319016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cabling team left zone 2F.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548640" y="4871085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024128" y="4880229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463040" y="4839462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508760" y="4839462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server unit shut down automatically.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548640" y="5391531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024128" y="5400675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463040" y="5359908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508760" y="5359908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same badge left zone 2F.</a:t>
            </a:r>
            <a:endParaRPr lang="en-US" sz="1900" dirty="0"/>
          </a:p>
        </p:txBody>
      </p:sp>
      <p:sp>
        <p:nvSpPr>
          <p:cNvPr id="35" name="Text 32"/>
          <p:cNvSpPr/>
          <p:nvPr/>
        </p:nvSpPr>
        <p:spPr>
          <a:xfrm>
            <a:off x="548640" y="5911977"/>
            <a:ext cx="365760" cy="365760"/>
          </a:xfrm>
          <a:prstGeom prst="ellipse">
            <a:avLst/>
          </a:prstGeom>
          <a:solidFill>
            <a:srgbClr val="C0752A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024128" y="5921121"/>
            <a:ext cx="384048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1F386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63040" y="5880354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508760" y="5880354"/>
            <a:ext cx="994867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notification was sent to a mobile — and delivered.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Put the night back in order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READING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With the time from the log — and tell it with </a:t>
            </a:r>
            <a:r>
              <a:rPr lang="en-US" sz="1600" i="1" dirty="0">
                <a:solidFill>
                  <a:schemeClr val="accent5"/>
                </a:solidFill>
              </a:rPr>
              <a:t>first, then, after that, finally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95528" y="2451735"/>
            <a:ext cx="0" cy="3643122"/>
          </a:xfrm>
          <a:prstGeom prst="line">
            <a:avLst/>
          </a:prstGeom>
          <a:noFill/>
          <a:ln w="31750">
            <a:solidFill>
              <a:srgbClr val="3C7A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250567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24128" y="2237232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463040" y="2237232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600200" y="2237232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19:58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2237232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cabling team left zone 2F.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594360" y="2771013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24128" y="2757678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463040" y="2757678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600200" y="2757678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20:04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2606040" y="2757678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badge entered zone 2F after the works.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94360" y="3291459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24128" y="3278124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463040" y="3278124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00200" y="3278124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20:19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606040" y="3278124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same badge left zone 2F.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594360" y="3811905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24128" y="3798570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463040" y="3798570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600200" y="3798570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23:41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2606040" y="3798570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temperature alarm went off.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594360" y="4332351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024128" y="4319016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463040" y="4319016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600200" y="4319016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23:42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2606040" y="4319016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notification was sent to a mobile — and delivered.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594360" y="4852797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024128" y="4839462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463040" y="4839462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600200" y="4839462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23:44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839462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humidity alarm went off.</a:t>
            </a:r>
            <a:endParaRPr lang="en-US" sz="1900" dirty="0"/>
          </a:p>
        </p:txBody>
      </p:sp>
      <p:sp>
        <p:nvSpPr>
          <p:cNvPr id="39" name="Text 36"/>
          <p:cNvSpPr/>
          <p:nvPr/>
        </p:nvSpPr>
        <p:spPr>
          <a:xfrm>
            <a:off x="594360" y="5373243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024128" y="5359908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463040" y="5359908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600200" y="5359908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02:16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2606040" y="5359908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server unit shut down automatically.</a:t>
            </a:r>
            <a:endParaRPr lang="en-US" sz="1900" dirty="0"/>
          </a:p>
        </p:txBody>
      </p:sp>
      <p:sp>
        <p:nvSpPr>
          <p:cNvPr id="44" name="Text 41"/>
          <p:cNvSpPr/>
          <p:nvPr/>
        </p:nvSpPr>
        <p:spPr>
          <a:xfrm>
            <a:off x="594360" y="5893689"/>
            <a:ext cx="402336" cy="40233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1024128" y="5880354"/>
            <a:ext cx="384048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1463040" y="5880354"/>
            <a:ext cx="10177272" cy="429006"/>
          </a:xfrm>
          <a:prstGeom prst="roundRect">
            <a:avLst>
              <a:gd name="adj" fmla="val 17052"/>
            </a:avLst>
          </a:prstGeom>
          <a:solidFill>
            <a:srgbClr val="EEF2F8"/>
          </a:solidFill>
          <a:ln w="12700">
            <a:solidFill>
              <a:srgbClr val="B9D3B4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600200" y="5880354"/>
            <a:ext cx="1005840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06:47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2606040" y="5880354"/>
            <a:ext cx="8851392" cy="429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cleaning team entered the ground floor.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room vs the log: sort the statements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8–12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What was said at 08.15 — what does Exhibit A do with it? Put each statement in a column.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237232"/>
            <a:ext cx="11091672" cy="2176272"/>
          </a:xfrm>
          <a:prstGeom prst="roundRect">
            <a:avLst>
              <a:gd name="adj" fmla="val 3361"/>
            </a:avLst>
          </a:prstGeom>
          <a:solidFill>
            <a:srgbClr val="C0752A">
              <a:alpha val="8000"/>
            </a:srgbClr>
          </a:solidFill>
          <a:ln w="12700">
            <a:solidFill>
              <a:srgbClr val="C0752A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31520" y="2237232"/>
            <a:ext cx="100584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SORT THEM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737360" y="2420112"/>
            <a:ext cx="383286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“The cleaners found water at 6.50.”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698236" y="2420112"/>
            <a:ext cx="244602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“Nobody was on site.”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2895600"/>
            <a:ext cx="333756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“The alarm went off at 11.40.”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202936" y="2895600"/>
            <a:ext cx="313944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“The pipe leaked all night.”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737360" y="3371088"/>
            <a:ext cx="333756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“The team worked until eight.”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202936" y="3371088"/>
            <a:ext cx="284226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“Two units have stopped.”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173212" y="3371088"/>
            <a:ext cx="284226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“Nobody heard the alarm.”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737360" y="3846576"/>
            <a:ext cx="294132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C075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“The alarm system worked.”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687824"/>
            <a:ext cx="2622042" cy="658368"/>
          </a:xfrm>
          <a:prstGeom prst="roundRect">
            <a:avLst>
              <a:gd name="adj" fmla="val 11111"/>
            </a:avLst>
          </a:prstGeom>
          <a:solidFill>
            <a:srgbClr val="3C7A3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4687824"/>
            <a:ext cx="24391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MATCHES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confirms · roughly matches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401056"/>
            <a:ext cx="2622042" cy="908304"/>
          </a:xfrm>
          <a:prstGeom prst="roundRect">
            <a:avLst>
              <a:gd name="adj" fmla="val 8054"/>
            </a:avLst>
          </a:prstGeom>
          <a:solidFill>
            <a:srgbClr val="3C7A3C">
              <a:alpha val="6000"/>
            </a:srgbClr>
          </a:solidFill>
          <a:ln w="12700">
            <a:solidFill>
              <a:srgbClr val="3C7A3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71850" y="4687824"/>
            <a:ext cx="2622042" cy="658368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63290" y="4687824"/>
            <a:ext cx="24391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PARTLY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one minute off · only shows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371850" y="5401056"/>
            <a:ext cx="2622042" cy="908304"/>
          </a:xfrm>
          <a:prstGeom prst="roundRect">
            <a:avLst>
              <a:gd name="adj" fmla="val 8054"/>
            </a:avLst>
          </a:prstGeom>
          <a:solidFill>
            <a:srgbClr val="2E75B6">
              <a:alpha val="6000"/>
            </a:srgbClr>
          </a:solidFill>
          <a:ln w="12700">
            <a:solidFill>
              <a:srgbClr val="2E75B6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6195060" y="4687824"/>
            <a:ext cx="2622042" cy="658368"/>
          </a:xfrm>
          <a:prstGeom prst="roundRect">
            <a:avLst>
              <a:gd name="adj" fmla="val 11111"/>
            </a:avLst>
          </a:prstGeom>
          <a:solidFill>
            <a:srgbClr val="B03A2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286500" y="4687824"/>
            <a:ext cx="24391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CONTRADICTS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does not match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195060" y="5401056"/>
            <a:ext cx="2622042" cy="908304"/>
          </a:xfrm>
          <a:prstGeom prst="roundRect">
            <a:avLst>
              <a:gd name="adj" fmla="val 8054"/>
            </a:avLst>
          </a:prstGeom>
          <a:solidFill>
            <a:srgbClr val="B03A2E">
              <a:alpha val="6000"/>
            </a:srgbClr>
          </a:solidFill>
          <a:ln w="12700">
            <a:solidFill>
              <a:srgbClr val="B03A2E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9018270" y="4687824"/>
            <a:ext cx="2622042" cy="658368"/>
          </a:xfrm>
          <a:prstGeom prst="roundRect">
            <a:avLst>
              <a:gd name="adj" fmla="val 11111"/>
            </a:avLst>
          </a:prstGeom>
          <a:solidFill>
            <a:srgbClr val="44546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109710" y="4687824"/>
            <a:ext cx="243916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NOT IN THE LOG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there is no record of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9018270" y="5401056"/>
            <a:ext cx="2622042" cy="908304"/>
          </a:xfrm>
          <a:prstGeom prst="roundRect">
            <a:avLst>
              <a:gd name="adj" fmla="val 8054"/>
            </a:avLst>
          </a:prstGeom>
          <a:solidFill>
            <a:srgbClr val="44546A">
              <a:alpha val="6000"/>
            </a:srgbClr>
          </a:solidFill>
          <a:ln w="12700">
            <a:solidFill>
              <a:srgbClr val="44546A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room vs the log: sort the statements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8–12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What was said at 08.15 — what does Exhibit A do with it? Put each statement in a column.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237232"/>
            <a:ext cx="2622042" cy="438912"/>
          </a:xfrm>
          <a:prstGeom prst="roundRect">
            <a:avLst>
              <a:gd name="adj" fmla="val 16667"/>
            </a:avLst>
          </a:prstGeom>
          <a:solidFill>
            <a:srgbClr val="3C7A3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2237232"/>
            <a:ext cx="24391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MATCHES  </a:t>
            </a:r>
            <a:r>
              <a:rPr lang="en-US" sz="1200" i="1" dirty="0">
                <a:solidFill>
                  <a:schemeClr val="bg1"/>
                </a:solidFill>
              </a:rPr>
              <a:t>confirms · roughly matches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731008"/>
            <a:ext cx="2622042" cy="3578352"/>
          </a:xfrm>
          <a:prstGeom prst="roundRect">
            <a:avLst>
              <a:gd name="adj" fmla="val 2790"/>
            </a:avLst>
          </a:prstGeom>
          <a:solidFill>
            <a:srgbClr val="3C7A3C">
              <a:alpha val="6000"/>
            </a:srgbClr>
          </a:solidFill>
          <a:ln w="12700">
            <a:solidFill>
              <a:srgbClr val="3C7A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2822448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7A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“Water at 6.50” — entry 06:47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" y="3535680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7A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“Until eight” — exit 19:58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58368" y="4248912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3C7A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“It worked” — sent 23:42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371850" y="2237232"/>
            <a:ext cx="2622042" cy="438912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63290" y="2237232"/>
            <a:ext cx="24391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PARTLY  </a:t>
            </a:r>
            <a:r>
              <a:rPr lang="en-US" sz="1200" i="1" dirty="0">
                <a:solidFill>
                  <a:schemeClr val="bg1"/>
                </a:solidFill>
              </a:rPr>
              <a:t>one minute off · only shows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371850" y="2731008"/>
            <a:ext cx="2622042" cy="3578352"/>
          </a:xfrm>
          <a:prstGeom prst="roundRect">
            <a:avLst>
              <a:gd name="adj" fmla="val 2790"/>
            </a:avLst>
          </a:prstGeom>
          <a:solidFill>
            <a:srgbClr val="2E75B6">
              <a:alpha val="6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81578" y="2822448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“11.40” — the log says 23:41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481578" y="3535680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“Two units” — only unit 3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95060" y="2237232"/>
            <a:ext cx="2622042" cy="438912"/>
          </a:xfrm>
          <a:prstGeom prst="roundRect">
            <a:avLst>
              <a:gd name="adj" fmla="val 16667"/>
            </a:avLst>
          </a:prstGeom>
          <a:solidFill>
            <a:srgbClr val="B03A2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86500" y="2237232"/>
            <a:ext cx="24391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CONTRADICTS  </a:t>
            </a:r>
            <a:r>
              <a:rPr lang="en-US" sz="1200" i="1" dirty="0">
                <a:solidFill>
                  <a:schemeClr val="bg1"/>
                </a:solidFill>
              </a:rPr>
              <a:t>does not match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95060" y="2731008"/>
            <a:ext cx="2622042" cy="3578352"/>
          </a:xfrm>
          <a:prstGeom prst="roundRect">
            <a:avLst>
              <a:gd name="adj" fmla="val 2790"/>
            </a:avLst>
          </a:prstGeom>
          <a:solidFill>
            <a:srgbClr val="B03A2E">
              <a:alpha val="6000"/>
            </a:srgbClr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4788" y="2822448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B03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“Nobody on site” — entry 20:04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018270" y="2237232"/>
            <a:ext cx="2622042" cy="43891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109710" y="2237232"/>
            <a:ext cx="24391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NOT IN THE LOG  </a:t>
            </a:r>
            <a:r>
              <a:rPr lang="en-US" sz="1200" i="1" dirty="0">
                <a:solidFill>
                  <a:schemeClr val="bg1"/>
                </a:solidFill>
              </a:rPr>
              <a:t>there is no record of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9018270" y="2731008"/>
            <a:ext cx="2622042" cy="3578352"/>
          </a:xfrm>
          <a:prstGeom prst="roundRect">
            <a:avLst>
              <a:gd name="adj" fmla="val 2790"/>
            </a:avLst>
          </a:prstGeom>
          <a:solidFill>
            <a:srgbClr val="44546A">
              <a:alpha val="6000"/>
            </a:srgbClr>
          </a:solidFill>
          <a:ln w="12700">
            <a:solidFill>
              <a:srgbClr val="44546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998" y="2822448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44546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“The pipe leaked” — no record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127998" y="3535680"/>
            <a:ext cx="240258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44546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“Nobody heard” — no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Vote with your fingers: one finger = A, two = B…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37232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Samuel said the alarm went off at 11.40 p.m. </a:t>
            </a:r>
            <a:r>
              <a:rPr lang="en-US" sz="2200" b="1" dirty="0">
                <a:solidFill>
                  <a:schemeClr val="tx1"/>
                </a:solidFill>
              </a:rPr>
              <a:t>What does the log actually show?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94741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29488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0228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same time, to the minute — Samuel read it from the log.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08776" y="294741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329488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300228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23:41 — one minute later than he remembered, so his figure came from memory.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36473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71220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1960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23:44 — he confused the temperature alarm with the humidity alarm.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208776" y="436473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9944" y="471220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077456" y="441960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log gives no time for the alarm, only for the notification.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Q1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Vote with your fingers: one finger = A, two = B…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37232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</a:t>
            </a:r>
            <a:r>
              <a:rPr lang="en-US" sz="2200" dirty="0">
                <a:solidFill>
                  <a:schemeClr val="tx1"/>
                </a:solidFill>
              </a:rPr>
              <a:t> Samuel said the alarm went off at 11.40 p.m. </a:t>
            </a:r>
            <a:r>
              <a:rPr lang="en-US" sz="2200" b="1" dirty="0">
                <a:solidFill>
                  <a:schemeClr val="tx1"/>
                </a:solidFill>
              </a:rPr>
              <a:t>What does the log actually show?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94741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22630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0228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same time, to the minute — Samuel read it from the log.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08776" y="294741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3C7A3C">
              <a:alpha val="14000"/>
            </a:srgb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9944" y="3226308"/>
            <a:ext cx="493776" cy="49377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77456" y="300228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23:41 — one minute later than he remembered, so his figure came from memory.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3075432"/>
            <a:ext cx="292608" cy="29260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48640" y="422757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" y="450646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28244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23:44 — he confused the temperature alarm with the humidity alarm.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208776" y="422757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9944" y="450646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077456" y="428244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The log gives no time for the alarm, only for the notification.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507736"/>
            <a:ext cx="11091672" cy="801624"/>
          </a:xfrm>
          <a:prstGeom prst="roundRect">
            <a:avLst>
              <a:gd name="adj" fmla="val 9125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25668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325880" y="5562600"/>
            <a:ext cx="10085832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Why?  </a:t>
            </a:r>
            <a:r>
              <a:rPr lang="en-US" sz="1700" dirty="0">
                <a:solidFill>
                  <a:schemeClr val="tx1"/>
                </a:solidFill>
              </a:rPr>
              <a:t>Samuel said </a:t>
            </a:r>
            <a:r>
              <a:rPr lang="en-US" sz="1700" b="1" dirty="0">
                <a:solidFill>
                  <a:schemeClr val="tx1"/>
                </a:solidFill>
              </a:rPr>
              <a:t>11.40 p.m.</a:t>
            </a:r>
            <a:r>
              <a:rPr lang="en-US" sz="1700" dirty="0">
                <a:solidFill>
                  <a:schemeClr val="tx1"/>
                </a:solidFill>
              </a:rPr>
              <a:t>; the log says </a:t>
            </a:r>
            <a:r>
              <a:rPr lang="en-US" sz="1700" b="1" dirty="0">
                <a:solidFill>
                  <a:schemeClr val="tx1"/>
                </a:solidFill>
              </a:rPr>
              <a:t>23:41</a:t>
            </a:r>
            <a:r>
              <a:rPr lang="en-US" sz="1700" dirty="0">
                <a:solidFill>
                  <a:schemeClr val="tx1"/>
                </a:solidFill>
              </a:rPr>
              <a:t>. One minute is nothing — unless the assessor notices that the figure came </a:t>
            </a:r>
            <a:r>
              <a:rPr lang="en-US" sz="1700" b="1" dirty="0">
                <a:solidFill>
                  <a:schemeClr val="tx1"/>
                </a:solidFill>
              </a:rPr>
              <a:t>from memory</a:t>
            </a:r>
            <a:r>
              <a:rPr lang="en-US" sz="1700" dirty="0">
                <a:solidFill>
                  <a:schemeClr val="tx1"/>
                </a:solidFill>
              </a:rPr>
              <a:t>. In the report, every time comes </a:t>
            </a:r>
            <a:r>
              <a:rPr lang="en-US" sz="1700" b="1" dirty="0">
                <a:solidFill>
                  <a:schemeClr val="tx1"/>
                </a:solidFill>
              </a:rPr>
              <a:t>from Exhibit A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Q2 · Q4 · Q5 — answer in a full sentence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the answer frames from Exhibit A. Then copy the full sentences into your booklet.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· Who was in zone 2F after the works?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Lines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and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show that somebody was in zone 2F for </a:t>
            </a:r>
            <a:r>
              <a:rPr lang="en-US" sz="2000" dirty="0">
                <a:solidFill>
                  <a:schemeClr val="accent5"/>
                </a:solidFill>
              </a:rPr>
              <a:t>………………………</a:t>
            </a:r>
            <a:r>
              <a:rPr lang="en-US" sz="2000" dirty="0">
                <a:solidFill>
                  <a:schemeClr val="tx1"/>
                </a:solidFill>
              </a:rPr>
              <a:t> after the cabling team left at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· How long did the water run before anyone knew?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Between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(temperature alarm) and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(cleaning team), the water ran for about </a:t>
            </a:r>
            <a:r>
              <a:rPr lang="en-US" sz="2000" dirty="0">
                <a:solidFill>
                  <a:schemeClr val="accent5"/>
                </a:solidFill>
              </a:rPr>
              <a:t>…………………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· What happened at 02:16 — and what does it prove?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Unit 3 </a:t>
            </a:r>
            <a:r>
              <a:rPr lang="en-US" sz="2000" dirty="0">
                <a:solidFill>
                  <a:schemeClr val="accent5"/>
                </a:solidFill>
              </a:rPr>
              <a:t>……………………………………</a:t>
            </a:r>
            <a:r>
              <a:rPr lang="en-US" sz="2000" dirty="0">
                <a:solidFill>
                  <a:schemeClr val="tx1"/>
                </a:solidFill>
              </a:rPr>
              <a:t>: the damage was still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. It does </a:t>
            </a:r>
            <a:r>
              <a:rPr lang="en-US" sz="2000" dirty="0">
                <a:solidFill>
                  <a:schemeClr val="accent5"/>
                </a:solidFill>
              </a:rPr>
              <a:t>………………</a:t>
            </a:r>
            <a:r>
              <a:rPr lang="en-US" sz="2000" dirty="0">
                <a:solidFill>
                  <a:schemeClr val="tx1"/>
                </a:solidFill>
              </a:rPr>
              <a:t> where the water came from.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Q2 · Q4 · Q5 — answer in a full sentence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Complete the answer frames from Exhibit A. Then copy the full sentences into your booklet.</a:t>
            </a:r>
            <a:endParaRPr lang="en-US" sz="1600" dirty="0"/>
          </a:p>
        </p:txBody>
      </p:sp>
      <p:sp>
        <p:nvSpPr>
          <p:cNvPr id="8" name="exercise"/>
          <p:cNvSpPr txBox="1"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· Who was in zone 2F after the works?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Lines </a:t>
            </a:r>
            <a:r>
              <a:rPr lang="en-US" sz="2000" b="1" dirty="0">
                <a:solidFill>
                  <a:schemeClr val="accent3"/>
                </a:solidFill>
              </a:rPr>
              <a:t>20:04</a:t>
            </a:r>
            <a:r>
              <a:rPr lang="en-US" sz="2000" dirty="0">
                <a:solidFill>
                  <a:schemeClr val="tx1"/>
                </a:solidFill>
              </a:rPr>
              <a:t> and </a:t>
            </a:r>
            <a:r>
              <a:rPr lang="en-US" sz="2000" b="1" dirty="0">
                <a:solidFill>
                  <a:schemeClr val="accent3"/>
                </a:solidFill>
              </a:rPr>
              <a:t>20:19</a:t>
            </a:r>
            <a:r>
              <a:rPr lang="en-US" sz="2000" dirty="0">
                <a:solidFill>
                  <a:schemeClr val="tx1"/>
                </a:solidFill>
              </a:rPr>
              <a:t> show that somebody was in zone 2F for </a:t>
            </a:r>
            <a:r>
              <a:rPr lang="en-US" sz="2000" b="1" dirty="0">
                <a:solidFill>
                  <a:schemeClr val="accent3"/>
                </a:solidFill>
              </a:rPr>
              <a:t>fifteen minutes</a:t>
            </a:r>
            <a:r>
              <a:rPr lang="en-US" sz="2000" dirty="0">
                <a:solidFill>
                  <a:schemeClr val="tx1"/>
                </a:solidFill>
              </a:rPr>
              <a:t> after the cabling team left at </a:t>
            </a:r>
            <a:r>
              <a:rPr lang="en-US" sz="2000" b="1" dirty="0">
                <a:solidFill>
                  <a:schemeClr val="accent3"/>
                </a:solidFill>
              </a:rPr>
              <a:t>19:58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· How long did the water run before anyone knew?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Between </a:t>
            </a:r>
            <a:r>
              <a:rPr lang="en-US" sz="2000" b="1" dirty="0">
                <a:solidFill>
                  <a:schemeClr val="accent3"/>
                </a:solidFill>
              </a:rPr>
              <a:t>23:41</a:t>
            </a:r>
            <a:r>
              <a:rPr lang="en-US" sz="2000" dirty="0">
                <a:solidFill>
                  <a:schemeClr val="tx1"/>
                </a:solidFill>
              </a:rPr>
              <a:t> (temperature alarm) and </a:t>
            </a:r>
            <a:r>
              <a:rPr lang="en-US" sz="2000" b="1" dirty="0">
                <a:solidFill>
                  <a:schemeClr val="accent3"/>
                </a:solidFill>
              </a:rPr>
              <a:t>06:47</a:t>
            </a:r>
            <a:r>
              <a:rPr lang="en-US" sz="2000" dirty="0">
                <a:solidFill>
                  <a:schemeClr val="tx1"/>
                </a:solidFill>
              </a:rPr>
              <a:t> (cleaning team), the water ran for about </a:t>
            </a:r>
            <a:r>
              <a:rPr lang="en-US" sz="2000" b="1" dirty="0">
                <a:solidFill>
                  <a:schemeClr val="accent3"/>
                </a:solidFill>
              </a:rPr>
              <a:t>seven hours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· What happened at 02:16 — and what does it prove?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Unit 3 </a:t>
            </a:r>
            <a:r>
              <a:rPr lang="en-US" sz="2000" b="1" dirty="0">
                <a:solidFill>
                  <a:schemeClr val="accent3"/>
                </a:solidFill>
              </a:rPr>
              <a:t>shut down automatically</a:t>
            </a:r>
            <a:r>
              <a:rPr lang="en-US" sz="2000" dirty="0">
                <a:solidFill>
                  <a:schemeClr val="tx1"/>
                </a:solidFill>
              </a:rPr>
              <a:t>: the damage was still </a:t>
            </a:r>
            <a:r>
              <a:rPr lang="en-US" sz="2000" b="1" dirty="0">
                <a:solidFill>
                  <a:schemeClr val="accent3"/>
                </a:solidFill>
              </a:rPr>
              <a:t>spreading</a:t>
            </a:r>
            <a:r>
              <a:rPr lang="en-US" sz="2000" dirty="0">
                <a:solidFill>
                  <a:schemeClr val="tx1"/>
                </a:solidFill>
              </a:rPr>
              <a:t>. It does </a:t>
            </a:r>
            <a:r>
              <a:rPr lang="en-US" sz="2000" b="1" dirty="0">
                <a:solidFill>
                  <a:schemeClr val="accent3"/>
                </a:solidFill>
              </a:rPr>
              <a:t>not prove</a:t>
            </a:r>
            <a:r>
              <a:rPr lang="en-US" sz="2000" dirty="0">
                <a:solidFill>
                  <a:schemeClr val="tx1"/>
                </a:solidFill>
              </a:rPr>
              <a:t> where the water came from.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Q3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</a:t>
            </a:r>
            <a:r>
              <a:rPr lang="en-US" sz="2200" dirty="0">
                <a:solidFill>
                  <a:schemeClr val="tx1"/>
                </a:solidFill>
              </a:rPr>
              <a:t> One line shows that somebody </a:t>
            </a:r>
            <a:r>
              <a:rPr lang="en-US" sz="2200" b="1" dirty="0">
                <a:solidFill>
                  <a:schemeClr val="tx1"/>
                </a:solidFill>
              </a:rPr>
              <a:t>could</a:t>
            </a:r>
            <a:r>
              <a:rPr lang="en-US" sz="2200" dirty="0">
                <a:solidFill>
                  <a:schemeClr val="tx1"/>
                </a:solidFill>
              </a:rPr>
              <a:t> have known during the night. Which one?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49326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840736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54812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23:41 — the temperature alarm reached its threshold.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208776" y="249326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2840736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77456" y="254812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23:42 — a notification was sent to a mobile and marked </a:t>
            </a:r>
            <a:r>
              <a:rPr lang="en-US" sz="1900" i="1" dirty="0">
                <a:solidFill>
                  <a:schemeClr val="tx1"/>
                </a:solidFill>
              </a:rPr>
              <a:t>delivered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391058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258056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6544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02:16 — a server unit shut down automatically.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08776" y="391058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9944" y="4258056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96544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06:47 — the cleaning team entered the ground floor.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Read the log against the room — Q3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</a:t>
            </a:r>
            <a:r>
              <a:rPr lang="en-US" sz="2200" dirty="0">
                <a:solidFill>
                  <a:schemeClr val="tx1"/>
                </a:solidFill>
              </a:rPr>
              <a:t> One line shows that somebody </a:t>
            </a:r>
            <a:r>
              <a:rPr lang="en-US" sz="2200" b="1" dirty="0">
                <a:solidFill>
                  <a:schemeClr val="tx1"/>
                </a:solidFill>
              </a:rPr>
              <a:t>could</a:t>
            </a:r>
            <a:r>
              <a:rPr lang="en-US" sz="2200" dirty="0">
                <a:solidFill>
                  <a:schemeClr val="tx1"/>
                </a:solidFill>
              </a:rPr>
              <a:t> have known during the night. Which one?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9326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840736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4812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23:41 — the temperature alarm reached its threshold.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08776" y="249326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3C7A3C">
              <a:alpha val="14000"/>
            </a:srgb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840736"/>
            <a:ext cx="493776" cy="49377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54812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23:42 — a notification was sent to a mobile and marked </a:t>
            </a:r>
            <a:r>
              <a:rPr lang="en-US" sz="1900" i="1" dirty="0">
                <a:solidFill>
                  <a:schemeClr val="tx1"/>
                </a:solidFill>
              </a:rPr>
              <a:t>delivered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2621280"/>
            <a:ext cx="292608" cy="2926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48640" y="391058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4258056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96544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02:16 — a server unit shut down automatically.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208776" y="3910584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9944" y="4258056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77456" y="3965448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06:47 — the cleaning team entered the ground floor.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5507736"/>
            <a:ext cx="11091672" cy="801624"/>
          </a:xfrm>
          <a:prstGeom prst="roundRect">
            <a:avLst>
              <a:gd name="adj" fmla="val 9125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25668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25880" y="5562600"/>
            <a:ext cx="10085832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Why?  </a:t>
            </a:r>
            <a:r>
              <a:rPr lang="en-US" sz="1700" dirty="0">
                <a:solidFill>
                  <a:schemeClr val="tx1"/>
                </a:solidFill>
              </a:rPr>
              <a:t>23:42: a notification was </a:t>
            </a:r>
            <a:r>
              <a:rPr lang="en-US" sz="1700" b="1" dirty="0">
                <a:solidFill>
                  <a:schemeClr val="tx1"/>
                </a:solidFill>
              </a:rPr>
              <a:t>sent</a:t>
            </a:r>
            <a:r>
              <a:rPr lang="en-US" sz="1700" dirty="0">
                <a:solidFill>
                  <a:schemeClr val="tx1"/>
                </a:solidFill>
              </a:rPr>
              <a:t> and </a:t>
            </a:r>
            <a:r>
              <a:rPr lang="en-US" sz="1700" b="1" dirty="0">
                <a:solidFill>
                  <a:schemeClr val="tx1"/>
                </a:solidFill>
              </a:rPr>
              <a:t>delivered</a:t>
            </a:r>
            <a:r>
              <a:rPr lang="en-US" sz="1700" dirty="0">
                <a:solidFill>
                  <a:schemeClr val="tx1"/>
                </a:solidFill>
              </a:rPr>
              <a:t> to a mobile — the phone received it, so somebody </a:t>
            </a:r>
            <a:r>
              <a:rPr lang="en-US" sz="1700" b="1" dirty="0">
                <a:solidFill>
                  <a:schemeClr val="tx1"/>
                </a:solidFill>
              </a:rPr>
              <a:t>could</a:t>
            </a:r>
            <a:r>
              <a:rPr lang="en-US" sz="1700" dirty="0">
                <a:solidFill>
                  <a:schemeClr val="tx1"/>
                </a:solidFill>
              </a:rPr>
              <a:t> have known. It does not prove that anybody </a:t>
            </a:r>
            <a:r>
              <a:rPr lang="en-US" sz="1700" b="1" dirty="0">
                <a:solidFill>
                  <a:schemeClr val="tx1"/>
                </a:solidFill>
              </a:rPr>
              <a:t>read</a:t>
            </a:r>
            <a:r>
              <a:rPr lang="en-US" sz="1700" dirty="0">
                <a:solidFill>
                  <a:schemeClr val="tx1"/>
                </a:solidFill>
              </a:rPr>
              <a:t> it (see the IT expert, Séance 8).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Q6 — the lawyer’s red pen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The most dangerous line is </a:t>
            </a:r>
            <a:r>
              <a:rPr lang="en-US" sz="1600" b="1" i="1" dirty="0">
                <a:solidFill>
                  <a:schemeClr val="accent5"/>
                </a:solidFill>
              </a:rPr>
              <a:t>20:04</a:t>
            </a:r>
            <a:r>
              <a:rPr lang="en-US" sz="1600" i="1" dirty="0">
                <a:solidFill>
                  <a:schemeClr val="accent5"/>
                </a:solidFill>
              </a:rPr>
              <a:t>: it points at one person. Three sentences are dangerous — one is safe.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37232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6.</a:t>
            </a:r>
            <a:r>
              <a:rPr lang="en-US" sz="2200" dirty="0">
                <a:solidFill>
                  <a:schemeClr val="tx1"/>
                </a:solidFill>
              </a:rPr>
              <a:t> Which sentence can go in the report?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94741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329488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300228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site manager entered the technical room at 20:04.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208776" y="294741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9944" y="329488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77456" y="300228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Badge 0102 entered zone 2F at 20:04.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36473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471220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41960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access to zone 2F was recorded at 20:04.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208776" y="4364736"/>
            <a:ext cx="5431536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9944" y="4712208"/>
            <a:ext cx="493776" cy="493776"/>
          </a:xfrm>
          <a:prstGeom prst="ellipse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077456" y="4419600"/>
            <a:ext cx="41056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Somebody sneaked into zone 2F at 20:04.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Q6 — the lawyer’s red pen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The most dangerous line is </a:t>
            </a:r>
            <a:r>
              <a:rPr lang="en-US" sz="1600" b="1" i="1" dirty="0">
                <a:solidFill>
                  <a:schemeClr val="accent5"/>
                </a:solidFill>
              </a:rPr>
              <a:t>20:04</a:t>
            </a:r>
            <a:r>
              <a:rPr lang="en-US" sz="1600" i="1" dirty="0">
                <a:solidFill>
                  <a:schemeClr val="accent5"/>
                </a:solidFill>
              </a:rPr>
              <a:t>: it points at one person. Three sentences are dangerous — one is safe.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37232"/>
            <a:ext cx="1109167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6.</a:t>
            </a:r>
            <a:r>
              <a:rPr lang="en-US" sz="2200" dirty="0">
                <a:solidFill>
                  <a:schemeClr val="tx1"/>
                </a:solidFill>
              </a:rPr>
              <a:t> Which sentence can go in the report?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294741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322630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0228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The site manager entered the technical room at 20:04.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208776" y="294741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322630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077456" y="300228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Badge 0102 entered zone 2F at 20:04.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48640" y="422757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3C7A3C">
              <a:alpha val="14000"/>
            </a:srgbClr>
          </a:solidFill>
          <a:ln w="25400">
            <a:solidFill>
              <a:srgbClr val="3C7A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" y="4506468"/>
            <a:ext cx="493776" cy="493776"/>
          </a:xfrm>
          <a:prstGeom prst="ellipse">
            <a:avLst/>
          </a:prstGeom>
          <a:solidFill>
            <a:srgbClr val="3C7A3C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28244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An access to zone 2F was recorded at 20:04.</a:t>
            </a:r>
            <a:endParaRPr lang="en-US" sz="19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1264" y="4355592"/>
            <a:ext cx="292608" cy="29260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208776" y="4227576"/>
            <a:ext cx="5431536" cy="1051560"/>
          </a:xfrm>
          <a:prstGeom prst="roundRect">
            <a:avLst>
              <a:gd name="adj" fmla="val 6957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409944" y="4506468"/>
            <a:ext cx="493776" cy="493776"/>
          </a:xfrm>
          <a:prstGeom prst="ellipse">
            <a:avLst/>
          </a:prstGeom>
          <a:solidFill>
            <a:srgbClr val="B8C1C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7077456" y="4282440"/>
            <a:ext cx="410565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Somebody sneaked into zone 2F at 20:04.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548640" y="5507736"/>
            <a:ext cx="11091672" cy="801624"/>
          </a:xfrm>
          <a:prstGeom prst="roundRect">
            <a:avLst>
              <a:gd name="adj" fmla="val 9125"/>
            </a:avLst>
          </a:prstGeom>
          <a:solidFill>
            <a:srgbClr val="3C7A3C">
              <a:alpha val="8000"/>
            </a:srgbClr>
          </a:solidFill>
          <a:ln w="12700">
            <a:solidFill>
              <a:srgbClr val="3C7A3C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2566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325880" y="5562600"/>
            <a:ext cx="10085832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Why?  </a:t>
            </a:r>
            <a:r>
              <a:rPr lang="en-US" sz="1700" dirty="0">
                <a:solidFill>
                  <a:schemeClr val="tx1"/>
                </a:solidFill>
              </a:rPr>
              <a:t>It keeps the </a:t>
            </a:r>
            <a:r>
              <a:rPr lang="en-US" sz="1700" b="1" dirty="0">
                <a:solidFill>
                  <a:schemeClr val="tx1"/>
                </a:solidFill>
              </a:rPr>
              <a:t>fact</a:t>
            </a:r>
            <a:r>
              <a:rPr lang="en-US" sz="1700" dirty="0">
                <a:solidFill>
                  <a:schemeClr val="tx1"/>
                </a:solidFill>
              </a:rPr>
              <a:t> (time, zone) and names </a:t>
            </a:r>
            <a:r>
              <a:rPr lang="en-US" sz="1700" b="1" dirty="0">
                <a:solidFill>
                  <a:schemeClr val="tx1"/>
                </a:solidFill>
              </a:rPr>
              <a:t>nobody</a:t>
            </a:r>
            <a:r>
              <a:rPr lang="en-US" sz="1700" dirty="0">
                <a:solidFill>
                  <a:schemeClr val="tx1"/>
                </a:solidFill>
              </a:rPr>
              <a:t>. A = an accusation · B = a badge number identifies a person · D = a guess about intentions.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Can I write it in the report?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051560" cy="310896"/>
          </a:xfrm>
          <a:prstGeom prst="roundRect">
            <a:avLst>
              <a:gd name="adj" fmla="val 14706"/>
            </a:avLst>
          </a:prstGeom>
          <a:solidFill>
            <a:srgbClr val="4454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METHOD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12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9294" y="1737360"/>
            <a:ext cx="3387852" cy="384048"/>
          </a:xfrm>
          <a:prstGeom prst="roundRect">
            <a:avLst>
              <a:gd name="adj" fmla="val 47619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Something you want to write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03220" y="213969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46888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94944" y="2715768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825496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61872" y="2505456"/>
            <a:ext cx="38679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it only a </a:t>
            </a:r>
            <a:r>
              <a:rPr lang="en-US" sz="1700" b="1" dirty="0">
                <a:solidFill>
                  <a:schemeClr val="tx2"/>
                </a:solidFill>
              </a:rPr>
              <a:t>memory</a:t>
            </a:r>
            <a:r>
              <a:rPr lang="en-US" sz="1700" b="1" dirty="0">
                <a:solidFill>
                  <a:schemeClr val="tx2"/>
                </a:solidFill>
              </a:rPr>
              <a:t> or a </a:t>
            </a:r>
            <a:r>
              <a:rPr lang="en-US" sz="1700" b="1" dirty="0">
                <a:solidFill>
                  <a:schemeClr val="tx2"/>
                </a:solidFill>
              </a:rPr>
              <a:t>guess</a:t>
            </a:r>
            <a:r>
              <a:rPr lang="en-US" sz="1700" b="1" dirty="0">
                <a:solidFill>
                  <a:schemeClr val="tx2"/>
                </a:solidFill>
              </a:rPr>
              <a:t>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“around eleven” · “I think” · “nobody was there”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276088" y="2935224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257800" y="2624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46888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B03A2E">
              <a:alpha val="12000"/>
            </a:srgbClr>
          </a:solidFill>
          <a:ln w="19050">
            <a:solidFill>
              <a:srgbClr val="B03A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792" y="2505456"/>
            <a:ext cx="51389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6"/>
                </a:solidFill>
              </a:rPr>
              <a:t>NOT AS A FACT — check it first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Samuel remembers 11.40; the log shows 23:41.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903220" y="341985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994660" y="340156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74904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94944" y="3995928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4105656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61872" y="3785616"/>
            <a:ext cx="386791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Does it </a:t>
            </a:r>
            <a:r>
              <a:rPr lang="en-US" sz="1700" b="1" dirty="0">
                <a:solidFill>
                  <a:schemeClr val="tx2"/>
                </a:solidFill>
              </a:rPr>
              <a:t>name</a:t>
            </a:r>
            <a:r>
              <a:rPr lang="en-US" sz="1700" b="1" dirty="0">
                <a:solidFill>
                  <a:schemeClr val="tx2"/>
                </a:solidFill>
              </a:rPr>
              <a:t> someone — a name, a badge, a job title?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badge 0102 · “site manager”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276088" y="4215384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39044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172200" y="3749040"/>
            <a:ext cx="5468112" cy="932688"/>
          </a:xfrm>
          <a:prstGeom prst="roundRect">
            <a:avLst>
              <a:gd name="adj" fmla="val 7843"/>
            </a:avLst>
          </a:prstGeom>
          <a:solidFill>
            <a:srgbClr val="C0752A">
              <a:alpha val="12000"/>
            </a:srgbClr>
          </a:solidFill>
          <a:ln w="19050">
            <a:solidFill>
              <a:srgbClr val="C0752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36792" y="3785616"/>
            <a:ext cx="51389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1"/>
                </a:solidFill>
              </a:rPr>
              <a:t>REMOVE THE NAME — KEEP THE FACT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An access to zone 2F </a:t>
            </a:r>
            <a:r>
              <a:rPr lang="en-US" sz="1600" b="1" i="1" dirty="0">
                <a:solidFill>
                  <a:schemeClr val="tx1"/>
                </a:solidFill>
              </a:rPr>
              <a:t>was recorded</a:t>
            </a:r>
            <a:r>
              <a:rPr lang="en-US" sz="1600" i="1" dirty="0">
                <a:solidFill>
                  <a:schemeClr val="tx1"/>
                </a:solidFill>
              </a:rPr>
              <a:t> at 20:04.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903220" y="4700016"/>
            <a:ext cx="0" cy="310896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994660" y="46817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48640" y="5029200"/>
            <a:ext cx="4709160" cy="932688"/>
          </a:xfrm>
          <a:prstGeom prst="roundRect">
            <a:avLst>
              <a:gd name="adj" fmla="val 7843"/>
            </a:avLst>
          </a:prstGeom>
          <a:solidFill>
            <a:srgbClr val="3C7A3C">
              <a:alpha val="12000"/>
            </a:srgbClr>
          </a:solidFill>
          <a:ln w="19050">
            <a:solidFill>
              <a:srgbClr val="3C7A3C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13232" y="5065776"/>
            <a:ext cx="4379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3"/>
                </a:solidFill>
              </a:rPr>
              <a:t>WRITE IT — with its time and its source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The temperature alarm went off at 23:41 (Exhibit A).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Reporting verbs: how much do they commit you?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29384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NEUTRAL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21992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say (that)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52344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dire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3118104"/>
            <a:ext cx="316077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209544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Samuel </a:t>
            </a:r>
            <a:r>
              <a:rPr lang="en-US" sz="1700" b="1" dirty="0">
                <a:solidFill>
                  <a:schemeClr val="tx1"/>
                </a:solidFill>
              </a:rPr>
              <a:t>said</a:t>
            </a:r>
            <a:r>
              <a:rPr lang="en-US" sz="1700" dirty="0">
                <a:solidFill>
                  <a:schemeClr val="tx1"/>
                </a:solidFill>
              </a:rPr>
              <a:t> (that) the alarm went off at 11.40.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12920" y="1783080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14088" y="1929384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NEUTRAL + A PERSON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14088" y="2221992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tell + sb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14088" y="2752344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dire à quelqu’un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14088" y="3118104"/>
            <a:ext cx="316077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14088" y="3209544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 </a:t>
            </a:r>
            <a:r>
              <a:rPr lang="en-US" sz="1700" b="1" dirty="0">
                <a:solidFill>
                  <a:schemeClr val="tx1"/>
                </a:solidFill>
              </a:rPr>
              <a:t>told us</a:t>
            </a:r>
            <a:r>
              <a:rPr lang="en-US" sz="1700" dirty="0">
                <a:solidFill>
                  <a:schemeClr val="tx1"/>
                </a:solidFill>
              </a:rPr>
              <a:t> (that) nobody was on site.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77200" y="1783080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78368" y="1929384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DOUBT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8368" y="2221992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claim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78368" y="2752344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prétendre, affirmer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78368" y="3118104"/>
            <a:ext cx="316077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8368" y="3209544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Verdier </a:t>
            </a:r>
            <a:r>
              <a:rPr lang="en-US" sz="1700" b="1" dirty="0">
                <a:solidFill>
                  <a:schemeClr val="tx1"/>
                </a:solidFill>
              </a:rPr>
              <a:t>claims</a:t>
            </a:r>
            <a:r>
              <a:rPr lang="en-US" sz="1700" dirty="0">
                <a:solidFill>
                  <a:schemeClr val="tx1"/>
                </a:solidFill>
              </a:rPr>
              <a:t> the pipe is old. </a:t>
            </a:r>
            <a:r>
              <a:rPr lang="en-US" sz="1700" i="1" dirty="0">
                <a:solidFill>
                  <a:schemeClr val="tx1"/>
                </a:solidFill>
              </a:rPr>
              <a:t>Nothing proves it.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146804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42931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FORMAL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585716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report · state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116068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signaler · indiquer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49808" y="5481828"/>
            <a:ext cx="316077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573268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cleaners </a:t>
            </a:r>
            <a:r>
              <a:rPr lang="en-US" sz="1700" b="1" dirty="0">
                <a:solidFill>
                  <a:schemeClr val="tx1"/>
                </a:solidFill>
              </a:rPr>
              <a:t>reported</a:t>
            </a:r>
            <a:r>
              <a:rPr lang="en-US" sz="1700" dirty="0">
                <a:solidFill>
                  <a:schemeClr val="tx1"/>
                </a:solidFill>
              </a:rPr>
              <a:t> water. The log </a:t>
            </a:r>
            <a:r>
              <a:rPr lang="en-US" sz="1700" b="1" dirty="0">
                <a:solidFill>
                  <a:schemeClr val="tx1"/>
                </a:solidFill>
              </a:rPr>
              <a:t>states</a:t>
            </a:r>
            <a:r>
              <a:rPr lang="en-US" sz="1700" dirty="0">
                <a:solidFill>
                  <a:schemeClr val="tx1"/>
                </a:solidFill>
              </a:rPr>
              <a:t> 23:41.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12920" y="4146804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14088" y="42931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CERTAINTY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14088" y="4585716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confirm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4514088" y="5116068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confirmer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514088" y="5481828"/>
            <a:ext cx="3160776" cy="0"/>
          </a:xfrm>
          <a:prstGeom prst="line">
            <a:avLst/>
          </a:prstGeom>
          <a:noFill/>
          <a:ln w="9525">
            <a:solidFill>
              <a:srgbClr val="C9D1D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14088" y="5573268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log </a:t>
            </a:r>
            <a:r>
              <a:rPr lang="en-US" sz="1700" b="1" dirty="0">
                <a:solidFill>
                  <a:schemeClr val="tx1"/>
                </a:solidFill>
              </a:rPr>
              <a:t>confirms</a:t>
            </a:r>
            <a:r>
              <a:rPr lang="en-US" sz="1700" dirty="0">
                <a:solidFill>
                  <a:schemeClr val="tx1"/>
                </a:solidFill>
              </a:rPr>
              <a:t> that unit 3 shut down at 02:16.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8077200" y="4146804"/>
            <a:ext cx="3563112" cy="2162556"/>
          </a:xfrm>
          <a:prstGeom prst="roundRect">
            <a:avLst>
              <a:gd name="adj" fmla="val 3383"/>
            </a:avLst>
          </a:prstGeom>
          <a:solidFill>
            <a:srgbClr val="C0752A">
              <a:alpha val="12000"/>
            </a:srgbClr>
          </a:solidFill>
          <a:ln w="15875">
            <a:solidFill>
              <a:srgbClr val="C0752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78368" y="4293108"/>
            <a:ext cx="3160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⚠ </a:t>
            </a:r>
            <a:r>
              <a:rPr lang="en-US" sz="1200" b="1" spc="150" kern="0" dirty="0">
                <a:solidFill>
                  <a:schemeClr val="accent1"/>
                </a:solidFill>
              </a:rPr>
              <a:t>ATTENTION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78368" y="4585716"/>
            <a:ext cx="3160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say ≠ tell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8278368" y="5116068"/>
            <a:ext cx="3160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✗ </a:t>
            </a:r>
            <a:r>
              <a:rPr lang="en-US" sz="1500" i="1" dirty="0">
                <a:solidFill>
                  <a:schemeClr val="accent5"/>
                </a:solidFill>
              </a:rPr>
              <a:t>He said me</a:t>
            </a:r>
            <a:r>
              <a:rPr lang="en-US" sz="1500" dirty="0">
                <a:solidFill>
                  <a:schemeClr val="accent5"/>
                </a:solidFill>
              </a:rPr>
              <a:t> · ✗ </a:t>
            </a:r>
            <a:r>
              <a:rPr lang="en-US" sz="1500" i="1" dirty="0">
                <a:solidFill>
                  <a:schemeClr val="accent5"/>
                </a:solidFill>
              </a:rPr>
              <a:t>say somebody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278368" y="5481828"/>
            <a:ext cx="3160776" cy="0"/>
          </a:xfrm>
          <a:prstGeom prst="line">
            <a:avLst/>
          </a:prstGeom>
          <a:noFill/>
          <a:ln w="9525">
            <a:solidFill>
              <a:srgbClr val="C0752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78368" y="5573268"/>
            <a:ext cx="3160776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✓ He </a:t>
            </a:r>
            <a:r>
              <a:rPr lang="en-US" sz="1700" b="1" dirty="0">
                <a:solidFill>
                  <a:schemeClr val="tx1"/>
                </a:solidFill>
              </a:rPr>
              <a:t>told me</a:t>
            </a:r>
            <a:r>
              <a:rPr lang="en-US" sz="1700" dirty="0">
                <a:solidFill>
                  <a:schemeClr val="tx1"/>
                </a:solidFill>
              </a:rPr>
              <a:t> · ✓ He </a:t>
            </a:r>
            <a:r>
              <a:rPr lang="en-US" sz="1700" b="1" dirty="0">
                <a:solidFill>
                  <a:schemeClr val="tx1"/>
                </a:solidFill>
              </a:rPr>
              <a:t>said to me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Say, tell, claim or confirm?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165860" cy="310896"/>
          </a:xfrm>
          <a:prstGeom prst="roundRect">
            <a:avLst>
              <a:gd name="adj" fmla="val 14706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GRAMMAR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09294" y="1737360"/>
            <a:ext cx="3387852" cy="384048"/>
          </a:xfrm>
          <a:prstGeom prst="roundRect">
            <a:avLst>
              <a:gd name="adj" fmla="val 47619"/>
            </a:avLst>
          </a:prstGeom>
          <a:solidFill>
            <a:srgbClr val="1F386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Reporting what someone said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903220" y="2139696"/>
            <a:ext cx="0" cy="201168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548640" y="2359152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" y="2514600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62432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61872" y="2395728"/>
            <a:ext cx="3867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there a </a:t>
            </a:r>
            <a:r>
              <a:rPr lang="en-US" sz="1700" b="1" dirty="0">
                <a:solidFill>
                  <a:schemeClr val="tx2"/>
                </a:solidFill>
              </a:rPr>
              <a:t>person</a:t>
            </a:r>
            <a:r>
              <a:rPr lang="en-US" sz="1700" b="1" dirty="0">
                <a:solidFill>
                  <a:schemeClr val="tx2"/>
                </a:solidFill>
              </a:rPr>
              <a:t> right after the verb?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… us · Mark · the insurer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276088" y="2734056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72200" y="2359152"/>
            <a:ext cx="5468112" cy="749808"/>
          </a:xfrm>
          <a:prstGeom prst="roundRect">
            <a:avLst>
              <a:gd name="adj" fmla="val 9756"/>
            </a:avLst>
          </a:prstGeom>
          <a:solidFill>
            <a:srgbClr val="2E75B6">
              <a:alpha val="12000"/>
            </a:srgbClr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36792" y="2395728"/>
            <a:ext cx="51389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2"/>
                </a:solidFill>
              </a:rPr>
              <a:t>TELL + PERSON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Iris </a:t>
            </a:r>
            <a:r>
              <a:rPr lang="en-US" sz="1600" b="1" dirty="0">
                <a:solidFill>
                  <a:schemeClr val="tx1"/>
                </a:solidFill>
              </a:rPr>
              <a:t>told Mark</a:t>
            </a:r>
            <a:r>
              <a:rPr lang="en-US" sz="1600" dirty="0">
                <a:solidFill>
                  <a:schemeClr val="tx1"/>
                </a:solidFill>
              </a:rPr>
              <a:t> that the floor was soaked.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2903220" y="3127248"/>
            <a:ext cx="0" cy="201168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17" name="Text 13"/>
          <p:cNvSpPr txBox="1"/>
          <p:nvPr/>
        </p:nvSpPr>
        <p:spPr>
          <a:xfrm>
            <a:off x="2994660" y="31089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346704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94944" y="3502152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11880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61872" y="3383280"/>
            <a:ext cx="3867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 you </a:t>
            </a:r>
            <a:r>
              <a:rPr lang="en-US" sz="1700" b="1" dirty="0">
                <a:solidFill>
                  <a:schemeClr val="tx2"/>
                </a:solidFill>
              </a:rPr>
              <a:t>doubt</a:t>
            </a:r>
            <a:r>
              <a:rPr lang="en-US" sz="1700" b="1" dirty="0">
                <a:solidFill>
                  <a:schemeClr val="tx2"/>
                </a:solidFill>
              </a:rPr>
              <a:t> it — nothing supports it?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 document, no witness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276088" y="3721608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5257800" y="3410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172200" y="3346704"/>
            <a:ext cx="5468112" cy="749808"/>
          </a:xfrm>
          <a:prstGeom prst="roundRect">
            <a:avLst>
              <a:gd name="adj" fmla="val 9756"/>
            </a:avLst>
          </a:prstGeom>
          <a:solidFill>
            <a:srgbClr val="B03A2E">
              <a:alpha val="12000"/>
            </a:srgbClr>
          </a:solidFill>
          <a:ln w="19050">
            <a:solidFill>
              <a:srgbClr val="B03A2E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336792" y="3383280"/>
            <a:ext cx="51389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6"/>
                </a:solidFill>
              </a:rPr>
              <a:t>CLAIM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Verdier </a:t>
            </a:r>
            <a:r>
              <a:rPr lang="en-US" sz="1600" b="1" dirty="0">
                <a:solidFill>
                  <a:schemeClr val="tx1"/>
                </a:solidFill>
              </a:rPr>
              <a:t>claims</a:t>
            </a:r>
            <a:r>
              <a:rPr lang="en-US" sz="1600" dirty="0">
                <a:solidFill>
                  <a:schemeClr val="tx1"/>
                </a:solidFill>
              </a:rPr>
              <a:t> that the pipe is old.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2903220" y="4114800"/>
            <a:ext cx="0" cy="201168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27" name="Text 22"/>
          <p:cNvSpPr txBox="1"/>
          <p:nvPr/>
        </p:nvSpPr>
        <p:spPr>
          <a:xfrm>
            <a:off x="2994660" y="4096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48640" y="4334256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94944" y="4489704"/>
            <a:ext cx="438912" cy="438912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59943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261872" y="4370832"/>
            <a:ext cx="3867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it in a </a:t>
            </a:r>
            <a:r>
              <a:rPr lang="en-US" sz="1700" b="1" dirty="0">
                <a:solidFill>
                  <a:schemeClr val="tx2"/>
                </a:solidFill>
              </a:rPr>
              <a:t>document</a:t>
            </a:r>
            <a:r>
              <a:rPr lang="en-US" sz="1700" b="1" dirty="0">
                <a:solidFill>
                  <a:schemeClr val="tx2"/>
                </a:solidFill>
              </a:rPr>
              <a:t>, or proved?</a:t>
            </a:r>
            <a:endParaRPr lang="en-US" sz="1700" dirty="0"/>
          </a:p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log · a photo · a report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5276088" y="4709160"/>
            <a:ext cx="859536" cy="0"/>
          </a:xfrm>
          <a:prstGeom prst="line">
            <a:avLst/>
          </a:prstGeom>
          <a:noFill/>
          <a:ln w="22225">
            <a:solidFill>
              <a:srgbClr val="3C7A3C"/>
            </a:solidFill>
            <a:prstDash val="solid"/>
            <a:tailEnd type="triangle"/>
          </a:ln>
        </p:spPr>
      </p:sp>
      <p:sp>
        <p:nvSpPr>
          <p:cNvPr id="33" name="Text 27"/>
          <p:cNvSpPr txBox="1"/>
          <p:nvPr/>
        </p:nvSpPr>
        <p:spPr>
          <a:xfrm>
            <a:off x="5257800" y="4398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YES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172200" y="4334256"/>
            <a:ext cx="5468112" cy="749808"/>
          </a:xfrm>
          <a:prstGeom prst="roundRect">
            <a:avLst>
              <a:gd name="adj" fmla="val 9756"/>
            </a:avLst>
          </a:prstGeom>
          <a:solidFill>
            <a:srgbClr val="3C7A3C">
              <a:alpha val="12000"/>
            </a:srgbClr>
          </a:solidFill>
          <a:ln w="19050">
            <a:solidFill>
              <a:srgbClr val="3C7A3C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36792" y="4370832"/>
            <a:ext cx="51389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accent3"/>
                </a:solidFill>
              </a:rPr>
              <a:t>CONFIRM · STATE · REPORT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log </a:t>
            </a:r>
            <a:r>
              <a:rPr lang="en-US" sz="1600" b="1" dirty="0">
                <a:solidFill>
                  <a:schemeClr val="tx1"/>
                </a:solidFill>
              </a:rPr>
              <a:t>confirms</a:t>
            </a:r>
            <a:r>
              <a:rPr lang="en-US" sz="1600" dirty="0">
                <a:solidFill>
                  <a:schemeClr val="tx1"/>
                </a:solidFill>
              </a:rPr>
              <a:t> that unit 3 shut down.</a:t>
            </a:r>
            <a:endParaRPr lang="en-US" sz="1600" dirty="0"/>
          </a:p>
        </p:txBody>
      </p:sp>
      <p:sp>
        <p:nvSpPr>
          <p:cNvPr id="36" name="Shape 30"/>
          <p:cNvSpPr/>
          <p:nvPr/>
        </p:nvSpPr>
        <p:spPr>
          <a:xfrm>
            <a:off x="2903220" y="5102352"/>
            <a:ext cx="0" cy="201168"/>
          </a:xfrm>
          <a:prstGeom prst="line">
            <a:avLst/>
          </a:prstGeom>
          <a:noFill/>
          <a:ln w="2222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7" name="Text 31"/>
          <p:cNvSpPr txBox="1"/>
          <p:nvPr/>
        </p:nvSpPr>
        <p:spPr>
          <a:xfrm>
            <a:off x="2994660" y="5084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NO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548640" y="5321808"/>
            <a:ext cx="4709160" cy="749808"/>
          </a:xfrm>
          <a:prstGeom prst="roundRect">
            <a:avLst>
              <a:gd name="adj" fmla="val 9756"/>
            </a:avLst>
          </a:prstGeom>
          <a:solidFill>
            <a:srgbClr val="1F3864">
              <a:alpha val="12000"/>
            </a:srgbClr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13232" y="5358384"/>
            <a:ext cx="4379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chemeClr val="tx2"/>
                </a:solidFill>
              </a:rPr>
              <a:t>SAY (THAT)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Samuel </a:t>
            </a:r>
            <a:r>
              <a:rPr lang="en-US" sz="1600" b="1" dirty="0">
                <a:solidFill>
                  <a:schemeClr val="tx1"/>
                </a:solidFill>
              </a:rPr>
              <a:t>said</a:t>
            </a:r>
            <a:r>
              <a:rPr lang="en-US" sz="1600" dirty="0">
                <a:solidFill>
                  <a:schemeClr val="tx1"/>
                </a:solidFill>
              </a:rPr>
              <a:t> that the alarm went off at 11.40.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Mark’s email — check it before he sends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Mark asks you to read his email to the insurer. Find </a:t>
            </a:r>
            <a:r>
              <a:rPr lang="en-US" sz="1600" b="1" i="1" dirty="0">
                <a:solidFill>
                  <a:schemeClr val="accent5"/>
                </a:solidFill>
              </a:rPr>
              <a:t>six mistakes</a:t>
            </a:r>
            <a:r>
              <a:rPr lang="en-US" sz="1600" i="1" dirty="0">
                <a:solidFill>
                  <a:schemeClr val="accent5"/>
                </a:solidFill>
              </a:rPr>
              <a:t>: grammar, a time, a verb — and one dangerous sentence.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8" name="tag"/>
          <p:cNvSpPr/>
          <p:nvPr/>
        </p:nvSpPr>
        <p:spPr>
          <a:xfrm>
            <a:off x="822960" y="2420112"/>
            <a:ext cx="16230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DRAFT EMAIL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674620" y="2383536"/>
            <a:ext cx="70911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To: the insurer — Subject: Atlas House, water damage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765792" y="2392680"/>
            <a:ext cx="1645920" cy="384048"/>
          </a:xfrm>
          <a:prstGeom prst="roundRect">
            <a:avLst>
              <a:gd name="adj" fmla="val 47619"/>
            </a:avLst>
          </a:prstGeom>
          <a:solidFill>
            <a:srgbClr val="B4236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765792" y="2392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 mistakes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2923032"/>
            <a:ext cx="10543032" cy="0"/>
          </a:xfrm>
          <a:prstGeom prst="line">
            <a:avLst/>
          </a:prstGeom>
          <a:noFill/>
          <a:ln w="12700">
            <a:solidFill>
              <a:srgbClr val="44546A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914400" y="3060192"/>
            <a:ext cx="10360152" cy="3157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Dear Sir or Madam,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This morning our analyst </a:t>
            </a:r>
            <a:r>
              <a:rPr lang="en-US" sz="2100" dirty="0">
                <a:solidFill>
                  <a:schemeClr val="tx1"/>
                </a:solidFill>
              </a:rPr>
              <a:t>said us</a:t>
            </a:r>
            <a:r>
              <a:rPr lang="en-US" sz="2100" dirty="0">
                <a:solidFill>
                  <a:schemeClr val="tx1"/>
                </a:solidFill>
              </a:rPr>
              <a:t> that the temperature alarm went off </a:t>
            </a:r>
            <a:r>
              <a:rPr lang="en-US" sz="2100" dirty="0">
                <a:solidFill>
                  <a:schemeClr val="tx1"/>
                </a:solidFill>
              </a:rPr>
              <a:t>at around 11.40</a:t>
            </a:r>
            <a:r>
              <a:rPr lang="en-US" sz="2100" dirty="0">
                <a:solidFill>
                  <a:schemeClr val="tx1"/>
                </a:solidFill>
              </a:rPr>
              <a:t>. The log </a:t>
            </a:r>
            <a:r>
              <a:rPr lang="en-US" sz="2100" dirty="0">
                <a:solidFill>
                  <a:schemeClr val="tx1"/>
                </a:solidFill>
              </a:rPr>
              <a:t>claims</a:t>
            </a:r>
            <a:r>
              <a:rPr lang="en-US" sz="2100" dirty="0">
                <a:solidFill>
                  <a:schemeClr val="tx1"/>
                </a:solidFill>
              </a:rPr>
              <a:t> that unit 3 shut down at 02:16.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The site manager entered zone 2F at 20:04.</a:t>
            </a:r>
            <a:r>
              <a:rPr lang="en-US" sz="2100" dirty="0">
                <a:solidFill>
                  <a:schemeClr val="tx1"/>
                </a:solidFill>
              </a:rPr>
              <a:t> The cleaners </a:t>
            </a:r>
            <a:r>
              <a:rPr lang="en-US" sz="2100" dirty="0">
                <a:solidFill>
                  <a:schemeClr val="tx1"/>
                </a:solidFill>
              </a:rPr>
              <a:t>have found</a:t>
            </a:r>
            <a:r>
              <a:rPr lang="en-US" sz="2100" dirty="0">
                <a:solidFill>
                  <a:schemeClr val="tx1"/>
                </a:solidFill>
              </a:rPr>
              <a:t> the water at 6.50, and it ran </a:t>
            </a:r>
            <a:r>
              <a:rPr lang="en-US" sz="2100" dirty="0">
                <a:solidFill>
                  <a:schemeClr val="tx1"/>
                </a:solidFill>
              </a:rPr>
              <a:t>during</a:t>
            </a:r>
            <a:r>
              <a:rPr lang="en-US" sz="2100" dirty="0">
                <a:solidFill>
                  <a:schemeClr val="tx1"/>
                </a:solidFill>
              </a:rPr>
              <a:t> about seven hours.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Kind regards, Mark Shaw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Mark’s email — check it before he sends 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3944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384048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3C7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627632"/>
            <a:ext cx="11091672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A report email = the </a:t>
            </a:r>
            <a:r>
              <a:rPr lang="en-US" sz="1600" b="1" i="1" dirty="0">
                <a:solidFill>
                  <a:schemeClr val="accent5"/>
                </a:solidFill>
              </a:rPr>
              <a:t>time from the log</a:t>
            </a:r>
            <a:r>
              <a:rPr lang="en-US" sz="1600" i="1" dirty="0">
                <a:solidFill>
                  <a:schemeClr val="accent5"/>
                </a:solidFill>
              </a:rPr>
              <a:t>, the </a:t>
            </a:r>
            <a:r>
              <a:rPr lang="en-US" sz="1600" b="1" i="1" dirty="0">
                <a:solidFill>
                  <a:schemeClr val="accent5"/>
                </a:solidFill>
              </a:rPr>
              <a:t>right reporting verb</a:t>
            </a:r>
            <a:r>
              <a:rPr lang="en-US" sz="1600" i="1" dirty="0">
                <a:solidFill>
                  <a:schemeClr val="accent5"/>
                </a:solidFill>
              </a:rPr>
              <a:t>, </a:t>
            </a:r>
            <a:r>
              <a:rPr lang="en-US" sz="1600" b="1" i="1" dirty="0">
                <a:solidFill>
                  <a:schemeClr val="accent5"/>
                </a:solidFill>
              </a:rPr>
              <a:t>no names</a:t>
            </a:r>
            <a:r>
              <a:rPr lang="en-US" sz="1600" i="1" dirty="0">
                <a:solidFill>
                  <a:schemeClr val="accent5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237232"/>
            <a:ext cx="11091672" cy="4072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9" name="tag"/>
          <p:cNvSpPr/>
          <p:nvPr/>
        </p:nvSpPr>
        <p:spPr>
          <a:xfrm>
            <a:off x="822960" y="2420112"/>
            <a:ext cx="1623060" cy="310896"/>
          </a:xfrm>
          <a:prstGeom prst="roundRect">
            <a:avLst>
              <a:gd name="adj" fmla="val 14706"/>
            </a:avLst>
          </a:prstGeom>
          <a:solidFill>
            <a:srgbClr val="2E75B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DRAFT EMAIL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674620" y="2383536"/>
            <a:ext cx="70911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To: the insurer — Subject: Atlas House, water damage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765792" y="2392680"/>
            <a:ext cx="1645920" cy="384048"/>
          </a:xfrm>
          <a:prstGeom prst="roundRect">
            <a:avLst>
              <a:gd name="adj" fmla="val 47619"/>
            </a:avLst>
          </a:prstGeom>
          <a:solidFill>
            <a:srgbClr val="3C7A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765792" y="2392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 6 corrections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923032"/>
            <a:ext cx="10543032" cy="0"/>
          </a:xfrm>
          <a:prstGeom prst="line">
            <a:avLst/>
          </a:prstGeom>
          <a:noFill/>
          <a:ln w="12700">
            <a:solidFill>
              <a:srgbClr val="44546A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914400" y="3060192"/>
            <a:ext cx="10360152" cy="3157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Dear Sir or Madam,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This morning our analyst </a:t>
            </a:r>
            <a:r>
              <a:rPr lang="en-US" sz="2100" strike="sngStrike" dirty="0">
                <a:solidFill>
                  <a:schemeClr val="accent6"/>
                </a:solidFill>
              </a:rPr>
              <a:t>said us</a:t>
            </a:r>
            <a:r>
              <a:rPr lang="en-US" sz="2100" b="1" dirty="0">
                <a:solidFill>
                  <a:schemeClr val="accent3"/>
                </a:solidFill>
              </a:rPr>
              <a:t> told us</a:t>
            </a:r>
            <a:r>
              <a:rPr lang="en-US" sz="2100" dirty="0">
                <a:solidFill>
                  <a:schemeClr val="tx1"/>
                </a:solidFill>
              </a:rPr>
              <a:t> that the temperature alarm went off </a:t>
            </a:r>
            <a:r>
              <a:rPr lang="en-US" sz="2100" strike="sngStrike" dirty="0">
                <a:solidFill>
                  <a:schemeClr val="accent6"/>
                </a:solidFill>
              </a:rPr>
              <a:t>at around 11.40</a:t>
            </a:r>
            <a:r>
              <a:rPr lang="en-US" sz="2100" b="1" dirty="0">
                <a:solidFill>
                  <a:schemeClr val="accent3"/>
                </a:solidFill>
              </a:rPr>
              <a:t> at 23:41</a:t>
            </a:r>
            <a:r>
              <a:rPr lang="en-US" sz="2100" dirty="0">
                <a:solidFill>
                  <a:schemeClr val="tx1"/>
                </a:solidFill>
              </a:rPr>
              <a:t>. The log </a:t>
            </a:r>
            <a:r>
              <a:rPr lang="en-US" sz="2100" strike="sngStrike" dirty="0">
                <a:solidFill>
                  <a:schemeClr val="accent6"/>
                </a:solidFill>
              </a:rPr>
              <a:t>claims</a:t>
            </a:r>
            <a:r>
              <a:rPr lang="en-US" sz="2100" b="1" dirty="0">
                <a:solidFill>
                  <a:schemeClr val="accent3"/>
                </a:solidFill>
              </a:rPr>
              <a:t> confirms</a:t>
            </a:r>
            <a:r>
              <a:rPr lang="en-US" sz="2100" dirty="0">
                <a:solidFill>
                  <a:schemeClr val="tx1"/>
                </a:solidFill>
              </a:rPr>
              <a:t> that unit 3 shut down at 02:16.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strike="sngStrike" dirty="0">
                <a:solidFill>
                  <a:schemeClr val="accent6"/>
                </a:solidFill>
              </a:rPr>
              <a:t>The site manager entered zone 2F at 20:04.</a:t>
            </a:r>
            <a:r>
              <a:rPr lang="en-US" sz="2100" b="1" dirty="0">
                <a:solidFill>
                  <a:schemeClr val="accent3"/>
                </a:solidFill>
              </a:rPr>
              <a:t> An access to zone 2F was recorded at 20:04.</a:t>
            </a:r>
            <a:r>
              <a:rPr lang="en-US" sz="2100" dirty="0">
                <a:solidFill>
                  <a:schemeClr val="tx1"/>
                </a:solidFill>
              </a:rPr>
              <a:t> The cleaners </a:t>
            </a:r>
            <a:r>
              <a:rPr lang="en-US" sz="2100" strike="sngStrike" dirty="0">
                <a:solidFill>
                  <a:schemeClr val="accent6"/>
                </a:solidFill>
              </a:rPr>
              <a:t>have found</a:t>
            </a:r>
            <a:r>
              <a:rPr lang="en-US" sz="2100" b="1" dirty="0">
                <a:solidFill>
                  <a:schemeClr val="accent3"/>
                </a:solidFill>
              </a:rPr>
              <a:t> found</a:t>
            </a:r>
            <a:r>
              <a:rPr lang="en-US" sz="2100" dirty="0">
                <a:solidFill>
                  <a:schemeClr val="tx1"/>
                </a:solidFill>
              </a:rPr>
              <a:t> the water at 6.50, and it ran </a:t>
            </a:r>
            <a:r>
              <a:rPr lang="en-US" sz="2100" strike="sngStrike" dirty="0">
                <a:solidFill>
                  <a:schemeClr val="accent6"/>
                </a:solidFill>
              </a:rPr>
              <a:t>during</a:t>
            </a:r>
            <a:r>
              <a:rPr lang="en-US" sz="2100" b="1" dirty="0">
                <a:solidFill>
                  <a:schemeClr val="accent3"/>
                </a:solidFill>
              </a:rPr>
              <a:t> for</a:t>
            </a:r>
            <a:r>
              <a:rPr lang="en-US" sz="2100" dirty="0">
                <a:solidFill>
                  <a:schemeClr val="tx1"/>
                </a:solidFill>
              </a:rPr>
              <a:t> about seven hours.</a:t>
            </a:r>
            <a:endParaRPr lang="en-US" sz="210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Kind regards, Mark Shaw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Press conference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822960" cy="310896"/>
          </a:xfrm>
          <a:prstGeom prst="roundRect">
            <a:avLst>
              <a:gd name="adj" fmla="val 14706"/>
            </a:avLst>
          </a:prstGeom>
          <a:solidFill>
            <a:srgbClr val="B423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GAME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365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E75B6">
              <a:alpha val="8000"/>
            </a:srgbClr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11096"/>
            <a:ext cx="713232" cy="713232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89404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91640" y="1837944"/>
            <a:ext cx="97657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Atlas House speaks to the press — the journalists report it.</a:t>
            </a:r>
            <a:endParaRPr lang="en-US" sz="21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Whole class · 15 minutes · speaking, listening, reporting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548640" y="3072384"/>
            <a:ext cx="365760" cy="365760"/>
          </a:xfrm>
          <a:prstGeom prst="ellipse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3017520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Two </a:t>
            </a:r>
            <a:r>
              <a:rPr lang="en-US" sz="1700" b="1" dirty="0">
                <a:solidFill>
                  <a:schemeClr val="tx1"/>
                </a:solidFill>
              </a:rPr>
              <a:t>spokespeople</a:t>
            </a:r>
            <a:r>
              <a:rPr lang="en-US" sz="1700" dirty="0">
                <a:solidFill>
                  <a:schemeClr val="tx1"/>
                </a:solidFill>
              </a:rPr>
              <a:t> prepare a 30-second statement from Exhibit A — facts only.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48640" y="3707892"/>
            <a:ext cx="365760" cy="365760"/>
          </a:xfrm>
          <a:prstGeom prst="ellipse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97280" y="3653028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</a:t>
            </a:r>
            <a:r>
              <a:rPr lang="en-US" sz="1700" b="1" dirty="0">
                <a:solidFill>
                  <a:schemeClr val="tx1"/>
                </a:solidFill>
              </a:rPr>
              <a:t>journalists</a:t>
            </a:r>
            <a:r>
              <a:rPr lang="en-US" sz="1700" dirty="0">
                <a:solidFill>
                  <a:schemeClr val="tx1"/>
                </a:solidFill>
              </a:rPr>
              <a:t> ask questions: </a:t>
            </a:r>
            <a:r>
              <a:rPr lang="en-US" sz="1700" i="1" dirty="0">
                <a:solidFill>
                  <a:schemeClr val="tx1"/>
                </a:solidFill>
              </a:rPr>
              <a:t>What time exactly…? Can you confirm…? Who…?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97280" y="4288536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spokespeople answer — careful: </a:t>
            </a:r>
            <a:r>
              <a:rPr lang="en-US" sz="1700" b="1" dirty="0">
                <a:solidFill>
                  <a:schemeClr val="tx1"/>
                </a:solidFill>
              </a:rPr>
              <a:t>no names, no badge numbers</a:t>
            </a:r>
            <a:r>
              <a:rPr lang="en-US" sz="1700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48640" y="4978908"/>
            <a:ext cx="365760" cy="365760"/>
          </a:xfrm>
          <a:prstGeom prst="ellipse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097280" y="4924044"/>
            <a:ext cx="589788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Each journalist says a one-line </a:t>
            </a:r>
            <a:r>
              <a:rPr lang="en-US" sz="1700" b="1" dirty="0">
                <a:solidFill>
                  <a:schemeClr val="tx1"/>
                </a:solidFill>
              </a:rPr>
              <a:t>headline</a:t>
            </a:r>
            <a:r>
              <a:rPr lang="en-US" sz="1700" dirty="0">
                <a:solidFill>
                  <a:schemeClr val="tx1"/>
                </a:solidFill>
              </a:rPr>
              <a:t> with a reporting verb: </a:t>
            </a:r>
            <a:r>
              <a:rPr lang="en-US" sz="1700" i="1" dirty="0">
                <a:solidFill>
                  <a:schemeClr val="tx1"/>
                </a:solidFill>
              </a:rPr>
              <a:t>Atlas House confirms that…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7360920" y="3017520"/>
            <a:ext cx="4279392" cy="2542032"/>
          </a:xfrm>
          <a:prstGeom prst="roundRect">
            <a:avLst>
              <a:gd name="adj" fmla="val 2878"/>
            </a:avLst>
          </a:prstGeom>
          <a:solidFill>
            <a:srgbClr val="6E4A9E">
              <a:alpha val="8000"/>
            </a:srgbClr>
          </a:solidFill>
          <a:ln w="9525">
            <a:solidFill>
              <a:srgbClr val="6E4A9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182112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927848" y="3154680"/>
            <a:ext cx="3547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4"/>
                </a:solidFill>
              </a:rPr>
              <a:t>SAY IT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7562088" y="3611880"/>
            <a:ext cx="389534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400" i="1" dirty="0">
                <a:solidFill>
                  <a:schemeClr val="tx1"/>
                </a:solidFill>
              </a:rPr>
              <a:t>Can you confirm that…?</a:t>
            </a:r>
            <a:endParaRPr lang="en-US" sz="14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400" i="1" dirty="0">
                <a:solidFill>
                  <a:schemeClr val="tx1"/>
                </a:solidFill>
              </a:rPr>
              <a:t>What time exactly did…?</a:t>
            </a:r>
            <a:endParaRPr lang="en-US" sz="14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400" i="1" dirty="0">
                <a:solidFill>
                  <a:schemeClr val="tx1"/>
                </a:solidFill>
              </a:rPr>
              <a:t>We cannot confirm that yet.</a:t>
            </a:r>
            <a:endParaRPr lang="en-US" sz="14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400" i="1" dirty="0">
                <a:solidFill>
                  <a:schemeClr val="tx1"/>
                </a:solidFill>
              </a:rPr>
              <a:t>No comment at this stage.</a:t>
            </a:r>
            <a:endParaRPr lang="en-US" sz="14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400" i="1" dirty="0">
                <a:solidFill>
                  <a:schemeClr val="tx1"/>
                </a:solidFill>
              </a:rPr>
              <a:t>Atlas House </a:t>
            </a:r>
            <a:r>
              <a:rPr lang="en-US" sz="1400" b="1" i="1" dirty="0">
                <a:solidFill>
                  <a:schemeClr val="tx1"/>
                </a:solidFill>
              </a:rPr>
              <a:t>claims / confirms / reports</a:t>
            </a:r>
            <a:r>
              <a:rPr lang="en-US" sz="1400" i="1" dirty="0">
                <a:solidFill>
                  <a:schemeClr val="tx1"/>
                </a:solidFill>
              </a:rPr>
              <a:t> that…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48640" y="574243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C0752A">
              <a:alpha val="10000"/>
            </a:srgbClr>
          </a:solidFill>
          <a:ln w="12700">
            <a:solidFill>
              <a:srgbClr val="C0752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87044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742432"/>
            <a:ext cx="10222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 win —</a:t>
            </a:r>
            <a:r>
              <a:rPr lang="en-US" sz="1700" dirty="0">
                <a:solidFill>
                  <a:schemeClr val="tx1"/>
                </a:solidFill>
              </a:rPr>
              <a:t> the best headline: </a:t>
            </a:r>
            <a:r>
              <a:rPr lang="en-US" sz="1700" b="1" dirty="0">
                <a:solidFill>
                  <a:schemeClr val="tx1"/>
                </a:solidFill>
              </a:rPr>
              <a:t>true, precise — and it names nobody.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38404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C075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697480"/>
          </a:xfrm>
          <a:prstGeom prst="roundRect">
            <a:avLst>
              <a:gd name="adj" fmla="val 2712"/>
            </a:avLst>
          </a:prstGeom>
          <a:solidFill>
            <a:srgbClr val="1F386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0008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log does not say what Samuel remembered. Before ten o’clock, you will need eight verbs — and </a:t>
            </a:r>
            <a:r>
              <a:rPr lang="en-US" sz="22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forms of each</a:t>
            </a:r>
            <a:r>
              <a:rPr lang="en-US" sz="22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: the dated fact, and the result.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C0752A">
              <a:alpha val="12000"/>
            </a:srgbClr>
          </a:solidFill>
          <a:ln w="15875">
            <a:solidFill>
              <a:srgbClr val="C0752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49560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EXIT TICKET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406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one sentence: what does line </a:t>
            </a:r>
            <a:r>
              <a:rPr lang="en-US" sz="1800" b="1" dirty="0">
                <a:solidFill>
                  <a:schemeClr val="tx1"/>
                </a:solidFill>
              </a:rPr>
              <a:t>23:42</a:t>
            </a:r>
            <a:r>
              <a:rPr lang="en-US" sz="1800" dirty="0">
                <a:solidFill>
                  <a:schemeClr val="tx1"/>
                </a:solidFill>
              </a:rPr>
              <a:t> prove — and what does it </a:t>
            </a:r>
            <a:r>
              <a:rPr lang="en-US" sz="1800" b="1" dirty="0">
                <a:solidFill>
                  <a:schemeClr val="tx1"/>
                </a:solidFill>
              </a:rPr>
              <a:t>not</a:t>
            </a:r>
            <a:r>
              <a:rPr lang="en-US" sz="1800" dirty="0">
                <a:solidFill>
                  <a:schemeClr val="tx1"/>
                </a:solidFill>
              </a:rPr>
              <a:t> prove?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03720" y="1783080"/>
            <a:ext cx="4736592" cy="4526280"/>
          </a:xfrm>
          <a:prstGeom prst="roundRect">
            <a:avLst>
              <a:gd name="adj" fmla="val 1616"/>
            </a:avLst>
          </a:prstGeom>
          <a:solidFill>
            <a:srgbClr val="EEF2F8"/>
          </a:solidFill>
          <a:ln w="9525">
            <a:solidFill>
              <a:srgbClr val="D5DCE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002536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53528" y="1984248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60604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589520" y="256032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words of a log</a:t>
            </a:r>
            <a:r>
              <a:rPr lang="en-US" sz="1700" dirty="0">
                <a:solidFill>
                  <a:schemeClr val="tx1"/>
                </a:solidFill>
              </a:rPr>
              <a:t> (matching + word search).</a:t>
            </a:r>
            <a:endParaRPr lang="en-US" sz="17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61188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89520" y="356616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Read Exhibit A aloud at home: every time, </a:t>
            </a:r>
            <a:r>
              <a:rPr lang="en-US" sz="1700" b="1" dirty="0">
                <a:solidFill>
                  <a:schemeClr val="tx1"/>
                </a:solidFill>
              </a:rPr>
              <a:t>two ways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461772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589520" y="4572000"/>
            <a:ext cx="3867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Learn the reporting verbs: </a:t>
            </a:r>
            <a:r>
              <a:rPr lang="en-US" sz="1700" b="1" dirty="0">
                <a:solidFill>
                  <a:schemeClr val="tx1"/>
                </a:solidFill>
              </a:rPr>
              <a:t>say, tell, claim, report, confirm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06 — What the log really says</dc:title>
  <dc:subject>Case File 01 — The night nobody heard</dc:subject>
  <dc:creator>A. Jouniaux</dc:creator>
  <cp:lastModifiedBy>A. Jouniaux</cp:lastModifiedBy>
  <cp:revision>1</cp:revision>
  <dcterms:created xsi:type="dcterms:W3CDTF">2026-10-16T09:31:58Z</dcterms:created>
  <dcterms:modified xsi:type="dcterms:W3CDTF">2026-10-16T09:31:58Z</dcterms:modified>
</cp:coreProperties>
</file>