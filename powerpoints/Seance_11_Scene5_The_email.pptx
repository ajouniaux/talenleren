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52faebd-f71d-53be-48b3-bf576a835152}">
          <p14:sldIdLst>
            <p14:sldId id="256"/>
          </p14:sldIdLst>
        </p14:section>
        <p14:section name="Warm-up" id="{e05df367-fc55-1f58-af87-879d29a6a0cc}">
          <p14:sldIdLst>
            <p14:sldId id="257"/>
            <p14:sldId id="258"/>
          </p14:sldIdLst>
        </p14:section>
        <p14:section name="Exhibit B" id="{bb149b2f-cb41-d9fb-96a5-31a327656ca0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he two verb forms" id="{de578905-b43d-f14b-c34f-1b70a7cc33c7}">
          <p14:sldIdLst>
            <p14:sldId id="266"/>
            <p14:sldId id="267"/>
            <p14:sldId id="268"/>
            <p14:sldId id="269"/>
          </p14:sldIdLst>
        </p14:section>
        <p14:section name="E-mail register" id="{568a4f1e-8839-2632-2f67-c6059a59d5e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ôture" id="{bd8cdbb5-1357-406f-636d-5b3f3dc482d9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11 — Scène 5 (10.20), livret p. 23–24 : l’e-mail de Paul Verdier (Exhibit B).
Objectifs : repérer les 7 faux amis et les 2 formes verbales qui placent la soirée dans le mauvais temps ; registre de l’e-mail ; principe déontologique : on corrige l’anglais, pas le contenu.
Nouveautés : tri des expressions par couleur (pont S10) · e-mail dans une fenêtre de messagerie · chasse aux faux amis · cartes « faux amis » · mots croisés · arbre des deux formes verbales (ponts S3, S4–5, S9) · escape game à code · e-mail propre annoté · curseur de formalité · note d’accompagnement à compléter · ENERGIZER ami / faux ami.
Déroulé indicatif (90 min) : warm-up (5') · scène + Exhibit B (10') · chasse aux faux amis (15') · cartes + mots croisés (10') · deux formes verbales (10') · escape game (10') · e-mail propre annoté (5') · registre + boîte à outils (10') · note d’accompagnement (10') · ENERGIZER (5').
Les diapositives GAME, ENERGIZER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du feu tricolore de la séance 10. Faire produire une phrase par expression avec le present perfect : « The estimate has fallen behind.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du feu tricolore de la séance 10. Faire produire une phrase par expression avec le present perfect : « The estimate has fallen behind.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anglais, control = maîtriser, diriger (to control a fire, a budget). Un expert d’assurance qui lit « I have controlled the room » se demandera ce qui a encore été mal traduit.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globale (2 min). Réponses attendues : il dit avoir vérifié l’étage, que tout était sec au départ de l’équipe, que la canalisation est vieille et que ce n’est pas leur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Travail individuel (5 min), puis par deux. Les deux formes verbales (have controlled … yesterday, leaves) sont traitées plus loin : ne pas les corriger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delay of two days = un RETARD de deux jours : en anglais, Verdier écrit le contraire de ce qu’il veut dire (that they ARE late).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faux ami : le sens anglais (en haut, avec un exemple) et le mot que Verdier voulait écrire (en gras). Prononciation : eventually /ɪˈventʃuəli/ · resume /rɪˈzjuːm/ (≠ résumé /ˈrezjumeɪ/).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binôme, 4 minutes. US : summarize. Variante : faire épeler les réponses à voix haute (alphabet, séance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binôme, 4 minutes. US : summarize. Variante : faire épeler les réponses à voix haute (alphabet, séance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équipe écrit son code sur une ardoise. Le piège central est la question 2 : en anglais, « a delay » dit l’inverse de ce que voulait Verdier.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équipe écrit son code sur une ardoise. Le piège central est la question 2 : en anglais, « a delay » dit l’inverse de ce que voulait Verdier.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après l’escape game. Insister : on corrige l’anglais, jamais la position de l’auteur (il continue d’accuser la canalisation).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en binôme puis placement collectif. Accepter des positions voisines : l’important est l’ordre. Yours sincerely : lettre formelle quand on connaît le nom du destinataire (UK).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en binôme puis placement collectif. Accepter des positions voisines : l’important est l’ordre. Yours sincerely : lettre formelle quand on connaît le nom du destinataire (UK).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Écriture guidée. Pont : « has been corrected » = present perfect passif (aperçu de la scène 6). La transparence sur la correction protège le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Écriture guidée. Pont : « has been corrected » = present perfect passif (aperçu de la scène 6). La transparence sur la correction protège le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mots dans le désordre. sensible : faux ami (FR sensible = sensitive), même s’il est correct dans l’e-mail de Verdier.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11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5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10.20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The e-mail you must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not forward as it 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The general contractor defends itself. Poorly, and in broken English.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23–24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0136"/>
            <a:ext cx="5010912" cy="334060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what colour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Put the eight progress expressions back on the traffic light.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225296"/>
          </a:xfrm>
          <a:prstGeom prst="roundRect">
            <a:avLst>
              <a:gd name="adj" fmla="val 597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EXPRESSIONS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752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fall behind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17976" y="2420112"/>
            <a:ext cx="1752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be on track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98592" y="2420112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touch base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80148" y="242011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bottleneck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2644" y="2420112"/>
            <a:ext cx="20497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be up to speed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37360" y="2895600"/>
            <a:ext cx="2545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keep sb in the loop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10456" y="2895600"/>
            <a:ext cx="20497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chase somebody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8252" y="2895600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 be held up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736848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3C7A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736848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GREEN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on track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50080"/>
            <a:ext cx="2622042" cy="1859280"/>
          </a:xfrm>
          <a:prstGeom prst="roundRect">
            <a:avLst>
              <a:gd name="adj" fmla="val 3934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371850" y="3736848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D99A0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63290" y="3736848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AMBER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at risk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371850" y="4450080"/>
            <a:ext cx="2622042" cy="1859280"/>
          </a:xfrm>
          <a:prstGeom prst="roundRect">
            <a:avLst>
              <a:gd name="adj" fmla="val 3934"/>
            </a:avLst>
          </a:prstGeom>
          <a:solidFill>
            <a:srgbClr val="D99A06">
              <a:alpha val="6000"/>
            </a:srgbClr>
          </a:solidFill>
          <a:ln w="12700">
            <a:solidFill>
              <a:srgbClr val="D99A06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6195060" y="3736848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B03A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86500" y="3736848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RED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blocked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95060" y="4450080"/>
            <a:ext cx="2622042" cy="1859280"/>
          </a:xfrm>
          <a:prstGeom prst="roundRect">
            <a:avLst>
              <a:gd name="adj" fmla="val 3934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9018270" y="3736848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109710" y="3736848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ALL DAY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communicate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018270" y="4450080"/>
            <a:ext cx="2622042" cy="1859280"/>
          </a:xfrm>
          <a:prstGeom prst="roundRect">
            <a:avLst>
              <a:gd name="adj" fmla="val 3934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what colour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Put the eight progress expressions back on the traffic light.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3C7A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GREEN  </a:t>
            </a:r>
            <a:r>
              <a:rPr lang="en-US" sz="1200" i="1" dirty="0">
                <a:solidFill>
                  <a:schemeClr val="bg1"/>
                </a:solidFill>
              </a:rPr>
              <a:t>on track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be </a:t>
            </a:r>
            <a:r>
              <a:rPr lang="en-US" sz="1600" b="1" dirty="0">
                <a:solidFill>
                  <a:schemeClr val="tx1"/>
                </a:solidFill>
              </a:rPr>
              <a:t>on track</a:t>
            </a:r>
            <a:r>
              <a:rPr lang="en-US" sz="1600" dirty="0">
                <a:solidFill>
                  <a:schemeClr val="tx1"/>
                </a:solidFill>
              </a:rPr>
              <a:t> — être dans les temps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be </a:t>
            </a:r>
            <a:r>
              <a:rPr lang="en-US" sz="1600" b="1" dirty="0">
                <a:solidFill>
                  <a:schemeClr val="tx1"/>
                </a:solidFill>
              </a:rPr>
              <a:t>up to speed</a:t>
            </a:r>
            <a:r>
              <a:rPr lang="en-US" sz="1600" dirty="0">
                <a:solidFill>
                  <a:schemeClr val="tx1"/>
                </a:solidFill>
              </a:rPr>
              <a:t> — être au courant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7185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D99A0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6329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AMBER  </a:t>
            </a:r>
            <a:r>
              <a:rPr lang="en-US" sz="1200" i="1" dirty="0">
                <a:solidFill>
                  <a:schemeClr val="bg1"/>
                </a:solidFill>
              </a:rPr>
              <a:t>at risk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185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D99A06">
              <a:alpha val="6000"/>
            </a:srgbClr>
          </a:solidFill>
          <a:ln w="12700">
            <a:solidFill>
              <a:srgbClr val="D99A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157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9A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</a:t>
            </a:r>
            <a:r>
              <a:rPr lang="en-US" sz="1600" b="1" dirty="0">
                <a:solidFill>
                  <a:schemeClr val="tx1"/>
                </a:solidFill>
              </a:rPr>
              <a:t>fall behind</a:t>
            </a:r>
            <a:r>
              <a:rPr lang="en-US" sz="1600" dirty="0">
                <a:solidFill>
                  <a:schemeClr val="tx1"/>
                </a:solidFill>
              </a:rPr>
              <a:t> — prendre du retard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8157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9A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</a:t>
            </a:r>
            <a:r>
              <a:rPr lang="en-US" sz="1600" b="1" dirty="0">
                <a:solidFill>
                  <a:schemeClr val="tx1"/>
                </a:solidFill>
              </a:rPr>
              <a:t>chase</a:t>
            </a:r>
            <a:r>
              <a:rPr lang="en-US" sz="1600" dirty="0">
                <a:solidFill>
                  <a:schemeClr val="tx1"/>
                </a:solidFill>
              </a:rPr>
              <a:t> sb — relancer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506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B03A2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8650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RED  </a:t>
            </a:r>
            <a:r>
              <a:rPr lang="en-US" sz="1200" i="1" dirty="0">
                <a:solidFill>
                  <a:schemeClr val="bg1"/>
                </a:solidFill>
              </a:rPr>
              <a:t>blocked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9506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478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>
                <a:solidFill>
                  <a:schemeClr val="tx1"/>
                </a:solidFill>
              </a:rPr>
              <a:t>bottleneck</a:t>
            </a:r>
            <a:r>
              <a:rPr lang="en-US" sz="1600" dirty="0">
                <a:solidFill>
                  <a:schemeClr val="tx1"/>
                </a:solidFill>
              </a:rPr>
              <a:t> — un goulet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0478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be </a:t>
            </a:r>
            <a:r>
              <a:rPr lang="en-US" sz="1600" b="1" dirty="0">
                <a:solidFill>
                  <a:schemeClr val="tx1"/>
                </a:solidFill>
              </a:rPr>
              <a:t>held up</a:t>
            </a:r>
            <a:r>
              <a:rPr lang="en-US" sz="1600" dirty="0">
                <a:solidFill>
                  <a:schemeClr val="tx1"/>
                </a:solidFill>
              </a:rPr>
              <a:t> — être bloqué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1827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0971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ALL DAY  </a:t>
            </a:r>
            <a:r>
              <a:rPr lang="en-US" sz="1200" i="1" dirty="0">
                <a:solidFill>
                  <a:schemeClr val="bg1"/>
                </a:solidFill>
              </a:rPr>
              <a:t>communicate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01827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799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</a:t>
            </a:r>
            <a:r>
              <a:rPr lang="en-US" sz="1600" b="1" dirty="0">
                <a:solidFill>
                  <a:schemeClr val="tx1"/>
                </a:solidFill>
              </a:rPr>
              <a:t>touch base</a:t>
            </a:r>
            <a:r>
              <a:rPr lang="en-US" sz="1600" dirty="0">
                <a:solidFill>
                  <a:schemeClr val="tx1"/>
                </a:solidFill>
              </a:rPr>
              <a:t> — faire un point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2799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keep sb </a:t>
            </a:r>
            <a:r>
              <a:rPr lang="en-US" sz="1600" b="1" dirty="0">
                <a:solidFill>
                  <a:schemeClr val="tx1"/>
                </a:solidFill>
              </a:rPr>
              <a:t>in the loop</a:t>
            </a:r>
            <a:r>
              <a:rPr lang="en-US" sz="1600" dirty="0">
                <a:solidFill>
                  <a:schemeClr val="tx1"/>
                </a:solidFill>
              </a:rPr>
              <a:t> — tenir informé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e-mail you must not forward as it 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23</a:t>
            </a:r>
            <a:endParaRPr lang="en-US" sz="1200" dirty="0"/>
          </a:p>
        </p:txBody>
      </p:sp>
      <p:pic>
        <p:nvPicPr>
          <p:cNvPr id="6" name="illustration" descr="Iris leans over the narrator’s laptop: “Wait — do not forward that yet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5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10.20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Paul Verdier</a:t>
            </a:r>
            <a:r>
              <a:rPr lang="en-US" sz="2000" dirty="0">
                <a:solidFill>
                  <a:schemeClr val="tx1"/>
                </a:solidFill>
              </a:rPr>
              <a:t> runs the cabling team. His English is </a:t>
            </a:r>
            <a:r>
              <a:rPr lang="en-US" sz="2000" i="1" dirty="0">
                <a:solidFill>
                  <a:schemeClr val="tx1"/>
                </a:solidFill>
              </a:rPr>
              <a:t>enthusiastic and unreliable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Mark wants this e-mail forwarded to the insurer </a:t>
            </a:r>
            <a:r>
              <a:rPr lang="en-US" sz="2000" b="1" dirty="0">
                <a:solidFill>
                  <a:schemeClr val="tx1"/>
                </a:solidFill>
              </a:rPr>
              <a:t>within the hour</a:t>
            </a:r>
            <a:r>
              <a:rPr lang="en-US" sz="2000" dirty="0">
                <a:solidFill>
                  <a:schemeClr val="tx1"/>
                </a:solidFill>
              </a:rPr>
              <a:t> — but not in this state.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95160" y="4910328"/>
            <a:ext cx="4645152" cy="1399032"/>
          </a:xfrm>
          <a:prstGeom prst="roundRect">
            <a:avLst>
              <a:gd name="adj" fmla="val 5229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02005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312664"/>
            <a:ext cx="4242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Iris says: </a:t>
            </a:r>
            <a:r>
              <a:rPr lang="en-US" sz="1700" i="1" dirty="0">
                <a:solidFill>
                  <a:schemeClr val="tx1"/>
                </a:solidFill>
              </a:rPr>
              <a:t>“He wrote </a:t>
            </a:r>
            <a:r>
              <a:rPr lang="en-US" sz="1700" b="1" i="1" dirty="0">
                <a:solidFill>
                  <a:schemeClr val="tx1"/>
                </a:solidFill>
              </a:rPr>
              <a:t>controlled</a:t>
            </a:r>
            <a:r>
              <a:rPr lang="en-US" sz="1700" i="1" dirty="0">
                <a:solidFill>
                  <a:schemeClr val="tx1"/>
                </a:solidFill>
              </a:rPr>
              <a:t>. He means </a:t>
            </a:r>
            <a:r>
              <a:rPr lang="en-US" sz="1700" b="1" i="1" dirty="0">
                <a:solidFill>
                  <a:schemeClr val="tx1"/>
                </a:solidFill>
              </a:rPr>
              <a:t>checked</a:t>
            </a:r>
            <a:r>
              <a:rPr lang="en-US" sz="1700" i="1" dirty="0">
                <a:solidFill>
                  <a:schemeClr val="tx1"/>
                </a:solidFill>
              </a:rPr>
              <a:t>.”</a:t>
            </a:r>
            <a:r>
              <a:rPr lang="en-US" sz="1700" dirty="0">
                <a:solidFill>
                  <a:schemeClr val="tx1"/>
                </a:solidFill>
              </a:rPr>
              <a:t> What does </a:t>
            </a:r>
            <a:r>
              <a:rPr lang="en-US" sz="1700" i="1" dirty="0">
                <a:solidFill>
                  <a:schemeClr val="tx1"/>
                </a:solidFill>
              </a:rPr>
              <a:t>control</a:t>
            </a:r>
            <a:r>
              <a:rPr lang="en-US" sz="1700" dirty="0">
                <a:solidFill>
                  <a:schemeClr val="tx1"/>
                </a:solidFill>
              </a:rPr>
              <a:t> mean in English?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Exhibit B — the contractor’s e-mail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First reading — for the </a:t>
            </a:r>
            <a:r>
              <a:rPr lang="en-US" sz="1600" b="1" i="1" dirty="0">
                <a:solidFill>
                  <a:schemeClr val="accent5"/>
                </a:solidFill>
              </a:rPr>
              <a:t>meaning</a:t>
            </a:r>
            <a:r>
              <a:rPr lang="en-US" sz="1600" i="1" dirty="0">
                <a:solidFill>
                  <a:schemeClr val="accent5"/>
                </a:solidFill>
              </a:rPr>
              <a:t>. What does Verdier say about yesterday evening? Whose fault is it, according to him?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received 10.18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Dear Mr Shaw,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have controlled the second floor yesterday evening before we go. Actually, we are still waiting for the humidity report.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of my men will assist the meeting this afternoon if you want. I have demanded them to come.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 have a delay of two days to finish the cabling, so we are not late. Eventually, we can send you our own report.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have resumed our position in three lines below. I don’t think it would be sensible to blame my team: the pipe is old and it is not our work. Everything was dry when my team leaves at 19.58.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Kind regards,   P. Verdier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Hunt the seven false friends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Seven words keep their </a:t>
            </a:r>
            <a:r>
              <a:rPr lang="en-US" sz="1600" b="1" i="1" dirty="0">
                <a:solidFill>
                  <a:schemeClr val="accent5"/>
                </a:solidFill>
              </a:rPr>
              <a:t>French</a:t>
            </a:r>
            <a:r>
              <a:rPr lang="en-US" sz="1600" i="1" dirty="0">
                <a:solidFill>
                  <a:schemeClr val="accent5"/>
                </a:solidFill>
              </a:rPr>
              <a:t> meaning. In the order of the text: verification · time · help · requirement · duration · conclusion · summary.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81072"/>
            <a:ext cx="11091672" cy="382828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48107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75539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61823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261823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0432" y="261823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5816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55648" y="24810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99313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26745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received 10.18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" y="361492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765792" y="253593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B4236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765792" y="2535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 false friends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3724656"/>
            <a:ext cx="10360152" cy="244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Dear Mr Shaw,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have </a:t>
            </a:r>
            <a:r>
              <a:rPr lang="en-US" sz="1400" dirty="0">
                <a:solidFill>
                  <a:schemeClr val="tx1"/>
                </a:solidFill>
              </a:rPr>
              <a:t>controlled</a:t>
            </a:r>
            <a:r>
              <a:rPr lang="en-US" sz="1400" dirty="0">
                <a:solidFill>
                  <a:schemeClr val="tx1"/>
                </a:solidFill>
              </a:rPr>
              <a:t> the second floor yesterday evening before we go. </a:t>
            </a:r>
            <a:r>
              <a:rPr lang="en-US" sz="1400" dirty="0">
                <a:solidFill>
                  <a:schemeClr val="tx1"/>
                </a:solidFill>
              </a:rPr>
              <a:t>Actually</a:t>
            </a:r>
            <a:r>
              <a:rPr lang="en-US" sz="1400" dirty="0">
                <a:solidFill>
                  <a:schemeClr val="tx1"/>
                </a:solidFill>
              </a:rPr>
              <a:t>, we are still waiting for the humidity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Two of my men will </a:t>
            </a:r>
            <a:r>
              <a:rPr lang="en-US" sz="1400" dirty="0">
                <a:solidFill>
                  <a:schemeClr val="tx1"/>
                </a:solidFill>
              </a:rPr>
              <a:t>assist</a:t>
            </a:r>
            <a:r>
              <a:rPr lang="en-US" sz="1400" dirty="0">
                <a:solidFill>
                  <a:schemeClr val="tx1"/>
                </a:solidFill>
              </a:rPr>
              <a:t> the meeting this afternoon if you want. I have </a:t>
            </a:r>
            <a:r>
              <a:rPr lang="en-US" sz="1400" dirty="0">
                <a:solidFill>
                  <a:schemeClr val="tx1"/>
                </a:solidFill>
              </a:rPr>
              <a:t>demanded</a:t>
            </a:r>
            <a:r>
              <a:rPr lang="en-US" sz="1400" dirty="0">
                <a:solidFill>
                  <a:schemeClr val="tx1"/>
                </a:solidFill>
              </a:rPr>
              <a:t> them to come.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have </a:t>
            </a:r>
            <a:r>
              <a:rPr lang="en-US" sz="1400" dirty="0">
                <a:solidFill>
                  <a:schemeClr val="tx1"/>
                </a:solidFill>
              </a:rPr>
              <a:t>a delay of two days</a:t>
            </a:r>
            <a:r>
              <a:rPr lang="en-US" sz="1400" dirty="0">
                <a:solidFill>
                  <a:schemeClr val="tx1"/>
                </a:solidFill>
              </a:rPr>
              <a:t> to finish the cabling, so we are not late. </a:t>
            </a:r>
            <a:r>
              <a:rPr lang="en-US" sz="1400" dirty="0">
                <a:solidFill>
                  <a:schemeClr val="tx1"/>
                </a:solidFill>
              </a:rPr>
              <a:t>Eventually</a:t>
            </a:r>
            <a:r>
              <a:rPr lang="en-US" sz="1400" dirty="0">
                <a:solidFill>
                  <a:schemeClr val="tx1"/>
                </a:solidFill>
              </a:rPr>
              <a:t>, we can send you our own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have </a:t>
            </a:r>
            <a:r>
              <a:rPr lang="en-US" sz="1400" dirty="0">
                <a:solidFill>
                  <a:schemeClr val="tx1"/>
                </a:solidFill>
              </a:rPr>
              <a:t>resumed</a:t>
            </a:r>
            <a:r>
              <a:rPr lang="en-US" sz="1400" dirty="0">
                <a:solidFill>
                  <a:schemeClr val="tx1"/>
                </a:solidFill>
              </a:rPr>
              <a:t> our position in three lines below. I don’t think it would be sensible to blame my team: the pipe is old and it is not our work. Everything was dry when my team leaves at 19.58.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Kind regards,   P. Verdier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Hunt the seven false friends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Change the </a:t>
            </a:r>
            <a:r>
              <a:rPr lang="en-US" sz="1600" b="1" i="1" dirty="0">
                <a:solidFill>
                  <a:schemeClr val="accent5"/>
                </a:solidFill>
              </a:rPr>
              <a:t>words</a:t>
            </a:r>
            <a:r>
              <a:rPr lang="en-US" sz="1600" i="1" dirty="0">
                <a:solidFill>
                  <a:schemeClr val="accent5"/>
                </a:solidFill>
              </a:rPr>
              <a:t>, never the </a:t>
            </a:r>
            <a:r>
              <a:rPr lang="en-US" sz="1600" b="1" i="1" dirty="0">
                <a:solidFill>
                  <a:schemeClr val="accent5"/>
                </a:solidFill>
              </a:rPr>
              <a:t>position</a:t>
            </a:r>
            <a:r>
              <a:rPr lang="en-US" sz="1600" i="1" dirty="0">
                <a:solidFill>
                  <a:schemeClr val="accent5"/>
                </a:solidFill>
              </a:rPr>
              <a:t> of the author. </a:t>
            </a:r>
            <a:r>
              <a:rPr lang="en-US" sz="1600" i="1" dirty="0">
                <a:solidFill>
                  <a:schemeClr val="accent5"/>
                </a:solidFill>
              </a:rPr>
              <a:t>sensible</a:t>
            </a:r>
            <a:r>
              <a:rPr lang="en-US" sz="1600" i="1" dirty="0">
                <a:solidFill>
                  <a:schemeClr val="accent5"/>
                </a:solidFill>
              </a:rPr>
              <a:t> = raisonnable: correct — don’t touch it!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received 10.18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65792" y="229209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3C7A3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765792" y="2292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7 words fixed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Dear Mr Shaw,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have </a:t>
            </a:r>
            <a:r>
              <a:rPr lang="en-US" sz="1400" strike="sngStrike" dirty="0">
                <a:solidFill>
                  <a:schemeClr val="accent6"/>
                </a:solidFill>
              </a:rPr>
              <a:t>controlled</a:t>
            </a:r>
            <a:r>
              <a:rPr lang="en-US" sz="1400" b="1" dirty="0">
                <a:solidFill>
                  <a:schemeClr val="accent3"/>
                </a:solidFill>
              </a:rPr>
              <a:t> checked</a:t>
            </a:r>
            <a:r>
              <a:rPr lang="en-US" sz="1400" dirty="0">
                <a:solidFill>
                  <a:schemeClr val="tx1"/>
                </a:solidFill>
              </a:rPr>
              <a:t> the second floor yesterday evening before we go. </a:t>
            </a:r>
            <a:r>
              <a:rPr lang="en-US" sz="1400" strike="sngStrike" dirty="0">
                <a:solidFill>
                  <a:schemeClr val="accent6"/>
                </a:solidFill>
              </a:rPr>
              <a:t>Actually</a:t>
            </a:r>
            <a:r>
              <a:rPr lang="en-US" sz="1400" b="1" dirty="0">
                <a:solidFill>
                  <a:schemeClr val="accent3"/>
                </a:solidFill>
              </a:rPr>
              <a:t> Currently</a:t>
            </a:r>
            <a:r>
              <a:rPr lang="en-US" sz="1400" dirty="0">
                <a:solidFill>
                  <a:schemeClr val="tx1"/>
                </a:solidFill>
              </a:rPr>
              <a:t>, we are still waiting for the humidity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Two of my men will </a:t>
            </a:r>
            <a:r>
              <a:rPr lang="en-US" sz="1400" strike="sngStrike" dirty="0">
                <a:solidFill>
                  <a:schemeClr val="accent6"/>
                </a:solidFill>
              </a:rPr>
              <a:t>assist</a:t>
            </a:r>
            <a:r>
              <a:rPr lang="en-US" sz="1400" b="1" dirty="0">
                <a:solidFill>
                  <a:schemeClr val="accent3"/>
                </a:solidFill>
              </a:rPr>
              <a:t> attend</a:t>
            </a:r>
            <a:r>
              <a:rPr lang="en-US" sz="1400" dirty="0">
                <a:solidFill>
                  <a:schemeClr val="tx1"/>
                </a:solidFill>
              </a:rPr>
              <a:t> the meeting this afternoon if you want. I have </a:t>
            </a:r>
            <a:r>
              <a:rPr lang="en-US" sz="1400" strike="sngStrike" dirty="0">
                <a:solidFill>
                  <a:schemeClr val="accent6"/>
                </a:solidFill>
              </a:rPr>
              <a:t>demanded</a:t>
            </a:r>
            <a:r>
              <a:rPr lang="en-US" sz="1400" b="1" dirty="0">
                <a:solidFill>
                  <a:schemeClr val="accent3"/>
                </a:solidFill>
              </a:rPr>
              <a:t> asked</a:t>
            </a:r>
            <a:r>
              <a:rPr lang="en-US" sz="1400" dirty="0">
                <a:solidFill>
                  <a:schemeClr val="tx1"/>
                </a:solidFill>
              </a:rPr>
              <a:t> them to come.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have </a:t>
            </a:r>
            <a:r>
              <a:rPr lang="en-US" sz="1400" strike="sngStrike" dirty="0">
                <a:solidFill>
                  <a:schemeClr val="accent6"/>
                </a:solidFill>
              </a:rPr>
              <a:t>a delay of two days</a:t>
            </a:r>
            <a:r>
              <a:rPr lang="en-US" sz="1400" b="1" dirty="0">
                <a:solidFill>
                  <a:schemeClr val="accent3"/>
                </a:solidFill>
              </a:rPr>
              <a:t> two days left</a:t>
            </a:r>
            <a:r>
              <a:rPr lang="en-US" sz="1400" dirty="0">
                <a:solidFill>
                  <a:schemeClr val="tx1"/>
                </a:solidFill>
              </a:rPr>
              <a:t> to finish the cabling, so we are not late. </a:t>
            </a:r>
            <a:r>
              <a:rPr lang="en-US" sz="1400" strike="sngStrike" dirty="0">
                <a:solidFill>
                  <a:schemeClr val="accent6"/>
                </a:solidFill>
              </a:rPr>
              <a:t>Eventually</a:t>
            </a:r>
            <a:r>
              <a:rPr lang="en-US" sz="1400" b="1" dirty="0">
                <a:solidFill>
                  <a:schemeClr val="accent3"/>
                </a:solidFill>
              </a:rPr>
              <a:t> If necessary</a:t>
            </a:r>
            <a:r>
              <a:rPr lang="en-US" sz="1400" dirty="0">
                <a:solidFill>
                  <a:schemeClr val="tx1"/>
                </a:solidFill>
              </a:rPr>
              <a:t>, we can send you our own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have </a:t>
            </a:r>
            <a:r>
              <a:rPr lang="en-US" sz="1400" strike="sngStrike" dirty="0">
                <a:solidFill>
                  <a:schemeClr val="accent6"/>
                </a:solidFill>
              </a:rPr>
              <a:t>resumed</a:t>
            </a:r>
            <a:r>
              <a:rPr lang="en-US" sz="1400" b="1" dirty="0">
                <a:solidFill>
                  <a:schemeClr val="accent3"/>
                </a:solidFill>
              </a:rPr>
              <a:t> summarised</a:t>
            </a:r>
            <a:r>
              <a:rPr lang="en-US" sz="1400" dirty="0">
                <a:solidFill>
                  <a:schemeClr val="tx1"/>
                </a:solidFill>
              </a:rPr>
              <a:t> our position in three lines below. I don’t think it would be sensible to blame my team: the pipe is old and it is not our work. Everything was dry when my team leaves at 19.58.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Kind regards,   P. Verdier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Seven false friends — and one true 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 &amp; 26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contrôler → </a:t>
            </a:r>
            <a:r>
              <a:rPr lang="en-US" sz="1500" b="1" dirty="0">
                <a:solidFill>
                  <a:schemeClr val="accent5"/>
                </a:solidFill>
              </a:rPr>
              <a:t>check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980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 control = maîtriser: </a:t>
            </a:r>
            <a:r>
              <a:rPr lang="en-US" sz="1400" i="1" dirty="0">
                <a:solidFill>
                  <a:schemeClr val="tx1"/>
                </a:solidFill>
              </a:rPr>
              <a:t>to control a fire, a budget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7185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7301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7301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actually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57301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actuellement → </a:t>
            </a:r>
            <a:r>
              <a:rPr lang="en-US" sz="1500" b="1" dirty="0">
                <a:solidFill>
                  <a:schemeClr val="accent5"/>
                </a:solidFill>
              </a:rPr>
              <a:t>currently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57301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7301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actually = en fait: </a:t>
            </a:r>
            <a:r>
              <a:rPr lang="en-US" sz="1400" i="1" dirty="0">
                <a:solidFill>
                  <a:schemeClr val="tx1"/>
                </a:solidFill>
              </a:rPr>
              <a:t>Actually, the pipe is new.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9506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622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9622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assist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39622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assister à → </a:t>
            </a:r>
            <a:r>
              <a:rPr lang="en-US" sz="1500" b="1" dirty="0">
                <a:solidFill>
                  <a:schemeClr val="accent5"/>
                </a:solidFill>
              </a:rPr>
              <a:t>attend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9622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9622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 assist = aider: </a:t>
            </a:r>
            <a:r>
              <a:rPr lang="en-US" sz="1400" i="1" dirty="0">
                <a:solidFill>
                  <a:schemeClr val="tx1"/>
                </a:solidFill>
              </a:rPr>
              <a:t>Two men will assist the plumber.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01827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1943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1943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demand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921943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demander → </a:t>
            </a:r>
            <a:r>
              <a:rPr lang="en-US" sz="1500" b="1" dirty="0">
                <a:solidFill>
                  <a:schemeClr val="accent5"/>
                </a:solidFill>
              </a:rPr>
              <a:t>ask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21943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1943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 demand = exiger: </a:t>
            </a:r>
            <a:r>
              <a:rPr lang="en-US" sz="1400" i="1" dirty="0">
                <a:solidFill>
                  <a:schemeClr val="tx1"/>
                </a:solidFill>
              </a:rPr>
              <a:t>The insurer demands a report.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4980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delay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un délai → </a:t>
            </a:r>
            <a:r>
              <a:rPr lang="en-US" sz="1500" b="1" dirty="0">
                <a:solidFill>
                  <a:schemeClr val="accent5"/>
                </a:solidFill>
              </a:rPr>
              <a:t>a deadline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4980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delay = un retard: </a:t>
            </a:r>
            <a:r>
              <a:rPr lang="en-US" sz="1400" i="1" dirty="0">
                <a:solidFill>
                  <a:schemeClr val="tx1"/>
                </a:solidFill>
              </a:rPr>
              <a:t>a delay of two days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37185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7301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57301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eventually</a:t>
            </a:r>
            <a:endParaRPr lang="en-US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357301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éventuellement → </a:t>
            </a:r>
            <a:r>
              <a:rPr lang="en-US" sz="1500" b="1" dirty="0">
                <a:solidFill>
                  <a:schemeClr val="accent5"/>
                </a:solidFill>
              </a:rPr>
              <a:t>possibly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357301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57301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eventually = finalement: </a:t>
            </a:r>
            <a:r>
              <a:rPr lang="en-US" sz="1400" i="1" dirty="0">
                <a:solidFill>
                  <a:schemeClr val="tx1"/>
                </a:solidFill>
              </a:rPr>
              <a:t>It eventually stopped.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19506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9622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FALSE FRIEND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39622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resume</a:t>
            </a:r>
            <a:endParaRPr lang="en-US" sz="3000" dirty="0"/>
          </a:p>
        </p:txBody>
      </p:sp>
      <p:sp>
        <p:nvSpPr>
          <p:cNvPr id="45" name="Text 42"/>
          <p:cNvSpPr txBox="1"/>
          <p:nvPr/>
        </p:nvSpPr>
        <p:spPr>
          <a:xfrm>
            <a:off x="639622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≠ résumer → </a:t>
            </a:r>
            <a:r>
              <a:rPr lang="en-US" sz="1500" b="1" dirty="0">
                <a:solidFill>
                  <a:schemeClr val="accent5"/>
                </a:solidFill>
              </a:rPr>
              <a:t>summarise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39622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9622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 resume = reprendre: </a:t>
            </a:r>
            <a:r>
              <a:rPr lang="en-US" sz="1400" i="1" dirty="0">
                <a:solidFill>
                  <a:schemeClr val="tx1"/>
                </a:solidFill>
              </a:rPr>
              <a:t>Work will resume on Monday.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901827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1943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⚠ </a:t>
            </a:r>
            <a:r>
              <a:rPr lang="en-US" sz="1200" b="1" spc="150" kern="0" dirty="0">
                <a:solidFill>
                  <a:schemeClr val="accent1"/>
                </a:solidFill>
              </a:rPr>
              <a:t>TRUE FRIEND HERE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921943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sensible</a:t>
            </a:r>
            <a:endParaRPr lang="en-US" sz="3000" dirty="0"/>
          </a:p>
        </p:txBody>
      </p:sp>
      <p:sp>
        <p:nvSpPr>
          <p:cNvPr id="51" name="Text 48"/>
          <p:cNvSpPr txBox="1"/>
          <p:nvPr/>
        </p:nvSpPr>
        <p:spPr>
          <a:xfrm>
            <a:off x="921943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= raisonnable — keep it!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9219438" y="5481828"/>
            <a:ext cx="2219706" cy="0"/>
          </a:xfrm>
          <a:prstGeom prst="line">
            <a:avLst/>
          </a:prstGeom>
          <a:noFill/>
          <a:ln w="9525">
            <a:solidFill>
              <a:srgbClr val="C0752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21943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sensible</a:t>
            </a:r>
            <a:r>
              <a:rPr lang="en-US" sz="1400" dirty="0">
                <a:solidFill>
                  <a:schemeClr val="tx1"/>
                </a:solidFill>
              </a:rPr>
              <a:t> (FR) → </a:t>
            </a:r>
            <a:r>
              <a:rPr lang="en-US" sz="1400" b="1" dirty="0">
                <a:solidFill>
                  <a:schemeClr val="tx1"/>
                </a:solidFill>
              </a:rPr>
              <a:t>sensitive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Crossword: what Verdier meant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clue quotes Verdier. Write the word he </a:t>
            </a:r>
            <a:r>
              <a:rPr lang="en-US" sz="1600" b="1" i="1" dirty="0">
                <a:solidFill>
                  <a:schemeClr val="accent5"/>
                </a:solidFill>
              </a:rPr>
              <a:t>meant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02736" y="223723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30168" y="224637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02736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325526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2736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02736" y="4273296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2736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02736" y="529132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2736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8800" y="223723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6232" y="224637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38800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8800" y="325526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38800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8800" y="4273296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38800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38800" y="529132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38800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84704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12136" y="2755392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093720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1752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20768" y="274624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57656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85088" y="3773424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566672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75688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84704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93720" y="3764280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4273296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76072" y="4282440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8640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76072" y="479145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8640" y="5291328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57656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566672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75688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584704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093720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1752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20768" y="4782312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566672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594104" y="5809488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7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075688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584704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093720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11752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620768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129784" y="5800344"/>
            <a:ext cx="509016" cy="509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59296" y="2237232"/>
            <a:ext cx="508101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rgbClr val="B4236A"/>
                </a:solidFill>
              </a:rPr>
              <a:t>ACROSS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r>
              <a:rPr lang="en-US" sz="1600" i="1" dirty="0">
                <a:solidFill>
                  <a:schemeClr val="tx1"/>
                </a:solidFill>
              </a:rPr>
              <a:t>I have controlled the floor</a:t>
            </a:r>
            <a:r>
              <a:rPr lang="en-US" sz="1600" dirty="0">
                <a:solidFill>
                  <a:schemeClr val="tx1"/>
                </a:solidFill>
              </a:rPr>
              <a:t> → I …ed it</a:t>
            </a:r>
            <a:r>
              <a:rPr lang="en-US" sz="1600" dirty="0">
                <a:solidFill>
                  <a:schemeClr val="accent5"/>
                </a:solidFill>
              </a:rPr>
              <a:t>  (5)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r>
              <a:rPr lang="en-US" sz="1600" i="1" dirty="0">
                <a:solidFill>
                  <a:schemeClr val="tx1"/>
                </a:solidFill>
              </a:rPr>
              <a:t>will assist the meeting</a:t>
            </a:r>
            <a:r>
              <a:rPr lang="en-US" sz="1600" dirty="0">
                <a:solidFill>
                  <a:schemeClr val="tx1"/>
                </a:solidFill>
              </a:rPr>
              <a:t> → will … it</a:t>
            </a:r>
            <a:r>
              <a:rPr lang="en-US" sz="1600" dirty="0">
                <a:solidFill>
                  <a:schemeClr val="accent5"/>
                </a:solidFill>
              </a:rPr>
              <a:t>  (6)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r>
              <a:rPr lang="en-US" sz="1600" i="1" dirty="0">
                <a:solidFill>
                  <a:schemeClr val="tx1"/>
                </a:solidFill>
              </a:rPr>
              <a:t>I have resumed our position</a:t>
            </a:r>
            <a:r>
              <a:rPr lang="en-US" sz="1600" dirty="0">
                <a:solidFill>
                  <a:schemeClr val="tx1"/>
                </a:solidFill>
              </a:rPr>
              <a:t> → I have …d it (UK)</a:t>
            </a:r>
            <a:r>
              <a:rPr lang="en-US" sz="1600" dirty="0">
                <a:solidFill>
                  <a:schemeClr val="accent5"/>
                </a:solidFill>
              </a:rPr>
              <a:t>  (9)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r>
              <a:rPr lang="en-US" sz="1600" i="1" dirty="0">
                <a:solidFill>
                  <a:schemeClr val="tx1"/>
                </a:solidFill>
              </a:rPr>
              <a:t>Actually, we are still waiting</a:t>
            </a:r>
            <a:r>
              <a:rPr lang="en-US" sz="1600" dirty="0">
                <a:solidFill>
                  <a:schemeClr val="tx1"/>
                </a:solidFill>
              </a:rPr>
              <a:t> → …, we are waiting</a:t>
            </a:r>
            <a:r>
              <a:rPr lang="en-US" sz="1600" dirty="0">
                <a:solidFill>
                  <a:schemeClr val="accent5"/>
                </a:solidFill>
              </a:rPr>
              <a:t>  (9)</a:t>
            </a:r>
            <a:endParaRPr lang="en-US" sz="1600" dirty="0"/>
          </a:p>
          <a:p>
            <a:pPr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rgbClr val="B4236A"/>
                </a:solidFill>
              </a:rPr>
              <a:t>DOWN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r>
              <a:rPr lang="en-US" sz="1600" i="1" dirty="0">
                <a:solidFill>
                  <a:schemeClr val="tx1"/>
                </a:solidFill>
              </a:rPr>
              <a:t>a delay of two days</a:t>
            </a:r>
            <a:r>
              <a:rPr lang="en-US" sz="1600" dirty="0">
                <a:solidFill>
                  <a:schemeClr val="tx1"/>
                </a:solidFill>
              </a:rPr>
              <a:t> → a time limit: a …</a:t>
            </a:r>
            <a:r>
              <a:rPr lang="en-US" sz="1600" dirty="0">
                <a:solidFill>
                  <a:schemeClr val="accent5"/>
                </a:solidFill>
              </a:rPr>
              <a:t>  (8)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r>
              <a:rPr lang="en-US" sz="1600" i="1" dirty="0">
                <a:solidFill>
                  <a:schemeClr val="tx1"/>
                </a:solidFill>
              </a:rPr>
              <a:t>Eventually, we can send…</a:t>
            </a:r>
            <a:r>
              <a:rPr lang="en-US" sz="1600" dirty="0">
                <a:solidFill>
                  <a:schemeClr val="tx1"/>
                </a:solidFill>
              </a:rPr>
              <a:t> → if necessary, or …</a:t>
            </a:r>
            <a:r>
              <a:rPr lang="en-US" sz="1600" dirty="0">
                <a:solidFill>
                  <a:schemeClr val="accent5"/>
                </a:solidFill>
              </a:rPr>
              <a:t>  (8)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r>
              <a:rPr lang="en-US" sz="1600" i="1" dirty="0">
                <a:solidFill>
                  <a:schemeClr val="tx1"/>
                </a:solidFill>
              </a:rPr>
              <a:t>I have demanded them to come</a:t>
            </a:r>
            <a:r>
              <a:rPr lang="en-US" sz="1600" dirty="0">
                <a:solidFill>
                  <a:schemeClr val="tx1"/>
                </a:solidFill>
              </a:rPr>
              <a:t> → I have …ed them</a:t>
            </a:r>
            <a:r>
              <a:rPr lang="en-US" sz="1600" dirty="0">
                <a:solidFill>
                  <a:schemeClr val="accent5"/>
                </a:solidFill>
              </a:rPr>
              <a:t>  (3)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Crossword: what Verdier meant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clue quotes Verdier. Write the word he </a:t>
            </a:r>
            <a:r>
              <a:rPr lang="en-US" sz="1600" b="1" i="1" dirty="0">
                <a:solidFill>
                  <a:schemeClr val="accent5"/>
                </a:solidFill>
              </a:rPr>
              <a:t>meant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02736" y="223723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0168" y="224637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602736" y="226268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D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3602736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02736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3602736" y="325526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2736" y="328071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3602736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02736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D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3602736" y="4273296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02736" y="4298747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3602736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02736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I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3602736" y="529132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02736" y="531677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3602736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02736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E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638800" y="223723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6232" y="224637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638800" y="226268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P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5638800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38800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O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5638800" y="325526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38800" y="328071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S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5638800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38800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S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5638800" y="4273296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38800" y="4298747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I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5638800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38800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B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5638800" y="529132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38800" y="531677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5638800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38800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Y</a:t>
            </a:r>
            <a:endParaRPr lang="en-US" sz="1900" dirty="0"/>
          </a:p>
        </p:txBody>
      </p:sp>
      <p:sp>
        <p:nvSpPr>
          <p:cNvPr id="42" name="Shape 39"/>
          <p:cNvSpPr/>
          <p:nvPr/>
        </p:nvSpPr>
        <p:spPr>
          <a:xfrm>
            <a:off x="2584704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612136" y="2755392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3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2584704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</a:t>
            </a:r>
            <a:endParaRPr lang="en-US" sz="1900" dirty="0"/>
          </a:p>
        </p:txBody>
      </p:sp>
      <p:sp>
        <p:nvSpPr>
          <p:cNvPr id="45" name="Shape 42"/>
          <p:cNvSpPr/>
          <p:nvPr/>
        </p:nvSpPr>
        <p:spPr>
          <a:xfrm>
            <a:off x="3093720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093720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H</a:t>
            </a:r>
            <a:endParaRPr lang="en-US" sz="1900" dirty="0"/>
          </a:p>
        </p:txBody>
      </p:sp>
      <p:sp>
        <p:nvSpPr>
          <p:cNvPr id="47" name="Shape 44"/>
          <p:cNvSpPr/>
          <p:nvPr/>
        </p:nvSpPr>
        <p:spPr>
          <a:xfrm>
            <a:off x="4111752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111752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</a:t>
            </a:r>
            <a:endParaRPr lang="en-US" sz="1900" dirty="0"/>
          </a:p>
        </p:txBody>
      </p:sp>
      <p:sp>
        <p:nvSpPr>
          <p:cNvPr id="49" name="Shape 46"/>
          <p:cNvSpPr/>
          <p:nvPr/>
        </p:nvSpPr>
        <p:spPr>
          <a:xfrm>
            <a:off x="4620768" y="274624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620768" y="277169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K</a:t>
            </a:r>
            <a:endParaRPr lang="en-US" sz="1900" dirty="0"/>
          </a:p>
        </p:txBody>
      </p:sp>
      <p:sp>
        <p:nvSpPr>
          <p:cNvPr id="51" name="Shape 48"/>
          <p:cNvSpPr/>
          <p:nvPr/>
        </p:nvSpPr>
        <p:spPr>
          <a:xfrm>
            <a:off x="1057656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85088" y="3773424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057656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</a:t>
            </a:r>
            <a:endParaRPr lang="en-US" sz="1900" dirty="0"/>
          </a:p>
        </p:txBody>
      </p:sp>
      <p:sp>
        <p:nvSpPr>
          <p:cNvPr id="54" name="Shape 51"/>
          <p:cNvSpPr/>
          <p:nvPr/>
        </p:nvSpPr>
        <p:spPr>
          <a:xfrm>
            <a:off x="1566672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566672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T</a:t>
            </a:r>
            <a:endParaRPr lang="en-US" sz="1900" dirty="0"/>
          </a:p>
        </p:txBody>
      </p:sp>
      <p:sp>
        <p:nvSpPr>
          <p:cNvPr id="56" name="Shape 53"/>
          <p:cNvSpPr/>
          <p:nvPr/>
        </p:nvSpPr>
        <p:spPr>
          <a:xfrm>
            <a:off x="2075688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075688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T</a:t>
            </a:r>
            <a:endParaRPr lang="en-US" sz="1900" dirty="0"/>
          </a:p>
        </p:txBody>
      </p:sp>
      <p:sp>
        <p:nvSpPr>
          <p:cNvPr id="58" name="Shape 55"/>
          <p:cNvSpPr/>
          <p:nvPr/>
        </p:nvSpPr>
        <p:spPr>
          <a:xfrm>
            <a:off x="2584704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584704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E</a:t>
            </a:r>
            <a:endParaRPr lang="en-US" sz="1900" dirty="0"/>
          </a:p>
        </p:txBody>
      </p:sp>
      <p:sp>
        <p:nvSpPr>
          <p:cNvPr id="60" name="Shape 57"/>
          <p:cNvSpPr/>
          <p:nvPr/>
        </p:nvSpPr>
        <p:spPr>
          <a:xfrm>
            <a:off x="3093720" y="3764280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093720" y="3789731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</a:t>
            </a:r>
            <a:endParaRPr lang="en-US" sz="1900" dirty="0"/>
          </a:p>
        </p:txBody>
      </p:sp>
      <p:sp>
        <p:nvSpPr>
          <p:cNvPr id="62" name="Shape 59"/>
          <p:cNvSpPr/>
          <p:nvPr/>
        </p:nvSpPr>
        <p:spPr>
          <a:xfrm>
            <a:off x="548640" y="4273296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76072" y="4282440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5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4298747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</a:t>
            </a:r>
            <a:endParaRPr lang="en-US" sz="1900" dirty="0"/>
          </a:p>
        </p:txBody>
      </p:sp>
      <p:sp>
        <p:nvSpPr>
          <p:cNvPr id="65" name="Shape 62"/>
          <p:cNvSpPr/>
          <p:nvPr/>
        </p:nvSpPr>
        <p:spPr>
          <a:xfrm>
            <a:off x="548640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76072" y="4791456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S</a:t>
            </a:r>
            <a:endParaRPr lang="en-US" sz="1900" dirty="0"/>
          </a:p>
        </p:txBody>
      </p:sp>
      <p:sp>
        <p:nvSpPr>
          <p:cNvPr id="68" name="Shape 65"/>
          <p:cNvSpPr/>
          <p:nvPr/>
        </p:nvSpPr>
        <p:spPr>
          <a:xfrm>
            <a:off x="548640" y="5291328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48640" y="5316779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K</a:t>
            </a:r>
            <a:endParaRPr lang="en-US" sz="1900" dirty="0"/>
          </a:p>
        </p:txBody>
      </p:sp>
      <p:sp>
        <p:nvSpPr>
          <p:cNvPr id="70" name="Shape 67"/>
          <p:cNvSpPr/>
          <p:nvPr/>
        </p:nvSpPr>
        <p:spPr>
          <a:xfrm>
            <a:off x="1057656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57656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U</a:t>
            </a:r>
            <a:endParaRPr lang="en-US" sz="1900" dirty="0"/>
          </a:p>
        </p:txBody>
      </p:sp>
      <p:sp>
        <p:nvSpPr>
          <p:cNvPr id="72" name="Shape 69"/>
          <p:cNvSpPr/>
          <p:nvPr/>
        </p:nvSpPr>
        <p:spPr>
          <a:xfrm>
            <a:off x="1566672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566672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M</a:t>
            </a:r>
            <a:endParaRPr lang="en-US" sz="1900" dirty="0"/>
          </a:p>
        </p:txBody>
      </p:sp>
      <p:sp>
        <p:nvSpPr>
          <p:cNvPr id="74" name="Shape 71"/>
          <p:cNvSpPr/>
          <p:nvPr/>
        </p:nvSpPr>
        <p:spPr>
          <a:xfrm>
            <a:off x="2075688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2075688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M</a:t>
            </a:r>
            <a:endParaRPr lang="en-US" sz="1900" dirty="0"/>
          </a:p>
        </p:txBody>
      </p:sp>
      <p:sp>
        <p:nvSpPr>
          <p:cNvPr id="76" name="Shape 73"/>
          <p:cNvSpPr/>
          <p:nvPr/>
        </p:nvSpPr>
        <p:spPr>
          <a:xfrm>
            <a:off x="2584704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584704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</a:t>
            </a:r>
            <a:endParaRPr lang="en-US" sz="1900" dirty="0"/>
          </a:p>
        </p:txBody>
      </p:sp>
      <p:sp>
        <p:nvSpPr>
          <p:cNvPr id="78" name="Shape 75"/>
          <p:cNvSpPr/>
          <p:nvPr/>
        </p:nvSpPr>
        <p:spPr>
          <a:xfrm>
            <a:off x="3093720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3093720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R</a:t>
            </a:r>
            <a:endParaRPr lang="en-US" sz="1900" dirty="0"/>
          </a:p>
        </p:txBody>
      </p:sp>
      <p:sp>
        <p:nvSpPr>
          <p:cNvPr id="80" name="Shape 77"/>
          <p:cNvSpPr/>
          <p:nvPr/>
        </p:nvSpPr>
        <p:spPr>
          <a:xfrm>
            <a:off x="4111752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4111752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S</a:t>
            </a:r>
            <a:endParaRPr lang="en-US" sz="1900" dirty="0"/>
          </a:p>
        </p:txBody>
      </p:sp>
      <p:sp>
        <p:nvSpPr>
          <p:cNvPr id="82" name="Shape 79"/>
          <p:cNvSpPr/>
          <p:nvPr/>
        </p:nvSpPr>
        <p:spPr>
          <a:xfrm>
            <a:off x="4620768" y="4782312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620768" y="4807763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E</a:t>
            </a:r>
            <a:endParaRPr lang="en-US" sz="1900" dirty="0"/>
          </a:p>
        </p:txBody>
      </p:sp>
      <p:sp>
        <p:nvSpPr>
          <p:cNvPr id="84" name="Shape 81"/>
          <p:cNvSpPr/>
          <p:nvPr/>
        </p:nvSpPr>
        <p:spPr>
          <a:xfrm>
            <a:off x="1566672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594104" y="5809488"/>
            <a:ext cx="254508" cy="17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7</a:t>
            </a:r>
            <a:endParaRPr lang="en-US" sz="900" dirty="0"/>
          </a:p>
        </p:txBody>
      </p:sp>
      <p:sp>
        <p:nvSpPr>
          <p:cNvPr id="86" name="Text 83"/>
          <p:cNvSpPr txBox="1"/>
          <p:nvPr/>
        </p:nvSpPr>
        <p:spPr>
          <a:xfrm>
            <a:off x="1566672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</a:t>
            </a:r>
            <a:endParaRPr lang="en-US" sz="1900" dirty="0"/>
          </a:p>
        </p:txBody>
      </p:sp>
      <p:sp>
        <p:nvSpPr>
          <p:cNvPr id="87" name="Shape 84"/>
          <p:cNvSpPr/>
          <p:nvPr/>
        </p:nvSpPr>
        <p:spPr>
          <a:xfrm>
            <a:off x="2075688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075688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U</a:t>
            </a:r>
            <a:endParaRPr lang="en-US" sz="1900" dirty="0"/>
          </a:p>
        </p:txBody>
      </p:sp>
      <p:sp>
        <p:nvSpPr>
          <p:cNvPr id="89" name="Shape 86"/>
          <p:cNvSpPr/>
          <p:nvPr/>
        </p:nvSpPr>
        <p:spPr>
          <a:xfrm>
            <a:off x="2584704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584704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R</a:t>
            </a:r>
            <a:endParaRPr lang="en-US" sz="1900" dirty="0"/>
          </a:p>
        </p:txBody>
      </p:sp>
      <p:sp>
        <p:nvSpPr>
          <p:cNvPr id="91" name="Shape 88"/>
          <p:cNvSpPr/>
          <p:nvPr/>
        </p:nvSpPr>
        <p:spPr>
          <a:xfrm>
            <a:off x="3093720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093720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R</a:t>
            </a:r>
            <a:endParaRPr lang="en-US" sz="1900" dirty="0"/>
          </a:p>
        </p:txBody>
      </p:sp>
      <p:sp>
        <p:nvSpPr>
          <p:cNvPr id="93" name="Shape 90"/>
          <p:cNvSpPr/>
          <p:nvPr/>
        </p:nvSpPr>
        <p:spPr>
          <a:xfrm>
            <a:off x="4111752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111752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</a:t>
            </a:r>
            <a:endParaRPr lang="en-US" sz="1900" dirty="0"/>
          </a:p>
        </p:txBody>
      </p:sp>
      <p:sp>
        <p:nvSpPr>
          <p:cNvPr id="95" name="Shape 92"/>
          <p:cNvSpPr/>
          <p:nvPr/>
        </p:nvSpPr>
        <p:spPr>
          <a:xfrm>
            <a:off x="4620768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4620768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T</a:t>
            </a:r>
            <a:endParaRPr lang="en-US" sz="1900" dirty="0"/>
          </a:p>
        </p:txBody>
      </p:sp>
      <p:sp>
        <p:nvSpPr>
          <p:cNvPr id="97" name="Shape 94"/>
          <p:cNvSpPr/>
          <p:nvPr/>
        </p:nvSpPr>
        <p:spPr>
          <a:xfrm>
            <a:off x="5129784" y="5800344"/>
            <a:ext cx="509016" cy="509016"/>
          </a:xfrm>
          <a:prstGeom prst="rect">
            <a:avLst/>
          </a:prstGeom>
          <a:solidFill>
            <a:srgbClr val="EEF6EC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129784" y="5825795"/>
            <a:ext cx="50901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</a:t>
            </a:r>
            <a:endParaRPr lang="en-US" sz="1900" dirty="0"/>
          </a:p>
        </p:txBody>
      </p:sp>
      <p:sp>
        <p:nvSpPr>
          <p:cNvPr id="99" name="Text 96"/>
          <p:cNvSpPr txBox="1"/>
          <p:nvPr/>
        </p:nvSpPr>
        <p:spPr>
          <a:xfrm>
            <a:off x="6559296" y="2237232"/>
            <a:ext cx="508101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rgbClr val="B4236A"/>
                </a:solidFill>
              </a:rPr>
              <a:t>ACROSS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r>
              <a:rPr lang="en-US" sz="1600" i="1" dirty="0">
                <a:solidFill>
                  <a:schemeClr val="tx1"/>
                </a:solidFill>
              </a:rPr>
              <a:t>I have controlled the floor</a:t>
            </a:r>
            <a:r>
              <a:rPr lang="en-US" sz="1600" dirty="0">
                <a:solidFill>
                  <a:schemeClr val="tx1"/>
                </a:solidFill>
              </a:rPr>
              <a:t> → I …ed it</a:t>
            </a:r>
            <a:r>
              <a:rPr lang="en-US" sz="1600" b="1" dirty="0">
                <a:solidFill>
                  <a:schemeClr val="accent3"/>
                </a:solidFill>
              </a:rPr>
              <a:t>  → check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r>
              <a:rPr lang="en-US" sz="1600" i="1" dirty="0">
                <a:solidFill>
                  <a:schemeClr val="tx1"/>
                </a:solidFill>
              </a:rPr>
              <a:t>will assist the meeting</a:t>
            </a:r>
            <a:r>
              <a:rPr lang="en-US" sz="1600" dirty="0">
                <a:solidFill>
                  <a:schemeClr val="tx1"/>
                </a:solidFill>
              </a:rPr>
              <a:t> → will … it</a:t>
            </a:r>
            <a:r>
              <a:rPr lang="en-US" sz="1600" b="1" dirty="0">
                <a:solidFill>
                  <a:schemeClr val="accent3"/>
                </a:solidFill>
              </a:rPr>
              <a:t>  → attend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r>
              <a:rPr lang="en-US" sz="1600" i="1" dirty="0">
                <a:solidFill>
                  <a:schemeClr val="tx1"/>
                </a:solidFill>
              </a:rPr>
              <a:t>I have resumed our position</a:t>
            </a:r>
            <a:r>
              <a:rPr lang="en-US" sz="1600" dirty="0">
                <a:solidFill>
                  <a:schemeClr val="tx1"/>
                </a:solidFill>
              </a:rPr>
              <a:t> → I have …d it (UK)</a:t>
            </a:r>
            <a:r>
              <a:rPr lang="en-US" sz="1600" b="1" dirty="0">
                <a:solidFill>
                  <a:schemeClr val="accent3"/>
                </a:solidFill>
              </a:rPr>
              <a:t>  → summarise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r>
              <a:rPr lang="en-US" sz="1600" i="1" dirty="0">
                <a:solidFill>
                  <a:schemeClr val="tx1"/>
                </a:solidFill>
              </a:rPr>
              <a:t>Actually, we are still waiting</a:t>
            </a:r>
            <a:r>
              <a:rPr lang="en-US" sz="1600" dirty="0">
                <a:solidFill>
                  <a:schemeClr val="tx1"/>
                </a:solidFill>
              </a:rPr>
              <a:t> → …, we are waiting</a:t>
            </a:r>
            <a:r>
              <a:rPr lang="en-US" sz="1600" b="1" dirty="0">
                <a:solidFill>
                  <a:schemeClr val="accent3"/>
                </a:solidFill>
              </a:rPr>
              <a:t>  → currently</a:t>
            </a:r>
            <a:endParaRPr lang="en-US" sz="1600" dirty="0"/>
          </a:p>
          <a:p>
            <a:pPr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rgbClr val="B4236A"/>
                </a:solidFill>
              </a:rPr>
              <a:t>DOWN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r>
              <a:rPr lang="en-US" sz="1600" i="1" dirty="0">
                <a:solidFill>
                  <a:schemeClr val="tx1"/>
                </a:solidFill>
              </a:rPr>
              <a:t>a delay of two days</a:t>
            </a:r>
            <a:r>
              <a:rPr lang="en-US" sz="1600" dirty="0">
                <a:solidFill>
                  <a:schemeClr val="tx1"/>
                </a:solidFill>
              </a:rPr>
              <a:t> → a time limit: a …</a:t>
            </a:r>
            <a:r>
              <a:rPr lang="en-US" sz="1600" b="1" dirty="0">
                <a:solidFill>
                  <a:schemeClr val="accent3"/>
                </a:solidFill>
              </a:rPr>
              <a:t>  → deadline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r>
              <a:rPr lang="en-US" sz="1600" i="1" dirty="0">
                <a:solidFill>
                  <a:schemeClr val="tx1"/>
                </a:solidFill>
              </a:rPr>
              <a:t>Eventually, we can send…</a:t>
            </a:r>
            <a:r>
              <a:rPr lang="en-US" sz="1600" dirty="0">
                <a:solidFill>
                  <a:schemeClr val="tx1"/>
                </a:solidFill>
              </a:rPr>
              <a:t> → if necessary, or …</a:t>
            </a:r>
            <a:r>
              <a:rPr lang="en-US" sz="1600" b="1" dirty="0">
                <a:solidFill>
                  <a:schemeClr val="accent3"/>
                </a:solidFill>
              </a:rPr>
              <a:t>  → possibly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r>
              <a:rPr lang="en-US" sz="1600" i="1" dirty="0">
                <a:solidFill>
                  <a:schemeClr val="tx1"/>
                </a:solidFill>
              </a:rPr>
              <a:t>I have demanded them to come</a:t>
            </a:r>
            <a:r>
              <a:rPr lang="en-US" sz="1600" dirty="0">
                <a:solidFill>
                  <a:schemeClr val="tx1"/>
                </a:solidFill>
              </a:rPr>
              <a:t> → I have …ed them</a:t>
            </a:r>
            <a:r>
              <a:rPr lang="en-US" sz="1600" b="1" dirty="0">
                <a:solidFill>
                  <a:schemeClr val="accent3"/>
                </a:solidFill>
              </a:rPr>
              <a:t>  → ask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two verb forms that matter most to the insurer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3703320" cy="384048"/>
          </a:xfrm>
          <a:prstGeom prst="roundRect">
            <a:avLst>
              <a:gd name="adj" fmla="val 47619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verb about yesterday evening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03220" y="213969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548636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5836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505456"/>
            <a:ext cx="3867912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there a </a:t>
            </a:r>
            <a:r>
              <a:rPr lang="en-US" sz="1700" b="1" dirty="0">
                <a:solidFill>
                  <a:schemeClr val="tx2"/>
                </a:solidFill>
              </a:rPr>
              <a:t>finished time</a:t>
            </a:r>
            <a:r>
              <a:rPr lang="en-US" sz="1700" b="1" dirty="0">
                <a:solidFill>
                  <a:schemeClr val="tx2"/>
                </a:solidFill>
              </a:rPr>
              <a:t>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yesterday evening · at 19.58 · last night — Séances 3 &amp; 9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276088" y="2768092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5257800" y="24571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468880"/>
            <a:ext cx="5468112" cy="598424"/>
          </a:xfrm>
          <a:prstGeom prst="roundRect">
            <a:avLst>
              <a:gd name="adj" fmla="val 12224"/>
            </a:avLst>
          </a:prstGeom>
          <a:solidFill>
            <a:srgbClr val="B4236A">
              <a:alpha val="12000"/>
            </a:srgb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2505456"/>
            <a:ext cx="5138928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4236A"/>
                </a:solidFill>
              </a:rPr>
              <a:t>PAST SIMPLE — never have + participle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✗ </a:t>
            </a:r>
            <a:r>
              <a:rPr lang="en-US" sz="1300" i="1" dirty="0">
                <a:solidFill>
                  <a:schemeClr val="tx1"/>
                </a:solidFill>
              </a:rPr>
              <a:t>have controlled… yesterday</a:t>
            </a:r>
            <a:r>
              <a:rPr lang="en-US" sz="1300" dirty="0">
                <a:solidFill>
                  <a:schemeClr val="tx1"/>
                </a:solidFill>
              </a:rPr>
              <a:t> → I </a:t>
            </a:r>
            <a:r>
              <a:rPr lang="en-US" sz="1300" b="1" dirty="0">
                <a:solidFill>
                  <a:srgbClr val="B4236A"/>
                </a:solidFill>
              </a:rPr>
              <a:t>checked</a:t>
            </a:r>
            <a:r>
              <a:rPr lang="en-US" sz="1300" dirty="0">
                <a:solidFill>
                  <a:schemeClr val="tx1"/>
                </a:solidFill>
              </a:rPr>
              <a:t> it yesterday.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03220" y="3085592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994660" y="3067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14776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4944" y="349453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0426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61872" y="3451352"/>
            <a:ext cx="3867912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it a </a:t>
            </a:r>
            <a:r>
              <a:rPr lang="en-US" sz="1700" b="1" dirty="0">
                <a:solidFill>
                  <a:schemeClr val="tx2"/>
                </a:solidFill>
              </a:rPr>
              <a:t>past event</a:t>
            </a:r>
            <a:r>
              <a:rPr lang="en-US" sz="1700" b="1" dirty="0">
                <a:solidFill>
                  <a:schemeClr val="tx2"/>
                </a:solidFill>
              </a:rPr>
              <a:t> in a story?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… when my team leaves at 19.58 — Séances 4 &amp; 5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276088" y="3713988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257800" y="34030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2200" y="3414776"/>
            <a:ext cx="5468112" cy="598424"/>
          </a:xfrm>
          <a:prstGeom prst="roundRect">
            <a:avLst>
              <a:gd name="adj" fmla="val 12224"/>
            </a:avLst>
          </a:prstGeom>
          <a:solidFill>
            <a:srgbClr val="C0752A">
              <a:alpha val="12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36792" y="3451352"/>
            <a:ext cx="5138928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chemeClr val="accent1"/>
                </a:solidFill>
              </a:rPr>
              <a:t>PAST SIMPLE — not the present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✗ </a:t>
            </a:r>
            <a:r>
              <a:rPr lang="en-US" sz="1300" i="1" dirty="0">
                <a:solidFill>
                  <a:schemeClr val="tx1"/>
                </a:solidFill>
              </a:rPr>
              <a:t>when my team leaves</a:t>
            </a:r>
            <a:r>
              <a:rPr lang="en-US" sz="1300" dirty="0">
                <a:solidFill>
                  <a:schemeClr val="tx1"/>
                </a:solidFill>
              </a:rPr>
              <a:t> → when my team </a:t>
            </a:r>
            <a:r>
              <a:rPr lang="en-US" sz="1300" b="1" dirty="0">
                <a:solidFill>
                  <a:srgbClr val="B4236A"/>
                </a:solidFill>
              </a:rPr>
              <a:t>left</a:t>
            </a:r>
            <a:r>
              <a:rPr lang="en-US" sz="1300" dirty="0">
                <a:solidFill>
                  <a:schemeClr val="tx1"/>
                </a:solidFill>
              </a:rPr>
              <a:t> at 19.58.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903220" y="4031488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2994660" y="4013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4360672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3C7A3C">
              <a:alpha val="12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3232" y="4397248"/>
            <a:ext cx="4379976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chemeClr val="accent3"/>
                </a:solidFill>
              </a:rPr>
              <a:t>NO DATE, A RESULT NOW → present perfect is fine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 </a:t>
            </a:r>
            <a:r>
              <a:rPr lang="en-US" sz="1300" b="1" dirty="0">
                <a:solidFill>
                  <a:schemeClr val="tx1"/>
                </a:solidFill>
              </a:rPr>
              <a:t>have </a:t>
            </a:r>
            <a:r>
              <a:rPr lang="en-US" sz="1300" b="1" dirty="0">
                <a:solidFill>
                  <a:schemeClr val="accent3"/>
                </a:solidFill>
              </a:rPr>
              <a:t>summarised</a:t>
            </a:r>
            <a:r>
              <a:rPr lang="en-US" sz="1300" dirty="0">
                <a:solidFill>
                  <a:schemeClr val="tx1"/>
                </a:solidFill>
              </a:rPr>
              <a:t> our position below. (Séance 9)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Why these two — </a:t>
            </a:r>
            <a:r>
              <a:rPr lang="en-US" sz="1800" dirty="0">
                <a:solidFill>
                  <a:schemeClr val="tx1"/>
                </a:solidFill>
              </a:rPr>
              <a:t>they fix </a:t>
            </a:r>
            <a:r>
              <a:rPr lang="en-US" sz="1800" b="1" dirty="0">
                <a:solidFill>
                  <a:schemeClr val="tx1"/>
                </a:solidFill>
              </a:rPr>
              <a:t>when the room was checked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when it was dry</a:t>
            </a:r>
            <a:r>
              <a:rPr lang="en-US" sz="1800" dirty="0">
                <a:solidFill>
                  <a:schemeClr val="tx1"/>
                </a:solidFill>
              </a:rPr>
              <a:t>: the start of the window the assessor will look at. Bonus: </a:t>
            </a:r>
            <a:r>
              <a:rPr lang="en-US" sz="1800" i="1" dirty="0">
                <a:solidFill>
                  <a:schemeClr val="tx1"/>
                </a:solidFill>
              </a:rPr>
              <a:t>before we </a:t>
            </a:r>
            <a:r>
              <a:rPr lang="en-US" sz="1800" i="1" strike="sngStrike" dirty="0">
                <a:solidFill>
                  <a:schemeClr val="accent6"/>
                </a:solidFill>
              </a:rPr>
              <a:t>go</a:t>
            </a:r>
            <a:r>
              <a:rPr lang="en-US" sz="1800" dirty="0">
                <a:solidFill>
                  <a:schemeClr val="tx1"/>
                </a:solidFill>
              </a:rPr>
              <a:t> → before we </a:t>
            </a:r>
            <a:r>
              <a:rPr lang="en-US" sz="1800" b="1" dirty="0">
                <a:solidFill>
                  <a:schemeClr val="tx1"/>
                </a:solidFill>
              </a:rPr>
              <a:t>left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Escape room: unlock the e-mail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Teams of three. The e-mail is locked until you find the </a:t>
            </a:r>
            <a:r>
              <a:rPr lang="en-US" sz="1600" b="1" i="1" dirty="0">
                <a:solidFill>
                  <a:schemeClr val="accent5"/>
                </a:solidFill>
              </a:rPr>
              <a:t>four-digit code</a:t>
            </a:r>
            <a:r>
              <a:rPr lang="en-US" sz="1600" i="1" dirty="0">
                <a:solidFill>
                  <a:schemeClr val="accent5"/>
                </a:solidFill>
              </a:rPr>
              <a:t>: one digit per right answer.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561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328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35524" y="23469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62128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Two of my men will assist the meeting.</a:t>
            </a:r>
            <a:r>
              <a:rPr lang="en-US" sz="1500" b="1" dirty="0">
                <a:solidFill>
                  <a:schemeClr val="tx2"/>
                </a:solidFill>
              </a:rPr>
              <a:t> You write…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6128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help the meeting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4602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3746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2150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attend the meeting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20624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9768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8172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assist to the meeting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195060" y="223723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235610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97980" y="2328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2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981944" y="23469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6377940" y="262128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 English, </a:t>
            </a:r>
            <a:r>
              <a:rPr lang="en-US" sz="1500" b="1" i="1" dirty="0">
                <a:solidFill>
                  <a:schemeClr val="tx2"/>
                </a:solidFill>
              </a:rPr>
              <a:t>we have a delay of two days</a:t>
            </a:r>
            <a:r>
              <a:rPr lang="en-US" sz="1500" b="1" dirty="0">
                <a:solidFill>
                  <a:schemeClr val="tx2"/>
                </a:solidFill>
              </a:rPr>
              <a:t> means…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3222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2366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0770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are two days late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09244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8388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856792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have two days left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985266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944100" y="323697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1032814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deadline is today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48640" y="394411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2984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051560" y="4035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3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335524" y="40538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200" dirty="0"/>
          </a:p>
        </p:txBody>
      </p:sp>
      <p:sp>
        <p:nvSpPr>
          <p:cNvPr id="39" name="Text 33"/>
          <p:cNvSpPr txBox="1"/>
          <p:nvPr/>
        </p:nvSpPr>
        <p:spPr>
          <a:xfrm>
            <a:off x="731520" y="432816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I have controlled the floor yesterday evening.</a:t>
            </a:r>
            <a:r>
              <a:rPr lang="en-US" sz="1500" b="1" dirty="0">
                <a:solidFill>
                  <a:schemeClr val="tx2"/>
                </a:solidFill>
              </a:rPr>
              <a:t> Errors?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68580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7724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116128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error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244602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253746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292150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errors</a:t>
            </a:r>
            <a:endParaRPr 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420624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29768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468172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error</a:t>
            </a:r>
            <a:endParaRPr lang="en-US" sz="1500" dirty="0"/>
          </a:p>
        </p:txBody>
      </p:sp>
      <p:sp>
        <p:nvSpPr>
          <p:cNvPr id="49" name="Shape 43"/>
          <p:cNvSpPr/>
          <p:nvPr/>
        </p:nvSpPr>
        <p:spPr>
          <a:xfrm>
            <a:off x="6195060" y="394411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4062984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697980" y="4035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4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10981944" y="40538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200" dirty="0"/>
          </a:p>
        </p:txBody>
      </p:sp>
      <p:sp>
        <p:nvSpPr>
          <p:cNvPr id="53" name="Text 46"/>
          <p:cNvSpPr txBox="1"/>
          <p:nvPr/>
        </p:nvSpPr>
        <p:spPr>
          <a:xfrm>
            <a:off x="6377940" y="432816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It would not be sensible to blame my team.</a:t>
            </a:r>
            <a:endParaRPr lang="en-US" sz="1500" dirty="0"/>
          </a:p>
        </p:txBody>
      </p:sp>
      <p:sp>
        <p:nvSpPr>
          <p:cNvPr id="54" name="Shape 47"/>
          <p:cNvSpPr/>
          <p:nvPr/>
        </p:nvSpPr>
        <p:spPr>
          <a:xfrm>
            <a:off x="633222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642366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56" name="Text 49"/>
          <p:cNvSpPr txBox="1"/>
          <p:nvPr/>
        </p:nvSpPr>
        <p:spPr>
          <a:xfrm>
            <a:off x="680770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</a:t>
            </a:r>
            <a:r>
              <a:rPr lang="en-US" sz="1300" i="1" dirty="0">
                <a:solidFill>
                  <a:schemeClr val="tx1"/>
                </a:solidFill>
              </a:rPr>
              <a:t>sensitive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809244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818388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9" name="Text 52"/>
          <p:cNvSpPr txBox="1"/>
          <p:nvPr/>
        </p:nvSpPr>
        <p:spPr>
          <a:xfrm>
            <a:off x="856792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it</a:t>
            </a:r>
            <a:endParaRPr lang="en-US" sz="1300" dirty="0"/>
          </a:p>
        </p:txBody>
      </p:sp>
      <p:sp>
        <p:nvSpPr>
          <p:cNvPr id="60" name="Shape 53"/>
          <p:cNvSpPr/>
          <p:nvPr/>
        </p:nvSpPr>
        <p:spPr>
          <a:xfrm>
            <a:off x="985266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9944100" y="4943856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62" name="Text 55"/>
          <p:cNvSpPr txBox="1"/>
          <p:nvPr/>
        </p:nvSpPr>
        <p:spPr>
          <a:xfrm>
            <a:off x="1032814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delete it</a:t>
            </a:r>
            <a:endParaRPr lang="en-US" sz="1300" dirty="0"/>
          </a:p>
        </p:txBody>
      </p:sp>
      <p:sp>
        <p:nvSpPr>
          <p:cNvPr id="63" name="Shape 56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1F3864">
              <a:alpha val="10000"/>
            </a:srgbClr>
          </a:solidFill>
          <a:ln w="15875">
            <a:solidFill>
              <a:srgbClr val="1F3864"/>
            </a:solidFill>
            <a:prstDash val="solid"/>
          </a:ln>
        </p:spPr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97296"/>
            <a:ext cx="365760" cy="365760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1325880" y="56509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2"/>
                </a:solidFill>
              </a:rPr>
              <a:t>THE CODE</a:t>
            </a:r>
            <a:endParaRPr lang="en-US" sz="1400" dirty="0"/>
          </a:p>
        </p:txBody>
      </p:sp>
      <p:sp>
        <p:nvSpPr>
          <p:cNvPr id="66" name="Text 58"/>
          <p:cNvSpPr/>
          <p:nvPr/>
        </p:nvSpPr>
        <p:spPr>
          <a:xfrm>
            <a:off x="2880360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67" name="Text 59"/>
          <p:cNvSpPr/>
          <p:nvPr/>
        </p:nvSpPr>
        <p:spPr>
          <a:xfrm>
            <a:off x="3538728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68" name="Text 60"/>
          <p:cNvSpPr/>
          <p:nvPr/>
        </p:nvSpPr>
        <p:spPr>
          <a:xfrm>
            <a:off x="4197096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69" name="Text 61"/>
          <p:cNvSpPr/>
          <p:nvPr/>
        </p:nvSpPr>
        <p:spPr>
          <a:xfrm>
            <a:off x="4855464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70" name="Text 62"/>
          <p:cNvSpPr txBox="1"/>
          <p:nvPr/>
        </p:nvSpPr>
        <p:spPr>
          <a:xfrm>
            <a:off x="5742432" y="5650992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Write the four digits in order. The first team with the right code wins.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Escape room: unlock the e-mail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Code 4271</a:t>
            </a:r>
            <a:r>
              <a:rPr lang="en-US" sz="1600" i="1" dirty="0">
                <a:solidFill>
                  <a:schemeClr val="accent5"/>
                </a:solidFill>
              </a:rPr>
              <a:t> — the e-mail can leave the building.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5610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328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35524" y="23469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62128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Two of my men will assist the meeting.</a:t>
            </a:r>
            <a:r>
              <a:rPr lang="en-US" sz="1500" b="1" dirty="0">
                <a:solidFill>
                  <a:schemeClr val="tx2"/>
                </a:solidFill>
              </a:rPr>
              <a:t> You write…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323697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6128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help the meeting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44602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3C7A3C">
              <a:alpha val="15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37460" y="3236976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92150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attend the meeting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20624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23697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68172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assist to the meeting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5060" y="223723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2356104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697980" y="2328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0981944" y="23469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6377940" y="262128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 English, </a:t>
            </a:r>
            <a:r>
              <a:rPr lang="en-US" sz="1500" b="1" i="1" dirty="0">
                <a:solidFill>
                  <a:schemeClr val="tx2"/>
                </a:solidFill>
              </a:rPr>
              <a:t>we have a delay of two days</a:t>
            </a:r>
            <a:r>
              <a:rPr lang="en-US" sz="1500" b="1" dirty="0">
                <a:solidFill>
                  <a:schemeClr val="tx2"/>
                </a:solidFill>
              </a:rPr>
              <a:t> means…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33222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3C7A3C">
              <a:alpha val="15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23660" y="3236976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80770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are two days late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09244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183880" y="323697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56792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we have two days left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9852660" y="313334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944100" y="323697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0328148" y="313334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deadline is today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548640" y="394411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2984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51560" y="4035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3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335524" y="40538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4"/>
          <p:cNvSpPr txBox="1"/>
          <p:nvPr/>
        </p:nvSpPr>
        <p:spPr>
          <a:xfrm>
            <a:off x="731520" y="432816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I have controlled the floor yesterday evening.</a:t>
            </a:r>
            <a:r>
              <a:rPr lang="en-US" sz="1500" b="1" dirty="0">
                <a:solidFill>
                  <a:schemeClr val="tx2"/>
                </a:solidFill>
              </a:rPr>
              <a:t> Errors?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68580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77240" y="494385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116128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one error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244602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3C7A3C">
              <a:alpha val="15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537460" y="4943856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292150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errors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420624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297680" y="494385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468172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 error</a:t>
            </a:r>
            <a:endParaRPr lang="en-US" sz="1500" dirty="0"/>
          </a:p>
        </p:txBody>
      </p:sp>
      <p:sp>
        <p:nvSpPr>
          <p:cNvPr id="50" name="Shape 44"/>
          <p:cNvSpPr/>
          <p:nvPr/>
        </p:nvSpPr>
        <p:spPr>
          <a:xfrm>
            <a:off x="6195060" y="3944112"/>
            <a:ext cx="5445252" cy="1505712"/>
          </a:xfrm>
          <a:prstGeom prst="roundRect">
            <a:avLst>
              <a:gd name="adj" fmla="val 485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4062984"/>
            <a:ext cx="237744" cy="237744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697980" y="4035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DIGIT 4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10981944" y="40538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200" dirty="0"/>
          </a:p>
        </p:txBody>
      </p:sp>
      <p:sp>
        <p:nvSpPr>
          <p:cNvPr id="54" name="Text 47"/>
          <p:cNvSpPr txBox="1"/>
          <p:nvPr/>
        </p:nvSpPr>
        <p:spPr>
          <a:xfrm>
            <a:off x="6377940" y="4328160"/>
            <a:ext cx="4485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It would not be sensible to blame my team.</a:t>
            </a:r>
            <a:endParaRPr lang="en-US" sz="1500" dirty="0"/>
          </a:p>
        </p:txBody>
      </p:sp>
      <p:sp>
        <p:nvSpPr>
          <p:cNvPr id="55" name="Shape 48"/>
          <p:cNvSpPr/>
          <p:nvPr/>
        </p:nvSpPr>
        <p:spPr>
          <a:xfrm>
            <a:off x="633222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6423660" y="494385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57" name="Text 50"/>
          <p:cNvSpPr txBox="1"/>
          <p:nvPr/>
        </p:nvSpPr>
        <p:spPr>
          <a:xfrm>
            <a:off x="680770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write </a:t>
            </a:r>
            <a:r>
              <a:rPr lang="en-US" sz="1300" i="1" dirty="0">
                <a:solidFill>
                  <a:schemeClr val="accent5"/>
                </a:solidFill>
              </a:rPr>
              <a:t>sensitive</a:t>
            </a:r>
            <a:endParaRPr lang="en-US" sz="1300" dirty="0"/>
          </a:p>
        </p:txBody>
      </p:sp>
      <p:sp>
        <p:nvSpPr>
          <p:cNvPr id="58" name="Shape 51"/>
          <p:cNvSpPr/>
          <p:nvPr/>
        </p:nvSpPr>
        <p:spPr>
          <a:xfrm>
            <a:off x="809244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3C7A3C">
              <a:alpha val="15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8183880" y="4943856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0" name="Text 53"/>
          <p:cNvSpPr txBox="1"/>
          <p:nvPr/>
        </p:nvSpPr>
        <p:spPr>
          <a:xfrm>
            <a:off x="856792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it</a:t>
            </a:r>
            <a:endParaRPr lang="en-US" sz="1300" dirty="0"/>
          </a:p>
        </p:txBody>
      </p:sp>
      <p:sp>
        <p:nvSpPr>
          <p:cNvPr id="61" name="Shape 54"/>
          <p:cNvSpPr/>
          <p:nvPr/>
        </p:nvSpPr>
        <p:spPr>
          <a:xfrm>
            <a:off x="9852660" y="4840224"/>
            <a:ext cx="1650492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9944100" y="4943856"/>
            <a:ext cx="310896" cy="31089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10328148" y="4840224"/>
            <a:ext cx="110185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delete it</a:t>
            </a:r>
            <a:endParaRPr lang="en-US" sz="1300" dirty="0"/>
          </a:p>
        </p:txBody>
      </p:sp>
      <p:sp>
        <p:nvSpPr>
          <p:cNvPr id="64" name="Shape 57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3C7A3C">
              <a:alpha val="10000"/>
            </a:srgbClr>
          </a:solidFill>
          <a:ln w="15875">
            <a:solidFill>
              <a:srgbClr val="3C7A3C"/>
            </a:solidFill>
            <a:prstDash val="solid"/>
          </a:ln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97296"/>
            <a:ext cx="365760" cy="365760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1325880" y="56509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THE CODE</a:t>
            </a:r>
            <a:endParaRPr lang="en-US" sz="1400" dirty="0"/>
          </a:p>
        </p:txBody>
      </p:sp>
      <p:sp>
        <p:nvSpPr>
          <p:cNvPr id="67" name="Text 59"/>
          <p:cNvSpPr/>
          <p:nvPr/>
        </p:nvSpPr>
        <p:spPr>
          <a:xfrm>
            <a:off x="2880360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68" name="Text 60"/>
          <p:cNvSpPr/>
          <p:nvPr/>
        </p:nvSpPr>
        <p:spPr>
          <a:xfrm>
            <a:off x="3538728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69" name="Text 61"/>
          <p:cNvSpPr/>
          <p:nvPr/>
        </p:nvSpPr>
        <p:spPr>
          <a:xfrm>
            <a:off x="4197096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2400" dirty="0"/>
          </a:p>
        </p:txBody>
      </p:sp>
      <p:sp>
        <p:nvSpPr>
          <p:cNvPr id="70" name="Text 62"/>
          <p:cNvSpPr/>
          <p:nvPr/>
        </p:nvSpPr>
        <p:spPr>
          <a:xfrm>
            <a:off x="4855464" y="574243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71" name="Text 63"/>
          <p:cNvSpPr txBox="1"/>
          <p:nvPr/>
        </p:nvSpPr>
        <p:spPr>
          <a:xfrm>
            <a:off x="5742432" y="5650992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attend · </a:t>
            </a:r>
            <a:r>
              <a:rPr lang="en-US" sz="1500" i="1" dirty="0">
                <a:solidFill>
                  <a:schemeClr val="accent5"/>
                </a:solidFill>
              </a:rPr>
              <a:t>a delay</a:t>
            </a:r>
            <a:r>
              <a:rPr lang="en-US" sz="1500" i="1" dirty="0">
                <a:solidFill>
                  <a:schemeClr val="accent5"/>
                </a:solidFill>
              </a:rPr>
              <a:t> = un retard · </a:t>
            </a:r>
            <a:r>
              <a:rPr lang="en-US" sz="1500" i="1" dirty="0">
                <a:solidFill>
                  <a:schemeClr val="accent5"/>
                </a:solidFill>
              </a:rPr>
              <a:t>control</a:t>
            </a:r>
            <a:r>
              <a:rPr lang="en-US" sz="1500" i="1" dirty="0">
                <a:solidFill>
                  <a:schemeClr val="accent5"/>
                </a:solidFill>
              </a:rPr>
              <a:t> + </a:t>
            </a:r>
            <a:r>
              <a:rPr lang="en-US" sz="1500" i="1" dirty="0">
                <a:solidFill>
                  <a:schemeClr val="accent5"/>
                </a:solidFill>
              </a:rPr>
              <a:t>have… yesterday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sensible</a:t>
            </a:r>
            <a:r>
              <a:rPr lang="en-US" sz="1500" i="1" dirty="0">
                <a:solidFill>
                  <a:schemeClr val="accent5"/>
                </a:solidFill>
              </a:rPr>
              <a:t> = raisonnable.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e-mail, fit to be forwarded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23–24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7498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7498080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057400"/>
            <a:ext cx="7498080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920240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1920240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1" name="Shape 8"/>
          <p:cNvSpPr/>
          <p:nvPr/>
        </p:nvSpPr>
        <p:spPr>
          <a:xfrm>
            <a:off x="1170432" y="1920240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836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55648" y="1783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22951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569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received 10.18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2916936"/>
            <a:ext cx="694944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3026664"/>
            <a:ext cx="68580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Dear Mr Shaw,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checked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1 </a:t>
            </a:r>
            <a:r>
              <a:rPr lang="en-US" sz="1400" dirty="0">
                <a:solidFill>
                  <a:schemeClr val="tx1"/>
                </a:solidFill>
              </a:rPr>
              <a:t> the second floor yesterday evening before we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left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2 </a:t>
            </a:r>
            <a:r>
              <a:rPr lang="en-US" sz="1400" dirty="0">
                <a:solidFill>
                  <a:schemeClr val="tx1"/>
                </a:solidFill>
              </a:rPr>
              <a:t>. We are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currently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3 </a:t>
            </a:r>
            <a:r>
              <a:rPr lang="en-US" sz="1400" dirty="0">
                <a:solidFill>
                  <a:schemeClr val="tx1"/>
                </a:solidFill>
              </a:rPr>
              <a:t> still waiting for the humidity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Two of my men will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attend</a:t>
            </a:r>
            <a:r>
              <a:rPr lang="en-US" sz="1400" dirty="0">
                <a:solidFill>
                  <a:schemeClr val="tx1"/>
                </a:solidFill>
              </a:rPr>
              <a:t> the meeting this afternoon if you wish. I have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asked</a:t>
            </a:r>
            <a:r>
              <a:rPr lang="en-US" sz="1400" dirty="0">
                <a:solidFill>
                  <a:schemeClr val="tx1"/>
                </a:solidFill>
              </a:rPr>
              <a:t> them to come.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have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two days left</a:t>
            </a:r>
            <a:r>
              <a:rPr lang="en-US" sz="1400" dirty="0">
                <a:solidFill>
                  <a:schemeClr val="tx1"/>
                </a:solidFill>
              </a:rPr>
              <a:t> to finish the cabling, so we are not late.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If necessary</a:t>
            </a:r>
            <a:r>
              <a:rPr lang="en-US" sz="1400" dirty="0">
                <a:solidFill>
                  <a:schemeClr val="tx1"/>
                </a:solidFill>
              </a:rPr>
              <a:t>, we can send you our own report.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 have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summarised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4 </a:t>
            </a:r>
            <a:r>
              <a:rPr lang="en-US" sz="1400" dirty="0">
                <a:solidFill>
                  <a:schemeClr val="tx1"/>
                </a:solidFill>
              </a:rPr>
              <a:t> our position in three lines below. I don’t think it would be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sensible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5 </a:t>
            </a:r>
            <a:r>
              <a:rPr lang="en-US" sz="1400" dirty="0">
                <a:solidFill>
                  <a:schemeClr val="tx1"/>
                </a:solidFill>
              </a:rPr>
              <a:t> to blame my team: the pipe is old and it is not our work. Everything was dry when my team </a:t>
            </a:r>
            <a:r>
              <a:rPr lang="en-US" sz="1400" b="1" dirty="0">
                <a:solidFill>
                  <a:schemeClr val="accent3"/>
                </a:solidFill>
                <a:highlight>
                  <a:srgbClr val="D9EDD5"/>
                </a:highlight>
              </a:rPr>
              <a:t>left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  <a:highlight>
                  <a:srgbClr val="C0752A"/>
                </a:highlight>
              </a:rPr>
              <a:t> 2 </a:t>
            </a:r>
            <a:r>
              <a:rPr lang="en-US" sz="1400" dirty="0">
                <a:solidFill>
                  <a:schemeClr val="tx1"/>
                </a:solidFill>
              </a:rPr>
              <a:t> at 19.58.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Kind regards,   P. Verdier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366760" y="1783080"/>
            <a:ext cx="327355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76488" y="1874520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915400" y="18379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checked</a:t>
            </a:r>
            <a:r>
              <a:rPr lang="en-US" sz="1100" i="1" dirty="0">
                <a:solidFill>
                  <a:schemeClr val="accent5"/>
                </a:solidFill>
              </a:rPr>
              <a:t>   Séances 3 · 9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915400" y="2167128"/>
            <a:ext cx="261518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finished time → </a:t>
            </a:r>
            <a:r>
              <a:rPr lang="en-US" sz="1200" b="1" dirty="0">
                <a:solidFill>
                  <a:schemeClr val="tx1"/>
                </a:solidFill>
              </a:rPr>
              <a:t>past simple</a:t>
            </a:r>
            <a:r>
              <a:rPr lang="en-US" sz="1200" dirty="0">
                <a:solidFill>
                  <a:schemeClr val="tx1"/>
                </a:solidFill>
              </a:rPr>
              <a:t>, never </a:t>
            </a:r>
            <a:r>
              <a:rPr lang="en-US" sz="1200" i="1" dirty="0">
                <a:solidFill>
                  <a:schemeClr val="tx1"/>
                </a:solidFill>
              </a:rPr>
              <a:t>have + participle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366760" y="2710282"/>
            <a:ext cx="327355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76488" y="2801722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915400" y="276514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left</a:t>
            </a:r>
            <a:r>
              <a:rPr lang="en-US" sz="1100" i="1" dirty="0">
                <a:solidFill>
                  <a:schemeClr val="accent5"/>
                </a:solidFill>
              </a:rPr>
              <a:t>   Séances 4 · 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915400" y="3094330"/>
            <a:ext cx="261518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past event in the story, not the present </a:t>
            </a:r>
            <a:r>
              <a:rPr lang="en-US" sz="1200" i="1" dirty="0">
                <a:solidFill>
                  <a:schemeClr val="tx1"/>
                </a:solidFill>
              </a:rPr>
              <a:t>leaves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66760" y="3637483"/>
            <a:ext cx="327355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76488" y="3728923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915400" y="3692347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currently · attend · asked</a:t>
            </a:r>
            <a:r>
              <a:rPr lang="en-US" sz="1100" i="1" dirty="0">
                <a:solidFill>
                  <a:schemeClr val="accent5"/>
                </a:solidFill>
              </a:rPr>
              <a:t>   p. 24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915400" y="4021531"/>
            <a:ext cx="261518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false friends, replaced by what he </a:t>
            </a:r>
            <a:r>
              <a:rPr lang="en-US" sz="1200" b="1" dirty="0">
                <a:solidFill>
                  <a:schemeClr val="tx1"/>
                </a:solidFill>
              </a:rPr>
              <a:t>meant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366760" y="4564685"/>
            <a:ext cx="327355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76488" y="4656125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915400" y="4619549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have summarised</a:t>
            </a:r>
            <a:r>
              <a:rPr lang="en-US" sz="1100" i="1" dirty="0">
                <a:solidFill>
                  <a:schemeClr val="accent5"/>
                </a:solidFill>
              </a:rPr>
              <a:t>   Séance 9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915400" y="4948733"/>
            <a:ext cx="261518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date, a result now → present perfect is right.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366760" y="5491886"/>
            <a:ext cx="327355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476488" y="5583326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8915400" y="554675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sensible</a:t>
            </a:r>
            <a:r>
              <a:rPr lang="en-US" sz="1100" i="1" dirty="0">
                <a:solidFill>
                  <a:schemeClr val="accent5"/>
                </a:solidFill>
              </a:rPr>
              <a:t>   p. 26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8915400" y="5875934"/>
            <a:ext cx="261518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= raisonnable: correct — </a:t>
            </a:r>
            <a:r>
              <a:rPr lang="en-US" sz="1200" b="1" dirty="0">
                <a:solidFill>
                  <a:schemeClr val="tx1"/>
                </a:solidFill>
              </a:rPr>
              <a:t>his position is unchanged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formal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From a chat with a colleague to a letter to the insurer: place each expression on the line.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225296"/>
          </a:xfrm>
          <a:prstGeom prst="roundRect">
            <a:avLst>
              <a:gd name="adj" fmla="val 597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PLACE THEM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1582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 Mark!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23616" y="2420112"/>
            <a:ext cx="10591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Cheers,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10812" y="2420112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Thanks a lot!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92368" y="242011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Let me know.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74864" y="2420112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Best regards,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456420" y="2420112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Kind regards,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737360" y="2895600"/>
            <a:ext cx="16535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Dear Mr Shaw,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18916" y="2895600"/>
            <a:ext cx="38328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 look forward to hearing from you.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2895600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Yours sincerely,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737360" y="4954524"/>
            <a:ext cx="1742846" cy="201168"/>
          </a:xfrm>
          <a:prstGeom prst="rect">
            <a:avLst/>
          </a:prstGeom>
          <a:solidFill>
            <a:srgbClr val="A9C8E8"/>
          </a:solidFill>
          <a:ln/>
        </p:spPr>
      </p:sp>
      <p:sp>
        <p:nvSpPr>
          <p:cNvPr id="19" name="Shape 16"/>
          <p:cNvSpPr/>
          <p:nvPr/>
        </p:nvSpPr>
        <p:spPr>
          <a:xfrm>
            <a:off x="3480206" y="4954524"/>
            <a:ext cx="1742846" cy="201168"/>
          </a:xfrm>
          <a:prstGeom prst="rect">
            <a:avLst/>
          </a:prstGeom>
          <a:solidFill>
            <a:srgbClr val="7FAAD6"/>
          </a:solidFill>
          <a:ln/>
        </p:spPr>
      </p:sp>
      <p:sp>
        <p:nvSpPr>
          <p:cNvPr id="20" name="Shape 17"/>
          <p:cNvSpPr/>
          <p:nvPr/>
        </p:nvSpPr>
        <p:spPr>
          <a:xfrm>
            <a:off x="5223053" y="4954524"/>
            <a:ext cx="1742846" cy="201168"/>
          </a:xfrm>
          <a:prstGeom prst="rect">
            <a:avLst/>
          </a:prstGeom>
          <a:solidFill>
            <a:srgbClr val="4F86C0"/>
          </a:solidFill>
          <a:ln/>
        </p:spPr>
      </p:sp>
      <p:sp>
        <p:nvSpPr>
          <p:cNvPr id="21" name="Shape 18"/>
          <p:cNvSpPr/>
          <p:nvPr/>
        </p:nvSpPr>
        <p:spPr>
          <a:xfrm>
            <a:off x="6965899" y="4954524"/>
            <a:ext cx="1742846" cy="20116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Shape 19"/>
          <p:cNvSpPr/>
          <p:nvPr/>
        </p:nvSpPr>
        <p:spPr>
          <a:xfrm>
            <a:off x="8708746" y="4954524"/>
            <a:ext cx="1742846" cy="201168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1916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8640" y="51831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CHAT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4661916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497312" y="51831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FORMAL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737360" y="5457444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Where does each expression go? Discuss in pairs, then place it on the 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formal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To the insurer, stay on the </a:t>
            </a:r>
            <a:r>
              <a:rPr lang="en-US" sz="1600" b="1" i="1" dirty="0">
                <a:solidFill>
                  <a:schemeClr val="accent5"/>
                </a:solidFill>
              </a:rPr>
              <a:t>right half</a:t>
            </a:r>
            <a:r>
              <a:rPr lang="en-US" sz="1600" i="1" dirty="0">
                <a:solidFill>
                  <a:schemeClr val="accent5"/>
                </a:solidFill>
              </a:rPr>
              <a:t>. </a:t>
            </a:r>
            <a:r>
              <a:rPr lang="en-US" sz="1600" i="1" dirty="0">
                <a:solidFill>
                  <a:schemeClr val="accent5"/>
                </a:solidFill>
              </a:rPr>
              <a:t>Kind regards</a:t>
            </a:r>
            <a:r>
              <a:rPr lang="en-US" sz="1600" i="1" dirty="0">
                <a:solidFill>
                  <a:schemeClr val="accent5"/>
                </a:solidFill>
              </a:rPr>
              <a:t> is the safe choice for most work e-mails.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737360" y="4181856"/>
            <a:ext cx="1742846" cy="201168"/>
          </a:xfrm>
          <a:prstGeom prst="rect">
            <a:avLst/>
          </a:prstGeom>
          <a:solidFill>
            <a:srgbClr val="A9C8E8"/>
          </a:solidFill>
          <a:ln/>
        </p:spPr>
      </p:sp>
      <p:sp>
        <p:nvSpPr>
          <p:cNvPr id="9" name="Shape 6"/>
          <p:cNvSpPr/>
          <p:nvPr/>
        </p:nvSpPr>
        <p:spPr>
          <a:xfrm>
            <a:off x="3480206" y="4181856"/>
            <a:ext cx="1742846" cy="201168"/>
          </a:xfrm>
          <a:prstGeom prst="rect">
            <a:avLst/>
          </a:prstGeom>
          <a:solidFill>
            <a:srgbClr val="7FAAD6"/>
          </a:solidFill>
          <a:ln/>
        </p:spPr>
      </p:sp>
      <p:sp>
        <p:nvSpPr>
          <p:cNvPr id="10" name="Shape 7"/>
          <p:cNvSpPr/>
          <p:nvPr/>
        </p:nvSpPr>
        <p:spPr>
          <a:xfrm>
            <a:off x="5223053" y="4181856"/>
            <a:ext cx="1742846" cy="201168"/>
          </a:xfrm>
          <a:prstGeom prst="rect">
            <a:avLst/>
          </a:prstGeom>
          <a:solidFill>
            <a:srgbClr val="4F86C0"/>
          </a:solidFill>
          <a:ln/>
        </p:spPr>
      </p:sp>
      <p:sp>
        <p:nvSpPr>
          <p:cNvPr id="11" name="Shape 8"/>
          <p:cNvSpPr/>
          <p:nvPr/>
        </p:nvSpPr>
        <p:spPr>
          <a:xfrm>
            <a:off x="6965899" y="4181856"/>
            <a:ext cx="1742846" cy="20116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2" name="Shape 9"/>
          <p:cNvSpPr/>
          <p:nvPr/>
        </p:nvSpPr>
        <p:spPr>
          <a:xfrm>
            <a:off x="8708746" y="4181856"/>
            <a:ext cx="1742846" cy="201168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892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44104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CHAT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388924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497312" y="44104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FORMAL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173072" y="3057144"/>
            <a:ext cx="0" cy="112471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18" name="Shape 13"/>
          <p:cNvSpPr/>
          <p:nvPr/>
        </p:nvSpPr>
        <p:spPr>
          <a:xfrm>
            <a:off x="2099920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629004" y="2673096"/>
            <a:ext cx="10881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 Mark!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870210" y="4383024"/>
            <a:ext cx="0" cy="39319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1" name="Shape 16"/>
          <p:cNvSpPr/>
          <p:nvPr/>
        </p:nvSpPr>
        <p:spPr>
          <a:xfrm>
            <a:off x="2797058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74148" y="4776216"/>
            <a:ext cx="99212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Cheers,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3915918" y="3697224"/>
            <a:ext cx="0" cy="48463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4" name="Shape 19"/>
          <p:cNvSpPr/>
          <p:nvPr/>
        </p:nvSpPr>
        <p:spPr>
          <a:xfrm>
            <a:off x="3842766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131820" y="3313176"/>
            <a:ext cx="15681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Thanks a lot!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874484" y="4383024"/>
            <a:ext cx="0" cy="103327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7" name="Shape 22"/>
          <p:cNvSpPr/>
          <p:nvPr/>
        </p:nvSpPr>
        <p:spPr>
          <a:xfrm>
            <a:off x="4801332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138392" y="5416296"/>
            <a:ext cx="147218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Let me know.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094476" y="3057144"/>
            <a:ext cx="0" cy="112471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0" name="Shape 25"/>
          <p:cNvSpPr/>
          <p:nvPr/>
        </p:nvSpPr>
        <p:spPr>
          <a:xfrm>
            <a:off x="6021324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10378" y="2673096"/>
            <a:ext cx="15681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regards,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965899" y="4383024"/>
            <a:ext cx="0" cy="39319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3" name="Shape 28"/>
          <p:cNvSpPr/>
          <p:nvPr/>
        </p:nvSpPr>
        <p:spPr>
          <a:xfrm>
            <a:off x="6892747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81801" y="4776216"/>
            <a:ext cx="15681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Kind regards,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7837322" y="3697224"/>
            <a:ext cx="0" cy="48463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6" name="Shape 31"/>
          <p:cNvSpPr/>
          <p:nvPr/>
        </p:nvSpPr>
        <p:spPr>
          <a:xfrm>
            <a:off x="7764170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053224" y="3313176"/>
            <a:ext cx="15681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Dear Mr Shaw,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8883030" y="4383024"/>
            <a:ext cx="0" cy="103327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9" name="Shape 34"/>
          <p:cNvSpPr/>
          <p:nvPr/>
        </p:nvSpPr>
        <p:spPr>
          <a:xfrm>
            <a:off x="8809878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042800" y="5416296"/>
            <a:ext cx="36804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 look forward to hearing from you.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10015880" y="3057144"/>
            <a:ext cx="0" cy="1124712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42" name="Shape 37"/>
          <p:cNvSpPr/>
          <p:nvPr/>
        </p:nvSpPr>
        <p:spPr>
          <a:xfrm>
            <a:off x="9942728" y="420928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9087764" y="2673096"/>
            <a:ext cx="185623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Yours sincerely,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E-mail toolkit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WRITING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4344" cy="3477768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OPENING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41448"/>
            <a:ext cx="3148584" cy="270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Dear Mr Shaw, / Dear Ms Marsh,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Following our call this morning, …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Please find </a:t>
            </a:r>
            <a:r>
              <a:rPr lang="en-US" sz="1800" b="1" dirty="0">
                <a:solidFill>
                  <a:schemeClr val="tx1"/>
                </a:solidFill>
              </a:rPr>
              <a:t>attached</a:t>
            </a:r>
            <a:r>
              <a:rPr lang="en-US" sz="1800" dirty="0">
                <a:solidFill>
                  <a:schemeClr val="tx1"/>
                </a:solidFill>
              </a:rPr>
              <a:t> / </a:t>
            </a:r>
            <a:r>
              <a:rPr lang="en-US" sz="1800" b="1" dirty="0">
                <a:solidFill>
                  <a:schemeClr val="tx1"/>
                </a:solidFill>
              </a:rPr>
              <a:t>below</a:t>
            </a:r>
            <a:r>
              <a:rPr lang="en-US" sz="1800" dirty="0">
                <a:solidFill>
                  <a:schemeClr val="tx1"/>
                </a:solidFill>
              </a:rPr>
              <a:t> …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37304" y="1783080"/>
            <a:ext cx="3514344" cy="3477768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C0752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C075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84" y="1892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04232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BODY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20184" y="2441448"/>
            <a:ext cx="3148584" cy="270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 am writing to </a:t>
            </a:r>
            <a:r>
              <a:rPr lang="en-US" sz="1800" b="1" dirty="0">
                <a:solidFill>
                  <a:schemeClr val="tx1"/>
                </a:solidFill>
              </a:rPr>
              <a:t>inform you that</a:t>
            </a:r>
            <a:r>
              <a:rPr lang="en-US" sz="1800" dirty="0">
                <a:solidFill>
                  <a:schemeClr val="tx1"/>
                </a:solidFill>
              </a:rPr>
              <a:t> …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 are </a:t>
            </a:r>
            <a:r>
              <a:rPr lang="en-US" sz="1800" b="1" dirty="0">
                <a:solidFill>
                  <a:schemeClr val="tx1"/>
                </a:solidFill>
              </a:rPr>
              <a:t>currently</a:t>
            </a:r>
            <a:r>
              <a:rPr lang="en-US" sz="1800" dirty="0">
                <a:solidFill>
                  <a:schemeClr val="tx1"/>
                </a:solidFill>
              </a:rPr>
              <a:t> waiting for …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Could you please </a:t>
            </a:r>
            <a:r>
              <a:rPr lang="en-US" sz="1800" b="1" dirty="0">
                <a:solidFill>
                  <a:schemeClr val="tx1"/>
                </a:solidFill>
              </a:rPr>
              <a:t>confirm</a:t>
            </a:r>
            <a:r>
              <a:rPr lang="en-US" sz="1800" dirty="0">
                <a:solidFill>
                  <a:schemeClr val="tx1"/>
                </a:solidFill>
              </a:rPr>
              <a:t> … ?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 would be grateful if you could …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125968" y="1783080"/>
            <a:ext cx="3514344" cy="3477768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3C7A3C"/>
          </a:solidFill>
          <a:ln/>
        </p:spPr>
      </p:sp>
      <p:sp>
        <p:nvSpPr>
          <p:cNvPr id="19" name="Shape 15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3C7A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9280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92896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CLOSING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08848" y="2441448"/>
            <a:ext cx="3148584" cy="270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Please do not hesitate to contact me if …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 look forward to </a:t>
            </a:r>
            <a:r>
              <a:rPr lang="en-US" sz="1800" b="1" dirty="0">
                <a:solidFill>
                  <a:schemeClr val="tx1"/>
                </a:solidFill>
              </a:rPr>
              <a:t>hearing</a:t>
            </a:r>
            <a:r>
              <a:rPr lang="en-US" sz="1800" dirty="0">
                <a:solidFill>
                  <a:schemeClr val="tx1"/>
                </a:solidFill>
              </a:rPr>
              <a:t> from you.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Kind regards, / Best regards,</a:t>
            </a:r>
            <a:endParaRPr lang="en-US" sz="18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Yours sincerely, (formal)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800" i="1" dirty="0">
                <a:solidFill>
                  <a:schemeClr val="tx1"/>
                </a:solidFill>
              </a:rPr>
              <a:t>Je vous prie d’agréer…</a:t>
            </a:r>
            <a:r>
              <a:rPr lang="en-US" sz="1800" dirty="0">
                <a:solidFill>
                  <a:schemeClr val="tx1"/>
                </a:solidFill>
              </a:rPr>
              <a:t> n’a pas d’équivalent : une formule courte suffit. </a:t>
            </a:r>
            <a:r>
              <a:rPr lang="en-US" sz="1800" i="1" dirty="0">
                <a:solidFill>
                  <a:schemeClr val="tx1"/>
                </a:solidFill>
              </a:rPr>
              <a:t>I look forward to hear</a:t>
            </a:r>
            <a:r>
              <a:rPr lang="en-US" sz="1800" dirty="0">
                <a:solidFill>
                  <a:schemeClr val="tx1"/>
                </a:solidFill>
              </a:rPr>
              <a:t> ✗ → </a:t>
            </a:r>
            <a:r>
              <a:rPr lang="en-US" sz="1800" b="1" dirty="0">
                <a:solidFill>
                  <a:schemeClr val="tx1"/>
                </a:solidFill>
              </a:rPr>
              <a:t>to hearing</a:t>
            </a:r>
            <a:r>
              <a:rPr lang="en-US" sz="1800" dirty="0">
                <a:solidFill>
                  <a:schemeClr val="tx1"/>
                </a:solidFill>
              </a:rPr>
              <a:t> ✓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Mark forwards it: the covering note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WRITING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Complete Mark’s note to the insurer — then say why the third line </a:t>
            </a:r>
            <a:r>
              <a:rPr lang="en-US" sz="1600" b="1" i="1" dirty="0">
                <a:solidFill>
                  <a:schemeClr val="accent5"/>
                </a:solidFill>
              </a:rPr>
              <a:t>protects the file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Ms Marsh (insurer)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Fwd: About yesterday evening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2785872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Dear Ms Marsh,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Please find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the contractor’s account of yesterday evening,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at 10.18.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Only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 has been corrected; the content is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 look forward to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from you.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,   Mark Shaw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Mark forwards it: the covering note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WRITING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Say </a:t>
            </a:r>
            <a:r>
              <a:rPr lang="en-US" sz="1600" b="1" i="1" dirty="0">
                <a:solidFill>
                  <a:schemeClr val="accent5"/>
                </a:solidFill>
              </a:rPr>
              <a:t>what</a:t>
            </a:r>
            <a:r>
              <a:rPr lang="en-US" sz="1600" i="1" dirty="0">
                <a:solidFill>
                  <a:schemeClr val="accent5"/>
                </a:solidFill>
              </a:rPr>
              <a:t> you send, </a:t>
            </a:r>
            <a:r>
              <a:rPr lang="en-US" sz="1600" b="1" i="1" dirty="0">
                <a:solidFill>
                  <a:schemeClr val="accent5"/>
                </a:solidFill>
              </a:rPr>
              <a:t>when</a:t>
            </a:r>
            <a:r>
              <a:rPr lang="en-US" sz="1600" i="1" dirty="0">
                <a:solidFill>
                  <a:schemeClr val="accent5"/>
                </a:solidFill>
              </a:rPr>
              <a:t> you received it — and that </a:t>
            </a:r>
            <a:r>
              <a:rPr lang="en-US" sz="1600" b="1" i="1" dirty="0">
                <a:solidFill>
                  <a:schemeClr val="accent5"/>
                </a:solidFill>
              </a:rPr>
              <a:t>only the English</a:t>
            </a:r>
            <a:r>
              <a:rPr lang="en-US" sz="1600" i="1" dirty="0">
                <a:solidFill>
                  <a:schemeClr val="accent5"/>
                </a:solidFill>
              </a:rPr>
              <a:t> was corrected.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Ms Marsh (insurer)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Fwd: About yesterday evening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2785872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Dear Ms Marsh,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Please find </a:t>
            </a:r>
            <a:r>
              <a:rPr lang="en-US" sz="2100" b="1" dirty="0">
                <a:solidFill>
                  <a:schemeClr val="accent3"/>
                </a:solidFill>
              </a:rPr>
              <a:t>below</a:t>
            </a:r>
            <a:r>
              <a:rPr lang="en-US" sz="2100" dirty="0">
                <a:solidFill>
                  <a:schemeClr val="tx1"/>
                </a:solidFill>
              </a:rPr>
              <a:t> the contractor’s account of yesterday evening, </a:t>
            </a:r>
            <a:r>
              <a:rPr lang="en-US" sz="2100" b="1" dirty="0">
                <a:solidFill>
                  <a:schemeClr val="accent3"/>
                </a:solidFill>
              </a:rPr>
              <a:t>received</a:t>
            </a:r>
            <a:r>
              <a:rPr lang="en-US" sz="2100" dirty="0">
                <a:solidFill>
                  <a:schemeClr val="tx1"/>
                </a:solidFill>
              </a:rPr>
              <a:t> at 10.18.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Only </a:t>
            </a:r>
            <a:r>
              <a:rPr lang="en-US" sz="2100" b="1" dirty="0">
                <a:solidFill>
                  <a:schemeClr val="accent3"/>
                </a:solidFill>
              </a:rPr>
              <a:t>the English</a:t>
            </a:r>
            <a:r>
              <a:rPr lang="en-US" sz="2100" dirty="0">
                <a:solidFill>
                  <a:schemeClr val="tx1"/>
                </a:solidFill>
              </a:rPr>
              <a:t> has been corrected; the content is </a:t>
            </a:r>
            <a:r>
              <a:rPr lang="en-US" sz="2100" b="1" dirty="0">
                <a:solidFill>
                  <a:schemeClr val="accent3"/>
                </a:solidFill>
              </a:rPr>
              <a:t>unchanged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 look forward to </a:t>
            </a:r>
            <a:r>
              <a:rPr lang="en-US" sz="2100" b="1" dirty="0">
                <a:solidFill>
                  <a:schemeClr val="accent3"/>
                </a:solidFill>
              </a:rPr>
              <a:t>hearing</a:t>
            </a:r>
            <a:r>
              <a:rPr lang="en-US" sz="2100" dirty="0">
                <a:solidFill>
                  <a:schemeClr val="tx1"/>
                </a:solidFill>
              </a:rPr>
              <a:t> from you.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accent3"/>
                </a:solidFill>
              </a:rPr>
              <a:t>Kind regards</a:t>
            </a:r>
            <a:r>
              <a:rPr lang="en-US" sz="2100" dirty="0">
                <a:solidFill>
                  <a:schemeClr val="tx1"/>
                </a:solidFill>
              </a:rPr>
              <a:t>,   Mark Shaw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Friend or false friend?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says an English word. Is it a friend?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· 3 minutes · thumbs, then the meaning in French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28331" y="3063240"/>
            <a:ext cx="849295" cy="849295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654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TRUE FRIEND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up</a:t>
            </a:r>
            <a:r>
              <a:rPr lang="en-US" sz="1700" dirty="0">
                <a:solidFill>
                  <a:schemeClr val="tx1"/>
                </a:solidFill>
              </a:rPr>
              <a:t>: it means the same as the French word.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231636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B03A2E">
              <a:alpha val="10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11327" y="3063240"/>
            <a:ext cx="849295" cy="849295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50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68796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FALSE FRIEND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6414516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down</a:t>
            </a:r>
            <a:r>
              <a:rPr lang="en-US" sz="1700" dirty="0">
                <a:solidFill>
                  <a:schemeClr val="tx1"/>
                </a:solidFill>
              </a:rPr>
              <a:t>: it means something else — say what!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Thumbs up or down on “three, two, one!”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A false friend? One student gives the real meaning — and the word Verdier needed.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Friend or false friend?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Thumbs up = </a:t>
            </a:r>
            <a:r>
              <a:rPr lang="en-US" sz="1600" b="1" i="1" dirty="0">
                <a:solidFill>
                  <a:schemeClr val="accent5"/>
                </a:solidFill>
              </a:rPr>
              <a:t>true friend</a:t>
            </a:r>
            <a:r>
              <a:rPr lang="en-US" sz="1600" i="1" dirty="0">
                <a:solidFill>
                  <a:schemeClr val="accent5"/>
                </a:solidFill>
              </a:rPr>
              <a:t> · thumbs down = </a:t>
            </a:r>
            <a:r>
              <a:rPr lang="en-US" sz="1600" b="1" i="1" dirty="0">
                <a:solidFill>
                  <a:schemeClr val="accent5"/>
                </a:solidFill>
              </a:rPr>
              <a:t>false friend</a:t>
            </a:r>
            <a:r>
              <a:rPr lang="en-US" sz="1600" i="1" dirty="0">
                <a:solidFill>
                  <a:schemeClr val="accent5"/>
                </a:solidFill>
              </a:rPr>
              <a:t> — with the real meaning.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7308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3789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actually</a:t>
            </a:r>
            <a:r>
              <a:rPr lang="en-US" sz="1600" dirty="0">
                <a:solidFill>
                  <a:schemeClr val="tx1"/>
                </a:solidFill>
              </a:rPr>
              <a:t> = en fait (≠ actuellement)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031236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18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important</a:t>
            </a:r>
            <a:r>
              <a:rPr lang="en-US" sz="1600" dirty="0">
                <a:solidFill>
                  <a:schemeClr val="tx1"/>
                </a:solidFill>
              </a:rPr>
              <a:t> = important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TRUE FRIEND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72516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57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eventually</a:t>
            </a:r>
            <a:r>
              <a:rPr lang="en-US" sz="1600" dirty="0">
                <a:solidFill>
                  <a:schemeClr val="tx1"/>
                </a:solidFill>
              </a:rPr>
              <a:t> = finalement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419092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51967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sensible</a:t>
            </a:r>
            <a:r>
              <a:rPr lang="en-US" sz="1600" dirty="0">
                <a:solidFill>
                  <a:schemeClr val="tx1"/>
                </a:solidFill>
              </a:rPr>
              <a:t> = raisonnable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113020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1360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possible</a:t>
            </a:r>
            <a:r>
              <a:rPr lang="en-US" sz="1600" dirty="0">
                <a:solidFill>
                  <a:schemeClr val="tx1"/>
                </a:solidFill>
              </a:rPr>
              <a:t> = possible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TRUE FRIEND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8368" y="5806948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90753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88720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library</a:t>
            </a:r>
            <a:r>
              <a:rPr lang="en-US" sz="1600" dirty="0">
                <a:solidFill>
                  <a:schemeClr val="tx1"/>
                </a:solidFill>
              </a:rPr>
              <a:t> = bibliothèque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4448556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233730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2437892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information</a:t>
            </a:r>
            <a:r>
              <a:rPr lang="en-US" sz="1600" dirty="0">
                <a:solidFill>
                  <a:schemeClr val="tx1"/>
                </a:solidFill>
              </a:rPr>
              <a:t> = information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TRUE FRIEND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031236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3131820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assist</a:t>
            </a:r>
            <a:r>
              <a:rPr lang="en-US" sz="1600" dirty="0">
                <a:solidFill>
                  <a:schemeClr val="tx1"/>
                </a:solidFill>
              </a:rPr>
              <a:t> = aider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372516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382574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delay</a:t>
            </a:r>
            <a:r>
              <a:rPr lang="en-US" sz="1600" dirty="0">
                <a:solidFill>
                  <a:schemeClr val="tx1"/>
                </a:solidFill>
              </a:rPr>
              <a:t> = retard</a:t>
            </a:r>
            <a:endParaRPr lang="en-US" sz="16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6231636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341364" y="4419092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4519676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871716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</a:t>
            </a:r>
            <a:r>
              <a:rPr lang="en-US" sz="1600" dirty="0">
                <a:solidFill>
                  <a:schemeClr val="tx1"/>
                </a:solidFill>
              </a:rPr>
              <a:t> = problème</a:t>
            </a:r>
            <a:endParaRPr lang="en-US" sz="1600" dirty="0"/>
          </a:p>
        </p:txBody>
      </p:sp>
      <p:sp>
        <p:nvSpPr>
          <p:cNvPr id="56" name="Text 44"/>
          <p:cNvSpPr txBox="1"/>
          <p:nvPr/>
        </p:nvSpPr>
        <p:spPr>
          <a:xfrm>
            <a:off x="10131552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TRUE FRIEND</a:t>
            </a:r>
            <a:endParaRPr lang="en-US" sz="1300" dirty="0"/>
          </a:p>
        </p:txBody>
      </p:sp>
      <p:sp>
        <p:nvSpPr>
          <p:cNvPr id="57" name="Shape 45"/>
          <p:cNvSpPr/>
          <p:nvPr/>
        </p:nvSpPr>
        <p:spPr>
          <a:xfrm>
            <a:off x="6231636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341364" y="5113020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948" y="5213604"/>
            <a:ext cx="201168" cy="20116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871716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achieve</a:t>
            </a:r>
            <a:r>
              <a:rPr lang="en-US" sz="1600" dirty="0">
                <a:solidFill>
                  <a:schemeClr val="tx1"/>
                </a:solidFill>
              </a:rPr>
              <a:t> = réussir, atteindre</a:t>
            </a:r>
            <a:endParaRPr lang="en-US" sz="1600" dirty="0"/>
          </a:p>
        </p:txBody>
      </p:sp>
      <p:sp>
        <p:nvSpPr>
          <p:cNvPr id="61" name="Text 48"/>
          <p:cNvSpPr txBox="1"/>
          <p:nvPr/>
        </p:nvSpPr>
        <p:spPr>
          <a:xfrm>
            <a:off x="10131552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FALSE FRIEND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6231636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341364" y="580694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1948" y="5907532"/>
            <a:ext cx="201168" cy="20116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871716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confirm</a:t>
            </a:r>
            <a:r>
              <a:rPr lang="en-US" sz="1600" dirty="0">
                <a:solidFill>
                  <a:schemeClr val="tx1"/>
                </a:solidFill>
              </a:rPr>
              <a:t> = confirmer</a:t>
            </a:r>
            <a:endParaRPr lang="en-US" sz="1600" dirty="0"/>
          </a:p>
        </p:txBody>
      </p:sp>
      <p:sp>
        <p:nvSpPr>
          <p:cNvPr id="66" name="Text 52"/>
          <p:cNvSpPr txBox="1"/>
          <p:nvPr/>
        </p:nvSpPr>
        <p:spPr>
          <a:xfrm>
            <a:off x="10131552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TRUE FRIEND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 insurer does not read what an e-mail claims.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She reads what it unintentionally concedes.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Translate: </a:t>
            </a:r>
            <a:r>
              <a:rPr lang="en-US" sz="1800" i="1" dirty="0">
                <a:solidFill>
                  <a:schemeClr val="tx1"/>
                </a:solidFill>
              </a:rPr>
              <a:t>Je vais assister à la réunion.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Nous avons un délai de deux jours.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7 false friends</a:t>
            </a:r>
            <a:r>
              <a:rPr lang="en-US" sz="1700" dirty="0">
                <a:solidFill>
                  <a:schemeClr val="tx1"/>
                </a:solidFill>
              </a:rPr>
              <a:t> — both directions.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6118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56616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e-mail toolkit (opening, body, closing).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617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57200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Prepare p. 25: five questions on what the e-mail </a:t>
            </a:r>
            <a:r>
              <a:rPr lang="en-US" sz="1700" b="1" dirty="0">
                <a:solidFill>
                  <a:schemeClr val="tx1"/>
                </a:solidFill>
              </a:rPr>
              <a:t>admits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11 — The e-mail you must not forward as it is</dc:title>
  <dc:subject>Case File 01 — The night nobody heard</dc:subject>
  <dc:creator>A. Jouniaux</dc:creator>
  <cp:lastModifiedBy>A. Jouniaux</cp:lastModifiedBy>
  <cp:revision>1</cp:revision>
  <dcterms:created xsi:type="dcterms:W3CDTF">2026-10-17T17:37:26Z</dcterms:created>
  <dcterms:modified xsi:type="dcterms:W3CDTF">2026-10-17T17:37:26Z</dcterms:modified>
</cp:coreProperties>
</file>