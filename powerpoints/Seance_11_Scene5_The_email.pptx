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1a36a0a-d3a5-4daa-0c80-46a7e82d09a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Clôture" id="{4d95c98e-2eb1-e0d5-b03c-784cccc4d61a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Scène 5 : l’e-mail de Paul Verdier (Exhibit B). Repérer les 7 faux amis et les 2 formes verbales qui placent la soirée dans le mauvais temps. Principe déontologique : on corrige l’anglais, pas le contenu.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Bulles : « Wait — do not forward that yet. » / « He wrote controlled. He means checked. » En anglais, control = maîtriser, diriger.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English UE 3 · Case File 01 — The night nobody heard · Séance 11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DARK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English UE 3 · Case File 01 — The night nobody heard · Séance 11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_COVER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English UE 3 · A. Jouniaux · Project Atlas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369820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SÉANCE 11 / 19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2"/>
                </a:solidFill>
              </a:rPr>
              <a:t>SCENE 5</a:t>
            </a:r>
            <a:endParaRPr lang="en-US" sz="13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10.20</a:t>
            </a:r>
            <a:endParaRPr lang="en-US" sz="13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18745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e-mail you must not forward as it is</a:t>
            </a:r>
            <a:endParaRPr lang="en-US" sz="40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548640" y="3794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bg2"/>
                </a:solidFill>
              </a:rPr>
              <a:t>The general contractor defends itself. Poorly, and in broken English.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chemeClr val="bg2"/>
                </a:solidFill>
              </a:rPr>
              <a:t>Case File 01 — The night nobody heard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Livret p. 23–24</a:t>
            </a:r>
            <a:endParaRPr lang="en-US" sz="1800" dirty="0"/>
          </a:p>
        </p:txBody>
      </p:sp>
      <p:pic>
        <p:nvPicPr>
          <p:cNvPr id="6" name="illustration" descr="Scene 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722120"/>
            <a:ext cx="5120640" cy="34137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Today's mission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BRIEFING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23–24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9928"/>
            <a:ext cx="566928" cy="566928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184708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81328" y="1655064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BY THE END OF THE SESSION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194767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 document fit to be forwarded</a:t>
            </a:r>
            <a:r>
              <a:rPr lang="en-US" sz="1800" dirty="0">
                <a:solidFill>
                  <a:schemeClr val="tx1"/>
                </a:solidFill>
              </a:rPr>
              <a:t>: seven false friends and two verb forms corrected.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36392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3337560"/>
            <a:ext cx="566928" cy="566928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47472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81328" y="3282696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LANGUAGE FOCUS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575304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False friends (</a:t>
            </a:r>
            <a:r>
              <a:rPr lang="en-US" sz="1400" i="1" dirty="0">
                <a:solidFill>
                  <a:schemeClr val="tx1"/>
                </a:solidFill>
              </a:rPr>
              <a:t>control, actually, assist, demand, delay, eventually, resume</a:t>
            </a:r>
            <a:r>
              <a:rPr lang="en-US" sz="1400" dirty="0">
                <a:solidFill>
                  <a:schemeClr val="tx1"/>
                </a:solidFill>
              </a:rPr>
              <a:t>) · past simple with a finished time (</a:t>
            </a:r>
            <a:r>
              <a:rPr lang="en-US" sz="1400" i="1" dirty="0">
                <a:solidFill>
                  <a:schemeClr val="tx1"/>
                </a:solidFill>
              </a:rPr>
              <a:t>yesterday, at 19.58</a:t>
            </a:r>
            <a:r>
              <a:rPr lang="en-US" sz="1400" dirty="0">
                <a:solidFill>
                  <a:schemeClr val="tx1"/>
                </a:solidFill>
              </a:rPr>
              <a:t>) · e-mail register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764024"/>
            <a:ext cx="525780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49808" y="4965192"/>
            <a:ext cx="566928" cy="566928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102352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81328" y="491032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3"/>
                </a:solidFill>
              </a:rPr>
              <a:t>SKILLS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5202936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Proofreading for meaning · protecting a file without changing its content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2636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ROADMAP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8897112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≈ 90 min (indicatif)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263640" y="195967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6263640" y="195967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784848" y="187452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Warm-up: progress expressions</a:t>
            </a:r>
            <a:endParaRPr lang="en-US" sz="1600" dirty="0"/>
          </a:p>
        </p:txBody>
      </p:sp>
      <p:sp>
        <p:nvSpPr>
          <p:cNvPr id="25" name="Text 20"/>
          <p:cNvSpPr txBox="1"/>
          <p:nvPr/>
        </p:nvSpPr>
        <p:spPr>
          <a:xfrm>
            <a:off x="10972800" y="187452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6263640" y="251402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6263640" y="251402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784848" y="242887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Scene 5 + Exhibit B (p. 23)</a:t>
            </a:r>
            <a:endParaRPr lang="en-US" sz="1600" dirty="0"/>
          </a:p>
        </p:txBody>
      </p:sp>
      <p:sp>
        <p:nvSpPr>
          <p:cNvPr id="29" name="Text 24"/>
          <p:cNvSpPr txBox="1"/>
          <p:nvPr/>
        </p:nvSpPr>
        <p:spPr>
          <a:xfrm>
            <a:off x="10972800" y="242887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263640" y="306838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6263640" y="3068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6784848" y="298323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Hunt the seven words (p. 24)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10972800" y="298323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20'</a:t>
            </a:r>
            <a:endParaRPr lang="en-US" sz="1500" dirty="0"/>
          </a:p>
        </p:txBody>
      </p:sp>
      <p:sp>
        <p:nvSpPr>
          <p:cNvPr id="34" name="Shape 29"/>
          <p:cNvSpPr/>
          <p:nvPr/>
        </p:nvSpPr>
        <p:spPr>
          <a:xfrm>
            <a:off x="6263640" y="362273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263640" y="36227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6" name="Text 31"/>
          <p:cNvSpPr txBox="1"/>
          <p:nvPr/>
        </p:nvSpPr>
        <p:spPr>
          <a:xfrm>
            <a:off x="6784848" y="353758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Correction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10972800" y="353758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38" name="Shape 33"/>
          <p:cNvSpPr/>
          <p:nvPr/>
        </p:nvSpPr>
        <p:spPr>
          <a:xfrm>
            <a:off x="6263640" y="4177093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263640" y="417709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0" name="Text 35"/>
          <p:cNvSpPr txBox="1"/>
          <p:nvPr/>
        </p:nvSpPr>
        <p:spPr>
          <a:xfrm>
            <a:off x="6784848" y="409194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two verb forms</a:t>
            </a:r>
            <a:endParaRPr lang="en-US" sz="1600" dirty="0"/>
          </a:p>
        </p:txBody>
      </p:sp>
      <p:sp>
        <p:nvSpPr>
          <p:cNvPr id="41" name="Text 36"/>
          <p:cNvSpPr txBox="1"/>
          <p:nvPr/>
        </p:nvSpPr>
        <p:spPr>
          <a:xfrm>
            <a:off x="10972800" y="409194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42" name="Shape 37"/>
          <p:cNvSpPr/>
          <p:nvPr/>
        </p:nvSpPr>
        <p:spPr>
          <a:xfrm>
            <a:off x="6263640" y="473144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6263640" y="473144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784848" y="464629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clean e-mail</a:t>
            </a:r>
            <a:endParaRPr lang="en-US" sz="1600" dirty="0"/>
          </a:p>
        </p:txBody>
      </p:sp>
      <p:sp>
        <p:nvSpPr>
          <p:cNvPr id="45" name="Text 40"/>
          <p:cNvSpPr txBox="1"/>
          <p:nvPr/>
        </p:nvSpPr>
        <p:spPr>
          <a:xfrm>
            <a:off x="10972800" y="464629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10'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263640" y="5285804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6263640" y="52858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8" name="Text 43"/>
          <p:cNvSpPr txBox="1"/>
          <p:nvPr/>
        </p:nvSpPr>
        <p:spPr>
          <a:xfrm>
            <a:off x="6784848" y="5200650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E-mail toolkit + covering note</a:t>
            </a:r>
            <a:endParaRPr lang="en-US" sz="1600" dirty="0"/>
          </a:p>
        </p:txBody>
      </p:sp>
      <p:sp>
        <p:nvSpPr>
          <p:cNvPr id="49" name="Text 44"/>
          <p:cNvSpPr txBox="1"/>
          <p:nvPr/>
        </p:nvSpPr>
        <p:spPr>
          <a:xfrm>
            <a:off x="10972800" y="5200650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15'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6263640" y="5840158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6263640" y="584015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Text 47"/>
          <p:cNvSpPr txBox="1"/>
          <p:nvPr/>
        </p:nvSpPr>
        <p:spPr>
          <a:xfrm>
            <a:off x="6784848" y="5755005"/>
            <a:ext cx="4114800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Wrap-up</a:t>
            </a:r>
            <a:endParaRPr lang="en-US" sz="1600" dirty="0"/>
          </a:p>
        </p:txBody>
      </p:sp>
      <p:sp>
        <p:nvSpPr>
          <p:cNvPr id="53" name="Text 48"/>
          <p:cNvSpPr txBox="1"/>
          <p:nvPr/>
        </p:nvSpPr>
        <p:spPr>
          <a:xfrm>
            <a:off x="10972800" y="5755005"/>
            <a:ext cx="667512" cy="554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5'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progress, in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10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être dans les temps → to be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prendre du retard → to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tenir informé → to keep somebody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</p:txBody>
      </p:sp>
      <p:sp>
        <p:nvSpPr>
          <p:cNvPr id="6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faire un point rapide → to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relancer quelqu’un → to </a:t>
            </a:r>
            <a:r>
              <a:rPr lang="en-US" sz="2400" dirty="0">
                <a:solidFill>
                  <a:schemeClr val="accent5"/>
                </a:solidFill>
              </a:rPr>
              <a:t>……………</a:t>
            </a:r>
            <a:r>
              <a:rPr lang="en-US" sz="2400" dirty="0">
                <a:solidFill>
                  <a:schemeClr val="tx1"/>
                </a:solidFill>
              </a:rPr>
              <a:t> somebody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un goulet d’étranglement → a </a:t>
            </a:r>
            <a:r>
              <a:rPr lang="en-US" sz="2400" dirty="0">
                <a:solidFill>
                  <a:schemeClr val="accent5"/>
                </a:solidFill>
              </a:rPr>
              <a:t>………………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Warm-up: progress, in English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WARM-UP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Séance 10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1.  </a:t>
            </a:r>
            <a:r>
              <a:rPr lang="en-US" sz="2400" dirty="0">
                <a:solidFill>
                  <a:schemeClr val="tx1"/>
                </a:solidFill>
              </a:rPr>
              <a:t>être dans les temps → to be </a:t>
            </a:r>
            <a:r>
              <a:rPr lang="en-US" sz="2400" b="1" dirty="0">
                <a:solidFill>
                  <a:schemeClr val="accent3"/>
                </a:solidFill>
              </a:rPr>
              <a:t>on track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2.  </a:t>
            </a:r>
            <a:r>
              <a:rPr lang="en-US" sz="2400" dirty="0">
                <a:solidFill>
                  <a:schemeClr val="tx1"/>
                </a:solidFill>
              </a:rPr>
              <a:t>prendre du retard → to </a:t>
            </a:r>
            <a:r>
              <a:rPr lang="en-US" sz="2400" b="1" dirty="0">
                <a:solidFill>
                  <a:schemeClr val="accent3"/>
                </a:solidFill>
              </a:rPr>
              <a:t>fall behind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3.  </a:t>
            </a:r>
            <a:r>
              <a:rPr lang="en-US" sz="2400" dirty="0">
                <a:solidFill>
                  <a:schemeClr val="tx1"/>
                </a:solidFill>
              </a:rPr>
              <a:t>tenir informé → to keep somebody </a:t>
            </a:r>
            <a:r>
              <a:rPr lang="en-US" sz="2400" b="1" dirty="0">
                <a:solidFill>
                  <a:schemeClr val="accent3"/>
                </a:solidFill>
              </a:rPr>
              <a:t>in the loop</a:t>
            </a:r>
            <a:endParaRPr lang="en-US" sz="2400" dirty="0"/>
          </a:p>
        </p:txBody>
      </p:sp>
      <p:sp>
        <p:nvSpPr>
          <p:cNvPr id="7" name="exercise"/>
          <p:cNvSpPr txBox="1"/>
          <p:nvPr/>
        </p:nvSpPr>
        <p:spPr>
          <a:xfrm>
            <a:off x="6277356" y="1481328"/>
            <a:ext cx="5362956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4.  </a:t>
            </a:r>
            <a:r>
              <a:rPr lang="en-US" sz="2400" dirty="0">
                <a:solidFill>
                  <a:schemeClr val="tx1"/>
                </a:solidFill>
              </a:rPr>
              <a:t>faire un point rapide → to </a:t>
            </a:r>
            <a:r>
              <a:rPr lang="en-US" sz="2400" b="1" dirty="0">
                <a:solidFill>
                  <a:schemeClr val="accent3"/>
                </a:solidFill>
              </a:rPr>
              <a:t>touch base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5.  </a:t>
            </a:r>
            <a:r>
              <a:rPr lang="en-US" sz="2400" dirty="0">
                <a:solidFill>
                  <a:schemeClr val="tx1"/>
                </a:solidFill>
              </a:rPr>
              <a:t>relancer quelqu’un → to </a:t>
            </a:r>
            <a:r>
              <a:rPr lang="en-US" sz="2400" b="1" dirty="0">
                <a:solidFill>
                  <a:schemeClr val="accent3"/>
                </a:solidFill>
              </a:rPr>
              <a:t>chase</a:t>
            </a:r>
            <a:r>
              <a:rPr lang="en-US" sz="2400" dirty="0">
                <a:solidFill>
                  <a:schemeClr val="tx1"/>
                </a:solidFill>
              </a:rPr>
              <a:t> somebody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chemeClr val="tx2"/>
                </a:solidFill>
              </a:rPr>
              <a:t>6.  </a:t>
            </a:r>
            <a:r>
              <a:rPr lang="en-US" sz="2400" dirty="0">
                <a:solidFill>
                  <a:schemeClr val="tx1"/>
                </a:solidFill>
              </a:rPr>
              <a:t>un goulet d’étranglement → a </a:t>
            </a:r>
            <a:r>
              <a:rPr lang="en-US" sz="2400" b="1" dirty="0">
                <a:solidFill>
                  <a:schemeClr val="accent3"/>
                </a:solidFill>
              </a:rPr>
              <a:t>bottleneck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e-mail you must not forward as it is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9372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SCENE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23</a:t>
            </a:r>
            <a:endParaRPr lang="en-US" sz="1200" dirty="0"/>
          </a:p>
        </p:txBody>
      </p:sp>
      <p:pic>
        <p:nvPicPr>
          <p:cNvPr id="6" name="illustration" descr="Iris leans over the narrator’s laptop: “Wait — do not forward that yet.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035040" cy="4023360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6995160" y="1508760"/>
            <a:ext cx="16002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995160" y="1554480"/>
            <a:ext cx="1600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bg2"/>
                </a:solidFill>
              </a:rPr>
              <a:t>SCENE 5</a:t>
            </a:r>
            <a:endParaRPr lang="en-US" sz="11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10.20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6995160" y="2560320"/>
            <a:ext cx="4645152" cy="2380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Paul Verdier</a:t>
            </a:r>
            <a:r>
              <a:rPr lang="en-US" sz="1700" dirty="0">
                <a:solidFill>
                  <a:schemeClr val="tx1"/>
                </a:solidFill>
              </a:rPr>
              <a:t> runs the cabling team. His English is </a:t>
            </a:r>
            <a:r>
              <a:rPr lang="en-US" sz="1700" i="1" dirty="0">
                <a:solidFill>
                  <a:schemeClr val="tx1"/>
                </a:solidFill>
              </a:rPr>
              <a:t>enthusiastic and unreliable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Mark wants this e-mail forwarded to the insurer </a:t>
            </a:r>
            <a:r>
              <a:rPr lang="en-US" sz="1700" b="1" dirty="0">
                <a:solidFill>
                  <a:schemeClr val="tx1"/>
                </a:solidFill>
              </a:rPr>
              <a:t>within the hour</a:t>
            </a:r>
            <a:r>
              <a:rPr lang="en-US" sz="1700" dirty="0">
                <a:solidFill>
                  <a:schemeClr val="tx1"/>
                </a:solidFill>
              </a:rPr>
              <a:t> — but not in this state.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An assessor who reads </a:t>
            </a:r>
            <a:r>
              <a:rPr lang="en-US" sz="1700" i="1" dirty="0">
                <a:solidFill>
                  <a:schemeClr val="tx1"/>
                </a:solidFill>
              </a:rPr>
              <a:t>I have controlled the room</a:t>
            </a:r>
            <a:r>
              <a:rPr lang="en-US" sz="1700" dirty="0">
                <a:solidFill>
                  <a:schemeClr val="tx1"/>
                </a:solidFill>
              </a:rPr>
              <a:t> will wonder what else has been mistranslated.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995160" y="5123688"/>
            <a:ext cx="4645152" cy="1167384"/>
          </a:xfrm>
          <a:prstGeom prst="roundRect">
            <a:avLst>
              <a:gd name="adj" fmla="val 6266"/>
            </a:avLst>
          </a:prstGeom>
          <a:solidFill>
            <a:schemeClr val="accent1">
              <a:alpha val="12000"/>
            </a:schemeClr>
          </a:solidFill>
          <a:ln w="12700">
            <a:solidFill>
              <a:srgbClr val="C0752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178040" y="5215128"/>
            <a:ext cx="4279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ASK THE CLASS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7178040" y="5507736"/>
            <a:ext cx="4279392" cy="710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What does </a:t>
            </a:r>
            <a:r>
              <a:rPr lang="en-US" sz="1700" i="1" dirty="0">
                <a:solidFill>
                  <a:schemeClr val="tx1"/>
                </a:solidFill>
              </a:rPr>
              <a:t>I have controlled the room</a:t>
            </a:r>
            <a:r>
              <a:rPr lang="en-US" sz="1700" dirty="0">
                <a:solidFill>
                  <a:schemeClr val="tx1"/>
                </a:solidFill>
              </a:rPr>
              <a:t> mean in English — and what did Verdier want to say?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Exhibit B — the contractor’s e-mail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7406640" cy="4809744"/>
          </a:xfrm>
          <a:prstGeom prst="rect">
            <a:avLst/>
          </a:prstGeom>
          <a:solidFill>
            <a:schemeClr val="bg1"/>
          </a:solidFill>
          <a:ln w="12700">
            <a:solidFill>
              <a:srgbClr val="44546A"/>
            </a:solidFill>
            <a:prstDash val="dash"/>
          </a:ln>
        </p:spPr>
      </p:sp>
      <p:sp>
        <p:nvSpPr>
          <p:cNvPr id="6" name="tag"/>
          <p:cNvSpPr/>
          <p:nvPr/>
        </p:nvSpPr>
        <p:spPr>
          <a:xfrm>
            <a:off x="777240" y="1645920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EXHIBIT B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400300" y="1609344"/>
            <a:ext cx="5463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From: p.verdier@verdier-construction.be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48840"/>
            <a:ext cx="69494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Dear Mr Shaw,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 have controlled the second floor yesterday evening before we go. Actually, we are still waiting for the humidity report.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of my men will assist the meeting this afternoon if you want. I have demanded them to come.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We have a delay of two days to finish the cabling, so we are not late. Eventually, we can send you our own report.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I have resumed our position in three lines below. I don’t think it would be sensible to blame my team: the pipe is old and it is not our work. Everything was dry when my team leaves at 19.58.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Kind regards,   P. Verdier</a:t>
            </a:r>
            <a:endParaRPr lang="en-US" sz="1800" dirty="0"/>
          </a:p>
        </p:txBody>
      </p:sp>
      <p:pic>
        <p:nvPicPr>
          <p:cNvPr id="9" name="illustration" descr="Illustration from the case 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481328"/>
            <a:ext cx="3364992" cy="2243328"/>
          </a:xfrm>
          <a:prstGeom prst="rect">
            <a:avLst/>
          </a:prstGeom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pic>
      <p:sp>
        <p:nvSpPr>
          <p:cNvPr id="10" name="aside"/>
          <p:cNvSpPr/>
          <p:nvPr/>
        </p:nvSpPr>
        <p:spPr>
          <a:xfrm>
            <a:off x="8275320" y="3977640"/>
            <a:ext cx="3364992" cy="2313432"/>
          </a:xfrm>
          <a:prstGeom prst="roundRect">
            <a:avLst>
              <a:gd name="adj" fmla="val 3162"/>
            </a:avLst>
          </a:prstGeom>
          <a:solidFill>
            <a:schemeClr val="accent1">
              <a:alpha val="10000"/>
            </a:schemeClr>
          </a:solidFill>
          <a:ln w="12700">
            <a:solidFill>
              <a:schemeClr val="accent1">
                <a:alpha val="60000"/>
              </a:schemeClr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416052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42248" y="4133088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1"/>
                </a:solidFill>
              </a:rPr>
              <a:t>YOUR MOVE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439912" y="4572000"/>
            <a:ext cx="303580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7 words</a:t>
            </a:r>
            <a:r>
              <a:rPr lang="en-US" sz="1700" dirty="0">
                <a:solidFill>
                  <a:schemeClr val="tx1"/>
                </a:solidFill>
              </a:rPr>
              <a:t> used with their French meaning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2 verb forms</a:t>
            </a:r>
            <a:r>
              <a:rPr lang="en-US" sz="1700" dirty="0">
                <a:solidFill>
                  <a:schemeClr val="tx1"/>
                </a:solidFill>
              </a:rPr>
              <a:t> in the wrong time</a:t>
            </a:r>
            <a:endParaRPr lang="en-US" sz="17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700" i="1" dirty="0">
                <a:solidFill>
                  <a:schemeClr val="tx1"/>
                </a:solidFill>
              </a:rPr>
              <a:t>sensible</a:t>
            </a:r>
            <a:r>
              <a:rPr lang="en-US" sz="1700" dirty="0">
                <a:solidFill>
                  <a:schemeClr val="tx1"/>
                </a:solidFill>
              </a:rPr>
              <a:t> = reasonable here: </a:t>
            </a:r>
            <a:r>
              <a:rPr lang="en-US" sz="1700" b="1" dirty="0">
                <a:solidFill>
                  <a:schemeClr val="tx1"/>
                </a:solidFill>
              </a:rPr>
              <a:t>don’t touch it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Clean it before it leaves the building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71780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Underline the seven words a French speaker has used with their French meaning, and write what Verdier actually meant. Hint — in the order of the text:</a:t>
            </a:r>
            <a:endParaRPr lang="en-US" sz="16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2170176"/>
            <a:ext cx="7178040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verification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2.  </a:t>
            </a:r>
            <a:r>
              <a:rPr lang="en-US" sz="2100" dirty="0">
                <a:solidFill>
                  <a:schemeClr val="tx1"/>
                </a:solidFill>
              </a:rPr>
              <a:t>an adverb of </a:t>
            </a:r>
            <a:r>
              <a:rPr lang="en-US" sz="2100" b="1" dirty="0">
                <a:solidFill>
                  <a:schemeClr val="tx1"/>
                </a:solidFill>
              </a:rPr>
              <a:t>time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help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requirement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5.  </a:t>
            </a:r>
            <a:r>
              <a:rPr lang="en-US" sz="2100" dirty="0">
                <a:solidFill>
                  <a:schemeClr val="tx1"/>
                </a:solidFill>
              </a:rPr>
              <a:t>a noun of </a:t>
            </a:r>
            <a:r>
              <a:rPr lang="en-US" sz="2100" b="1" dirty="0">
                <a:solidFill>
                  <a:schemeClr val="tx1"/>
                </a:solidFill>
              </a:rPr>
              <a:t>duration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6.  </a:t>
            </a:r>
            <a:r>
              <a:rPr lang="en-US" sz="2100" dirty="0">
                <a:solidFill>
                  <a:schemeClr val="tx1"/>
                </a:solidFill>
              </a:rPr>
              <a:t>an adverb of </a:t>
            </a:r>
            <a:r>
              <a:rPr lang="en-US" sz="2100" b="1" dirty="0">
                <a:solidFill>
                  <a:schemeClr val="tx1"/>
                </a:solidFill>
              </a:rPr>
              <a:t>conclusion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……………………………………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summary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dirty="0">
                <a:solidFill>
                  <a:schemeClr val="accent5"/>
                </a:solidFill>
              </a:rPr>
              <a:t>……………………………</a:t>
            </a:r>
            <a:endParaRPr lang="en-US" sz="21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You are not correcting homework: </a:t>
            </a:r>
            <a:r>
              <a:rPr lang="en-US" sz="1800" b="1" dirty="0">
                <a:solidFill>
                  <a:schemeClr val="tx1"/>
                </a:solidFill>
              </a:rPr>
              <a:t>you are protecting a file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Change the </a:t>
            </a:r>
            <a:r>
              <a:rPr lang="en-US" sz="1800" b="1" dirty="0">
                <a:solidFill>
                  <a:schemeClr val="tx1"/>
                </a:solidFill>
              </a:rPr>
              <a:t>words</a:t>
            </a:r>
            <a:r>
              <a:rPr lang="en-US" sz="1800" dirty="0">
                <a:solidFill>
                  <a:schemeClr val="tx1"/>
                </a:solidFill>
              </a:rPr>
              <a:t>, never the </a:t>
            </a:r>
            <a:r>
              <a:rPr lang="en-US" sz="1800" b="1" dirty="0">
                <a:solidFill>
                  <a:schemeClr val="tx1"/>
                </a:solidFill>
              </a:rPr>
              <a:t>position</a:t>
            </a:r>
            <a:r>
              <a:rPr lang="en-US" sz="1800" dirty="0">
                <a:solidFill>
                  <a:schemeClr val="tx1"/>
                </a:solidFill>
              </a:rPr>
              <a:t> of the author.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Clean it before it leaves the building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24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71780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Underline the seven words a French speaker has used with their French meaning, and write what Verdier actually meant. Hint — in the order of the text:</a:t>
            </a:r>
            <a:endParaRPr lang="en-US" sz="1600" dirty="0"/>
          </a:p>
        </p:txBody>
      </p:sp>
      <p:sp>
        <p:nvSpPr>
          <p:cNvPr id="7" name="exercise"/>
          <p:cNvSpPr txBox="1"/>
          <p:nvPr/>
        </p:nvSpPr>
        <p:spPr>
          <a:xfrm>
            <a:off x="548640" y="2170176"/>
            <a:ext cx="7178040" cy="412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verification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controlled → checked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2.  </a:t>
            </a:r>
            <a:r>
              <a:rPr lang="en-US" sz="2100" dirty="0">
                <a:solidFill>
                  <a:schemeClr val="tx1"/>
                </a:solidFill>
              </a:rPr>
              <a:t>an adverb of </a:t>
            </a:r>
            <a:r>
              <a:rPr lang="en-US" sz="2100" b="1" dirty="0">
                <a:solidFill>
                  <a:schemeClr val="tx1"/>
                </a:solidFill>
              </a:rPr>
              <a:t>time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Actually → Currently / At the moment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help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assist → attend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requirement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demanded → asked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5.  </a:t>
            </a:r>
            <a:r>
              <a:rPr lang="en-US" sz="2100" dirty="0">
                <a:solidFill>
                  <a:schemeClr val="tx1"/>
                </a:solidFill>
              </a:rPr>
              <a:t>a noun of </a:t>
            </a:r>
            <a:r>
              <a:rPr lang="en-US" sz="2100" b="1" dirty="0">
                <a:solidFill>
                  <a:schemeClr val="tx1"/>
                </a:solidFill>
              </a:rPr>
              <a:t>duration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a delay → a deadline (two days to finish)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6.  </a:t>
            </a:r>
            <a:r>
              <a:rPr lang="en-US" sz="2100" dirty="0">
                <a:solidFill>
                  <a:schemeClr val="tx1"/>
                </a:solidFill>
              </a:rPr>
              <a:t>an adverb of </a:t>
            </a:r>
            <a:r>
              <a:rPr lang="en-US" sz="2100" b="1" dirty="0">
                <a:solidFill>
                  <a:schemeClr val="tx1"/>
                </a:solidFill>
              </a:rPr>
              <a:t>conclusion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Eventually → If necessary</a:t>
            </a:r>
            <a:endParaRPr lang="en-US" sz="21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7.  </a:t>
            </a:r>
            <a:r>
              <a:rPr lang="en-US" sz="2100" dirty="0">
                <a:solidFill>
                  <a:schemeClr val="tx1"/>
                </a:solidFill>
              </a:rPr>
              <a:t>a verb of </a:t>
            </a:r>
            <a:r>
              <a:rPr lang="en-US" sz="2100" b="1" dirty="0">
                <a:solidFill>
                  <a:schemeClr val="tx1"/>
                </a:solidFill>
              </a:rPr>
              <a:t>summary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dirty="0">
                <a:solidFill>
                  <a:schemeClr val="accent3"/>
                </a:solidFill>
              </a:rPr>
              <a:t>resumed → summarised</a:t>
            </a:r>
            <a:endParaRPr lang="en-US" sz="2100" dirty="0"/>
          </a:p>
        </p:txBody>
      </p:sp>
      <p:sp>
        <p:nvSpPr>
          <p:cNvPr id="8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WATCH 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sensible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dirty="0">
                <a:solidFill>
                  <a:schemeClr val="tx1"/>
                </a:solidFill>
              </a:rPr>
              <a:t>raisonnable</a:t>
            </a:r>
            <a:r>
              <a:rPr lang="en-US" sz="1800" dirty="0">
                <a:solidFill>
                  <a:schemeClr val="tx1"/>
                </a:solidFill>
              </a:rPr>
              <a:t>: correct here. (FR </a:t>
            </a:r>
            <a:r>
              <a:rPr lang="en-US" sz="1800" i="1" dirty="0">
                <a:solidFill>
                  <a:schemeClr val="tx1"/>
                </a:solidFill>
              </a:rPr>
              <a:t>sensible</a:t>
            </a:r>
            <a:r>
              <a:rPr lang="en-US" sz="1800" dirty="0">
                <a:solidFill>
                  <a:schemeClr val="tx1"/>
                </a:solidFill>
              </a:rPr>
              <a:t> = </a:t>
            </a:r>
            <a:r>
              <a:rPr lang="en-US" sz="1800" b="1" dirty="0">
                <a:solidFill>
                  <a:schemeClr val="tx1"/>
                </a:solidFill>
              </a:rPr>
              <a:t>sensitive</a:t>
            </a:r>
            <a:r>
              <a:rPr lang="en-US" sz="1800" dirty="0">
                <a:solidFill>
                  <a:schemeClr val="tx1"/>
                </a:solidFill>
              </a:rPr>
              <a:t>)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i="1" dirty="0">
                <a:solidFill>
                  <a:schemeClr val="tx1"/>
                </a:solidFill>
              </a:rPr>
              <a:t>a delay of two days</a:t>
            </a:r>
            <a:r>
              <a:rPr lang="en-US" sz="1800" dirty="0">
                <a:solidFill>
                  <a:schemeClr val="tx1"/>
                </a:solidFill>
              </a:rPr>
              <a:t> = un </a:t>
            </a:r>
            <a:r>
              <a:rPr lang="en-US" sz="1800" b="1" dirty="0">
                <a:solidFill>
                  <a:schemeClr val="tx1"/>
                </a:solidFill>
              </a:rPr>
              <a:t>retard</a:t>
            </a:r>
            <a:r>
              <a:rPr lang="en-US" sz="1800" dirty="0">
                <a:solidFill>
                  <a:schemeClr val="tx1"/>
                </a:solidFill>
              </a:rPr>
              <a:t> de deux jours: it says they </a:t>
            </a:r>
            <a:r>
              <a:rPr lang="en-US" sz="1800" b="1" dirty="0">
                <a:solidFill>
                  <a:schemeClr val="tx1"/>
                </a:solidFill>
              </a:rPr>
              <a:t>are</a:t>
            </a:r>
            <a:r>
              <a:rPr lang="en-US" sz="1800" dirty="0">
                <a:solidFill>
                  <a:schemeClr val="tx1"/>
                </a:solidFill>
              </a:rPr>
              <a:t> late!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Seven words, seven traps — corrected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24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662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I have </a:t>
            </a:r>
            <a:r>
              <a:rPr lang="en-US" sz="2200" strike="sngStrike" dirty="0">
                <a:solidFill>
                  <a:schemeClr val="accent6"/>
                </a:solidFill>
              </a:rPr>
              <a:t>controlled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checked</a:t>
            </a:r>
            <a:r>
              <a:rPr lang="en-US" sz="2200" dirty="0">
                <a:solidFill>
                  <a:schemeClr val="tx1"/>
                </a:solidFill>
              </a:rPr>
              <a:t> the second floor yesterday evening before we go. </a:t>
            </a:r>
            <a:r>
              <a:rPr lang="en-US" sz="2200" strike="sngStrike" dirty="0">
                <a:solidFill>
                  <a:schemeClr val="accent6"/>
                </a:solidFill>
              </a:rPr>
              <a:t>Actually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Currently</a:t>
            </a:r>
            <a:r>
              <a:rPr lang="en-US" sz="2200" dirty="0">
                <a:solidFill>
                  <a:schemeClr val="tx1"/>
                </a:solidFill>
              </a:rPr>
              <a:t>, we are still waiting for the humidity report.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Two of my men will </a:t>
            </a:r>
            <a:r>
              <a:rPr lang="en-US" sz="2200" strike="sngStrike" dirty="0">
                <a:solidFill>
                  <a:schemeClr val="accent6"/>
                </a:solidFill>
              </a:rPr>
              <a:t>assist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attend</a:t>
            </a:r>
            <a:r>
              <a:rPr lang="en-US" sz="2200" dirty="0">
                <a:solidFill>
                  <a:schemeClr val="tx1"/>
                </a:solidFill>
              </a:rPr>
              <a:t> the meeting this afternoon if you want. I have </a:t>
            </a:r>
            <a:r>
              <a:rPr lang="en-US" sz="2200" strike="sngStrike" dirty="0">
                <a:solidFill>
                  <a:schemeClr val="accent6"/>
                </a:solidFill>
              </a:rPr>
              <a:t>demanded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asked</a:t>
            </a:r>
            <a:r>
              <a:rPr lang="en-US" sz="2200" dirty="0">
                <a:solidFill>
                  <a:schemeClr val="tx1"/>
                </a:solidFill>
              </a:rPr>
              <a:t> them to come.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We have </a:t>
            </a:r>
            <a:r>
              <a:rPr lang="en-US" sz="2200" strike="sngStrike" dirty="0">
                <a:solidFill>
                  <a:schemeClr val="accent6"/>
                </a:solidFill>
              </a:rPr>
              <a:t>a delay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a deadline</a:t>
            </a:r>
            <a:r>
              <a:rPr lang="en-US" sz="2200" dirty="0">
                <a:solidFill>
                  <a:schemeClr val="tx1"/>
                </a:solidFill>
              </a:rPr>
              <a:t> of two days to finish the cabling, so we are not late. </a:t>
            </a:r>
            <a:r>
              <a:rPr lang="en-US" sz="2200" strike="sngStrike" dirty="0">
                <a:solidFill>
                  <a:schemeClr val="accent6"/>
                </a:solidFill>
              </a:rPr>
              <a:t>Eventually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If necessary</a:t>
            </a:r>
            <a:r>
              <a:rPr lang="en-US" sz="2200" dirty="0">
                <a:solidFill>
                  <a:schemeClr val="tx1"/>
                </a:solidFill>
              </a:rPr>
              <a:t>, we can send you our own report.</a:t>
            </a:r>
            <a:endParaRPr lang="en-US" sz="2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chemeClr val="tx1"/>
                </a:solidFill>
              </a:rPr>
              <a:t>I have </a:t>
            </a:r>
            <a:r>
              <a:rPr lang="en-US" sz="2200" strike="sngStrike" dirty="0">
                <a:solidFill>
                  <a:schemeClr val="accent6"/>
                </a:solidFill>
              </a:rPr>
              <a:t>resumed</a:t>
            </a:r>
            <a:r>
              <a:rPr lang="en-US" sz="2200" dirty="0">
                <a:solidFill>
                  <a:schemeClr val="tx1"/>
                </a:solidFill>
              </a:rPr>
              <a:t> </a:t>
            </a:r>
            <a:r>
              <a:rPr lang="en-US" sz="2200" b="1" dirty="0">
                <a:solidFill>
                  <a:schemeClr val="accent3"/>
                </a:solidFill>
              </a:rPr>
              <a:t>summarised</a:t>
            </a:r>
            <a:r>
              <a:rPr lang="en-US" sz="2200" dirty="0">
                <a:solidFill>
                  <a:schemeClr val="tx1"/>
                </a:solidFill>
              </a:rPr>
              <a:t> our position in three lines below. I don’t think it would be </a:t>
            </a:r>
            <a:r>
              <a:rPr lang="en-US" sz="2200" b="1" dirty="0">
                <a:solidFill>
                  <a:schemeClr val="tx1"/>
                </a:solidFill>
              </a:rPr>
              <a:t>sensible</a:t>
            </a:r>
            <a:r>
              <a:rPr lang="en-US" sz="2200" dirty="0">
                <a:solidFill>
                  <a:schemeClr val="tx1"/>
                </a:solidFill>
              </a:rPr>
              <a:t> to blame my team: the pipe is old and it is not our work. Everything was dry when my team leaves at 19.58.</a:t>
            </a:r>
            <a:endParaRPr lang="en-US" sz="2200" dirty="0"/>
          </a:p>
        </p:txBody>
      </p:sp>
      <p:sp>
        <p:nvSpPr>
          <p:cNvPr id="7" name="aside"/>
          <p:cNvSpPr/>
          <p:nvPr/>
        </p:nvSpPr>
        <p:spPr>
          <a:xfrm>
            <a:off x="8531352" y="1481328"/>
            <a:ext cx="3108960" cy="4809744"/>
          </a:xfrm>
          <a:prstGeom prst="roundRect">
            <a:avLst>
              <a:gd name="adj" fmla="val 2353"/>
            </a:avLst>
          </a:prstGeom>
          <a:solidFill>
            <a:schemeClr val="accent6">
              <a:alpha val="10000"/>
            </a:schemeClr>
          </a:solidFill>
          <a:ln w="12700">
            <a:solidFill>
              <a:schemeClr val="accent6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98280" y="1636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6"/>
                </a:solidFill>
              </a:rPr>
              <a:t>NOT YET DONE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95944" y="2075688"/>
            <a:ext cx="277977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Two </a:t>
            </a:r>
            <a:r>
              <a:rPr lang="en-US" sz="1800" b="1" dirty="0">
                <a:solidFill>
                  <a:schemeClr val="tx1"/>
                </a:solidFill>
              </a:rPr>
              <a:t>verb forms</a:t>
            </a:r>
            <a:r>
              <a:rPr lang="en-US" sz="1800" dirty="0">
                <a:solidFill>
                  <a:schemeClr val="tx1"/>
                </a:solidFill>
              </a:rPr>
              <a:t> still put the evening in the wrong time.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you find them?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What he wrote, what he meant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WORD FILE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24 &amp; 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2926080"/>
                <a:gridCol w="3227832"/>
              </a:tblGrid>
              <a:tr h="62819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THE E-MAIL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VERDIER THOUGHT…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IN ENGLISH IT MEANS…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WRITE INSTEAD</a:t>
                      </a:r>
                      <a:endParaRPr lang="en-US" sz="18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controlled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contrôlé = vérifié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maîtrisé, dirigé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checked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actually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actuellement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en fait, en réalité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currently / at the moment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assist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assister à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aider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attend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demanded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demandé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exigé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asked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a delay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un délai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un retard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a deadline / a time limit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eventually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éventuellement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finalement, à la fin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if necessary / possibly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888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6"/>
                          </a:solidFill>
                        </a:rPr>
                        <a:t>resumed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accent5"/>
                          </a:solidFill>
                        </a:rPr>
                        <a:t>résumé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repris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3"/>
                          </a:solidFill>
                        </a:rPr>
                        <a:t>summarised</a:t>
                      </a:r>
                      <a:endParaRPr lang="en-US" sz="2000" dirty="0"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two verb forms that matter most to the insurer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81328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Now correct the </a:t>
            </a:r>
            <a:r>
              <a:rPr lang="en-US" sz="1800" b="1" dirty="0">
                <a:solidFill>
                  <a:schemeClr val="tx1"/>
                </a:solidFill>
              </a:rPr>
              <a:t>two verb forms</a:t>
            </a:r>
            <a:r>
              <a:rPr lang="en-US" sz="1800" dirty="0">
                <a:solidFill>
                  <a:schemeClr val="tx1"/>
                </a:solidFill>
              </a:rPr>
              <a:t> that place the evening in the wrong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947672"/>
            <a:ext cx="5408676" cy="345643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94767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267712"/>
            <a:ext cx="5408676" cy="18288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194767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1 · A FINISHED TIME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51176"/>
            <a:ext cx="5042916" cy="3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 </a:t>
            </a:r>
            <a:r>
              <a:rPr lang="en-US" sz="2200" b="1" strike="sngStrike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have controlled</a:t>
            </a:r>
            <a:r>
              <a:rPr lang="en-US" sz="22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… yesterday evening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064510"/>
            <a:ext cx="5042916" cy="222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I </a:t>
            </a:r>
            <a:r>
              <a:rPr lang="en-US" sz="2000" b="1" dirty="0">
                <a:solidFill>
                  <a:schemeClr val="tx1"/>
                </a:solidFill>
              </a:rPr>
              <a:t>checked</a:t>
            </a:r>
            <a:r>
              <a:rPr lang="en-US" sz="2000" dirty="0">
                <a:solidFill>
                  <a:schemeClr val="tx1"/>
                </a:solidFill>
              </a:rPr>
              <a:t> the second floor </a:t>
            </a:r>
            <a:r>
              <a:rPr lang="en-US" sz="2000" b="1" dirty="0">
                <a:solidFill>
                  <a:schemeClr val="tx1"/>
                </a:solidFill>
              </a:rPr>
              <a:t>yesterday evening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 finished time (</a:t>
            </a:r>
            <a:r>
              <a:rPr lang="en-US" sz="2000" i="1" dirty="0">
                <a:solidFill>
                  <a:schemeClr val="tx1"/>
                </a:solidFill>
              </a:rPr>
              <a:t>yesterday, last night, at 19.58</a:t>
            </a:r>
            <a:r>
              <a:rPr lang="en-US" sz="2000" dirty="0">
                <a:solidFill>
                  <a:schemeClr val="tx1"/>
                </a:solidFill>
              </a:rPr>
              <a:t>) → </a:t>
            </a:r>
            <a:r>
              <a:rPr lang="en-US" sz="2000" b="1" dirty="0">
                <a:solidFill>
                  <a:schemeClr val="tx1"/>
                </a:solidFill>
              </a:rPr>
              <a:t>past simple</a:t>
            </a:r>
            <a:r>
              <a:rPr lang="en-US" sz="2000" dirty="0">
                <a:solidFill>
                  <a:schemeClr val="tx1"/>
                </a:solidFill>
              </a:rPr>
              <a:t>, never </a:t>
            </a:r>
            <a:r>
              <a:rPr lang="en-US" sz="2000" i="1" dirty="0">
                <a:solidFill>
                  <a:schemeClr val="tx1"/>
                </a:solidFill>
              </a:rPr>
              <a:t>have + participle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31636" y="1947672"/>
            <a:ext cx="5408676" cy="3456432"/>
          </a:xfrm>
          <a:prstGeom prst="roundRect">
            <a:avLst>
              <a:gd name="adj" fmla="val 2646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1636" y="1947672"/>
            <a:ext cx="5408676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4" name="Shape 12"/>
          <p:cNvSpPr/>
          <p:nvPr/>
        </p:nvSpPr>
        <p:spPr>
          <a:xfrm>
            <a:off x="6231636" y="2267712"/>
            <a:ext cx="5408676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4516" y="1947672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2 · A PAST EVENT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4516" y="2551176"/>
            <a:ext cx="5042916" cy="376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my team </a:t>
            </a:r>
            <a:r>
              <a:rPr lang="en-US" sz="2200" b="1" strike="sngStrike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leaves</a:t>
            </a: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at 19.58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6414516" y="3064510"/>
            <a:ext cx="5042916" cy="22298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→ Everything was dry when my team </a:t>
            </a:r>
            <a:r>
              <a:rPr lang="en-US" sz="2000" b="1" dirty="0">
                <a:solidFill>
                  <a:schemeClr val="tx1"/>
                </a:solidFill>
              </a:rPr>
              <a:t>left</a:t>
            </a:r>
            <a:r>
              <a:rPr lang="en-US" sz="2000" dirty="0">
                <a:solidFill>
                  <a:schemeClr val="tx1"/>
                </a:solidFill>
              </a:rPr>
              <a:t> at 19.58.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i="1" dirty="0">
                <a:solidFill>
                  <a:schemeClr val="tx1"/>
                </a:solidFill>
              </a:rPr>
              <a:t>leaves</a:t>
            </a:r>
            <a:r>
              <a:rPr lang="en-US" sz="2000" dirty="0">
                <a:solidFill>
                  <a:schemeClr val="tx1"/>
                </a:solidFill>
              </a:rPr>
              <a:t> = present: it sounds like a habit, or the future.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Bonus: </a:t>
            </a:r>
            <a:r>
              <a:rPr lang="en-US" sz="2000" i="1" dirty="0">
                <a:solidFill>
                  <a:schemeClr val="tx1"/>
                </a:solidFill>
              </a:rPr>
              <a:t>before we </a:t>
            </a:r>
            <a:r>
              <a:rPr lang="en-US" sz="2000" i="1" strike="sngStrike" dirty="0">
                <a:solidFill>
                  <a:schemeClr val="accent6"/>
                </a:solidFill>
              </a:rPr>
              <a:t>go</a:t>
            </a:r>
            <a:r>
              <a:rPr lang="en-US" sz="2000" dirty="0">
                <a:solidFill>
                  <a:schemeClr val="tx1"/>
                </a:solidFill>
              </a:rPr>
              <a:t> → before we </a:t>
            </a:r>
            <a:r>
              <a:rPr lang="en-US" sz="2000" b="1" dirty="0">
                <a:solidFill>
                  <a:schemeClr val="tx1"/>
                </a:solidFill>
              </a:rPr>
              <a:t>left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0000"/>
            </a:schemeClr>
          </a:solidFill>
          <a:ln w="9525">
            <a:solidFill>
              <a:schemeClr val="accent3">
                <a:alpha val="70000"/>
              </a:schemeClr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Pourquoi ces deux-là — </a:t>
            </a:r>
            <a:r>
              <a:rPr lang="en-US" sz="1700" dirty="0">
                <a:solidFill>
                  <a:schemeClr val="tx1"/>
                </a:solidFill>
              </a:rPr>
              <a:t>They fix </a:t>
            </a:r>
            <a:r>
              <a:rPr lang="en-US" sz="1700" b="1" dirty="0">
                <a:solidFill>
                  <a:schemeClr val="tx1"/>
                </a:solidFill>
              </a:rPr>
              <a:t>when the room was checked</a:t>
            </a:r>
            <a:r>
              <a:rPr lang="en-US" sz="1700" dirty="0">
                <a:solidFill>
                  <a:schemeClr val="tx1"/>
                </a:solidFill>
              </a:rPr>
              <a:t> and </a:t>
            </a:r>
            <a:r>
              <a:rPr lang="en-US" sz="1700" b="1" dirty="0">
                <a:solidFill>
                  <a:schemeClr val="tx1"/>
                </a:solidFill>
              </a:rPr>
              <a:t>when it was dry</a:t>
            </a:r>
            <a:r>
              <a:rPr lang="en-US" sz="1700" dirty="0">
                <a:solidFill>
                  <a:schemeClr val="tx1"/>
                </a:solidFill>
              </a:rPr>
              <a:t>: the start of the window the assessor will look at.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e-mail, fit to be forwarded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944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YOUR MOVE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20528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Livret p. 23–24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662672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Dear Mr Shaw,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I </a:t>
            </a:r>
            <a:r>
              <a:rPr lang="en-US" sz="2000" b="1" dirty="0">
                <a:solidFill>
                  <a:schemeClr val="tx1"/>
                </a:solidFill>
              </a:rPr>
              <a:t>checked</a:t>
            </a:r>
            <a:r>
              <a:rPr lang="en-US" sz="2000" dirty="0">
                <a:solidFill>
                  <a:schemeClr val="tx1"/>
                </a:solidFill>
              </a:rPr>
              <a:t> the second floor yesterday evening before we </a:t>
            </a:r>
            <a:r>
              <a:rPr lang="en-US" sz="2000" b="1" dirty="0">
                <a:solidFill>
                  <a:schemeClr val="tx1"/>
                </a:solidFill>
              </a:rPr>
              <a:t>left</a:t>
            </a:r>
            <a:r>
              <a:rPr lang="en-US" sz="2000" dirty="0">
                <a:solidFill>
                  <a:schemeClr val="tx1"/>
                </a:solidFill>
              </a:rPr>
              <a:t>. We are </a:t>
            </a:r>
            <a:r>
              <a:rPr lang="en-US" sz="2000" b="1" dirty="0">
                <a:solidFill>
                  <a:schemeClr val="tx1"/>
                </a:solidFill>
              </a:rPr>
              <a:t>currently</a:t>
            </a:r>
            <a:r>
              <a:rPr lang="en-US" sz="2000" dirty="0">
                <a:solidFill>
                  <a:schemeClr val="tx1"/>
                </a:solidFill>
              </a:rPr>
              <a:t> still waiting for the humidity report.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Two of my men will </a:t>
            </a:r>
            <a:r>
              <a:rPr lang="en-US" sz="2000" b="1" dirty="0">
                <a:solidFill>
                  <a:schemeClr val="tx1"/>
                </a:solidFill>
              </a:rPr>
              <a:t>attend</a:t>
            </a:r>
            <a:r>
              <a:rPr lang="en-US" sz="2000" dirty="0">
                <a:solidFill>
                  <a:schemeClr val="tx1"/>
                </a:solidFill>
              </a:rPr>
              <a:t> the meeting this afternoon if you wish. I have </a:t>
            </a:r>
            <a:r>
              <a:rPr lang="en-US" sz="2000" b="1" dirty="0">
                <a:solidFill>
                  <a:schemeClr val="tx1"/>
                </a:solidFill>
              </a:rPr>
              <a:t>asked</a:t>
            </a:r>
            <a:r>
              <a:rPr lang="en-US" sz="2000" dirty="0">
                <a:solidFill>
                  <a:schemeClr val="tx1"/>
                </a:solidFill>
              </a:rPr>
              <a:t> them to come.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We have </a:t>
            </a:r>
            <a:r>
              <a:rPr lang="en-US" sz="2000" b="1" dirty="0">
                <a:solidFill>
                  <a:schemeClr val="tx1"/>
                </a:solidFill>
              </a:rPr>
              <a:t>two days left</a:t>
            </a:r>
            <a:r>
              <a:rPr lang="en-US" sz="2000" dirty="0">
                <a:solidFill>
                  <a:schemeClr val="tx1"/>
                </a:solidFill>
              </a:rPr>
              <a:t> to finish the cabling, so we are not late. </a:t>
            </a:r>
            <a:r>
              <a:rPr lang="en-US" sz="2000" b="1" dirty="0">
                <a:solidFill>
                  <a:schemeClr val="tx1"/>
                </a:solidFill>
              </a:rPr>
              <a:t>If necessary</a:t>
            </a:r>
            <a:r>
              <a:rPr lang="en-US" sz="2000" dirty="0">
                <a:solidFill>
                  <a:schemeClr val="tx1"/>
                </a:solidFill>
              </a:rPr>
              <a:t>, we can send you our own report.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I have </a:t>
            </a:r>
            <a:r>
              <a:rPr lang="en-US" sz="2000" b="1" dirty="0">
                <a:solidFill>
                  <a:schemeClr val="tx1"/>
                </a:solidFill>
              </a:rPr>
              <a:t>summarised</a:t>
            </a:r>
            <a:r>
              <a:rPr lang="en-US" sz="2000" dirty="0">
                <a:solidFill>
                  <a:schemeClr val="tx1"/>
                </a:solidFill>
              </a:rPr>
              <a:t> our position in three lines below. I don’t think it would be sensible to blame my team: the pipe is old and it is not our work. Everything was dry when my team </a:t>
            </a:r>
            <a:r>
              <a:rPr lang="en-US" sz="2000" b="1" dirty="0">
                <a:solidFill>
                  <a:schemeClr val="tx1"/>
                </a:solidFill>
              </a:rPr>
              <a:t>left</a:t>
            </a:r>
            <a:r>
              <a:rPr lang="en-US" sz="2000" dirty="0">
                <a:solidFill>
                  <a:schemeClr val="tx1"/>
                </a:solidFill>
              </a:rPr>
              <a:t> at 19.58.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chemeClr val="tx1"/>
                </a:solidFill>
              </a:rPr>
              <a:t>Kind regards,   P. Verdier</a:t>
            </a:r>
            <a:endParaRPr lang="en-US" sz="2000" dirty="0"/>
          </a:p>
        </p:txBody>
      </p:sp>
      <p:sp>
        <p:nvSpPr>
          <p:cNvPr id="7" name="aside"/>
          <p:cNvSpPr/>
          <p:nvPr/>
        </p:nvSpPr>
        <p:spPr>
          <a:xfrm>
            <a:off x="8531352" y="1481328"/>
            <a:ext cx="3108960" cy="4809744"/>
          </a:xfrm>
          <a:prstGeom prst="roundRect">
            <a:avLst>
              <a:gd name="adj" fmla="val 2353"/>
            </a:avLst>
          </a:prstGeom>
          <a:solidFill>
            <a:schemeClr val="accent3">
              <a:alpha val="10000"/>
            </a:schemeClr>
          </a:solidFill>
          <a:ln w="12700">
            <a:solidFill>
              <a:schemeClr val="accent3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098280" y="163677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3"/>
                </a:solidFill>
              </a:rPr>
              <a:t>BEFORE YOU FORWARD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695944" y="2075688"/>
            <a:ext cx="2779776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Meaning</a:t>
            </a:r>
            <a:r>
              <a:rPr lang="en-US" sz="1800" dirty="0">
                <a:solidFill>
                  <a:schemeClr val="tx1"/>
                </a:solidFill>
              </a:rPr>
              <a:t>: 7 words fixed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Time</a:t>
            </a:r>
            <a:r>
              <a:rPr lang="en-US" sz="1800" dirty="0">
                <a:solidFill>
                  <a:schemeClr val="tx1"/>
                </a:solidFill>
              </a:rPr>
              <a:t>: 2 verb forms fixed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His </a:t>
            </a:r>
            <a:r>
              <a:rPr lang="en-US" sz="1800" b="1" dirty="0">
                <a:solidFill>
                  <a:schemeClr val="tx1"/>
                </a:solidFill>
              </a:rPr>
              <a:t>position</a:t>
            </a:r>
            <a:r>
              <a:rPr lang="en-US" sz="1800" dirty="0">
                <a:solidFill>
                  <a:schemeClr val="tx1"/>
                </a:solidFill>
              </a:rPr>
              <a:t> unchanged: you correct the English, not the content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E-mail toolkit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WRITING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2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1801368"/>
            <a:ext cx="3514344" cy="18288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OPENING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84832"/>
            <a:ext cx="3148584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Dear Mr Shaw, / Dear Ms Marsh,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Following our call this morning,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Please find </a:t>
            </a:r>
            <a:r>
              <a:rPr lang="en-US" sz="2000" b="1" dirty="0">
                <a:solidFill>
                  <a:schemeClr val="tx1"/>
                </a:solidFill>
              </a:rPr>
              <a:t>attached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b="1" dirty="0">
                <a:solidFill>
                  <a:schemeClr val="tx1"/>
                </a:solidFill>
              </a:rPr>
              <a:t>below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37304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37304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/>
        </p:spPr>
      </p:sp>
      <p:sp>
        <p:nvSpPr>
          <p:cNvPr id="12" name="Shape 10"/>
          <p:cNvSpPr/>
          <p:nvPr/>
        </p:nvSpPr>
        <p:spPr>
          <a:xfrm>
            <a:off x="4337304" y="1801368"/>
            <a:ext cx="3514344" cy="18288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20184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BODY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20184" y="2084832"/>
            <a:ext cx="3148584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am writing to </a:t>
            </a:r>
            <a:r>
              <a:rPr lang="en-US" sz="2000" b="1" dirty="0">
                <a:solidFill>
                  <a:schemeClr val="tx1"/>
                </a:solidFill>
              </a:rPr>
              <a:t>inform you that</a:t>
            </a:r>
            <a:r>
              <a:rPr lang="en-US" sz="2000" dirty="0">
                <a:solidFill>
                  <a:schemeClr val="tx1"/>
                </a:solidFill>
              </a:rPr>
              <a:t>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We are </a:t>
            </a:r>
            <a:r>
              <a:rPr lang="en-US" sz="2000" b="1" dirty="0">
                <a:solidFill>
                  <a:schemeClr val="tx1"/>
                </a:solidFill>
              </a:rPr>
              <a:t>currently</a:t>
            </a:r>
            <a:r>
              <a:rPr lang="en-US" sz="2000" dirty="0">
                <a:solidFill>
                  <a:schemeClr val="tx1"/>
                </a:solidFill>
              </a:rPr>
              <a:t> waiting for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Could you please </a:t>
            </a:r>
            <a:r>
              <a:rPr lang="en-US" sz="2000" b="1" dirty="0">
                <a:solidFill>
                  <a:schemeClr val="tx1"/>
                </a:solidFill>
              </a:rPr>
              <a:t>confirm</a:t>
            </a:r>
            <a:r>
              <a:rPr lang="en-US" sz="2000" dirty="0">
                <a:solidFill>
                  <a:schemeClr val="tx1"/>
                </a:solidFill>
              </a:rPr>
              <a:t> … ?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would be grateful if you could …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8125968" y="1481328"/>
            <a:ext cx="3514344" cy="3922776"/>
          </a:xfrm>
          <a:prstGeom prst="roundRect">
            <a:avLst>
              <a:gd name="adj" fmla="val 260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125968" y="1481328"/>
            <a:ext cx="351434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5968" y="1801368"/>
            <a:ext cx="3514344" cy="18288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08848" y="1481328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chemeClr val="bg1"/>
                </a:solidFill>
              </a:rPr>
              <a:t>CLOSING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08848" y="2084832"/>
            <a:ext cx="3148584" cy="3209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Please do not hesitate to contact me if …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I look forward to </a:t>
            </a:r>
            <a:r>
              <a:rPr lang="en-US" sz="2000" b="1" dirty="0">
                <a:solidFill>
                  <a:schemeClr val="tx1"/>
                </a:solidFill>
              </a:rPr>
              <a:t>hearing</a:t>
            </a:r>
            <a:r>
              <a:rPr lang="en-US" sz="2000" dirty="0">
                <a:solidFill>
                  <a:schemeClr val="tx1"/>
                </a:solidFill>
              </a:rPr>
              <a:t> from you.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Kind regards, / Best regards,</a:t>
            </a:r>
            <a:endParaRPr lang="en-US" sz="2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Yours sincerely, (formal)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5605272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>
              <a:alpha val="10000"/>
            </a:schemeClr>
          </a:solidFill>
          <a:ln w="9525">
            <a:solidFill>
              <a:schemeClr val="accent6">
                <a:alpha val="70000"/>
              </a:schemeClr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783580"/>
            <a:ext cx="329184" cy="32918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234440" y="5641848"/>
            <a:ext cx="102870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Piège pour francophones — </a:t>
            </a:r>
            <a:r>
              <a:rPr lang="en-US" sz="1700" i="1" dirty="0">
                <a:solidFill>
                  <a:schemeClr val="tx1"/>
                </a:solidFill>
              </a:rPr>
              <a:t>Je vous prie d’agréer…</a:t>
            </a:r>
            <a:r>
              <a:rPr lang="en-US" sz="1700" dirty="0">
                <a:solidFill>
                  <a:schemeClr val="tx1"/>
                </a:solidFill>
              </a:rPr>
              <a:t> n’a pas d’équivalent : une formule courte suffit. </a:t>
            </a:r>
            <a:r>
              <a:rPr lang="en-US" sz="1700" i="1" dirty="0">
                <a:solidFill>
                  <a:schemeClr val="tx1"/>
                </a:solidFill>
              </a:rPr>
              <a:t>I look forward to hear</a:t>
            </a:r>
            <a:r>
              <a:rPr lang="en-US" sz="1700" dirty="0">
                <a:solidFill>
                  <a:schemeClr val="tx1"/>
                </a:solidFill>
              </a:rPr>
              <a:t> ✗ → </a:t>
            </a:r>
            <a:r>
              <a:rPr lang="en-US" sz="1700" b="1" dirty="0">
                <a:solidFill>
                  <a:schemeClr val="tx1"/>
                </a:solidFill>
              </a:rPr>
              <a:t>to hearing</a:t>
            </a:r>
            <a:r>
              <a:rPr lang="en-US" sz="1700" dirty="0">
                <a:solidFill>
                  <a:schemeClr val="tx1"/>
                </a:solidFill>
              </a:rPr>
              <a:t> ✓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Mark forwards it: the covering note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5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600" dirty="0">
                <a:solidFill>
                  <a:schemeClr val="tx1"/>
                </a:solidFill>
              </a:rPr>
              <a:t>Write the two-line note Mark adds when he forwards the corrected e-mail to the insurer.</a:t>
            </a:r>
            <a:endParaRPr lang="en-US" sz="2600" dirty="0"/>
          </a:p>
        </p:txBody>
      </p:sp>
      <p:sp>
        <p:nvSpPr>
          <p:cNvPr id="6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Say </a:t>
            </a:r>
            <a:r>
              <a:rPr lang="en-US" sz="1800" b="1" dirty="0">
                <a:solidFill>
                  <a:schemeClr val="tx1"/>
                </a:solidFill>
              </a:rPr>
              <a:t>what</a:t>
            </a:r>
            <a:r>
              <a:rPr lang="en-US" sz="1800" dirty="0">
                <a:solidFill>
                  <a:schemeClr val="tx1"/>
                </a:solidFill>
              </a:rPr>
              <a:t> you send and </a:t>
            </a:r>
            <a:r>
              <a:rPr lang="en-US" sz="1800" b="1" dirty="0">
                <a:solidFill>
                  <a:schemeClr val="tx1"/>
                </a:solidFill>
              </a:rPr>
              <a:t>when</a:t>
            </a:r>
            <a:r>
              <a:rPr lang="en-US" sz="1800" dirty="0">
                <a:solidFill>
                  <a:schemeClr val="tx1"/>
                </a:solidFill>
              </a:rPr>
              <a:t> you received it.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Say that </a:t>
            </a:r>
            <a:r>
              <a:rPr lang="en-US" sz="1800" b="1" dirty="0">
                <a:solidFill>
                  <a:schemeClr val="tx1"/>
                </a:solidFill>
              </a:rPr>
              <a:t>only the English</a:t>
            </a:r>
            <a:r>
              <a:rPr lang="en-US" sz="1800" dirty="0">
                <a:solidFill>
                  <a:schemeClr val="tx1"/>
                </a:solidFill>
              </a:rPr>
              <a:t> was corrected — transparency protects the file.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Mark forwards it: the covering note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65860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+ EXTRA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24228" y="237744"/>
            <a:ext cx="1874520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✓ CORRECTION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897112" y="21945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Hors livret</a:t>
            </a:r>
            <a:endParaRPr lang="en-US" sz="1200" dirty="0"/>
          </a:p>
        </p:txBody>
      </p:sp>
      <p:sp>
        <p:nvSpPr>
          <p:cNvPr id="6" name="exercise"/>
          <p:cNvSpPr txBox="1"/>
          <p:nvPr/>
        </p:nvSpPr>
        <p:spPr>
          <a:xfrm>
            <a:off x="548640" y="1481328"/>
            <a:ext cx="7178040" cy="4809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dirty="0">
                <a:solidFill>
                  <a:schemeClr val="tx1"/>
                </a:solidFill>
              </a:rPr>
              <a:t>Write the two-line note Mark adds when he forwards the corrected e-mail to the insurer.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chemeClr val="accent3"/>
                </a:solidFill>
              </a:rPr>
              <a:t>→ </a:t>
            </a:r>
            <a:r>
              <a:rPr lang="en-US" sz="2400" i="1" dirty="0">
                <a:solidFill>
                  <a:schemeClr val="accent3"/>
                </a:solidFill>
              </a:rPr>
              <a:t>Dear Ms Marsh, Please find below the contractor’s account of yesterday evening, received at 10.18. Only the English has been corrected; the content is unchanged. Kind regards, Mark Shaw</a:t>
            </a:r>
            <a:endParaRPr lang="en-US" sz="2400" dirty="0"/>
          </a:p>
        </p:txBody>
      </p:sp>
      <p:sp>
        <p:nvSpPr>
          <p:cNvPr id="7" name="aside"/>
          <p:cNvSpPr/>
          <p:nvPr/>
        </p:nvSpPr>
        <p:spPr>
          <a:xfrm>
            <a:off x="8046720" y="1481328"/>
            <a:ext cx="3593592" cy="4809744"/>
          </a:xfrm>
          <a:prstGeom prst="roundRect">
            <a:avLst>
              <a:gd name="adj" fmla="val 2036"/>
            </a:avLst>
          </a:prstGeom>
          <a:solidFill>
            <a:schemeClr val="accent5">
              <a:alpha val="10000"/>
            </a:schemeClr>
          </a:solidFill>
          <a:ln w="12700">
            <a:solidFill>
              <a:schemeClr val="accent5">
                <a:alpha val="60000"/>
              </a:scheme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16642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613648" y="1636776"/>
            <a:ext cx="2862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accent5"/>
                </a:solidFill>
              </a:rPr>
              <a:t>EXPECTED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11312" y="2075688"/>
            <a:ext cx="3264408" cy="4078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Say </a:t>
            </a:r>
            <a:r>
              <a:rPr lang="en-US" sz="1800" b="1" dirty="0">
                <a:solidFill>
                  <a:schemeClr val="tx1"/>
                </a:solidFill>
              </a:rPr>
              <a:t>what</a:t>
            </a:r>
            <a:r>
              <a:rPr lang="en-US" sz="1800" dirty="0">
                <a:solidFill>
                  <a:schemeClr val="tx1"/>
                </a:solidFill>
              </a:rPr>
              <a:t> you send and </a:t>
            </a:r>
            <a:r>
              <a:rPr lang="en-US" sz="1800" b="1" dirty="0">
                <a:solidFill>
                  <a:schemeClr val="tx1"/>
                </a:solidFill>
              </a:rPr>
              <a:t>when</a:t>
            </a:r>
            <a:r>
              <a:rPr lang="en-US" sz="1800" dirty="0">
                <a:solidFill>
                  <a:schemeClr val="tx1"/>
                </a:solidFill>
              </a:rPr>
              <a:t> you received it.</a:t>
            </a:r>
            <a:endParaRPr lang="en-US" sz="18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Say that </a:t>
            </a:r>
            <a:r>
              <a:rPr lang="en-US" sz="1800" b="1" dirty="0">
                <a:solidFill>
                  <a:schemeClr val="tx1"/>
                </a:solidFill>
              </a:rPr>
              <a:t>only the English</a:t>
            </a:r>
            <a:r>
              <a:rPr lang="en-US" sz="1800" dirty="0">
                <a:solidFill>
                  <a:schemeClr val="tx1"/>
                </a:solidFill>
              </a:rPr>
              <a:t> was corrected — transparency protects the file.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4546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Before you close the file</a:t>
            </a:r>
            <a:endParaRPr lang="en-US" sz="32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659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END OF SESSION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035040" cy="3108960"/>
          </a:xfrm>
          <a:prstGeom prst="roundRect">
            <a:avLst>
              <a:gd name="adj" fmla="val 2941"/>
            </a:avLst>
          </a:prstGeom>
          <a:solidFill>
            <a:schemeClr val="bg1">
              <a:alpha val="10000"/>
            </a:schemeClr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1"/>
                </a:solidFill>
              </a:rPr>
              <a:t>NEXT IN THE FILE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insurer does not read what an e-mail claims. </a:t>
            </a:r>
            <a:r>
              <a:rPr lang="en-US" sz="2400" b="1" i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She reads what it unintentionally concedes.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903720" y="1554480"/>
            <a:ext cx="4736592" cy="4709160"/>
          </a:xfrm>
          <a:prstGeom prst="roundRect">
            <a:avLst>
              <a:gd name="adj" fmla="val 1942"/>
            </a:avLst>
          </a:prstGeom>
          <a:solidFill>
            <a:schemeClr val="bg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755648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635240" y="173736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BEFORE NEXT SESSION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28600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</a:t>
            </a:r>
            <a:r>
              <a:rPr lang="en-US" sz="1700" b="1" dirty="0">
                <a:solidFill>
                  <a:schemeClr val="tx1"/>
                </a:solidFill>
              </a:rPr>
              <a:t>7 false friends</a:t>
            </a:r>
            <a:r>
              <a:rPr lang="en-US" sz="1700" dirty="0">
                <a:solidFill>
                  <a:schemeClr val="tx1"/>
                </a:solidFill>
              </a:rPr>
              <a:t> (both directions).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Learn the e-mail toolkit (opening, body, closing).</a:t>
            </a:r>
            <a:endParaRPr lang="en-US" sz="1700" dirty="0"/>
          </a:p>
          <a:p>
            <a:pPr marL="190500" indent="-1905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Prepare p. 25: five questions on what the e-mail </a:t>
            </a:r>
            <a:r>
              <a:rPr lang="en-US" sz="1700" b="1" dirty="0">
                <a:solidFill>
                  <a:schemeClr val="tx1"/>
                </a:solidFill>
              </a:rPr>
              <a:t>admits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548640" y="4892040"/>
            <a:ext cx="60350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983480"/>
            <a:ext cx="5623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EXIT TICKET  </a:t>
            </a:r>
            <a:endParaRPr lang="en-US" sz="13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Translate: </a:t>
            </a:r>
            <a:r>
              <a:rPr lang="en-US" sz="1600" i="1" dirty="0">
                <a:solidFill>
                  <a:schemeClr val="bg1"/>
                </a:solidFill>
              </a:rPr>
              <a:t>Je vais assister à la réunion.</a:t>
            </a:r>
            <a:r>
              <a:rPr lang="en-US" sz="1600" dirty="0">
                <a:solidFill>
                  <a:schemeClr val="bg1"/>
                </a:solidFill>
              </a:rPr>
              <a:t> — </a:t>
            </a:r>
            <a:r>
              <a:rPr lang="en-US" sz="1600" i="1" dirty="0">
                <a:solidFill>
                  <a:schemeClr val="bg1"/>
                </a:solidFill>
              </a:rPr>
              <a:t>Nous avons un délai de deux jours.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2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ject Atlas">
  <a:themeElements>
    <a:clrScheme name="Project Atlas">
      <a:dk1>
        <a:srgbClr val="1B2333"/>
      </a:dk1>
      <a:lt1>
        <a:srgbClr val="FFFFFF"/>
      </a:lt1>
      <a:dk2>
        <a:srgbClr val="1F3864"/>
      </a:dk2>
      <a:lt2>
        <a:srgbClr val="EEF2F8"/>
      </a:lt2>
      <a:accent1>
        <a:srgbClr val="C0752A"/>
      </a:accent1>
      <a:accent2>
        <a:srgbClr val="2E75B6"/>
      </a:accent2>
      <a:accent3>
        <a:srgbClr val="3C7A3C"/>
      </a:accent3>
      <a:accent4>
        <a:srgbClr val="6E4A9E"/>
      </a:accent4>
      <a:accent5>
        <a:srgbClr val="44546A"/>
      </a:accent5>
      <a:accent6>
        <a:srgbClr val="B03A2E"/>
      </a:accent6>
      <a:hlink>
        <a:srgbClr val="2E75B6"/>
      </a:hlink>
      <a:folHlink>
        <a:srgbClr val="6E4A9E"/>
      </a:folHlink>
    </a:clrScheme>
    <a:fontScheme name="Project Atla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English UE 3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Séance 11 — The e-mail you must not forward as it is</dc:title>
  <dc:subject>Case File 01 — The night nobody heard</dc:subject>
  <dc:creator>A. Jouniaux</dc:creator>
  <cp:lastModifiedBy>A. Jouniaux</cp:lastModifiedBy>
  <cp:revision>1</cp:revision>
  <dcterms:created xsi:type="dcterms:W3CDTF">2026-10-03T19:30:05Z</dcterms:created>
  <dcterms:modified xsi:type="dcterms:W3CDTF">2026-10-03T19:30:05Z</dcterms:modified>
</cp:coreProperties>
</file>