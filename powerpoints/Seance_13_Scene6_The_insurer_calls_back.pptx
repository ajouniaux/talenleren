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04f035fb-2b2a-ec93-cebf-776d8080bad0}">
          <p14:sldIdLst>
            <p14:sldId id="256"/>
          </p14:sldIdLst>
        </p14:section>
        <p14:section name="Warm-up" id="{a5b84747-7b1e-639b-d3ec-c17530e1bcec}">
          <p14:sldIdLst>
            <p14:sldId id="257"/>
            <p14:sldId id="258"/>
          </p14:sldIdLst>
        </p14:section>
        <p14:section name="Scene 6" id="{683471c9-9255-16f3-d80b-d8a202d389b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For or since?" id="{2cdbbeec-4777-8647-68ed-cf1218936f0b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all her back" id="{ef2fcfa7-336e-33bb-95d9-f0acc4cd00bb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Clôture" id="{a51f1712-a6bc-ad93-6d31-a6e1d827fd6f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13 — Scène 6 (11.30), livret p. 28–31 : le message vocal d’Helen Marsh (à passer deux fois), for / since + present perfect, rappeler l’assureur sans nommer personne.
Le script audio n’est pas dans le livret : les réponses aux questions 1, 2, 3, 5 et 6 sont des réponses probables, à vérifier avec votre enregistrement (l’échéance exacte en particulier).
Nouveautés : Beat the clock (faux amis) · lecteur de messagerie + bloc-notes · dominos du vocabulaire de l’assurance · épingle et mètre ruban de for / since · tri present perfect / prétérit (pont S3, S9) · choix binaire (Dry run A) · questions en désordre (Dry run B) · roue « How long have you…? » · Two truths and a lie · « Name the fact, not the person » (pont S7, passif) · ENERGIZER au téléphone (professionnel ou trop direct ?) · une minute au téléphone (minuteur) · carrousel de jeux de rôle.
Déroulé indicatif (90 min) : warm-up (5') · scène + message × 2 (15') · Q1–Q6 + vocabulaire (15') · for / since (15') · Dry run A–C (10') · roue ou jeu (5') · sans nommer personne (5') · ENERGIZER (3') · rappeler l’assureur + carrousel (15') · clôture (2').
Les diapositives GAME, ENERGIZER et + EXTRA sont facultatives.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Réactivation de la séance 12 : faux amis, verbes de l’assureur, aperçu de for / since. Les équipes écrivent sur une feuille ; correction collective.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Réactivation de la séance 12 : faux amis, verbes de l’assureur, aperçu de for / since. Les équipes écrivent sur une feuille ; correction collective.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Bulles : « I am not asking you what caused it. » / « I am asking you what you can prove. » Faire deviner avant l’écoute : evidence before explanations.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Première écoute stylos posés (ton, deux demandes). Seconde écoute : prise de notes dans les quatre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probables, déduites du livret (titre de la scène, bulles, p. 30–31, p. 43) : à ajuster à votre enregistrement, en particulier l’échéance (jour + heure).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 à main levée, puis justification avec les notes prises pendant l’écoute.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 à main levée, puis justification avec les notes prises pendant l’écoute.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Comparer les notes en binôme avant la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probables, déduites du livret (titre de la scène, bulles, p. 30–31, p. 43). À ajuster à l’enregistrement, en particulier l’échéance exacte (Q2).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Hors livret. En binôme : découper les dominos (ou les numéroter) et reconstituer la chaîne.
Français : a claim = une déclaration de sinistre, une demande d’indemnisation · the policy = la police d’assurance · the excess (UK) / the deductible (US) = la franchise · cover = la garantie, la couverture · wear and tear = l’usure · to settle a claim = régler un sinistre · to turn down = refuser · the assessor / loss adjuster = l’expert.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Lien avec la séance 12 : « the pipe is old » → wear and tear, souvent exclu de la garantie. D’où l’importance d’un événement soudain (sudden and accidental damage).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lire le tableau à voix haute. Dernière ligne du tableau : « We have not established that yet. » — not … yet, travaillé au Dry run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Frise indicative : le mois exact du début n’est pas donné par le livret, seulement « since the summer » et « about three months ». Insister sur ago (prétérit) ≠ for (present perfect).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 avec le prétérit (séance 3), le present perfect (séance 9) et les deux formes verbales de Verdier (séance 11). Faire produire une phrase du dossier pour chaque expression.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 avec le prétérit (séance 3), le present perfect (séance 9) et les deux formes verbales de Verdier (séance 11). Faire produire une phrase du dossier pour chaque expression.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Lignes 1 à 4 : livret p. 30. Lignes 5 à 8 : ajoutées (hors livret), avec des faits du dossier. Réponse à l’ardoise (F / S) ou avec les gestes de l’ENERGIZER de la séance 12 (épingle / bras ouverts).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Lignes 1 à 4 : livret p. 30. Lignes 5 à 8 : ajoutées (hors livret), avec des faits du dossier. Réponse à l’ardoise (F / S) ou avec les gestes de l’ENERGIZER de la séance 12 (épingle / bras ouverts).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 et 2 : livret p. 30. Questions 3 et 4 : ajoutées (hors livret). Ordre : How long + have / has + sujet + participe passé (+ -ing).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 et 2 : livret p. 30. Questions 3 et 4 : ajoutées (hors livret). Ordre : How long + have / has + sujet + participe passé (+ -ing).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façons honnêtes de dire « je ne sais pas encore » : un assureur préfère une incertitude assumée à une cause inventée. Lignes 4 à 6 : ajoutées (hors livret).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façons honnêtes de dire « je ne sais pas encore » : un assureur préfère une incertitude assumée à une cause inventée. Lignes 4 à 6 : ajoutées (hors livret).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binôme : lancer un dé à huit faces (ou tirer un nombre de 1 à 8). Pont : present perfect (durée jusqu’à maintenant) → prétérit pour le point de départ (« I started in 2019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fausse grammaticalement ne compte pas. Rappel : la question de suivi est au prétérit (When did you start?).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 avec les participes passés (séance 7) et le passif du rapport (séance 16). Le livret, p. 42 : ne nommer personne.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Hors livret. Les trois premières phrases : passif au prétérit (was + participe). La dernière : present perfect passif (has not been + participe).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Hors livret. Les trois premières phrases : passif au prétérit (was + participe). La dernière : present perfect passif (has not been + participe).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les phrases dans le désordre (sans la version corrigée). Pour chaque phrase « trop directe », faire proposer la version professionnelle avant de projeter la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Écriture individuelle (5 minutes), puis lecture à voix haute. Les réponses sont des modèles parmi d’autres.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Écriture individuelle (5 minutes), puis lecture à voix haute. Les réponses sont des modèles parmi d’autres.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Entraînement avant le carrousel. Les réponses du corrigé sont des modèles : accepter toute réponse qui respecte les trois règles (for / since, not … yet, pas de nom).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Entraînement avant le carrousel. Les réponses du corrigé sont des modèles : accepter toute réponse qui respecte les trois règles (for / since, not … yet, pas de nom).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Avec un petit groupe : deux rangées de chaises face à face. Le professeur donne le top et la fin de chaque minute. Variante : B peut ajouter une question imprévue au troisième appel.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85800"/>
            <a:ext cx="2236470" cy="365760"/>
          </a:xfrm>
          <a:prstGeom prst="roundRect">
            <a:avLst>
              <a:gd name="adj" fmla="val 12500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SÉANCE 13 / 19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SCENE 6</a:t>
            </a:r>
            <a:endParaRPr lang="en-US" sz="11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11.30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The insurer calls back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She is not asking what you believe. She is asking since when.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Case File 01 — The night nobody heard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Livret p. 28–31</a:t>
            </a:r>
            <a:endParaRPr lang="en-US" sz="1600" dirty="0"/>
          </a:p>
        </p:txBody>
      </p:sp>
      <p:pic>
        <p:nvPicPr>
          <p:cNvPr id="8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848272"/>
            <a:ext cx="5010912" cy="3344336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Beat the clock: last session’s traps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14400" y="18288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3E8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828800"/>
            <a:ext cx="2377440" cy="2377440"/>
          </a:xfrm>
          <a:prstGeom prst="blockArc">
            <a:avLst>
              <a:gd name="adj1" fmla="val 16200000"/>
              <a:gd name="adj2" fmla="val 10800000"/>
              <a:gd name="adj3" fmla="val 4500"/>
            </a:avLst>
          </a:prstGeom>
          <a:solidFill>
            <a:srgbClr val="B4236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18288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60</a:t>
            </a:r>
            <a:endParaRPr lang="en-US" sz="5400" dirty="0"/>
          </a:p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SECONDS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Eight answers in one minute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492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Teams of three · one point per right answer · a bonus point for the first team to finish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69080" y="1783080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78808" y="2136267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636008" y="1783080"/>
            <a:ext cx="3008376" cy="1035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un délai</a:t>
            </a:r>
            <a:r>
              <a:rPr lang="en-US" sz="1800" dirty="0">
                <a:solidFill>
                  <a:schemeClr val="tx1"/>
                </a:solidFill>
              </a:rPr>
              <a:t> 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069080" y="2946654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78808" y="3299841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636008" y="2946654"/>
            <a:ext cx="3008376" cy="1035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actuellement</a:t>
            </a:r>
            <a:r>
              <a:rPr lang="en-US" sz="1800" dirty="0">
                <a:solidFill>
                  <a:schemeClr val="tx1"/>
                </a:solidFill>
              </a:rPr>
              <a:t> 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069080" y="4110228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78808" y="4463415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636008" y="4110228"/>
            <a:ext cx="3008376" cy="1035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assister à la réunion</a:t>
            </a:r>
            <a:r>
              <a:rPr lang="en-US" sz="1800" dirty="0">
                <a:solidFill>
                  <a:schemeClr val="tx1"/>
                </a:solidFill>
              </a:rPr>
              <a:t> 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069080" y="5273802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78808" y="5626989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636008" y="5273802"/>
            <a:ext cx="3008376" cy="1035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contrôler la pièce</a:t>
            </a:r>
            <a:r>
              <a:rPr lang="en-US" sz="1800" dirty="0">
                <a:solidFill>
                  <a:schemeClr val="tx1"/>
                </a:solidFill>
              </a:rPr>
              <a:t> 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7946136" y="1783080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55864" y="2136267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513064" y="1783080"/>
            <a:ext cx="3008376" cy="1035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nier toute responsabilité</a:t>
            </a:r>
            <a:r>
              <a:rPr lang="en-US" sz="1800" dirty="0">
                <a:solidFill>
                  <a:schemeClr val="tx1"/>
                </a:solidFill>
              </a:rPr>
              <a:t> →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946136" y="2946654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55864" y="3299841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513064" y="2946654"/>
            <a:ext cx="3008376" cy="1035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relancer l’assureur</a:t>
            </a:r>
            <a:r>
              <a:rPr lang="en-US" sz="1800" dirty="0">
                <a:solidFill>
                  <a:schemeClr val="tx1"/>
                </a:solidFill>
              </a:rPr>
              <a:t> →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7946136" y="4110228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55864" y="4463415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513064" y="4110228"/>
            <a:ext cx="3008376" cy="1035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Fix it: </a:t>
            </a:r>
            <a:r>
              <a:rPr lang="en-US" sz="1800" i="1" dirty="0">
                <a:solidFill>
                  <a:schemeClr val="tx1"/>
                </a:solidFill>
              </a:rPr>
              <a:t>It is closed since Monday.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7946136" y="5273802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55864" y="5626989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513064" y="5273802"/>
            <a:ext cx="3008376" cy="1035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Fix it: </a:t>
            </a:r>
            <a:r>
              <a:rPr lang="en-US" sz="1800" i="1" dirty="0">
                <a:solidFill>
                  <a:schemeClr val="tx1"/>
                </a:solidFill>
              </a:rPr>
              <a:t>We have a delay of two days.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Beat the clock: last session’s traps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14400" y="18288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3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1828800"/>
            <a:ext cx="2377440" cy="2377440"/>
          </a:xfrm>
          <a:prstGeom prst="blockArc">
            <a:avLst>
              <a:gd name="adj1" fmla="val 16200000"/>
              <a:gd name="adj2" fmla="val 16194000"/>
              <a:gd name="adj3" fmla="val 4500"/>
            </a:avLst>
          </a:prstGeom>
          <a:solidFill>
            <a:srgbClr val="3C7A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18288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C7A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✓</a:t>
            </a:r>
            <a:endParaRPr lang="en-US" sz="5400" dirty="0"/>
          </a:p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TIME!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Eight answers in one minute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3492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Teams of three · one point per right answer · a bonus point for the first team to finish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69080" y="1783080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78808" y="2136267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636008" y="1819656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un délai</a:t>
            </a:r>
            <a:r>
              <a:rPr lang="en-US" sz="1300" dirty="0">
                <a:solidFill>
                  <a:schemeClr val="accent5"/>
                </a:solidFill>
              </a:rPr>
              <a:t> →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636008" y="2300859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a deadline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069080" y="2946654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78808" y="3299841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636008" y="2983230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actuellement</a:t>
            </a:r>
            <a:r>
              <a:rPr lang="en-US" sz="1300" dirty="0">
                <a:solidFill>
                  <a:schemeClr val="accent5"/>
                </a:solidFill>
              </a:rPr>
              <a:t> →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636008" y="3464433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currently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069080" y="4110228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78808" y="4463415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636008" y="4146804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assister à la réunion</a:t>
            </a:r>
            <a:r>
              <a:rPr lang="en-US" sz="1300" dirty="0">
                <a:solidFill>
                  <a:schemeClr val="accent5"/>
                </a:solidFill>
              </a:rPr>
              <a:t> →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636008" y="4628007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to attend the meeting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4069080" y="5273802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78808" y="5626989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636008" y="5310378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contrôler la pièce</a:t>
            </a:r>
            <a:r>
              <a:rPr lang="en-US" sz="1300" dirty="0">
                <a:solidFill>
                  <a:schemeClr val="accent5"/>
                </a:solidFill>
              </a:rPr>
              <a:t> →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636008" y="5791581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to check the room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7946136" y="1783080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55864" y="2136267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513064" y="1819656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nier toute responsabilité</a:t>
            </a:r>
            <a:r>
              <a:rPr lang="en-US" sz="1300" dirty="0">
                <a:solidFill>
                  <a:schemeClr val="accent5"/>
                </a:solidFill>
              </a:rPr>
              <a:t> →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513064" y="2300859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to deny any responsibility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7946136" y="2946654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55864" y="3299841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513064" y="2983230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relancer l’assureur</a:t>
            </a:r>
            <a:r>
              <a:rPr lang="en-US" sz="1300" dirty="0">
                <a:solidFill>
                  <a:schemeClr val="accent5"/>
                </a:solidFill>
              </a:rPr>
              <a:t> →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513064" y="3464433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to chase the insurer (up)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7946136" y="4110228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55864" y="4463415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8513064" y="4146804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Fix it: </a:t>
            </a:r>
            <a:r>
              <a:rPr lang="en-US" sz="1300" i="1" dirty="0">
                <a:solidFill>
                  <a:schemeClr val="accent5"/>
                </a:solidFill>
              </a:rPr>
              <a:t>It is closed since Monday.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513064" y="4628007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It has been closed since Monday.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7946136" y="5273802"/>
            <a:ext cx="3694176" cy="1035558"/>
          </a:xfrm>
          <a:prstGeom prst="roundRect">
            <a:avLst>
              <a:gd name="adj" fmla="val 706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55864" y="5626989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8513064" y="5310378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Fix it: </a:t>
            </a:r>
            <a:r>
              <a:rPr lang="en-US" sz="1300" i="1" dirty="0">
                <a:solidFill>
                  <a:schemeClr val="accent5"/>
                </a:solidFill>
              </a:rPr>
              <a:t>We have a delay of two days.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8513064" y="5791581"/>
            <a:ext cx="3008376" cy="47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We have two days left.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insurer calls back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9372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SCENE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28</a:t>
            </a:r>
            <a:endParaRPr lang="en-US" sz="1200" dirty="0"/>
          </a:p>
        </p:txBody>
      </p:sp>
      <p:pic>
        <p:nvPicPr>
          <p:cNvPr id="6" name="illustration" descr="Mark, Samuel, Iris and the narrator around a phone on speaker: “I am not asking you what caused it. I am asking you what you can prove.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035040" cy="402785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783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SCENE 6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11.30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880360"/>
            <a:ext cx="4645152" cy="210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Mark puts his phone on the table and presses </a:t>
            </a:r>
            <a:r>
              <a:rPr lang="en-US" sz="1900" b="1" dirty="0">
                <a:solidFill>
                  <a:schemeClr val="tx1"/>
                </a:solidFill>
              </a:rPr>
              <a:t>speaker</a:t>
            </a:r>
            <a:r>
              <a:rPr lang="en-US" sz="1900" dirty="0">
                <a:solidFill>
                  <a:schemeClr val="tx1"/>
                </a:solidFill>
              </a:rPr>
              <a:t>. The claims assessor has left a message.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She does not sound unfriendly. She sounds like somebody who has heard </a:t>
            </a:r>
            <a:r>
              <a:rPr lang="en-US" sz="1900" b="1" dirty="0">
                <a:solidFill>
                  <a:schemeClr val="tx1"/>
                </a:solidFill>
              </a:rPr>
              <a:t>a great many stories</a:t>
            </a:r>
            <a:r>
              <a:rPr lang="en-US" sz="1900" dirty="0">
                <a:solidFill>
                  <a:schemeClr val="tx1"/>
                </a:solidFill>
              </a:rPr>
              <a:t> before lunch.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995160" y="5169408"/>
            <a:ext cx="4645152" cy="1139952"/>
          </a:xfrm>
          <a:prstGeom prst="roundRect">
            <a:avLst>
              <a:gd name="adj" fmla="val 6417"/>
            </a:avLst>
          </a:prstGeom>
          <a:solidFill>
            <a:srgbClr val="C0752A">
              <a:alpha val="10000"/>
            </a:srgb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96328" y="527913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ASK THE CLASS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96328" y="5571744"/>
            <a:ext cx="4242816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What do you think an assessor wants </a:t>
            </a:r>
            <a:r>
              <a:rPr lang="en-US" sz="1700" b="1" dirty="0">
                <a:solidFill>
                  <a:schemeClr val="tx1"/>
                </a:solidFill>
              </a:rPr>
              <a:t>first</a:t>
            </a:r>
            <a:r>
              <a:rPr lang="en-US" sz="1700" dirty="0">
                <a:solidFill>
                  <a:schemeClr val="tx1"/>
                </a:solidFill>
              </a:rPr>
              <a:t>: a cause, or evidence?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Voicemail — listen twice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LISTENING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4663440" cy="4526280"/>
          </a:xfrm>
          <a:prstGeom prst="roundRect">
            <a:avLst>
              <a:gd name="adj" fmla="val 2424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984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VOICEMAIL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22960" y="2560320"/>
            <a:ext cx="868680" cy="86868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777490"/>
            <a:ext cx="434340" cy="4343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874520" y="25146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Helen Marsh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D5DCE6"/>
                </a:solidFill>
              </a:rPr>
              <a:t>Claims assessor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7C03B"/>
                </a:solidFill>
              </a:rPr>
              <a:t>Received at 11.26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887839" y="3831336"/>
            <a:ext cx="57477" cy="109728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3" name="Shape 8"/>
          <p:cNvSpPr/>
          <p:nvPr/>
        </p:nvSpPr>
        <p:spPr>
          <a:xfrm>
            <a:off x="983633" y="3692122"/>
            <a:ext cx="57477" cy="388155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4" name="Shape 9"/>
          <p:cNvSpPr/>
          <p:nvPr/>
        </p:nvSpPr>
        <p:spPr>
          <a:xfrm>
            <a:off x="1079427" y="3639379"/>
            <a:ext cx="57477" cy="493642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5" name="Shape 10"/>
          <p:cNvSpPr/>
          <p:nvPr/>
        </p:nvSpPr>
        <p:spPr>
          <a:xfrm>
            <a:off x="1175222" y="3534114"/>
            <a:ext cx="57477" cy="704173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6" name="Shape 11"/>
          <p:cNvSpPr/>
          <p:nvPr/>
        </p:nvSpPr>
        <p:spPr>
          <a:xfrm>
            <a:off x="1271016" y="3587423"/>
            <a:ext cx="57477" cy="597554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7" name="Shape 12"/>
          <p:cNvSpPr/>
          <p:nvPr/>
        </p:nvSpPr>
        <p:spPr>
          <a:xfrm>
            <a:off x="1366810" y="3663812"/>
            <a:ext cx="57477" cy="444776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8" name="Shape 13"/>
          <p:cNvSpPr/>
          <p:nvPr/>
        </p:nvSpPr>
        <p:spPr>
          <a:xfrm>
            <a:off x="1462605" y="3770921"/>
            <a:ext cx="57477" cy="230558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9" name="Shape 14"/>
          <p:cNvSpPr/>
          <p:nvPr/>
        </p:nvSpPr>
        <p:spPr>
          <a:xfrm>
            <a:off x="1558399" y="3829915"/>
            <a:ext cx="57477" cy="112569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0" name="Shape 15"/>
          <p:cNvSpPr/>
          <p:nvPr/>
        </p:nvSpPr>
        <p:spPr>
          <a:xfrm>
            <a:off x="1654193" y="3681150"/>
            <a:ext cx="57477" cy="410100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1" name="Shape 16"/>
          <p:cNvSpPr/>
          <p:nvPr/>
        </p:nvSpPr>
        <p:spPr>
          <a:xfrm>
            <a:off x="1749987" y="3650693"/>
            <a:ext cx="57477" cy="471014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2" name="Shape 17"/>
          <p:cNvSpPr/>
          <p:nvPr/>
        </p:nvSpPr>
        <p:spPr>
          <a:xfrm>
            <a:off x="1845782" y="3673677"/>
            <a:ext cx="57477" cy="425046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3" name="Shape 18"/>
          <p:cNvSpPr/>
          <p:nvPr/>
        </p:nvSpPr>
        <p:spPr>
          <a:xfrm>
            <a:off x="1941576" y="3547984"/>
            <a:ext cx="57477" cy="676432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4" name="Shape 19"/>
          <p:cNvSpPr/>
          <p:nvPr/>
        </p:nvSpPr>
        <p:spPr>
          <a:xfrm>
            <a:off x="2037370" y="3644291"/>
            <a:ext cx="57477" cy="483817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5" name="Shape 20"/>
          <p:cNvSpPr/>
          <p:nvPr/>
        </p:nvSpPr>
        <p:spPr>
          <a:xfrm>
            <a:off x="2133165" y="3699889"/>
            <a:ext cx="57477" cy="372623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6" name="Shape 21"/>
          <p:cNvSpPr/>
          <p:nvPr/>
        </p:nvSpPr>
        <p:spPr>
          <a:xfrm>
            <a:off x="2228959" y="3828688"/>
            <a:ext cx="57477" cy="115024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7" name="Shape 22"/>
          <p:cNvSpPr/>
          <p:nvPr/>
        </p:nvSpPr>
        <p:spPr>
          <a:xfrm>
            <a:off x="2324753" y="3711644"/>
            <a:ext cx="57477" cy="349112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28" name="Shape 23"/>
          <p:cNvSpPr/>
          <p:nvPr/>
        </p:nvSpPr>
        <p:spPr>
          <a:xfrm>
            <a:off x="2420547" y="3594190"/>
            <a:ext cx="57477" cy="584020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29" name="Shape 24"/>
          <p:cNvSpPr/>
          <p:nvPr/>
        </p:nvSpPr>
        <p:spPr>
          <a:xfrm>
            <a:off x="2516342" y="3607362"/>
            <a:ext cx="57477" cy="557676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0" name="Shape 25"/>
          <p:cNvSpPr/>
          <p:nvPr/>
        </p:nvSpPr>
        <p:spPr>
          <a:xfrm>
            <a:off x="2612136" y="3655974"/>
            <a:ext cx="57477" cy="460451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1" name="Shape 26"/>
          <p:cNvSpPr/>
          <p:nvPr/>
        </p:nvSpPr>
        <p:spPr>
          <a:xfrm>
            <a:off x="2707930" y="3674815"/>
            <a:ext cx="57477" cy="422771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2" name="Shape 27"/>
          <p:cNvSpPr/>
          <p:nvPr/>
        </p:nvSpPr>
        <p:spPr>
          <a:xfrm>
            <a:off x="2803725" y="3757385"/>
            <a:ext cx="57477" cy="257631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3" name="Shape 28"/>
          <p:cNvSpPr/>
          <p:nvPr/>
        </p:nvSpPr>
        <p:spPr>
          <a:xfrm>
            <a:off x="2899519" y="3824324"/>
            <a:ext cx="57477" cy="123753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4" name="Shape 29"/>
          <p:cNvSpPr/>
          <p:nvPr/>
        </p:nvSpPr>
        <p:spPr>
          <a:xfrm>
            <a:off x="2995313" y="3684876"/>
            <a:ext cx="57477" cy="402649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5" name="Shape 30"/>
          <p:cNvSpPr/>
          <p:nvPr/>
        </p:nvSpPr>
        <p:spPr>
          <a:xfrm>
            <a:off x="3091107" y="3590797"/>
            <a:ext cx="57477" cy="590806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6" name="Shape 31"/>
          <p:cNvSpPr/>
          <p:nvPr/>
        </p:nvSpPr>
        <p:spPr>
          <a:xfrm>
            <a:off x="3186902" y="3603798"/>
            <a:ext cx="57477" cy="564804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7" name="Shape 32"/>
          <p:cNvSpPr/>
          <p:nvPr/>
        </p:nvSpPr>
        <p:spPr>
          <a:xfrm>
            <a:off x="3282696" y="3520210"/>
            <a:ext cx="57477" cy="731980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8" name="Shape 33"/>
          <p:cNvSpPr/>
          <p:nvPr/>
        </p:nvSpPr>
        <p:spPr>
          <a:xfrm>
            <a:off x="3378490" y="3627077"/>
            <a:ext cx="57477" cy="518245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9" name="Shape 34"/>
          <p:cNvSpPr/>
          <p:nvPr/>
        </p:nvSpPr>
        <p:spPr>
          <a:xfrm>
            <a:off x="3474285" y="3696262"/>
            <a:ext cx="57477" cy="379877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0" name="Shape 35"/>
          <p:cNvSpPr/>
          <p:nvPr/>
        </p:nvSpPr>
        <p:spPr>
          <a:xfrm>
            <a:off x="3570079" y="3821458"/>
            <a:ext cx="57477" cy="129484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1" name="Shape 36"/>
          <p:cNvSpPr/>
          <p:nvPr/>
        </p:nvSpPr>
        <p:spPr>
          <a:xfrm>
            <a:off x="3665873" y="3754182"/>
            <a:ext cx="57477" cy="264036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2" name="Shape 37"/>
          <p:cNvSpPr/>
          <p:nvPr/>
        </p:nvSpPr>
        <p:spPr>
          <a:xfrm>
            <a:off x="3761667" y="3623678"/>
            <a:ext cx="57477" cy="525043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3" name="Shape 38"/>
          <p:cNvSpPr/>
          <p:nvPr/>
        </p:nvSpPr>
        <p:spPr>
          <a:xfrm>
            <a:off x="3857462" y="3514191"/>
            <a:ext cx="57477" cy="744017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4" name="Shape 39"/>
          <p:cNvSpPr/>
          <p:nvPr/>
        </p:nvSpPr>
        <p:spPr>
          <a:xfrm>
            <a:off x="3953256" y="3554968"/>
            <a:ext cx="57477" cy="662463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5" name="Shape 40"/>
          <p:cNvSpPr/>
          <p:nvPr/>
        </p:nvSpPr>
        <p:spPr>
          <a:xfrm>
            <a:off x="4049050" y="3606994"/>
            <a:ext cx="57477" cy="558412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6" name="Shape 41"/>
          <p:cNvSpPr/>
          <p:nvPr/>
        </p:nvSpPr>
        <p:spPr>
          <a:xfrm>
            <a:off x="4144845" y="3716904"/>
            <a:ext cx="57477" cy="338593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7" name="Shape 42"/>
          <p:cNvSpPr/>
          <p:nvPr/>
        </p:nvSpPr>
        <p:spPr>
          <a:xfrm>
            <a:off x="4240639" y="3818598"/>
            <a:ext cx="57477" cy="135205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8" name="Shape 43"/>
          <p:cNvSpPr/>
          <p:nvPr/>
        </p:nvSpPr>
        <p:spPr>
          <a:xfrm>
            <a:off x="4336433" y="3676120"/>
            <a:ext cx="57477" cy="420161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9" name="Shape 44"/>
          <p:cNvSpPr/>
          <p:nvPr/>
        </p:nvSpPr>
        <p:spPr>
          <a:xfrm>
            <a:off x="4432227" y="3607744"/>
            <a:ext cx="57477" cy="556913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50" name="Shape 45"/>
          <p:cNvSpPr/>
          <p:nvPr/>
        </p:nvSpPr>
        <p:spPr>
          <a:xfrm>
            <a:off x="4528022" y="3533729"/>
            <a:ext cx="57477" cy="704941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51" name="Shape 46"/>
          <p:cNvSpPr/>
          <p:nvPr/>
        </p:nvSpPr>
        <p:spPr>
          <a:xfrm>
            <a:off x="4623816" y="3605549"/>
            <a:ext cx="57477" cy="561301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52" name="Shape 47"/>
          <p:cNvSpPr/>
          <p:nvPr/>
        </p:nvSpPr>
        <p:spPr>
          <a:xfrm>
            <a:off x="4719610" y="3706022"/>
            <a:ext cx="57477" cy="360356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53" name="Shape 48"/>
          <p:cNvSpPr/>
          <p:nvPr/>
        </p:nvSpPr>
        <p:spPr>
          <a:xfrm>
            <a:off x="4815405" y="3767502"/>
            <a:ext cx="57477" cy="237396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54" name="Shape 49"/>
          <p:cNvSpPr/>
          <p:nvPr/>
        </p:nvSpPr>
        <p:spPr>
          <a:xfrm>
            <a:off x="2551176" y="4416552"/>
            <a:ext cx="658368" cy="658368"/>
          </a:xfrm>
          <a:prstGeom prst="ellipse">
            <a:avLst/>
          </a:prstGeom>
          <a:solidFill>
            <a:srgbClr val="F7C03B"/>
          </a:solidFill>
          <a:ln/>
        </p:spPr>
      </p:sp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4581144"/>
            <a:ext cx="329184" cy="329184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68680" y="4562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CE6"/>
                </a:solidFill>
              </a:rPr>
              <a:t>0:55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868680" y="52578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1st listening</a:t>
            </a:r>
            <a:r>
              <a:rPr lang="en-US" sz="1200" dirty="0">
                <a:solidFill>
                  <a:srgbClr val="FFFFFF"/>
                </a:solidFill>
              </a:rPr>
              <a:t> — pens down: tone + two demands</a:t>
            </a:r>
            <a:endParaRPr lang="en-US" sz="12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2nd listening</a:t>
            </a:r>
            <a:r>
              <a:rPr lang="en-US" sz="1200" dirty="0">
                <a:solidFill>
                  <a:srgbClr val="FFFFFF"/>
                </a:solidFill>
              </a:rPr>
              <a:t> — notes in the four boxes</a:t>
            </a:r>
            <a:endParaRPr lang="en-US" sz="12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Miss the deadline or the prohibition → </a:t>
            </a:r>
            <a:r>
              <a:rPr lang="en-US" sz="1200" b="1" dirty="0">
                <a:solidFill>
                  <a:srgbClr val="FFFFFF"/>
                </a:solidFill>
              </a:rPr>
              <a:t>lose the case</a:t>
            </a:r>
            <a:endParaRPr lang="en-US" sz="1200" dirty="0"/>
          </a:p>
        </p:txBody>
      </p:sp>
      <p:sp>
        <p:nvSpPr>
          <p:cNvPr id="58" name="Shape 52"/>
          <p:cNvSpPr/>
          <p:nvPr/>
        </p:nvSpPr>
        <p:spPr>
          <a:xfrm>
            <a:off x="5577840" y="1783080"/>
            <a:ext cx="6062472" cy="4526280"/>
          </a:xfrm>
          <a:prstGeom prst="rect">
            <a:avLst/>
          </a:prstGeom>
          <a:solidFill>
            <a:srgbClr val="FFFDF5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59" name="Shape 53"/>
          <p:cNvSpPr/>
          <p:nvPr/>
        </p:nvSpPr>
        <p:spPr>
          <a:xfrm>
            <a:off x="6080760" y="1783080"/>
            <a:ext cx="0" cy="4526280"/>
          </a:xfrm>
          <a:prstGeom prst="line">
            <a:avLst/>
          </a:prstGeom>
          <a:noFill/>
          <a:ln w="19050">
            <a:solidFill>
              <a:srgbClr val="E8A0A0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6263640" y="1892808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MY NOTES — 11.26</a:t>
            </a:r>
            <a:endParaRPr lang="en-US" sz="1400" dirty="0"/>
          </a:p>
        </p:txBody>
      </p:sp>
      <p:sp>
        <p:nvSpPr>
          <p:cNvPr id="61" name="Text 55"/>
          <p:cNvSpPr txBox="1"/>
          <p:nvPr/>
        </p:nvSpPr>
        <p:spPr>
          <a:xfrm>
            <a:off x="6263640" y="2331720"/>
            <a:ext cx="5148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SHE WANTS FIRST</a:t>
            </a:r>
            <a:endParaRPr lang="en-US" sz="1200" dirty="0"/>
          </a:p>
        </p:txBody>
      </p:sp>
      <p:sp>
        <p:nvSpPr>
          <p:cNvPr id="62" name="Shape 56"/>
          <p:cNvSpPr/>
          <p:nvPr/>
        </p:nvSpPr>
        <p:spPr>
          <a:xfrm>
            <a:off x="6217920" y="3268980"/>
            <a:ext cx="5239512" cy="0"/>
          </a:xfrm>
          <a:prstGeom prst="line">
            <a:avLst/>
          </a:prstGeom>
          <a:noFill/>
          <a:ln w="9525">
            <a:solidFill>
              <a:srgbClr val="C9D6E8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6263640" y="3314700"/>
            <a:ext cx="5148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DEADLINE (DAY + TIME)</a:t>
            </a:r>
            <a:endParaRPr lang="en-US" sz="1200" dirty="0"/>
          </a:p>
        </p:txBody>
      </p:sp>
      <p:sp>
        <p:nvSpPr>
          <p:cNvPr id="64" name="Shape 58"/>
          <p:cNvSpPr/>
          <p:nvPr/>
        </p:nvSpPr>
        <p:spPr>
          <a:xfrm>
            <a:off x="6217920" y="4251960"/>
            <a:ext cx="5239512" cy="0"/>
          </a:xfrm>
          <a:prstGeom prst="line">
            <a:avLst/>
          </a:prstGeom>
          <a:noFill/>
          <a:ln w="9525">
            <a:solidFill>
              <a:srgbClr val="C9D6E8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6263640" y="4297680"/>
            <a:ext cx="5148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DO NOT WRITE</a:t>
            </a:r>
            <a:endParaRPr lang="en-US" sz="1200" dirty="0"/>
          </a:p>
        </p:txBody>
      </p:sp>
      <p:sp>
        <p:nvSpPr>
          <p:cNvPr id="66" name="Shape 60"/>
          <p:cNvSpPr/>
          <p:nvPr/>
        </p:nvSpPr>
        <p:spPr>
          <a:xfrm>
            <a:off x="6217920" y="5234940"/>
            <a:ext cx="5239512" cy="0"/>
          </a:xfrm>
          <a:prstGeom prst="line">
            <a:avLst/>
          </a:prstGeom>
          <a:noFill/>
          <a:ln w="9525">
            <a:solidFill>
              <a:srgbClr val="C9D6E8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6263640" y="5280660"/>
            <a:ext cx="5148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HER QUESTION</a:t>
            </a:r>
            <a:endParaRPr lang="en-US" sz="1200" dirty="0"/>
          </a:p>
        </p:txBody>
      </p:sp>
      <p:sp>
        <p:nvSpPr>
          <p:cNvPr id="68" name="Shape 62"/>
          <p:cNvSpPr/>
          <p:nvPr/>
        </p:nvSpPr>
        <p:spPr>
          <a:xfrm>
            <a:off x="6217920" y="6217920"/>
            <a:ext cx="5239512" cy="0"/>
          </a:xfrm>
          <a:prstGeom prst="line">
            <a:avLst/>
          </a:prstGeom>
          <a:noFill/>
          <a:ln w="9525">
            <a:solidFill>
              <a:srgbClr val="C9D6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Voicemail — listen twice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LISTENING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4663440" cy="4526280"/>
          </a:xfrm>
          <a:prstGeom prst="roundRect">
            <a:avLst>
              <a:gd name="adj" fmla="val 2424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984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VOICEMAIL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22960" y="2560320"/>
            <a:ext cx="868680" cy="86868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777490"/>
            <a:ext cx="434340" cy="4343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74520" y="25146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Helen Marsh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D5DCE6"/>
                </a:solidFill>
              </a:rPr>
              <a:t>Claims assessor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7C03B"/>
                </a:solidFill>
              </a:rPr>
              <a:t>Received at 11.26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887839" y="3831336"/>
            <a:ext cx="57477" cy="109728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4" name="Shape 9"/>
          <p:cNvSpPr/>
          <p:nvPr/>
        </p:nvSpPr>
        <p:spPr>
          <a:xfrm>
            <a:off x="983633" y="3692122"/>
            <a:ext cx="57477" cy="388155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5" name="Shape 10"/>
          <p:cNvSpPr/>
          <p:nvPr/>
        </p:nvSpPr>
        <p:spPr>
          <a:xfrm>
            <a:off x="1079427" y="3639379"/>
            <a:ext cx="57477" cy="493642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6" name="Shape 11"/>
          <p:cNvSpPr/>
          <p:nvPr/>
        </p:nvSpPr>
        <p:spPr>
          <a:xfrm>
            <a:off x="1175222" y="3534114"/>
            <a:ext cx="57477" cy="704173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7" name="Shape 12"/>
          <p:cNvSpPr/>
          <p:nvPr/>
        </p:nvSpPr>
        <p:spPr>
          <a:xfrm>
            <a:off x="1271016" y="3587423"/>
            <a:ext cx="57477" cy="597554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8" name="Shape 13"/>
          <p:cNvSpPr/>
          <p:nvPr/>
        </p:nvSpPr>
        <p:spPr>
          <a:xfrm>
            <a:off x="1366810" y="3663812"/>
            <a:ext cx="57477" cy="444776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19" name="Shape 14"/>
          <p:cNvSpPr/>
          <p:nvPr/>
        </p:nvSpPr>
        <p:spPr>
          <a:xfrm>
            <a:off x="1462605" y="3770921"/>
            <a:ext cx="57477" cy="230558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0" name="Shape 15"/>
          <p:cNvSpPr/>
          <p:nvPr/>
        </p:nvSpPr>
        <p:spPr>
          <a:xfrm>
            <a:off x="1558399" y="3829915"/>
            <a:ext cx="57477" cy="112569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1" name="Shape 16"/>
          <p:cNvSpPr/>
          <p:nvPr/>
        </p:nvSpPr>
        <p:spPr>
          <a:xfrm>
            <a:off x="1654193" y="3681150"/>
            <a:ext cx="57477" cy="410100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2" name="Shape 17"/>
          <p:cNvSpPr/>
          <p:nvPr/>
        </p:nvSpPr>
        <p:spPr>
          <a:xfrm>
            <a:off x="1749987" y="3650693"/>
            <a:ext cx="57477" cy="471014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3" name="Shape 18"/>
          <p:cNvSpPr/>
          <p:nvPr/>
        </p:nvSpPr>
        <p:spPr>
          <a:xfrm>
            <a:off x="1845782" y="3673677"/>
            <a:ext cx="57477" cy="425046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4" name="Shape 19"/>
          <p:cNvSpPr/>
          <p:nvPr/>
        </p:nvSpPr>
        <p:spPr>
          <a:xfrm>
            <a:off x="1941576" y="3547984"/>
            <a:ext cx="57477" cy="676432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5" name="Shape 20"/>
          <p:cNvSpPr/>
          <p:nvPr/>
        </p:nvSpPr>
        <p:spPr>
          <a:xfrm>
            <a:off x="2037370" y="3644291"/>
            <a:ext cx="57477" cy="483817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6" name="Shape 21"/>
          <p:cNvSpPr/>
          <p:nvPr/>
        </p:nvSpPr>
        <p:spPr>
          <a:xfrm>
            <a:off x="2133165" y="3699889"/>
            <a:ext cx="57477" cy="372623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7" name="Shape 22"/>
          <p:cNvSpPr/>
          <p:nvPr/>
        </p:nvSpPr>
        <p:spPr>
          <a:xfrm>
            <a:off x="2228959" y="3828688"/>
            <a:ext cx="57477" cy="115024"/>
          </a:xfrm>
          <a:prstGeom prst="roundRect">
            <a:avLst>
              <a:gd name="adj" fmla="val 31818"/>
            </a:avLst>
          </a:prstGeom>
          <a:solidFill>
            <a:srgbClr val="F7C03B"/>
          </a:solidFill>
          <a:ln/>
        </p:spPr>
      </p:sp>
      <p:sp>
        <p:nvSpPr>
          <p:cNvPr id="28" name="Shape 23"/>
          <p:cNvSpPr/>
          <p:nvPr/>
        </p:nvSpPr>
        <p:spPr>
          <a:xfrm>
            <a:off x="2324753" y="3711644"/>
            <a:ext cx="57477" cy="349112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29" name="Shape 24"/>
          <p:cNvSpPr/>
          <p:nvPr/>
        </p:nvSpPr>
        <p:spPr>
          <a:xfrm>
            <a:off x="2420547" y="3594190"/>
            <a:ext cx="57477" cy="584020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0" name="Shape 25"/>
          <p:cNvSpPr/>
          <p:nvPr/>
        </p:nvSpPr>
        <p:spPr>
          <a:xfrm>
            <a:off x="2516342" y="3607362"/>
            <a:ext cx="57477" cy="557676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1" name="Shape 26"/>
          <p:cNvSpPr/>
          <p:nvPr/>
        </p:nvSpPr>
        <p:spPr>
          <a:xfrm>
            <a:off x="2612136" y="3655974"/>
            <a:ext cx="57477" cy="460451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2" name="Shape 27"/>
          <p:cNvSpPr/>
          <p:nvPr/>
        </p:nvSpPr>
        <p:spPr>
          <a:xfrm>
            <a:off x="2707930" y="3674815"/>
            <a:ext cx="57477" cy="422771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3" name="Shape 28"/>
          <p:cNvSpPr/>
          <p:nvPr/>
        </p:nvSpPr>
        <p:spPr>
          <a:xfrm>
            <a:off x="2803725" y="3757385"/>
            <a:ext cx="57477" cy="257631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4" name="Shape 29"/>
          <p:cNvSpPr/>
          <p:nvPr/>
        </p:nvSpPr>
        <p:spPr>
          <a:xfrm>
            <a:off x="2899519" y="3824324"/>
            <a:ext cx="57477" cy="123753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5" name="Shape 30"/>
          <p:cNvSpPr/>
          <p:nvPr/>
        </p:nvSpPr>
        <p:spPr>
          <a:xfrm>
            <a:off x="2995313" y="3684876"/>
            <a:ext cx="57477" cy="402649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6" name="Shape 31"/>
          <p:cNvSpPr/>
          <p:nvPr/>
        </p:nvSpPr>
        <p:spPr>
          <a:xfrm>
            <a:off x="3091107" y="3590797"/>
            <a:ext cx="57477" cy="590806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7" name="Shape 32"/>
          <p:cNvSpPr/>
          <p:nvPr/>
        </p:nvSpPr>
        <p:spPr>
          <a:xfrm>
            <a:off x="3186902" y="3603798"/>
            <a:ext cx="57477" cy="564804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8" name="Shape 33"/>
          <p:cNvSpPr/>
          <p:nvPr/>
        </p:nvSpPr>
        <p:spPr>
          <a:xfrm>
            <a:off x="3282696" y="3520210"/>
            <a:ext cx="57477" cy="731980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39" name="Shape 34"/>
          <p:cNvSpPr/>
          <p:nvPr/>
        </p:nvSpPr>
        <p:spPr>
          <a:xfrm>
            <a:off x="3378490" y="3627077"/>
            <a:ext cx="57477" cy="518245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0" name="Shape 35"/>
          <p:cNvSpPr/>
          <p:nvPr/>
        </p:nvSpPr>
        <p:spPr>
          <a:xfrm>
            <a:off x="3474285" y="3696262"/>
            <a:ext cx="57477" cy="379877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1" name="Shape 36"/>
          <p:cNvSpPr/>
          <p:nvPr/>
        </p:nvSpPr>
        <p:spPr>
          <a:xfrm>
            <a:off x="3570079" y="3821458"/>
            <a:ext cx="57477" cy="129484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2" name="Shape 37"/>
          <p:cNvSpPr/>
          <p:nvPr/>
        </p:nvSpPr>
        <p:spPr>
          <a:xfrm>
            <a:off x="3665873" y="3754182"/>
            <a:ext cx="57477" cy="264036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3" name="Shape 38"/>
          <p:cNvSpPr/>
          <p:nvPr/>
        </p:nvSpPr>
        <p:spPr>
          <a:xfrm>
            <a:off x="3761667" y="3623678"/>
            <a:ext cx="57477" cy="525043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4" name="Shape 39"/>
          <p:cNvSpPr/>
          <p:nvPr/>
        </p:nvSpPr>
        <p:spPr>
          <a:xfrm>
            <a:off x="3857462" y="3514191"/>
            <a:ext cx="57477" cy="744017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5" name="Shape 40"/>
          <p:cNvSpPr/>
          <p:nvPr/>
        </p:nvSpPr>
        <p:spPr>
          <a:xfrm>
            <a:off x="3953256" y="3554968"/>
            <a:ext cx="57477" cy="662463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6" name="Shape 41"/>
          <p:cNvSpPr/>
          <p:nvPr/>
        </p:nvSpPr>
        <p:spPr>
          <a:xfrm>
            <a:off x="4049050" y="3606994"/>
            <a:ext cx="57477" cy="558412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7" name="Shape 42"/>
          <p:cNvSpPr/>
          <p:nvPr/>
        </p:nvSpPr>
        <p:spPr>
          <a:xfrm>
            <a:off x="4144845" y="3716904"/>
            <a:ext cx="57477" cy="338593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8" name="Shape 43"/>
          <p:cNvSpPr/>
          <p:nvPr/>
        </p:nvSpPr>
        <p:spPr>
          <a:xfrm>
            <a:off x="4240639" y="3818598"/>
            <a:ext cx="57477" cy="135205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49" name="Shape 44"/>
          <p:cNvSpPr/>
          <p:nvPr/>
        </p:nvSpPr>
        <p:spPr>
          <a:xfrm>
            <a:off x="4336433" y="3676120"/>
            <a:ext cx="57477" cy="420161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50" name="Shape 45"/>
          <p:cNvSpPr/>
          <p:nvPr/>
        </p:nvSpPr>
        <p:spPr>
          <a:xfrm>
            <a:off x="4432227" y="3607744"/>
            <a:ext cx="57477" cy="556913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51" name="Shape 46"/>
          <p:cNvSpPr/>
          <p:nvPr/>
        </p:nvSpPr>
        <p:spPr>
          <a:xfrm>
            <a:off x="4528022" y="3533729"/>
            <a:ext cx="57477" cy="704941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52" name="Shape 47"/>
          <p:cNvSpPr/>
          <p:nvPr/>
        </p:nvSpPr>
        <p:spPr>
          <a:xfrm>
            <a:off x="4623816" y="3605549"/>
            <a:ext cx="57477" cy="561301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53" name="Shape 48"/>
          <p:cNvSpPr/>
          <p:nvPr/>
        </p:nvSpPr>
        <p:spPr>
          <a:xfrm>
            <a:off x="4719610" y="3706022"/>
            <a:ext cx="57477" cy="360356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54" name="Shape 49"/>
          <p:cNvSpPr/>
          <p:nvPr/>
        </p:nvSpPr>
        <p:spPr>
          <a:xfrm>
            <a:off x="4815405" y="3767502"/>
            <a:ext cx="57477" cy="237396"/>
          </a:xfrm>
          <a:prstGeom prst="roundRect">
            <a:avLst>
              <a:gd name="adj" fmla="val 31818"/>
            </a:avLst>
          </a:prstGeom>
          <a:solidFill>
            <a:srgbClr val="8FA3C2"/>
          </a:solidFill>
          <a:ln/>
        </p:spPr>
      </p:sp>
      <p:sp>
        <p:nvSpPr>
          <p:cNvPr id="55" name="Shape 50"/>
          <p:cNvSpPr/>
          <p:nvPr/>
        </p:nvSpPr>
        <p:spPr>
          <a:xfrm>
            <a:off x="2551176" y="4416552"/>
            <a:ext cx="658368" cy="658368"/>
          </a:xfrm>
          <a:prstGeom prst="ellipse">
            <a:avLst/>
          </a:prstGeom>
          <a:solidFill>
            <a:srgbClr val="F7C03B"/>
          </a:solidFill>
          <a:ln/>
        </p:spPr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4581144"/>
            <a:ext cx="329184" cy="329184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868680" y="4562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CE6"/>
                </a:solidFill>
              </a:rPr>
              <a:t>0:55</a:t>
            </a:r>
            <a:endParaRPr lang="en-US" sz="1300" dirty="0"/>
          </a:p>
        </p:txBody>
      </p:sp>
      <p:sp>
        <p:nvSpPr>
          <p:cNvPr id="58" name="Text 52"/>
          <p:cNvSpPr txBox="1"/>
          <p:nvPr/>
        </p:nvSpPr>
        <p:spPr>
          <a:xfrm>
            <a:off x="868680" y="52578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1st listening</a:t>
            </a:r>
            <a:r>
              <a:rPr lang="en-US" sz="1200" dirty="0">
                <a:solidFill>
                  <a:srgbClr val="FFFFFF"/>
                </a:solidFill>
              </a:rPr>
              <a:t> — pens down: tone + two demands</a:t>
            </a:r>
            <a:endParaRPr lang="en-US" sz="12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2nd listening</a:t>
            </a:r>
            <a:r>
              <a:rPr lang="en-US" sz="1200" dirty="0">
                <a:solidFill>
                  <a:srgbClr val="FFFFFF"/>
                </a:solidFill>
              </a:rPr>
              <a:t> — notes in the four boxes</a:t>
            </a:r>
            <a:endParaRPr lang="en-US" sz="12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Miss the deadline or the prohibition → </a:t>
            </a:r>
            <a:r>
              <a:rPr lang="en-US" sz="1200" b="1" dirty="0">
                <a:solidFill>
                  <a:srgbClr val="FFFFFF"/>
                </a:solidFill>
              </a:rPr>
              <a:t>lose the case</a:t>
            </a:r>
            <a:endParaRPr lang="en-US" sz="1200" dirty="0"/>
          </a:p>
        </p:txBody>
      </p:sp>
      <p:sp>
        <p:nvSpPr>
          <p:cNvPr id="59" name="Shape 53"/>
          <p:cNvSpPr/>
          <p:nvPr/>
        </p:nvSpPr>
        <p:spPr>
          <a:xfrm>
            <a:off x="5577840" y="1783080"/>
            <a:ext cx="6062472" cy="4526280"/>
          </a:xfrm>
          <a:prstGeom prst="rect">
            <a:avLst/>
          </a:prstGeom>
          <a:solidFill>
            <a:srgbClr val="FFFDF5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60" name="Shape 54"/>
          <p:cNvSpPr/>
          <p:nvPr/>
        </p:nvSpPr>
        <p:spPr>
          <a:xfrm>
            <a:off x="6080760" y="1783080"/>
            <a:ext cx="0" cy="4526280"/>
          </a:xfrm>
          <a:prstGeom prst="line">
            <a:avLst/>
          </a:prstGeom>
          <a:noFill/>
          <a:ln w="19050">
            <a:solidFill>
              <a:srgbClr val="E8A0A0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6263640" y="1892808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MY NOTES — 11.26</a:t>
            </a:r>
            <a:endParaRPr lang="en-US" sz="1400" dirty="0"/>
          </a:p>
        </p:txBody>
      </p:sp>
      <p:sp>
        <p:nvSpPr>
          <p:cNvPr id="62" name="Text 56"/>
          <p:cNvSpPr txBox="1"/>
          <p:nvPr/>
        </p:nvSpPr>
        <p:spPr>
          <a:xfrm>
            <a:off x="6263640" y="2331720"/>
            <a:ext cx="5148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SHE WANTS FIRST</a:t>
            </a:r>
            <a:endParaRPr lang="en-US" sz="1200" dirty="0"/>
          </a:p>
        </p:txBody>
      </p:sp>
      <p:sp>
        <p:nvSpPr>
          <p:cNvPr id="63" name="Text 57"/>
          <p:cNvSpPr txBox="1"/>
          <p:nvPr/>
        </p:nvSpPr>
        <p:spPr>
          <a:xfrm>
            <a:off x="6263640" y="2624328"/>
            <a:ext cx="51480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alarm log + the photographs</a:t>
            </a:r>
            <a:endParaRPr lang="en-US" sz="1700" dirty="0"/>
          </a:p>
        </p:txBody>
      </p:sp>
      <p:sp>
        <p:nvSpPr>
          <p:cNvPr id="64" name="Shape 58"/>
          <p:cNvSpPr/>
          <p:nvPr/>
        </p:nvSpPr>
        <p:spPr>
          <a:xfrm>
            <a:off x="6217920" y="3268980"/>
            <a:ext cx="5239512" cy="0"/>
          </a:xfrm>
          <a:prstGeom prst="line">
            <a:avLst/>
          </a:prstGeom>
          <a:noFill/>
          <a:ln w="9525">
            <a:solidFill>
              <a:srgbClr val="C9D6E8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6263640" y="3314700"/>
            <a:ext cx="5148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DEADLINE (DAY + TIME)</a:t>
            </a:r>
            <a:endParaRPr lang="en-US" sz="1200" dirty="0"/>
          </a:p>
        </p:txBody>
      </p:sp>
      <p:sp>
        <p:nvSpPr>
          <p:cNvPr id="66" name="Text 60"/>
          <p:cNvSpPr txBox="1"/>
          <p:nvPr/>
        </p:nvSpPr>
        <p:spPr>
          <a:xfrm>
            <a:off x="6263640" y="3607308"/>
            <a:ext cx="51480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+ time, exactly as she says it</a:t>
            </a:r>
            <a:endParaRPr lang="en-US" sz="1700" dirty="0"/>
          </a:p>
        </p:txBody>
      </p:sp>
      <p:sp>
        <p:nvSpPr>
          <p:cNvPr id="67" name="Shape 61"/>
          <p:cNvSpPr/>
          <p:nvPr/>
        </p:nvSpPr>
        <p:spPr>
          <a:xfrm>
            <a:off x="6217920" y="4251960"/>
            <a:ext cx="5239512" cy="0"/>
          </a:xfrm>
          <a:prstGeom prst="line">
            <a:avLst/>
          </a:prstGeom>
          <a:noFill/>
          <a:ln w="9525">
            <a:solidFill>
              <a:srgbClr val="C9D6E8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6263640" y="4297680"/>
            <a:ext cx="5148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DO NOT WRITE</a:t>
            </a:r>
            <a:endParaRPr lang="en-US" sz="1200" dirty="0"/>
          </a:p>
        </p:txBody>
      </p:sp>
      <p:sp>
        <p:nvSpPr>
          <p:cNvPr id="69" name="Text 63"/>
          <p:cNvSpPr txBox="1"/>
          <p:nvPr/>
        </p:nvSpPr>
        <p:spPr>
          <a:xfrm>
            <a:off x="6263640" y="4590288"/>
            <a:ext cx="51480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cause that has not been proved — no names</a:t>
            </a:r>
            <a:endParaRPr lang="en-US" sz="1700" dirty="0"/>
          </a:p>
        </p:txBody>
      </p:sp>
      <p:sp>
        <p:nvSpPr>
          <p:cNvPr id="70" name="Shape 64"/>
          <p:cNvSpPr/>
          <p:nvPr/>
        </p:nvSpPr>
        <p:spPr>
          <a:xfrm>
            <a:off x="6217920" y="5234940"/>
            <a:ext cx="5239512" cy="0"/>
          </a:xfrm>
          <a:prstGeom prst="line">
            <a:avLst/>
          </a:prstGeom>
          <a:noFill/>
          <a:ln w="9525">
            <a:solidFill>
              <a:srgbClr val="C9D6E8"/>
            </a:solidFill>
            <a:prstDash val="solid"/>
          </a:ln>
        </p:spPr>
      </p:sp>
      <p:sp>
        <p:nvSpPr>
          <p:cNvPr id="71" name="Text 65"/>
          <p:cNvSpPr txBox="1"/>
          <p:nvPr/>
        </p:nvSpPr>
        <p:spPr>
          <a:xfrm>
            <a:off x="6263640" y="5280660"/>
            <a:ext cx="5148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HER QUESTION</a:t>
            </a:r>
            <a:endParaRPr lang="en-US" sz="1200" dirty="0"/>
          </a:p>
        </p:txBody>
      </p:sp>
      <p:sp>
        <p:nvSpPr>
          <p:cNvPr id="72" name="Text 66"/>
          <p:cNvSpPr txBox="1"/>
          <p:nvPr/>
        </p:nvSpPr>
        <p:spPr>
          <a:xfrm>
            <a:off x="6263640" y="5573268"/>
            <a:ext cx="51480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long has this been going on?</a:t>
            </a:r>
            <a:endParaRPr lang="en-US" sz="1700" dirty="0"/>
          </a:p>
        </p:txBody>
      </p:sp>
      <p:sp>
        <p:nvSpPr>
          <p:cNvPr id="73" name="Shape 67"/>
          <p:cNvSpPr/>
          <p:nvPr/>
        </p:nvSpPr>
        <p:spPr>
          <a:xfrm>
            <a:off x="6217920" y="6217920"/>
            <a:ext cx="5239512" cy="0"/>
          </a:xfrm>
          <a:prstGeom prst="line">
            <a:avLst/>
          </a:prstGeom>
          <a:noFill/>
          <a:ln w="9525">
            <a:solidFill>
              <a:srgbClr val="C9D6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she wants — Q1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109167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1.</a:t>
            </a:r>
            <a:r>
              <a:rPr lang="en-US" sz="2200" dirty="0">
                <a:solidFill>
                  <a:schemeClr val="tx1"/>
                </a:solidFill>
              </a:rPr>
              <a:t> What does Ms Marsh want from you first?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84073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full report with a stated cause.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208776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9944" y="284073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77456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alarm log and the photographs.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425805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contractor’s written statement.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208776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9944" y="425805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telephone call from Mr Shaw himself.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she wants — Q1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29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1109167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1.</a:t>
            </a:r>
            <a:r>
              <a:rPr lang="en-US" sz="2200" dirty="0">
                <a:solidFill>
                  <a:schemeClr val="tx1"/>
                </a:solidFill>
              </a:rPr>
              <a:t> What does Ms Marsh want from you first?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84073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A full report with a stated cause.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208776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3C7A3C">
              <a:alpha val="14000"/>
            </a:srgbClr>
          </a:solidFill>
          <a:ln w="25400">
            <a:solidFill>
              <a:srgbClr val="3C7A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2840736"/>
            <a:ext cx="493776" cy="49377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77456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alarm log and the photographs.</a:t>
            </a:r>
            <a:endParaRPr lang="en-US" sz="1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621280"/>
            <a:ext cx="292608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" y="425805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417320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The contractor’s written statement.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6208776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9944" y="425805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077456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A telephone call from Mr Shaw himself.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548640" y="5507736"/>
            <a:ext cx="11091672" cy="801624"/>
          </a:xfrm>
          <a:prstGeom prst="roundRect">
            <a:avLst>
              <a:gd name="adj" fmla="val 9125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72566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325880" y="5562600"/>
            <a:ext cx="10085832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Why?  </a:t>
            </a:r>
            <a:r>
              <a:rPr lang="en-US" sz="1700" dirty="0">
                <a:solidFill>
                  <a:schemeClr val="tx1"/>
                </a:solidFill>
              </a:rPr>
              <a:t>She wants </a:t>
            </a:r>
            <a:r>
              <a:rPr lang="en-US" sz="1700" b="1" dirty="0">
                <a:solidFill>
                  <a:schemeClr val="tx1"/>
                </a:solidFill>
              </a:rPr>
              <a:t>evidence before explanations</a:t>
            </a:r>
            <a:r>
              <a:rPr lang="en-US" sz="1700" dirty="0">
                <a:solidFill>
                  <a:schemeClr val="tx1"/>
                </a:solidFill>
              </a:rPr>
              <a:t>: the log (verifiable times) and the photographs (the state of the room). </a:t>
            </a:r>
            <a:r>
              <a:rPr lang="en-US" sz="1700" i="1" dirty="0">
                <a:solidFill>
                  <a:schemeClr val="tx1"/>
                </a:solidFill>
              </a:rPr>
              <a:t>To be checked against your recording.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she warns you about — Q2 · Q3 · Q5 · Q6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29</a:t>
            </a:r>
            <a:endParaRPr lang="en-US" sz="12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783080"/>
            <a:ext cx="1109167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2.</a:t>
            </a:r>
            <a:r>
              <a:rPr lang="en-US" sz="2600" dirty="0">
                <a:solidFill>
                  <a:schemeClr val="tx1"/>
                </a:solidFill>
              </a:rPr>
              <a:t> She gives a deadline. What is it exactly, and what happens if you miss it?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3.</a:t>
            </a:r>
            <a:r>
              <a:rPr lang="en-US" sz="2600" dirty="0">
                <a:solidFill>
                  <a:schemeClr val="tx1"/>
                </a:solidFill>
              </a:rPr>
              <a:t> She warns you about one thing you must </a:t>
            </a:r>
            <a:r>
              <a:rPr lang="en-US" sz="2600" b="1" dirty="0">
                <a:solidFill>
                  <a:schemeClr val="tx1"/>
                </a:solidFill>
              </a:rPr>
              <a:t>not</a:t>
            </a:r>
            <a:r>
              <a:rPr lang="en-US" sz="2600" dirty="0">
                <a:solidFill>
                  <a:schemeClr val="tx1"/>
                </a:solidFill>
              </a:rPr>
              <a:t> put in the report. What, and why?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5.</a:t>
            </a:r>
            <a:r>
              <a:rPr lang="en-US" sz="2600" dirty="0">
                <a:solidFill>
                  <a:schemeClr val="tx1"/>
                </a:solidFill>
              </a:rPr>
              <a:t> She asks one question that nobody in the room can answer yet. Which one?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6.</a:t>
            </a:r>
            <a:r>
              <a:rPr lang="en-US" sz="2600" dirty="0">
                <a:solidFill>
                  <a:schemeClr val="tx1"/>
                </a:solidFill>
              </a:rPr>
              <a:t> “I am not asking you what caused it. I am asking you what you can prove.” What does that change about the report?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she warns you about — Q2 · Q3 · Q5 · Q6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29</a:t>
            </a:r>
            <a:endParaRPr lang="en-US" sz="12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783080"/>
            <a:ext cx="1109167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2.</a:t>
            </a:r>
            <a:r>
              <a:rPr lang="en-US" sz="1900" dirty="0">
                <a:solidFill>
                  <a:schemeClr val="tx1"/>
                </a:solidFill>
              </a:rPr>
              <a:t> She gives a deadline. What is it exactly, and what happens if you miss it?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→ </a:t>
            </a:r>
            <a:r>
              <a:rPr lang="en-US" sz="1900" b="1" dirty="0">
                <a:solidFill>
                  <a:schemeClr val="tx2"/>
                </a:solidFill>
              </a:rPr>
              <a:t>Day + time </a:t>
            </a:r>
            <a:r>
              <a:rPr lang="en-US" sz="1900" b="1" dirty="0">
                <a:solidFill>
                  <a:schemeClr val="tx2"/>
                </a:solidFill>
              </a:rPr>
              <a:t>as said in the recording</a:t>
            </a:r>
            <a:r>
              <a:rPr lang="en-US" sz="1900" b="1" dirty="0">
                <a:solidFill>
                  <a:schemeClr val="tx2"/>
                </a:solidFill>
              </a:rPr>
              <a:t> — note it in full. If you miss it, the claim is delayed — or refused.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3.</a:t>
            </a:r>
            <a:r>
              <a:rPr lang="en-US" sz="1900" dirty="0">
                <a:solidFill>
                  <a:schemeClr val="tx1"/>
                </a:solidFill>
              </a:rPr>
              <a:t> She warns you about one thing you must </a:t>
            </a:r>
            <a:r>
              <a:rPr lang="en-US" sz="1900" b="1" dirty="0">
                <a:solidFill>
                  <a:schemeClr val="tx1"/>
                </a:solidFill>
              </a:rPr>
              <a:t>not</a:t>
            </a:r>
            <a:r>
              <a:rPr lang="en-US" sz="1900" dirty="0">
                <a:solidFill>
                  <a:schemeClr val="tx1"/>
                </a:solidFill>
              </a:rPr>
              <a:t> put in the report. What, and why?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→ </a:t>
            </a:r>
            <a:r>
              <a:rPr lang="en-US" sz="1900" b="1" dirty="0">
                <a:solidFill>
                  <a:schemeClr val="tx2"/>
                </a:solidFill>
              </a:rPr>
              <a:t>A </a:t>
            </a:r>
            <a:r>
              <a:rPr lang="en-US" sz="1900" b="1" dirty="0">
                <a:solidFill>
                  <a:schemeClr val="tx2"/>
                </a:solidFill>
              </a:rPr>
              <a:t>cause that has not been proved</a:t>
            </a:r>
            <a:r>
              <a:rPr lang="en-US" sz="1900" b="1" dirty="0">
                <a:solidFill>
                  <a:schemeClr val="tx2"/>
                </a:solidFill>
              </a:rPr>
              <a:t> (and no names): an unproved cause stated as a fact gives her grounds to refuse.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5.</a:t>
            </a:r>
            <a:r>
              <a:rPr lang="en-US" sz="1900" dirty="0">
                <a:solidFill>
                  <a:schemeClr val="tx1"/>
                </a:solidFill>
              </a:rPr>
              <a:t> She asks one question that nobody in the room can answer yet. Which one?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→ </a:t>
            </a:r>
            <a:r>
              <a:rPr lang="en-US" sz="1900" b="1" dirty="0">
                <a:solidFill>
                  <a:schemeClr val="tx2"/>
                </a:solidFill>
              </a:rPr>
              <a:t>How long has this been going on?</a:t>
            </a:r>
            <a:r>
              <a:rPr lang="en-US" sz="1900" b="1" dirty="0">
                <a:solidFill>
                  <a:schemeClr val="tx2"/>
                </a:solidFill>
              </a:rPr>
              <a:t> — since when has the pipe been faulty?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6.</a:t>
            </a:r>
            <a:r>
              <a:rPr lang="en-US" sz="1900" dirty="0">
                <a:solidFill>
                  <a:schemeClr val="tx1"/>
                </a:solidFill>
              </a:rPr>
              <a:t> “I am not asking you what caused it. I am asking you what you can prove.” What does that change about the report?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→ </a:t>
            </a:r>
            <a:r>
              <a:rPr lang="en-US" sz="1900" b="1" dirty="0">
                <a:solidFill>
                  <a:schemeClr val="tx2"/>
                </a:solidFill>
              </a:rPr>
              <a:t>The report is built on </a:t>
            </a:r>
            <a:r>
              <a:rPr lang="en-US" sz="1900" b="1" dirty="0">
                <a:solidFill>
                  <a:schemeClr val="tx2"/>
                </a:solidFill>
              </a:rPr>
              <a:t>verifiable facts</a:t>
            </a:r>
            <a:r>
              <a:rPr lang="en-US" sz="1900" b="1" dirty="0">
                <a:solidFill>
                  <a:schemeClr val="tx2"/>
                </a:solidFill>
              </a:rPr>
              <a:t> (times, log, photos); the cause may only appear as a </a:t>
            </a:r>
            <a:r>
              <a:rPr lang="en-US" sz="1900" b="1" dirty="0">
                <a:solidFill>
                  <a:schemeClr val="tx2"/>
                </a:solidFill>
              </a:rPr>
              <a:t>hypothesis</a:t>
            </a:r>
            <a:r>
              <a:rPr lang="en-US" sz="1900" b="1" dirty="0">
                <a:solidFill>
                  <a:schemeClr val="tx2"/>
                </a:solidFill>
              </a:rPr>
              <a:t> (</a:t>
            </a:r>
            <a:r>
              <a:rPr lang="en-US" sz="1900" b="1" i="1" dirty="0">
                <a:solidFill>
                  <a:schemeClr val="tx2"/>
                </a:solidFill>
              </a:rPr>
              <a:t>may / might</a:t>
            </a:r>
            <a:r>
              <a:rPr lang="en-US" sz="1900" b="1" dirty="0">
                <a:solidFill>
                  <a:schemeClr val="tx2"/>
                </a:solidFill>
              </a:rPr>
              <a:t>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she wants — Q4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4.</a:t>
            </a:r>
            <a:r>
              <a:rPr lang="en-US" sz="2200" dirty="0">
                <a:solidFill>
                  <a:schemeClr val="tx1"/>
                </a:solidFill>
              </a:rPr>
              <a:t> Is it correct to say that she has already decided to refuse the claim?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84073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Yes: she says the file looks weak.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08776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9944" y="284073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77456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Yes: she mentions a previous refusal.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25805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No: she asks for evidence before deciding.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08776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425805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77456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No: she has already accepted it in principle.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she wants — Q4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109167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4.</a:t>
            </a:r>
            <a:r>
              <a:rPr lang="en-US" sz="2200" dirty="0">
                <a:solidFill>
                  <a:schemeClr val="tx1"/>
                </a:solidFill>
              </a:rPr>
              <a:t> Is it correct to say that she has already decided to refuse the claim?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84073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Yes: she says the file looks weak.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08776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284073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Yes: she mentions a previous refusal.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3C7A3C">
              <a:alpha val="14000"/>
            </a:srgbClr>
          </a:solidFill>
          <a:ln w="25400">
            <a:solidFill>
              <a:srgbClr val="3C7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258056"/>
            <a:ext cx="493776" cy="49377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No: she asks for evidence before deciding.</a:t>
            </a:r>
            <a:endParaRPr lang="en-US" sz="1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4038600"/>
            <a:ext cx="292608" cy="29260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208776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9944" y="425805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77456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No: she has already accepted it in principle.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8640" y="5507736"/>
            <a:ext cx="11091672" cy="801624"/>
          </a:xfrm>
          <a:prstGeom prst="roundRect">
            <a:avLst>
              <a:gd name="adj" fmla="val 9125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725668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325880" y="5562600"/>
            <a:ext cx="10085832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Why?  </a:t>
            </a:r>
            <a:r>
              <a:rPr lang="en-US" sz="1700" dirty="0">
                <a:solidFill>
                  <a:schemeClr val="tx1"/>
                </a:solidFill>
              </a:rPr>
              <a:t>She has </a:t>
            </a:r>
            <a:r>
              <a:rPr lang="en-US" sz="1700" b="1" dirty="0">
                <a:solidFill>
                  <a:schemeClr val="tx1"/>
                </a:solidFill>
              </a:rPr>
              <a:t>not decided</a:t>
            </a:r>
            <a:r>
              <a:rPr lang="en-US" sz="1700" dirty="0">
                <a:solidFill>
                  <a:schemeClr val="tx1"/>
                </a:solidFill>
              </a:rPr>
              <a:t> anything: she asks for evidence first. An assessor neither refuses nor accepts before reading the file.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assessor’s words: build the chain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Each word (dark) finds its meaning (green) on the next domino. From START to FINISH.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90572" y="234696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6564" y="265328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23723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what the policy protects you against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382012" y="223723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wear and tear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52544" y="223723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94476" y="234696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0468" y="265328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43984" y="223723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4236A"/>
                </a:solidFill>
              </a:rPr>
              <a:t>START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85916" y="223723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claim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56448" y="223723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898380" y="234696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34372" y="265328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47888" y="223723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to refuse to pay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989820" y="223723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assessor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347167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290572" y="358140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26564" y="388772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0080" y="347167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the contract with the insurer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2382012" y="347167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excess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352544" y="347167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094476" y="358140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30468" y="388772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443984" y="347167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the person who decides how much to pay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185916" y="347167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4236A"/>
                </a:solidFill>
              </a:rPr>
              <a:t>FINISH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156448" y="347167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898380" y="358140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834372" y="388772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47888" y="347167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damage caused slowly, by age and use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9989820" y="347167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 settle a claim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48640" y="470611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2290572" y="481584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226564" y="512216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40080" y="470611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 request for money after a loss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2382012" y="470611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policy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4352544" y="470611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094476" y="481584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030468" y="512216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443984" y="470611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to pay it and close the file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6185916" y="470611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 turn it down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156448" y="470611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898380" y="481584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834372" y="512216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247888" y="470611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the part of the loss you pay yourself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9989820" y="470611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cover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assessor’s words: build the chain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Each word (dark) finds its meaning (green) on the next domino. From START to FINISH.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60092" y="234696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96084" y="265328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23723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4236A"/>
                </a:solidFill>
              </a:rPr>
              <a:t>START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351532" y="223723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claim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8912" y="212750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2984" y="2607564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83024" y="223723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94476" y="234696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0468" y="265328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474464" y="223723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 request for money after a loss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185916" y="223723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policy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273296" y="212750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368" y="2607564"/>
            <a:ext cx="219456" cy="21945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217408" y="223723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28860" y="234696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864852" y="265328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308848" y="223723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the contract with the insurer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10020300" y="223723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excess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107680" y="212750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48640" y="347167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2260092" y="358140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196084" y="388772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40080" y="347167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the part of the loss you pay yourself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2351532" y="347167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cover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438912" y="336194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984" y="3842004"/>
            <a:ext cx="219456" cy="219456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383024" y="347167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094476" y="358140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030468" y="388772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4474464" y="347167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what the policy protects you against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6185916" y="347167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wear and tear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4273296" y="336194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368" y="3842004"/>
            <a:ext cx="219456" cy="219456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8217408" y="347167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9928860" y="358140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9864852" y="388772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8308848" y="347167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damage caused slowly, by age and use</a:t>
            </a:r>
            <a:endParaRPr lang="en-US" sz="1600" dirty="0"/>
          </a:p>
        </p:txBody>
      </p:sp>
      <p:sp>
        <p:nvSpPr>
          <p:cNvPr id="46" name="Text 39"/>
          <p:cNvSpPr txBox="1"/>
          <p:nvPr/>
        </p:nvSpPr>
        <p:spPr>
          <a:xfrm>
            <a:off x="10020300" y="347167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 settle a claim</a:t>
            </a:r>
            <a:endParaRPr lang="en-US" sz="1600" dirty="0"/>
          </a:p>
        </p:txBody>
      </p:sp>
      <p:sp>
        <p:nvSpPr>
          <p:cNvPr id="47" name="Text 40"/>
          <p:cNvSpPr/>
          <p:nvPr/>
        </p:nvSpPr>
        <p:spPr>
          <a:xfrm>
            <a:off x="8107680" y="336194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548640" y="470611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2260092" y="481584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2196084" y="512216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640080" y="470611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to pay it and close the file</a:t>
            </a:r>
            <a:endParaRPr lang="en-US" sz="1600" dirty="0"/>
          </a:p>
        </p:txBody>
      </p:sp>
      <p:sp>
        <p:nvSpPr>
          <p:cNvPr id="52" name="Text 45"/>
          <p:cNvSpPr txBox="1"/>
          <p:nvPr/>
        </p:nvSpPr>
        <p:spPr>
          <a:xfrm>
            <a:off x="2351532" y="470611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 turn it down</a:t>
            </a:r>
            <a:endParaRPr lang="en-US" sz="1600" dirty="0"/>
          </a:p>
        </p:txBody>
      </p:sp>
      <p:sp>
        <p:nvSpPr>
          <p:cNvPr id="53" name="Text 46"/>
          <p:cNvSpPr/>
          <p:nvPr/>
        </p:nvSpPr>
        <p:spPr>
          <a:xfrm>
            <a:off x="438912" y="459638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84" y="5076444"/>
            <a:ext cx="219456" cy="219456"/>
          </a:xfrm>
          <a:prstGeom prst="rect">
            <a:avLst/>
          </a:prstGeom>
        </p:spPr>
      </p:pic>
      <p:sp>
        <p:nvSpPr>
          <p:cNvPr id="55" name="Shape 47"/>
          <p:cNvSpPr/>
          <p:nvPr/>
        </p:nvSpPr>
        <p:spPr>
          <a:xfrm>
            <a:off x="4383024" y="470611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6094476" y="481584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6030468" y="512216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8" name="Text 50"/>
          <p:cNvSpPr txBox="1"/>
          <p:nvPr/>
        </p:nvSpPr>
        <p:spPr>
          <a:xfrm>
            <a:off x="4474464" y="470611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to refuse to pay</a:t>
            </a:r>
            <a:endParaRPr lang="en-US" sz="1600" dirty="0"/>
          </a:p>
        </p:txBody>
      </p:sp>
      <p:sp>
        <p:nvSpPr>
          <p:cNvPr id="59" name="Text 51"/>
          <p:cNvSpPr txBox="1"/>
          <p:nvPr/>
        </p:nvSpPr>
        <p:spPr>
          <a:xfrm>
            <a:off x="6185916" y="470611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assessor</a:t>
            </a:r>
            <a:endParaRPr lang="en-US" sz="1600" dirty="0"/>
          </a:p>
        </p:txBody>
      </p:sp>
      <p:sp>
        <p:nvSpPr>
          <p:cNvPr id="60" name="Text 52"/>
          <p:cNvSpPr/>
          <p:nvPr/>
        </p:nvSpPr>
        <p:spPr>
          <a:xfrm>
            <a:off x="4273296" y="459638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7368" y="5076444"/>
            <a:ext cx="219456" cy="219456"/>
          </a:xfrm>
          <a:prstGeom prst="rect">
            <a:avLst/>
          </a:prstGeom>
        </p:spPr>
      </p:pic>
      <p:sp>
        <p:nvSpPr>
          <p:cNvPr id="62" name="Shape 53"/>
          <p:cNvSpPr/>
          <p:nvPr/>
        </p:nvSpPr>
        <p:spPr>
          <a:xfrm>
            <a:off x="8217408" y="470611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63" name="Shape 54"/>
          <p:cNvSpPr/>
          <p:nvPr/>
        </p:nvSpPr>
        <p:spPr>
          <a:xfrm>
            <a:off x="9928860" y="481584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9864852" y="512216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5" name="Text 56"/>
          <p:cNvSpPr txBox="1"/>
          <p:nvPr/>
        </p:nvSpPr>
        <p:spPr>
          <a:xfrm>
            <a:off x="8308848" y="470611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the person who decides how much to pay</a:t>
            </a:r>
            <a:endParaRPr lang="en-US" sz="1600" dirty="0"/>
          </a:p>
        </p:txBody>
      </p:sp>
      <p:sp>
        <p:nvSpPr>
          <p:cNvPr id="66" name="Text 57"/>
          <p:cNvSpPr txBox="1"/>
          <p:nvPr/>
        </p:nvSpPr>
        <p:spPr>
          <a:xfrm>
            <a:off x="10020300" y="470611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4236A"/>
                </a:solidFill>
              </a:rPr>
              <a:t>FINISH</a:t>
            </a:r>
            <a:endParaRPr lang="en-US" sz="1400" dirty="0"/>
          </a:p>
        </p:txBody>
      </p:sp>
      <p:sp>
        <p:nvSpPr>
          <p:cNvPr id="67" name="Text 58"/>
          <p:cNvSpPr/>
          <p:nvPr/>
        </p:nvSpPr>
        <p:spPr>
          <a:xfrm>
            <a:off x="8107680" y="459638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long has this pipe been faulty?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FIELD NOTE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30</a:t>
            </a:r>
            <a:endParaRPr lang="en-US" sz="1200" dirty="0"/>
          </a:p>
        </p:txBody>
      </p:sp>
      <p:pic>
        <p:nvPicPr>
          <p:cNvPr id="6" name="illustration" descr="At the whiteboard: FOR + duration, for about three months · SINCE + starting point, since the summer · It is faulty since… (French trap) · It has been faulty for… (English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0800" cy="4277066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7315200" y="1783080"/>
            <a:ext cx="4325112" cy="994410"/>
          </a:xfrm>
          <a:prstGeom prst="roundRect">
            <a:avLst>
              <a:gd name="adj" fmla="val 7356"/>
            </a:avLst>
          </a:prstGeom>
          <a:solidFill>
            <a:srgbClr val="2E75B6">
              <a:alpha val="9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929384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882128" y="1892808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 = the distance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7516368" y="2258568"/>
            <a:ext cx="392277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 a duration: </a:t>
            </a:r>
            <a:r>
              <a:rPr lang="en-US" sz="1400" i="1" dirty="0">
                <a:solidFill>
                  <a:schemeClr val="tx1"/>
                </a:solidFill>
              </a:rPr>
              <a:t>for about three months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315200" y="2960370"/>
            <a:ext cx="4325112" cy="994410"/>
          </a:xfrm>
          <a:prstGeom prst="roundRect">
            <a:avLst>
              <a:gd name="adj" fmla="val 7356"/>
            </a:avLst>
          </a:prstGeom>
          <a:solidFill>
            <a:srgbClr val="B4236A">
              <a:alpha val="9000"/>
            </a:srgbClr>
          </a:solidFill>
          <a:ln w="12700">
            <a:solidFill>
              <a:srgbClr val="B4236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106674"/>
            <a:ext cx="292608" cy="29260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882128" y="3070098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SINCE = where it starts</a:t>
            </a:r>
            <a:endParaRPr lang="en-US" sz="1700" dirty="0"/>
          </a:p>
        </p:txBody>
      </p:sp>
      <p:sp>
        <p:nvSpPr>
          <p:cNvPr id="14" name="Text 8"/>
          <p:cNvSpPr txBox="1"/>
          <p:nvPr/>
        </p:nvSpPr>
        <p:spPr>
          <a:xfrm>
            <a:off x="7516368" y="3435858"/>
            <a:ext cx="392277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 a starting point: </a:t>
            </a:r>
            <a:r>
              <a:rPr lang="en-US" sz="1400" i="1" dirty="0">
                <a:solidFill>
                  <a:schemeClr val="tx1"/>
                </a:solidFill>
              </a:rPr>
              <a:t>since the summer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7315200" y="4137660"/>
            <a:ext cx="4325112" cy="994410"/>
          </a:xfrm>
          <a:prstGeom prst="roundRect">
            <a:avLst>
              <a:gd name="adj" fmla="val 7356"/>
            </a:avLst>
          </a:prstGeom>
          <a:solidFill>
            <a:srgbClr val="1F3864">
              <a:alpha val="9000"/>
            </a:srgbClr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28396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882128" y="4247388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question</a:t>
            </a:r>
            <a:endParaRPr lang="en-US" sz="1700" dirty="0"/>
          </a:p>
        </p:txBody>
      </p:sp>
      <p:sp>
        <p:nvSpPr>
          <p:cNvPr id="18" name="Text 11"/>
          <p:cNvSpPr txBox="1"/>
          <p:nvPr/>
        </p:nvSpPr>
        <p:spPr>
          <a:xfrm>
            <a:off x="7516368" y="4613148"/>
            <a:ext cx="392277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long has</a:t>
            </a:r>
            <a:r>
              <a:rPr lang="en-US" sz="1400" dirty="0">
                <a:solidFill>
                  <a:schemeClr val="tx1"/>
                </a:solidFill>
              </a:rPr>
              <a:t> this pipe </a:t>
            </a:r>
            <a:r>
              <a:rPr lang="en-US" sz="1400" b="1" dirty="0">
                <a:solidFill>
                  <a:schemeClr val="tx1"/>
                </a:solidFill>
              </a:rPr>
              <a:t>been</a:t>
            </a:r>
            <a:r>
              <a:rPr lang="en-US" sz="1400" dirty="0">
                <a:solidFill>
                  <a:schemeClr val="tx1"/>
                </a:solidFill>
              </a:rPr>
              <a:t> faulty?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7315200" y="5314950"/>
            <a:ext cx="4325112" cy="994410"/>
          </a:xfrm>
          <a:prstGeom prst="roundRect">
            <a:avLst>
              <a:gd name="adj" fmla="val 7356"/>
            </a:avLst>
          </a:prstGeom>
          <a:solidFill>
            <a:srgbClr val="B03A2E">
              <a:alpha val="9000"/>
            </a:srgbClr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5461254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882128" y="5424678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French trap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7516368" y="5790438"/>
            <a:ext cx="392277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✗ </a:t>
            </a:r>
            <a:r>
              <a:rPr lang="en-US" sz="1400" i="1" dirty="0">
                <a:solidFill>
                  <a:schemeClr val="tx1"/>
                </a:solidFill>
              </a:rPr>
              <a:t>It is faulty since…</a:t>
            </a:r>
            <a:r>
              <a:rPr lang="en-US" sz="1400" dirty="0">
                <a:solidFill>
                  <a:schemeClr val="tx1"/>
                </a:solidFill>
              </a:rPr>
              <a:t> → ✓ It </a:t>
            </a:r>
            <a:r>
              <a:rPr lang="en-US" sz="1400" b="1" dirty="0">
                <a:solidFill>
                  <a:schemeClr val="tx1"/>
                </a:solidFill>
              </a:rPr>
              <a:t>has been</a:t>
            </a:r>
            <a:r>
              <a:rPr lang="en-US" sz="1400" dirty="0">
                <a:solidFill>
                  <a:schemeClr val="tx1"/>
                </a:solidFill>
              </a:rPr>
              <a:t> faulty for…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Since = the pin · for = the tape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2926080"/>
            <a:ext cx="10725912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914400" y="2862072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June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68142" y="2862072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19502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July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1885" y="2862072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73245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August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075627" y="2862072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26987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September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29370" y="2862072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80730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October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1183112" y="2862072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634472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November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535320" y="3383280"/>
            <a:ext cx="4826295" cy="384048"/>
          </a:xfrm>
          <a:prstGeom prst="roundRect">
            <a:avLst>
              <a:gd name="adj" fmla="val 14286"/>
            </a:avLst>
          </a:prstGeom>
          <a:solidFill>
            <a:srgbClr val="F4C542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4504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5477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6450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74232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83960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9368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0341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1314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22872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32600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4232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5205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6178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71512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81240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29096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0069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51042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620152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29880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83960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94933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05906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168792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278520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38824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49797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60770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717432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827160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3688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04661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15634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266072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375800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48552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59525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70498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814712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924440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03416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14389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25362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535320" y="3520440"/>
            <a:ext cx="482629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 about three months</a:t>
            </a:r>
            <a:endParaRPr lang="en-US" sz="1600" dirty="0"/>
          </a:p>
        </p:txBody>
      </p:sp>
      <p:pic>
        <p:nvPicPr>
          <p:cNvPr id="6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1343" y="3410712"/>
            <a:ext cx="329184" cy="329184"/>
          </a:xfrm>
          <a:prstGeom prst="rect">
            <a:avLst/>
          </a:prstGeom>
        </p:spPr>
      </p:pic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288" y="2359152"/>
            <a:ext cx="512064" cy="512064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4438040" y="182880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since the summer</a:t>
            </a:r>
            <a:endParaRPr lang="en-US" sz="1500" dirty="0"/>
          </a:p>
        </p:txBody>
      </p:sp>
      <p:sp>
        <p:nvSpPr>
          <p:cNvPr id="67" name="Shape 62"/>
          <p:cNvSpPr/>
          <p:nvPr/>
        </p:nvSpPr>
        <p:spPr>
          <a:xfrm>
            <a:off x="10361615" y="2240280"/>
            <a:ext cx="0" cy="1527048"/>
          </a:xfrm>
          <a:prstGeom prst="line">
            <a:avLst/>
          </a:prstGeom>
          <a:noFill/>
          <a:ln w="25400">
            <a:solidFill>
              <a:srgbClr val="B03A2E"/>
            </a:solidFill>
            <a:prstDash val="dash"/>
          </a:ln>
        </p:spPr>
      </p:sp>
      <p:sp>
        <p:nvSpPr>
          <p:cNvPr id="68" name="Text 63"/>
          <p:cNvSpPr txBox="1"/>
          <p:nvPr/>
        </p:nvSpPr>
        <p:spPr>
          <a:xfrm>
            <a:off x="9447215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NOW · November</a:t>
            </a:r>
            <a:endParaRPr lang="en-US" sz="1300" dirty="0"/>
          </a:p>
        </p:txBody>
      </p:sp>
      <p:sp>
        <p:nvSpPr>
          <p:cNvPr id="69" name="Shape 64"/>
          <p:cNvSpPr/>
          <p:nvPr/>
        </p:nvSpPr>
        <p:spPr>
          <a:xfrm>
            <a:off x="548640" y="4087368"/>
            <a:ext cx="5408676" cy="1264920"/>
          </a:xfrm>
          <a:prstGeom prst="roundRect">
            <a:avLst>
              <a:gd name="adj" fmla="val 5783"/>
            </a:avLst>
          </a:prstGeom>
          <a:solidFill>
            <a:srgbClr val="B4236A">
              <a:alpha val="8000"/>
            </a:srgbClr>
          </a:solidFill>
          <a:ln w="12700">
            <a:solidFill>
              <a:srgbClr val="B4236A"/>
            </a:solidFill>
            <a:prstDash val="solid"/>
          </a:ln>
        </p:spPr>
      </p:sp>
      <p:pic>
        <p:nvPicPr>
          <p:cNvPr id="7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51960"/>
            <a:ext cx="310896" cy="310896"/>
          </a:xfrm>
          <a:prstGeom prst="rect">
            <a:avLst/>
          </a:prstGeom>
        </p:spPr>
      </p:pic>
      <p:sp>
        <p:nvSpPr>
          <p:cNvPr id="71" name="Text 65"/>
          <p:cNvSpPr txBox="1"/>
          <p:nvPr/>
        </p:nvSpPr>
        <p:spPr>
          <a:xfrm>
            <a:off x="1188720" y="4197096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SINCE + a starting point = a pin</a:t>
            </a:r>
            <a:endParaRPr lang="en-US" sz="1800" dirty="0"/>
          </a:p>
        </p:txBody>
      </p:sp>
      <p:sp>
        <p:nvSpPr>
          <p:cNvPr id="72" name="Text 66"/>
          <p:cNvSpPr txBox="1"/>
          <p:nvPr/>
        </p:nvSpPr>
        <p:spPr>
          <a:xfrm>
            <a:off x="777240" y="4654296"/>
            <a:ext cx="4997196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It </a:t>
            </a:r>
            <a:r>
              <a:rPr lang="en-US" sz="1700" b="1" dirty="0">
                <a:solidFill>
                  <a:schemeClr val="tx1"/>
                </a:solidFill>
              </a:rPr>
              <a:t>has been</a:t>
            </a:r>
            <a:r>
              <a:rPr lang="en-US" sz="1700" dirty="0">
                <a:solidFill>
                  <a:schemeClr val="tx1"/>
                </a:solidFill>
              </a:rPr>
              <a:t> faulty </a:t>
            </a:r>
            <a:r>
              <a:rPr lang="en-US" sz="1700" b="1" dirty="0">
                <a:solidFill>
                  <a:schemeClr val="tx1"/>
                </a:solidFill>
              </a:rPr>
              <a:t>since the summer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since August · since last November · since 7 o’clock</a:t>
            </a:r>
            <a:endParaRPr lang="en-US" sz="1700" dirty="0"/>
          </a:p>
        </p:txBody>
      </p:sp>
      <p:sp>
        <p:nvSpPr>
          <p:cNvPr id="73" name="Shape 67"/>
          <p:cNvSpPr/>
          <p:nvPr/>
        </p:nvSpPr>
        <p:spPr>
          <a:xfrm>
            <a:off x="6231636" y="4087368"/>
            <a:ext cx="5408676" cy="1264920"/>
          </a:xfrm>
          <a:prstGeom prst="roundRect">
            <a:avLst>
              <a:gd name="adj" fmla="val 5783"/>
            </a:avLst>
          </a:prstGeom>
          <a:solidFill>
            <a:srgbClr val="2E75B6">
              <a:alpha val="8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7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4251960"/>
            <a:ext cx="310896" cy="310896"/>
          </a:xfrm>
          <a:prstGeom prst="rect">
            <a:avLst/>
          </a:prstGeom>
        </p:spPr>
      </p:pic>
      <p:sp>
        <p:nvSpPr>
          <p:cNvPr id="75" name="Text 68"/>
          <p:cNvSpPr txBox="1"/>
          <p:nvPr/>
        </p:nvSpPr>
        <p:spPr>
          <a:xfrm>
            <a:off x="6871716" y="4197096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 + a length of time = a tape</a:t>
            </a:r>
            <a:endParaRPr lang="en-US" sz="1800" dirty="0"/>
          </a:p>
        </p:txBody>
      </p:sp>
      <p:sp>
        <p:nvSpPr>
          <p:cNvPr id="76" name="Text 69"/>
          <p:cNvSpPr txBox="1"/>
          <p:nvPr/>
        </p:nvSpPr>
        <p:spPr>
          <a:xfrm>
            <a:off x="6460236" y="4654296"/>
            <a:ext cx="4997196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It </a:t>
            </a:r>
            <a:r>
              <a:rPr lang="en-US" sz="1700" b="1" dirty="0">
                <a:solidFill>
                  <a:schemeClr val="tx1"/>
                </a:solidFill>
              </a:rPr>
              <a:t>has been</a:t>
            </a:r>
            <a:r>
              <a:rPr lang="en-US" sz="1700" dirty="0">
                <a:solidFill>
                  <a:schemeClr val="tx1"/>
                </a:solidFill>
              </a:rPr>
              <a:t> faulty </a:t>
            </a:r>
            <a:r>
              <a:rPr lang="en-US" sz="1700" b="1" dirty="0">
                <a:solidFill>
                  <a:schemeClr val="tx1"/>
                </a:solidFill>
              </a:rPr>
              <a:t>for about three months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for weeks · for two days · for a long time</a:t>
            </a:r>
            <a:endParaRPr lang="en-US" sz="1700" dirty="0"/>
          </a:p>
        </p:txBody>
      </p:sp>
      <p:sp>
        <p:nvSpPr>
          <p:cNvPr id="77" name="Shape 70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B03A2E">
              <a:alpha val="8000"/>
            </a:srgbClr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7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79" name="Text 71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800" i="1" dirty="0">
                <a:solidFill>
                  <a:schemeClr val="tx1"/>
                </a:solidFill>
              </a:rPr>
              <a:t>il y a trois mois</a:t>
            </a:r>
            <a:r>
              <a:rPr lang="en-US" sz="1800" dirty="0">
                <a:solidFill>
                  <a:schemeClr val="tx1"/>
                </a:solidFill>
              </a:rPr>
              <a:t> = three months </a:t>
            </a:r>
            <a:r>
              <a:rPr lang="en-US" sz="1800" b="1" dirty="0">
                <a:solidFill>
                  <a:schemeClr val="tx1"/>
                </a:solidFill>
              </a:rPr>
              <a:t>ago</a:t>
            </a:r>
            <a:r>
              <a:rPr lang="en-US" sz="1800" dirty="0">
                <a:solidFill>
                  <a:schemeClr val="tx1"/>
                </a:solidFill>
              </a:rPr>
              <a:t> (past simple: </a:t>
            </a:r>
            <a:r>
              <a:rPr lang="en-US" sz="1800" i="1" dirty="0">
                <a:solidFill>
                  <a:schemeClr val="tx1"/>
                </a:solidFill>
              </a:rPr>
              <a:t>It started three months ago</a:t>
            </a:r>
            <a:r>
              <a:rPr lang="en-US" sz="1800" dirty="0">
                <a:solidFill>
                  <a:schemeClr val="tx1"/>
                </a:solidFill>
              </a:rPr>
              <a:t>) ≠ </a:t>
            </a:r>
            <a:r>
              <a:rPr lang="en-US" sz="1800" i="1" dirty="0">
                <a:solidFill>
                  <a:schemeClr val="tx1"/>
                </a:solidFill>
              </a:rPr>
              <a:t>depuis trois mois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b="1" dirty="0">
                <a:solidFill>
                  <a:schemeClr val="tx1"/>
                </a:solidFill>
              </a:rPr>
              <a:t>for</a:t>
            </a:r>
            <a:r>
              <a:rPr lang="en-US" sz="1800" dirty="0">
                <a:solidFill>
                  <a:schemeClr val="tx1"/>
                </a:solidFill>
              </a:rPr>
              <a:t> three months (present perfect).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Which tense does it call for?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Séances 3 · 9 · 13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Ten time expressions. Still true now → </a:t>
            </a:r>
            <a:r>
              <a:rPr lang="en-US" sz="1600" b="1" i="1" dirty="0">
                <a:solidFill>
                  <a:schemeClr val="accent5"/>
                </a:solidFill>
              </a:rPr>
              <a:t>present perfect</a:t>
            </a:r>
            <a:r>
              <a:rPr lang="en-US" sz="1600" i="1" dirty="0">
                <a:solidFill>
                  <a:schemeClr val="accent5"/>
                </a:solidFill>
              </a:rPr>
              <a:t>. A finished time → </a:t>
            </a:r>
            <a:r>
              <a:rPr lang="en-US" sz="1600" b="1" i="1" dirty="0">
                <a:solidFill>
                  <a:schemeClr val="accent5"/>
                </a:solidFill>
              </a:rPr>
              <a:t>past simple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1225296"/>
          </a:xfrm>
          <a:prstGeom prst="roundRect">
            <a:avLst>
              <a:gd name="adj" fmla="val 5970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37232"/>
            <a:ext cx="1005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TIME WORDS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2420112"/>
            <a:ext cx="195072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since the summer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816096" y="2420112"/>
            <a:ext cx="195072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three months ago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894832" y="2420112"/>
            <a:ext cx="195072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for eight months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73568" y="2420112"/>
            <a:ext cx="16535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last November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755124" y="2420112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 far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737360" y="2895600"/>
            <a:ext cx="11582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at 23.41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023616" y="2895600"/>
            <a:ext cx="12573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not … yet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408932" y="2895600"/>
            <a:ext cx="20497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yesterday evening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86728" y="2895600"/>
            <a:ext cx="185166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since 7 o’clock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566404" y="2895600"/>
            <a:ext cx="21488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when the team left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736848"/>
            <a:ext cx="5445252" cy="658368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3736848"/>
            <a:ext cx="52623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PRESENT PERFECT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it is still true now — has been, have done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4450080"/>
            <a:ext cx="5445252" cy="1859280"/>
          </a:xfrm>
          <a:prstGeom prst="roundRect">
            <a:avLst>
              <a:gd name="adj" fmla="val 3934"/>
            </a:avLst>
          </a:prstGeom>
          <a:solidFill>
            <a:srgbClr val="2E75B6">
              <a:alpha val="6000"/>
            </a:srgbClr>
          </a:solidFill>
          <a:ln w="12700">
            <a:solidFill>
              <a:srgbClr val="2E75B6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6195060" y="3736848"/>
            <a:ext cx="5445252" cy="658368"/>
          </a:xfrm>
          <a:prstGeom prst="roundRect">
            <a:avLst>
              <a:gd name="adj" fmla="val 11111"/>
            </a:avLst>
          </a:prstGeom>
          <a:solidFill>
            <a:srgbClr val="B4236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86500" y="3736848"/>
            <a:ext cx="52623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PAST SIMPLE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a finished time — was, did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195060" y="4450080"/>
            <a:ext cx="5445252" cy="1859280"/>
          </a:xfrm>
          <a:prstGeom prst="roundRect">
            <a:avLst>
              <a:gd name="adj" fmla="val 3934"/>
            </a:avLst>
          </a:prstGeom>
          <a:solidFill>
            <a:srgbClr val="B4236A">
              <a:alpha val="6000"/>
            </a:srgbClr>
          </a:solidFill>
          <a:ln w="12700">
            <a:solidFill>
              <a:srgbClr val="B4236A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Which tense does it call for?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BRIDGE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7099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Séances 3 · 9 · 13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Ten time expressions. Still true now → </a:t>
            </a:r>
            <a:r>
              <a:rPr lang="en-US" sz="1600" b="1" i="1" dirty="0">
                <a:solidFill>
                  <a:schemeClr val="accent5"/>
                </a:solidFill>
              </a:rPr>
              <a:t>present perfect</a:t>
            </a:r>
            <a:r>
              <a:rPr lang="en-US" sz="1600" i="1" dirty="0">
                <a:solidFill>
                  <a:schemeClr val="accent5"/>
                </a:solidFill>
              </a:rPr>
              <a:t>. A finished time → </a:t>
            </a:r>
            <a:r>
              <a:rPr lang="en-US" sz="1600" b="1" i="1" dirty="0">
                <a:solidFill>
                  <a:schemeClr val="accent5"/>
                </a:solidFill>
              </a:rPr>
              <a:t>past simple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5445252" cy="438912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237232"/>
            <a:ext cx="52623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PRESENT PERFECT  </a:t>
            </a:r>
            <a:r>
              <a:rPr lang="en-US" sz="1200" i="1" dirty="0">
                <a:solidFill>
                  <a:schemeClr val="bg1"/>
                </a:solidFill>
              </a:rPr>
              <a:t>it is still true now — has been, have done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731008"/>
            <a:ext cx="5445252" cy="3578352"/>
          </a:xfrm>
          <a:prstGeom prst="roundRect">
            <a:avLst>
              <a:gd name="adj" fmla="val 2044"/>
            </a:avLst>
          </a:prstGeom>
          <a:solidFill>
            <a:srgbClr val="2E75B6">
              <a:alpha val="6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822448"/>
            <a:ext cx="5225796" cy="627888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since the summer</a:t>
            </a:r>
            <a:r>
              <a:rPr lang="en-US" sz="1600" dirty="0">
                <a:solidFill>
                  <a:schemeClr val="tx1"/>
                </a:solidFill>
              </a:rPr>
              <a:t> — It </a:t>
            </a:r>
            <a:r>
              <a:rPr lang="en-US" sz="1600" b="1" dirty="0">
                <a:solidFill>
                  <a:schemeClr val="tx1"/>
                </a:solidFill>
              </a:rPr>
              <a:t>has been</a:t>
            </a:r>
            <a:r>
              <a:rPr lang="en-US" sz="1600" dirty="0">
                <a:solidFill>
                  <a:schemeClr val="tx1"/>
                </a:solidFill>
              </a:rPr>
              <a:t> faulty since the summer.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" y="3505200"/>
            <a:ext cx="5225796" cy="627888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 eight months</a:t>
            </a:r>
            <a:r>
              <a:rPr lang="en-US" sz="1600" dirty="0">
                <a:solidFill>
                  <a:schemeClr val="tx1"/>
                </a:solidFill>
              </a:rPr>
              <a:t> — I </a:t>
            </a:r>
            <a:r>
              <a:rPr lang="en-US" sz="1600" b="1" dirty="0">
                <a:solidFill>
                  <a:schemeClr val="tx1"/>
                </a:solidFill>
              </a:rPr>
              <a:t>have worked</a:t>
            </a:r>
            <a:r>
              <a:rPr lang="en-US" sz="1600" dirty="0">
                <a:solidFill>
                  <a:schemeClr val="tx1"/>
                </a:solidFill>
              </a:rPr>
              <a:t> here for eight months.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8368" y="4187952"/>
            <a:ext cx="5225796" cy="627888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 far</a:t>
            </a:r>
            <a:r>
              <a:rPr lang="en-US" sz="1600" dirty="0">
                <a:solidFill>
                  <a:schemeClr val="tx1"/>
                </a:solidFill>
              </a:rPr>
              <a:t> — So far, we </a:t>
            </a:r>
            <a:r>
              <a:rPr lang="en-US" sz="1600" b="1" dirty="0">
                <a:solidFill>
                  <a:schemeClr val="tx1"/>
                </a:solidFill>
              </a:rPr>
              <a:t>have found</a:t>
            </a:r>
            <a:r>
              <a:rPr lang="en-US" sz="1600" dirty="0">
                <a:solidFill>
                  <a:schemeClr val="tx1"/>
                </a:solidFill>
              </a:rPr>
              <a:t> no evidence.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8368" y="4870704"/>
            <a:ext cx="5225796" cy="627888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 … yet</a:t>
            </a:r>
            <a:r>
              <a:rPr lang="en-US" sz="1600" dirty="0">
                <a:solidFill>
                  <a:schemeClr val="tx1"/>
                </a:solidFill>
              </a:rPr>
              <a:t> — We </a:t>
            </a:r>
            <a:r>
              <a:rPr lang="en-US" sz="1600" b="1" dirty="0">
                <a:solidFill>
                  <a:schemeClr val="tx1"/>
                </a:solidFill>
              </a:rPr>
              <a:t>have not inspected</a:t>
            </a:r>
            <a:r>
              <a:rPr lang="en-US" sz="1600" dirty="0">
                <a:solidFill>
                  <a:schemeClr val="tx1"/>
                </a:solidFill>
              </a:rPr>
              <a:t> the basement yet.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5553456"/>
            <a:ext cx="5225796" cy="627888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since 7 o’clock</a:t>
            </a:r>
            <a:r>
              <a:rPr lang="en-US" sz="1600" dirty="0">
                <a:solidFill>
                  <a:schemeClr val="tx1"/>
                </a:solidFill>
              </a:rPr>
              <a:t> — The floor </a:t>
            </a:r>
            <a:r>
              <a:rPr lang="en-US" sz="1600" b="1" dirty="0">
                <a:solidFill>
                  <a:schemeClr val="tx1"/>
                </a:solidFill>
              </a:rPr>
              <a:t>has been</a:t>
            </a:r>
            <a:r>
              <a:rPr lang="en-US" sz="1600" dirty="0">
                <a:solidFill>
                  <a:schemeClr val="tx1"/>
                </a:solidFill>
              </a:rPr>
              <a:t> closed since 7.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95060" y="2237232"/>
            <a:ext cx="5445252" cy="438912"/>
          </a:xfrm>
          <a:prstGeom prst="roundRect">
            <a:avLst>
              <a:gd name="adj" fmla="val 16667"/>
            </a:avLst>
          </a:prstGeom>
          <a:solidFill>
            <a:srgbClr val="B4236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86500" y="2237232"/>
            <a:ext cx="52623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PAST SIMPLE  </a:t>
            </a:r>
            <a:r>
              <a:rPr lang="en-US" sz="1200" i="1" dirty="0">
                <a:solidFill>
                  <a:schemeClr val="bg1"/>
                </a:solidFill>
              </a:rPr>
              <a:t>a finished time — was, did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95060" y="2731008"/>
            <a:ext cx="5445252" cy="3578352"/>
          </a:xfrm>
          <a:prstGeom prst="roundRect">
            <a:avLst>
              <a:gd name="adj" fmla="val 2044"/>
            </a:avLst>
          </a:prstGeom>
          <a:solidFill>
            <a:srgbClr val="B4236A">
              <a:alpha val="6000"/>
            </a:srgb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4788" y="2822448"/>
            <a:ext cx="5225796" cy="627888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12700">
            <a:solidFill>
              <a:srgbClr val="B42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three months ago</a:t>
            </a:r>
            <a:r>
              <a:rPr lang="en-US" sz="1600" dirty="0">
                <a:solidFill>
                  <a:schemeClr val="tx1"/>
                </a:solidFill>
              </a:rPr>
              <a:t> — It </a:t>
            </a:r>
            <a:r>
              <a:rPr lang="en-US" sz="1600" b="1" dirty="0">
                <a:solidFill>
                  <a:schemeClr val="tx1"/>
                </a:solidFill>
              </a:rPr>
              <a:t>started</a:t>
            </a:r>
            <a:r>
              <a:rPr lang="en-US" sz="1600" dirty="0">
                <a:solidFill>
                  <a:schemeClr val="tx1"/>
                </a:solidFill>
              </a:rPr>
              <a:t> three months ago.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04788" y="3505200"/>
            <a:ext cx="5225796" cy="627888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12700">
            <a:solidFill>
              <a:srgbClr val="B42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last November</a:t>
            </a:r>
            <a:r>
              <a:rPr lang="en-US" sz="1600" dirty="0">
                <a:solidFill>
                  <a:schemeClr val="tx1"/>
                </a:solidFill>
              </a:rPr>
              <a:t> — The same section </a:t>
            </a:r>
            <a:r>
              <a:rPr lang="en-US" sz="1600" b="1" dirty="0">
                <a:solidFill>
                  <a:schemeClr val="tx1"/>
                </a:solidFill>
              </a:rPr>
              <a:t>failed</a:t>
            </a:r>
            <a:r>
              <a:rPr lang="en-US" sz="1600" dirty="0">
                <a:solidFill>
                  <a:schemeClr val="tx1"/>
                </a:solidFill>
              </a:rPr>
              <a:t> last November.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04788" y="4187952"/>
            <a:ext cx="5225796" cy="627888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12700">
            <a:solidFill>
              <a:srgbClr val="B42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 23.41</a:t>
            </a:r>
            <a:r>
              <a:rPr lang="en-US" sz="1600" dirty="0">
                <a:solidFill>
                  <a:schemeClr val="tx1"/>
                </a:solidFill>
              </a:rPr>
              <a:t> — The alarm </a:t>
            </a:r>
            <a:r>
              <a:rPr lang="en-US" sz="1600" b="1" dirty="0">
                <a:solidFill>
                  <a:schemeClr val="tx1"/>
                </a:solidFill>
              </a:rPr>
              <a:t>went off</a:t>
            </a:r>
            <a:r>
              <a:rPr lang="en-US" sz="1600" dirty="0">
                <a:solidFill>
                  <a:schemeClr val="tx1"/>
                </a:solidFill>
              </a:rPr>
              <a:t> at 23.41.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04788" y="4870704"/>
            <a:ext cx="5225796" cy="627888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12700">
            <a:solidFill>
              <a:srgbClr val="B42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yesterday evening</a:t>
            </a:r>
            <a:r>
              <a:rPr lang="en-US" sz="1600" dirty="0">
                <a:solidFill>
                  <a:schemeClr val="tx1"/>
                </a:solidFill>
              </a:rPr>
              <a:t> — I </a:t>
            </a:r>
            <a:r>
              <a:rPr lang="en-US" sz="1600" b="1" dirty="0">
                <a:solidFill>
                  <a:schemeClr val="tx1"/>
                </a:solidFill>
              </a:rPr>
              <a:t>checked</a:t>
            </a:r>
            <a:r>
              <a:rPr lang="en-US" sz="1600" dirty="0">
                <a:solidFill>
                  <a:schemeClr val="tx1"/>
                </a:solidFill>
              </a:rPr>
              <a:t> the floor yesterday evening.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04788" y="5553456"/>
            <a:ext cx="5225796" cy="627888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12700">
            <a:solidFill>
              <a:srgbClr val="B42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when the team left</a:t>
            </a:r>
            <a:r>
              <a:rPr lang="en-US" sz="1600" dirty="0">
                <a:solidFill>
                  <a:schemeClr val="tx1"/>
                </a:solidFill>
              </a:rPr>
              <a:t> — Everything </a:t>
            </a:r>
            <a:r>
              <a:rPr lang="en-US" sz="1600" b="1" dirty="0">
                <a:solidFill>
                  <a:schemeClr val="tx1"/>
                </a:solidFill>
              </a:rPr>
              <a:t>was</a:t>
            </a:r>
            <a:r>
              <a:rPr lang="en-US" sz="1600" dirty="0">
                <a:solidFill>
                  <a:schemeClr val="tx1"/>
                </a:solidFill>
              </a:rPr>
              <a:t> dry when the team left.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minute before you dial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· </a:t>
            </a:r>
            <a:r>
              <a:rPr lang="en-US" sz="1600" i="1" dirty="0">
                <a:solidFill>
                  <a:schemeClr val="accent5"/>
                </a:solidFill>
              </a:rPr>
              <a:t>for</a:t>
            </a:r>
            <a:r>
              <a:rPr lang="en-US" sz="1600" i="1" dirty="0">
                <a:solidFill>
                  <a:schemeClr val="accent5"/>
                </a:solidFill>
              </a:rPr>
              <a:t> or </a:t>
            </a:r>
            <a:r>
              <a:rPr lang="en-US" sz="1600" i="1" dirty="0">
                <a:solidFill>
                  <a:schemeClr val="accent5"/>
                </a:solidFill>
              </a:rPr>
              <a:t>since</a:t>
            </a:r>
            <a:r>
              <a:rPr lang="en-US" sz="1600" i="1" dirty="0">
                <a:solidFill>
                  <a:schemeClr val="accent5"/>
                </a:solidFill>
              </a:rPr>
              <a:t>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237232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237232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joint has been faulty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June.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979408" y="2301240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314432" y="2301240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since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2757678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757678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757678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 have worked on this site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eight months.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979408" y="2821686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0314432" y="2821686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since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3278124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278124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278124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Nobody has used the basement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the summer.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979408" y="3342132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0314432" y="3342132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since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3798570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3798570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4.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3798570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She has had the file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two days.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979408" y="3862578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10314432" y="3862578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since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548640" y="4319016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4319016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5.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4319016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second floor has been closed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7 o’clock.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979408" y="4383024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10314432" y="4383024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since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548640" y="4839462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4839462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6.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4839462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Mark has been on the phone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twenty minutes.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8979408" y="4903470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10314432" y="4903470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since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548640" y="5359908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" y="5359908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7.</a:t>
            </a:r>
            <a:endParaRPr lang="en-US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1143000" y="5359908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 have known about the joint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last November.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8979408" y="5423916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10314432" y="5423916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since</a:t>
            </a:r>
            <a:endParaRPr lang="en-US" sz="1700" dirty="0"/>
          </a:p>
        </p:txBody>
      </p:sp>
      <p:sp>
        <p:nvSpPr>
          <p:cNvPr id="42" name="Shape 39"/>
          <p:cNvSpPr/>
          <p:nvPr/>
        </p:nvSpPr>
        <p:spPr>
          <a:xfrm>
            <a:off x="548640" y="5880354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85800" y="5880354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8.</a:t>
            </a:r>
            <a:endParaRPr lang="en-US" sz="200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5880354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Unit 3 has been down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nine hours.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8979408" y="5944362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</a:t>
            </a:r>
            <a:endParaRPr lang="en-US" sz="1700" dirty="0"/>
          </a:p>
        </p:txBody>
      </p:sp>
      <p:sp>
        <p:nvSpPr>
          <p:cNvPr id="46" name="Text 43"/>
          <p:cNvSpPr/>
          <p:nvPr/>
        </p:nvSpPr>
        <p:spPr>
          <a:xfrm>
            <a:off x="10314432" y="5944362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minute before you dial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5"/>
                </a:solidFill>
              </a:rPr>
              <a:t>since</a:t>
            </a:r>
            <a:r>
              <a:rPr lang="en-US" sz="1600" i="1" dirty="0">
                <a:solidFill>
                  <a:schemeClr val="accent5"/>
                </a:solidFill>
              </a:rPr>
              <a:t> + a starting point (a pin) · </a:t>
            </a:r>
            <a:r>
              <a:rPr lang="en-US" sz="1600" b="1" i="1" dirty="0">
                <a:solidFill>
                  <a:schemeClr val="accent5"/>
                </a:solidFill>
              </a:rPr>
              <a:t>for</a:t>
            </a:r>
            <a:r>
              <a:rPr lang="en-US" sz="1600" i="1" dirty="0">
                <a:solidFill>
                  <a:schemeClr val="accent5"/>
                </a:solidFill>
              </a:rPr>
              <a:t> + a length of time (a tape).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37232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237232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joint has been faulty </a:t>
            </a:r>
            <a:r>
              <a:rPr lang="en-US" sz="2000" b="1" dirty="0">
                <a:solidFill>
                  <a:schemeClr val="accent3"/>
                </a:solidFill>
              </a:rPr>
              <a:t>since</a:t>
            </a:r>
            <a:r>
              <a:rPr lang="en-US" sz="2000" dirty="0">
                <a:solidFill>
                  <a:schemeClr val="tx1"/>
                </a:solidFill>
              </a:rPr>
              <a:t> June.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979408" y="2301240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for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314432" y="2301240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since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2757678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757678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757678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 have worked on this site </a:t>
            </a:r>
            <a:r>
              <a:rPr lang="en-US" sz="2000" b="1" dirty="0">
                <a:solidFill>
                  <a:schemeClr val="accent3"/>
                </a:solidFill>
              </a:rPr>
              <a:t>for</a:t>
            </a:r>
            <a:r>
              <a:rPr lang="en-US" sz="2000" dirty="0">
                <a:solidFill>
                  <a:schemeClr val="tx1"/>
                </a:solidFill>
              </a:rPr>
              <a:t> eight months.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979408" y="2821686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for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0314432" y="2821686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since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48640" y="3278124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278124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3278124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Nobody has used the basement </a:t>
            </a:r>
            <a:r>
              <a:rPr lang="en-US" sz="2000" b="1" dirty="0">
                <a:solidFill>
                  <a:schemeClr val="accent3"/>
                </a:solidFill>
              </a:rPr>
              <a:t>since</a:t>
            </a:r>
            <a:r>
              <a:rPr lang="en-US" sz="2000" dirty="0">
                <a:solidFill>
                  <a:schemeClr val="tx1"/>
                </a:solidFill>
              </a:rPr>
              <a:t> the summer.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979408" y="3342132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for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0314432" y="3342132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since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48640" y="3798570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3798570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4.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798570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She has had the file </a:t>
            </a:r>
            <a:r>
              <a:rPr lang="en-US" sz="2000" b="1" dirty="0">
                <a:solidFill>
                  <a:schemeClr val="accent3"/>
                </a:solidFill>
              </a:rPr>
              <a:t>for</a:t>
            </a:r>
            <a:r>
              <a:rPr lang="en-US" sz="2000" dirty="0">
                <a:solidFill>
                  <a:schemeClr val="tx1"/>
                </a:solidFill>
              </a:rPr>
              <a:t> two days.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979408" y="3862578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for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10314432" y="3862578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since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548640" y="4319016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4319016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5.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1143000" y="4319016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second floor has been closed </a:t>
            </a:r>
            <a:r>
              <a:rPr lang="en-US" sz="2000" b="1" dirty="0">
                <a:solidFill>
                  <a:schemeClr val="accent3"/>
                </a:solidFill>
              </a:rPr>
              <a:t>since</a:t>
            </a:r>
            <a:r>
              <a:rPr lang="en-US" sz="2000" dirty="0">
                <a:solidFill>
                  <a:schemeClr val="tx1"/>
                </a:solidFill>
              </a:rPr>
              <a:t> 7 o’clock.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979408" y="4383024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for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10314432" y="4383024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since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548640" y="4839462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4839462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6.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1143000" y="4839462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Mark has been on the phone </a:t>
            </a:r>
            <a:r>
              <a:rPr lang="en-US" sz="2000" b="1" dirty="0">
                <a:solidFill>
                  <a:schemeClr val="accent3"/>
                </a:solidFill>
              </a:rPr>
              <a:t>for</a:t>
            </a:r>
            <a:r>
              <a:rPr lang="en-US" sz="2000" dirty="0">
                <a:solidFill>
                  <a:schemeClr val="tx1"/>
                </a:solidFill>
              </a:rPr>
              <a:t> twenty minutes.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8979408" y="4903470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for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10314432" y="4903470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since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548640" y="5359908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5800" y="5359908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7.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1143000" y="5359908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 have known about the joint </a:t>
            </a:r>
            <a:r>
              <a:rPr lang="en-US" sz="2000" b="1" dirty="0">
                <a:solidFill>
                  <a:schemeClr val="accent3"/>
                </a:solidFill>
              </a:rPr>
              <a:t>since</a:t>
            </a:r>
            <a:r>
              <a:rPr lang="en-US" sz="2000" dirty="0">
                <a:solidFill>
                  <a:schemeClr val="tx1"/>
                </a:solidFill>
              </a:rPr>
              <a:t> last November.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8979408" y="5423916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for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10314432" y="5423916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since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548640" y="5880354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800" y="5880354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8.</a:t>
            </a:r>
            <a:endParaRPr lang="en-US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1143000" y="5880354"/>
            <a:ext cx="765352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Unit 3 has been down </a:t>
            </a:r>
            <a:r>
              <a:rPr lang="en-US" sz="2000" b="1" dirty="0">
                <a:solidFill>
                  <a:schemeClr val="accent3"/>
                </a:solidFill>
              </a:rPr>
              <a:t>for</a:t>
            </a:r>
            <a:r>
              <a:rPr lang="en-US" sz="2000" dirty="0">
                <a:solidFill>
                  <a:schemeClr val="tx1"/>
                </a:solidFill>
              </a:rPr>
              <a:t> nine hours.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8979408" y="5944362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for</a:t>
            </a:r>
            <a:endParaRPr lang="en-US" sz="1700" dirty="0"/>
          </a:p>
        </p:txBody>
      </p:sp>
      <p:sp>
        <p:nvSpPr>
          <p:cNvPr id="47" name="Text 44"/>
          <p:cNvSpPr/>
          <p:nvPr/>
        </p:nvSpPr>
        <p:spPr>
          <a:xfrm>
            <a:off x="10314432" y="5944362"/>
            <a:ext cx="118872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since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Build the question the assessor will ask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 · Put the words in order. Every question starts with </a:t>
            </a:r>
            <a:r>
              <a:rPr lang="en-US" sz="1600" b="1" i="1" dirty="0">
                <a:solidFill>
                  <a:schemeClr val="accent5"/>
                </a:solidFill>
              </a:rPr>
              <a:t>How long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25552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237232"/>
            <a:ext cx="1271016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going 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478024" y="2237232"/>
            <a:ext cx="795528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83280" y="2237232"/>
            <a:ext cx="1271016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long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64024" y="2237232"/>
            <a:ext cx="795528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this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69280" y="2237232"/>
            <a:ext cx="676656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55664" y="2237232"/>
            <a:ext cx="502920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97280" y="3022092"/>
            <a:ext cx="6858000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15" name="Text 12"/>
          <p:cNvSpPr/>
          <p:nvPr/>
        </p:nvSpPr>
        <p:spPr>
          <a:xfrm>
            <a:off x="548640" y="331470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" y="3296412"/>
            <a:ext cx="914400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known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121408" y="3296412"/>
            <a:ext cx="676656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you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907792" y="3296412"/>
            <a:ext cx="2103120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about the joint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20640" y="3296412"/>
            <a:ext cx="795528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have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25896" y="3296412"/>
            <a:ext cx="1271016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long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406640" y="3296412"/>
            <a:ext cx="502920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97280" y="4081272"/>
            <a:ext cx="6858000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23" name="Text 20"/>
          <p:cNvSpPr/>
          <p:nvPr/>
        </p:nvSpPr>
        <p:spPr>
          <a:xfrm>
            <a:off x="548640" y="437388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97280" y="4355592"/>
            <a:ext cx="2221992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second floor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429000" y="4355592"/>
            <a:ext cx="795528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been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334256" y="4355592"/>
            <a:ext cx="1271016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long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715000" y="4355592"/>
            <a:ext cx="1033272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closed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58000" y="4355592"/>
            <a:ext cx="676656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355592"/>
            <a:ext cx="502920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?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97280" y="5140452"/>
            <a:ext cx="6858000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31" name="Text 28"/>
          <p:cNvSpPr/>
          <p:nvPr/>
        </p:nvSpPr>
        <p:spPr>
          <a:xfrm>
            <a:off x="548640" y="543306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97280" y="5414772"/>
            <a:ext cx="1746504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 this site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2953512" y="5414772"/>
            <a:ext cx="1271016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long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334256" y="5414772"/>
            <a:ext cx="1033272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worked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477256" y="5414772"/>
            <a:ext cx="676656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you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263640" y="5414772"/>
            <a:ext cx="795528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have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168896" y="5414772"/>
            <a:ext cx="502920" cy="402336"/>
          </a:xfrm>
          <a:prstGeom prst="roundRect">
            <a:avLst>
              <a:gd name="adj" fmla="val 40909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?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097280" y="6199632"/>
            <a:ext cx="6858000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Build the question the assessor will ask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 · Put the words in order. Every question starts with </a:t>
            </a:r>
            <a:r>
              <a:rPr lang="en-US" sz="1600" b="1" i="1" dirty="0">
                <a:solidFill>
                  <a:schemeClr val="accent5"/>
                </a:solidFill>
              </a:rPr>
              <a:t>How long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25552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2237232"/>
            <a:ext cx="1271016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going 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478024" y="2237232"/>
            <a:ext cx="795528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been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83280" y="2237232"/>
            <a:ext cx="1271016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How long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64024" y="2237232"/>
            <a:ext cx="795528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this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69280" y="2237232"/>
            <a:ext cx="676656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has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55664" y="2237232"/>
            <a:ext cx="502920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676144"/>
            <a:ext cx="10543032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How long has this been going on?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548640" y="331470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3296412"/>
            <a:ext cx="914400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known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121408" y="3296412"/>
            <a:ext cx="676656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you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907792" y="3296412"/>
            <a:ext cx="2103120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about the joint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20640" y="3296412"/>
            <a:ext cx="795528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have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25896" y="3296412"/>
            <a:ext cx="1271016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How long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06640" y="3296412"/>
            <a:ext cx="502920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?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3735324"/>
            <a:ext cx="10543032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How long have you known about the joint?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548640" y="437388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355592"/>
            <a:ext cx="2221992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the second floor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429000" y="4355592"/>
            <a:ext cx="795528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been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334256" y="4355592"/>
            <a:ext cx="1271016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How long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715000" y="4355592"/>
            <a:ext cx="1033272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closed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58000" y="4355592"/>
            <a:ext cx="676656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has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644384" y="4355592"/>
            <a:ext cx="502920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?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097280" y="4794504"/>
            <a:ext cx="10543032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How long has the second floor been closed?</a:t>
            </a:r>
            <a:endParaRPr lang="en-US" sz="1900" dirty="0"/>
          </a:p>
        </p:txBody>
      </p:sp>
      <p:sp>
        <p:nvSpPr>
          <p:cNvPr id="32" name="Text 29"/>
          <p:cNvSpPr/>
          <p:nvPr/>
        </p:nvSpPr>
        <p:spPr>
          <a:xfrm>
            <a:off x="548640" y="543306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097280" y="5414772"/>
            <a:ext cx="1746504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on this site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953512" y="5414772"/>
            <a:ext cx="1271016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How long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334256" y="5414772"/>
            <a:ext cx="1033272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worked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477256" y="5414772"/>
            <a:ext cx="676656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you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263640" y="5414772"/>
            <a:ext cx="795528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have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168896" y="5414772"/>
            <a:ext cx="502920" cy="402336"/>
          </a:xfrm>
          <a:prstGeom prst="roundRect">
            <a:avLst>
              <a:gd name="adj" fmla="val 40909"/>
            </a:avLst>
          </a:prstGeom>
          <a:solidFill>
            <a:srgbClr val="F1F3F7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?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1097280" y="5853684"/>
            <a:ext cx="10543032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How long have you worked on this site?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Say the honest sentence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 · You do not know the answer. Write it in English, three ways.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237232"/>
            <a:ext cx="11091672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(not … yet)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(so far)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(we are still)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400" dirty="0"/>
          </a:p>
          <a:p>
            <a:pPr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+ Three more, about the file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(not … yet — the basement)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(so far — the cause)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(still — the second floor)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Say the honest sentence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 · You do not know the answer. Write it in English, three ways.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237232"/>
            <a:ext cx="11091672" cy="3069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(not … yet) → </a:t>
            </a:r>
            <a:r>
              <a:rPr lang="en-US" sz="1800" b="1" dirty="0">
                <a:solidFill>
                  <a:schemeClr val="accent3"/>
                </a:solidFill>
              </a:rPr>
              <a:t>We have not identified the cause yet.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(so far) → </a:t>
            </a:r>
            <a:r>
              <a:rPr lang="en-US" sz="1800" b="1" dirty="0">
                <a:solidFill>
                  <a:schemeClr val="accent3"/>
                </a:solidFill>
              </a:rPr>
              <a:t>So far, we have found no evidence of when it started.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(we are still) → </a:t>
            </a:r>
            <a:r>
              <a:rPr lang="en-US" sz="1800" b="1" dirty="0">
                <a:solidFill>
                  <a:schemeClr val="accent3"/>
                </a:solidFill>
              </a:rPr>
              <a:t>We are still waiting for the basement inspection.</a:t>
            </a:r>
            <a:endParaRPr lang="en-US" sz="1800" dirty="0"/>
          </a:p>
          <a:p>
            <a:pPr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+ Three more, about the file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(not … yet — the basement) → </a:t>
            </a:r>
            <a:r>
              <a:rPr lang="en-US" sz="1800" b="1" dirty="0">
                <a:solidFill>
                  <a:schemeClr val="accent3"/>
                </a:solidFill>
              </a:rPr>
              <a:t>The basement has not been inspected yet.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(so far — the cause) → </a:t>
            </a:r>
            <a:r>
              <a:rPr lang="en-US" sz="1800" b="1" dirty="0">
                <a:solidFill>
                  <a:schemeClr val="accent3"/>
                </a:solidFill>
              </a:rPr>
              <a:t>So far, nobody has confirmed the cause.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6.  </a:t>
            </a:r>
            <a:r>
              <a:rPr lang="en-US" sz="1800" dirty="0">
                <a:solidFill>
                  <a:schemeClr val="tx1"/>
                </a:solidFill>
              </a:rPr>
              <a:t>(still — the second floor) → </a:t>
            </a:r>
            <a:r>
              <a:rPr lang="en-US" sz="1800" b="1" dirty="0">
                <a:solidFill>
                  <a:schemeClr val="accent3"/>
                </a:solidFill>
              </a:rPr>
              <a:t>The second floor is still closed.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À retenir — </a:t>
            </a:r>
            <a:r>
              <a:rPr lang="en-US" sz="1800" i="1" dirty="0">
                <a:solidFill>
                  <a:schemeClr val="tx1"/>
                </a:solidFill>
              </a:rPr>
              <a:t>not … yet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so far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present perfect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still</a:t>
            </a:r>
            <a:r>
              <a:rPr lang="en-US" sz="1800" dirty="0">
                <a:solidFill>
                  <a:schemeClr val="tx1"/>
                </a:solidFill>
              </a:rPr>
              <a:t> goes before the main verb, after </a:t>
            </a:r>
            <a:r>
              <a:rPr lang="en-US" sz="1800" i="1" dirty="0">
                <a:solidFill>
                  <a:schemeClr val="tx1"/>
                </a:solidFill>
              </a:rPr>
              <a:t>be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i="1" dirty="0">
                <a:solidFill>
                  <a:schemeClr val="tx1"/>
                </a:solidFill>
              </a:rPr>
              <a:t>We are </a:t>
            </a:r>
            <a:r>
              <a:rPr lang="en-US" sz="1800" b="1" i="1" dirty="0">
                <a:solidFill>
                  <a:schemeClr val="tx1"/>
                </a:solidFill>
              </a:rPr>
              <a:t>still</a:t>
            </a:r>
            <a:r>
              <a:rPr lang="en-US" sz="1800" i="1" dirty="0">
                <a:solidFill>
                  <a:schemeClr val="tx1"/>
                </a:solidFill>
              </a:rPr>
              <a:t> waiting.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Spin the wheel: how long have you…?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2103120"/>
            <a:ext cx="4206240" cy="4206240"/>
          </a:xfrm>
          <a:prstGeom prst="pie">
            <a:avLst>
              <a:gd name="adj1" fmla="val 16200000"/>
              <a:gd name="adj2" fmla="val 18900000"/>
            </a:avLst>
          </a:prstGeom>
          <a:solidFill>
            <a:srgbClr val="2E75B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91507" y="2649521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4206240" cy="4206240"/>
          </a:xfrm>
          <a:prstGeom prst="pie">
            <a:avLst>
              <a:gd name="adj1" fmla="val 18900000"/>
              <a:gd name="adj2" fmla="val 0"/>
            </a:avLst>
          </a:prstGeom>
          <a:solidFill>
            <a:srgbClr val="C0752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42719" y="340073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31520" y="2103120"/>
            <a:ext cx="4206240" cy="4206240"/>
          </a:xfrm>
          <a:prstGeom prst="pie">
            <a:avLst>
              <a:gd name="adj1" fmla="val 0"/>
              <a:gd name="adj2" fmla="val 2700000"/>
            </a:avLst>
          </a:prstGeom>
          <a:solidFill>
            <a:srgbClr val="3C7A3C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2719" y="44631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731520" y="2103120"/>
            <a:ext cx="4206240" cy="4206240"/>
          </a:xfrm>
          <a:prstGeom prst="pie">
            <a:avLst>
              <a:gd name="adj1" fmla="val 2700000"/>
              <a:gd name="adj2" fmla="val 5400000"/>
            </a:avLst>
          </a:prstGeom>
          <a:solidFill>
            <a:srgbClr val="6E4A9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91507" y="521431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31520" y="2103120"/>
            <a:ext cx="4206240" cy="4206240"/>
          </a:xfrm>
          <a:prstGeom prst="pie">
            <a:avLst>
              <a:gd name="adj1" fmla="val 5400000"/>
              <a:gd name="adj2" fmla="val 8100000"/>
            </a:avLst>
          </a:prstGeom>
          <a:solidFill>
            <a:srgbClr val="B03A2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29133" y="521431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731520" y="2103120"/>
            <a:ext cx="4206240" cy="4206240"/>
          </a:xfrm>
          <a:prstGeom prst="pie">
            <a:avLst>
              <a:gd name="adj1" fmla="val 8100000"/>
              <a:gd name="adj2" fmla="val 10800000"/>
            </a:avLst>
          </a:prstGeom>
          <a:solidFill>
            <a:srgbClr val="0F766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77921" y="44631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731520" y="2103120"/>
            <a:ext cx="4206240" cy="4206240"/>
          </a:xfrm>
          <a:prstGeom prst="pie">
            <a:avLst>
              <a:gd name="adj1" fmla="val 10800000"/>
              <a:gd name="adj2" fmla="val 13500000"/>
            </a:avLst>
          </a:prstGeom>
          <a:solidFill>
            <a:srgbClr val="D99A0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77921" y="340073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731520" y="2103120"/>
            <a:ext cx="4206240" cy="4206240"/>
          </a:xfrm>
          <a:prstGeom prst="pie">
            <a:avLst>
              <a:gd name="adj1" fmla="val 13500000"/>
              <a:gd name="adj2" fmla="val 16200000"/>
            </a:avLst>
          </a:prstGeom>
          <a:solidFill>
            <a:srgbClr val="1F386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029133" y="2649521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676656" y="2048256"/>
            <a:ext cx="4315968" cy="4315968"/>
          </a:xfrm>
          <a:prstGeom prst="ellipse">
            <a:avLst/>
          </a:prstGeom>
          <a:ln w="38100">
            <a:solidFill>
              <a:srgbClr val="1F386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23160" y="37947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SPIN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 rot="10800000">
            <a:off x="2633472" y="1719072"/>
            <a:ext cx="402336" cy="365760"/>
          </a:xfrm>
          <a:prstGeom prst="triangl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40680" y="1835658"/>
            <a:ext cx="329184" cy="329184"/>
          </a:xfrm>
          <a:prstGeom prst="ellipse">
            <a:avLst/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897880" y="1783080"/>
            <a:ext cx="574243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long have you </a:t>
            </a:r>
            <a:r>
              <a:rPr lang="en-US" sz="1800" b="1" dirty="0">
                <a:solidFill>
                  <a:schemeClr val="tx1"/>
                </a:solidFill>
              </a:rPr>
              <a:t>lived</a:t>
            </a:r>
            <a:r>
              <a:rPr lang="en-US" sz="1800" dirty="0">
                <a:solidFill>
                  <a:schemeClr val="tx1"/>
                </a:solidFill>
              </a:rPr>
              <a:t> in your town?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440680" y="2269998"/>
            <a:ext cx="329184" cy="329184"/>
          </a:xfrm>
          <a:prstGeom prst="ellipse">
            <a:avLst/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897880" y="2217420"/>
            <a:ext cx="574243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long have you </a:t>
            </a:r>
            <a:r>
              <a:rPr lang="en-US" sz="1800" b="1" dirty="0">
                <a:solidFill>
                  <a:schemeClr val="tx1"/>
                </a:solidFill>
              </a:rPr>
              <a:t>known</a:t>
            </a:r>
            <a:r>
              <a:rPr lang="en-US" sz="1800" dirty="0">
                <a:solidFill>
                  <a:schemeClr val="tx1"/>
                </a:solidFill>
              </a:rPr>
              <a:t> your best friend?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440680" y="2704338"/>
            <a:ext cx="329184" cy="329184"/>
          </a:xfrm>
          <a:prstGeom prst="ellipse">
            <a:avLst/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897880" y="2651760"/>
            <a:ext cx="574243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long have you </a:t>
            </a:r>
            <a:r>
              <a:rPr lang="en-US" sz="1800" b="1" dirty="0">
                <a:solidFill>
                  <a:schemeClr val="tx1"/>
                </a:solidFill>
              </a:rPr>
              <a:t>had</a:t>
            </a:r>
            <a:r>
              <a:rPr lang="en-US" sz="1800" dirty="0">
                <a:solidFill>
                  <a:schemeClr val="tx1"/>
                </a:solidFill>
              </a:rPr>
              <a:t> your phone?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440680" y="3138678"/>
            <a:ext cx="329184" cy="329184"/>
          </a:xfrm>
          <a:prstGeom prst="ellipse">
            <a:avLst/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897880" y="3086100"/>
            <a:ext cx="574243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long have you </a:t>
            </a:r>
            <a:r>
              <a:rPr lang="en-US" sz="1800" b="1" dirty="0">
                <a:solidFill>
                  <a:schemeClr val="tx1"/>
                </a:solidFill>
              </a:rPr>
              <a:t>been</a:t>
            </a:r>
            <a:r>
              <a:rPr lang="en-US" sz="1800" dirty="0">
                <a:solidFill>
                  <a:schemeClr val="tx1"/>
                </a:solidFill>
              </a:rPr>
              <a:t> a student here?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440680" y="3573018"/>
            <a:ext cx="329184" cy="329184"/>
          </a:xfrm>
          <a:prstGeom prst="ellipse">
            <a:avLst/>
          </a:prstGeom>
          <a:solidFill>
            <a:srgbClr val="B0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897880" y="3520440"/>
            <a:ext cx="574243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long have you </a:t>
            </a:r>
            <a:r>
              <a:rPr lang="en-US" sz="1800" b="1" dirty="0">
                <a:solidFill>
                  <a:schemeClr val="tx1"/>
                </a:solidFill>
              </a:rPr>
              <a:t>studied</a:t>
            </a:r>
            <a:r>
              <a:rPr lang="en-US" sz="1800" dirty="0">
                <a:solidFill>
                  <a:schemeClr val="tx1"/>
                </a:solidFill>
              </a:rPr>
              <a:t> English?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440680" y="4007358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897880" y="3954780"/>
            <a:ext cx="574243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long have you </a:t>
            </a:r>
            <a:r>
              <a:rPr lang="en-US" sz="1800" b="1" dirty="0">
                <a:solidFill>
                  <a:schemeClr val="tx1"/>
                </a:solidFill>
              </a:rPr>
              <a:t>played</a:t>
            </a:r>
            <a:r>
              <a:rPr lang="en-US" sz="1800" dirty="0">
                <a:solidFill>
                  <a:schemeClr val="tx1"/>
                </a:solidFill>
              </a:rPr>
              <a:t> your sport or instrument?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5440680" y="4441698"/>
            <a:ext cx="329184" cy="329184"/>
          </a:xfrm>
          <a:prstGeom prst="ellipse">
            <a:avLst/>
          </a:prstGeom>
          <a:solidFill>
            <a:srgbClr val="D99A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897880" y="4389120"/>
            <a:ext cx="574243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have you </a:t>
            </a:r>
            <a:r>
              <a:rPr lang="en-US" sz="1800" b="1" dirty="0">
                <a:solidFill>
                  <a:schemeClr val="tx1"/>
                </a:solidFill>
              </a:rPr>
              <a:t>wanted</a:t>
            </a:r>
            <a:r>
              <a:rPr lang="en-US" sz="1800" dirty="0">
                <a:solidFill>
                  <a:schemeClr val="tx1"/>
                </a:solidFill>
              </a:rPr>
              <a:t> to do </a:t>
            </a:r>
            <a:r>
              <a:rPr lang="en-US" sz="1800" b="1" dirty="0">
                <a:solidFill>
                  <a:schemeClr val="tx1"/>
                </a:solidFill>
              </a:rPr>
              <a:t>for</a:t>
            </a:r>
            <a:r>
              <a:rPr lang="en-US" sz="1800" dirty="0">
                <a:solidFill>
                  <a:schemeClr val="tx1"/>
                </a:solidFill>
              </a:rPr>
              <a:t> years?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5440680" y="4876038"/>
            <a:ext cx="329184" cy="329184"/>
          </a:xfrm>
          <a:prstGeom prst="ellipse">
            <a:avLst/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5897880" y="4823460"/>
            <a:ext cx="574243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</a:t>
            </a:r>
            <a:r>
              <a:rPr lang="en-US" sz="1800" b="1" dirty="0">
                <a:solidFill>
                  <a:schemeClr val="tx1"/>
                </a:solidFill>
              </a:rPr>
              <a:t>haven’t</a:t>
            </a:r>
            <a:r>
              <a:rPr lang="en-US" sz="1800" dirty="0">
                <a:solidFill>
                  <a:schemeClr val="tx1"/>
                </a:solidFill>
              </a:rPr>
              <a:t> you done </a:t>
            </a:r>
            <a:r>
              <a:rPr lang="en-US" sz="1800" b="1" dirty="0">
                <a:solidFill>
                  <a:schemeClr val="tx1"/>
                </a:solidFill>
              </a:rPr>
              <a:t>yet</a:t>
            </a:r>
            <a:r>
              <a:rPr lang="en-US" sz="1800" dirty="0">
                <a:solidFill>
                  <a:schemeClr val="tx1"/>
                </a:solidFill>
              </a:rPr>
              <a:t> this week?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5440680" y="5440680"/>
            <a:ext cx="6199632" cy="868680"/>
          </a:xfrm>
          <a:prstGeom prst="roundRect">
            <a:avLst>
              <a:gd name="adj" fmla="val 8421"/>
            </a:avLst>
          </a:prstGeom>
          <a:solidFill>
            <a:srgbClr val="B4236A">
              <a:alpha val="8000"/>
            </a:srgbClr>
          </a:solidFill>
          <a:ln w="12700">
            <a:solidFill>
              <a:srgbClr val="B4236A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5719572"/>
            <a:ext cx="310896" cy="310896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6080760" y="5440680"/>
            <a:ext cx="5422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Answer with </a:t>
            </a:r>
            <a:r>
              <a:rPr lang="en-US" sz="1500" b="1" dirty="0">
                <a:solidFill>
                  <a:schemeClr val="tx1"/>
                </a:solidFill>
              </a:rPr>
              <a:t>for</a:t>
            </a:r>
            <a:r>
              <a:rPr lang="en-US" sz="1500" dirty="0">
                <a:solidFill>
                  <a:schemeClr val="tx1"/>
                </a:solidFill>
              </a:rPr>
              <a:t> AND </a:t>
            </a:r>
            <a:r>
              <a:rPr lang="en-US" sz="1500" b="1" dirty="0">
                <a:solidFill>
                  <a:schemeClr val="tx1"/>
                </a:solidFill>
              </a:rPr>
              <a:t>since</a:t>
            </a:r>
            <a:r>
              <a:rPr lang="en-US" sz="1500" dirty="0">
                <a:solidFill>
                  <a:schemeClr val="tx1"/>
                </a:solidFill>
              </a:rPr>
              <a:t>, then ask the question back. A follow-up in the past simple — </a:t>
            </a:r>
            <a:r>
              <a:rPr lang="en-US" sz="1500" i="1" dirty="0">
                <a:solidFill>
                  <a:schemeClr val="tx1"/>
                </a:solidFill>
              </a:rPr>
              <a:t>When did you start?</a:t>
            </a:r>
            <a:r>
              <a:rPr lang="en-US" sz="1500" dirty="0">
                <a:solidFill>
                  <a:schemeClr val="tx1"/>
                </a:solidFill>
              </a:rPr>
              <a:t> — wins a point.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truths and a lie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B4236A">
              <a:alpha val="8000"/>
            </a:srgb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11096"/>
            <a:ext cx="713232" cy="713232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89404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837944"/>
            <a:ext cx="9765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Two truths and a lie — since when?</a:t>
            </a:r>
            <a:endParaRPr lang="en-US" sz="21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Groups of four · 10 minutes · present perfect + for / since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48640" y="3072384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" y="3017520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Write three sentences about yourself with </a:t>
            </a:r>
            <a:r>
              <a:rPr lang="en-US" sz="1700" i="1" dirty="0">
                <a:solidFill>
                  <a:schemeClr val="tx1"/>
                </a:solidFill>
              </a:rPr>
              <a:t>for</a:t>
            </a:r>
            <a:r>
              <a:rPr lang="en-US" sz="1700" dirty="0">
                <a:solidFill>
                  <a:schemeClr val="tx1"/>
                </a:solidFill>
              </a:rPr>
              <a:t> or </a:t>
            </a:r>
            <a:r>
              <a:rPr lang="en-US" sz="1700" i="1" dirty="0">
                <a:solidFill>
                  <a:schemeClr val="tx1"/>
                </a:solidFill>
              </a:rPr>
              <a:t>since</a:t>
            </a:r>
            <a:r>
              <a:rPr lang="en-US" sz="1700" dirty="0">
                <a:solidFill>
                  <a:schemeClr val="tx1"/>
                </a:solidFill>
              </a:rPr>
              <a:t>: two are true, one is a lie.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48640" y="3707892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653028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Read them to your group. Each listener asks </a:t>
            </a:r>
            <a:r>
              <a:rPr lang="en-US" sz="1700" b="1" dirty="0">
                <a:solidFill>
                  <a:schemeClr val="tx1"/>
                </a:solidFill>
              </a:rPr>
              <a:t>one</a:t>
            </a:r>
            <a:r>
              <a:rPr lang="en-US" sz="1700" dirty="0">
                <a:solidFill>
                  <a:schemeClr val="tx1"/>
                </a:solidFill>
              </a:rPr>
              <a:t> question: </a:t>
            </a:r>
            <a:r>
              <a:rPr lang="en-US" sz="1700" i="1" dirty="0">
                <a:solidFill>
                  <a:schemeClr val="tx1"/>
                </a:solidFill>
              </a:rPr>
              <a:t>When did you start? Why?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4288536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group votes: which one is the lie?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48640" y="4978908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" y="4924044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You score one point for each person you fool.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360920" y="3017520"/>
            <a:ext cx="4279392" cy="2542032"/>
          </a:xfrm>
          <a:prstGeom prst="roundRect">
            <a:avLst>
              <a:gd name="adj" fmla="val 2878"/>
            </a:avLst>
          </a:prstGeom>
          <a:solidFill>
            <a:srgbClr val="6E4A9E">
              <a:alpha val="8000"/>
            </a:srgbClr>
          </a:solidFill>
          <a:ln w="9525">
            <a:solidFill>
              <a:srgbClr val="6E4A9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18211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927848" y="315468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4"/>
                </a:solidFill>
              </a:rPr>
              <a:t>SAY IT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7562088" y="3611880"/>
            <a:ext cx="389534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 </a:t>
            </a:r>
            <a:r>
              <a:rPr lang="en-US" sz="1700" b="1" dirty="0">
                <a:solidFill>
                  <a:schemeClr val="tx1"/>
                </a:solidFill>
              </a:rPr>
              <a:t>have lived</a:t>
            </a:r>
            <a:r>
              <a:rPr lang="en-US" sz="1700" dirty="0">
                <a:solidFill>
                  <a:schemeClr val="tx1"/>
                </a:solidFill>
              </a:rPr>
              <a:t> in … </a:t>
            </a:r>
            <a:r>
              <a:rPr lang="en-US" sz="1700" b="1" dirty="0">
                <a:solidFill>
                  <a:schemeClr val="tx1"/>
                </a:solidFill>
              </a:rPr>
              <a:t>for</a:t>
            </a:r>
            <a:r>
              <a:rPr lang="en-US" sz="1700" dirty="0">
                <a:solidFill>
                  <a:schemeClr val="tx1"/>
                </a:solidFill>
              </a:rPr>
              <a:t> …</a:t>
            </a:r>
            <a:endParaRPr lang="en-US" sz="17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 </a:t>
            </a:r>
            <a:r>
              <a:rPr lang="en-US" sz="1700" b="1" dirty="0">
                <a:solidFill>
                  <a:schemeClr val="tx1"/>
                </a:solidFill>
              </a:rPr>
              <a:t>have known</a:t>
            </a:r>
            <a:r>
              <a:rPr lang="en-US" sz="1700" dirty="0">
                <a:solidFill>
                  <a:schemeClr val="tx1"/>
                </a:solidFill>
              </a:rPr>
              <a:t> … </a:t>
            </a:r>
            <a:r>
              <a:rPr lang="en-US" sz="1700" b="1" dirty="0">
                <a:solidFill>
                  <a:schemeClr val="tx1"/>
                </a:solidFill>
              </a:rPr>
              <a:t>since</a:t>
            </a:r>
            <a:r>
              <a:rPr lang="en-US" sz="1700" dirty="0">
                <a:solidFill>
                  <a:schemeClr val="tx1"/>
                </a:solidFill>
              </a:rPr>
              <a:t> we were …</a:t>
            </a:r>
            <a:endParaRPr lang="en-US" sz="17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 </a:t>
            </a:r>
            <a:r>
              <a:rPr lang="en-US" sz="1700" b="1" dirty="0">
                <a:solidFill>
                  <a:schemeClr val="tx1"/>
                </a:solidFill>
              </a:rPr>
              <a:t>have had</a:t>
            </a:r>
            <a:r>
              <a:rPr lang="en-US" sz="1700" dirty="0">
                <a:solidFill>
                  <a:schemeClr val="tx1"/>
                </a:solidFill>
              </a:rPr>
              <a:t> my … </a:t>
            </a:r>
            <a:r>
              <a:rPr lang="en-US" sz="1700" b="1" dirty="0">
                <a:solidFill>
                  <a:schemeClr val="tx1"/>
                </a:solidFill>
              </a:rPr>
              <a:t>for</a:t>
            </a:r>
            <a:r>
              <a:rPr lang="en-US" sz="1700" dirty="0">
                <a:solidFill>
                  <a:schemeClr val="tx1"/>
                </a:solidFill>
              </a:rPr>
              <a:t> …</a:t>
            </a:r>
            <a:endParaRPr lang="en-US" sz="17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 </a:t>
            </a:r>
            <a:r>
              <a:rPr lang="en-US" sz="1700" b="1" dirty="0">
                <a:solidFill>
                  <a:schemeClr val="tx1"/>
                </a:solidFill>
              </a:rPr>
              <a:t>haven’t</a:t>
            </a:r>
            <a:r>
              <a:rPr lang="en-US" sz="1700" dirty="0">
                <a:solidFill>
                  <a:schemeClr val="tx1"/>
                </a:solidFill>
              </a:rPr>
              <a:t> … </a:t>
            </a:r>
            <a:r>
              <a:rPr lang="en-US" sz="1700" b="1" dirty="0">
                <a:solidFill>
                  <a:schemeClr val="tx1"/>
                </a:solidFill>
              </a:rPr>
              <a:t>since</a:t>
            </a:r>
            <a:r>
              <a:rPr lang="en-US" sz="1700" dirty="0">
                <a:solidFill>
                  <a:schemeClr val="tx1"/>
                </a:solidFill>
              </a:rPr>
              <a:t> …</a:t>
            </a:r>
            <a:endParaRPr lang="en-US" sz="17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When </a:t>
            </a:r>
            <a:r>
              <a:rPr lang="en-US" sz="1700" b="1" dirty="0">
                <a:solidFill>
                  <a:schemeClr val="tx1"/>
                </a:solidFill>
              </a:rPr>
              <a:t>did</a:t>
            </a:r>
            <a:r>
              <a:rPr lang="en-US" sz="1700" dirty="0">
                <a:solidFill>
                  <a:schemeClr val="tx1"/>
                </a:solidFill>
              </a:rPr>
              <a:t> you start?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C0752A">
              <a:alpha val="10000"/>
            </a:srgbClr>
          </a:solidFill>
          <a:ln w="12700">
            <a:solidFill>
              <a:srgbClr val="C0752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870448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5742432"/>
            <a:ext cx="10222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 win —</a:t>
            </a:r>
            <a:r>
              <a:rPr lang="en-US" sz="1700" dirty="0">
                <a:solidFill>
                  <a:schemeClr val="tx1"/>
                </a:solidFill>
              </a:rPr>
              <a:t> fool the most people — with sentences that are grammatically perfect.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Name the fact, not the person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31 &amp; 42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Ms Marsh does not want names. Keep the </a:t>
            </a:r>
            <a:r>
              <a:rPr lang="en-US" sz="2000" b="1" dirty="0">
                <a:solidFill>
                  <a:schemeClr val="tx1"/>
                </a:solidFill>
              </a:rPr>
              <a:t>time</a:t>
            </a:r>
            <a:r>
              <a:rPr lang="en-US" sz="2000" dirty="0">
                <a:solidFill>
                  <a:schemeClr val="tx1"/>
                </a:solidFill>
              </a:rPr>
              <a:t>, the </a:t>
            </a:r>
            <a:r>
              <a:rPr lang="en-US" sz="2000" b="1" dirty="0">
                <a:solidFill>
                  <a:schemeClr val="tx1"/>
                </a:solidFill>
              </a:rPr>
              <a:t>place</a:t>
            </a:r>
            <a:r>
              <a:rPr lang="en-US" sz="2000" dirty="0">
                <a:solidFill>
                  <a:schemeClr val="tx1"/>
                </a:solidFill>
              </a:rPr>
              <a:t> and the </a:t>
            </a:r>
            <a:r>
              <a:rPr lang="en-US" sz="2000" b="1" dirty="0">
                <a:solidFill>
                  <a:schemeClr val="tx1"/>
                </a:solidFill>
              </a:rPr>
              <a:t>action</a:t>
            </a:r>
            <a:r>
              <a:rPr lang="en-US" sz="2000" dirty="0">
                <a:solidFill>
                  <a:schemeClr val="tx1"/>
                </a:solidFill>
              </a:rPr>
              <a:t> — drop the person.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371344"/>
            <a:ext cx="5225796" cy="2843784"/>
          </a:xfrm>
          <a:prstGeom prst="roundRect">
            <a:avLst>
              <a:gd name="adj" fmla="val 2572"/>
            </a:avLst>
          </a:prstGeom>
          <a:solidFill>
            <a:srgbClr val="B03A2E">
              <a:alpha val="8000"/>
            </a:srgbClr>
          </a:solidFill>
          <a:ln w="15875">
            <a:solidFill>
              <a:srgbClr val="B03A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5908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535936"/>
            <a:ext cx="4265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 points at somebody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212592"/>
            <a:ext cx="47228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The site manager entered the room at 20.04.</a:t>
            </a:r>
            <a:endParaRPr lang="en-US" sz="20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Samuel has known about the pipe since the summer.</a:t>
            </a:r>
            <a:endParaRPr lang="en-US" sz="20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Verdier’s men damaged the pipe.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414516" y="2371344"/>
            <a:ext cx="5225796" cy="2843784"/>
          </a:xfrm>
          <a:prstGeom prst="roundRect">
            <a:avLst>
              <a:gd name="adj" fmla="val 2572"/>
            </a:avLst>
          </a:prstGeom>
          <a:solidFill>
            <a:srgbClr val="3C7A3C">
              <a:alpha val="8000"/>
            </a:srgbClr>
          </a:solidFill>
          <a:ln w="15875">
            <a:solidFill>
              <a:srgbClr val="3C7A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59080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91756" y="2535936"/>
            <a:ext cx="4265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 names the fact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688836" y="3212592"/>
            <a:ext cx="47228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An access was recorded</a:t>
            </a:r>
            <a:r>
              <a:rPr lang="en-US" sz="2000" dirty="0">
                <a:solidFill>
                  <a:schemeClr val="tx1"/>
                </a:solidFill>
              </a:rPr>
              <a:t> in zone 2F at 20.04.</a:t>
            </a:r>
            <a:endParaRPr lang="en-US" sz="20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Trouble has been reported</a:t>
            </a:r>
            <a:r>
              <a:rPr lang="en-US" sz="2000" dirty="0">
                <a:solidFill>
                  <a:schemeClr val="tx1"/>
                </a:solidFill>
              </a:rPr>
              <a:t> on this section since the summer.</a:t>
            </a:r>
            <a:endParaRPr lang="en-US" sz="20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The cause has not been established</a:t>
            </a:r>
            <a:r>
              <a:rPr lang="en-US" sz="2000" dirty="0">
                <a:solidFill>
                  <a:schemeClr val="tx1"/>
                </a:solidFill>
              </a:rPr>
              <a:t> yet.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5838444" y="3537204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748" y="3683508"/>
            <a:ext cx="219456" cy="219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Séance 7 — </a:t>
            </a:r>
            <a:r>
              <a:rPr lang="en-US" sz="1800" dirty="0">
                <a:solidFill>
                  <a:schemeClr val="tx1"/>
                </a:solidFill>
              </a:rPr>
              <a:t>passive = </a:t>
            </a:r>
            <a:r>
              <a:rPr lang="en-US" sz="1800" b="1" dirty="0">
                <a:solidFill>
                  <a:schemeClr val="tx1"/>
                </a:solidFill>
              </a:rPr>
              <a:t>be + past participle</a:t>
            </a:r>
            <a:r>
              <a:rPr lang="en-US" sz="1800" dirty="0">
                <a:solidFill>
                  <a:schemeClr val="tx1"/>
                </a:solidFill>
              </a:rPr>
              <a:t>: was recorded · has been reported · has not been established.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Drop the name: rewrite 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Rewrite each sentence in the </a:t>
            </a:r>
            <a:r>
              <a:rPr lang="en-US" sz="1600" b="1" i="1" dirty="0">
                <a:solidFill>
                  <a:schemeClr val="accent5"/>
                </a:solidFill>
              </a:rPr>
              <a:t>passive</a:t>
            </a:r>
            <a:r>
              <a:rPr lang="en-US" sz="1600" i="1" dirty="0">
                <a:solidFill>
                  <a:schemeClr val="accent5"/>
                </a:solidFill>
              </a:rPr>
              <a:t>. Keep the time and the place.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237232"/>
            <a:ext cx="11091672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Badge 0102 entered zone 2F at 20.04. → </a:t>
            </a:r>
            <a:r>
              <a:rPr lang="en-US" sz="26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The cleaners found the water at 6.50. → </a:t>
            </a:r>
            <a:r>
              <a:rPr lang="en-US" sz="26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Mark closed the second floor at 7 o’clock. → </a:t>
            </a:r>
            <a:r>
              <a:rPr lang="en-US" sz="26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Nobody has inspected the basement. → </a:t>
            </a:r>
            <a:r>
              <a:rPr lang="en-US" sz="26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Drop the name: rewrite 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Rewrite each sentence in the </a:t>
            </a:r>
            <a:r>
              <a:rPr lang="en-US" sz="1600" b="1" i="1" dirty="0">
                <a:solidFill>
                  <a:schemeClr val="accent5"/>
                </a:solidFill>
              </a:rPr>
              <a:t>passive</a:t>
            </a:r>
            <a:r>
              <a:rPr lang="en-US" sz="1600" i="1" dirty="0">
                <a:solidFill>
                  <a:schemeClr val="accent5"/>
                </a:solidFill>
              </a:rPr>
              <a:t>. Keep the time and the place.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237232"/>
            <a:ext cx="11091672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Badge 0102 entered zone 2F at 20.04. → </a:t>
            </a:r>
            <a:r>
              <a:rPr lang="en-US" sz="2200" b="1" dirty="0">
                <a:solidFill>
                  <a:schemeClr val="accent3"/>
                </a:solidFill>
              </a:rPr>
              <a:t>An access to zone 2F was recorded at 20.04.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The cleaners found the water at 6.50. → </a:t>
            </a:r>
            <a:r>
              <a:rPr lang="en-US" sz="2200" b="1" dirty="0">
                <a:solidFill>
                  <a:schemeClr val="accent3"/>
                </a:solidFill>
              </a:rPr>
              <a:t>The water was found at 6.50.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Mark closed the second floor at 7 o’clock. → </a:t>
            </a:r>
            <a:r>
              <a:rPr lang="en-US" sz="2200" b="1" dirty="0">
                <a:solidFill>
                  <a:schemeClr val="accent3"/>
                </a:solidFill>
              </a:rPr>
              <a:t>The second floor was closed at 7 o’clock.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Nobody has inspected the basement. → </a:t>
            </a:r>
            <a:r>
              <a:rPr lang="en-US" sz="2200" b="1" dirty="0">
                <a:solidFill>
                  <a:schemeClr val="accent3"/>
                </a:solidFill>
              </a:rPr>
              <a:t>The basement has not been inspected yet.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Hold the line!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ENERGIZER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8590C">
              <a:alpha val="10000"/>
            </a:srgbClr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658368" cy="65836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819656"/>
            <a:ext cx="9902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59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teacher reads a phone sentence. Professional — or too direct?</a:t>
            </a:r>
            <a:endParaRPr lang="en-US" sz="21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Everybody · 3 minutes · thumbs, then the better version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48640" y="2880360"/>
            <a:ext cx="5408676" cy="2359152"/>
          </a:xfrm>
          <a:prstGeom prst="roundRect">
            <a:avLst>
              <a:gd name="adj" fmla="val 3101"/>
            </a:avLst>
          </a:prstGeom>
          <a:solidFill>
            <a:srgbClr val="3C7A3C">
              <a:alpha val="10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828331" y="3063240"/>
            <a:ext cx="849295" cy="849295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654" y="3275564"/>
            <a:ext cx="424647" cy="4246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5800" y="4003975"/>
            <a:ext cx="5134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PROFESSIONAL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4506895"/>
            <a:ext cx="5042916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Thumbs </a:t>
            </a:r>
            <a:r>
              <a:rPr lang="en-US" sz="1700" b="1" dirty="0">
                <a:solidFill>
                  <a:schemeClr val="tx1"/>
                </a:solidFill>
              </a:rPr>
              <a:t>up</a:t>
            </a:r>
            <a:r>
              <a:rPr lang="en-US" sz="1700" dirty="0">
                <a:solidFill>
                  <a:schemeClr val="tx1"/>
                </a:solidFill>
              </a:rPr>
              <a:t>: you can say it to an assessor.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231636" y="2880360"/>
            <a:ext cx="5408676" cy="2359152"/>
          </a:xfrm>
          <a:prstGeom prst="roundRect">
            <a:avLst>
              <a:gd name="adj" fmla="val 3101"/>
            </a:avLst>
          </a:prstGeom>
          <a:solidFill>
            <a:srgbClr val="B03A2E">
              <a:alpha val="10000"/>
            </a:srgbClr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511327" y="3063240"/>
            <a:ext cx="849295" cy="849295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650" y="3275564"/>
            <a:ext cx="424647" cy="4246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68796" y="4003975"/>
            <a:ext cx="5134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TOO DIRECT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6414516" y="4506895"/>
            <a:ext cx="5042916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Thumbs </a:t>
            </a:r>
            <a:r>
              <a:rPr lang="en-US" sz="1700" b="1" dirty="0">
                <a:solidFill>
                  <a:schemeClr val="tx1"/>
                </a:solidFill>
              </a:rPr>
              <a:t>down</a:t>
            </a:r>
            <a:r>
              <a:rPr lang="en-US" sz="1700" dirty="0">
                <a:solidFill>
                  <a:schemeClr val="tx1"/>
                </a:solidFill>
              </a:rPr>
              <a:t>: say it again, politely!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5422392"/>
            <a:ext cx="109087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590C"/>
                </a:solidFill>
              </a:rPr>
              <a:t>1.  </a:t>
            </a:r>
            <a:r>
              <a:rPr lang="en-US" sz="1600" dirty="0">
                <a:solidFill>
                  <a:schemeClr val="tx1"/>
                </a:solidFill>
              </a:rPr>
              <a:t>Thumbs up or down on “three, two, one!”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590C"/>
                </a:solidFill>
              </a:rPr>
              <a:t>2.  </a:t>
            </a:r>
            <a:r>
              <a:rPr lang="en-US" sz="1600" dirty="0">
                <a:solidFill>
                  <a:schemeClr val="tx1"/>
                </a:solidFill>
              </a:rPr>
              <a:t>Too direct? The first student to stand up gives the professional version.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Hold the line!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ENERGIZER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Six phrases to keep for the call — and six to rephrase.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3723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37308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3789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23723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Could I speak to Ms Marsh, please?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448556" y="223723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PROFESSIONAL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931160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3031236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13182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2931160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 me Ms Marsh. → </a:t>
            </a:r>
            <a:r>
              <a:rPr lang="en-US" sz="1600" i="1" dirty="0">
                <a:solidFill>
                  <a:schemeClr val="tx1"/>
                </a:solidFill>
              </a:rPr>
              <a:t>Could I speak to…?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448556" y="2931160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TOO DIRECT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625088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8368" y="3725164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82574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3625088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I’m calling about the Atlas House claim.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448556" y="3625088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PROFESSIONAL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319016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4419092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51967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4319016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 you want? → </a:t>
            </a:r>
            <a:r>
              <a:rPr lang="en-US" sz="1600" i="1" dirty="0">
                <a:solidFill>
                  <a:schemeClr val="tx1"/>
                </a:solidFill>
              </a:rPr>
              <a:t>How can I help you?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4448556" y="4319016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TOO DIRECT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5012944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58368" y="5113020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213604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88720" y="5012944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I’m afraid I can’t confirm that at this stage.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4448556" y="5012944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PROFESSIONAL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48640" y="570687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58368" y="5806948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907532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188720" y="570687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 don’t know. → </a:t>
            </a:r>
            <a:r>
              <a:rPr lang="en-US" sz="1600" i="1" dirty="0">
                <a:solidFill>
                  <a:schemeClr val="tx1"/>
                </a:solidFill>
              </a:rPr>
              <a:t>I’m afraid I can’t say yet.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4448556" y="570687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TOO DIRECT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231636" y="223723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341364" y="2337308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2437892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871716" y="223723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Could you repeat the deadline, please?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10131552" y="223723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PROFESSIONAL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6231636" y="2931160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341364" y="3031236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948" y="3131820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871716" y="2931160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Speak slower! → </a:t>
            </a:r>
            <a:r>
              <a:rPr lang="en-US" sz="1600" i="1" dirty="0">
                <a:solidFill>
                  <a:schemeClr val="tx1"/>
                </a:solidFill>
              </a:rPr>
              <a:t>Could you speak more slowly?</a:t>
            </a:r>
            <a:endParaRPr lang="en-US" sz="1600" dirty="0"/>
          </a:p>
        </p:txBody>
      </p:sp>
      <p:sp>
        <p:nvSpPr>
          <p:cNvPr id="46" name="Text 36"/>
          <p:cNvSpPr txBox="1"/>
          <p:nvPr/>
        </p:nvSpPr>
        <p:spPr>
          <a:xfrm>
            <a:off x="10131552" y="2931160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TOO DIRECT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6231636" y="3625088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6341364" y="3725164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1948" y="3825748"/>
            <a:ext cx="201168" cy="201168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6871716" y="3625088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Let me check and get back to you.</a:t>
            </a:r>
            <a:endParaRPr lang="en-US" sz="1600" dirty="0"/>
          </a:p>
        </p:txBody>
      </p:sp>
      <p:sp>
        <p:nvSpPr>
          <p:cNvPr id="51" name="Text 40"/>
          <p:cNvSpPr txBox="1"/>
          <p:nvPr/>
        </p:nvSpPr>
        <p:spPr>
          <a:xfrm>
            <a:off x="10131552" y="3625088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PROFESSIONAL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6231636" y="4319016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6341364" y="4419092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1948" y="4519676"/>
            <a:ext cx="201168" cy="201168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6871716" y="4319016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Wait. → </a:t>
            </a:r>
            <a:r>
              <a:rPr lang="en-US" sz="1600" i="1" dirty="0">
                <a:solidFill>
                  <a:schemeClr val="tx1"/>
                </a:solidFill>
              </a:rPr>
              <a:t>Could you hold on a moment?</a:t>
            </a:r>
            <a:endParaRPr lang="en-US" sz="1600" dirty="0"/>
          </a:p>
        </p:txBody>
      </p:sp>
      <p:sp>
        <p:nvSpPr>
          <p:cNvPr id="56" name="Text 44"/>
          <p:cNvSpPr txBox="1"/>
          <p:nvPr/>
        </p:nvSpPr>
        <p:spPr>
          <a:xfrm>
            <a:off x="10131552" y="4319016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TOO DIRECT</a:t>
            </a:r>
            <a:endParaRPr lang="en-US" sz="1300" dirty="0"/>
          </a:p>
        </p:txBody>
      </p:sp>
      <p:sp>
        <p:nvSpPr>
          <p:cNvPr id="57" name="Shape 45"/>
          <p:cNvSpPr/>
          <p:nvPr/>
        </p:nvSpPr>
        <p:spPr>
          <a:xfrm>
            <a:off x="6231636" y="5012944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>
            <a:off x="6341364" y="5113020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1948" y="5213604"/>
            <a:ext cx="201168" cy="201168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6871716" y="5012944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Thank you for your time.</a:t>
            </a:r>
            <a:endParaRPr lang="en-US" sz="1600" dirty="0"/>
          </a:p>
        </p:txBody>
      </p:sp>
      <p:sp>
        <p:nvSpPr>
          <p:cNvPr id="61" name="Text 48"/>
          <p:cNvSpPr txBox="1"/>
          <p:nvPr/>
        </p:nvSpPr>
        <p:spPr>
          <a:xfrm>
            <a:off x="10131552" y="5012944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PROFESSIONAL</a:t>
            </a:r>
            <a:endParaRPr lang="en-US" sz="1300" dirty="0"/>
          </a:p>
        </p:txBody>
      </p:sp>
      <p:sp>
        <p:nvSpPr>
          <p:cNvPr id="62" name="Shape 49"/>
          <p:cNvSpPr/>
          <p:nvPr/>
        </p:nvSpPr>
        <p:spPr>
          <a:xfrm>
            <a:off x="6231636" y="570687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63" name="Shape 50"/>
          <p:cNvSpPr/>
          <p:nvPr/>
        </p:nvSpPr>
        <p:spPr>
          <a:xfrm>
            <a:off x="6341364" y="5806948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1948" y="5907532"/>
            <a:ext cx="201168" cy="201168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6871716" y="570687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OK, bye. → </a:t>
            </a:r>
            <a:r>
              <a:rPr lang="en-US" sz="1600" i="1" dirty="0">
                <a:solidFill>
                  <a:schemeClr val="tx1"/>
                </a:solidFill>
              </a:rPr>
              <a:t>Goodbye, and thank you.</a:t>
            </a:r>
            <a:endParaRPr lang="en-US" sz="1600" dirty="0"/>
          </a:p>
        </p:txBody>
      </p:sp>
      <p:sp>
        <p:nvSpPr>
          <p:cNvPr id="66" name="Text 52"/>
          <p:cNvSpPr txBox="1"/>
          <p:nvPr/>
        </p:nvSpPr>
        <p:spPr>
          <a:xfrm>
            <a:off x="10131552" y="570687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TOO DIRECT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Call her back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Three questions to handle, one minute before she takes on another file. Write the three sentences you will say.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237232"/>
            <a:ext cx="11091672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One with </a:t>
            </a:r>
            <a:r>
              <a:rPr lang="en-US" sz="2600" b="1" dirty="0">
                <a:solidFill>
                  <a:schemeClr val="tx1"/>
                </a:solidFill>
              </a:rPr>
              <a:t>for</a:t>
            </a:r>
            <a:r>
              <a:rPr lang="en-US" sz="2600" dirty="0">
                <a:solidFill>
                  <a:schemeClr val="tx1"/>
                </a:solidFill>
              </a:rPr>
              <a:t> or </a:t>
            </a:r>
            <a:r>
              <a:rPr lang="en-US" sz="2600" b="1" dirty="0">
                <a:solidFill>
                  <a:schemeClr val="tx1"/>
                </a:solidFill>
              </a:rPr>
              <a:t>since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One with </a:t>
            </a:r>
            <a:r>
              <a:rPr lang="en-US" sz="2600" b="1" dirty="0">
                <a:solidFill>
                  <a:schemeClr val="tx1"/>
                </a:solidFill>
              </a:rPr>
              <a:t>not … yet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One that </a:t>
            </a:r>
            <a:r>
              <a:rPr lang="en-US" sz="2600" b="1" dirty="0">
                <a:solidFill>
                  <a:schemeClr val="tx1"/>
                </a:solidFill>
              </a:rPr>
              <a:t>avoids naming anybody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Call her back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Three questions to handle, one minute before she takes on another file. Write the three sentences you will say.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237232"/>
            <a:ext cx="11091672" cy="3069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One with </a:t>
            </a:r>
            <a:r>
              <a:rPr lang="en-US" sz="2200" b="1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or </a:t>
            </a:r>
            <a:r>
              <a:rPr lang="en-US" sz="2200" b="1" dirty="0">
                <a:solidFill>
                  <a:schemeClr val="tx1"/>
                </a:solidFill>
              </a:rPr>
              <a:t>since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→ </a:t>
            </a:r>
            <a:r>
              <a:rPr lang="en-US" sz="2200" b="1" i="1" dirty="0">
                <a:solidFill>
                  <a:schemeClr val="tx2"/>
                </a:solidFill>
              </a:rPr>
              <a:t>We have had trouble with this section of pipework since the summer.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One with </a:t>
            </a:r>
            <a:r>
              <a:rPr lang="en-US" sz="2200" b="1" dirty="0">
                <a:solidFill>
                  <a:schemeClr val="tx1"/>
                </a:solidFill>
              </a:rPr>
              <a:t>not … yet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→ </a:t>
            </a:r>
            <a:r>
              <a:rPr lang="en-US" sz="2200" b="1" i="1" dirty="0">
                <a:solidFill>
                  <a:schemeClr val="tx2"/>
                </a:solidFill>
              </a:rPr>
              <a:t>We have not established the cause yet: the basement has not been inspected yet.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One that </a:t>
            </a:r>
            <a:r>
              <a:rPr lang="en-US" sz="2200" b="1" dirty="0">
                <a:solidFill>
                  <a:schemeClr val="tx1"/>
                </a:solidFill>
              </a:rPr>
              <a:t>avoids naming anybody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→ </a:t>
            </a:r>
            <a:r>
              <a:rPr lang="en-US" sz="2200" b="1" i="1" dirty="0">
                <a:solidFill>
                  <a:schemeClr val="tx2"/>
                </a:solidFill>
              </a:rPr>
              <a:t>An access to zone 2F was recorded between 20.04 and 20.19.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2E75B6">
              <a:alpha val="8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Astuce — </a:t>
            </a:r>
            <a:r>
              <a:rPr lang="en-US" sz="1800" dirty="0">
                <a:solidFill>
                  <a:schemeClr val="tx1"/>
                </a:solidFill>
              </a:rPr>
              <a:t>Open: </a:t>
            </a:r>
            <a:r>
              <a:rPr lang="en-US" sz="1800" i="1" dirty="0">
                <a:solidFill>
                  <a:schemeClr val="tx1"/>
                </a:solidFill>
              </a:rPr>
              <a:t>Ms Marsh, this is … from …, calling about Atlas House.</a:t>
            </a:r>
            <a:r>
              <a:rPr lang="en-US" sz="1800" dirty="0">
                <a:solidFill>
                  <a:schemeClr val="tx1"/>
                </a:solidFill>
              </a:rPr>
              <a:t> · Close: </a:t>
            </a:r>
            <a:r>
              <a:rPr lang="en-US" sz="1800" i="1" dirty="0">
                <a:solidFill>
                  <a:schemeClr val="tx1"/>
                </a:solidFill>
              </a:rPr>
              <a:t>You will have the report by …</a:t>
            </a:r>
            <a:r>
              <a:rPr lang="en-US" sz="1800" dirty="0">
                <a:solidFill>
                  <a:schemeClr val="tx1"/>
                </a:solidFill>
              </a:rPr>
              <a:t> Short sentences, no hesitation.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minute on the phone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14400" y="18288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3E8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828800"/>
            <a:ext cx="2377440" cy="2377440"/>
          </a:xfrm>
          <a:prstGeom prst="blockArc">
            <a:avLst>
              <a:gd name="adj1" fmla="val 16200000"/>
              <a:gd name="adj2" fmla="val 10800000"/>
              <a:gd name="adj3" fmla="val 4500"/>
            </a:avLst>
          </a:prstGeom>
          <a:solidFill>
            <a:srgbClr val="B4236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18288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60</a:t>
            </a:r>
            <a:endParaRPr lang="en-US" sz="5400" dirty="0"/>
          </a:p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SECONDS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Six questions, one minute — no hesitation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492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In pairs: B is the assessor and asks, A answers. A hesitation? Start again. Then swap.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69080" y="1783080"/>
            <a:ext cx="3694176" cy="1423416"/>
          </a:xfrm>
          <a:prstGeom prst="roundRect">
            <a:avLst>
              <a:gd name="adj" fmla="val 513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78808" y="2330196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636008" y="1783080"/>
            <a:ext cx="3008376" cy="142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long has this been going on?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069080" y="3334512"/>
            <a:ext cx="3694176" cy="1423416"/>
          </a:xfrm>
          <a:prstGeom prst="roundRect">
            <a:avLst>
              <a:gd name="adj" fmla="val 513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78808" y="3881628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636008" y="3334512"/>
            <a:ext cx="3008376" cy="142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Who was in the room last night?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069080" y="4885944"/>
            <a:ext cx="3694176" cy="1423416"/>
          </a:xfrm>
          <a:prstGeom prst="roundRect">
            <a:avLst>
              <a:gd name="adj" fmla="val 513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78808" y="5433060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636008" y="4885944"/>
            <a:ext cx="3008376" cy="142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So what caused it?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946136" y="1783080"/>
            <a:ext cx="3694176" cy="1423416"/>
          </a:xfrm>
          <a:prstGeom prst="roundRect">
            <a:avLst>
              <a:gd name="adj" fmla="val 513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55864" y="2330196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13064" y="1783080"/>
            <a:ext cx="3008376" cy="142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Has anyone inspected the basement?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7946136" y="3334512"/>
            <a:ext cx="3694176" cy="1423416"/>
          </a:xfrm>
          <a:prstGeom prst="roundRect">
            <a:avLst>
              <a:gd name="adj" fmla="val 513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55864" y="3881628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513064" y="3334512"/>
            <a:ext cx="3008376" cy="142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Is the second floor still closed?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946136" y="4885944"/>
            <a:ext cx="3694176" cy="1423416"/>
          </a:xfrm>
          <a:prstGeom prst="roundRect">
            <a:avLst>
              <a:gd name="adj" fmla="val 513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55864" y="5433060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513064" y="4885944"/>
            <a:ext cx="3008376" cy="142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When will I have the report?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minute on the phone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14400" y="18288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3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1828800"/>
            <a:ext cx="2377440" cy="2377440"/>
          </a:xfrm>
          <a:prstGeom prst="blockArc">
            <a:avLst>
              <a:gd name="adj1" fmla="val 16200000"/>
              <a:gd name="adj2" fmla="val 16194000"/>
              <a:gd name="adj3" fmla="val 4500"/>
            </a:avLst>
          </a:prstGeom>
          <a:solidFill>
            <a:srgbClr val="3C7A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18288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C7A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✓</a:t>
            </a:r>
            <a:endParaRPr lang="en-US" sz="5400" dirty="0"/>
          </a:p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TIME!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Six questions, one minute — no hesitation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3492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In pairs: B is the assessor and asks, A answers. A hesitation? Start again. Then swap.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69080" y="1783080"/>
            <a:ext cx="3694176" cy="1423416"/>
          </a:xfrm>
          <a:prstGeom prst="roundRect">
            <a:avLst>
              <a:gd name="adj" fmla="val 5139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78808" y="2330196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636008" y="1819656"/>
            <a:ext cx="3008376" cy="654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How long has this been going on?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636008" y="2494788"/>
            <a:ext cx="3008376" cy="65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We have had trouble with this section since the summer.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069080" y="3334512"/>
            <a:ext cx="3694176" cy="1423416"/>
          </a:xfrm>
          <a:prstGeom prst="roundRect">
            <a:avLst>
              <a:gd name="adj" fmla="val 5139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78808" y="3881628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636008" y="3371088"/>
            <a:ext cx="3008376" cy="654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Who was in the room last night?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636008" y="4046220"/>
            <a:ext cx="3008376" cy="65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An access was recorded at 20.04. We are checking the details.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069080" y="4885944"/>
            <a:ext cx="3694176" cy="1423416"/>
          </a:xfrm>
          <a:prstGeom prst="roundRect">
            <a:avLst>
              <a:gd name="adj" fmla="val 5139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78808" y="5433060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636008" y="4922520"/>
            <a:ext cx="3008376" cy="654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So what caused it?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636008" y="5597652"/>
            <a:ext cx="3008376" cy="65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We have not established the cause yet.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946136" y="1783080"/>
            <a:ext cx="3694176" cy="1423416"/>
          </a:xfrm>
          <a:prstGeom prst="roundRect">
            <a:avLst>
              <a:gd name="adj" fmla="val 5139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55864" y="2330196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513064" y="1819656"/>
            <a:ext cx="3008376" cy="654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Has anyone inspected the basement?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513064" y="2494788"/>
            <a:ext cx="3008376" cy="65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Not yet. Nobody has been down there so far.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7946136" y="3334512"/>
            <a:ext cx="3694176" cy="1423416"/>
          </a:xfrm>
          <a:prstGeom prst="roundRect">
            <a:avLst>
              <a:gd name="adj" fmla="val 5139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55864" y="3881628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513064" y="3371088"/>
            <a:ext cx="3008376" cy="654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Is the second floor still closed?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513064" y="4046220"/>
            <a:ext cx="3008376" cy="65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Yes. It has been closed since seven o’clock.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7946136" y="4885944"/>
            <a:ext cx="3694176" cy="1423416"/>
          </a:xfrm>
          <a:prstGeom prst="roundRect">
            <a:avLst>
              <a:gd name="adj" fmla="val 5139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55864" y="5433060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513064" y="4922520"/>
            <a:ext cx="3008376" cy="654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When will I have the report?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513064" y="5597652"/>
            <a:ext cx="3008376" cy="65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You will have it by … (her deadline).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Role play: the phone carousel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88720" y="2400300"/>
            <a:ext cx="3291840" cy="3291840"/>
          </a:xfrm>
          <a:prstGeom prst="ellipse">
            <a:avLst/>
          </a:prstGeom>
          <a:ln w="19050">
            <a:solidFill>
              <a:srgbClr val="6E4A9E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2057400" y="3268980"/>
            <a:ext cx="1554480" cy="1554480"/>
          </a:xfrm>
          <a:prstGeom prst="ellipse">
            <a:avLst/>
          </a:prstGeom>
          <a:solidFill>
            <a:srgbClr val="C0752A">
              <a:alpha val="8000"/>
            </a:srgbClr>
          </a:solidFill>
          <a:ln w="19050">
            <a:solidFill>
              <a:srgbClr val="C075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06040" y="2171700"/>
            <a:ext cx="457200" cy="457200"/>
          </a:xfrm>
          <a:prstGeom prst="ellipse">
            <a:avLst/>
          </a:prstGeom>
          <a:solidFill>
            <a:srgbClr val="6E4A9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633472" y="3067812"/>
            <a:ext cx="402336" cy="402336"/>
          </a:xfrm>
          <a:prstGeom prst="ellipse">
            <a:avLst/>
          </a:prstGeom>
          <a:solidFill>
            <a:srgbClr val="C0752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69881" y="2653779"/>
            <a:ext cx="457200" cy="457200"/>
          </a:xfrm>
          <a:prstGeom prst="ellipse">
            <a:avLst/>
          </a:prstGeom>
          <a:solidFill>
            <a:srgbClr val="6E4A9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183064" y="3295460"/>
            <a:ext cx="402336" cy="402336"/>
          </a:xfrm>
          <a:prstGeom prst="ellipse">
            <a:avLst/>
          </a:prstGeom>
          <a:solidFill>
            <a:srgbClr val="C0752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51960" y="3817620"/>
            <a:ext cx="457200" cy="457200"/>
          </a:xfrm>
          <a:prstGeom prst="ellipse">
            <a:avLst/>
          </a:prstGeom>
          <a:solidFill>
            <a:srgbClr val="6E4A9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10712" y="3845052"/>
            <a:ext cx="402336" cy="402336"/>
          </a:xfrm>
          <a:prstGeom prst="ellipse">
            <a:avLst/>
          </a:prstGeom>
          <a:solidFill>
            <a:srgbClr val="C0752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9881" y="4981461"/>
            <a:ext cx="457200" cy="457200"/>
          </a:xfrm>
          <a:prstGeom prst="ellipse">
            <a:avLst/>
          </a:prstGeom>
          <a:solidFill>
            <a:srgbClr val="6E4A9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183064" y="4394644"/>
            <a:ext cx="402336" cy="402336"/>
          </a:xfrm>
          <a:prstGeom prst="ellipse">
            <a:avLst/>
          </a:prstGeom>
          <a:solidFill>
            <a:srgbClr val="C0752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606040" y="5463540"/>
            <a:ext cx="457200" cy="457200"/>
          </a:xfrm>
          <a:prstGeom prst="ellipse">
            <a:avLst/>
          </a:prstGeom>
          <a:solidFill>
            <a:srgbClr val="6E4A9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633472" y="4622292"/>
            <a:ext cx="402336" cy="402336"/>
          </a:xfrm>
          <a:prstGeom prst="ellipse">
            <a:avLst/>
          </a:prstGeom>
          <a:solidFill>
            <a:srgbClr val="C0752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42199" y="4981461"/>
            <a:ext cx="457200" cy="457200"/>
          </a:xfrm>
          <a:prstGeom prst="ellipse">
            <a:avLst/>
          </a:prstGeom>
          <a:solidFill>
            <a:srgbClr val="6E4A9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083880" y="4394644"/>
            <a:ext cx="402336" cy="402336"/>
          </a:xfrm>
          <a:prstGeom prst="ellipse">
            <a:avLst/>
          </a:prstGeom>
          <a:solidFill>
            <a:srgbClr val="C0752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" y="3817620"/>
            <a:ext cx="457200" cy="457200"/>
          </a:xfrm>
          <a:prstGeom prst="ellipse">
            <a:avLst/>
          </a:prstGeom>
          <a:solidFill>
            <a:srgbClr val="6E4A9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856232" y="3845052"/>
            <a:ext cx="402336" cy="402336"/>
          </a:xfrm>
          <a:prstGeom prst="ellipse">
            <a:avLst/>
          </a:prstGeom>
          <a:solidFill>
            <a:srgbClr val="C0752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42199" y="2653779"/>
            <a:ext cx="457200" cy="457200"/>
          </a:xfrm>
          <a:prstGeom prst="ellipse">
            <a:avLst/>
          </a:prstGeom>
          <a:solidFill>
            <a:srgbClr val="6E4A9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083880" y="3295460"/>
            <a:ext cx="402336" cy="402336"/>
          </a:xfrm>
          <a:prstGeom prst="ellipse">
            <a:avLst/>
          </a:prstGeom>
          <a:solidFill>
            <a:srgbClr val="C0752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04672" y="2016252"/>
            <a:ext cx="4059936" cy="4059936"/>
          </a:xfrm>
          <a:prstGeom prst="arc">
            <a:avLst>
              <a:gd name="adj1" fmla="val 17520000"/>
              <a:gd name="adj2" fmla="val 20280000"/>
            </a:avLst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04672" y="2016252"/>
            <a:ext cx="4059936" cy="4059936"/>
          </a:xfrm>
          <a:prstGeom prst="arc">
            <a:avLst>
              <a:gd name="adj1" fmla="val 6720000"/>
              <a:gd name="adj2" fmla="val 9480000"/>
            </a:avLst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3771900"/>
            <a:ext cx="548640" cy="54864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440680" y="1783080"/>
            <a:ext cx="6199632" cy="868680"/>
          </a:xfrm>
          <a:prstGeom prst="roundRect">
            <a:avLst>
              <a:gd name="adj" fmla="val 8421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623560" y="1783080"/>
            <a:ext cx="583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52A"/>
                </a:solidFill>
              </a:rPr>
              <a:t>A</a:t>
            </a:r>
            <a:r>
              <a:rPr lang="en-US" sz="1600" dirty="0">
                <a:solidFill>
                  <a:schemeClr val="tx1"/>
                </a:solidFill>
              </a:rPr>
              <a:t>  the firm — three sentences, no names, one minute
</a:t>
            </a:r>
            <a:r>
              <a:rPr lang="en-US" sz="1600" b="1" dirty="0">
                <a:solidFill>
                  <a:srgbClr val="6E4A9E"/>
                </a:solidFill>
              </a:rPr>
              <a:t>B</a:t>
            </a:r>
            <a:r>
              <a:rPr lang="en-US" sz="1600" dirty="0">
                <a:solidFill>
                  <a:schemeClr val="tx1"/>
                </a:solidFill>
              </a:rPr>
              <a:t>  Ms Marsh — three questions, then she hangs up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5440680" y="2916936"/>
            <a:ext cx="365760" cy="365760"/>
          </a:xfrm>
          <a:prstGeom prst="ellipse">
            <a:avLst/>
          </a:prstGeom>
          <a:solidFill>
            <a:srgbClr val="6E4A9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5989320" y="2880360"/>
            <a:ext cx="5605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Inner circle = </a:t>
            </a: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, outer circle = </a:t>
            </a: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. Face your partner.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40680" y="3602736"/>
            <a:ext cx="365760" cy="365760"/>
          </a:xfrm>
          <a:prstGeom prst="ellipse">
            <a:avLst/>
          </a:prstGeom>
          <a:solidFill>
            <a:srgbClr val="6E4A9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5989320" y="3566160"/>
            <a:ext cx="5605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B: </a:t>
            </a:r>
            <a:r>
              <a:rPr lang="en-US" sz="1800" i="1" dirty="0">
                <a:solidFill>
                  <a:schemeClr val="tx1"/>
                </a:solidFill>
              </a:rPr>
              <a:t>Helen Marsh speaking.</a:t>
            </a:r>
            <a:r>
              <a:rPr lang="en-US" sz="1800" dirty="0">
                <a:solidFill>
                  <a:schemeClr val="tx1"/>
                </a:solidFill>
              </a:rPr>
              <a:t> A: </a:t>
            </a:r>
            <a:r>
              <a:rPr lang="en-US" sz="1800" i="1" dirty="0">
                <a:solidFill>
                  <a:schemeClr val="tx1"/>
                </a:solidFill>
              </a:rPr>
              <a:t>Ms Marsh, this is … from …, calling about Atlas House.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5440680" y="4288536"/>
            <a:ext cx="365760" cy="365760"/>
          </a:xfrm>
          <a:prstGeom prst="ellipse">
            <a:avLst/>
          </a:prstGeom>
          <a:solidFill>
            <a:srgbClr val="6E4A9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5989320" y="4251960"/>
            <a:ext cx="5605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 asks: </a:t>
            </a:r>
            <a:r>
              <a:rPr lang="en-US" sz="1800" b="1" dirty="0">
                <a:solidFill>
                  <a:schemeClr val="tx1"/>
                </a:solidFill>
              </a:rPr>
              <a:t>How long has this been going on? · Who was in the room? · So what caused it?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5440680" y="4974336"/>
            <a:ext cx="365760" cy="365760"/>
          </a:xfrm>
          <a:prstGeom prst="ellipse">
            <a:avLst/>
          </a:prstGeom>
          <a:solidFill>
            <a:srgbClr val="6E4A9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5989320" y="4937760"/>
            <a:ext cx="5605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After </a:t>
            </a:r>
            <a:r>
              <a:rPr lang="en-US" sz="1800" b="1" dirty="0">
                <a:solidFill>
                  <a:schemeClr val="tx1"/>
                </a:solidFill>
              </a:rPr>
              <a:t>one minute</a:t>
            </a:r>
            <a:r>
              <a:rPr lang="en-US" sz="1800" dirty="0">
                <a:solidFill>
                  <a:schemeClr val="tx1"/>
                </a:solidFill>
              </a:rPr>
              <a:t>, B hangs up. The outer circle moves </a:t>
            </a:r>
            <a:r>
              <a:rPr lang="en-US" sz="1800" b="1" dirty="0">
                <a:solidFill>
                  <a:schemeClr val="tx1"/>
                </a:solidFill>
              </a:rPr>
              <a:t>one chair</a:t>
            </a:r>
            <a:r>
              <a:rPr lang="en-US" sz="1800" dirty="0">
                <a:solidFill>
                  <a:schemeClr val="tx1"/>
                </a:solidFill>
              </a:rPr>
              <a:t> to the right.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5440680" y="5660136"/>
            <a:ext cx="365760" cy="365760"/>
          </a:xfrm>
          <a:prstGeom prst="ellipse">
            <a:avLst/>
          </a:prstGeom>
          <a:solidFill>
            <a:srgbClr val="6E4A9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5989320" y="5623560"/>
            <a:ext cx="5605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After three calls, swap roles. If you don’t know: </a:t>
            </a:r>
            <a:r>
              <a:rPr lang="en-US" sz="1800" i="1" dirty="0">
                <a:solidFill>
                  <a:schemeClr val="tx1"/>
                </a:solidFill>
              </a:rPr>
              <a:t>I’m afraid I can’t confirm that at this stage.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697480"/>
          </a:xfrm>
          <a:prstGeom prst="roundRect">
            <a:avLst>
              <a:gd name="adj" fmla="val 2712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 you hang up, Samuel says quietly: </a:t>
            </a:r>
            <a:r>
              <a:rPr lang="en-US" sz="22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“Before you write anything — nobody has been down to the basement.”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6035040" cy="1554480"/>
          </a:xfrm>
          <a:prstGeom prst="roundRect">
            <a:avLst>
              <a:gd name="adj" fmla="val 4706"/>
            </a:avLst>
          </a:prstGeom>
          <a:solidFill>
            <a:srgbClr val="C0752A">
              <a:alpha val="12000"/>
            </a:srgbClr>
          </a:solidFill>
          <a:ln w="15875">
            <a:solidFill>
              <a:srgbClr val="C075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834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4956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EXIT TICKET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40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long have you been studying English? Answer with </a:t>
            </a:r>
            <a:r>
              <a:rPr lang="en-US" sz="1800" b="1" dirty="0">
                <a:solidFill>
                  <a:schemeClr val="tx1"/>
                </a:solidFill>
              </a:rPr>
              <a:t>for</a:t>
            </a:r>
            <a:r>
              <a:rPr lang="en-US" sz="1800" dirty="0">
                <a:solidFill>
                  <a:schemeClr val="tx1"/>
                </a:solidFill>
              </a:rPr>
              <a:t>, then with </a:t>
            </a:r>
            <a:r>
              <a:rPr lang="en-US" sz="1800" b="1" dirty="0">
                <a:solidFill>
                  <a:schemeClr val="tx1"/>
                </a:solidFill>
              </a:rPr>
              <a:t>since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903720" y="1783080"/>
            <a:ext cx="4736592" cy="4526280"/>
          </a:xfrm>
          <a:prstGeom prst="roundRect">
            <a:avLst>
              <a:gd name="adj" fmla="val 1616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00253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53528" y="198424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60604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89520" y="25603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</a:t>
            </a:r>
            <a:r>
              <a:rPr lang="en-US" sz="1700" b="1" dirty="0">
                <a:solidFill>
                  <a:schemeClr val="tx1"/>
                </a:solidFill>
              </a:rPr>
              <a:t>for / since</a:t>
            </a:r>
            <a:r>
              <a:rPr lang="en-US" sz="1700" dirty="0">
                <a:solidFill>
                  <a:schemeClr val="tx1"/>
                </a:solidFill>
              </a:rPr>
              <a:t> + present perfect — and </a:t>
            </a:r>
            <a:r>
              <a:rPr lang="en-US" sz="1700" b="1" dirty="0">
                <a:solidFill>
                  <a:schemeClr val="tx1"/>
                </a:solidFill>
              </a:rPr>
              <a:t>ago</a:t>
            </a:r>
            <a:r>
              <a:rPr lang="en-US" sz="1700" dirty="0">
                <a:solidFill>
                  <a:schemeClr val="tx1"/>
                </a:solidFill>
              </a:rPr>
              <a:t> + past simple.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5204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4747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three ways to say </a:t>
            </a:r>
            <a:r>
              <a:rPr lang="en-US" sz="1700" i="1" dirty="0">
                <a:solidFill>
                  <a:schemeClr val="tx1"/>
                </a:solidFill>
              </a:rPr>
              <a:t>I don’t know yet</a:t>
            </a:r>
            <a:r>
              <a:rPr lang="en-US" sz="1700" dirty="0">
                <a:solidFill>
                  <a:schemeClr val="tx1"/>
                </a:solidFill>
              </a:rPr>
              <a:t>: not … yet · so far · still.</a:t>
            </a:r>
            <a:endParaRPr lang="en-US" sz="1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43484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589520" y="43891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assessor’s words: claim · policy · excess · cover · wear and tear.</a:t>
            </a:r>
            <a:endParaRPr lang="en-US" sz="17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534924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589520" y="53035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Write your three call-back sentences again, from memory.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13 — The insurer calls back</dc:title>
  <dc:subject>Case File 01 — The night nobody heard</dc:subject>
  <dc:creator>A. Jouniaux</dc:creator>
  <cp:lastModifiedBy>A. Jouniaux</cp:lastModifiedBy>
  <cp:revision>1</cp:revision>
  <dcterms:created xsi:type="dcterms:W3CDTF">2026-10-17T18:41:38Z</dcterms:created>
  <dcterms:modified xsi:type="dcterms:W3CDTF">2026-10-17T18:41:38Z</dcterms:modified>
</cp:coreProperties>
</file>