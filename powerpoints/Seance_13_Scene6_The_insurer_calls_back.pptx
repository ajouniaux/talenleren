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dd6016d-1238-92d2-4bb2-d27afe4386b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lôture" id="{dd65c9de-9105-7dfc-214b-01ddb25cb025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Scène 6 : message vocal d’Helen Marsh (à passer deux fois). Le script n’est pas dans le livret : les réponses aux questions 2, 3, 5 et 6 sont des réponses probables à vérifier avec l’enregistrement.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Bulles : « I am not asking you what caused it. » / « I am asking you what you can prove.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Réponses probables, déduites du livret (titre de la scène, bulles, p. 30–31, p. 43). À ajuster à l’enregistrement, en particulier l’échéance exacte (Q2).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Frise générique (le mois de l’incident n’est pas précisé dans le livret) : l’important est la logique point de départ / durée.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UE 3 · Case File 01 — The night nobody heard · Séance 13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DARK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UE 3 · Case File 01 — The night nobody heard · Séance 13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VER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UE 3 · A. Jouniaux · Project Atlas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98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SÉANCE 13 / 19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SCENE 6</a:t>
            </a:r>
            <a:endParaRPr lang="en-US" sz="13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11.30</a:t>
            </a:r>
            <a:endParaRPr lang="en-US" sz="13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insurer calls back</a:t>
            </a:r>
            <a:endParaRPr lang="en-US" sz="40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bg2"/>
                </a:solidFill>
              </a:rPr>
              <a:t>She is not asking what you believe. She is asking since when.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Case File 01 — The night nobody heard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Livret p. 28–31</a:t>
            </a:r>
            <a:endParaRPr lang="en-US" sz="1800" dirty="0"/>
          </a:p>
        </p:txBody>
      </p:sp>
      <p:pic>
        <p:nvPicPr>
          <p:cNvPr id="6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20215"/>
            <a:ext cx="5120640" cy="341757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Today's mission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BRIEFING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28–31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470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1328" y="1655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BY THE END OF THE SESSION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194767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Three sentences and a deadline</a:t>
            </a:r>
            <a:r>
              <a:rPr lang="en-US" sz="1800" dirty="0">
                <a:solidFill>
                  <a:schemeClr val="tx1"/>
                </a:solidFill>
              </a:rPr>
              <a:t>: your call back to the assessor.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36392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3375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747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81328" y="32826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LANGUAGE FOCUS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575304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Present perfect + </a:t>
            </a:r>
            <a:r>
              <a:rPr lang="en-US" sz="1700" b="1" dirty="0">
                <a:solidFill>
                  <a:schemeClr val="tx1"/>
                </a:solidFill>
              </a:rPr>
              <a:t>for / since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How long…?</a:t>
            </a:r>
            <a:r>
              <a:rPr lang="en-US" sz="1700" dirty="0">
                <a:solidFill>
                  <a:schemeClr val="tx1"/>
                </a:solidFill>
              </a:rPr>
              <a:t> · honest answers: </a:t>
            </a:r>
            <a:r>
              <a:rPr lang="en-US" sz="1700" i="1" dirty="0">
                <a:solidFill>
                  <a:schemeClr val="tx1"/>
                </a:solidFill>
              </a:rPr>
              <a:t>not … yet, so far, still</a:t>
            </a:r>
            <a:r>
              <a:rPr lang="en-US" sz="1700" dirty="0">
                <a:solidFill>
                  <a:schemeClr val="tx1"/>
                </a:solidFill>
              </a:rPr>
              <a:t> · saying it without naming anyone (passive)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4764024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496519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023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1328" y="49103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SKILLS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5202936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Listening for a deadline and a prohibition · a short professional phone call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ROADMAP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≈ 90 min (indicatif)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95967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263640" y="19596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784848" y="187452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Warm-up: false friends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187452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263640" y="251402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263640" y="25140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784848" y="242887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Scene 6 + voicemail × 2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972800" y="242887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263640" y="306838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306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784848" y="298323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Questions 1–6 (p. 29)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0972800" y="298323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263640" y="362273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263640" y="36227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6784848" y="353758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For or since? (p. 30)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0" y="353758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263640" y="4177093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263640" y="41770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6784848" y="409194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Dry run A–C (p. 30)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10972800" y="409194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6263640" y="473144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6263640" y="473144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784848" y="464629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Saying it without naming anyone</a:t>
            </a:r>
            <a:endParaRPr lang="en-US" sz="1600" dirty="0"/>
          </a:p>
        </p:txBody>
      </p:sp>
      <p:sp>
        <p:nvSpPr>
          <p:cNvPr id="45" name="Text 40"/>
          <p:cNvSpPr txBox="1"/>
          <p:nvPr/>
        </p:nvSpPr>
        <p:spPr>
          <a:xfrm>
            <a:off x="10972800" y="464629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263640" y="528580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263640" y="5285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6784848" y="520065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Call her back (p. 31)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10972800" y="520065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6263640" y="584015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263640" y="58401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6784848" y="575500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Wrap-up</a:t>
            </a:r>
            <a:endParaRPr lang="en-US" sz="1600" dirty="0"/>
          </a:p>
        </p:txBody>
      </p:sp>
      <p:sp>
        <p:nvSpPr>
          <p:cNvPr id="53" name="Text 48"/>
          <p:cNvSpPr txBox="1"/>
          <p:nvPr/>
        </p:nvSpPr>
        <p:spPr>
          <a:xfrm>
            <a:off x="10972800" y="575500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choose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12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We must </a:t>
            </a:r>
            <a:r>
              <a:rPr lang="en-US" sz="2400" dirty="0">
                <a:solidFill>
                  <a:schemeClr val="tx1"/>
                </a:solidFill>
              </a:rPr>
              <a:t>control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check</a:t>
            </a:r>
            <a:r>
              <a:rPr lang="en-US" sz="2400" dirty="0">
                <a:solidFill>
                  <a:schemeClr val="tx1"/>
                </a:solidFill>
              </a:rPr>
              <a:t> the basement.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Actually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Currently</a:t>
            </a:r>
            <a:r>
              <a:rPr lang="en-US" sz="2400" dirty="0">
                <a:solidFill>
                  <a:schemeClr val="tx1"/>
                </a:solidFill>
              </a:rPr>
              <a:t> the second floor is closed.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Three colleagues will </a:t>
            </a:r>
            <a:r>
              <a:rPr lang="en-US" sz="2400" dirty="0">
                <a:solidFill>
                  <a:schemeClr val="tx1"/>
                </a:solidFill>
              </a:rPr>
              <a:t>assist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attend</a:t>
            </a:r>
            <a:r>
              <a:rPr lang="en-US" sz="2400" dirty="0">
                <a:solidFill>
                  <a:schemeClr val="tx1"/>
                </a:solidFill>
              </a:rPr>
              <a:t> the meeting.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It </a:t>
            </a:r>
            <a:r>
              <a:rPr lang="en-US" sz="2400" dirty="0">
                <a:solidFill>
                  <a:schemeClr val="tx1"/>
                </a:solidFill>
              </a:rPr>
              <a:t>is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has been</a:t>
            </a:r>
            <a:r>
              <a:rPr lang="en-US" sz="2400" dirty="0">
                <a:solidFill>
                  <a:schemeClr val="tx1"/>
                </a:solidFill>
              </a:rPr>
              <a:t> closed since this morning.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choose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12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We must </a:t>
            </a:r>
            <a:r>
              <a:rPr lang="en-US" sz="2400" strike="sngStrike" dirty="0">
                <a:solidFill>
                  <a:schemeClr val="accent6"/>
                </a:solidFill>
              </a:rPr>
              <a:t>control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check</a:t>
            </a:r>
            <a:r>
              <a:rPr lang="en-US" sz="2400" dirty="0">
                <a:solidFill>
                  <a:schemeClr val="tx1"/>
                </a:solidFill>
              </a:rPr>
              <a:t> the basement.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strike="sngStrike" dirty="0">
                <a:solidFill>
                  <a:schemeClr val="accent6"/>
                </a:solidFill>
              </a:rPr>
              <a:t>Actually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Currently</a:t>
            </a:r>
            <a:r>
              <a:rPr lang="en-US" sz="2400" dirty="0">
                <a:solidFill>
                  <a:schemeClr val="tx1"/>
                </a:solidFill>
              </a:rPr>
              <a:t> the second floor is closed.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Three colleagues will </a:t>
            </a:r>
            <a:r>
              <a:rPr lang="en-US" sz="2400" strike="sngStrike" dirty="0">
                <a:solidFill>
                  <a:schemeClr val="accent6"/>
                </a:solidFill>
              </a:rPr>
              <a:t>assist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attend</a:t>
            </a:r>
            <a:r>
              <a:rPr lang="en-US" sz="2400" dirty="0">
                <a:solidFill>
                  <a:schemeClr val="tx1"/>
                </a:solidFill>
              </a:rPr>
              <a:t> the meeting.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It </a:t>
            </a:r>
            <a:r>
              <a:rPr lang="en-US" sz="2400" strike="sngStrike" dirty="0">
                <a:solidFill>
                  <a:schemeClr val="accent6"/>
                </a:solidFill>
              </a:rPr>
              <a:t>is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has been</a:t>
            </a:r>
            <a:r>
              <a:rPr lang="en-US" sz="2400" dirty="0">
                <a:solidFill>
                  <a:schemeClr val="tx1"/>
                </a:solidFill>
              </a:rPr>
              <a:t> closed since this morning.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insurer calls back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9372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SCENE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28</a:t>
            </a:r>
            <a:endParaRPr lang="en-US" sz="1200" dirty="0"/>
          </a:p>
        </p:txBody>
      </p:sp>
      <p:pic>
        <p:nvPicPr>
          <p:cNvPr id="6" name="illustration" descr="Mark, Samuel, Iris and the narrator around a phone on spea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035040" cy="402785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6995160" y="1508760"/>
            <a:ext cx="16002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995160" y="155448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SCENE 6</a:t>
            </a:r>
            <a:endParaRPr lang="en-US" sz="11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11.30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995160" y="2560320"/>
            <a:ext cx="4645152" cy="238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Mark puts his phone on the table and presses </a:t>
            </a:r>
            <a:r>
              <a:rPr lang="en-US" sz="2000" b="1" dirty="0">
                <a:solidFill>
                  <a:schemeClr val="tx1"/>
                </a:solidFill>
              </a:rPr>
              <a:t>speaker</a:t>
            </a:r>
            <a:r>
              <a:rPr lang="en-US" sz="2000" dirty="0">
                <a:solidFill>
                  <a:schemeClr val="tx1"/>
                </a:solidFill>
              </a:rPr>
              <a:t>. The claims assessor has left a message.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She does not sound unfriendly. She sounds like somebody who has heard </a:t>
            </a:r>
            <a:r>
              <a:rPr lang="en-US" sz="2000" b="1" dirty="0">
                <a:solidFill>
                  <a:schemeClr val="tx1"/>
                </a:solidFill>
              </a:rPr>
              <a:t>a great many stories</a:t>
            </a:r>
            <a:r>
              <a:rPr lang="en-US" sz="2000" dirty="0">
                <a:solidFill>
                  <a:schemeClr val="tx1"/>
                </a:solidFill>
              </a:rPr>
              <a:t> before lunch.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995160" y="5123688"/>
            <a:ext cx="4645152" cy="1167384"/>
          </a:xfrm>
          <a:prstGeom prst="roundRect">
            <a:avLst>
              <a:gd name="adj" fmla="val 6266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178040" y="5215128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ASK THE CLASS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178040" y="5507736"/>
            <a:ext cx="4279392" cy="710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What do you think an assessor wants </a:t>
            </a:r>
            <a:r>
              <a:rPr lang="en-US" sz="1700" b="1" dirty="0">
                <a:solidFill>
                  <a:schemeClr val="tx1"/>
                </a:solidFill>
              </a:rPr>
              <a:t>first</a:t>
            </a:r>
            <a:r>
              <a:rPr lang="en-US" sz="1700" dirty="0">
                <a:solidFill>
                  <a:schemeClr val="tx1"/>
                </a:solidFill>
              </a:rPr>
              <a:t>: a cause, or evidence?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Voicemail — listen twice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VOICEMAIL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1371600"/>
          </a:xfrm>
          <a:prstGeom prst="roundRect">
            <a:avLst>
              <a:gd name="adj" fmla="val 6667"/>
            </a:avLst>
          </a:prstGeom>
          <a:solidFill>
            <a:schemeClr val="accent2">
              <a:alpha val="10000"/>
            </a:schemeClr>
          </a:solidFill>
          <a:ln w="15875">
            <a:solidFill>
              <a:srgbClr val="2E75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830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11680" y="1645920"/>
            <a:ext cx="9418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Helen Marsh, claims assessor — 11.26</a:t>
            </a:r>
            <a:endParaRPr lang="en-US" sz="26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Voicemail · 55 seconds · two listenings. Take notes during the second one only.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3246120"/>
            <a:ext cx="3514344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4747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3429000"/>
            <a:ext cx="2508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Listening 1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4114800"/>
            <a:ext cx="29657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Pens down. Listen for her </a:t>
            </a:r>
            <a:r>
              <a:rPr lang="en-US" sz="1800" b="1" dirty="0">
                <a:solidFill>
                  <a:schemeClr val="tx1"/>
                </a:solidFill>
              </a:rPr>
              <a:t>tone</a:t>
            </a:r>
            <a:r>
              <a:rPr lang="en-US" sz="1800" dirty="0">
                <a:solidFill>
                  <a:schemeClr val="tx1"/>
                </a:solidFill>
              </a:rPr>
              <a:t> and her </a:t>
            </a:r>
            <a:r>
              <a:rPr lang="en-US" sz="1800" b="1" dirty="0">
                <a:solidFill>
                  <a:schemeClr val="tx1"/>
                </a:solidFill>
              </a:rPr>
              <a:t>two demands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4337304" y="3246120"/>
            <a:ext cx="3514344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624" y="347472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05984" y="3429000"/>
            <a:ext cx="2508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Listening 2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611624" y="4114800"/>
            <a:ext cx="29657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Notes: a </a:t>
            </a:r>
            <a:r>
              <a:rPr lang="en-US" sz="1800" b="1" dirty="0">
                <a:solidFill>
                  <a:schemeClr val="tx1"/>
                </a:solidFill>
              </a:rPr>
              <a:t>deadline</a:t>
            </a:r>
            <a:r>
              <a:rPr lang="en-US" sz="1800" dirty="0">
                <a:solidFill>
                  <a:schemeClr val="tx1"/>
                </a:solidFill>
              </a:rPr>
              <a:t> (day + time), a </a:t>
            </a:r>
            <a:r>
              <a:rPr lang="en-US" sz="1800" b="1" dirty="0">
                <a:solidFill>
                  <a:schemeClr val="tx1"/>
                </a:solidFill>
              </a:rPr>
              <a:t>prohibition</a:t>
            </a:r>
            <a:r>
              <a:rPr lang="en-US" sz="1800" dirty="0">
                <a:solidFill>
                  <a:schemeClr val="tx1"/>
                </a:solidFill>
              </a:rPr>
              <a:t> (what NOT to write), a </a:t>
            </a:r>
            <a:r>
              <a:rPr lang="en-US" sz="1800" b="1" dirty="0">
                <a:solidFill>
                  <a:schemeClr val="tx1"/>
                </a:solidFill>
              </a:rPr>
              <a:t>question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8125968" y="3246120"/>
            <a:ext cx="3514344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0288" y="347472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994648" y="3429000"/>
            <a:ext cx="2508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Watch out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8400288" y="4114800"/>
            <a:ext cx="29657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She gives you a deadline and a prohibition. </a:t>
            </a:r>
            <a:r>
              <a:rPr lang="en-US" sz="1800" b="1" dirty="0">
                <a:solidFill>
                  <a:schemeClr val="tx1"/>
                </a:solidFill>
              </a:rPr>
              <a:t>Missing either of the two costs the case.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she wants — Q1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1.</a:t>
            </a:r>
            <a:r>
              <a:rPr lang="en-US" sz="2200" dirty="0">
                <a:solidFill>
                  <a:schemeClr val="tx1"/>
                </a:solidFill>
              </a:rPr>
              <a:t> What does Ms Marsh want from you first?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full report with a stated cause.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45352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114032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alarm log and the photographs.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contractor’s written statement.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45352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8232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14032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telephone call from Mr Shaw himself.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she wants — Q1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1.</a:t>
            </a:r>
            <a:r>
              <a:rPr lang="en-US" sz="2200" dirty="0">
                <a:solidFill>
                  <a:schemeClr val="tx1"/>
                </a:solidFill>
              </a:rPr>
              <a:t> What does Ms Marsh want from you first?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756916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A full report with a stated cause.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45352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3C7A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28232" y="2756916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14032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alarm log and the photographs.</a:t>
            </a:r>
            <a:endParaRPr lang="en-US" sz="18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3112" y="2624328"/>
            <a:ext cx="292608" cy="29260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48640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3909060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31520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The contractor’s written statement.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245352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28232" y="3909060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28232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114032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A telephone call from Mr Shaw himself.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864608"/>
            <a:ext cx="11091672" cy="1426464"/>
          </a:xfrm>
          <a:prstGeom prst="roundRect">
            <a:avLst>
              <a:gd name="adj" fmla="val 5128"/>
            </a:avLst>
          </a:prstGeom>
          <a:solidFill>
            <a:schemeClr val="accent3">
              <a:alpha val="8000"/>
            </a:schemeClr>
          </a:solidFill>
          <a:ln w="9525">
            <a:solidFill>
              <a:srgbClr val="3C7A3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9377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Why?  </a:t>
            </a:r>
            <a:r>
              <a:rPr lang="en-US" sz="1800" dirty="0">
                <a:solidFill>
                  <a:schemeClr val="tx1"/>
                </a:solidFill>
              </a:rPr>
              <a:t>She wants </a:t>
            </a:r>
            <a:r>
              <a:rPr lang="en-US" sz="1800" b="1" dirty="0">
                <a:solidFill>
                  <a:schemeClr val="tx1"/>
                </a:solidFill>
              </a:rPr>
              <a:t>evidence before explanations</a:t>
            </a:r>
            <a:r>
              <a:rPr lang="en-US" sz="1800" dirty="0">
                <a:solidFill>
                  <a:schemeClr val="tx1"/>
                </a:solidFill>
              </a:rPr>
              <a:t>: the log (verifiable times) and the photographs (the state of the room). </a:t>
            </a:r>
            <a:r>
              <a:rPr lang="en-US" sz="1800" i="1" dirty="0">
                <a:solidFill>
                  <a:schemeClr val="tx1"/>
                </a:solidFill>
              </a:rPr>
              <a:t>To be checked against your recording.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she warns you about — Q2 · Q3 · Q5 · Q6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29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2.</a:t>
            </a:r>
            <a:r>
              <a:rPr lang="en-US" sz="2600" dirty="0">
                <a:solidFill>
                  <a:schemeClr val="tx1"/>
                </a:solidFill>
              </a:rPr>
              <a:t> She gives a deadline. What is it exactly, and what happens if you miss it?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3.</a:t>
            </a:r>
            <a:r>
              <a:rPr lang="en-US" sz="2600" dirty="0">
                <a:solidFill>
                  <a:schemeClr val="tx1"/>
                </a:solidFill>
              </a:rPr>
              <a:t> She warns you about one thing you must </a:t>
            </a:r>
            <a:r>
              <a:rPr lang="en-US" sz="2600" b="1" dirty="0">
                <a:solidFill>
                  <a:schemeClr val="tx1"/>
                </a:solidFill>
              </a:rPr>
              <a:t>not</a:t>
            </a:r>
            <a:r>
              <a:rPr lang="en-US" sz="2600" dirty="0">
                <a:solidFill>
                  <a:schemeClr val="tx1"/>
                </a:solidFill>
              </a:rPr>
              <a:t> put in the report. What, and why?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5.</a:t>
            </a:r>
            <a:r>
              <a:rPr lang="en-US" sz="2600" dirty="0">
                <a:solidFill>
                  <a:schemeClr val="tx1"/>
                </a:solidFill>
              </a:rPr>
              <a:t> She asks one question that nobody in the room can answer yet. Which one?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6.</a:t>
            </a:r>
            <a:r>
              <a:rPr lang="en-US" sz="2600" dirty="0">
                <a:solidFill>
                  <a:schemeClr val="tx1"/>
                </a:solidFill>
              </a:rPr>
              <a:t> “I am not asking you what caused it. I am asking you what you can prove.” What does that change about the report?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she warns you about — Q2 · Q3 · Q5 · Q6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29</a:t>
            </a:r>
            <a:endParaRPr lang="en-US" sz="12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2.</a:t>
            </a:r>
            <a:r>
              <a:rPr lang="en-US" sz="2100" dirty="0">
                <a:solidFill>
                  <a:schemeClr val="tx1"/>
                </a:solidFill>
              </a:rPr>
              <a:t> She gives a deadline. What is it exactly, and what happens if you miss it?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chemeClr val="accent3"/>
                </a:solidFill>
              </a:rPr>
              <a:t>→ </a:t>
            </a:r>
            <a:r>
              <a:rPr lang="en-US" sz="2100" dirty="0">
                <a:solidFill>
                  <a:schemeClr val="accent3"/>
                </a:solidFill>
              </a:rPr>
              <a:t>Day + time </a:t>
            </a:r>
            <a:r>
              <a:rPr lang="en-US" sz="2100" b="1" dirty="0">
                <a:solidFill>
                  <a:schemeClr val="accent3"/>
                </a:solidFill>
              </a:rPr>
              <a:t>as said in the recording</a:t>
            </a:r>
            <a:r>
              <a:rPr lang="en-US" sz="2100" dirty="0">
                <a:solidFill>
                  <a:schemeClr val="accent3"/>
                </a:solidFill>
              </a:rPr>
              <a:t> — note it in full. If you miss it, the claim is delayed — or refused.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3.</a:t>
            </a:r>
            <a:r>
              <a:rPr lang="en-US" sz="2100" dirty="0">
                <a:solidFill>
                  <a:schemeClr val="tx1"/>
                </a:solidFill>
              </a:rPr>
              <a:t> She warns you about one thing you must </a:t>
            </a:r>
            <a:r>
              <a:rPr lang="en-US" sz="2100" b="1" dirty="0">
                <a:solidFill>
                  <a:schemeClr val="tx1"/>
                </a:solidFill>
              </a:rPr>
              <a:t>not</a:t>
            </a:r>
            <a:r>
              <a:rPr lang="en-US" sz="2100" dirty="0">
                <a:solidFill>
                  <a:schemeClr val="tx1"/>
                </a:solidFill>
              </a:rPr>
              <a:t> put in the report. What, and why?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chemeClr val="accent3"/>
                </a:solidFill>
              </a:rPr>
              <a:t>→ </a:t>
            </a:r>
            <a:r>
              <a:rPr lang="en-US" sz="2100" dirty="0">
                <a:solidFill>
                  <a:schemeClr val="accent3"/>
                </a:solidFill>
              </a:rPr>
              <a:t>A </a:t>
            </a:r>
            <a:r>
              <a:rPr lang="en-US" sz="2100" b="1" dirty="0">
                <a:solidFill>
                  <a:schemeClr val="accent3"/>
                </a:solidFill>
              </a:rPr>
              <a:t>cause that has not been proved</a:t>
            </a:r>
            <a:r>
              <a:rPr lang="en-US" sz="2100" dirty="0">
                <a:solidFill>
                  <a:schemeClr val="accent3"/>
                </a:solidFill>
              </a:rPr>
              <a:t> (and no names): an unproved cause stated as a fact gives her grounds to refuse.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5.</a:t>
            </a:r>
            <a:r>
              <a:rPr lang="en-US" sz="2100" dirty="0">
                <a:solidFill>
                  <a:schemeClr val="tx1"/>
                </a:solidFill>
              </a:rPr>
              <a:t> She asks one question that nobody in the room can answer yet. Which one?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chemeClr val="accent3"/>
                </a:solidFill>
              </a:rPr>
              <a:t>→ </a:t>
            </a:r>
            <a:r>
              <a:rPr lang="en-US" sz="2100" b="1" dirty="0">
                <a:solidFill>
                  <a:schemeClr val="accent3"/>
                </a:solidFill>
              </a:rPr>
              <a:t>How long has this been going on?</a:t>
            </a:r>
            <a:r>
              <a:rPr lang="en-US" sz="2100" dirty="0">
                <a:solidFill>
                  <a:schemeClr val="accent3"/>
                </a:solidFill>
              </a:rPr>
              <a:t> — since when has the pipe been faulty?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6.</a:t>
            </a:r>
            <a:r>
              <a:rPr lang="en-US" sz="2100" dirty="0">
                <a:solidFill>
                  <a:schemeClr val="tx1"/>
                </a:solidFill>
              </a:rPr>
              <a:t> “I am not asking you what caused it. I am asking you what you can prove.” What does that change about the report?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chemeClr val="accent3"/>
                </a:solidFill>
              </a:rPr>
              <a:t>→ </a:t>
            </a:r>
            <a:r>
              <a:rPr lang="en-US" sz="2100" dirty="0">
                <a:solidFill>
                  <a:schemeClr val="accent3"/>
                </a:solidFill>
              </a:rPr>
              <a:t>The report is built on </a:t>
            </a:r>
            <a:r>
              <a:rPr lang="en-US" sz="2100" b="1" dirty="0">
                <a:solidFill>
                  <a:schemeClr val="accent3"/>
                </a:solidFill>
              </a:rPr>
              <a:t>verifiable facts</a:t>
            </a:r>
            <a:r>
              <a:rPr lang="en-US" sz="2100" dirty="0">
                <a:solidFill>
                  <a:schemeClr val="accent3"/>
                </a:solidFill>
              </a:rPr>
              <a:t> (times, log, photos); the cause may only appear as a </a:t>
            </a:r>
            <a:r>
              <a:rPr lang="en-US" sz="2100" b="1" dirty="0">
                <a:solidFill>
                  <a:schemeClr val="accent3"/>
                </a:solidFill>
              </a:rPr>
              <a:t>hypothesis</a:t>
            </a:r>
            <a:r>
              <a:rPr lang="en-US" sz="2100" dirty="0">
                <a:solidFill>
                  <a:schemeClr val="accent3"/>
                </a:solidFill>
              </a:rPr>
              <a:t> (</a:t>
            </a:r>
            <a:r>
              <a:rPr lang="en-US" sz="2100" i="1" dirty="0">
                <a:solidFill>
                  <a:schemeClr val="accent3"/>
                </a:solidFill>
              </a:rPr>
              <a:t>may / might</a:t>
            </a:r>
            <a:r>
              <a:rPr lang="en-US" sz="2100" dirty="0">
                <a:solidFill>
                  <a:schemeClr val="accent3"/>
                </a:solidFill>
              </a:rPr>
              <a:t>).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she wants — Q4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4.</a:t>
            </a:r>
            <a:r>
              <a:rPr lang="en-US" sz="2200" dirty="0">
                <a:solidFill>
                  <a:schemeClr val="tx1"/>
                </a:solidFill>
              </a:rPr>
              <a:t> Is it correct to say that she has already decided to refuse the claim?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Yes: she says the file looks weak.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45352" y="251460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28803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114032" y="2569464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Yes: she mentions a previous refusal.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No: she asks for evidence before deciding.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45352" y="3913632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8232" y="42793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14032" y="3968496"/>
            <a:ext cx="4343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No: she has already accepted it in principle.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she wants — Q4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4.</a:t>
            </a:r>
            <a:r>
              <a:rPr lang="en-US" sz="2200" dirty="0">
                <a:solidFill>
                  <a:schemeClr val="tx1"/>
                </a:solidFill>
              </a:rPr>
              <a:t> Is it correct to say that she has already decided to refuse the claim?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756916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Yes: she says the file looks weak.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45352" y="2514600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28232" y="2756916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27569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14032" y="2569464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Yes: she mentions a previous refusal.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3C7A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9090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No: she asks for evidence before deciding.</a:t>
            </a:r>
            <a:endParaRPr lang="en-US" sz="18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3776472"/>
            <a:ext cx="292608" cy="29260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245352" y="3666744"/>
            <a:ext cx="53949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28232" y="3909060"/>
            <a:ext cx="502920" cy="502920"/>
          </a:xfrm>
          <a:prstGeom prst="ellipse">
            <a:avLst/>
          </a:prstGeom>
          <a:solidFill>
            <a:schemeClr val="accent5">
              <a:alpha val="50000"/>
            </a:scheme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28232" y="39090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114032" y="3721608"/>
            <a:ext cx="4343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No: she has already accepted it in principle.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864608"/>
            <a:ext cx="11091672" cy="1426464"/>
          </a:xfrm>
          <a:prstGeom prst="roundRect">
            <a:avLst>
              <a:gd name="adj" fmla="val 5128"/>
            </a:avLst>
          </a:prstGeom>
          <a:solidFill>
            <a:schemeClr val="accent3">
              <a:alpha val="8000"/>
            </a:schemeClr>
          </a:solidFill>
          <a:ln w="9525">
            <a:solidFill>
              <a:srgbClr val="3C7A3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9377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Why?  </a:t>
            </a:r>
            <a:r>
              <a:rPr lang="en-US" sz="1800" dirty="0">
                <a:solidFill>
                  <a:schemeClr val="tx1"/>
                </a:solidFill>
              </a:rPr>
              <a:t>She has </a:t>
            </a:r>
            <a:r>
              <a:rPr lang="en-US" sz="1800" b="1" dirty="0">
                <a:solidFill>
                  <a:schemeClr val="tx1"/>
                </a:solidFill>
              </a:rPr>
              <a:t>not decided</a:t>
            </a:r>
            <a:r>
              <a:rPr lang="en-US" sz="1800" dirty="0">
                <a:solidFill>
                  <a:schemeClr val="tx1"/>
                </a:solidFill>
              </a:rPr>
              <a:t> anything: she asks for evidence first. An assessor neither refuses nor accepts before reading the file.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How long has this pipe been faulty?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087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FIELD NOTE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30</a:t>
            </a:r>
            <a:endParaRPr lang="en-US" sz="1200" dirty="0"/>
          </a:p>
        </p:txBody>
      </p:sp>
      <p:pic>
        <p:nvPicPr>
          <p:cNvPr id="5" name="illustration" descr="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197973" cy="4809744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6" name="aside"/>
          <p:cNvSpPr/>
          <p:nvPr/>
        </p:nvSpPr>
        <p:spPr>
          <a:xfrm>
            <a:off x="8066653" y="1481328"/>
            <a:ext cx="3573659" cy="4809744"/>
          </a:xfrm>
          <a:prstGeom prst="roundRect">
            <a:avLst>
              <a:gd name="adj" fmla="val 2047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60000"/>
              </a:schemeClr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9533" y="1664208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33581" y="1636776"/>
            <a:ext cx="2842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2"/>
                </a:solidFill>
              </a:rPr>
              <a:t>ON THE BOARD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31245" y="2075688"/>
            <a:ext cx="3244475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FOR</a:t>
            </a:r>
            <a:r>
              <a:rPr lang="en-US" sz="1800" dirty="0">
                <a:solidFill>
                  <a:schemeClr val="tx1"/>
                </a:solidFill>
              </a:rPr>
              <a:t> measures the distance: </a:t>
            </a:r>
            <a:r>
              <a:rPr lang="en-US" sz="1800" i="1" dirty="0">
                <a:solidFill>
                  <a:schemeClr val="tx1"/>
                </a:solidFill>
              </a:rPr>
              <a:t>for about three months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SINCE</a:t>
            </a:r>
            <a:r>
              <a:rPr lang="en-US" sz="1800" dirty="0">
                <a:solidFill>
                  <a:schemeClr val="tx1"/>
                </a:solidFill>
              </a:rPr>
              <a:t> marks where it starts: </a:t>
            </a:r>
            <a:r>
              <a:rPr lang="en-US" sz="1800" i="1" dirty="0">
                <a:solidFill>
                  <a:schemeClr val="tx1"/>
                </a:solidFill>
              </a:rPr>
              <a:t>since the summer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Question: </a:t>
            </a:r>
            <a:r>
              <a:rPr lang="en-US" sz="1800" b="1" dirty="0">
                <a:solidFill>
                  <a:schemeClr val="tx1"/>
                </a:solidFill>
              </a:rPr>
              <a:t>How long has</a:t>
            </a:r>
            <a:r>
              <a:rPr lang="en-US" sz="1800" dirty="0">
                <a:solidFill>
                  <a:schemeClr val="tx1"/>
                </a:solidFill>
              </a:rPr>
              <a:t> this pipe </a:t>
            </a:r>
            <a:r>
              <a:rPr lang="en-US" sz="1800" b="1" dirty="0">
                <a:solidFill>
                  <a:schemeClr val="tx1"/>
                </a:solidFill>
              </a:rPr>
              <a:t>been</a:t>
            </a:r>
            <a:r>
              <a:rPr lang="en-US" sz="1800" dirty="0">
                <a:solidFill>
                  <a:schemeClr val="tx1"/>
                </a:solidFill>
              </a:rPr>
              <a:t> faulty?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dirty="0">
                <a:solidFill>
                  <a:schemeClr val="tx1"/>
                </a:solidFill>
              </a:rPr>
              <a:t>It is faulty since…</a:t>
            </a:r>
            <a:r>
              <a:rPr lang="en-US" sz="1800" dirty="0">
                <a:solidFill>
                  <a:schemeClr val="tx1"/>
                </a:solidFill>
              </a:rPr>
              <a:t> — French trap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It has been faulty for…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Since = the starting point · for = the length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30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391156" y="1901952"/>
            <a:ext cx="8426196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8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64308" y="1901952"/>
            <a:ext cx="8279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it has been faulty — for about five months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587752"/>
            <a:ext cx="10927080" cy="0"/>
          </a:xfrm>
          <a:prstGeom prst="line">
            <a:avLst/>
          </a:prstGeom>
          <a:noFill/>
          <a:ln w="317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609344" y="2514600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60704" y="2679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June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46704" y="2514600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98064" y="2679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July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84064" y="2514600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35424" y="2679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August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21424" y="2514600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72784" y="2679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September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558784" y="2514600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10144" y="2679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October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296144" y="2514600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747504" y="2679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November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10817352" y="1572768"/>
            <a:ext cx="0" cy="1197864"/>
          </a:xfrm>
          <a:prstGeom prst="line">
            <a:avLst/>
          </a:prstGeom>
          <a:noFill/>
          <a:ln w="25400">
            <a:solidFill>
              <a:srgbClr val="B03A2E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10360152" y="2679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NOW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2272284" y="2468880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391156" y="2706624"/>
            <a:ext cx="0" cy="292608"/>
          </a:xfrm>
          <a:prstGeom prst="line">
            <a:avLst/>
          </a:prstGeom>
          <a:noFill/>
          <a:ln w="12700">
            <a:solidFill>
              <a:srgbClr val="C0752A"/>
            </a:solidFill>
            <a:prstDash val="sysDot"/>
          </a:ln>
        </p:spPr>
      </p:sp>
      <p:sp>
        <p:nvSpPr>
          <p:cNvPr id="25" name="Text 22"/>
          <p:cNvSpPr txBox="1"/>
          <p:nvPr/>
        </p:nvSpPr>
        <p:spPr>
          <a:xfrm>
            <a:off x="1339596" y="299923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since</a:t>
            </a:r>
            <a:r>
              <a:rPr lang="en-US" sz="1400" dirty="0">
                <a:solidFill>
                  <a:schemeClr val="tx1"/>
                </a:solidFill>
              </a:rPr>
              <a:t> 14 June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58368" y="5053584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97280" y="49804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since</a:t>
            </a:r>
            <a:r>
              <a:rPr lang="en-US" sz="1500" dirty="0">
                <a:solidFill>
                  <a:schemeClr val="tx1"/>
                </a:solidFill>
              </a:rPr>
              <a:t> + a starting point: since June, since 7 a.m., since Monday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080760" y="5053584"/>
            <a:ext cx="457200" cy="237744"/>
          </a:xfrm>
          <a:prstGeom prst="roundRect">
            <a:avLst>
              <a:gd name="adj" fmla="val 19231"/>
            </a:avLst>
          </a:prstGeom>
          <a:solidFill>
            <a:schemeClr val="accent2">
              <a:alpha val="85000"/>
            </a:schemeClr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629400" y="49804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for</a:t>
            </a:r>
            <a:r>
              <a:rPr lang="en-US" sz="1500" dirty="0">
                <a:solidFill>
                  <a:schemeClr val="tx1"/>
                </a:solidFill>
              </a:rPr>
              <a:t> + a duration: for five months, for two days, for an hour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5565648"/>
            <a:ext cx="11091672" cy="725424"/>
          </a:xfrm>
          <a:prstGeom prst="roundRect">
            <a:avLst>
              <a:gd name="adj" fmla="val 10084"/>
            </a:avLst>
          </a:prstGeom>
          <a:solidFill>
            <a:schemeClr val="accent6">
              <a:alpha val="10000"/>
            </a:schemeClr>
          </a:solidFill>
          <a:ln w="9525">
            <a:solidFill>
              <a:schemeClr val="accent6">
                <a:alpha val="70000"/>
              </a:schemeClr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63768"/>
            <a:ext cx="329184" cy="329184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234440" y="5602224"/>
            <a:ext cx="10287000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Piège pour francophones — </a:t>
            </a:r>
            <a:r>
              <a:rPr lang="en-US" sz="1700" i="1" dirty="0">
                <a:solidFill>
                  <a:schemeClr val="tx1"/>
                </a:solidFill>
              </a:rPr>
              <a:t>il y a trois mois</a:t>
            </a:r>
            <a:r>
              <a:rPr lang="en-US" sz="1700" dirty="0">
                <a:solidFill>
                  <a:schemeClr val="tx1"/>
                </a:solidFill>
              </a:rPr>
              <a:t> = three months </a:t>
            </a:r>
            <a:r>
              <a:rPr lang="en-US" sz="1700" b="1" dirty="0">
                <a:solidFill>
                  <a:schemeClr val="tx1"/>
                </a:solidFill>
              </a:rPr>
              <a:t>ago</a:t>
            </a:r>
            <a:r>
              <a:rPr lang="en-US" sz="1700" dirty="0">
                <a:solidFill>
                  <a:schemeClr val="tx1"/>
                </a:solidFill>
              </a:rPr>
              <a:t> (past simple: </a:t>
            </a:r>
            <a:r>
              <a:rPr lang="en-US" sz="1700" i="1" dirty="0">
                <a:solidFill>
                  <a:schemeClr val="tx1"/>
                </a:solidFill>
              </a:rPr>
              <a:t>It started three months ago.</a:t>
            </a:r>
            <a:r>
              <a:rPr lang="en-US" sz="1700" dirty="0">
                <a:solidFill>
                  <a:schemeClr val="tx1"/>
                </a:solidFill>
              </a:rPr>
              <a:t>) ≠ </a:t>
            </a:r>
            <a:r>
              <a:rPr lang="en-US" sz="1700" i="1" dirty="0">
                <a:solidFill>
                  <a:schemeClr val="tx1"/>
                </a:solidFill>
              </a:rPr>
              <a:t>depuis trois mois</a:t>
            </a:r>
            <a:r>
              <a:rPr lang="en-US" sz="1700" dirty="0">
                <a:solidFill>
                  <a:schemeClr val="tx1"/>
                </a:solidFill>
              </a:rPr>
              <a:t> = </a:t>
            </a:r>
            <a:r>
              <a:rPr lang="en-US" sz="1700" b="1" dirty="0">
                <a:solidFill>
                  <a:schemeClr val="tx1"/>
                </a:solidFill>
              </a:rPr>
              <a:t>for</a:t>
            </a:r>
            <a:r>
              <a:rPr lang="en-US" sz="1700" dirty="0">
                <a:solidFill>
                  <a:schemeClr val="tx1"/>
                </a:solidFill>
              </a:rPr>
              <a:t> three months (present perfect).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minute before you dial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30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A · for or since?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1. The joint has been faulty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June.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2. We have worked on this site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eight months.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3. Nobody has used the basement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the summer.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4. She has had the file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two days.</a:t>
            </a:r>
            <a:endParaRPr lang="en-US" sz="2400" dirty="0"/>
          </a:p>
          <a:p>
            <a:pPr indent="0" marL="0">
              <a:spcBef>
                <a:spcPts val="8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B · Build the question the assessor will ask.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(how long / this / go on)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(how long / you / know / about the joint)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minute before you dial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30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A · for or since?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1. The joint has been faulty </a:t>
            </a:r>
            <a:r>
              <a:rPr lang="en-US" sz="2400" b="1" dirty="0">
                <a:solidFill>
                  <a:schemeClr val="accent3"/>
                </a:solidFill>
              </a:rPr>
              <a:t>since</a:t>
            </a:r>
            <a:r>
              <a:rPr lang="en-US" sz="2400" dirty="0">
                <a:solidFill>
                  <a:schemeClr val="tx1"/>
                </a:solidFill>
              </a:rPr>
              <a:t> June.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2. We have worked on this site </a:t>
            </a:r>
            <a:r>
              <a:rPr lang="en-US" sz="2400" b="1" dirty="0">
                <a:solidFill>
                  <a:schemeClr val="accent3"/>
                </a:solidFill>
              </a:rPr>
              <a:t>for</a:t>
            </a:r>
            <a:r>
              <a:rPr lang="en-US" sz="2400" dirty="0">
                <a:solidFill>
                  <a:schemeClr val="tx1"/>
                </a:solidFill>
              </a:rPr>
              <a:t> eight months.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3. Nobody has used the basement </a:t>
            </a:r>
            <a:r>
              <a:rPr lang="en-US" sz="2400" b="1" dirty="0">
                <a:solidFill>
                  <a:schemeClr val="accent3"/>
                </a:solidFill>
              </a:rPr>
              <a:t>since</a:t>
            </a:r>
            <a:r>
              <a:rPr lang="en-US" sz="2400" dirty="0">
                <a:solidFill>
                  <a:schemeClr val="tx1"/>
                </a:solidFill>
              </a:rPr>
              <a:t> the summer.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4. She has had the file </a:t>
            </a:r>
            <a:r>
              <a:rPr lang="en-US" sz="2400" b="1" dirty="0">
                <a:solidFill>
                  <a:schemeClr val="accent3"/>
                </a:solidFill>
              </a:rPr>
              <a:t>for</a:t>
            </a:r>
            <a:r>
              <a:rPr lang="en-US" sz="2400" dirty="0">
                <a:solidFill>
                  <a:schemeClr val="tx1"/>
                </a:solidFill>
              </a:rPr>
              <a:t> two days.</a:t>
            </a:r>
            <a:endParaRPr lang="en-US" sz="2400" dirty="0"/>
          </a:p>
          <a:p>
            <a:pPr indent="0" marL="0">
              <a:spcBef>
                <a:spcPts val="8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B · Build the question the assessor will ask.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(how long / this / go on) → </a:t>
            </a:r>
            <a:r>
              <a:rPr lang="en-US" sz="2400" b="1" dirty="0">
                <a:solidFill>
                  <a:schemeClr val="accent3"/>
                </a:solidFill>
              </a:rPr>
              <a:t>How long has this been going on?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(how long / you / know / about the joint) → </a:t>
            </a:r>
            <a:r>
              <a:rPr lang="en-US" sz="2400" b="1" dirty="0">
                <a:solidFill>
                  <a:schemeClr val="accent3"/>
                </a:solidFill>
              </a:rPr>
              <a:t>How long have you known about the joint?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Say the honest sentence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 · You do not know the answer. Write it in English, three ways.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71780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(not … yet)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(so far)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(we are still)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Say the honest sentence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 · You do not know the answer. Write it in English, three ways.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71780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(not … yet) → </a:t>
            </a:r>
            <a:r>
              <a:rPr lang="en-US" sz="2400" b="1" dirty="0">
                <a:solidFill>
                  <a:schemeClr val="accent3"/>
                </a:solidFill>
              </a:rPr>
              <a:t>We have not identified the cause yet.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(so far) → </a:t>
            </a:r>
            <a:r>
              <a:rPr lang="en-US" sz="2400" b="1" dirty="0">
                <a:solidFill>
                  <a:schemeClr val="accent3"/>
                </a:solidFill>
              </a:rPr>
              <a:t>So far, we have found no evidence of when it started.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(we are still) → </a:t>
            </a:r>
            <a:r>
              <a:rPr lang="en-US" sz="2400" b="1" dirty="0">
                <a:solidFill>
                  <a:schemeClr val="accent3"/>
                </a:solidFill>
              </a:rPr>
              <a:t>We are still waiting for the basement inspection.</a:t>
            </a:r>
            <a:endParaRPr lang="en-US" sz="2400" dirty="0"/>
          </a:p>
        </p:txBody>
      </p:sp>
      <p:sp>
        <p:nvSpPr>
          <p:cNvPr id="8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not … yet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i="1" dirty="0">
                <a:solidFill>
                  <a:schemeClr val="tx1"/>
                </a:solidFill>
              </a:rPr>
              <a:t>so far</a:t>
            </a:r>
            <a:r>
              <a:rPr lang="en-US" sz="1800" dirty="0">
                <a:solidFill>
                  <a:schemeClr val="tx1"/>
                </a:solidFill>
              </a:rPr>
              <a:t> → present perfect.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still</a:t>
            </a:r>
            <a:r>
              <a:rPr lang="en-US" sz="1800" dirty="0">
                <a:solidFill>
                  <a:schemeClr val="tx1"/>
                </a:solidFill>
              </a:rPr>
              <a:t> → before the main verb, after </a:t>
            </a:r>
            <a:r>
              <a:rPr lang="en-US" sz="1800" i="1" dirty="0">
                <a:solidFill>
                  <a:schemeClr val="tx1"/>
                </a:solidFill>
              </a:rPr>
              <a:t>be</a:t>
            </a:r>
            <a:r>
              <a:rPr lang="en-US" sz="1800" dirty="0">
                <a:solidFill>
                  <a:schemeClr val="tx1"/>
                </a:solidFill>
              </a:rPr>
              <a:t>: </a:t>
            </a:r>
            <a:r>
              <a:rPr lang="en-US" sz="1800" i="1" dirty="0">
                <a:solidFill>
                  <a:schemeClr val="tx1"/>
                </a:solidFill>
              </a:rPr>
              <a:t>We are </a:t>
            </a:r>
            <a:r>
              <a:rPr lang="en-US" sz="1800" b="1" i="1" dirty="0">
                <a:solidFill>
                  <a:schemeClr val="tx1"/>
                </a:solidFill>
              </a:rPr>
              <a:t>still</a:t>
            </a:r>
            <a:r>
              <a:rPr lang="en-US" sz="1800" i="1" dirty="0">
                <a:solidFill>
                  <a:schemeClr val="tx1"/>
                </a:solidFill>
              </a:rPr>
              <a:t> waiting.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Name the fact, not the person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31 &amp; 42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PASSIVE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be + past participle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27376"/>
            <a:ext cx="3148584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i="1" dirty="0">
                <a:solidFill>
                  <a:schemeClr val="tx1"/>
                </a:solidFill>
              </a:rPr>
              <a:t>The site manager checked the room.</a:t>
            </a:r>
            <a:r>
              <a:rPr lang="en-US" sz="2000" dirty="0">
                <a:solidFill>
                  <a:schemeClr val="tx1"/>
                </a:solidFill>
              </a:rPr>
              <a:t> →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A final inspection was carried out</a:t>
            </a:r>
            <a:r>
              <a:rPr lang="en-US" sz="2000" dirty="0">
                <a:solidFill>
                  <a:schemeClr val="tx1"/>
                </a:solidFill>
              </a:rPr>
              <a:t> at 20.04.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37304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IMPERSONAL SUBJECT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0184" y="2084832"/>
            <a:ext cx="3148584" cy="3209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i="1" dirty="0">
                <a:solidFill>
                  <a:schemeClr val="tx1"/>
                </a:solidFill>
              </a:rPr>
              <a:t>Badge 0102 entered…</a:t>
            </a:r>
            <a:r>
              <a:rPr lang="en-US" sz="2000" dirty="0">
                <a:solidFill>
                  <a:schemeClr val="tx1"/>
                </a:solidFill>
              </a:rPr>
              <a:t> →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An access was recorded</a:t>
            </a:r>
            <a:r>
              <a:rPr lang="en-US" sz="2000" dirty="0">
                <a:solidFill>
                  <a:schemeClr val="tx1"/>
                </a:solidFill>
              </a:rPr>
              <a:t> at 20.04.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The log shows</a:t>
            </a:r>
            <a:r>
              <a:rPr lang="en-US" sz="2000" dirty="0">
                <a:solidFill>
                  <a:schemeClr val="tx1"/>
                </a:solidFill>
              </a:rPr>
              <a:t> that …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25968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8" name="Shape 16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WE / THE FILE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308848" y="2084832"/>
            <a:ext cx="3148584" cy="3209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We have not established</a:t>
            </a:r>
            <a:r>
              <a:rPr lang="en-US" sz="2000" dirty="0">
                <a:solidFill>
                  <a:schemeClr val="tx1"/>
                </a:solidFill>
              </a:rPr>
              <a:t> the cause yet.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The file does not show</a:t>
            </a:r>
            <a:r>
              <a:rPr lang="en-US" sz="2000" dirty="0">
                <a:solidFill>
                  <a:schemeClr val="tx1"/>
                </a:solidFill>
              </a:rPr>
              <a:t> who …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48640" y="5605272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>
                <a:alpha val="70000"/>
              </a:schemeClr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83580"/>
            <a:ext cx="329184" cy="32918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234440" y="5641848"/>
            <a:ext cx="10287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Astuce — </a:t>
            </a:r>
            <a:r>
              <a:rPr lang="en-US" sz="1700" dirty="0">
                <a:solidFill>
                  <a:schemeClr val="tx1"/>
                </a:solidFill>
              </a:rPr>
              <a:t>Keep the </a:t>
            </a:r>
            <a:r>
              <a:rPr lang="en-US" sz="1700" b="1" dirty="0">
                <a:solidFill>
                  <a:schemeClr val="tx1"/>
                </a:solidFill>
              </a:rPr>
              <a:t>time</a:t>
            </a:r>
            <a:r>
              <a:rPr lang="en-US" sz="1700" dirty="0">
                <a:solidFill>
                  <a:schemeClr val="tx1"/>
                </a:solidFill>
              </a:rPr>
              <a:t>, the </a:t>
            </a:r>
            <a:r>
              <a:rPr lang="en-US" sz="1700" b="1" dirty="0">
                <a:solidFill>
                  <a:schemeClr val="tx1"/>
                </a:solidFill>
              </a:rPr>
              <a:t>place</a:t>
            </a:r>
            <a:r>
              <a:rPr lang="en-US" sz="1700" dirty="0">
                <a:solidFill>
                  <a:schemeClr val="tx1"/>
                </a:solidFill>
              </a:rPr>
              <a:t>, the </a:t>
            </a:r>
            <a:r>
              <a:rPr lang="en-US" sz="1700" b="1" dirty="0">
                <a:solidFill>
                  <a:schemeClr val="tx1"/>
                </a:solidFill>
              </a:rPr>
              <a:t>action</a:t>
            </a:r>
            <a:r>
              <a:rPr lang="en-US" sz="1700" dirty="0">
                <a:solidFill>
                  <a:schemeClr val="tx1"/>
                </a:solidFill>
              </a:rPr>
              <a:t> — drop the name, the badge number and the job title.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Call her back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71780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Three questions to handle, one minute before she takes on another file. Write the three sentences you will say.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2170176"/>
            <a:ext cx="7178040" cy="412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1.  </a:t>
            </a:r>
            <a:r>
              <a:rPr lang="en-US" sz="2600" dirty="0">
                <a:solidFill>
                  <a:schemeClr val="tx1"/>
                </a:solidFill>
              </a:rPr>
              <a:t>One with </a:t>
            </a:r>
            <a:r>
              <a:rPr lang="en-US" sz="2600" b="1" dirty="0">
                <a:solidFill>
                  <a:schemeClr val="tx1"/>
                </a:solidFill>
              </a:rPr>
              <a:t>for</a:t>
            </a:r>
            <a:r>
              <a:rPr lang="en-US" sz="2600" dirty="0">
                <a:solidFill>
                  <a:schemeClr val="tx1"/>
                </a:solidFill>
              </a:rPr>
              <a:t> or </a:t>
            </a:r>
            <a:r>
              <a:rPr lang="en-US" sz="2600" b="1" dirty="0">
                <a:solidFill>
                  <a:schemeClr val="tx1"/>
                </a:solidFill>
              </a:rPr>
              <a:t>since</a:t>
            </a:r>
            <a:r>
              <a:rPr lang="en-US" sz="2600" dirty="0">
                <a:solidFill>
                  <a:schemeClr val="tx1"/>
                </a:solidFill>
              </a:rPr>
              <a:t>.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2.  </a:t>
            </a:r>
            <a:r>
              <a:rPr lang="en-US" sz="2600" dirty="0">
                <a:solidFill>
                  <a:schemeClr val="tx1"/>
                </a:solidFill>
              </a:rPr>
              <a:t>One with </a:t>
            </a:r>
            <a:r>
              <a:rPr lang="en-US" sz="2600" b="1" dirty="0">
                <a:solidFill>
                  <a:schemeClr val="tx1"/>
                </a:solidFill>
              </a:rPr>
              <a:t>not … yet</a:t>
            </a:r>
            <a:r>
              <a:rPr lang="en-US" sz="2600" dirty="0">
                <a:solidFill>
                  <a:schemeClr val="tx1"/>
                </a:solidFill>
              </a:rPr>
              <a:t>.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tx2"/>
                </a:solidFill>
              </a:rPr>
              <a:t>3.  </a:t>
            </a:r>
            <a:r>
              <a:rPr lang="en-US" sz="2600" dirty="0">
                <a:solidFill>
                  <a:schemeClr val="tx1"/>
                </a:solidFill>
              </a:rPr>
              <a:t>One that </a:t>
            </a:r>
            <a:r>
              <a:rPr lang="en-US" sz="2600" b="1" dirty="0">
                <a:solidFill>
                  <a:schemeClr val="tx1"/>
                </a:solidFill>
              </a:rPr>
              <a:t>avoids naming anybody</a:t>
            </a:r>
            <a:r>
              <a:rPr lang="en-US" sz="2600" dirty="0">
                <a:solidFill>
                  <a:schemeClr val="tx1"/>
                </a:solidFill>
              </a:rPr>
              <a:t>.</a:t>
            </a:r>
            <a:endParaRPr lang="en-US" sz="2600" dirty="0"/>
          </a:p>
        </p:txBody>
      </p:sp>
      <p:sp>
        <p:nvSpPr>
          <p:cNvPr id="7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5"/>
                </a:solidFill>
              </a:rPr>
              <a:t>EXPECTED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Short sentences, </a:t>
            </a:r>
            <a:r>
              <a:rPr lang="en-US" sz="1800" b="1" dirty="0">
                <a:solidFill>
                  <a:schemeClr val="tx1"/>
                </a:solidFill>
              </a:rPr>
              <a:t>no hesitation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Open: </a:t>
            </a:r>
            <a:r>
              <a:rPr lang="en-US" sz="1800" i="1" dirty="0">
                <a:solidFill>
                  <a:schemeClr val="tx1"/>
                </a:solidFill>
              </a:rPr>
              <a:t>Ms Marsh, this is … from …, calling about Atlas House.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Close: </a:t>
            </a:r>
            <a:r>
              <a:rPr lang="en-US" sz="1800" i="1" dirty="0">
                <a:solidFill>
                  <a:schemeClr val="tx1"/>
                </a:solidFill>
              </a:rPr>
              <a:t>You will have the report by 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Call her back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71780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Three questions to handle, one minute before she takes on another file. Write the three sentences you will say.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2170176"/>
            <a:ext cx="7178040" cy="412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1.  </a:t>
            </a:r>
            <a:r>
              <a:rPr lang="en-US" sz="2200" dirty="0">
                <a:solidFill>
                  <a:schemeClr val="tx1"/>
                </a:solidFill>
              </a:rPr>
              <a:t>One with </a:t>
            </a:r>
            <a:r>
              <a:rPr lang="en-US" sz="2200" b="1" dirty="0">
                <a:solidFill>
                  <a:schemeClr val="tx1"/>
                </a:solidFill>
              </a:rPr>
              <a:t>for</a:t>
            </a:r>
            <a:r>
              <a:rPr lang="en-US" sz="2200" dirty="0">
                <a:solidFill>
                  <a:schemeClr val="tx1"/>
                </a:solidFill>
              </a:rPr>
              <a:t> or </a:t>
            </a:r>
            <a:r>
              <a:rPr lang="en-US" sz="2200" b="1" dirty="0">
                <a:solidFill>
                  <a:schemeClr val="tx1"/>
                </a:solidFill>
              </a:rPr>
              <a:t>since</a:t>
            </a: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chemeClr val="accent3"/>
                </a:solidFill>
              </a:rPr>
              <a:t>→ </a:t>
            </a:r>
            <a:r>
              <a:rPr lang="en-US" sz="2200" i="1" dirty="0">
                <a:solidFill>
                  <a:schemeClr val="accent3"/>
                </a:solidFill>
              </a:rPr>
              <a:t>We have had trouble with this section of pipework since the summer.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2.  </a:t>
            </a:r>
            <a:r>
              <a:rPr lang="en-US" sz="2200" dirty="0">
                <a:solidFill>
                  <a:schemeClr val="tx1"/>
                </a:solidFill>
              </a:rPr>
              <a:t>One with </a:t>
            </a:r>
            <a:r>
              <a:rPr lang="en-US" sz="2200" b="1" dirty="0">
                <a:solidFill>
                  <a:schemeClr val="tx1"/>
                </a:solidFill>
              </a:rPr>
              <a:t>not … yet</a:t>
            </a: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chemeClr val="accent3"/>
                </a:solidFill>
              </a:rPr>
              <a:t>→ </a:t>
            </a:r>
            <a:r>
              <a:rPr lang="en-US" sz="2200" i="1" dirty="0">
                <a:solidFill>
                  <a:schemeClr val="accent3"/>
                </a:solidFill>
              </a:rPr>
              <a:t>We have not established the cause yet: the basement has not been inspected yet.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3.  </a:t>
            </a:r>
            <a:r>
              <a:rPr lang="en-US" sz="2200" dirty="0">
                <a:solidFill>
                  <a:schemeClr val="tx1"/>
                </a:solidFill>
              </a:rPr>
              <a:t>One that </a:t>
            </a:r>
            <a:r>
              <a:rPr lang="en-US" sz="2200" b="1" dirty="0">
                <a:solidFill>
                  <a:schemeClr val="tx1"/>
                </a:solidFill>
              </a:rPr>
              <a:t>avoids naming anybody</a:t>
            </a: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chemeClr val="accent3"/>
                </a:solidFill>
              </a:rPr>
              <a:t>→ </a:t>
            </a:r>
            <a:r>
              <a:rPr lang="en-US" sz="2200" i="1" dirty="0">
                <a:solidFill>
                  <a:schemeClr val="accent3"/>
                </a:solidFill>
              </a:rPr>
              <a:t>An access to zone 2F was recorded between 20.04 and 20.19.</a:t>
            </a:r>
            <a:endParaRPr lang="en-US" sz="2200" dirty="0"/>
          </a:p>
        </p:txBody>
      </p:sp>
      <p:sp>
        <p:nvSpPr>
          <p:cNvPr id="8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5"/>
                </a:solidFill>
              </a:rPr>
              <a:t>EXPECTED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Short sentences, </a:t>
            </a:r>
            <a:r>
              <a:rPr lang="en-US" sz="1800" b="1" dirty="0">
                <a:solidFill>
                  <a:schemeClr val="tx1"/>
                </a:solidFill>
              </a:rPr>
              <a:t>no hesitation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Open: </a:t>
            </a:r>
            <a:r>
              <a:rPr lang="en-US" sz="1800" i="1" dirty="0">
                <a:solidFill>
                  <a:schemeClr val="tx1"/>
                </a:solidFill>
              </a:rPr>
              <a:t>Ms Marsh, this is … from …, calling about Atlas House.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Close: </a:t>
            </a:r>
            <a:r>
              <a:rPr lang="en-US" sz="1800" i="1" dirty="0">
                <a:solidFill>
                  <a:schemeClr val="tx1"/>
                </a:solidFill>
              </a:rPr>
              <a:t>You will have the report by 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Role play: one minute on the phone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SPEAKING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31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5408676" cy="4809744"/>
          </a:xfrm>
          <a:prstGeom prst="roundRect">
            <a:avLst>
              <a:gd name="adj" fmla="val 1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5408676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5408676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STUDENT A — the representative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5042916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Open: </a:t>
            </a:r>
            <a:r>
              <a:rPr lang="en-US" sz="2000" i="1" dirty="0">
                <a:solidFill>
                  <a:schemeClr val="tx1"/>
                </a:solidFill>
              </a:rPr>
              <a:t>Ms Marsh, this is … from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Give your </a:t>
            </a:r>
            <a:r>
              <a:rPr lang="en-US" sz="2000" b="1" dirty="0">
                <a:solidFill>
                  <a:schemeClr val="tx1"/>
                </a:solidFill>
              </a:rPr>
              <a:t>three sentences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If you don’t know: </a:t>
            </a:r>
            <a:r>
              <a:rPr lang="en-US" sz="2000" i="1" dirty="0">
                <a:solidFill>
                  <a:schemeClr val="tx1"/>
                </a:solidFill>
              </a:rPr>
              <a:t>I’m afraid I can’t confirm that at this stage.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Close: </a:t>
            </a:r>
            <a:r>
              <a:rPr lang="en-US" sz="2000" i="1" dirty="0">
                <a:solidFill>
                  <a:schemeClr val="tx1"/>
                </a:solidFill>
              </a:rPr>
              <a:t>You will have the report by …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31636" y="1481328"/>
            <a:ext cx="5408676" cy="4809744"/>
          </a:xfrm>
          <a:prstGeom prst="roundRect">
            <a:avLst>
              <a:gd name="adj" fmla="val 1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31636" y="1481328"/>
            <a:ext cx="5408676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/>
        </p:spPr>
      </p:sp>
      <p:sp>
        <p:nvSpPr>
          <p:cNvPr id="12" name="Shape 10"/>
          <p:cNvSpPr/>
          <p:nvPr/>
        </p:nvSpPr>
        <p:spPr>
          <a:xfrm>
            <a:off x="6231636" y="1801368"/>
            <a:ext cx="5408676" cy="1828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4516" y="1481328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STUDENT B — the assessor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084832"/>
            <a:ext cx="5042916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Ask: </a:t>
            </a:r>
            <a:r>
              <a:rPr lang="en-US" sz="2000" b="1" dirty="0">
                <a:solidFill>
                  <a:schemeClr val="tx1"/>
                </a:solidFill>
              </a:rPr>
              <a:t>How long has this been going on?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Ask: </a:t>
            </a:r>
            <a:r>
              <a:rPr lang="en-US" sz="2000" b="1" dirty="0">
                <a:solidFill>
                  <a:schemeClr val="tx1"/>
                </a:solidFill>
              </a:rPr>
              <a:t>Who was in the room last night?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Ask: </a:t>
            </a:r>
            <a:r>
              <a:rPr lang="en-US" sz="2000" b="1" dirty="0">
                <a:solidFill>
                  <a:schemeClr val="tx1"/>
                </a:solidFill>
              </a:rPr>
              <a:t>So what caused it?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Hang up after </a:t>
            </a:r>
            <a:r>
              <a:rPr lang="en-US" sz="2000" b="1" dirty="0">
                <a:solidFill>
                  <a:schemeClr val="tx1"/>
                </a:solidFill>
              </a:rPr>
              <a:t>one minute</a:t>
            </a:r>
            <a:r>
              <a:rPr lang="en-US" sz="2000" dirty="0">
                <a:solidFill>
                  <a:schemeClr val="tx1"/>
                </a:solidFill>
              </a:rPr>
              <a:t> — exactly.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659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3108960"/>
          </a:xfrm>
          <a:prstGeom prst="roundRect">
            <a:avLst>
              <a:gd name="adj" fmla="val 2941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As you hang up, Samuel says quietly: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“Before you write anything — nobody has been down to the basement.”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736592" cy="4709160"/>
          </a:xfrm>
          <a:prstGeom prst="roundRect">
            <a:avLst>
              <a:gd name="adj" fmla="val 1942"/>
            </a:avLst>
          </a:prstGeom>
          <a:solidFill>
            <a:schemeClr val="bg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75564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28600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</a:t>
            </a:r>
            <a:r>
              <a:rPr lang="en-US" sz="1700" b="1" dirty="0">
                <a:solidFill>
                  <a:schemeClr val="tx1"/>
                </a:solidFill>
              </a:rPr>
              <a:t>for / since</a:t>
            </a:r>
            <a:r>
              <a:rPr lang="en-US" sz="1700" dirty="0">
                <a:solidFill>
                  <a:schemeClr val="tx1"/>
                </a:solidFill>
              </a:rPr>
              <a:t> + present perfect.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three ways to say </a:t>
            </a:r>
            <a:r>
              <a:rPr lang="en-US" sz="1700" i="1" dirty="0">
                <a:solidFill>
                  <a:schemeClr val="tx1"/>
                </a:solidFill>
              </a:rPr>
              <a:t>I don’t know yet</a:t>
            </a:r>
            <a:r>
              <a:rPr lang="en-US" sz="1700" dirty="0">
                <a:solidFill>
                  <a:schemeClr val="tx1"/>
                </a:solidFill>
              </a:rPr>
              <a:t>: not … yet · so far · still.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Write your three call-back sentences again, from memory.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0350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983480"/>
            <a:ext cx="5623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EXIT TICKET  </a:t>
            </a:r>
            <a:endParaRPr lang="en-US" sz="13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How long have you been studying English? Answer with </a:t>
            </a:r>
            <a:r>
              <a:rPr lang="en-US" sz="1600" b="1" dirty="0">
                <a:solidFill>
                  <a:schemeClr val="bg1"/>
                </a:solidFill>
              </a:rPr>
              <a:t>for</a:t>
            </a:r>
            <a:r>
              <a:rPr lang="en-US" sz="1600" dirty="0">
                <a:solidFill>
                  <a:schemeClr val="bg1"/>
                </a:solidFill>
              </a:rPr>
              <a:t>, then with </a:t>
            </a:r>
            <a:r>
              <a:rPr lang="en-US" sz="1600" b="1" dirty="0">
                <a:solidFill>
                  <a:schemeClr val="bg1"/>
                </a:solidFill>
              </a:rPr>
              <a:t>since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13 — The insurer calls back</dc:title>
  <dc:subject>Case File 01 — The night nobody heard</dc:subject>
  <dc:creator>A. Jouniaux</dc:creator>
  <cp:lastModifiedBy>A. Jouniaux</cp:lastModifiedBy>
  <cp:revision>1</cp:revision>
  <dcterms:created xsi:type="dcterms:W3CDTF">2026-10-03T19:30:05Z</dcterms:created>
  <dcterms:modified xsi:type="dcterms:W3CDTF">2026-10-03T19:30:05Z</dcterms:modified>
</cp:coreProperties>
</file>