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4012267-3fc0-edbb-f346-0247df6106fa}">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Lst>
        </p14:section>
        <p14:section name="Clôture" id="{29c4159f-a23e-91b4-f575-0c8701fe8bb8}">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Scène 9, seconde partie : sections 4 et 5, fiche de la firme, assemblage en une page (connecteurs) et auto-vérification (p. 48). Attention : « Friday 14 November 2026 » (fiches p. 45–46) tombe un samedi.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 les fiches des firmes (p. 45–46) indiquent « Friday 14 November 2026 », or le 14 novembre 2026 est un samedi. Proposer « Friday 13 November 2026 » ou « 14 November 2026 » sans le jour (c’est ce que font les modèles de cette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Reproduction des fiches p. 45–46. ⚠ « Friday 14 November 2026 » : le 14 novembre 2026 est un samedi (voir diapositive sur les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Reproduction des fiches p. 45–46. ⚠ « Friday 14 November 2026 » : le 14 novembre 2026 est un samedi (voir diapositive sur les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200 mots (hors signature), rédigé du point de vue de la firme RE. À projeter APRÈS le temps d’écriture, comme référence ; chaque firme adapte avec ses propres faits.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200 mots (hors signature), rédigé du point de vue de la firme RE. À projeter APRÈS le temps d’écriture, comme référence ; chaque firme adapte avec ses propres faits.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English UE 3 · Case File 01 — The night nobody heard · Séance 18</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English UE 3 · Case File 01 — The night nobody heard · Séance 18</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2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English UE 3 · A. Jouniaux · Project Atlas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2.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18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SCENE 9</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17.00</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The report: sections four and five</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No categorical sentences. She counts them!</a:t>
            </a:r>
            <a:endParaRPr lang="en-US" sz="1800" dirty="0"/>
          </a:p>
          <a:p>
            <a:pPr algn="l" indent="0" marL="0">
              <a:buNone/>
            </a:pPr>
            <a:r>
              <a:rPr lang="en-US" sz="1800" b="1" dirty="0">
                <a:solidFill>
                  <a:schemeClr val="bg2"/>
                </a:solidFill>
              </a:rPr>
              <a:t>Case File 01 — The night nobody heard</a:t>
            </a:r>
            <a:endParaRPr lang="en-US" sz="1800" dirty="0"/>
          </a:p>
          <a:p>
            <a:pPr algn="l" indent="0" marL="0">
              <a:buNone/>
            </a:pPr>
            <a:r>
              <a:rPr lang="en-US" sz="1800" dirty="0">
                <a:solidFill>
                  <a:schemeClr val="bg2"/>
                </a:solidFill>
              </a:rPr>
              <a:t>Livret p. 45–48</a:t>
            </a:r>
            <a:endParaRPr lang="en-US" sz="1800" dirty="0"/>
          </a:p>
        </p:txBody>
      </p:sp>
      <p:pic>
        <p:nvPicPr>
          <p:cNvPr id="6" name="illustration" descr="Scene illustration from the case file">    </p:cNvPr>
          <p:cNvPicPr>
            <a:picLocks noChangeAspect="1"/>
          </p:cNvPicPr>
          <p:nvPr/>
        </p:nvPicPr>
        <p:blipFill>
          <a:blip r:embed="rId1"/>
          <a:stretch>
            <a:fillRect/>
          </a:stretch>
        </p:blipFill>
        <p:spPr>
          <a:xfrm>
            <a:off x="6583680" y="1721019"/>
            <a:ext cx="5120640" cy="3415962"/>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Today's mission</a:t>
            </a:r>
            <a:endParaRPr lang="en-US" sz="3200" dirty="0"/>
          </a:p>
        </p:txBody>
      </p:sp>
      <p:sp>
        <p:nvSpPr>
          <p:cNvPr id="3" name="tag"/>
          <p:cNvSpPr/>
          <p:nvPr/>
        </p:nvSpPr>
        <p:spPr>
          <a:xfrm>
            <a:off x="548640" y="237744"/>
            <a:ext cx="12801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BRIEFING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45–48</a:t>
            </a:r>
            <a:endParaRPr lang="en-US" sz="1200" dirty="0"/>
          </a:p>
        </p:txBody>
      </p:sp>
      <p:sp>
        <p:nvSpPr>
          <p:cNvPr id="5"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6" name="Shape 4"/>
          <p:cNvSpPr/>
          <p:nvPr/>
        </p:nvSpPr>
        <p:spPr>
          <a:xfrm>
            <a:off x="749808" y="1709928"/>
            <a:ext cx="566928" cy="56692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8"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BY THE END OF THE SESSION</a:t>
            </a:r>
            <a:endParaRPr lang="en-US" sz="1200" dirty="0"/>
          </a:p>
        </p:txBody>
      </p:sp>
      <p:sp>
        <p:nvSpPr>
          <p:cNvPr id="9"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800" dirty="0">
                <a:solidFill>
                  <a:schemeClr val="tx1"/>
                </a:solidFill>
              </a:rPr>
              <a:t>Sections four and five — then </a:t>
            </a:r>
            <a:r>
              <a:rPr lang="en-US" sz="1800" b="1" dirty="0">
                <a:solidFill>
                  <a:schemeClr val="tx1"/>
                </a:solidFill>
              </a:rPr>
              <a:t>one page, 180–220 words</a:t>
            </a:r>
            <a:r>
              <a:rPr lang="en-US" sz="1800" dirty="0">
                <a:solidFill>
                  <a:schemeClr val="tx1"/>
                </a:solidFill>
              </a:rPr>
              <a:t>, ready to send.</a:t>
            </a:r>
            <a:endParaRPr lang="en-US" sz="1800" dirty="0"/>
          </a:p>
        </p:txBody>
      </p:sp>
      <p:sp>
        <p:nvSpPr>
          <p:cNvPr id="10"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1" name="Shape 8"/>
          <p:cNvSpPr/>
          <p:nvPr/>
        </p:nvSpPr>
        <p:spPr>
          <a:xfrm>
            <a:off x="749808" y="3337560"/>
            <a:ext cx="566928" cy="566928"/>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3"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LANGUAGE FOCUS</a:t>
            </a:r>
            <a:endParaRPr lang="en-US" sz="1200" dirty="0"/>
          </a:p>
        </p:txBody>
      </p:sp>
      <p:sp>
        <p:nvSpPr>
          <p:cNvPr id="14"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400" dirty="0">
                <a:solidFill>
                  <a:schemeClr val="tx1"/>
                </a:solidFill>
              </a:rPr>
              <a:t>Modals in writing (</a:t>
            </a:r>
            <a:r>
              <a:rPr lang="en-US" sz="1400" i="1" dirty="0">
                <a:solidFill>
                  <a:schemeClr val="tx1"/>
                </a:solidFill>
              </a:rPr>
              <a:t>may / might, can’t, should</a:t>
            </a:r>
            <a:r>
              <a:rPr lang="en-US" sz="1400" dirty="0">
                <a:solidFill>
                  <a:schemeClr val="tx1"/>
                </a:solidFill>
              </a:rPr>
              <a:t>) · full English dates · closing formulas · connectors: </a:t>
            </a:r>
            <a:r>
              <a:rPr lang="en-US" sz="1400" i="1" dirty="0">
                <a:solidFill>
                  <a:schemeClr val="tx1"/>
                </a:solidFill>
              </a:rPr>
              <a:t>At first, Then, However, As a result, Finally</a:t>
            </a:r>
            <a:endParaRPr lang="en-US" sz="1400" dirty="0"/>
          </a:p>
        </p:txBody>
      </p:sp>
      <p:sp>
        <p:nvSpPr>
          <p:cNvPr id="15"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6" name="Shape 12"/>
          <p:cNvSpPr/>
          <p:nvPr/>
        </p:nvSpPr>
        <p:spPr>
          <a:xfrm>
            <a:off x="749808" y="4965192"/>
            <a:ext cx="566928" cy="566928"/>
          </a:xfrm>
          <a:prstGeom prst="ellipse">
            <a:avLst/>
          </a:prstGeom>
          <a:solidFill>
            <a:schemeClr val="accent3"/>
          </a:solidFill>
          <a:ln/>
        </p:spPr>
      </p:sp>
      <p:pic>
        <p:nvPicPr>
          <p:cNvPr id="17"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8"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SKILLS</a:t>
            </a:r>
            <a:endParaRPr lang="en-US" sz="1200" dirty="0"/>
          </a:p>
        </p:txBody>
      </p:sp>
      <p:sp>
        <p:nvSpPr>
          <p:cNvPr id="19"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800" dirty="0">
                <a:solidFill>
                  <a:schemeClr val="tx1"/>
                </a:solidFill>
              </a:rPr>
              <a:t>Editing for length and cohesion · checking your own text like an assessor</a:t>
            </a:r>
            <a:endParaRPr lang="en-US" sz="1800" dirty="0"/>
          </a:p>
        </p:txBody>
      </p:sp>
      <p:sp>
        <p:nvSpPr>
          <p:cNvPr id="20"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ROADMAP</a:t>
            </a:r>
            <a:endParaRPr lang="en-US" sz="1300" dirty="0"/>
          </a:p>
        </p:txBody>
      </p:sp>
      <p:sp>
        <p:nvSpPr>
          <p:cNvPr id="21"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2" name="Shape 17"/>
          <p:cNvSpPr/>
          <p:nvPr/>
        </p:nvSpPr>
        <p:spPr>
          <a:xfrm>
            <a:off x="6263640" y="1959674"/>
            <a:ext cx="384048" cy="384048"/>
          </a:xfrm>
          <a:prstGeom prst="ellipse">
            <a:avLst/>
          </a:prstGeom>
          <a:solidFill>
            <a:schemeClr val="tx2"/>
          </a:solidFill>
          <a:ln/>
        </p:spPr>
      </p:sp>
      <p:sp>
        <p:nvSpPr>
          <p:cNvPr id="23"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4"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Warm-up: categorical → careful</a:t>
            </a:r>
            <a:endParaRPr lang="en-US" sz="1600" dirty="0"/>
          </a:p>
        </p:txBody>
      </p:sp>
      <p:sp>
        <p:nvSpPr>
          <p:cNvPr id="25"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6" name="Shape 21"/>
          <p:cNvSpPr/>
          <p:nvPr/>
        </p:nvSpPr>
        <p:spPr>
          <a:xfrm>
            <a:off x="6263640" y="2514029"/>
            <a:ext cx="384048" cy="384048"/>
          </a:xfrm>
          <a:prstGeom prst="ellipse">
            <a:avLst/>
          </a:prstGeom>
          <a:solidFill>
            <a:schemeClr val="tx2"/>
          </a:solidFill>
          <a:ln/>
        </p:spPr>
      </p:sp>
      <p:sp>
        <p:nvSpPr>
          <p:cNvPr id="27"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8"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Section four — suppose and advise</a:t>
            </a:r>
            <a:endParaRPr lang="en-US" sz="1600" dirty="0"/>
          </a:p>
        </p:txBody>
      </p:sp>
      <p:sp>
        <p:nvSpPr>
          <p:cNvPr id="29"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0" name="Shape 25"/>
          <p:cNvSpPr/>
          <p:nvPr/>
        </p:nvSpPr>
        <p:spPr>
          <a:xfrm>
            <a:off x="6263640" y="3068384"/>
            <a:ext cx="384048" cy="384048"/>
          </a:xfrm>
          <a:prstGeom prst="ellipse">
            <a:avLst/>
          </a:prstGeom>
          <a:solidFill>
            <a:schemeClr val="tx2"/>
          </a:solidFill>
          <a:ln/>
        </p:spPr>
      </p:sp>
      <p:sp>
        <p:nvSpPr>
          <p:cNvPr id="31"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2"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Section five — dates and closings</a:t>
            </a:r>
            <a:endParaRPr lang="en-US" sz="1600" dirty="0"/>
          </a:p>
        </p:txBody>
      </p:sp>
      <p:sp>
        <p:nvSpPr>
          <p:cNvPr id="33"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4" name="Shape 29"/>
          <p:cNvSpPr/>
          <p:nvPr/>
        </p:nvSpPr>
        <p:spPr>
          <a:xfrm>
            <a:off x="6263640" y="3622738"/>
            <a:ext cx="384048" cy="384048"/>
          </a:xfrm>
          <a:prstGeom prst="ellipse">
            <a:avLst/>
          </a:prstGeom>
          <a:solidFill>
            <a:schemeClr val="tx2"/>
          </a:solidFill>
          <a:ln/>
        </p:spPr>
      </p:sp>
      <p:sp>
        <p:nvSpPr>
          <p:cNvPr id="35"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6"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Your firm’s file (p. 45–46)</a:t>
            </a:r>
            <a:endParaRPr lang="en-US" sz="1600" dirty="0"/>
          </a:p>
        </p:txBody>
      </p:sp>
      <p:sp>
        <p:nvSpPr>
          <p:cNvPr id="37"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8" name="Shape 33"/>
          <p:cNvSpPr/>
          <p:nvPr/>
        </p:nvSpPr>
        <p:spPr>
          <a:xfrm>
            <a:off x="6263640" y="4177093"/>
            <a:ext cx="384048" cy="384048"/>
          </a:xfrm>
          <a:prstGeom prst="ellipse">
            <a:avLst/>
          </a:prstGeom>
          <a:solidFill>
            <a:schemeClr val="tx2"/>
          </a:solidFill>
          <a:ln/>
        </p:spPr>
      </p:sp>
      <p:sp>
        <p:nvSpPr>
          <p:cNvPr id="39"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0"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Connectors: make it one page (p. 47)</a:t>
            </a:r>
            <a:endParaRPr lang="en-US" sz="1600" dirty="0"/>
          </a:p>
        </p:txBody>
      </p:sp>
      <p:sp>
        <p:nvSpPr>
          <p:cNvPr id="41"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42" name="Shape 37"/>
          <p:cNvSpPr/>
          <p:nvPr/>
        </p:nvSpPr>
        <p:spPr>
          <a:xfrm>
            <a:off x="6263640" y="4731449"/>
            <a:ext cx="384048" cy="384048"/>
          </a:xfrm>
          <a:prstGeom prst="ellipse">
            <a:avLst/>
          </a:prstGeom>
          <a:solidFill>
            <a:schemeClr val="tx2"/>
          </a:solidFill>
          <a:ln/>
        </p:spPr>
      </p:sp>
      <p:sp>
        <p:nvSpPr>
          <p:cNvPr id="43"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4"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A model report</a:t>
            </a:r>
            <a:endParaRPr lang="en-US" sz="1600" dirty="0"/>
          </a:p>
        </p:txBody>
      </p:sp>
      <p:sp>
        <p:nvSpPr>
          <p:cNvPr id="45"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46" name="Shape 41"/>
          <p:cNvSpPr/>
          <p:nvPr/>
        </p:nvSpPr>
        <p:spPr>
          <a:xfrm>
            <a:off x="6263640" y="5285804"/>
            <a:ext cx="384048" cy="384048"/>
          </a:xfrm>
          <a:prstGeom prst="ellipse">
            <a:avLst/>
          </a:prstGeom>
          <a:solidFill>
            <a:schemeClr val="tx2"/>
          </a:solidFill>
          <a:ln/>
        </p:spPr>
      </p:sp>
      <p:sp>
        <p:nvSpPr>
          <p:cNvPr id="47"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8"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Writing time</a:t>
            </a:r>
            <a:endParaRPr lang="en-US" sz="1600" dirty="0"/>
          </a:p>
        </p:txBody>
      </p:sp>
      <p:sp>
        <p:nvSpPr>
          <p:cNvPr id="49"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20'</a:t>
            </a:r>
            <a:endParaRPr lang="en-US" sz="1500" dirty="0"/>
          </a:p>
        </p:txBody>
      </p:sp>
      <p:sp>
        <p:nvSpPr>
          <p:cNvPr id="50" name="Shape 45"/>
          <p:cNvSpPr/>
          <p:nvPr/>
        </p:nvSpPr>
        <p:spPr>
          <a:xfrm>
            <a:off x="6263640" y="5840158"/>
            <a:ext cx="384048" cy="384048"/>
          </a:xfrm>
          <a:prstGeom prst="ellipse">
            <a:avLst/>
          </a:prstGeom>
          <a:solidFill>
            <a:schemeClr val="tx2"/>
          </a:solidFill>
          <a:ln/>
        </p:spPr>
      </p:sp>
      <p:sp>
        <p:nvSpPr>
          <p:cNvPr id="51"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2"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Before you press send (p. 48)</a:t>
            </a:r>
            <a:endParaRPr lang="en-US" sz="1600" dirty="0"/>
          </a:p>
        </p:txBody>
      </p:sp>
      <p:sp>
        <p:nvSpPr>
          <p:cNvPr id="53"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Warm-up: categorical → careful</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WARM-UP</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Séance 15</a:t>
            </a:r>
            <a:endParaRPr lang="en-US" sz="1200" dirty="0"/>
          </a:p>
        </p:txBody>
      </p:sp>
      <p:sp>
        <p:nvSpPr>
          <p:cNvPr id="5" name="exercise"/>
          <p:cNvSpPr txBox="1"/>
          <p:nvPr/>
        </p:nvSpPr>
        <p:spPr>
          <a:xfrm>
            <a:off x="548640" y="1481328"/>
            <a:ext cx="11091672" cy="4809744"/>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The joint caused the leak. (40 %)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2.  </a:t>
            </a:r>
            <a:r>
              <a:rPr lang="en-US" sz="2400" dirty="0">
                <a:solidFill>
                  <a:schemeClr val="tx1"/>
                </a:solidFill>
              </a:rPr>
              <a:t>The cabling team did it. (impossible)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3.  </a:t>
            </a:r>
            <a:r>
              <a:rPr lang="en-US" sz="2400" dirty="0">
                <a:solidFill>
                  <a:schemeClr val="tx1"/>
                </a:solidFill>
              </a:rPr>
              <a:t>Inspect the whole run. (advice) → </a:t>
            </a:r>
            <a:r>
              <a:rPr lang="en-US" sz="2400" dirty="0">
                <a:solidFill>
                  <a:schemeClr val="accent5"/>
                </a:solidFill>
              </a:rPr>
              <a: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Warm-up: categorical → careful</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WARM-UP</a:t>
            </a:r>
            <a:endParaRPr lang="en-US" sz="1200" dirty="0"/>
          </a:p>
        </p:txBody>
      </p:sp>
      <p:sp>
        <p:nvSpPr>
          <p:cNvPr id="4" name="tag"/>
          <p:cNvSpPr/>
          <p:nvPr/>
        </p:nvSpPr>
        <p:spPr>
          <a:xfrm>
            <a:off x="1824228" y="237744"/>
            <a:ext cx="18745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Séance 15</a:t>
            </a:r>
            <a:endParaRPr lang="en-US" sz="1200" dirty="0"/>
          </a:p>
        </p:txBody>
      </p:sp>
      <p:sp>
        <p:nvSpPr>
          <p:cNvPr id="6" name="exercise"/>
          <p:cNvSpPr txBox="1"/>
          <p:nvPr/>
        </p:nvSpPr>
        <p:spPr>
          <a:xfrm>
            <a:off x="548640" y="1481328"/>
            <a:ext cx="11091672" cy="4809744"/>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The joint caused the leak. (40 %) → </a:t>
            </a:r>
            <a:r>
              <a:rPr lang="en-US" sz="2400" b="1" dirty="0">
                <a:solidFill>
                  <a:schemeClr val="accent3"/>
                </a:solidFill>
              </a:rPr>
              <a:t>The joint might have caused the leak.</a:t>
            </a:r>
            <a:endParaRPr lang="en-US" sz="2400" dirty="0"/>
          </a:p>
          <a:p>
            <a:pPr indent="0" marL="0">
              <a:spcAft>
                <a:spcPts val="1000"/>
              </a:spcAft>
              <a:buNone/>
            </a:pPr>
            <a:r>
              <a:rPr lang="en-US" sz="2400" b="1" dirty="0">
                <a:solidFill>
                  <a:schemeClr val="tx2"/>
                </a:solidFill>
              </a:rPr>
              <a:t>2.  </a:t>
            </a:r>
            <a:r>
              <a:rPr lang="en-US" sz="2400" dirty="0">
                <a:solidFill>
                  <a:schemeClr val="tx1"/>
                </a:solidFill>
              </a:rPr>
              <a:t>The cabling team did it. (impossible) → </a:t>
            </a:r>
            <a:r>
              <a:rPr lang="en-US" sz="2400" b="1" dirty="0">
                <a:solidFill>
                  <a:schemeClr val="accent3"/>
                </a:solidFill>
              </a:rPr>
              <a:t>It can’t have been the cabling team.</a:t>
            </a:r>
            <a:endParaRPr lang="en-US" sz="2400" dirty="0"/>
          </a:p>
          <a:p>
            <a:pPr indent="0" marL="0">
              <a:spcAft>
                <a:spcPts val="1000"/>
              </a:spcAft>
              <a:buNone/>
            </a:pPr>
            <a:r>
              <a:rPr lang="en-US" sz="2400" b="1" dirty="0">
                <a:solidFill>
                  <a:schemeClr val="tx2"/>
                </a:solidFill>
              </a:rPr>
              <a:t>3.  </a:t>
            </a:r>
            <a:r>
              <a:rPr lang="en-US" sz="2400" dirty="0">
                <a:solidFill>
                  <a:schemeClr val="tx1"/>
                </a:solidFill>
              </a:rPr>
              <a:t>Inspect the whole run. (advice) → </a:t>
            </a:r>
            <a:r>
              <a:rPr lang="en-US" sz="2400" b="1" dirty="0">
                <a:solidFill>
                  <a:schemeClr val="accent3"/>
                </a:solidFill>
              </a:rPr>
              <a:t>We should inspect the whole run.</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Section four — what we suppose, and what we advise</a:t>
            </a:r>
            <a:endParaRPr lang="en-US" sz="3200" dirty="0"/>
          </a:p>
        </p:txBody>
      </p:sp>
      <p:sp>
        <p:nvSpPr>
          <p:cNvPr id="3" name="tag"/>
          <p:cNvSpPr/>
          <p:nvPr/>
        </p:nvSpPr>
        <p:spPr>
          <a:xfrm>
            <a:off x="548640" y="237744"/>
            <a:ext cx="139446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a:t>
            </a:r>
            <a:endParaRPr lang="en-US" sz="1200" dirty="0"/>
          </a:p>
        </p:txBody>
      </p:sp>
      <p:sp>
        <p:nvSpPr>
          <p:cNvPr id="5"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No categorical sentences. She counts them! Three sentences: one </a:t>
            </a:r>
            <a:r>
              <a:rPr lang="en-US" sz="1600" i="1" dirty="0">
                <a:solidFill>
                  <a:schemeClr val="accent5"/>
                </a:solidFill>
              </a:rPr>
              <a:t>may</a:t>
            </a:r>
            <a:r>
              <a:rPr lang="en-US" sz="1600" i="1" dirty="0">
                <a:solidFill>
                  <a:schemeClr val="accent5"/>
                </a:solidFill>
              </a:rPr>
              <a:t> or </a:t>
            </a:r>
            <a:r>
              <a:rPr lang="en-US" sz="1600" i="1" dirty="0">
                <a:solidFill>
                  <a:schemeClr val="accent5"/>
                </a:solidFill>
              </a:rPr>
              <a:t>might</a:t>
            </a:r>
            <a:r>
              <a:rPr lang="en-US" sz="1600" i="1" dirty="0">
                <a:solidFill>
                  <a:schemeClr val="accent5"/>
                </a:solidFill>
              </a:rPr>
              <a:t>, one </a:t>
            </a:r>
            <a:r>
              <a:rPr lang="en-US" sz="1600" i="1" dirty="0">
                <a:solidFill>
                  <a:schemeClr val="accent5"/>
                </a:solidFill>
              </a:rPr>
              <a:t>can’t</a:t>
            </a:r>
            <a:r>
              <a:rPr lang="en-US" sz="1600" i="1" dirty="0">
                <a:solidFill>
                  <a:schemeClr val="accent5"/>
                </a:solidFill>
              </a:rPr>
              <a:t>, one </a:t>
            </a:r>
            <a:r>
              <a:rPr lang="en-US" sz="1600" i="1" dirty="0">
                <a:solidFill>
                  <a:schemeClr val="accent5"/>
                </a:solidFill>
              </a:rPr>
              <a:t>should</a:t>
            </a:r>
            <a:r>
              <a:rPr lang="en-US" sz="1600" i="1" dirty="0">
                <a:solidFill>
                  <a:schemeClr val="accent5"/>
                </a:solidFill>
              </a:rPr>
              <a:t>. No names.</a:t>
            </a:r>
            <a:endParaRPr lang="en-US" sz="1600" dirty="0"/>
          </a:p>
        </p:txBody>
      </p:sp>
      <p:sp>
        <p:nvSpPr>
          <p:cNvPr id="6"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400"/>
              </a:spcAft>
              <a:buNone/>
            </a:pPr>
            <a:r>
              <a:rPr lang="en-US" sz="2600" dirty="0">
                <a:solidFill>
                  <a:schemeClr val="tx1"/>
                </a:solidFill>
              </a:rPr>
              <a:t>Write section four.</a:t>
            </a:r>
            <a:endParaRPr lang="en-US" sz="2600" dirty="0"/>
          </a:p>
        </p:txBody>
      </p:sp>
      <p:sp>
        <p:nvSpPr>
          <p:cNvPr id="7"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8"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9"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EXPECTED</a:t>
            </a:r>
            <a:endParaRPr lang="en-US" sz="1400" dirty="0"/>
          </a:p>
        </p:txBody>
      </p:sp>
      <p:sp>
        <p:nvSpPr>
          <p:cNvPr id="10"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may / might</a:t>
            </a:r>
            <a:r>
              <a:rPr lang="en-US" sz="1800" dirty="0">
                <a:solidFill>
                  <a:schemeClr val="tx1"/>
                </a:solidFill>
              </a:rPr>
              <a:t> × 1</a:t>
            </a:r>
            <a:endParaRPr lang="en-US" sz="1800" dirty="0"/>
          </a:p>
          <a:p>
            <a:pPr marL="177800" indent="-177800">
              <a:spcAft>
                <a:spcPts val="600"/>
              </a:spcAft>
              <a:buSzPct val="100000"/>
              <a:buChar char="•"/>
            </a:pPr>
            <a:r>
              <a:rPr lang="en-US" sz="1800" b="1" dirty="0">
                <a:solidFill>
                  <a:schemeClr val="tx1"/>
                </a:solidFill>
              </a:rPr>
              <a:t>can’t</a:t>
            </a:r>
            <a:r>
              <a:rPr lang="en-US" sz="1800" dirty="0">
                <a:solidFill>
                  <a:schemeClr val="tx1"/>
                </a:solidFill>
              </a:rPr>
              <a:t> × 1</a:t>
            </a:r>
            <a:endParaRPr lang="en-US" sz="1800" dirty="0"/>
          </a:p>
          <a:p>
            <a:pPr marL="177800" indent="-177800">
              <a:spcAft>
                <a:spcPts val="600"/>
              </a:spcAft>
              <a:buSzPct val="100000"/>
              <a:buChar char="•"/>
            </a:pPr>
            <a:r>
              <a:rPr lang="en-US" sz="1800" b="1" dirty="0">
                <a:solidFill>
                  <a:schemeClr val="tx1"/>
                </a:solidFill>
              </a:rPr>
              <a:t>should</a:t>
            </a:r>
            <a:r>
              <a:rPr lang="en-US" sz="1800" dirty="0">
                <a:solidFill>
                  <a:schemeClr val="tx1"/>
                </a:solidFill>
              </a:rPr>
              <a:t> × 1</a:t>
            </a:r>
            <a:endParaRPr lang="en-US" sz="1800" dirty="0"/>
          </a:p>
          <a:p>
            <a:pPr marL="177800" indent="-177800">
              <a:spcAft>
                <a:spcPts val="600"/>
              </a:spcAft>
              <a:buSzPct val="100000"/>
              <a:buChar char="•"/>
            </a:pPr>
            <a:r>
              <a:rPr lang="en-US" sz="1800" dirty="0">
                <a:solidFill>
                  <a:schemeClr val="tx1"/>
                </a:solidFill>
              </a:rPr>
              <a:t>reuse your group’s </a:t>
            </a:r>
            <a:r>
              <a:rPr lang="en-US" sz="1800" b="1" dirty="0">
                <a:solidFill>
                  <a:schemeClr val="tx1"/>
                </a:solidFill>
              </a:rPr>
              <a:t>board</a:t>
            </a:r>
            <a:r>
              <a:rPr lang="en-US" sz="1800" dirty="0">
                <a:solidFill>
                  <a:schemeClr val="tx1"/>
                </a:solidFill>
              </a:rPr>
              <a:t> (Scene 7)</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Section four — what we suppose, and what we advise</a:t>
            </a:r>
            <a:endParaRPr lang="en-US" sz="3200" dirty="0"/>
          </a:p>
        </p:txBody>
      </p:sp>
      <p:sp>
        <p:nvSpPr>
          <p:cNvPr id="3" name="tag"/>
          <p:cNvSpPr/>
          <p:nvPr/>
        </p:nvSpPr>
        <p:spPr>
          <a:xfrm>
            <a:off x="548640" y="237744"/>
            <a:ext cx="139446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ag"/>
          <p:cNvSpPr/>
          <p:nvPr/>
        </p:nvSpPr>
        <p:spPr>
          <a:xfrm>
            <a:off x="2052828" y="237744"/>
            <a:ext cx="18745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a:t>
            </a:r>
            <a:endParaRPr lang="en-US" sz="1200" dirty="0"/>
          </a:p>
        </p:txBody>
      </p:sp>
      <p:sp>
        <p:nvSpPr>
          <p:cNvPr id="6"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No categorical sentences. She counts them! Three sentences: one </a:t>
            </a:r>
            <a:r>
              <a:rPr lang="en-US" sz="1600" i="1" dirty="0">
                <a:solidFill>
                  <a:schemeClr val="accent5"/>
                </a:solidFill>
              </a:rPr>
              <a:t>may</a:t>
            </a:r>
            <a:r>
              <a:rPr lang="en-US" sz="1600" i="1" dirty="0">
                <a:solidFill>
                  <a:schemeClr val="accent5"/>
                </a:solidFill>
              </a:rPr>
              <a:t> or </a:t>
            </a:r>
            <a:r>
              <a:rPr lang="en-US" sz="1600" i="1" dirty="0">
                <a:solidFill>
                  <a:schemeClr val="accent5"/>
                </a:solidFill>
              </a:rPr>
              <a:t>might</a:t>
            </a:r>
            <a:r>
              <a:rPr lang="en-US" sz="1600" i="1" dirty="0">
                <a:solidFill>
                  <a:schemeClr val="accent5"/>
                </a:solidFill>
              </a:rPr>
              <a:t>, one </a:t>
            </a:r>
            <a:r>
              <a:rPr lang="en-US" sz="1600" i="1" dirty="0">
                <a:solidFill>
                  <a:schemeClr val="accent5"/>
                </a:solidFill>
              </a:rPr>
              <a:t>can’t</a:t>
            </a:r>
            <a:r>
              <a:rPr lang="en-US" sz="1600" i="1" dirty="0">
                <a:solidFill>
                  <a:schemeClr val="accent5"/>
                </a:solidFill>
              </a:rPr>
              <a:t>, one </a:t>
            </a:r>
            <a:r>
              <a:rPr lang="en-US" sz="1600" i="1" dirty="0">
                <a:solidFill>
                  <a:schemeClr val="accent5"/>
                </a:solidFill>
              </a:rPr>
              <a:t>should</a:t>
            </a:r>
            <a:r>
              <a:rPr lang="en-US" sz="1600" i="1" dirty="0">
                <a:solidFill>
                  <a:schemeClr val="accent5"/>
                </a:solidFill>
              </a:rPr>
              <a:t>. No names.</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400"/>
              </a:spcAft>
              <a:buNone/>
            </a:pPr>
            <a:r>
              <a:rPr lang="en-US" sz="2400" dirty="0">
                <a:solidFill>
                  <a:schemeClr val="tx1"/>
                </a:solidFill>
              </a:rPr>
              <a:t>Write section four.</a:t>
            </a:r>
            <a:endParaRPr lang="en-US" sz="2400" dirty="0"/>
          </a:p>
          <a:p>
            <a:pPr indent="0" marL="0">
              <a:spcAft>
                <a:spcPts val="1200"/>
              </a:spcAft>
              <a:buNone/>
            </a:pPr>
            <a:r>
              <a:rPr lang="en-US" sz="2400" b="1" dirty="0">
                <a:solidFill>
                  <a:schemeClr val="accent3"/>
                </a:solidFill>
              </a:rPr>
              <a:t>→ </a:t>
            </a:r>
            <a:r>
              <a:rPr lang="en-US" sz="2400" i="1" dirty="0">
                <a:solidFill>
                  <a:schemeClr val="accent3"/>
                </a:solidFill>
              </a:rPr>
              <a:t>The water may have come from joint 4 of the riser, which has been under observation since June. However, the leak can’t have started during the cabling works, since the room was dry at 19.58. We should inspect the whole run, including the basement, before the handover on 1 March.</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EXPECTED</a:t>
            </a:r>
            <a:endParaRPr lang="en-US" sz="1400" dirty="0"/>
          </a:p>
        </p:txBody>
      </p:sp>
      <p:sp>
        <p:nvSpPr>
          <p:cNvPr id="11"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may / might</a:t>
            </a:r>
            <a:r>
              <a:rPr lang="en-US" sz="1800" dirty="0">
                <a:solidFill>
                  <a:schemeClr val="tx1"/>
                </a:solidFill>
              </a:rPr>
              <a:t> × 1</a:t>
            </a:r>
            <a:endParaRPr lang="en-US" sz="1800" dirty="0"/>
          </a:p>
          <a:p>
            <a:pPr marL="177800" indent="-177800">
              <a:spcAft>
                <a:spcPts val="600"/>
              </a:spcAft>
              <a:buSzPct val="100000"/>
              <a:buChar char="•"/>
            </a:pPr>
            <a:r>
              <a:rPr lang="en-US" sz="1800" b="1" dirty="0">
                <a:solidFill>
                  <a:schemeClr val="tx1"/>
                </a:solidFill>
              </a:rPr>
              <a:t>can’t</a:t>
            </a:r>
            <a:r>
              <a:rPr lang="en-US" sz="1800" dirty="0">
                <a:solidFill>
                  <a:schemeClr val="tx1"/>
                </a:solidFill>
              </a:rPr>
              <a:t> × 1</a:t>
            </a:r>
            <a:endParaRPr lang="en-US" sz="1800" dirty="0"/>
          </a:p>
          <a:p>
            <a:pPr marL="177800" indent="-177800">
              <a:spcAft>
                <a:spcPts val="600"/>
              </a:spcAft>
              <a:buSzPct val="100000"/>
              <a:buChar char="•"/>
            </a:pPr>
            <a:r>
              <a:rPr lang="en-US" sz="1800" b="1" dirty="0">
                <a:solidFill>
                  <a:schemeClr val="tx1"/>
                </a:solidFill>
              </a:rPr>
              <a:t>should</a:t>
            </a:r>
            <a:r>
              <a:rPr lang="en-US" sz="1800" dirty="0">
                <a:solidFill>
                  <a:schemeClr val="tx1"/>
                </a:solidFill>
              </a:rPr>
              <a:t> × 1</a:t>
            </a:r>
            <a:endParaRPr lang="en-US" sz="1800" dirty="0"/>
          </a:p>
          <a:p>
            <a:pPr marL="177800" indent="-177800">
              <a:spcAft>
                <a:spcPts val="600"/>
              </a:spcAft>
              <a:buSzPct val="100000"/>
              <a:buChar char="•"/>
            </a:pPr>
            <a:r>
              <a:rPr lang="en-US" sz="1800" dirty="0">
                <a:solidFill>
                  <a:schemeClr val="tx1"/>
                </a:solidFill>
              </a:rPr>
              <a:t>reuse your group’s </a:t>
            </a:r>
            <a:r>
              <a:rPr lang="en-US" sz="1800" b="1" dirty="0">
                <a:solidFill>
                  <a:schemeClr val="tx1"/>
                </a:solidFill>
              </a:rPr>
              <a:t>board</a:t>
            </a:r>
            <a:r>
              <a:rPr lang="en-US" sz="1800" dirty="0">
                <a:solidFill>
                  <a:schemeClr val="tx1"/>
                </a:solidFill>
              </a:rPr>
              <a:t> (Scene 7)</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 full English date</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45–46</a:t>
            </a:r>
            <a:endParaRPr lang="en-US" sz="1200" dirty="0"/>
          </a:p>
        </p:txBody>
      </p:sp>
      <p:sp>
        <p:nvSpPr>
          <p:cNvPr id="6" name="Shape 3"/>
          <p:cNvSpPr/>
          <p:nvPr/>
        </p:nvSpPr>
        <p:spPr>
          <a:xfrm>
            <a:off x="548640" y="1481328"/>
            <a:ext cx="3514344" cy="3922776"/>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548640" y="1481328"/>
            <a:ext cx="3514344" cy="502920"/>
          </a:xfrm>
          <a:prstGeom prst="roundRect">
            <a:avLst>
              <a:gd name="adj" fmla="val 18182"/>
            </a:avLst>
          </a:prstGeom>
          <a:solidFill>
            <a:schemeClr val="accent2"/>
          </a:solidFill>
          <a:ln/>
        </p:spPr>
      </p:sp>
      <p:sp>
        <p:nvSpPr>
          <p:cNvPr id="8" name="Shape 5"/>
          <p:cNvSpPr/>
          <p:nvPr/>
        </p:nvSpPr>
        <p:spPr>
          <a:xfrm>
            <a:off x="548640" y="1801368"/>
            <a:ext cx="3514344" cy="182880"/>
          </a:xfrm>
          <a:prstGeom prst="rect">
            <a:avLst/>
          </a:prstGeom>
          <a:solidFill>
            <a:schemeClr val="accent2"/>
          </a:solidFill>
          <a:ln w="12700">
            <a:solidFill>
              <a:schemeClr val="accent2"/>
            </a:solidFill>
            <a:prstDash val="solid"/>
          </a:ln>
        </p:spPr>
      </p:sp>
      <p:sp>
        <p:nvSpPr>
          <p:cNvPr id="9" name="Text 6"/>
          <p:cNvSpPr txBox="1"/>
          <p:nvPr/>
        </p:nvSpPr>
        <p:spPr>
          <a:xfrm>
            <a:off x="731520"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UK</a:t>
            </a:r>
            <a:endParaRPr lang="en-US" sz="1500" dirty="0"/>
          </a:p>
        </p:txBody>
      </p:sp>
      <p:sp>
        <p:nvSpPr>
          <p:cNvPr id="10" name="Text 7"/>
          <p:cNvSpPr txBox="1"/>
          <p:nvPr/>
        </p:nvSpPr>
        <p:spPr>
          <a:xfrm>
            <a:off x="731520" y="2084832"/>
            <a:ext cx="3148584" cy="346964"/>
          </a:xfrm>
          <a:prstGeom prst="rect">
            <a:avLst/>
          </a:prstGeom>
          <a:noFill/>
          <a:ln/>
        </p:spPr>
        <p:txBody>
          <a:bodyPr wrap="square" lIns="0" tIns="0" rIns="0" bIns="0" rtlCol="0" anchor="t"/>
          <a:lstStyle/>
          <a:p>
            <a:pPr indent="0" marL="0">
              <a:buNone/>
            </a:pPr>
            <a:r>
              <a:rPr lang="en-US" sz="2000" b="1" dirty="0">
                <a:solidFill>
                  <a:schemeClr val="accent2"/>
                </a:solidFill>
                <a:latin typeface="+mj-lt" pitchFamily="34" charset="0"/>
                <a:ea typeface="+mj-lt" pitchFamily="34" charset="-122"/>
                <a:cs typeface="+mj-lt" pitchFamily="34" charset="-120"/>
              </a:rPr>
              <a:t>Friday 13 November 2026</a:t>
            </a:r>
            <a:endParaRPr lang="en-US" sz="2000" dirty="0"/>
          </a:p>
        </p:txBody>
      </p:sp>
      <p:sp>
        <p:nvSpPr>
          <p:cNvPr id="11" name="Text 8"/>
          <p:cNvSpPr txBox="1"/>
          <p:nvPr/>
        </p:nvSpPr>
        <p:spPr>
          <a:xfrm>
            <a:off x="731520" y="2568956"/>
            <a:ext cx="3148584" cy="2725420"/>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Write: </a:t>
            </a:r>
            <a:r>
              <a:rPr lang="en-US" sz="2000" b="1" dirty="0">
                <a:solidFill>
                  <a:schemeClr val="tx1"/>
                </a:solidFill>
              </a:rPr>
              <a:t>13 November 2026</a:t>
            </a:r>
            <a:endParaRPr lang="en-US" sz="2000" dirty="0"/>
          </a:p>
          <a:p>
            <a:pPr marL="177800" indent="-177800">
              <a:spcAft>
                <a:spcPts val="600"/>
              </a:spcAft>
              <a:buSzPct val="100000"/>
              <a:buChar char="•"/>
            </a:pPr>
            <a:r>
              <a:rPr lang="en-US" sz="2000" dirty="0">
                <a:solidFill>
                  <a:schemeClr val="tx1"/>
                </a:solidFill>
              </a:rPr>
              <a:t>Say: </a:t>
            </a:r>
            <a:r>
              <a:rPr lang="en-US" sz="2000" i="1" dirty="0">
                <a:solidFill>
                  <a:schemeClr val="tx1"/>
                </a:solidFill>
              </a:rPr>
              <a:t>the thirteenth of November</a:t>
            </a:r>
            <a:endParaRPr lang="en-US" sz="2000" dirty="0"/>
          </a:p>
          <a:p>
            <a:pPr marL="177800" indent="-177800">
              <a:spcAft>
                <a:spcPts val="600"/>
              </a:spcAft>
              <a:buSzPct val="100000"/>
              <a:buChar char="•"/>
            </a:pPr>
            <a:r>
              <a:rPr lang="en-US" sz="2000" dirty="0">
                <a:solidFill>
                  <a:schemeClr val="tx1"/>
                </a:solidFill>
              </a:rPr>
              <a:t>The weekday is optional — but it must be </a:t>
            </a:r>
            <a:r>
              <a:rPr lang="en-US" sz="2000" b="1" dirty="0">
                <a:solidFill>
                  <a:schemeClr val="tx1"/>
                </a:solidFill>
              </a:rPr>
              <a:t>right</a:t>
            </a:r>
            <a:r>
              <a:rPr lang="en-US" sz="2000" dirty="0">
                <a:solidFill>
                  <a:schemeClr val="tx1"/>
                </a:solidFill>
              </a:rPr>
              <a:t>.</a:t>
            </a:r>
            <a:endParaRPr lang="en-US" sz="2000" dirty="0"/>
          </a:p>
        </p:txBody>
      </p:sp>
      <p:sp>
        <p:nvSpPr>
          <p:cNvPr id="12" name="Shape 9"/>
          <p:cNvSpPr/>
          <p:nvPr/>
        </p:nvSpPr>
        <p:spPr>
          <a:xfrm>
            <a:off x="4337304" y="1481328"/>
            <a:ext cx="3514344" cy="3922776"/>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10"/>
          <p:cNvSpPr/>
          <p:nvPr/>
        </p:nvSpPr>
        <p:spPr>
          <a:xfrm>
            <a:off x="4337304" y="1481328"/>
            <a:ext cx="3514344" cy="502920"/>
          </a:xfrm>
          <a:prstGeom prst="roundRect">
            <a:avLst>
              <a:gd name="adj" fmla="val 18182"/>
            </a:avLst>
          </a:prstGeom>
          <a:solidFill>
            <a:schemeClr val="accent1"/>
          </a:solidFill>
          <a:ln/>
        </p:spPr>
      </p:sp>
      <p:sp>
        <p:nvSpPr>
          <p:cNvPr id="14" name="Shape 11"/>
          <p:cNvSpPr/>
          <p:nvPr/>
        </p:nvSpPr>
        <p:spPr>
          <a:xfrm>
            <a:off x="4337304" y="1801368"/>
            <a:ext cx="3514344" cy="182880"/>
          </a:xfrm>
          <a:prstGeom prst="rect">
            <a:avLst/>
          </a:prstGeom>
          <a:solidFill>
            <a:schemeClr val="accent1"/>
          </a:solidFill>
          <a:ln w="12700">
            <a:solidFill>
              <a:schemeClr val="accent1"/>
            </a:solidFill>
            <a:prstDash val="solid"/>
          </a:ln>
        </p:spPr>
      </p:sp>
      <p:sp>
        <p:nvSpPr>
          <p:cNvPr id="15" name="Text 12"/>
          <p:cNvSpPr txBox="1"/>
          <p:nvPr/>
        </p:nvSpPr>
        <p:spPr>
          <a:xfrm>
            <a:off x="4520184"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US</a:t>
            </a:r>
            <a:endParaRPr lang="en-US" sz="1500" dirty="0"/>
          </a:p>
        </p:txBody>
      </p:sp>
      <p:sp>
        <p:nvSpPr>
          <p:cNvPr id="16" name="Text 13"/>
          <p:cNvSpPr txBox="1"/>
          <p:nvPr/>
        </p:nvSpPr>
        <p:spPr>
          <a:xfrm>
            <a:off x="4520184" y="2084832"/>
            <a:ext cx="3148584" cy="346964"/>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Friday, November 13, 2026</a:t>
            </a:r>
            <a:endParaRPr lang="en-US" sz="2000" dirty="0"/>
          </a:p>
        </p:txBody>
      </p:sp>
      <p:sp>
        <p:nvSpPr>
          <p:cNvPr id="17" name="Text 14"/>
          <p:cNvSpPr txBox="1"/>
          <p:nvPr/>
        </p:nvSpPr>
        <p:spPr>
          <a:xfrm>
            <a:off x="4520184" y="2568956"/>
            <a:ext cx="3148584" cy="2725420"/>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Say: </a:t>
            </a:r>
            <a:r>
              <a:rPr lang="en-US" sz="2000" i="1" dirty="0">
                <a:solidFill>
                  <a:schemeClr val="tx1"/>
                </a:solidFill>
              </a:rPr>
              <a:t>November thirteenth</a:t>
            </a:r>
            <a:endParaRPr lang="en-US" sz="2000" dirty="0"/>
          </a:p>
          <a:p>
            <a:pPr marL="177800" indent="-177800">
              <a:spcAft>
                <a:spcPts val="600"/>
              </a:spcAft>
              <a:buSzPct val="100000"/>
              <a:buChar char="•"/>
            </a:pPr>
            <a:r>
              <a:rPr lang="en-US" sz="2000" dirty="0">
                <a:solidFill>
                  <a:schemeClr val="tx1"/>
                </a:solidFill>
              </a:rPr>
              <a:t>Comma before the year</a:t>
            </a:r>
            <a:endParaRPr lang="en-US" sz="2000" dirty="0"/>
          </a:p>
        </p:txBody>
      </p:sp>
      <p:sp>
        <p:nvSpPr>
          <p:cNvPr id="18" name="Shape 15"/>
          <p:cNvSpPr/>
          <p:nvPr/>
        </p:nvSpPr>
        <p:spPr>
          <a:xfrm>
            <a:off x="8125968" y="1481328"/>
            <a:ext cx="3514344" cy="3922776"/>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9" name="Shape 16"/>
          <p:cNvSpPr/>
          <p:nvPr/>
        </p:nvSpPr>
        <p:spPr>
          <a:xfrm>
            <a:off x="8125968" y="1481328"/>
            <a:ext cx="3514344" cy="502920"/>
          </a:xfrm>
          <a:prstGeom prst="roundRect">
            <a:avLst>
              <a:gd name="adj" fmla="val 18182"/>
            </a:avLst>
          </a:prstGeom>
          <a:solidFill>
            <a:schemeClr val="accent6"/>
          </a:solidFill>
          <a:ln/>
        </p:spPr>
      </p:sp>
      <p:sp>
        <p:nvSpPr>
          <p:cNvPr id="20" name="Shape 17"/>
          <p:cNvSpPr/>
          <p:nvPr/>
        </p:nvSpPr>
        <p:spPr>
          <a:xfrm>
            <a:off x="8125968" y="1801368"/>
            <a:ext cx="3514344" cy="182880"/>
          </a:xfrm>
          <a:prstGeom prst="rect">
            <a:avLst/>
          </a:prstGeom>
          <a:solidFill>
            <a:schemeClr val="accent6"/>
          </a:solidFill>
          <a:ln w="12700">
            <a:solidFill>
              <a:schemeClr val="accent6"/>
            </a:solidFill>
            <a:prstDash val="solid"/>
          </a:ln>
        </p:spPr>
      </p:sp>
      <p:sp>
        <p:nvSpPr>
          <p:cNvPr id="21" name="Text 18"/>
          <p:cNvSpPr txBox="1"/>
          <p:nvPr/>
        </p:nvSpPr>
        <p:spPr>
          <a:xfrm>
            <a:off x="8308848"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NEVER IN A COMMITMENT</a:t>
            </a:r>
            <a:endParaRPr lang="en-US" sz="1500" dirty="0"/>
          </a:p>
        </p:txBody>
      </p:sp>
      <p:sp>
        <p:nvSpPr>
          <p:cNvPr id="22" name="Text 19"/>
          <p:cNvSpPr txBox="1"/>
          <p:nvPr/>
        </p:nvSpPr>
        <p:spPr>
          <a:xfrm>
            <a:off x="8308848" y="2084832"/>
            <a:ext cx="3148584" cy="346964"/>
          </a:xfrm>
          <a:prstGeom prst="rect">
            <a:avLst/>
          </a:prstGeom>
          <a:noFill/>
          <a:ln/>
        </p:spPr>
        <p:txBody>
          <a:bodyPr wrap="square" lIns="0" tIns="0" rIns="0" bIns="0" rtlCol="0" anchor="t"/>
          <a:lstStyle/>
          <a:p>
            <a:pPr indent="0" marL="0">
              <a:buNone/>
            </a:pPr>
            <a:r>
              <a:rPr lang="en-US" sz="2000" b="1" dirty="0">
                <a:solidFill>
                  <a:schemeClr val="accent6"/>
                </a:solidFill>
                <a:latin typeface="+mj-lt" pitchFamily="34" charset="0"/>
                <a:ea typeface="+mj-lt" pitchFamily="34" charset="-122"/>
                <a:cs typeface="+mj-lt" pitchFamily="34" charset="-120"/>
              </a:rPr>
              <a:t>13/11/26</a:t>
            </a:r>
            <a:endParaRPr lang="en-US" sz="2000" dirty="0"/>
          </a:p>
        </p:txBody>
      </p:sp>
      <p:sp>
        <p:nvSpPr>
          <p:cNvPr id="23" name="Text 20"/>
          <p:cNvSpPr txBox="1"/>
          <p:nvPr/>
        </p:nvSpPr>
        <p:spPr>
          <a:xfrm>
            <a:off x="8308848" y="2568956"/>
            <a:ext cx="3148584" cy="2725420"/>
          </a:xfrm>
          <a:prstGeom prst="rect">
            <a:avLst/>
          </a:prstGeom>
          <a:noFill/>
          <a:ln/>
        </p:spPr>
        <p:txBody>
          <a:bodyPr wrap="square" lIns="0" tIns="0" rIns="0" bIns="0" rtlCol="0" anchor="t"/>
          <a:lstStyle/>
          <a:p>
            <a:pPr marL="177800" indent="-177800">
              <a:spcAft>
                <a:spcPts val="600"/>
              </a:spcAft>
              <a:buSzPct val="100000"/>
              <a:buChar char="•"/>
            </a:pPr>
            <a:r>
              <a:rPr lang="en-US" sz="2000" b="1" dirty="0">
                <a:solidFill>
                  <a:schemeClr val="tx1"/>
                </a:solidFill>
              </a:rPr>
              <a:t>04/05</a:t>
            </a:r>
            <a:r>
              <a:rPr lang="en-US" sz="2000" dirty="0">
                <a:solidFill>
                  <a:schemeClr val="tx1"/>
                </a:solidFill>
              </a:rPr>
              <a:t> = 4 May (UK) or April 5 (US)!</a:t>
            </a:r>
            <a:endParaRPr lang="en-US" sz="2000" dirty="0"/>
          </a:p>
          <a:p>
            <a:pPr marL="177800" indent="-177800">
              <a:spcAft>
                <a:spcPts val="600"/>
              </a:spcAft>
              <a:buSzPct val="100000"/>
              <a:buChar char="•"/>
            </a:pPr>
            <a:r>
              <a:rPr lang="en-US" sz="2000" dirty="0">
                <a:solidFill>
                  <a:schemeClr val="tx1"/>
                </a:solidFill>
              </a:rPr>
              <a:t>Write the </a:t>
            </a:r>
            <a:r>
              <a:rPr lang="en-US" sz="2000" b="1" dirty="0">
                <a:solidFill>
                  <a:schemeClr val="tx1"/>
                </a:solidFill>
              </a:rPr>
              <a:t>month in letters</a:t>
            </a:r>
            <a:r>
              <a:rPr lang="en-US" sz="2000" dirty="0">
                <a:solidFill>
                  <a:schemeClr val="tx1"/>
                </a:solidFill>
              </a:rPr>
              <a:t>.</a:t>
            </a:r>
            <a:endParaRPr lang="en-US" sz="2000" dirty="0"/>
          </a:p>
        </p:txBody>
      </p:sp>
      <p:sp>
        <p:nvSpPr>
          <p:cNvPr id="24" name="Shape 21"/>
          <p:cNvSpPr/>
          <p:nvPr/>
        </p:nvSpPr>
        <p:spPr>
          <a:xfrm>
            <a:off x="548640" y="5605272"/>
            <a:ext cx="11091672" cy="685800"/>
          </a:xfrm>
          <a:prstGeom prst="roundRect">
            <a:avLst>
              <a:gd name="adj" fmla="val 10667"/>
            </a:avLst>
          </a:prstGeom>
          <a:solidFill>
            <a:schemeClr val="accent2">
              <a:alpha val="10000"/>
            </a:schemeClr>
          </a:solidFill>
          <a:ln w="9525">
            <a:solidFill>
              <a:schemeClr val="accent2">
                <a:alpha val="70000"/>
              </a:schemeClr>
            </a:solidFill>
            <a:prstDash val="solid"/>
          </a:ln>
        </p:spPr>
      </p:sp>
      <p:pic>
        <p:nvPicPr>
          <p:cNvPr id="25" name="Image 0" descr="preencoded.png">    </p:cNvPr>
          <p:cNvPicPr>
            <a:picLocks noChangeAspect="1"/>
          </p:cNvPicPr>
          <p:nvPr/>
        </p:nvPicPr>
        <p:blipFill>
          <a:blip r:embed="rId1"/>
          <a:stretch>
            <a:fillRect/>
          </a:stretch>
        </p:blipFill>
        <p:spPr>
          <a:xfrm>
            <a:off x="749808" y="5783580"/>
            <a:ext cx="329184" cy="329184"/>
          </a:xfrm>
          <a:prstGeom prst="rect">
            <a:avLst/>
          </a:prstGeom>
        </p:spPr>
      </p:pic>
      <p:sp>
        <p:nvSpPr>
          <p:cNvPr id="26" name="Text 22"/>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2"/>
                </a:solidFill>
              </a:rPr>
              <a:t>Astuce — </a:t>
            </a:r>
            <a:r>
              <a:rPr lang="en-US" sz="1700" dirty="0">
                <a:solidFill>
                  <a:schemeClr val="tx1"/>
                </a:solidFill>
              </a:rPr>
              <a:t>Prepositions: </a:t>
            </a:r>
            <a:r>
              <a:rPr lang="en-US" sz="1700" b="1" dirty="0">
                <a:solidFill>
                  <a:schemeClr val="tx1"/>
                </a:solidFill>
              </a:rPr>
              <a:t>on</a:t>
            </a:r>
            <a:r>
              <a:rPr lang="en-US" sz="1700" dirty="0">
                <a:solidFill>
                  <a:schemeClr val="tx1"/>
                </a:solidFill>
              </a:rPr>
              <a:t> 13 November · </a:t>
            </a:r>
            <a:r>
              <a:rPr lang="en-US" sz="1700" b="1" dirty="0">
                <a:solidFill>
                  <a:schemeClr val="tx1"/>
                </a:solidFill>
              </a:rPr>
              <a:t>in</a:t>
            </a:r>
            <a:r>
              <a:rPr lang="en-US" sz="1700" dirty="0">
                <a:solidFill>
                  <a:schemeClr val="tx1"/>
                </a:solidFill>
              </a:rPr>
              <a:t> November · </a:t>
            </a:r>
            <a:r>
              <a:rPr lang="en-US" sz="1700" b="1" dirty="0">
                <a:solidFill>
                  <a:schemeClr val="tx1"/>
                </a:solidFill>
              </a:rPr>
              <a:t>by</a:t>
            </a:r>
            <a:r>
              <a:rPr lang="en-US" sz="1700" dirty="0">
                <a:solidFill>
                  <a:schemeClr val="tx1"/>
                </a:solidFill>
              </a:rPr>
              <a:t> 13 November (au plus tard) · </a:t>
            </a:r>
            <a:r>
              <a:rPr lang="en-US" sz="1700" b="1" dirty="0">
                <a:solidFill>
                  <a:schemeClr val="tx1"/>
                </a:solidFill>
              </a:rPr>
              <a:t>until</a:t>
            </a:r>
            <a:r>
              <a:rPr lang="en-US" sz="1700" dirty="0">
                <a:solidFill>
                  <a:schemeClr val="tx1"/>
                </a:solidFill>
              </a:rPr>
              <a:t> 13 November (jusqu’à).</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Section five — what happens next</a:t>
            </a:r>
            <a:endParaRPr lang="en-US" sz="3200" dirty="0"/>
          </a:p>
        </p:txBody>
      </p:sp>
      <p:sp>
        <p:nvSpPr>
          <p:cNvPr id="3" name="tag"/>
          <p:cNvSpPr/>
          <p:nvPr/>
        </p:nvSpPr>
        <p:spPr>
          <a:xfrm>
            <a:off x="548640" y="237744"/>
            <a:ext cx="139446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a:t>
            </a:r>
            <a:endParaRPr lang="en-US" sz="1200" dirty="0"/>
          </a:p>
        </p:txBody>
      </p:sp>
      <p:sp>
        <p:nvSpPr>
          <p:cNvPr id="5" name="Text 3"/>
          <p:cNvSpPr txBox="1"/>
          <p:nvPr/>
        </p:nvSpPr>
        <p:spPr>
          <a:xfrm>
            <a:off x="548640" y="1481328"/>
            <a:ext cx="7479792" cy="615696"/>
          </a:xfrm>
          <a:prstGeom prst="rect">
            <a:avLst/>
          </a:prstGeom>
          <a:noFill/>
          <a:ln/>
        </p:spPr>
        <p:txBody>
          <a:bodyPr wrap="square" lIns="0" tIns="0" rIns="0" bIns="0" rtlCol="0" anchor="t"/>
          <a:lstStyle/>
          <a:p>
            <a:pPr indent="0" marL="0">
              <a:buNone/>
            </a:pPr>
            <a:r>
              <a:rPr lang="en-US" sz="1600" i="1" dirty="0">
                <a:solidFill>
                  <a:schemeClr val="accent5"/>
                </a:solidFill>
              </a:rPr>
              <a:t>Sign something verifiable. Two sentences: a full English date and a professional closing.</a:t>
            </a:r>
            <a:endParaRPr lang="en-US" sz="1600" dirty="0"/>
          </a:p>
        </p:txBody>
      </p:sp>
      <p:sp>
        <p:nvSpPr>
          <p:cNvPr id="6" name="exercise"/>
          <p:cNvSpPr txBox="1"/>
          <p:nvPr/>
        </p:nvSpPr>
        <p:spPr>
          <a:xfrm>
            <a:off x="548640" y="2170176"/>
            <a:ext cx="7479792" cy="4120896"/>
          </a:xfrm>
          <a:prstGeom prst="rect">
            <a:avLst/>
          </a:prstGeom>
          <a:noFill/>
          <a:ln/>
        </p:spPr>
        <p:txBody>
          <a:bodyPr wrap="square" lIns="0" tIns="0" rIns="0" bIns="0" rtlCol="0" anchor="t"/>
          <a:lstStyle/>
          <a:p>
            <a:pPr indent="0" marL="0">
              <a:spcAft>
                <a:spcPts val="1400"/>
              </a:spcAft>
              <a:buNone/>
            </a:pPr>
            <a:r>
              <a:rPr lang="en-US" sz="2600" dirty="0">
                <a:solidFill>
                  <a:schemeClr val="tx1"/>
                </a:solidFill>
              </a:rPr>
              <a:t>Write section five.</a:t>
            </a:r>
            <a:endParaRPr lang="en-US" sz="2600" dirty="0"/>
          </a:p>
        </p:txBody>
      </p:sp>
      <p:sp>
        <p:nvSpPr>
          <p:cNvPr id="7" name="aside"/>
          <p:cNvSpPr/>
          <p:nvPr/>
        </p:nvSpPr>
        <p:spPr>
          <a:xfrm>
            <a:off x="8348472" y="1481328"/>
            <a:ext cx="3291840" cy="4809744"/>
          </a:xfrm>
          <a:prstGeom prst="roundRect">
            <a:avLst>
              <a:gd name="adj" fmla="val 2222"/>
            </a:avLst>
          </a:prstGeom>
          <a:solidFill>
            <a:schemeClr val="accent3">
              <a:alpha val="10000"/>
            </a:schemeClr>
          </a:solidFill>
          <a:ln w="12700">
            <a:solidFill>
              <a:schemeClr val="accent3">
                <a:alpha val="60000"/>
              </a:schemeClr>
            </a:solidFill>
            <a:prstDash val="solid"/>
          </a:ln>
        </p:spPr>
      </p:sp>
      <p:pic>
        <p:nvPicPr>
          <p:cNvPr id="8" name="Image 0" descr="preencoded.png">    </p:cNvPr>
          <p:cNvPicPr>
            <a:picLocks noChangeAspect="1"/>
          </p:cNvPicPr>
          <p:nvPr/>
        </p:nvPicPr>
        <p:blipFill>
          <a:blip r:embed="rId1"/>
          <a:stretch>
            <a:fillRect/>
          </a:stretch>
        </p:blipFill>
        <p:spPr>
          <a:xfrm>
            <a:off x="8531352" y="1664208"/>
            <a:ext cx="292608" cy="292608"/>
          </a:xfrm>
          <a:prstGeom prst="rect">
            <a:avLst/>
          </a:prstGeom>
        </p:spPr>
      </p:pic>
      <p:sp>
        <p:nvSpPr>
          <p:cNvPr id="9" name="Text 6"/>
          <p:cNvSpPr txBox="1"/>
          <p:nvPr/>
        </p:nvSpPr>
        <p:spPr>
          <a:xfrm>
            <a:off x="8915400" y="1636776"/>
            <a:ext cx="2560320"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CLOSING FORMULAS</a:t>
            </a:r>
            <a:endParaRPr lang="en-US" sz="1400" dirty="0"/>
          </a:p>
        </p:txBody>
      </p:sp>
      <p:sp>
        <p:nvSpPr>
          <p:cNvPr id="10" name="Text 7"/>
          <p:cNvSpPr txBox="1"/>
          <p:nvPr/>
        </p:nvSpPr>
        <p:spPr>
          <a:xfrm>
            <a:off x="8513064" y="2075688"/>
            <a:ext cx="2962656"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Please do not hesitate to contact me if …</a:t>
            </a:r>
            <a:endParaRPr lang="en-US" sz="1800" dirty="0"/>
          </a:p>
          <a:p>
            <a:pPr marL="177800" indent="-177800">
              <a:spcAft>
                <a:spcPts val="600"/>
              </a:spcAft>
              <a:buSzPct val="100000"/>
              <a:buChar char="•"/>
            </a:pPr>
            <a:r>
              <a:rPr lang="en-US" sz="1800" dirty="0">
                <a:solidFill>
                  <a:schemeClr val="tx1"/>
                </a:solidFill>
              </a:rPr>
              <a:t>I would be happy to provide …</a:t>
            </a:r>
            <a:endParaRPr lang="en-US" sz="1800" dirty="0"/>
          </a:p>
          <a:p>
            <a:pPr marL="177800" indent="-177800">
              <a:spcAft>
                <a:spcPts val="600"/>
              </a:spcAft>
              <a:buSzPct val="100000"/>
              <a:buChar char="•"/>
            </a:pPr>
            <a:r>
              <a:rPr lang="en-US" sz="1800" dirty="0">
                <a:solidFill>
                  <a:schemeClr val="tx1"/>
                </a:solidFill>
              </a:rPr>
              <a:t>Kind regards, / Yours sincerely,</a:t>
            </a:r>
            <a:endParaRPr lang="en-US" sz="1800" dirty="0"/>
          </a:p>
          <a:p>
            <a:pPr marL="177800" indent="-177800">
              <a:spcAft>
                <a:spcPts val="600"/>
              </a:spcAft>
              <a:buSzPct val="100000"/>
              <a:buChar char="•"/>
            </a:pPr>
            <a:r>
              <a:rPr lang="en-US" sz="1800" dirty="0">
                <a:solidFill>
                  <a:schemeClr val="tx1"/>
                </a:solidFill>
              </a:rPr>
              <a:t>+ </a:t>
            </a:r>
            <a:r>
              <a:rPr lang="en-US" sz="1800" b="1" dirty="0">
                <a:solidFill>
                  <a:schemeClr val="tx1"/>
                </a:solidFill>
              </a:rPr>
              <a:t>your name, role, firm</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Section five — what happens next</a:t>
            </a:r>
            <a:endParaRPr lang="en-US" sz="3200" dirty="0"/>
          </a:p>
        </p:txBody>
      </p:sp>
      <p:sp>
        <p:nvSpPr>
          <p:cNvPr id="3" name="tag"/>
          <p:cNvSpPr/>
          <p:nvPr/>
        </p:nvSpPr>
        <p:spPr>
          <a:xfrm>
            <a:off x="548640" y="237744"/>
            <a:ext cx="139446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ag"/>
          <p:cNvSpPr/>
          <p:nvPr/>
        </p:nvSpPr>
        <p:spPr>
          <a:xfrm>
            <a:off x="2052828" y="237744"/>
            <a:ext cx="18745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a:t>
            </a:r>
            <a:endParaRPr lang="en-US" sz="1200" dirty="0"/>
          </a:p>
        </p:txBody>
      </p:sp>
      <p:sp>
        <p:nvSpPr>
          <p:cNvPr id="6" name="Text 4"/>
          <p:cNvSpPr txBox="1"/>
          <p:nvPr/>
        </p:nvSpPr>
        <p:spPr>
          <a:xfrm>
            <a:off x="548640" y="1481328"/>
            <a:ext cx="7479792" cy="615696"/>
          </a:xfrm>
          <a:prstGeom prst="rect">
            <a:avLst/>
          </a:prstGeom>
          <a:noFill/>
          <a:ln/>
        </p:spPr>
        <p:txBody>
          <a:bodyPr wrap="square" lIns="0" tIns="0" rIns="0" bIns="0" rtlCol="0" anchor="t"/>
          <a:lstStyle/>
          <a:p>
            <a:pPr indent="0" marL="0">
              <a:buNone/>
            </a:pPr>
            <a:r>
              <a:rPr lang="en-US" sz="1600" i="1" dirty="0">
                <a:solidFill>
                  <a:schemeClr val="accent5"/>
                </a:solidFill>
              </a:rPr>
              <a:t>Sign something verifiable. Two sentences: a full English date and a professional closing.</a:t>
            </a:r>
            <a:endParaRPr lang="en-US" sz="1600" dirty="0"/>
          </a:p>
        </p:txBody>
      </p:sp>
      <p:sp>
        <p:nvSpPr>
          <p:cNvPr id="7" name="exercise"/>
          <p:cNvSpPr txBox="1"/>
          <p:nvPr/>
        </p:nvSpPr>
        <p:spPr>
          <a:xfrm>
            <a:off x="548640" y="2170176"/>
            <a:ext cx="7479792" cy="4120896"/>
          </a:xfrm>
          <a:prstGeom prst="rect">
            <a:avLst/>
          </a:prstGeom>
          <a:noFill/>
          <a:ln/>
        </p:spPr>
        <p:txBody>
          <a:bodyPr wrap="square" lIns="0" tIns="0" rIns="0" bIns="0" rtlCol="0" anchor="t"/>
          <a:lstStyle/>
          <a:p>
            <a:pPr indent="0" marL="0">
              <a:spcAft>
                <a:spcPts val="400"/>
              </a:spcAft>
              <a:buNone/>
            </a:pPr>
            <a:r>
              <a:rPr lang="en-US" sz="2400" dirty="0">
                <a:solidFill>
                  <a:schemeClr val="tx1"/>
                </a:solidFill>
              </a:rPr>
              <a:t>Write section five.</a:t>
            </a:r>
            <a:endParaRPr lang="en-US" sz="2400" dirty="0"/>
          </a:p>
          <a:p>
            <a:pPr indent="0" marL="0">
              <a:spcAft>
                <a:spcPts val="1200"/>
              </a:spcAft>
              <a:buNone/>
            </a:pPr>
            <a:r>
              <a:rPr lang="en-US" sz="2400" b="1" dirty="0">
                <a:solidFill>
                  <a:schemeClr val="accent3"/>
                </a:solidFill>
              </a:rPr>
              <a:t>→ </a:t>
            </a:r>
            <a:r>
              <a:rPr lang="en-US" sz="2400" i="1" dirty="0">
                <a:solidFill>
                  <a:schemeClr val="accent3"/>
                </a:solidFill>
              </a:rPr>
              <a:t>Corven Property Management will send a revised inventory by 14 November 2026. Please do not hesitate to contact me if you need any further information.</a:t>
            </a:r>
            <a:endParaRPr lang="en-US" sz="2400" dirty="0"/>
          </a:p>
        </p:txBody>
      </p:sp>
      <p:sp>
        <p:nvSpPr>
          <p:cNvPr id="8" name="aside"/>
          <p:cNvSpPr/>
          <p:nvPr/>
        </p:nvSpPr>
        <p:spPr>
          <a:xfrm>
            <a:off x="8348472" y="1481328"/>
            <a:ext cx="3291840" cy="4809744"/>
          </a:xfrm>
          <a:prstGeom prst="roundRect">
            <a:avLst>
              <a:gd name="adj" fmla="val 2222"/>
            </a:avLst>
          </a:prstGeom>
          <a:solidFill>
            <a:schemeClr val="accent3">
              <a:alpha val="10000"/>
            </a:schemeClr>
          </a:solidFill>
          <a:ln w="12700">
            <a:solidFill>
              <a:schemeClr val="accent3">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531352" y="1664208"/>
            <a:ext cx="292608" cy="292608"/>
          </a:xfrm>
          <a:prstGeom prst="rect">
            <a:avLst/>
          </a:prstGeom>
        </p:spPr>
      </p:pic>
      <p:sp>
        <p:nvSpPr>
          <p:cNvPr id="10" name="Text 7"/>
          <p:cNvSpPr txBox="1"/>
          <p:nvPr/>
        </p:nvSpPr>
        <p:spPr>
          <a:xfrm>
            <a:off x="8915400" y="1636776"/>
            <a:ext cx="2560320"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CLOSING FORMULAS</a:t>
            </a:r>
            <a:endParaRPr lang="en-US" sz="1400" dirty="0"/>
          </a:p>
        </p:txBody>
      </p:sp>
      <p:sp>
        <p:nvSpPr>
          <p:cNvPr id="11" name="Text 8"/>
          <p:cNvSpPr txBox="1"/>
          <p:nvPr/>
        </p:nvSpPr>
        <p:spPr>
          <a:xfrm>
            <a:off x="8513064" y="2075688"/>
            <a:ext cx="2962656"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Please do not hesitate to contact me if …</a:t>
            </a:r>
            <a:endParaRPr lang="en-US" sz="1800" dirty="0"/>
          </a:p>
          <a:p>
            <a:pPr marL="177800" indent="-177800">
              <a:spcAft>
                <a:spcPts val="600"/>
              </a:spcAft>
              <a:buSzPct val="100000"/>
              <a:buChar char="•"/>
            </a:pPr>
            <a:r>
              <a:rPr lang="en-US" sz="1800" dirty="0">
                <a:solidFill>
                  <a:schemeClr val="tx1"/>
                </a:solidFill>
              </a:rPr>
              <a:t>I would be happy to provide …</a:t>
            </a:r>
            <a:endParaRPr lang="en-US" sz="1800" dirty="0"/>
          </a:p>
          <a:p>
            <a:pPr marL="177800" indent="-177800">
              <a:spcAft>
                <a:spcPts val="600"/>
              </a:spcAft>
              <a:buSzPct val="100000"/>
              <a:buChar char="•"/>
            </a:pPr>
            <a:r>
              <a:rPr lang="en-US" sz="1800" dirty="0">
                <a:solidFill>
                  <a:schemeClr val="tx1"/>
                </a:solidFill>
              </a:rPr>
              <a:t>Kind regards, / Yours sincerely,</a:t>
            </a:r>
            <a:endParaRPr lang="en-US" sz="1800" dirty="0"/>
          </a:p>
          <a:p>
            <a:pPr marL="177800" indent="-177800">
              <a:spcAft>
                <a:spcPts val="600"/>
              </a:spcAft>
              <a:buSzPct val="100000"/>
              <a:buChar char="•"/>
            </a:pPr>
            <a:r>
              <a:rPr lang="en-US" sz="1800" dirty="0">
                <a:solidFill>
                  <a:schemeClr val="tx1"/>
                </a:solidFill>
              </a:rPr>
              <a:t>+ </a:t>
            </a:r>
            <a:r>
              <a:rPr lang="en-US" sz="1800" b="1" dirty="0">
                <a:solidFill>
                  <a:schemeClr val="tx1"/>
                </a:solidFill>
              </a:rPr>
              <a:t>your name, role, firm</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Your firm’s file (1/2)</a:t>
            </a:r>
            <a:endParaRPr lang="en-US" sz="3200" dirty="0"/>
          </a:p>
        </p:txBody>
      </p:sp>
      <p:sp>
        <p:nvSpPr>
          <p:cNvPr id="3" name="tag"/>
          <p:cNvSpPr/>
          <p:nvPr/>
        </p:nvSpPr>
        <p:spPr>
          <a:xfrm>
            <a:off x="548640" y="237744"/>
            <a:ext cx="16230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YOUR EXPERT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45–46</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Use at least four of these. They are the only facts you have that nobody else in the room has.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1828800"/>
                <a:gridCol w="4631436"/>
                <a:gridCol w="4631436"/>
              </a:tblGrid>
              <a:tr h="541325">
                <a:tc>
                  <a:txBody>
                    <a:bodyPr/>
                    <a:lstStyle/>
                    <a:p>
                      <a:pPr algn="l" indent="0" marL="0">
                        <a:buNone/>
                      </a:pP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700" b="1" dirty="0">
                          <a:solidFill>
                            <a:schemeClr val="bg1"/>
                          </a:solidFill>
                        </a:rPr>
                        <a:t>ACC</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4E79"/>
                    </a:solidFill>
                  </a:tcPr>
                </a:tc>
                <a:tc>
                  <a:txBody>
                    <a:bodyPr/>
                    <a:lstStyle/>
                    <a:p>
                      <a:pPr algn="l" indent="0" marL="0">
                        <a:buNone/>
                      </a:pPr>
                      <a:r>
                        <a:rPr lang="en-US" sz="1700" b="1" dirty="0">
                          <a:solidFill>
                            <a:schemeClr val="bg1"/>
                          </a:solidFill>
                        </a:rPr>
                        <a:t>IT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E7C66"/>
                    </a:solidFill>
                  </a:tcPr>
                </a:tc>
              </a:tr>
              <a:tr h="442570">
                <a:tc>
                  <a:txBody>
                    <a:bodyPr/>
                    <a:lstStyle/>
                    <a:p>
                      <a:pPr algn="l" indent="0" marL="0">
                        <a:buNone/>
                      </a:pPr>
                      <a:r>
                        <a:rPr lang="en-US" sz="1900" b="1" dirty="0">
                          <a:solidFill>
                            <a:schemeClr val="tx1"/>
                          </a:solidFill>
                        </a:rPr>
                        <a:t>You are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senior accountant, Blanchet &amp; Renard</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IT service manager, Northline IT Services</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42570">
                <a:tc>
                  <a:txBody>
                    <a:bodyPr/>
                    <a:lstStyle/>
                    <a:p>
                      <a:pPr algn="l" indent="0" marL="0">
                        <a:buNone/>
                      </a:pPr>
                      <a:r>
                        <a:rPr lang="en-US" sz="1900" b="1" dirty="0">
                          <a:solidFill>
                            <a:schemeClr val="tx1"/>
                          </a:solidFill>
                        </a:rPr>
                        <a:t>Already done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claim file opened; €12,000 provision made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logs examined; service restored at 9 a.m.</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37006">
                <a:tc>
                  <a:txBody>
                    <a:bodyPr/>
                    <a:lstStyle/>
                    <a:p>
                      <a:pPr algn="l" indent="0" marL="0">
                        <a:buNone/>
                      </a:pPr>
                      <a:r>
                        <a:rPr lang="en-US" sz="1900" b="1" dirty="0">
                          <a:solidFill>
                            <a:schemeClr val="tx1"/>
                          </a:solidFill>
                        </a:rPr>
                        <a:t>Not yet done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no repair estimate received; premium not recalculated</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basement not inspected; two racks not restarted</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37006">
                <a:tc>
                  <a:txBody>
                    <a:bodyPr/>
                    <a:lstStyle/>
                    <a:p>
                      <a:pPr algn="l" indent="0" marL="0">
                        <a:buNone/>
                      </a:pPr>
                      <a:r>
                        <a:rPr lang="en-US" sz="1900" b="1" dirty="0">
                          <a:solidFill>
                            <a:schemeClr val="tx1"/>
                          </a:solidFill>
                        </a:rPr>
                        <a:t>History</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comparable claim last November, settled at 80 %</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comparable outage last November, nine hours of downtime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37006">
                <a:tc>
                  <a:txBody>
                    <a:bodyPr/>
                    <a:lstStyle/>
                    <a:p>
                      <a:pPr algn="l" indent="0" marL="0">
                        <a:buNone/>
                      </a:pPr>
                      <a:r>
                        <a:rPr lang="en-US" sz="1900" b="1" dirty="0">
                          <a:solidFill>
                            <a:schemeClr val="tx1"/>
                          </a:solidFill>
                        </a:rPr>
                        <a:t>You advise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not to file before the cause is established in writing</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moving the server rack out of the technical room</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37006">
                <a:tc>
                  <a:txBody>
                    <a:bodyPr/>
                    <a:lstStyle/>
                    <a:p>
                      <a:pPr algn="l" indent="0" marL="0">
                        <a:buNone/>
                      </a:pPr>
                      <a:r>
                        <a:rPr lang="en-US" sz="1900" b="1" dirty="0">
                          <a:solidFill>
                            <a:schemeClr val="tx1"/>
                          </a:solidFill>
                        </a:rPr>
                        <a:t>You commit to</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full costing by Friday 14 November 2026</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full technical report by Friday 14 November 2026</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Your firm’s file (2/2)</a:t>
            </a:r>
            <a:endParaRPr lang="en-US" sz="3200" dirty="0"/>
          </a:p>
        </p:txBody>
      </p:sp>
      <p:sp>
        <p:nvSpPr>
          <p:cNvPr id="3" name="tag"/>
          <p:cNvSpPr/>
          <p:nvPr/>
        </p:nvSpPr>
        <p:spPr>
          <a:xfrm>
            <a:off x="548640" y="237744"/>
            <a:ext cx="16230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YOUR EXPERT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45–46</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Use at least four of these. They are the only facts you have that nobody else in the room has.</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1828800"/>
                <a:gridCol w="4631436"/>
                <a:gridCol w="4631436"/>
              </a:tblGrid>
              <a:tr h="520294">
                <a:tc>
                  <a:txBody>
                    <a:bodyPr/>
                    <a:lstStyle/>
                    <a:p>
                      <a:pPr algn="l" indent="0" marL="0">
                        <a:buNone/>
                      </a:pP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LAW</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8B3A2F"/>
                    </a:solidFill>
                  </a:tcPr>
                </a:tc>
                <a:tc>
                  <a:txBody>
                    <a:bodyPr/>
                    <a:lstStyle/>
                    <a:p>
                      <a:pPr algn="l" indent="0" marL="0">
                        <a:buNone/>
                      </a:pPr>
                      <a:r>
                        <a:rPr lang="en-US" sz="1500" b="1" dirty="0">
                          <a:solidFill>
                            <a:schemeClr val="bg1"/>
                          </a:solidFill>
                        </a:rPr>
                        <a:t>RE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B8782A"/>
                    </a:solidFill>
                  </a:tcPr>
                </a:tc>
              </a:tr>
              <a:tr h="685800">
                <a:tc>
                  <a:txBody>
                    <a:bodyPr/>
                    <a:lstStyle/>
                    <a:p>
                      <a:pPr algn="l" indent="0" marL="0">
                        <a:buNone/>
                      </a:pPr>
                      <a:r>
                        <a:rPr lang="en-US" sz="1700" b="1" dirty="0">
                          <a:solidFill>
                            <a:schemeClr val="tx1"/>
                          </a:solidFill>
                        </a:rPr>
                        <a:t>You are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legal counsel, Harwell Legal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letting and property manager, Corven Property Management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5800">
                <a:tc>
                  <a:txBody>
                    <a:bodyPr/>
                    <a:lstStyle/>
                    <a:p>
                      <a:pPr algn="l" indent="0" marL="0">
                        <a:buNone/>
                      </a:pPr>
                      <a:r>
                        <a:rPr lang="en-US" sz="1700" b="1" dirty="0">
                          <a:solidFill>
                            <a:schemeClr val="tx1"/>
                          </a:solidFill>
                        </a:rPr>
                        <a:t>Already done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landlord notified in writing; force majeure clause reviewed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photographs taken; second floor closed to viewings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85800">
                <a:tc>
                  <a:txBody>
                    <a:bodyPr/>
                    <a:lstStyle/>
                    <a:p>
                      <a:pPr algn="l" indent="0" marL="0">
                        <a:buNone/>
                      </a:pPr>
                      <a:r>
                        <a:rPr lang="en-US" sz="1700" b="1" dirty="0">
                          <a:solidFill>
                            <a:schemeClr val="tx1"/>
                          </a:solidFill>
                        </a:rPr>
                        <a:t>Not yet done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contractor’s statement not signed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inventory of fixtures not updated; floor not made good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5800">
                <a:tc>
                  <a:txBody>
                    <a:bodyPr/>
                    <a:lstStyle/>
                    <a:p>
                      <a:pPr algn="l" indent="0" marL="0">
                        <a:buNone/>
                      </a:pPr>
                      <a:r>
                        <a:rPr lang="en-US" sz="1700" b="1" dirty="0">
                          <a:solidFill>
                            <a:schemeClr val="tx1"/>
                          </a:solidFill>
                        </a:rPr>
                        <a:t>History</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comparable dispute last November, settled amicably</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comparable leak last November, same section of pipework</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85800">
                <a:tc>
                  <a:txBody>
                    <a:bodyPr/>
                    <a:lstStyle/>
                    <a:p>
                      <a:pPr algn="l" indent="0" marL="0">
                        <a:buNone/>
                      </a:pPr>
                      <a:r>
                        <a:rPr lang="en-US" sz="1700" b="1" dirty="0">
                          <a:solidFill>
                            <a:schemeClr val="tx1"/>
                          </a:solidFill>
                        </a:rPr>
                        <a:t>You advise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not to raise negligence until the cause is established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inspecting the whole run before the handover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22453">
                <a:tc>
                  <a:txBody>
                    <a:bodyPr/>
                    <a:lstStyle/>
                    <a:p>
                      <a:pPr algn="l" indent="0" marL="0">
                        <a:buNone/>
                      </a:pPr>
                      <a:r>
                        <a:rPr lang="en-US" sz="1700" b="1" dirty="0">
                          <a:solidFill>
                            <a:schemeClr val="tx1"/>
                          </a:solidFill>
                        </a:rPr>
                        <a:t>You commit to</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full legal opinion by Friday 14 November 2026</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revised inventory by Friday 14 November 2026</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From your file to your sentences</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EXTRA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45–46</a:t>
            </a:r>
            <a:endParaRPr lang="en-US" sz="1200" dirty="0"/>
          </a:p>
        </p:txBody>
      </p:sp>
      <p:sp>
        <p:nvSpPr>
          <p:cNvPr id="5"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Turn each line of the file into a sentence for the report.</a:t>
            </a:r>
            <a:endParaRPr lang="en-US" sz="1600" dirty="0"/>
          </a:p>
        </p:txBody>
      </p:sp>
      <p:sp>
        <p:nvSpPr>
          <p:cNvPr id="6"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300" b="1" dirty="0">
                <a:solidFill>
                  <a:schemeClr val="tx2"/>
                </a:solidFill>
              </a:rPr>
              <a:t>1.  </a:t>
            </a:r>
            <a:r>
              <a:rPr lang="en-US" sz="2300" dirty="0">
                <a:solidFill>
                  <a:schemeClr val="tx1"/>
                </a:solidFill>
              </a:rPr>
              <a:t>Already done (ACC): claim file opened; €12,000 provision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2.  </a:t>
            </a:r>
            <a:r>
              <a:rPr lang="en-US" sz="2300" dirty="0">
                <a:solidFill>
                  <a:schemeClr val="tx1"/>
                </a:solidFill>
              </a:rPr>
              <a:t>Not yet done (IT): basement not inspected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3.  </a:t>
            </a:r>
            <a:r>
              <a:rPr lang="en-US" sz="2300" dirty="0">
                <a:solidFill>
                  <a:schemeClr val="tx1"/>
                </a:solidFill>
              </a:rPr>
              <a:t>History (LAW): comparable dispute last November → </a:t>
            </a:r>
            <a:r>
              <a:rPr lang="en-US" sz="2300" dirty="0">
                <a:solidFill>
                  <a:schemeClr val="accent5"/>
                </a:solidFill>
              </a:rPr>
              <a:t>……………………………………</a:t>
            </a:r>
            <a:endParaRPr lang="en-US" sz="2300" dirty="0"/>
          </a:p>
          <a:p>
            <a:pPr indent="0" marL="0">
              <a:spcAft>
                <a:spcPts val="1000"/>
              </a:spcAft>
              <a:buNone/>
            </a:pPr>
            <a:r>
              <a:rPr lang="en-US" sz="2300" b="1" dirty="0">
                <a:solidFill>
                  <a:schemeClr val="tx2"/>
                </a:solidFill>
              </a:rPr>
              <a:t>4.  </a:t>
            </a:r>
            <a:r>
              <a:rPr lang="en-US" sz="2300" dirty="0">
                <a:solidFill>
                  <a:schemeClr val="tx1"/>
                </a:solidFill>
              </a:rPr>
              <a:t>You advise (RE): inspecting the whole run → </a:t>
            </a:r>
            <a:r>
              <a:rPr lang="en-US" sz="2300" dirty="0">
                <a:solidFill>
                  <a:schemeClr val="accent5"/>
                </a:solidFill>
              </a:rPr>
              <a:t>……………………………………</a:t>
            </a:r>
            <a:endParaRPr lang="en-US" sz="2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From your file to your sentences</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EXTRA</a:t>
            </a:r>
            <a:endParaRPr lang="en-US" sz="1200" dirty="0"/>
          </a:p>
        </p:txBody>
      </p:sp>
      <p:sp>
        <p:nvSpPr>
          <p:cNvPr id="4" name="tag"/>
          <p:cNvSpPr/>
          <p:nvPr/>
        </p:nvSpPr>
        <p:spPr>
          <a:xfrm>
            <a:off x="1824228" y="237744"/>
            <a:ext cx="18745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45–46</a:t>
            </a:r>
            <a:endParaRPr lang="en-US" sz="1200" dirty="0"/>
          </a:p>
        </p:txBody>
      </p:sp>
      <p:sp>
        <p:nvSpPr>
          <p:cNvPr id="6"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Turn each line of the file into a sentence for the report.</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300" b="1" dirty="0">
                <a:solidFill>
                  <a:schemeClr val="tx2"/>
                </a:solidFill>
              </a:rPr>
              <a:t>1.  </a:t>
            </a:r>
            <a:r>
              <a:rPr lang="en-US" sz="2300" dirty="0">
                <a:solidFill>
                  <a:schemeClr val="tx1"/>
                </a:solidFill>
              </a:rPr>
              <a:t>Already done (ACC): claim file opened; €12,000 provision → </a:t>
            </a:r>
            <a:r>
              <a:rPr lang="en-US" sz="2300" b="1" dirty="0">
                <a:solidFill>
                  <a:schemeClr val="accent3"/>
                </a:solidFill>
              </a:rPr>
              <a:t>We have already opened a claim file and made a provision of €12,000.</a:t>
            </a:r>
            <a:endParaRPr lang="en-US" sz="2300" dirty="0"/>
          </a:p>
          <a:p>
            <a:pPr indent="0" marL="0">
              <a:spcAft>
                <a:spcPts val="1000"/>
              </a:spcAft>
              <a:buNone/>
            </a:pPr>
            <a:r>
              <a:rPr lang="en-US" sz="2300" b="1" dirty="0">
                <a:solidFill>
                  <a:schemeClr val="tx2"/>
                </a:solidFill>
              </a:rPr>
              <a:t>2.  </a:t>
            </a:r>
            <a:r>
              <a:rPr lang="en-US" sz="2300" dirty="0">
                <a:solidFill>
                  <a:schemeClr val="tx1"/>
                </a:solidFill>
              </a:rPr>
              <a:t>Not yet done (IT): basement not inspected → </a:t>
            </a:r>
            <a:r>
              <a:rPr lang="en-US" sz="2300" b="1" dirty="0">
                <a:solidFill>
                  <a:schemeClr val="accent3"/>
                </a:solidFill>
              </a:rPr>
              <a:t>The basement has not been inspected yet.</a:t>
            </a:r>
            <a:endParaRPr lang="en-US" sz="2300" dirty="0"/>
          </a:p>
          <a:p>
            <a:pPr indent="0" marL="0">
              <a:spcAft>
                <a:spcPts val="1000"/>
              </a:spcAft>
              <a:buNone/>
            </a:pPr>
            <a:r>
              <a:rPr lang="en-US" sz="2300" b="1" dirty="0">
                <a:solidFill>
                  <a:schemeClr val="tx2"/>
                </a:solidFill>
              </a:rPr>
              <a:t>3.  </a:t>
            </a:r>
            <a:r>
              <a:rPr lang="en-US" sz="2300" dirty="0">
                <a:solidFill>
                  <a:schemeClr val="tx1"/>
                </a:solidFill>
              </a:rPr>
              <a:t>History (LAW): comparable dispute last November → </a:t>
            </a:r>
            <a:r>
              <a:rPr lang="en-US" sz="2300" b="1" dirty="0">
                <a:solidFill>
                  <a:schemeClr val="accent3"/>
                </a:solidFill>
              </a:rPr>
              <a:t>A comparable dispute was settled amicably last November.</a:t>
            </a:r>
            <a:endParaRPr lang="en-US" sz="2300" dirty="0"/>
          </a:p>
          <a:p>
            <a:pPr indent="0" marL="0">
              <a:spcAft>
                <a:spcPts val="1000"/>
              </a:spcAft>
              <a:buNone/>
            </a:pPr>
            <a:r>
              <a:rPr lang="en-US" sz="2300" b="1" dirty="0">
                <a:solidFill>
                  <a:schemeClr val="tx2"/>
                </a:solidFill>
              </a:rPr>
              <a:t>4.  </a:t>
            </a:r>
            <a:r>
              <a:rPr lang="en-US" sz="2300" dirty="0">
                <a:solidFill>
                  <a:schemeClr val="tx1"/>
                </a:solidFill>
              </a:rPr>
              <a:t>You advise (RE): inspecting the whole run → </a:t>
            </a:r>
            <a:r>
              <a:rPr lang="en-US" sz="2300" b="1" dirty="0">
                <a:solidFill>
                  <a:schemeClr val="accent3"/>
                </a:solidFill>
              </a:rPr>
              <a:t>We recommend inspecting the whole run before the handover.</a:t>
            </a:r>
            <a:endParaRPr lang="en-US" sz="2300" dirty="0"/>
          </a:p>
        </p:txBody>
      </p:sp>
      <p:sp>
        <p:nvSpPr>
          <p:cNvPr id="8"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WATCH OUT</a:t>
            </a:r>
            <a:endParaRPr lang="en-US" sz="1400" dirty="0"/>
          </a:p>
        </p:txBody>
      </p:sp>
      <p:sp>
        <p:nvSpPr>
          <p:cNvPr id="11"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recommend + -ing</a:t>
            </a:r>
            <a:r>
              <a:rPr lang="en-US" sz="1800" dirty="0">
                <a:solidFill>
                  <a:schemeClr val="tx1"/>
                </a:solidFill>
              </a:rPr>
              <a:t> or </a:t>
            </a:r>
            <a:r>
              <a:rPr lang="en-US" sz="1800" b="1" dirty="0">
                <a:solidFill>
                  <a:schemeClr val="tx1"/>
                </a:solidFill>
              </a:rPr>
              <a:t>recommend that we inspect</a:t>
            </a:r>
            <a:r>
              <a:rPr lang="en-US" sz="1800" dirty="0">
                <a:solidFill>
                  <a:schemeClr val="tx1"/>
                </a:solidFill>
              </a:rPr>
              <a:t> — ✗ </a:t>
            </a:r>
            <a:r>
              <a:rPr lang="en-US" sz="1800" i="1" dirty="0">
                <a:solidFill>
                  <a:schemeClr val="tx1"/>
                </a:solidFill>
              </a:rPr>
              <a:t>recommend to inspect</a:t>
            </a:r>
            <a:endParaRPr lang="en-US" sz="1800" dirty="0"/>
          </a:p>
          <a:p>
            <a:pPr marL="177800" indent="-177800">
              <a:spcAft>
                <a:spcPts val="600"/>
              </a:spcAft>
              <a:buSzPct val="100000"/>
              <a:buChar char="•"/>
            </a:pPr>
            <a:r>
              <a:rPr lang="en-US" sz="1800" b="1" dirty="0">
                <a:solidFill>
                  <a:schemeClr val="tx1"/>
                </a:solidFill>
              </a:rPr>
              <a:t>advise</a:t>
            </a:r>
            <a:r>
              <a:rPr lang="en-US" sz="1800" dirty="0">
                <a:solidFill>
                  <a:schemeClr val="tx1"/>
                </a:solidFill>
              </a:rPr>
              <a:t> + -ing / + somebody to …: </a:t>
            </a:r>
            <a:r>
              <a:rPr lang="en-US" sz="1800" i="1" dirty="0">
                <a:solidFill>
                  <a:schemeClr val="tx1"/>
                </a:solidFill>
              </a:rPr>
              <a:t>We advise not filing… / We advise you not to file…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Now make it one page: the connectors</a:t>
            </a:r>
            <a:endParaRPr lang="en-US" sz="3200" dirty="0"/>
          </a:p>
        </p:txBody>
      </p:sp>
      <p:sp>
        <p:nvSpPr>
          <p:cNvPr id="3" name="tag"/>
          <p:cNvSpPr/>
          <p:nvPr/>
        </p:nvSpPr>
        <p:spPr>
          <a:xfrm>
            <a:off x="548640" y="237744"/>
            <a:ext cx="139446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47</a:t>
            </a:r>
            <a:endParaRPr lang="en-US" sz="1200" dirty="0"/>
          </a:p>
        </p:txBody>
      </p:sp>
      <p:sp>
        <p:nvSpPr>
          <p:cNvPr id="5"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Five blocks do not make a report. Join your sections into continuous text, cut the repetitions, add the connectors an assessor expects.</a:t>
            </a:r>
            <a:endParaRPr lang="en-US" sz="1800" dirty="0"/>
          </a:p>
        </p:txBody>
      </p:sp>
      <p:sp>
        <p:nvSpPr>
          <p:cNvPr id="6" name="Shape 4"/>
          <p:cNvSpPr/>
          <p:nvPr/>
        </p:nvSpPr>
        <p:spPr>
          <a:xfrm>
            <a:off x="548640" y="2267712"/>
            <a:ext cx="1984248" cy="3069336"/>
          </a:xfrm>
          <a:prstGeom prst="roundRect">
            <a:avLst>
              <a:gd name="adj" fmla="val 4608"/>
            </a:avLst>
          </a:prstGeom>
          <a:solidFill>
            <a:schemeClr val="bg2"/>
          </a:solidFill>
          <a:ln w="9525">
            <a:solidFill>
              <a:srgbClr val="D5DCE6"/>
            </a:solidFill>
            <a:prstDash val="solid"/>
          </a:ln>
        </p:spPr>
      </p:sp>
      <p:sp>
        <p:nvSpPr>
          <p:cNvPr id="7" name="Shape 5"/>
          <p:cNvSpPr/>
          <p:nvPr/>
        </p:nvSpPr>
        <p:spPr>
          <a:xfrm>
            <a:off x="1211580" y="2450592"/>
            <a:ext cx="658368" cy="658368"/>
          </a:xfrm>
          <a:prstGeom prst="ellipse">
            <a:avLst/>
          </a:prstGeom>
          <a:solidFill>
            <a:schemeClr val="accent2"/>
          </a:solidFill>
          <a:ln/>
        </p:spPr>
      </p:sp>
      <p:sp>
        <p:nvSpPr>
          <p:cNvPr id="8" name="Text 6"/>
          <p:cNvSpPr txBox="1"/>
          <p:nvPr/>
        </p:nvSpPr>
        <p:spPr>
          <a:xfrm>
            <a:off x="1211580"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7"/>
          <p:cNvSpPr txBox="1"/>
          <p:nvPr/>
        </p:nvSpPr>
        <p:spPr>
          <a:xfrm>
            <a:off x="658368" y="3182112"/>
            <a:ext cx="1764792" cy="685800"/>
          </a:xfrm>
          <a:prstGeom prst="rect">
            <a:avLst/>
          </a:prstGeom>
          <a:noFill/>
          <a:ln/>
        </p:spPr>
        <p:txBody>
          <a:bodyPr wrap="square" lIns="0" tIns="0" rIns="0" bIns="0" rtlCol="0" anchor="ctr"/>
          <a:lstStyle/>
          <a:p>
            <a:pPr algn="ctr" indent="0" marL="0">
              <a:buNone/>
            </a:pPr>
            <a:r>
              <a:rPr lang="en-US" sz="1700" b="1" dirty="0">
                <a:solidFill>
                  <a:schemeClr val="accent2"/>
                </a:solidFill>
              </a:rPr>
              <a:t>At first</a:t>
            </a:r>
            <a:endParaRPr lang="en-US" sz="1700" dirty="0"/>
          </a:p>
        </p:txBody>
      </p:sp>
      <p:sp>
        <p:nvSpPr>
          <p:cNvPr id="10" name="Text 8"/>
          <p:cNvSpPr txBox="1"/>
          <p:nvPr/>
        </p:nvSpPr>
        <p:spPr>
          <a:xfrm>
            <a:off x="685800" y="3959352"/>
            <a:ext cx="1709928" cy="128625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 au début (and then it changed)</a:t>
            </a:r>
            <a:endParaRPr lang="en-US" sz="1400" dirty="0"/>
          </a:p>
          <a:p>
            <a:pPr algn="ctr" indent="0" marL="0">
              <a:spcAft>
                <a:spcPts val="600"/>
              </a:spcAft>
              <a:buNone/>
            </a:pPr>
            <a:r>
              <a:rPr lang="en-US" sz="1400" b="1" dirty="0">
                <a:solidFill>
                  <a:schemeClr val="tx1"/>
                </a:solidFill>
              </a:rPr>
              <a:t>At first</a:t>
            </a:r>
            <a:r>
              <a:rPr lang="en-US" sz="1400" dirty="0">
                <a:solidFill>
                  <a:schemeClr val="tx1"/>
                </a:solidFill>
              </a:rPr>
              <a:t>, the room appeared dry.</a:t>
            </a:r>
            <a:endParaRPr lang="en-US" sz="1400" dirty="0"/>
          </a:p>
        </p:txBody>
      </p:sp>
      <p:pic>
        <p:nvPicPr>
          <p:cNvPr id="11" name="Image 0" descr="preencoded.png">    </p:cNvPr>
          <p:cNvPicPr>
            <a:picLocks noChangeAspect="1"/>
          </p:cNvPicPr>
          <p:nvPr/>
        </p:nvPicPr>
        <p:blipFill>
          <a:blip r:embed="rId1"/>
          <a:stretch>
            <a:fillRect/>
          </a:stretch>
        </p:blipFill>
        <p:spPr>
          <a:xfrm>
            <a:off x="2569464" y="2670048"/>
            <a:ext cx="219456" cy="219456"/>
          </a:xfrm>
          <a:prstGeom prst="rect">
            <a:avLst/>
          </a:prstGeom>
        </p:spPr>
      </p:pic>
      <p:sp>
        <p:nvSpPr>
          <p:cNvPr id="12" name="Shape 9"/>
          <p:cNvSpPr/>
          <p:nvPr/>
        </p:nvSpPr>
        <p:spPr>
          <a:xfrm>
            <a:off x="2825496" y="2267712"/>
            <a:ext cx="1984248" cy="3069336"/>
          </a:xfrm>
          <a:prstGeom prst="roundRect">
            <a:avLst>
              <a:gd name="adj" fmla="val 4608"/>
            </a:avLst>
          </a:prstGeom>
          <a:solidFill>
            <a:schemeClr val="bg2"/>
          </a:solidFill>
          <a:ln w="9525">
            <a:solidFill>
              <a:srgbClr val="D5DCE6"/>
            </a:solidFill>
            <a:prstDash val="solid"/>
          </a:ln>
        </p:spPr>
      </p:sp>
      <p:sp>
        <p:nvSpPr>
          <p:cNvPr id="13" name="Shape 10"/>
          <p:cNvSpPr/>
          <p:nvPr/>
        </p:nvSpPr>
        <p:spPr>
          <a:xfrm>
            <a:off x="3488436" y="2450592"/>
            <a:ext cx="658368" cy="658368"/>
          </a:xfrm>
          <a:prstGeom prst="ellipse">
            <a:avLst/>
          </a:prstGeom>
          <a:solidFill>
            <a:schemeClr val="accent3"/>
          </a:solidFill>
          <a:ln/>
        </p:spPr>
      </p:sp>
      <p:sp>
        <p:nvSpPr>
          <p:cNvPr id="14" name="Text 11"/>
          <p:cNvSpPr txBox="1"/>
          <p:nvPr/>
        </p:nvSpPr>
        <p:spPr>
          <a:xfrm>
            <a:off x="3488436"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5" name="Text 12"/>
          <p:cNvSpPr txBox="1"/>
          <p:nvPr/>
        </p:nvSpPr>
        <p:spPr>
          <a:xfrm>
            <a:off x="2935224" y="3182112"/>
            <a:ext cx="1764792" cy="685800"/>
          </a:xfrm>
          <a:prstGeom prst="rect">
            <a:avLst/>
          </a:prstGeom>
          <a:noFill/>
          <a:ln/>
        </p:spPr>
        <p:txBody>
          <a:bodyPr wrap="square" lIns="0" tIns="0" rIns="0" bIns="0" rtlCol="0" anchor="ctr"/>
          <a:lstStyle/>
          <a:p>
            <a:pPr algn="ctr" indent="0" marL="0">
              <a:buNone/>
            </a:pPr>
            <a:r>
              <a:rPr lang="en-US" sz="1700" b="1" dirty="0">
                <a:solidFill>
                  <a:schemeClr val="accent3"/>
                </a:solidFill>
              </a:rPr>
              <a:t>Then</a:t>
            </a:r>
            <a:endParaRPr lang="en-US" sz="1700" dirty="0"/>
          </a:p>
        </p:txBody>
      </p:sp>
      <p:sp>
        <p:nvSpPr>
          <p:cNvPr id="16" name="Text 13"/>
          <p:cNvSpPr txBox="1"/>
          <p:nvPr/>
        </p:nvSpPr>
        <p:spPr>
          <a:xfrm>
            <a:off x="2962656" y="3959352"/>
            <a:ext cx="1709928" cy="128625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 ensuite (sequence)</a:t>
            </a:r>
            <a:endParaRPr lang="en-US" sz="1400" dirty="0"/>
          </a:p>
          <a:p>
            <a:pPr algn="ctr" indent="0" marL="0">
              <a:spcAft>
                <a:spcPts val="600"/>
              </a:spcAft>
              <a:buNone/>
            </a:pPr>
            <a:r>
              <a:rPr lang="en-US" sz="1400" b="1" dirty="0">
                <a:solidFill>
                  <a:schemeClr val="tx1"/>
                </a:solidFill>
              </a:rPr>
              <a:t>Then</a:t>
            </a:r>
            <a:r>
              <a:rPr lang="en-US" sz="1400" dirty="0">
                <a:solidFill>
                  <a:schemeClr val="tx1"/>
                </a:solidFill>
              </a:rPr>
              <a:t>, at 23.41, the alarm went off.</a:t>
            </a:r>
            <a:endParaRPr lang="en-US" sz="1400" dirty="0"/>
          </a:p>
        </p:txBody>
      </p:sp>
      <p:pic>
        <p:nvPicPr>
          <p:cNvPr id="17" name="Image 1" descr="preencoded.png">    </p:cNvPr>
          <p:cNvPicPr>
            <a:picLocks noChangeAspect="1"/>
          </p:cNvPicPr>
          <p:nvPr/>
        </p:nvPicPr>
        <p:blipFill>
          <a:blip r:embed="rId2"/>
          <a:stretch>
            <a:fillRect/>
          </a:stretch>
        </p:blipFill>
        <p:spPr>
          <a:xfrm>
            <a:off x="4846320" y="2670048"/>
            <a:ext cx="219456" cy="219456"/>
          </a:xfrm>
          <a:prstGeom prst="rect">
            <a:avLst/>
          </a:prstGeom>
        </p:spPr>
      </p:pic>
      <p:sp>
        <p:nvSpPr>
          <p:cNvPr id="18" name="Shape 14"/>
          <p:cNvSpPr/>
          <p:nvPr/>
        </p:nvSpPr>
        <p:spPr>
          <a:xfrm>
            <a:off x="5102352" y="2267712"/>
            <a:ext cx="1984248" cy="3069336"/>
          </a:xfrm>
          <a:prstGeom prst="roundRect">
            <a:avLst>
              <a:gd name="adj" fmla="val 4608"/>
            </a:avLst>
          </a:prstGeom>
          <a:solidFill>
            <a:schemeClr val="bg2"/>
          </a:solidFill>
          <a:ln w="9525">
            <a:solidFill>
              <a:srgbClr val="D5DCE6"/>
            </a:solidFill>
            <a:prstDash val="solid"/>
          </a:ln>
        </p:spPr>
      </p:sp>
      <p:sp>
        <p:nvSpPr>
          <p:cNvPr id="19" name="Shape 15"/>
          <p:cNvSpPr/>
          <p:nvPr/>
        </p:nvSpPr>
        <p:spPr>
          <a:xfrm>
            <a:off x="5765292" y="2450592"/>
            <a:ext cx="658368" cy="658368"/>
          </a:xfrm>
          <a:prstGeom prst="ellipse">
            <a:avLst/>
          </a:prstGeom>
          <a:solidFill>
            <a:schemeClr val="accent6"/>
          </a:solidFill>
          <a:ln/>
        </p:spPr>
      </p:sp>
      <p:sp>
        <p:nvSpPr>
          <p:cNvPr id="20" name="Text 16"/>
          <p:cNvSpPr txBox="1"/>
          <p:nvPr/>
        </p:nvSpPr>
        <p:spPr>
          <a:xfrm>
            <a:off x="5765292"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1" name="Text 17"/>
          <p:cNvSpPr txBox="1"/>
          <p:nvPr/>
        </p:nvSpPr>
        <p:spPr>
          <a:xfrm>
            <a:off x="5212080" y="3182112"/>
            <a:ext cx="1764792" cy="685800"/>
          </a:xfrm>
          <a:prstGeom prst="rect">
            <a:avLst/>
          </a:prstGeom>
          <a:noFill/>
          <a:ln/>
        </p:spPr>
        <p:txBody>
          <a:bodyPr wrap="square" lIns="0" tIns="0" rIns="0" bIns="0" rtlCol="0" anchor="ctr"/>
          <a:lstStyle/>
          <a:p>
            <a:pPr algn="ctr" indent="0" marL="0">
              <a:buNone/>
            </a:pPr>
            <a:r>
              <a:rPr lang="en-US" sz="1700" b="1" dirty="0">
                <a:solidFill>
                  <a:schemeClr val="accent6"/>
                </a:solidFill>
              </a:rPr>
              <a:t>However</a:t>
            </a:r>
            <a:endParaRPr lang="en-US" sz="1700" dirty="0"/>
          </a:p>
        </p:txBody>
      </p:sp>
      <p:sp>
        <p:nvSpPr>
          <p:cNvPr id="22" name="Text 18"/>
          <p:cNvSpPr txBox="1"/>
          <p:nvPr/>
        </p:nvSpPr>
        <p:spPr>
          <a:xfrm>
            <a:off x="5239512" y="3959352"/>
            <a:ext cx="1709928" cy="128625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 cependant (contrast)</a:t>
            </a:r>
            <a:endParaRPr lang="en-US" sz="1400" dirty="0"/>
          </a:p>
          <a:p>
            <a:pPr algn="ctr" indent="0" marL="0">
              <a:spcAft>
                <a:spcPts val="600"/>
              </a:spcAft>
              <a:buNone/>
            </a:pPr>
            <a:r>
              <a:rPr lang="en-US" sz="1400" b="1" dirty="0">
                <a:solidFill>
                  <a:schemeClr val="tx1"/>
                </a:solidFill>
              </a:rPr>
              <a:t>However</a:t>
            </a:r>
            <a:r>
              <a:rPr lang="en-US" sz="1400" dirty="0">
                <a:solidFill>
                  <a:schemeClr val="tx1"/>
                </a:solidFill>
              </a:rPr>
              <a:t>, the basement has not been inspected yet.</a:t>
            </a:r>
            <a:endParaRPr lang="en-US" sz="1400" dirty="0"/>
          </a:p>
        </p:txBody>
      </p:sp>
      <p:pic>
        <p:nvPicPr>
          <p:cNvPr id="23" name="Image 2" descr="preencoded.png">    </p:cNvPr>
          <p:cNvPicPr>
            <a:picLocks noChangeAspect="1"/>
          </p:cNvPicPr>
          <p:nvPr/>
        </p:nvPicPr>
        <p:blipFill>
          <a:blip r:embed="rId3"/>
          <a:stretch>
            <a:fillRect/>
          </a:stretch>
        </p:blipFill>
        <p:spPr>
          <a:xfrm>
            <a:off x="7123176" y="2670048"/>
            <a:ext cx="219456" cy="219456"/>
          </a:xfrm>
          <a:prstGeom prst="rect">
            <a:avLst/>
          </a:prstGeom>
        </p:spPr>
      </p:pic>
      <p:sp>
        <p:nvSpPr>
          <p:cNvPr id="24" name="Shape 19"/>
          <p:cNvSpPr/>
          <p:nvPr/>
        </p:nvSpPr>
        <p:spPr>
          <a:xfrm>
            <a:off x="7379208" y="2267712"/>
            <a:ext cx="1984248" cy="3069336"/>
          </a:xfrm>
          <a:prstGeom prst="roundRect">
            <a:avLst>
              <a:gd name="adj" fmla="val 4608"/>
            </a:avLst>
          </a:prstGeom>
          <a:solidFill>
            <a:schemeClr val="bg2"/>
          </a:solidFill>
          <a:ln w="9525">
            <a:solidFill>
              <a:srgbClr val="D5DCE6"/>
            </a:solidFill>
            <a:prstDash val="solid"/>
          </a:ln>
        </p:spPr>
      </p:sp>
      <p:sp>
        <p:nvSpPr>
          <p:cNvPr id="25" name="Shape 20"/>
          <p:cNvSpPr/>
          <p:nvPr/>
        </p:nvSpPr>
        <p:spPr>
          <a:xfrm>
            <a:off x="8042148" y="2450592"/>
            <a:ext cx="658368" cy="658368"/>
          </a:xfrm>
          <a:prstGeom prst="ellipse">
            <a:avLst/>
          </a:prstGeom>
          <a:solidFill>
            <a:schemeClr val="accent1"/>
          </a:solidFill>
          <a:ln/>
        </p:spPr>
      </p:sp>
      <p:sp>
        <p:nvSpPr>
          <p:cNvPr id="26" name="Text 21"/>
          <p:cNvSpPr txBox="1"/>
          <p:nvPr/>
        </p:nvSpPr>
        <p:spPr>
          <a:xfrm>
            <a:off x="8042148"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7" name="Text 22"/>
          <p:cNvSpPr txBox="1"/>
          <p:nvPr/>
        </p:nvSpPr>
        <p:spPr>
          <a:xfrm>
            <a:off x="7488936" y="3182112"/>
            <a:ext cx="1764792" cy="685800"/>
          </a:xfrm>
          <a:prstGeom prst="rect">
            <a:avLst/>
          </a:prstGeom>
          <a:noFill/>
          <a:ln/>
        </p:spPr>
        <p:txBody>
          <a:bodyPr wrap="square" lIns="0" tIns="0" rIns="0" bIns="0" rtlCol="0" anchor="ctr"/>
          <a:lstStyle/>
          <a:p>
            <a:pPr algn="ctr" indent="0" marL="0">
              <a:buNone/>
            </a:pPr>
            <a:r>
              <a:rPr lang="en-US" sz="1700" b="1" dirty="0">
                <a:solidFill>
                  <a:schemeClr val="accent1"/>
                </a:solidFill>
              </a:rPr>
              <a:t>As a result</a:t>
            </a:r>
            <a:endParaRPr lang="en-US" sz="1700" dirty="0"/>
          </a:p>
        </p:txBody>
      </p:sp>
      <p:sp>
        <p:nvSpPr>
          <p:cNvPr id="28" name="Text 23"/>
          <p:cNvSpPr txBox="1"/>
          <p:nvPr/>
        </p:nvSpPr>
        <p:spPr>
          <a:xfrm>
            <a:off x="7516368" y="3959352"/>
            <a:ext cx="1709928" cy="128625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 par conséquent (consequence)</a:t>
            </a:r>
            <a:endParaRPr lang="en-US" sz="1400" dirty="0"/>
          </a:p>
          <a:p>
            <a:pPr algn="ctr" indent="0" marL="0">
              <a:spcAft>
                <a:spcPts val="600"/>
              </a:spcAft>
              <a:buNone/>
            </a:pPr>
            <a:r>
              <a:rPr lang="en-US" sz="1400" b="1" dirty="0">
                <a:solidFill>
                  <a:schemeClr val="tx1"/>
                </a:solidFill>
              </a:rPr>
              <a:t>As a result</a:t>
            </a:r>
            <a:r>
              <a:rPr lang="en-US" sz="1400" dirty="0">
                <a:solidFill>
                  <a:schemeClr val="tx1"/>
                </a:solidFill>
              </a:rPr>
              <a:t>, the floor has been closed.</a:t>
            </a:r>
            <a:endParaRPr lang="en-US" sz="1400" dirty="0"/>
          </a:p>
        </p:txBody>
      </p:sp>
      <p:pic>
        <p:nvPicPr>
          <p:cNvPr id="29" name="Image 3" descr="preencoded.png">    </p:cNvPr>
          <p:cNvPicPr>
            <a:picLocks noChangeAspect="1"/>
          </p:cNvPicPr>
          <p:nvPr/>
        </p:nvPicPr>
        <p:blipFill>
          <a:blip r:embed="rId4"/>
          <a:stretch>
            <a:fillRect/>
          </a:stretch>
        </p:blipFill>
        <p:spPr>
          <a:xfrm>
            <a:off x="9400032" y="2670048"/>
            <a:ext cx="219456" cy="219456"/>
          </a:xfrm>
          <a:prstGeom prst="rect">
            <a:avLst/>
          </a:prstGeom>
        </p:spPr>
      </p:pic>
      <p:sp>
        <p:nvSpPr>
          <p:cNvPr id="30" name="Shape 24"/>
          <p:cNvSpPr/>
          <p:nvPr/>
        </p:nvSpPr>
        <p:spPr>
          <a:xfrm>
            <a:off x="9656064" y="2267712"/>
            <a:ext cx="1984248" cy="3069336"/>
          </a:xfrm>
          <a:prstGeom prst="roundRect">
            <a:avLst>
              <a:gd name="adj" fmla="val 4608"/>
            </a:avLst>
          </a:prstGeom>
          <a:solidFill>
            <a:schemeClr val="bg2"/>
          </a:solidFill>
          <a:ln w="9525">
            <a:solidFill>
              <a:srgbClr val="D5DCE6"/>
            </a:solidFill>
            <a:prstDash val="solid"/>
          </a:ln>
        </p:spPr>
      </p:sp>
      <p:sp>
        <p:nvSpPr>
          <p:cNvPr id="31" name="Shape 25"/>
          <p:cNvSpPr/>
          <p:nvPr/>
        </p:nvSpPr>
        <p:spPr>
          <a:xfrm>
            <a:off x="10319004" y="2450592"/>
            <a:ext cx="658368" cy="658368"/>
          </a:xfrm>
          <a:prstGeom prst="ellipse">
            <a:avLst/>
          </a:prstGeom>
          <a:solidFill>
            <a:schemeClr val="tx2"/>
          </a:solidFill>
          <a:ln/>
        </p:spPr>
      </p:sp>
      <p:sp>
        <p:nvSpPr>
          <p:cNvPr id="32" name="Text 26"/>
          <p:cNvSpPr txBox="1"/>
          <p:nvPr/>
        </p:nvSpPr>
        <p:spPr>
          <a:xfrm>
            <a:off x="10319004"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3" name="Text 27"/>
          <p:cNvSpPr txBox="1"/>
          <p:nvPr/>
        </p:nvSpPr>
        <p:spPr>
          <a:xfrm>
            <a:off x="9765792" y="3182112"/>
            <a:ext cx="1764792" cy="685800"/>
          </a:xfrm>
          <a:prstGeom prst="rect">
            <a:avLst/>
          </a:prstGeom>
          <a:noFill/>
          <a:ln/>
        </p:spPr>
        <p:txBody>
          <a:bodyPr wrap="square" lIns="0" tIns="0" rIns="0" bIns="0" rtlCol="0" anchor="ctr"/>
          <a:lstStyle/>
          <a:p>
            <a:pPr algn="ctr" indent="0" marL="0">
              <a:buNone/>
            </a:pPr>
            <a:r>
              <a:rPr lang="en-US" sz="1700" b="1" dirty="0">
                <a:solidFill>
                  <a:schemeClr val="tx2"/>
                </a:solidFill>
              </a:rPr>
              <a:t>Finally</a:t>
            </a:r>
            <a:endParaRPr lang="en-US" sz="1700" dirty="0"/>
          </a:p>
        </p:txBody>
      </p:sp>
      <p:sp>
        <p:nvSpPr>
          <p:cNvPr id="34" name="Text 28"/>
          <p:cNvSpPr txBox="1"/>
          <p:nvPr/>
        </p:nvSpPr>
        <p:spPr>
          <a:xfrm>
            <a:off x="9793224" y="3959352"/>
            <a:ext cx="1709928" cy="128625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 enfin (last point)</a:t>
            </a:r>
            <a:endParaRPr lang="en-US" sz="1400" dirty="0"/>
          </a:p>
          <a:p>
            <a:pPr algn="ctr" indent="0" marL="0">
              <a:spcAft>
                <a:spcPts val="600"/>
              </a:spcAft>
              <a:buNone/>
            </a:pPr>
            <a:r>
              <a:rPr lang="en-US" sz="1400" b="1" dirty="0">
                <a:solidFill>
                  <a:schemeClr val="tx1"/>
                </a:solidFill>
              </a:rPr>
              <a:t>Finally</a:t>
            </a:r>
            <a:r>
              <a:rPr lang="en-US" sz="1400" dirty="0">
                <a:solidFill>
                  <a:schemeClr val="tx1"/>
                </a:solidFill>
              </a:rPr>
              <a:t>, we will send … by …</a:t>
            </a:r>
            <a:endParaRPr lang="en-US" sz="1400" dirty="0"/>
          </a:p>
        </p:txBody>
      </p:sp>
      <p:sp>
        <p:nvSpPr>
          <p:cNvPr id="35" name="Shape 29"/>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36" name="Image 4" descr="preencoded.png">    </p:cNvPr>
          <p:cNvPicPr>
            <a:picLocks noChangeAspect="1"/>
          </p:cNvPicPr>
          <p:nvPr/>
        </p:nvPicPr>
        <p:blipFill>
          <a:blip r:embed="rId5"/>
          <a:stretch>
            <a:fillRect/>
          </a:stretch>
        </p:blipFill>
        <p:spPr>
          <a:xfrm>
            <a:off x="749808" y="5763768"/>
            <a:ext cx="329184" cy="329184"/>
          </a:xfrm>
          <a:prstGeom prst="rect">
            <a:avLst/>
          </a:prstGeom>
        </p:spPr>
      </p:pic>
      <p:sp>
        <p:nvSpPr>
          <p:cNvPr id="37" name="Text 30"/>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i="1" dirty="0">
                <a:solidFill>
                  <a:schemeClr val="tx1"/>
                </a:solidFill>
              </a:rPr>
              <a:t>At first</a:t>
            </a:r>
            <a:r>
              <a:rPr lang="en-US" sz="1700" dirty="0">
                <a:solidFill>
                  <a:schemeClr val="tx1"/>
                </a:solidFill>
              </a:rPr>
              <a:t> (au début) ≠ </a:t>
            </a:r>
            <a:r>
              <a:rPr lang="en-US" sz="1700" i="1" dirty="0">
                <a:solidFill>
                  <a:schemeClr val="tx1"/>
                </a:solidFill>
              </a:rPr>
              <a:t>First / Firstly</a:t>
            </a:r>
            <a:r>
              <a:rPr lang="en-US" sz="1700" dirty="0">
                <a:solidFill>
                  <a:schemeClr val="tx1"/>
                </a:solidFill>
              </a:rPr>
              <a:t> (premièrement) · comma after the connector · </a:t>
            </a:r>
            <a:r>
              <a:rPr lang="en-US" sz="1700" i="1" dirty="0">
                <a:solidFill>
                  <a:schemeClr val="tx1"/>
                </a:solidFill>
              </a:rPr>
              <a:t>Eventually</a:t>
            </a:r>
            <a:r>
              <a:rPr lang="en-US" sz="1700" dirty="0">
                <a:solidFill>
                  <a:schemeClr val="tx1"/>
                </a:solidFill>
              </a:rPr>
              <a:t> = finalement, not «éventuellement».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One possible report — Corven (1/2)</a:t>
            </a:r>
            <a:endParaRPr lang="en-US" sz="3200" dirty="0"/>
          </a:p>
        </p:txBody>
      </p:sp>
      <p:sp>
        <p:nvSpPr>
          <p:cNvPr id="3" name="tag"/>
          <p:cNvSpPr/>
          <p:nvPr/>
        </p:nvSpPr>
        <p:spPr>
          <a:xfrm>
            <a:off x="548640" y="237744"/>
            <a:ext cx="116586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WRITING</a:t>
            </a:r>
            <a:endParaRPr lang="en-US" sz="1200" dirty="0"/>
          </a:p>
        </p:txBody>
      </p:sp>
      <p:sp>
        <p:nvSpPr>
          <p:cNvPr id="4" name="tag"/>
          <p:cNvSpPr/>
          <p:nvPr/>
        </p:nvSpPr>
        <p:spPr>
          <a:xfrm>
            <a:off x="1824228" y="237744"/>
            <a:ext cx="18745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43–48</a:t>
            </a:r>
            <a:endParaRPr lang="en-US" sz="1200" dirty="0"/>
          </a:p>
        </p:txBody>
      </p:sp>
      <p:sp>
        <p:nvSpPr>
          <p:cNvPr id="7" name="exercise"/>
          <p:cNvSpPr txBox="1"/>
          <p:nvPr/>
        </p:nvSpPr>
        <p:spPr>
          <a:xfrm>
            <a:off x="548640" y="1481328"/>
            <a:ext cx="7845552" cy="4809744"/>
          </a:xfrm>
          <a:prstGeom prst="rect">
            <a:avLst/>
          </a:prstGeom>
          <a:noFill/>
          <a:ln/>
        </p:spPr>
        <p:txBody>
          <a:bodyPr wrap="square" lIns="0" tIns="0" rIns="0" bIns="0" rtlCol="0" anchor="t"/>
          <a:lstStyle/>
          <a:p>
            <a:pPr indent="0" marL="0">
              <a:spcAft>
                <a:spcPts val="1200"/>
              </a:spcAft>
              <a:buNone/>
            </a:pPr>
            <a:r>
              <a:rPr lang="en-US" sz="2100" b="1" dirty="0">
                <a:solidFill>
                  <a:schemeClr val="accent1"/>
                </a:solidFill>
              </a:rPr>
              <a:t>At first</a:t>
            </a:r>
            <a:r>
              <a:rPr lang="en-US" sz="2100" dirty="0">
                <a:solidFill>
                  <a:schemeClr val="tx1"/>
                </a:solidFill>
              </a:rPr>
              <a:t>, nothing appeared abnormal: the cabling team left zone 2F at </a:t>
            </a:r>
            <a:r>
              <a:rPr lang="en-US" sz="2100" b="1" dirty="0">
                <a:solidFill>
                  <a:schemeClr val="tx1"/>
                </a:solidFill>
              </a:rPr>
              <a:t>19.58</a:t>
            </a:r>
            <a:r>
              <a:rPr lang="en-US" sz="2100" dirty="0">
                <a:solidFill>
                  <a:schemeClr val="tx1"/>
                </a:solidFill>
              </a:rPr>
              <a:t>, and a final inspection </a:t>
            </a:r>
            <a:r>
              <a:rPr lang="en-US" sz="2100" b="1" dirty="0">
                <a:solidFill>
                  <a:schemeClr val="accent2"/>
                </a:solidFill>
              </a:rPr>
              <a:t>was carried out</a:t>
            </a:r>
            <a:r>
              <a:rPr lang="en-US" sz="2100" dirty="0">
                <a:solidFill>
                  <a:schemeClr val="tx1"/>
                </a:solidFill>
              </a:rPr>
              <a:t> between 20.04 and 20.19, when the room was reported dry. </a:t>
            </a:r>
            <a:r>
              <a:rPr lang="en-US" sz="2100" b="1" dirty="0">
                <a:solidFill>
                  <a:schemeClr val="accent1"/>
                </a:solidFill>
              </a:rPr>
              <a:t>Then</a:t>
            </a:r>
            <a:r>
              <a:rPr lang="en-US" sz="2100" dirty="0">
                <a:solidFill>
                  <a:schemeClr val="tx1"/>
                </a:solidFill>
              </a:rPr>
              <a:t>, </a:t>
            </a:r>
            <a:r>
              <a:rPr lang="en-US" sz="2100" b="1" dirty="0">
                <a:solidFill>
                  <a:schemeClr val="accent2"/>
                </a:solidFill>
              </a:rPr>
              <a:t>while</a:t>
            </a:r>
            <a:r>
              <a:rPr lang="en-US" sz="2100" dirty="0">
                <a:solidFill>
                  <a:schemeClr val="tx1"/>
                </a:solidFill>
              </a:rPr>
              <a:t> the building was empty, the temperature alarm went off at </a:t>
            </a:r>
            <a:r>
              <a:rPr lang="en-US" sz="2100" b="1" dirty="0">
                <a:solidFill>
                  <a:schemeClr val="tx1"/>
                </a:solidFill>
              </a:rPr>
              <a:t>23.41</a:t>
            </a:r>
            <a:r>
              <a:rPr lang="en-US" sz="2100" dirty="0">
                <a:solidFill>
                  <a:schemeClr val="tx1"/>
                </a:solidFill>
              </a:rPr>
              <a:t>, followed by a humidity alarm at 23.44. The cleaning team found water in the technical room when they arrived at 06.47.</a:t>
            </a:r>
            <a:endParaRPr lang="en-US" sz="2100" dirty="0"/>
          </a:p>
          <a:p>
            <a:pPr indent="0" marL="0">
              <a:spcAft>
                <a:spcPts val="1200"/>
              </a:spcAft>
              <a:buNone/>
            </a:pPr>
            <a:r>
              <a:rPr lang="en-US" sz="2100" dirty="0">
                <a:solidFill>
                  <a:schemeClr val="tx1"/>
                </a:solidFill>
              </a:rPr>
              <a:t>We have </a:t>
            </a:r>
            <a:r>
              <a:rPr lang="en-US" sz="2100" b="1" dirty="0">
                <a:solidFill>
                  <a:schemeClr val="accent2"/>
                </a:solidFill>
              </a:rPr>
              <a:t>already</a:t>
            </a:r>
            <a:r>
              <a:rPr lang="en-US" sz="2100" dirty="0">
                <a:solidFill>
                  <a:schemeClr val="tx1"/>
                </a:solidFill>
              </a:rPr>
              <a:t> taken photographs; </a:t>
            </a:r>
            <a:r>
              <a:rPr lang="en-US" sz="2100" b="1" dirty="0">
                <a:solidFill>
                  <a:schemeClr val="accent1"/>
                </a:solidFill>
              </a:rPr>
              <a:t>as a result</a:t>
            </a:r>
            <a:r>
              <a:rPr lang="en-US" sz="2100" dirty="0">
                <a:solidFill>
                  <a:schemeClr val="tx1"/>
                </a:solidFill>
              </a:rPr>
              <a:t>, the second floor has been closed to viewings. </a:t>
            </a:r>
            <a:r>
              <a:rPr lang="en-US" sz="2100" b="1" dirty="0">
                <a:solidFill>
                  <a:schemeClr val="accent1"/>
                </a:solidFill>
              </a:rPr>
              <a:t>However</a:t>
            </a:r>
            <a:r>
              <a:rPr lang="en-US" sz="2100" dirty="0">
                <a:solidFill>
                  <a:schemeClr val="tx1"/>
                </a:solidFill>
              </a:rPr>
              <a:t>, the basement has </a:t>
            </a:r>
            <a:r>
              <a:rPr lang="en-US" sz="2100" b="1" dirty="0">
                <a:solidFill>
                  <a:schemeClr val="accent2"/>
                </a:solidFill>
              </a:rPr>
              <a:t>not</a:t>
            </a:r>
            <a:r>
              <a:rPr lang="en-US" sz="2100" dirty="0">
                <a:solidFill>
                  <a:schemeClr val="tx1"/>
                </a:solidFill>
              </a:rPr>
              <a:t> been inspected </a:t>
            </a:r>
            <a:r>
              <a:rPr lang="en-US" sz="2100" b="1" dirty="0">
                <a:solidFill>
                  <a:schemeClr val="accent2"/>
                </a:solidFill>
              </a:rPr>
              <a:t>yet</a:t>
            </a:r>
            <a:r>
              <a:rPr lang="en-US" sz="2100" dirty="0">
                <a:solidFill>
                  <a:schemeClr val="tx1"/>
                </a:solidFill>
              </a:rPr>
              <a:t>, and the inventory of fixtures has not been updated.</a:t>
            </a:r>
            <a:endParaRPr lang="en-US" sz="2100" dirty="0"/>
          </a:p>
          <a:p>
            <a:pPr indent="0" marL="0">
              <a:spcAft>
                <a:spcPts val="1200"/>
              </a:spcAft>
              <a:buNone/>
            </a:pPr>
            <a:r>
              <a:rPr lang="en-US" sz="2100" dirty="0">
                <a:solidFill>
                  <a:schemeClr val="tx1"/>
                </a:solidFill>
              </a:rPr>
              <a:t>The same section of pipework has been under observation </a:t>
            </a:r>
            <a:r>
              <a:rPr lang="en-US" sz="2100" b="1" dirty="0">
                <a:solidFill>
                  <a:schemeClr val="accent2"/>
                </a:solidFill>
              </a:rPr>
              <a:t>since</a:t>
            </a:r>
            <a:r>
              <a:rPr lang="en-US" sz="2100" dirty="0">
                <a:solidFill>
                  <a:schemeClr val="tx1"/>
                </a:solidFill>
              </a:rPr>
              <a:t> 14 June, and a temporary repair was carried out on 8 November. This is the second time we have had a leak on this riser.</a:t>
            </a:r>
            <a:endParaRPr lang="en-US" sz="2100" dirty="0"/>
          </a:p>
        </p:txBody>
      </p:sp>
      <p:sp>
        <p:nvSpPr>
          <p:cNvPr id="8" name="aside"/>
          <p:cNvSpPr/>
          <p:nvPr/>
        </p:nvSpPr>
        <p:spPr>
          <a:xfrm>
            <a:off x="8714232" y="1481328"/>
            <a:ext cx="2926080" cy="4809744"/>
          </a:xfrm>
          <a:prstGeom prst="roundRect">
            <a:avLst>
              <a:gd name="adj" fmla="val 2500"/>
            </a:avLst>
          </a:prstGeom>
          <a:solidFill>
            <a:schemeClr val="accent3">
              <a:alpha val="10000"/>
            </a:schemeClr>
          </a:solidFill>
          <a:ln w="12700">
            <a:solidFill>
              <a:schemeClr val="accent3">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897112" y="1664208"/>
            <a:ext cx="292608" cy="292608"/>
          </a:xfrm>
          <a:prstGeom prst="rect">
            <a:avLst/>
          </a:prstGeom>
        </p:spPr>
      </p:pic>
      <p:sp>
        <p:nvSpPr>
          <p:cNvPr id="10" name="Text 6"/>
          <p:cNvSpPr txBox="1"/>
          <p:nvPr/>
        </p:nvSpPr>
        <p:spPr>
          <a:xfrm>
            <a:off x="9281160" y="1636776"/>
            <a:ext cx="2194560"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200 WORDS</a:t>
            </a:r>
            <a:endParaRPr lang="en-US" sz="1400" dirty="0"/>
          </a:p>
        </p:txBody>
      </p:sp>
      <p:sp>
        <p:nvSpPr>
          <p:cNvPr id="11" name="Text 7"/>
          <p:cNvSpPr txBox="1"/>
          <p:nvPr/>
        </p:nvSpPr>
        <p:spPr>
          <a:xfrm>
            <a:off x="8878824" y="2075688"/>
            <a:ext cx="259689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bold</a:t>
            </a:r>
            <a:r>
              <a:rPr lang="en-US" sz="1800" dirty="0">
                <a:solidFill>
                  <a:schemeClr val="tx1"/>
                </a:solidFill>
              </a:rPr>
              <a:t> = verifiable times + date</a:t>
            </a:r>
            <a:endParaRPr lang="en-US" sz="1800" dirty="0"/>
          </a:p>
          <a:p>
            <a:pPr marL="177800" indent="-177800">
              <a:spcAft>
                <a:spcPts val="600"/>
              </a:spcAft>
              <a:buSzPct val="100000"/>
              <a:buChar char="•"/>
            </a:pPr>
            <a:r>
              <a:rPr lang="en-US" sz="1800" b="1" dirty="0">
                <a:solidFill>
                  <a:schemeClr val="accent1"/>
                </a:solidFill>
              </a:rPr>
              <a:t>orange</a:t>
            </a:r>
            <a:r>
              <a:rPr lang="en-US" sz="1800" dirty="0">
                <a:solidFill>
                  <a:schemeClr val="tx1"/>
                </a:solidFill>
              </a:rPr>
              <a:t> = connectors</a:t>
            </a:r>
            <a:endParaRPr lang="en-US" sz="1800" dirty="0"/>
          </a:p>
          <a:p>
            <a:pPr marL="177800" indent="-177800">
              <a:spcAft>
                <a:spcPts val="600"/>
              </a:spcAft>
              <a:buSzPct val="100000"/>
              <a:buChar char="•"/>
            </a:pPr>
            <a:r>
              <a:rPr lang="en-US" sz="1800" b="1" dirty="0">
                <a:solidFill>
                  <a:schemeClr val="accent2"/>
                </a:solidFill>
              </a:rPr>
              <a:t>blue</a:t>
            </a:r>
            <a:r>
              <a:rPr lang="en-US" sz="1800" dirty="0">
                <a:solidFill>
                  <a:schemeClr val="tx1"/>
                </a:solidFill>
              </a:rPr>
              <a:t> = the grammar she checks</a:t>
            </a:r>
            <a:endParaRPr lang="en-US" sz="1800" dirty="0"/>
          </a:p>
          <a:p>
            <a:pPr marL="177800" indent="-177800">
              <a:spcAft>
                <a:spcPts val="600"/>
              </a:spcAft>
              <a:buSzPct val="100000"/>
              <a:buChar char="•"/>
            </a:pPr>
            <a:r>
              <a:rPr lang="en-US" sz="1800" dirty="0">
                <a:solidFill>
                  <a:schemeClr val="tx1"/>
                </a:solidFill>
              </a:rPr>
              <a:t>no name · no badge · no unproved cause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One possible report — Corven (2/2)</a:t>
            </a:r>
            <a:endParaRPr lang="en-US" sz="3200" dirty="0"/>
          </a:p>
        </p:txBody>
      </p:sp>
      <p:sp>
        <p:nvSpPr>
          <p:cNvPr id="3" name="tag"/>
          <p:cNvSpPr/>
          <p:nvPr/>
        </p:nvSpPr>
        <p:spPr>
          <a:xfrm>
            <a:off x="548640" y="237744"/>
            <a:ext cx="116586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WRITING</a:t>
            </a:r>
            <a:endParaRPr lang="en-US" sz="1200" dirty="0"/>
          </a:p>
        </p:txBody>
      </p:sp>
      <p:sp>
        <p:nvSpPr>
          <p:cNvPr id="4" name="tag"/>
          <p:cNvSpPr/>
          <p:nvPr/>
        </p:nvSpPr>
        <p:spPr>
          <a:xfrm>
            <a:off x="1824228" y="237744"/>
            <a:ext cx="18745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43–48</a:t>
            </a:r>
            <a:endParaRPr lang="en-US" sz="1200" dirty="0"/>
          </a:p>
        </p:txBody>
      </p:sp>
      <p:sp>
        <p:nvSpPr>
          <p:cNvPr id="7" name="exercise"/>
          <p:cNvSpPr txBox="1"/>
          <p:nvPr/>
        </p:nvSpPr>
        <p:spPr>
          <a:xfrm>
            <a:off x="548640" y="1481328"/>
            <a:ext cx="7845552" cy="4809744"/>
          </a:xfrm>
          <a:prstGeom prst="rect">
            <a:avLst/>
          </a:prstGeom>
          <a:noFill/>
          <a:ln/>
        </p:spPr>
        <p:txBody>
          <a:bodyPr wrap="square" lIns="0" tIns="0" rIns="0" bIns="0" rtlCol="0" anchor="t"/>
          <a:lstStyle/>
          <a:p>
            <a:pPr indent="0" marL="0">
              <a:spcAft>
                <a:spcPts val="1200"/>
              </a:spcAft>
              <a:buNone/>
            </a:pPr>
            <a:r>
              <a:rPr lang="en-US" sz="2200" dirty="0">
                <a:solidFill>
                  <a:schemeClr val="tx1"/>
                </a:solidFill>
              </a:rPr>
              <a:t>The water </a:t>
            </a:r>
            <a:r>
              <a:rPr lang="en-US" sz="2200" b="1" dirty="0">
                <a:solidFill>
                  <a:schemeClr val="accent2"/>
                </a:solidFill>
              </a:rPr>
              <a:t>may</a:t>
            </a:r>
            <a:r>
              <a:rPr lang="en-US" sz="2200" dirty="0">
                <a:solidFill>
                  <a:schemeClr val="tx1"/>
                </a:solidFill>
              </a:rPr>
              <a:t> have come from joint 4 of the riser. The leak </a:t>
            </a:r>
            <a:r>
              <a:rPr lang="en-US" sz="2200" b="1" dirty="0">
                <a:solidFill>
                  <a:schemeClr val="accent2"/>
                </a:solidFill>
              </a:rPr>
              <a:t>can’t</a:t>
            </a:r>
            <a:r>
              <a:rPr lang="en-US" sz="2200" dirty="0">
                <a:solidFill>
                  <a:schemeClr val="tx1"/>
                </a:solidFill>
              </a:rPr>
              <a:t> have started during the cabling works, since the room was dry at 19.58. We </a:t>
            </a:r>
            <a:r>
              <a:rPr lang="en-US" sz="2200" b="1" dirty="0">
                <a:solidFill>
                  <a:schemeClr val="accent2"/>
                </a:solidFill>
              </a:rPr>
              <a:t>should</a:t>
            </a:r>
            <a:r>
              <a:rPr lang="en-US" sz="2200" dirty="0">
                <a:solidFill>
                  <a:schemeClr val="tx1"/>
                </a:solidFill>
              </a:rPr>
              <a:t> inspect the whole run, including the basement, before the handover on 1 March.</a:t>
            </a:r>
            <a:endParaRPr lang="en-US" sz="2200" dirty="0"/>
          </a:p>
          <a:p>
            <a:pPr indent="0" marL="0">
              <a:spcAft>
                <a:spcPts val="1200"/>
              </a:spcAft>
              <a:buNone/>
            </a:pPr>
            <a:r>
              <a:rPr lang="en-US" sz="2200" b="1" dirty="0">
                <a:solidFill>
                  <a:schemeClr val="accent1"/>
                </a:solidFill>
              </a:rPr>
              <a:t>Finally</a:t>
            </a:r>
            <a:r>
              <a:rPr lang="en-US" sz="2200" dirty="0">
                <a:solidFill>
                  <a:schemeClr val="tx1"/>
                </a:solidFill>
              </a:rPr>
              <a:t>, Corven Property Management will send a revised inventory by </a:t>
            </a:r>
            <a:r>
              <a:rPr lang="en-US" sz="2200" b="1" dirty="0">
                <a:solidFill>
                  <a:schemeClr val="tx1"/>
                </a:solidFill>
              </a:rPr>
              <a:t>14 November 2026</a:t>
            </a:r>
            <a:r>
              <a:rPr lang="en-US" sz="2200" dirty="0">
                <a:solidFill>
                  <a:schemeClr val="tx1"/>
                </a:solidFill>
              </a:rPr>
              <a:t>. Please do not hesitate to contact me if you need any further information.</a:t>
            </a:r>
            <a:endParaRPr lang="en-US" sz="2200" dirty="0"/>
          </a:p>
          <a:p>
            <a:pPr indent="0" marL="0">
              <a:spcAft>
                <a:spcPts val="1200"/>
              </a:spcAft>
              <a:buNone/>
            </a:pPr>
            <a:r>
              <a:rPr lang="en-US" sz="2200" i="1" dirty="0">
                <a:solidFill>
                  <a:schemeClr val="tx1"/>
                </a:solidFill>
              </a:rPr>
              <a:t>Kind regards,</a:t>
            </a:r>
            <a:r>
              <a:rPr lang="en-US" sz="2200" dirty="0">
                <a:solidFill>
                  <a:schemeClr val="tx1"/>
                </a:solidFill>
              </a:rPr>
              <a:t>
</a:t>
            </a:r>
            <a:r>
              <a:rPr lang="en-US" sz="2200" i="1" dirty="0">
                <a:solidFill>
                  <a:schemeClr val="tx1"/>
                </a:solidFill>
              </a:rPr>
              <a:t>[name], Letting and Property Manager, Corven Property Management</a:t>
            </a:r>
            <a:endParaRPr lang="en-US" sz="2200" dirty="0"/>
          </a:p>
        </p:txBody>
      </p:sp>
      <p:sp>
        <p:nvSpPr>
          <p:cNvPr id="8" name="aside"/>
          <p:cNvSpPr/>
          <p:nvPr/>
        </p:nvSpPr>
        <p:spPr>
          <a:xfrm>
            <a:off x="8714232" y="1481328"/>
            <a:ext cx="2926080" cy="4809744"/>
          </a:xfrm>
          <a:prstGeom prst="roundRect">
            <a:avLst>
              <a:gd name="adj" fmla="val 2500"/>
            </a:avLst>
          </a:prstGeom>
          <a:solidFill>
            <a:schemeClr val="accent3">
              <a:alpha val="10000"/>
            </a:schemeClr>
          </a:solidFill>
          <a:ln w="12700">
            <a:solidFill>
              <a:schemeClr val="accent3">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897112" y="1664208"/>
            <a:ext cx="292608" cy="292608"/>
          </a:xfrm>
          <a:prstGeom prst="rect">
            <a:avLst/>
          </a:prstGeom>
        </p:spPr>
      </p:pic>
      <p:sp>
        <p:nvSpPr>
          <p:cNvPr id="10" name="Text 6"/>
          <p:cNvSpPr txBox="1"/>
          <p:nvPr/>
        </p:nvSpPr>
        <p:spPr>
          <a:xfrm>
            <a:off x="9281160" y="1636776"/>
            <a:ext cx="2194560"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SECTIONS 4–5</a:t>
            </a:r>
            <a:endParaRPr lang="en-US" sz="1400" dirty="0"/>
          </a:p>
        </p:txBody>
      </p:sp>
      <p:sp>
        <p:nvSpPr>
          <p:cNvPr id="11" name="Text 7"/>
          <p:cNvSpPr txBox="1"/>
          <p:nvPr/>
        </p:nvSpPr>
        <p:spPr>
          <a:xfrm>
            <a:off x="8878824" y="2075688"/>
            <a:ext cx="259689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may · can’t · should</a:t>
            </a:r>
            <a:endParaRPr lang="en-US" sz="1800" dirty="0"/>
          </a:p>
          <a:p>
            <a:pPr marL="177800" indent="-177800">
              <a:spcAft>
                <a:spcPts val="600"/>
              </a:spcAft>
              <a:buSzPct val="100000"/>
              <a:buChar char="•"/>
            </a:pPr>
            <a:r>
              <a:rPr lang="en-US" sz="1800" dirty="0">
                <a:solidFill>
                  <a:schemeClr val="tx1"/>
                </a:solidFill>
              </a:rPr>
              <a:t>a </a:t>
            </a:r>
            <a:r>
              <a:rPr lang="en-US" sz="1800" b="1" dirty="0">
                <a:solidFill>
                  <a:schemeClr val="tx1"/>
                </a:solidFill>
              </a:rPr>
              <a:t>full date</a:t>
            </a:r>
            <a:r>
              <a:rPr lang="en-US" sz="1800" dirty="0">
                <a:solidFill>
                  <a:schemeClr val="tx1"/>
                </a:solidFill>
              </a:rPr>
              <a:t> + a closing</a:t>
            </a:r>
            <a:endParaRPr lang="en-US" sz="1800" dirty="0"/>
          </a:p>
          <a:p>
            <a:pPr marL="177800" indent="-177800">
              <a:spcAft>
                <a:spcPts val="600"/>
              </a:spcAft>
              <a:buSzPct val="100000"/>
              <a:buChar char="•"/>
            </a:pPr>
            <a:r>
              <a:rPr lang="en-US" sz="1800" dirty="0">
                <a:solidFill>
                  <a:schemeClr val="tx1"/>
                </a:solidFill>
              </a:rPr>
              <a:t>a name to contact: </a:t>
            </a:r>
            <a:r>
              <a:rPr lang="en-US" sz="1800" b="1" dirty="0">
                <a:solidFill>
                  <a:schemeClr val="tx1"/>
                </a:solidFill>
              </a:rPr>
              <a:t>yours</a:t>
            </a:r>
            <a:endParaRPr lang="en-US" sz="1800" dirty="0"/>
          </a:p>
          <a:p>
            <a:pPr marL="177800" indent="-177800">
              <a:spcAft>
                <a:spcPts val="600"/>
              </a:spcAft>
              <a:buSzPct val="100000"/>
              <a:buChar char="•"/>
            </a:pPr>
            <a:r>
              <a:rPr lang="en-US" sz="1800" dirty="0">
                <a:solidFill>
                  <a:schemeClr val="tx1"/>
                </a:solidFill>
              </a:rPr>
              <a:t>Your firm: replace with </a:t>
            </a:r>
            <a:r>
              <a:rPr lang="en-US" sz="1800" b="1" dirty="0">
                <a:solidFill>
                  <a:schemeClr val="tx1"/>
                </a:solidFill>
              </a:rPr>
              <a:t>your</a:t>
            </a:r>
            <a:r>
              <a:rPr lang="en-US" sz="1800" dirty="0">
                <a:solidFill>
                  <a:schemeClr val="tx1"/>
                </a:solidFill>
              </a:rPr>
              <a:t> four facts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Nine things Helen Marsh will notice in thirty seconds</a:t>
            </a:r>
            <a:endParaRPr lang="en-US" sz="3200" dirty="0"/>
          </a:p>
        </p:txBody>
      </p:sp>
      <p:sp>
        <p:nvSpPr>
          <p:cNvPr id="3" name="tag"/>
          <p:cNvSpPr/>
          <p:nvPr/>
        </p:nvSpPr>
        <p:spPr>
          <a:xfrm>
            <a:off x="548640" y="237744"/>
            <a:ext cx="27660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BEFORE YOU PRESS SEND</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48</a:t>
            </a:r>
            <a:endParaRPr lang="en-US" sz="1200" dirty="0"/>
          </a:p>
        </p:txBody>
      </p:sp>
      <p:sp>
        <p:nvSpPr>
          <p:cNvPr id="5" name="Shape 3"/>
          <p:cNvSpPr/>
          <p:nvPr/>
        </p:nvSpPr>
        <p:spPr>
          <a:xfrm>
            <a:off x="548640" y="1517904"/>
            <a:ext cx="5408676" cy="704088"/>
          </a:xfrm>
          <a:prstGeom prst="roundRect">
            <a:avLst>
              <a:gd name="adj" fmla="val 7792"/>
            </a:avLst>
          </a:prstGeom>
          <a:solidFill>
            <a:schemeClr val="bg2"/>
          </a:solidFill>
          <a:ln w="6350">
            <a:solidFill>
              <a:srgbClr val="D5DCE6"/>
            </a:solidFill>
            <a:prstDash val="solid"/>
          </a:ln>
        </p:spPr>
      </p:sp>
      <p:pic>
        <p:nvPicPr>
          <p:cNvPr id="6" name="Image 0" descr="preencoded.png">    </p:cNvPr>
          <p:cNvPicPr>
            <a:picLocks noChangeAspect="1"/>
          </p:cNvPicPr>
          <p:nvPr/>
        </p:nvPicPr>
        <p:blipFill>
          <a:blip r:embed="rId1"/>
          <a:stretch>
            <a:fillRect/>
          </a:stretch>
        </p:blipFill>
        <p:spPr>
          <a:xfrm>
            <a:off x="731520" y="1714500"/>
            <a:ext cx="310896" cy="310896"/>
          </a:xfrm>
          <a:prstGeom prst="rect">
            <a:avLst/>
          </a:prstGeom>
        </p:spPr>
      </p:pic>
      <p:sp>
        <p:nvSpPr>
          <p:cNvPr id="7" name="Text 4"/>
          <p:cNvSpPr txBox="1"/>
          <p:nvPr/>
        </p:nvSpPr>
        <p:spPr>
          <a:xfrm>
            <a:off x="1207008" y="1517904"/>
            <a:ext cx="4631436" cy="704088"/>
          </a:xfrm>
          <a:prstGeom prst="rect">
            <a:avLst/>
          </a:prstGeom>
          <a:noFill/>
          <a:ln/>
        </p:spPr>
        <p:txBody>
          <a:bodyPr wrap="square" lIns="0" tIns="0" rIns="0" bIns="0" rtlCol="0" anchor="ctr"/>
          <a:lstStyle/>
          <a:p>
            <a:pPr indent="0" marL="0">
              <a:buNone/>
            </a:pPr>
            <a:r>
              <a:rPr lang="en-US" sz="1900" b="1" dirty="0">
                <a:solidFill>
                  <a:schemeClr val="tx1"/>
                </a:solidFill>
              </a:rPr>
              <a:t>180 to 220 words</a:t>
            </a:r>
            <a:r>
              <a:rPr lang="en-US" sz="1900" dirty="0">
                <a:solidFill>
                  <a:schemeClr val="tx1"/>
                </a:solidFill>
              </a:rPr>
              <a:t>, continuous text, no bullet points.</a:t>
            </a:r>
            <a:endParaRPr lang="en-US" sz="1900" dirty="0"/>
          </a:p>
        </p:txBody>
      </p:sp>
      <p:sp>
        <p:nvSpPr>
          <p:cNvPr id="8" name="Shape 5"/>
          <p:cNvSpPr/>
          <p:nvPr/>
        </p:nvSpPr>
        <p:spPr>
          <a:xfrm>
            <a:off x="548640" y="2295144"/>
            <a:ext cx="5408676" cy="704088"/>
          </a:xfrm>
          <a:prstGeom prst="roundRect">
            <a:avLst>
              <a:gd name="adj" fmla="val 7792"/>
            </a:avLst>
          </a:prstGeom>
          <a:solidFill>
            <a:schemeClr val="bg1"/>
          </a:solidFill>
          <a:ln w="6350">
            <a:solidFill>
              <a:srgbClr val="D5DCE6"/>
            </a:solidFill>
            <a:prstDash val="solid"/>
          </a:ln>
        </p:spPr>
      </p:sp>
      <p:pic>
        <p:nvPicPr>
          <p:cNvPr id="9" name="Image 1" descr="preencoded.png">    </p:cNvPr>
          <p:cNvPicPr>
            <a:picLocks noChangeAspect="1"/>
          </p:cNvPicPr>
          <p:nvPr/>
        </p:nvPicPr>
        <p:blipFill>
          <a:blip r:embed="rId2"/>
          <a:stretch>
            <a:fillRect/>
          </a:stretch>
        </p:blipFill>
        <p:spPr>
          <a:xfrm>
            <a:off x="731520" y="2491740"/>
            <a:ext cx="310896" cy="310896"/>
          </a:xfrm>
          <a:prstGeom prst="rect">
            <a:avLst/>
          </a:prstGeom>
        </p:spPr>
      </p:pic>
      <p:sp>
        <p:nvSpPr>
          <p:cNvPr id="10" name="Text 6"/>
          <p:cNvSpPr txBox="1"/>
          <p:nvPr/>
        </p:nvSpPr>
        <p:spPr>
          <a:xfrm>
            <a:off x="1207008" y="2295144"/>
            <a:ext cx="4631436" cy="704088"/>
          </a:xfrm>
          <a:prstGeom prst="rect">
            <a:avLst/>
          </a:prstGeom>
          <a:noFill/>
          <a:ln/>
        </p:spPr>
        <p:txBody>
          <a:bodyPr wrap="square" lIns="0" tIns="0" rIns="0" bIns="0" rtlCol="0" anchor="ctr"/>
          <a:lstStyle/>
          <a:p>
            <a:pPr indent="0" marL="0">
              <a:buNone/>
            </a:pPr>
            <a:r>
              <a:rPr lang="en-US" sz="1900" b="1" dirty="0">
                <a:solidFill>
                  <a:schemeClr val="tx1"/>
                </a:solidFill>
              </a:rPr>
              <a:t>Two verifiable times</a:t>
            </a:r>
            <a:r>
              <a:rPr lang="en-US" sz="1900" dirty="0">
                <a:solidFill>
                  <a:schemeClr val="tx1"/>
                </a:solidFill>
              </a:rPr>
              <a:t>, both taken from Exhibit A.</a:t>
            </a:r>
            <a:endParaRPr lang="en-US" sz="1900" dirty="0"/>
          </a:p>
        </p:txBody>
      </p:sp>
      <p:sp>
        <p:nvSpPr>
          <p:cNvPr id="11" name="Shape 7"/>
          <p:cNvSpPr/>
          <p:nvPr/>
        </p:nvSpPr>
        <p:spPr>
          <a:xfrm>
            <a:off x="548640" y="3072384"/>
            <a:ext cx="5408676" cy="704088"/>
          </a:xfrm>
          <a:prstGeom prst="roundRect">
            <a:avLst>
              <a:gd name="adj" fmla="val 7792"/>
            </a:avLst>
          </a:prstGeom>
          <a:solidFill>
            <a:schemeClr val="bg2"/>
          </a:solidFill>
          <a:ln w="6350">
            <a:solidFill>
              <a:srgbClr val="D5DCE6"/>
            </a:solidFill>
            <a:prstDash val="solid"/>
          </a:ln>
        </p:spPr>
      </p:sp>
      <p:pic>
        <p:nvPicPr>
          <p:cNvPr id="12" name="Image 2" descr="preencoded.png">    </p:cNvPr>
          <p:cNvPicPr>
            <a:picLocks noChangeAspect="1"/>
          </p:cNvPicPr>
          <p:nvPr/>
        </p:nvPicPr>
        <p:blipFill>
          <a:blip r:embed="rId3"/>
          <a:stretch>
            <a:fillRect/>
          </a:stretch>
        </p:blipFill>
        <p:spPr>
          <a:xfrm>
            <a:off x="731520" y="3268980"/>
            <a:ext cx="310896" cy="310896"/>
          </a:xfrm>
          <a:prstGeom prst="rect">
            <a:avLst/>
          </a:prstGeom>
        </p:spPr>
      </p:pic>
      <p:sp>
        <p:nvSpPr>
          <p:cNvPr id="13" name="Text 8"/>
          <p:cNvSpPr txBox="1"/>
          <p:nvPr/>
        </p:nvSpPr>
        <p:spPr>
          <a:xfrm>
            <a:off x="1207008" y="3072384"/>
            <a:ext cx="4631436" cy="704088"/>
          </a:xfrm>
          <a:prstGeom prst="rect">
            <a:avLst/>
          </a:prstGeom>
          <a:noFill/>
          <a:ln/>
        </p:spPr>
        <p:txBody>
          <a:bodyPr wrap="square" lIns="0" tIns="0" rIns="0" bIns="0" rtlCol="0" anchor="ctr"/>
          <a:lstStyle/>
          <a:p>
            <a:pPr indent="0" marL="0">
              <a:buNone/>
            </a:pPr>
            <a:r>
              <a:rPr lang="en-US" sz="1900" dirty="0">
                <a:solidFill>
                  <a:schemeClr val="tx1"/>
                </a:solidFill>
              </a:rPr>
              <a:t>One </a:t>
            </a:r>
            <a:r>
              <a:rPr lang="en-US" sz="1900" b="1" dirty="0">
                <a:solidFill>
                  <a:schemeClr val="tx1"/>
                </a:solidFill>
              </a:rPr>
              <a:t>while</a:t>
            </a:r>
            <a:r>
              <a:rPr lang="en-US" sz="1900" dirty="0">
                <a:solidFill>
                  <a:schemeClr val="tx1"/>
                </a:solidFill>
              </a:rPr>
              <a:t> or </a:t>
            </a:r>
            <a:r>
              <a:rPr lang="en-US" sz="1900" b="1" dirty="0">
                <a:solidFill>
                  <a:schemeClr val="tx1"/>
                </a:solidFill>
              </a:rPr>
              <a:t>when</a:t>
            </a:r>
            <a:r>
              <a:rPr lang="en-US" sz="1900" dirty="0">
                <a:solidFill>
                  <a:schemeClr val="tx1"/>
                </a:solidFill>
              </a:rPr>
              <a:t> joining a background and an event.</a:t>
            </a:r>
            <a:endParaRPr lang="en-US" sz="1900" dirty="0"/>
          </a:p>
        </p:txBody>
      </p:sp>
      <p:sp>
        <p:nvSpPr>
          <p:cNvPr id="14" name="Shape 9"/>
          <p:cNvSpPr/>
          <p:nvPr/>
        </p:nvSpPr>
        <p:spPr>
          <a:xfrm>
            <a:off x="548640" y="3849624"/>
            <a:ext cx="5408676" cy="704088"/>
          </a:xfrm>
          <a:prstGeom prst="roundRect">
            <a:avLst>
              <a:gd name="adj" fmla="val 7792"/>
            </a:avLst>
          </a:prstGeom>
          <a:solidFill>
            <a:schemeClr val="bg1"/>
          </a:solidFill>
          <a:ln w="6350">
            <a:solidFill>
              <a:srgbClr val="D5DCE6"/>
            </a:solidFill>
            <a:prstDash val="solid"/>
          </a:ln>
        </p:spPr>
      </p:sp>
      <p:pic>
        <p:nvPicPr>
          <p:cNvPr id="15" name="Image 3" descr="preencoded.png">    </p:cNvPr>
          <p:cNvPicPr>
            <a:picLocks noChangeAspect="1"/>
          </p:cNvPicPr>
          <p:nvPr/>
        </p:nvPicPr>
        <p:blipFill>
          <a:blip r:embed="rId4"/>
          <a:stretch>
            <a:fillRect/>
          </a:stretch>
        </p:blipFill>
        <p:spPr>
          <a:xfrm>
            <a:off x="731520" y="4046220"/>
            <a:ext cx="310896" cy="310896"/>
          </a:xfrm>
          <a:prstGeom prst="rect">
            <a:avLst/>
          </a:prstGeom>
        </p:spPr>
      </p:pic>
      <p:sp>
        <p:nvSpPr>
          <p:cNvPr id="16" name="Text 10"/>
          <p:cNvSpPr txBox="1"/>
          <p:nvPr/>
        </p:nvSpPr>
        <p:spPr>
          <a:xfrm>
            <a:off x="1207008" y="3849624"/>
            <a:ext cx="4631436" cy="704088"/>
          </a:xfrm>
          <a:prstGeom prst="rect">
            <a:avLst/>
          </a:prstGeom>
          <a:noFill/>
          <a:ln/>
        </p:spPr>
        <p:txBody>
          <a:bodyPr wrap="square" lIns="0" tIns="0" rIns="0" bIns="0" rtlCol="0" anchor="ctr"/>
          <a:lstStyle/>
          <a:p>
            <a:pPr indent="0" marL="0">
              <a:buNone/>
            </a:pPr>
            <a:r>
              <a:rPr lang="en-US" sz="1900" dirty="0">
                <a:solidFill>
                  <a:schemeClr val="tx1"/>
                </a:solidFill>
              </a:rPr>
              <a:t>One </a:t>
            </a:r>
            <a:r>
              <a:rPr lang="en-US" sz="1900" b="1" dirty="0">
                <a:solidFill>
                  <a:schemeClr val="tx1"/>
                </a:solidFill>
              </a:rPr>
              <a:t>already</a:t>
            </a:r>
            <a:r>
              <a:rPr lang="en-US" sz="1900" dirty="0">
                <a:solidFill>
                  <a:schemeClr val="tx1"/>
                </a:solidFill>
              </a:rPr>
              <a:t> and one </a:t>
            </a:r>
            <a:r>
              <a:rPr lang="en-US" sz="1900" b="1" dirty="0">
                <a:solidFill>
                  <a:schemeClr val="tx1"/>
                </a:solidFill>
              </a:rPr>
              <a:t>not … yet</a:t>
            </a:r>
            <a:r>
              <a:rPr lang="en-US" sz="1900" dirty="0">
                <a:solidFill>
                  <a:schemeClr val="tx1"/>
                </a:solidFill>
              </a:rPr>
              <a:t>, correctly placed.</a:t>
            </a:r>
            <a:endParaRPr lang="en-US" sz="1900" dirty="0"/>
          </a:p>
        </p:txBody>
      </p:sp>
      <p:sp>
        <p:nvSpPr>
          <p:cNvPr id="17" name="Shape 11"/>
          <p:cNvSpPr/>
          <p:nvPr/>
        </p:nvSpPr>
        <p:spPr>
          <a:xfrm>
            <a:off x="548640" y="4626864"/>
            <a:ext cx="5408676" cy="704088"/>
          </a:xfrm>
          <a:prstGeom prst="roundRect">
            <a:avLst>
              <a:gd name="adj" fmla="val 7792"/>
            </a:avLst>
          </a:prstGeom>
          <a:solidFill>
            <a:schemeClr val="bg2"/>
          </a:solidFill>
          <a:ln w="6350">
            <a:solidFill>
              <a:srgbClr val="D5DCE6"/>
            </a:solidFill>
            <a:prstDash val="solid"/>
          </a:ln>
        </p:spPr>
      </p:sp>
      <p:pic>
        <p:nvPicPr>
          <p:cNvPr id="18" name="Image 4" descr="preencoded.png">    </p:cNvPr>
          <p:cNvPicPr>
            <a:picLocks noChangeAspect="1"/>
          </p:cNvPicPr>
          <p:nvPr/>
        </p:nvPicPr>
        <p:blipFill>
          <a:blip r:embed="rId5"/>
          <a:stretch>
            <a:fillRect/>
          </a:stretch>
        </p:blipFill>
        <p:spPr>
          <a:xfrm>
            <a:off x="731520" y="4823460"/>
            <a:ext cx="310896" cy="310896"/>
          </a:xfrm>
          <a:prstGeom prst="rect">
            <a:avLst/>
          </a:prstGeom>
        </p:spPr>
      </p:pic>
      <p:sp>
        <p:nvSpPr>
          <p:cNvPr id="19" name="Text 12"/>
          <p:cNvSpPr txBox="1"/>
          <p:nvPr/>
        </p:nvSpPr>
        <p:spPr>
          <a:xfrm>
            <a:off x="1207008" y="4626864"/>
            <a:ext cx="4631436" cy="704088"/>
          </a:xfrm>
          <a:prstGeom prst="rect">
            <a:avLst/>
          </a:prstGeom>
          <a:noFill/>
          <a:ln/>
        </p:spPr>
        <p:txBody>
          <a:bodyPr wrap="square" lIns="0" tIns="0" rIns="0" bIns="0" rtlCol="0" anchor="ctr"/>
          <a:lstStyle/>
          <a:p>
            <a:pPr indent="0" marL="0">
              <a:buNone/>
            </a:pPr>
            <a:r>
              <a:rPr lang="en-US" sz="1900" dirty="0">
                <a:solidFill>
                  <a:schemeClr val="tx1"/>
                </a:solidFill>
              </a:rPr>
              <a:t>One </a:t>
            </a:r>
            <a:r>
              <a:rPr lang="en-US" sz="1900" b="1" dirty="0">
                <a:solidFill>
                  <a:schemeClr val="tx1"/>
                </a:solidFill>
              </a:rPr>
              <a:t>since</a:t>
            </a:r>
            <a:r>
              <a:rPr lang="en-US" sz="1900" dirty="0">
                <a:solidFill>
                  <a:schemeClr val="tx1"/>
                </a:solidFill>
              </a:rPr>
              <a:t> or </a:t>
            </a:r>
            <a:r>
              <a:rPr lang="en-US" sz="1900" b="1" dirty="0">
                <a:solidFill>
                  <a:schemeClr val="tx1"/>
                </a:solidFill>
              </a:rPr>
              <a:t>for</a:t>
            </a:r>
            <a:r>
              <a:rPr lang="en-US" sz="1900" dirty="0">
                <a:solidFill>
                  <a:schemeClr val="tx1"/>
                </a:solidFill>
              </a:rPr>
              <a:t>, plus one dated fact in the past.</a:t>
            </a:r>
            <a:endParaRPr lang="en-US" sz="1900" dirty="0"/>
          </a:p>
        </p:txBody>
      </p:sp>
      <p:sp>
        <p:nvSpPr>
          <p:cNvPr id="20" name="Shape 13"/>
          <p:cNvSpPr/>
          <p:nvPr/>
        </p:nvSpPr>
        <p:spPr>
          <a:xfrm>
            <a:off x="6231636" y="1517904"/>
            <a:ext cx="5408676" cy="704088"/>
          </a:xfrm>
          <a:prstGeom prst="roundRect">
            <a:avLst>
              <a:gd name="adj" fmla="val 7792"/>
            </a:avLst>
          </a:prstGeom>
          <a:solidFill>
            <a:schemeClr val="bg2"/>
          </a:solidFill>
          <a:ln w="6350">
            <a:solidFill>
              <a:srgbClr val="D5DCE6"/>
            </a:solidFill>
            <a:prstDash val="solid"/>
          </a:ln>
        </p:spPr>
      </p:sp>
      <p:pic>
        <p:nvPicPr>
          <p:cNvPr id="21" name="Image 5" descr="preencoded.png">    </p:cNvPr>
          <p:cNvPicPr>
            <a:picLocks noChangeAspect="1"/>
          </p:cNvPicPr>
          <p:nvPr/>
        </p:nvPicPr>
        <p:blipFill>
          <a:blip r:embed="rId6"/>
          <a:stretch>
            <a:fillRect/>
          </a:stretch>
        </p:blipFill>
        <p:spPr>
          <a:xfrm>
            <a:off x="6414516" y="1714500"/>
            <a:ext cx="310896" cy="310896"/>
          </a:xfrm>
          <a:prstGeom prst="rect">
            <a:avLst/>
          </a:prstGeom>
        </p:spPr>
      </p:pic>
      <p:sp>
        <p:nvSpPr>
          <p:cNvPr id="22" name="Text 14"/>
          <p:cNvSpPr txBox="1"/>
          <p:nvPr/>
        </p:nvSpPr>
        <p:spPr>
          <a:xfrm>
            <a:off x="6890004" y="1517904"/>
            <a:ext cx="4631436" cy="704088"/>
          </a:xfrm>
          <a:prstGeom prst="rect">
            <a:avLst/>
          </a:prstGeom>
          <a:noFill/>
          <a:ln/>
        </p:spPr>
        <p:txBody>
          <a:bodyPr wrap="square" lIns="0" tIns="0" rIns="0" bIns="0" rtlCol="0" anchor="ctr"/>
          <a:lstStyle/>
          <a:p>
            <a:pPr indent="0" marL="0">
              <a:buNone/>
            </a:pPr>
            <a:r>
              <a:rPr lang="en-US" sz="1900" dirty="0">
                <a:solidFill>
                  <a:schemeClr val="tx1"/>
                </a:solidFill>
              </a:rPr>
              <a:t>One </a:t>
            </a:r>
            <a:r>
              <a:rPr lang="en-US" sz="1900" b="1" dirty="0">
                <a:solidFill>
                  <a:schemeClr val="tx1"/>
                </a:solidFill>
              </a:rPr>
              <a:t>may</a:t>
            </a:r>
            <a:r>
              <a:rPr lang="en-US" sz="1900" dirty="0">
                <a:solidFill>
                  <a:schemeClr val="tx1"/>
                </a:solidFill>
              </a:rPr>
              <a:t> or </a:t>
            </a:r>
            <a:r>
              <a:rPr lang="en-US" sz="1900" b="1" dirty="0">
                <a:solidFill>
                  <a:schemeClr val="tx1"/>
                </a:solidFill>
              </a:rPr>
              <a:t>might</a:t>
            </a:r>
            <a:r>
              <a:rPr lang="en-US" sz="1900" dirty="0">
                <a:solidFill>
                  <a:schemeClr val="tx1"/>
                </a:solidFill>
              </a:rPr>
              <a:t>, one </a:t>
            </a:r>
            <a:r>
              <a:rPr lang="en-US" sz="1900" b="1" dirty="0">
                <a:solidFill>
                  <a:schemeClr val="tx1"/>
                </a:solidFill>
              </a:rPr>
              <a:t>can’t</a:t>
            </a:r>
            <a:r>
              <a:rPr lang="en-US" sz="1900" dirty="0">
                <a:solidFill>
                  <a:schemeClr val="tx1"/>
                </a:solidFill>
              </a:rPr>
              <a:t>, one </a:t>
            </a:r>
            <a:r>
              <a:rPr lang="en-US" sz="1900" b="1" dirty="0">
                <a:solidFill>
                  <a:schemeClr val="tx1"/>
                </a:solidFill>
              </a:rPr>
              <a:t>should</a:t>
            </a:r>
            <a:r>
              <a:rPr lang="en-US" sz="1900" dirty="0">
                <a:solidFill>
                  <a:schemeClr val="tx1"/>
                </a:solidFill>
              </a:rPr>
              <a:t>.</a:t>
            </a:r>
            <a:endParaRPr lang="en-US" sz="1900" dirty="0"/>
          </a:p>
        </p:txBody>
      </p:sp>
      <p:sp>
        <p:nvSpPr>
          <p:cNvPr id="23" name="Shape 15"/>
          <p:cNvSpPr/>
          <p:nvPr/>
        </p:nvSpPr>
        <p:spPr>
          <a:xfrm>
            <a:off x="6231636" y="2295144"/>
            <a:ext cx="5408676" cy="704088"/>
          </a:xfrm>
          <a:prstGeom prst="roundRect">
            <a:avLst>
              <a:gd name="adj" fmla="val 7792"/>
            </a:avLst>
          </a:prstGeom>
          <a:solidFill>
            <a:schemeClr val="bg1"/>
          </a:solidFill>
          <a:ln w="6350">
            <a:solidFill>
              <a:srgbClr val="D5DCE6"/>
            </a:solidFill>
            <a:prstDash val="solid"/>
          </a:ln>
        </p:spPr>
      </p:sp>
      <p:pic>
        <p:nvPicPr>
          <p:cNvPr id="24" name="Image 6" descr="preencoded.png">    </p:cNvPr>
          <p:cNvPicPr>
            <a:picLocks noChangeAspect="1"/>
          </p:cNvPicPr>
          <p:nvPr/>
        </p:nvPicPr>
        <p:blipFill>
          <a:blip r:embed="rId7"/>
          <a:stretch>
            <a:fillRect/>
          </a:stretch>
        </p:blipFill>
        <p:spPr>
          <a:xfrm>
            <a:off x="6414516" y="2491740"/>
            <a:ext cx="310896" cy="310896"/>
          </a:xfrm>
          <a:prstGeom prst="rect">
            <a:avLst/>
          </a:prstGeom>
        </p:spPr>
      </p:pic>
      <p:sp>
        <p:nvSpPr>
          <p:cNvPr id="25" name="Text 16"/>
          <p:cNvSpPr txBox="1"/>
          <p:nvPr/>
        </p:nvSpPr>
        <p:spPr>
          <a:xfrm>
            <a:off x="6890004" y="2295144"/>
            <a:ext cx="4631436" cy="704088"/>
          </a:xfrm>
          <a:prstGeom prst="rect">
            <a:avLst/>
          </a:prstGeom>
          <a:noFill/>
          <a:ln/>
        </p:spPr>
        <p:txBody>
          <a:bodyPr wrap="square" lIns="0" tIns="0" rIns="0" bIns="0" rtlCol="0" anchor="ctr"/>
          <a:lstStyle/>
          <a:p>
            <a:pPr indent="0" marL="0">
              <a:buNone/>
            </a:pPr>
            <a:r>
              <a:rPr lang="en-US" sz="1900" b="1" dirty="0">
                <a:solidFill>
                  <a:schemeClr val="tx1"/>
                </a:solidFill>
              </a:rPr>
              <a:t>No person named anywhere. No badge number.</a:t>
            </a:r>
            <a:endParaRPr lang="en-US" sz="1900" dirty="0"/>
          </a:p>
        </p:txBody>
      </p:sp>
      <p:sp>
        <p:nvSpPr>
          <p:cNvPr id="26" name="Shape 17"/>
          <p:cNvSpPr/>
          <p:nvPr/>
        </p:nvSpPr>
        <p:spPr>
          <a:xfrm>
            <a:off x="6231636" y="3072384"/>
            <a:ext cx="5408676" cy="704088"/>
          </a:xfrm>
          <a:prstGeom prst="roundRect">
            <a:avLst>
              <a:gd name="adj" fmla="val 7792"/>
            </a:avLst>
          </a:prstGeom>
          <a:solidFill>
            <a:schemeClr val="bg2"/>
          </a:solidFill>
          <a:ln w="6350">
            <a:solidFill>
              <a:srgbClr val="D5DCE6"/>
            </a:solidFill>
            <a:prstDash val="solid"/>
          </a:ln>
        </p:spPr>
      </p:sp>
      <p:pic>
        <p:nvPicPr>
          <p:cNvPr id="27" name="Image 7" descr="preencoded.png">    </p:cNvPr>
          <p:cNvPicPr>
            <a:picLocks noChangeAspect="1"/>
          </p:cNvPicPr>
          <p:nvPr/>
        </p:nvPicPr>
        <p:blipFill>
          <a:blip r:embed="rId8"/>
          <a:stretch>
            <a:fillRect/>
          </a:stretch>
        </p:blipFill>
        <p:spPr>
          <a:xfrm>
            <a:off x="6414516" y="3268980"/>
            <a:ext cx="310896" cy="310896"/>
          </a:xfrm>
          <a:prstGeom prst="rect">
            <a:avLst/>
          </a:prstGeom>
        </p:spPr>
      </p:pic>
      <p:sp>
        <p:nvSpPr>
          <p:cNvPr id="28" name="Text 18"/>
          <p:cNvSpPr txBox="1"/>
          <p:nvPr/>
        </p:nvSpPr>
        <p:spPr>
          <a:xfrm>
            <a:off x="6890004" y="3072384"/>
            <a:ext cx="4631436" cy="704088"/>
          </a:xfrm>
          <a:prstGeom prst="rect">
            <a:avLst/>
          </a:prstGeom>
          <a:noFill/>
          <a:ln/>
        </p:spPr>
        <p:txBody>
          <a:bodyPr wrap="square" lIns="0" tIns="0" rIns="0" bIns="0" rtlCol="0" anchor="ctr"/>
          <a:lstStyle/>
          <a:p>
            <a:pPr indent="0" marL="0">
              <a:buNone/>
            </a:pPr>
            <a:r>
              <a:rPr lang="en-US" sz="1900" dirty="0">
                <a:solidFill>
                  <a:schemeClr val="tx1"/>
                </a:solidFill>
              </a:rPr>
              <a:t>A </a:t>
            </a:r>
            <a:r>
              <a:rPr lang="en-US" sz="1900" b="1" dirty="0">
                <a:solidFill>
                  <a:schemeClr val="tx1"/>
                </a:solidFill>
              </a:rPr>
              <a:t>full English date</a:t>
            </a:r>
            <a:r>
              <a:rPr lang="en-US" sz="1900" dirty="0">
                <a:solidFill>
                  <a:schemeClr val="tx1"/>
                </a:solidFill>
              </a:rPr>
              <a:t> and a closing formula.</a:t>
            </a:r>
            <a:endParaRPr lang="en-US" sz="1900" dirty="0"/>
          </a:p>
        </p:txBody>
      </p:sp>
      <p:sp>
        <p:nvSpPr>
          <p:cNvPr id="29" name="Shape 19"/>
          <p:cNvSpPr/>
          <p:nvPr/>
        </p:nvSpPr>
        <p:spPr>
          <a:xfrm>
            <a:off x="6231636" y="3849624"/>
            <a:ext cx="5408676" cy="704088"/>
          </a:xfrm>
          <a:prstGeom prst="roundRect">
            <a:avLst>
              <a:gd name="adj" fmla="val 7792"/>
            </a:avLst>
          </a:prstGeom>
          <a:solidFill>
            <a:schemeClr val="bg1"/>
          </a:solidFill>
          <a:ln w="6350">
            <a:solidFill>
              <a:srgbClr val="D5DCE6"/>
            </a:solidFill>
            <a:prstDash val="solid"/>
          </a:ln>
        </p:spPr>
      </p:sp>
      <p:pic>
        <p:nvPicPr>
          <p:cNvPr id="30" name="Image 8" descr="preencoded.png">    </p:cNvPr>
          <p:cNvPicPr>
            <a:picLocks noChangeAspect="1"/>
          </p:cNvPicPr>
          <p:nvPr/>
        </p:nvPicPr>
        <p:blipFill>
          <a:blip r:embed="rId9"/>
          <a:stretch>
            <a:fillRect/>
          </a:stretch>
        </p:blipFill>
        <p:spPr>
          <a:xfrm>
            <a:off x="6414516" y="4046220"/>
            <a:ext cx="310896" cy="310896"/>
          </a:xfrm>
          <a:prstGeom prst="rect">
            <a:avLst/>
          </a:prstGeom>
        </p:spPr>
      </p:pic>
      <p:sp>
        <p:nvSpPr>
          <p:cNvPr id="31" name="Text 20"/>
          <p:cNvSpPr txBox="1"/>
          <p:nvPr/>
        </p:nvSpPr>
        <p:spPr>
          <a:xfrm>
            <a:off x="6890004" y="3849624"/>
            <a:ext cx="4631436" cy="704088"/>
          </a:xfrm>
          <a:prstGeom prst="rect">
            <a:avLst/>
          </a:prstGeom>
          <a:noFill/>
          <a:ln/>
        </p:spPr>
        <p:txBody>
          <a:bodyPr wrap="square" lIns="0" tIns="0" rIns="0" bIns="0" rtlCol="0" anchor="ctr"/>
          <a:lstStyle/>
          <a:p>
            <a:pPr indent="0" marL="0">
              <a:buNone/>
            </a:pPr>
            <a:r>
              <a:rPr lang="en-US" sz="1900" b="1" dirty="0">
                <a:solidFill>
                  <a:schemeClr val="tx1"/>
                </a:solidFill>
              </a:rPr>
              <a:t>Four facts</a:t>
            </a:r>
            <a:r>
              <a:rPr lang="en-US" sz="1900" dirty="0">
                <a:solidFill>
                  <a:schemeClr val="tx1"/>
                </a:solidFill>
              </a:rPr>
              <a:t> from my own firm’s file.</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Count, cut, check</a:t>
            </a:r>
            <a:endParaRPr lang="en-US" sz="3200" dirty="0"/>
          </a:p>
        </p:txBody>
      </p:sp>
      <p:sp>
        <p:nvSpPr>
          <p:cNvPr id="3" name="tag"/>
          <p:cNvSpPr/>
          <p:nvPr/>
        </p:nvSpPr>
        <p:spPr>
          <a:xfrm>
            <a:off x="548640" y="237744"/>
            <a:ext cx="10515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METHOD</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47–48</a:t>
            </a:r>
            <a:endParaRPr lang="en-US" sz="1200" dirty="0"/>
          </a:p>
        </p:txBody>
      </p:sp>
      <p:sp>
        <p:nvSpPr>
          <p:cNvPr id="5" name="Shape 3"/>
          <p:cNvSpPr/>
          <p:nvPr/>
        </p:nvSpPr>
        <p:spPr>
          <a:xfrm>
            <a:off x="548640" y="1481328"/>
            <a:ext cx="3514344" cy="4809744"/>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6" name="Shape 4"/>
          <p:cNvSpPr/>
          <p:nvPr/>
        </p:nvSpPr>
        <p:spPr>
          <a:xfrm>
            <a:off x="548640" y="1481328"/>
            <a:ext cx="3514344" cy="502920"/>
          </a:xfrm>
          <a:prstGeom prst="roundRect">
            <a:avLst>
              <a:gd name="adj" fmla="val 18182"/>
            </a:avLst>
          </a:prstGeom>
          <a:solidFill>
            <a:schemeClr val="accent6"/>
          </a:solidFill>
          <a:ln/>
        </p:spPr>
      </p:sp>
      <p:sp>
        <p:nvSpPr>
          <p:cNvPr id="7" name="Shape 5"/>
          <p:cNvSpPr/>
          <p:nvPr/>
        </p:nvSpPr>
        <p:spPr>
          <a:xfrm>
            <a:off x="548640" y="1801368"/>
            <a:ext cx="3514344" cy="182880"/>
          </a:xfrm>
          <a:prstGeom prst="rect">
            <a:avLst/>
          </a:prstGeom>
          <a:solidFill>
            <a:schemeClr val="accent6"/>
          </a:solidFill>
          <a:ln w="12700">
            <a:solidFill>
              <a:schemeClr val="accent6"/>
            </a:solidFill>
            <a:prstDash val="solid"/>
          </a:ln>
        </p:spPr>
      </p:sp>
      <p:sp>
        <p:nvSpPr>
          <p:cNvPr id="8" name="Text 6"/>
          <p:cNvSpPr txBox="1"/>
          <p:nvPr/>
        </p:nvSpPr>
        <p:spPr>
          <a:xfrm>
            <a:off x="731520"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TOO LONG? (&gt; 220)</a:t>
            </a:r>
            <a:endParaRPr lang="en-US" sz="1500" dirty="0"/>
          </a:p>
        </p:txBody>
      </p:sp>
      <p:sp>
        <p:nvSpPr>
          <p:cNvPr id="9" name="Text 7"/>
          <p:cNvSpPr txBox="1"/>
          <p:nvPr/>
        </p:nvSpPr>
        <p:spPr>
          <a:xfrm>
            <a:off x="731520" y="2084832"/>
            <a:ext cx="3148584" cy="4096512"/>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Cut repeated times.</a:t>
            </a:r>
            <a:endParaRPr lang="en-US" sz="2000" dirty="0"/>
          </a:p>
          <a:p>
            <a:pPr marL="177800" indent="-177800">
              <a:spcAft>
                <a:spcPts val="600"/>
              </a:spcAft>
              <a:buSzPct val="100000"/>
              <a:buChar char="•"/>
            </a:pPr>
            <a:r>
              <a:rPr lang="en-US" sz="2000" dirty="0">
                <a:solidFill>
                  <a:schemeClr val="tx1"/>
                </a:solidFill>
              </a:rPr>
              <a:t>Cut adjectives and opinions.</a:t>
            </a:r>
            <a:endParaRPr lang="en-US" sz="2000" dirty="0"/>
          </a:p>
          <a:p>
            <a:pPr marL="177800" indent="-177800">
              <a:spcAft>
                <a:spcPts val="600"/>
              </a:spcAft>
              <a:buSzPct val="100000"/>
              <a:buChar char="•"/>
            </a:pPr>
            <a:r>
              <a:rPr lang="en-US" sz="2000" dirty="0">
                <a:solidFill>
                  <a:schemeClr val="tx1"/>
                </a:solidFill>
              </a:rPr>
              <a:t>One idea per sentence.</a:t>
            </a:r>
            <a:endParaRPr lang="en-US" sz="2000" dirty="0"/>
          </a:p>
        </p:txBody>
      </p:sp>
      <p:sp>
        <p:nvSpPr>
          <p:cNvPr id="10" name="Shape 8"/>
          <p:cNvSpPr/>
          <p:nvPr/>
        </p:nvSpPr>
        <p:spPr>
          <a:xfrm>
            <a:off x="4337304" y="1481328"/>
            <a:ext cx="3514344" cy="4809744"/>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1" name="Shape 9"/>
          <p:cNvSpPr/>
          <p:nvPr/>
        </p:nvSpPr>
        <p:spPr>
          <a:xfrm>
            <a:off x="4337304" y="1481328"/>
            <a:ext cx="3514344" cy="502920"/>
          </a:xfrm>
          <a:prstGeom prst="roundRect">
            <a:avLst>
              <a:gd name="adj" fmla="val 18182"/>
            </a:avLst>
          </a:prstGeom>
          <a:solidFill>
            <a:schemeClr val="accent1"/>
          </a:solidFill>
          <a:ln/>
        </p:spPr>
      </p:sp>
      <p:sp>
        <p:nvSpPr>
          <p:cNvPr id="12" name="Shape 10"/>
          <p:cNvSpPr/>
          <p:nvPr/>
        </p:nvSpPr>
        <p:spPr>
          <a:xfrm>
            <a:off x="4337304" y="1801368"/>
            <a:ext cx="3514344" cy="182880"/>
          </a:xfrm>
          <a:prstGeom prst="rect">
            <a:avLst/>
          </a:prstGeom>
          <a:solidFill>
            <a:schemeClr val="accent1"/>
          </a:solidFill>
          <a:ln w="12700">
            <a:solidFill>
              <a:schemeClr val="accent1"/>
            </a:solidFill>
            <a:prstDash val="solid"/>
          </a:ln>
        </p:spPr>
      </p:sp>
      <p:sp>
        <p:nvSpPr>
          <p:cNvPr id="13" name="Text 11"/>
          <p:cNvSpPr txBox="1"/>
          <p:nvPr/>
        </p:nvSpPr>
        <p:spPr>
          <a:xfrm>
            <a:off x="4520184"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TOO SHORT? (&lt; 180)</a:t>
            </a:r>
            <a:endParaRPr lang="en-US" sz="1500" dirty="0"/>
          </a:p>
        </p:txBody>
      </p:sp>
      <p:sp>
        <p:nvSpPr>
          <p:cNvPr id="14" name="Text 12"/>
          <p:cNvSpPr txBox="1"/>
          <p:nvPr/>
        </p:nvSpPr>
        <p:spPr>
          <a:xfrm>
            <a:off x="4520184" y="2084832"/>
            <a:ext cx="3148584" cy="4096512"/>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Add one fact from </a:t>
            </a:r>
            <a:r>
              <a:rPr lang="en-US" sz="2000" b="1" dirty="0">
                <a:solidFill>
                  <a:schemeClr val="tx1"/>
                </a:solidFill>
              </a:rPr>
              <a:t>your firm’s file</a:t>
            </a:r>
            <a:r>
              <a:rPr lang="en-US" sz="2000" dirty="0">
                <a:solidFill>
                  <a:schemeClr val="tx1"/>
                </a:solidFill>
              </a:rPr>
              <a:t>.</a:t>
            </a:r>
            <a:endParaRPr lang="en-US" sz="2000" dirty="0"/>
          </a:p>
          <a:p>
            <a:pPr marL="177800" indent="-177800">
              <a:spcAft>
                <a:spcPts val="600"/>
              </a:spcAft>
              <a:buSzPct val="100000"/>
              <a:buChar char="•"/>
            </a:pPr>
            <a:r>
              <a:rPr lang="en-US" sz="2000" dirty="0">
                <a:solidFill>
                  <a:schemeClr val="tx1"/>
                </a:solidFill>
              </a:rPr>
              <a:t>Add the </a:t>
            </a:r>
            <a:r>
              <a:rPr lang="en-US" sz="2000" b="1" dirty="0">
                <a:solidFill>
                  <a:schemeClr val="tx1"/>
                </a:solidFill>
              </a:rPr>
              <a:t>condition</a:t>
            </a:r>
            <a:r>
              <a:rPr lang="en-US" sz="2000" dirty="0">
                <a:solidFill>
                  <a:schemeClr val="tx1"/>
                </a:solidFill>
              </a:rPr>
              <a:t> of your recommendation (</a:t>
            </a:r>
            <a:r>
              <a:rPr lang="en-US" sz="2000" i="1" dirty="0">
                <a:solidFill>
                  <a:schemeClr val="tx1"/>
                </a:solidFill>
              </a:rPr>
              <a:t>provided that…</a:t>
            </a:r>
            <a:r>
              <a:rPr lang="en-US" sz="2000" dirty="0">
                <a:solidFill>
                  <a:schemeClr val="tx1"/>
                </a:solidFill>
              </a:rPr>
              <a:t>).</a:t>
            </a:r>
            <a:endParaRPr lang="en-US" sz="2000" dirty="0"/>
          </a:p>
        </p:txBody>
      </p:sp>
      <p:sp>
        <p:nvSpPr>
          <p:cNvPr id="15" name="Shape 13"/>
          <p:cNvSpPr/>
          <p:nvPr/>
        </p:nvSpPr>
        <p:spPr>
          <a:xfrm>
            <a:off x="8125968" y="1481328"/>
            <a:ext cx="3514344" cy="4809744"/>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6" name="Shape 14"/>
          <p:cNvSpPr/>
          <p:nvPr/>
        </p:nvSpPr>
        <p:spPr>
          <a:xfrm>
            <a:off x="8125968" y="1481328"/>
            <a:ext cx="3514344" cy="502920"/>
          </a:xfrm>
          <a:prstGeom prst="roundRect">
            <a:avLst>
              <a:gd name="adj" fmla="val 18182"/>
            </a:avLst>
          </a:prstGeom>
          <a:solidFill>
            <a:schemeClr val="accent3"/>
          </a:solidFill>
          <a:ln/>
        </p:spPr>
      </p:sp>
      <p:sp>
        <p:nvSpPr>
          <p:cNvPr id="17" name="Shape 15"/>
          <p:cNvSpPr/>
          <p:nvPr/>
        </p:nvSpPr>
        <p:spPr>
          <a:xfrm>
            <a:off x="8125968" y="1801368"/>
            <a:ext cx="3514344" cy="182880"/>
          </a:xfrm>
          <a:prstGeom prst="rect">
            <a:avLst/>
          </a:prstGeom>
          <a:solidFill>
            <a:schemeClr val="accent3"/>
          </a:solidFill>
          <a:ln w="12700">
            <a:solidFill>
              <a:schemeClr val="accent3"/>
            </a:solidFill>
            <a:prstDash val="solid"/>
          </a:ln>
        </p:spPr>
      </p:sp>
      <p:sp>
        <p:nvSpPr>
          <p:cNvPr id="18" name="Text 16"/>
          <p:cNvSpPr txBox="1"/>
          <p:nvPr/>
        </p:nvSpPr>
        <p:spPr>
          <a:xfrm>
            <a:off x="8308848"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CHECK THE FLOW</a:t>
            </a:r>
            <a:endParaRPr lang="en-US" sz="1500" dirty="0"/>
          </a:p>
        </p:txBody>
      </p:sp>
      <p:sp>
        <p:nvSpPr>
          <p:cNvPr id="19" name="Text 17"/>
          <p:cNvSpPr txBox="1"/>
          <p:nvPr/>
        </p:nvSpPr>
        <p:spPr>
          <a:xfrm>
            <a:off x="8308848" y="2084832"/>
            <a:ext cx="3148584" cy="4096512"/>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Each paragraph opens with a </a:t>
            </a:r>
            <a:r>
              <a:rPr lang="en-US" sz="2000" b="1" dirty="0">
                <a:solidFill>
                  <a:schemeClr val="tx1"/>
                </a:solidFill>
              </a:rPr>
              <a:t>connector</a:t>
            </a:r>
            <a:r>
              <a:rPr lang="en-US" sz="2000" dirty="0">
                <a:solidFill>
                  <a:schemeClr val="tx1"/>
                </a:solidFill>
              </a:rPr>
              <a:t>.</a:t>
            </a:r>
            <a:endParaRPr lang="en-US" sz="2000" dirty="0"/>
          </a:p>
          <a:p>
            <a:pPr marL="177800" indent="-177800">
              <a:spcAft>
                <a:spcPts val="600"/>
              </a:spcAft>
              <a:buSzPct val="100000"/>
              <a:buChar char="•"/>
            </a:pPr>
            <a:r>
              <a:rPr lang="en-US" sz="2000" dirty="0">
                <a:solidFill>
                  <a:schemeClr val="tx1"/>
                </a:solidFill>
              </a:rPr>
              <a:t>No bullet points, no headings.</a:t>
            </a:r>
            <a:endParaRPr lang="en-US" sz="2000" dirty="0"/>
          </a:p>
          <a:p>
            <a:pPr marL="177800" indent="-177800">
              <a:spcAft>
                <a:spcPts val="600"/>
              </a:spcAft>
              <a:buSzPct val="100000"/>
              <a:buChar char="•"/>
            </a:pPr>
            <a:r>
              <a:rPr lang="en-US" sz="2000" dirty="0">
                <a:solidFill>
                  <a:schemeClr val="tx1"/>
                </a:solidFill>
              </a:rPr>
              <a:t>Read it aloud: does it sound like </a:t>
            </a:r>
            <a:r>
              <a:rPr lang="en-US" sz="2000" b="1" dirty="0">
                <a:solidFill>
                  <a:schemeClr val="tx1"/>
                </a:solidFill>
              </a:rPr>
              <a:t>one</a:t>
            </a:r>
            <a:r>
              <a:rPr lang="en-US" sz="2000" dirty="0">
                <a:solidFill>
                  <a:schemeClr val="tx1"/>
                </a:solidFill>
              </a:rPr>
              <a:t> text?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Before you close the file</a:t>
            </a:r>
            <a:endParaRPr lang="en-US" sz="3200" dirty="0"/>
          </a:p>
        </p:txBody>
      </p:sp>
      <p:sp>
        <p:nvSpPr>
          <p:cNvPr id="3" name="tag"/>
          <p:cNvSpPr/>
          <p:nvPr/>
        </p:nvSpPr>
        <p:spPr>
          <a:xfrm>
            <a:off x="548640" y="237744"/>
            <a:ext cx="196596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END OF SESSION</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2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NEXT IN THE FILE</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18.00 — Ferrand Logistics has convened a short committee. </a:t>
            </a:r>
            <a:r>
              <a:rPr lang="en-US" sz="2400" b="1" i="1" dirty="0">
                <a:solidFill>
                  <a:schemeClr val="bg1"/>
                </a:solidFill>
                <a:latin typeface="+mj-lt" pitchFamily="34" charset="0"/>
                <a:ea typeface="+mj-lt" pitchFamily="34" charset="-122"/>
                <a:cs typeface="+mj-lt" pitchFamily="34" charset="-120"/>
              </a:rPr>
              <a:t>You will present your report without reading it.</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BEFORE NEXT SESSION</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Send your report (180–220 words) by the deadline your teacher sets.</a:t>
            </a:r>
            <a:endParaRPr lang="en-US" sz="1700" dirty="0"/>
          </a:p>
          <a:p>
            <a:pPr marL="190500" indent="-190500">
              <a:spcAft>
                <a:spcPts val="800"/>
              </a:spcAft>
              <a:buSzPct val="100000"/>
              <a:buChar char="•"/>
            </a:pPr>
            <a:r>
              <a:rPr lang="en-US" sz="1700" dirty="0">
                <a:solidFill>
                  <a:schemeClr val="tx1"/>
                </a:solidFill>
              </a:rPr>
              <a:t>Prepare </a:t>
            </a:r>
            <a:r>
              <a:rPr lang="en-US" sz="1700" b="1" dirty="0">
                <a:solidFill>
                  <a:schemeClr val="tx1"/>
                </a:solidFill>
              </a:rPr>
              <a:t>five keywords</a:t>
            </a:r>
            <a:r>
              <a:rPr lang="en-US" sz="1700" dirty="0">
                <a:solidFill>
                  <a:schemeClr val="tx1"/>
                </a:solidFill>
              </a:rPr>
              <a:t> per section for the oral — no full sentences.</a:t>
            </a:r>
            <a:endParaRPr lang="en-US" sz="1700" dirty="0"/>
          </a:p>
          <a:p>
            <a:pPr marL="190500" indent="-190500">
              <a:spcAft>
                <a:spcPts val="800"/>
              </a:spcAft>
              <a:buSzPct val="100000"/>
              <a:buChar char="•"/>
            </a:pPr>
            <a:r>
              <a:rPr lang="en-US" sz="1700" dirty="0">
                <a:solidFill>
                  <a:schemeClr val="tx1"/>
                </a:solidFill>
              </a:rPr>
              <a:t>Practise saying your two times and your date </a:t>
            </a:r>
            <a:r>
              <a:rPr lang="en-US" sz="1700" b="1" dirty="0">
                <a:solidFill>
                  <a:schemeClr val="tx1"/>
                </a:solidFill>
              </a:rPr>
              <a:t>aloud</a:t>
            </a:r>
            <a:r>
              <a:rPr lang="en-US" sz="1700" dirty="0">
                <a:solidFill>
                  <a:schemeClr val="tx1"/>
                </a:solidFill>
              </a:rPr>
              <a:t>.</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EXIT TICKET  </a:t>
            </a:r>
            <a:endParaRPr lang="en-US" sz="1300" dirty="0"/>
          </a:p>
          <a:p>
            <a:pPr indent="0" marL="0">
              <a:buNone/>
            </a:pPr>
            <a:r>
              <a:rPr lang="en-US" sz="1600" dirty="0">
                <a:solidFill>
                  <a:schemeClr val="bg1"/>
                </a:solidFill>
              </a:rPr>
              <a:t>Count your words. Which section is too long?</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2F8"/>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Project Atlas">
  <a:themeElements>
    <a:clrScheme name="Project Atlas">
      <a:dk1>
        <a:srgbClr val="1B2333"/>
      </a:dk1>
      <a:lt1>
        <a:srgbClr val="FFFFFF"/>
      </a:lt1>
      <a:dk2>
        <a:srgbClr val="1F3864"/>
      </a:dk2>
      <a:lt2>
        <a:srgbClr val="EEF2F8"/>
      </a:lt2>
      <a:accent1>
        <a:srgbClr val="C0752A"/>
      </a:accent1>
      <a:accent2>
        <a:srgbClr val="2E75B6"/>
      </a:accent2>
      <a:accent3>
        <a:srgbClr val="3C7A3C"/>
      </a:accent3>
      <a:accent4>
        <a:srgbClr val="6E4A9E"/>
      </a:accent4>
      <a:accent5>
        <a:srgbClr val="44546A"/>
      </a:accent5>
      <a:accent6>
        <a:srgbClr val="B03A2E"/>
      </a:accent6>
      <a:hlink>
        <a:srgbClr val="2E75B6"/>
      </a:hlink>
      <a:folHlink>
        <a:srgbClr val="6E4A9E"/>
      </a:folHlink>
    </a:clrScheme>
    <a:fontScheme name="Project 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English UE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18 — The report: sections four and five</dc:title>
  <dc:subject>Case File 01 — The night nobody heard</dc:subject>
  <dc:creator>A. Jouniaux</dc:creator>
  <cp:lastModifiedBy>A. Jouniaux</cp:lastModifiedBy>
  <cp:revision>1</cp:revision>
  <dcterms:created xsi:type="dcterms:W3CDTF">2026-10-03T19:30:05Z</dcterms:created>
  <dcterms:modified xsi:type="dcterms:W3CDTF">2026-10-03T19:30:05Z</dcterms:modified>
</cp:coreProperties>
</file>