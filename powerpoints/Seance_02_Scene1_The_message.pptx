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3b6ca5ee-b516-4185-0394-5a1516c5cb2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lôture" id="{1743f1f3-15c1-788f-8ad0-7b10649709b6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Scène 1 : écoute du message vocal de Mark Shaw (à passer deux fois). Prévoir l’enregistrement audio. Le livret ne contient pas le script : les corrections de la prise de notes sont à ajuster à votre enregistrement.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centrée sur la compréhension orale et l’heure, compétence indispensable pour tout le dossier (journal d’alarme, rapport).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du vocabulaire de la séance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: evidence est indénombrable (✗ an evidence, ✗ evidences) → a piece of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décrire l’image (heure, objets, message affiché). La bulle donne déjà deux informations : water in the technical room / a quarter past eight. Anticipation : quelque chose de grave s’est produit.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répéter chaque heure de deux façons. Les logs (Exhibit A) utilisent le format 24 h : savoir lire « twenty-three forty-one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by / until, confusion classique des francophones, et sur for (pendant) — le « depuis » viendra en scène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Oral d’abord (A), puis écrit (B). Pour B5 : « be here for + heure » = être là pour (une heure fixée) — tournure britannique de la bulle p.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Oral d’abord (A), puis écrit (B). Pour B5 : « be here for + heure » = être là pour (une heure fixée) — tournure britannique de la bulle p.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1 minute pour préparer le carnet : six lignes numérotées, comme p. 3–4.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l’enregistrement deux fois, sans pause. Ne pas répéter une 3e fois (consigne du livret : « You only have a notepad and a pen. Just like a real wake-up.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les élèves comparer avant de projeter la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1–4 et 6 vérifiables dans le livret (bulle p. 3, field note p. 4, scène 2). Ligne 5 : dépend de votre enregistrement — compléter la diapositive si besoin. Typographie : en anglais, pas d’espace avant « ? » (le livret en met une).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script n’est pas dans le livret : identifier avec les élèves la phrase de Mark qui relève de la supposition (marqueurs : probably, I think, it looks like, must have…).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à adapter à l’enregistrement. Le livret donne une piste à la fin de la scène 1 : ce que Mark n’a pas dit, c’est « how long the water had been running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Lien avec la séance 1 : fact = source. Préparer la scène 3 où le journal d’alarme contredira les heures « de mémoire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: « Note them down now — you will write them before this evening. » Faire écrire les 3 verbes dans le carnet.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: repérage ; B : production. Exiger la majuscule, le point et l’heure.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: repérage ; B : production. Exiger la majuscule, le point et l’heure.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à l’oral, deux ou trois élèves.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UE 3 · Case File 01 — The night nobody heard · Séance 02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UE 3 · Case File 01 — The night nobody heard · Séance 02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UE 3 · A. Jouniaux · Project Atlas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02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SCENE 1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06.58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message that wakes you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Your phone vibrates. You are not up yet.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Case File 01 — The night nobody heard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3–4</a:t>
            </a:r>
            <a:endParaRPr lang="en-US" sz="1800" dirty="0"/>
          </a:p>
        </p:txBody>
      </p:sp>
      <p:pic>
        <p:nvPicPr>
          <p:cNvPr id="6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2852"/>
            <a:ext cx="5120640" cy="341229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Today's mission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3–4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BY THE END OF THE SESSION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Six lines on a notepad</a:t>
            </a:r>
            <a:r>
              <a:rPr lang="en-US" sz="1800" dirty="0">
                <a:solidFill>
                  <a:schemeClr val="tx1"/>
                </a:solidFill>
              </a:rPr>
              <a:t> — and the one line that is not proved yet.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LANGUAGE FOCUS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Telling the time (a.m. / p.m., 24-hour clock) · prepositions of time (at, by, until, between…) · past simple of the dated fact: </a:t>
            </a:r>
            <a:r>
              <a:rPr lang="en-US" sz="1400" i="1" dirty="0">
                <a:solidFill>
                  <a:schemeClr val="tx1"/>
                </a:solidFill>
              </a:rPr>
              <a:t>found, went off, heard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SKILLS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Listening for specific information · note-taking under pressure · separating a fact from a supposition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ROADMAP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288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28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Warm-up: key words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4216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421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3672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Scene 1: the phone (p. 3)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3672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29143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2914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8600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Telling the time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8600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4071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40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3528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Prepositions of time + practice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3528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38999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3899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384556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Note-taking toolkit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84556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3926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39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3383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Voicemail × 2 + your six lines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3383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48854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4885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48310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Correction · what is not proved (p. 4)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48310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3781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37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3238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Field note: the verifiable time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3238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55" name="Shape 49"/>
          <p:cNvSpPr/>
          <p:nvPr/>
        </p:nvSpPr>
        <p:spPr>
          <a:xfrm>
            <a:off x="6263640" y="58709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63640" y="5870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784848" y="58166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Wrap-up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10972800" y="58166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the words of the case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Two minutes. English, please — with the article.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un locataire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une entreprise générale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déclarer un sinistre →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des preuves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une fuite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un expert en sinistres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rénover →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le rez-de-chaussée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the words of the case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Two minutes. English, please — with the article.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un locataire → </a:t>
            </a:r>
            <a:r>
              <a:rPr lang="en-US" sz="2400" b="1" dirty="0">
                <a:solidFill>
                  <a:schemeClr val="accent3"/>
                </a:solidFill>
              </a:rPr>
              <a:t>a tenant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une entreprise générale → </a:t>
            </a:r>
            <a:r>
              <a:rPr lang="en-US" sz="2400" b="1" dirty="0">
                <a:solidFill>
                  <a:schemeClr val="accent3"/>
                </a:solidFill>
              </a:rPr>
              <a:t>a (general) contractor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déclarer un sinistre → </a:t>
            </a:r>
            <a:r>
              <a:rPr lang="en-US" sz="2400" b="1" dirty="0">
                <a:solidFill>
                  <a:schemeClr val="accent3"/>
                </a:solidFill>
              </a:rPr>
              <a:t>to file a claim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des preuves → </a:t>
            </a:r>
            <a:r>
              <a:rPr lang="en-US" sz="2400" b="1" dirty="0">
                <a:solidFill>
                  <a:schemeClr val="accent3"/>
                </a:solidFill>
              </a:rPr>
              <a:t>evidence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une fuite → </a:t>
            </a:r>
            <a:r>
              <a:rPr lang="en-US" sz="2400" b="1" dirty="0">
                <a:solidFill>
                  <a:schemeClr val="accent3"/>
                </a:solidFill>
              </a:rPr>
              <a:t>a leak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un expert en sinistres → </a:t>
            </a:r>
            <a:r>
              <a:rPr lang="en-US" sz="2400" b="1" dirty="0">
                <a:solidFill>
                  <a:schemeClr val="accent3"/>
                </a:solidFill>
              </a:rPr>
              <a:t>a claims assessor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rénover → </a:t>
            </a:r>
            <a:r>
              <a:rPr lang="en-US" sz="2400" b="1" dirty="0">
                <a:solidFill>
                  <a:schemeClr val="accent3"/>
                </a:solidFill>
              </a:rPr>
              <a:t>to refurbish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le rez-de-chaussée → </a:t>
            </a:r>
            <a:r>
              <a:rPr lang="en-US" sz="2400" b="1" dirty="0">
                <a:solidFill>
                  <a:schemeClr val="accent3"/>
                </a:solidFill>
              </a:rPr>
              <a:t>the ground floor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message that wakes you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</a:t>
            </a:r>
            <a:endParaRPr lang="en-US" sz="1200" dirty="0"/>
          </a:p>
        </p:txBody>
      </p:sp>
      <p:pic>
        <p:nvPicPr>
          <p:cNvPr id="6" name="illustration" descr="A phone on a bedside table at 06.58 showing a missed call and a voicemail from Mark Sh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1635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1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06.58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It is still dark. Your phone lights up on the table and vibrates twice.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One missed call, one voicemail.</a:t>
            </a:r>
            <a:r>
              <a:rPr lang="en-US" sz="2000" dirty="0">
                <a:solidFill>
                  <a:schemeClr val="tx1"/>
                </a:solidFill>
              </a:rPr>
              <a:t> The number is Mark Shaw’s.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 </a:t>
            </a:r>
            <a:r>
              <a:rPr lang="en-US" sz="2000" b="1" dirty="0">
                <a:solidFill>
                  <a:schemeClr val="tx1"/>
                </a:solidFill>
              </a:rPr>
              <a:t>never</a:t>
            </a:r>
            <a:r>
              <a:rPr lang="en-US" sz="2000" dirty="0">
                <a:solidFill>
                  <a:schemeClr val="tx1"/>
                </a:solidFill>
              </a:rPr>
              <a:t> calls before eight.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Mark never calls before eight. What does that tell you — before you even listen?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Telling the time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3–4 · 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2567178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06.58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2201418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six fifty-eight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495931"/>
            <a:ext cx="2201418" cy="275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two minutes </a:t>
            </a:r>
            <a:r>
              <a:rPr lang="en-US" sz="2000" b="1" dirty="0">
                <a:solidFill>
                  <a:schemeClr val="tx1"/>
                </a:solidFill>
              </a:rPr>
              <a:t>to</a:t>
            </a:r>
            <a:r>
              <a:rPr lang="en-US" sz="2000" dirty="0">
                <a:solidFill>
                  <a:schemeClr val="tx1"/>
                </a:solidFill>
              </a:rPr>
              <a:t> seven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a.m.</a:t>
            </a:r>
            <a:r>
              <a:rPr lang="en-US" sz="2000" dirty="0">
                <a:solidFill>
                  <a:schemeClr val="tx1"/>
                </a:solidFill>
              </a:rPr>
              <a:t> = between midnight and noon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90138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0138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4" name="Shape 11"/>
          <p:cNvSpPr/>
          <p:nvPr/>
        </p:nvSpPr>
        <p:spPr>
          <a:xfrm>
            <a:off x="3390138" y="1801368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73018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08.15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573018" y="2084832"/>
            <a:ext cx="2201418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eight fifteen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573018" y="2495931"/>
            <a:ext cx="2201418" cy="275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a quarter </a:t>
            </a:r>
            <a:r>
              <a:rPr lang="en-US" sz="2000" b="1" dirty="0">
                <a:solidFill>
                  <a:schemeClr val="tx1"/>
                </a:solidFill>
              </a:rPr>
              <a:t>past</a:t>
            </a:r>
            <a:r>
              <a:rPr lang="en-US" sz="2000" dirty="0">
                <a:solidFill>
                  <a:schemeClr val="tx1"/>
                </a:solidFill>
              </a:rPr>
              <a:t> eight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Can you be here for a quarter past eight?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31636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1636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Shape 17"/>
          <p:cNvSpPr/>
          <p:nvPr/>
        </p:nvSpPr>
        <p:spPr>
          <a:xfrm>
            <a:off x="6231636" y="1801368"/>
            <a:ext cx="2567178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23.41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14516" y="2084832"/>
            <a:ext cx="2201418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eleven forty-one p.m.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2495931"/>
            <a:ext cx="2201418" cy="275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a log: </a:t>
            </a:r>
            <a:r>
              <a:rPr lang="en-US" sz="2000" i="1" dirty="0">
                <a:solidFill>
                  <a:schemeClr val="tx1"/>
                </a:solidFill>
              </a:rPr>
              <a:t>twenty-three forty-one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p.m.</a:t>
            </a:r>
            <a:r>
              <a:rPr lang="en-US" sz="2000" dirty="0">
                <a:solidFill>
                  <a:schemeClr val="tx1"/>
                </a:solidFill>
              </a:rPr>
              <a:t> = between noon and midnight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73134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73134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26" name="Shape 23"/>
          <p:cNvSpPr/>
          <p:nvPr/>
        </p:nvSpPr>
        <p:spPr>
          <a:xfrm>
            <a:off x="9073134" y="1801368"/>
            <a:ext cx="2567178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56014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19.58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56014" y="2084832"/>
            <a:ext cx="2201418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seven fifty-eight p.m.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256014" y="2495931"/>
            <a:ext cx="2201418" cy="275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two minutes to eight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≠ </a:t>
            </a:r>
            <a:r>
              <a:rPr lang="en-US" sz="2000" i="1" dirty="0">
                <a:solidFill>
                  <a:schemeClr val="tx1"/>
                </a:solidFill>
              </a:rPr>
              <a:t>at eight</a:t>
            </a:r>
            <a:r>
              <a:rPr lang="en-US" sz="2000" dirty="0">
                <a:solidFill>
                  <a:schemeClr val="tx1"/>
                </a:solidFill>
              </a:rPr>
              <a:t>: in a report, two minutes count!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8h15</a:t>
            </a:r>
            <a:r>
              <a:rPr lang="en-US" sz="1700" dirty="0">
                <a:solidFill>
                  <a:schemeClr val="tx1"/>
                </a:solidFill>
              </a:rPr>
              <a:t> ✗ → </a:t>
            </a:r>
            <a:r>
              <a:rPr lang="en-US" sz="1700" b="1" dirty="0">
                <a:solidFill>
                  <a:schemeClr val="tx1"/>
                </a:solidFill>
              </a:rPr>
              <a:t>8.15</a:t>
            </a:r>
            <a:r>
              <a:rPr lang="en-US" sz="1700" dirty="0">
                <a:solidFill>
                  <a:schemeClr val="tx1"/>
                </a:solidFill>
              </a:rPr>
              <a:t> (UK) / </a:t>
            </a:r>
            <a:r>
              <a:rPr lang="en-US" sz="1700" b="1" dirty="0">
                <a:solidFill>
                  <a:schemeClr val="tx1"/>
                </a:solidFill>
              </a:rPr>
              <a:t>8:15</a:t>
            </a:r>
            <a:r>
              <a:rPr lang="en-US" sz="1700" dirty="0">
                <a:solidFill>
                  <a:schemeClr val="tx1"/>
                </a:solidFill>
              </a:rPr>
              <a:t> (US) · </a:t>
            </a:r>
            <a:r>
              <a:rPr lang="en-US" sz="1700" i="1" dirty="0">
                <a:solidFill>
                  <a:schemeClr val="tx1"/>
                </a:solidFill>
              </a:rPr>
              <a:t>o’clock</a:t>
            </a:r>
            <a:r>
              <a:rPr lang="en-US" sz="1700" dirty="0">
                <a:solidFill>
                  <a:schemeClr val="tx1"/>
                </a:solidFill>
              </a:rPr>
              <a:t> only for full hours (</a:t>
            </a:r>
            <a:r>
              <a:rPr lang="en-US" sz="1700" i="1" dirty="0">
                <a:solidFill>
                  <a:schemeClr val="tx1"/>
                </a:solidFill>
              </a:rPr>
              <a:t>at eight o’clock</a:t>
            </a:r>
            <a:r>
              <a:rPr lang="en-US" sz="1700" dirty="0">
                <a:solidFill>
                  <a:schemeClr val="tx1"/>
                </a:solidFill>
              </a:rPr>
              <a:t>) · </a:t>
            </a:r>
            <a:r>
              <a:rPr lang="en-US" sz="1700" i="1" dirty="0">
                <a:solidFill>
                  <a:schemeClr val="tx1"/>
                </a:solidFill>
              </a:rPr>
              <a:t>12 a.m.</a:t>
            </a:r>
            <a:r>
              <a:rPr lang="en-US" sz="1700" dirty="0">
                <a:solidFill>
                  <a:schemeClr val="tx1"/>
                </a:solidFill>
              </a:rPr>
              <a:t> is ambiguous: write </a:t>
            </a:r>
            <a:r>
              <a:rPr lang="en-US" sz="1700" b="1" dirty="0">
                <a:solidFill>
                  <a:schemeClr val="tx1"/>
                </a:solidFill>
              </a:rPr>
              <a:t>midnight</a:t>
            </a:r>
            <a:r>
              <a:rPr lang="en-US" sz="1700" dirty="0">
                <a:solidFill>
                  <a:schemeClr val="tx1"/>
                </a:solidFill>
              </a:rPr>
              <a:t> or </a:t>
            </a:r>
            <a:r>
              <a:rPr lang="en-US" sz="1700" b="1" dirty="0">
                <a:solidFill>
                  <a:schemeClr val="tx1"/>
                </a:solidFill>
              </a:rPr>
              <a:t>noon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Prepositions of time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3–9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5788152"/>
              </a:tblGrid>
              <a:tr h="5824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PREPOSITION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IN THE FILE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at + a time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à (heure précise)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cleaners found the water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6.50.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by + a deadline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au plus tard, d’ici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 need a timeline on this board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nine.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3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until + an end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jusqu’à (ça continue)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contractor’s team was working here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until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eight.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before / after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avant / après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 never calls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before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eight.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between … and 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entre … et 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Water ran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between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23.41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06.47.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for + a duration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pendant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Mark spoke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41 seconds.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 + a delay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dans (d’ici)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 can be there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twenty minutes.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⚠ </a:t>
            </a:r>
            <a:r>
              <a:rPr lang="en-US" sz="1500" i="1" dirty="0">
                <a:solidFill>
                  <a:schemeClr val="accent5"/>
                </a:solidFill>
              </a:rPr>
              <a:t>jusqu’à 9 h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b="1" i="1" dirty="0">
                <a:solidFill>
                  <a:schemeClr val="accent5"/>
                </a:solidFill>
              </a:rPr>
              <a:t>until</a:t>
            </a:r>
            <a:r>
              <a:rPr lang="en-US" sz="1500" i="1" dirty="0">
                <a:solidFill>
                  <a:schemeClr val="accent5"/>
                </a:solidFill>
              </a:rPr>
              <a:t> nine (I’ll wait until nine) ≠ </a:t>
            </a:r>
            <a:r>
              <a:rPr lang="en-US" sz="1500" b="1" i="1" dirty="0">
                <a:solidFill>
                  <a:schemeClr val="accent5"/>
                </a:solidFill>
              </a:rPr>
              <a:t>by</a:t>
            </a:r>
            <a:r>
              <a:rPr lang="en-US" sz="1500" i="1" dirty="0">
                <a:solidFill>
                  <a:schemeClr val="accent5"/>
                </a:solidFill>
              </a:rPr>
              <a:t> nine (date limite : I need it by nine).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Say it, write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A · Say each time in two ways.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06.47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20.04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02.16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11.30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00.00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7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B · at, by, until or between?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Mark wants the timeline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nine.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The cabling team worked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eight.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The alarm went off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23.41.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The water ran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23.41 and 06.47.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Can you be here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 quarter past eight?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Say it, write 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A · Say each time in two ways.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06.47 → </a:t>
            </a:r>
            <a:r>
              <a:rPr lang="en-US" sz="2400" b="1" dirty="0">
                <a:solidFill>
                  <a:schemeClr val="accent3"/>
                </a:solidFill>
              </a:rPr>
              <a:t>six forty-seven / thirteen minutes to seven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20.04 → </a:t>
            </a:r>
            <a:r>
              <a:rPr lang="en-US" sz="2400" b="1" dirty="0">
                <a:solidFill>
                  <a:schemeClr val="accent3"/>
                </a:solidFill>
              </a:rPr>
              <a:t>eight-oh-four p.m. / four minutes past eight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02.16 → </a:t>
            </a:r>
            <a:r>
              <a:rPr lang="en-US" sz="2400" b="1" dirty="0">
                <a:solidFill>
                  <a:schemeClr val="accent3"/>
                </a:solidFill>
              </a:rPr>
              <a:t>two sixteen a.m. / sixteen minutes past two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11.30 → </a:t>
            </a:r>
            <a:r>
              <a:rPr lang="en-US" sz="2400" b="1" dirty="0">
                <a:solidFill>
                  <a:schemeClr val="accent3"/>
                </a:solidFill>
              </a:rPr>
              <a:t>eleven thirty / half past eleven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00.00 → </a:t>
            </a:r>
            <a:r>
              <a:rPr lang="en-US" sz="2400" b="1" dirty="0">
                <a:solidFill>
                  <a:schemeClr val="accent3"/>
                </a:solidFill>
              </a:rPr>
              <a:t>midnight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B · at, by, until or between?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Mark wants the timeline </a:t>
            </a:r>
            <a:r>
              <a:rPr lang="en-US" sz="2400" b="1" dirty="0">
                <a:solidFill>
                  <a:schemeClr val="accent3"/>
                </a:solidFill>
              </a:rPr>
              <a:t>by</a:t>
            </a:r>
            <a:r>
              <a:rPr lang="en-US" sz="2400" dirty="0">
                <a:solidFill>
                  <a:schemeClr val="tx1"/>
                </a:solidFill>
              </a:rPr>
              <a:t> nine.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The cabling team worked </a:t>
            </a:r>
            <a:r>
              <a:rPr lang="en-US" sz="2400" b="1" dirty="0">
                <a:solidFill>
                  <a:schemeClr val="accent3"/>
                </a:solidFill>
              </a:rPr>
              <a:t>until</a:t>
            </a:r>
            <a:r>
              <a:rPr lang="en-US" sz="2400" dirty="0">
                <a:solidFill>
                  <a:schemeClr val="tx1"/>
                </a:solidFill>
              </a:rPr>
              <a:t> eight.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The alarm went off </a:t>
            </a:r>
            <a:r>
              <a:rPr lang="en-US" sz="2400" b="1" dirty="0">
                <a:solidFill>
                  <a:schemeClr val="accent3"/>
                </a:solidFill>
              </a:rPr>
              <a:t>at</a:t>
            </a:r>
            <a:r>
              <a:rPr lang="en-US" sz="2400" dirty="0">
                <a:solidFill>
                  <a:schemeClr val="tx1"/>
                </a:solidFill>
              </a:rPr>
              <a:t> 23.41.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The water ran </a:t>
            </a:r>
            <a:r>
              <a:rPr lang="en-US" sz="2400" b="1" dirty="0">
                <a:solidFill>
                  <a:schemeClr val="accent3"/>
                </a:solidFill>
              </a:rPr>
              <a:t>between</a:t>
            </a:r>
            <a:r>
              <a:rPr lang="en-US" sz="2400" dirty="0">
                <a:solidFill>
                  <a:schemeClr val="tx1"/>
                </a:solidFill>
              </a:rPr>
              <a:t> 23.41 and 06.47.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Can you be here </a:t>
            </a:r>
            <a:r>
              <a:rPr lang="en-US" sz="2400" b="1" dirty="0">
                <a:solidFill>
                  <a:schemeClr val="accent3"/>
                </a:solidFill>
              </a:rPr>
              <a:t>for</a:t>
            </a:r>
            <a:r>
              <a:rPr lang="en-US" sz="2400" dirty="0">
                <a:solidFill>
                  <a:schemeClr val="tx1"/>
                </a:solidFill>
              </a:rPr>
              <a:t> a quarter past eight?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Note-taking toolkit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515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KEEP ONLY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Who? What? Where? When?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Names, places, </a:t>
            </a:r>
            <a:r>
              <a:rPr lang="en-US" sz="2000" b="1" dirty="0">
                <a:solidFill>
                  <a:schemeClr val="tx1"/>
                </a:solidFill>
              </a:rPr>
              <a:t>times in digits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articles, no full sentences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37304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3" name="Shape 10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ABBREVIATE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20184" y="2084832"/>
            <a:ext cx="3148584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@</a:t>
            </a:r>
            <a:r>
              <a:rPr lang="en-US" sz="2000" dirty="0">
                <a:solidFill>
                  <a:schemeClr val="tx1"/>
                </a:solidFill>
              </a:rPr>
              <a:t> = at · </a:t>
            </a:r>
            <a:r>
              <a:rPr lang="en-US" sz="2000" b="1" dirty="0">
                <a:solidFill>
                  <a:schemeClr val="tx1"/>
                </a:solidFill>
              </a:rPr>
              <a:t>b4</a:t>
            </a:r>
            <a:r>
              <a:rPr lang="en-US" sz="2000" dirty="0">
                <a:solidFill>
                  <a:schemeClr val="tx1"/>
                </a:solidFill>
              </a:rPr>
              <a:t> = before · </a:t>
            </a:r>
            <a:r>
              <a:rPr lang="en-US" sz="2000" b="1" dirty="0">
                <a:solidFill>
                  <a:schemeClr val="tx1"/>
                </a:solidFill>
              </a:rPr>
              <a:t>w/</a:t>
            </a:r>
            <a:r>
              <a:rPr lang="en-US" sz="2000" dirty="0">
                <a:solidFill>
                  <a:schemeClr val="tx1"/>
                </a:solidFill>
              </a:rPr>
              <a:t> = with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2F</a:t>
            </a:r>
            <a:r>
              <a:rPr lang="en-US" sz="2000" dirty="0">
                <a:solidFill>
                  <a:schemeClr val="tx1"/>
                </a:solidFill>
              </a:rPr>
              <a:t> = second floor · </a:t>
            </a:r>
            <a:r>
              <a:rPr lang="en-US" sz="2000" b="1" dirty="0">
                <a:solidFill>
                  <a:schemeClr val="tx1"/>
                </a:solidFill>
              </a:rPr>
              <a:t>tech rm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→</a:t>
            </a:r>
            <a:r>
              <a:rPr lang="en-US" sz="2000" dirty="0">
                <a:solidFill>
                  <a:schemeClr val="tx1"/>
                </a:solidFill>
              </a:rPr>
              <a:t> = causes / leads to · </a:t>
            </a:r>
            <a:r>
              <a:rPr lang="en-US" sz="2000" b="1" dirty="0">
                <a:solidFill>
                  <a:schemeClr val="tx1"/>
                </a:solidFill>
              </a:rPr>
              <a:t>≠</a:t>
            </a:r>
            <a:r>
              <a:rPr lang="en-US" sz="2000" dirty="0">
                <a:solidFill>
                  <a:schemeClr val="tx1"/>
                </a:solidFill>
              </a:rPr>
              <a:t> · </a:t>
            </a:r>
            <a:r>
              <a:rPr lang="en-US" sz="2000" b="1" dirty="0">
                <a:solidFill>
                  <a:schemeClr val="tx1"/>
                </a:solidFill>
              </a:rPr>
              <a:t>≈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125968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18" name="Shape 15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LEAVE A GAP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308848" y="2084832"/>
            <a:ext cx="3148584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Write </a:t>
            </a:r>
            <a:r>
              <a:rPr lang="en-US" sz="2000" b="1" dirty="0">
                <a:solidFill>
                  <a:schemeClr val="tx1"/>
                </a:solidFill>
              </a:rPr>
              <a:t>?</a:t>
            </a:r>
            <a:r>
              <a:rPr lang="en-US" sz="2000" dirty="0">
                <a:solidFill>
                  <a:schemeClr val="tx1"/>
                </a:solidFill>
              </a:rPr>
              <a:t> when you are not sure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Never invent a time or a name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Check it in the 2nd listening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Astuce — </a:t>
            </a:r>
            <a:r>
              <a:rPr lang="en-US" sz="1700" dirty="0">
                <a:solidFill>
                  <a:schemeClr val="tx1"/>
                </a:solidFill>
              </a:rPr>
              <a:t>Write the time </a:t>
            </a:r>
            <a:r>
              <a:rPr lang="en-US" sz="1700" b="1" dirty="0">
                <a:solidFill>
                  <a:schemeClr val="tx1"/>
                </a:solidFill>
              </a:rPr>
              <a:t>as you hear it</a:t>
            </a:r>
            <a:r>
              <a:rPr lang="en-US" sz="1700" dirty="0">
                <a:solidFill>
                  <a:schemeClr val="tx1"/>
                </a:solidFill>
              </a:rPr>
              <a:t>, then convert: </a:t>
            </a:r>
            <a:r>
              <a:rPr lang="en-US" sz="1700" i="1" dirty="0">
                <a:solidFill>
                  <a:schemeClr val="tx1"/>
                </a:solidFill>
              </a:rPr>
              <a:t>a quarter past eight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dirty="0">
                <a:solidFill>
                  <a:schemeClr val="tx1"/>
                </a:solidFill>
              </a:rPr>
              <a:t>8.15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Voicemail — listen twice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VOICEMAIL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6667"/>
            </a:avLst>
          </a:prstGeom>
          <a:solidFill>
            <a:schemeClr val="accent2">
              <a:alpha val="10000"/>
            </a:schemeClr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11680" y="16459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Mark Shaw — 06.58</a:t>
            </a:r>
            <a:endParaRPr lang="en-US" sz="26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Voicemail · 41 seconds · played twice. Only take notes on the second listening.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548640" y="3246120"/>
            <a:ext cx="3514344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74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4290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Listening 1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41148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Pens down. Listen for the </a:t>
            </a:r>
            <a:r>
              <a:rPr lang="en-US" sz="1800" b="1" dirty="0">
                <a:solidFill>
                  <a:schemeClr val="tx1"/>
                </a:solidFill>
              </a:rPr>
              <a:t>situation</a:t>
            </a:r>
            <a:r>
              <a:rPr lang="en-US" sz="1800" dirty="0">
                <a:solidFill>
                  <a:schemeClr val="tx1"/>
                </a:solidFill>
              </a:rPr>
              <a:t>: who, what, where. No notes.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4337304" y="3246120"/>
            <a:ext cx="3514344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24" y="34747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05984" y="34290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Listening 2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4611624" y="41148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Notes only now: keywords, numbers, times. Mark speaks fast — </a:t>
            </a:r>
            <a:r>
              <a:rPr lang="en-US" sz="1800" b="1" dirty="0">
                <a:solidFill>
                  <a:schemeClr val="tx1"/>
                </a:solidFill>
              </a:rPr>
              <a:t>there is no third listening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8125968" y="3246120"/>
            <a:ext cx="3514344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347472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94648" y="34290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After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8400288" y="41148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minutes to complete your six lines. Compare with a neighbour: </a:t>
            </a:r>
            <a:r>
              <a:rPr lang="en-US" sz="1800" b="1" dirty="0">
                <a:solidFill>
                  <a:schemeClr val="tx1"/>
                </a:solidFill>
              </a:rPr>
              <a:t>same times?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Take the message down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3–4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What you do not note down now will be lost for the whole day.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Who called and when?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What has happened?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Where exactly?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Who found it and at what time?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What does Mark want you to bring?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6.  </a:t>
            </a:r>
            <a:r>
              <a:rPr lang="en-US" sz="2600" dirty="0">
                <a:solidFill>
                  <a:schemeClr val="tx1"/>
                </a:solidFill>
              </a:rPr>
              <a:t>Where and when must you be?</a:t>
            </a:r>
            <a:endParaRPr lang="en-US" sz="26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Six short lines: </a:t>
            </a:r>
            <a:r>
              <a:rPr lang="en-US" sz="1800" b="1" dirty="0">
                <a:solidFill>
                  <a:schemeClr val="tx1"/>
                </a:solidFill>
              </a:rPr>
              <a:t>keywords</a:t>
            </a:r>
            <a:r>
              <a:rPr lang="en-US" sz="1800" dirty="0">
                <a:solidFill>
                  <a:schemeClr val="tx1"/>
                </a:solidFill>
              </a:rPr>
              <a:t>, not sentences.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time </a:t>
            </a:r>
            <a:r>
              <a:rPr lang="en-US" sz="1800" b="1" dirty="0">
                <a:solidFill>
                  <a:schemeClr val="tx1"/>
                </a:solidFill>
              </a:rPr>
              <a:t>in digits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?</a:t>
            </a:r>
            <a:r>
              <a:rPr lang="en-US" sz="1800" dirty="0">
                <a:solidFill>
                  <a:schemeClr val="tx1"/>
                </a:solidFill>
              </a:rPr>
              <a:t> where you are not sure.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Take the message down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3–4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What you do not note down now will be lost for the whole day.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1.  </a:t>
            </a:r>
            <a:r>
              <a:rPr lang="en-US" sz="1700" dirty="0">
                <a:solidFill>
                  <a:schemeClr val="tx1"/>
                </a:solidFill>
              </a:rPr>
              <a:t>Who called and when?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Mark Shaw — at 06.58 (voicemail, 41 seconds).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2.  </a:t>
            </a:r>
            <a:r>
              <a:rPr lang="en-US" sz="1700" dirty="0">
                <a:solidFill>
                  <a:schemeClr val="tx1"/>
                </a:solidFill>
              </a:rPr>
              <a:t>What has happened?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There is water in the technical room — a leak.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3.  </a:t>
            </a:r>
            <a:r>
              <a:rPr lang="en-US" sz="1700" dirty="0">
                <a:solidFill>
                  <a:schemeClr val="tx1"/>
                </a:solidFill>
              </a:rPr>
              <a:t>Where exactly?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In the technical room, on the second floor of Atlas House.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4.  </a:t>
            </a:r>
            <a:r>
              <a:rPr lang="en-US" sz="1700" dirty="0">
                <a:solidFill>
                  <a:schemeClr val="tx1"/>
                </a:solidFill>
              </a:rPr>
              <a:t>Who found it and at what time?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The cleaners — at 6.50 a.m.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5.  </a:t>
            </a:r>
            <a:r>
              <a:rPr lang="en-US" sz="1700" dirty="0">
                <a:solidFill>
                  <a:schemeClr val="tx1"/>
                </a:solidFill>
              </a:rPr>
              <a:t>What does Mark want you to bring?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(as said in the recording — check your audio script)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6.  </a:t>
            </a:r>
            <a:r>
              <a:rPr lang="en-US" sz="1700" dirty="0">
                <a:solidFill>
                  <a:schemeClr val="tx1"/>
                </a:solidFill>
              </a:rPr>
              <a:t>Where and when must you be?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At Atlas House, in the technical room, at 8.15 (a quarter past eight).</a:t>
            </a:r>
            <a:endParaRPr lang="en-US" sz="17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Six short lines: </a:t>
            </a:r>
            <a:r>
              <a:rPr lang="en-US" sz="1800" b="1" dirty="0">
                <a:solidFill>
                  <a:schemeClr val="tx1"/>
                </a:solidFill>
              </a:rPr>
              <a:t>keywords</a:t>
            </a:r>
            <a:r>
              <a:rPr lang="en-US" sz="1800" dirty="0">
                <a:solidFill>
                  <a:schemeClr val="tx1"/>
                </a:solidFill>
              </a:rPr>
              <a:t>, not sentences.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time </a:t>
            </a:r>
            <a:r>
              <a:rPr lang="en-US" sz="1800" b="1" dirty="0">
                <a:solidFill>
                  <a:schemeClr val="tx1"/>
                </a:solidFill>
              </a:rPr>
              <a:t>in digits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?</a:t>
            </a:r>
            <a:r>
              <a:rPr lang="en-US" sz="1800" dirty="0">
                <a:solidFill>
                  <a:schemeClr val="tx1"/>
                </a:solidFill>
              </a:rPr>
              <a:t> where you are not sure.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question before you leave the house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Mark said one thing that is not a fact but a supposition. A report that confuses the two is rejected.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Read your six lines again. </a:t>
            </a:r>
            <a:r>
              <a:rPr lang="en-US" sz="2600" b="1" dirty="0">
                <a:solidFill>
                  <a:schemeClr val="tx1"/>
                </a:solidFill>
              </a:rPr>
              <a:t>Which one is not yet proved?</a:t>
            </a:r>
            <a:r>
              <a:rPr lang="en-US" sz="2600" dirty="0">
                <a:solidFill>
                  <a:schemeClr val="tx1"/>
                </a:solidFill>
              </a:rPr>
              <a:t> Underline it.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In one line: </a:t>
            </a:r>
            <a:r>
              <a:rPr lang="en-US" sz="2600" b="1" dirty="0">
                <a:solidFill>
                  <a:schemeClr val="tx1"/>
                </a:solidFill>
              </a:rPr>
              <a:t>what would be needed to prove it?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Write the honest sentence.</a:t>
            </a:r>
            <a:endParaRPr lang="en-US" sz="2600" dirty="0"/>
          </a:p>
        </p:txBody>
      </p:sp>
      <p:pic>
        <p:nvPicPr>
          <p:cNvPr id="8" name="illustration" descr="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2267" y="1481328"/>
            <a:ext cx="3362498" cy="224028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9" name="aside"/>
          <p:cNvSpPr/>
          <p:nvPr/>
        </p:nvSpPr>
        <p:spPr>
          <a:xfrm>
            <a:off x="8046720" y="3950208"/>
            <a:ext cx="3593592" cy="2340864"/>
          </a:xfrm>
          <a:prstGeom prst="roundRect">
            <a:avLst>
              <a:gd name="adj" fmla="val 3125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3308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13648" y="410565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211312" y="4544568"/>
            <a:ext cx="32644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fact</a:t>
            </a:r>
            <a:r>
              <a:rPr lang="en-US" sz="1800" dirty="0">
                <a:solidFill>
                  <a:schemeClr val="tx1"/>
                </a:solidFill>
              </a:rPr>
              <a:t> has a source.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supposition</a:t>
            </a:r>
            <a:r>
              <a:rPr lang="en-US" sz="1800" dirty="0">
                <a:solidFill>
                  <a:schemeClr val="tx1"/>
                </a:solidFill>
              </a:rPr>
              <a:t> needs proof.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question before you leave the house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Mark said one thing that is not a fact but a supposition. A report that confuses the two is rejected.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Read your six lines again. </a:t>
            </a:r>
            <a:r>
              <a:rPr lang="en-US" sz="1800" b="1" dirty="0">
                <a:solidFill>
                  <a:schemeClr val="tx1"/>
                </a:solidFill>
              </a:rPr>
              <a:t>Which one is not yet proved?</a:t>
            </a:r>
            <a:r>
              <a:rPr lang="en-US" sz="1800" dirty="0">
                <a:solidFill>
                  <a:schemeClr val="tx1"/>
                </a:solidFill>
              </a:rPr>
              <a:t> Underline it.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The line about the </a:t>
            </a:r>
            <a:r>
              <a:rPr lang="en-US" sz="1800" b="1" dirty="0">
                <a:solidFill>
                  <a:schemeClr val="accent3"/>
                </a:solidFill>
              </a:rPr>
              <a:t>cause</a:t>
            </a:r>
            <a:r>
              <a:rPr lang="en-US" sz="1800" dirty="0">
                <a:solidFill>
                  <a:schemeClr val="accent3"/>
                </a:solidFill>
              </a:rPr>
              <a:t> or the </a:t>
            </a:r>
            <a:r>
              <a:rPr lang="en-US" sz="1800" b="1" dirty="0">
                <a:solidFill>
                  <a:schemeClr val="accent3"/>
                </a:solidFill>
              </a:rPr>
              <a:t>duration</a:t>
            </a:r>
            <a:r>
              <a:rPr lang="en-US" sz="1800" dirty="0">
                <a:solidFill>
                  <a:schemeClr val="accent3"/>
                </a:solidFill>
              </a:rPr>
              <a:t> of the leak (e.g. </a:t>
            </a:r>
            <a:r>
              <a:rPr lang="en-US" sz="1800" i="1" dirty="0">
                <a:solidFill>
                  <a:schemeClr val="accent3"/>
                </a:solidFill>
              </a:rPr>
              <a:t>a pipe has burst</a:t>
            </a:r>
            <a:r>
              <a:rPr lang="en-US" sz="1800" dirty="0">
                <a:solidFill>
                  <a:schemeClr val="accent3"/>
                </a:solidFill>
              </a:rPr>
              <a:t> / </a:t>
            </a:r>
            <a:r>
              <a:rPr lang="en-US" sz="1800" i="1" dirty="0">
                <a:solidFill>
                  <a:schemeClr val="accent3"/>
                </a:solidFill>
              </a:rPr>
              <a:t>it has been running all night</a:t>
            </a:r>
            <a:r>
              <a:rPr lang="en-US" sz="1800" dirty="0">
                <a:solidFill>
                  <a:schemeClr val="accent3"/>
                </a:solidFill>
              </a:rPr>
              <a:t>): Mark </a:t>
            </a:r>
            <a:r>
              <a:rPr lang="en-US" sz="1800" b="1" dirty="0">
                <a:solidFill>
                  <a:schemeClr val="accent3"/>
                </a:solidFill>
              </a:rPr>
              <a:t>supposes</a:t>
            </a:r>
            <a:r>
              <a:rPr lang="en-US" sz="1800" dirty="0">
                <a:solidFill>
                  <a:schemeClr val="accent3"/>
                </a:solidFill>
              </a:rPr>
              <a:t> it — nobody has checked yet.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In one line: </a:t>
            </a:r>
            <a:r>
              <a:rPr lang="en-US" sz="1800" b="1" dirty="0">
                <a:solidFill>
                  <a:schemeClr val="tx1"/>
                </a:solidFill>
              </a:rPr>
              <a:t>what would be needed to prove it?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A </a:t>
            </a:r>
            <a:r>
              <a:rPr lang="en-US" sz="1800" b="1" dirty="0">
                <a:solidFill>
                  <a:schemeClr val="accent3"/>
                </a:solidFill>
              </a:rPr>
              <a:t>verifiable source</a:t>
            </a:r>
            <a:r>
              <a:rPr lang="en-US" sz="1800" dirty="0">
                <a:solidFill>
                  <a:schemeClr val="accent3"/>
                </a:solidFill>
              </a:rPr>
              <a:t>: the alarm log (times), photographs of the ceiling, a technician’s report.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Write the honest sentence.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i="1" dirty="0">
                <a:solidFill>
                  <a:schemeClr val="accent3"/>
                </a:solidFill>
              </a:rPr>
              <a:t>We do not know yet whether …; the alarm log and an inspection would show it.</a:t>
            </a:r>
            <a:endParaRPr lang="en-US" sz="1800" dirty="0"/>
          </a:p>
        </p:txBody>
      </p:sp>
      <p:pic>
        <p:nvPicPr>
          <p:cNvPr id="9" name="illustration" descr="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2267" y="1481328"/>
            <a:ext cx="3362498" cy="224028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10" name="aside"/>
          <p:cNvSpPr/>
          <p:nvPr/>
        </p:nvSpPr>
        <p:spPr>
          <a:xfrm>
            <a:off x="8046720" y="3950208"/>
            <a:ext cx="3593592" cy="2340864"/>
          </a:xfrm>
          <a:prstGeom prst="roundRect">
            <a:avLst>
              <a:gd name="adj" fmla="val 3125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3308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13648" y="410565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211312" y="4544568"/>
            <a:ext cx="32644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fact</a:t>
            </a:r>
            <a:r>
              <a:rPr lang="en-US" sz="1800" dirty="0">
                <a:solidFill>
                  <a:schemeClr val="tx1"/>
                </a:solidFill>
              </a:rPr>
              <a:t> has a source.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supposition</a:t>
            </a:r>
            <a:r>
              <a:rPr lang="en-US" sz="1800" dirty="0">
                <a:solidFill>
                  <a:schemeClr val="tx1"/>
                </a:solidFill>
              </a:rPr>
              <a:t> needs proof.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first thing an assessor looks for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insurance assessor reads a report looking for a </a:t>
            </a:r>
            <a:r>
              <a:rPr lang="en-US" sz="1800" b="1" dirty="0">
                <a:solidFill>
                  <a:schemeClr val="tx1"/>
                </a:solidFill>
              </a:rPr>
              <a:t>verifiable time</a:t>
            </a:r>
            <a:r>
              <a:rPr lang="en-US" sz="1800" dirty="0">
                <a:solidFill>
                  <a:schemeClr val="tx1"/>
                </a:solidFill>
              </a:rPr>
              <a:t>. Not a remembered time.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5225796" cy="3416808"/>
          </a:xfrm>
          <a:prstGeom prst="roundRect">
            <a:avLst>
              <a:gd name="adj" fmla="val 2676"/>
            </a:avLst>
          </a:prstGeom>
          <a:solidFill>
            <a:schemeClr val="accent6">
              <a:alpha val="8000"/>
            </a:schemeClr>
          </a:solidFill>
          <a:ln w="15875">
            <a:solidFill>
              <a:schemeClr val="accent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REMEMBERED — rejected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70632"/>
            <a:ext cx="4768596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around eleven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just before eight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late last night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time somebody </a:t>
            </a:r>
            <a:r>
              <a:rPr lang="en-US" sz="2000" b="1" dirty="0">
                <a:solidFill>
                  <a:schemeClr val="tx1"/>
                </a:solidFill>
              </a:rPr>
              <a:t>thinks</a:t>
            </a:r>
            <a:r>
              <a:rPr lang="en-US" sz="2000" dirty="0">
                <a:solidFill>
                  <a:schemeClr val="tx1"/>
                </a:solidFill>
              </a:rPr>
              <a:t> he saw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14516" y="1947672"/>
            <a:ext cx="5225796" cy="3416808"/>
          </a:xfrm>
          <a:prstGeom prst="roundRect">
            <a:avLst>
              <a:gd name="adj" fmla="val 2676"/>
            </a:avLst>
          </a:prstGeom>
          <a:solidFill>
            <a:schemeClr val="accent3">
              <a:alpha val="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1488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VERIFIABLE — accepted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2770632"/>
            <a:ext cx="4768596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taken from an </a:t>
            </a:r>
            <a:r>
              <a:rPr lang="en-US" sz="2000" b="1" dirty="0">
                <a:solidFill>
                  <a:schemeClr val="tx1"/>
                </a:solidFill>
              </a:rPr>
              <a:t>alarm log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taken from a </a:t>
            </a:r>
            <a:r>
              <a:rPr lang="en-US" sz="2000" b="1" dirty="0">
                <a:solidFill>
                  <a:schemeClr val="tx1"/>
                </a:solidFill>
              </a:rPr>
              <a:t>camera</a:t>
            </a:r>
            <a:r>
              <a:rPr lang="en-US" sz="2000" dirty="0">
                <a:solidFill>
                  <a:schemeClr val="tx1"/>
                </a:solidFill>
              </a:rPr>
              <a:t> (CCTV)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taken from a </a:t>
            </a:r>
            <a:r>
              <a:rPr lang="en-US" sz="2000" b="1" dirty="0">
                <a:solidFill>
                  <a:schemeClr val="tx1"/>
                </a:solidFill>
              </a:rPr>
              <a:t>ticket</a:t>
            </a:r>
            <a:r>
              <a:rPr lang="en-US" sz="2000" dirty="0">
                <a:solidFill>
                  <a:schemeClr val="tx1"/>
                </a:solidFill>
              </a:rPr>
              <a:t> / a badge record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</a:t>
            </a:r>
            <a:r>
              <a:rPr lang="en-US" sz="2000" b="1" dirty="0">
                <a:solidFill>
                  <a:schemeClr val="tx1"/>
                </a:solidFill>
              </a:rPr>
              <a:t>timestamped</a:t>
            </a:r>
            <a:r>
              <a:rPr lang="en-US" sz="2000" dirty="0">
                <a:solidFill>
                  <a:schemeClr val="tx1"/>
                </a:solidFill>
              </a:rPr>
              <a:t> photograph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838444" y="3400044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34000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À retenir — </a:t>
            </a:r>
            <a:r>
              <a:rPr lang="en-US" sz="1700" dirty="0">
                <a:solidFill>
                  <a:schemeClr val="tx1"/>
                </a:solidFill>
              </a:rPr>
              <a:t>In English, that time is always written in the </a:t>
            </a:r>
            <a:r>
              <a:rPr lang="en-US" sz="1700" b="1" dirty="0">
                <a:solidFill>
                  <a:schemeClr val="tx1"/>
                </a:solidFill>
              </a:rPr>
              <a:t>past simple</a:t>
            </a:r>
            <a:r>
              <a:rPr lang="en-US" sz="1700" dirty="0">
                <a:solidFill>
                  <a:schemeClr val="tx1"/>
                </a:solidFill>
              </a:rPr>
              <a:t>, the form of the dated fact: </a:t>
            </a:r>
            <a:r>
              <a:rPr lang="en-US" sz="1700" i="1" dirty="0">
                <a:solidFill>
                  <a:schemeClr val="tx1"/>
                </a:solidFill>
              </a:rPr>
              <a:t>the cleaners </a:t>
            </a:r>
            <a:r>
              <a:rPr lang="en-US" sz="1700" b="1" i="1" dirty="0">
                <a:solidFill>
                  <a:schemeClr val="tx1"/>
                </a:solidFill>
              </a:rPr>
              <a:t>found</a:t>
            </a:r>
            <a:r>
              <a:rPr lang="en-US" sz="1700" i="1" dirty="0">
                <a:solidFill>
                  <a:schemeClr val="tx1"/>
                </a:solidFill>
              </a:rPr>
              <a:t> the water at 6.50 · the alarm </a:t>
            </a:r>
            <a:r>
              <a:rPr lang="en-US" sz="1700" b="1" i="1" dirty="0">
                <a:solidFill>
                  <a:schemeClr val="tx1"/>
                </a:solidFill>
              </a:rPr>
              <a:t>went off</a:t>
            </a:r>
            <a:r>
              <a:rPr lang="en-US" sz="1700" i="1" dirty="0">
                <a:solidFill>
                  <a:schemeClr val="tx1"/>
                </a:solidFill>
              </a:rPr>
              <a:t> at 11.40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verbs that will come back all day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FIND → FOUND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/faʊnd/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cleaners </a:t>
            </a:r>
            <a:r>
              <a:rPr lang="en-US" sz="2000" b="1" dirty="0">
                <a:solidFill>
                  <a:schemeClr val="tx1"/>
                </a:solidFill>
              </a:rPr>
              <a:t>found</a:t>
            </a:r>
            <a:r>
              <a:rPr lang="en-US" sz="2000" dirty="0">
                <a:solidFill>
                  <a:schemeClr val="tx1"/>
                </a:solidFill>
              </a:rPr>
              <a:t> the water at 6.50.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trouver, découvrir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GO OFF → WENT OFF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/went ɒf/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alarm </a:t>
            </a:r>
            <a:r>
              <a:rPr lang="en-US" sz="2000" b="1" dirty="0">
                <a:solidFill>
                  <a:schemeClr val="tx1"/>
                </a:solidFill>
              </a:rPr>
              <a:t>went off</a:t>
            </a:r>
            <a:r>
              <a:rPr lang="en-US" sz="2000" dirty="0">
                <a:solidFill>
                  <a:schemeClr val="tx1"/>
                </a:solidFill>
              </a:rPr>
              <a:t> at 11.40 p.m.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 déclencher (alarme)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HEAR → HEARD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/hɜːd/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Nobody heard</a:t>
            </a:r>
            <a:r>
              <a:rPr lang="en-US" sz="2000" dirty="0">
                <a:solidFill>
                  <a:schemeClr val="tx1"/>
                </a:solidFill>
              </a:rPr>
              <a:t> it.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entendre — ≠ </a:t>
            </a:r>
            <a:r>
              <a:rPr lang="en-US" sz="2000" i="1" dirty="0">
                <a:solidFill>
                  <a:schemeClr val="tx1"/>
                </a:solidFill>
              </a:rPr>
              <a:t>heart</a:t>
            </a:r>
            <a:r>
              <a:rPr lang="en-US" sz="2000" dirty="0">
                <a:solidFill>
                  <a:schemeClr val="tx1"/>
                </a:solidFill>
              </a:rPr>
              <a:t> /hɑːt/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Une heure précise → </a:t>
            </a:r>
            <a:r>
              <a:rPr lang="en-US" sz="1700" b="1" dirty="0">
                <a:solidFill>
                  <a:schemeClr val="tx1"/>
                </a:solidFill>
              </a:rPr>
              <a:t>past simple</a:t>
            </a:r>
            <a:r>
              <a:rPr lang="en-US" sz="1700" dirty="0">
                <a:solidFill>
                  <a:schemeClr val="tx1"/>
                </a:solidFill>
              </a:rPr>
              <a:t>, jamais le present perfect : ✗ </a:t>
            </a:r>
            <a:r>
              <a:rPr lang="en-US" sz="1700" i="1" dirty="0">
                <a:solidFill>
                  <a:schemeClr val="tx1"/>
                </a:solidFill>
              </a:rPr>
              <a:t>The cleaners </a:t>
            </a:r>
            <a:r>
              <a:rPr lang="en-US" sz="1700" b="1" i="1" dirty="0">
                <a:solidFill>
                  <a:schemeClr val="tx1"/>
                </a:solidFill>
              </a:rPr>
              <a:t>have found</a:t>
            </a:r>
            <a:r>
              <a:rPr lang="en-US" sz="1700" i="1" dirty="0">
                <a:solidFill>
                  <a:schemeClr val="tx1"/>
                </a:solidFill>
              </a:rPr>
              <a:t> the water at 6.50.</a:t>
            </a:r>
            <a:r>
              <a:rPr lang="en-US" sz="1700" dirty="0">
                <a:solidFill>
                  <a:schemeClr val="tx1"/>
                </a:solidFill>
              </a:rPr>
              <a:t> → ✓ </a:t>
            </a:r>
            <a:r>
              <a:rPr lang="en-US" sz="1700" i="1" dirty="0">
                <a:solidFill>
                  <a:schemeClr val="tx1"/>
                </a:solidFill>
              </a:rPr>
              <a:t>found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Remembered or verifiable?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A · Remembered (R) or verifiable (V)?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alarm went off </a:t>
            </a:r>
            <a:r>
              <a:rPr lang="en-US" sz="2400" b="1" dirty="0">
                <a:solidFill>
                  <a:schemeClr val="tx1"/>
                </a:solidFill>
              </a:rPr>
              <a:t>around eleven</a:t>
            </a:r>
            <a:r>
              <a:rPr lang="en-US" sz="2400" dirty="0">
                <a:solidFill>
                  <a:schemeClr val="tx1"/>
                </a:solidFill>
              </a:rPr>
              <a:t>.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Badge 0771 entered at </a:t>
            </a:r>
            <a:r>
              <a:rPr lang="en-US" sz="2400" b="1" dirty="0">
                <a:solidFill>
                  <a:schemeClr val="tx1"/>
                </a:solidFill>
              </a:rPr>
              <a:t>06:47</a:t>
            </a:r>
            <a:r>
              <a:rPr lang="en-US" sz="2400" dirty="0">
                <a:solidFill>
                  <a:schemeClr val="tx1"/>
                </a:solidFill>
              </a:rPr>
              <a:t>. →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Unit 3 shut down at </a:t>
            </a:r>
            <a:r>
              <a:rPr lang="en-US" sz="2400" b="1" dirty="0">
                <a:solidFill>
                  <a:schemeClr val="tx1"/>
                </a:solidFill>
              </a:rPr>
              <a:t>02:16</a:t>
            </a:r>
            <a:r>
              <a:rPr lang="en-US" sz="2400" dirty="0">
                <a:solidFill>
                  <a:schemeClr val="tx1"/>
                </a:solidFill>
              </a:rPr>
              <a:t> (server log).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It happened </a:t>
            </a:r>
            <a:r>
              <a:rPr lang="en-US" sz="2400" b="1" dirty="0">
                <a:solidFill>
                  <a:schemeClr val="tx1"/>
                </a:solidFill>
              </a:rPr>
              <a:t>late last night</a:t>
            </a:r>
            <a:r>
              <a:rPr lang="en-US" sz="2400" dirty="0">
                <a:solidFill>
                  <a:schemeClr val="tx1"/>
                </a:solidFill>
              </a:rPr>
              <a:t>.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Mark called at </a:t>
            </a:r>
            <a:r>
              <a:rPr lang="en-US" sz="2400" b="1" dirty="0">
                <a:solidFill>
                  <a:schemeClr val="tx1"/>
                </a:solidFill>
              </a:rPr>
              <a:t>06.58</a:t>
            </a:r>
            <a:r>
              <a:rPr lang="en-US" sz="2400" dirty="0">
                <a:solidFill>
                  <a:schemeClr val="tx1"/>
                </a:solidFill>
              </a:rPr>
              <a:t> (phone log).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The team left </a:t>
            </a:r>
            <a:r>
              <a:rPr lang="en-US" sz="2400" b="1" dirty="0">
                <a:solidFill>
                  <a:schemeClr val="tx1"/>
                </a:solidFill>
              </a:rPr>
              <a:t>just before eight</a:t>
            </a:r>
            <a:r>
              <a:rPr lang="en-US" sz="2400" dirty="0">
                <a:solidFill>
                  <a:schemeClr val="tx1"/>
                </a:solidFill>
              </a:rPr>
              <a:t>.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7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B · Write the dated fact.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cleaners / find / water / 6.50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alarm / go off / 11.40 p.m.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nobody / hear / it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Remembered or verifiable?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A · Remembered (R) or verifiable (V)?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alarm went off </a:t>
            </a:r>
            <a:r>
              <a:rPr lang="en-US" sz="2400" b="1" dirty="0">
                <a:solidFill>
                  <a:schemeClr val="tx1"/>
                </a:solidFill>
              </a:rPr>
              <a:t>around eleven</a:t>
            </a:r>
            <a:r>
              <a:rPr lang="en-US" sz="2400" dirty="0">
                <a:solidFill>
                  <a:schemeClr val="tx1"/>
                </a:solidFill>
              </a:rPr>
              <a:t>. → </a:t>
            </a:r>
            <a:r>
              <a:rPr lang="en-US" sz="2400" b="1" dirty="0">
                <a:solidFill>
                  <a:schemeClr val="accent3"/>
                </a:solidFill>
              </a:rPr>
              <a:t>R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Badge 0771 entered at </a:t>
            </a:r>
            <a:r>
              <a:rPr lang="en-US" sz="2400" b="1" dirty="0">
                <a:solidFill>
                  <a:schemeClr val="tx1"/>
                </a:solidFill>
              </a:rPr>
              <a:t>06:47</a:t>
            </a:r>
            <a:r>
              <a:rPr lang="en-US" sz="2400" dirty="0">
                <a:solidFill>
                  <a:schemeClr val="tx1"/>
                </a:solidFill>
              </a:rPr>
              <a:t>. → </a:t>
            </a:r>
            <a:r>
              <a:rPr lang="en-US" sz="2400" b="1" dirty="0">
                <a:solidFill>
                  <a:schemeClr val="accent3"/>
                </a:solidFill>
              </a:rPr>
              <a:t>V — badge log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Unit 3 shut down at </a:t>
            </a:r>
            <a:r>
              <a:rPr lang="en-US" sz="2400" b="1" dirty="0">
                <a:solidFill>
                  <a:schemeClr val="tx1"/>
                </a:solidFill>
              </a:rPr>
              <a:t>02:16</a:t>
            </a:r>
            <a:r>
              <a:rPr lang="en-US" sz="2400" dirty="0">
                <a:solidFill>
                  <a:schemeClr val="tx1"/>
                </a:solidFill>
              </a:rPr>
              <a:t> (server log). → </a:t>
            </a:r>
            <a:r>
              <a:rPr lang="en-US" sz="2400" b="1" dirty="0">
                <a:solidFill>
                  <a:schemeClr val="accent3"/>
                </a:solidFill>
              </a:rPr>
              <a:t>V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It happened </a:t>
            </a:r>
            <a:r>
              <a:rPr lang="en-US" sz="2400" b="1" dirty="0">
                <a:solidFill>
                  <a:schemeClr val="tx1"/>
                </a:solidFill>
              </a:rPr>
              <a:t>late last night</a:t>
            </a:r>
            <a:r>
              <a:rPr lang="en-US" sz="2400" dirty="0">
                <a:solidFill>
                  <a:schemeClr val="tx1"/>
                </a:solidFill>
              </a:rPr>
              <a:t>. → </a:t>
            </a:r>
            <a:r>
              <a:rPr lang="en-US" sz="2400" b="1" dirty="0">
                <a:solidFill>
                  <a:schemeClr val="accent3"/>
                </a:solidFill>
              </a:rPr>
              <a:t>R — vague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Mark called at </a:t>
            </a:r>
            <a:r>
              <a:rPr lang="en-US" sz="2400" b="1" dirty="0">
                <a:solidFill>
                  <a:schemeClr val="tx1"/>
                </a:solidFill>
              </a:rPr>
              <a:t>06.58</a:t>
            </a:r>
            <a:r>
              <a:rPr lang="en-US" sz="2400" dirty="0">
                <a:solidFill>
                  <a:schemeClr val="tx1"/>
                </a:solidFill>
              </a:rPr>
              <a:t> (phone log). → </a:t>
            </a:r>
            <a:r>
              <a:rPr lang="en-US" sz="2400" b="1" dirty="0">
                <a:solidFill>
                  <a:schemeClr val="accent3"/>
                </a:solidFill>
              </a:rPr>
              <a:t>V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The team left </a:t>
            </a:r>
            <a:r>
              <a:rPr lang="en-US" sz="2400" b="1" dirty="0">
                <a:solidFill>
                  <a:schemeClr val="tx1"/>
                </a:solidFill>
              </a:rPr>
              <a:t>just before eight</a:t>
            </a:r>
            <a:r>
              <a:rPr lang="en-US" sz="2400" dirty="0">
                <a:solidFill>
                  <a:schemeClr val="tx1"/>
                </a:solidFill>
              </a:rPr>
              <a:t>. → </a:t>
            </a:r>
            <a:r>
              <a:rPr lang="en-US" sz="2400" b="1" dirty="0">
                <a:solidFill>
                  <a:schemeClr val="accent3"/>
                </a:solidFill>
              </a:rPr>
              <a:t>R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B · Write the dated fact.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cleaners / find / water / 6.50 → </a:t>
            </a:r>
            <a:r>
              <a:rPr lang="en-US" sz="2400" b="1" dirty="0">
                <a:solidFill>
                  <a:schemeClr val="accent3"/>
                </a:solidFill>
              </a:rPr>
              <a:t>The cleaners found the water at 6.50.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alarm / go off / 11.40 p.m. → </a:t>
            </a:r>
            <a:r>
              <a:rPr lang="en-US" sz="2400" b="1" dirty="0">
                <a:solidFill>
                  <a:schemeClr val="accent3"/>
                </a:solidFill>
              </a:rPr>
              <a:t>The alarm went off at 11.40 p.m.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nobody / hear / it → </a:t>
            </a:r>
            <a:r>
              <a:rPr lang="en-US" sz="2400" b="1" dirty="0">
                <a:solidFill>
                  <a:schemeClr val="accent3"/>
                </a:solidFill>
              </a:rPr>
              <a:t>Nobody heard it.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659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Mark is waiting for you at a quarter past eight. Before you walk into the technical room, check your verbs: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line of your report will stand on them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Say any time </a:t>
            </a:r>
            <a:r>
              <a:rPr lang="en-US" sz="1700" b="1" dirty="0">
                <a:solidFill>
                  <a:schemeClr val="tx1"/>
                </a:solidFill>
              </a:rPr>
              <a:t>in two ways</a:t>
            </a:r>
            <a:r>
              <a:rPr lang="en-US" sz="1700" dirty="0">
                <a:solidFill>
                  <a:schemeClr val="tx1"/>
                </a:solidFill>
              </a:rPr>
              <a:t> (practise with Exhibit-style times: 19.58, 20.04, 23.41, 02.16).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Learn: </a:t>
            </a:r>
            <a:r>
              <a:rPr lang="en-US" sz="1700" b="1" dirty="0">
                <a:solidFill>
                  <a:schemeClr val="tx1"/>
                </a:solidFill>
              </a:rPr>
              <a:t>find → found · go off → went off · hear → heard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 </a:t>
            </a:r>
            <a:r>
              <a:rPr lang="en-US" sz="1700" b="1" dirty="0">
                <a:solidFill>
                  <a:schemeClr val="tx1"/>
                </a:solidFill>
              </a:rPr>
              <a:t>p. 5</a:t>
            </a:r>
            <a:r>
              <a:rPr lang="en-US" sz="1700" dirty="0">
                <a:solidFill>
                  <a:schemeClr val="tx1"/>
                </a:solidFill>
              </a:rPr>
              <a:t> (the past simple poster).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Revise: go, see, have, come, know, begin, leave, shut.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EXIT TICKET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Say </a:t>
            </a:r>
            <a:r>
              <a:rPr lang="en-US" sz="1600" b="1" dirty="0">
                <a:solidFill>
                  <a:schemeClr val="bg1"/>
                </a:solidFill>
              </a:rPr>
              <a:t>06.58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b="1" dirty="0">
                <a:solidFill>
                  <a:schemeClr val="bg1"/>
                </a:solidFill>
              </a:rPr>
              <a:t>23.41</a:t>
            </a:r>
            <a:r>
              <a:rPr lang="en-US" sz="1600" dirty="0">
                <a:solidFill>
                  <a:schemeClr val="bg1"/>
                </a:solidFill>
              </a:rPr>
              <a:t> in two ways — and name one </a:t>
            </a:r>
            <a:r>
              <a:rPr lang="en-US" sz="1600" b="1" dirty="0">
                <a:solidFill>
                  <a:schemeClr val="bg1"/>
                </a:solidFill>
              </a:rPr>
              <a:t>verifiable</a:t>
            </a:r>
            <a:r>
              <a:rPr lang="en-US" sz="1600" dirty="0">
                <a:solidFill>
                  <a:schemeClr val="bg1"/>
                </a:solidFill>
              </a:rPr>
              <a:t> source for a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02 — The message that wakes you</dc:title>
  <dc:subject>Case File 01 — The night nobody heard</dc:subject>
  <dc:creator>A. Jouniaux</dc:creator>
  <cp:lastModifiedBy>A. Jouniaux</cp:lastModifiedBy>
  <cp:revision>1</cp:revision>
  <dcterms:created xsi:type="dcterms:W3CDTF">2026-10-03T19:30:04Z</dcterms:created>
  <dcterms:modified xsi:type="dcterms:W3CDTF">2026-10-03T19:30:04Z</dcterms:modified>
</cp:coreProperties>
</file>