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a1b622e-15f7-b66f-6f35-279ae320ac7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lôture" id="{b047c8e6-0287-a11c-7ce5-895e0de84edf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de la chronologie (p. 9) et Dry run (p. 10). Les heures de ce texte (8.15, 11.40) seront contredites par le journal d’alarme en scène 3 : ne pas les corriger maintenant.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Travail individuel 10 min, puis comparaison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heures (8.15, 11.40) sont celles « de la salle ». L’Exhibit A (scène 3) donnera 19:58 et 23:41 : c’est tout l’enjeu de la scène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Nuancer : la consigne parle de forme « impossible » ; en anglais courant, « was leaving » et « ran » ne sont pas agrammaticaux, mais inadaptés à un rapport factuel.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Nuancer : la consigne parle de forme « impossible » ; en anglais courant, « was leaving » et « ran » ne sont pas agrammaticaux, mais inadaptés à un rapport factuel.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Activité orale ajoutée : réemploi du past continuous / prétérit en interaction, et préfiguration de la scène 3 (comparer deux récits).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05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05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05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2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08.20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Build the timeline Mark asked for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It is 8.20. Forty minutes and an empty whiteboard.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9–10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23216"/>
            <a:ext cx="5120640" cy="3411569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9–10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timeline Mark asked for</a:t>
            </a:r>
            <a:r>
              <a:rPr lang="en-US" sz="1800" dirty="0">
                <a:solidFill>
                  <a:schemeClr val="tx1"/>
                </a:solidFill>
              </a:rPr>
              <a:t> — twelve verbs, no mistakes.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Past simple vs past continuous · </a:t>
            </a:r>
            <a:r>
              <a:rPr lang="en-US" sz="1800" b="1" dirty="0">
                <a:solidFill>
                  <a:schemeClr val="tx1"/>
                </a:solidFill>
              </a:rPr>
              <a:t>when / while</a:t>
            </a:r>
            <a:r>
              <a:rPr lang="en-US" sz="1800" dirty="0">
                <a:solidFill>
                  <a:schemeClr val="tx1"/>
                </a:solidFill>
              </a:rPr>
              <a:t> · spelling of -ing and -ed forms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Writing a factual narrative · checking your work like a hurried reader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5967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596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Warm-up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51402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5140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42887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When or while?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42887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306838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306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298323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Build the timeline (p. 9)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298323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62273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6227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53758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Correction: the night on a line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53758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4177093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4177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409194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Dry run A–C (p. 10)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409194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73144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7314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64629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Spelling rules</a:t>
            </a:r>
            <a:endParaRPr lang="en-US" sz="16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64629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528580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5285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520065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Speaking: the alibi game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520065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6263640" y="584015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263640" y="58401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784848" y="575500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Wrap-up</a:t>
            </a:r>
            <a:endParaRPr lang="en-US" sz="1600" dirty="0"/>
          </a:p>
        </p:txBody>
      </p:sp>
      <p:sp>
        <p:nvSpPr>
          <p:cNvPr id="53" name="Text 48"/>
          <p:cNvSpPr txBox="1"/>
          <p:nvPr/>
        </p:nvSpPr>
        <p:spPr>
          <a:xfrm>
            <a:off x="10972800" y="575500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bar or dot?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4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Samuel </a:t>
            </a:r>
            <a:r>
              <a:rPr lang="en-US" sz="2400" dirty="0">
                <a:solidFill>
                  <a:schemeClr val="accent5"/>
                </a:solidFill>
              </a:rPr>
              <a:t>…………………</a:t>
            </a:r>
            <a:r>
              <a:rPr lang="en-US" sz="2400" dirty="0">
                <a:solidFill>
                  <a:schemeClr val="tx1"/>
                </a:solidFill>
              </a:rPr>
              <a:t> (check) the rack when Mark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(call).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At 23.41 water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r>
              <a:rPr lang="en-US" sz="2400" dirty="0">
                <a:solidFill>
                  <a:schemeClr val="tx1"/>
                </a:solidFill>
              </a:rPr>
              <a:t> (run) behind the ceiling.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Nobody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(know) about the leak.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The cleaners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(open) the door and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(see) the water.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bar or dot?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4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11091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Samuel </a:t>
            </a:r>
            <a:r>
              <a:rPr lang="en-US" sz="2400" b="1" dirty="0">
                <a:solidFill>
                  <a:schemeClr val="accent3"/>
                </a:solidFill>
              </a:rPr>
              <a:t>was checking</a:t>
            </a:r>
            <a:r>
              <a:rPr lang="en-US" sz="2400" dirty="0">
                <a:solidFill>
                  <a:schemeClr val="tx1"/>
                </a:solidFill>
              </a:rPr>
              <a:t> (check) the rack when Mark </a:t>
            </a:r>
            <a:r>
              <a:rPr lang="en-US" sz="2400" b="1" dirty="0">
                <a:solidFill>
                  <a:schemeClr val="accent3"/>
                </a:solidFill>
              </a:rPr>
              <a:t>called</a:t>
            </a:r>
            <a:r>
              <a:rPr lang="en-US" sz="2400" dirty="0">
                <a:solidFill>
                  <a:schemeClr val="tx1"/>
                </a:solidFill>
              </a:rPr>
              <a:t> (call).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At 23.41 water </a:t>
            </a:r>
            <a:r>
              <a:rPr lang="en-US" sz="2400" b="1" dirty="0">
                <a:solidFill>
                  <a:schemeClr val="accent3"/>
                </a:solidFill>
              </a:rPr>
              <a:t>was running</a:t>
            </a:r>
            <a:r>
              <a:rPr lang="en-US" sz="2400" dirty="0">
                <a:solidFill>
                  <a:schemeClr val="tx1"/>
                </a:solidFill>
              </a:rPr>
              <a:t> (run) behind the ceiling.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Nobody </a:t>
            </a:r>
            <a:r>
              <a:rPr lang="en-US" sz="2400" b="1" dirty="0">
                <a:solidFill>
                  <a:schemeClr val="accent3"/>
                </a:solidFill>
              </a:rPr>
              <a:t>knew</a:t>
            </a:r>
            <a:r>
              <a:rPr lang="en-US" sz="2400" dirty="0">
                <a:solidFill>
                  <a:schemeClr val="tx1"/>
                </a:solidFill>
              </a:rPr>
              <a:t> (know) about the leak.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The cleaners </a:t>
            </a:r>
            <a:r>
              <a:rPr lang="en-US" sz="2400" b="1" dirty="0">
                <a:solidFill>
                  <a:schemeClr val="accent3"/>
                </a:solidFill>
              </a:rPr>
              <a:t>opened</a:t>
            </a:r>
            <a:r>
              <a:rPr lang="en-US" sz="2400" dirty="0">
                <a:solidFill>
                  <a:schemeClr val="tx1"/>
                </a:solidFill>
              </a:rPr>
              <a:t> (open) the door and </a:t>
            </a:r>
            <a:r>
              <a:rPr lang="en-US" sz="2400" b="1" dirty="0">
                <a:solidFill>
                  <a:schemeClr val="accent3"/>
                </a:solidFill>
              </a:rPr>
              <a:t>saw</a:t>
            </a:r>
            <a:r>
              <a:rPr lang="en-US" sz="2400" dirty="0">
                <a:solidFill>
                  <a:schemeClr val="tx1"/>
                </a:solidFill>
              </a:rPr>
              <a:t> (see) the water.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When or while?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9–10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5408676" cy="3883152"/>
          </a:xfrm>
          <a:prstGeom prst="roundRect">
            <a:avLst>
              <a:gd name="adj" fmla="val 235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5408676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5408676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WHILE — a period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5042916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while + past continuous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27376"/>
            <a:ext cx="5042916" cy="2627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= pendant que: the </a:t>
            </a:r>
            <a:r>
              <a:rPr lang="en-US" sz="2000" b="1" dirty="0">
                <a:solidFill>
                  <a:schemeClr val="tx1"/>
                </a:solidFill>
              </a:rPr>
              <a:t>background</a:t>
            </a:r>
            <a:r>
              <a:rPr lang="en-US" sz="2000" dirty="0">
                <a:solidFill>
                  <a:schemeClr val="tx1"/>
                </a:solidFill>
              </a:rPr>
              <a:t>, the bar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While</a:t>
            </a:r>
            <a:r>
              <a:rPr lang="en-US" sz="2000" dirty="0">
                <a:solidFill>
                  <a:schemeClr val="tx1"/>
                </a:solidFill>
              </a:rPr>
              <a:t> they </a:t>
            </a:r>
            <a:r>
              <a:rPr lang="en-US" sz="2000" b="1" dirty="0">
                <a:solidFill>
                  <a:schemeClr val="tx1"/>
                </a:solidFill>
              </a:rPr>
              <a:t>were packing</a:t>
            </a:r>
            <a:r>
              <a:rPr lang="en-US" sz="2000" dirty="0">
                <a:solidFill>
                  <a:schemeClr val="tx1"/>
                </a:solidFill>
              </a:rPr>
              <a:t> their tools, the site manager </a:t>
            </a:r>
            <a:r>
              <a:rPr lang="en-US" sz="2000" b="1" dirty="0">
                <a:solidFill>
                  <a:schemeClr val="tx1"/>
                </a:solidFill>
              </a:rPr>
              <a:t>carried out</a:t>
            </a:r>
            <a:r>
              <a:rPr lang="en-US" sz="2000" dirty="0">
                <a:solidFill>
                  <a:schemeClr val="tx1"/>
                </a:solidFill>
              </a:rPr>
              <a:t> his last inspection.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31636" y="1481328"/>
            <a:ext cx="5408676" cy="3883152"/>
          </a:xfrm>
          <a:prstGeom prst="roundRect">
            <a:avLst>
              <a:gd name="adj" fmla="val 235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1636" y="1481328"/>
            <a:ext cx="5408676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1636" y="1801368"/>
            <a:ext cx="5408676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4516" y="1481328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WHEN — a point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4516" y="2084832"/>
            <a:ext cx="5042916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when + past simple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414516" y="2627376"/>
            <a:ext cx="5042916" cy="2627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= quand, lorsque: the </a:t>
            </a:r>
            <a:r>
              <a:rPr lang="en-US" sz="2000" b="1" dirty="0">
                <a:solidFill>
                  <a:schemeClr val="tx1"/>
                </a:solidFill>
              </a:rPr>
              <a:t>event</a:t>
            </a:r>
            <a:r>
              <a:rPr lang="en-US" sz="2000" dirty="0">
                <a:solidFill>
                  <a:schemeClr val="tx1"/>
                </a:solidFill>
              </a:rPr>
              <a:t>, the dot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water </a:t>
            </a:r>
            <a:r>
              <a:rPr lang="en-US" sz="2000" b="1" dirty="0">
                <a:solidFill>
                  <a:schemeClr val="tx1"/>
                </a:solidFill>
              </a:rPr>
              <a:t>was still running when</a:t>
            </a:r>
            <a:r>
              <a:rPr lang="en-US" sz="2000" dirty="0">
                <a:solidFill>
                  <a:schemeClr val="tx1"/>
                </a:solidFill>
              </a:rPr>
              <a:t> the cleaners </a:t>
            </a:r>
            <a:r>
              <a:rPr lang="en-US" sz="2000" b="1" dirty="0">
                <a:solidFill>
                  <a:schemeClr val="tx1"/>
                </a:solidFill>
              </a:rPr>
              <a:t>arrived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5565648"/>
            <a:ext cx="11091672" cy="725424"/>
          </a:xfrm>
          <a:prstGeom prst="roundRect">
            <a:avLst>
              <a:gd name="adj" fmla="val 1008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70000"/>
              </a:scheme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63768"/>
            <a:ext cx="329184" cy="32918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34440" y="5602224"/>
            <a:ext cx="10287000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Astuce — </a:t>
            </a:r>
            <a:r>
              <a:rPr lang="en-US" sz="1700" dirty="0">
                <a:solidFill>
                  <a:schemeClr val="tx1"/>
                </a:solidFill>
              </a:rPr>
              <a:t>Comma rule: </a:t>
            </a:r>
            <a:r>
              <a:rPr lang="en-US" sz="1700" b="1" dirty="0">
                <a:solidFill>
                  <a:schemeClr val="tx1"/>
                </a:solidFill>
              </a:rPr>
              <a:t>When</a:t>
            </a:r>
            <a:r>
              <a:rPr lang="en-US" sz="1700" dirty="0">
                <a:solidFill>
                  <a:schemeClr val="tx1"/>
                </a:solidFill>
              </a:rPr>
              <a:t> the cleaners arrived</a:t>
            </a:r>
            <a:r>
              <a:rPr lang="en-US" sz="1700" b="1" dirty="0">
                <a:solidFill>
                  <a:schemeClr val="tx1"/>
                </a:solidFill>
              </a:rPr>
              <a:t>,</a:t>
            </a:r>
            <a:r>
              <a:rPr lang="en-US" sz="1700" dirty="0">
                <a:solidFill>
                  <a:schemeClr val="tx1"/>
                </a:solidFill>
              </a:rPr>
              <a:t> the water was still running. — No comma when the main clause comes first: The water was still running </a:t>
            </a:r>
            <a:r>
              <a:rPr lang="en-US" sz="1700" b="1" dirty="0">
                <a:solidFill>
                  <a:schemeClr val="tx1"/>
                </a:solidFill>
              </a:rPr>
              <a:t>when</a:t>
            </a:r>
            <a:r>
              <a:rPr lang="en-US" sz="1700" dirty="0">
                <a:solidFill>
                  <a:schemeClr val="tx1"/>
                </a:solidFill>
              </a:rPr>
              <a:t> the cleaners arrived.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Build the timeline Mark asked for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9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571232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It is 8.20. You have forty minutes and an empty whiteboard. Without this timeline, nobody can write a report.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2170176"/>
            <a:ext cx="7571232" cy="412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 7.55 p.m. the contractor’s team </a:t>
            </a:r>
            <a:r>
              <a:rPr lang="en-US" sz="1800" b="1" dirty="0">
                <a:solidFill>
                  <a:schemeClr val="tx1"/>
                </a:solidFill>
              </a:rPr>
              <a:t>(1)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(still work)</a:t>
            </a:r>
            <a:r>
              <a:rPr lang="en-US" sz="1800" dirty="0">
                <a:solidFill>
                  <a:schemeClr val="tx1"/>
                </a:solidFill>
              </a:rPr>
              <a:t> on the second floor.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They </a:t>
            </a:r>
            <a:r>
              <a:rPr lang="en-US" sz="1800" b="1" dirty="0">
                <a:solidFill>
                  <a:schemeClr val="tx1"/>
                </a:solidFill>
              </a:rPr>
              <a:t>(2)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(leave)</a:t>
            </a:r>
            <a:r>
              <a:rPr lang="en-US" sz="1800" dirty="0">
                <a:solidFill>
                  <a:schemeClr val="tx1"/>
                </a:solidFill>
              </a:rPr>
              <a:t> at 8.15 and </a:t>
            </a:r>
            <a:r>
              <a:rPr lang="en-US" sz="1800" b="1" dirty="0">
                <a:solidFill>
                  <a:schemeClr val="tx1"/>
                </a:solidFill>
              </a:rPr>
              <a:t>(3)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(lock)</a:t>
            </a:r>
            <a:r>
              <a:rPr lang="en-US" sz="1800" dirty="0">
                <a:solidFill>
                  <a:schemeClr val="tx1"/>
                </a:solidFill>
              </a:rPr>
              <a:t> the door behind them.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While they </a:t>
            </a:r>
            <a:r>
              <a:rPr lang="en-US" sz="1800" b="1" dirty="0">
                <a:solidFill>
                  <a:schemeClr val="tx1"/>
                </a:solidFill>
              </a:rPr>
              <a:t>(4)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(pack)</a:t>
            </a:r>
            <a:r>
              <a:rPr lang="en-US" sz="1800" dirty="0">
                <a:solidFill>
                  <a:schemeClr val="tx1"/>
                </a:solidFill>
              </a:rPr>
              <a:t> their tools, the site manager </a:t>
            </a:r>
            <a:r>
              <a:rPr lang="en-US" sz="1800" b="1" dirty="0">
                <a:solidFill>
                  <a:schemeClr val="tx1"/>
                </a:solidFill>
              </a:rPr>
              <a:t>(5)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(carry out)</a:t>
            </a:r>
            <a:r>
              <a:rPr lang="en-US" sz="1800" dirty="0">
                <a:solidFill>
                  <a:schemeClr val="tx1"/>
                </a:solidFill>
              </a:rPr>
              <a:t> his last inspection.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He </a:t>
            </a:r>
            <a:r>
              <a:rPr lang="en-US" sz="1800" b="1" dirty="0">
                <a:solidFill>
                  <a:schemeClr val="tx1"/>
                </a:solidFill>
              </a:rPr>
              <a:t>(6)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(not notice)</a:t>
            </a:r>
            <a:r>
              <a:rPr lang="en-US" sz="1800" dirty="0">
                <a:solidFill>
                  <a:schemeClr val="tx1"/>
                </a:solidFill>
              </a:rPr>
              <a:t> anything. Later, water </a:t>
            </a:r>
            <a:r>
              <a:rPr lang="en-US" sz="1800" b="1" dirty="0">
                <a:solidFill>
                  <a:schemeClr val="tx1"/>
                </a:solidFill>
              </a:rPr>
              <a:t>(7)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(begin)</a:t>
            </a:r>
            <a:r>
              <a:rPr lang="en-US" sz="1800" dirty="0">
                <a:solidFill>
                  <a:schemeClr val="tx1"/>
                </a:solidFill>
              </a:rPr>
              <a:t> to run behind the ceiling.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 11.40 p.m., while everybody </a:t>
            </a:r>
            <a:r>
              <a:rPr lang="en-US" sz="1800" b="1" dirty="0">
                <a:solidFill>
                  <a:schemeClr val="tx1"/>
                </a:solidFill>
              </a:rPr>
              <a:t>(8)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(sleep)</a:t>
            </a:r>
            <a:r>
              <a:rPr lang="en-US" sz="1800" dirty="0">
                <a:solidFill>
                  <a:schemeClr val="tx1"/>
                </a:solidFill>
              </a:rPr>
              <a:t>, the temperature alarm </a:t>
            </a:r>
            <a:r>
              <a:rPr lang="en-US" sz="1800" b="1" dirty="0">
                <a:solidFill>
                  <a:schemeClr val="tx1"/>
                </a:solidFill>
              </a:rPr>
              <a:t>(9)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(go off)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Nobody </a:t>
            </a:r>
            <a:r>
              <a:rPr lang="en-US" sz="1800" b="1" dirty="0">
                <a:solidFill>
                  <a:schemeClr val="tx1"/>
                </a:solidFill>
              </a:rPr>
              <a:t>(10)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(hear)</a:t>
            </a:r>
            <a:r>
              <a:rPr lang="en-US" sz="1800" dirty="0">
                <a:solidFill>
                  <a:schemeClr val="tx1"/>
                </a:solidFill>
              </a:rPr>
              <a:t> it. The cleaners </a:t>
            </a:r>
            <a:r>
              <a:rPr lang="en-US" sz="1800" b="1" dirty="0">
                <a:solidFill>
                  <a:schemeClr val="tx1"/>
                </a:solidFill>
              </a:rPr>
              <a:t>(11)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(find)</a:t>
            </a:r>
            <a:r>
              <a:rPr lang="en-US" sz="1800" dirty="0">
                <a:solidFill>
                  <a:schemeClr val="tx1"/>
                </a:solidFill>
              </a:rPr>
              <a:t> the water at 6.50, when they </a:t>
            </a:r>
            <a:r>
              <a:rPr lang="en-US" sz="1800" b="1" dirty="0">
                <a:solidFill>
                  <a:schemeClr val="tx1"/>
                </a:solidFill>
              </a:rPr>
              <a:t>(12)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chemeClr val="accent5"/>
                </a:solidFill>
              </a:rPr>
              <a:t>……………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(open)</a:t>
            </a:r>
            <a:r>
              <a:rPr lang="en-US" sz="1800" dirty="0">
                <a:solidFill>
                  <a:schemeClr val="tx1"/>
                </a:solidFill>
              </a:rPr>
              <a:t> the room.</a:t>
            </a:r>
            <a:endParaRPr lang="en-US" sz="1800" dirty="0"/>
          </a:p>
        </p:txBody>
      </p:sp>
      <p:sp>
        <p:nvSpPr>
          <p:cNvPr id="8" name="aside"/>
          <p:cNvSpPr/>
          <p:nvPr/>
        </p:nvSpPr>
        <p:spPr>
          <a:xfrm>
            <a:off x="8439912" y="1481328"/>
            <a:ext cx="3200400" cy="4809744"/>
          </a:xfrm>
          <a:prstGeom prst="roundRect">
            <a:avLst>
              <a:gd name="adj" fmla="val 228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2" y="1664208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06840" y="163677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EXPECTED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04504" y="2075688"/>
            <a:ext cx="2871216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Dot</a:t>
            </a:r>
            <a:r>
              <a:rPr lang="en-US" sz="1800" dirty="0">
                <a:solidFill>
                  <a:schemeClr val="tx1"/>
                </a:solidFill>
              </a:rPr>
              <a:t> (event) → past simple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Bar</a:t>
            </a:r>
            <a:r>
              <a:rPr lang="en-US" sz="1800" dirty="0">
                <a:solidFill>
                  <a:schemeClr val="tx1"/>
                </a:solidFill>
              </a:rPr>
              <a:t> (background) → was / were + -ing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while</a:t>
            </a:r>
            <a:r>
              <a:rPr lang="en-US" sz="1800" dirty="0">
                <a:solidFill>
                  <a:schemeClr val="tx1"/>
                </a:solidFill>
              </a:rPr>
              <a:t> → bar · </a:t>
            </a:r>
            <a:r>
              <a:rPr lang="en-US" sz="1800" i="1" dirty="0">
                <a:solidFill>
                  <a:schemeClr val="tx1"/>
                </a:solidFill>
              </a:rPr>
              <a:t>when</a:t>
            </a:r>
            <a:r>
              <a:rPr lang="en-US" sz="1800" dirty="0">
                <a:solidFill>
                  <a:schemeClr val="tx1"/>
                </a:solidFill>
              </a:rPr>
              <a:t> → dot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Build the timeline Mark asked for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9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81328"/>
            <a:ext cx="7571232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It is 8.20. You have forty minutes and an empty whiteboard. Without this timeline, nobody can write a report.</a:t>
            </a:r>
            <a:endParaRPr lang="en-US" sz="1600" dirty="0"/>
          </a:p>
        </p:txBody>
      </p:sp>
      <p:sp>
        <p:nvSpPr>
          <p:cNvPr id="8" name="exercise"/>
          <p:cNvSpPr txBox="1"/>
          <p:nvPr/>
        </p:nvSpPr>
        <p:spPr>
          <a:xfrm>
            <a:off x="548640" y="2170176"/>
            <a:ext cx="7571232" cy="412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 7.55 p.m. the contractor’s team </a:t>
            </a:r>
            <a:r>
              <a:rPr lang="en-US" sz="1800" b="1" dirty="0">
                <a:solidFill>
                  <a:schemeClr val="tx1"/>
                </a:solidFill>
              </a:rPr>
              <a:t>(1)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was still working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(still work)</a:t>
            </a:r>
            <a:r>
              <a:rPr lang="en-US" sz="1800" dirty="0">
                <a:solidFill>
                  <a:schemeClr val="tx1"/>
                </a:solidFill>
              </a:rPr>
              <a:t> on the second floor.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They </a:t>
            </a:r>
            <a:r>
              <a:rPr lang="en-US" sz="1800" b="1" dirty="0">
                <a:solidFill>
                  <a:schemeClr val="tx1"/>
                </a:solidFill>
              </a:rPr>
              <a:t>(2)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left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(leave)</a:t>
            </a:r>
            <a:r>
              <a:rPr lang="en-US" sz="1800" dirty="0">
                <a:solidFill>
                  <a:schemeClr val="tx1"/>
                </a:solidFill>
              </a:rPr>
              <a:t> at 8.15 and </a:t>
            </a:r>
            <a:r>
              <a:rPr lang="en-US" sz="1800" b="1" dirty="0">
                <a:solidFill>
                  <a:schemeClr val="tx1"/>
                </a:solidFill>
              </a:rPr>
              <a:t>(3)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locked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(lock)</a:t>
            </a:r>
            <a:r>
              <a:rPr lang="en-US" sz="1800" dirty="0">
                <a:solidFill>
                  <a:schemeClr val="tx1"/>
                </a:solidFill>
              </a:rPr>
              <a:t> the door behind them.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While they </a:t>
            </a:r>
            <a:r>
              <a:rPr lang="en-US" sz="1800" b="1" dirty="0">
                <a:solidFill>
                  <a:schemeClr val="tx1"/>
                </a:solidFill>
              </a:rPr>
              <a:t>(4)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were packing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(pack)</a:t>
            </a:r>
            <a:r>
              <a:rPr lang="en-US" sz="1800" dirty="0">
                <a:solidFill>
                  <a:schemeClr val="tx1"/>
                </a:solidFill>
              </a:rPr>
              <a:t> their tools, the site manager </a:t>
            </a:r>
            <a:r>
              <a:rPr lang="en-US" sz="1800" b="1" dirty="0">
                <a:solidFill>
                  <a:schemeClr val="tx1"/>
                </a:solidFill>
              </a:rPr>
              <a:t>(5)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carried out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(carry out)</a:t>
            </a:r>
            <a:r>
              <a:rPr lang="en-US" sz="1800" dirty="0">
                <a:solidFill>
                  <a:schemeClr val="tx1"/>
                </a:solidFill>
              </a:rPr>
              <a:t> his last inspection.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He </a:t>
            </a:r>
            <a:r>
              <a:rPr lang="en-US" sz="1800" b="1" dirty="0">
                <a:solidFill>
                  <a:schemeClr val="tx1"/>
                </a:solidFill>
              </a:rPr>
              <a:t>(6)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did not notice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(not notice)</a:t>
            </a:r>
            <a:r>
              <a:rPr lang="en-US" sz="1800" dirty="0">
                <a:solidFill>
                  <a:schemeClr val="tx1"/>
                </a:solidFill>
              </a:rPr>
              <a:t> anything. Later, water </a:t>
            </a:r>
            <a:r>
              <a:rPr lang="en-US" sz="1800" b="1" dirty="0">
                <a:solidFill>
                  <a:schemeClr val="tx1"/>
                </a:solidFill>
              </a:rPr>
              <a:t>(7)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began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(begin)</a:t>
            </a:r>
            <a:r>
              <a:rPr lang="en-US" sz="1800" dirty="0">
                <a:solidFill>
                  <a:schemeClr val="tx1"/>
                </a:solidFill>
              </a:rPr>
              <a:t> to run behind the ceiling.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 11.40 p.m., while everybody </a:t>
            </a:r>
            <a:r>
              <a:rPr lang="en-US" sz="1800" b="1" dirty="0">
                <a:solidFill>
                  <a:schemeClr val="tx1"/>
                </a:solidFill>
              </a:rPr>
              <a:t>(8)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was sleeping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(sleep)</a:t>
            </a:r>
            <a:r>
              <a:rPr lang="en-US" sz="1800" dirty="0">
                <a:solidFill>
                  <a:schemeClr val="tx1"/>
                </a:solidFill>
              </a:rPr>
              <a:t>, the temperature alarm </a:t>
            </a:r>
            <a:r>
              <a:rPr lang="en-US" sz="1800" b="1" dirty="0">
                <a:solidFill>
                  <a:schemeClr val="tx1"/>
                </a:solidFill>
              </a:rPr>
              <a:t>(9)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went off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(go off)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Nobody </a:t>
            </a:r>
            <a:r>
              <a:rPr lang="en-US" sz="1800" b="1" dirty="0">
                <a:solidFill>
                  <a:schemeClr val="tx1"/>
                </a:solidFill>
              </a:rPr>
              <a:t>(10)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heard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(hear)</a:t>
            </a:r>
            <a:r>
              <a:rPr lang="en-US" sz="1800" dirty="0">
                <a:solidFill>
                  <a:schemeClr val="tx1"/>
                </a:solidFill>
              </a:rPr>
              <a:t> it. The cleaners </a:t>
            </a:r>
            <a:r>
              <a:rPr lang="en-US" sz="1800" b="1" dirty="0">
                <a:solidFill>
                  <a:schemeClr val="tx1"/>
                </a:solidFill>
              </a:rPr>
              <a:t>(11)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found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(find)</a:t>
            </a:r>
            <a:r>
              <a:rPr lang="en-US" sz="1800" dirty="0">
                <a:solidFill>
                  <a:schemeClr val="tx1"/>
                </a:solidFill>
              </a:rPr>
              <a:t> the water at 6.50, when they </a:t>
            </a:r>
            <a:r>
              <a:rPr lang="en-US" sz="1800" b="1" dirty="0">
                <a:solidFill>
                  <a:schemeClr val="tx1"/>
                </a:solidFill>
              </a:rPr>
              <a:t>(12)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b="1" dirty="0">
                <a:solidFill>
                  <a:schemeClr val="accent3"/>
                </a:solidFill>
              </a:rPr>
              <a:t>opened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(open)</a:t>
            </a:r>
            <a:r>
              <a:rPr lang="en-US" sz="1800" dirty="0">
                <a:solidFill>
                  <a:schemeClr val="tx1"/>
                </a:solidFill>
              </a:rPr>
              <a:t> the room.</a:t>
            </a:r>
            <a:endParaRPr lang="en-US" sz="1800" dirty="0"/>
          </a:p>
        </p:txBody>
      </p:sp>
      <p:sp>
        <p:nvSpPr>
          <p:cNvPr id="9" name="aside"/>
          <p:cNvSpPr/>
          <p:nvPr/>
        </p:nvSpPr>
        <p:spPr>
          <a:xfrm>
            <a:off x="8439912" y="1481328"/>
            <a:ext cx="3200400" cy="4809744"/>
          </a:xfrm>
          <a:prstGeom prst="roundRect">
            <a:avLst>
              <a:gd name="adj" fmla="val 228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2" y="166420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006840" y="163677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04504" y="2075688"/>
            <a:ext cx="2871216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(5) </a:t>
            </a:r>
            <a:r>
              <a:rPr lang="en-US" sz="1800" b="1" dirty="0">
                <a:solidFill>
                  <a:schemeClr val="tx1"/>
                </a:solidFill>
              </a:rPr>
              <a:t>was carrying out</a:t>
            </a:r>
            <a:r>
              <a:rPr lang="en-US" sz="1800" dirty="0">
                <a:solidFill>
                  <a:schemeClr val="tx1"/>
                </a:solidFill>
              </a:rPr>
              <a:t> is also correct: two actions in progress at the same time.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(6) Formal report: </a:t>
            </a:r>
            <a:r>
              <a:rPr lang="en-US" sz="1800" b="1" dirty="0">
                <a:solidFill>
                  <a:schemeClr val="tx1"/>
                </a:solidFill>
              </a:rPr>
              <a:t>did not</a:t>
            </a:r>
            <a:r>
              <a:rPr lang="en-US" sz="1800" dirty="0">
                <a:solidFill>
                  <a:schemeClr val="tx1"/>
                </a:solidFill>
              </a:rPr>
              <a:t> rather than </a:t>
            </a:r>
            <a:r>
              <a:rPr lang="en-US" sz="1800" i="1" dirty="0">
                <a:solidFill>
                  <a:schemeClr val="tx1"/>
                </a:solidFill>
              </a:rPr>
              <a:t>didn’t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(7) began ≠ </a:t>
            </a:r>
            <a:r>
              <a:rPr lang="en-US" sz="1800" i="1" dirty="0">
                <a:solidFill>
                  <a:schemeClr val="tx1"/>
                </a:solidFill>
              </a:rPr>
              <a:t>begun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night on a line — your timeline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656985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8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62825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(1) was still working · (4) were packing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03566" y="2852928"/>
            <a:ext cx="8435686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45000"/>
            </a:schemeClr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2476718" y="2852928"/>
            <a:ext cx="82893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(7) water began → was running behind the ceiling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43123" y="2249424"/>
            <a:ext cx="6526050" cy="457200"/>
          </a:xfrm>
          <a:prstGeom prst="roundRect">
            <a:avLst>
              <a:gd name="adj" fmla="val 16000"/>
            </a:avLst>
          </a:prstGeom>
          <a:solidFill>
            <a:schemeClr val="accent5">
              <a:alpha val="85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16275" y="2249424"/>
            <a:ext cx="63797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(8) everybody was sleeping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538728"/>
            <a:ext cx="10927080" cy="0"/>
          </a:xfrm>
          <a:prstGeom prst="line">
            <a:avLst/>
          </a:prstGeom>
          <a:noFill/>
          <a:ln w="317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352390" y="3465576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3750" y="3630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20.00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04350" y="3465576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55710" y="3630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22.00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56309" y="3465576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307669" y="3630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00.00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08269" y="3465576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59629" y="3630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02.00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360229" y="3465576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1589" y="3630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04.00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112188" y="3465576"/>
            <a:ext cx="0" cy="1463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63548" y="3630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06.00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452513" y="3419856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71385" y="3657600"/>
            <a:ext cx="0" cy="292608"/>
          </a:xfrm>
          <a:prstGeom prst="line">
            <a:avLst/>
          </a:prstGeom>
          <a:noFill/>
          <a:ln w="12700">
            <a:solidFill>
              <a:srgbClr val="C0752A"/>
            </a:solidFill>
            <a:prstDash val="sysDot"/>
          </a:ln>
        </p:spPr>
      </p:sp>
      <p:sp>
        <p:nvSpPr>
          <p:cNvPr id="27" name="Text 25"/>
          <p:cNvSpPr txBox="1"/>
          <p:nvPr/>
        </p:nvSpPr>
        <p:spPr>
          <a:xfrm>
            <a:off x="565545" y="395020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(2) </a:t>
            </a:r>
            <a:r>
              <a:rPr lang="en-US" sz="1400" b="1" dirty="0">
                <a:solidFill>
                  <a:schemeClr val="tx1"/>
                </a:solidFill>
              </a:rPr>
              <a:t>left</a:t>
            </a:r>
            <a:r>
              <a:rPr lang="en-US" sz="1400" dirty="0">
                <a:solidFill>
                  <a:schemeClr val="tx1"/>
                </a:solidFill>
              </a:rPr>
              <a:t> · (3) </a:t>
            </a:r>
            <a:r>
              <a:rPr lang="en-US" sz="1400" b="1" dirty="0">
                <a:solidFill>
                  <a:schemeClr val="tx1"/>
                </a:solidFill>
              </a:rPr>
              <a:t>locked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48364" y="3419856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67236" y="3657600"/>
            <a:ext cx="0" cy="950976"/>
          </a:xfrm>
          <a:prstGeom prst="line">
            <a:avLst/>
          </a:prstGeom>
          <a:noFill/>
          <a:ln w="12700">
            <a:solidFill>
              <a:srgbClr val="C0752A"/>
            </a:solidFill>
            <a:prstDash val="sysDot"/>
          </a:ln>
        </p:spPr>
      </p:sp>
      <p:sp>
        <p:nvSpPr>
          <p:cNvPr id="30" name="Text 28"/>
          <p:cNvSpPr txBox="1"/>
          <p:nvPr/>
        </p:nvSpPr>
        <p:spPr>
          <a:xfrm>
            <a:off x="3012756" y="460857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(9) the alarm </a:t>
            </a:r>
            <a:r>
              <a:rPr lang="en-US" sz="1400" b="1" dirty="0">
                <a:solidFill>
                  <a:schemeClr val="tx1"/>
                </a:solidFill>
              </a:rPr>
              <a:t>went off</a:t>
            </a:r>
            <a:r>
              <a:rPr lang="en-US" sz="1400" dirty="0">
                <a:solidFill>
                  <a:schemeClr val="tx1"/>
                </a:solidFill>
              </a:rPr>
              <a:t> · (10) nobody </a:t>
            </a:r>
            <a:r>
              <a:rPr lang="en-US" sz="1400" b="1" dirty="0">
                <a:solidFill>
                  <a:schemeClr val="tx1"/>
                </a:solidFill>
              </a:rPr>
              <a:t>heard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720379" y="3419856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839251" y="3657600"/>
            <a:ext cx="0" cy="292608"/>
          </a:xfrm>
          <a:prstGeom prst="line">
            <a:avLst/>
          </a:prstGeom>
          <a:noFill/>
          <a:ln w="12700">
            <a:solidFill>
              <a:srgbClr val="C0752A"/>
            </a:solidFill>
            <a:prstDash val="sysDot"/>
          </a:ln>
        </p:spPr>
      </p:sp>
      <p:sp>
        <p:nvSpPr>
          <p:cNvPr id="33" name="Text 31"/>
          <p:cNvSpPr txBox="1"/>
          <p:nvPr/>
        </p:nvSpPr>
        <p:spPr>
          <a:xfrm>
            <a:off x="9445752" y="395020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(11) </a:t>
            </a:r>
            <a:r>
              <a:rPr lang="en-US" sz="1400" b="1" dirty="0">
                <a:solidFill>
                  <a:schemeClr val="tx1"/>
                </a:solidFill>
              </a:rPr>
              <a:t>found</a:t>
            </a:r>
            <a:r>
              <a:rPr lang="en-US" sz="1400" dirty="0">
                <a:solidFill>
                  <a:schemeClr val="tx1"/>
                </a:solidFill>
              </a:rPr>
              <a:t> · (12) </a:t>
            </a:r>
            <a:r>
              <a:rPr lang="en-US" sz="1400" b="1" dirty="0">
                <a:solidFill>
                  <a:schemeClr val="tx1"/>
                </a:solidFill>
              </a:rPr>
              <a:t>opened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5605272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>
                <a:alpha val="70000"/>
              </a:scheme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83580"/>
            <a:ext cx="329184" cy="329184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234440" y="5641848"/>
            <a:ext cx="10287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Attention — </a:t>
            </a:r>
            <a:r>
              <a:rPr lang="en-US" sz="1700" dirty="0">
                <a:solidFill>
                  <a:schemeClr val="tx1"/>
                </a:solidFill>
              </a:rPr>
              <a:t>These are the times </a:t>
            </a:r>
            <a:r>
              <a:rPr lang="en-US" sz="1700" b="1" dirty="0">
                <a:solidFill>
                  <a:schemeClr val="tx1"/>
                </a:solidFill>
              </a:rPr>
              <a:t>people remembered</a:t>
            </a:r>
            <a:r>
              <a:rPr lang="en-US" sz="1700" dirty="0">
                <a:solidFill>
                  <a:schemeClr val="tx1"/>
                </a:solidFill>
              </a:rPr>
              <a:t> (8.15, 11.40). In Scene 3, the alarm log will tell a different story.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Before you hand the board to Mark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 · One form is impossible in each line. Cross it out.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71780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At 8.15 the team </a:t>
            </a:r>
            <a:r>
              <a:rPr lang="en-US" sz="2400" dirty="0">
                <a:solidFill>
                  <a:schemeClr val="tx1"/>
                </a:solidFill>
              </a:rPr>
              <a:t>left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was leaving</a:t>
            </a:r>
            <a:r>
              <a:rPr lang="en-US" sz="2400" dirty="0">
                <a:solidFill>
                  <a:schemeClr val="tx1"/>
                </a:solidFill>
              </a:rPr>
              <a:t> the site.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While they </a:t>
            </a:r>
            <a:r>
              <a:rPr lang="en-US" sz="2400" dirty="0">
                <a:solidFill>
                  <a:schemeClr val="tx1"/>
                </a:solidFill>
              </a:rPr>
              <a:t>packed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were packing</a:t>
            </a:r>
            <a:r>
              <a:rPr lang="en-US" sz="2400" dirty="0">
                <a:solidFill>
                  <a:schemeClr val="tx1"/>
                </a:solidFill>
              </a:rPr>
              <a:t>, the manager </a:t>
            </a:r>
            <a:r>
              <a:rPr lang="en-US" sz="2400" dirty="0">
                <a:solidFill>
                  <a:schemeClr val="tx1"/>
                </a:solidFill>
              </a:rPr>
              <a:t>checked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was checking</a:t>
            </a:r>
            <a:r>
              <a:rPr lang="en-US" sz="2400" dirty="0">
                <a:solidFill>
                  <a:schemeClr val="tx1"/>
                </a:solidFill>
              </a:rPr>
              <a:t> the floor.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alarm </a:t>
            </a:r>
            <a:r>
              <a:rPr lang="en-US" sz="2400" dirty="0">
                <a:solidFill>
                  <a:schemeClr val="tx1"/>
                </a:solidFill>
              </a:rPr>
              <a:t>went off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was going off</a:t>
            </a:r>
            <a:r>
              <a:rPr lang="en-US" sz="2400" dirty="0">
                <a:solidFill>
                  <a:schemeClr val="tx1"/>
                </a:solidFill>
              </a:rPr>
              <a:t> at 11.41.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Water </a:t>
            </a:r>
            <a:r>
              <a:rPr lang="en-US" sz="2400" dirty="0">
                <a:solidFill>
                  <a:schemeClr val="tx1"/>
                </a:solidFill>
              </a:rPr>
              <a:t>ran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dirty="0">
                <a:solidFill>
                  <a:schemeClr val="tx1"/>
                </a:solidFill>
              </a:rPr>
              <a:t>was running</a:t>
            </a:r>
            <a:r>
              <a:rPr lang="en-US" sz="2400" dirty="0">
                <a:solidFill>
                  <a:schemeClr val="tx1"/>
                </a:solidFill>
              </a:rPr>
              <a:t> behind the ceiling all night.</a:t>
            </a:r>
            <a:endParaRPr lang="en-US" sz="2400" dirty="0"/>
          </a:p>
        </p:txBody>
      </p:sp>
      <p:sp>
        <p:nvSpPr>
          <p:cNvPr id="8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EXPECTED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These are exactly the three errors a hurried reader spots first.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Two minutes.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Before you hand the board to Mark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10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 · One form is impossible in each line. Cross it out.</a:t>
            </a:r>
            <a:endParaRPr lang="en-US" sz="1600" dirty="0"/>
          </a:p>
        </p:txBody>
      </p:sp>
      <p:sp>
        <p:nvSpPr>
          <p:cNvPr id="8" name="exercise"/>
          <p:cNvSpPr txBox="1"/>
          <p:nvPr/>
        </p:nvSpPr>
        <p:spPr>
          <a:xfrm>
            <a:off x="548640" y="1926336"/>
            <a:ext cx="71780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At 8.15 the team </a:t>
            </a:r>
            <a:r>
              <a:rPr lang="en-US" sz="2400" b="1" dirty="0">
                <a:solidFill>
                  <a:schemeClr val="accent3"/>
                </a:solidFill>
              </a:rPr>
              <a:t>left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strike="sngStrike" dirty="0">
                <a:solidFill>
                  <a:schemeClr val="accent6"/>
                </a:solidFill>
              </a:rPr>
              <a:t>was leaving</a:t>
            </a:r>
            <a:r>
              <a:rPr lang="en-US" sz="2400" dirty="0">
                <a:solidFill>
                  <a:schemeClr val="tx1"/>
                </a:solidFill>
              </a:rPr>
              <a:t> the site.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While they </a:t>
            </a:r>
            <a:r>
              <a:rPr lang="en-US" sz="2400" strike="sngStrike" dirty="0">
                <a:solidFill>
                  <a:schemeClr val="accent6"/>
                </a:solidFill>
              </a:rPr>
              <a:t>packed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were packing</a:t>
            </a:r>
            <a:r>
              <a:rPr lang="en-US" sz="2400" dirty="0">
                <a:solidFill>
                  <a:schemeClr val="tx1"/>
                </a:solidFill>
              </a:rPr>
              <a:t>, the manager </a:t>
            </a:r>
            <a:r>
              <a:rPr lang="en-US" sz="2400" b="1" dirty="0">
                <a:solidFill>
                  <a:schemeClr val="accent3"/>
                </a:solidFill>
              </a:rPr>
              <a:t>checked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was checking</a:t>
            </a:r>
            <a:r>
              <a:rPr lang="en-US" sz="2400" dirty="0">
                <a:solidFill>
                  <a:schemeClr val="tx1"/>
                </a:solidFill>
              </a:rPr>
              <a:t> the floor.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The alarm </a:t>
            </a:r>
            <a:r>
              <a:rPr lang="en-US" sz="2400" b="1" dirty="0">
                <a:solidFill>
                  <a:schemeClr val="accent3"/>
                </a:solidFill>
              </a:rPr>
              <a:t>went off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strike="sngStrike" dirty="0">
                <a:solidFill>
                  <a:schemeClr val="accent6"/>
                </a:solidFill>
              </a:rPr>
              <a:t>was going off</a:t>
            </a:r>
            <a:r>
              <a:rPr lang="en-US" sz="2400" dirty="0">
                <a:solidFill>
                  <a:schemeClr val="tx1"/>
                </a:solidFill>
              </a:rPr>
              <a:t> at 11.41.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Water </a:t>
            </a:r>
            <a:r>
              <a:rPr lang="en-US" sz="2400" strike="sngStrike" dirty="0">
                <a:solidFill>
                  <a:schemeClr val="accent6"/>
                </a:solidFill>
              </a:rPr>
              <a:t>ran</a:t>
            </a:r>
            <a:r>
              <a:rPr lang="en-US" sz="2400" dirty="0">
                <a:solidFill>
                  <a:schemeClr val="tx1"/>
                </a:solidFill>
              </a:rPr>
              <a:t> / </a:t>
            </a:r>
            <a:r>
              <a:rPr lang="en-US" sz="2400" b="1" dirty="0">
                <a:solidFill>
                  <a:schemeClr val="accent3"/>
                </a:solidFill>
              </a:rPr>
              <a:t>was running</a:t>
            </a:r>
            <a:r>
              <a:rPr lang="en-US" sz="2400" dirty="0">
                <a:solidFill>
                  <a:schemeClr val="tx1"/>
                </a:solidFill>
              </a:rPr>
              <a:t> behind the ceiling all night.</a:t>
            </a:r>
            <a:endParaRPr lang="en-US" sz="2400" dirty="0"/>
          </a:p>
        </p:txBody>
      </p:sp>
      <p:sp>
        <p:nvSpPr>
          <p:cNvPr id="9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Line 1: </a:t>
            </a:r>
            <a:r>
              <a:rPr lang="en-US" sz="1800" i="1" dirty="0">
                <a:solidFill>
                  <a:schemeClr val="tx1"/>
                </a:solidFill>
              </a:rPr>
              <a:t>was leaving</a:t>
            </a:r>
            <a:r>
              <a:rPr lang="en-US" sz="1800" dirty="0">
                <a:solidFill>
                  <a:schemeClr val="tx1"/>
                </a:solidFill>
              </a:rPr>
              <a:t> is possible in a story, but a report gives the </a:t>
            </a:r>
            <a:r>
              <a:rPr lang="en-US" sz="1800" b="1" dirty="0">
                <a:solidFill>
                  <a:schemeClr val="tx1"/>
                </a:solidFill>
              </a:rPr>
              <a:t>dated event</a:t>
            </a:r>
            <a:r>
              <a:rPr lang="en-US" sz="1800" dirty="0">
                <a:solidFill>
                  <a:schemeClr val="tx1"/>
                </a:solidFill>
              </a:rPr>
              <a:t>: </a:t>
            </a:r>
            <a:r>
              <a:rPr lang="en-US" sz="1800" i="1" dirty="0">
                <a:solidFill>
                  <a:schemeClr val="tx1"/>
                </a:solidFill>
              </a:rPr>
              <a:t>left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Line 2: </a:t>
            </a:r>
            <a:r>
              <a:rPr lang="en-US" sz="1800" i="1" dirty="0">
                <a:solidFill>
                  <a:schemeClr val="tx1"/>
                </a:solidFill>
              </a:rPr>
              <a:t>while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background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were packing</a:t>
            </a:r>
            <a:r>
              <a:rPr lang="en-US" sz="1800" dirty="0">
                <a:solidFill>
                  <a:schemeClr val="tx1"/>
                </a:solidFill>
              </a:rPr>
              <a:t>; </a:t>
            </a:r>
            <a:r>
              <a:rPr lang="en-US" sz="1800" i="1" dirty="0">
                <a:solidFill>
                  <a:schemeClr val="tx1"/>
                </a:solidFill>
              </a:rPr>
              <a:t>checked</a:t>
            </a:r>
            <a:r>
              <a:rPr lang="en-US" sz="1800" dirty="0">
                <a:solidFill>
                  <a:schemeClr val="tx1"/>
                </a:solidFill>
              </a:rPr>
              <a:t> and </a:t>
            </a:r>
            <a:r>
              <a:rPr lang="en-US" sz="1800" i="1" dirty="0">
                <a:solidFill>
                  <a:schemeClr val="tx1"/>
                </a:solidFill>
              </a:rPr>
              <a:t>was checking</a:t>
            </a:r>
            <a:r>
              <a:rPr lang="en-US" sz="1800" dirty="0">
                <a:solidFill>
                  <a:schemeClr val="tx1"/>
                </a:solidFill>
              </a:rPr>
              <a:t> are both correct.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Line 4: </a:t>
            </a:r>
            <a:r>
              <a:rPr lang="en-US" sz="1800" i="1" dirty="0">
                <a:solidFill>
                  <a:schemeClr val="tx1"/>
                </a:solidFill>
              </a:rPr>
              <a:t>ran all night</a:t>
            </a:r>
            <a:r>
              <a:rPr lang="en-US" sz="1800" dirty="0">
                <a:solidFill>
                  <a:schemeClr val="tx1"/>
                </a:solidFill>
              </a:rPr>
              <a:t> is not wrong English, but the report describes a </a:t>
            </a:r>
            <a:r>
              <a:rPr lang="en-US" sz="1800" b="1" dirty="0">
                <a:solidFill>
                  <a:schemeClr val="tx1"/>
                </a:solidFill>
              </a:rPr>
              <a:t>background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Join with when or while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B · Join these sentences with </a:t>
            </a:r>
            <a:r>
              <a:rPr lang="en-US" sz="1600" i="1" dirty="0">
                <a:solidFill>
                  <a:schemeClr val="accent5"/>
                </a:solidFill>
              </a:rPr>
              <a:t>when</a:t>
            </a:r>
            <a:r>
              <a:rPr lang="en-US" sz="1600" i="1" dirty="0">
                <a:solidFill>
                  <a:schemeClr val="accent5"/>
                </a:solidFill>
              </a:rPr>
              <a:t> or </a:t>
            </a:r>
            <a:r>
              <a:rPr lang="en-US" sz="1600" i="1" dirty="0">
                <a:solidFill>
                  <a:schemeClr val="accent5"/>
                </a:solidFill>
              </a:rPr>
              <a:t>while</a:t>
            </a:r>
            <a:r>
              <a:rPr lang="en-US" sz="1600" i="1" dirty="0">
                <a:solidFill>
                  <a:schemeClr val="accent5"/>
                </a:solidFill>
              </a:rPr>
              <a:t>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71780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cleaners arrived. + The water was still running.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Iris was photographing the ceiling. + She noticed the crack.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Join with when or while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B · Join these sentences with </a:t>
            </a:r>
            <a:r>
              <a:rPr lang="en-US" sz="1600" i="1" dirty="0">
                <a:solidFill>
                  <a:schemeClr val="accent5"/>
                </a:solidFill>
              </a:rPr>
              <a:t>when</a:t>
            </a:r>
            <a:r>
              <a:rPr lang="en-US" sz="1600" i="1" dirty="0">
                <a:solidFill>
                  <a:schemeClr val="accent5"/>
                </a:solidFill>
              </a:rPr>
              <a:t> or </a:t>
            </a:r>
            <a:r>
              <a:rPr lang="en-US" sz="1600" i="1" dirty="0">
                <a:solidFill>
                  <a:schemeClr val="accent5"/>
                </a:solidFill>
              </a:rPr>
              <a:t>while</a:t>
            </a:r>
            <a:r>
              <a:rPr lang="en-US" sz="1600" i="1" dirty="0">
                <a:solidFill>
                  <a:schemeClr val="accent5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71780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The cleaners arrived. + The water was still running. → </a:t>
            </a:r>
            <a:r>
              <a:rPr lang="en-US" sz="2400" b="1" dirty="0">
                <a:solidFill>
                  <a:schemeClr val="accent3"/>
                </a:solidFill>
              </a:rPr>
              <a:t>When the cleaners arrived, the water was still running.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Iris was photographing the ceiling. + She noticed the crack. → </a:t>
            </a:r>
            <a:r>
              <a:rPr lang="en-US" sz="2400" b="1" dirty="0">
                <a:solidFill>
                  <a:schemeClr val="accent3"/>
                </a:solidFill>
              </a:rPr>
              <a:t>While Iris was photographing the ceiling, she noticed the crack.</a:t>
            </a:r>
            <a:endParaRPr lang="en-US" sz="2400" dirty="0"/>
          </a:p>
        </p:txBody>
      </p:sp>
      <p:sp>
        <p:nvSpPr>
          <p:cNvPr id="8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Also correct: </a:t>
            </a:r>
            <a:r>
              <a:rPr lang="en-US" sz="1800" i="1" dirty="0">
                <a:solidFill>
                  <a:schemeClr val="tx1"/>
                </a:solidFill>
              </a:rPr>
              <a:t>The water was still running </a:t>
            </a:r>
            <a:r>
              <a:rPr lang="en-US" sz="1800" b="1" i="1" dirty="0">
                <a:solidFill>
                  <a:schemeClr val="tx1"/>
                </a:solidFill>
              </a:rPr>
              <a:t>when</a:t>
            </a:r>
            <a:r>
              <a:rPr lang="en-US" sz="1800" i="1" dirty="0">
                <a:solidFill>
                  <a:schemeClr val="tx1"/>
                </a:solidFill>
              </a:rPr>
              <a:t> the cleaners arrived.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Iris noticed the crack </a:t>
            </a:r>
            <a:r>
              <a:rPr lang="en-US" sz="1800" b="1" i="1" dirty="0">
                <a:solidFill>
                  <a:schemeClr val="tx1"/>
                </a:solidFill>
              </a:rPr>
              <a:t>while</a:t>
            </a:r>
            <a:r>
              <a:rPr lang="en-US" sz="1800" i="1" dirty="0">
                <a:solidFill>
                  <a:schemeClr val="tx1"/>
                </a:solidFill>
              </a:rPr>
              <a:t> she was photographing the ceiling.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Spelling: -ing form and past form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 · Write the -ing form and the past form.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926336"/>
            <a:ext cx="34061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run → </a:t>
            </a:r>
            <a:r>
              <a:rPr lang="en-US" sz="2400" dirty="0">
                <a:solidFill>
                  <a:schemeClr val="accent5"/>
                </a:solidFill>
              </a:rPr>
              <a:t>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plan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lie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</p:txBody>
      </p:sp>
      <p:sp>
        <p:nvSpPr>
          <p:cNvPr id="7" name="exercise"/>
          <p:cNvSpPr txBox="1"/>
          <p:nvPr/>
        </p:nvSpPr>
        <p:spPr>
          <a:xfrm>
            <a:off x="4320540" y="1926336"/>
            <a:ext cx="34061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travel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notice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carry → </a:t>
            </a:r>
            <a:r>
              <a:rPr lang="en-US" sz="2400" dirty="0">
                <a:solidFill>
                  <a:schemeClr val="accent5"/>
                </a:solidFill>
              </a:rPr>
              <a:t>…………………………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Spelling: -ing form and past form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DRY RUN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178040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 · Write the -ing form and the past form.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1926336"/>
            <a:ext cx="34061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run → </a:t>
            </a:r>
            <a:r>
              <a:rPr lang="en-US" sz="2400" b="1" dirty="0">
                <a:solidFill>
                  <a:schemeClr val="accent3"/>
                </a:solidFill>
              </a:rPr>
              <a:t>running / ran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plan → </a:t>
            </a:r>
            <a:r>
              <a:rPr lang="en-US" sz="2400" b="1" dirty="0">
                <a:solidFill>
                  <a:schemeClr val="accent3"/>
                </a:solidFill>
              </a:rPr>
              <a:t>planning / planned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lie → </a:t>
            </a:r>
            <a:r>
              <a:rPr lang="en-US" sz="2400" b="1" dirty="0">
                <a:solidFill>
                  <a:schemeClr val="accent3"/>
                </a:solidFill>
              </a:rPr>
              <a:t>lying / lied (mentir) — lay (être allongé)</a:t>
            </a:r>
            <a:endParaRPr lang="en-US" sz="2400" dirty="0"/>
          </a:p>
        </p:txBody>
      </p:sp>
      <p:sp>
        <p:nvSpPr>
          <p:cNvPr id="8" name="exercise"/>
          <p:cNvSpPr txBox="1"/>
          <p:nvPr/>
        </p:nvSpPr>
        <p:spPr>
          <a:xfrm>
            <a:off x="4320540" y="1926336"/>
            <a:ext cx="3406140" cy="436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travel → </a:t>
            </a:r>
            <a:r>
              <a:rPr lang="en-US" sz="2400" b="1" dirty="0">
                <a:solidFill>
                  <a:schemeClr val="accent3"/>
                </a:solidFill>
              </a:rPr>
              <a:t>travelling / travelled (UK)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notice → </a:t>
            </a:r>
            <a:r>
              <a:rPr lang="en-US" sz="2400" b="1" dirty="0">
                <a:solidFill>
                  <a:schemeClr val="accent3"/>
                </a:solidFill>
              </a:rPr>
              <a:t>noticing / noticed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carry → </a:t>
            </a:r>
            <a:r>
              <a:rPr lang="en-US" sz="2400" b="1" dirty="0">
                <a:solidFill>
                  <a:schemeClr val="accent3"/>
                </a:solidFill>
              </a:rPr>
              <a:t>carrying / carried</a:t>
            </a:r>
            <a:endParaRPr lang="en-US" sz="2400" dirty="0"/>
          </a:p>
        </p:txBody>
      </p:sp>
      <p:sp>
        <p:nvSpPr>
          <p:cNvPr id="9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 spelling: </a:t>
            </a:r>
            <a:r>
              <a:rPr lang="en-US" sz="1800" i="1" dirty="0">
                <a:solidFill>
                  <a:schemeClr val="tx1"/>
                </a:solidFill>
              </a:rPr>
              <a:t>traveling, traveled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lie</a:t>
            </a:r>
            <a:r>
              <a:rPr lang="en-US" sz="1800" dirty="0">
                <a:solidFill>
                  <a:schemeClr val="tx1"/>
                </a:solidFill>
              </a:rPr>
              <a:t> (mentir) → lied · </a:t>
            </a:r>
            <a:r>
              <a:rPr lang="en-US" sz="1800" i="1" dirty="0">
                <a:solidFill>
                  <a:schemeClr val="tx1"/>
                </a:solidFill>
              </a:rPr>
              <a:t>lie</a:t>
            </a:r>
            <a:r>
              <a:rPr lang="en-US" sz="1800" dirty="0">
                <a:solidFill>
                  <a:schemeClr val="tx1"/>
                </a:solidFill>
              </a:rPr>
              <a:t> (être allongé) → lay, lain.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Four spelling rules for -ing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2567178" cy="3883152"/>
          </a:xfrm>
          <a:prstGeom prst="roundRect">
            <a:avLst>
              <a:gd name="adj" fmla="val 356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256717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2567178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2201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DROP THE -E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2201418" cy="346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notice → noticing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68956"/>
            <a:ext cx="2201418" cy="2685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leave → leaving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dirty="0">
                <a:solidFill>
                  <a:schemeClr val="tx1"/>
                </a:solidFill>
              </a:rPr>
              <a:t>noticeing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90138" y="1481328"/>
            <a:ext cx="2567178" cy="3883152"/>
          </a:xfrm>
          <a:prstGeom prst="roundRect">
            <a:avLst>
              <a:gd name="adj" fmla="val 356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90138" y="1481328"/>
            <a:ext cx="256717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3390138" y="1801368"/>
            <a:ext cx="2567178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73018" y="1481328"/>
            <a:ext cx="2201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DOUBLE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73018" y="2084832"/>
            <a:ext cx="2201418" cy="346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run → running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573018" y="2568956"/>
            <a:ext cx="2201418" cy="2685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short stressed vowel + one consonant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plan → planning · stop → stopping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31636" y="1481328"/>
            <a:ext cx="2567178" cy="3883152"/>
          </a:xfrm>
          <a:prstGeom prst="roundRect">
            <a:avLst>
              <a:gd name="adj" fmla="val 356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31636" y="1481328"/>
            <a:ext cx="2567178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/>
        </p:spPr>
      </p:sp>
      <p:sp>
        <p:nvSpPr>
          <p:cNvPr id="19" name="Shape 17"/>
          <p:cNvSpPr/>
          <p:nvPr/>
        </p:nvSpPr>
        <p:spPr>
          <a:xfrm>
            <a:off x="6231636" y="1801368"/>
            <a:ext cx="2567178" cy="1828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1481328"/>
            <a:ext cx="2201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IE → Y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14516" y="2084832"/>
            <a:ext cx="2201418" cy="346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lie → lying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2568956"/>
            <a:ext cx="2201418" cy="2685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die → dying · tie → tying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073134" y="1481328"/>
            <a:ext cx="2567178" cy="3883152"/>
          </a:xfrm>
          <a:prstGeom prst="roundRect">
            <a:avLst>
              <a:gd name="adj" fmla="val 356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73134" y="1481328"/>
            <a:ext cx="256717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25" name="Shape 23"/>
          <p:cNvSpPr/>
          <p:nvPr/>
        </p:nvSpPr>
        <p:spPr>
          <a:xfrm>
            <a:off x="9073134" y="1801368"/>
            <a:ext cx="2567178" cy="182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56014" y="1481328"/>
            <a:ext cx="22014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Y STAYS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256014" y="2084832"/>
            <a:ext cx="2201418" cy="346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carry → carrying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256014" y="2568956"/>
            <a:ext cx="2201418" cy="2685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but </a:t>
            </a:r>
            <a:r>
              <a:rPr lang="en-US" sz="2000" b="1" dirty="0">
                <a:solidFill>
                  <a:schemeClr val="tx1"/>
                </a:solidFill>
              </a:rPr>
              <a:t>carried</a:t>
            </a:r>
            <a:r>
              <a:rPr lang="en-US" sz="2000" dirty="0">
                <a:solidFill>
                  <a:schemeClr val="tx1"/>
                </a:solidFill>
              </a:rPr>
              <a:t> in the past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study → studying / studied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548640" y="5565648"/>
            <a:ext cx="11091672" cy="725424"/>
          </a:xfrm>
          <a:prstGeom prst="roundRect">
            <a:avLst>
              <a:gd name="adj" fmla="val 1008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>
                <a:alpha val="70000"/>
              </a:schemeClr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63768"/>
            <a:ext cx="329184" cy="329184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234440" y="5602224"/>
            <a:ext cx="10287000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Astuce — </a:t>
            </a:r>
            <a:r>
              <a:rPr lang="en-US" sz="1700" dirty="0">
                <a:solidFill>
                  <a:schemeClr val="tx1"/>
                </a:solidFill>
              </a:rPr>
              <a:t>UK doubles a final </a:t>
            </a:r>
            <a:r>
              <a:rPr lang="en-US" sz="1700" b="1" dirty="0">
                <a:solidFill>
                  <a:schemeClr val="tx1"/>
                </a:solidFill>
              </a:rPr>
              <a:t>-l</a:t>
            </a:r>
            <a:r>
              <a:rPr lang="en-US" sz="1700" dirty="0">
                <a:solidFill>
                  <a:schemeClr val="tx1"/>
                </a:solidFill>
              </a:rPr>
              <a:t> after a short vowel: travel → trave</a:t>
            </a:r>
            <a:r>
              <a:rPr lang="en-US" sz="1700" b="1" dirty="0">
                <a:solidFill>
                  <a:schemeClr val="tx1"/>
                </a:solidFill>
              </a:rPr>
              <a:t>ll</a:t>
            </a:r>
            <a:r>
              <a:rPr lang="en-US" sz="1700" dirty="0">
                <a:solidFill>
                  <a:schemeClr val="tx1"/>
                </a:solidFill>
              </a:rPr>
              <a:t>ing, cancel → cance</a:t>
            </a:r>
            <a:r>
              <a:rPr lang="en-US" sz="1700" b="1" dirty="0">
                <a:solidFill>
                  <a:schemeClr val="tx1"/>
                </a:solidFill>
              </a:rPr>
              <a:t>ll</a:t>
            </a:r>
            <a:r>
              <a:rPr lang="en-US" sz="1700" dirty="0">
                <a:solidFill>
                  <a:schemeClr val="tx1"/>
                </a:solidFill>
              </a:rPr>
              <a:t>ed. US does not: traveling, canceled. Choose one and stay consistent.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alibi game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SPEAKING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Two “suspects” must prove where they were yesterday between </a:t>
            </a:r>
            <a:r>
              <a:rPr lang="en-US" sz="1800" b="1" dirty="0">
                <a:solidFill>
                  <a:schemeClr val="tx1"/>
                </a:solidFill>
              </a:rPr>
              <a:t>7 and 11 p.m.</a:t>
            </a:r>
            <a:r>
              <a:rPr lang="en-US" sz="1800" dirty="0">
                <a:solidFill>
                  <a:schemeClr val="tx1"/>
                </a:solidFill>
              </a:rPr>
              <a:t> The class looks for contradictions.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993392"/>
            <a:ext cx="2553462" cy="4297680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96187" y="2176272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96187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907792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Prepare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685032"/>
            <a:ext cx="227914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Pairs, 3 minutes.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Agree on your story: where, what, who, </a:t>
            </a:r>
            <a:r>
              <a:rPr lang="en-US" sz="1700" b="1" dirty="0">
                <a:solidFill>
                  <a:schemeClr val="tx1"/>
                </a:solidFill>
              </a:rPr>
              <a:t>when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78" y="2395728"/>
            <a:ext cx="219456" cy="21945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394710" y="1993392"/>
            <a:ext cx="2553462" cy="4297680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42257" y="2176272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342257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3504438" y="2907792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Questioned alone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3531870" y="3685032"/>
            <a:ext cx="227914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Suspect A goes out. The class questions B (2 min), then A.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What were you doing at 9 p.m.? What happened when…?</a:t>
            </a:r>
            <a:endParaRPr lang="en-US" sz="1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4748" y="2395728"/>
            <a:ext cx="219456" cy="219456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240780" y="1993392"/>
            <a:ext cx="2553462" cy="4297680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188327" y="2176272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7188327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6350508" y="2907792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Compare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377940" y="3685032"/>
            <a:ext cx="227914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class lists the </a:t>
            </a:r>
            <a:r>
              <a:rPr lang="en-US" sz="1700" b="1" dirty="0">
                <a:solidFill>
                  <a:schemeClr val="tx1"/>
                </a:solidFill>
              </a:rPr>
              <a:t>contradictions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Two contradictions = the alibi is broken.</a:t>
            </a:r>
            <a:endParaRPr lang="en-US" sz="17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0818" y="2395728"/>
            <a:ext cx="219456" cy="21945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086850" y="1993392"/>
            <a:ext cx="2553462" cy="4297680"/>
          </a:xfrm>
          <a:prstGeom prst="roundRect">
            <a:avLst>
              <a:gd name="adj" fmla="val 3581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034397" y="2176272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10034397" y="21762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196578" y="2907792"/>
            <a:ext cx="233400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Language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9224010" y="3685032"/>
            <a:ext cx="227914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I was watching…</a:t>
            </a:r>
            <a:r>
              <a:rPr lang="en-US" sz="1700" dirty="0">
                <a:solidFill>
                  <a:schemeClr val="tx1"/>
                </a:solidFill>
              </a:rPr>
              <a:t> (bar)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Then we left at…</a:t>
            </a:r>
            <a:r>
              <a:rPr lang="en-US" sz="1700" dirty="0">
                <a:solidFill>
                  <a:schemeClr val="tx1"/>
                </a:solidFill>
              </a:rPr>
              <a:t> (dot)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when / while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Samuel stands up behind the rack.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“There is something else,”</a:t>
            </a: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 says.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“The log does not say what you think it says.”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Copy the corrected timeline (p. 9).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four spelling rules</a:t>
            </a:r>
            <a:r>
              <a:rPr lang="en-US" sz="1700" dirty="0">
                <a:solidFill>
                  <a:schemeClr val="tx1"/>
                </a:solidFill>
              </a:rPr>
              <a:t> for -ing.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Write 5 sentences: what </a:t>
            </a:r>
            <a:r>
              <a:rPr lang="en-US" sz="1700" b="1" dirty="0">
                <a:solidFill>
                  <a:schemeClr val="tx1"/>
                </a:solidFill>
              </a:rPr>
              <a:t>were</a:t>
            </a:r>
            <a:r>
              <a:rPr lang="en-US" sz="1700" dirty="0">
                <a:solidFill>
                  <a:schemeClr val="tx1"/>
                </a:solidFill>
              </a:rPr>
              <a:t> you </a:t>
            </a:r>
            <a:r>
              <a:rPr lang="en-US" sz="1700" b="1" dirty="0">
                <a:solidFill>
                  <a:schemeClr val="tx1"/>
                </a:solidFill>
              </a:rPr>
              <a:t>doing</a:t>
            </a:r>
            <a:r>
              <a:rPr lang="en-US" sz="1700" dirty="0">
                <a:solidFill>
                  <a:schemeClr val="tx1"/>
                </a:solidFill>
              </a:rPr>
              <a:t> yesterday at 8 p.m., 10 p.m. and 7 a.m.?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One sentence with </a:t>
            </a:r>
            <a:r>
              <a:rPr lang="en-US" sz="1600" b="1" dirty="0">
                <a:solidFill>
                  <a:schemeClr val="bg1"/>
                </a:solidFill>
              </a:rPr>
              <a:t>while</a:t>
            </a:r>
            <a:r>
              <a:rPr lang="en-US" sz="1600" dirty="0">
                <a:solidFill>
                  <a:schemeClr val="bg1"/>
                </a:solidFill>
              </a:rPr>
              <a:t>, one with </a:t>
            </a:r>
            <a:r>
              <a:rPr lang="en-US" sz="1600" b="1" dirty="0">
                <a:solidFill>
                  <a:schemeClr val="bg1"/>
                </a:solidFill>
              </a:rPr>
              <a:t>when</a:t>
            </a:r>
            <a:r>
              <a:rPr lang="en-US" sz="1600" dirty="0">
                <a:solidFill>
                  <a:schemeClr val="bg1"/>
                </a:solidFill>
              </a:rPr>
              <a:t>, about the night at Atlas House.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05 — Build the timeline Mark asked for</dc:title>
  <dc:subject>Case File 01 — The night nobody heard</dc:subject>
  <dc:creator>A. Jouniaux</dc:creator>
  <cp:lastModifiedBy>A. Jouniaux</cp:lastModifiedBy>
  <cp:revision>1</cp:revision>
  <dcterms:created xsi:type="dcterms:W3CDTF">2026-10-03T19:30:04Z</dcterms:created>
  <dcterms:modified xsi:type="dcterms:W3CDTF">2026-10-03T19:30:04Z</dcterms:modified>
</cp:coreProperties>
</file>