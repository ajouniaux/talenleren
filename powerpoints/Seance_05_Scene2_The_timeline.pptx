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e469337-320b-6e1b-c07f-373430e0b0a8}">
          <p14:sldIdLst>
            <p14:sldId id="256"/>
          </p14:sldIdLst>
        </p14:section>
        <p14:section name="Warm-up" id="{fe41587a-ffcf-5687-9dc3-0d4601f2d29b}">
          <p14:sldIdLst>
            <p14:sldId id="257"/>
            <p14:sldId id="258"/>
          </p14:sldIdLst>
        </p14:section>
        <p14:section name="The whiteboard" id="{159f238b-c465-4573-5755-f5423a0703a5}">
          <p14:sldIdLst>
            <p14:sldId id="259"/>
            <p14:sldId id="260"/>
            <p14:sldId id="261"/>
          </p14:sldIdLst>
        </p14:section>
        <p14:section name="When or while?" id="{b2236d7f-18ec-f33e-72d2-8ed4a1b298c6}">
          <p14:sldIdLst>
            <p14:sldId id="262"/>
            <p14:sldId id="263"/>
          </p14:sldIdLst>
        </p14:section>
        <p14:section name="The timeline" id="{b93c6f08-0edb-4dad-2a60-740ccb3106f1}">
          <p14:sldIdLst>
            <p14:sldId id="264"/>
            <p14:sldId id="265"/>
            <p14:sldId id="266"/>
            <p14:sldId id="267"/>
            <p14:sldId id="268"/>
          </p14:sldIdLst>
        </p14:section>
        <p14:section name="Dry run" id="{84ccbf6d-de9d-b807-cdd7-cae1108488c1}">
          <p14:sldIdLst>
            <p14:sldId id="269"/>
            <p14:sldId id="270"/>
            <p14:sldId id="271"/>
            <p14:sldId id="272"/>
            <p14:sldId id="273"/>
            <p14:sldId id="274"/>
            <p14:sldId id="275"/>
            <p14:sldId id="276"/>
          </p14:sldIdLst>
        </p14:section>
        <p14:section name="Speaking" id="{999f258f-02c7-2773-a34a-3313761c081b}">
          <p14:sldIdLst>
            <p14:sldId id="277"/>
            <p14:sldId id="278"/>
            <p14:sldId id="279"/>
            <p14:sldId id="280"/>
            <p14:sldId id="281"/>
          </p14:sldIdLst>
        </p14:section>
        <p14:section name="Clôture" id="{a49c7103-9696-3d29-a5db-c42510bd01d9}">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5 — Scène 2 (08.20), livret p. 9–10 : la chronologie (p. 9) et le Dry run (p. 10).
Objectifs : raconter la nuit dans l’ordre (connecteurs), when / while, past simple vs past continuous à l’écrit, orthographe -ing / -ed, interroger et défendre un récit à l’oral.
Déroulé indicatif (90 min) : warm-up (5') · scène + mots de la chronologie (10') · when / while + Sentence tennis (15') · chronologie p. 9 + frise (20') · jeu d’écoute Objection! (10') · Dry run A–C + arbre d’orthographe (15') · jeu oral : alibi ou Draw my evening (15').
Les heures de ce texte (8.15, 11.40) seront contredites par le journal d’alarme en scène 3 : ne pas les corriger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les bulles. Réponse attendue : Samuel (alarm log) et Iris (sign-out sheet) ont des documents ; Mark et vous n’avez que des souvenirs ou des notes. Lien avec la séance 1 : remembered time ≠ verifiable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Branches intérieures = mots du livret ; branches pointillées = mots pour aller plus loin. Faire produire une phrase par branche : « The sign-out sheet is a document. » / « At exactly 7.55 = a verifiable time.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raconter la nuit en cinq phrases avec les cinq connecteurs, livre fermé, en binôme. Rappel : until = jusqu’à (ça continue) ≠ by = au plus tard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 while ; dot → when. La virgule n’apparaît que si la subordonnée vient en tête.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avec un élève avant de lancer. Circuler et noter les erreurs de temps les plus fréquentes pour un retour collectif de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Travail individuel 10 min, puis comparaison en binôme.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heures (8.15, 11.40) sont celles « de la salle ». L’Exhibit A (scène 3) donnera 19:58 et 23:41 : c’est tout l’enjeu de la scène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AVEC SIX ERREURS (lire deux fois, la seconde lentement) :
« At 7.55 p.m. the contractor’s team was still working on the THIRD floor. They left at 8.50 and locked the door behind them. While they were packing their tools, the site manager carried out his last inspection. He NOTICED A SMALL LEAK. Later, water began to run behind the ceiling. At 11.40 p.m., while everybody was sleeping, the FIRE alarm went off. THE SECURITY GUARD HEARD IT. The cleaners found the water at 7.50, when they opened the room. »
Erreurs : third (second) · 8.50 (8.15) · noticed a small leak (did not notice anything) · fire (temperature) · the security guard heard it (nobody heard it) · 7.50 (6.50).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exactly the three errors a hurried reader spots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Nuancer : la consigne parle de forme « impossible » ; en anglais courant, « was leaving » et « ran » ne sont pas agrammaticaux, mais inadaptés à un rapport factuel.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passer chaque verbe du Dry run C dans l’arbre. Visit et open : accent sur la première syllabe → pas de doublement. UK : travel → travelling ; US : traveling.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de verbes et réponses :
stop → stopping / stopped · plan → planning / planned · lie → lying / lied · die → dying / died · tie → tying / tied · carry → carrying / carried · study → studying / studied · notice → noticing / noticed · arrive → arriving / arrived · open → opening / opened · happen → happening / happened · visit → visiting / visited (pas de doublement) · prefer → preferring / preferred · admit → admitting / admitted · occur → occurring / occurred · travel → travelling / travelled (UK) · cancel → cancelling / cancelled (UK) · panic → panicking / panicked (piège : ck) · begin → beginning / began (irrégulier).
Compétence utile au téléphone : épeler un nom, une adresse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orale : réemploi du past continuous / prétérit en interaction, et préfiguration de la scène 3 (comparer deux récits). Faire jouer 2 ou 3 paires de suspects.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d’écoute active : B doit transformer un récit oral en schéma barre / point. Exemple de dessin attendu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Lina est une élève fictive. Faire reformuler l’exemple avec when et while : « While Lina was watching a series, the power went off.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Distinguer set off (la cause : la chaleur déclenche l’alarme) et go off (ce que fait l’alarme : elle se déclenche). Prononciation : the alarm went OFF — l’accent tombe sur la particule.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5669280" cy="160020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85800"/>
            <a:ext cx="2236470" cy="365760"/>
          </a:xfrm>
          <a:prstGeom prst="roundRect">
            <a:avLst>
              <a:gd name="adj" fmla="val 12500"/>
            </a:avLst>
          </a:prstGeom>
          <a:solidFill>
            <a:srgbClr val="C0752A"/>
          </a:solidFill>
          <a:ln/>
        </p:spPr>
        <p:txBody>
          <a:bodyPr wrap="square" lIns="0" tIns="0" rIns="0" bIns="0" rtlCol="0" anchor="ctr"/>
          <a:lstStyle/>
          <a:p>
            <a:pPr algn="ctr" indent="0" marL="0">
              <a:buNone/>
            </a:pPr>
            <a:r>
              <a:rPr lang="en-US" sz="1300" b="1" spc="100" kern="0" dirty="0">
                <a:solidFill>
                  <a:schemeClr val="bg1"/>
                </a:solidFill>
              </a:rPr>
              <a:t>SÉANCE 05 / 19</a:t>
            </a:r>
            <a:endParaRPr lang="en-US" sz="1300" dirty="0"/>
          </a:p>
        </p:txBody>
      </p:sp>
      <p:sp>
        <p:nvSpPr>
          <p:cNvPr id="3" name="Shape 1"/>
          <p:cNvSpPr/>
          <p:nvPr/>
        </p:nvSpPr>
        <p:spPr>
          <a:xfrm>
            <a:off x="548640" y="1298448"/>
            <a:ext cx="1737360" cy="914400"/>
          </a:xfrm>
          <a:prstGeom prst="roundRect">
            <a:avLst>
              <a:gd name="adj" fmla="val 8000"/>
            </a:avLst>
          </a:prstGeom>
          <a:solidFill>
            <a:srgbClr val="1F3864"/>
          </a:solidFill>
          <a:ln/>
        </p:spPr>
      </p:sp>
      <p:sp>
        <p:nvSpPr>
          <p:cNvPr id="4" name="Text 2"/>
          <p:cNvSpPr txBox="1"/>
          <p:nvPr/>
        </p:nvSpPr>
        <p:spPr>
          <a:xfrm>
            <a:off x="548640" y="1344168"/>
            <a:ext cx="1737360" cy="822960"/>
          </a:xfrm>
          <a:prstGeom prst="rect">
            <a:avLst/>
          </a:prstGeom>
          <a:noFill/>
          <a:ln/>
        </p:spPr>
        <p:txBody>
          <a:bodyPr wrap="square" lIns="0" tIns="0" rIns="0" bIns="0" rtlCol="0" anchor="ctr"/>
          <a:lstStyle/>
          <a:p>
            <a:pPr algn="ctr" indent="0" marL="0">
              <a:buNone/>
            </a:pPr>
            <a:r>
              <a:rPr lang="en-US" sz="1100" b="1" spc="300" kern="0" dirty="0">
                <a:solidFill>
                  <a:schemeClr val="bg2"/>
                </a:solidFill>
              </a:rPr>
              <a:t>SCENE 2</a:t>
            </a:r>
            <a:endParaRPr lang="en-US" sz="1100" dirty="0"/>
          </a:p>
          <a:p>
            <a:pPr algn="ctr" indent="0" marL="0">
              <a:buNone/>
            </a:pPr>
            <a:r>
              <a:rPr lang="en-US" sz="2800" b="1" dirty="0">
                <a:solidFill>
                  <a:schemeClr val="bg1"/>
                </a:solidFill>
                <a:latin typeface="+mj-lt" pitchFamily="34" charset="0"/>
                <a:ea typeface="+mj-lt" pitchFamily="34" charset="-122"/>
                <a:cs typeface="+mj-lt" pitchFamily="34" charset="-120"/>
              </a:rPr>
              <a:t>08.20</a:t>
            </a:r>
            <a:endParaRPr lang="en-US" sz="1100" dirty="0"/>
          </a:p>
        </p:txBody>
      </p:sp>
      <p:sp>
        <p:nvSpPr>
          <p:cNvPr id="5" name="Text 0"/>
          <p:cNvSpPr/>
          <p:nvPr>
            <p:ph idx="100" type="title" hasCustomPrompt="1"/>
          </p:nvPr>
        </p:nvSpPr>
        <p:spPr>
          <a:xfrm>
            <a:off x="548640" y="2514600"/>
            <a:ext cx="5669280" cy="1600200"/>
          </a:xfrm>
          <a:prstGeom prst="rect">
            <a:avLst/>
          </a:prstGeom>
          <a:noFill/>
          <a:ln/>
        </p:spPr>
        <p:txBody>
          <a:bodyPr wrap="square" lIns="0" tIns="0" rIns="0" bIns="0" rtlCol="0" anchor="t"/>
          <a:lstStyle/>
          <a:p>
            <a:pPr algn="l" indent="0" marL="0">
              <a:buNone/>
            </a:pPr>
            <a:r>
              <a:rPr lang="en-US" sz="4000" b="1" dirty="0">
                <a:solidFill>
                  <a:schemeClr val="tx2"/>
                </a:solidFill>
              </a:rPr>
              <a:t>Build the timeline</a:t>
            </a:r>
            <a:endParaRPr lang="en-US" sz="4000" dirty="0"/>
          </a:p>
          <a:p>
            <a:pPr algn="l" indent="0" marL="0">
              <a:buNone/>
            </a:pPr>
            <a:r>
              <a:rPr lang="en-US" sz="4000" b="1" dirty="0">
                <a:solidFill>
                  <a:schemeClr val="tx2"/>
                </a:solidFill>
              </a:rPr>
              <a:t>Mark asked for</a:t>
            </a:r>
            <a:endParaRPr lang="en-US" sz="4000" dirty="0"/>
          </a:p>
        </p:txBody>
      </p:sp>
      <p:sp>
        <p:nvSpPr>
          <p:cNvPr id="6" name="Text 4"/>
          <p:cNvSpPr txBox="1"/>
          <p:nvPr/>
        </p:nvSpPr>
        <p:spPr>
          <a:xfrm>
            <a:off x="548640" y="4206240"/>
            <a:ext cx="5669280" cy="822960"/>
          </a:xfrm>
          <a:prstGeom prst="rect">
            <a:avLst/>
          </a:prstGeom>
          <a:noFill/>
          <a:ln/>
        </p:spPr>
        <p:txBody>
          <a:bodyPr wrap="square" lIns="0" tIns="0" rIns="0" bIns="0" rtlCol="0" anchor="t"/>
          <a:lstStyle/>
          <a:p>
            <a:pPr indent="0" marL="0">
              <a:buNone/>
            </a:pPr>
            <a:r>
              <a:rPr lang="en-US" sz="2000" i="1" dirty="0">
                <a:solidFill>
                  <a:schemeClr val="accent5"/>
                </a:solidFill>
              </a:rPr>
              <a:t>It is 8.20. Forty minutes and an empty whiteboard.</a:t>
            </a:r>
            <a:endParaRPr lang="en-US" sz="2000" dirty="0"/>
          </a:p>
        </p:txBody>
      </p:sp>
      <p:sp>
        <p:nvSpPr>
          <p:cNvPr id="7" name="Text 5"/>
          <p:cNvSpPr txBox="1"/>
          <p:nvPr/>
        </p:nvSpPr>
        <p:spPr>
          <a:xfrm>
            <a:off x="548640" y="5257800"/>
            <a:ext cx="5669280" cy="685800"/>
          </a:xfrm>
          <a:prstGeom prst="rect">
            <a:avLst/>
          </a:prstGeom>
          <a:noFill/>
          <a:ln/>
        </p:spPr>
        <p:txBody>
          <a:bodyPr wrap="square" lIns="0" tIns="0" rIns="0" bIns="0" rtlCol="0" anchor="t"/>
          <a:lstStyle/>
          <a:p>
            <a:pPr indent="0" marL="0">
              <a:buNone/>
            </a:pPr>
            <a:r>
              <a:rPr lang="en-US" sz="1600" b="1" dirty="0">
                <a:solidFill>
                  <a:schemeClr val="tx2"/>
                </a:solidFill>
              </a:rPr>
              <a:t>Case File 01 — The night nobody heard</a:t>
            </a:r>
            <a:endParaRPr lang="en-US" sz="1600" dirty="0"/>
          </a:p>
          <a:p>
            <a:pPr indent="0" marL="0">
              <a:buNone/>
            </a:pPr>
            <a:r>
              <a:rPr lang="en-US" sz="1400" i="1" dirty="0">
                <a:solidFill>
                  <a:schemeClr val="accent5"/>
                </a:solidFill>
              </a:rPr>
              <a:t>Livret p. 9–10</a:t>
            </a:r>
            <a:endParaRPr lang="en-US" sz="1600" dirty="0"/>
          </a:p>
        </p:txBody>
      </p:sp>
      <p:pic>
        <p:nvPicPr>
          <p:cNvPr id="8" name="illustration" descr="Scene illustration from the case file">    </p:cNvPr>
          <p:cNvPicPr>
            <a:picLocks noChangeAspect="1"/>
          </p:cNvPicPr>
          <p:nvPr/>
        </p:nvPicPr>
        <p:blipFill>
          <a:blip r:embed="rId1"/>
          <a:stretch>
            <a:fillRect/>
          </a:stretch>
        </p:blipFill>
        <p:spPr>
          <a:xfrm>
            <a:off x="6629400" y="1851208"/>
            <a:ext cx="5010912" cy="3338464"/>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Warm-up: bar or dot?</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4</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Bar (in progress) → was / were + -ing. Dot (event) → past simple.</a:t>
            </a:r>
            <a:endParaRPr lang="en-US" sz="1600" dirty="0"/>
          </a:p>
        </p:txBody>
      </p:sp>
      <p:sp>
        <p:nvSpPr>
          <p:cNvPr id="6"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Samuel </a:t>
            </a:r>
            <a:r>
              <a:rPr lang="en-US" sz="2600" dirty="0">
                <a:solidFill>
                  <a:schemeClr val="accent5"/>
                </a:solidFill>
              </a:rPr>
              <a:t>…………………</a:t>
            </a:r>
            <a:r>
              <a:rPr lang="en-US" sz="2600" dirty="0">
                <a:solidFill>
                  <a:schemeClr val="tx1"/>
                </a:solidFill>
              </a:rPr>
              <a:t> (check) the rack when Mark </a:t>
            </a:r>
            <a:r>
              <a:rPr lang="en-US" sz="2600" dirty="0">
                <a:solidFill>
                  <a:schemeClr val="accent5"/>
                </a:solidFill>
              </a:rPr>
              <a:t>………………</a:t>
            </a:r>
            <a:r>
              <a:rPr lang="en-US" sz="2600" dirty="0">
                <a:solidFill>
                  <a:schemeClr val="tx1"/>
                </a:solidFill>
              </a:rPr>
              <a:t> (call).</a:t>
            </a:r>
            <a:endParaRPr lang="en-US" sz="2600" dirty="0"/>
          </a:p>
          <a:p>
            <a:pPr indent="0" marL="0">
              <a:spcAft>
                <a:spcPts val="1400"/>
              </a:spcAft>
              <a:buNone/>
            </a:pPr>
            <a:r>
              <a:rPr lang="en-US" sz="2600" b="1" dirty="0">
                <a:solidFill>
                  <a:schemeClr val="tx2"/>
                </a:solidFill>
              </a:rPr>
              <a:t>2.  </a:t>
            </a:r>
            <a:r>
              <a:rPr lang="en-US" sz="2600" dirty="0">
                <a:solidFill>
                  <a:schemeClr val="tx1"/>
                </a:solidFill>
              </a:rPr>
              <a:t>At 23.41 water </a:t>
            </a:r>
            <a:r>
              <a:rPr lang="en-US" sz="2600" dirty="0">
                <a:solidFill>
                  <a:schemeClr val="accent5"/>
                </a:solidFill>
              </a:rPr>
              <a:t>…………………</a:t>
            </a:r>
            <a:r>
              <a:rPr lang="en-US" sz="2600" dirty="0">
                <a:solidFill>
                  <a:schemeClr val="tx1"/>
                </a:solidFill>
              </a:rPr>
              <a:t> (run) behind the ceiling.</a:t>
            </a:r>
            <a:endParaRPr lang="en-US" sz="2600" dirty="0"/>
          </a:p>
          <a:p>
            <a:pPr indent="0" marL="0">
              <a:spcAft>
                <a:spcPts val="1400"/>
              </a:spcAft>
              <a:buNone/>
            </a:pPr>
            <a:r>
              <a:rPr lang="en-US" sz="2600" b="1" dirty="0">
                <a:solidFill>
                  <a:schemeClr val="tx2"/>
                </a:solidFill>
              </a:rPr>
              <a:t>3.  </a:t>
            </a:r>
            <a:r>
              <a:rPr lang="en-US" sz="2600" dirty="0">
                <a:solidFill>
                  <a:schemeClr val="tx1"/>
                </a:solidFill>
              </a:rPr>
              <a:t>Nobody </a:t>
            </a:r>
            <a:r>
              <a:rPr lang="en-US" sz="2600" dirty="0">
                <a:solidFill>
                  <a:schemeClr val="accent5"/>
                </a:solidFill>
              </a:rPr>
              <a:t>………………</a:t>
            </a:r>
            <a:r>
              <a:rPr lang="en-US" sz="2600" dirty="0">
                <a:solidFill>
                  <a:schemeClr val="tx1"/>
                </a:solidFill>
              </a:rPr>
              <a:t> (know) about the leak.</a:t>
            </a:r>
            <a:endParaRPr lang="en-US" sz="2600" dirty="0"/>
          </a:p>
          <a:p>
            <a:pPr indent="0" marL="0">
              <a:spcAft>
                <a:spcPts val="1400"/>
              </a:spcAft>
              <a:buNone/>
            </a:pPr>
            <a:r>
              <a:rPr lang="en-US" sz="2600" b="1" dirty="0">
                <a:solidFill>
                  <a:schemeClr val="tx2"/>
                </a:solidFill>
              </a:rPr>
              <a:t>4.  </a:t>
            </a:r>
            <a:r>
              <a:rPr lang="en-US" sz="2600" dirty="0">
                <a:solidFill>
                  <a:schemeClr val="tx1"/>
                </a:solidFill>
              </a:rPr>
              <a:t>The cleaners </a:t>
            </a:r>
            <a:r>
              <a:rPr lang="en-US" sz="2600" dirty="0">
                <a:solidFill>
                  <a:schemeClr val="accent5"/>
                </a:solidFill>
              </a:rPr>
              <a:t>………………</a:t>
            </a:r>
            <a:r>
              <a:rPr lang="en-US" sz="2600" dirty="0">
                <a:solidFill>
                  <a:schemeClr val="tx1"/>
                </a:solidFill>
              </a:rPr>
              <a:t> (open) the door and </a:t>
            </a:r>
            <a:r>
              <a:rPr lang="en-US" sz="2600" dirty="0">
                <a:solidFill>
                  <a:schemeClr val="accent5"/>
                </a:solidFill>
              </a:rPr>
              <a:t>………………</a:t>
            </a:r>
            <a:r>
              <a:rPr lang="en-US" sz="2600" dirty="0">
                <a:solidFill>
                  <a:schemeClr val="tx1"/>
                </a:solidFill>
              </a:rPr>
              <a:t> (see) the water.</a:t>
            </a:r>
            <a:endParaRPr lang="en-US" sz="2600" dirty="0"/>
          </a:p>
          <a:p>
            <a:pPr indent="0" marL="0">
              <a:spcAft>
                <a:spcPts val="1400"/>
              </a:spcAft>
              <a:buNone/>
            </a:pPr>
            <a:r>
              <a:rPr lang="en-US" sz="2600" b="1" dirty="0">
                <a:solidFill>
                  <a:schemeClr val="tx2"/>
                </a:solidFill>
              </a:rPr>
              <a:t>5.  </a:t>
            </a:r>
            <a:r>
              <a:rPr lang="en-US" sz="2600" dirty="0">
                <a:solidFill>
                  <a:schemeClr val="tx1"/>
                </a:solidFill>
              </a:rPr>
              <a:t>At 11.40 p.m. everybody </a:t>
            </a:r>
            <a:r>
              <a:rPr lang="en-US" sz="2600" dirty="0">
                <a:solidFill>
                  <a:schemeClr val="accent5"/>
                </a:solidFill>
              </a:rPr>
              <a:t>…………………</a:t>
            </a:r>
            <a:r>
              <a:rPr lang="en-US" sz="2600" dirty="0">
                <a:solidFill>
                  <a:schemeClr val="tx1"/>
                </a:solidFill>
              </a:rPr>
              <a:t> (sleep).</a:t>
            </a:r>
            <a:endParaRPr lang="en-US" sz="2600" dirty="0"/>
          </a:p>
          <a:p>
            <a:pPr indent="0" marL="0">
              <a:spcAft>
                <a:spcPts val="1400"/>
              </a:spcAft>
              <a:buNone/>
            </a:pPr>
            <a:r>
              <a:rPr lang="en-US" sz="2600" b="1" dirty="0">
                <a:solidFill>
                  <a:schemeClr val="tx2"/>
                </a:solidFill>
              </a:rPr>
              <a:t>6.  </a:t>
            </a:r>
            <a:r>
              <a:rPr lang="en-US" sz="2600" dirty="0">
                <a:solidFill>
                  <a:schemeClr val="tx1"/>
                </a:solidFill>
              </a:rPr>
              <a:t>The alarm </a:t>
            </a:r>
            <a:r>
              <a:rPr lang="en-US" sz="2600" dirty="0">
                <a:solidFill>
                  <a:schemeClr val="accent5"/>
                </a:solidFill>
              </a:rPr>
              <a:t>………………</a:t>
            </a:r>
            <a:r>
              <a:rPr lang="en-US" sz="2600" dirty="0">
                <a:solidFill>
                  <a:schemeClr val="tx1"/>
                </a:solidFill>
              </a:rPr>
              <a:t> (go off), but nobody </a:t>
            </a:r>
            <a:r>
              <a:rPr lang="en-US" sz="2600" dirty="0">
                <a:solidFill>
                  <a:schemeClr val="accent5"/>
                </a:solidFill>
              </a:rPr>
              <a:t>………………</a:t>
            </a:r>
            <a:r>
              <a:rPr lang="en-US" sz="2600" dirty="0">
                <a:solidFill>
                  <a:schemeClr val="tx1"/>
                </a:solidFill>
              </a:rPr>
              <a:t> (hear) it.</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Warm-up: bar or dot?</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4</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Bar (in progress) → was / were + -ing. Dot (event) → past simple.</a:t>
            </a:r>
            <a:endParaRPr lang="en-US" sz="1600" dirty="0"/>
          </a:p>
        </p:txBody>
      </p:sp>
      <p:sp>
        <p:nvSpPr>
          <p:cNvPr id="7" name="exercise"/>
          <p:cNvSpPr txBox="1"/>
          <p:nvPr/>
        </p:nvSpPr>
        <p:spPr>
          <a:xfrm>
            <a:off x="548640" y="2237232"/>
            <a:ext cx="11091672" cy="3185160"/>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Samuel </a:t>
            </a:r>
            <a:r>
              <a:rPr lang="en-US" sz="2200" b="1" dirty="0">
                <a:solidFill>
                  <a:schemeClr val="accent3"/>
                </a:solidFill>
              </a:rPr>
              <a:t>was checking</a:t>
            </a:r>
            <a:r>
              <a:rPr lang="en-US" sz="2200" dirty="0">
                <a:solidFill>
                  <a:schemeClr val="tx1"/>
                </a:solidFill>
              </a:rPr>
              <a:t> (check) the rack when Mark </a:t>
            </a:r>
            <a:r>
              <a:rPr lang="en-US" sz="2200" b="1" dirty="0">
                <a:solidFill>
                  <a:schemeClr val="accent3"/>
                </a:solidFill>
              </a:rPr>
              <a:t>called</a:t>
            </a:r>
            <a:r>
              <a:rPr lang="en-US" sz="2200" dirty="0">
                <a:solidFill>
                  <a:schemeClr val="tx1"/>
                </a:solidFill>
              </a:rPr>
              <a:t> (call).</a:t>
            </a:r>
            <a:endParaRPr lang="en-US" sz="2200" dirty="0"/>
          </a:p>
          <a:p>
            <a:pPr indent="0" marL="0">
              <a:spcAft>
                <a:spcPts val="1000"/>
              </a:spcAft>
              <a:buNone/>
            </a:pPr>
            <a:r>
              <a:rPr lang="en-US" sz="2200" b="1" dirty="0">
                <a:solidFill>
                  <a:schemeClr val="tx2"/>
                </a:solidFill>
              </a:rPr>
              <a:t>2.  </a:t>
            </a:r>
            <a:r>
              <a:rPr lang="en-US" sz="2200" dirty="0">
                <a:solidFill>
                  <a:schemeClr val="tx1"/>
                </a:solidFill>
              </a:rPr>
              <a:t>At 23.41 water </a:t>
            </a:r>
            <a:r>
              <a:rPr lang="en-US" sz="2200" b="1" dirty="0">
                <a:solidFill>
                  <a:schemeClr val="accent3"/>
                </a:solidFill>
              </a:rPr>
              <a:t>was running</a:t>
            </a:r>
            <a:r>
              <a:rPr lang="en-US" sz="2200" dirty="0">
                <a:solidFill>
                  <a:schemeClr val="tx1"/>
                </a:solidFill>
              </a:rPr>
              <a:t> (run) behind the ceiling.</a:t>
            </a:r>
            <a:endParaRPr lang="en-US" sz="2200" dirty="0"/>
          </a:p>
          <a:p>
            <a:pPr indent="0" marL="0">
              <a:spcAft>
                <a:spcPts val="1000"/>
              </a:spcAft>
              <a:buNone/>
            </a:pPr>
            <a:r>
              <a:rPr lang="en-US" sz="2200" b="1" dirty="0">
                <a:solidFill>
                  <a:schemeClr val="tx2"/>
                </a:solidFill>
              </a:rPr>
              <a:t>3.  </a:t>
            </a:r>
            <a:r>
              <a:rPr lang="en-US" sz="2200" dirty="0">
                <a:solidFill>
                  <a:schemeClr val="tx1"/>
                </a:solidFill>
              </a:rPr>
              <a:t>Nobody </a:t>
            </a:r>
            <a:r>
              <a:rPr lang="en-US" sz="2200" b="1" dirty="0">
                <a:solidFill>
                  <a:schemeClr val="accent3"/>
                </a:solidFill>
              </a:rPr>
              <a:t>knew</a:t>
            </a:r>
            <a:r>
              <a:rPr lang="en-US" sz="2200" dirty="0">
                <a:solidFill>
                  <a:schemeClr val="tx1"/>
                </a:solidFill>
              </a:rPr>
              <a:t> (know) about the leak.</a:t>
            </a:r>
            <a:endParaRPr lang="en-US" sz="2200" dirty="0"/>
          </a:p>
          <a:p>
            <a:pPr indent="0" marL="0">
              <a:spcAft>
                <a:spcPts val="1000"/>
              </a:spcAft>
              <a:buNone/>
            </a:pPr>
            <a:r>
              <a:rPr lang="en-US" sz="2200" b="1" dirty="0">
                <a:solidFill>
                  <a:schemeClr val="tx2"/>
                </a:solidFill>
              </a:rPr>
              <a:t>4.  </a:t>
            </a:r>
            <a:r>
              <a:rPr lang="en-US" sz="2200" dirty="0">
                <a:solidFill>
                  <a:schemeClr val="tx1"/>
                </a:solidFill>
              </a:rPr>
              <a:t>The cleaners </a:t>
            </a:r>
            <a:r>
              <a:rPr lang="en-US" sz="2200" b="1" dirty="0">
                <a:solidFill>
                  <a:schemeClr val="accent3"/>
                </a:solidFill>
              </a:rPr>
              <a:t>opened</a:t>
            </a:r>
            <a:r>
              <a:rPr lang="en-US" sz="2200" dirty="0">
                <a:solidFill>
                  <a:schemeClr val="tx1"/>
                </a:solidFill>
              </a:rPr>
              <a:t> (open) the door and </a:t>
            </a:r>
            <a:r>
              <a:rPr lang="en-US" sz="2200" b="1" dirty="0">
                <a:solidFill>
                  <a:schemeClr val="accent3"/>
                </a:solidFill>
              </a:rPr>
              <a:t>saw</a:t>
            </a:r>
            <a:r>
              <a:rPr lang="en-US" sz="2200" dirty="0">
                <a:solidFill>
                  <a:schemeClr val="tx1"/>
                </a:solidFill>
              </a:rPr>
              <a:t> (see) the water.</a:t>
            </a:r>
            <a:endParaRPr lang="en-US" sz="2200" dirty="0"/>
          </a:p>
          <a:p>
            <a:pPr indent="0" marL="0">
              <a:spcAft>
                <a:spcPts val="1000"/>
              </a:spcAft>
              <a:buNone/>
            </a:pPr>
            <a:r>
              <a:rPr lang="en-US" sz="2200" b="1" dirty="0">
                <a:solidFill>
                  <a:schemeClr val="tx2"/>
                </a:solidFill>
              </a:rPr>
              <a:t>5.  </a:t>
            </a:r>
            <a:r>
              <a:rPr lang="en-US" sz="2200" dirty="0">
                <a:solidFill>
                  <a:schemeClr val="tx1"/>
                </a:solidFill>
              </a:rPr>
              <a:t>At 11.40 p.m. everybody </a:t>
            </a:r>
            <a:r>
              <a:rPr lang="en-US" sz="2200" b="1" dirty="0">
                <a:solidFill>
                  <a:schemeClr val="accent3"/>
                </a:solidFill>
              </a:rPr>
              <a:t>was sleeping</a:t>
            </a:r>
            <a:r>
              <a:rPr lang="en-US" sz="2200" dirty="0">
                <a:solidFill>
                  <a:schemeClr val="tx1"/>
                </a:solidFill>
              </a:rPr>
              <a:t> (sleep).</a:t>
            </a:r>
            <a:endParaRPr lang="en-US" sz="2200" dirty="0"/>
          </a:p>
          <a:p>
            <a:pPr indent="0" marL="0">
              <a:spcAft>
                <a:spcPts val="1000"/>
              </a:spcAft>
              <a:buNone/>
            </a:pPr>
            <a:r>
              <a:rPr lang="en-US" sz="2200" b="1" dirty="0">
                <a:solidFill>
                  <a:schemeClr val="tx2"/>
                </a:solidFill>
              </a:rPr>
              <a:t>6.  </a:t>
            </a:r>
            <a:r>
              <a:rPr lang="en-US" sz="2200" dirty="0">
                <a:solidFill>
                  <a:schemeClr val="tx1"/>
                </a:solidFill>
              </a:rPr>
              <a:t>The alarm </a:t>
            </a:r>
            <a:r>
              <a:rPr lang="en-US" sz="2200" b="1" dirty="0">
                <a:solidFill>
                  <a:schemeClr val="accent3"/>
                </a:solidFill>
              </a:rPr>
              <a:t>went off</a:t>
            </a:r>
            <a:r>
              <a:rPr lang="en-US" sz="2200" dirty="0">
                <a:solidFill>
                  <a:schemeClr val="tx1"/>
                </a:solidFill>
              </a:rPr>
              <a:t> (go off), but nobody </a:t>
            </a:r>
            <a:r>
              <a:rPr lang="en-US" sz="2200" b="1" dirty="0">
                <a:solidFill>
                  <a:schemeClr val="accent3"/>
                </a:solidFill>
              </a:rPr>
              <a:t>heard</a:t>
            </a:r>
            <a:r>
              <a:rPr lang="en-US" sz="2200" dirty="0">
                <a:solidFill>
                  <a:schemeClr val="tx1"/>
                </a:solidFill>
              </a:rPr>
              <a:t> (hear) it.</a:t>
            </a:r>
            <a:endParaRPr lang="en-US" sz="2200" dirty="0"/>
          </a:p>
        </p:txBody>
      </p:sp>
      <p:sp>
        <p:nvSpPr>
          <p:cNvPr id="8" name="Shape 6"/>
          <p:cNvSpPr/>
          <p:nvPr/>
        </p:nvSpPr>
        <p:spPr>
          <a:xfrm>
            <a:off x="548640" y="5650992"/>
            <a:ext cx="11091672" cy="658368"/>
          </a:xfrm>
          <a:prstGeom prst="roundRect">
            <a:avLst>
              <a:gd name="adj" fmla="val 11111"/>
            </a:avLst>
          </a:prstGeom>
          <a:solidFill>
            <a:srgbClr val="C0752A">
              <a:alpha val="8000"/>
            </a:srgbClr>
          </a:solidFill>
          <a:ln w="12700">
            <a:solidFill>
              <a:srgbClr val="C0752A"/>
            </a:solidFill>
            <a:prstDash val="solid"/>
          </a:ln>
        </p:spPr>
      </p:sp>
      <p:pic>
        <p:nvPicPr>
          <p:cNvPr id="9" name="Image 0" descr="preencoded.png">    </p:cNvPr>
          <p:cNvPicPr>
            <a:picLocks noChangeAspect="1"/>
          </p:cNvPicPr>
          <p:nvPr/>
        </p:nvPicPr>
        <p:blipFill>
          <a:blip r:embed="rId1"/>
          <a:stretch>
            <a:fillRect/>
          </a:stretch>
        </p:blipFill>
        <p:spPr>
          <a:xfrm>
            <a:off x="777240" y="5797296"/>
            <a:ext cx="365760" cy="365760"/>
          </a:xfrm>
          <a:prstGeom prst="rect">
            <a:avLst/>
          </a:prstGeom>
        </p:spPr>
      </p:pic>
      <p:sp>
        <p:nvSpPr>
          <p:cNvPr id="10" name="Text 7"/>
          <p:cNvSpPr txBox="1"/>
          <p:nvPr/>
        </p:nvSpPr>
        <p:spPr>
          <a:xfrm>
            <a:off x="1325880" y="5705856"/>
            <a:ext cx="10085832" cy="548640"/>
          </a:xfrm>
          <a:prstGeom prst="rect">
            <a:avLst/>
          </a:prstGeom>
          <a:noFill/>
          <a:ln/>
        </p:spPr>
        <p:txBody>
          <a:bodyPr wrap="square" lIns="0" tIns="0" rIns="0" bIns="0" rtlCol="0" anchor="ctr"/>
          <a:lstStyle/>
          <a:p>
            <a:pPr indent="0" marL="0">
              <a:buNone/>
            </a:pPr>
            <a:r>
              <a:rPr lang="en-US" sz="1800" b="1" dirty="0">
                <a:solidFill>
                  <a:schemeClr val="accent1"/>
                </a:solidFill>
              </a:rPr>
              <a:t>Watch out — </a:t>
            </a:r>
            <a:r>
              <a:rPr lang="en-US" sz="1800" i="1" dirty="0">
                <a:solidFill>
                  <a:schemeClr val="tx1"/>
                </a:solidFill>
              </a:rPr>
              <a:t>know</a:t>
            </a:r>
            <a:r>
              <a:rPr lang="en-US" sz="1800" dirty="0">
                <a:solidFill>
                  <a:schemeClr val="tx1"/>
                </a:solidFill>
              </a:rPr>
              <a:t> is a state verb → </a:t>
            </a:r>
            <a:r>
              <a:rPr lang="en-US" sz="1800" b="1" dirty="0">
                <a:solidFill>
                  <a:schemeClr val="tx1"/>
                </a:solidFill>
              </a:rPr>
              <a:t>knew</a:t>
            </a:r>
            <a:r>
              <a:rPr lang="en-US" sz="1800" dirty="0">
                <a:solidFill>
                  <a:schemeClr val="tx1"/>
                </a:solidFill>
              </a:rPr>
              <a:t>, never </a:t>
            </a:r>
            <a:r>
              <a:rPr lang="en-US" sz="1800" i="1" dirty="0">
                <a:solidFill>
                  <a:schemeClr val="tx1"/>
                </a:solidFill>
              </a:rPr>
              <a:t>was knowing</a:t>
            </a:r>
            <a:r>
              <a:rPr lang="en-US" sz="1800" dirty="0">
                <a:solidFill>
                  <a:schemeClr val="tx1"/>
                </a:solidFill>
              </a:rPr>
              <a:t>. Two events in a row → </a:t>
            </a:r>
            <a:r>
              <a:rPr lang="en-US" sz="1800" b="1" dirty="0">
                <a:solidFill>
                  <a:schemeClr val="tx1"/>
                </a:solidFill>
              </a:rPr>
              <a:t>past simple ×2</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Forty minutes, one whiteboard</a:t>
            </a:r>
            <a:endParaRPr lang="en-US" sz="3200" dirty="0"/>
          </a:p>
        </p:txBody>
      </p:sp>
      <p:sp>
        <p:nvSpPr>
          <p:cNvPr id="3" name="tag"/>
          <p:cNvSpPr/>
          <p:nvPr/>
        </p:nvSpPr>
        <p:spPr>
          <a:xfrm>
            <a:off x="548640" y="384048"/>
            <a:ext cx="9372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SCENE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pic>
        <p:nvPicPr>
          <p:cNvPr id="6" name="illustration" descr="You stand at an empty whiteboard titled Timeline — last night; Mark watches, Samuel holds the alarm log, Iris checks the sign-out sheet on her phone">    </p:cNvPr>
          <p:cNvPicPr>
            <a:picLocks noChangeAspect="1"/>
          </p:cNvPicPr>
          <p:nvPr/>
        </p:nvPicPr>
        <p:blipFill>
          <a:blip r:embed="rId1"/>
          <a:stretch>
            <a:fillRect/>
          </a:stretch>
        </p:blipFill>
        <p:spPr>
          <a:xfrm>
            <a:off x="548640" y="1783080"/>
            <a:ext cx="6035040" cy="4020778"/>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783080"/>
            <a:ext cx="1600200" cy="868680"/>
          </a:xfrm>
          <a:prstGeom prst="roundRect">
            <a:avLst>
              <a:gd name="adj" fmla="val 8421"/>
            </a:avLst>
          </a:prstGeom>
          <a:solidFill>
            <a:srgbClr val="1F3864"/>
          </a:solidFill>
          <a:ln/>
        </p:spPr>
      </p:sp>
      <p:sp>
        <p:nvSpPr>
          <p:cNvPr id="8" name="Text 4"/>
          <p:cNvSpPr txBox="1"/>
          <p:nvPr/>
        </p:nvSpPr>
        <p:spPr>
          <a:xfrm>
            <a:off x="6995160" y="182880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SCENE 2</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08.20</a:t>
            </a:r>
            <a:endParaRPr lang="en-US" sz="1100" dirty="0"/>
          </a:p>
        </p:txBody>
      </p:sp>
      <p:sp>
        <p:nvSpPr>
          <p:cNvPr id="9" name="Text 5"/>
          <p:cNvSpPr txBox="1"/>
          <p:nvPr/>
        </p:nvSpPr>
        <p:spPr>
          <a:xfrm>
            <a:off x="6995160" y="2880360"/>
            <a:ext cx="4645152" cy="1847088"/>
          </a:xfrm>
          <a:prstGeom prst="rect">
            <a:avLst/>
          </a:prstGeom>
          <a:noFill/>
          <a:ln/>
        </p:spPr>
        <p:txBody>
          <a:bodyPr wrap="square" lIns="0" tIns="0" rIns="0" bIns="0" rtlCol="0" anchor="t"/>
          <a:lstStyle/>
          <a:p>
            <a:pPr indent="0" marL="0">
              <a:spcAft>
                <a:spcPts val="1000"/>
              </a:spcAft>
              <a:buNone/>
            </a:pPr>
            <a:r>
              <a:rPr lang="en-US" sz="1700" dirty="0">
                <a:solidFill>
                  <a:schemeClr val="tx1"/>
                </a:solidFill>
              </a:rPr>
              <a:t>It is </a:t>
            </a:r>
            <a:r>
              <a:rPr lang="en-US" sz="1700" b="1" dirty="0">
                <a:solidFill>
                  <a:schemeClr val="tx1"/>
                </a:solidFill>
              </a:rPr>
              <a:t>8.20</a:t>
            </a:r>
            <a:r>
              <a:rPr lang="en-US" sz="1700" dirty="0">
                <a:solidFill>
                  <a:schemeClr val="tx1"/>
                </a:solidFill>
              </a:rPr>
              <a:t>. Mark hands you a marker.</a:t>
            </a:r>
            <a:endParaRPr lang="en-US" sz="1700" dirty="0"/>
          </a:p>
          <a:p>
            <a:pPr indent="0" marL="0">
              <a:spcAft>
                <a:spcPts val="1000"/>
              </a:spcAft>
              <a:buNone/>
            </a:pPr>
            <a:r>
              <a:rPr lang="en-US" sz="1700" b="1" dirty="0">
                <a:solidFill>
                  <a:schemeClr val="tx1"/>
                </a:solidFill>
              </a:rPr>
              <a:t>Samuel</a:t>
            </a:r>
            <a:r>
              <a:rPr lang="en-US" sz="1700" dirty="0">
                <a:solidFill>
                  <a:schemeClr val="tx1"/>
                </a:solidFill>
              </a:rPr>
              <a:t> is holding the alarm log. </a:t>
            </a:r>
            <a:r>
              <a:rPr lang="en-US" sz="1700" b="1" dirty="0">
                <a:solidFill>
                  <a:schemeClr val="tx1"/>
                </a:solidFill>
              </a:rPr>
              <a:t>Iris</a:t>
            </a:r>
            <a:r>
              <a:rPr lang="en-US" sz="1700" dirty="0">
                <a:solidFill>
                  <a:schemeClr val="tx1"/>
                </a:solidFill>
              </a:rPr>
              <a:t> has the contractor’s sign-out sheet on her phone. You have your notes from the voicemail.</a:t>
            </a:r>
            <a:endParaRPr lang="en-US" sz="1700" dirty="0"/>
          </a:p>
          <a:p>
            <a:pPr indent="0" marL="0">
              <a:spcAft>
                <a:spcPts val="1000"/>
              </a:spcAft>
              <a:buNone/>
            </a:pPr>
            <a:r>
              <a:rPr lang="en-US" sz="1700" dirty="0">
                <a:solidFill>
                  <a:schemeClr val="tx1"/>
                </a:solidFill>
              </a:rPr>
              <a:t>Forty minutes. An empty whiteboard. </a:t>
            </a:r>
            <a:r>
              <a:rPr lang="en-US" sz="1700" b="1" dirty="0">
                <a:solidFill>
                  <a:schemeClr val="tx1"/>
                </a:solidFill>
              </a:rPr>
              <a:t>Facts only.</a:t>
            </a:r>
            <a:endParaRPr lang="en-US" sz="1700" dirty="0"/>
          </a:p>
        </p:txBody>
      </p:sp>
      <p:sp>
        <p:nvSpPr>
          <p:cNvPr id="10" name="Shape 6"/>
          <p:cNvSpPr/>
          <p:nvPr/>
        </p:nvSpPr>
        <p:spPr>
          <a:xfrm>
            <a:off x="6995160" y="4910328"/>
            <a:ext cx="4645152" cy="1399032"/>
          </a:xfrm>
          <a:prstGeom prst="roundRect">
            <a:avLst>
              <a:gd name="adj" fmla="val 5229"/>
            </a:avLst>
          </a:prstGeom>
          <a:solidFill>
            <a:srgbClr val="C0752A">
              <a:alpha val="10000"/>
            </a:srgbClr>
          </a:solidFill>
          <a:ln w="12700">
            <a:solidFill>
              <a:srgbClr val="C0752A"/>
            </a:solidFill>
            <a:prstDash val="solid"/>
          </a:ln>
        </p:spPr>
      </p:sp>
      <p:sp>
        <p:nvSpPr>
          <p:cNvPr id="11" name="Text 7"/>
          <p:cNvSpPr txBox="1"/>
          <p:nvPr/>
        </p:nvSpPr>
        <p:spPr>
          <a:xfrm>
            <a:off x="7196328" y="5020056"/>
            <a:ext cx="4279392"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ASK THE CLASS</a:t>
            </a:r>
            <a:endParaRPr lang="en-US" sz="1200" dirty="0"/>
          </a:p>
        </p:txBody>
      </p:sp>
      <p:sp>
        <p:nvSpPr>
          <p:cNvPr id="12" name="Text 8"/>
          <p:cNvSpPr txBox="1"/>
          <p:nvPr/>
        </p:nvSpPr>
        <p:spPr>
          <a:xfrm>
            <a:off x="7196328" y="5312664"/>
            <a:ext cx="4242816" cy="941832"/>
          </a:xfrm>
          <a:prstGeom prst="rect">
            <a:avLst/>
          </a:prstGeom>
          <a:noFill/>
          <a:ln/>
        </p:spPr>
        <p:txBody>
          <a:bodyPr wrap="square" lIns="0" tIns="0" rIns="0" bIns="0" rtlCol="0" anchor="t"/>
          <a:lstStyle/>
          <a:p>
            <a:pPr indent="0" marL="0">
              <a:buNone/>
            </a:pPr>
            <a:r>
              <a:rPr lang="en-US" sz="1700" dirty="0">
                <a:solidFill>
                  <a:schemeClr val="tx1"/>
                </a:solidFill>
              </a:rPr>
              <a:t>Who has a </a:t>
            </a:r>
            <a:r>
              <a:rPr lang="en-US" sz="1700" b="1" dirty="0">
                <a:solidFill>
                  <a:schemeClr val="tx1"/>
                </a:solidFill>
              </a:rPr>
              <a:t>document</a:t>
            </a:r>
            <a:r>
              <a:rPr lang="en-US" sz="1700" dirty="0">
                <a:solidFill>
                  <a:schemeClr val="tx1"/>
                </a:solidFill>
              </a:rPr>
              <a:t>? Who only has a </a:t>
            </a:r>
            <a:r>
              <a:rPr lang="en-US" sz="1700" b="1" dirty="0">
                <a:solidFill>
                  <a:schemeClr val="tx1"/>
                </a:solidFill>
              </a:rPr>
              <a:t>memory</a:t>
            </a:r>
            <a:r>
              <a:rPr lang="en-US" sz="1700" dirty="0">
                <a:solidFill>
                  <a:schemeClr val="tx1"/>
                </a:solidFill>
              </a:rPr>
              <a:t>? Which one would an assessor trust?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Mindmap — the world of the timeline</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MINDMAP</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9–10</a:t>
            </a:r>
            <a:endParaRPr lang="en-US" sz="1200" dirty="0"/>
          </a:p>
        </p:txBody>
      </p:sp>
      <p:sp>
        <p:nvSpPr>
          <p:cNvPr id="6" name="Shape 3"/>
          <p:cNvSpPr/>
          <p:nvPr/>
        </p:nvSpPr>
        <p:spPr>
          <a:xfrm flipH="1" flipV="1">
            <a:off x="5180076" y="2377440"/>
            <a:ext cx="536939" cy="966490"/>
          </a:xfrm>
          <a:prstGeom prst="line">
            <a:avLst/>
          </a:prstGeom>
          <a:noFill/>
          <a:ln w="28575">
            <a:solidFill>
              <a:srgbClr val="2E75B6"/>
            </a:solidFill>
            <a:prstDash val="solid"/>
          </a:ln>
        </p:spPr>
      </p:sp>
      <p:sp>
        <p:nvSpPr>
          <p:cNvPr id="7" name="Text 4"/>
          <p:cNvSpPr/>
          <p:nvPr/>
        </p:nvSpPr>
        <p:spPr>
          <a:xfrm>
            <a:off x="3579876" y="2176272"/>
            <a:ext cx="1600200" cy="402336"/>
          </a:xfrm>
          <a:prstGeom prst="roundRect">
            <a:avLst>
              <a:gd name="adj" fmla="val 50000"/>
            </a:avLst>
          </a:prstGeom>
          <a:solidFill>
            <a:srgbClr val="2E75B6"/>
          </a:solidFill>
          <a:ln/>
        </p:spPr>
        <p:txBody>
          <a:bodyPr wrap="square" lIns="0" tIns="0" rIns="0" bIns="0" rtlCol="0" anchor="ctr"/>
          <a:lstStyle/>
          <a:p>
            <a:pPr algn="ctr" indent="0" marL="0">
              <a:buNone/>
            </a:pPr>
            <a:r>
              <a:rPr lang="en-US" sz="1200" b="1" dirty="0">
                <a:solidFill>
                  <a:schemeClr val="bg1"/>
                </a:solidFill>
              </a:rPr>
              <a:t>1 · THE DOCUMENTS</a:t>
            </a:r>
            <a:endParaRPr lang="en-US" sz="1200" dirty="0"/>
          </a:p>
        </p:txBody>
      </p:sp>
      <p:sp>
        <p:nvSpPr>
          <p:cNvPr id="8" name="Shape 5"/>
          <p:cNvSpPr/>
          <p:nvPr/>
        </p:nvSpPr>
        <p:spPr>
          <a:xfrm flipH="1" flipV="1">
            <a:off x="3351276" y="2002536"/>
            <a:ext cx="228600" cy="374904"/>
          </a:xfrm>
          <a:prstGeom prst="line">
            <a:avLst/>
          </a:prstGeom>
          <a:noFill/>
          <a:ln w="12700">
            <a:solidFill>
              <a:srgbClr val="2E75B6"/>
            </a:solidFill>
            <a:prstDash val="solid"/>
          </a:ln>
        </p:spPr>
      </p:sp>
      <p:sp>
        <p:nvSpPr>
          <p:cNvPr id="9" name="Text 6"/>
          <p:cNvSpPr/>
          <p:nvPr/>
        </p:nvSpPr>
        <p:spPr>
          <a:xfrm>
            <a:off x="2025396" y="1847088"/>
            <a:ext cx="1325880" cy="310896"/>
          </a:xfrm>
          <a:prstGeom prst="roundRect">
            <a:avLst>
              <a:gd name="adj" fmla="val 50000"/>
            </a:avLst>
          </a:prstGeom>
          <a:solidFill>
            <a:srgbClr val="FFFFFF"/>
          </a:solidFill>
          <a:ln w="15875">
            <a:solidFill>
              <a:srgbClr val="2E75B6"/>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alarm log</a:t>
            </a:r>
            <a:endParaRPr lang="en-US" sz="1100" dirty="0"/>
          </a:p>
        </p:txBody>
      </p:sp>
      <p:sp>
        <p:nvSpPr>
          <p:cNvPr id="10" name="Shape 7"/>
          <p:cNvSpPr/>
          <p:nvPr/>
        </p:nvSpPr>
        <p:spPr>
          <a:xfrm flipH="1">
            <a:off x="1860804" y="2002536"/>
            <a:ext cx="164592" cy="0"/>
          </a:xfrm>
          <a:prstGeom prst="line">
            <a:avLst/>
          </a:prstGeom>
          <a:noFill/>
          <a:ln w="12700">
            <a:solidFill>
              <a:srgbClr val="2E75B6"/>
            </a:solidFill>
            <a:prstDash val="solid"/>
          </a:ln>
        </p:spPr>
      </p:sp>
      <p:sp>
        <p:nvSpPr>
          <p:cNvPr id="11" name="Text 8"/>
          <p:cNvSpPr/>
          <p:nvPr/>
        </p:nvSpPr>
        <p:spPr>
          <a:xfrm>
            <a:off x="534924" y="1847088"/>
            <a:ext cx="1325880" cy="310896"/>
          </a:xfrm>
          <a:prstGeom prst="roundRect">
            <a:avLst>
              <a:gd name="adj" fmla="val 50000"/>
            </a:avLst>
          </a:prstGeom>
          <a:solidFill>
            <a:srgbClr val="EEF2F8"/>
          </a:solidFill>
          <a:ln w="15875">
            <a:solidFill>
              <a:srgbClr val="2E75B6"/>
            </a:solidFill>
            <a:prstDash val="dash"/>
          </a:ln>
        </p:spPr>
        <p:txBody>
          <a:bodyPr wrap="square" lIns="0" tIns="0" rIns="0" bIns="0" rtlCol="0" anchor="ctr"/>
          <a:lstStyle/>
          <a:p>
            <a:pPr algn="ctr" indent="0" marL="0">
              <a:buNone/>
            </a:pPr>
            <a:r>
              <a:rPr lang="en-US" sz="1000" dirty="0">
                <a:solidFill>
                  <a:schemeClr val="tx1"/>
                </a:solidFill>
              </a:rPr>
              <a:t>the </a:t>
            </a:r>
            <a:r>
              <a:rPr lang="en-US" sz="1000" b="1" dirty="0">
                <a:solidFill>
                  <a:schemeClr val="tx1"/>
                </a:solidFill>
              </a:rPr>
              <a:t>sign-out sheet</a:t>
            </a:r>
            <a:endParaRPr lang="en-US" sz="1000" dirty="0"/>
          </a:p>
        </p:txBody>
      </p:sp>
      <p:sp>
        <p:nvSpPr>
          <p:cNvPr id="12" name="Shape 9"/>
          <p:cNvSpPr/>
          <p:nvPr/>
        </p:nvSpPr>
        <p:spPr>
          <a:xfrm flipH="1">
            <a:off x="3351276" y="2377440"/>
            <a:ext cx="228600" cy="0"/>
          </a:xfrm>
          <a:prstGeom prst="line">
            <a:avLst/>
          </a:prstGeom>
          <a:noFill/>
          <a:ln w="12700">
            <a:solidFill>
              <a:srgbClr val="2E75B6"/>
            </a:solidFill>
            <a:prstDash val="solid"/>
          </a:ln>
        </p:spPr>
      </p:sp>
      <p:sp>
        <p:nvSpPr>
          <p:cNvPr id="13" name="Text 10"/>
          <p:cNvSpPr/>
          <p:nvPr/>
        </p:nvSpPr>
        <p:spPr>
          <a:xfrm>
            <a:off x="2025396" y="2221992"/>
            <a:ext cx="1325880" cy="310896"/>
          </a:xfrm>
          <a:prstGeom prst="roundRect">
            <a:avLst>
              <a:gd name="adj" fmla="val 50000"/>
            </a:avLst>
          </a:prstGeom>
          <a:solidFill>
            <a:srgbClr val="FFFFFF"/>
          </a:solidFill>
          <a:ln w="15875">
            <a:solidFill>
              <a:srgbClr val="2E75B6"/>
            </a:solidFill>
          </a:ln>
        </p:spPr>
        <p:txBody>
          <a:bodyPr wrap="square" lIns="0" tIns="0" rIns="0" bIns="0" rtlCol="0" anchor="ctr"/>
          <a:lstStyle/>
          <a:p>
            <a:pPr algn="ctr" indent="0" marL="0">
              <a:buNone/>
            </a:pPr>
            <a:r>
              <a:rPr lang="en-US" sz="1100" dirty="0">
                <a:solidFill>
                  <a:schemeClr val="tx1"/>
                </a:solidFill>
              </a:rPr>
              <a:t>an </a:t>
            </a:r>
            <a:r>
              <a:rPr lang="en-US" sz="1100" b="1" dirty="0">
                <a:solidFill>
                  <a:schemeClr val="tx1"/>
                </a:solidFill>
              </a:rPr>
              <a:t>entry</a:t>
            </a:r>
            <a:endParaRPr lang="en-US" sz="1100" dirty="0"/>
          </a:p>
        </p:txBody>
      </p:sp>
      <p:sp>
        <p:nvSpPr>
          <p:cNvPr id="14" name="Shape 11"/>
          <p:cNvSpPr/>
          <p:nvPr/>
        </p:nvSpPr>
        <p:spPr>
          <a:xfrm flipH="1">
            <a:off x="1860804" y="2377440"/>
            <a:ext cx="164592" cy="0"/>
          </a:xfrm>
          <a:prstGeom prst="line">
            <a:avLst/>
          </a:prstGeom>
          <a:noFill/>
          <a:ln w="12700">
            <a:solidFill>
              <a:srgbClr val="2E75B6"/>
            </a:solidFill>
            <a:prstDash val="solid"/>
          </a:ln>
        </p:spPr>
      </p:sp>
      <p:sp>
        <p:nvSpPr>
          <p:cNvPr id="15" name="Text 12"/>
          <p:cNvSpPr/>
          <p:nvPr/>
        </p:nvSpPr>
        <p:spPr>
          <a:xfrm>
            <a:off x="534924" y="2221992"/>
            <a:ext cx="1325880" cy="310896"/>
          </a:xfrm>
          <a:prstGeom prst="roundRect">
            <a:avLst>
              <a:gd name="adj" fmla="val 50000"/>
            </a:avLst>
          </a:prstGeom>
          <a:solidFill>
            <a:srgbClr val="EEF2F8"/>
          </a:solidFill>
          <a:ln w="15875">
            <a:solidFill>
              <a:srgbClr val="2E75B6"/>
            </a:solidFill>
            <a:prstDash val="dash"/>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badge</a:t>
            </a:r>
            <a:endParaRPr lang="en-US" sz="1100" dirty="0"/>
          </a:p>
        </p:txBody>
      </p:sp>
      <p:sp>
        <p:nvSpPr>
          <p:cNvPr id="16" name="Shape 13"/>
          <p:cNvSpPr/>
          <p:nvPr/>
        </p:nvSpPr>
        <p:spPr>
          <a:xfrm flipH="1">
            <a:off x="3351276" y="2377440"/>
            <a:ext cx="228600" cy="374904"/>
          </a:xfrm>
          <a:prstGeom prst="line">
            <a:avLst/>
          </a:prstGeom>
          <a:noFill/>
          <a:ln w="12700">
            <a:solidFill>
              <a:srgbClr val="2E75B6"/>
            </a:solidFill>
            <a:prstDash val="solid"/>
          </a:ln>
        </p:spPr>
      </p:sp>
      <p:sp>
        <p:nvSpPr>
          <p:cNvPr id="17" name="Text 14"/>
          <p:cNvSpPr/>
          <p:nvPr/>
        </p:nvSpPr>
        <p:spPr>
          <a:xfrm>
            <a:off x="2025396" y="2596896"/>
            <a:ext cx="1325880" cy="310896"/>
          </a:xfrm>
          <a:prstGeom prst="roundRect">
            <a:avLst>
              <a:gd name="adj" fmla="val 50000"/>
            </a:avLst>
          </a:prstGeom>
          <a:solidFill>
            <a:srgbClr val="FFFFFF"/>
          </a:solidFill>
          <a:ln w="15875">
            <a:solidFill>
              <a:srgbClr val="2E75B6"/>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timestamp</a:t>
            </a:r>
            <a:endParaRPr lang="en-US" sz="1100" dirty="0"/>
          </a:p>
        </p:txBody>
      </p:sp>
      <p:sp>
        <p:nvSpPr>
          <p:cNvPr id="18" name="Shape 15"/>
          <p:cNvSpPr/>
          <p:nvPr/>
        </p:nvSpPr>
        <p:spPr>
          <a:xfrm flipH="1">
            <a:off x="1860804" y="2752344"/>
            <a:ext cx="164592" cy="0"/>
          </a:xfrm>
          <a:prstGeom prst="line">
            <a:avLst/>
          </a:prstGeom>
          <a:noFill/>
          <a:ln w="12700">
            <a:solidFill>
              <a:srgbClr val="2E75B6"/>
            </a:solidFill>
            <a:prstDash val="solid"/>
          </a:ln>
        </p:spPr>
      </p:sp>
      <p:sp>
        <p:nvSpPr>
          <p:cNvPr id="19" name="Text 16"/>
          <p:cNvSpPr/>
          <p:nvPr/>
        </p:nvSpPr>
        <p:spPr>
          <a:xfrm>
            <a:off x="534924" y="2596896"/>
            <a:ext cx="1325880" cy="310896"/>
          </a:xfrm>
          <a:prstGeom prst="roundRect">
            <a:avLst>
              <a:gd name="adj" fmla="val 50000"/>
            </a:avLst>
          </a:prstGeom>
          <a:solidFill>
            <a:srgbClr val="EEF2F8"/>
          </a:solidFill>
          <a:ln w="15875">
            <a:solidFill>
              <a:srgbClr val="2E75B6"/>
            </a:solidFill>
            <a:prstDash val="dash"/>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record</a:t>
            </a:r>
            <a:endParaRPr lang="en-US" sz="1100" dirty="0"/>
          </a:p>
        </p:txBody>
      </p:sp>
      <p:sp>
        <p:nvSpPr>
          <p:cNvPr id="20" name="Shape 17"/>
          <p:cNvSpPr/>
          <p:nvPr/>
        </p:nvSpPr>
        <p:spPr>
          <a:xfrm flipH="1">
            <a:off x="5180076" y="4023360"/>
            <a:ext cx="137160" cy="0"/>
          </a:xfrm>
          <a:prstGeom prst="line">
            <a:avLst/>
          </a:prstGeom>
          <a:noFill/>
          <a:ln w="28575">
            <a:solidFill>
              <a:srgbClr val="3C7A3C"/>
            </a:solidFill>
            <a:prstDash val="solid"/>
          </a:ln>
        </p:spPr>
      </p:sp>
      <p:sp>
        <p:nvSpPr>
          <p:cNvPr id="21" name="Text 18"/>
          <p:cNvSpPr/>
          <p:nvPr/>
        </p:nvSpPr>
        <p:spPr>
          <a:xfrm>
            <a:off x="3579876" y="3822192"/>
            <a:ext cx="1600200" cy="402336"/>
          </a:xfrm>
          <a:prstGeom prst="roundRect">
            <a:avLst>
              <a:gd name="adj" fmla="val 50000"/>
            </a:avLst>
          </a:prstGeom>
          <a:solidFill>
            <a:srgbClr val="3C7A3C"/>
          </a:solidFill>
          <a:ln/>
        </p:spPr>
        <p:txBody>
          <a:bodyPr wrap="square" lIns="0" tIns="0" rIns="0" bIns="0" rtlCol="0" anchor="ctr"/>
          <a:lstStyle/>
          <a:p>
            <a:pPr algn="ctr" indent="0" marL="0">
              <a:buNone/>
            </a:pPr>
            <a:r>
              <a:rPr lang="en-US" sz="1200" b="1" dirty="0">
                <a:solidFill>
                  <a:schemeClr val="bg1"/>
                </a:solidFill>
              </a:rPr>
              <a:t>2 · THE PEOPLE</a:t>
            </a:r>
            <a:endParaRPr lang="en-US" sz="1200" dirty="0"/>
          </a:p>
        </p:txBody>
      </p:sp>
      <p:sp>
        <p:nvSpPr>
          <p:cNvPr id="22" name="Shape 19"/>
          <p:cNvSpPr/>
          <p:nvPr/>
        </p:nvSpPr>
        <p:spPr>
          <a:xfrm flipH="1" flipV="1">
            <a:off x="3351276" y="3648456"/>
            <a:ext cx="228600" cy="374904"/>
          </a:xfrm>
          <a:prstGeom prst="line">
            <a:avLst/>
          </a:prstGeom>
          <a:noFill/>
          <a:ln w="12700">
            <a:solidFill>
              <a:srgbClr val="3C7A3C"/>
            </a:solidFill>
            <a:prstDash val="solid"/>
          </a:ln>
        </p:spPr>
      </p:sp>
      <p:sp>
        <p:nvSpPr>
          <p:cNvPr id="23" name="Text 20"/>
          <p:cNvSpPr/>
          <p:nvPr/>
        </p:nvSpPr>
        <p:spPr>
          <a:xfrm>
            <a:off x="2025396" y="3493008"/>
            <a:ext cx="1325880" cy="310896"/>
          </a:xfrm>
          <a:prstGeom prst="roundRect">
            <a:avLst>
              <a:gd name="adj" fmla="val 50000"/>
            </a:avLst>
          </a:prstGeom>
          <a:solidFill>
            <a:srgbClr val="FFFFFF"/>
          </a:solidFill>
          <a:ln w="15875">
            <a:solidFill>
              <a:srgbClr val="3C7A3C"/>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contractor</a:t>
            </a:r>
            <a:endParaRPr lang="en-US" sz="1100" dirty="0"/>
          </a:p>
        </p:txBody>
      </p:sp>
      <p:sp>
        <p:nvSpPr>
          <p:cNvPr id="24" name="Shape 21"/>
          <p:cNvSpPr/>
          <p:nvPr/>
        </p:nvSpPr>
        <p:spPr>
          <a:xfrm flipH="1">
            <a:off x="1860804" y="3648456"/>
            <a:ext cx="164592" cy="0"/>
          </a:xfrm>
          <a:prstGeom prst="line">
            <a:avLst/>
          </a:prstGeom>
          <a:noFill/>
          <a:ln w="12700">
            <a:solidFill>
              <a:srgbClr val="3C7A3C"/>
            </a:solidFill>
            <a:prstDash val="solid"/>
          </a:ln>
        </p:spPr>
      </p:sp>
      <p:sp>
        <p:nvSpPr>
          <p:cNvPr id="25" name="Text 22"/>
          <p:cNvSpPr/>
          <p:nvPr/>
        </p:nvSpPr>
        <p:spPr>
          <a:xfrm>
            <a:off x="534924" y="3493008"/>
            <a:ext cx="1325880" cy="310896"/>
          </a:xfrm>
          <a:prstGeom prst="roundRect">
            <a:avLst>
              <a:gd name="adj" fmla="val 50000"/>
            </a:avLst>
          </a:prstGeom>
          <a:solidFill>
            <a:srgbClr val="EEF2F8"/>
          </a:solidFill>
          <a:ln w="15875">
            <a:solidFill>
              <a:srgbClr val="3C7A3C"/>
            </a:solidFill>
            <a:prstDash val="dash"/>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witness</a:t>
            </a:r>
            <a:endParaRPr lang="en-US" sz="1100" dirty="0"/>
          </a:p>
        </p:txBody>
      </p:sp>
      <p:sp>
        <p:nvSpPr>
          <p:cNvPr id="26" name="Shape 23"/>
          <p:cNvSpPr/>
          <p:nvPr/>
        </p:nvSpPr>
        <p:spPr>
          <a:xfrm flipH="1">
            <a:off x="3351276" y="4023360"/>
            <a:ext cx="228600" cy="0"/>
          </a:xfrm>
          <a:prstGeom prst="line">
            <a:avLst/>
          </a:prstGeom>
          <a:noFill/>
          <a:ln w="12700">
            <a:solidFill>
              <a:srgbClr val="3C7A3C"/>
            </a:solidFill>
            <a:prstDash val="solid"/>
          </a:ln>
        </p:spPr>
      </p:sp>
      <p:sp>
        <p:nvSpPr>
          <p:cNvPr id="27" name="Text 24"/>
          <p:cNvSpPr/>
          <p:nvPr/>
        </p:nvSpPr>
        <p:spPr>
          <a:xfrm>
            <a:off x="2025396" y="3867912"/>
            <a:ext cx="1325880" cy="310896"/>
          </a:xfrm>
          <a:prstGeom prst="roundRect">
            <a:avLst>
              <a:gd name="adj" fmla="val 50000"/>
            </a:avLst>
          </a:prstGeom>
          <a:solidFill>
            <a:srgbClr val="FFFFFF"/>
          </a:solidFill>
          <a:ln w="15875">
            <a:solidFill>
              <a:srgbClr val="3C7A3C"/>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site manager</a:t>
            </a:r>
            <a:endParaRPr lang="en-US" sz="1100" dirty="0"/>
          </a:p>
        </p:txBody>
      </p:sp>
      <p:sp>
        <p:nvSpPr>
          <p:cNvPr id="28" name="Shape 25"/>
          <p:cNvSpPr/>
          <p:nvPr/>
        </p:nvSpPr>
        <p:spPr>
          <a:xfrm flipH="1">
            <a:off x="1860804" y="4023360"/>
            <a:ext cx="164592" cy="0"/>
          </a:xfrm>
          <a:prstGeom prst="line">
            <a:avLst/>
          </a:prstGeom>
          <a:noFill/>
          <a:ln w="12700">
            <a:solidFill>
              <a:srgbClr val="3C7A3C"/>
            </a:solidFill>
            <a:prstDash val="solid"/>
          </a:ln>
        </p:spPr>
      </p:sp>
      <p:sp>
        <p:nvSpPr>
          <p:cNvPr id="29" name="Text 26"/>
          <p:cNvSpPr/>
          <p:nvPr/>
        </p:nvSpPr>
        <p:spPr>
          <a:xfrm>
            <a:off x="534924" y="3867912"/>
            <a:ext cx="1325880" cy="310896"/>
          </a:xfrm>
          <a:prstGeom prst="roundRect">
            <a:avLst>
              <a:gd name="adj" fmla="val 50000"/>
            </a:avLst>
          </a:prstGeom>
          <a:solidFill>
            <a:srgbClr val="EEF2F8"/>
          </a:solidFill>
          <a:ln w="15875">
            <a:solidFill>
              <a:srgbClr val="3C7A3C"/>
            </a:solidFill>
            <a:prstDash val="dash"/>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security guard</a:t>
            </a:r>
            <a:endParaRPr lang="en-US" sz="1100" dirty="0"/>
          </a:p>
        </p:txBody>
      </p:sp>
      <p:sp>
        <p:nvSpPr>
          <p:cNvPr id="30" name="Shape 27"/>
          <p:cNvSpPr/>
          <p:nvPr/>
        </p:nvSpPr>
        <p:spPr>
          <a:xfrm flipH="1">
            <a:off x="3351276" y="4023360"/>
            <a:ext cx="228600" cy="374904"/>
          </a:xfrm>
          <a:prstGeom prst="line">
            <a:avLst/>
          </a:prstGeom>
          <a:noFill/>
          <a:ln w="12700">
            <a:solidFill>
              <a:srgbClr val="3C7A3C"/>
            </a:solidFill>
            <a:prstDash val="solid"/>
          </a:ln>
        </p:spPr>
      </p:sp>
      <p:sp>
        <p:nvSpPr>
          <p:cNvPr id="31" name="Text 28"/>
          <p:cNvSpPr/>
          <p:nvPr/>
        </p:nvSpPr>
        <p:spPr>
          <a:xfrm>
            <a:off x="2025396" y="4242816"/>
            <a:ext cx="1325880" cy="310896"/>
          </a:xfrm>
          <a:prstGeom prst="roundRect">
            <a:avLst>
              <a:gd name="adj" fmla="val 50000"/>
            </a:avLst>
          </a:prstGeom>
          <a:solidFill>
            <a:srgbClr val="FFFFFF"/>
          </a:solidFill>
          <a:ln w="15875">
            <a:solidFill>
              <a:srgbClr val="3C7A3C"/>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cleaning team</a:t>
            </a:r>
            <a:endParaRPr lang="en-US" sz="1100" dirty="0"/>
          </a:p>
        </p:txBody>
      </p:sp>
      <p:sp>
        <p:nvSpPr>
          <p:cNvPr id="32" name="Shape 29"/>
          <p:cNvSpPr/>
          <p:nvPr/>
        </p:nvSpPr>
        <p:spPr>
          <a:xfrm flipH="1">
            <a:off x="1860804" y="4398264"/>
            <a:ext cx="164592" cy="0"/>
          </a:xfrm>
          <a:prstGeom prst="line">
            <a:avLst/>
          </a:prstGeom>
          <a:noFill/>
          <a:ln w="12700">
            <a:solidFill>
              <a:srgbClr val="3C7A3C"/>
            </a:solidFill>
            <a:prstDash val="solid"/>
          </a:ln>
        </p:spPr>
      </p:sp>
      <p:sp>
        <p:nvSpPr>
          <p:cNvPr id="33" name="Text 30"/>
          <p:cNvSpPr/>
          <p:nvPr/>
        </p:nvSpPr>
        <p:spPr>
          <a:xfrm>
            <a:off x="534924" y="4242816"/>
            <a:ext cx="1325880" cy="310896"/>
          </a:xfrm>
          <a:prstGeom prst="roundRect">
            <a:avLst>
              <a:gd name="adj" fmla="val 50000"/>
            </a:avLst>
          </a:prstGeom>
          <a:solidFill>
            <a:srgbClr val="EEF2F8"/>
          </a:solidFill>
          <a:ln w="15875">
            <a:solidFill>
              <a:srgbClr val="3C7A3C"/>
            </a:solidFill>
            <a:prstDash val="dash"/>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insurer</a:t>
            </a:r>
            <a:endParaRPr lang="en-US" sz="1100" dirty="0"/>
          </a:p>
        </p:txBody>
      </p:sp>
      <p:sp>
        <p:nvSpPr>
          <p:cNvPr id="34" name="Shape 31"/>
          <p:cNvSpPr/>
          <p:nvPr/>
        </p:nvSpPr>
        <p:spPr>
          <a:xfrm flipH="1">
            <a:off x="5180076" y="4702790"/>
            <a:ext cx="536939" cy="966490"/>
          </a:xfrm>
          <a:prstGeom prst="line">
            <a:avLst/>
          </a:prstGeom>
          <a:noFill/>
          <a:ln w="28575">
            <a:solidFill>
              <a:srgbClr val="6E4A9E"/>
            </a:solidFill>
            <a:prstDash val="solid"/>
          </a:ln>
        </p:spPr>
      </p:sp>
      <p:sp>
        <p:nvSpPr>
          <p:cNvPr id="35" name="Text 32"/>
          <p:cNvSpPr/>
          <p:nvPr/>
        </p:nvSpPr>
        <p:spPr>
          <a:xfrm>
            <a:off x="3579876" y="5468112"/>
            <a:ext cx="1600200" cy="402336"/>
          </a:xfrm>
          <a:prstGeom prst="roundRect">
            <a:avLst>
              <a:gd name="adj" fmla="val 50000"/>
            </a:avLst>
          </a:prstGeom>
          <a:solidFill>
            <a:srgbClr val="6E4A9E"/>
          </a:solidFill>
          <a:ln/>
        </p:spPr>
        <p:txBody>
          <a:bodyPr wrap="square" lIns="0" tIns="0" rIns="0" bIns="0" rtlCol="0" anchor="ctr"/>
          <a:lstStyle/>
          <a:p>
            <a:pPr algn="ctr" indent="0" marL="0">
              <a:buNone/>
            </a:pPr>
            <a:r>
              <a:rPr lang="en-US" sz="1200" b="1" dirty="0">
                <a:solidFill>
                  <a:schemeClr val="bg1"/>
                </a:solidFill>
              </a:rPr>
              <a:t>3 · THE ACTIONS</a:t>
            </a:r>
            <a:endParaRPr lang="en-US" sz="1200" dirty="0"/>
          </a:p>
        </p:txBody>
      </p:sp>
      <p:sp>
        <p:nvSpPr>
          <p:cNvPr id="36" name="Shape 33"/>
          <p:cNvSpPr/>
          <p:nvPr/>
        </p:nvSpPr>
        <p:spPr>
          <a:xfrm flipH="1" flipV="1">
            <a:off x="3351276" y="5294376"/>
            <a:ext cx="228600" cy="374904"/>
          </a:xfrm>
          <a:prstGeom prst="line">
            <a:avLst/>
          </a:prstGeom>
          <a:noFill/>
          <a:ln w="12700">
            <a:solidFill>
              <a:srgbClr val="6E4A9E"/>
            </a:solidFill>
            <a:prstDash val="solid"/>
          </a:ln>
        </p:spPr>
      </p:sp>
      <p:sp>
        <p:nvSpPr>
          <p:cNvPr id="37" name="Text 34"/>
          <p:cNvSpPr/>
          <p:nvPr/>
        </p:nvSpPr>
        <p:spPr>
          <a:xfrm>
            <a:off x="2025396" y="5138928"/>
            <a:ext cx="1325880" cy="310896"/>
          </a:xfrm>
          <a:prstGeom prst="roundRect">
            <a:avLst>
              <a:gd name="adj" fmla="val 50000"/>
            </a:avLst>
          </a:prstGeom>
          <a:solidFill>
            <a:srgbClr val="FFFFFF"/>
          </a:solidFill>
          <a:ln w="15875">
            <a:solidFill>
              <a:srgbClr val="6E4A9E"/>
            </a:solidFill>
          </a:ln>
        </p:spPr>
        <p:txBody>
          <a:bodyPr wrap="square" lIns="0" tIns="0" rIns="0" bIns="0" rtlCol="0" anchor="ctr"/>
          <a:lstStyle/>
          <a:p>
            <a:pPr algn="ctr" indent="0" marL="0">
              <a:buNone/>
            </a:pPr>
            <a:r>
              <a:rPr lang="en-US" sz="1100" dirty="0">
                <a:solidFill>
                  <a:schemeClr val="tx1"/>
                </a:solidFill>
              </a:rPr>
              <a:t>pack → </a:t>
            </a:r>
            <a:r>
              <a:rPr lang="en-US" sz="1100" b="1" dirty="0">
                <a:solidFill>
                  <a:schemeClr val="tx1"/>
                </a:solidFill>
              </a:rPr>
              <a:t>packed</a:t>
            </a:r>
            <a:endParaRPr lang="en-US" sz="1100" dirty="0"/>
          </a:p>
        </p:txBody>
      </p:sp>
      <p:sp>
        <p:nvSpPr>
          <p:cNvPr id="38" name="Shape 35"/>
          <p:cNvSpPr/>
          <p:nvPr/>
        </p:nvSpPr>
        <p:spPr>
          <a:xfrm flipH="1">
            <a:off x="1860804" y="5294376"/>
            <a:ext cx="164592" cy="0"/>
          </a:xfrm>
          <a:prstGeom prst="line">
            <a:avLst/>
          </a:prstGeom>
          <a:noFill/>
          <a:ln w="12700">
            <a:solidFill>
              <a:srgbClr val="6E4A9E"/>
            </a:solidFill>
            <a:prstDash val="solid"/>
          </a:ln>
        </p:spPr>
      </p:sp>
      <p:sp>
        <p:nvSpPr>
          <p:cNvPr id="39" name="Text 36"/>
          <p:cNvSpPr/>
          <p:nvPr/>
        </p:nvSpPr>
        <p:spPr>
          <a:xfrm>
            <a:off x="534924" y="5138928"/>
            <a:ext cx="1325880" cy="310896"/>
          </a:xfrm>
          <a:prstGeom prst="roundRect">
            <a:avLst>
              <a:gd name="adj" fmla="val 50000"/>
            </a:avLst>
          </a:prstGeom>
          <a:solidFill>
            <a:srgbClr val="EEF2F8"/>
          </a:solidFill>
          <a:ln w="15875">
            <a:solidFill>
              <a:srgbClr val="6E4A9E"/>
            </a:solidFill>
            <a:prstDash val="dash"/>
          </a:ln>
        </p:spPr>
        <p:txBody>
          <a:bodyPr wrap="square" lIns="0" tIns="0" rIns="0" bIns="0" rtlCol="0" anchor="ctr"/>
          <a:lstStyle/>
          <a:p>
            <a:pPr algn="ctr" indent="0" marL="0">
              <a:buNone/>
            </a:pPr>
            <a:r>
              <a:rPr lang="en-US" sz="1100" dirty="0">
                <a:solidFill>
                  <a:schemeClr val="tx1"/>
                </a:solidFill>
              </a:rPr>
              <a:t>notice → </a:t>
            </a:r>
            <a:r>
              <a:rPr lang="en-US" sz="1100" b="1" dirty="0">
                <a:solidFill>
                  <a:schemeClr val="tx1"/>
                </a:solidFill>
              </a:rPr>
              <a:t>noticed</a:t>
            </a:r>
            <a:endParaRPr lang="en-US" sz="1100" dirty="0"/>
          </a:p>
        </p:txBody>
      </p:sp>
      <p:sp>
        <p:nvSpPr>
          <p:cNvPr id="40" name="Shape 37"/>
          <p:cNvSpPr/>
          <p:nvPr/>
        </p:nvSpPr>
        <p:spPr>
          <a:xfrm flipH="1">
            <a:off x="3351276" y="5669280"/>
            <a:ext cx="228600" cy="0"/>
          </a:xfrm>
          <a:prstGeom prst="line">
            <a:avLst/>
          </a:prstGeom>
          <a:noFill/>
          <a:ln w="12700">
            <a:solidFill>
              <a:srgbClr val="6E4A9E"/>
            </a:solidFill>
            <a:prstDash val="solid"/>
          </a:ln>
        </p:spPr>
      </p:sp>
      <p:sp>
        <p:nvSpPr>
          <p:cNvPr id="41" name="Text 38"/>
          <p:cNvSpPr/>
          <p:nvPr/>
        </p:nvSpPr>
        <p:spPr>
          <a:xfrm>
            <a:off x="2025396" y="5513832"/>
            <a:ext cx="1325880" cy="310896"/>
          </a:xfrm>
          <a:prstGeom prst="roundRect">
            <a:avLst>
              <a:gd name="adj" fmla="val 50000"/>
            </a:avLst>
          </a:prstGeom>
          <a:solidFill>
            <a:srgbClr val="FFFFFF"/>
          </a:solidFill>
          <a:ln w="15875">
            <a:solidFill>
              <a:srgbClr val="6E4A9E"/>
            </a:solidFill>
          </a:ln>
        </p:spPr>
        <p:txBody>
          <a:bodyPr wrap="square" lIns="0" tIns="0" rIns="0" bIns="0" rtlCol="0" anchor="ctr"/>
          <a:lstStyle/>
          <a:p>
            <a:pPr algn="ctr" indent="0" marL="0">
              <a:buNone/>
            </a:pPr>
            <a:r>
              <a:rPr lang="en-US" sz="1100" dirty="0">
                <a:solidFill>
                  <a:schemeClr val="tx1"/>
                </a:solidFill>
              </a:rPr>
              <a:t>lock → </a:t>
            </a:r>
            <a:r>
              <a:rPr lang="en-US" sz="1100" b="1" dirty="0">
                <a:solidFill>
                  <a:schemeClr val="tx1"/>
                </a:solidFill>
              </a:rPr>
              <a:t>locked</a:t>
            </a:r>
            <a:endParaRPr lang="en-US" sz="1100" dirty="0"/>
          </a:p>
        </p:txBody>
      </p:sp>
      <p:sp>
        <p:nvSpPr>
          <p:cNvPr id="42" name="Shape 39"/>
          <p:cNvSpPr/>
          <p:nvPr/>
        </p:nvSpPr>
        <p:spPr>
          <a:xfrm flipH="1">
            <a:off x="1860804" y="5669280"/>
            <a:ext cx="164592" cy="0"/>
          </a:xfrm>
          <a:prstGeom prst="line">
            <a:avLst/>
          </a:prstGeom>
          <a:noFill/>
          <a:ln w="12700">
            <a:solidFill>
              <a:srgbClr val="6E4A9E"/>
            </a:solidFill>
            <a:prstDash val="solid"/>
          </a:ln>
        </p:spPr>
      </p:sp>
      <p:sp>
        <p:nvSpPr>
          <p:cNvPr id="43" name="Text 40"/>
          <p:cNvSpPr/>
          <p:nvPr/>
        </p:nvSpPr>
        <p:spPr>
          <a:xfrm>
            <a:off x="534924" y="5513832"/>
            <a:ext cx="1325880" cy="310896"/>
          </a:xfrm>
          <a:prstGeom prst="roundRect">
            <a:avLst>
              <a:gd name="adj" fmla="val 50000"/>
            </a:avLst>
          </a:prstGeom>
          <a:solidFill>
            <a:srgbClr val="EEF2F8"/>
          </a:solidFill>
          <a:ln w="15875">
            <a:solidFill>
              <a:srgbClr val="6E4A9E"/>
            </a:solidFill>
            <a:prstDash val="dash"/>
          </a:ln>
        </p:spPr>
        <p:txBody>
          <a:bodyPr wrap="square" lIns="0" tIns="0" rIns="0" bIns="0" rtlCol="0" anchor="ctr"/>
          <a:lstStyle/>
          <a:p>
            <a:pPr algn="ctr" indent="0" marL="0">
              <a:buNone/>
            </a:pPr>
            <a:r>
              <a:rPr lang="en-US" sz="1100" dirty="0">
                <a:solidFill>
                  <a:schemeClr val="tx1"/>
                </a:solidFill>
              </a:rPr>
              <a:t>begin → </a:t>
            </a:r>
            <a:r>
              <a:rPr lang="en-US" sz="1100" b="1" dirty="0">
                <a:solidFill>
                  <a:schemeClr val="tx1"/>
                </a:solidFill>
              </a:rPr>
              <a:t>began</a:t>
            </a:r>
            <a:endParaRPr lang="en-US" sz="1100" dirty="0"/>
          </a:p>
        </p:txBody>
      </p:sp>
      <p:sp>
        <p:nvSpPr>
          <p:cNvPr id="44" name="Shape 41"/>
          <p:cNvSpPr/>
          <p:nvPr/>
        </p:nvSpPr>
        <p:spPr>
          <a:xfrm flipH="1">
            <a:off x="3351276" y="5669280"/>
            <a:ext cx="228600" cy="374904"/>
          </a:xfrm>
          <a:prstGeom prst="line">
            <a:avLst/>
          </a:prstGeom>
          <a:noFill/>
          <a:ln w="12700">
            <a:solidFill>
              <a:srgbClr val="6E4A9E"/>
            </a:solidFill>
            <a:prstDash val="solid"/>
          </a:ln>
        </p:spPr>
      </p:sp>
      <p:sp>
        <p:nvSpPr>
          <p:cNvPr id="45" name="Text 42"/>
          <p:cNvSpPr/>
          <p:nvPr/>
        </p:nvSpPr>
        <p:spPr>
          <a:xfrm>
            <a:off x="2025396" y="5888736"/>
            <a:ext cx="1325880" cy="310896"/>
          </a:xfrm>
          <a:prstGeom prst="roundRect">
            <a:avLst>
              <a:gd name="adj" fmla="val 50000"/>
            </a:avLst>
          </a:prstGeom>
          <a:solidFill>
            <a:srgbClr val="FFFFFF"/>
          </a:solidFill>
          <a:ln w="15875">
            <a:solidFill>
              <a:srgbClr val="6E4A9E"/>
            </a:solidFill>
          </a:ln>
        </p:spPr>
        <p:txBody>
          <a:bodyPr wrap="square" lIns="0" tIns="0" rIns="0" bIns="0" rtlCol="0" anchor="ctr"/>
          <a:lstStyle/>
          <a:p>
            <a:pPr algn="ctr" indent="0" marL="0">
              <a:buNone/>
            </a:pPr>
            <a:r>
              <a:rPr lang="en-US" sz="1100" dirty="0">
                <a:solidFill>
                  <a:schemeClr val="tx1"/>
                </a:solidFill>
              </a:rPr>
              <a:t>leave → </a:t>
            </a:r>
            <a:r>
              <a:rPr lang="en-US" sz="1100" b="1" dirty="0">
                <a:solidFill>
                  <a:schemeClr val="tx1"/>
                </a:solidFill>
              </a:rPr>
              <a:t>left</a:t>
            </a:r>
            <a:endParaRPr lang="en-US" sz="1100" dirty="0"/>
          </a:p>
        </p:txBody>
      </p:sp>
      <p:sp>
        <p:nvSpPr>
          <p:cNvPr id="46" name="Shape 43"/>
          <p:cNvSpPr/>
          <p:nvPr/>
        </p:nvSpPr>
        <p:spPr>
          <a:xfrm flipH="1">
            <a:off x="1860804" y="6044184"/>
            <a:ext cx="164592" cy="0"/>
          </a:xfrm>
          <a:prstGeom prst="line">
            <a:avLst/>
          </a:prstGeom>
          <a:noFill/>
          <a:ln w="12700">
            <a:solidFill>
              <a:srgbClr val="6E4A9E"/>
            </a:solidFill>
            <a:prstDash val="solid"/>
          </a:ln>
        </p:spPr>
      </p:sp>
      <p:sp>
        <p:nvSpPr>
          <p:cNvPr id="47" name="Text 44"/>
          <p:cNvSpPr/>
          <p:nvPr/>
        </p:nvSpPr>
        <p:spPr>
          <a:xfrm>
            <a:off x="534924" y="5888736"/>
            <a:ext cx="1325880" cy="310896"/>
          </a:xfrm>
          <a:prstGeom prst="roundRect">
            <a:avLst>
              <a:gd name="adj" fmla="val 50000"/>
            </a:avLst>
          </a:prstGeom>
          <a:solidFill>
            <a:srgbClr val="EEF2F8"/>
          </a:solidFill>
          <a:ln w="15875">
            <a:solidFill>
              <a:srgbClr val="6E4A9E"/>
            </a:solidFill>
            <a:prstDash val="dash"/>
          </a:ln>
        </p:spPr>
        <p:txBody>
          <a:bodyPr wrap="square" lIns="0" tIns="0" rIns="0" bIns="0" rtlCol="0" anchor="ctr"/>
          <a:lstStyle/>
          <a:p>
            <a:pPr algn="ctr" indent="0" marL="0">
              <a:buNone/>
            </a:pPr>
            <a:r>
              <a:rPr lang="en-US" sz="1100" dirty="0">
                <a:solidFill>
                  <a:schemeClr val="tx1"/>
                </a:solidFill>
              </a:rPr>
              <a:t>hear → </a:t>
            </a:r>
            <a:r>
              <a:rPr lang="en-US" sz="1100" b="1" dirty="0">
                <a:solidFill>
                  <a:schemeClr val="tx1"/>
                </a:solidFill>
              </a:rPr>
              <a:t>heard</a:t>
            </a:r>
            <a:endParaRPr lang="en-US" sz="1100" dirty="0"/>
          </a:p>
        </p:txBody>
      </p:sp>
      <p:sp>
        <p:nvSpPr>
          <p:cNvPr id="48" name="Shape 45"/>
          <p:cNvSpPr/>
          <p:nvPr/>
        </p:nvSpPr>
        <p:spPr>
          <a:xfrm flipV="1">
            <a:off x="6471937" y="2377440"/>
            <a:ext cx="536939" cy="966490"/>
          </a:xfrm>
          <a:prstGeom prst="line">
            <a:avLst/>
          </a:prstGeom>
          <a:noFill/>
          <a:ln w="28575">
            <a:solidFill>
              <a:srgbClr val="C0752A"/>
            </a:solidFill>
            <a:prstDash val="solid"/>
          </a:ln>
        </p:spPr>
      </p:sp>
      <p:sp>
        <p:nvSpPr>
          <p:cNvPr id="49" name="Text 46"/>
          <p:cNvSpPr/>
          <p:nvPr/>
        </p:nvSpPr>
        <p:spPr>
          <a:xfrm>
            <a:off x="7008876" y="2176272"/>
            <a:ext cx="1600200" cy="402336"/>
          </a:xfrm>
          <a:prstGeom prst="roundRect">
            <a:avLst>
              <a:gd name="adj" fmla="val 50000"/>
            </a:avLst>
          </a:prstGeom>
          <a:solidFill>
            <a:srgbClr val="C0752A"/>
          </a:solidFill>
          <a:ln/>
        </p:spPr>
        <p:txBody>
          <a:bodyPr wrap="square" lIns="0" tIns="0" rIns="0" bIns="0" rtlCol="0" anchor="ctr"/>
          <a:lstStyle/>
          <a:p>
            <a:pPr algn="ctr" indent="0" marL="0">
              <a:buNone/>
            </a:pPr>
            <a:r>
              <a:rPr lang="en-US" sz="1200" b="1" dirty="0">
                <a:solidFill>
                  <a:schemeClr val="bg1"/>
                </a:solidFill>
              </a:rPr>
              <a:t>4 · TIME WORDS</a:t>
            </a:r>
            <a:endParaRPr lang="en-US" sz="1200" dirty="0"/>
          </a:p>
        </p:txBody>
      </p:sp>
      <p:sp>
        <p:nvSpPr>
          <p:cNvPr id="50" name="Shape 47"/>
          <p:cNvSpPr/>
          <p:nvPr/>
        </p:nvSpPr>
        <p:spPr>
          <a:xfrm flipV="1">
            <a:off x="8609076" y="2002536"/>
            <a:ext cx="228600" cy="374904"/>
          </a:xfrm>
          <a:prstGeom prst="line">
            <a:avLst/>
          </a:prstGeom>
          <a:noFill/>
          <a:ln w="12700">
            <a:solidFill>
              <a:srgbClr val="C0752A"/>
            </a:solidFill>
            <a:prstDash val="solid"/>
          </a:ln>
        </p:spPr>
      </p:sp>
      <p:sp>
        <p:nvSpPr>
          <p:cNvPr id="51" name="Text 48"/>
          <p:cNvSpPr/>
          <p:nvPr/>
        </p:nvSpPr>
        <p:spPr>
          <a:xfrm>
            <a:off x="8837676" y="1847088"/>
            <a:ext cx="1325880" cy="310896"/>
          </a:xfrm>
          <a:prstGeom prst="roundRect">
            <a:avLst>
              <a:gd name="adj" fmla="val 50000"/>
            </a:avLst>
          </a:prstGeom>
          <a:solidFill>
            <a:srgbClr val="FFFFFF"/>
          </a:solidFill>
          <a:ln w="15875">
            <a:solidFill>
              <a:srgbClr val="C0752A"/>
            </a:solidFill>
          </a:ln>
        </p:spPr>
        <p:txBody>
          <a:bodyPr wrap="square" lIns="0" tIns="0" rIns="0" bIns="0" rtlCol="0" anchor="ctr"/>
          <a:lstStyle/>
          <a:p>
            <a:pPr algn="ctr" indent="0" marL="0">
              <a:buNone/>
            </a:pPr>
            <a:r>
              <a:rPr lang="en-US" sz="1100" dirty="0">
                <a:solidFill>
                  <a:schemeClr val="tx1"/>
                </a:solidFill>
              </a:rPr>
              <a:t>at </a:t>
            </a:r>
            <a:r>
              <a:rPr lang="en-US" sz="1100" b="1" dirty="0">
                <a:solidFill>
                  <a:schemeClr val="tx1"/>
                </a:solidFill>
              </a:rPr>
              <a:t>exactly</a:t>
            </a:r>
            <a:r>
              <a:rPr lang="en-US" sz="1100" dirty="0">
                <a:solidFill>
                  <a:schemeClr val="tx1"/>
                </a:solidFill>
              </a:rPr>
              <a:t> 7.55</a:t>
            </a:r>
            <a:endParaRPr lang="en-US" sz="1100" dirty="0"/>
          </a:p>
        </p:txBody>
      </p:sp>
      <p:sp>
        <p:nvSpPr>
          <p:cNvPr id="52" name="Shape 49"/>
          <p:cNvSpPr/>
          <p:nvPr/>
        </p:nvSpPr>
        <p:spPr>
          <a:xfrm>
            <a:off x="10163556" y="2002536"/>
            <a:ext cx="164592" cy="0"/>
          </a:xfrm>
          <a:prstGeom prst="line">
            <a:avLst/>
          </a:prstGeom>
          <a:noFill/>
          <a:ln w="12700">
            <a:solidFill>
              <a:srgbClr val="C0752A"/>
            </a:solidFill>
            <a:prstDash val="solid"/>
          </a:ln>
        </p:spPr>
      </p:sp>
      <p:sp>
        <p:nvSpPr>
          <p:cNvPr id="53" name="Text 50"/>
          <p:cNvSpPr/>
          <p:nvPr/>
        </p:nvSpPr>
        <p:spPr>
          <a:xfrm>
            <a:off x="10328148" y="1847088"/>
            <a:ext cx="1325880" cy="310896"/>
          </a:xfrm>
          <a:prstGeom prst="roundRect">
            <a:avLst>
              <a:gd name="adj" fmla="val 50000"/>
            </a:avLst>
          </a:prstGeom>
          <a:solidFill>
            <a:srgbClr val="EEF2F8"/>
          </a:solidFill>
          <a:ln w="15875">
            <a:solidFill>
              <a:srgbClr val="C0752A"/>
            </a:solidFill>
            <a:prstDash val="dash"/>
          </a:ln>
        </p:spPr>
        <p:txBody>
          <a:bodyPr wrap="square" lIns="0" tIns="0" rIns="0" bIns="0" rtlCol="0" anchor="ctr"/>
          <a:lstStyle/>
          <a:p>
            <a:pPr algn="ctr" indent="0" marL="0">
              <a:buNone/>
            </a:pPr>
            <a:r>
              <a:rPr lang="en-US" sz="1100" b="1" dirty="0">
                <a:solidFill>
                  <a:schemeClr val="tx1"/>
                </a:solidFill>
              </a:rPr>
              <a:t>by</a:t>
            </a:r>
            <a:r>
              <a:rPr lang="en-US" sz="1100" dirty="0">
                <a:solidFill>
                  <a:schemeClr val="tx1"/>
                </a:solidFill>
              </a:rPr>
              <a:t> nine</a:t>
            </a:r>
            <a:endParaRPr lang="en-US" sz="1100" dirty="0"/>
          </a:p>
        </p:txBody>
      </p:sp>
      <p:sp>
        <p:nvSpPr>
          <p:cNvPr id="54" name="Shape 51"/>
          <p:cNvSpPr/>
          <p:nvPr/>
        </p:nvSpPr>
        <p:spPr>
          <a:xfrm>
            <a:off x="8609076" y="2377440"/>
            <a:ext cx="228600" cy="0"/>
          </a:xfrm>
          <a:prstGeom prst="line">
            <a:avLst/>
          </a:prstGeom>
          <a:noFill/>
          <a:ln w="12700">
            <a:solidFill>
              <a:srgbClr val="C0752A"/>
            </a:solidFill>
            <a:prstDash val="solid"/>
          </a:ln>
        </p:spPr>
      </p:sp>
      <p:sp>
        <p:nvSpPr>
          <p:cNvPr id="55" name="Text 52"/>
          <p:cNvSpPr/>
          <p:nvPr/>
        </p:nvSpPr>
        <p:spPr>
          <a:xfrm>
            <a:off x="8837676" y="2221992"/>
            <a:ext cx="1325880" cy="310896"/>
          </a:xfrm>
          <a:prstGeom prst="roundRect">
            <a:avLst>
              <a:gd name="adj" fmla="val 50000"/>
            </a:avLst>
          </a:prstGeom>
          <a:solidFill>
            <a:srgbClr val="FFFFFF"/>
          </a:solidFill>
          <a:ln w="15875">
            <a:solidFill>
              <a:srgbClr val="C0752A"/>
            </a:solidFill>
          </a:ln>
        </p:spPr>
        <p:txBody>
          <a:bodyPr wrap="square" lIns="0" tIns="0" rIns="0" bIns="0" rtlCol="0" anchor="ctr"/>
          <a:lstStyle/>
          <a:p>
            <a:pPr algn="ctr" indent="0" marL="0">
              <a:buNone/>
            </a:pPr>
            <a:r>
              <a:rPr lang="en-US" sz="1100" dirty="0">
                <a:solidFill>
                  <a:schemeClr val="tx1"/>
                </a:solidFill>
              </a:rPr>
              <a:t>at </a:t>
            </a:r>
            <a:r>
              <a:rPr lang="en-US" sz="1100" b="1" dirty="0">
                <a:solidFill>
                  <a:schemeClr val="tx1"/>
                </a:solidFill>
              </a:rPr>
              <a:t>around</a:t>
            </a:r>
            <a:r>
              <a:rPr lang="en-US" sz="1100" dirty="0">
                <a:solidFill>
                  <a:schemeClr val="tx1"/>
                </a:solidFill>
              </a:rPr>
              <a:t> eight</a:t>
            </a:r>
            <a:endParaRPr lang="en-US" sz="1100" dirty="0"/>
          </a:p>
        </p:txBody>
      </p:sp>
      <p:sp>
        <p:nvSpPr>
          <p:cNvPr id="56" name="Shape 53"/>
          <p:cNvSpPr/>
          <p:nvPr/>
        </p:nvSpPr>
        <p:spPr>
          <a:xfrm>
            <a:off x="10163556" y="2377440"/>
            <a:ext cx="164592" cy="0"/>
          </a:xfrm>
          <a:prstGeom prst="line">
            <a:avLst/>
          </a:prstGeom>
          <a:noFill/>
          <a:ln w="12700">
            <a:solidFill>
              <a:srgbClr val="C0752A"/>
            </a:solidFill>
            <a:prstDash val="solid"/>
          </a:ln>
        </p:spPr>
      </p:sp>
      <p:sp>
        <p:nvSpPr>
          <p:cNvPr id="57" name="Text 54"/>
          <p:cNvSpPr/>
          <p:nvPr/>
        </p:nvSpPr>
        <p:spPr>
          <a:xfrm>
            <a:off x="10328148" y="2221992"/>
            <a:ext cx="1325880" cy="310896"/>
          </a:xfrm>
          <a:prstGeom prst="roundRect">
            <a:avLst>
              <a:gd name="adj" fmla="val 50000"/>
            </a:avLst>
          </a:prstGeom>
          <a:solidFill>
            <a:srgbClr val="EEF2F8"/>
          </a:solidFill>
          <a:ln w="15875">
            <a:solidFill>
              <a:srgbClr val="C0752A"/>
            </a:solidFill>
            <a:prstDash val="dash"/>
          </a:ln>
        </p:spPr>
        <p:txBody>
          <a:bodyPr wrap="square" lIns="0" tIns="0" rIns="0" bIns="0" rtlCol="0" anchor="ctr"/>
          <a:lstStyle/>
          <a:p>
            <a:pPr algn="ctr" indent="0" marL="0">
              <a:buNone/>
            </a:pPr>
            <a:r>
              <a:rPr lang="en-US" sz="1100" b="1" dirty="0">
                <a:solidFill>
                  <a:schemeClr val="tx1"/>
                </a:solidFill>
              </a:rPr>
              <a:t>later</a:t>
            </a:r>
            <a:endParaRPr lang="en-US" sz="1100" dirty="0"/>
          </a:p>
        </p:txBody>
      </p:sp>
      <p:sp>
        <p:nvSpPr>
          <p:cNvPr id="58" name="Shape 55"/>
          <p:cNvSpPr/>
          <p:nvPr/>
        </p:nvSpPr>
        <p:spPr>
          <a:xfrm>
            <a:off x="8609076" y="2377440"/>
            <a:ext cx="228600" cy="374904"/>
          </a:xfrm>
          <a:prstGeom prst="line">
            <a:avLst/>
          </a:prstGeom>
          <a:noFill/>
          <a:ln w="12700">
            <a:solidFill>
              <a:srgbClr val="C0752A"/>
            </a:solidFill>
            <a:prstDash val="solid"/>
          </a:ln>
        </p:spPr>
      </p:sp>
      <p:sp>
        <p:nvSpPr>
          <p:cNvPr id="59" name="Text 56"/>
          <p:cNvSpPr/>
          <p:nvPr/>
        </p:nvSpPr>
        <p:spPr>
          <a:xfrm>
            <a:off x="8837676" y="2596896"/>
            <a:ext cx="1325880" cy="310896"/>
          </a:xfrm>
          <a:prstGeom prst="roundRect">
            <a:avLst>
              <a:gd name="adj" fmla="val 50000"/>
            </a:avLst>
          </a:prstGeom>
          <a:solidFill>
            <a:srgbClr val="FFFFFF"/>
          </a:solidFill>
          <a:ln w="15875">
            <a:solidFill>
              <a:srgbClr val="C0752A"/>
            </a:solidFill>
          </a:ln>
        </p:spPr>
        <p:txBody>
          <a:bodyPr wrap="square" lIns="0" tIns="0" rIns="0" bIns="0" rtlCol="0" anchor="ctr"/>
          <a:lstStyle/>
          <a:p>
            <a:pPr algn="ctr" indent="0" marL="0">
              <a:buNone/>
            </a:pPr>
            <a:r>
              <a:rPr lang="en-US" sz="1100" b="1" dirty="0">
                <a:solidFill>
                  <a:schemeClr val="tx1"/>
                </a:solidFill>
              </a:rPr>
              <a:t>until</a:t>
            </a:r>
            <a:r>
              <a:rPr lang="en-US" sz="1100" dirty="0">
                <a:solidFill>
                  <a:schemeClr val="tx1"/>
                </a:solidFill>
              </a:rPr>
              <a:t> 8.15</a:t>
            </a:r>
            <a:endParaRPr lang="en-US" sz="1100" dirty="0"/>
          </a:p>
        </p:txBody>
      </p:sp>
      <p:sp>
        <p:nvSpPr>
          <p:cNvPr id="60" name="Shape 57"/>
          <p:cNvSpPr/>
          <p:nvPr/>
        </p:nvSpPr>
        <p:spPr>
          <a:xfrm>
            <a:off x="10163556" y="2752344"/>
            <a:ext cx="164592" cy="0"/>
          </a:xfrm>
          <a:prstGeom prst="line">
            <a:avLst/>
          </a:prstGeom>
          <a:noFill/>
          <a:ln w="12700">
            <a:solidFill>
              <a:srgbClr val="C0752A"/>
            </a:solidFill>
            <a:prstDash val="solid"/>
          </a:ln>
        </p:spPr>
      </p:sp>
      <p:sp>
        <p:nvSpPr>
          <p:cNvPr id="61" name="Text 58"/>
          <p:cNvSpPr/>
          <p:nvPr/>
        </p:nvSpPr>
        <p:spPr>
          <a:xfrm>
            <a:off x="10328148" y="2596896"/>
            <a:ext cx="1325880" cy="310896"/>
          </a:xfrm>
          <a:prstGeom prst="roundRect">
            <a:avLst>
              <a:gd name="adj" fmla="val 50000"/>
            </a:avLst>
          </a:prstGeom>
          <a:solidFill>
            <a:srgbClr val="EEF2F8"/>
          </a:solidFill>
          <a:ln w="15875">
            <a:solidFill>
              <a:srgbClr val="C0752A"/>
            </a:solidFill>
            <a:prstDash val="dash"/>
          </a:ln>
        </p:spPr>
        <p:txBody>
          <a:bodyPr wrap="square" lIns="0" tIns="0" rIns="0" bIns="0" rtlCol="0" anchor="ctr"/>
          <a:lstStyle/>
          <a:p>
            <a:pPr algn="ctr" indent="0" marL="0">
              <a:buNone/>
            </a:pPr>
            <a:r>
              <a:rPr lang="en-US" sz="1100" b="1" dirty="0">
                <a:solidFill>
                  <a:schemeClr val="tx1"/>
                </a:solidFill>
              </a:rPr>
              <a:t>meanwhile</a:t>
            </a:r>
            <a:endParaRPr lang="en-US" sz="1100" dirty="0"/>
          </a:p>
        </p:txBody>
      </p:sp>
      <p:sp>
        <p:nvSpPr>
          <p:cNvPr id="62" name="Shape 59"/>
          <p:cNvSpPr/>
          <p:nvPr/>
        </p:nvSpPr>
        <p:spPr>
          <a:xfrm>
            <a:off x="6471937" y="4702790"/>
            <a:ext cx="536939" cy="966490"/>
          </a:xfrm>
          <a:prstGeom prst="line">
            <a:avLst/>
          </a:prstGeom>
          <a:noFill/>
          <a:ln w="28575">
            <a:solidFill>
              <a:srgbClr val="44546A"/>
            </a:solidFill>
            <a:prstDash val="solid"/>
          </a:ln>
        </p:spPr>
      </p:sp>
      <p:sp>
        <p:nvSpPr>
          <p:cNvPr id="63" name="Text 60"/>
          <p:cNvSpPr/>
          <p:nvPr/>
        </p:nvSpPr>
        <p:spPr>
          <a:xfrm>
            <a:off x="7008876" y="5468112"/>
            <a:ext cx="1600200" cy="402336"/>
          </a:xfrm>
          <a:prstGeom prst="roundRect">
            <a:avLst>
              <a:gd name="adj" fmla="val 50000"/>
            </a:avLst>
          </a:prstGeom>
          <a:solidFill>
            <a:srgbClr val="44546A"/>
          </a:solidFill>
          <a:ln/>
        </p:spPr>
        <p:txBody>
          <a:bodyPr wrap="square" lIns="0" tIns="0" rIns="0" bIns="0" rtlCol="0" anchor="ctr"/>
          <a:lstStyle/>
          <a:p>
            <a:pPr algn="ctr" indent="0" marL="0">
              <a:buNone/>
            </a:pPr>
            <a:r>
              <a:rPr lang="en-US" sz="1200" b="1" dirty="0">
                <a:solidFill>
                  <a:schemeClr val="bg1"/>
                </a:solidFill>
              </a:rPr>
              <a:t>5 · THE REPORT</a:t>
            </a:r>
            <a:endParaRPr lang="en-US" sz="1200" dirty="0"/>
          </a:p>
        </p:txBody>
      </p:sp>
      <p:sp>
        <p:nvSpPr>
          <p:cNvPr id="64" name="Shape 61"/>
          <p:cNvSpPr/>
          <p:nvPr/>
        </p:nvSpPr>
        <p:spPr>
          <a:xfrm flipV="1">
            <a:off x="8609076" y="5294376"/>
            <a:ext cx="228600" cy="374904"/>
          </a:xfrm>
          <a:prstGeom prst="line">
            <a:avLst/>
          </a:prstGeom>
          <a:noFill/>
          <a:ln w="12700">
            <a:solidFill>
              <a:srgbClr val="44546A"/>
            </a:solidFill>
            <a:prstDash val="solid"/>
          </a:ln>
        </p:spPr>
      </p:sp>
      <p:sp>
        <p:nvSpPr>
          <p:cNvPr id="65" name="Text 62"/>
          <p:cNvSpPr/>
          <p:nvPr/>
        </p:nvSpPr>
        <p:spPr>
          <a:xfrm>
            <a:off x="8837676" y="5138928"/>
            <a:ext cx="1325880" cy="310896"/>
          </a:xfrm>
          <a:prstGeom prst="roundRect">
            <a:avLst>
              <a:gd name="adj" fmla="val 50000"/>
            </a:avLst>
          </a:prstGeom>
          <a:solidFill>
            <a:srgbClr val="FFFFFF"/>
          </a:solidFill>
          <a:ln w="15875">
            <a:solidFill>
              <a:srgbClr val="44546A"/>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fact</a:t>
            </a:r>
            <a:endParaRPr lang="en-US" sz="1100" dirty="0"/>
          </a:p>
        </p:txBody>
      </p:sp>
      <p:sp>
        <p:nvSpPr>
          <p:cNvPr id="66" name="Shape 63"/>
          <p:cNvSpPr/>
          <p:nvPr/>
        </p:nvSpPr>
        <p:spPr>
          <a:xfrm>
            <a:off x="10163556" y="5294376"/>
            <a:ext cx="164592" cy="0"/>
          </a:xfrm>
          <a:prstGeom prst="line">
            <a:avLst/>
          </a:prstGeom>
          <a:noFill/>
          <a:ln w="12700">
            <a:solidFill>
              <a:srgbClr val="44546A"/>
            </a:solidFill>
            <a:prstDash val="solid"/>
          </a:ln>
        </p:spPr>
      </p:sp>
      <p:sp>
        <p:nvSpPr>
          <p:cNvPr id="67" name="Text 64"/>
          <p:cNvSpPr/>
          <p:nvPr/>
        </p:nvSpPr>
        <p:spPr>
          <a:xfrm>
            <a:off x="10328148" y="5138928"/>
            <a:ext cx="1325880" cy="310896"/>
          </a:xfrm>
          <a:prstGeom prst="roundRect">
            <a:avLst>
              <a:gd name="adj" fmla="val 50000"/>
            </a:avLst>
          </a:prstGeom>
          <a:solidFill>
            <a:srgbClr val="EEF2F8"/>
          </a:solidFill>
          <a:ln w="15875">
            <a:solidFill>
              <a:srgbClr val="44546A"/>
            </a:solidFill>
            <a:prstDash val="dash"/>
          </a:ln>
        </p:spPr>
        <p:txBody>
          <a:bodyPr wrap="square" lIns="0" tIns="0" rIns="0" bIns="0" rtlCol="0" anchor="ctr"/>
          <a:lstStyle/>
          <a:p>
            <a:pPr algn="ctr" indent="0" marL="0">
              <a:buNone/>
            </a:pPr>
            <a:r>
              <a:rPr lang="en-US" sz="1100" dirty="0">
                <a:solidFill>
                  <a:schemeClr val="tx1"/>
                </a:solidFill>
              </a:rPr>
              <a:t>to </a:t>
            </a:r>
            <a:r>
              <a:rPr lang="en-US" sz="1100" b="1" dirty="0">
                <a:solidFill>
                  <a:schemeClr val="tx1"/>
                </a:solidFill>
              </a:rPr>
              <a:t>check</a:t>
            </a:r>
            <a:endParaRPr lang="en-US" sz="1100" dirty="0"/>
          </a:p>
        </p:txBody>
      </p:sp>
      <p:sp>
        <p:nvSpPr>
          <p:cNvPr id="68" name="Shape 65"/>
          <p:cNvSpPr/>
          <p:nvPr/>
        </p:nvSpPr>
        <p:spPr>
          <a:xfrm>
            <a:off x="8609076" y="5669280"/>
            <a:ext cx="228600" cy="0"/>
          </a:xfrm>
          <a:prstGeom prst="line">
            <a:avLst/>
          </a:prstGeom>
          <a:noFill/>
          <a:ln w="12700">
            <a:solidFill>
              <a:srgbClr val="44546A"/>
            </a:solidFill>
            <a:prstDash val="solid"/>
          </a:ln>
        </p:spPr>
      </p:sp>
      <p:sp>
        <p:nvSpPr>
          <p:cNvPr id="69" name="Text 66"/>
          <p:cNvSpPr/>
          <p:nvPr/>
        </p:nvSpPr>
        <p:spPr>
          <a:xfrm>
            <a:off x="8837676" y="5513832"/>
            <a:ext cx="1325880" cy="310896"/>
          </a:xfrm>
          <a:prstGeom prst="roundRect">
            <a:avLst>
              <a:gd name="adj" fmla="val 50000"/>
            </a:avLst>
          </a:prstGeom>
          <a:solidFill>
            <a:srgbClr val="FFFFFF"/>
          </a:solidFill>
          <a:ln w="15875">
            <a:solidFill>
              <a:srgbClr val="44546A"/>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guess</a:t>
            </a:r>
            <a:endParaRPr lang="en-US" sz="1100" dirty="0"/>
          </a:p>
        </p:txBody>
      </p:sp>
      <p:sp>
        <p:nvSpPr>
          <p:cNvPr id="70" name="Shape 67"/>
          <p:cNvSpPr/>
          <p:nvPr/>
        </p:nvSpPr>
        <p:spPr>
          <a:xfrm>
            <a:off x="10163556" y="5669280"/>
            <a:ext cx="164592" cy="0"/>
          </a:xfrm>
          <a:prstGeom prst="line">
            <a:avLst/>
          </a:prstGeom>
          <a:noFill/>
          <a:ln w="12700">
            <a:solidFill>
              <a:srgbClr val="44546A"/>
            </a:solidFill>
            <a:prstDash val="solid"/>
          </a:ln>
        </p:spPr>
      </p:sp>
      <p:sp>
        <p:nvSpPr>
          <p:cNvPr id="71" name="Text 68"/>
          <p:cNvSpPr/>
          <p:nvPr/>
        </p:nvSpPr>
        <p:spPr>
          <a:xfrm>
            <a:off x="10328148" y="5513832"/>
            <a:ext cx="1325880" cy="310896"/>
          </a:xfrm>
          <a:prstGeom prst="roundRect">
            <a:avLst>
              <a:gd name="adj" fmla="val 50000"/>
            </a:avLst>
          </a:prstGeom>
          <a:solidFill>
            <a:srgbClr val="EEF2F8"/>
          </a:solidFill>
          <a:ln w="15875">
            <a:solidFill>
              <a:srgbClr val="44546A"/>
            </a:solidFill>
            <a:prstDash val="dash"/>
          </a:ln>
        </p:spPr>
        <p:txBody>
          <a:bodyPr wrap="square" lIns="0" tIns="0" rIns="0" bIns="0" rtlCol="0" anchor="ctr"/>
          <a:lstStyle/>
          <a:p>
            <a:pPr algn="ctr" indent="0" marL="0">
              <a:buNone/>
            </a:pPr>
            <a:r>
              <a:rPr lang="en-US" sz="1100" dirty="0">
                <a:solidFill>
                  <a:schemeClr val="tx1"/>
                </a:solidFill>
              </a:rPr>
              <a:t>to </a:t>
            </a:r>
            <a:r>
              <a:rPr lang="en-US" sz="1100" b="1" dirty="0">
                <a:solidFill>
                  <a:schemeClr val="tx1"/>
                </a:solidFill>
              </a:rPr>
              <a:t>confirm</a:t>
            </a:r>
            <a:endParaRPr lang="en-US" sz="1100" dirty="0"/>
          </a:p>
        </p:txBody>
      </p:sp>
      <p:sp>
        <p:nvSpPr>
          <p:cNvPr id="72" name="Shape 69"/>
          <p:cNvSpPr/>
          <p:nvPr/>
        </p:nvSpPr>
        <p:spPr>
          <a:xfrm>
            <a:off x="8609076" y="5669280"/>
            <a:ext cx="228600" cy="374904"/>
          </a:xfrm>
          <a:prstGeom prst="line">
            <a:avLst/>
          </a:prstGeom>
          <a:noFill/>
          <a:ln w="12700">
            <a:solidFill>
              <a:srgbClr val="44546A"/>
            </a:solidFill>
            <a:prstDash val="solid"/>
          </a:ln>
        </p:spPr>
      </p:sp>
      <p:sp>
        <p:nvSpPr>
          <p:cNvPr id="73" name="Text 70"/>
          <p:cNvSpPr/>
          <p:nvPr/>
        </p:nvSpPr>
        <p:spPr>
          <a:xfrm>
            <a:off x="8837676" y="5888736"/>
            <a:ext cx="1325880" cy="310896"/>
          </a:xfrm>
          <a:prstGeom prst="roundRect">
            <a:avLst>
              <a:gd name="adj" fmla="val 50000"/>
            </a:avLst>
          </a:prstGeom>
          <a:solidFill>
            <a:srgbClr val="FFFFFF"/>
          </a:solidFill>
          <a:ln w="15875">
            <a:solidFill>
              <a:srgbClr val="44546A"/>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source</a:t>
            </a:r>
            <a:endParaRPr lang="en-US" sz="1100" dirty="0"/>
          </a:p>
        </p:txBody>
      </p:sp>
      <p:sp>
        <p:nvSpPr>
          <p:cNvPr id="74" name="Shape 71"/>
          <p:cNvSpPr/>
          <p:nvPr/>
        </p:nvSpPr>
        <p:spPr>
          <a:xfrm>
            <a:off x="10163556" y="6044184"/>
            <a:ext cx="164592" cy="0"/>
          </a:xfrm>
          <a:prstGeom prst="line">
            <a:avLst/>
          </a:prstGeom>
          <a:noFill/>
          <a:ln w="12700">
            <a:solidFill>
              <a:srgbClr val="44546A"/>
            </a:solidFill>
            <a:prstDash val="solid"/>
          </a:ln>
        </p:spPr>
      </p:sp>
      <p:sp>
        <p:nvSpPr>
          <p:cNvPr id="75" name="Text 72"/>
          <p:cNvSpPr/>
          <p:nvPr/>
        </p:nvSpPr>
        <p:spPr>
          <a:xfrm>
            <a:off x="10328148" y="5888736"/>
            <a:ext cx="1325880" cy="310896"/>
          </a:xfrm>
          <a:prstGeom prst="roundRect">
            <a:avLst>
              <a:gd name="adj" fmla="val 50000"/>
            </a:avLst>
          </a:prstGeom>
          <a:solidFill>
            <a:srgbClr val="EEF2F8"/>
          </a:solidFill>
          <a:ln w="15875">
            <a:solidFill>
              <a:srgbClr val="44546A"/>
            </a:solidFill>
            <a:prstDash val="dash"/>
          </a:ln>
        </p:spPr>
        <p:txBody>
          <a:bodyPr wrap="square" lIns="0" tIns="0" rIns="0" bIns="0" rtlCol="0" anchor="ctr"/>
          <a:lstStyle/>
          <a:p>
            <a:pPr algn="ctr" indent="0" marL="0">
              <a:buNone/>
            </a:pPr>
            <a:r>
              <a:rPr lang="en-US" sz="1100" dirty="0">
                <a:solidFill>
                  <a:schemeClr val="tx1"/>
                </a:solidFill>
              </a:rPr>
              <a:t>to </a:t>
            </a:r>
            <a:r>
              <a:rPr lang="en-US" sz="1100" b="1" dirty="0">
                <a:solidFill>
                  <a:schemeClr val="tx1"/>
                </a:solidFill>
              </a:rPr>
              <a:t>contradict</a:t>
            </a:r>
            <a:endParaRPr lang="en-US" sz="1100" dirty="0"/>
          </a:p>
        </p:txBody>
      </p:sp>
      <p:sp>
        <p:nvSpPr>
          <p:cNvPr id="76" name="Shape 73"/>
          <p:cNvSpPr/>
          <p:nvPr/>
        </p:nvSpPr>
        <p:spPr>
          <a:xfrm>
            <a:off x="5317236" y="3246120"/>
            <a:ext cx="1554480" cy="1554480"/>
          </a:xfrm>
          <a:prstGeom prst="ellipse">
            <a:avLst/>
          </a:prstGeom>
          <a:solidFill>
            <a:srgbClr val="EEF2F8"/>
          </a:solidFill>
          <a:ln/>
        </p:spPr>
      </p:sp>
      <p:sp>
        <p:nvSpPr>
          <p:cNvPr id="77" name="Shape 74"/>
          <p:cNvSpPr/>
          <p:nvPr/>
        </p:nvSpPr>
        <p:spPr>
          <a:xfrm>
            <a:off x="5454396" y="3383280"/>
            <a:ext cx="1280160" cy="1280160"/>
          </a:xfrm>
          <a:prstGeom prst="ellipse">
            <a:avLst/>
          </a:prstGeom>
          <a:solidFill>
            <a:srgbClr val="1F3864"/>
          </a:solidFill>
          <a:ln/>
        </p:spPr>
      </p:sp>
      <p:sp>
        <p:nvSpPr>
          <p:cNvPr id="78" name="Text 75"/>
          <p:cNvSpPr txBox="1"/>
          <p:nvPr/>
        </p:nvSpPr>
        <p:spPr>
          <a:xfrm>
            <a:off x="5472684" y="3566160"/>
            <a:ext cx="1243584" cy="91440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THE TIMELINE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Tell it in order</a:t>
            </a:r>
            <a:endParaRPr lang="en-US" sz="3200" dirty="0"/>
          </a:p>
        </p:txBody>
      </p:sp>
      <p:sp>
        <p:nvSpPr>
          <p:cNvPr id="3" name="tag"/>
          <p:cNvSpPr/>
          <p:nvPr/>
        </p:nvSpPr>
        <p:spPr>
          <a:xfrm>
            <a:off x="548640" y="384048"/>
            <a:ext cx="15087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VOCABULARY</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Text 3"/>
          <p:cNvSpPr/>
          <p:nvPr/>
        </p:nvSpPr>
        <p:spPr>
          <a:xfrm>
            <a:off x="548640" y="1783080"/>
            <a:ext cx="2401214" cy="868680"/>
          </a:xfrm>
          <a:prstGeom prst="homePlate">
            <a:avLst/>
          </a:prstGeom>
          <a:solidFill>
            <a:srgbClr val="2E5C8A"/>
          </a:solidFill>
          <a:ln w="25400">
            <a:solidFill>
              <a:srgbClr val="FFFFFF"/>
            </a:solidFill>
          </a:ln>
        </p:spPr>
        <p:txBody>
          <a:bodyPr wrap="square" lIns="0" tIns="4445" rIns="3175"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FIRST</a:t>
            </a:r>
            <a:endParaRPr lang="en-US" sz="1700" dirty="0"/>
          </a:p>
        </p:txBody>
      </p:sp>
      <p:sp>
        <p:nvSpPr>
          <p:cNvPr id="7" name="Text 4"/>
          <p:cNvSpPr txBox="1"/>
          <p:nvPr/>
        </p:nvSpPr>
        <p:spPr>
          <a:xfrm>
            <a:off x="658368" y="2816352"/>
            <a:ext cx="1989734" cy="1371600"/>
          </a:xfrm>
          <a:prstGeom prst="rect">
            <a:avLst/>
          </a:prstGeom>
          <a:noFill/>
          <a:ln/>
        </p:spPr>
        <p:txBody>
          <a:bodyPr wrap="square" lIns="0" tIns="0" rIns="0" bIns="0" rtlCol="0" anchor="t"/>
          <a:lstStyle/>
          <a:p>
            <a:pPr indent="0" marL="0">
              <a:buNone/>
            </a:pPr>
            <a:r>
              <a:rPr lang="en-US" sz="1500" dirty="0">
                <a:solidFill>
                  <a:schemeClr val="tx1"/>
                </a:solidFill>
              </a:rPr>
              <a:t>At 7.55 p.m., the team </a:t>
            </a:r>
            <a:r>
              <a:rPr lang="en-US" sz="1500" b="1" dirty="0">
                <a:solidFill>
                  <a:schemeClr val="accent2"/>
                </a:solidFill>
              </a:rPr>
              <a:t>was still working</a:t>
            </a:r>
            <a:r>
              <a:rPr lang="en-US" sz="1500" dirty="0">
                <a:solidFill>
                  <a:schemeClr val="tx1"/>
                </a:solidFill>
              </a:rPr>
              <a:t>.</a:t>
            </a:r>
            <a:endParaRPr lang="en-US" sz="1500" dirty="0"/>
          </a:p>
        </p:txBody>
      </p:sp>
      <p:sp>
        <p:nvSpPr>
          <p:cNvPr id="8" name="Text 5"/>
          <p:cNvSpPr/>
          <p:nvPr/>
        </p:nvSpPr>
        <p:spPr>
          <a:xfrm>
            <a:off x="2721254" y="1783080"/>
            <a:ext cx="2401214" cy="868680"/>
          </a:xfrm>
          <a:prstGeom prst="chevron">
            <a:avLst/>
          </a:prstGeom>
          <a:solidFill>
            <a:srgbClr val="2A6FB0"/>
          </a:solidFill>
          <a:ln w="25400">
            <a:solidFill>
              <a:srgbClr val="FFFFFF"/>
            </a:solidFill>
          </a:ln>
        </p:spPr>
        <p:txBody>
          <a:bodyPr wrap="square" lIns="0" tIns="4445" rIns="3175"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THEN</a:t>
            </a:r>
            <a:endParaRPr lang="en-US" sz="1700" dirty="0"/>
          </a:p>
        </p:txBody>
      </p:sp>
      <p:sp>
        <p:nvSpPr>
          <p:cNvPr id="9" name="Text 6"/>
          <p:cNvSpPr txBox="1"/>
          <p:nvPr/>
        </p:nvSpPr>
        <p:spPr>
          <a:xfrm>
            <a:off x="2830982" y="2816352"/>
            <a:ext cx="1989734" cy="1371600"/>
          </a:xfrm>
          <a:prstGeom prst="rect">
            <a:avLst/>
          </a:prstGeom>
          <a:noFill/>
          <a:ln/>
        </p:spPr>
        <p:txBody>
          <a:bodyPr wrap="square" lIns="0" tIns="0" rIns="0" bIns="0" rtlCol="0" anchor="t"/>
          <a:lstStyle/>
          <a:p>
            <a:pPr indent="0" marL="0">
              <a:buNone/>
            </a:pPr>
            <a:r>
              <a:rPr lang="en-US" sz="1500" dirty="0">
                <a:solidFill>
                  <a:schemeClr val="tx1"/>
                </a:solidFill>
              </a:rPr>
              <a:t>They </a:t>
            </a:r>
            <a:r>
              <a:rPr lang="en-US" sz="1500" b="1" dirty="0">
                <a:solidFill>
                  <a:srgbClr val="B4236A"/>
                </a:solidFill>
              </a:rPr>
              <a:t>left</a:t>
            </a:r>
            <a:r>
              <a:rPr lang="en-US" sz="1500" dirty="0">
                <a:solidFill>
                  <a:schemeClr val="tx1"/>
                </a:solidFill>
              </a:rPr>
              <a:t> at 8.15 and </a:t>
            </a:r>
            <a:r>
              <a:rPr lang="en-US" sz="1500" b="1" dirty="0">
                <a:solidFill>
                  <a:srgbClr val="B4236A"/>
                </a:solidFill>
              </a:rPr>
              <a:t>locked</a:t>
            </a:r>
            <a:r>
              <a:rPr lang="en-US" sz="1500" dirty="0">
                <a:solidFill>
                  <a:schemeClr val="tx1"/>
                </a:solidFill>
              </a:rPr>
              <a:t> the door.</a:t>
            </a:r>
            <a:endParaRPr lang="en-US" sz="1500" dirty="0"/>
          </a:p>
        </p:txBody>
      </p:sp>
      <p:sp>
        <p:nvSpPr>
          <p:cNvPr id="10" name="Text 7"/>
          <p:cNvSpPr/>
          <p:nvPr/>
        </p:nvSpPr>
        <p:spPr>
          <a:xfrm>
            <a:off x="4893869" y="1783080"/>
            <a:ext cx="2401214" cy="868680"/>
          </a:xfrm>
          <a:prstGeom prst="chevron">
            <a:avLst/>
          </a:prstGeom>
          <a:solidFill>
            <a:srgbClr val="6E4A9E"/>
          </a:solidFill>
          <a:ln w="25400">
            <a:solidFill>
              <a:srgbClr val="FFFFFF"/>
            </a:solidFill>
          </a:ln>
        </p:spPr>
        <p:txBody>
          <a:bodyPr wrap="square" lIns="0" tIns="4445" rIns="3175"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LATER</a:t>
            </a:r>
            <a:endParaRPr lang="en-US" sz="1700" dirty="0"/>
          </a:p>
        </p:txBody>
      </p:sp>
      <p:sp>
        <p:nvSpPr>
          <p:cNvPr id="11" name="Text 8"/>
          <p:cNvSpPr txBox="1"/>
          <p:nvPr/>
        </p:nvSpPr>
        <p:spPr>
          <a:xfrm>
            <a:off x="5003597" y="2816352"/>
            <a:ext cx="1989734" cy="1371600"/>
          </a:xfrm>
          <a:prstGeom prst="rect">
            <a:avLst/>
          </a:prstGeom>
          <a:noFill/>
          <a:ln/>
        </p:spPr>
        <p:txBody>
          <a:bodyPr wrap="square" lIns="0" tIns="0" rIns="0" bIns="0" rtlCol="0" anchor="t"/>
          <a:lstStyle/>
          <a:p>
            <a:pPr indent="0" marL="0">
              <a:buNone/>
            </a:pPr>
            <a:r>
              <a:rPr lang="en-US" sz="1500" dirty="0">
                <a:solidFill>
                  <a:schemeClr val="tx1"/>
                </a:solidFill>
              </a:rPr>
              <a:t>Water </a:t>
            </a:r>
            <a:r>
              <a:rPr lang="en-US" sz="1500" b="1" dirty="0">
                <a:solidFill>
                  <a:srgbClr val="B4236A"/>
                </a:solidFill>
              </a:rPr>
              <a:t>began</a:t>
            </a:r>
            <a:r>
              <a:rPr lang="en-US" sz="1500" dirty="0">
                <a:solidFill>
                  <a:schemeClr val="tx1"/>
                </a:solidFill>
              </a:rPr>
              <a:t> to run behind the ceiling.</a:t>
            </a:r>
            <a:endParaRPr lang="en-US" sz="1500" dirty="0"/>
          </a:p>
        </p:txBody>
      </p:sp>
      <p:sp>
        <p:nvSpPr>
          <p:cNvPr id="12" name="Text 9"/>
          <p:cNvSpPr/>
          <p:nvPr/>
        </p:nvSpPr>
        <p:spPr>
          <a:xfrm>
            <a:off x="7066483" y="1783080"/>
            <a:ext cx="2401214" cy="868680"/>
          </a:xfrm>
          <a:prstGeom prst="chevron">
            <a:avLst/>
          </a:prstGeom>
          <a:solidFill>
            <a:srgbClr val="8A3C8E"/>
          </a:solidFill>
          <a:ln w="25400">
            <a:solidFill>
              <a:srgbClr val="FFFFFF"/>
            </a:solidFill>
          </a:ln>
        </p:spPr>
        <p:txBody>
          <a:bodyPr wrap="square" lIns="0" tIns="4445" rIns="3175"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AFTER THAT</a:t>
            </a:r>
            <a:endParaRPr lang="en-US" sz="1700" dirty="0"/>
          </a:p>
        </p:txBody>
      </p:sp>
      <p:sp>
        <p:nvSpPr>
          <p:cNvPr id="13" name="Text 10"/>
          <p:cNvSpPr txBox="1"/>
          <p:nvPr/>
        </p:nvSpPr>
        <p:spPr>
          <a:xfrm>
            <a:off x="7176211" y="2816352"/>
            <a:ext cx="1989734" cy="1371600"/>
          </a:xfrm>
          <a:prstGeom prst="rect">
            <a:avLst/>
          </a:prstGeom>
          <a:noFill/>
          <a:ln/>
        </p:spPr>
        <p:txBody>
          <a:bodyPr wrap="square" lIns="0" tIns="0" rIns="0" bIns="0" rtlCol="0" anchor="t"/>
          <a:lstStyle/>
          <a:p>
            <a:pPr indent="0" marL="0">
              <a:buNone/>
            </a:pPr>
            <a:r>
              <a:rPr lang="en-US" sz="1500" dirty="0">
                <a:solidFill>
                  <a:schemeClr val="tx1"/>
                </a:solidFill>
              </a:rPr>
              <a:t>At 11.40 p.m., the alarm </a:t>
            </a:r>
            <a:r>
              <a:rPr lang="en-US" sz="1500" b="1" dirty="0">
                <a:solidFill>
                  <a:srgbClr val="B4236A"/>
                </a:solidFill>
              </a:rPr>
              <a:t>went off</a:t>
            </a:r>
            <a:r>
              <a:rPr lang="en-US" sz="1500" dirty="0">
                <a:solidFill>
                  <a:schemeClr val="tx1"/>
                </a:solidFill>
              </a:rPr>
              <a:t>.</a:t>
            </a:r>
            <a:endParaRPr lang="en-US" sz="1500" dirty="0"/>
          </a:p>
        </p:txBody>
      </p:sp>
      <p:sp>
        <p:nvSpPr>
          <p:cNvPr id="14" name="Text 11"/>
          <p:cNvSpPr/>
          <p:nvPr/>
        </p:nvSpPr>
        <p:spPr>
          <a:xfrm>
            <a:off x="9239098" y="1783080"/>
            <a:ext cx="2401214" cy="868680"/>
          </a:xfrm>
          <a:prstGeom prst="chevron">
            <a:avLst/>
          </a:prstGeom>
          <a:solidFill>
            <a:srgbClr val="B4236A"/>
          </a:solidFill>
          <a:ln w="25400">
            <a:solidFill>
              <a:srgbClr val="FFFFFF"/>
            </a:solidFill>
          </a:ln>
        </p:spPr>
        <p:txBody>
          <a:bodyPr wrap="square" lIns="0" tIns="4445" rIns="3175"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IN THE END</a:t>
            </a:r>
            <a:endParaRPr lang="en-US" sz="1700" dirty="0"/>
          </a:p>
        </p:txBody>
      </p:sp>
      <p:sp>
        <p:nvSpPr>
          <p:cNvPr id="15" name="Text 12"/>
          <p:cNvSpPr txBox="1"/>
          <p:nvPr/>
        </p:nvSpPr>
        <p:spPr>
          <a:xfrm>
            <a:off x="9348826" y="2816352"/>
            <a:ext cx="1989734" cy="1371600"/>
          </a:xfrm>
          <a:prstGeom prst="rect">
            <a:avLst/>
          </a:prstGeom>
          <a:noFill/>
          <a:ln/>
        </p:spPr>
        <p:txBody>
          <a:bodyPr wrap="square" lIns="0" tIns="0" rIns="0" bIns="0" rtlCol="0" anchor="t"/>
          <a:lstStyle/>
          <a:p>
            <a:pPr indent="0" marL="0">
              <a:buNone/>
            </a:pPr>
            <a:r>
              <a:rPr lang="en-US" sz="1500" dirty="0">
                <a:solidFill>
                  <a:schemeClr val="tx1"/>
                </a:solidFill>
              </a:rPr>
              <a:t>The cleaners </a:t>
            </a:r>
            <a:r>
              <a:rPr lang="en-US" sz="1500" b="1" dirty="0">
                <a:solidFill>
                  <a:srgbClr val="B4236A"/>
                </a:solidFill>
              </a:rPr>
              <a:t>found</a:t>
            </a:r>
            <a:r>
              <a:rPr lang="en-US" sz="1500" dirty="0">
                <a:solidFill>
                  <a:schemeClr val="tx1"/>
                </a:solidFill>
              </a:rPr>
              <a:t> the water at 6.50.</a:t>
            </a:r>
            <a:endParaRPr lang="en-US" sz="1500" dirty="0"/>
          </a:p>
        </p:txBody>
      </p:sp>
      <p:sp>
        <p:nvSpPr>
          <p:cNvPr id="16" name="Shape 13"/>
          <p:cNvSpPr/>
          <p:nvPr/>
        </p:nvSpPr>
        <p:spPr>
          <a:xfrm>
            <a:off x="548640" y="4343400"/>
            <a:ext cx="3544824" cy="1965960"/>
          </a:xfrm>
          <a:prstGeom prst="roundRect">
            <a:avLst>
              <a:gd name="adj" fmla="val 3721"/>
            </a:avLst>
          </a:prstGeom>
          <a:solidFill>
            <a:srgbClr val="2E75B6">
              <a:alpha val="8000"/>
            </a:srgbClr>
          </a:solidFill>
          <a:ln w="12700">
            <a:solidFill>
              <a:srgbClr val="2E75B6"/>
            </a:solidFill>
            <a:prstDash val="solid"/>
          </a:ln>
        </p:spPr>
      </p:sp>
      <p:pic>
        <p:nvPicPr>
          <p:cNvPr id="17" name="Image 0" descr="preencoded.png">    </p:cNvPr>
          <p:cNvPicPr>
            <a:picLocks noChangeAspect="1"/>
          </p:cNvPicPr>
          <p:nvPr/>
        </p:nvPicPr>
        <p:blipFill>
          <a:blip r:embed="rId1"/>
          <a:stretch>
            <a:fillRect/>
          </a:stretch>
        </p:blipFill>
        <p:spPr>
          <a:xfrm>
            <a:off x="749808" y="4526280"/>
            <a:ext cx="310896" cy="310896"/>
          </a:xfrm>
          <a:prstGeom prst="rect">
            <a:avLst/>
          </a:prstGeom>
        </p:spPr>
      </p:pic>
      <p:sp>
        <p:nvSpPr>
          <p:cNvPr id="18" name="Text 14"/>
          <p:cNvSpPr txBox="1"/>
          <p:nvPr/>
        </p:nvSpPr>
        <p:spPr>
          <a:xfrm>
            <a:off x="1188720" y="4489704"/>
            <a:ext cx="2767584" cy="384048"/>
          </a:xfrm>
          <a:prstGeom prst="rect">
            <a:avLst/>
          </a:prstGeom>
          <a:noFill/>
          <a:ln/>
        </p:spPr>
        <p:txBody>
          <a:bodyPr wrap="square" lIns="0" tIns="0" rIns="0" bIns="0" rtlCol="0" anchor="ctr"/>
          <a:lstStyle/>
          <a:p>
            <a:pPr indent="0" marL="0">
              <a:buNone/>
            </a:pPr>
            <a:r>
              <a:rPr lang="en-US" sz="1400" b="1" spc="100" kern="0" dirty="0">
                <a:solidFill>
                  <a:schemeClr val="accent2"/>
                </a:solidFill>
              </a:rPr>
              <a:t>AT THE SAME TIME</a:t>
            </a:r>
            <a:endParaRPr lang="en-US" sz="1400" dirty="0"/>
          </a:p>
        </p:txBody>
      </p:sp>
      <p:sp>
        <p:nvSpPr>
          <p:cNvPr id="19" name="Text 15"/>
          <p:cNvSpPr txBox="1"/>
          <p:nvPr/>
        </p:nvSpPr>
        <p:spPr>
          <a:xfrm>
            <a:off x="777240" y="4983480"/>
            <a:ext cx="3133344" cy="12344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while</a:t>
            </a:r>
            <a:r>
              <a:rPr lang="en-US" sz="1700" dirty="0">
                <a:solidFill>
                  <a:schemeClr val="tx1"/>
                </a:solidFill>
              </a:rPr>
              <a:t> + background</a:t>
            </a:r>
            <a:endParaRPr lang="en-US" sz="1700" dirty="0"/>
          </a:p>
          <a:p>
            <a:pPr indent="0" marL="0">
              <a:spcAft>
                <a:spcPts val="600"/>
              </a:spcAft>
              <a:buNone/>
            </a:pPr>
            <a:r>
              <a:rPr lang="en-US" sz="1700" b="1" dirty="0">
                <a:solidFill>
                  <a:schemeClr val="tx1"/>
                </a:solidFill>
              </a:rPr>
              <a:t>meanwhile</a:t>
            </a:r>
            <a:r>
              <a:rPr lang="en-US" sz="1700" dirty="0">
                <a:solidFill>
                  <a:schemeClr val="tx1"/>
                </a:solidFill>
              </a:rPr>
              <a:t> = pendant ce temps</a:t>
            </a:r>
            <a:endParaRPr lang="en-US" sz="1700" dirty="0"/>
          </a:p>
          <a:p>
            <a:pPr indent="0" marL="0">
              <a:spcAft>
                <a:spcPts val="600"/>
              </a:spcAft>
              <a:buNone/>
            </a:pPr>
            <a:r>
              <a:rPr lang="en-US" sz="1700" b="1" dirty="0">
                <a:solidFill>
                  <a:schemeClr val="tx1"/>
                </a:solidFill>
              </a:rPr>
              <a:t>at the same time</a:t>
            </a:r>
            <a:endParaRPr lang="en-US" sz="1700" dirty="0"/>
          </a:p>
        </p:txBody>
      </p:sp>
      <p:sp>
        <p:nvSpPr>
          <p:cNvPr id="20" name="Shape 16"/>
          <p:cNvSpPr/>
          <p:nvPr/>
        </p:nvSpPr>
        <p:spPr>
          <a:xfrm>
            <a:off x="4322064" y="4343400"/>
            <a:ext cx="3544824" cy="1965960"/>
          </a:xfrm>
          <a:prstGeom prst="roundRect">
            <a:avLst>
              <a:gd name="adj" fmla="val 3721"/>
            </a:avLst>
          </a:prstGeom>
          <a:solidFill>
            <a:srgbClr val="C0752A">
              <a:alpha val="8000"/>
            </a:srgbClr>
          </a:solidFill>
          <a:ln w="12700">
            <a:solidFill>
              <a:srgbClr val="C0752A"/>
            </a:solidFill>
            <a:prstDash val="solid"/>
          </a:ln>
        </p:spPr>
      </p:sp>
      <p:pic>
        <p:nvPicPr>
          <p:cNvPr id="21" name="Image 1" descr="preencoded.png">    </p:cNvPr>
          <p:cNvPicPr>
            <a:picLocks noChangeAspect="1"/>
          </p:cNvPicPr>
          <p:nvPr/>
        </p:nvPicPr>
        <p:blipFill>
          <a:blip r:embed="rId2"/>
          <a:stretch>
            <a:fillRect/>
          </a:stretch>
        </p:blipFill>
        <p:spPr>
          <a:xfrm>
            <a:off x="4523232" y="4526280"/>
            <a:ext cx="310896" cy="310896"/>
          </a:xfrm>
          <a:prstGeom prst="rect">
            <a:avLst/>
          </a:prstGeom>
        </p:spPr>
      </p:pic>
      <p:sp>
        <p:nvSpPr>
          <p:cNvPr id="22" name="Text 17"/>
          <p:cNvSpPr txBox="1"/>
          <p:nvPr/>
        </p:nvSpPr>
        <p:spPr>
          <a:xfrm>
            <a:off x="4962144" y="4489704"/>
            <a:ext cx="2767584" cy="384048"/>
          </a:xfrm>
          <a:prstGeom prst="rect">
            <a:avLst/>
          </a:prstGeom>
          <a:noFill/>
          <a:ln/>
        </p:spPr>
        <p:txBody>
          <a:bodyPr wrap="square" lIns="0" tIns="0" rIns="0" bIns="0" rtlCol="0" anchor="ctr"/>
          <a:lstStyle/>
          <a:p>
            <a:pPr indent="0" marL="0">
              <a:buNone/>
            </a:pPr>
            <a:r>
              <a:rPr lang="en-US" sz="1400" b="1" spc="100" kern="0" dirty="0">
                <a:solidFill>
                  <a:schemeClr val="accent1"/>
                </a:solidFill>
              </a:rPr>
              <a:t>HOW PRECISE?</a:t>
            </a:r>
            <a:endParaRPr lang="en-US" sz="1400" dirty="0"/>
          </a:p>
        </p:txBody>
      </p:sp>
      <p:sp>
        <p:nvSpPr>
          <p:cNvPr id="23" name="Text 18"/>
          <p:cNvSpPr txBox="1"/>
          <p:nvPr/>
        </p:nvSpPr>
        <p:spPr>
          <a:xfrm>
            <a:off x="4550664" y="4983480"/>
            <a:ext cx="3133344"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at exactly</a:t>
            </a:r>
            <a:r>
              <a:rPr lang="en-US" sz="1500" dirty="0">
                <a:solidFill>
                  <a:schemeClr val="tx1"/>
                </a:solidFill>
              </a:rPr>
              <a:t> 7.55 → verifiable</a:t>
            </a:r>
            <a:endParaRPr lang="en-US" sz="1500" dirty="0"/>
          </a:p>
          <a:p>
            <a:pPr indent="0" marL="0">
              <a:spcAft>
                <a:spcPts val="600"/>
              </a:spcAft>
              <a:buNone/>
            </a:pPr>
            <a:r>
              <a:rPr lang="en-US" sz="1500" b="1" dirty="0">
                <a:solidFill>
                  <a:schemeClr val="tx1"/>
                </a:solidFill>
              </a:rPr>
              <a:t>at around / about</a:t>
            </a:r>
            <a:r>
              <a:rPr lang="en-US" sz="1500" dirty="0">
                <a:solidFill>
                  <a:schemeClr val="tx1"/>
                </a:solidFill>
              </a:rPr>
              <a:t> eight → remembered</a:t>
            </a:r>
            <a:endParaRPr lang="en-US" sz="1500" dirty="0"/>
          </a:p>
          <a:p>
            <a:pPr indent="0" marL="0">
              <a:spcAft>
                <a:spcPts val="600"/>
              </a:spcAft>
              <a:buNone/>
            </a:pPr>
            <a:r>
              <a:rPr lang="en-US" sz="1500" b="1" dirty="0">
                <a:solidFill>
                  <a:schemeClr val="tx1"/>
                </a:solidFill>
              </a:rPr>
              <a:t>until</a:t>
            </a:r>
            <a:r>
              <a:rPr lang="en-US" sz="1500" dirty="0">
                <a:solidFill>
                  <a:schemeClr val="tx1"/>
                </a:solidFill>
              </a:rPr>
              <a:t> 8.15 · </a:t>
            </a:r>
            <a:r>
              <a:rPr lang="en-US" sz="1500" b="1" dirty="0">
                <a:solidFill>
                  <a:schemeClr val="tx1"/>
                </a:solidFill>
              </a:rPr>
              <a:t>by</a:t>
            </a:r>
            <a:r>
              <a:rPr lang="en-US" sz="1500" dirty="0">
                <a:solidFill>
                  <a:schemeClr val="tx1"/>
                </a:solidFill>
              </a:rPr>
              <a:t> nine</a:t>
            </a:r>
            <a:endParaRPr lang="en-US" sz="1500" dirty="0"/>
          </a:p>
        </p:txBody>
      </p:sp>
      <p:sp>
        <p:nvSpPr>
          <p:cNvPr id="24" name="Shape 19"/>
          <p:cNvSpPr/>
          <p:nvPr/>
        </p:nvSpPr>
        <p:spPr>
          <a:xfrm>
            <a:off x="8095488" y="4343400"/>
            <a:ext cx="3544824" cy="1965960"/>
          </a:xfrm>
          <a:prstGeom prst="roundRect">
            <a:avLst>
              <a:gd name="adj" fmla="val 3721"/>
            </a:avLst>
          </a:prstGeom>
          <a:solidFill>
            <a:srgbClr val="3C7A3C">
              <a:alpha val="8000"/>
            </a:srgbClr>
          </a:solidFill>
          <a:ln w="12700">
            <a:solidFill>
              <a:srgbClr val="3C7A3C"/>
            </a:solidFill>
            <a:prstDash val="solid"/>
          </a:ln>
        </p:spPr>
      </p:sp>
      <p:pic>
        <p:nvPicPr>
          <p:cNvPr id="25" name="Image 2" descr="preencoded.png">    </p:cNvPr>
          <p:cNvPicPr>
            <a:picLocks noChangeAspect="1"/>
          </p:cNvPicPr>
          <p:nvPr/>
        </p:nvPicPr>
        <p:blipFill>
          <a:blip r:embed="rId3"/>
          <a:stretch>
            <a:fillRect/>
          </a:stretch>
        </p:blipFill>
        <p:spPr>
          <a:xfrm>
            <a:off x="8296656" y="4526280"/>
            <a:ext cx="310896" cy="310896"/>
          </a:xfrm>
          <a:prstGeom prst="rect">
            <a:avLst/>
          </a:prstGeom>
        </p:spPr>
      </p:pic>
      <p:sp>
        <p:nvSpPr>
          <p:cNvPr id="26" name="Text 20"/>
          <p:cNvSpPr txBox="1"/>
          <p:nvPr/>
        </p:nvSpPr>
        <p:spPr>
          <a:xfrm>
            <a:off x="8735568" y="4489704"/>
            <a:ext cx="2767584" cy="384048"/>
          </a:xfrm>
          <a:prstGeom prst="rect">
            <a:avLst/>
          </a:prstGeom>
          <a:noFill/>
          <a:ln/>
        </p:spPr>
        <p:txBody>
          <a:bodyPr wrap="square" lIns="0" tIns="0" rIns="0" bIns="0" rtlCol="0" anchor="ctr"/>
          <a:lstStyle/>
          <a:p>
            <a:pPr indent="0" marL="0">
              <a:buNone/>
            </a:pPr>
            <a:r>
              <a:rPr lang="en-US" sz="1400" b="1" spc="100" kern="0" dirty="0">
                <a:solidFill>
                  <a:schemeClr val="accent3"/>
                </a:solidFill>
              </a:rPr>
              <a:t>HOW LONG?</a:t>
            </a:r>
            <a:endParaRPr lang="en-US" sz="1400" dirty="0"/>
          </a:p>
        </p:txBody>
      </p:sp>
      <p:sp>
        <p:nvSpPr>
          <p:cNvPr id="27" name="Text 21"/>
          <p:cNvSpPr txBox="1"/>
          <p:nvPr/>
        </p:nvSpPr>
        <p:spPr>
          <a:xfrm>
            <a:off x="8324088" y="4983480"/>
            <a:ext cx="3133344" cy="12344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for</a:t>
            </a:r>
            <a:r>
              <a:rPr lang="en-US" sz="1700" dirty="0">
                <a:solidFill>
                  <a:schemeClr val="tx1"/>
                </a:solidFill>
              </a:rPr>
              <a:t> about seven hours</a:t>
            </a:r>
            <a:endParaRPr lang="en-US" sz="1700" dirty="0"/>
          </a:p>
          <a:p>
            <a:pPr indent="0" marL="0">
              <a:spcAft>
                <a:spcPts val="600"/>
              </a:spcAft>
              <a:buNone/>
            </a:pPr>
            <a:r>
              <a:rPr lang="en-US" sz="1700" b="1" dirty="0">
                <a:solidFill>
                  <a:schemeClr val="tx1"/>
                </a:solidFill>
              </a:rPr>
              <a:t>between</a:t>
            </a:r>
            <a:r>
              <a:rPr lang="en-US" sz="1700" dirty="0">
                <a:solidFill>
                  <a:schemeClr val="tx1"/>
                </a:solidFill>
              </a:rPr>
              <a:t> 11.40 p.m. </a:t>
            </a:r>
            <a:r>
              <a:rPr lang="en-US" sz="1700" b="1" dirty="0">
                <a:solidFill>
                  <a:schemeClr val="tx1"/>
                </a:solidFill>
              </a:rPr>
              <a:t>and</a:t>
            </a:r>
            <a:r>
              <a:rPr lang="en-US" sz="1700" dirty="0">
                <a:solidFill>
                  <a:schemeClr val="tx1"/>
                </a:solidFill>
              </a:rPr>
              <a:t> 6.50 a.m.</a:t>
            </a:r>
            <a:endParaRPr lang="en-US" sz="1700" dirty="0"/>
          </a:p>
          <a:p>
            <a:pPr indent="0" marL="0">
              <a:spcAft>
                <a:spcPts val="600"/>
              </a:spcAft>
              <a:buNone/>
            </a:pPr>
            <a:r>
              <a:rPr lang="en-US" sz="1700" b="1" dirty="0">
                <a:solidFill>
                  <a:schemeClr val="tx1"/>
                </a:solidFill>
              </a:rPr>
              <a:t>all night</a:t>
            </a:r>
            <a:r>
              <a:rPr lang="en-US" sz="1700" dirty="0">
                <a:solidFill>
                  <a:schemeClr val="tx1"/>
                </a:solidFill>
              </a:rPr>
              <a:t> (✗ </a:t>
            </a:r>
            <a:r>
              <a:rPr lang="en-US" sz="1700" i="1" dirty="0">
                <a:solidFill>
                  <a:schemeClr val="tx1"/>
                </a:solidFill>
              </a:rPr>
              <a:t>all the night</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When or while?</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9–10</a:t>
            </a:r>
            <a:endParaRPr lang="en-US" sz="1200" dirty="0"/>
          </a:p>
        </p:txBody>
      </p:sp>
      <p:sp>
        <p:nvSpPr>
          <p:cNvPr id="6" name="Shape 3"/>
          <p:cNvSpPr/>
          <p:nvPr/>
        </p:nvSpPr>
        <p:spPr>
          <a:xfrm>
            <a:off x="548640" y="1783080"/>
            <a:ext cx="5225796" cy="3432048"/>
          </a:xfrm>
          <a:prstGeom prst="roundRect">
            <a:avLst>
              <a:gd name="adj" fmla="val 2131"/>
            </a:avLst>
          </a:prstGeom>
          <a:solidFill>
            <a:srgbClr val="2E75B6">
              <a:alpha val="8000"/>
            </a:srgbClr>
          </a:solidFill>
          <a:ln w="15875">
            <a:solidFill>
              <a:srgbClr val="2E75B6"/>
            </a:solidFill>
            <a:prstDash val="solid"/>
          </a:ln>
        </p:spPr>
      </p:sp>
      <p:pic>
        <p:nvPicPr>
          <p:cNvPr id="7" name="Image 0" descr="preencoded.png">    </p:cNvPr>
          <p:cNvPicPr>
            <a:picLocks noChangeAspect="1"/>
          </p:cNvPicPr>
          <p:nvPr/>
        </p:nvPicPr>
        <p:blipFill>
          <a:blip r:embed="rId1"/>
          <a:stretch>
            <a:fillRect/>
          </a:stretch>
        </p:blipFill>
        <p:spPr>
          <a:xfrm>
            <a:off x="804672" y="2002536"/>
            <a:ext cx="384048" cy="384048"/>
          </a:xfrm>
          <a:prstGeom prst="rect">
            <a:avLst/>
          </a:prstGeom>
        </p:spPr>
      </p:pic>
      <p:sp>
        <p:nvSpPr>
          <p:cNvPr id="8" name="Text 4"/>
          <p:cNvSpPr txBox="1"/>
          <p:nvPr/>
        </p:nvSpPr>
        <p:spPr>
          <a:xfrm>
            <a:off x="1325880" y="1947672"/>
            <a:ext cx="4265676" cy="50292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WHILE — a period (a bar)</a:t>
            </a:r>
            <a:endParaRPr lang="en-US" sz="2000" dirty="0"/>
          </a:p>
        </p:txBody>
      </p:sp>
      <p:sp>
        <p:nvSpPr>
          <p:cNvPr id="9" name="Text 5"/>
          <p:cNvSpPr txBox="1"/>
          <p:nvPr/>
        </p:nvSpPr>
        <p:spPr>
          <a:xfrm>
            <a:off x="822960" y="2624328"/>
            <a:ext cx="4722876" cy="2471928"/>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while</a:t>
            </a:r>
            <a:r>
              <a:rPr lang="en-US" sz="2000" dirty="0">
                <a:solidFill>
                  <a:schemeClr val="tx1"/>
                </a:solidFill>
              </a:rPr>
              <a:t> + </a:t>
            </a:r>
            <a:r>
              <a:rPr lang="en-US" sz="2000" b="1" dirty="0">
                <a:solidFill>
                  <a:schemeClr val="accent2"/>
                </a:solidFill>
              </a:rPr>
              <a:t>was / were + -ing</a:t>
            </a:r>
            <a:endParaRPr lang="en-US" sz="2000" dirty="0"/>
          </a:p>
          <a:p>
            <a:pPr indent="0" marL="0">
              <a:spcAft>
                <a:spcPts val="800"/>
              </a:spcAft>
              <a:buNone/>
            </a:pPr>
            <a:r>
              <a:rPr lang="en-US" sz="2000" dirty="0">
                <a:solidFill>
                  <a:schemeClr val="tx1"/>
                </a:solidFill>
              </a:rPr>
              <a:t>= </a:t>
            </a:r>
            <a:r>
              <a:rPr lang="en-US" sz="2000" i="1" dirty="0">
                <a:solidFill>
                  <a:schemeClr val="tx1"/>
                </a:solidFill>
              </a:rPr>
              <a:t>pendant que</a:t>
            </a:r>
            <a:endParaRPr lang="en-US" sz="2000" dirty="0"/>
          </a:p>
          <a:p>
            <a:pPr indent="0" marL="0">
              <a:spcAft>
                <a:spcPts val="800"/>
              </a:spcAft>
              <a:buNone/>
            </a:pPr>
            <a:r>
              <a:rPr lang="en-US" sz="2000" b="1" dirty="0">
                <a:solidFill>
                  <a:schemeClr val="tx1"/>
                </a:solidFill>
              </a:rPr>
              <a:t>While</a:t>
            </a:r>
            <a:r>
              <a:rPr lang="en-US" sz="2000" dirty="0">
                <a:solidFill>
                  <a:schemeClr val="tx1"/>
                </a:solidFill>
              </a:rPr>
              <a:t> they </a:t>
            </a:r>
            <a:r>
              <a:rPr lang="en-US" sz="2000" b="1" dirty="0">
                <a:solidFill>
                  <a:schemeClr val="accent2"/>
                </a:solidFill>
              </a:rPr>
              <a:t>were packing</a:t>
            </a:r>
            <a:r>
              <a:rPr lang="en-US" sz="2000" dirty="0">
                <a:solidFill>
                  <a:schemeClr val="tx1"/>
                </a:solidFill>
              </a:rPr>
              <a:t> their tools, the site manager </a:t>
            </a:r>
            <a:r>
              <a:rPr lang="en-US" sz="2000" b="1" dirty="0">
                <a:solidFill>
                  <a:srgbClr val="B4236A"/>
                </a:solidFill>
              </a:rPr>
              <a:t>carried out</a:t>
            </a:r>
            <a:r>
              <a:rPr lang="en-US" sz="2000" dirty="0">
                <a:solidFill>
                  <a:schemeClr val="tx1"/>
                </a:solidFill>
              </a:rPr>
              <a:t> his last inspection.</a:t>
            </a:r>
            <a:endParaRPr lang="en-US" sz="2000" dirty="0"/>
          </a:p>
        </p:txBody>
      </p:sp>
      <p:sp>
        <p:nvSpPr>
          <p:cNvPr id="10" name="Shape 6"/>
          <p:cNvSpPr/>
          <p:nvPr/>
        </p:nvSpPr>
        <p:spPr>
          <a:xfrm>
            <a:off x="6414516" y="1783080"/>
            <a:ext cx="5225796" cy="3432048"/>
          </a:xfrm>
          <a:prstGeom prst="roundRect">
            <a:avLst>
              <a:gd name="adj" fmla="val 2131"/>
            </a:avLst>
          </a:prstGeom>
          <a:solidFill>
            <a:srgbClr val="B4236A">
              <a:alpha val="8000"/>
            </a:srgbClr>
          </a:solidFill>
          <a:ln w="15875">
            <a:solidFill>
              <a:srgbClr val="B4236A"/>
            </a:solidFill>
            <a:prstDash val="solid"/>
          </a:ln>
        </p:spPr>
      </p:sp>
      <p:pic>
        <p:nvPicPr>
          <p:cNvPr id="11" name="Image 1" descr="preencoded.png">    </p:cNvPr>
          <p:cNvPicPr>
            <a:picLocks noChangeAspect="1"/>
          </p:cNvPicPr>
          <p:nvPr/>
        </p:nvPicPr>
        <p:blipFill>
          <a:blip r:embed="rId2"/>
          <a:stretch>
            <a:fillRect/>
          </a:stretch>
        </p:blipFill>
        <p:spPr>
          <a:xfrm>
            <a:off x="6670548" y="2002536"/>
            <a:ext cx="384048" cy="384048"/>
          </a:xfrm>
          <a:prstGeom prst="rect">
            <a:avLst/>
          </a:prstGeom>
        </p:spPr>
      </p:pic>
      <p:sp>
        <p:nvSpPr>
          <p:cNvPr id="12" name="Text 7"/>
          <p:cNvSpPr txBox="1"/>
          <p:nvPr/>
        </p:nvSpPr>
        <p:spPr>
          <a:xfrm>
            <a:off x="7191756" y="1947672"/>
            <a:ext cx="4265676" cy="502920"/>
          </a:xfrm>
          <a:prstGeom prst="rect">
            <a:avLst/>
          </a:prstGeom>
          <a:noFill/>
          <a:ln/>
        </p:spPr>
        <p:txBody>
          <a:bodyPr wrap="square" lIns="0" tIns="0" rIns="0" bIns="0" rtlCol="0" anchor="ctr"/>
          <a:lstStyle/>
          <a:p>
            <a:pPr indent="0" marL="0">
              <a:buNone/>
            </a:pPr>
            <a:r>
              <a:rPr lang="en-US" sz="2000" b="1" dirty="0">
                <a:solidFill>
                  <a:srgbClr val="B4236A"/>
                </a:solidFill>
                <a:latin typeface="+mj-lt" pitchFamily="34" charset="0"/>
                <a:ea typeface="+mj-lt" pitchFamily="34" charset="-122"/>
                <a:cs typeface="+mj-lt" pitchFamily="34" charset="-120"/>
              </a:rPr>
              <a:t>WHEN — a point (a dot)</a:t>
            </a:r>
            <a:endParaRPr lang="en-US" sz="2000" dirty="0"/>
          </a:p>
        </p:txBody>
      </p:sp>
      <p:sp>
        <p:nvSpPr>
          <p:cNvPr id="13" name="Text 8"/>
          <p:cNvSpPr txBox="1"/>
          <p:nvPr/>
        </p:nvSpPr>
        <p:spPr>
          <a:xfrm>
            <a:off x="6688836" y="2624328"/>
            <a:ext cx="4722876" cy="2471928"/>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when</a:t>
            </a:r>
            <a:r>
              <a:rPr lang="en-US" sz="2000" dirty="0">
                <a:solidFill>
                  <a:schemeClr val="tx1"/>
                </a:solidFill>
              </a:rPr>
              <a:t> + </a:t>
            </a:r>
            <a:r>
              <a:rPr lang="en-US" sz="2000" b="1" dirty="0">
                <a:solidFill>
                  <a:srgbClr val="B4236A"/>
                </a:solidFill>
              </a:rPr>
              <a:t>past simple</a:t>
            </a:r>
            <a:endParaRPr lang="en-US" sz="2000" dirty="0"/>
          </a:p>
          <a:p>
            <a:pPr indent="0" marL="0">
              <a:spcAft>
                <a:spcPts val="800"/>
              </a:spcAft>
              <a:buNone/>
            </a:pPr>
            <a:r>
              <a:rPr lang="en-US" sz="2000" dirty="0">
                <a:solidFill>
                  <a:schemeClr val="tx1"/>
                </a:solidFill>
              </a:rPr>
              <a:t>= </a:t>
            </a:r>
            <a:r>
              <a:rPr lang="en-US" sz="2000" i="1" dirty="0">
                <a:solidFill>
                  <a:schemeClr val="tx1"/>
                </a:solidFill>
              </a:rPr>
              <a:t>quand, lorsque</a:t>
            </a:r>
            <a:endParaRPr lang="en-US" sz="2000" dirty="0"/>
          </a:p>
          <a:p>
            <a:pPr indent="0" marL="0">
              <a:spcAft>
                <a:spcPts val="800"/>
              </a:spcAft>
              <a:buNone/>
            </a:pPr>
            <a:r>
              <a:rPr lang="en-US" sz="2000" dirty="0">
                <a:solidFill>
                  <a:schemeClr val="tx1"/>
                </a:solidFill>
              </a:rPr>
              <a:t>The water </a:t>
            </a:r>
            <a:r>
              <a:rPr lang="en-US" sz="2000" b="1" dirty="0">
                <a:solidFill>
                  <a:schemeClr val="accent2"/>
                </a:solidFill>
              </a:rPr>
              <a:t>was still running</a:t>
            </a:r>
            <a:r>
              <a:rPr lang="en-US" sz="2000" dirty="0">
                <a:solidFill>
                  <a:schemeClr val="tx1"/>
                </a:solidFill>
              </a:rPr>
              <a:t> </a:t>
            </a:r>
            <a:r>
              <a:rPr lang="en-US" sz="2000" b="1" dirty="0">
                <a:solidFill>
                  <a:schemeClr val="tx1"/>
                </a:solidFill>
              </a:rPr>
              <a:t>when</a:t>
            </a:r>
            <a:r>
              <a:rPr lang="en-US" sz="2000" dirty="0">
                <a:solidFill>
                  <a:schemeClr val="tx1"/>
                </a:solidFill>
              </a:rPr>
              <a:t> the cleaners </a:t>
            </a:r>
            <a:r>
              <a:rPr lang="en-US" sz="2000" b="1" dirty="0">
                <a:solidFill>
                  <a:srgbClr val="B4236A"/>
                </a:solidFill>
              </a:rPr>
              <a:t>arrived</a:t>
            </a:r>
            <a:r>
              <a:rPr lang="en-US" sz="2000" dirty="0">
                <a:solidFill>
                  <a:schemeClr val="tx1"/>
                </a:solidFill>
              </a:rPr>
              <a:t>.</a:t>
            </a:r>
            <a:endParaRPr lang="en-US" sz="2000" dirty="0"/>
          </a:p>
        </p:txBody>
      </p:sp>
      <p:sp>
        <p:nvSpPr>
          <p:cNvPr id="14" name="Shape 9"/>
          <p:cNvSpPr/>
          <p:nvPr/>
        </p:nvSpPr>
        <p:spPr>
          <a:xfrm>
            <a:off x="5838444" y="3243072"/>
            <a:ext cx="512064" cy="512064"/>
          </a:xfrm>
          <a:prstGeom prst="ellipse">
            <a:avLst/>
          </a:prstGeom>
          <a:solidFill>
            <a:srgbClr val="1F3864"/>
          </a:solidFill>
          <a:ln/>
        </p:spPr>
      </p:sp>
      <p:sp>
        <p:nvSpPr>
          <p:cNvPr id="15" name="Text 10"/>
          <p:cNvSpPr txBox="1"/>
          <p:nvPr/>
        </p:nvSpPr>
        <p:spPr>
          <a:xfrm>
            <a:off x="5838444" y="3243072"/>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vs</a:t>
            </a:r>
            <a:endParaRPr lang="en-US" sz="1300" dirty="0"/>
          </a:p>
        </p:txBody>
      </p:sp>
      <p:sp>
        <p:nvSpPr>
          <p:cNvPr id="16" name="Shape 11"/>
          <p:cNvSpPr/>
          <p:nvPr/>
        </p:nvSpPr>
        <p:spPr>
          <a:xfrm>
            <a:off x="548640" y="5535168"/>
            <a:ext cx="11091672" cy="774192"/>
          </a:xfrm>
          <a:prstGeom prst="roundRect">
            <a:avLst>
              <a:gd name="adj" fmla="val 9449"/>
            </a:avLst>
          </a:prstGeom>
          <a:solidFill>
            <a:srgbClr val="2E75B6">
              <a:alpha val="8000"/>
            </a:srgbClr>
          </a:solidFill>
          <a:ln w="12700">
            <a:solidFill>
              <a:srgbClr val="2E75B6"/>
            </a:solidFill>
            <a:prstDash val="solid"/>
          </a:ln>
        </p:spPr>
      </p:sp>
      <p:pic>
        <p:nvPicPr>
          <p:cNvPr id="17" name="Image 2" descr="preencoded.png">    </p:cNvPr>
          <p:cNvPicPr>
            <a:picLocks noChangeAspect="1"/>
          </p:cNvPicPr>
          <p:nvPr/>
        </p:nvPicPr>
        <p:blipFill>
          <a:blip r:embed="rId3"/>
          <a:stretch>
            <a:fillRect/>
          </a:stretch>
        </p:blipFill>
        <p:spPr>
          <a:xfrm>
            <a:off x="777240" y="5739384"/>
            <a:ext cx="365760" cy="365760"/>
          </a:xfrm>
          <a:prstGeom prst="rect">
            <a:avLst/>
          </a:prstGeom>
        </p:spPr>
      </p:pic>
      <p:sp>
        <p:nvSpPr>
          <p:cNvPr id="18" name="Text 12"/>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2"/>
                </a:solidFill>
              </a:rPr>
              <a:t>Comma rule — </a:t>
            </a:r>
            <a:r>
              <a:rPr lang="en-US" sz="1800" i="1" dirty="0">
                <a:solidFill>
                  <a:schemeClr val="tx1"/>
                </a:solidFill>
              </a:rPr>
              <a:t>When the cleaners arrived</a:t>
            </a:r>
            <a:r>
              <a:rPr lang="en-US" sz="1800" b="1" i="1" dirty="0">
                <a:solidFill>
                  <a:schemeClr val="tx1"/>
                </a:solidFill>
              </a:rPr>
              <a:t>,</a:t>
            </a:r>
            <a:r>
              <a:rPr lang="en-US" sz="1800" i="1" dirty="0">
                <a:solidFill>
                  <a:schemeClr val="tx1"/>
                </a:solidFill>
              </a:rPr>
              <a:t> the water was still running.</a:t>
            </a:r>
            <a:r>
              <a:rPr lang="en-US" sz="1800" dirty="0">
                <a:solidFill>
                  <a:schemeClr val="tx1"/>
                </a:solidFill>
              </a:rPr>
              <a:t> — no comma when the main clause comes first: </a:t>
            </a:r>
            <a:r>
              <a:rPr lang="en-US" sz="1800" i="1" dirty="0">
                <a:solidFill>
                  <a:schemeClr val="tx1"/>
                </a:solidFill>
              </a:rPr>
              <a:t>The water was still running when the cleaners arrived.</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Sentence tennis</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B4236A">
              <a:alpha val="8000"/>
            </a:srgbClr>
          </a:solidFill>
          <a:ln w="12700">
            <a:solidFill>
              <a:srgbClr val="B4236A"/>
            </a:solidFill>
            <a:prstDash val="solid"/>
          </a:ln>
        </p:spPr>
      </p:sp>
      <p:sp>
        <p:nvSpPr>
          <p:cNvPr id="7" name="Shape 4"/>
          <p:cNvSpPr/>
          <p:nvPr/>
        </p:nvSpPr>
        <p:spPr>
          <a:xfrm>
            <a:off x="777240" y="1911096"/>
            <a:ext cx="713232" cy="713232"/>
          </a:xfrm>
          <a:prstGeom prst="ellipse">
            <a:avLst/>
          </a:prstGeom>
          <a:solidFill>
            <a:srgbClr val="B4236A"/>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rgbClr val="B4236A"/>
                </a:solidFill>
                <a:latin typeface="+mj-lt" pitchFamily="34" charset="0"/>
                <a:ea typeface="+mj-lt" pitchFamily="34" charset="-122"/>
                <a:cs typeface="+mj-lt" pitchFamily="34" charset="-120"/>
              </a:rPr>
              <a:t>Serve a background — return an event. Five seconds!</a:t>
            </a:r>
            <a:endParaRPr lang="en-US" sz="2100" dirty="0"/>
          </a:p>
          <a:p>
            <a:pPr indent="0" marL="0">
              <a:buNone/>
            </a:pPr>
            <a:r>
              <a:rPr lang="en-US" sz="1500" i="1" dirty="0">
                <a:solidFill>
                  <a:schemeClr val="accent5"/>
                </a:solidFill>
              </a:rPr>
              <a:t>Pairs · 8 minutes · fast speaking</a:t>
            </a:r>
            <a:endParaRPr lang="en-US" sz="2100" dirty="0"/>
          </a:p>
        </p:txBody>
      </p:sp>
      <p:sp>
        <p:nvSpPr>
          <p:cNvPr id="10" name="Text 6"/>
          <p:cNvSpPr/>
          <p:nvPr/>
        </p:nvSpPr>
        <p:spPr>
          <a:xfrm>
            <a:off x="548640" y="3072384"/>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635508"/>
          </a:xfrm>
          <a:prstGeom prst="rect">
            <a:avLst/>
          </a:prstGeom>
          <a:noFill/>
          <a:ln/>
        </p:spPr>
        <p:txBody>
          <a:bodyPr wrap="square" lIns="0" tIns="0" rIns="0" bIns="0" rtlCol="0" anchor="t"/>
          <a:lstStyle/>
          <a:p>
            <a:pPr indent="0" marL="0">
              <a:buNone/>
            </a:pPr>
            <a:r>
              <a:rPr lang="en-US" sz="1700" dirty="0">
                <a:solidFill>
                  <a:schemeClr val="tx1"/>
                </a:solidFill>
              </a:rPr>
              <a:t>Player A </a:t>
            </a:r>
            <a:r>
              <a:rPr lang="en-US" sz="1700" b="1" dirty="0">
                <a:solidFill>
                  <a:schemeClr val="tx1"/>
                </a:solidFill>
              </a:rPr>
              <a:t>serves</a:t>
            </a:r>
            <a:r>
              <a:rPr lang="en-US" sz="1700" dirty="0">
                <a:solidFill>
                  <a:schemeClr val="tx1"/>
                </a:solidFill>
              </a:rPr>
              <a:t> half a sentence with </a:t>
            </a:r>
            <a:r>
              <a:rPr lang="en-US" sz="1700" i="1" dirty="0">
                <a:solidFill>
                  <a:schemeClr val="tx1"/>
                </a:solidFill>
              </a:rPr>
              <a:t>while</a:t>
            </a:r>
            <a:r>
              <a:rPr lang="en-US" sz="1700" dirty="0">
                <a:solidFill>
                  <a:schemeClr val="tx1"/>
                </a:solidFill>
              </a:rPr>
              <a:t> + a background: </a:t>
            </a:r>
            <a:r>
              <a:rPr lang="en-US" sz="1700" i="1" dirty="0">
                <a:solidFill>
                  <a:schemeClr val="tx1"/>
                </a:solidFill>
              </a:rPr>
              <a:t>While I was cooking…</a:t>
            </a:r>
            <a:endParaRPr lang="en-US" sz="1700" dirty="0"/>
          </a:p>
        </p:txBody>
      </p:sp>
      <p:sp>
        <p:nvSpPr>
          <p:cNvPr id="12" name="Text 8"/>
          <p:cNvSpPr/>
          <p:nvPr/>
        </p:nvSpPr>
        <p:spPr>
          <a:xfrm>
            <a:off x="548640" y="3707892"/>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653028"/>
            <a:ext cx="5897880" cy="635508"/>
          </a:xfrm>
          <a:prstGeom prst="rect">
            <a:avLst/>
          </a:prstGeom>
          <a:noFill/>
          <a:ln/>
        </p:spPr>
        <p:txBody>
          <a:bodyPr wrap="square" lIns="0" tIns="0" rIns="0" bIns="0" rtlCol="0" anchor="t"/>
          <a:lstStyle/>
          <a:p>
            <a:pPr indent="0" marL="0">
              <a:buNone/>
            </a:pPr>
            <a:r>
              <a:rPr lang="en-US" sz="1700" dirty="0">
                <a:solidFill>
                  <a:schemeClr val="tx1"/>
                </a:solidFill>
              </a:rPr>
              <a:t>Player B </a:t>
            </a:r>
            <a:r>
              <a:rPr lang="en-US" sz="1700" b="1" dirty="0">
                <a:solidFill>
                  <a:schemeClr val="tx1"/>
                </a:solidFill>
              </a:rPr>
              <a:t>returns</a:t>
            </a:r>
            <a:r>
              <a:rPr lang="en-US" sz="1700" dirty="0">
                <a:solidFill>
                  <a:schemeClr val="tx1"/>
                </a:solidFill>
              </a:rPr>
              <a:t> an event in the past simple: </a:t>
            </a:r>
            <a:r>
              <a:rPr lang="en-US" sz="1700" i="1" dirty="0">
                <a:solidFill>
                  <a:schemeClr val="tx1"/>
                </a:solidFill>
              </a:rPr>
              <a:t>…the phone rang.</a:t>
            </a:r>
            <a:endParaRPr lang="en-US" sz="1700" dirty="0"/>
          </a:p>
        </p:txBody>
      </p:sp>
      <p:sp>
        <p:nvSpPr>
          <p:cNvPr id="14" name="Text 10"/>
          <p:cNvSpPr/>
          <p:nvPr/>
        </p:nvSpPr>
        <p:spPr>
          <a:xfrm>
            <a:off x="548640" y="4343400"/>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288536"/>
            <a:ext cx="5897880" cy="635508"/>
          </a:xfrm>
          <a:prstGeom prst="rect">
            <a:avLst/>
          </a:prstGeom>
          <a:noFill/>
          <a:ln/>
        </p:spPr>
        <p:txBody>
          <a:bodyPr wrap="square" lIns="0" tIns="0" rIns="0" bIns="0" rtlCol="0" anchor="t"/>
          <a:lstStyle/>
          <a:p>
            <a:pPr indent="0" marL="0">
              <a:buNone/>
            </a:pPr>
            <a:r>
              <a:rPr lang="en-US" sz="1700" dirty="0">
                <a:solidFill>
                  <a:schemeClr val="tx1"/>
                </a:solidFill>
              </a:rPr>
              <a:t>Switch: A serves an event with </a:t>
            </a:r>
            <a:r>
              <a:rPr lang="en-US" sz="1700" i="1" dirty="0">
                <a:solidFill>
                  <a:schemeClr val="tx1"/>
                </a:solidFill>
              </a:rPr>
              <a:t>when</a:t>
            </a:r>
            <a:r>
              <a:rPr lang="en-US" sz="1700" dirty="0">
                <a:solidFill>
                  <a:schemeClr val="tx1"/>
                </a:solidFill>
              </a:rPr>
              <a:t> — </a:t>
            </a:r>
            <a:r>
              <a:rPr lang="en-US" sz="1700" i="1" dirty="0">
                <a:solidFill>
                  <a:schemeClr val="tx1"/>
                </a:solidFill>
              </a:rPr>
              <a:t>When the lights went out…</a:t>
            </a:r>
            <a:r>
              <a:rPr lang="en-US" sz="1700" dirty="0">
                <a:solidFill>
                  <a:schemeClr val="tx1"/>
                </a:solidFill>
              </a:rPr>
              <a:t> — B returns a background: </a:t>
            </a:r>
            <a:r>
              <a:rPr lang="en-US" sz="1700" i="1" dirty="0">
                <a:solidFill>
                  <a:schemeClr val="tx1"/>
                </a:solidFill>
              </a:rPr>
              <a:t>…we were watching a film.</a:t>
            </a:r>
            <a:endParaRPr lang="en-US" sz="1700" dirty="0"/>
          </a:p>
        </p:txBody>
      </p:sp>
      <p:sp>
        <p:nvSpPr>
          <p:cNvPr id="16" name="Text 12"/>
          <p:cNvSpPr/>
          <p:nvPr/>
        </p:nvSpPr>
        <p:spPr>
          <a:xfrm>
            <a:off x="548640" y="4978908"/>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4924044"/>
            <a:ext cx="5897880" cy="635508"/>
          </a:xfrm>
          <a:prstGeom prst="rect">
            <a:avLst/>
          </a:prstGeom>
          <a:noFill/>
          <a:ln/>
        </p:spPr>
        <p:txBody>
          <a:bodyPr wrap="square" lIns="0" tIns="0" rIns="0" bIns="0" rtlCol="0" anchor="t"/>
          <a:lstStyle/>
          <a:p>
            <a:pPr indent="0" marL="0">
              <a:buNone/>
            </a:pPr>
            <a:r>
              <a:rPr lang="en-US" sz="1700" dirty="0">
                <a:solidFill>
                  <a:schemeClr val="tx1"/>
                </a:solidFill>
              </a:rPr>
              <a:t>No answer in five seconds, or the wrong tense = </a:t>
            </a:r>
            <a:r>
              <a:rPr lang="en-US" sz="1700" b="1" dirty="0">
                <a:solidFill>
                  <a:schemeClr val="tx1"/>
                </a:solidFill>
              </a:rPr>
              <a:t>one point</a:t>
            </a:r>
            <a:r>
              <a:rPr lang="en-US" sz="1700" dirty="0">
                <a:solidFill>
                  <a:schemeClr val="tx1"/>
                </a:solidFill>
              </a:rPr>
              <a:t> for the other player.</a:t>
            </a:r>
            <a:endParaRPr lang="en-US" sz="1700" dirty="0"/>
          </a:p>
        </p:txBody>
      </p:sp>
      <p:sp>
        <p:nvSpPr>
          <p:cNvPr id="18" name="Shape 14"/>
          <p:cNvSpPr/>
          <p:nvPr/>
        </p:nvSpPr>
        <p:spPr>
          <a:xfrm>
            <a:off x="7360920" y="3017520"/>
            <a:ext cx="4279392" cy="2542032"/>
          </a:xfrm>
          <a:prstGeom prst="roundRect">
            <a:avLst>
              <a:gd name="adj" fmla="val 2878"/>
            </a:avLst>
          </a:prstGeom>
          <a:solidFill>
            <a:srgbClr val="6E4A9E">
              <a:alpha val="8000"/>
            </a:srgbClr>
          </a:solidFill>
          <a:ln w="9525">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7543800" y="3182112"/>
            <a:ext cx="292608" cy="292608"/>
          </a:xfrm>
          <a:prstGeom prst="rect">
            <a:avLst/>
          </a:prstGeom>
        </p:spPr>
      </p:pic>
      <p:sp>
        <p:nvSpPr>
          <p:cNvPr id="20" name="Text 15"/>
          <p:cNvSpPr txBox="1"/>
          <p:nvPr/>
        </p:nvSpPr>
        <p:spPr>
          <a:xfrm>
            <a:off x="7927848" y="3154680"/>
            <a:ext cx="3547872" cy="347472"/>
          </a:xfrm>
          <a:prstGeom prst="rect">
            <a:avLst/>
          </a:prstGeom>
          <a:noFill/>
          <a:ln/>
        </p:spPr>
        <p:txBody>
          <a:bodyPr wrap="square" lIns="0" tIns="0" rIns="0" bIns="0" rtlCol="0" anchor="ctr"/>
          <a:lstStyle/>
          <a:p>
            <a:pPr indent="0" marL="0">
              <a:buNone/>
            </a:pPr>
            <a:r>
              <a:rPr lang="en-US" sz="1300" b="1" spc="150" kern="0" dirty="0">
                <a:solidFill>
                  <a:schemeClr val="accent4"/>
                </a:solidFill>
              </a:rPr>
              <a:t>SERVE IDEAS</a:t>
            </a:r>
            <a:endParaRPr lang="en-US" sz="1300" dirty="0"/>
          </a:p>
        </p:txBody>
      </p:sp>
      <p:sp>
        <p:nvSpPr>
          <p:cNvPr id="21" name="Text 16"/>
          <p:cNvSpPr txBox="1"/>
          <p:nvPr/>
        </p:nvSpPr>
        <p:spPr>
          <a:xfrm>
            <a:off x="7562088" y="3611880"/>
            <a:ext cx="3895344" cy="1856232"/>
          </a:xfrm>
          <a:prstGeom prst="rect">
            <a:avLst/>
          </a:prstGeom>
          <a:noFill/>
          <a:ln/>
        </p:spPr>
        <p:txBody>
          <a:bodyPr wrap="square" lIns="0" tIns="0" rIns="0" bIns="0" rtlCol="0" anchor="t"/>
          <a:lstStyle/>
          <a:p>
            <a:pPr marL="190500" indent="-190500">
              <a:spcAft>
                <a:spcPts val="700"/>
              </a:spcAft>
              <a:buSzPct val="100000"/>
              <a:buChar char="•"/>
            </a:pPr>
            <a:r>
              <a:rPr lang="en-US" sz="1300" i="1" dirty="0">
                <a:solidFill>
                  <a:schemeClr val="tx1"/>
                </a:solidFill>
              </a:rPr>
              <a:t>While I was having a shower…</a:t>
            </a:r>
            <a:endParaRPr lang="en-US" sz="1300" dirty="0"/>
          </a:p>
          <a:p>
            <a:pPr marL="190500" indent="-190500">
              <a:spcAft>
                <a:spcPts val="700"/>
              </a:spcAft>
              <a:buSzPct val="100000"/>
              <a:buChar char="•"/>
            </a:pPr>
            <a:r>
              <a:rPr lang="en-US" sz="1300" i="1" dirty="0">
                <a:solidFill>
                  <a:schemeClr val="tx1"/>
                </a:solidFill>
              </a:rPr>
              <a:t>While we were driving to work…</a:t>
            </a:r>
            <a:endParaRPr lang="en-US" sz="1300" dirty="0"/>
          </a:p>
          <a:p>
            <a:pPr marL="190500" indent="-190500">
              <a:spcAft>
                <a:spcPts val="700"/>
              </a:spcAft>
              <a:buSzPct val="100000"/>
              <a:buChar char="•"/>
            </a:pPr>
            <a:r>
              <a:rPr lang="en-US" sz="1300" i="1" dirty="0">
                <a:solidFill>
                  <a:schemeClr val="tx1"/>
                </a:solidFill>
              </a:rPr>
              <a:t>When my boss called…</a:t>
            </a:r>
            <a:endParaRPr lang="en-US" sz="1300" dirty="0"/>
          </a:p>
          <a:p>
            <a:pPr marL="190500" indent="-190500">
              <a:spcAft>
                <a:spcPts val="700"/>
              </a:spcAft>
              <a:buSzPct val="100000"/>
              <a:buChar char="•"/>
            </a:pPr>
            <a:r>
              <a:rPr lang="en-US" sz="1300" i="1" dirty="0">
                <a:solidFill>
                  <a:schemeClr val="tx1"/>
                </a:solidFill>
              </a:rPr>
              <a:t>When the alarm went off…</a:t>
            </a:r>
            <a:endParaRPr lang="en-US" sz="1300" dirty="0"/>
          </a:p>
          <a:p>
            <a:pPr marL="190500" indent="-190500">
              <a:spcAft>
                <a:spcPts val="700"/>
              </a:spcAft>
              <a:buSzPct val="100000"/>
              <a:buChar char="•"/>
            </a:pPr>
            <a:r>
              <a:rPr lang="en-US" sz="1300" i="1" dirty="0">
                <a:solidFill>
                  <a:schemeClr val="tx1"/>
                </a:solidFill>
              </a:rPr>
              <a:t>While they were sleeping…</a:t>
            </a:r>
            <a:endParaRPr lang="en-US" sz="1300" dirty="0"/>
          </a:p>
          <a:p>
            <a:pPr marL="190500" indent="-190500">
              <a:spcAft>
                <a:spcPts val="700"/>
              </a:spcAft>
              <a:buSzPct val="100000"/>
              <a:buChar char="•"/>
            </a:pPr>
            <a:r>
              <a:rPr lang="en-US" sz="1300" i="1" dirty="0">
                <a:solidFill>
                  <a:schemeClr val="tx1"/>
                </a:solidFill>
              </a:rPr>
              <a:t>When the power went off…</a:t>
            </a:r>
            <a:endParaRPr lang="en-US" sz="1300" dirty="0"/>
          </a:p>
        </p:txBody>
      </p:sp>
      <p:sp>
        <p:nvSpPr>
          <p:cNvPr id="22" name="Shape 17"/>
          <p:cNvSpPr/>
          <p:nvPr/>
        </p:nvSpPr>
        <p:spPr>
          <a:xfrm>
            <a:off x="548640" y="5742432"/>
            <a:ext cx="11091672" cy="566928"/>
          </a:xfrm>
          <a:prstGeom prst="roundRect">
            <a:avLst>
              <a:gd name="adj" fmla="val 12903"/>
            </a:avLst>
          </a:prstGeom>
          <a:solidFill>
            <a:srgbClr val="C0752A">
              <a:alpha val="10000"/>
            </a:srgbClr>
          </a:solidFill>
          <a:ln w="12700">
            <a:solidFill>
              <a:srgbClr val="C0752A"/>
            </a:solidFill>
            <a:prstDash val="solid"/>
          </a:ln>
        </p:spPr>
      </p:sp>
      <p:pic>
        <p:nvPicPr>
          <p:cNvPr id="23" name="Image 2" descr="preencoded.png">    </p:cNvPr>
          <p:cNvPicPr>
            <a:picLocks noChangeAspect="1"/>
          </p:cNvPicPr>
          <p:nvPr/>
        </p:nvPicPr>
        <p:blipFill>
          <a:blip r:embed="rId3"/>
          <a:stretch>
            <a:fillRect/>
          </a:stretch>
        </p:blipFill>
        <p:spPr>
          <a:xfrm>
            <a:off x="749808" y="5870448"/>
            <a:ext cx="310896" cy="310896"/>
          </a:xfrm>
          <a:prstGeom prst="rect">
            <a:avLst/>
          </a:prstGeom>
        </p:spPr>
      </p:pic>
      <p:sp>
        <p:nvSpPr>
          <p:cNvPr id="24" name="Text 18"/>
          <p:cNvSpPr txBox="1"/>
          <p:nvPr/>
        </p:nvSpPr>
        <p:spPr>
          <a:xfrm>
            <a:off x="1234440" y="5742432"/>
            <a:ext cx="10222992" cy="566928"/>
          </a:xfrm>
          <a:prstGeom prst="rect">
            <a:avLst/>
          </a:prstGeom>
          <a:noFill/>
          <a:ln/>
        </p:spPr>
        <p:txBody>
          <a:bodyPr wrap="square" lIns="0" tIns="0" rIns="0" bIns="0" rtlCol="0" anchor="ctr"/>
          <a:lstStyle/>
          <a:p>
            <a:pPr indent="0" marL="0">
              <a:buNone/>
            </a:pPr>
            <a:r>
              <a:rPr lang="en-US" sz="1700" b="1" dirty="0">
                <a:solidFill>
                  <a:schemeClr val="tx1"/>
                </a:solidFill>
              </a:rPr>
              <a:t>To win —</a:t>
            </a:r>
            <a:r>
              <a:rPr lang="en-US" sz="1700" dirty="0">
                <a:solidFill>
                  <a:schemeClr val="tx1"/>
                </a:solidFill>
              </a:rPr>
              <a:t> first to </a:t>
            </a:r>
            <a:r>
              <a:rPr lang="en-US" sz="1700" b="1" dirty="0">
                <a:solidFill>
                  <a:schemeClr val="tx1"/>
                </a:solidFill>
              </a:rPr>
              <a:t>five points</a:t>
            </a:r>
            <a:r>
              <a:rPr lang="en-US" sz="1700" dirty="0">
                <a:solidFill>
                  <a:schemeClr val="tx1"/>
                </a:solidFill>
              </a:rPr>
              <a:t>, then change partners.</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Build the timeline Mark asked for</a:t>
            </a:r>
            <a:endParaRPr lang="en-US" sz="3200" dirty="0"/>
          </a:p>
        </p:txBody>
      </p:sp>
      <p:sp>
        <p:nvSpPr>
          <p:cNvPr id="3" name="tag"/>
          <p:cNvSpPr/>
          <p:nvPr/>
        </p:nvSpPr>
        <p:spPr>
          <a:xfrm>
            <a:off x="548640" y="384048"/>
            <a:ext cx="13944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It is 8.20. Without this timeline, nobody can write a report. </a:t>
            </a:r>
            <a:r>
              <a:rPr lang="en-US" sz="1600" b="1" i="1" dirty="0">
                <a:solidFill>
                  <a:schemeClr val="accent5"/>
                </a:solidFill>
              </a:rPr>
              <a:t>Dot</a:t>
            </a:r>
            <a:r>
              <a:rPr lang="en-US" sz="1600" i="1" dirty="0">
                <a:solidFill>
                  <a:schemeClr val="accent5"/>
                </a:solidFill>
              </a:rPr>
              <a:t> → past simple · </a:t>
            </a:r>
            <a:r>
              <a:rPr lang="en-US" sz="1600" b="1" i="1" dirty="0">
                <a:solidFill>
                  <a:schemeClr val="accent5"/>
                </a:solidFill>
              </a:rPr>
              <a:t>bar</a:t>
            </a:r>
            <a:r>
              <a:rPr lang="en-US" sz="1600" i="1" dirty="0">
                <a:solidFill>
                  <a:schemeClr val="accent5"/>
                </a:solidFill>
              </a:rPr>
              <a:t> → was / were + -ing.</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000"/>
              </a:spcAft>
              <a:buNone/>
            </a:pPr>
            <a:r>
              <a:rPr lang="en-US" sz="2000" dirty="0">
                <a:solidFill>
                  <a:schemeClr val="tx1"/>
                </a:solidFill>
              </a:rPr>
              <a:t>At 7.55 p.m. the contractor’s team </a:t>
            </a:r>
            <a:r>
              <a:rPr lang="en-US" sz="2000" b="1" dirty="0">
                <a:solidFill>
                  <a:schemeClr val="tx1"/>
                </a:solidFill>
              </a:rPr>
              <a:t>(1)</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(still work)</a:t>
            </a:r>
            <a:r>
              <a:rPr lang="en-US" sz="2000" dirty="0">
                <a:solidFill>
                  <a:schemeClr val="tx1"/>
                </a:solidFill>
              </a:rPr>
              <a:t> on the second floor.</a:t>
            </a:r>
            <a:endParaRPr lang="en-US" sz="2000" dirty="0"/>
          </a:p>
          <a:p>
            <a:pPr indent="0" marL="0">
              <a:spcAft>
                <a:spcPts val="1000"/>
              </a:spcAft>
              <a:buNone/>
            </a:pPr>
            <a:r>
              <a:rPr lang="en-US" sz="2000" dirty="0">
                <a:solidFill>
                  <a:schemeClr val="tx1"/>
                </a:solidFill>
              </a:rPr>
              <a:t>They </a:t>
            </a:r>
            <a:r>
              <a:rPr lang="en-US" sz="2000" b="1" dirty="0">
                <a:solidFill>
                  <a:schemeClr val="tx1"/>
                </a:solidFill>
              </a:rPr>
              <a:t>(2)</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(leave)</a:t>
            </a:r>
            <a:r>
              <a:rPr lang="en-US" sz="2000" dirty="0">
                <a:solidFill>
                  <a:schemeClr val="tx1"/>
                </a:solidFill>
              </a:rPr>
              <a:t> at 8.15 and </a:t>
            </a:r>
            <a:r>
              <a:rPr lang="en-US" sz="2000" b="1" dirty="0">
                <a:solidFill>
                  <a:schemeClr val="tx1"/>
                </a:solidFill>
              </a:rPr>
              <a:t>(3)</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(lock)</a:t>
            </a:r>
            <a:r>
              <a:rPr lang="en-US" sz="2000" dirty="0">
                <a:solidFill>
                  <a:schemeClr val="tx1"/>
                </a:solidFill>
              </a:rPr>
              <a:t> the door behind them.</a:t>
            </a:r>
            <a:endParaRPr lang="en-US" sz="2000" dirty="0"/>
          </a:p>
          <a:p>
            <a:pPr indent="0" marL="0">
              <a:spcAft>
                <a:spcPts val="1000"/>
              </a:spcAft>
              <a:buNone/>
            </a:pPr>
            <a:r>
              <a:rPr lang="en-US" sz="2000" dirty="0">
                <a:solidFill>
                  <a:schemeClr val="tx1"/>
                </a:solidFill>
              </a:rPr>
              <a:t>While they </a:t>
            </a:r>
            <a:r>
              <a:rPr lang="en-US" sz="2000" b="1" dirty="0">
                <a:solidFill>
                  <a:schemeClr val="tx1"/>
                </a:solidFill>
              </a:rPr>
              <a:t>(4)</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(pack)</a:t>
            </a:r>
            <a:r>
              <a:rPr lang="en-US" sz="2000" dirty="0">
                <a:solidFill>
                  <a:schemeClr val="tx1"/>
                </a:solidFill>
              </a:rPr>
              <a:t> their tools, the site manager </a:t>
            </a:r>
            <a:r>
              <a:rPr lang="en-US" sz="2000" b="1" dirty="0">
                <a:solidFill>
                  <a:schemeClr val="tx1"/>
                </a:solidFill>
              </a:rPr>
              <a:t>(5)</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(carry out)</a:t>
            </a:r>
            <a:r>
              <a:rPr lang="en-US" sz="2000" dirty="0">
                <a:solidFill>
                  <a:schemeClr val="tx1"/>
                </a:solidFill>
              </a:rPr>
              <a:t> his last inspection.</a:t>
            </a:r>
            <a:endParaRPr lang="en-US" sz="2000" dirty="0"/>
          </a:p>
          <a:p>
            <a:pPr indent="0" marL="0">
              <a:spcAft>
                <a:spcPts val="1000"/>
              </a:spcAft>
              <a:buNone/>
            </a:pPr>
            <a:r>
              <a:rPr lang="en-US" sz="2000" dirty="0">
                <a:solidFill>
                  <a:schemeClr val="tx1"/>
                </a:solidFill>
              </a:rPr>
              <a:t>He </a:t>
            </a:r>
            <a:r>
              <a:rPr lang="en-US" sz="2000" b="1" dirty="0">
                <a:solidFill>
                  <a:schemeClr val="tx1"/>
                </a:solidFill>
              </a:rPr>
              <a:t>(6)</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(not notice)</a:t>
            </a:r>
            <a:r>
              <a:rPr lang="en-US" sz="2000" dirty="0">
                <a:solidFill>
                  <a:schemeClr val="tx1"/>
                </a:solidFill>
              </a:rPr>
              <a:t> anything. Later, water </a:t>
            </a:r>
            <a:r>
              <a:rPr lang="en-US" sz="2000" b="1" dirty="0">
                <a:solidFill>
                  <a:schemeClr val="tx1"/>
                </a:solidFill>
              </a:rPr>
              <a:t>(7)</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(begin)</a:t>
            </a:r>
            <a:r>
              <a:rPr lang="en-US" sz="2000" dirty="0">
                <a:solidFill>
                  <a:schemeClr val="tx1"/>
                </a:solidFill>
              </a:rPr>
              <a:t> to run behind the ceiling.</a:t>
            </a:r>
            <a:endParaRPr lang="en-US" sz="2000" dirty="0"/>
          </a:p>
          <a:p>
            <a:pPr indent="0" marL="0">
              <a:spcAft>
                <a:spcPts val="1000"/>
              </a:spcAft>
              <a:buNone/>
            </a:pPr>
            <a:r>
              <a:rPr lang="en-US" sz="2000" dirty="0">
                <a:solidFill>
                  <a:schemeClr val="tx1"/>
                </a:solidFill>
              </a:rPr>
              <a:t>At 11.40 p.m., while everybody </a:t>
            </a:r>
            <a:r>
              <a:rPr lang="en-US" sz="2000" b="1" dirty="0">
                <a:solidFill>
                  <a:schemeClr val="tx1"/>
                </a:solidFill>
              </a:rPr>
              <a:t>(8)</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(sleep)</a:t>
            </a:r>
            <a:r>
              <a:rPr lang="en-US" sz="2000" dirty="0">
                <a:solidFill>
                  <a:schemeClr val="tx1"/>
                </a:solidFill>
              </a:rPr>
              <a:t>, the temperature alarm </a:t>
            </a:r>
            <a:r>
              <a:rPr lang="en-US" sz="2000" b="1" dirty="0">
                <a:solidFill>
                  <a:schemeClr val="tx1"/>
                </a:solidFill>
              </a:rPr>
              <a:t>(9)</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(go off)</a:t>
            </a:r>
            <a:r>
              <a:rPr lang="en-US" sz="2000" dirty="0">
                <a:solidFill>
                  <a:schemeClr val="tx1"/>
                </a:solidFill>
              </a:rPr>
              <a:t>.</a:t>
            </a:r>
            <a:endParaRPr lang="en-US" sz="2000" dirty="0"/>
          </a:p>
          <a:p>
            <a:pPr indent="0" marL="0">
              <a:spcAft>
                <a:spcPts val="1000"/>
              </a:spcAft>
              <a:buNone/>
            </a:pPr>
            <a:r>
              <a:rPr lang="en-US" sz="2000" dirty="0">
                <a:solidFill>
                  <a:schemeClr val="tx1"/>
                </a:solidFill>
              </a:rPr>
              <a:t>Nobody </a:t>
            </a:r>
            <a:r>
              <a:rPr lang="en-US" sz="2000" b="1" dirty="0">
                <a:solidFill>
                  <a:schemeClr val="tx1"/>
                </a:solidFill>
              </a:rPr>
              <a:t>(10)</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(hear)</a:t>
            </a:r>
            <a:r>
              <a:rPr lang="en-US" sz="2000" dirty="0">
                <a:solidFill>
                  <a:schemeClr val="tx1"/>
                </a:solidFill>
              </a:rPr>
              <a:t> it. The cleaners </a:t>
            </a:r>
            <a:r>
              <a:rPr lang="en-US" sz="2000" b="1" dirty="0">
                <a:solidFill>
                  <a:schemeClr val="tx1"/>
                </a:solidFill>
              </a:rPr>
              <a:t>(11)</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(find)</a:t>
            </a:r>
            <a:r>
              <a:rPr lang="en-US" sz="2000" dirty="0">
                <a:solidFill>
                  <a:schemeClr val="tx1"/>
                </a:solidFill>
              </a:rPr>
              <a:t> the water at 6.50, when they </a:t>
            </a:r>
            <a:r>
              <a:rPr lang="en-US" sz="2000" b="1" dirty="0">
                <a:solidFill>
                  <a:schemeClr val="tx1"/>
                </a:solidFill>
              </a:rPr>
              <a:t>(12)</a:t>
            </a:r>
            <a:r>
              <a:rPr lang="en-US" sz="2000" dirty="0">
                <a:solidFill>
                  <a:schemeClr val="tx1"/>
                </a:solidFill>
              </a:rPr>
              <a:t> </a:t>
            </a:r>
            <a:r>
              <a:rPr lang="en-US" sz="2000" dirty="0">
                <a:solidFill>
                  <a:schemeClr val="accent5"/>
                </a:solidFill>
              </a:rPr>
              <a:t>………………</a:t>
            </a:r>
            <a:r>
              <a:rPr lang="en-US" sz="2000" dirty="0">
                <a:solidFill>
                  <a:schemeClr val="tx1"/>
                </a:solidFill>
              </a:rPr>
              <a:t> </a:t>
            </a:r>
            <a:r>
              <a:rPr lang="en-US" sz="2000" i="1" dirty="0">
                <a:solidFill>
                  <a:schemeClr val="tx1"/>
                </a:solidFill>
              </a:rPr>
              <a:t>(open)</a:t>
            </a:r>
            <a:r>
              <a:rPr lang="en-US" sz="2000" dirty="0">
                <a:solidFill>
                  <a:schemeClr val="tx1"/>
                </a:solidFill>
              </a:rPr>
              <a:t> the room.</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Build the timeline Mark asked for</a:t>
            </a:r>
            <a:endParaRPr lang="en-US" sz="3200" dirty="0"/>
          </a:p>
        </p:txBody>
      </p:sp>
      <p:sp>
        <p:nvSpPr>
          <p:cNvPr id="3" name="tag"/>
          <p:cNvSpPr/>
          <p:nvPr/>
        </p:nvSpPr>
        <p:spPr>
          <a:xfrm>
            <a:off x="548640" y="384048"/>
            <a:ext cx="13944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ag"/>
          <p:cNvSpPr/>
          <p:nvPr/>
        </p:nvSpPr>
        <p:spPr>
          <a:xfrm>
            <a:off x="20528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It is 8.20. Without this timeline, nobody can write a report.</a:t>
            </a:r>
            <a:endParaRPr lang="en-US" sz="1600" dirty="0"/>
          </a:p>
        </p:txBody>
      </p:sp>
      <p:sp>
        <p:nvSpPr>
          <p:cNvPr id="8" name="exercise"/>
          <p:cNvSpPr txBox="1"/>
          <p:nvPr/>
        </p:nvSpPr>
        <p:spPr>
          <a:xfrm>
            <a:off x="548640" y="2237232"/>
            <a:ext cx="11091672" cy="3069336"/>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At 7.55 p.m. the contractor’s team </a:t>
            </a:r>
            <a:r>
              <a:rPr lang="en-US" sz="1800" b="1" dirty="0">
                <a:solidFill>
                  <a:schemeClr val="tx1"/>
                </a:solidFill>
              </a:rPr>
              <a:t>(1)</a:t>
            </a:r>
            <a:r>
              <a:rPr lang="en-US" sz="1800" dirty="0">
                <a:solidFill>
                  <a:schemeClr val="tx1"/>
                </a:solidFill>
              </a:rPr>
              <a:t> </a:t>
            </a:r>
            <a:r>
              <a:rPr lang="en-US" sz="1800" b="1" dirty="0">
                <a:solidFill>
                  <a:schemeClr val="accent3"/>
                </a:solidFill>
              </a:rPr>
              <a:t>was still working</a:t>
            </a:r>
            <a:r>
              <a:rPr lang="en-US" sz="1800" dirty="0">
                <a:solidFill>
                  <a:schemeClr val="tx1"/>
                </a:solidFill>
              </a:rPr>
              <a:t> </a:t>
            </a:r>
            <a:r>
              <a:rPr lang="en-US" sz="1800" i="1" dirty="0">
                <a:solidFill>
                  <a:schemeClr val="tx1"/>
                </a:solidFill>
              </a:rPr>
              <a:t>(still work)</a:t>
            </a:r>
            <a:r>
              <a:rPr lang="en-US" sz="1800" dirty="0">
                <a:solidFill>
                  <a:schemeClr val="tx1"/>
                </a:solidFill>
              </a:rPr>
              <a:t> on the second floor.</a:t>
            </a:r>
            <a:endParaRPr lang="en-US" sz="1800" dirty="0"/>
          </a:p>
          <a:p>
            <a:pPr indent="0" marL="0">
              <a:spcAft>
                <a:spcPts val="800"/>
              </a:spcAft>
              <a:buNone/>
            </a:pPr>
            <a:r>
              <a:rPr lang="en-US" sz="1800" dirty="0">
                <a:solidFill>
                  <a:schemeClr val="tx1"/>
                </a:solidFill>
              </a:rPr>
              <a:t>They </a:t>
            </a:r>
            <a:r>
              <a:rPr lang="en-US" sz="1800" b="1" dirty="0">
                <a:solidFill>
                  <a:schemeClr val="tx1"/>
                </a:solidFill>
              </a:rPr>
              <a:t>(2)</a:t>
            </a:r>
            <a:r>
              <a:rPr lang="en-US" sz="1800" dirty="0">
                <a:solidFill>
                  <a:schemeClr val="tx1"/>
                </a:solidFill>
              </a:rPr>
              <a:t> </a:t>
            </a:r>
            <a:r>
              <a:rPr lang="en-US" sz="1800" b="1" dirty="0">
                <a:solidFill>
                  <a:schemeClr val="accent3"/>
                </a:solidFill>
              </a:rPr>
              <a:t>left</a:t>
            </a:r>
            <a:r>
              <a:rPr lang="en-US" sz="1800" dirty="0">
                <a:solidFill>
                  <a:schemeClr val="tx1"/>
                </a:solidFill>
              </a:rPr>
              <a:t> </a:t>
            </a:r>
            <a:r>
              <a:rPr lang="en-US" sz="1800" i="1" dirty="0">
                <a:solidFill>
                  <a:schemeClr val="tx1"/>
                </a:solidFill>
              </a:rPr>
              <a:t>(leave)</a:t>
            </a:r>
            <a:r>
              <a:rPr lang="en-US" sz="1800" dirty="0">
                <a:solidFill>
                  <a:schemeClr val="tx1"/>
                </a:solidFill>
              </a:rPr>
              <a:t> at 8.15 and </a:t>
            </a:r>
            <a:r>
              <a:rPr lang="en-US" sz="1800" b="1" dirty="0">
                <a:solidFill>
                  <a:schemeClr val="tx1"/>
                </a:solidFill>
              </a:rPr>
              <a:t>(3)</a:t>
            </a:r>
            <a:r>
              <a:rPr lang="en-US" sz="1800" dirty="0">
                <a:solidFill>
                  <a:schemeClr val="tx1"/>
                </a:solidFill>
              </a:rPr>
              <a:t> </a:t>
            </a:r>
            <a:r>
              <a:rPr lang="en-US" sz="1800" b="1" dirty="0">
                <a:solidFill>
                  <a:schemeClr val="accent3"/>
                </a:solidFill>
              </a:rPr>
              <a:t>locked</a:t>
            </a:r>
            <a:r>
              <a:rPr lang="en-US" sz="1800" dirty="0">
                <a:solidFill>
                  <a:schemeClr val="tx1"/>
                </a:solidFill>
              </a:rPr>
              <a:t> </a:t>
            </a:r>
            <a:r>
              <a:rPr lang="en-US" sz="1800" i="1" dirty="0">
                <a:solidFill>
                  <a:schemeClr val="tx1"/>
                </a:solidFill>
              </a:rPr>
              <a:t>(lock)</a:t>
            </a:r>
            <a:r>
              <a:rPr lang="en-US" sz="1800" dirty="0">
                <a:solidFill>
                  <a:schemeClr val="tx1"/>
                </a:solidFill>
              </a:rPr>
              <a:t> the door behind them.</a:t>
            </a:r>
            <a:endParaRPr lang="en-US" sz="1800" dirty="0"/>
          </a:p>
          <a:p>
            <a:pPr indent="0" marL="0">
              <a:spcAft>
                <a:spcPts val="800"/>
              </a:spcAft>
              <a:buNone/>
            </a:pPr>
            <a:r>
              <a:rPr lang="en-US" sz="1800" dirty="0">
                <a:solidFill>
                  <a:schemeClr val="tx1"/>
                </a:solidFill>
              </a:rPr>
              <a:t>While they </a:t>
            </a:r>
            <a:r>
              <a:rPr lang="en-US" sz="1800" b="1" dirty="0">
                <a:solidFill>
                  <a:schemeClr val="tx1"/>
                </a:solidFill>
              </a:rPr>
              <a:t>(4)</a:t>
            </a:r>
            <a:r>
              <a:rPr lang="en-US" sz="1800" dirty="0">
                <a:solidFill>
                  <a:schemeClr val="tx1"/>
                </a:solidFill>
              </a:rPr>
              <a:t> </a:t>
            </a:r>
            <a:r>
              <a:rPr lang="en-US" sz="1800" b="1" dirty="0">
                <a:solidFill>
                  <a:schemeClr val="accent3"/>
                </a:solidFill>
              </a:rPr>
              <a:t>were packing</a:t>
            </a:r>
            <a:r>
              <a:rPr lang="en-US" sz="1800" dirty="0">
                <a:solidFill>
                  <a:schemeClr val="tx1"/>
                </a:solidFill>
              </a:rPr>
              <a:t> </a:t>
            </a:r>
            <a:r>
              <a:rPr lang="en-US" sz="1800" i="1" dirty="0">
                <a:solidFill>
                  <a:schemeClr val="tx1"/>
                </a:solidFill>
              </a:rPr>
              <a:t>(pack)</a:t>
            </a:r>
            <a:r>
              <a:rPr lang="en-US" sz="1800" dirty="0">
                <a:solidFill>
                  <a:schemeClr val="tx1"/>
                </a:solidFill>
              </a:rPr>
              <a:t> their tools, the site manager </a:t>
            </a:r>
            <a:r>
              <a:rPr lang="en-US" sz="1800" b="1" dirty="0">
                <a:solidFill>
                  <a:schemeClr val="tx1"/>
                </a:solidFill>
              </a:rPr>
              <a:t>(5)</a:t>
            </a:r>
            <a:r>
              <a:rPr lang="en-US" sz="1800" dirty="0">
                <a:solidFill>
                  <a:schemeClr val="tx1"/>
                </a:solidFill>
              </a:rPr>
              <a:t> </a:t>
            </a:r>
            <a:r>
              <a:rPr lang="en-US" sz="1800" b="1" dirty="0">
                <a:solidFill>
                  <a:schemeClr val="accent3"/>
                </a:solidFill>
              </a:rPr>
              <a:t>carried out</a:t>
            </a:r>
            <a:r>
              <a:rPr lang="en-US" sz="1800" dirty="0">
                <a:solidFill>
                  <a:schemeClr val="tx1"/>
                </a:solidFill>
              </a:rPr>
              <a:t> </a:t>
            </a:r>
            <a:r>
              <a:rPr lang="en-US" sz="1800" i="1" dirty="0">
                <a:solidFill>
                  <a:schemeClr val="tx1"/>
                </a:solidFill>
              </a:rPr>
              <a:t>(carry out)</a:t>
            </a:r>
            <a:r>
              <a:rPr lang="en-US" sz="1800" dirty="0">
                <a:solidFill>
                  <a:schemeClr val="tx1"/>
                </a:solidFill>
              </a:rPr>
              <a:t> his last inspection.</a:t>
            </a:r>
            <a:endParaRPr lang="en-US" sz="1800" dirty="0"/>
          </a:p>
          <a:p>
            <a:pPr indent="0" marL="0">
              <a:spcAft>
                <a:spcPts val="800"/>
              </a:spcAft>
              <a:buNone/>
            </a:pPr>
            <a:r>
              <a:rPr lang="en-US" sz="1800" dirty="0">
                <a:solidFill>
                  <a:schemeClr val="tx1"/>
                </a:solidFill>
              </a:rPr>
              <a:t>He </a:t>
            </a:r>
            <a:r>
              <a:rPr lang="en-US" sz="1800" b="1" dirty="0">
                <a:solidFill>
                  <a:schemeClr val="tx1"/>
                </a:solidFill>
              </a:rPr>
              <a:t>(6)</a:t>
            </a:r>
            <a:r>
              <a:rPr lang="en-US" sz="1800" dirty="0">
                <a:solidFill>
                  <a:schemeClr val="tx1"/>
                </a:solidFill>
              </a:rPr>
              <a:t> </a:t>
            </a:r>
            <a:r>
              <a:rPr lang="en-US" sz="1800" b="1" dirty="0">
                <a:solidFill>
                  <a:schemeClr val="accent3"/>
                </a:solidFill>
              </a:rPr>
              <a:t>did not notice</a:t>
            </a:r>
            <a:r>
              <a:rPr lang="en-US" sz="1800" dirty="0">
                <a:solidFill>
                  <a:schemeClr val="tx1"/>
                </a:solidFill>
              </a:rPr>
              <a:t> </a:t>
            </a:r>
            <a:r>
              <a:rPr lang="en-US" sz="1800" i="1" dirty="0">
                <a:solidFill>
                  <a:schemeClr val="tx1"/>
                </a:solidFill>
              </a:rPr>
              <a:t>(not notice)</a:t>
            </a:r>
            <a:r>
              <a:rPr lang="en-US" sz="1800" dirty="0">
                <a:solidFill>
                  <a:schemeClr val="tx1"/>
                </a:solidFill>
              </a:rPr>
              <a:t> anything. Later, water </a:t>
            </a:r>
            <a:r>
              <a:rPr lang="en-US" sz="1800" b="1" dirty="0">
                <a:solidFill>
                  <a:schemeClr val="tx1"/>
                </a:solidFill>
              </a:rPr>
              <a:t>(7)</a:t>
            </a:r>
            <a:r>
              <a:rPr lang="en-US" sz="1800" dirty="0">
                <a:solidFill>
                  <a:schemeClr val="tx1"/>
                </a:solidFill>
              </a:rPr>
              <a:t> </a:t>
            </a:r>
            <a:r>
              <a:rPr lang="en-US" sz="1800" b="1" dirty="0">
                <a:solidFill>
                  <a:schemeClr val="accent3"/>
                </a:solidFill>
              </a:rPr>
              <a:t>began</a:t>
            </a:r>
            <a:r>
              <a:rPr lang="en-US" sz="1800" dirty="0">
                <a:solidFill>
                  <a:schemeClr val="tx1"/>
                </a:solidFill>
              </a:rPr>
              <a:t> </a:t>
            </a:r>
            <a:r>
              <a:rPr lang="en-US" sz="1800" i="1" dirty="0">
                <a:solidFill>
                  <a:schemeClr val="tx1"/>
                </a:solidFill>
              </a:rPr>
              <a:t>(begin)</a:t>
            </a:r>
            <a:r>
              <a:rPr lang="en-US" sz="1800" dirty="0">
                <a:solidFill>
                  <a:schemeClr val="tx1"/>
                </a:solidFill>
              </a:rPr>
              <a:t> to run behind the ceiling.</a:t>
            </a:r>
            <a:endParaRPr lang="en-US" sz="1800" dirty="0"/>
          </a:p>
          <a:p>
            <a:pPr indent="0" marL="0">
              <a:spcAft>
                <a:spcPts val="800"/>
              </a:spcAft>
              <a:buNone/>
            </a:pPr>
            <a:r>
              <a:rPr lang="en-US" sz="1800" dirty="0">
                <a:solidFill>
                  <a:schemeClr val="tx1"/>
                </a:solidFill>
              </a:rPr>
              <a:t>At 11.40 p.m., while everybody </a:t>
            </a:r>
            <a:r>
              <a:rPr lang="en-US" sz="1800" b="1" dirty="0">
                <a:solidFill>
                  <a:schemeClr val="tx1"/>
                </a:solidFill>
              </a:rPr>
              <a:t>(8)</a:t>
            </a:r>
            <a:r>
              <a:rPr lang="en-US" sz="1800" dirty="0">
                <a:solidFill>
                  <a:schemeClr val="tx1"/>
                </a:solidFill>
              </a:rPr>
              <a:t> </a:t>
            </a:r>
            <a:r>
              <a:rPr lang="en-US" sz="1800" b="1" dirty="0">
                <a:solidFill>
                  <a:schemeClr val="accent3"/>
                </a:solidFill>
              </a:rPr>
              <a:t>was sleeping</a:t>
            </a:r>
            <a:r>
              <a:rPr lang="en-US" sz="1800" dirty="0">
                <a:solidFill>
                  <a:schemeClr val="tx1"/>
                </a:solidFill>
              </a:rPr>
              <a:t> </a:t>
            </a:r>
            <a:r>
              <a:rPr lang="en-US" sz="1800" i="1" dirty="0">
                <a:solidFill>
                  <a:schemeClr val="tx1"/>
                </a:solidFill>
              </a:rPr>
              <a:t>(sleep)</a:t>
            </a:r>
            <a:r>
              <a:rPr lang="en-US" sz="1800" dirty="0">
                <a:solidFill>
                  <a:schemeClr val="tx1"/>
                </a:solidFill>
              </a:rPr>
              <a:t>, the temperature alarm </a:t>
            </a:r>
            <a:r>
              <a:rPr lang="en-US" sz="1800" b="1" dirty="0">
                <a:solidFill>
                  <a:schemeClr val="tx1"/>
                </a:solidFill>
              </a:rPr>
              <a:t>(9)</a:t>
            </a:r>
            <a:r>
              <a:rPr lang="en-US" sz="1800" dirty="0">
                <a:solidFill>
                  <a:schemeClr val="tx1"/>
                </a:solidFill>
              </a:rPr>
              <a:t> </a:t>
            </a:r>
            <a:r>
              <a:rPr lang="en-US" sz="1800" b="1" dirty="0">
                <a:solidFill>
                  <a:schemeClr val="accent3"/>
                </a:solidFill>
              </a:rPr>
              <a:t>went off</a:t>
            </a:r>
            <a:r>
              <a:rPr lang="en-US" sz="1800" dirty="0">
                <a:solidFill>
                  <a:schemeClr val="tx1"/>
                </a:solidFill>
              </a:rPr>
              <a:t> </a:t>
            </a:r>
            <a:r>
              <a:rPr lang="en-US" sz="1800" i="1" dirty="0">
                <a:solidFill>
                  <a:schemeClr val="tx1"/>
                </a:solidFill>
              </a:rPr>
              <a:t>(go off)</a:t>
            </a:r>
            <a:r>
              <a:rPr lang="en-US" sz="1800" dirty="0">
                <a:solidFill>
                  <a:schemeClr val="tx1"/>
                </a:solidFill>
              </a:rPr>
              <a:t>.</a:t>
            </a:r>
            <a:endParaRPr lang="en-US" sz="1800" dirty="0"/>
          </a:p>
          <a:p>
            <a:pPr indent="0" marL="0">
              <a:spcAft>
                <a:spcPts val="800"/>
              </a:spcAft>
              <a:buNone/>
            </a:pPr>
            <a:r>
              <a:rPr lang="en-US" sz="1800" dirty="0">
                <a:solidFill>
                  <a:schemeClr val="tx1"/>
                </a:solidFill>
              </a:rPr>
              <a:t>Nobody </a:t>
            </a:r>
            <a:r>
              <a:rPr lang="en-US" sz="1800" b="1" dirty="0">
                <a:solidFill>
                  <a:schemeClr val="tx1"/>
                </a:solidFill>
              </a:rPr>
              <a:t>(10)</a:t>
            </a:r>
            <a:r>
              <a:rPr lang="en-US" sz="1800" dirty="0">
                <a:solidFill>
                  <a:schemeClr val="tx1"/>
                </a:solidFill>
              </a:rPr>
              <a:t> </a:t>
            </a:r>
            <a:r>
              <a:rPr lang="en-US" sz="1800" b="1" dirty="0">
                <a:solidFill>
                  <a:schemeClr val="accent3"/>
                </a:solidFill>
              </a:rPr>
              <a:t>heard</a:t>
            </a:r>
            <a:r>
              <a:rPr lang="en-US" sz="1800" dirty="0">
                <a:solidFill>
                  <a:schemeClr val="tx1"/>
                </a:solidFill>
              </a:rPr>
              <a:t> </a:t>
            </a:r>
            <a:r>
              <a:rPr lang="en-US" sz="1800" i="1" dirty="0">
                <a:solidFill>
                  <a:schemeClr val="tx1"/>
                </a:solidFill>
              </a:rPr>
              <a:t>(hear)</a:t>
            </a:r>
            <a:r>
              <a:rPr lang="en-US" sz="1800" dirty="0">
                <a:solidFill>
                  <a:schemeClr val="tx1"/>
                </a:solidFill>
              </a:rPr>
              <a:t> it. The cleaners </a:t>
            </a:r>
            <a:r>
              <a:rPr lang="en-US" sz="1800" b="1" dirty="0">
                <a:solidFill>
                  <a:schemeClr val="tx1"/>
                </a:solidFill>
              </a:rPr>
              <a:t>(11)</a:t>
            </a:r>
            <a:r>
              <a:rPr lang="en-US" sz="1800" dirty="0">
                <a:solidFill>
                  <a:schemeClr val="tx1"/>
                </a:solidFill>
              </a:rPr>
              <a:t> </a:t>
            </a:r>
            <a:r>
              <a:rPr lang="en-US" sz="1800" b="1" dirty="0">
                <a:solidFill>
                  <a:schemeClr val="accent3"/>
                </a:solidFill>
              </a:rPr>
              <a:t>found</a:t>
            </a:r>
            <a:r>
              <a:rPr lang="en-US" sz="1800" dirty="0">
                <a:solidFill>
                  <a:schemeClr val="tx1"/>
                </a:solidFill>
              </a:rPr>
              <a:t> </a:t>
            </a:r>
            <a:r>
              <a:rPr lang="en-US" sz="1800" i="1" dirty="0">
                <a:solidFill>
                  <a:schemeClr val="tx1"/>
                </a:solidFill>
              </a:rPr>
              <a:t>(find)</a:t>
            </a:r>
            <a:r>
              <a:rPr lang="en-US" sz="1800" dirty="0">
                <a:solidFill>
                  <a:schemeClr val="tx1"/>
                </a:solidFill>
              </a:rPr>
              <a:t> the water at 6.50, when they </a:t>
            </a:r>
            <a:r>
              <a:rPr lang="en-US" sz="1800" b="1" dirty="0">
                <a:solidFill>
                  <a:schemeClr val="tx1"/>
                </a:solidFill>
              </a:rPr>
              <a:t>(12)</a:t>
            </a:r>
            <a:r>
              <a:rPr lang="en-US" sz="1800" dirty="0">
                <a:solidFill>
                  <a:schemeClr val="tx1"/>
                </a:solidFill>
              </a:rPr>
              <a:t> </a:t>
            </a:r>
            <a:r>
              <a:rPr lang="en-US" sz="1800" b="1" dirty="0">
                <a:solidFill>
                  <a:schemeClr val="accent3"/>
                </a:solidFill>
              </a:rPr>
              <a:t>opened</a:t>
            </a:r>
            <a:r>
              <a:rPr lang="en-US" sz="1800" dirty="0">
                <a:solidFill>
                  <a:schemeClr val="tx1"/>
                </a:solidFill>
              </a:rPr>
              <a:t> </a:t>
            </a:r>
            <a:r>
              <a:rPr lang="en-US" sz="1800" i="1" dirty="0">
                <a:solidFill>
                  <a:schemeClr val="tx1"/>
                </a:solidFill>
              </a:rPr>
              <a:t>(open)</a:t>
            </a:r>
            <a:r>
              <a:rPr lang="en-US" sz="1800" dirty="0">
                <a:solidFill>
                  <a:schemeClr val="tx1"/>
                </a:solidFill>
              </a:rPr>
              <a:t> the room.</a:t>
            </a:r>
            <a:endParaRPr lang="en-US" sz="1800" dirty="0"/>
          </a:p>
        </p:txBody>
      </p:sp>
      <p:sp>
        <p:nvSpPr>
          <p:cNvPr id="9" name="Shape 6"/>
          <p:cNvSpPr/>
          <p:nvPr/>
        </p:nvSpPr>
        <p:spPr>
          <a:xfrm>
            <a:off x="548640" y="5535168"/>
            <a:ext cx="11091672" cy="774192"/>
          </a:xfrm>
          <a:prstGeom prst="roundRect">
            <a:avLst>
              <a:gd name="adj" fmla="val 9449"/>
            </a:avLst>
          </a:prstGeom>
          <a:solidFill>
            <a:srgbClr val="C0752A">
              <a:alpha val="8000"/>
            </a:srgbClr>
          </a:solidFill>
          <a:ln w="12700">
            <a:solidFill>
              <a:srgbClr val="C0752A"/>
            </a:solidFill>
            <a:prstDash val="solid"/>
          </a:ln>
        </p:spPr>
      </p:sp>
      <p:pic>
        <p:nvPicPr>
          <p:cNvPr id="10"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11" name="Text 7"/>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1"/>
                </a:solidFill>
              </a:rPr>
              <a:t>Watch out — </a:t>
            </a:r>
            <a:r>
              <a:rPr lang="en-US" sz="1800" dirty="0">
                <a:solidFill>
                  <a:schemeClr val="tx1"/>
                </a:solidFill>
              </a:rPr>
              <a:t>(5) </a:t>
            </a:r>
            <a:r>
              <a:rPr lang="en-US" sz="1800" i="1" dirty="0">
                <a:solidFill>
                  <a:schemeClr val="tx1"/>
                </a:solidFill>
              </a:rPr>
              <a:t>was carrying out</a:t>
            </a:r>
            <a:r>
              <a:rPr lang="en-US" sz="1800" dirty="0">
                <a:solidFill>
                  <a:schemeClr val="tx1"/>
                </a:solidFill>
              </a:rPr>
              <a:t> is also correct · (6) formal report: </a:t>
            </a:r>
            <a:r>
              <a:rPr lang="en-US" sz="1800" b="1" dirty="0">
                <a:solidFill>
                  <a:schemeClr val="tx1"/>
                </a:solidFill>
              </a:rPr>
              <a:t>did not</a:t>
            </a:r>
            <a:r>
              <a:rPr lang="en-US" sz="1800" dirty="0">
                <a:solidFill>
                  <a:schemeClr val="tx1"/>
                </a:solidFill>
              </a:rPr>
              <a:t>, not </a:t>
            </a:r>
            <a:r>
              <a:rPr lang="en-US" sz="1800" i="1" dirty="0">
                <a:solidFill>
                  <a:schemeClr val="tx1"/>
                </a:solidFill>
              </a:rPr>
              <a:t>didn’t</a:t>
            </a:r>
            <a:r>
              <a:rPr lang="en-US" sz="1800" dirty="0">
                <a:solidFill>
                  <a:schemeClr val="tx1"/>
                </a:solidFill>
              </a:rPr>
              <a:t> · (7) </a:t>
            </a:r>
            <a:r>
              <a:rPr lang="en-US" sz="1800" b="1" dirty="0">
                <a:solidFill>
                  <a:schemeClr val="tx1"/>
                </a:solidFill>
              </a:rPr>
              <a:t>began</a:t>
            </a:r>
            <a:r>
              <a:rPr lang="en-US" sz="1800" dirty="0">
                <a:solidFill>
                  <a:schemeClr val="tx1"/>
                </a:solidFill>
              </a:rPr>
              <a:t> ≠ </a:t>
            </a:r>
            <a:r>
              <a:rPr lang="en-US" sz="1800" i="1" dirty="0">
                <a:solidFill>
                  <a:schemeClr val="tx1"/>
                </a:solidFill>
              </a:rPr>
              <a:t>begun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night on a line — your timeline</a:t>
            </a:r>
            <a:endParaRPr lang="en-US" sz="3200" dirty="0"/>
          </a:p>
        </p:txBody>
      </p:sp>
      <p:sp>
        <p:nvSpPr>
          <p:cNvPr id="3" name="tag"/>
          <p:cNvSpPr/>
          <p:nvPr/>
        </p:nvSpPr>
        <p:spPr>
          <a:xfrm>
            <a:off x="548640" y="384048"/>
            <a:ext cx="13944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ag"/>
          <p:cNvSpPr/>
          <p:nvPr/>
        </p:nvSpPr>
        <p:spPr>
          <a:xfrm>
            <a:off x="20528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Shape 4"/>
          <p:cNvSpPr/>
          <p:nvPr/>
        </p:nvSpPr>
        <p:spPr>
          <a:xfrm>
            <a:off x="999417" y="2177796"/>
            <a:ext cx="722640" cy="420624"/>
          </a:xfrm>
          <a:prstGeom prst="roundRect">
            <a:avLst>
              <a:gd name="adj" fmla="val 21739"/>
            </a:avLst>
          </a:prstGeom>
          <a:solidFill>
            <a:srgbClr val="2E75B6">
              <a:alpha val="92000"/>
            </a:srgbClr>
          </a:solidFill>
          <a:ln w="15875">
            <a:solidFill>
              <a:srgbClr val="2E75B6"/>
            </a:solidFill>
            <a:prstDash val="solid"/>
          </a:ln>
        </p:spPr>
      </p:sp>
      <p:sp>
        <p:nvSpPr>
          <p:cNvPr id="7" name="Text 5"/>
          <p:cNvSpPr txBox="1"/>
          <p:nvPr/>
        </p:nvSpPr>
        <p:spPr>
          <a:xfrm>
            <a:off x="1813497" y="2177796"/>
            <a:ext cx="2813304" cy="420624"/>
          </a:xfrm>
          <a:prstGeom prst="rect">
            <a:avLst/>
          </a:prstGeom>
          <a:noFill/>
          <a:ln/>
        </p:spPr>
        <p:txBody>
          <a:bodyPr wrap="square" lIns="0" tIns="0" rIns="0" bIns="0" rtlCol="0" anchor="ctr"/>
          <a:lstStyle/>
          <a:p>
            <a:pPr indent="0" marL="0">
              <a:buNone/>
            </a:pPr>
            <a:r>
              <a:rPr lang="en-US" sz="1400" b="1" i="1" dirty="0">
                <a:solidFill>
                  <a:schemeClr val="accent2"/>
                </a:solidFill>
              </a:rPr>
              <a:t>(1) was working · (4) were packing</a:t>
            </a:r>
            <a:endParaRPr lang="en-US" sz="1400" dirty="0"/>
          </a:p>
        </p:txBody>
      </p:sp>
      <p:sp>
        <p:nvSpPr>
          <p:cNvPr id="8" name="Shape 6"/>
          <p:cNvSpPr/>
          <p:nvPr/>
        </p:nvSpPr>
        <p:spPr>
          <a:xfrm>
            <a:off x="2529714" y="3275076"/>
            <a:ext cx="8187092" cy="420624"/>
          </a:xfrm>
          <a:prstGeom prst="roundRect">
            <a:avLst>
              <a:gd name="adj" fmla="val 21739"/>
            </a:avLst>
          </a:prstGeom>
          <a:solidFill>
            <a:srgbClr val="2E75B6">
              <a:alpha val="40000"/>
            </a:srgbClr>
          </a:solidFill>
          <a:ln w="15875">
            <a:solidFill>
              <a:srgbClr val="2E75B6"/>
            </a:solidFill>
            <a:prstDash val="dash"/>
          </a:ln>
        </p:spPr>
      </p:sp>
      <p:sp>
        <p:nvSpPr>
          <p:cNvPr id="9" name="Text 7"/>
          <p:cNvSpPr txBox="1"/>
          <p:nvPr/>
        </p:nvSpPr>
        <p:spPr>
          <a:xfrm>
            <a:off x="2602866" y="3275076"/>
            <a:ext cx="8040788" cy="420624"/>
          </a:xfrm>
          <a:prstGeom prst="rect">
            <a:avLst/>
          </a:prstGeom>
          <a:noFill/>
          <a:ln/>
        </p:spPr>
        <p:txBody>
          <a:bodyPr wrap="square" lIns="0" tIns="0" rIns="0" bIns="0" rtlCol="0" anchor="ctr"/>
          <a:lstStyle/>
          <a:p>
            <a:pPr algn="ctr" indent="0" marL="0">
              <a:buNone/>
            </a:pPr>
            <a:r>
              <a:rPr lang="en-US" sz="1400" b="1" i="1" dirty="0">
                <a:solidFill>
                  <a:schemeClr val="tx1"/>
                </a:solidFill>
              </a:rPr>
              <a:t>(7) water began → was running behind the ceiling</a:t>
            </a:r>
            <a:endParaRPr lang="en-US" sz="1400" dirty="0"/>
          </a:p>
        </p:txBody>
      </p:sp>
      <p:sp>
        <p:nvSpPr>
          <p:cNvPr id="10" name="Shape 8"/>
          <p:cNvSpPr/>
          <p:nvPr/>
        </p:nvSpPr>
        <p:spPr>
          <a:xfrm>
            <a:off x="4315061" y="2726436"/>
            <a:ext cx="6333731" cy="420624"/>
          </a:xfrm>
          <a:prstGeom prst="roundRect">
            <a:avLst>
              <a:gd name="adj" fmla="val 21739"/>
            </a:avLst>
          </a:prstGeom>
          <a:solidFill>
            <a:srgbClr val="44546A">
              <a:alpha val="92000"/>
            </a:srgbClr>
          </a:solidFill>
          <a:ln w="15875">
            <a:solidFill>
              <a:srgbClr val="44546A"/>
            </a:solidFill>
            <a:prstDash val="solid"/>
          </a:ln>
        </p:spPr>
      </p:sp>
      <p:sp>
        <p:nvSpPr>
          <p:cNvPr id="11" name="Text 9"/>
          <p:cNvSpPr txBox="1"/>
          <p:nvPr/>
        </p:nvSpPr>
        <p:spPr>
          <a:xfrm>
            <a:off x="4388213" y="2726436"/>
            <a:ext cx="6187427" cy="420624"/>
          </a:xfrm>
          <a:prstGeom prst="rect">
            <a:avLst/>
          </a:prstGeom>
          <a:noFill/>
          <a:ln/>
        </p:spPr>
        <p:txBody>
          <a:bodyPr wrap="square" lIns="0" tIns="0" rIns="0" bIns="0" rtlCol="0" anchor="ctr"/>
          <a:lstStyle/>
          <a:p>
            <a:pPr algn="ctr" indent="0" marL="0">
              <a:buNone/>
            </a:pPr>
            <a:r>
              <a:rPr lang="en-US" sz="1400" b="1" i="1" dirty="0">
                <a:solidFill>
                  <a:schemeClr val="bg1"/>
                </a:solidFill>
              </a:rPr>
              <a:t>(8) everybody was sleeping</a:t>
            </a:r>
            <a:endParaRPr lang="en-US" sz="1400" dirty="0"/>
          </a:p>
        </p:txBody>
      </p:sp>
      <p:sp>
        <p:nvSpPr>
          <p:cNvPr id="12" name="Shape 10"/>
          <p:cNvSpPr/>
          <p:nvPr/>
        </p:nvSpPr>
        <p:spPr>
          <a:xfrm>
            <a:off x="594360" y="3970020"/>
            <a:ext cx="10881360" cy="0"/>
          </a:xfrm>
          <a:prstGeom prst="line">
            <a:avLst/>
          </a:prstGeom>
          <a:noFill/>
          <a:ln w="31750">
            <a:solidFill>
              <a:srgbClr val="1F3864"/>
            </a:solidFill>
            <a:prstDash val="solid"/>
            <a:tailEnd type="triangle"/>
          </a:ln>
        </p:spPr>
      </p:sp>
      <p:sp>
        <p:nvSpPr>
          <p:cNvPr id="13" name="Shape 11"/>
          <p:cNvSpPr/>
          <p:nvPr/>
        </p:nvSpPr>
        <p:spPr>
          <a:xfrm>
            <a:off x="1509516" y="3906012"/>
            <a:ext cx="0" cy="128016"/>
          </a:xfrm>
          <a:prstGeom prst="line">
            <a:avLst/>
          </a:prstGeom>
          <a:noFill/>
          <a:ln w="15875">
            <a:solidFill>
              <a:srgbClr val="1F3864"/>
            </a:solidFill>
            <a:prstDash val="solid"/>
          </a:ln>
        </p:spPr>
      </p:sp>
      <p:sp>
        <p:nvSpPr>
          <p:cNvPr id="14" name="Text 12"/>
          <p:cNvSpPr txBox="1"/>
          <p:nvPr/>
        </p:nvSpPr>
        <p:spPr>
          <a:xfrm>
            <a:off x="1052316" y="4061460"/>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20.00</a:t>
            </a:r>
            <a:endParaRPr lang="en-US" sz="1100" dirty="0"/>
          </a:p>
        </p:txBody>
      </p:sp>
      <p:sp>
        <p:nvSpPr>
          <p:cNvPr id="15" name="Shape 13"/>
          <p:cNvSpPr/>
          <p:nvPr/>
        </p:nvSpPr>
        <p:spPr>
          <a:xfrm>
            <a:off x="3209846" y="3906012"/>
            <a:ext cx="0" cy="128016"/>
          </a:xfrm>
          <a:prstGeom prst="line">
            <a:avLst/>
          </a:prstGeom>
          <a:noFill/>
          <a:ln w="15875">
            <a:solidFill>
              <a:srgbClr val="1F3864"/>
            </a:solidFill>
            <a:prstDash val="solid"/>
          </a:ln>
        </p:spPr>
      </p:sp>
      <p:sp>
        <p:nvSpPr>
          <p:cNvPr id="16" name="Text 14"/>
          <p:cNvSpPr txBox="1"/>
          <p:nvPr/>
        </p:nvSpPr>
        <p:spPr>
          <a:xfrm>
            <a:off x="2752646" y="4061460"/>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22.00</a:t>
            </a:r>
            <a:endParaRPr lang="en-US" sz="1100" dirty="0"/>
          </a:p>
        </p:txBody>
      </p:sp>
      <p:sp>
        <p:nvSpPr>
          <p:cNvPr id="17" name="Shape 15"/>
          <p:cNvSpPr/>
          <p:nvPr/>
        </p:nvSpPr>
        <p:spPr>
          <a:xfrm>
            <a:off x="4910177" y="3906012"/>
            <a:ext cx="0" cy="128016"/>
          </a:xfrm>
          <a:prstGeom prst="line">
            <a:avLst/>
          </a:prstGeom>
          <a:noFill/>
          <a:ln w="15875">
            <a:solidFill>
              <a:srgbClr val="1F3864"/>
            </a:solidFill>
            <a:prstDash val="solid"/>
          </a:ln>
        </p:spPr>
      </p:sp>
      <p:sp>
        <p:nvSpPr>
          <p:cNvPr id="18" name="Text 16"/>
          <p:cNvSpPr txBox="1"/>
          <p:nvPr/>
        </p:nvSpPr>
        <p:spPr>
          <a:xfrm>
            <a:off x="4452977" y="4061460"/>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00.00</a:t>
            </a:r>
            <a:endParaRPr lang="en-US" sz="1100" dirty="0"/>
          </a:p>
        </p:txBody>
      </p:sp>
      <p:sp>
        <p:nvSpPr>
          <p:cNvPr id="19" name="Shape 17"/>
          <p:cNvSpPr/>
          <p:nvPr/>
        </p:nvSpPr>
        <p:spPr>
          <a:xfrm>
            <a:off x="6610507" y="3906012"/>
            <a:ext cx="0" cy="128016"/>
          </a:xfrm>
          <a:prstGeom prst="line">
            <a:avLst/>
          </a:prstGeom>
          <a:noFill/>
          <a:ln w="15875">
            <a:solidFill>
              <a:srgbClr val="1F3864"/>
            </a:solidFill>
            <a:prstDash val="solid"/>
          </a:ln>
        </p:spPr>
      </p:sp>
      <p:sp>
        <p:nvSpPr>
          <p:cNvPr id="20" name="Text 18"/>
          <p:cNvSpPr txBox="1"/>
          <p:nvPr/>
        </p:nvSpPr>
        <p:spPr>
          <a:xfrm>
            <a:off x="6153307" y="4061460"/>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02.00</a:t>
            </a:r>
            <a:endParaRPr lang="en-US" sz="1100" dirty="0"/>
          </a:p>
        </p:txBody>
      </p:sp>
      <p:sp>
        <p:nvSpPr>
          <p:cNvPr id="21" name="Shape 19"/>
          <p:cNvSpPr/>
          <p:nvPr/>
        </p:nvSpPr>
        <p:spPr>
          <a:xfrm>
            <a:off x="8310838" y="3906012"/>
            <a:ext cx="0" cy="128016"/>
          </a:xfrm>
          <a:prstGeom prst="line">
            <a:avLst/>
          </a:prstGeom>
          <a:noFill/>
          <a:ln w="15875">
            <a:solidFill>
              <a:srgbClr val="1F3864"/>
            </a:solidFill>
            <a:prstDash val="solid"/>
          </a:ln>
        </p:spPr>
      </p:sp>
      <p:sp>
        <p:nvSpPr>
          <p:cNvPr id="22" name="Text 20"/>
          <p:cNvSpPr txBox="1"/>
          <p:nvPr/>
        </p:nvSpPr>
        <p:spPr>
          <a:xfrm>
            <a:off x="7853638" y="4061460"/>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04.00</a:t>
            </a:r>
            <a:endParaRPr lang="en-US" sz="1100" dirty="0"/>
          </a:p>
        </p:txBody>
      </p:sp>
      <p:sp>
        <p:nvSpPr>
          <p:cNvPr id="23" name="Shape 21"/>
          <p:cNvSpPr/>
          <p:nvPr/>
        </p:nvSpPr>
        <p:spPr>
          <a:xfrm>
            <a:off x="10011169" y="3906012"/>
            <a:ext cx="0" cy="128016"/>
          </a:xfrm>
          <a:prstGeom prst="line">
            <a:avLst/>
          </a:prstGeom>
          <a:noFill/>
          <a:ln w="15875">
            <a:solidFill>
              <a:srgbClr val="1F3864"/>
            </a:solidFill>
            <a:prstDash val="solid"/>
          </a:ln>
        </p:spPr>
      </p:sp>
      <p:sp>
        <p:nvSpPr>
          <p:cNvPr id="24" name="Text 22"/>
          <p:cNvSpPr txBox="1"/>
          <p:nvPr/>
        </p:nvSpPr>
        <p:spPr>
          <a:xfrm>
            <a:off x="9553969" y="4061460"/>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06.00</a:t>
            </a:r>
            <a:endParaRPr lang="en-US" sz="1100" dirty="0"/>
          </a:p>
        </p:txBody>
      </p:sp>
      <p:sp>
        <p:nvSpPr>
          <p:cNvPr id="25" name="Shape 23"/>
          <p:cNvSpPr/>
          <p:nvPr/>
        </p:nvSpPr>
        <p:spPr>
          <a:xfrm>
            <a:off x="1722057" y="4061460"/>
            <a:ext cx="0" cy="365760"/>
          </a:xfrm>
          <a:prstGeom prst="line">
            <a:avLst/>
          </a:prstGeom>
          <a:noFill/>
          <a:ln w="12700">
            <a:solidFill>
              <a:srgbClr val="C0752A"/>
            </a:solidFill>
            <a:prstDash val="solid"/>
          </a:ln>
        </p:spPr>
      </p:sp>
      <p:sp>
        <p:nvSpPr>
          <p:cNvPr id="26" name="Text 24"/>
          <p:cNvSpPr/>
          <p:nvPr/>
        </p:nvSpPr>
        <p:spPr>
          <a:xfrm>
            <a:off x="621119" y="4427220"/>
            <a:ext cx="2201875"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(2) left · (3) locked</a:t>
            </a:r>
            <a:endParaRPr lang="en-US" sz="1300" dirty="0"/>
          </a:p>
        </p:txBody>
      </p:sp>
      <p:sp>
        <p:nvSpPr>
          <p:cNvPr id="27" name="Shape 25"/>
          <p:cNvSpPr/>
          <p:nvPr/>
        </p:nvSpPr>
        <p:spPr>
          <a:xfrm>
            <a:off x="1603185" y="3851148"/>
            <a:ext cx="237744" cy="237744"/>
          </a:xfrm>
          <a:prstGeom prst="ellipse">
            <a:avLst/>
          </a:prstGeom>
          <a:solidFill>
            <a:srgbClr val="6E4A9E"/>
          </a:solidFill>
          <a:ln w="19050">
            <a:solidFill>
              <a:srgbClr val="FFFFFF"/>
            </a:solidFill>
            <a:prstDash val="solid"/>
          </a:ln>
        </p:spPr>
      </p:sp>
      <p:sp>
        <p:nvSpPr>
          <p:cNvPr id="28" name="Shape 26"/>
          <p:cNvSpPr/>
          <p:nvPr/>
        </p:nvSpPr>
        <p:spPr>
          <a:xfrm>
            <a:off x="4629622" y="4061460"/>
            <a:ext cx="0" cy="365760"/>
          </a:xfrm>
          <a:prstGeom prst="line">
            <a:avLst/>
          </a:prstGeom>
          <a:noFill/>
          <a:ln w="12700">
            <a:solidFill>
              <a:srgbClr val="C0752A"/>
            </a:solidFill>
            <a:prstDash val="solid"/>
          </a:ln>
        </p:spPr>
      </p:sp>
      <p:sp>
        <p:nvSpPr>
          <p:cNvPr id="29" name="Text 27"/>
          <p:cNvSpPr/>
          <p:nvPr/>
        </p:nvSpPr>
        <p:spPr>
          <a:xfrm>
            <a:off x="3035823" y="4427220"/>
            <a:ext cx="3187598"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(9) went off · (10) nobody heard</a:t>
            </a:r>
            <a:endParaRPr lang="en-US" sz="1300" dirty="0"/>
          </a:p>
        </p:txBody>
      </p:sp>
      <p:sp>
        <p:nvSpPr>
          <p:cNvPr id="30" name="Shape 28"/>
          <p:cNvSpPr/>
          <p:nvPr/>
        </p:nvSpPr>
        <p:spPr>
          <a:xfrm>
            <a:off x="4510750" y="3851148"/>
            <a:ext cx="237744" cy="237744"/>
          </a:xfrm>
          <a:prstGeom prst="ellipse">
            <a:avLst/>
          </a:prstGeom>
          <a:solidFill>
            <a:srgbClr val="6E4A9E"/>
          </a:solidFill>
          <a:ln w="19050">
            <a:solidFill>
              <a:srgbClr val="FFFFFF"/>
            </a:solidFill>
            <a:prstDash val="solid"/>
          </a:ln>
        </p:spPr>
      </p:sp>
      <p:sp>
        <p:nvSpPr>
          <p:cNvPr id="31" name="Shape 29"/>
          <p:cNvSpPr/>
          <p:nvPr/>
        </p:nvSpPr>
        <p:spPr>
          <a:xfrm>
            <a:off x="10716806" y="4061460"/>
            <a:ext cx="0" cy="365760"/>
          </a:xfrm>
          <a:prstGeom prst="line">
            <a:avLst/>
          </a:prstGeom>
          <a:noFill/>
          <a:ln w="12700">
            <a:solidFill>
              <a:srgbClr val="C0752A"/>
            </a:solidFill>
            <a:prstDash val="solid"/>
          </a:ln>
        </p:spPr>
      </p:sp>
      <p:sp>
        <p:nvSpPr>
          <p:cNvPr id="32" name="Text 30"/>
          <p:cNvSpPr/>
          <p:nvPr/>
        </p:nvSpPr>
        <p:spPr>
          <a:xfrm>
            <a:off x="9169603" y="4427220"/>
            <a:ext cx="2470709"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(11) found · (12) opened</a:t>
            </a:r>
            <a:endParaRPr lang="en-US" sz="1300" dirty="0"/>
          </a:p>
        </p:txBody>
      </p:sp>
      <p:sp>
        <p:nvSpPr>
          <p:cNvPr id="33" name="Shape 31"/>
          <p:cNvSpPr/>
          <p:nvPr/>
        </p:nvSpPr>
        <p:spPr>
          <a:xfrm>
            <a:off x="10597934" y="3851148"/>
            <a:ext cx="237744" cy="237744"/>
          </a:xfrm>
          <a:prstGeom prst="ellipse">
            <a:avLst/>
          </a:prstGeom>
          <a:solidFill>
            <a:srgbClr val="6E4A9E"/>
          </a:solidFill>
          <a:ln w="19050">
            <a:solidFill>
              <a:srgbClr val="FFFFFF"/>
            </a:solidFill>
            <a:prstDash val="solid"/>
          </a:ln>
        </p:spPr>
      </p:sp>
      <p:sp>
        <p:nvSpPr>
          <p:cNvPr id="34" name="Shape 32"/>
          <p:cNvSpPr/>
          <p:nvPr/>
        </p:nvSpPr>
        <p:spPr>
          <a:xfrm>
            <a:off x="548640" y="5535168"/>
            <a:ext cx="11091672" cy="774192"/>
          </a:xfrm>
          <a:prstGeom prst="roundRect">
            <a:avLst>
              <a:gd name="adj" fmla="val 9449"/>
            </a:avLst>
          </a:prstGeom>
          <a:solidFill>
            <a:srgbClr val="C0752A">
              <a:alpha val="8000"/>
            </a:srgbClr>
          </a:solidFill>
          <a:ln w="12700">
            <a:solidFill>
              <a:srgbClr val="C0752A"/>
            </a:solidFill>
            <a:prstDash val="solid"/>
          </a:ln>
        </p:spPr>
      </p:sp>
      <p:pic>
        <p:nvPicPr>
          <p:cNvPr id="35"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36" name="Text 33"/>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1"/>
                </a:solidFill>
              </a:rPr>
              <a:t>Attention — </a:t>
            </a:r>
            <a:r>
              <a:rPr lang="en-US" sz="1800" dirty="0">
                <a:solidFill>
                  <a:schemeClr val="tx1"/>
                </a:solidFill>
              </a:rPr>
              <a:t>these are the times </a:t>
            </a:r>
            <a:r>
              <a:rPr lang="en-US" sz="1800" b="1" dirty="0">
                <a:solidFill>
                  <a:schemeClr val="tx1"/>
                </a:solidFill>
              </a:rPr>
              <a:t>people remembered</a:t>
            </a:r>
            <a:r>
              <a:rPr lang="en-US" sz="1800" dirty="0">
                <a:solidFill>
                  <a:schemeClr val="tx1"/>
                </a:solidFill>
              </a:rPr>
              <a:t> (8.15, 11.40). In Scene 3, the alarm log will tell a different story.</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Objection!</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B4236A">
              <a:alpha val="8000"/>
            </a:srgbClr>
          </a:solidFill>
          <a:ln w="12700">
            <a:solidFill>
              <a:srgbClr val="B4236A"/>
            </a:solidFill>
            <a:prstDash val="solid"/>
          </a:ln>
        </p:spPr>
      </p:sp>
      <p:sp>
        <p:nvSpPr>
          <p:cNvPr id="7" name="Shape 4"/>
          <p:cNvSpPr/>
          <p:nvPr/>
        </p:nvSpPr>
        <p:spPr>
          <a:xfrm>
            <a:off x="777240" y="1911096"/>
            <a:ext cx="713232" cy="713232"/>
          </a:xfrm>
          <a:prstGeom prst="ellipse">
            <a:avLst/>
          </a:prstGeom>
          <a:solidFill>
            <a:srgbClr val="B4236A"/>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rgbClr val="B4236A"/>
                </a:solidFill>
                <a:latin typeface="+mj-lt" pitchFamily="34" charset="0"/>
                <a:ea typeface="+mj-lt" pitchFamily="34" charset="-122"/>
                <a:cs typeface="+mj-lt" pitchFamily="34" charset="-120"/>
              </a:rPr>
              <a:t>Your teacher reads the timeline — with six mistakes.</a:t>
            </a:r>
            <a:endParaRPr lang="en-US" sz="2100" dirty="0"/>
          </a:p>
          <a:p>
            <a:pPr indent="0" marL="0">
              <a:buNone/>
            </a:pPr>
            <a:r>
              <a:rPr lang="en-US" sz="1500" i="1" dirty="0">
                <a:solidFill>
                  <a:schemeClr val="accent5"/>
                </a:solidFill>
              </a:rPr>
              <a:t>Two teams · 10 minutes · listening for detail</a:t>
            </a:r>
            <a:endParaRPr lang="en-US" sz="2100" dirty="0"/>
          </a:p>
        </p:txBody>
      </p:sp>
      <p:sp>
        <p:nvSpPr>
          <p:cNvPr id="10" name="Text 6"/>
          <p:cNvSpPr/>
          <p:nvPr/>
        </p:nvSpPr>
        <p:spPr>
          <a:xfrm>
            <a:off x="548640" y="3072384"/>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635508"/>
          </a:xfrm>
          <a:prstGeom prst="rect">
            <a:avLst/>
          </a:prstGeom>
          <a:noFill/>
          <a:ln/>
        </p:spPr>
        <p:txBody>
          <a:bodyPr wrap="square" lIns="0" tIns="0" rIns="0" bIns="0" rtlCol="0" anchor="t"/>
          <a:lstStyle/>
          <a:p>
            <a:pPr indent="0" marL="0">
              <a:buNone/>
            </a:pPr>
            <a:r>
              <a:rPr lang="en-US" sz="1700" dirty="0">
                <a:solidFill>
                  <a:schemeClr val="tx1"/>
                </a:solidFill>
              </a:rPr>
              <a:t>Booklets </a:t>
            </a:r>
            <a:r>
              <a:rPr lang="en-US" sz="1700" b="1" dirty="0">
                <a:solidFill>
                  <a:schemeClr val="tx1"/>
                </a:solidFill>
              </a:rPr>
              <a:t>closed</a:t>
            </a:r>
            <a:r>
              <a:rPr lang="en-US" sz="1700" dirty="0">
                <a:solidFill>
                  <a:schemeClr val="tx1"/>
                </a:solidFill>
              </a:rPr>
              <a:t>. First reading: just listen.</a:t>
            </a:r>
            <a:endParaRPr lang="en-US" sz="1700" dirty="0"/>
          </a:p>
        </p:txBody>
      </p:sp>
      <p:sp>
        <p:nvSpPr>
          <p:cNvPr id="12" name="Text 8"/>
          <p:cNvSpPr/>
          <p:nvPr/>
        </p:nvSpPr>
        <p:spPr>
          <a:xfrm>
            <a:off x="548640" y="3707892"/>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653028"/>
            <a:ext cx="5897880" cy="635508"/>
          </a:xfrm>
          <a:prstGeom prst="rect">
            <a:avLst/>
          </a:prstGeom>
          <a:noFill/>
          <a:ln/>
        </p:spPr>
        <p:txBody>
          <a:bodyPr wrap="square" lIns="0" tIns="0" rIns="0" bIns="0" rtlCol="0" anchor="t"/>
          <a:lstStyle/>
          <a:p>
            <a:pPr indent="0" marL="0">
              <a:buNone/>
            </a:pPr>
            <a:r>
              <a:rPr lang="en-US" sz="1700" dirty="0">
                <a:solidFill>
                  <a:schemeClr val="tx1"/>
                </a:solidFill>
              </a:rPr>
              <a:t>Second reading: when you hear a mistake, stand up and say </a:t>
            </a:r>
            <a:r>
              <a:rPr lang="en-US" sz="1700" b="1" dirty="0">
                <a:solidFill>
                  <a:schemeClr val="tx1"/>
                </a:solidFill>
              </a:rPr>
              <a:t>“Objection!”</a:t>
            </a:r>
            <a:endParaRPr lang="en-US" sz="1700" dirty="0"/>
          </a:p>
        </p:txBody>
      </p:sp>
      <p:sp>
        <p:nvSpPr>
          <p:cNvPr id="14" name="Text 10"/>
          <p:cNvSpPr/>
          <p:nvPr/>
        </p:nvSpPr>
        <p:spPr>
          <a:xfrm>
            <a:off x="548640" y="4343400"/>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288536"/>
            <a:ext cx="5897880" cy="635508"/>
          </a:xfrm>
          <a:prstGeom prst="rect">
            <a:avLst/>
          </a:prstGeom>
          <a:noFill/>
          <a:ln/>
        </p:spPr>
        <p:txBody>
          <a:bodyPr wrap="square" lIns="0" tIns="0" rIns="0" bIns="0" rtlCol="0" anchor="t"/>
          <a:lstStyle/>
          <a:p>
            <a:pPr indent="0" marL="0">
              <a:buNone/>
            </a:pPr>
            <a:r>
              <a:rPr lang="en-US" sz="1700" dirty="0">
                <a:solidFill>
                  <a:schemeClr val="tx1"/>
                </a:solidFill>
              </a:rPr>
              <a:t>Correct it in two sentences: </a:t>
            </a:r>
            <a:r>
              <a:rPr lang="en-US" sz="1700" i="1" dirty="0">
                <a:solidFill>
                  <a:schemeClr val="tx1"/>
                </a:solidFill>
              </a:rPr>
              <a:t>They didn’t leave at 8.50. They left at 8.15.</a:t>
            </a:r>
            <a:endParaRPr lang="en-US" sz="1700" dirty="0"/>
          </a:p>
        </p:txBody>
      </p:sp>
      <p:sp>
        <p:nvSpPr>
          <p:cNvPr id="16" name="Text 12"/>
          <p:cNvSpPr/>
          <p:nvPr/>
        </p:nvSpPr>
        <p:spPr>
          <a:xfrm>
            <a:off x="548640" y="4978908"/>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4924044"/>
            <a:ext cx="5897880" cy="635508"/>
          </a:xfrm>
          <a:prstGeom prst="rect">
            <a:avLst/>
          </a:prstGeom>
          <a:noFill/>
          <a:ln/>
        </p:spPr>
        <p:txBody>
          <a:bodyPr wrap="square" lIns="0" tIns="0" rIns="0" bIns="0" rtlCol="0" anchor="t"/>
          <a:lstStyle/>
          <a:p>
            <a:pPr indent="0" marL="0">
              <a:buNone/>
            </a:pPr>
            <a:r>
              <a:rPr lang="en-US" sz="1700" dirty="0">
                <a:solidFill>
                  <a:schemeClr val="tx1"/>
                </a:solidFill>
              </a:rPr>
              <a:t>Right objection = </a:t>
            </a:r>
            <a:r>
              <a:rPr lang="en-US" sz="1700" b="1" dirty="0">
                <a:solidFill>
                  <a:schemeClr val="tx1"/>
                </a:solidFill>
              </a:rPr>
              <a:t>+1</a:t>
            </a:r>
            <a:r>
              <a:rPr lang="en-US" sz="1700" dirty="0">
                <a:solidFill>
                  <a:schemeClr val="tx1"/>
                </a:solidFill>
              </a:rPr>
              <a:t> for your team. Wrong objection = </a:t>
            </a:r>
            <a:r>
              <a:rPr lang="en-US" sz="1700" b="1" dirty="0">
                <a:solidFill>
                  <a:schemeClr val="tx1"/>
                </a:solidFill>
              </a:rPr>
              <a:t>–1</a:t>
            </a:r>
            <a:r>
              <a:rPr lang="en-US" sz="1700" dirty="0">
                <a:solidFill>
                  <a:schemeClr val="tx1"/>
                </a:solidFill>
              </a:rPr>
              <a:t>.</a:t>
            </a:r>
            <a:endParaRPr lang="en-US" sz="1700" dirty="0"/>
          </a:p>
        </p:txBody>
      </p:sp>
      <p:sp>
        <p:nvSpPr>
          <p:cNvPr id="18" name="Shape 14"/>
          <p:cNvSpPr/>
          <p:nvPr/>
        </p:nvSpPr>
        <p:spPr>
          <a:xfrm>
            <a:off x="7360920" y="3017520"/>
            <a:ext cx="4279392" cy="2542032"/>
          </a:xfrm>
          <a:prstGeom prst="roundRect">
            <a:avLst>
              <a:gd name="adj" fmla="val 2878"/>
            </a:avLst>
          </a:prstGeom>
          <a:solidFill>
            <a:srgbClr val="6E4A9E">
              <a:alpha val="8000"/>
            </a:srgbClr>
          </a:solidFill>
          <a:ln w="9525">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7543800" y="3182112"/>
            <a:ext cx="292608" cy="292608"/>
          </a:xfrm>
          <a:prstGeom prst="rect">
            <a:avLst/>
          </a:prstGeom>
        </p:spPr>
      </p:pic>
      <p:sp>
        <p:nvSpPr>
          <p:cNvPr id="20" name="Text 15"/>
          <p:cNvSpPr txBox="1"/>
          <p:nvPr/>
        </p:nvSpPr>
        <p:spPr>
          <a:xfrm>
            <a:off x="7927848" y="3154680"/>
            <a:ext cx="3547872" cy="347472"/>
          </a:xfrm>
          <a:prstGeom prst="rect">
            <a:avLst/>
          </a:prstGeom>
          <a:noFill/>
          <a:ln/>
        </p:spPr>
        <p:txBody>
          <a:bodyPr wrap="square" lIns="0" tIns="0" rIns="0" bIns="0" rtlCol="0" anchor="ctr"/>
          <a:lstStyle/>
          <a:p>
            <a:pPr indent="0" marL="0">
              <a:buNone/>
            </a:pPr>
            <a:r>
              <a:rPr lang="en-US" sz="1300" b="1" spc="150" kern="0" dirty="0">
                <a:solidFill>
                  <a:schemeClr val="accent4"/>
                </a:solidFill>
              </a:rPr>
              <a:t>SAY IT</a:t>
            </a:r>
            <a:endParaRPr lang="en-US" sz="1300" dirty="0"/>
          </a:p>
        </p:txBody>
      </p:sp>
      <p:sp>
        <p:nvSpPr>
          <p:cNvPr id="21" name="Text 16"/>
          <p:cNvSpPr txBox="1"/>
          <p:nvPr/>
        </p:nvSpPr>
        <p:spPr>
          <a:xfrm>
            <a:off x="7562088" y="3611880"/>
            <a:ext cx="3895344" cy="1856232"/>
          </a:xfrm>
          <a:prstGeom prst="rect">
            <a:avLst/>
          </a:prstGeom>
          <a:noFill/>
          <a:ln/>
        </p:spPr>
        <p:txBody>
          <a:bodyPr wrap="square" lIns="0" tIns="0" rIns="0" bIns="0" rtlCol="0" anchor="t"/>
          <a:lstStyle/>
          <a:p>
            <a:pPr marL="190500" indent="-190500">
              <a:spcAft>
                <a:spcPts val="700"/>
              </a:spcAft>
              <a:buSzPct val="100000"/>
              <a:buChar char="•"/>
            </a:pPr>
            <a:r>
              <a:rPr lang="en-US" sz="1700" b="1" dirty="0">
                <a:solidFill>
                  <a:schemeClr val="tx1"/>
                </a:solidFill>
              </a:rPr>
              <a:t>Objection!</a:t>
            </a:r>
            <a:endParaRPr lang="en-US" sz="1700" dirty="0"/>
          </a:p>
          <a:p>
            <a:pPr marL="190500" indent="-190500">
              <a:spcAft>
                <a:spcPts val="700"/>
              </a:spcAft>
              <a:buSzPct val="100000"/>
              <a:buChar char="•"/>
            </a:pPr>
            <a:r>
              <a:rPr lang="en-US" sz="1700" dirty="0">
                <a:solidFill>
                  <a:schemeClr val="tx1"/>
                </a:solidFill>
              </a:rPr>
              <a:t>It wasn’t …, it was …</a:t>
            </a:r>
            <a:endParaRPr lang="en-US" sz="1700" dirty="0"/>
          </a:p>
          <a:p>
            <a:pPr marL="190500" indent="-190500">
              <a:spcAft>
                <a:spcPts val="700"/>
              </a:spcAft>
              <a:buSzPct val="100000"/>
              <a:buChar char="•"/>
            </a:pPr>
            <a:r>
              <a:rPr lang="en-US" sz="1700" dirty="0">
                <a:solidFill>
                  <a:schemeClr val="tx1"/>
                </a:solidFill>
              </a:rPr>
              <a:t>They didn’t …, they …</a:t>
            </a:r>
            <a:endParaRPr lang="en-US" sz="1700" dirty="0"/>
          </a:p>
          <a:p>
            <a:pPr marL="190500" indent="-190500">
              <a:spcAft>
                <a:spcPts val="700"/>
              </a:spcAft>
              <a:buSzPct val="100000"/>
              <a:buChar char="•"/>
            </a:pPr>
            <a:r>
              <a:rPr lang="en-US" sz="1700" dirty="0">
                <a:solidFill>
                  <a:schemeClr val="tx1"/>
                </a:solidFill>
              </a:rPr>
              <a:t>That’s not what the timeline says!</a:t>
            </a:r>
            <a:endParaRPr lang="en-US" sz="1700" dirty="0"/>
          </a:p>
        </p:txBody>
      </p:sp>
      <p:sp>
        <p:nvSpPr>
          <p:cNvPr id="22" name="Shape 17"/>
          <p:cNvSpPr/>
          <p:nvPr/>
        </p:nvSpPr>
        <p:spPr>
          <a:xfrm>
            <a:off x="548640" y="5742432"/>
            <a:ext cx="11091672" cy="566928"/>
          </a:xfrm>
          <a:prstGeom prst="roundRect">
            <a:avLst>
              <a:gd name="adj" fmla="val 12903"/>
            </a:avLst>
          </a:prstGeom>
          <a:solidFill>
            <a:srgbClr val="C0752A">
              <a:alpha val="10000"/>
            </a:srgbClr>
          </a:solidFill>
          <a:ln w="12700">
            <a:solidFill>
              <a:srgbClr val="C0752A"/>
            </a:solidFill>
            <a:prstDash val="solid"/>
          </a:ln>
        </p:spPr>
      </p:sp>
      <p:pic>
        <p:nvPicPr>
          <p:cNvPr id="23" name="Image 2" descr="preencoded.png">    </p:cNvPr>
          <p:cNvPicPr>
            <a:picLocks noChangeAspect="1"/>
          </p:cNvPicPr>
          <p:nvPr/>
        </p:nvPicPr>
        <p:blipFill>
          <a:blip r:embed="rId3"/>
          <a:stretch>
            <a:fillRect/>
          </a:stretch>
        </p:blipFill>
        <p:spPr>
          <a:xfrm>
            <a:off x="749808" y="5870448"/>
            <a:ext cx="310896" cy="310896"/>
          </a:xfrm>
          <a:prstGeom prst="rect">
            <a:avLst/>
          </a:prstGeom>
        </p:spPr>
      </p:pic>
      <p:sp>
        <p:nvSpPr>
          <p:cNvPr id="24" name="Text 18"/>
          <p:cNvSpPr txBox="1"/>
          <p:nvPr/>
        </p:nvSpPr>
        <p:spPr>
          <a:xfrm>
            <a:off x="1234440" y="5742432"/>
            <a:ext cx="10222992" cy="566928"/>
          </a:xfrm>
          <a:prstGeom prst="rect">
            <a:avLst/>
          </a:prstGeom>
          <a:noFill/>
          <a:ln/>
        </p:spPr>
        <p:txBody>
          <a:bodyPr wrap="square" lIns="0" tIns="0" rIns="0" bIns="0" rtlCol="0" anchor="ctr"/>
          <a:lstStyle/>
          <a:p>
            <a:pPr indent="0" marL="0">
              <a:buNone/>
            </a:pPr>
            <a:r>
              <a:rPr lang="en-US" sz="1700" b="1" dirty="0">
                <a:solidFill>
                  <a:schemeClr val="tx1"/>
                </a:solidFill>
              </a:rPr>
              <a:t>To win —</a:t>
            </a:r>
            <a:r>
              <a:rPr lang="en-US" sz="1700" dirty="0">
                <a:solidFill>
                  <a:schemeClr val="tx1"/>
                </a:solidFill>
              </a:rPr>
              <a:t> the team that finds all six mistakes first.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Objection! — the six mistakes</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ag"/>
          <p:cNvSpPr/>
          <p:nvPr/>
        </p:nvSpPr>
        <p:spPr>
          <a:xfrm>
            <a:off x="14813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5545836"/>
                <a:gridCol w="5545836"/>
              </a:tblGrid>
              <a:tr h="603504">
                <a:tc>
                  <a:txBody>
                    <a:bodyPr/>
                    <a:lstStyle/>
                    <a:p>
                      <a:pPr algn="l" indent="0" marL="0">
                        <a:buNone/>
                      </a:pPr>
                      <a:r>
                        <a:rPr lang="en-US" sz="1800" b="1" dirty="0">
                          <a:solidFill>
                            <a:schemeClr val="bg1"/>
                          </a:solidFill>
                        </a:rPr>
                        <a:t>YOU HEARD</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l" indent="0" marL="0">
                        <a:buNone/>
                      </a:pPr>
                      <a:r>
                        <a:rPr lang="en-US" sz="1800" b="1" dirty="0">
                          <a:solidFill>
                            <a:schemeClr val="bg1"/>
                          </a:solidFill>
                        </a:rPr>
                        <a:t>OBJECTION! THE TIMELINE SAYS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86461">
                <a:tc>
                  <a:txBody>
                    <a:bodyPr/>
                    <a:lstStyle/>
                    <a:p>
                      <a:pPr algn="l" indent="0" marL="0">
                        <a:buNone/>
                      </a:pPr>
                      <a:r>
                        <a:rPr lang="en-US" sz="2000" dirty="0">
                          <a:solidFill>
                            <a:schemeClr val="tx1"/>
                          </a:solidFill>
                        </a:rPr>
                        <a:t>The team was working on the </a:t>
                      </a:r>
                      <a:r>
                        <a:rPr lang="en-US" sz="2000" strike="sngStrike" dirty="0">
                          <a:solidFill>
                            <a:schemeClr val="accent6"/>
                          </a:solidFill>
                        </a:rPr>
                        <a:t>third</a:t>
                      </a:r>
                      <a:r>
                        <a:rPr lang="en-US" sz="2000" dirty="0">
                          <a:solidFill>
                            <a:schemeClr val="tx1"/>
                          </a:solidFill>
                        </a:rPr>
                        <a:t> floor.</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000" dirty="0">
                          <a:solidFill>
                            <a:schemeClr val="tx1"/>
                          </a:solidFill>
                        </a:rPr>
                        <a:t>They were working on the </a:t>
                      </a:r>
                      <a:r>
                        <a:rPr lang="en-US" sz="2000" b="1" dirty="0">
                          <a:solidFill>
                            <a:schemeClr val="accent3"/>
                          </a:solidFill>
                        </a:rPr>
                        <a:t>second</a:t>
                      </a:r>
                      <a:r>
                        <a:rPr lang="en-US" sz="2000" dirty="0">
                          <a:solidFill>
                            <a:schemeClr val="tx1"/>
                          </a:solidFill>
                        </a:rPr>
                        <a:t> floor.</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86461">
                <a:tc>
                  <a:txBody>
                    <a:bodyPr/>
                    <a:lstStyle/>
                    <a:p>
                      <a:pPr algn="l" indent="0" marL="0">
                        <a:buNone/>
                      </a:pPr>
                      <a:r>
                        <a:rPr lang="en-US" sz="2000" dirty="0">
                          <a:solidFill>
                            <a:schemeClr val="tx1"/>
                          </a:solidFill>
                        </a:rPr>
                        <a:t>They left at </a:t>
                      </a:r>
                      <a:r>
                        <a:rPr lang="en-US" sz="2000" strike="sngStrike" dirty="0">
                          <a:solidFill>
                            <a:schemeClr val="accent6"/>
                          </a:solidFill>
                        </a:rPr>
                        <a:t>8.50</a:t>
                      </a:r>
                      <a:r>
                        <a:rPr lang="en-US" sz="2000" dirty="0">
                          <a:solidFill>
                            <a:schemeClr val="tx1"/>
                          </a:solidFill>
                        </a:rPr>
                        <a: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2000" dirty="0">
                          <a:solidFill>
                            <a:schemeClr val="tx1"/>
                          </a:solidFill>
                        </a:rPr>
                        <a:t>They didn’t leave at 8.50. They left at </a:t>
                      </a:r>
                      <a:r>
                        <a:rPr lang="en-US" sz="2000" b="1" dirty="0">
                          <a:solidFill>
                            <a:schemeClr val="accent3"/>
                          </a:solidFill>
                        </a:rPr>
                        <a:t>8.15</a:t>
                      </a:r>
                      <a:r>
                        <a:rPr lang="en-US" sz="2000" dirty="0">
                          <a:solidFill>
                            <a:schemeClr val="tx1"/>
                          </a:solidFill>
                        </a:rPr>
                        <a: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86461">
                <a:tc>
                  <a:txBody>
                    <a:bodyPr/>
                    <a:lstStyle/>
                    <a:p>
                      <a:pPr algn="l" indent="0" marL="0">
                        <a:buNone/>
                      </a:pPr>
                      <a:r>
                        <a:rPr lang="en-US" sz="2000" dirty="0">
                          <a:solidFill>
                            <a:schemeClr val="tx1"/>
                          </a:solidFill>
                        </a:rPr>
                        <a:t>The site manager </a:t>
                      </a:r>
                      <a:r>
                        <a:rPr lang="en-US" sz="2000" strike="sngStrike" dirty="0">
                          <a:solidFill>
                            <a:schemeClr val="accent6"/>
                          </a:solidFill>
                        </a:rPr>
                        <a:t>noticed a small leak</a:t>
                      </a:r>
                      <a:r>
                        <a:rPr lang="en-US" sz="2000" dirty="0">
                          <a:solidFill>
                            <a:schemeClr val="tx1"/>
                          </a:solidFill>
                        </a:rPr>
                        <a: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000" dirty="0">
                          <a:solidFill>
                            <a:schemeClr val="tx1"/>
                          </a:solidFill>
                        </a:rPr>
                        <a:t>He </a:t>
                      </a:r>
                      <a:r>
                        <a:rPr lang="en-US" sz="2000" b="1" dirty="0">
                          <a:solidFill>
                            <a:schemeClr val="accent3"/>
                          </a:solidFill>
                        </a:rPr>
                        <a:t>did not notice anything</a:t>
                      </a:r>
                      <a:r>
                        <a:rPr lang="en-US" sz="2000" dirty="0">
                          <a:solidFill>
                            <a:schemeClr val="tx1"/>
                          </a:solidFill>
                        </a:rPr>
                        <a: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86461">
                <a:tc>
                  <a:txBody>
                    <a:bodyPr/>
                    <a:lstStyle/>
                    <a:p>
                      <a:pPr algn="l" indent="0" marL="0">
                        <a:buNone/>
                      </a:pPr>
                      <a:r>
                        <a:rPr lang="en-US" sz="2000" dirty="0">
                          <a:solidFill>
                            <a:schemeClr val="tx1"/>
                          </a:solidFill>
                        </a:rPr>
                        <a:t>The </a:t>
                      </a:r>
                      <a:r>
                        <a:rPr lang="en-US" sz="2000" strike="sngStrike" dirty="0">
                          <a:solidFill>
                            <a:schemeClr val="accent6"/>
                          </a:solidFill>
                        </a:rPr>
                        <a:t>fire</a:t>
                      </a:r>
                      <a:r>
                        <a:rPr lang="en-US" sz="2000" dirty="0">
                          <a:solidFill>
                            <a:schemeClr val="tx1"/>
                          </a:solidFill>
                        </a:rPr>
                        <a:t> alarm went off.</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2000" dirty="0">
                          <a:solidFill>
                            <a:schemeClr val="tx1"/>
                          </a:solidFill>
                        </a:rPr>
                        <a:t>It was the </a:t>
                      </a:r>
                      <a:r>
                        <a:rPr lang="en-US" sz="2000" b="1" dirty="0">
                          <a:solidFill>
                            <a:schemeClr val="accent3"/>
                          </a:solidFill>
                        </a:rPr>
                        <a:t>temperature</a:t>
                      </a:r>
                      <a:r>
                        <a:rPr lang="en-US" sz="2000" dirty="0">
                          <a:solidFill>
                            <a:schemeClr val="tx1"/>
                          </a:solidFill>
                        </a:rPr>
                        <a:t> alarm.</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86461">
                <a:tc>
                  <a:txBody>
                    <a:bodyPr/>
                    <a:lstStyle/>
                    <a:p>
                      <a:pPr algn="l" indent="0" marL="0">
                        <a:buNone/>
                      </a:pPr>
                      <a:r>
                        <a:rPr lang="en-US" sz="2000" strike="sngStrike" dirty="0">
                          <a:solidFill>
                            <a:schemeClr val="accent6"/>
                          </a:solidFill>
                        </a:rPr>
                        <a:t>The security guard heard it.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2000" b="1" dirty="0">
                          <a:solidFill>
                            <a:schemeClr val="accent3"/>
                          </a:solidFill>
                        </a:rPr>
                        <a:t>Nobody heard it.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86461">
                <a:tc>
                  <a:txBody>
                    <a:bodyPr/>
                    <a:lstStyle/>
                    <a:p>
                      <a:pPr algn="l" indent="0" marL="0">
                        <a:buNone/>
                      </a:pPr>
                      <a:r>
                        <a:rPr lang="en-US" sz="2000" dirty="0">
                          <a:solidFill>
                            <a:schemeClr val="tx1"/>
                          </a:solidFill>
                        </a:rPr>
                        <a:t>The cleaners found the water at </a:t>
                      </a:r>
                      <a:r>
                        <a:rPr lang="en-US" sz="2000" strike="sngStrike" dirty="0">
                          <a:solidFill>
                            <a:schemeClr val="accent6"/>
                          </a:solidFill>
                        </a:rPr>
                        <a:t>7.50</a:t>
                      </a:r>
                      <a:r>
                        <a:rPr lang="en-US" sz="2000" dirty="0">
                          <a:solidFill>
                            <a:schemeClr val="tx1"/>
                          </a:solidFill>
                        </a:rPr>
                        <a: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2000" dirty="0">
                          <a:solidFill>
                            <a:schemeClr val="tx1"/>
                          </a:solidFill>
                        </a:rPr>
                        <a:t>They found it at </a:t>
                      </a:r>
                      <a:r>
                        <a:rPr lang="en-US" sz="2000" b="1" dirty="0">
                          <a:solidFill>
                            <a:schemeClr val="accent3"/>
                          </a:solidFill>
                        </a:rPr>
                        <a:t>6.50</a:t>
                      </a:r>
                      <a:r>
                        <a:rPr lang="en-US" sz="2000" dirty="0">
                          <a:solidFill>
                            <a:schemeClr val="tx1"/>
                          </a:solidFill>
                        </a:rPr>
                        <a:t>.</a:t>
                      </a:r>
                      <a:endParaRPr lang="en-US" sz="20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7" name="Shape 4"/>
          <p:cNvSpPr/>
          <p:nvPr/>
        </p:nvSpPr>
        <p:spPr>
          <a:xfrm>
            <a:off x="548640" y="5535168"/>
            <a:ext cx="11091672" cy="774192"/>
          </a:xfrm>
          <a:prstGeom prst="roundRect">
            <a:avLst>
              <a:gd name="adj" fmla="val 9449"/>
            </a:avLst>
          </a:prstGeom>
          <a:solidFill>
            <a:srgbClr val="3C7A3C">
              <a:alpha val="8000"/>
            </a:srgbClr>
          </a:solidFill>
          <a:ln w="12700">
            <a:solidFill>
              <a:srgbClr val="3C7A3C"/>
            </a:solidFill>
            <a:prstDash val="solid"/>
          </a:ln>
        </p:spPr>
      </p:sp>
      <p:pic>
        <p:nvPicPr>
          <p:cNvPr id="8"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9" name="Text 5"/>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3"/>
                </a:solidFill>
              </a:rPr>
              <a:t>À retenir — </a:t>
            </a:r>
            <a:r>
              <a:rPr lang="en-US" sz="1800" dirty="0">
                <a:solidFill>
                  <a:schemeClr val="tx1"/>
                </a:solidFill>
              </a:rPr>
              <a:t>to correct a fact, use a </a:t>
            </a:r>
            <a:r>
              <a:rPr lang="en-US" sz="1800" b="1" dirty="0">
                <a:solidFill>
                  <a:schemeClr val="tx1"/>
                </a:solidFill>
              </a:rPr>
              <a:t>negative + the right fact</a:t>
            </a:r>
            <a:r>
              <a:rPr lang="en-US" sz="1800" dirty="0">
                <a:solidFill>
                  <a:schemeClr val="tx1"/>
                </a:solidFill>
              </a:rPr>
              <a:t>: </a:t>
            </a:r>
            <a:r>
              <a:rPr lang="en-US" sz="1800" i="1" dirty="0">
                <a:solidFill>
                  <a:schemeClr val="tx1"/>
                </a:solidFill>
              </a:rPr>
              <a:t>It wasn’t the fire alarm. It was the temperature alarm.</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Before you hand the board to Mark</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A · One form is impossible in each line. Cross it out. Two minutes.</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At 8.15 the team </a:t>
            </a:r>
            <a:r>
              <a:rPr lang="en-US" sz="2600" dirty="0">
                <a:solidFill>
                  <a:schemeClr val="tx1"/>
                </a:solidFill>
              </a:rPr>
              <a:t>left</a:t>
            </a:r>
            <a:r>
              <a:rPr lang="en-US" sz="2600" dirty="0">
                <a:solidFill>
                  <a:schemeClr val="tx1"/>
                </a:solidFill>
              </a:rPr>
              <a:t> / </a:t>
            </a:r>
            <a:r>
              <a:rPr lang="en-US" sz="2600" dirty="0">
                <a:solidFill>
                  <a:schemeClr val="tx1"/>
                </a:solidFill>
              </a:rPr>
              <a:t>was leaving</a:t>
            </a:r>
            <a:r>
              <a:rPr lang="en-US" sz="2600" dirty="0">
                <a:solidFill>
                  <a:schemeClr val="tx1"/>
                </a:solidFill>
              </a:rPr>
              <a:t> the site.</a:t>
            </a:r>
            <a:endParaRPr lang="en-US" sz="2600" dirty="0"/>
          </a:p>
          <a:p>
            <a:pPr indent="0" marL="0">
              <a:spcAft>
                <a:spcPts val="1400"/>
              </a:spcAft>
              <a:buNone/>
            </a:pPr>
            <a:r>
              <a:rPr lang="en-US" sz="2600" b="1" dirty="0">
                <a:solidFill>
                  <a:schemeClr val="tx2"/>
                </a:solidFill>
              </a:rPr>
              <a:t>2.  </a:t>
            </a:r>
            <a:r>
              <a:rPr lang="en-US" sz="2600" dirty="0">
                <a:solidFill>
                  <a:schemeClr val="tx1"/>
                </a:solidFill>
              </a:rPr>
              <a:t>While they </a:t>
            </a:r>
            <a:r>
              <a:rPr lang="en-US" sz="2600" dirty="0">
                <a:solidFill>
                  <a:schemeClr val="tx1"/>
                </a:solidFill>
              </a:rPr>
              <a:t>packed</a:t>
            </a:r>
            <a:r>
              <a:rPr lang="en-US" sz="2600" dirty="0">
                <a:solidFill>
                  <a:schemeClr val="tx1"/>
                </a:solidFill>
              </a:rPr>
              <a:t> / </a:t>
            </a:r>
            <a:r>
              <a:rPr lang="en-US" sz="2600" dirty="0">
                <a:solidFill>
                  <a:schemeClr val="tx1"/>
                </a:solidFill>
              </a:rPr>
              <a:t>were packing</a:t>
            </a:r>
            <a:r>
              <a:rPr lang="en-US" sz="2600" dirty="0">
                <a:solidFill>
                  <a:schemeClr val="tx1"/>
                </a:solidFill>
              </a:rPr>
              <a:t>, the manager </a:t>
            </a:r>
            <a:r>
              <a:rPr lang="en-US" sz="2600" dirty="0">
                <a:solidFill>
                  <a:schemeClr val="tx1"/>
                </a:solidFill>
              </a:rPr>
              <a:t>checked</a:t>
            </a:r>
            <a:r>
              <a:rPr lang="en-US" sz="2600" dirty="0">
                <a:solidFill>
                  <a:schemeClr val="tx1"/>
                </a:solidFill>
              </a:rPr>
              <a:t> / </a:t>
            </a:r>
            <a:r>
              <a:rPr lang="en-US" sz="2600" dirty="0">
                <a:solidFill>
                  <a:schemeClr val="tx1"/>
                </a:solidFill>
              </a:rPr>
              <a:t>was checking</a:t>
            </a:r>
            <a:r>
              <a:rPr lang="en-US" sz="2600" dirty="0">
                <a:solidFill>
                  <a:schemeClr val="tx1"/>
                </a:solidFill>
              </a:rPr>
              <a:t> the floor.</a:t>
            </a:r>
            <a:endParaRPr lang="en-US" sz="2600" dirty="0"/>
          </a:p>
          <a:p>
            <a:pPr indent="0" marL="0">
              <a:spcAft>
                <a:spcPts val="1400"/>
              </a:spcAft>
              <a:buNone/>
            </a:pPr>
            <a:r>
              <a:rPr lang="en-US" sz="2600" b="1" dirty="0">
                <a:solidFill>
                  <a:schemeClr val="tx2"/>
                </a:solidFill>
              </a:rPr>
              <a:t>3.  </a:t>
            </a:r>
            <a:r>
              <a:rPr lang="en-US" sz="2600" dirty="0">
                <a:solidFill>
                  <a:schemeClr val="tx1"/>
                </a:solidFill>
              </a:rPr>
              <a:t>The alarm </a:t>
            </a:r>
            <a:r>
              <a:rPr lang="en-US" sz="2600" dirty="0">
                <a:solidFill>
                  <a:schemeClr val="tx1"/>
                </a:solidFill>
              </a:rPr>
              <a:t>went off</a:t>
            </a:r>
            <a:r>
              <a:rPr lang="en-US" sz="2600" dirty="0">
                <a:solidFill>
                  <a:schemeClr val="tx1"/>
                </a:solidFill>
              </a:rPr>
              <a:t> / </a:t>
            </a:r>
            <a:r>
              <a:rPr lang="en-US" sz="2600" dirty="0">
                <a:solidFill>
                  <a:schemeClr val="tx1"/>
                </a:solidFill>
              </a:rPr>
              <a:t>was going off</a:t>
            </a:r>
            <a:r>
              <a:rPr lang="en-US" sz="2600" dirty="0">
                <a:solidFill>
                  <a:schemeClr val="tx1"/>
                </a:solidFill>
              </a:rPr>
              <a:t> at 11.41.</a:t>
            </a:r>
            <a:endParaRPr lang="en-US" sz="2600" dirty="0"/>
          </a:p>
          <a:p>
            <a:pPr indent="0" marL="0">
              <a:spcAft>
                <a:spcPts val="1400"/>
              </a:spcAft>
              <a:buNone/>
            </a:pPr>
            <a:r>
              <a:rPr lang="en-US" sz="2600" b="1" dirty="0">
                <a:solidFill>
                  <a:schemeClr val="tx2"/>
                </a:solidFill>
              </a:rPr>
              <a:t>4.  </a:t>
            </a:r>
            <a:r>
              <a:rPr lang="en-US" sz="2600" dirty="0">
                <a:solidFill>
                  <a:schemeClr val="tx1"/>
                </a:solidFill>
              </a:rPr>
              <a:t>Water </a:t>
            </a:r>
            <a:r>
              <a:rPr lang="en-US" sz="2600" dirty="0">
                <a:solidFill>
                  <a:schemeClr val="tx1"/>
                </a:solidFill>
              </a:rPr>
              <a:t>ran</a:t>
            </a:r>
            <a:r>
              <a:rPr lang="en-US" sz="2600" dirty="0">
                <a:solidFill>
                  <a:schemeClr val="tx1"/>
                </a:solidFill>
              </a:rPr>
              <a:t> / </a:t>
            </a:r>
            <a:r>
              <a:rPr lang="en-US" sz="2600" dirty="0">
                <a:solidFill>
                  <a:schemeClr val="tx1"/>
                </a:solidFill>
              </a:rPr>
              <a:t>was running</a:t>
            </a:r>
            <a:r>
              <a:rPr lang="en-US" sz="2600" dirty="0">
                <a:solidFill>
                  <a:schemeClr val="tx1"/>
                </a:solidFill>
              </a:rPr>
              <a:t> behind the ceiling all night.</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Before you hand the board to Mark</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A · One form is impossible in each line. Cross it out. Two minutes.</a:t>
            </a:r>
            <a:endParaRPr lang="en-US" sz="1600" dirty="0"/>
          </a:p>
        </p:txBody>
      </p:sp>
      <p:sp>
        <p:nvSpPr>
          <p:cNvPr id="8" name="exercise"/>
          <p:cNvSpPr txBox="1"/>
          <p:nvPr/>
        </p:nvSpPr>
        <p:spPr>
          <a:xfrm>
            <a:off x="548640" y="2237232"/>
            <a:ext cx="11091672" cy="3069336"/>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At 8.15 the team </a:t>
            </a:r>
            <a:r>
              <a:rPr lang="en-US" sz="2200" b="1" dirty="0">
                <a:solidFill>
                  <a:schemeClr val="accent3"/>
                </a:solidFill>
              </a:rPr>
              <a:t>left</a:t>
            </a:r>
            <a:r>
              <a:rPr lang="en-US" sz="2200" dirty="0">
                <a:solidFill>
                  <a:schemeClr val="tx1"/>
                </a:solidFill>
              </a:rPr>
              <a:t> / </a:t>
            </a:r>
            <a:r>
              <a:rPr lang="en-US" sz="2200" strike="sngStrike" dirty="0">
                <a:solidFill>
                  <a:schemeClr val="accent6"/>
                </a:solidFill>
              </a:rPr>
              <a:t>was leaving</a:t>
            </a:r>
            <a:r>
              <a:rPr lang="en-US" sz="2200" dirty="0">
                <a:solidFill>
                  <a:schemeClr val="tx1"/>
                </a:solidFill>
              </a:rPr>
              <a:t> the site.</a:t>
            </a:r>
            <a:endParaRPr lang="en-US" sz="2200" dirty="0"/>
          </a:p>
          <a:p>
            <a:pPr indent="0" marL="0">
              <a:spcAft>
                <a:spcPts val="1000"/>
              </a:spcAft>
              <a:buNone/>
            </a:pPr>
            <a:r>
              <a:rPr lang="en-US" sz="2200" b="1" dirty="0">
                <a:solidFill>
                  <a:schemeClr val="tx2"/>
                </a:solidFill>
              </a:rPr>
              <a:t>2.  </a:t>
            </a:r>
            <a:r>
              <a:rPr lang="en-US" sz="2200" dirty="0">
                <a:solidFill>
                  <a:schemeClr val="tx1"/>
                </a:solidFill>
              </a:rPr>
              <a:t>While they </a:t>
            </a:r>
            <a:r>
              <a:rPr lang="en-US" sz="2200" strike="sngStrike" dirty="0">
                <a:solidFill>
                  <a:schemeClr val="accent6"/>
                </a:solidFill>
              </a:rPr>
              <a:t>packed</a:t>
            </a:r>
            <a:r>
              <a:rPr lang="en-US" sz="2200" dirty="0">
                <a:solidFill>
                  <a:schemeClr val="tx1"/>
                </a:solidFill>
              </a:rPr>
              <a:t> / </a:t>
            </a:r>
            <a:r>
              <a:rPr lang="en-US" sz="2200" b="1" dirty="0">
                <a:solidFill>
                  <a:schemeClr val="accent3"/>
                </a:solidFill>
              </a:rPr>
              <a:t>were packing</a:t>
            </a:r>
            <a:r>
              <a:rPr lang="en-US" sz="2200" dirty="0">
                <a:solidFill>
                  <a:schemeClr val="tx1"/>
                </a:solidFill>
              </a:rPr>
              <a:t>, the manager </a:t>
            </a:r>
            <a:r>
              <a:rPr lang="en-US" sz="2200" b="1" dirty="0">
                <a:solidFill>
                  <a:schemeClr val="accent3"/>
                </a:solidFill>
              </a:rPr>
              <a:t>checked</a:t>
            </a:r>
            <a:r>
              <a:rPr lang="en-US" sz="2200" dirty="0">
                <a:solidFill>
                  <a:schemeClr val="tx1"/>
                </a:solidFill>
              </a:rPr>
              <a:t> / </a:t>
            </a:r>
            <a:r>
              <a:rPr lang="en-US" sz="2200" b="1" dirty="0">
                <a:solidFill>
                  <a:schemeClr val="accent3"/>
                </a:solidFill>
              </a:rPr>
              <a:t>was checking</a:t>
            </a:r>
            <a:r>
              <a:rPr lang="en-US" sz="2200" dirty="0">
                <a:solidFill>
                  <a:schemeClr val="tx1"/>
                </a:solidFill>
              </a:rPr>
              <a:t> the floor.</a:t>
            </a:r>
            <a:endParaRPr lang="en-US" sz="2200" dirty="0"/>
          </a:p>
          <a:p>
            <a:pPr indent="0" marL="0">
              <a:spcAft>
                <a:spcPts val="1000"/>
              </a:spcAft>
              <a:buNone/>
            </a:pPr>
            <a:r>
              <a:rPr lang="en-US" sz="2200" b="1" dirty="0">
                <a:solidFill>
                  <a:schemeClr val="tx2"/>
                </a:solidFill>
              </a:rPr>
              <a:t>3.  </a:t>
            </a:r>
            <a:r>
              <a:rPr lang="en-US" sz="2200" dirty="0">
                <a:solidFill>
                  <a:schemeClr val="tx1"/>
                </a:solidFill>
              </a:rPr>
              <a:t>The alarm </a:t>
            </a:r>
            <a:r>
              <a:rPr lang="en-US" sz="2200" b="1" dirty="0">
                <a:solidFill>
                  <a:schemeClr val="accent3"/>
                </a:solidFill>
              </a:rPr>
              <a:t>went off</a:t>
            </a:r>
            <a:r>
              <a:rPr lang="en-US" sz="2200" dirty="0">
                <a:solidFill>
                  <a:schemeClr val="tx1"/>
                </a:solidFill>
              </a:rPr>
              <a:t> / </a:t>
            </a:r>
            <a:r>
              <a:rPr lang="en-US" sz="2200" strike="sngStrike" dirty="0">
                <a:solidFill>
                  <a:schemeClr val="accent6"/>
                </a:solidFill>
              </a:rPr>
              <a:t>was going off</a:t>
            </a:r>
            <a:r>
              <a:rPr lang="en-US" sz="2200" dirty="0">
                <a:solidFill>
                  <a:schemeClr val="tx1"/>
                </a:solidFill>
              </a:rPr>
              <a:t> at 11.41.</a:t>
            </a:r>
            <a:endParaRPr lang="en-US" sz="2200" dirty="0"/>
          </a:p>
          <a:p>
            <a:pPr indent="0" marL="0">
              <a:spcAft>
                <a:spcPts val="1000"/>
              </a:spcAft>
              <a:buNone/>
            </a:pPr>
            <a:r>
              <a:rPr lang="en-US" sz="2200" b="1" dirty="0">
                <a:solidFill>
                  <a:schemeClr val="tx2"/>
                </a:solidFill>
              </a:rPr>
              <a:t>4.  </a:t>
            </a:r>
            <a:r>
              <a:rPr lang="en-US" sz="2200" dirty="0">
                <a:solidFill>
                  <a:schemeClr val="tx1"/>
                </a:solidFill>
              </a:rPr>
              <a:t>Water </a:t>
            </a:r>
            <a:r>
              <a:rPr lang="en-US" sz="2200" strike="sngStrike" dirty="0">
                <a:solidFill>
                  <a:schemeClr val="accent6"/>
                </a:solidFill>
              </a:rPr>
              <a:t>ran</a:t>
            </a:r>
            <a:r>
              <a:rPr lang="en-US" sz="2200" dirty="0">
                <a:solidFill>
                  <a:schemeClr val="tx1"/>
                </a:solidFill>
              </a:rPr>
              <a:t> / </a:t>
            </a:r>
            <a:r>
              <a:rPr lang="en-US" sz="2200" b="1" dirty="0">
                <a:solidFill>
                  <a:schemeClr val="accent3"/>
                </a:solidFill>
              </a:rPr>
              <a:t>was running</a:t>
            </a:r>
            <a:r>
              <a:rPr lang="en-US" sz="2200" dirty="0">
                <a:solidFill>
                  <a:schemeClr val="tx1"/>
                </a:solidFill>
              </a:rPr>
              <a:t> behind the ceiling all night.</a:t>
            </a:r>
            <a:endParaRPr lang="en-US" sz="2200" dirty="0"/>
          </a:p>
        </p:txBody>
      </p:sp>
      <p:sp>
        <p:nvSpPr>
          <p:cNvPr id="9" name="Shape 6"/>
          <p:cNvSpPr/>
          <p:nvPr/>
        </p:nvSpPr>
        <p:spPr>
          <a:xfrm>
            <a:off x="548640" y="5535168"/>
            <a:ext cx="11091672" cy="774192"/>
          </a:xfrm>
          <a:prstGeom prst="roundRect">
            <a:avLst>
              <a:gd name="adj" fmla="val 9449"/>
            </a:avLst>
          </a:prstGeom>
          <a:solidFill>
            <a:srgbClr val="C0752A">
              <a:alpha val="8000"/>
            </a:srgbClr>
          </a:solidFill>
          <a:ln w="12700">
            <a:solidFill>
              <a:srgbClr val="C0752A"/>
            </a:solidFill>
            <a:prstDash val="solid"/>
          </a:ln>
        </p:spPr>
      </p:sp>
      <p:pic>
        <p:nvPicPr>
          <p:cNvPr id="10"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11" name="Text 7"/>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700" b="1" dirty="0">
                <a:solidFill>
                  <a:schemeClr val="accent1"/>
                </a:solidFill>
              </a:rPr>
              <a:t>Watch out — </a:t>
            </a:r>
            <a:r>
              <a:rPr lang="en-US" sz="1700" dirty="0">
                <a:solidFill>
                  <a:schemeClr val="tx1"/>
                </a:solidFill>
              </a:rPr>
              <a:t>line 1: </a:t>
            </a:r>
            <a:r>
              <a:rPr lang="en-US" sz="1700" i="1" dirty="0">
                <a:solidFill>
                  <a:schemeClr val="tx1"/>
                </a:solidFill>
              </a:rPr>
              <a:t>was leaving</a:t>
            </a:r>
            <a:r>
              <a:rPr lang="en-US" sz="1700" dirty="0">
                <a:solidFill>
                  <a:schemeClr val="tx1"/>
                </a:solidFill>
              </a:rPr>
              <a:t> is possible in a story — a report gives the </a:t>
            </a:r>
            <a:r>
              <a:rPr lang="en-US" sz="1700" b="1" dirty="0">
                <a:solidFill>
                  <a:schemeClr val="tx1"/>
                </a:solidFill>
              </a:rPr>
              <a:t>dated event</a:t>
            </a:r>
            <a:r>
              <a:rPr lang="en-US" sz="1700" dirty="0">
                <a:solidFill>
                  <a:schemeClr val="tx1"/>
                </a:solidFill>
              </a:rPr>
              <a:t> · line 2: </a:t>
            </a:r>
            <a:r>
              <a:rPr lang="en-US" sz="1700" i="1" dirty="0">
                <a:solidFill>
                  <a:schemeClr val="tx1"/>
                </a:solidFill>
              </a:rPr>
              <a:t>while</a:t>
            </a:r>
            <a:r>
              <a:rPr lang="en-US" sz="1700" dirty="0">
                <a:solidFill>
                  <a:schemeClr val="tx1"/>
                </a:solidFill>
              </a:rPr>
              <a:t> + background; </a:t>
            </a:r>
            <a:r>
              <a:rPr lang="en-US" sz="1700" i="1" dirty="0">
                <a:solidFill>
                  <a:schemeClr val="tx1"/>
                </a:solidFill>
              </a:rPr>
              <a:t>checked</a:t>
            </a:r>
            <a:r>
              <a:rPr lang="en-US" sz="1700" dirty="0">
                <a:solidFill>
                  <a:schemeClr val="tx1"/>
                </a:solidFill>
              </a:rPr>
              <a:t> and </a:t>
            </a:r>
            <a:r>
              <a:rPr lang="en-US" sz="1700" i="1" dirty="0">
                <a:solidFill>
                  <a:schemeClr val="tx1"/>
                </a:solidFill>
              </a:rPr>
              <a:t>was checking</a:t>
            </a:r>
            <a:r>
              <a:rPr lang="en-US" sz="1700" dirty="0">
                <a:solidFill>
                  <a:schemeClr val="tx1"/>
                </a:solidFill>
              </a:rPr>
              <a:t> are both correct · line 4: the report describes a </a:t>
            </a:r>
            <a:r>
              <a:rPr lang="en-US" sz="1700" b="1" dirty="0">
                <a:solidFill>
                  <a:schemeClr val="tx1"/>
                </a:solidFill>
              </a:rPr>
              <a:t>background</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Join with when or while</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B · Join these sentences with </a:t>
            </a:r>
            <a:r>
              <a:rPr lang="en-US" sz="1600" i="1" dirty="0">
                <a:solidFill>
                  <a:schemeClr val="accent5"/>
                </a:solidFill>
              </a:rPr>
              <a:t>when</a:t>
            </a:r>
            <a:r>
              <a:rPr lang="en-US" sz="1600" i="1" dirty="0">
                <a:solidFill>
                  <a:schemeClr val="accent5"/>
                </a:solidFill>
              </a:rPr>
              <a:t> or </a:t>
            </a:r>
            <a:r>
              <a:rPr lang="en-US" sz="1600" i="1" dirty="0">
                <a:solidFill>
                  <a:schemeClr val="accent5"/>
                </a:solidFill>
              </a:rPr>
              <a:t>while</a:t>
            </a:r>
            <a:r>
              <a:rPr lang="en-US" sz="1600" i="1" dirty="0">
                <a:solidFill>
                  <a:schemeClr val="accent5"/>
                </a:solidFill>
              </a:rPr>
              <a:t>.</a:t>
            </a:r>
            <a:endParaRPr lang="en-US" sz="1600" dirty="0"/>
          </a:p>
        </p:txBody>
      </p:sp>
      <p:sp>
        <p:nvSpPr>
          <p:cNvPr id="6"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The cleaners arrived. + The water was still running.</a:t>
            </a:r>
            <a:endParaRPr lang="en-US" sz="2600" dirty="0"/>
          </a:p>
          <a:p>
            <a:pPr indent="0" marL="0">
              <a:spcAft>
                <a:spcPts val="1000"/>
              </a:spcAft>
              <a:buNone/>
            </a:pPr>
            <a:r>
              <a:rPr lang="en-US" sz="2600" dirty="0">
                <a:solidFill>
                  <a:schemeClr val="tx1"/>
                </a:solidFill>
              </a:rPr>
              <a:t>→ </a:t>
            </a:r>
            <a:r>
              <a:rPr lang="en-US" sz="2600" dirty="0">
                <a:solidFill>
                  <a:schemeClr val="accent5"/>
                </a:solidFill>
              </a:rPr>
              <a:t>…………………………………………</a:t>
            </a:r>
            <a:endParaRPr lang="en-US" sz="2600" dirty="0"/>
          </a:p>
          <a:p>
            <a:pPr indent="0" marL="0">
              <a:spcAft>
                <a:spcPts val="1400"/>
              </a:spcAft>
              <a:buNone/>
            </a:pPr>
            <a:r>
              <a:rPr lang="en-US" sz="2600" b="1" dirty="0">
                <a:solidFill>
                  <a:schemeClr val="tx2"/>
                </a:solidFill>
              </a:rPr>
              <a:t>2.  </a:t>
            </a:r>
            <a:r>
              <a:rPr lang="en-US" sz="2600" dirty="0">
                <a:solidFill>
                  <a:schemeClr val="tx1"/>
                </a:solidFill>
              </a:rPr>
              <a:t>Iris was photographing the ceiling. + She noticed the crack.</a:t>
            </a:r>
            <a:endParaRPr lang="en-US" sz="2600" dirty="0"/>
          </a:p>
          <a:p>
            <a:pPr indent="0" marL="0">
              <a:spcAft>
                <a:spcPts val="1000"/>
              </a:spcAft>
              <a:buNone/>
            </a:pPr>
            <a:r>
              <a:rPr lang="en-US" sz="2600" dirty="0">
                <a:solidFill>
                  <a:schemeClr val="tx1"/>
                </a:solidFill>
              </a:rPr>
              <a:t>→ </a:t>
            </a:r>
            <a:r>
              <a:rPr lang="en-US" sz="2600" dirty="0">
                <a:solidFill>
                  <a:schemeClr val="accent5"/>
                </a:solidFill>
              </a:rPr>
              <a:t>…………………………………………</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Join with when or while</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B · Join these sentences with </a:t>
            </a:r>
            <a:r>
              <a:rPr lang="en-US" sz="1600" i="1" dirty="0">
                <a:solidFill>
                  <a:schemeClr val="accent5"/>
                </a:solidFill>
              </a:rPr>
              <a:t>when</a:t>
            </a:r>
            <a:r>
              <a:rPr lang="en-US" sz="1600" i="1" dirty="0">
                <a:solidFill>
                  <a:schemeClr val="accent5"/>
                </a:solidFill>
              </a:rPr>
              <a:t> or </a:t>
            </a:r>
            <a:r>
              <a:rPr lang="en-US" sz="1600" i="1" dirty="0">
                <a:solidFill>
                  <a:schemeClr val="accent5"/>
                </a:solidFill>
              </a:rPr>
              <a:t>while</a:t>
            </a:r>
            <a:r>
              <a:rPr lang="en-US" sz="1600" i="1" dirty="0">
                <a:solidFill>
                  <a:schemeClr val="accent5"/>
                </a:solidFill>
              </a:rPr>
              <a:t>.</a:t>
            </a:r>
            <a:endParaRPr lang="en-US" sz="1600" dirty="0"/>
          </a:p>
        </p:txBody>
      </p:sp>
      <p:sp>
        <p:nvSpPr>
          <p:cNvPr id="7" name="exercise"/>
          <p:cNvSpPr txBox="1"/>
          <p:nvPr/>
        </p:nvSpPr>
        <p:spPr>
          <a:xfrm>
            <a:off x="548640" y="2237232"/>
            <a:ext cx="11091672" cy="3069336"/>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The cleaners arrived. + The water was still running.</a:t>
            </a:r>
            <a:endParaRPr lang="en-US" sz="2200" dirty="0"/>
          </a:p>
          <a:p>
            <a:pPr indent="0" marL="0">
              <a:spcAft>
                <a:spcPts val="1000"/>
              </a:spcAft>
              <a:buNone/>
            </a:pPr>
            <a:r>
              <a:rPr lang="en-US" sz="2200" dirty="0">
                <a:solidFill>
                  <a:schemeClr val="tx1"/>
                </a:solidFill>
              </a:rPr>
              <a:t>→ </a:t>
            </a:r>
            <a:r>
              <a:rPr lang="en-US" sz="2200" b="1" dirty="0">
                <a:solidFill>
                  <a:schemeClr val="accent3"/>
                </a:solidFill>
              </a:rPr>
              <a:t>When the cleaners arrived, the water was still running.</a:t>
            </a:r>
            <a:endParaRPr lang="en-US" sz="2200" dirty="0"/>
          </a:p>
          <a:p>
            <a:pPr indent="0" marL="0">
              <a:spcAft>
                <a:spcPts val="1000"/>
              </a:spcAft>
              <a:buNone/>
            </a:pPr>
            <a:r>
              <a:rPr lang="en-US" sz="2200" b="1" dirty="0">
                <a:solidFill>
                  <a:schemeClr val="tx2"/>
                </a:solidFill>
              </a:rPr>
              <a:t>2.  </a:t>
            </a:r>
            <a:r>
              <a:rPr lang="en-US" sz="2200" dirty="0">
                <a:solidFill>
                  <a:schemeClr val="tx1"/>
                </a:solidFill>
              </a:rPr>
              <a:t>Iris was photographing the ceiling. + She noticed the crack.</a:t>
            </a:r>
            <a:endParaRPr lang="en-US" sz="2200" dirty="0"/>
          </a:p>
          <a:p>
            <a:pPr indent="0" marL="0">
              <a:spcAft>
                <a:spcPts val="1000"/>
              </a:spcAft>
              <a:buNone/>
            </a:pPr>
            <a:r>
              <a:rPr lang="en-US" sz="2200" dirty="0">
                <a:solidFill>
                  <a:schemeClr val="tx1"/>
                </a:solidFill>
              </a:rPr>
              <a:t>→ </a:t>
            </a:r>
            <a:r>
              <a:rPr lang="en-US" sz="2200" b="1" dirty="0">
                <a:solidFill>
                  <a:schemeClr val="accent3"/>
                </a:solidFill>
              </a:rPr>
              <a:t>While Iris was photographing the ceiling, she noticed the crack.</a:t>
            </a:r>
            <a:endParaRPr lang="en-US" sz="2200" dirty="0"/>
          </a:p>
        </p:txBody>
      </p:sp>
      <p:sp>
        <p:nvSpPr>
          <p:cNvPr id="8" name="Shape 6"/>
          <p:cNvSpPr/>
          <p:nvPr/>
        </p:nvSpPr>
        <p:spPr>
          <a:xfrm>
            <a:off x="548640" y="5535168"/>
            <a:ext cx="11091672" cy="774192"/>
          </a:xfrm>
          <a:prstGeom prst="roundRect">
            <a:avLst>
              <a:gd name="adj" fmla="val 9449"/>
            </a:avLst>
          </a:prstGeom>
          <a:solidFill>
            <a:srgbClr val="3C7A3C">
              <a:alpha val="8000"/>
            </a:srgbClr>
          </a:solidFill>
          <a:ln w="12700">
            <a:solidFill>
              <a:srgbClr val="3C7A3C"/>
            </a:solidFill>
            <a:prstDash val="solid"/>
          </a:ln>
        </p:spPr>
      </p:sp>
      <p:pic>
        <p:nvPicPr>
          <p:cNvPr id="9"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10" name="Text 7"/>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3"/>
                </a:solidFill>
              </a:rPr>
              <a:t>Also correct — </a:t>
            </a:r>
            <a:r>
              <a:rPr lang="en-US" sz="1800" i="1" dirty="0">
                <a:solidFill>
                  <a:schemeClr val="tx1"/>
                </a:solidFill>
              </a:rPr>
              <a:t>The water was still running </a:t>
            </a:r>
            <a:r>
              <a:rPr lang="en-US" sz="1800" b="1" i="1" dirty="0">
                <a:solidFill>
                  <a:schemeClr val="tx1"/>
                </a:solidFill>
              </a:rPr>
              <a:t>when</a:t>
            </a:r>
            <a:r>
              <a:rPr lang="en-US" sz="1800" i="1" dirty="0">
                <a:solidFill>
                  <a:schemeClr val="tx1"/>
                </a:solidFill>
              </a:rPr>
              <a:t> the cleaners arrived.</a:t>
            </a:r>
            <a:r>
              <a:rPr lang="en-US" sz="1800" dirty="0">
                <a:solidFill>
                  <a:schemeClr val="tx1"/>
                </a:solidFill>
              </a:rPr>
              <a:t> · </a:t>
            </a:r>
            <a:r>
              <a:rPr lang="en-US" sz="1800" i="1" dirty="0">
                <a:solidFill>
                  <a:schemeClr val="tx1"/>
                </a:solidFill>
              </a:rPr>
              <a:t>Iris noticed the crack </a:t>
            </a:r>
            <a:r>
              <a:rPr lang="en-US" sz="1800" b="1" i="1" dirty="0">
                <a:solidFill>
                  <a:schemeClr val="tx1"/>
                </a:solidFill>
              </a:rPr>
              <a:t>while</a:t>
            </a:r>
            <a:r>
              <a:rPr lang="en-US" sz="1800" i="1" dirty="0">
                <a:solidFill>
                  <a:schemeClr val="tx1"/>
                </a:solidFill>
              </a:rPr>
              <a:t> she was photographing the ceiling.</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Spelling: -ing and -ed in four questions</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p:nvPr/>
        </p:nvSpPr>
        <p:spPr>
          <a:xfrm>
            <a:off x="1892808" y="1737360"/>
            <a:ext cx="2020824" cy="384048"/>
          </a:xfrm>
          <a:prstGeom prst="roundRect">
            <a:avLst>
              <a:gd name="adj" fmla="val 47619"/>
            </a:avLst>
          </a:prstGeom>
          <a:solidFill>
            <a:srgbClr val="1F3864"/>
          </a:solidFill>
          <a:ln/>
        </p:spPr>
        <p:txBody>
          <a:bodyPr wrap="square" lIns="0" tIns="0" rIns="0" bIns="0" rtlCol="0" anchor="ctr"/>
          <a:lstStyle/>
          <a:p>
            <a:pPr algn="ctr" indent="0" marL="0">
              <a:buNone/>
            </a:pPr>
            <a:r>
              <a:rPr lang="en-US" sz="1500" b="1" dirty="0">
                <a:solidFill>
                  <a:schemeClr val="bg1"/>
                </a:solidFill>
              </a:rPr>
              <a:t>A regular verb</a:t>
            </a:r>
            <a:endParaRPr lang="en-US" sz="1500" dirty="0"/>
          </a:p>
        </p:txBody>
      </p:sp>
      <p:sp>
        <p:nvSpPr>
          <p:cNvPr id="7" name="Text 4"/>
          <p:cNvSpPr txBox="1"/>
          <p:nvPr/>
        </p:nvSpPr>
        <p:spPr>
          <a:xfrm>
            <a:off x="6263640" y="1737360"/>
            <a:ext cx="2642616" cy="384048"/>
          </a:xfrm>
          <a:prstGeom prst="rect">
            <a:avLst/>
          </a:prstGeom>
          <a:noFill/>
          <a:ln/>
        </p:spPr>
        <p:txBody>
          <a:bodyPr wrap="square" lIns="0" tIns="0" rIns="0" bIns="0" rtlCol="0" anchor="ctr"/>
          <a:lstStyle/>
          <a:p>
            <a:pPr algn="ctr" indent="0" marL="0">
              <a:buNone/>
            </a:pPr>
            <a:r>
              <a:rPr lang="en-US" sz="1500" b="1" spc="100" kern="0" dirty="0">
                <a:solidFill>
                  <a:schemeClr val="tx2"/>
                </a:solidFill>
              </a:rPr>
              <a:t>+ -ING</a:t>
            </a:r>
            <a:endParaRPr lang="en-US" sz="1500" dirty="0"/>
          </a:p>
        </p:txBody>
      </p:sp>
      <p:sp>
        <p:nvSpPr>
          <p:cNvPr id="8" name="Text 5"/>
          <p:cNvSpPr txBox="1"/>
          <p:nvPr/>
        </p:nvSpPr>
        <p:spPr>
          <a:xfrm>
            <a:off x="8906256" y="1737360"/>
            <a:ext cx="2642616" cy="384048"/>
          </a:xfrm>
          <a:prstGeom prst="rect">
            <a:avLst/>
          </a:prstGeom>
          <a:noFill/>
          <a:ln/>
        </p:spPr>
        <p:txBody>
          <a:bodyPr wrap="square" lIns="0" tIns="0" rIns="0" bIns="0" rtlCol="0" anchor="ctr"/>
          <a:lstStyle/>
          <a:p>
            <a:pPr algn="ctr" indent="0" marL="0">
              <a:buNone/>
            </a:pPr>
            <a:r>
              <a:rPr lang="en-US" sz="1500" b="1" spc="100" kern="0" dirty="0">
                <a:solidFill>
                  <a:schemeClr val="tx2"/>
                </a:solidFill>
              </a:rPr>
              <a:t>+ -ED</a:t>
            </a:r>
            <a:endParaRPr lang="en-US" sz="1500" dirty="0"/>
          </a:p>
        </p:txBody>
      </p:sp>
      <p:sp>
        <p:nvSpPr>
          <p:cNvPr id="9" name="Shape 6"/>
          <p:cNvSpPr/>
          <p:nvPr/>
        </p:nvSpPr>
        <p:spPr>
          <a:xfrm>
            <a:off x="2903220" y="2139696"/>
            <a:ext cx="0" cy="201168"/>
          </a:xfrm>
          <a:prstGeom prst="line">
            <a:avLst/>
          </a:prstGeom>
          <a:noFill/>
          <a:ln w="22225">
            <a:solidFill>
              <a:srgbClr val="44546A"/>
            </a:solidFill>
            <a:prstDash val="solid"/>
            <a:tailEnd type="triangle"/>
          </a:ln>
        </p:spPr>
      </p:sp>
      <p:sp>
        <p:nvSpPr>
          <p:cNvPr id="10" name="Shape 7"/>
          <p:cNvSpPr/>
          <p:nvPr/>
        </p:nvSpPr>
        <p:spPr>
          <a:xfrm>
            <a:off x="548640" y="2359152"/>
            <a:ext cx="4709160" cy="552298"/>
          </a:xfrm>
          <a:prstGeom prst="roundRect">
            <a:avLst>
              <a:gd name="adj" fmla="val 13245"/>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11" name="Shape 8"/>
          <p:cNvSpPr/>
          <p:nvPr/>
        </p:nvSpPr>
        <p:spPr>
          <a:xfrm>
            <a:off x="694944" y="2415845"/>
            <a:ext cx="438912" cy="438912"/>
          </a:xfrm>
          <a:prstGeom prst="ellipse">
            <a:avLst/>
          </a:prstGeom>
          <a:solidFill>
            <a:srgbClr val="1F3864"/>
          </a:solidFill>
          <a:ln/>
        </p:spPr>
      </p:sp>
      <p:pic>
        <p:nvPicPr>
          <p:cNvPr id="12" name="Image 0" descr="preencoded.png">    </p:cNvPr>
          <p:cNvPicPr>
            <a:picLocks noChangeAspect="1"/>
          </p:cNvPicPr>
          <p:nvPr/>
        </p:nvPicPr>
        <p:blipFill>
          <a:blip r:embed="rId1"/>
          <a:stretch>
            <a:fillRect/>
          </a:stretch>
        </p:blipFill>
        <p:spPr>
          <a:xfrm>
            <a:off x="804672" y="2525573"/>
            <a:ext cx="219456" cy="219456"/>
          </a:xfrm>
          <a:prstGeom prst="rect">
            <a:avLst/>
          </a:prstGeom>
        </p:spPr>
      </p:pic>
      <p:sp>
        <p:nvSpPr>
          <p:cNvPr id="13" name="Text 9"/>
          <p:cNvSpPr txBox="1"/>
          <p:nvPr/>
        </p:nvSpPr>
        <p:spPr>
          <a:xfrm>
            <a:off x="1261872" y="2395728"/>
            <a:ext cx="3867912" cy="479146"/>
          </a:xfrm>
          <a:prstGeom prst="rect">
            <a:avLst/>
          </a:prstGeom>
          <a:noFill/>
          <a:ln/>
        </p:spPr>
        <p:txBody>
          <a:bodyPr wrap="square" lIns="0" tIns="0" rIns="0" bIns="0" rtlCol="0" anchor="ctr"/>
          <a:lstStyle/>
          <a:p>
            <a:pPr indent="0" marL="0">
              <a:buNone/>
            </a:pPr>
            <a:r>
              <a:rPr lang="en-US" sz="1400" b="1" dirty="0">
                <a:solidFill>
                  <a:schemeClr val="tx2"/>
                </a:solidFill>
              </a:rPr>
              <a:t>Does it end in </a:t>
            </a:r>
            <a:r>
              <a:rPr lang="en-US" sz="1400" b="1" dirty="0">
                <a:solidFill>
                  <a:schemeClr val="tx2"/>
                </a:solidFill>
              </a:rPr>
              <a:t>-ie</a:t>
            </a:r>
            <a:r>
              <a:rPr lang="en-US" sz="1400" b="1" dirty="0">
                <a:solidFill>
                  <a:schemeClr val="tx2"/>
                </a:solidFill>
              </a:rPr>
              <a:t>?</a:t>
            </a:r>
            <a:endParaRPr lang="en-US" sz="1400" dirty="0"/>
          </a:p>
          <a:p>
            <a:pPr indent="0" marL="0">
              <a:buNone/>
            </a:pPr>
            <a:r>
              <a:rPr lang="en-US" sz="1300" i="1" dirty="0">
                <a:solidFill>
                  <a:schemeClr val="accent5"/>
                </a:solidFill>
              </a:rPr>
              <a:t>lie · die · tie</a:t>
            </a:r>
            <a:endParaRPr lang="en-US" sz="1400" dirty="0"/>
          </a:p>
        </p:txBody>
      </p:sp>
      <p:sp>
        <p:nvSpPr>
          <p:cNvPr id="14" name="Shape 10"/>
          <p:cNvSpPr/>
          <p:nvPr/>
        </p:nvSpPr>
        <p:spPr>
          <a:xfrm>
            <a:off x="5276088" y="2635301"/>
            <a:ext cx="859536" cy="0"/>
          </a:xfrm>
          <a:prstGeom prst="line">
            <a:avLst/>
          </a:prstGeom>
          <a:noFill/>
          <a:ln w="22225">
            <a:solidFill>
              <a:srgbClr val="3C7A3C"/>
            </a:solidFill>
            <a:prstDash val="solid"/>
            <a:tailEnd type="triangle"/>
          </a:ln>
        </p:spPr>
      </p:sp>
      <p:sp>
        <p:nvSpPr>
          <p:cNvPr id="15" name="Text 11"/>
          <p:cNvSpPr txBox="1"/>
          <p:nvPr/>
        </p:nvSpPr>
        <p:spPr>
          <a:xfrm>
            <a:off x="5257800" y="2324405"/>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16" name="Shape 12"/>
          <p:cNvSpPr/>
          <p:nvPr/>
        </p:nvSpPr>
        <p:spPr>
          <a:xfrm>
            <a:off x="6172200" y="2359152"/>
            <a:ext cx="5468112" cy="552298"/>
          </a:xfrm>
          <a:prstGeom prst="roundRect">
            <a:avLst>
              <a:gd name="adj" fmla="val 13245"/>
            </a:avLst>
          </a:prstGeom>
          <a:solidFill>
            <a:srgbClr val="6E4A9E">
              <a:alpha val="12000"/>
            </a:srgbClr>
          </a:solidFill>
          <a:ln w="19050">
            <a:solidFill>
              <a:srgbClr val="6E4A9E"/>
            </a:solidFill>
            <a:prstDash val="solid"/>
          </a:ln>
        </p:spPr>
      </p:sp>
      <p:sp>
        <p:nvSpPr>
          <p:cNvPr id="17" name="Text 13"/>
          <p:cNvSpPr txBox="1"/>
          <p:nvPr/>
        </p:nvSpPr>
        <p:spPr>
          <a:xfrm>
            <a:off x="6336792" y="2395728"/>
            <a:ext cx="5138928" cy="237744"/>
          </a:xfrm>
          <a:prstGeom prst="rect">
            <a:avLst/>
          </a:prstGeom>
          <a:noFill/>
          <a:ln/>
        </p:spPr>
        <p:txBody>
          <a:bodyPr wrap="square" lIns="0" tIns="0" rIns="0" bIns="0" rtlCol="0" anchor="ctr"/>
          <a:lstStyle/>
          <a:p>
            <a:pPr indent="0" marL="0">
              <a:buNone/>
            </a:pPr>
            <a:r>
              <a:rPr lang="en-US" sz="1200" b="1" spc="100" kern="0" dirty="0">
                <a:solidFill>
                  <a:schemeClr val="accent4"/>
                </a:solidFill>
              </a:rPr>
              <a:t>IE → Y before -ing</a:t>
            </a:r>
            <a:endParaRPr lang="en-US" sz="1200" dirty="0"/>
          </a:p>
        </p:txBody>
      </p:sp>
      <p:sp>
        <p:nvSpPr>
          <p:cNvPr id="18" name="Text 14"/>
          <p:cNvSpPr txBox="1"/>
          <p:nvPr/>
        </p:nvSpPr>
        <p:spPr>
          <a:xfrm>
            <a:off x="6336792" y="2633472"/>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lie → </a:t>
            </a:r>
            <a:r>
              <a:rPr lang="en-US" sz="1600" b="1" dirty="0">
                <a:solidFill>
                  <a:schemeClr val="tx1"/>
                </a:solidFill>
              </a:rPr>
              <a:t>lying</a:t>
            </a:r>
            <a:endParaRPr lang="en-US" sz="1600" dirty="0"/>
          </a:p>
        </p:txBody>
      </p:sp>
      <p:sp>
        <p:nvSpPr>
          <p:cNvPr id="19" name="Text 15"/>
          <p:cNvSpPr txBox="1"/>
          <p:nvPr/>
        </p:nvSpPr>
        <p:spPr>
          <a:xfrm>
            <a:off x="8906256" y="2633472"/>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lie → </a:t>
            </a:r>
            <a:r>
              <a:rPr lang="en-US" sz="1600" b="1" dirty="0">
                <a:solidFill>
                  <a:schemeClr val="tx1"/>
                </a:solidFill>
              </a:rPr>
              <a:t>lied</a:t>
            </a:r>
            <a:endParaRPr lang="en-US" sz="1600" dirty="0"/>
          </a:p>
        </p:txBody>
      </p:sp>
      <p:sp>
        <p:nvSpPr>
          <p:cNvPr id="20" name="Shape 16"/>
          <p:cNvSpPr/>
          <p:nvPr/>
        </p:nvSpPr>
        <p:spPr>
          <a:xfrm>
            <a:off x="8906256" y="2670048"/>
            <a:ext cx="0" cy="168250"/>
          </a:xfrm>
          <a:prstGeom prst="line">
            <a:avLst/>
          </a:prstGeom>
          <a:noFill/>
          <a:ln w="9525">
            <a:solidFill>
              <a:srgbClr val="6E4A9E"/>
            </a:solidFill>
            <a:prstDash val="dash"/>
          </a:ln>
        </p:spPr>
      </p:sp>
      <p:sp>
        <p:nvSpPr>
          <p:cNvPr id="21" name="Shape 17"/>
          <p:cNvSpPr/>
          <p:nvPr/>
        </p:nvSpPr>
        <p:spPr>
          <a:xfrm>
            <a:off x="2903220" y="2929738"/>
            <a:ext cx="0" cy="201168"/>
          </a:xfrm>
          <a:prstGeom prst="line">
            <a:avLst/>
          </a:prstGeom>
          <a:noFill/>
          <a:ln w="22225">
            <a:solidFill>
              <a:srgbClr val="44546A"/>
            </a:solidFill>
            <a:prstDash val="solid"/>
            <a:tailEnd type="triangle"/>
          </a:ln>
        </p:spPr>
      </p:sp>
      <p:sp>
        <p:nvSpPr>
          <p:cNvPr id="22" name="Text 18"/>
          <p:cNvSpPr txBox="1"/>
          <p:nvPr/>
        </p:nvSpPr>
        <p:spPr>
          <a:xfrm>
            <a:off x="2994660" y="2911450"/>
            <a:ext cx="548640" cy="237744"/>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23" name="Shape 19"/>
          <p:cNvSpPr/>
          <p:nvPr/>
        </p:nvSpPr>
        <p:spPr>
          <a:xfrm>
            <a:off x="548640" y="3149194"/>
            <a:ext cx="4709160" cy="552298"/>
          </a:xfrm>
          <a:prstGeom prst="roundRect">
            <a:avLst>
              <a:gd name="adj" fmla="val 13245"/>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24" name="Shape 20"/>
          <p:cNvSpPr/>
          <p:nvPr/>
        </p:nvSpPr>
        <p:spPr>
          <a:xfrm>
            <a:off x="694944" y="3205886"/>
            <a:ext cx="438912" cy="438912"/>
          </a:xfrm>
          <a:prstGeom prst="ellipse">
            <a:avLst/>
          </a:prstGeom>
          <a:solidFill>
            <a:srgbClr val="1F3864"/>
          </a:solidFill>
          <a:ln/>
        </p:spPr>
      </p:sp>
      <p:pic>
        <p:nvPicPr>
          <p:cNvPr id="25" name="Image 1" descr="preencoded.png">    </p:cNvPr>
          <p:cNvPicPr>
            <a:picLocks noChangeAspect="1"/>
          </p:cNvPicPr>
          <p:nvPr/>
        </p:nvPicPr>
        <p:blipFill>
          <a:blip r:embed="rId2"/>
          <a:stretch>
            <a:fillRect/>
          </a:stretch>
        </p:blipFill>
        <p:spPr>
          <a:xfrm>
            <a:off x="804672" y="3315614"/>
            <a:ext cx="219456" cy="219456"/>
          </a:xfrm>
          <a:prstGeom prst="rect">
            <a:avLst/>
          </a:prstGeom>
        </p:spPr>
      </p:pic>
      <p:sp>
        <p:nvSpPr>
          <p:cNvPr id="26" name="Text 21"/>
          <p:cNvSpPr txBox="1"/>
          <p:nvPr/>
        </p:nvSpPr>
        <p:spPr>
          <a:xfrm>
            <a:off x="1261872" y="3185770"/>
            <a:ext cx="3867912" cy="479146"/>
          </a:xfrm>
          <a:prstGeom prst="rect">
            <a:avLst/>
          </a:prstGeom>
          <a:noFill/>
          <a:ln/>
        </p:spPr>
        <p:txBody>
          <a:bodyPr wrap="square" lIns="0" tIns="0" rIns="0" bIns="0" rtlCol="0" anchor="ctr"/>
          <a:lstStyle/>
          <a:p>
            <a:pPr indent="0" marL="0">
              <a:buNone/>
            </a:pPr>
            <a:r>
              <a:rPr lang="en-US" sz="1400" b="1" dirty="0">
                <a:solidFill>
                  <a:schemeClr val="tx2"/>
                </a:solidFill>
              </a:rPr>
              <a:t>Does it end in a silent </a:t>
            </a:r>
            <a:r>
              <a:rPr lang="en-US" sz="1400" b="1" dirty="0">
                <a:solidFill>
                  <a:schemeClr val="tx2"/>
                </a:solidFill>
              </a:rPr>
              <a:t>-e</a:t>
            </a:r>
            <a:r>
              <a:rPr lang="en-US" sz="1400" b="1" dirty="0">
                <a:solidFill>
                  <a:schemeClr val="tx2"/>
                </a:solidFill>
              </a:rPr>
              <a:t>?</a:t>
            </a:r>
            <a:endParaRPr lang="en-US" sz="1400" dirty="0"/>
          </a:p>
          <a:p>
            <a:pPr indent="0" marL="0">
              <a:buNone/>
            </a:pPr>
            <a:r>
              <a:rPr lang="en-US" sz="1300" i="1" dirty="0">
                <a:solidFill>
                  <a:schemeClr val="accent5"/>
                </a:solidFill>
              </a:rPr>
              <a:t>notice · leave · arrive</a:t>
            </a:r>
            <a:endParaRPr lang="en-US" sz="1400" dirty="0"/>
          </a:p>
        </p:txBody>
      </p:sp>
      <p:sp>
        <p:nvSpPr>
          <p:cNvPr id="27" name="Shape 22"/>
          <p:cNvSpPr/>
          <p:nvPr/>
        </p:nvSpPr>
        <p:spPr>
          <a:xfrm>
            <a:off x="5276088" y="3425342"/>
            <a:ext cx="859536" cy="0"/>
          </a:xfrm>
          <a:prstGeom prst="line">
            <a:avLst/>
          </a:prstGeom>
          <a:noFill/>
          <a:ln w="22225">
            <a:solidFill>
              <a:srgbClr val="3C7A3C"/>
            </a:solidFill>
            <a:prstDash val="solid"/>
            <a:tailEnd type="triangle"/>
          </a:ln>
        </p:spPr>
      </p:sp>
      <p:sp>
        <p:nvSpPr>
          <p:cNvPr id="28" name="Text 23"/>
          <p:cNvSpPr txBox="1"/>
          <p:nvPr/>
        </p:nvSpPr>
        <p:spPr>
          <a:xfrm>
            <a:off x="5257800" y="3114446"/>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29" name="Shape 24"/>
          <p:cNvSpPr/>
          <p:nvPr/>
        </p:nvSpPr>
        <p:spPr>
          <a:xfrm>
            <a:off x="6172200" y="3149194"/>
            <a:ext cx="5468112" cy="552298"/>
          </a:xfrm>
          <a:prstGeom prst="roundRect">
            <a:avLst>
              <a:gd name="adj" fmla="val 13245"/>
            </a:avLst>
          </a:prstGeom>
          <a:solidFill>
            <a:srgbClr val="2E75B6">
              <a:alpha val="12000"/>
            </a:srgbClr>
          </a:solidFill>
          <a:ln w="19050">
            <a:solidFill>
              <a:srgbClr val="2E75B6"/>
            </a:solidFill>
            <a:prstDash val="solid"/>
          </a:ln>
        </p:spPr>
      </p:sp>
      <p:sp>
        <p:nvSpPr>
          <p:cNvPr id="30" name="Text 25"/>
          <p:cNvSpPr txBox="1"/>
          <p:nvPr/>
        </p:nvSpPr>
        <p:spPr>
          <a:xfrm>
            <a:off x="6336792" y="3185770"/>
            <a:ext cx="5138928" cy="237744"/>
          </a:xfrm>
          <a:prstGeom prst="rect">
            <a:avLst/>
          </a:prstGeom>
          <a:noFill/>
          <a:ln/>
        </p:spPr>
        <p:txBody>
          <a:bodyPr wrap="square" lIns="0" tIns="0" rIns="0" bIns="0" rtlCol="0" anchor="ctr"/>
          <a:lstStyle/>
          <a:p>
            <a:pPr indent="0" marL="0">
              <a:buNone/>
            </a:pPr>
            <a:r>
              <a:rPr lang="en-US" sz="1200" b="1" spc="100" kern="0" dirty="0">
                <a:solidFill>
                  <a:schemeClr val="accent2"/>
                </a:solidFill>
              </a:rPr>
              <a:t>DROP THE -E</a:t>
            </a:r>
            <a:endParaRPr lang="en-US" sz="1200" dirty="0"/>
          </a:p>
        </p:txBody>
      </p:sp>
      <p:sp>
        <p:nvSpPr>
          <p:cNvPr id="31" name="Text 26"/>
          <p:cNvSpPr txBox="1"/>
          <p:nvPr/>
        </p:nvSpPr>
        <p:spPr>
          <a:xfrm>
            <a:off x="6336792" y="3423514"/>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notice → </a:t>
            </a:r>
            <a:r>
              <a:rPr lang="en-US" sz="1600" b="1" dirty="0">
                <a:solidFill>
                  <a:schemeClr val="tx1"/>
                </a:solidFill>
              </a:rPr>
              <a:t>noticing</a:t>
            </a:r>
            <a:endParaRPr lang="en-US" sz="1600" dirty="0"/>
          </a:p>
        </p:txBody>
      </p:sp>
      <p:sp>
        <p:nvSpPr>
          <p:cNvPr id="32" name="Text 27"/>
          <p:cNvSpPr txBox="1"/>
          <p:nvPr/>
        </p:nvSpPr>
        <p:spPr>
          <a:xfrm>
            <a:off x="8906256" y="3423514"/>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notice → </a:t>
            </a:r>
            <a:r>
              <a:rPr lang="en-US" sz="1600" b="1" dirty="0">
                <a:solidFill>
                  <a:schemeClr val="tx1"/>
                </a:solidFill>
              </a:rPr>
              <a:t>noticed</a:t>
            </a:r>
            <a:endParaRPr lang="en-US" sz="1600" dirty="0"/>
          </a:p>
        </p:txBody>
      </p:sp>
      <p:sp>
        <p:nvSpPr>
          <p:cNvPr id="33" name="Shape 28"/>
          <p:cNvSpPr/>
          <p:nvPr/>
        </p:nvSpPr>
        <p:spPr>
          <a:xfrm>
            <a:off x="8906256" y="3460090"/>
            <a:ext cx="0" cy="168250"/>
          </a:xfrm>
          <a:prstGeom prst="line">
            <a:avLst/>
          </a:prstGeom>
          <a:noFill/>
          <a:ln w="9525">
            <a:solidFill>
              <a:srgbClr val="2E75B6"/>
            </a:solidFill>
            <a:prstDash val="dash"/>
          </a:ln>
        </p:spPr>
      </p:sp>
      <p:sp>
        <p:nvSpPr>
          <p:cNvPr id="34" name="Shape 29"/>
          <p:cNvSpPr/>
          <p:nvPr/>
        </p:nvSpPr>
        <p:spPr>
          <a:xfrm>
            <a:off x="2903220" y="3719779"/>
            <a:ext cx="0" cy="201168"/>
          </a:xfrm>
          <a:prstGeom prst="line">
            <a:avLst/>
          </a:prstGeom>
          <a:noFill/>
          <a:ln w="22225">
            <a:solidFill>
              <a:srgbClr val="44546A"/>
            </a:solidFill>
            <a:prstDash val="solid"/>
            <a:tailEnd type="triangle"/>
          </a:ln>
        </p:spPr>
      </p:sp>
      <p:sp>
        <p:nvSpPr>
          <p:cNvPr id="35" name="Text 30"/>
          <p:cNvSpPr txBox="1"/>
          <p:nvPr/>
        </p:nvSpPr>
        <p:spPr>
          <a:xfrm>
            <a:off x="2994660" y="3701491"/>
            <a:ext cx="548640" cy="237744"/>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36" name="Shape 31"/>
          <p:cNvSpPr/>
          <p:nvPr/>
        </p:nvSpPr>
        <p:spPr>
          <a:xfrm>
            <a:off x="548640" y="3939235"/>
            <a:ext cx="4709160" cy="552298"/>
          </a:xfrm>
          <a:prstGeom prst="roundRect">
            <a:avLst>
              <a:gd name="adj" fmla="val 13245"/>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37" name="Shape 32"/>
          <p:cNvSpPr/>
          <p:nvPr/>
        </p:nvSpPr>
        <p:spPr>
          <a:xfrm>
            <a:off x="694944" y="3995928"/>
            <a:ext cx="438912" cy="438912"/>
          </a:xfrm>
          <a:prstGeom prst="ellipse">
            <a:avLst/>
          </a:prstGeom>
          <a:solidFill>
            <a:srgbClr val="1F3864"/>
          </a:solidFill>
          <a:ln/>
        </p:spPr>
      </p:sp>
      <p:pic>
        <p:nvPicPr>
          <p:cNvPr id="38" name="Image 2" descr="preencoded.png">    </p:cNvPr>
          <p:cNvPicPr>
            <a:picLocks noChangeAspect="1"/>
          </p:cNvPicPr>
          <p:nvPr/>
        </p:nvPicPr>
        <p:blipFill>
          <a:blip r:embed="rId3"/>
          <a:stretch>
            <a:fillRect/>
          </a:stretch>
        </p:blipFill>
        <p:spPr>
          <a:xfrm>
            <a:off x="804672" y="4105656"/>
            <a:ext cx="219456" cy="219456"/>
          </a:xfrm>
          <a:prstGeom prst="rect">
            <a:avLst/>
          </a:prstGeom>
        </p:spPr>
      </p:pic>
      <p:sp>
        <p:nvSpPr>
          <p:cNvPr id="39" name="Text 33"/>
          <p:cNvSpPr txBox="1"/>
          <p:nvPr/>
        </p:nvSpPr>
        <p:spPr>
          <a:xfrm>
            <a:off x="1261872" y="3975811"/>
            <a:ext cx="3867912" cy="479146"/>
          </a:xfrm>
          <a:prstGeom prst="rect">
            <a:avLst/>
          </a:prstGeom>
          <a:noFill/>
          <a:ln/>
        </p:spPr>
        <p:txBody>
          <a:bodyPr wrap="square" lIns="0" tIns="0" rIns="0" bIns="0" rtlCol="0" anchor="ctr"/>
          <a:lstStyle/>
          <a:p>
            <a:pPr indent="0" marL="0">
              <a:buNone/>
            </a:pPr>
            <a:r>
              <a:rPr lang="en-US" sz="1400" b="1" dirty="0">
                <a:solidFill>
                  <a:schemeClr val="tx2"/>
                </a:solidFill>
              </a:rPr>
              <a:t>Does it end in </a:t>
            </a:r>
            <a:r>
              <a:rPr lang="en-US" sz="1400" b="1" dirty="0">
                <a:solidFill>
                  <a:schemeClr val="tx2"/>
                </a:solidFill>
              </a:rPr>
              <a:t>consonant + y</a:t>
            </a:r>
            <a:r>
              <a:rPr lang="en-US" sz="1400" b="1" dirty="0">
                <a:solidFill>
                  <a:schemeClr val="tx2"/>
                </a:solidFill>
              </a:rPr>
              <a:t>?</a:t>
            </a:r>
            <a:endParaRPr lang="en-US" sz="1400" dirty="0"/>
          </a:p>
          <a:p>
            <a:pPr indent="0" marL="0">
              <a:buNone/>
            </a:pPr>
            <a:r>
              <a:rPr lang="en-US" sz="1300" i="1" dirty="0">
                <a:solidFill>
                  <a:schemeClr val="accent5"/>
                </a:solidFill>
              </a:rPr>
              <a:t>carry · study (but: play → played)</a:t>
            </a:r>
            <a:endParaRPr lang="en-US" sz="1400" dirty="0"/>
          </a:p>
        </p:txBody>
      </p:sp>
      <p:sp>
        <p:nvSpPr>
          <p:cNvPr id="40" name="Shape 34"/>
          <p:cNvSpPr/>
          <p:nvPr/>
        </p:nvSpPr>
        <p:spPr>
          <a:xfrm>
            <a:off x="5276088" y="4215384"/>
            <a:ext cx="859536" cy="0"/>
          </a:xfrm>
          <a:prstGeom prst="line">
            <a:avLst/>
          </a:prstGeom>
          <a:noFill/>
          <a:ln w="22225">
            <a:solidFill>
              <a:srgbClr val="3C7A3C"/>
            </a:solidFill>
            <a:prstDash val="solid"/>
            <a:tailEnd type="triangle"/>
          </a:ln>
        </p:spPr>
      </p:sp>
      <p:sp>
        <p:nvSpPr>
          <p:cNvPr id="41" name="Text 35"/>
          <p:cNvSpPr txBox="1"/>
          <p:nvPr/>
        </p:nvSpPr>
        <p:spPr>
          <a:xfrm>
            <a:off x="5257800" y="390448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42" name="Shape 36"/>
          <p:cNvSpPr/>
          <p:nvPr/>
        </p:nvSpPr>
        <p:spPr>
          <a:xfrm>
            <a:off x="6172200" y="3939235"/>
            <a:ext cx="5468112" cy="552298"/>
          </a:xfrm>
          <a:prstGeom prst="roundRect">
            <a:avLst>
              <a:gd name="adj" fmla="val 13245"/>
            </a:avLst>
          </a:prstGeom>
          <a:solidFill>
            <a:srgbClr val="3C7A3C">
              <a:alpha val="12000"/>
            </a:srgbClr>
          </a:solidFill>
          <a:ln w="19050">
            <a:solidFill>
              <a:srgbClr val="3C7A3C"/>
            </a:solidFill>
            <a:prstDash val="solid"/>
          </a:ln>
        </p:spPr>
      </p:sp>
      <p:sp>
        <p:nvSpPr>
          <p:cNvPr id="43" name="Text 37"/>
          <p:cNvSpPr txBox="1"/>
          <p:nvPr/>
        </p:nvSpPr>
        <p:spPr>
          <a:xfrm>
            <a:off x="6336792" y="3975811"/>
            <a:ext cx="5138928" cy="237744"/>
          </a:xfrm>
          <a:prstGeom prst="rect">
            <a:avLst/>
          </a:prstGeom>
          <a:noFill/>
          <a:ln/>
        </p:spPr>
        <p:txBody>
          <a:bodyPr wrap="square" lIns="0" tIns="0" rIns="0" bIns="0" rtlCol="0" anchor="ctr"/>
          <a:lstStyle/>
          <a:p>
            <a:pPr indent="0" marL="0">
              <a:buNone/>
            </a:pPr>
            <a:r>
              <a:rPr lang="en-US" sz="1200" b="1" spc="100" kern="0" dirty="0">
                <a:solidFill>
                  <a:schemeClr val="accent3"/>
                </a:solidFill>
              </a:rPr>
              <a:t>Y STAYS · Y → IED</a:t>
            </a:r>
            <a:endParaRPr lang="en-US" sz="1200" dirty="0"/>
          </a:p>
        </p:txBody>
      </p:sp>
      <p:sp>
        <p:nvSpPr>
          <p:cNvPr id="44" name="Text 38"/>
          <p:cNvSpPr txBox="1"/>
          <p:nvPr/>
        </p:nvSpPr>
        <p:spPr>
          <a:xfrm>
            <a:off x="6336792" y="4213555"/>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carry → </a:t>
            </a:r>
            <a:r>
              <a:rPr lang="en-US" sz="1600" b="1" dirty="0">
                <a:solidFill>
                  <a:schemeClr val="tx1"/>
                </a:solidFill>
              </a:rPr>
              <a:t>carrying</a:t>
            </a:r>
            <a:endParaRPr lang="en-US" sz="1600" dirty="0"/>
          </a:p>
        </p:txBody>
      </p:sp>
      <p:sp>
        <p:nvSpPr>
          <p:cNvPr id="45" name="Text 39"/>
          <p:cNvSpPr txBox="1"/>
          <p:nvPr/>
        </p:nvSpPr>
        <p:spPr>
          <a:xfrm>
            <a:off x="8906256" y="4213555"/>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carry → </a:t>
            </a:r>
            <a:r>
              <a:rPr lang="en-US" sz="1600" b="1" dirty="0">
                <a:solidFill>
                  <a:schemeClr val="tx1"/>
                </a:solidFill>
              </a:rPr>
              <a:t>carried</a:t>
            </a:r>
            <a:endParaRPr lang="en-US" sz="1600" dirty="0"/>
          </a:p>
        </p:txBody>
      </p:sp>
      <p:sp>
        <p:nvSpPr>
          <p:cNvPr id="46" name="Shape 40"/>
          <p:cNvSpPr/>
          <p:nvPr/>
        </p:nvSpPr>
        <p:spPr>
          <a:xfrm>
            <a:off x="8906256" y="4250131"/>
            <a:ext cx="0" cy="168250"/>
          </a:xfrm>
          <a:prstGeom prst="line">
            <a:avLst/>
          </a:prstGeom>
          <a:noFill/>
          <a:ln w="9525">
            <a:solidFill>
              <a:srgbClr val="3C7A3C"/>
            </a:solidFill>
            <a:prstDash val="dash"/>
          </a:ln>
        </p:spPr>
      </p:sp>
      <p:sp>
        <p:nvSpPr>
          <p:cNvPr id="47" name="Shape 41"/>
          <p:cNvSpPr/>
          <p:nvPr/>
        </p:nvSpPr>
        <p:spPr>
          <a:xfrm>
            <a:off x="2903220" y="4509821"/>
            <a:ext cx="0" cy="201168"/>
          </a:xfrm>
          <a:prstGeom prst="line">
            <a:avLst/>
          </a:prstGeom>
          <a:noFill/>
          <a:ln w="22225">
            <a:solidFill>
              <a:srgbClr val="44546A"/>
            </a:solidFill>
            <a:prstDash val="solid"/>
            <a:tailEnd type="triangle"/>
          </a:ln>
        </p:spPr>
      </p:sp>
      <p:sp>
        <p:nvSpPr>
          <p:cNvPr id="48" name="Text 42"/>
          <p:cNvSpPr txBox="1"/>
          <p:nvPr/>
        </p:nvSpPr>
        <p:spPr>
          <a:xfrm>
            <a:off x="2994660" y="4491533"/>
            <a:ext cx="548640" cy="237744"/>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49" name="Shape 43"/>
          <p:cNvSpPr/>
          <p:nvPr/>
        </p:nvSpPr>
        <p:spPr>
          <a:xfrm>
            <a:off x="548640" y="4729277"/>
            <a:ext cx="4709160" cy="552298"/>
          </a:xfrm>
          <a:prstGeom prst="roundRect">
            <a:avLst>
              <a:gd name="adj" fmla="val 13245"/>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50" name="Shape 44"/>
          <p:cNvSpPr/>
          <p:nvPr/>
        </p:nvSpPr>
        <p:spPr>
          <a:xfrm>
            <a:off x="694944" y="4785970"/>
            <a:ext cx="438912" cy="438912"/>
          </a:xfrm>
          <a:prstGeom prst="ellipse">
            <a:avLst/>
          </a:prstGeom>
          <a:solidFill>
            <a:srgbClr val="1F3864"/>
          </a:solidFill>
          <a:ln/>
        </p:spPr>
      </p:sp>
      <p:pic>
        <p:nvPicPr>
          <p:cNvPr id="51" name="Image 3" descr="preencoded.png">    </p:cNvPr>
          <p:cNvPicPr>
            <a:picLocks noChangeAspect="1"/>
          </p:cNvPicPr>
          <p:nvPr/>
        </p:nvPicPr>
        <p:blipFill>
          <a:blip r:embed="rId4"/>
          <a:stretch>
            <a:fillRect/>
          </a:stretch>
        </p:blipFill>
        <p:spPr>
          <a:xfrm>
            <a:off x="804672" y="4895698"/>
            <a:ext cx="219456" cy="219456"/>
          </a:xfrm>
          <a:prstGeom prst="rect">
            <a:avLst/>
          </a:prstGeom>
        </p:spPr>
      </p:pic>
      <p:sp>
        <p:nvSpPr>
          <p:cNvPr id="52" name="Text 45"/>
          <p:cNvSpPr txBox="1"/>
          <p:nvPr/>
        </p:nvSpPr>
        <p:spPr>
          <a:xfrm>
            <a:off x="1261872" y="4765853"/>
            <a:ext cx="3867912" cy="479146"/>
          </a:xfrm>
          <a:prstGeom prst="rect">
            <a:avLst/>
          </a:prstGeom>
          <a:noFill/>
          <a:ln/>
        </p:spPr>
        <p:txBody>
          <a:bodyPr wrap="square" lIns="0" tIns="0" rIns="0" bIns="0" rtlCol="0" anchor="ctr"/>
          <a:lstStyle/>
          <a:p>
            <a:pPr indent="0" marL="0">
              <a:buNone/>
            </a:pPr>
            <a:r>
              <a:rPr lang="en-US" sz="1400" b="1" dirty="0">
                <a:solidFill>
                  <a:schemeClr val="tx2"/>
                </a:solidFill>
              </a:rPr>
              <a:t>Stressed</a:t>
            </a:r>
            <a:r>
              <a:rPr lang="en-US" sz="1400" b="1" dirty="0">
                <a:solidFill>
                  <a:schemeClr val="tx2"/>
                </a:solidFill>
              </a:rPr>
              <a:t> vowel + </a:t>
            </a:r>
            <a:r>
              <a:rPr lang="en-US" sz="1400" b="1" dirty="0">
                <a:solidFill>
                  <a:schemeClr val="tx2"/>
                </a:solidFill>
              </a:rPr>
              <a:t>one</a:t>
            </a:r>
            <a:r>
              <a:rPr lang="en-US" sz="1400" b="1" dirty="0">
                <a:solidFill>
                  <a:schemeClr val="tx2"/>
                </a:solidFill>
              </a:rPr>
              <a:t> consonant at the end?</a:t>
            </a:r>
            <a:endParaRPr lang="en-US" sz="1400" dirty="0"/>
          </a:p>
          <a:p>
            <a:pPr indent="0" marL="0">
              <a:buNone/>
            </a:pPr>
            <a:r>
              <a:rPr lang="en-US" sz="1300" i="1" dirty="0">
                <a:solidFill>
                  <a:schemeClr val="accent5"/>
                </a:solidFill>
              </a:rPr>
              <a:t>plan · stop · prefer (UK: travel)</a:t>
            </a:r>
            <a:endParaRPr lang="en-US" sz="1400" dirty="0"/>
          </a:p>
        </p:txBody>
      </p:sp>
      <p:sp>
        <p:nvSpPr>
          <p:cNvPr id="53" name="Shape 46"/>
          <p:cNvSpPr/>
          <p:nvPr/>
        </p:nvSpPr>
        <p:spPr>
          <a:xfrm>
            <a:off x="5276088" y="5005426"/>
            <a:ext cx="859536" cy="0"/>
          </a:xfrm>
          <a:prstGeom prst="line">
            <a:avLst/>
          </a:prstGeom>
          <a:noFill/>
          <a:ln w="22225">
            <a:solidFill>
              <a:srgbClr val="3C7A3C"/>
            </a:solidFill>
            <a:prstDash val="solid"/>
            <a:tailEnd type="triangle"/>
          </a:ln>
        </p:spPr>
      </p:sp>
      <p:sp>
        <p:nvSpPr>
          <p:cNvPr id="54" name="Text 47"/>
          <p:cNvSpPr txBox="1"/>
          <p:nvPr/>
        </p:nvSpPr>
        <p:spPr>
          <a:xfrm>
            <a:off x="5257800" y="4694530"/>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55" name="Shape 48"/>
          <p:cNvSpPr/>
          <p:nvPr/>
        </p:nvSpPr>
        <p:spPr>
          <a:xfrm>
            <a:off x="6172200" y="4729277"/>
            <a:ext cx="5468112" cy="552298"/>
          </a:xfrm>
          <a:prstGeom prst="roundRect">
            <a:avLst>
              <a:gd name="adj" fmla="val 13245"/>
            </a:avLst>
          </a:prstGeom>
          <a:solidFill>
            <a:srgbClr val="C0752A">
              <a:alpha val="12000"/>
            </a:srgbClr>
          </a:solidFill>
          <a:ln w="19050">
            <a:solidFill>
              <a:srgbClr val="C0752A"/>
            </a:solidFill>
            <a:prstDash val="solid"/>
          </a:ln>
        </p:spPr>
      </p:sp>
      <p:sp>
        <p:nvSpPr>
          <p:cNvPr id="56" name="Text 49"/>
          <p:cNvSpPr txBox="1"/>
          <p:nvPr/>
        </p:nvSpPr>
        <p:spPr>
          <a:xfrm>
            <a:off x="6336792" y="4765853"/>
            <a:ext cx="5138928" cy="237744"/>
          </a:xfrm>
          <a:prstGeom prst="rect">
            <a:avLst/>
          </a:prstGeom>
          <a:noFill/>
          <a:ln/>
        </p:spPr>
        <p:txBody>
          <a:bodyPr wrap="square" lIns="0" tIns="0" rIns="0" bIns="0" rtlCol="0" anchor="ctr"/>
          <a:lstStyle/>
          <a:p>
            <a:pPr indent="0" marL="0">
              <a:buNone/>
            </a:pPr>
            <a:r>
              <a:rPr lang="en-US" sz="1200" b="1" spc="100" kern="0" dirty="0">
                <a:solidFill>
                  <a:schemeClr val="accent1"/>
                </a:solidFill>
              </a:rPr>
              <a:t>DOUBLE THE CONSONANT</a:t>
            </a:r>
            <a:endParaRPr lang="en-US" sz="1200" dirty="0"/>
          </a:p>
        </p:txBody>
      </p:sp>
      <p:sp>
        <p:nvSpPr>
          <p:cNvPr id="57" name="Text 50"/>
          <p:cNvSpPr txBox="1"/>
          <p:nvPr/>
        </p:nvSpPr>
        <p:spPr>
          <a:xfrm>
            <a:off x="6336792" y="5003597"/>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plan → </a:t>
            </a:r>
            <a:r>
              <a:rPr lang="en-US" sz="1600" b="1" dirty="0">
                <a:solidFill>
                  <a:schemeClr val="tx1"/>
                </a:solidFill>
              </a:rPr>
              <a:t>planning</a:t>
            </a:r>
            <a:endParaRPr lang="en-US" sz="1600" dirty="0"/>
          </a:p>
        </p:txBody>
      </p:sp>
      <p:sp>
        <p:nvSpPr>
          <p:cNvPr id="58" name="Text 51"/>
          <p:cNvSpPr txBox="1"/>
          <p:nvPr/>
        </p:nvSpPr>
        <p:spPr>
          <a:xfrm>
            <a:off x="8906256" y="5003597"/>
            <a:ext cx="2478024" cy="241402"/>
          </a:xfrm>
          <a:prstGeom prst="rect">
            <a:avLst/>
          </a:prstGeom>
          <a:noFill/>
          <a:ln/>
        </p:spPr>
        <p:txBody>
          <a:bodyPr wrap="square" lIns="0" tIns="0" rIns="0" bIns="0" rtlCol="0" anchor="ctr"/>
          <a:lstStyle/>
          <a:p>
            <a:pPr algn="ctr" indent="0" marL="0">
              <a:buNone/>
            </a:pPr>
            <a:r>
              <a:rPr lang="en-US" sz="1600" dirty="0">
                <a:solidFill>
                  <a:schemeClr val="tx1"/>
                </a:solidFill>
              </a:rPr>
              <a:t>plan → </a:t>
            </a:r>
            <a:r>
              <a:rPr lang="en-US" sz="1600" b="1" dirty="0">
                <a:solidFill>
                  <a:schemeClr val="tx1"/>
                </a:solidFill>
              </a:rPr>
              <a:t>planned</a:t>
            </a:r>
            <a:endParaRPr lang="en-US" sz="1600" dirty="0"/>
          </a:p>
        </p:txBody>
      </p:sp>
      <p:sp>
        <p:nvSpPr>
          <p:cNvPr id="59" name="Shape 52"/>
          <p:cNvSpPr/>
          <p:nvPr/>
        </p:nvSpPr>
        <p:spPr>
          <a:xfrm>
            <a:off x="8906256" y="5040173"/>
            <a:ext cx="0" cy="168250"/>
          </a:xfrm>
          <a:prstGeom prst="line">
            <a:avLst/>
          </a:prstGeom>
          <a:noFill/>
          <a:ln w="9525">
            <a:solidFill>
              <a:srgbClr val="C0752A"/>
            </a:solidFill>
            <a:prstDash val="dash"/>
          </a:ln>
        </p:spPr>
      </p:sp>
      <p:sp>
        <p:nvSpPr>
          <p:cNvPr id="60" name="Shape 53"/>
          <p:cNvSpPr/>
          <p:nvPr/>
        </p:nvSpPr>
        <p:spPr>
          <a:xfrm>
            <a:off x="2903220" y="5299862"/>
            <a:ext cx="0" cy="201168"/>
          </a:xfrm>
          <a:prstGeom prst="line">
            <a:avLst/>
          </a:prstGeom>
          <a:noFill/>
          <a:ln w="22225">
            <a:solidFill>
              <a:srgbClr val="44546A"/>
            </a:solidFill>
            <a:prstDash val="solid"/>
            <a:tailEnd type="triangle"/>
          </a:ln>
        </p:spPr>
      </p:sp>
      <p:sp>
        <p:nvSpPr>
          <p:cNvPr id="61" name="Text 54"/>
          <p:cNvSpPr txBox="1"/>
          <p:nvPr/>
        </p:nvSpPr>
        <p:spPr>
          <a:xfrm>
            <a:off x="2994660" y="5281574"/>
            <a:ext cx="548640" cy="237744"/>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62" name="Shape 55"/>
          <p:cNvSpPr/>
          <p:nvPr/>
        </p:nvSpPr>
        <p:spPr>
          <a:xfrm>
            <a:off x="548640" y="5519318"/>
            <a:ext cx="11091672" cy="552298"/>
          </a:xfrm>
          <a:prstGeom prst="roundRect">
            <a:avLst>
              <a:gd name="adj" fmla="val 13245"/>
            </a:avLst>
          </a:prstGeom>
          <a:solidFill>
            <a:srgbClr val="1F3864">
              <a:alpha val="12000"/>
            </a:srgbClr>
          </a:solidFill>
          <a:ln w="19050">
            <a:solidFill>
              <a:srgbClr val="1F3864"/>
            </a:solidFill>
            <a:prstDash val="solid"/>
          </a:ln>
        </p:spPr>
      </p:sp>
      <p:sp>
        <p:nvSpPr>
          <p:cNvPr id="63" name="Text 56"/>
          <p:cNvSpPr txBox="1"/>
          <p:nvPr/>
        </p:nvSpPr>
        <p:spPr>
          <a:xfrm>
            <a:off x="713232" y="5555894"/>
            <a:ext cx="10762488" cy="237744"/>
          </a:xfrm>
          <a:prstGeom prst="rect">
            <a:avLst/>
          </a:prstGeom>
          <a:noFill/>
          <a:ln/>
        </p:spPr>
        <p:txBody>
          <a:bodyPr wrap="square" lIns="0" tIns="0" rIns="0" bIns="0" rtlCol="0" anchor="ctr"/>
          <a:lstStyle/>
          <a:p>
            <a:pPr indent="0" marL="0">
              <a:buNone/>
            </a:pPr>
            <a:r>
              <a:rPr lang="en-US" sz="1200" b="1" spc="100" kern="0" dirty="0">
                <a:solidFill>
                  <a:schemeClr val="tx2"/>
                </a:solidFill>
              </a:rPr>
              <a:t>JUST ADD -ING / -ED</a:t>
            </a:r>
            <a:endParaRPr lang="en-US" sz="1200" dirty="0"/>
          </a:p>
        </p:txBody>
      </p:sp>
      <p:sp>
        <p:nvSpPr>
          <p:cNvPr id="64" name="Text 57"/>
          <p:cNvSpPr txBox="1"/>
          <p:nvPr/>
        </p:nvSpPr>
        <p:spPr>
          <a:xfrm>
            <a:off x="713232" y="5793638"/>
            <a:ext cx="5289804" cy="241402"/>
          </a:xfrm>
          <a:prstGeom prst="rect">
            <a:avLst/>
          </a:prstGeom>
          <a:noFill/>
          <a:ln/>
        </p:spPr>
        <p:txBody>
          <a:bodyPr wrap="square" lIns="0" tIns="0" rIns="0" bIns="0" rtlCol="0" anchor="ctr"/>
          <a:lstStyle/>
          <a:p>
            <a:pPr algn="ctr" indent="0" marL="0">
              <a:buNone/>
            </a:pPr>
            <a:r>
              <a:rPr lang="en-US" sz="1600" dirty="0">
                <a:solidFill>
                  <a:schemeClr val="tx1"/>
                </a:solidFill>
              </a:rPr>
              <a:t>open → </a:t>
            </a:r>
            <a:r>
              <a:rPr lang="en-US" sz="1600" b="1" dirty="0">
                <a:solidFill>
                  <a:schemeClr val="tx1"/>
                </a:solidFill>
              </a:rPr>
              <a:t>opening</a:t>
            </a:r>
            <a:r>
              <a:rPr lang="en-US" sz="1600" dirty="0">
                <a:solidFill>
                  <a:schemeClr val="tx1"/>
                </a:solidFill>
              </a:rPr>
              <a:t> · visit → </a:t>
            </a:r>
            <a:r>
              <a:rPr lang="en-US" sz="1600" b="1" dirty="0">
                <a:solidFill>
                  <a:schemeClr val="tx1"/>
                </a:solidFill>
              </a:rPr>
              <a:t>visiting</a:t>
            </a:r>
            <a:endParaRPr lang="en-US" sz="1600" dirty="0"/>
          </a:p>
        </p:txBody>
      </p:sp>
      <p:sp>
        <p:nvSpPr>
          <p:cNvPr id="65" name="Text 58"/>
          <p:cNvSpPr txBox="1"/>
          <p:nvPr/>
        </p:nvSpPr>
        <p:spPr>
          <a:xfrm>
            <a:off x="6094476" y="5793638"/>
            <a:ext cx="5289804" cy="241402"/>
          </a:xfrm>
          <a:prstGeom prst="rect">
            <a:avLst/>
          </a:prstGeom>
          <a:noFill/>
          <a:ln/>
        </p:spPr>
        <p:txBody>
          <a:bodyPr wrap="square" lIns="0" tIns="0" rIns="0" bIns="0" rtlCol="0" anchor="ctr"/>
          <a:lstStyle/>
          <a:p>
            <a:pPr algn="ctr" indent="0" marL="0">
              <a:buNone/>
            </a:pPr>
            <a:r>
              <a:rPr lang="en-US" sz="1600" dirty="0">
                <a:solidFill>
                  <a:schemeClr val="tx1"/>
                </a:solidFill>
              </a:rPr>
              <a:t>open → </a:t>
            </a:r>
            <a:r>
              <a:rPr lang="en-US" sz="1600" b="1" dirty="0">
                <a:solidFill>
                  <a:schemeClr val="tx1"/>
                </a:solidFill>
              </a:rPr>
              <a:t>opened</a:t>
            </a:r>
            <a:r>
              <a:rPr lang="en-US" sz="1600" dirty="0">
                <a:solidFill>
                  <a:schemeClr val="tx1"/>
                </a:solidFill>
              </a:rPr>
              <a:t> · visit → </a:t>
            </a:r>
            <a:r>
              <a:rPr lang="en-US" sz="1600" b="1" dirty="0">
                <a:solidFill>
                  <a:schemeClr val="tx1"/>
                </a:solidFill>
              </a:rPr>
              <a:t>visited</a:t>
            </a:r>
            <a:endParaRPr lang="en-US" sz="1600" dirty="0"/>
          </a:p>
        </p:txBody>
      </p:sp>
      <p:sp>
        <p:nvSpPr>
          <p:cNvPr id="66" name="Shape 59"/>
          <p:cNvSpPr/>
          <p:nvPr/>
        </p:nvSpPr>
        <p:spPr>
          <a:xfrm>
            <a:off x="6094476" y="5830214"/>
            <a:ext cx="0" cy="168250"/>
          </a:xfrm>
          <a:prstGeom prst="line">
            <a:avLst/>
          </a:prstGeom>
          <a:noFill/>
          <a:ln w="9525">
            <a:solidFill>
              <a:srgbClr val="1F3864"/>
            </a:solidFill>
            <a:prstDash val="dash"/>
          </a:ln>
        </p:spPr>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Spelling: -ing form and past form</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 · Write the -ing form and the past form.</a:t>
            </a:r>
            <a:endParaRPr lang="en-US" sz="1600" dirty="0"/>
          </a:p>
        </p:txBody>
      </p:sp>
      <p:sp>
        <p:nvSpPr>
          <p:cNvPr id="6" name="exercise"/>
          <p:cNvSpPr txBox="1"/>
          <p:nvPr/>
        </p:nvSpPr>
        <p:spPr>
          <a:xfrm>
            <a:off x="548640" y="2237232"/>
            <a:ext cx="5317236"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run → </a:t>
            </a:r>
            <a:r>
              <a:rPr lang="en-US" sz="2600" dirty="0">
                <a:solidFill>
                  <a:schemeClr val="accent5"/>
                </a:solidFill>
              </a:rPr>
              <a:t>……………………</a:t>
            </a:r>
            <a:endParaRPr lang="en-US" sz="2600" dirty="0"/>
          </a:p>
          <a:p>
            <a:pPr indent="0" marL="0">
              <a:spcAft>
                <a:spcPts val="1400"/>
              </a:spcAft>
              <a:buNone/>
            </a:pPr>
            <a:r>
              <a:rPr lang="en-US" sz="2600" b="1" dirty="0">
                <a:solidFill>
                  <a:schemeClr val="tx2"/>
                </a:solidFill>
              </a:rPr>
              <a:t>2.  </a:t>
            </a:r>
            <a:r>
              <a:rPr lang="en-US" sz="2600" dirty="0">
                <a:solidFill>
                  <a:schemeClr val="tx1"/>
                </a:solidFill>
              </a:rPr>
              <a:t>plan → </a:t>
            </a:r>
            <a:r>
              <a:rPr lang="en-US" sz="2600" dirty="0">
                <a:solidFill>
                  <a:schemeClr val="accent5"/>
                </a:solidFill>
              </a:rPr>
              <a:t>……………………………</a:t>
            </a:r>
            <a:endParaRPr lang="en-US" sz="2600" dirty="0"/>
          </a:p>
          <a:p>
            <a:pPr indent="0" marL="0">
              <a:spcAft>
                <a:spcPts val="1400"/>
              </a:spcAft>
              <a:buNone/>
            </a:pPr>
            <a:r>
              <a:rPr lang="en-US" sz="2600" b="1" dirty="0">
                <a:solidFill>
                  <a:schemeClr val="tx2"/>
                </a:solidFill>
              </a:rPr>
              <a:t>3.  </a:t>
            </a:r>
            <a:r>
              <a:rPr lang="en-US" sz="2600" dirty="0">
                <a:solidFill>
                  <a:schemeClr val="tx1"/>
                </a:solidFill>
              </a:rPr>
              <a:t>lie → </a:t>
            </a:r>
            <a:r>
              <a:rPr lang="en-US" sz="2600" dirty="0">
                <a:solidFill>
                  <a:schemeClr val="accent5"/>
                </a:solidFill>
              </a:rPr>
              <a:t>…………………………………</a:t>
            </a:r>
            <a:endParaRPr lang="en-US" sz="2600" dirty="0"/>
          </a:p>
        </p:txBody>
      </p:sp>
      <p:sp>
        <p:nvSpPr>
          <p:cNvPr id="7" name="exercise"/>
          <p:cNvSpPr txBox="1"/>
          <p:nvPr/>
        </p:nvSpPr>
        <p:spPr>
          <a:xfrm>
            <a:off x="6323076" y="2237232"/>
            <a:ext cx="5317236"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4.  </a:t>
            </a:r>
            <a:r>
              <a:rPr lang="en-US" sz="2600" dirty="0">
                <a:solidFill>
                  <a:schemeClr val="tx1"/>
                </a:solidFill>
              </a:rPr>
              <a:t>travel → </a:t>
            </a:r>
            <a:r>
              <a:rPr lang="en-US" sz="2600" dirty="0">
                <a:solidFill>
                  <a:schemeClr val="accent5"/>
                </a:solidFill>
              </a:rPr>
              <a:t>…………………………………</a:t>
            </a:r>
            <a:endParaRPr lang="en-US" sz="2600" dirty="0"/>
          </a:p>
          <a:p>
            <a:pPr indent="0" marL="0">
              <a:spcAft>
                <a:spcPts val="1400"/>
              </a:spcAft>
              <a:buNone/>
            </a:pPr>
            <a:r>
              <a:rPr lang="en-US" sz="2600" b="1" dirty="0">
                <a:solidFill>
                  <a:schemeClr val="tx2"/>
                </a:solidFill>
              </a:rPr>
              <a:t>5.  </a:t>
            </a:r>
            <a:r>
              <a:rPr lang="en-US" sz="2600" dirty="0">
                <a:solidFill>
                  <a:schemeClr val="tx1"/>
                </a:solidFill>
              </a:rPr>
              <a:t>notice → </a:t>
            </a:r>
            <a:r>
              <a:rPr lang="en-US" sz="2600" dirty="0">
                <a:solidFill>
                  <a:schemeClr val="accent5"/>
                </a:solidFill>
              </a:rPr>
              <a:t>……………………………</a:t>
            </a:r>
            <a:endParaRPr lang="en-US" sz="2600" dirty="0"/>
          </a:p>
          <a:p>
            <a:pPr indent="0" marL="0">
              <a:spcAft>
                <a:spcPts val="1400"/>
              </a:spcAft>
              <a:buNone/>
            </a:pPr>
            <a:r>
              <a:rPr lang="en-US" sz="2600" b="1" dirty="0">
                <a:solidFill>
                  <a:schemeClr val="tx2"/>
                </a:solidFill>
              </a:rPr>
              <a:t>6.  </a:t>
            </a:r>
            <a:r>
              <a:rPr lang="en-US" sz="2600" dirty="0">
                <a:solidFill>
                  <a:schemeClr val="tx1"/>
                </a:solidFill>
              </a:rPr>
              <a:t>carry → </a:t>
            </a:r>
            <a:r>
              <a:rPr lang="en-US" sz="2600" dirty="0">
                <a:solidFill>
                  <a:schemeClr val="accent5"/>
                </a:solidFill>
              </a:rPr>
              <a:t>……………………………</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Spelling: -ing form and past form</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 · Write the -ing form and the past form.</a:t>
            </a:r>
            <a:endParaRPr lang="en-US" sz="1600" dirty="0"/>
          </a:p>
        </p:txBody>
      </p:sp>
      <p:sp>
        <p:nvSpPr>
          <p:cNvPr id="7" name="exercise"/>
          <p:cNvSpPr txBox="1"/>
          <p:nvPr/>
        </p:nvSpPr>
        <p:spPr>
          <a:xfrm>
            <a:off x="548640" y="2237232"/>
            <a:ext cx="5317236" cy="3185160"/>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run → </a:t>
            </a:r>
            <a:r>
              <a:rPr lang="en-US" sz="2200" b="1" dirty="0">
                <a:solidFill>
                  <a:schemeClr val="accent3"/>
                </a:solidFill>
              </a:rPr>
              <a:t>running / ran</a:t>
            </a:r>
            <a:endParaRPr lang="en-US" sz="2200" dirty="0"/>
          </a:p>
          <a:p>
            <a:pPr indent="0" marL="0">
              <a:spcAft>
                <a:spcPts val="1000"/>
              </a:spcAft>
              <a:buNone/>
            </a:pPr>
            <a:r>
              <a:rPr lang="en-US" sz="2200" b="1" dirty="0">
                <a:solidFill>
                  <a:schemeClr val="tx2"/>
                </a:solidFill>
              </a:rPr>
              <a:t>2.  </a:t>
            </a:r>
            <a:r>
              <a:rPr lang="en-US" sz="2200" dirty="0">
                <a:solidFill>
                  <a:schemeClr val="tx1"/>
                </a:solidFill>
              </a:rPr>
              <a:t>plan → </a:t>
            </a:r>
            <a:r>
              <a:rPr lang="en-US" sz="2200" b="1" dirty="0">
                <a:solidFill>
                  <a:schemeClr val="accent3"/>
                </a:solidFill>
              </a:rPr>
              <a:t>planning / planned</a:t>
            </a:r>
            <a:endParaRPr lang="en-US" sz="2200" dirty="0"/>
          </a:p>
          <a:p>
            <a:pPr indent="0" marL="0">
              <a:spcAft>
                <a:spcPts val="1000"/>
              </a:spcAft>
              <a:buNone/>
            </a:pPr>
            <a:r>
              <a:rPr lang="en-US" sz="2200" b="1" dirty="0">
                <a:solidFill>
                  <a:schemeClr val="tx2"/>
                </a:solidFill>
              </a:rPr>
              <a:t>3.  </a:t>
            </a:r>
            <a:r>
              <a:rPr lang="en-US" sz="2200" dirty="0">
                <a:solidFill>
                  <a:schemeClr val="tx1"/>
                </a:solidFill>
              </a:rPr>
              <a:t>lie → </a:t>
            </a:r>
            <a:r>
              <a:rPr lang="en-US" sz="2200" b="1" dirty="0">
                <a:solidFill>
                  <a:schemeClr val="accent3"/>
                </a:solidFill>
              </a:rPr>
              <a:t>lying / lied (mentir)</a:t>
            </a:r>
            <a:endParaRPr lang="en-US" sz="2200" dirty="0"/>
          </a:p>
        </p:txBody>
      </p:sp>
      <p:sp>
        <p:nvSpPr>
          <p:cNvPr id="8" name="exercise"/>
          <p:cNvSpPr txBox="1"/>
          <p:nvPr/>
        </p:nvSpPr>
        <p:spPr>
          <a:xfrm>
            <a:off x="6323076" y="2237232"/>
            <a:ext cx="5317236" cy="3185160"/>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4.  </a:t>
            </a:r>
            <a:r>
              <a:rPr lang="en-US" sz="2200" dirty="0">
                <a:solidFill>
                  <a:schemeClr val="tx1"/>
                </a:solidFill>
              </a:rPr>
              <a:t>travel → </a:t>
            </a:r>
            <a:r>
              <a:rPr lang="en-US" sz="2200" b="1" dirty="0">
                <a:solidFill>
                  <a:schemeClr val="accent3"/>
                </a:solidFill>
              </a:rPr>
              <a:t>travelling / travelled</a:t>
            </a:r>
            <a:endParaRPr lang="en-US" sz="2200" dirty="0"/>
          </a:p>
          <a:p>
            <a:pPr indent="0" marL="0">
              <a:spcAft>
                <a:spcPts val="1000"/>
              </a:spcAft>
              <a:buNone/>
            </a:pPr>
            <a:r>
              <a:rPr lang="en-US" sz="2200" b="1" dirty="0">
                <a:solidFill>
                  <a:schemeClr val="tx2"/>
                </a:solidFill>
              </a:rPr>
              <a:t>5.  </a:t>
            </a:r>
            <a:r>
              <a:rPr lang="en-US" sz="2200" dirty="0">
                <a:solidFill>
                  <a:schemeClr val="tx1"/>
                </a:solidFill>
              </a:rPr>
              <a:t>notice → </a:t>
            </a:r>
            <a:r>
              <a:rPr lang="en-US" sz="2200" b="1" dirty="0">
                <a:solidFill>
                  <a:schemeClr val="accent3"/>
                </a:solidFill>
              </a:rPr>
              <a:t>noticing / noticed</a:t>
            </a:r>
            <a:endParaRPr lang="en-US" sz="2200" dirty="0"/>
          </a:p>
          <a:p>
            <a:pPr indent="0" marL="0">
              <a:spcAft>
                <a:spcPts val="1000"/>
              </a:spcAft>
              <a:buNone/>
            </a:pPr>
            <a:r>
              <a:rPr lang="en-US" sz="2200" b="1" dirty="0">
                <a:solidFill>
                  <a:schemeClr val="tx2"/>
                </a:solidFill>
              </a:rPr>
              <a:t>6.  </a:t>
            </a:r>
            <a:r>
              <a:rPr lang="en-US" sz="2200" dirty="0">
                <a:solidFill>
                  <a:schemeClr val="tx1"/>
                </a:solidFill>
              </a:rPr>
              <a:t>carry → </a:t>
            </a:r>
            <a:r>
              <a:rPr lang="en-US" sz="2200" b="1" dirty="0">
                <a:solidFill>
                  <a:schemeClr val="accent3"/>
                </a:solidFill>
              </a:rPr>
              <a:t>carrying / carried</a:t>
            </a:r>
            <a:endParaRPr lang="en-US" sz="2200" dirty="0"/>
          </a:p>
        </p:txBody>
      </p:sp>
      <p:sp>
        <p:nvSpPr>
          <p:cNvPr id="9" name="Shape 7"/>
          <p:cNvSpPr/>
          <p:nvPr/>
        </p:nvSpPr>
        <p:spPr>
          <a:xfrm>
            <a:off x="548640" y="5650992"/>
            <a:ext cx="11091672" cy="658368"/>
          </a:xfrm>
          <a:prstGeom prst="roundRect">
            <a:avLst>
              <a:gd name="adj" fmla="val 11111"/>
            </a:avLst>
          </a:prstGeom>
          <a:solidFill>
            <a:srgbClr val="C0752A">
              <a:alpha val="8000"/>
            </a:srgbClr>
          </a:solidFill>
          <a:ln w="12700">
            <a:solidFill>
              <a:srgbClr val="C0752A"/>
            </a:solidFill>
            <a:prstDash val="solid"/>
          </a:ln>
        </p:spPr>
      </p:sp>
      <p:pic>
        <p:nvPicPr>
          <p:cNvPr id="10" name="Image 0" descr="preencoded.png">    </p:cNvPr>
          <p:cNvPicPr>
            <a:picLocks noChangeAspect="1"/>
          </p:cNvPicPr>
          <p:nvPr/>
        </p:nvPicPr>
        <p:blipFill>
          <a:blip r:embed="rId1"/>
          <a:stretch>
            <a:fillRect/>
          </a:stretch>
        </p:blipFill>
        <p:spPr>
          <a:xfrm>
            <a:off x="777240" y="5797296"/>
            <a:ext cx="365760" cy="365760"/>
          </a:xfrm>
          <a:prstGeom prst="rect">
            <a:avLst/>
          </a:prstGeom>
        </p:spPr>
      </p:pic>
      <p:sp>
        <p:nvSpPr>
          <p:cNvPr id="11" name="Text 8"/>
          <p:cNvSpPr txBox="1"/>
          <p:nvPr/>
        </p:nvSpPr>
        <p:spPr>
          <a:xfrm>
            <a:off x="1325880" y="5705856"/>
            <a:ext cx="10085832" cy="548640"/>
          </a:xfrm>
          <a:prstGeom prst="rect">
            <a:avLst/>
          </a:prstGeom>
          <a:noFill/>
          <a:ln/>
        </p:spPr>
        <p:txBody>
          <a:bodyPr wrap="square" lIns="0" tIns="0" rIns="0" bIns="0" rtlCol="0" anchor="ctr"/>
          <a:lstStyle/>
          <a:p>
            <a:pPr indent="0" marL="0">
              <a:buNone/>
            </a:pPr>
            <a:r>
              <a:rPr lang="en-US" sz="1700" b="1" dirty="0">
                <a:solidFill>
                  <a:schemeClr val="accent1"/>
                </a:solidFill>
              </a:rPr>
              <a:t>Watch out — </a:t>
            </a:r>
            <a:r>
              <a:rPr lang="en-US" sz="1700" i="1" dirty="0">
                <a:solidFill>
                  <a:schemeClr val="tx1"/>
                </a:solidFill>
              </a:rPr>
              <a:t>run</a:t>
            </a:r>
            <a:r>
              <a:rPr lang="en-US" sz="1700" dirty="0">
                <a:solidFill>
                  <a:schemeClr val="tx1"/>
                </a:solidFill>
              </a:rPr>
              <a:t> is irregular: </a:t>
            </a:r>
            <a:r>
              <a:rPr lang="en-US" sz="1700" b="1" dirty="0">
                <a:solidFill>
                  <a:schemeClr val="tx1"/>
                </a:solidFill>
              </a:rPr>
              <a:t>ran</a:t>
            </a:r>
            <a:r>
              <a:rPr lang="en-US" sz="1700" dirty="0">
                <a:solidFill>
                  <a:schemeClr val="tx1"/>
                </a:solidFill>
              </a:rPr>
              <a:t> · </a:t>
            </a:r>
            <a:r>
              <a:rPr lang="en-US" sz="1700" i="1" dirty="0">
                <a:solidFill>
                  <a:schemeClr val="tx1"/>
                </a:solidFill>
              </a:rPr>
              <a:t>lie</a:t>
            </a:r>
            <a:r>
              <a:rPr lang="en-US" sz="1700" dirty="0">
                <a:solidFill>
                  <a:schemeClr val="tx1"/>
                </a:solidFill>
              </a:rPr>
              <a:t> (être allongé) → </a:t>
            </a:r>
            <a:r>
              <a:rPr lang="en-US" sz="1700" b="1" dirty="0">
                <a:solidFill>
                  <a:schemeClr val="tx1"/>
                </a:solidFill>
              </a:rPr>
              <a:t>lay, lain</a:t>
            </a:r>
            <a:r>
              <a:rPr lang="en-US" sz="1700" dirty="0">
                <a:solidFill>
                  <a:schemeClr val="tx1"/>
                </a:solidFill>
              </a:rPr>
              <a:t> · US spelling: </a:t>
            </a:r>
            <a:r>
              <a:rPr lang="en-US" sz="1700" i="1" dirty="0">
                <a:solidFill>
                  <a:schemeClr val="tx1"/>
                </a:solidFill>
              </a:rPr>
              <a:t>traveling, traveled</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Spelling bee</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B4236A">
              <a:alpha val="8000"/>
            </a:srgbClr>
          </a:solidFill>
          <a:ln w="12700">
            <a:solidFill>
              <a:srgbClr val="B4236A"/>
            </a:solidFill>
            <a:prstDash val="solid"/>
          </a:ln>
        </p:spPr>
      </p:sp>
      <p:sp>
        <p:nvSpPr>
          <p:cNvPr id="7" name="Shape 4"/>
          <p:cNvSpPr/>
          <p:nvPr/>
        </p:nvSpPr>
        <p:spPr>
          <a:xfrm>
            <a:off x="777240" y="1911096"/>
            <a:ext cx="713232" cy="713232"/>
          </a:xfrm>
          <a:prstGeom prst="ellipse">
            <a:avLst/>
          </a:prstGeom>
          <a:solidFill>
            <a:srgbClr val="B4236A"/>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rgbClr val="B4236A"/>
                </a:solidFill>
                <a:latin typeface="+mj-lt" pitchFamily="34" charset="0"/>
                <a:ea typeface="+mj-lt" pitchFamily="34" charset="-122"/>
                <a:cs typeface="+mj-lt" pitchFamily="34" charset="-120"/>
              </a:rPr>
              <a:t>Spell it aloud — in English, letter by letter.</a:t>
            </a:r>
            <a:endParaRPr lang="en-US" sz="2100" dirty="0"/>
          </a:p>
          <a:p>
            <a:pPr indent="0" marL="0">
              <a:buNone/>
            </a:pPr>
            <a:r>
              <a:rPr lang="en-US" sz="1500" i="1" dirty="0">
                <a:solidFill>
                  <a:schemeClr val="accent5"/>
                </a:solidFill>
              </a:rPr>
              <a:t>Two teams · 10 minutes · the alphabet + -ing / -ed spelling</a:t>
            </a:r>
            <a:endParaRPr lang="en-US" sz="2100" dirty="0"/>
          </a:p>
        </p:txBody>
      </p:sp>
      <p:sp>
        <p:nvSpPr>
          <p:cNvPr id="10" name="Text 6"/>
          <p:cNvSpPr/>
          <p:nvPr/>
        </p:nvSpPr>
        <p:spPr>
          <a:xfrm>
            <a:off x="548640" y="3072384"/>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635508"/>
          </a:xfrm>
          <a:prstGeom prst="rect">
            <a:avLst/>
          </a:prstGeom>
          <a:noFill/>
          <a:ln/>
        </p:spPr>
        <p:txBody>
          <a:bodyPr wrap="square" lIns="0" tIns="0" rIns="0" bIns="0" rtlCol="0" anchor="t"/>
          <a:lstStyle/>
          <a:p>
            <a:pPr indent="0" marL="0">
              <a:buNone/>
            </a:pPr>
            <a:r>
              <a:rPr lang="en-US" sz="1900" dirty="0">
                <a:solidFill>
                  <a:schemeClr val="tx1"/>
                </a:solidFill>
              </a:rPr>
              <a:t>Your teacher says a verb: </a:t>
            </a:r>
            <a:r>
              <a:rPr lang="en-US" sz="1900" i="1" dirty="0">
                <a:solidFill>
                  <a:schemeClr val="tx1"/>
                </a:solidFill>
              </a:rPr>
              <a:t>stop</a:t>
            </a:r>
            <a:r>
              <a:rPr lang="en-US" sz="1900" dirty="0">
                <a:solidFill>
                  <a:schemeClr val="tx1"/>
                </a:solidFill>
              </a:rPr>
              <a:t>.</a:t>
            </a:r>
            <a:endParaRPr lang="en-US" sz="1900" dirty="0"/>
          </a:p>
        </p:txBody>
      </p:sp>
      <p:sp>
        <p:nvSpPr>
          <p:cNvPr id="12" name="Text 8"/>
          <p:cNvSpPr/>
          <p:nvPr/>
        </p:nvSpPr>
        <p:spPr>
          <a:xfrm>
            <a:off x="548640" y="3707892"/>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653028"/>
            <a:ext cx="5897880" cy="635508"/>
          </a:xfrm>
          <a:prstGeom prst="rect">
            <a:avLst/>
          </a:prstGeom>
          <a:noFill/>
          <a:ln/>
        </p:spPr>
        <p:txBody>
          <a:bodyPr wrap="square" lIns="0" tIns="0" rIns="0" bIns="0" rtlCol="0" anchor="t"/>
          <a:lstStyle/>
          <a:p>
            <a:pPr indent="0" marL="0">
              <a:buNone/>
            </a:pPr>
            <a:r>
              <a:rPr lang="en-US" sz="1900" dirty="0">
                <a:solidFill>
                  <a:schemeClr val="tx1"/>
                </a:solidFill>
              </a:rPr>
              <a:t>Player 1 spells the </a:t>
            </a:r>
            <a:r>
              <a:rPr lang="en-US" sz="1900" b="1" dirty="0">
                <a:solidFill>
                  <a:schemeClr val="tx1"/>
                </a:solidFill>
              </a:rPr>
              <a:t>-ing form</a:t>
            </a:r>
            <a:r>
              <a:rPr lang="en-US" sz="1900" dirty="0">
                <a:solidFill>
                  <a:schemeClr val="tx1"/>
                </a:solidFill>
              </a:rPr>
              <a:t>: </a:t>
            </a:r>
            <a:r>
              <a:rPr lang="en-US" sz="1900" i="1" dirty="0">
                <a:solidFill>
                  <a:schemeClr val="tx1"/>
                </a:solidFill>
              </a:rPr>
              <a:t>S-T-O-double P-I-N-G</a:t>
            </a:r>
            <a:r>
              <a:rPr lang="en-US" sz="1900" dirty="0">
                <a:solidFill>
                  <a:schemeClr val="tx1"/>
                </a:solidFill>
              </a:rPr>
              <a:t>.</a:t>
            </a:r>
            <a:endParaRPr lang="en-US" sz="1900" dirty="0"/>
          </a:p>
        </p:txBody>
      </p:sp>
      <p:sp>
        <p:nvSpPr>
          <p:cNvPr id="14" name="Text 10"/>
          <p:cNvSpPr/>
          <p:nvPr/>
        </p:nvSpPr>
        <p:spPr>
          <a:xfrm>
            <a:off x="548640" y="4343400"/>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288536"/>
            <a:ext cx="5897880" cy="635508"/>
          </a:xfrm>
          <a:prstGeom prst="rect">
            <a:avLst/>
          </a:prstGeom>
          <a:noFill/>
          <a:ln/>
        </p:spPr>
        <p:txBody>
          <a:bodyPr wrap="square" lIns="0" tIns="0" rIns="0" bIns="0" rtlCol="0" anchor="t"/>
          <a:lstStyle/>
          <a:p>
            <a:pPr indent="0" marL="0">
              <a:buNone/>
            </a:pPr>
            <a:r>
              <a:rPr lang="en-US" sz="1900" dirty="0">
                <a:solidFill>
                  <a:schemeClr val="tx1"/>
                </a:solidFill>
              </a:rPr>
              <a:t>Player 2 spells the </a:t>
            </a:r>
            <a:r>
              <a:rPr lang="en-US" sz="1900" b="1" dirty="0">
                <a:solidFill>
                  <a:schemeClr val="tx1"/>
                </a:solidFill>
              </a:rPr>
              <a:t>past form</a:t>
            </a:r>
            <a:r>
              <a:rPr lang="en-US" sz="1900" dirty="0">
                <a:solidFill>
                  <a:schemeClr val="tx1"/>
                </a:solidFill>
              </a:rPr>
              <a:t>: </a:t>
            </a:r>
            <a:r>
              <a:rPr lang="en-US" sz="1900" i="1" dirty="0">
                <a:solidFill>
                  <a:schemeClr val="tx1"/>
                </a:solidFill>
              </a:rPr>
              <a:t>S-T-O-double P-E-D</a:t>
            </a:r>
            <a:r>
              <a:rPr lang="en-US" sz="1900" dirty="0">
                <a:solidFill>
                  <a:schemeClr val="tx1"/>
                </a:solidFill>
              </a:rPr>
              <a:t>.</a:t>
            </a:r>
            <a:endParaRPr lang="en-US" sz="1900" dirty="0"/>
          </a:p>
        </p:txBody>
      </p:sp>
      <p:sp>
        <p:nvSpPr>
          <p:cNvPr id="16" name="Text 12"/>
          <p:cNvSpPr/>
          <p:nvPr/>
        </p:nvSpPr>
        <p:spPr>
          <a:xfrm>
            <a:off x="548640" y="4978908"/>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4924044"/>
            <a:ext cx="5897880" cy="635508"/>
          </a:xfrm>
          <a:prstGeom prst="rect">
            <a:avLst/>
          </a:prstGeom>
          <a:noFill/>
          <a:ln/>
        </p:spPr>
        <p:txBody>
          <a:bodyPr wrap="square" lIns="0" tIns="0" rIns="0" bIns="0" rtlCol="0" anchor="t"/>
          <a:lstStyle/>
          <a:p>
            <a:pPr indent="0" marL="0">
              <a:buNone/>
            </a:pPr>
            <a:r>
              <a:rPr lang="en-US" sz="1900" dirty="0">
                <a:solidFill>
                  <a:schemeClr val="tx1"/>
                </a:solidFill>
              </a:rPr>
              <a:t>One mistake: the other team can </a:t>
            </a:r>
            <a:r>
              <a:rPr lang="en-US" sz="1900" b="1" dirty="0">
                <a:solidFill>
                  <a:schemeClr val="tx1"/>
                </a:solidFill>
              </a:rPr>
              <a:t>steal</a:t>
            </a:r>
            <a:r>
              <a:rPr lang="en-US" sz="1900" dirty="0">
                <a:solidFill>
                  <a:schemeClr val="tx1"/>
                </a:solidFill>
              </a:rPr>
              <a:t> the point.</a:t>
            </a:r>
            <a:endParaRPr lang="en-US" sz="1900" dirty="0"/>
          </a:p>
        </p:txBody>
      </p:sp>
      <p:sp>
        <p:nvSpPr>
          <p:cNvPr id="18" name="Shape 14"/>
          <p:cNvSpPr/>
          <p:nvPr/>
        </p:nvSpPr>
        <p:spPr>
          <a:xfrm>
            <a:off x="7360920" y="3017520"/>
            <a:ext cx="4279392" cy="2542032"/>
          </a:xfrm>
          <a:prstGeom prst="roundRect">
            <a:avLst>
              <a:gd name="adj" fmla="val 2878"/>
            </a:avLst>
          </a:prstGeom>
          <a:solidFill>
            <a:srgbClr val="6E4A9E">
              <a:alpha val="8000"/>
            </a:srgbClr>
          </a:solidFill>
          <a:ln w="9525">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7543800" y="3182112"/>
            <a:ext cx="292608" cy="292608"/>
          </a:xfrm>
          <a:prstGeom prst="rect">
            <a:avLst/>
          </a:prstGeom>
        </p:spPr>
      </p:pic>
      <p:sp>
        <p:nvSpPr>
          <p:cNvPr id="20" name="Text 15"/>
          <p:cNvSpPr txBox="1"/>
          <p:nvPr/>
        </p:nvSpPr>
        <p:spPr>
          <a:xfrm>
            <a:off x="7927848" y="3154680"/>
            <a:ext cx="3547872" cy="347472"/>
          </a:xfrm>
          <a:prstGeom prst="rect">
            <a:avLst/>
          </a:prstGeom>
          <a:noFill/>
          <a:ln/>
        </p:spPr>
        <p:txBody>
          <a:bodyPr wrap="square" lIns="0" tIns="0" rIns="0" bIns="0" rtlCol="0" anchor="ctr"/>
          <a:lstStyle/>
          <a:p>
            <a:pPr indent="0" marL="0">
              <a:buNone/>
            </a:pPr>
            <a:r>
              <a:rPr lang="en-US" sz="1300" b="1" spc="150" kern="0" dirty="0">
                <a:solidFill>
                  <a:schemeClr val="accent4"/>
                </a:solidFill>
              </a:rPr>
              <a:t>LETTERS THAT TRAP FRENCH SPEAKERS</a:t>
            </a:r>
            <a:endParaRPr lang="en-US" sz="1300" dirty="0"/>
          </a:p>
        </p:txBody>
      </p:sp>
      <p:sp>
        <p:nvSpPr>
          <p:cNvPr id="21" name="Text 16"/>
          <p:cNvSpPr txBox="1"/>
          <p:nvPr/>
        </p:nvSpPr>
        <p:spPr>
          <a:xfrm>
            <a:off x="7562088" y="3611880"/>
            <a:ext cx="3895344" cy="1856232"/>
          </a:xfrm>
          <a:prstGeom prst="rect">
            <a:avLst/>
          </a:prstGeom>
          <a:noFill/>
          <a:ln/>
        </p:spPr>
        <p:txBody>
          <a:bodyPr wrap="square" lIns="0" tIns="0" rIns="0" bIns="0" rtlCol="0" anchor="t"/>
          <a:lstStyle/>
          <a:p>
            <a:pPr marL="190500" indent="-190500">
              <a:spcAft>
                <a:spcPts val="700"/>
              </a:spcAft>
              <a:buSzPct val="100000"/>
              <a:buChar char="•"/>
            </a:pPr>
            <a:r>
              <a:rPr lang="en-US" sz="1700" b="1" dirty="0">
                <a:solidFill>
                  <a:schemeClr val="tx1"/>
                </a:solidFill>
              </a:rPr>
              <a:t>A</a:t>
            </a:r>
            <a:r>
              <a:rPr lang="en-US" sz="1700" dirty="0">
                <a:solidFill>
                  <a:schemeClr val="tx1"/>
                </a:solidFill>
              </a:rPr>
              <a:t> /eɪ/ · </a:t>
            </a:r>
            <a:r>
              <a:rPr lang="en-US" sz="1700" b="1" dirty="0">
                <a:solidFill>
                  <a:schemeClr val="tx1"/>
                </a:solidFill>
              </a:rPr>
              <a:t>E</a:t>
            </a:r>
            <a:r>
              <a:rPr lang="en-US" sz="1700" dirty="0">
                <a:solidFill>
                  <a:schemeClr val="tx1"/>
                </a:solidFill>
              </a:rPr>
              <a:t> /iː/ · </a:t>
            </a:r>
            <a:r>
              <a:rPr lang="en-US" sz="1700" b="1" dirty="0">
                <a:solidFill>
                  <a:schemeClr val="tx1"/>
                </a:solidFill>
              </a:rPr>
              <a:t>I</a:t>
            </a:r>
            <a:r>
              <a:rPr lang="en-US" sz="1700" dirty="0">
                <a:solidFill>
                  <a:schemeClr val="tx1"/>
                </a:solidFill>
              </a:rPr>
              <a:t> /aɪ/</a:t>
            </a:r>
            <a:endParaRPr lang="en-US" sz="1700" dirty="0"/>
          </a:p>
          <a:p>
            <a:pPr marL="190500" indent="-190500">
              <a:spcAft>
                <a:spcPts val="700"/>
              </a:spcAft>
              <a:buSzPct val="100000"/>
              <a:buChar char="•"/>
            </a:pPr>
            <a:r>
              <a:rPr lang="en-US" sz="1700" b="1" dirty="0">
                <a:solidFill>
                  <a:schemeClr val="tx1"/>
                </a:solidFill>
              </a:rPr>
              <a:t>G</a:t>
            </a:r>
            <a:r>
              <a:rPr lang="en-US" sz="1700" dirty="0">
                <a:solidFill>
                  <a:schemeClr val="tx1"/>
                </a:solidFill>
              </a:rPr>
              <a:t> /dʒiː/ · </a:t>
            </a:r>
            <a:r>
              <a:rPr lang="en-US" sz="1700" b="1" dirty="0">
                <a:solidFill>
                  <a:schemeClr val="tx1"/>
                </a:solidFill>
              </a:rPr>
              <a:t>J</a:t>
            </a:r>
            <a:r>
              <a:rPr lang="en-US" sz="1700" dirty="0">
                <a:solidFill>
                  <a:schemeClr val="tx1"/>
                </a:solidFill>
              </a:rPr>
              <a:t> /dʒeɪ/</a:t>
            </a:r>
            <a:endParaRPr lang="en-US" sz="1700" dirty="0"/>
          </a:p>
          <a:p>
            <a:pPr marL="190500" indent="-190500">
              <a:spcAft>
                <a:spcPts val="700"/>
              </a:spcAft>
              <a:buSzPct val="100000"/>
              <a:buChar char="•"/>
            </a:pPr>
            <a:r>
              <a:rPr lang="en-US" sz="1700" b="1" dirty="0">
                <a:solidFill>
                  <a:schemeClr val="tx1"/>
                </a:solidFill>
              </a:rPr>
              <a:t>H</a:t>
            </a:r>
            <a:r>
              <a:rPr lang="en-US" sz="1700" dirty="0">
                <a:solidFill>
                  <a:schemeClr val="tx1"/>
                </a:solidFill>
              </a:rPr>
              <a:t> /eɪtʃ/ · </a:t>
            </a:r>
            <a:r>
              <a:rPr lang="en-US" sz="1700" b="1" dirty="0">
                <a:solidFill>
                  <a:schemeClr val="tx1"/>
                </a:solidFill>
              </a:rPr>
              <a:t>R</a:t>
            </a:r>
            <a:r>
              <a:rPr lang="en-US" sz="1700" dirty="0">
                <a:solidFill>
                  <a:schemeClr val="tx1"/>
                </a:solidFill>
              </a:rPr>
              <a:t> /ɑː/</a:t>
            </a:r>
            <a:endParaRPr lang="en-US" sz="1700" dirty="0"/>
          </a:p>
          <a:p>
            <a:pPr marL="190500" indent="-190500">
              <a:spcAft>
                <a:spcPts val="700"/>
              </a:spcAft>
              <a:buSzPct val="100000"/>
              <a:buChar char="•"/>
            </a:pPr>
            <a:r>
              <a:rPr lang="en-US" sz="1700" b="1" dirty="0">
                <a:solidFill>
                  <a:schemeClr val="tx1"/>
                </a:solidFill>
              </a:rPr>
              <a:t>W</a:t>
            </a:r>
            <a:r>
              <a:rPr lang="en-US" sz="1700" dirty="0">
                <a:solidFill>
                  <a:schemeClr val="tx1"/>
                </a:solidFill>
              </a:rPr>
              <a:t> /ˈdʌbəljuː/ · </a:t>
            </a:r>
            <a:r>
              <a:rPr lang="en-US" sz="1700" b="1" dirty="0">
                <a:solidFill>
                  <a:schemeClr val="tx1"/>
                </a:solidFill>
              </a:rPr>
              <a:t>Y</a:t>
            </a:r>
            <a:r>
              <a:rPr lang="en-US" sz="1700" dirty="0">
                <a:solidFill>
                  <a:schemeClr val="tx1"/>
                </a:solidFill>
              </a:rPr>
              <a:t> /waɪ/</a:t>
            </a:r>
            <a:endParaRPr lang="en-US" sz="1700" dirty="0"/>
          </a:p>
          <a:p>
            <a:pPr marL="190500" indent="-190500">
              <a:spcAft>
                <a:spcPts val="700"/>
              </a:spcAft>
              <a:buSzPct val="100000"/>
              <a:buChar char="•"/>
            </a:pPr>
            <a:r>
              <a:rPr lang="en-US" sz="1700" i="1" dirty="0">
                <a:solidFill>
                  <a:schemeClr val="tx1"/>
                </a:solidFill>
              </a:rPr>
              <a:t>double P</a:t>
            </a:r>
            <a:r>
              <a:rPr lang="en-US" sz="1700" dirty="0">
                <a:solidFill>
                  <a:schemeClr val="tx1"/>
                </a:solidFill>
              </a:rPr>
              <a:t> · </a:t>
            </a:r>
            <a:r>
              <a:rPr lang="en-US" sz="1700" i="1" dirty="0">
                <a:solidFill>
                  <a:schemeClr val="tx1"/>
                </a:solidFill>
              </a:rPr>
              <a:t>double L</a:t>
            </a:r>
            <a:endParaRPr lang="en-US" sz="1700" dirty="0"/>
          </a:p>
        </p:txBody>
      </p:sp>
      <p:sp>
        <p:nvSpPr>
          <p:cNvPr id="22" name="Shape 17"/>
          <p:cNvSpPr/>
          <p:nvPr/>
        </p:nvSpPr>
        <p:spPr>
          <a:xfrm>
            <a:off x="548640" y="5742432"/>
            <a:ext cx="11091672" cy="566928"/>
          </a:xfrm>
          <a:prstGeom prst="roundRect">
            <a:avLst>
              <a:gd name="adj" fmla="val 12903"/>
            </a:avLst>
          </a:prstGeom>
          <a:solidFill>
            <a:srgbClr val="C0752A">
              <a:alpha val="10000"/>
            </a:srgbClr>
          </a:solidFill>
          <a:ln w="12700">
            <a:solidFill>
              <a:srgbClr val="C0752A"/>
            </a:solidFill>
            <a:prstDash val="solid"/>
          </a:ln>
        </p:spPr>
      </p:sp>
      <p:pic>
        <p:nvPicPr>
          <p:cNvPr id="23" name="Image 2" descr="preencoded.png">    </p:cNvPr>
          <p:cNvPicPr>
            <a:picLocks noChangeAspect="1"/>
          </p:cNvPicPr>
          <p:nvPr/>
        </p:nvPicPr>
        <p:blipFill>
          <a:blip r:embed="rId3"/>
          <a:stretch>
            <a:fillRect/>
          </a:stretch>
        </p:blipFill>
        <p:spPr>
          <a:xfrm>
            <a:off x="749808" y="5870448"/>
            <a:ext cx="310896" cy="310896"/>
          </a:xfrm>
          <a:prstGeom prst="rect">
            <a:avLst/>
          </a:prstGeom>
        </p:spPr>
      </p:pic>
      <p:sp>
        <p:nvSpPr>
          <p:cNvPr id="24" name="Text 18"/>
          <p:cNvSpPr txBox="1"/>
          <p:nvPr/>
        </p:nvSpPr>
        <p:spPr>
          <a:xfrm>
            <a:off x="1234440" y="5742432"/>
            <a:ext cx="10222992" cy="566928"/>
          </a:xfrm>
          <a:prstGeom prst="rect">
            <a:avLst/>
          </a:prstGeom>
          <a:noFill/>
          <a:ln/>
        </p:spPr>
        <p:txBody>
          <a:bodyPr wrap="square" lIns="0" tIns="0" rIns="0" bIns="0" rtlCol="0" anchor="ctr"/>
          <a:lstStyle/>
          <a:p>
            <a:pPr indent="0" marL="0">
              <a:buNone/>
            </a:pPr>
            <a:r>
              <a:rPr lang="en-US" sz="1700" b="1" dirty="0">
                <a:solidFill>
                  <a:schemeClr val="tx1"/>
                </a:solidFill>
              </a:rPr>
              <a:t>To win —</a:t>
            </a:r>
            <a:r>
              <a:rPr lang="en-US" sz="1700" dirty="0">
                <a:solidFill>
                  <a:schemeClr val="tx1"/>
                </a:solidFill>
              </a:rPr>
              <a:t> the team with the most points. Bonus traps: </a:t>
            </a:r>
            <a:r>
              <a:rPr lang="en-US" sz="1700" i="1" dirty="0">
                <a:solidFill>
                  <a:schemeClr val="tx1"/>
                </a:solidFill>
              </a:rPr>
              <a:t>visit · panic · prefer · begin</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alibi game</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B03A2E">
              <a:alpha val="8000"/>
            </a:srgbClr>
          </a:solidFill>
          <a:ln w="12700">
            <a:solidFill>
              <a:srgbClr val="B03A2E"/>
            </a:solidFill>
            <a:prstDash val="solid"/>
          </a:ln>
        </p:spPr>
      </p:sp>
      <p:sp>
        <p:nvSpPr>
          <p:cNvPr id="7" name="Shape 4"/>
          <p:cNvSpPr/>
          <p:nvPr/>
        </p:nvSpPr>
        <p:spPr>
          <a:xfrm>
            <a:off x="777240" y="1911096"/>
            <a:ext cx="713232" cy="713232"/>
          </a:xfrm>
          <a:prstGeom prst="ellipse">
            <a:avLst/>
          </a:prstGeom>
          <a:solidFill>
            <a:srgbClr val="B03A2E"/>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chemeClr val="accent6"/>
                </a:solidFill>
                <a:latin typeface="+mj-lt" pitchFamily="34" charset="0"/>
                <a:ea typeface="+mj-lt" pitchFamily="34" charset="-122"/>
                <a:cs typeface="+mj-lt" pitchFamily="34" charset="-120"/>
              </a:rPr>
              <a:t>Two suspects. One story. Can the class break it?</a:t>
            </a:r>
            <a:endParaRPr lang="en-US" sz="2100" dirty="0"/>
          </a:p>
          <a:p>
            <a:pPr indent="0" marL="0">
              <a:buNone/>
            </a:pPr>
            <a:r>
              <a:rPr lang="en-US" sz="1500" i="1" dirty="0">
                <a:solidFill>
                  <a:schemeClr val="accent5"/>
                </a:solidFill>
              </a:rPr>
              <a:t>Pairs + the whole class · 15 minutes · speaking and listening</a:t>
            </a:r>
            <a:endParaRPr lang="en-US" sz="2100" dirty="0"/>
          </a:p>
        </p:txBody>
      </p:sp>
      <p:sp>
        <p:nvSpPr>
          <p:cNvPr id="10" name="Text 6"/>
          <p:cNvSpPr/>
          <p:nvPr/>
        </p:nvSpPr>
        <p:spPr>
          <a:xfrm>
            <a:off x="548640" y="3072384"/>
            <a:ext cx="365760" cy="365760"/>
          </a:xfrm>
          <a:prstGeom prst="ellipse">
            <a:avLst/>
          </a:prstGeom>
          <a:solidFill>
            <a:srgbClr val="B03A2E"/>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635508"/>
          </a:xfrm>
          <a:prstGeom prst="rect">
            <a:avLst/>
          </a:prstGeom>
          <a:noFill/>
          <a:ln/>
        </p:spPr>
        <p:txBody>
          <a:bodyPr wrap="square" lIns="0" tIns="0" rIns="0" bIns="0" rtlCol="0" anchor="t"/>
          <a:lstStyle/>
          <a:p>
            <a:pPr indent="0" marL="0">
              <a:buNone/>
            </a:pPr>
            <a:r>
              <a:rPr lang="en-US" sz="1700" b="1" dirty="0">
                <a:solidFill>
                  <a:schemeClr val="tx1"/>
                </a:solidFill>
              </a:rPr>
              <a:t>Prepare (3 min)</a:t>
            </a:r>
            <a:r>
              <a:rPr lang="en-US" sz="1700" dirty="0">
                <a:solidFill>
                  <a:schemeClr val="tx1"/>
                </a:solidFill>
              </a:rPr>
              <a:t> — two suspects agree on their evening yesterday, 7 to 11 p.m.: where, what, who, </a:t>
            </a:r>
            <a:r>
              <a:rPr lang="en-US" sz="1700" b="1" dirty="0">
                <a:solidFill>
                  <a:schemeClr val="tx1"/>
                </a:solidFill>
              </a:rPr>
              <a:t>when</a:t>
            </a:r>
            <a:r>
              <a:rPr lang="en-US" sz="1700" dirty="0">
                <a:solidFill>
                  <a:schemeClr val="tx1"/>
                </a:solidFill>
              </a:rPr>
              <a:t>.</a:t>
            </a:r>
            <a:endParaRPr lang="en-US" sz="1700" dirty="0"/>
          </a:p>
        </p:txBody>
      </p:sp>
      <p:sp>
        <p:nvSpPr>
          <p:cNvPr id="12" name="Text 8"/>
          <p:cNvSpPr/>
          <p:nvPr/>
        </p:nvSpPr>
        <p:spPr>
          <a:xfrm>
            <a:off x="548640" y="3707892"/>
            <a:ext cx="365760" cy="365760"/>
          </a:xfrm>
          <a:prstGeom prst="ellipse">
            <a:avLst/>
          </a:prstGeom>
          <a:solidFill>
            <a:srgbClr val="B03A2E"/>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653028"/>
            <a:ext cx="5897880" cy="635508"/>
          </a:xfrm>
          <a:prstGeom prst="rect">
            <a:avLst/>
          </a:prstGeom>
          <a:noFill/>
          <a:ln/>
        </p:spPr>
        <p:txBody>
          <a:bodyPr wrap="square" lIns="0" tIns="0" rIns="0" bIns="0" rtlCol="0" anchor="t"/>
          <a:lstStyle/>
          <a:p>
            <a:pPr indent="0" marL="0">
              <a:buNone/>
            </a:pPr>
            <a:r>
              <a:rPr lang="en-US" sz="1700" b="1" dirty="0">
                <a:solidFill>
                  <a:schemeClr val="tx1"/>
                </a:solidFill>
              </a:rPr>
              <a:t>Questioned alone</a:t>
            </a:r>
            <a:r>
              <a:rPr lang="en-US" sz="1700" dirty="0">
                <a:solidFill>
                  <a:schemeClr val="tx1"/>
                </a:solidFill>
              </a:rPr>
              <a:t> — suspect B goes out. The class questions A for two minutes. Then B comes back and A goes out.</a:t>
            </a:r>
            <a:endParaRPr lang="en-US" sz="1700" dirty="0"/>
          </a:p>
        </p:txBody>
      </p:sp>
      <p:sp>
        <p:nvSpPr>
          <p:cNvPr id="14" name="Text 10"/>
          <p:cNvSpPr/>
          <p:nvPr/>
        </p:nvSpPr>
        <p:spPr>
          <a:xfrm>
            <a:off x="548640" y="4343400"/>
            <a:ext cx="365760" cy="365760"/>
          </a:xfrm>
          <a:prstGeom prst="ellipse">
            <a:avLst/>
          </a:prstGeom>
          <a:solidFill>
            <a:srgbClr val="B03A2E"/>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288536"/>
            <a:ext cx="5897880" cy="635508"/>
          </a:xfrm>
          <a:prstGeom prst="rect">
            <a:avLst/>
          </a:prstGeom>
          <a:noFill/>
          <a:ln/>
        </p:spPr>
        <p:txBody>
          <a:bodyPr wrap="square" lIns="0" tIns="0" rIns="0" bIns="0" rtlCol="0" anchor="t"/>
          <a:lstStyle/>
          <a:p>
            <a:pPr indent="0" marL="0">
              <a:buNone/>
            </a:pPr>
            <a:r>
              <a:rPr lang="en-US" sz="1700" b="1" dirty="0">
                <a:solidFill>
                  <a:schemeClr val="tx1"/>
                </a:solidFill>
              </a:rPr>
              <a:t>Compare</a:t>
            </a:r>
            <a:r>
              <a:rPr lang="en-US" sz="1700" dirty="0">
                <a:solidFill>
                  <a:schemeClr val="tx1"/>
                </a:solidFill>
              </a:rPr>
              <a:t> — the class lists every difference between the two stories.</a:t>
            </a:r>
            <a:endParaRPr lang="en-US" sz="1700" dirty="0"/>
          </a:p>
        </p:txBody>
      </p:sp>
      <p:sp>
        <p:nvSpPr>
          <p:cNvPr id="16" name="Text 12"/>
          <p:cNvSpPr/>
          <p:nvPr/>
        </p:nvSpPr>
        <p:spPr>
          <a:xfrm>
            <a:off x="548640" y="4978908"/>
            <a:ext cx="365760" cy="365760"/>
          </a:xfrm>
          <a:prstGeom prst="ellipse">
            <a:avLst/>
          </a:prstGeom>
          <a:solidFill>
            <a:srgbClr val="B03A2E"/>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4924044"/>
            <a:ext cx="5897880" cy="635508"/>
          </a:xfrm>
          <a:prstGeom prst="rect">
            <a:avLst/>
          </a:prstGeom>
          <a:noFill/>
          <a:ln/>
        </p:spPr>
        <p:txBody>
          <a:bodyPr wrap="square" lIns="0" tIns="0" rIns="0" bIns="0" rtlCol="0" anchor="t"/>
          <a:lstStyle/>
          <a:p>
            <a:pPr indent="0" marL="0">
              <a:buNone/>
            </a:pPr>
            <a:r>
              <a:rPr lang="en-US" sz="1700" b="1" dirty="0">
                <a:solidFill>
                  <a:schemeClr val="tx1"/>
                </a:solidFill>
              </a:rPr>
              <a:t>Verdict</a:t>
            </a:r>
            <a:r>
              <a:rPr lang="en-US" sz="1700" dirty="0">
                <a:solidFill>
                  <a:schemeClr val="tx1"/>
                </a:solidFill>
              </a:rPr>
              <a:t> — two contradictions and the alibi is </a:t>
            </a:r>
            <a:r>
              <a:rPr lang="en-US" sz="1700" b="1" dirty="0">
                <a:solidFill>
                  <a:schemeClr val="tx1"/>
                </a:solidFill>
              </a:rPr>
              <a:t>broken</a:t>
            </a:r>
            <a:r>
              <a:rPr lang="en-US" sz="1700" dirty="0">
                <a:solidFill>
                  <a:schemeClr val="tx1"/>
                </a:solidFill>
              </a:rPr>
              <a:t>!</a:t>
            </a:r>
            <a:endParaRPr lang="en-US" sz="1700" dirty="0"/>
          </a:p>
        </p:txBody>
      </p:sp>
      <p:sp>
        <p:nvSpPr>
          <p:cNvPr id="18" name="Shape 14"/>
          <p:cNvSpPr/>
          <p:nvPr/>
        </p:nvSpPr>
        <p:spPr>
          <a:xfrm>
            <a:off x="7360920" y="3017520"/>
            <a:ext cx="4279392" cy="2542032"/>
          </a:xfrm>
          <a:prstGeom prst="roundRect">
            <a:avLst>
              <a:gd name="adj" fmla="val 2878"/>
            </a:avLst>
          </a:prstGeom>
          <a:solidFill>
            <a:srgbClr val="6E4A9E">
              <a:alpha val="8000"/>
            </a:srgbClr>
          </a:solidFill>
          <a:ln w="9525">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7543800" y="3182112"/>
            <a:ext cx="292608" cy="292608"/>
          </a:xfrm>
          <a:prstGeom prst="rect">
            <a:avLst/>
          </a:prstGeom>
        </p:spPr>
      </p:pic>
      <p:sp>
        <p:nvSpPr>
          <p:cNvPr id="20" name="Text 15"/>
          <p:cNvSpPr txBox="1"/>
          <p:nvPr/>
        </p:nvSpPr>
        <p:spPr>
          <a:xfrm>
            <a:off x="7927848" y="3154680"/>
            <a:ext cx="3547872" cy="347472"/>
          </a:xfrm>
          <a:prstGeom prst="rect">
            <a:avLst/>
          </a:prstGeom>
          <a:noFill/>
          <a:ln/>
        </p:spPr>
        <p:txBody>
          <a:bodyPr wrap="square" lIns="0" tIns="0" rIns="0" bIns="0" rtlCol="0" anchor="ctr"/>
          <a:lstStyle/>
          <a:p>
            <a:pPr indent="0" marL="0">
              <a:buNone/>
            </a:pPr>
            <a:r>
              <a:rPr lang="en-US" sz="1300" b="1" spc="150" kern="0" dirty="0">
                <a:solidFill>
                  <a:schemeClr val="accent4"/>
                </a:solidFill>
              </a:rPr>
              <a:t>USEFUL LANGUAGE</a:t>
            </a:r>
            <a:endParaRPr lang="en-US" sz="1300" dirty="0"/>
          </a:p>
        </p:txBody>
      </p:sp>
      <p:sp>
        <p:nvSpPr>
          <p:cNvPr id="21" name="Text 16"/>
          <p:cNvSpPr txBox="1"/>
          <p:nvPr/>
        </p:nvSpPr>
        <p:spPr>
          <a:xfrm>
            <a:off x="7562088" y="3611880"/>
            <a:ext cx="3895344" cy="1856232"/>
          </a:xfrm>
          <a:prstGeom prst="rect">
            <a:avLst/>
          </a:prstGeom>
          <a:noFill/>
          <a:ln/>
        </p:spPr>
        <p:txBody>
          <a:bodyPr wrap="square" lIns="0" tIns="0" rIns="0" bIns="0" rtlCol="0" anchor="t"/>
          <a:lstStyle/>
          <a:p>
            <a:pPr marL="190500" indent="-190500">
              <a:spcAft>
                <a:spcPts val="700"/>
              </a:spcAft>
              <a:buSzPct val="100000"/>
              <a:buChar char="•"/>
            </a:pPr>
            <a:r>
              <a:rPr lang="en-US" sz="1700" dirty="0">
                <a:solidFill>
                  <a:schemeClr val="tx1"/>
                </a:solidFill>
              </a:rPr>
              <a:t>bar: </a:t>
            </a:r>
            <a:r>
              <a:rPr lang="en-US" sz="1700" i="1" dirty="0">
                <a:solidFill>
                  <a:schemeClr val="tx1"/>
                </a:solidFill>
              </a:rPr>
              <a:t>We </a:t>
            </a:r>
            <a:r>
              <a:rPr lang="en-US" sz="1700" b="1" i="1" dirty="0">
                <a:solidFill>
                  <a:schemeClr val="tx1"/>
                </a:solidFill>
              </a:rPr>
              <a:t>were watching</a:t>
            </a:r>
            <a:r>
              <a:rPr lang="en-US" sz="1700" i="1" dirty="0">
                <a:solidFill>
                  <a:schemeClr val="tx1"/>
                </a:solidFill>
              </a:rPr>
              <a:t> a film.</a:t>
            </a:r>
            <a:endParaRPr lang="en-US" sz="1700" dirty="0"/>
          </a:p>
          <a:p>
            <a:pPr marL="190500" indent="-190500">
              <a:spcAft>
                <a:spcPts val="700"/>
              </a:spcAft>
              <a:buSzPct val="100000"/>
              <a:buChar char="•"/>
            </a:pPr>
            <a:r>
              <a:rPr lang="en-US" sz="1700" dirty="0">
                <a:solidFill>
                  <a:schemeClr val="tx1"/>
                </a:solidFill>
              </a:rPr>
              <a:t>dot: </a:t>
            </a:r>
            <a:r>
              <a:rPr lang="en-US" sz="1700" i="1" dirty="0">
                <a:solidFill>
                  <a:schemeClr val="tx1"/>
                </a:solidFill>
              </a:rPr>
              <a:t>Then we </a:t>
            </a:r>
            <a:r>
              <a:rPr lang="en-US" sz="1700" b="1" i="1" dirty="0">
                <a:solidFill>
                  <a:schemeClr val="tx1"/>
                </a:solidFill>
              </a:rPr>
              <a:t>left</a:t>
            </a:r>
            <a:r>
              <a:rPr lang="en-US" sz="1700" i="1" dirty="0">
                <a:solidFill>
                  <a:schemeClr val="tx1"/>
                </a:solidFill>
              </a:rPr>
              <a:t> at ten.</a:t>
            </a:r>
            <a:endParaRPr lang="en-US" sz="1700" dirty="0"/>
          </a:p>
          <a:p>
            <a:pPr marL="190500" indent="-190500">
              <a:spcAft>
                <a:spcPts val="700"/>
              </a:spcAft>
              <a:buSzPct val="100000"/>
              <a:buChar char="•"/>
            </a:pPr>
            <a:r>
              <a:rPr lang="en-US" sz="1700" i="1" dirty="0">
                <a:solidFill>
                  <a:schemeClr val="tx1"/>
                </a:solidFill>
              </a:rPr>
              <a:t>when · while · after that</a:t>
            </a:r>
            <a:endParaRPr lang="en-US" sz="1700" dirty="0"/>
          </a:p>
          <a:p>
            <a:pPr marL="190500" indent="-190500">
              <a:spcAft>
                <a:spcPts val="700"/>
              </a:spcAft>
              <a:buSzPct val="100000"/>
              <a:buChar char="•"/>
            </a:pPr>
            <a:r>
              <a:rPr lang="en-US" sz="1700" i="1" dirty="0">
                <a:solidFill>
                  <a:schemeClr val="tx1"/>
                </a:solidFill>
              </a:rPr>
              <a:t>at exactly · at around</a:t>
            </a:r>
            <a:endParaRPr lang="en-US" sz="1700" dirty="0"/>
          </a:p>
        </p:txBody>
      </p:sp>
      <p:sp>
        <p:nvSpPr>
          <p:cNvPr id="22" name="Shape 17"/>
          <p:cNvSpPr/>
          <p:nvPr/>
        </p:nvSpPr>
        <p:spPr>
          <a:xfrm>
            <a:off x="548640" y="5742432"/>
            <a:ext cx="11091672" cy="566928"/>
          </a:xfrm>
          <a:prstGeom prst="roundRect">
            <a:avLst>
              <a:gd name="adj" fmla="val 12903"/>
            </a:avLst>
          </a:prstGeom>
          <a:solidFill>
            <a:srgbClr val="C0752A">
              <a:alpha val="10000"/>
            </a:srgbClr>
          </a:solidFill>
          <a:ln w="12700">
            <a:solidFill>
              <a:srgbClr val="C0752A"/>
            </a:solidFill>
            <a:prstDash val="solid"/>
          </a:ln>
        </p:spPr>
      </p:sp>
      <p:pic>
        <p:nvPicPr>
          <p:cNvPr id="23" name="Image 2" descr="preencoded.png">    </p:cNvPr>
          <p:cNvPicPr>
            <a:picLocks noChangeAspect="1"/>
          </p:cNvPicPr>
          <p:nvPr/>
        </p:nvPicPr>
        <p:blipFill>
          <a:blip r:embed="rId3"/>
          <a:stretch>
            <a:fillRect/>
          </a:stretch>
        </p:blipFill>
        <p:spPr>
          <a:xfrm>
            <a:off x="749808" y="5870448"/>
            <a:ext cx="310896" cy="310896"/>
          </a:xfrm>
          <a:prstGeom prst="rect">
            <a:avLst/>
          </a:prstGeom>
        </p:spPr>
      </p:pic>
      <p:sp>
        <p:nvSpPr>
          <p:cNvPr id="24" name="Text 18"/>
          <p:cNvSpPr txBox="1"/>
          <p:nvPr/>
        </p:nvSpPr>
        <p:spPr>
          <a:xfrm>
            <a:off x="1234440" y="5742432"/>
            <a:ext cx="10222992" cy="566928"/>
          </a:xfrm>
          <a:prstGeom prst="rect">
            <a:avLst/>
          </a:prstGeom>
          <a:noFill/>
          <a:ln/>
        </p:spPr>
        <p:txBody>
          <a:bodyPr wrap="square" lIns="0" tIns="0" rIns="0" bIns="0" rtlCol="0" anchor="ctr"/>
          <a:lstStyle/>
          <a:p>
            <a:pPr indent="0" marL="0">
              <a:buNone/>
            </a:pPr>
            <a:r>
              <a:rPr lang="en-US" sz="1700" b="1" dirty="0">
                <a:solidFill>
                  <a:schemeClr val="tx1"/>
                </a:solidFill>
              </a:rPr>
              <a:t>To win —</a:t>
            </a:r>
            <a:r>
              <a:rPr lang="en-US" sz="1700" dirty="0">
                <a:solidFill>
                  <a:schemeClr val="tx1"/>
                </a:solidFill>
              </a:rPr>
              <a:t> the suspects win with </a:t>
            </a:r>
            <a:r>
              <a:rPr lang="en-US" sz="1700" b="1" dirty="0">
                <a:solidFill>
                  <a:schemeClr val="tx1"/>
                </a:solidFill>
              </a:rPr>
              <a:t>fewer than two</a:t>
            </a:r>
            <a:r>
              <a:rPr lang="en-US" sz="1700" dirty="0">
                <a:solidFill>
                  <a:schemeClr val="tx1"/>
                </a:solidFill>
              </a:rPr>
              <a:t> contradictions.</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Questions that break an alibi</a:t>
            </a:r>
            <a:endParaRPr lang="en-US" sz="3200" dirty="0"/>
          </a:p>
        </p:txBody>
      </p:sp>
      <p:sp>
        <p:nvSpPr>
          <p:cNvPr id="3" name="tag"/>
          <p:cNvSpPr/>
          <p:nvPr/>
        </p:nvSpPr>
        <p:spPr>
          <a:xfrm>
            <a:off x="548640" y="384048"/>
            <a:ext cx="12801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SPEAKING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5" name="Shape 3"/>
          <p:cNvSpPr/>
          <p:nvPr/>
        </p:nvSpPr>
        <p:spPr>
          <a:xfrm>
            <a:off x="548640" y="1783080"/>
            <a:ext cx="3514344" cy="3477768"/>
          </a:xfrm>
          <a:prstGeom prst="roundRect">
            <a:avLst>
              <a:gd name="adj" fmla="val 2629"/>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6" name="Shape 4"/>
          <p:cNvSpPr/>
          <p:nvPr/>
        </p:nvSpPr>
        <p:spPr>
          <a:xfrm>
            <a:off x="548640" y="1783080"/>
            <a:ext cx="3514344" cy="502920"/>
          </a:xfrm>
          <a:prstGeom prst="roundRect">
            <a:avLst>
              <a:gd name="adj" fmla="val 18182"/>
            </a:avLst>
          </a:prstGeom>
          <a:solidFill>
            <a:srgbClr val="1F3864"/>
          </a:solidFill>
          <a:ln/>
        </p:spPr>
      </p:sp>
      <p:sp>
        <p:nvSpPr>
          <p:cNvPr id="7" name="Shape 5"/>
          <p:cNvSpPr/>
          <p:nvPr/>
        </p:nvSpPr>
        <p:spPr>
          <a:xfrm>
            <a:off x="548640" y="2057400"/>
            <a:ext cx="3514344" cy="228600"/>
          </a:xfrm>
          <a:prstGeom prst="rect">
            <a:avLst/>
          </a:prstGeom>
          <a:solidFill>
            <a:srgbClr val="1F3864"/>
          </a:solidFill>
          <a:ln/>
        </p:spPr>
      </p:sp>
      <p:pic>
        <p:nvPicPr>
          <p:cNvPr id="8" name="Image 0" descr="preencoded.png">    </p:cNvPr>
          <p:cNvPicPr>
            <a:picLocks noChangeAspect="1"/>
          </p:cNvPicPr>
          <p:nvPr/>
        </p:nvPicPr>
        <p:blipFill>
          <a:blip r:embed="rId1"/>
          <a:stretch>
            <a:fillRect/>
          </a:stretch>
        </p:blipFill>
        <p:spPr>
          <a:xfrm>
            <a:off x="731520" y="1892808"/>
            <a:ext cx="283464" cy="283464"/>
          </a:xfrm>
          <a:prstGeom prst="rect">
            <a:avLst/>
          </a:prstGeom>
        </p:spPr>
      </p:pic>
      <p:sp>
        <p:nvSpPr>
          <p:cNvPr id="9" name="Text 6"/>
          <p:cNvSpPr txBox="1"/>
          <p:nvPr/>
        </p:nvSpPr>
        <p:spPr>
          <a:xfrm>
            <a:off x="1115568" y="1783080"/>
            <a:ext cx="2782824" cy="502920"/>
          </a:xfrm>
          <a:prstGeom prst="rect">
            <a:avLst/>
          </a:prstGeom>
          <a:noFill/>
          <a:ln/>
        </p:spPr>
        <p:txBody>
          <a:bodyPr wrap="square" lIns="0" tIns="0" rIns="0" bIns="0" rtlCol="0" anchor="ctr"/>
          <a:lstStyle/>
          <a:p>
            <a:pPr indent="0" marL="0">
              <a:buNone/>
            </a:pPr>
            <a:r>
              <a:rPr lang="en-US" sz="1400" b="1" spc="100" kern="0" dirty="0">
                <a:solidFill>
                  <a:schemeClr val="bg1"/>
                </a:solidFill>
              </a:rPr>
              <a:t>DETECTIVES ASK</a:t>
            </a:r>
            <a:endParaRPr lang="en-US" sz="1400" dirty="0"/>
          </a:p>
        </p:txBody>
      </p:sp>
      <p:sp>
        <p:nvSpPr>
          <p:cNvPr id="10" name="Text 7"/>
          <p:cNvSpPr txBox="1"/>
          <p:nvPr/>
        </p:nvSpPr>
        <p:spPr>
          <a:xfrm>
            <a:off x="731520" y="2441448"/>
            <a:ext cx="3148584" cy="2709672"/>
          </a:xfrm>
          <a:prstGeom prst="rect">
            <a:avLst/>
          </a:prstGeom>
          <a:noFill/>
          <a:ln/>
        </p:spPr>
        <p:txBody>
          <a:bodyPr wrap="square" lIns="0" tIns="0" rIns="0" bIns="0" rtlCol="0" anchor="t"/>
          <a:lstStyle/>
          <a:p>
            <a:pPr marL="190500" indent="-190500">
              <a:spcAft>
                <a:spcPts val="700"/>
              </a:spcAft>
              <a:buSzPct val="100000"/>
              <a:buChar char="•"/>
            </a:pPr>
            <a:r>
              <a:rPr lang="en-US" sz="1900" dirty="0">
                <a:solidFill>
                  <a:schemeClr val="tx1"/>
                </a:solidFill>
              </a:rPr>
              <a:t>Where </a:t>
            </a:r>
            <a:r>
              <a:rPr lang="en-US" sz="1900" b="1" dirty="0">
                <a:solidFill>
                  <a:schemeClr val="tx1"/>
                </a:solidFill>
              </a:rPr>
              <a:t>were</a:t>
            </a:r>
            <a:r>
              <a:rPr lang="en-US" sz="1900" dirty="0">
                <a:solidFill>
                  <a:schemeClr val="tx1"/>
                </a:solidFill>
              </a:rPr>
              <a:t> you at 9 p.m.?</a:t>
            </a:r>
            <a:endParaRPr lang="en-US" sz="1900" dirty="0"/>
          </a:p>
          <a:p>
            <a:pPr marL="190500" indent="-190500">
              <a:spcAft>
                <a:spcPts val="700"/>
              </a:spcAft>
              <a:buSzPct val="100000"/>
              <a:buChar char="•"/>
            </a:pPr>
            <a:r>
              <a:rPr lang="en-US" sz="1900" dirty="0">
                <a:solidFill>
                  <a:schemeClr val="tx1"/>
                </a:solidFill>
              </a:rPr>
              <a:t>What </a:t>
            </a:r>
            <a:r>
              <a:rPr lang="en-US" sz="1900" b="1" dirty="0">
                <a:solidFill>
                  <a:schemeClr val="tx1"/>
                </a:solidFill>
              </a:rPr>
              <a:t>were</a:t>
            </a:r>
            <a:r>
              <a:rPr lang="en-US" sz="1900" dirty="0">
                <a:solidFill>
                  <a:schemeClr val="tx1"/>
                </a:solidFill>
              </a:rPr>
              <a:t> you </a:t>
            </a:r>
            <a:r>
              <a:rPr lang="en-US" sz="1900" b="1" dirty="0">
                <a:solidFill>
                  <a:schemeClr val="tx1"/>
                </a:solidFill>
              </a:rPr>
              <a:t>doing</a:t>
            </a:r>
            <a:r>
              <a:rPr lang="en-US" sz="1900" dirty="0">
                <a:solidFill>
                  <a:schemeClr val="tx1"/>
                </a:solidFill>
              </a:rPr>
              <a:t> when…?</a:t>
            </a:r>
            <a:endParaRPr lang="en-US" sz="1900" dirty="0"/>
          </a:p>
          <a:p>
            <a:pPr marL="190500" indent="-190500">
              <a:spcAft>
                <a:spcPts val="700"/>
              </a:spcAft>
              <a:buSzPct val="100000"/>
              <a:buChar char="•"/>
            </a:pPr>
            <a:r>
              <a:rPr lang="en-US" sz="1900" dirty="0">
                <a:solidFill>
                  <a:schemeClr val="tx1"/>
                </a:solidFill>
              </a:rPr>
              <a:t>Who </a:t>
            </a:r>
            <a:r>
              <a:rPr lang="en-US" sz="1900" b="1" dirty="0">
                <a:solidFill>
                  <a:schemeClr val="tx1"/>
                </a:solidFill>
              </a:rPr>
              <a:t>were</a:t>
            </a:r>
            <a:r>
              <a:rPr lang="en-US" sz="1900" dirty="0">
                <a:solidFill>
                  <a:schemeClr val="tx1"/>
                </a:solidFill>
              </a:rPr>
              <a:t> you with?</a:t>
            </a:r>
            <a:endParaRPr lang="en-US" sz="1900" dirty="0"/>
          </a:p>
          <a:p>
            <a:pPr marL="190500" indent="-190500">
              <a:spcAft>
                <a:spcPts val="700"/>
              </a:spcAft>
              <a:buSzPct val="100000"/>
              <a:buChar char="•"/>
            </a:pPr>
            <a:r>
              <a:rPr lang="en-US" sz="1900" dirty="0">
                <a:solidFill>
                  <a:schemeClr val="tx1"/>
                </a:solidFill>
              </a:rPr>
              <a:t>What </a:t>
            </a:r>
            <a:r>
              <a:rPr lang="en-US" sz="1900" b="1" dirty="0">
                <a:solidFill>
                  <a:schemeClr val="tx1"/>
                </a:solidFill>
              </a:rPr>
              <a:t>was</a:t>
            </a:r>
            <a:r>
              <a:rPr lang="en-US" sz="1900" dirty="0">
                <a:solidFill>
                  <a:schemeClr val="tx1"/>
                </a:solidFill>
              </a:rPr>
              <a:t> he </a:t>
            </a:r>
            <a:r>
              <a:rPr lang="en-US" sz="1900" b="1" dirty="0">
                <a:solidFill>
                  <a:schemeClr val="tx1"/>
                </a:solidFill>
              </a:rPr>
              <a:t>wearing</a:t>
            </a:r>
            <a:r>
              <a:rPr lang="en-US" sz="1900" dirty="0">
                <a:solidFill>
                  <a:schemeClr val="tx1"/>
                </a:solidFill>
              </a:rPr>
              <a:t>?</a:t>
            </a:r>
            <a:endParaRPr lang="en-US" sz="1900" dirty="0"/>
          </a:p>
          <a:p>
            <a:pPr marL="190500" indent="-190500">
              <a:spcAft>
                <a:spcPts val="700"/>
              </a:spcAft>
              <a:buSzPct val="100000"/>
              <a:buChar char="•"/>
            </a:pPr>
            <a:r>
              <a:rPr lang="en-US" sz="1900" dirty="0">
                <a:solidFill>
                  <a:schemeClr val="tx1"/>
                </a:solidFill>
              </a:rPr>
              <a:t>What </a:t>
            </a:r>
            <a:r>
              <a:rPr lang="en-US" sz="1900" b="1" dirty="0">
                <a:solidFill>
                  <a:schemeClr val="tx1"/>
                </a:solidFill>
              </a:rPr>
              <a:t>happened</a:t>
            </a:r>
            <a:r>
              <a:rPr lang="en-US" sz="1900" dirty="0">
                <a:solidFill>
                  <a:schemeClr val="tx1"/>
                </a:solidFill>
              </a:rPr>
              <a:t> next?</a:t>
            </a:r>
            <a:endParaRPr lang="en-US" sz="1900" dirty="0"/>
          </a:p>
          <a:p>
            <a:pPr marL="190500" indent="-190500">
              <a:spcAft>
                <a:spcPts val="700"/>
              </a:spcAft>
              <a:buSzPct val="100000"/>
              <a:buChar char="•"/>
            </a:pPr>
            <a:r>
              <a:rPr lang="en-US" sz="1900" dirty="0">
                <a:solidFill>
                  <a:schemeClr val="tx1"/>
                </a:solidFill>
              </a:rPr>
              <a:t>Can anyone </a:t>
            </a:r>
            <a:r>
              <a:rPr lang="en-US" sz="1900" b="1" dirty="0">
                <a:solidFill>
                  <a:schemeClr val="tx1"/>
                </a:solidFill>
              </a:rPr>
              <a:t>back up</a:t>
            </a:r>
            <a:r>
              <a:rPr lang="en-US" sz="1900" dirty="0">
                <a:solidFill>
                  <a:schemeClr val="tx1"/>
                </a:solidFill>
              </a:rPr>
              <a:t> your story?</a:t>
            </a:r>
            <a:endParaRPr lang="en-US" sz="1900" dirty="0"/>
          </a:p>
        </p:txBody>
      </p:sp>
      <p:sp>
        <p:nvSpPr>
          <p:cNvPr id="11" name="Shape 8"/>
          <p:cNvSpPr/>
          <p:nvPr/>
        </p:nvSpPr>
        <p:spPr>
          <a:xfrm>
            <a:off x="4337304" y="1783080"/>
            <a:ext cx="3514344" cy="3477768"/>
          </a:xfrm>
          <a:prstGeom prst="roundRect">
            <a:avLst>
              <a:gd name="adj" fmla="val 2629"/>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2" name="Shape 9"/>
          <p:cNvSpPr/>
          <p:nvPr/>
        </p:nvSpPr>
        <p:spPr>
          <a:xfrm>
            <a:off x="4337304" y="1783080"/>
            <a:ext cx="3514344" cy="502920"/>
          </a:xfrm>
          <a:prstGeom prst="roundRect">
            <a:avLst>
              <a:gd name="adj" fmla="val 18182"/>
            </a:avLst>
          </a:prstGeom>
          <a:solidFill>
            <a:srgbClr val="2E75B6"/>
          </a:solidFill>
          <a:ln/>
        </p:spPr>
      </p:sp>
      <p:sp>
        <p:nvSpPr>
          <p:cNvPr id="13" name="Shape 10"/>
          <p:cNvSpPr/>
          <p:nvPr/>
        </p:nvSpPr>
        <p:spPr>
          <a:xfrm>
            <a:off x="4337304" y="2057400"/>
            <a:ext cx="3514344" cy="228600"/>
          </a:xfrm>
          <a:prstGeom prst="rect">
            <a:avLst/>
          </a:prstGeom>
          <a:solidFill>
            <a:srgbClr val="2E75B6"/>
          </a:solidFill>
          <a:ln/>
        </p:spPr>
      </p:sp>
      <p:pic>
        <p:nvPicPr>
          <p:cNvPr id="14" name="Image 1" descr="preencoded.png">    </p:cNvPr>
          <p:cNvPicPr>
            <a:picLocks noChangeAspect="1"/>
          </p:cNvPicPr>
          <p:nvPr/>
        </p:nvPicPr>
        <p:blipFill>
          <a:blip r:embed="rId2"/>
          <a:stretch>
            <a:fillRect/>
          </a:stretch>
        </p:blipFill>
        <p:spPr>
          <a:xfrm>
            <a:off x="4520184" y="1892808"/>
            <a:ext cx="283464" cy="283464"/>
          </a:xfrm>
          <a:prstGeom prst="rect">
            <a:avLst/>
          </a:prstGeom>
        </p:spPr>
      </p:pic>
      <p:sp>
        <p:nvSpPr>
          <p:cNvPr id="15" name="Text 11"/>
          <p:cNvSpPr txBox="1"/>
          <p:nvPr/>
        </p:nvSpPr>
        <p:spPr>
          <a:xfrm>
            <a:off x="4904232" y="1783080"/>
            <a:ext cx="2782824" cy="502920"/>
          </a:xfrm>
          <a:prstGeom prst="rect">
            <a:avLst/>
          </a:prstGeom>
          <a:noFill/>
          <a:ln/>
        </p:spPr>
        <p:txBody>
          <a:bodyPr wrap="square" lIns="0" tIns="0" rIns="0" bIns="0" rtlCol="0" anchor="ctr"/>
          <a:lstStyle/>
          <a:p>
            <a:pPr indent="0" marL="0">
              <a:buNone/>
            </a:pPr>
            <a:r>
              <a:rPr lang="en-US" sz="1400" b="1" spc="100" kern="0" dirty="0">
                <a:solidFill>
                  <a:schemeClr val="bg1"/>
                </a:solidFill>
              </a:rPr>
              <a:t>SUSPECTS ANSWER</a:t>
            </a:r>
            <a:endParaRPr lang="en-US" sz="1400" dirty="0"/>
          </a:p>
        </p:txBody>
      </p:sp>
      <p:sp>
        <p:nvSpPr>
          <p:cNvPr id="16" name="Text 12"/>
          <p:cNvSpPr txBox="1"/>
          <p:nvPr/>
        </p:nvSpPr>
        <p:spPr>
          <a:xfrm>
            <a:off x="4520184" y="2441448"/>
            <a:ext cx="3148584" cy="2709672"/>
          </a:xfrm>
          <a:prstGeom prst="rect">
            <a:avLst/>
          </a:prstGeom>
          <a:noFill/>
          <a:ln/>
        </p:spPr>
        <p:txBody>
          <a:bodyPr wrap="square" lIns="0" tIns="0" rIns="0" bIns="0" rtlCol="0" anchor="t"/>
          <a:lstStyle/>
          <a:p>
            <a:pPr marL="190500" indent="-190500">
              <a:spcAft>
                <a:spcPts val="700"/>
              </a:spcAft>
              <a:buSzPct val="100000"/>
              <a:buChar char="•"/>
            </a:pPr>
            <a:r>
              <a:rPr lang="en-US" sz="1900" dirty="0">
                <a:solidFill>
                  <a:schemeClr val="tx1"/>
                </a:solidFill>
              </a:rPr>
              <a:t>At nine, we </a:t>
            </a:r>
            <a:r>
              <a:rPr lang="en-US" sz="1900" b="1" dirty="0">
                <a:solidFill>
                  <a:schemeClr val="tx1"/>
                </a:solidFill>
              </a:rPr>
              <a:t>were watching</a:t>
            </a:r>
            <a:r>
              <a:rPr lang="en-US" sz="1900" dirty="0">
                <a:solidFill>
                  <a:schemeClr val="tx1"/>
                </a:solidFill>
              </a:rPr>
              <a:t> a film.</a:t>
            </a:r>
            <a:endParaRPr lang="en-US" sz="1900" dirty="0"/>
          </a:p>
          <a:p>
            <a:pPr marL="190500" indent="-190500">
              <a:spcAft>
                <a:spcPts val="700"/>
              </a:spcAft>
              <a:buSzPct val="100000"/>
              <a:buChar char="•"/>
            </a:pPr>
            <a:r>
              <a:rPr lang="en-US" sz="1900" dirty="0">
                <a:solidFill>
                  <a:schemeClr val="tx1"/>
                </a:solidFill>
              </a:rPr>
              <a:t>When it </a:t>
            </a:r>
            <a:r>
              <a:rPr lang="en-US" sz="1900" b="1" dirty="0">
                <a:solidFill>
                  <a:schemeClr val="tx1"/>
                </a:solidFill>
              </a:rPr>
              <a:t>ended</a:t>
            </a:r>
            <a:r>
              <a:rPr lang="en-US" sz="1900" dirty="0">
                <a:solidFill>
                  <a:schemeClr val="tx1"/>
                </a:solidFill>
              </a:rPr>
              <a:t>, we </a:t>
            </a:r>
            <a:r>
              <a:rPr lang="en-US" sz="1900" b="1" dirty="0">
                <a:solidFill>
                  <a:schemeClr val="tx1"/>
                </a:solidFill>
              </a:rPr>
              <a:t>left</a:t>
            </a:r>
            <a:r>
              <a:rPr lang="en-US" sz="1900" dirty="0">
                <a:solidFill>
                  <a:schemeClr val="tx1"/>
                </a:solidFill>
              </a:rPr>
              <a:t>.</a:t>
            </a:r>
            <a:endParaRPr lang="en-US" sz="1900" dirty="0"/>
          </a:p>
          <a:p>
            <a:pPr marL="190500" indent="-190500">
              <a:spcAft>
                <a:spcPts val="700"/>
              </a:spcAft>
              <a:buSzPct val="100000"/>
              <a:buChar char="•"/>
            </a:pPr>
            <a:r>
              <a:rPr lang="en-US" sz="1900" dirty="0">
                <a:solidFill>
                  <a:schemeClr val="tx1"/>
                </a:solidFill>
              </a:rPr>
              <a:t>I’m </a:t>
            </a:r>
            <a:r>
              <a:rPr lang="en-US" sz="1900" b="1" dirty="0">
                <a:solidFill>
                  <a:schemeClr val="tx1"/>
                </a:solidFill>
              </a:rPr>
              <a:t>not sure</a:t>
            </a:r>
            <a:r>
              <a:rPr lang="en-US" sz="1900" dirty="0">
                <a:solidFill>
                  <a:schemeClr val="tx1"/>
                </a:solidFill>
              </a:rPr>
              <a:t>, but I </a:t>
            </a:r>
            <a:r>
              <a:rPr lang="en-US" sz="1900" b="1" dirty="0">
                <a:solidFill>
                  <a:schemeClr val="tx1"/>
                </a:solidFill>
              </a:rPr>
              <a:t>think</a:t>
            </a:r>
            <a:r>
              <a:rPr lang="en-US" sz="1900" dirty="0">
                <a:solidFill>
                  <a:schemeClr val="tx1"/>
                </a:solidFill>
              </a:rPr>
              <a:t>…</a:t>
            </a:r>
            <a:endParaRPr lang="en-US" sz="1900" dirty="0"/>
          </a:p>
          <a:p>
            <a:pPr marL="190500" indent="-190500">
              <a:spcAft>
                <a:spcPts val="700"/>
              </a:spcAft>
              <a:buSzPct val="100000"/>
              <a:buChar char="•"/>
            </a:pPr>
            <a:r>
              <a:rPr lang="en-US" sz="1900" dirty="0">
                <a:solidFill>
                  <a:schemeClr val="tx1"/>
                </a:solidFill>
              </a:rPr>
              <a:t>I </a:t>
            </a:r>
            <a:r>
              <a:rPr lang="en-US" sz="1900" b="1" dirty="0">
                <a:solidFill>
                  <a:schemeClr val="tx1"/>
                </a:solidFill>
              </a:rPr>
              <a:t>don’t remember</a:t>
            </a:r>
            <a:r>
              <a:rPr lang="en-US" sz="1900" dirty="0">
                <a:solidFill>
                  <a:schemeClr val="tx1"/>
                </a:solidFill>
              </a:rPr>
              <a:t> exactly.</a:t>
            </a:r>
            <a:endParaRPr lang="en-US" sz="1900" dirty="0"/>
          </a:p>
          <a:p>
            <a:pPr marL="190500" indent="-190500">
              <a:spcAft>
                <a:spcPts val="700"/>
              </a:spcAft>
              <a:buSzPct val="100000"/>
              <a:buChar char="•"/>
            </a:pPr>
            <a:r>
              <a:rPr lang="en-US" sz="1900" dirty="0">
                <a:solidFill>
                  <a:schemeClr val="tx1"/>
                </a:solidFill>
              </a:rPr>
              <a:t>It </a:t>
            </a:r>
            <a:r>
              <a:rPr lang="en-US" sz="1900" b="1" dirty="0">
                <a:solidFill>
                  <a:schemeClr val="tx1"/>
                </a:solidFill>
              </a:rPr>
              <a:t>was</a:t>
            </a:r>
            <a:r>
              <a:rPr lang="en-US" sz="1900" dirty="0">
                <a:solidFill>
                  <a:schemeClr val="tx1"/>
                </a:solidFill>
              </a:rPr>
              <a:t> about half past ten.</a:t>
            </a:r>
            <a:endParaRPr lang="en-US" sz="1900" dirty="0"/>
          </a:p>
        </p:txBody>
      </p:sp>
      <p:sp>
        <p:nvSpPr>
          <p:cNvPr id="17" name="Shape 13"/>
          <p:cNvSpPr/>
          <p:nvPr/>
        </p:nvSpPr>
        <p:spPr>
          <a:xfrm>
            <a:off x="8125968" y="1783080"/>
            <a:ext cx="3514344" cy="3477768"/>
          </a:xfrm>
          <a:prstGeom prst="roundRect">
            <a:avLst>
              <a:gd name="adj" fmla="val 2629"/>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8" name="Shape 14"/>
          <p:cNvSpPr/>
          <p:nvPr/>
        </p:nvSpPr>
        <p:spPr>
          <a:xfrm>
            <a:off x="8125968" y="1783080"/>
            <a:ext cx="3514344" cy="502920"/>
          </a:xfrm>
          <a:prstGeom prst="roundRect">
            <a:avLst>
              <a:gd name="adj" fmla="val 18182"/>
            </a:avLst>
          </a:prstGeom>
          <a:solidFill>
            <a:srgbClr val="C0752A"/>
          </a:solidFill>
          <a:ln/>
        </p:spPr>
      </p:sp>
      <p:sp>
        <p:nvSpPr>
          <p:cNvPr id="19" name="Shape 15"/>
          <p:cNvSpPr/>
          <p:nvPr/>
        </p:nvSpPr>
        <p:spPr>
          <a:xfrm>
            <a:off x="8125968" y="2057400"/>
            <a:ext cx="3514344" cy="228600"/>
          </a:xfrm>
          <a:prstGeom prst="rect">
            <a:avLst/>
          </a:prstGeom>
          <a:solidFill>
            <a:srgbClr val="C0752A"/>
          </a:solidFill>
          <a:ln/>
        </p:spPr>
      </p:sp>
      <p:pic>
        <p:nvPicPr>
          <p:cNvPr id="20" name="Image 2" descr="preencoded.png">    </p:cNvPr>
          <p:cNvPicPr>
            <a:picLocks noChangeAspect="1"/>
          </p:cNvPicPr>
          <p:nvPr/>
        </p:nvPicPr>
        <p:blipFill>
          <a:blip r:embed="rId3"/>
          <a:stretch>
            <a:fillRect/>
          </a:stretch>
        </p:blipFill>
        <p:spPr>
          <a:xfrm>
            <a:off x="8308848" y="1892808"/>
            <a:ext cx="283464" cy="283464"/>
          </a:xfrm>
          <a:prstGeom prst="rect">
            <a:avLst/>
          </a:prstGeom>
        </p:spPr>
      </p:pic>
      <p:sp>
        <p:nvSpPr>
          <p:cNvPr id="21" name="Text 16"/>
          <p:cNvSpPr txBox="1"/>
          <p:nvPr/>
        </p:nvSpPr>
        <p:spPr>
          <a:xfrm>
            <a:off x="8692896" y="1783080"/>
            <a:ext cx="2782824" cy="502920"/>
          </a:xfrm>
          <a:prstGeom prst="rect">
            <a:avLst/>
          </a:prstGeom>
          <a:noFill/>
          <a:ln/>
        </p:spPr>
        <p:txBody>
          <a:bodyPr wrap="square" lIns="0" tIns="0" rIns="0" bIns="0" rtlCol="0" anchor="ctr"/>
          <a:lstStyle/>
          <a:p>
            <a:pPr indent="0" marL="0">
              <a:buNone/>
            </a:pPr>
            <a:r>
              <a:rPr lang="en-US" sz="1400" b="1" spc="100" kern="0" dirty="0">
                <a:solidFill>
                  <a:schemeClr val="bg1"/>
                </a:solidFill>
              </a:rPr>
              <a:t>THE CLASS REACTS</a:t>
            </a:r>
            <a:endParaRPr lang="en-US" sz="1400" dirty="0"/>
          </a:p>
        </p:txBody>
      </p:sp>
      <p:sp>
        <p:nvSpPr>
          <p:cNvPr id="22" name="Text 17"/>
          <p:cNvSpPr txBox="1"/>
          <p:nvPr/>
        </p:nvSpPr>
        <p:spPr>
          <a:xfrm>
            <a:off x="8308848" y="2441448"/>
            <a:ext cx="3148584" cy="2709672"/>
          </a:xfrm>
          <a:prstGeom prst="rect">
            <a:avLst/>
          </a:prstGeom>
          <a:noFill/>
          <a:ln/>
        </p:spPr>
        <p:txBody>
          <a:bodyPr wrap="square" lIns="0" tIns="0" rIns="0" bIns="0" rtlCol="0" anchor="t"/>
          <a:lstStyle/>
          <a:p>
            <a:pPr marL="190500" indent="-190500">
              <a:spcAft>
                <a:spcPts val="700"/>
              </a:spcAft>
              <a:buSzPct val="100000"/>
              <a:buChar char="•"/>
            </a:pPr>
            <a:r>
              <a:rPr lang="en-US" sz="1900" dirty="0">
                <a:solidFill>
                  <a:schemeClr val="tx1"/>
                </a:solidFill>
              </a:rPr>
              <a:t>That’s </a:t>
            </a:r>
            <a:r>
              <a:rPr lang="en-US" sz="1900" b="1" dirty="0">
                <a:solidFill>
                  <a:schemeClr val="tx1"/>
                </a:solidFill>
              </a:rPr>
              <a:t>not</a:t>
            </a:r>
            <a:r>
              <a:rPr lang="en-US" sz="1900" dirty="0">
                <a:solidFill>
                  <a:schemeClr val="tx1"/>
                </a:solidFill>
              </a:rPr>
              <a:t> what your partner </a:t>
            </a:r>
            <a:r>
              <a:rPr lang="en-US" sz="1900" b="1" dirty="0">
                <a:solidFill>
                  <a:schemeClr val="tx1"/>
                </a:solidFill>
              </a:rPr>
              <a:t>said</a:t>
            </a:r>
            <a:r>
              <a:rPr lang="en-US" sz="1900" dirty="0">
                <a:solidFill>
                  <a:schemeClr val="tx1"/>
                </a:solidFill>
              </a:rPr>
              <a:t>!</a:t>
            </a:r>
            <a:endParaRPr lang="en-US" sz="1900" dirty="0"/>
          </a:p>
          <a:p>
            <a:pPr marL="190500" indent="-190500">
              <a:spcAft>
                <a:spcPts val="700"/>
              </a:spcAft>
              <a:buSzPct val="100000"/>
              <a:buChar char="•"/>
            </a:pPr>
            <a:r>
              <a:rPr lang="en-US" sz="1900" dirty="0">
                <a:solidFill>
                  <a:schemeClr val="tx1"/>
                </a:solidFill>
              </a:rPr>
              <a:t>So you </a:t>
            </a:r>
            <a:r>
              <a:rPr lang="en-US" sz="1900" b="1" dirty="0">
                <a:solidFill>
                  <a:schemeClr val="tx1"/>
                </a:solidFill>
              </a:rPr>
              <a:t>were</a:t>
            </a:r>
            <a:r>
              <a:rPr lang="en-US" sz="1900" dirty="0">
                <a:solidFill>
                  <a:schemeClr val="tx1"/>
                </a:solidFill>
              </a:rPr>
              <a:t> … at nine?</a:t>
            </a:r>
            <a:endParaRPr lang="en-US" sz="1900" dirty="0"/>
          </a:p>
          <a:p>
            <a:pPr marL="190500" indent="-190500">
              <a:spcAft>
                <a:spcPts val="700"/>
              </a:spcAft>
              <a:buSzPct val="100000"/>
              <a:buChar char="•"/>
            </a:pPr>
            <a:r>
              <a:rPr lang="en-US" sz="1900" dirty="0">
                <a:solidFill>
                  <a:schemeClr val="tx1"/>
                </a:solidFill>
              </a:rPr>
              <a:t>Are you </a:t>
            </a:r>
            <a:r>
              <a:rPr lang="en-US" sz="1900" b="1" dirty="0">
                <a:solidFill>
                  <a:schemeClr val="tx1"/>
                </a:solidFill>
              </a:rPr>
              <a:t>sure</a:t>
            </a:r>
            <a:r>
              <a:rPr lang="en-US" sz="1900" dirty="0">
                <a:solidFill>
                  <a:schemeClr val="tx1"/>
                </a:solidFill>
              </a:rPr>
              <a:t>?</a:t>
            </a:r>
            <a:endParaRPr lang="en-US" sz="1900" dirty="0"/>
          </a:p>
          <a:p>
            <a:pPr marL="190500" indent="-190500">
              <a:spcAft>
                <a:spcPts val="700"/>
              </a:spcAft>
              <a:buSzPct val="100000"/>
              <a:buChar char="•"/>
            </a:pPr>
            <a:r>
              <a:rPr lang="en-US" sz="1900" dirty="0">
                <a:solidFill>
                  <a:schemeClr val="tx1"/>
                </a:solidFill>
              </a:rPr>
              <a:t>Your partner </a:t>
            </a:r>
            <a:r>
              <a:rPr lang="en-US" sz="1900" b="1" dirty="0">
                <a:solidFill>
                  <a:schemeClr val="tx1"/>
                </a:solidFill>
              </a:rPr>
              <a:t>said</a:t>
            </a:r>
            <a:r>
              <a:rPr lang="en-US" sz="1900" dirty="0">
                <a:solidFill>
                  <a:schemeClr val="tx1"/>
                </a:solidFill>
              </a:rPr>
              <a:t> …</a:t>
            </a:r>
            <a:endParaRPr lang="en-US" sz="1900" dirty="0"/>
          </a:p>
          <a:p>
            <a:pPr marL="190500" indent="-190500">
              <a:spcAft>
                <a:spcPts val="700"/>
              </a:spcAft>
              <a:buSzPct val="100000"/>
              <a:buChar char="•"/>
            </a:pPr>
            <a:r>
              <a:rPr lang="en-US" sz="1900" b="1" dirty="0">
                <a:solidFill>
                  <a:schemeClr val="tx1"/>
                </a:solidFill>
              </a:rPr>
              <a:t>Contradiction</a:t>
            </a:r>
            <a:r>
              <a:rPr lang="en-US" sz="1900" dirty="0">
                <a:solidFill>
                  <a:schemeClr val="tx1"/>
                </a:solidFill>
              </a:rPr>
              <a:t> number one!</a:t>
            </a:r>
            <a:endParaRPr lang="en-US" sz="1900" dirty="0"/>
          </a:p>
        </p:txBody>
      </p:sp>
      <p:sp>
        <p:nvSpPr>
          <p:cNvPr id="23" name="Shape 18"/>
          <p:cNvSpPr/>
          <p:nvPr/>
        </p:nvSpPr>
        <p:spPr>
          <a:xfrm>
            <a:off x="548640" y="5535168"/>
            <a:ext cx="11091672" cy="774192"/>
          </a:xfrm>
          <a:prstGeom prst="roundRect">
            <a:avLst>
              <a:gd name="adj" fmla="val 9449"/>
            </a:avLst>
          </a:prstGeom>
          <a:solidFill>
            <a:srgbClr val="2E75B6">
              <a:alpha val="8000"/>
            </a:srgbClr>
          </a:solidFill>
          <a:ln w="12700">
            <a:solidFill>
              <a:srgbClr val="2E75B6"/>
            </a:solidFill>
            <a:prstDash val="solid"/>
          </a:ln>
        </p:spPr>
      </p:sp>
      <p:pic>
        <p:nvPicPr>
          <p:cNvPr id="24" name="Image 3" descr="preencoded.png">    </p:cNvPr>
          <p:cNvPicPr>
            <a:picLocks noChangeAspect="1"/>
          </p:cNvPicPr>
          <p:nvPr/>
        </p:nvPicPr>
        <p:blipFill>
          <a:blip r:embed="rId4"/>
          <a:stretch>
            <a:fillRect/>
          </a:stretch>
        </p:blipFill>
        <p:spPr>
          <a:xfrm>
            <a:off x="777240" y="5739384"/>
            <a:ext cx="365760" cy="365760"/>
          </a:xfrm>
          <a:prstGeom prst="rect">
            <a:avLst/>
          </a:prstGeom>
        </p:spPr>
      </p:pic>
      <p:sp>
        <p:nvSpPr>
          <p:cNvPr id="25" name="Text 19"/>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2"/>
                </a:solidFill>
              </a:rPr>
              <a:t>Remember Scene 1 — </a:t>
            </a:r>
            <a:r>
              <a:rPr lang="en-US" sz="1800" i="1" dirty="0">
                <a:solidFill>
                  <a:schemeClr val="tx1"/>
                </a:solidFill>
              </a:rPr>
              <a:t>at exactly 9.15</a:t>
            </a:r>
            <a:r>
              <a:rPr lang="en-US" sz="1800" dirty="0">
                <a:solidFill>
                  <a:schemeClr val="tx1"/>
                </a:solidFill>
              </a:rPr>
              <a:t> sounds strong — but a </a:t>
            </a:r>
            <a:r>
              <a:rPr lang="en-US" sz="1800" b="1" dirty="0">
                <a:solidFill>
                  <a:schemeClr val="tx1"/>
                </a:solidFill>
              </a:rPr>
              <a:t>remembered</a:t>
            </a:r>
            <a:r>
              <a:rPr lang="en-US" sz="1800" dirty="0">
                <a:solidFill>
                  <a:schemeClr val="tx1"/>
                </a:solidFill>
              </a:rPr>
              <a:t> time is not a </a:t>
            </a:r>
            <a:r>
              <a:rPr lang="en-US" sz="1800" b="1" dirty="0">
                <a:solidFill>
                  <a:schemeClr val="tx1"/>
                </a:solidFill>
              </a:rPr>
              <a:t>verifiable</a:t>
            </a:r>
            <a:r>
              <a:rPr lang="en-US" sz="1800" dirty="0">
                <a:solidFill>
                  <a:schemeClr val="tx1"/>
                </a:solidFill>
              </a:rPr>
              <a:t> time. Can you prove it?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Draw my evening</a:t>
            </a:r>
            <a:endParaRPr lang="en-US" sz="3200" dirty="0"/>
          </a:p>
        </p:txBody>
      </p:sp>
      <p:sp>
        <p:nvSpPr>
          <p:cNvPr id="3" name="tag"/>
          <p:cNvSpPr/>
          <p:nvPr/>
        </p:nvSpPr>
        <p:spPr>
          <a:xfrm>
            <a:off x="548640" y="384048"/>
            <a:ext cx="12801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SPEAKING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6E4A9E">
              <a:alpha val="8000"/>
            </a:srgbClr>
          </a:solidFill>
          <a:ln w="12700">
            <a:solidFill>
              <a:srgbClr val="6E4A9E"/>
            </a:solidFill>
            <a:prstDash val="solid"/>
          </a:ln>
        </p:spPr>
      </p:sp>
      <p:sp>
        <p:nvSpPr>
          <p:cNvPr id="7" name="Shape 4"/>
          <p:cNvSpPr/>
          <p:nvPr/>
        </p:nvSpPr>
        <p:spPr>
          <a:xfrm>
            <a:off x="777240" y="1911096"/>
            <a:ext cx="713232" cy="713232"/>
          </a:xfrm>
          <a:prstGeom prst="ellipse">
            <a:avLst/>
          </a:prstGeom>
          <a:solidFill>
            <a:srgbClr val="6E4A9E"/>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chemeClr val="accent4"/>
                </a:solidFill>
                <a:latin typeface="+mj-lt" pitchFamily="34" charset="0"/>
                <a:ea typeface="+mj-lt" pitchFamily="34" charset="-122"/>
                <a:cs typeface="+mj-lt" pitchFamily="34" charset="-120"/>
              </a:rPr>
              <a:t>You tell — your partner draws your timeline.</a:t>
            </a:r>
            <a:endParaRPr lang="en-US" sz="2100" dirty="0"/>
          </a:p>
          <a:p>
            <a:pPr indent="0" marL="0">
              <a:buNone/>
            </a:pPr>
            <a:r>
              <a:rPr lang="en-US" sz="1500" i="1" dirty="0">
                <a:solidFill>
                  <a:schemeClr val="accent5"/>
                </a:solidFill>
              </a:rPr>
              <a:t>Pairs · 10 minutes · speaking and listening</a:t>
            </a:r>
            <a:endParaRPr lang="en-US" sz="2100" dirty="0"/>
          </a:p>
        </p:txBody>
      </p:sp>
      <p:sp>
        <p:nvSpPr>
          <p:cNvPr id="10" name="Text 6"/>
          <p:cNvSpPr/>
          <p:nvPr/>
        </p:nvSpPr>
        <p:spPr>
          <a:xfrm>
            <a:off x="548640" y="3072384"/>
            <a:ext cx="365760" cy="365760"/>
          </a:xfrm>
          <a:prstGeom prst="ellipse">
            <a:avLst/>
          </a:prstGeom>
          <a:solidFill>
            <a:srgbClr val="6E4A9E"/>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822960"/>
          </a:xfrm>
          <a:prstGeom prst="rect">
            <a:avLst/>
          </a:prstGeom>
          <a:noFill/>
          <a:ln/>
        </p:spPr>
        <p:txBody>
          <a:bodyPr wrap="square" lIns="0" tIns="0" rIns="0" bIns="0" rtlCol="0" anchor="t"/>
          <a:lstStyle/>
          <a:p>
            <a:pPr indent="0" marL="0">
              <a:buNone/>
            </a:pPr>
            <a:r>
              <a:rPr lang="en-US" sz="1900" dirty="0">
                <a:solidFill>
                  <a:schemeClr val="tx1"/>
                </a:solidFill>
              </a:rPr>
              <a:t>A tells yesterday evening, 6 p.m. to midnight, in </a:t>
            </a:r>
            <a:r>
              <a:rPr lang="en-US" sz="1900" b="1" dirty="0">
                <a:solidFill>
                  <a:schemeClr val="tx1"/>
                </a:solidFill>
              </a:rPr>
              <a:t>90 seconds</a:t>
            </a:r>
            <a:r>
              <a:rPr lang="en-US" sz="1900" dirty="0">
                <a:solidFill>
                  <a:schemeClr val="tx1"/>
                </a:solidFill>
              </a:rPr>
              <a:t>: what you </a:t>
            </a:r>
            <a:r>
              <a:rPr lang="en-US" sz="1900" b="1" dirty="0">
                <a:solidFill>
                  <a:schemeClr val="tx1"/>
                </a:solidFill>
              </a:rPr>
              <a:t>were doing</a:t>
            </a:r>
            <a:r>
              <a:rPr lang="en-US" sz="1900" dirty="0">
                <a:solidFill>
                  <a:schemeClr val="tx1"/>
                </a:solidFill>
              </a:rPr>
              <a:t>, what </a:t>
            </a:r>
            <a:r>
              <a:rPr lang="en-US" sz="1900" b="1" dirty="0">
                <a:solidFill>
                  <a:schemeClr val="tx1"/>
                </a:solidFill>
              </a:rPr>
              <a:t>happened</a:t>
            </a:r>
            <a:r>
              <a:rPr lang="en-US" sz="1900" dirty="0">
                <a:solidFill>
                  <a:schemeClr val="tx1"/>
                </a:solidFill>
              </a:rPr>
              <a:t>.</a:t>
            </a:r>
            <a:endParaRPr lang="en-US" sz="1900" dirty="0"/>
          </a:p>
        </p:txBody>
      </p:sp>
      <p:sp>
        <p:nvSpPr>
          <p:cNvPr id="12" name="Text 8"/>
          <p:cNvSpPr/>
          <p:nvPr/>
        </p:nvSpPr>
        <p:spPr>
          <a:xfrm>
            <a:off x="548640" y="3895344"/>
            <a:ext cx="365760" cy="365760"/>
          </a:xfrm>
          <a:prstGeom prst="ellipse">
            <a:avLst/>
          </a:prstGeom>
          <a:solidFill>
            <a:srgbClr val="6E4A9E"/>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840480"/>
            <a:ext cx="5897880" cy="822960"/>
          </a:xfrm>
          <a:prstGeom prst="rect">
            <a:avLst/>
          </a:prstGeom>
          <a:noFill/>
          <a:ln/>
        </p:spPr>
        <p:txBody>
          <a:bodyPr wrap="square" lIns="0" tIns="0" rIns="0" bIns="0" rtlCol="0" anchor="t"/>
          <a:lstStyle/>
          <a:p>
            <a:pPr indent="0" marL="0">
              <a:buNone/>
            </a:pPr>
            <a:r>
              <a:rPr lang="en-US" sz="1900" dirty="0">
                <a:solidFill>
                  <a:schemeClr val="tx1"/>
                </a:solidFill>
              </a:rPr>
              <a:t>B listens and </a:t>
            </a:r>
            <a:r>
              <a:rPr lang="en-US" sz="1900" b="1" dirty="0">
                <a:solidFill>
                  <a:schemeClr val="tx1"/>
                </a:solidFill>
              </a:rPr>
              <a:t>draws</a:t>
            </a:r>
            <a:r>
              <a:rPr lang="en-US" sz="1900" dirty="0">
                <a:solidFill>
                  <a:schemeClr val="tx1"/>
                </a:solidFill>
              </a:rPr>
              <a:t> A’s timeline: a </a:t>
            </a:r>
            <a:r>
              <a:rPr lang="en-US" sz="1900" b="1" dirty="0">
                <a:solidFill>
                  <a:schemeClr val="tx1"/>
                </a:solidFill>
              </a:rPr>
              <a:t>bar</a:t>
            </a:r>
            <a:r>
              <a:rPr lang="en-US" sz="1900" dirty="0">
                <a:solidFill>
                  <a:schemeClr val="tx1"/>
                </a:solidFill>
              </a:rPr>
              <a:t> for each background, a </a:t>
            </a:r>
            <a:r>
              <a:rPr lang="en-US" sz="1900" b="1" dirty="0">
                <a:solidFill>
                  <a:schemeClr val="tx1"/>
                </a:solidFill>
              </a:rPr>
              <a:t>dot</a:t>
            </a:r>
            <a:r>
              <a:rPr lang="en-US" sz="1900" dirty="0">
                <a:solidFill>
                  <a:schemeClr val="tx1"/>
                </a:solidFill>
              </a:rPr>
              <a:t> for each event.</a:t>
            </a:r>
            <a:endParaRPr lang="en-US" sz="1900" dirty="0"/>
          </a:p>
        </p:txBody>
      </p:sp>
      <p:sp>
        <p:nvSpPr>
          <p:cNvPr id="14" name="Text 10"/>
          <p:cNvSpPr/>
          <p:nvPr/>
        </p:nvSpPr>
        <p:spPr>
          <a:xfrm>
            <a:off x="548640" y="4718304"/>
            <a:ext cx="365760" cy="365760"/>
          </a:xfrm>
          <a:prstGeom prst="ellipse">
            <a:avLst/>
          </a:prstGeom>
          <a:solidFill>
            <a:srgbClr val="6E4A9E"/>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663440"/>
            <a:ext cx="5897880" cy="822960"/>
          </a:xfrm>
          <a:prstGeom prst="rect">
            <a:avLst/>
          </a:prstGeom>
          <a:noFill/>
          <a:ln/>
        </p:spPr>
        <p:txBody>
          <a:bodyPr wrap="square" lIns="0" tIns="0" rIns="0" bIns="0" rtlCol="0" anchor="t"/>
          <a:lstStyle/>
          <a:p>
            <a:pPr indent="0" marL="0">
              <a:buNone/>
            </a:pPr>
            <a:r>
              <a:rPr lang="en-US" sz="1900" dirty="0">
                <a:solidFill>
                  <a:schemeClr val="tx1"/>
                </a:solidFill>
              </a:rPr>
              <a:t>Check together: is every bar and every dot in the right place?</a:t>
            </a:r>
            <a:endParaRPr lang="en-US" sz="1900" dirty="0"/>
          </a:p>
        </p:txBody>
      </p:sp>
      <p:sp>
        <p:nvSpPr>
          <p:cNvPr id="16" name="Text 12"/>
          <p:cNvSpPr/>
          <p:nvPr/>
        </p:nvSpPr>
        <p:spPr>
          <a:xfrm>
            <a:off x="548640" y="5541264"/>
            <a:ext cx="365760" cy="365760"/>
          </a:xfrm>
          <a:prstGeom prst="ellipse">
            <a:avLst/>
          </a:prstGeom>
          <a:solidFill>
            <a:srgbClr val="6E4A9E"/>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5486400"/>
            <a:ext cx="5897880" cy="822960"/>
          </a:xfrm>
          <a:prstGeom prst="rect">
            <a:avLst/>
          </a:prstGeom>
          <a:noFill/>
          <a:ln/>
        </p:spPr>
        <p:txBody>
          <a:bodyPr wrap="square" lIns="0" tIns="0" rIns="0" bIns="0" rtlCol="0" anchor="t"/>
          <a:lstStyle/>
          <a:p>
            <a:pPr indent="0" marL="0">
              <a:buNone/>
            </a:pPr>
            <a:r>
              <a:rPr lang="en-US" sz="1900" dirty="0">
                <a:solidFill>
                  <a:schemeClr val="tx1"/>
                </a:solidFill>
              </a:rPr>
              <a:t>Swap roles.</a:t>
            </a:r>
            <a:endParaRPr lang="en-US" sz="1900" dirty="0"/>
          </a:p>
        </p:txBody>
      </p:sp>
      <p:sp>
        <p:nvSpPr>
          <p:cNvPr id="18" name="Shape 14"/>
          <p:cNvSpPr/>
          <p:nvPr/>
        </p:nvSpPr>
        <p:spPr>
          <a:xfrm>
            <a:off x="7360920" y="3017520"/>
            <a:ext cx="4279392" cy="3291840"/>
          </a:xfrm>
          <a:prstGeom prst="roundRect">
            <a:avLst>
              <a:gd name="adj" fmla="val 2222"/>
            </a:avLst>
          </a:prstGeom>
          <a:solidFill>
            <a:srgbClr val="6E4A9E">
              <a:alpha val="8000"/>
            </a:srgbClr>
          </a:solidFill>
          <a:ln w="9525">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7543800" y="3182112"/>
            <a:ext cx="292608" cy="292608"/>
          </a:xfrm>
          <a:prstGeom prst="rect">
            <a:avLst/>
          </a:prstGeom>
        </p:spPr>
      </p:pic>
      <p:sp>
        <p:nvSpPr>
          <p:cNvPr id="20" name="Text 15"/>
          <p:cNvSpPr txBox="1"/>
          <p:nvPr/>
        </p:nvSpPr>
        <p:spPr>
          <a:xfrm>
            <a:off x="7927848" y="3154680"/>
            <a:ext cx="3547872" cy="347472"/>
          </a:xfrm>
          <a:prstGeom prst="rect">
            <a:avLst/>
          </a:prstGeom>
          <a:noFill/>
          <a:ln/>
        </p:spPr>
        <p:txBody>
          <a:bodyPr wrap="square" lIns="0" tIns="0" rIns="0" bIns="0" rtlCol="0" anchor="ctr"/>
          <a:lstStyle/>
          <a:p>
            <a:pPr indent="0" marL="0">
              <a:buNone/>
            </a:pPr>
            <a:r>
              <a:rPr lang="en-US" sz="1300" b="1" spc="150" kern="0" dirty="0">
                <a:solidFill>
                  <a:schemeClr val="accent4"/>
                </a:solidFill>
              </a:rPr>
              <a:t>B CAN ASK</a:t>
            </a:r>
            <a:endParaRPr lang="en-US" sz="1300" dirty="0"/>
          </a:p>
        </p:txBody>
      </p:sp>
      <p:sp>
        <p:nvSpPr>
          <p:cNvPr id="21" name="Text 16"/>
          <p:cNvSpPr txBox="1"/>
          <p:nvPr/>
        </p:nvSpPr>
        <p:spPr>
          <a:xfrm>
            <a:off x="7562088" y="3611880"/>
            <a:ext cx="3895344" cy="2606040"/>
          </a:xfrm>
          <a:prstGeom prst="rect">
            <a:avLst/>
          </a:prstGeom>
          <a:noFill/>
          <a:ln/>
        </p:spPr>
        <p:txBody>
          <a:bodyPr wrap="square" lIns="0" tIns="0" rIns="0" bIns="0" rtlCol="0" anchor="t"/>
          <a:lstStyle/>
          <a:p>
            <a:pPr marL="190500" indent="-190500">
              <a:spcAft>
                <a:spcPts val="700"/>
              </a:spcAft>
              <a:buSzPct val="100000"/>
              <a:buChar char="•"/>
            </a:pPr>
            <a:r>
              <a:rPr lang="en-US" sz="1700" i="1" dirty="0">
                <a:solidFill>
                  <a:schemeClr val="tx1"/>
                </a:solidFill>
              </a:rPr>
              <a:t>Sorry, what time was that?</a:t>
            </a:r>
            <a:endParaRPr lang="en-US" sz="1700" dirty="0"/>
          </a:p>
          <a:p>
            <a:pPr marL="190500" indent="-190500">
              <a:spcAft>
                <a:spcPts val="700"/>
              </a:spcAft>
              <a:buSzPct val="100000"/>
              <a:buChar char="•"/>
            </a:pPr>
            <a:r>
              <a:rPr lang="en-US" sz="1700" i="1" dirty="0">
                <a:solidFill>
                  <a:schemeClr val="tx1"/>
                </a:solidFill>
              </a:rPr>
              <a:t>Were you still … when …?</a:t>
            </a:r>
            <a:endParaRPr lang="en-US" sz="1700" dirty="0"/>
          </a:p>
          <a:p>
            <a:pPr marL="190500" indent="-190500">
              <a:spcAft>
                <a:spcPts val="700"/>
              </a:spcAft>
              <a:buSzPct val="100000"/>
              <a:buChar char="•"/>
            </a:pPr>
            <a:r>
              <a:rPr lang="en-US" sz="1700" i="1" dirty="0">
                <a:solidFill>
                  <a:schemeClr val="tx1"/>
                </a:solidFill>
              </a:rPr>
              <a:t>So first you …, then you …?</a:t>
            </a:r>
            <a:endParaRPr lang="en-US" sz="1700" dirty="0"/>
          </a:p>
          <a:p>
            <a:pPr marL="190500" indent="-190500">
              <a:spcAft>
                <a:spcPts val="700"/>
              </a:spcAft>
              <a:buSzPct val="100000"/>
              <a:buChar char="•"/>
            </a:pPr>
            <a:r>
              <a:rPr lang="en-US" sz="1700" i="1" dirty="0">
                <a:solidFill>
                  <a:schemeClr val="tx1"/>
                </a:solidFill>
              </a:rPr>
              <a:t>How long were you …?</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Draw my evening — an example</a:t>
            </a:r>
            <a:endParaRPr lang="en-US" sz="3200" dirty="0"/>
          </a:p>
        </p:txBody>
      </p:sp>
      <p:sp>
        <p:nvSpPr>
          <p:cNvPr id="3" name="tag"/>
          <p:cNvSpPr/>
          <p:nvPr/>
        </p:nvSpPr>
        <p:spPr>
          <a:xfrm>
            <a:off x="548640" y="384048"/>
            <a:ext cx="12801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SPEAKING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Text 3"/>
          <p:cNvSpPr txBox="1"/>
          <p:nvPr/>
        </p:nvSpPr>
        <p:spPr>
          <a:xfrm>
            <a:off x="548640" y="1737360"/>
            <a:ext cx="11091672" cy="603504"/>
          </a:xfrm>
          <a:prstGeom prst="rect">
            <a:avLst/>
          </a:prstGeom>
          <a:noFill/>
          <a:ln/>
        </p:spPr>
        <p:txBody>
          <a:bodyPr wrap="square" lIns="0" tIns="0" rIns="0" bIns="0" rtlCol="0" anchor="t"/>
          <a:lstStyle/>
          <a:p>
            <a:pPr indent="0" marL="0">
              <a:buNone/>
            </a:pPr>
            <a:r>
              <a:rPr lang="en-US" sz="1800" dirty="0">
                <a:solidFill>
                  <a:schemeClr val="tx1"/>
                </a:solidFill>
              </a:rPr>
              <a:t>Lina said: </a:t>
            </a:r>
            <a:r>
              <a:rPr lang="en-US" sz="1800" i="1" dirty="0">
                <a:solidFill>
                  <a:schemeClr val="tx1"/>
                </a:solidFill>
              </a:rPr>
              <a:t>“At six, I </a:t>
            </a:r>
            <a:r>
              <a:rPr lang="en-US" sz="1800" b="1" i="1" dirty="0">
                <a:solidFill>
                  <a:schemeClr val="tx1"/>
                </a:solidFill>
              </a:rPr>
              <a:t>was cooking</a:t>
            </a:r>
            <a:r>
              <a:rPr lang="en-US" sz="1800" i="1" dirty="0">
                <a:solidFill>
                  <a:schemeClr val="tx1"/>
                </a:solidFill>
              </a:rPr>
              <a:t> when my sister </a:t>
            </a:r>
            <a:r>
              <a:rPr lang="en-US" sz="1800" b="1" i="1" dirty="0">
                <a:solidFill>
                  <a:schemeClr val="tx1"/>
                </a:solidFill>
              </a:rPr>
              <a:t>called</a:t>
            </a:r>
            <a:r>
              <a:rPr lang="en-US" sz="1800" i="1" dirty="0">
                <a:solidFill>
                  <a:schemeClr val="tx1"/>
                </a:solidFill>
              </a:rPr>
              <a:t>. From eight, I </a:t>
            </a:r>
            <a:r>
              <a:rPr lang="en-US" sz="1800" b="1" i="1" dirty="0">
                <a:solidFill>
                  <a:schemeClr val="tx1"/>
                </a:solidFill>
              </a:rPr>
              <a:t>was watching</a:t>
            </a:r>
            <a:r>
              <a:rPr lang="en-US" sz="1800" i="1" dirty="0">
                <a:solidFill>
                  <a:schemeClr val="tx1"/>
                </a:solidFill>
              </a:rPr>
              <a:t> a series — at a quarter past nine the power </a:t>
            </a:r>
            <a:r>
              <a:rPr lang="en-US" sz="1800" b="1" i="1" dirty="0">
                <a:solidFill>
                  <a:schemeClr val="tx1"/>
                </a:solidFill>
              </a:rPr>
              <a:t>went off</a:t>
            </a:r>
            <a:r>
              <a:rPr lang="en-US" sz="1800" i="1" dirty="0">
                <a:solidFill>
                  <a:schemeClr val="tx1"/>
                </a:solidFill>
              </a:rPr>
              <a:t>! I </a:t>
            </a:r>
            <a:r>
              <a:rPr lang="en-US" sz="1800" b="1" i="1" dirty="0">
                <a:solidFill>
                  <a:schemeClr val="tx1"/>
                </a:solidFill>
              </a:rPr>
              <a:t>went</a:t>
            </a:r>
            <a:r>
              <a:rPr lang="en-US" sz="1800" i="1" dirty="0">
                <a:solidFill>
                  <a:schemeClr val="tx1"/>
                </a:solidFill>
              </a:rPr>
              <a:t> to bed at eleven.”</a:t>
            </a:r>
            <a:endParaRPr lang="en-US" sz="1800" dirty="0"/>
          </a:p>
        </p:txBody>
      </p:sp>
      <p:sp>
        <p:nvSpPr>
          <p:cNvPr id="7" name="Shape 4"/>
          <p:cNvSpPr/>
          <p:nvPr/>
        </p:nvSpPr>
        <p:spPr>
          <a:xfrm>
            <a:off x="1519518" y="3040380"/>
            <a:ext cx="2117912" cy="420624"/>
          </a:xfrm>
          <a:prstGeom prst="roundRect">
            <a:avLst>
              <a:gd name="adj" fmla="val 21739"/>
            </a:avLst>
          </a:prstGeom>
          <a:solidFill>
            <a:srgbClr val="2E75B6">
              <a:alpha val="92000"/>
            </a:srgbClr>
          </a:solidFill>
          <a:ln w="15875">
            <a:solidFill>
              <a:srgbClr val="2E75B6"/>
            </a:solidFill>
            <a:prstDash val="solid"/>
          </a:ln>
        </p:spPr>
      </p:sp>
      <p:sp>
        <p:nvSpPr>
          <p:cNvPr id="8" name="Text 5"/>
          <p:cNvSpPr txBox="1"/>
          <p:nvPr/>
        </p:nvSpPr>
        <p:spPr>
          <a:xfrm>
            <a:off x="1592670" y="3040380"/>
            <a:ext cx="1971608" cy="420624"/>
          </a:xfrm>
          <a:prstGeom prst="rect">
            <a:avLst/>
          </a:prstGeom>
          <a:noFill/>
          <a:ln/>
        </p:spPr>
        <p:txBody>
          <a:bodyPr wrap="square" lIns="0" tIns="0" rIns="0" bIns="0" rtlCol="0" anchor="ctr"/>
          <a:lstStyle/>
          <a:p>
            <a:pPr algn="ctr" indent="0" marL="0">
              <a:buNone/>
            </a:pPr>
            <a:r>
              <a:rPr lang="en-US" sz="1400" b="1" i="1" dirty="0">
                <a:solidFill>
                  <a:schemeClr val="bg1"/>
                </a:solidFill>
              </a:rPr>
              <a:t>was cooking</a:t>
            </a:r>
            <a:endParaRPr lang="en-US" sz="1400" dirty="0"/>
          </a:p>
        </p:txBody>
      </p:sp>
      <p:sp>
        <p:nvSpPr>
          <p:cNvPr id="9" name="Shape 6"/>
          <p:cNvSpPr/>
          <p:nvPr/>
        </p:nvSpPr>
        <p:spPr>
          <a:xfrm>
            <a:off x="4545106" y="3040380"/>
            <a:ext cx="3933265" cy="420624"/>
          </a:xfrm>
          <a:prstGeom prst="roundRect">
            <a:avLst>
              <a:gd name="adj" fmla="val 21739"/>
            </a:avLst>
          </a:prstGeom>
          <a:solidFill>
            <a:srgbClr val="2E75B6">
              <a:alpha val="92000"/>
            </a:srgbClr>
          </a:solidFill>
          <a:ln w="15875">
            <a:solidFill>
              <a:srgbClr val="2E75B6"/>
            </a:solidFill>
            <a:prstDash val="solid"/>
          </a:ln>
        </p:spPr>
      </p:sp>
      <p:sp>
        <p:nvSpPr>
          <p:cNvPr id="10" name="Text 7"/>
          <p:cNvSpPr txBox="1"/>
          <p:nvPr/>
        </p:nvSpPr>
        <p:spPr>
          <a:xfrm>
            <a:off x="4618258" y="3040380"/>
            <a:ext cx="3786961" cy="420624"/>
          </a:xfrm>
          <a:prstGeom prst="rect">
            <a:avLst/>
          </a:prstGeom>
          <a:noFill/>
          <a:ln/>
        </p:spPr>
        <p:txBody>
          <a:bodyPr wrap="square" lIns="0" tIns="0" rIns="0" bIns="0" rtlCol="0" anchor="ctr"/>
          <a:lstStyle/>
          <a:p>
            <a:pPr algn="ctr" indent="0" marL="0">
              <a:buNone/>
            </a:pPr>
            <a:r>
              <a:rPr lang="en-US" sz="1400" b="1" i="1" dirty="0">
                <a:solidFill>
                  <a:schemeClr val="bg1"/>
                </a:solidFill>
              </a:rPr>
              <a:t>was watching a series</a:t>
            </a:r>
            <a:endParaRPr lang="en-US" sz="1400" dirty="0"/>
          </a:p>
        </p:txBody>
      </p:sp>
      <p:sp>
        <p:nvSpPr>
          <p:cNvPr id="11" name="Shape 8"/>
          <p:cNvSpPr/>
          <p:nvPr/>
        </p:nvSpPr>
        <p:spPr>
          <a:xfrm>
            <a:off x="594360" y="3735324"/>
            <a:ext cx="10881360" cy="0"/>
          </a:xfrm>
          <a:prstGeom prst="line">
            <a:avLst/>
          </a:prstGeom>
          <a:noFill/>
          <a:ln w="31750">
            <a:solidFill>
              <a:srgbClr val="1F3864"/>
            </a:solidFill>
            <a:prstDash val="solid"/>
            <a:tailEnd type="triangle"/>
          </a:ln>
        </p:spPr>
      </p:sp>
      <p:sp>
        <p:nvSpPr>
          <p:cNvPr id="12" name="Shape 9"/>
          <p:cNvSpPr/>
          <p:nvPr/>
        </p:nvSpPr>
        <p:spPr>
          <a:xfrm>
            <a:off x="1519518" y="3671316"/>
            <a:ext cx="0" cy="128016"/>
          </a:xfrm>
          <a:prstGeom prst="line">
            <a:avLst/>
          </a:prstGeom>
          <a:noFill/>
          <a:ln w="15875">
            <a:solidFill>
              <a:srgbClr val="1F3864"/>
            </a:solidFill>
            <a:prstDash val="solid"/>
          </a:ln>
        </p:spPr>
      </p:sp>
      <p:sp>
        <p:nvSpPr>
          <p:cNvPr id="13" name="Text 10"/>
          <p:cNvSpPr txBox="1"/>
          <p:nvPr/>
        </p:nvSpPr>
        <p:spPr>
          <a:xfrm>
            <a:off x="1062318"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18.00</a:t>
            </a:r>
            <a:endParaRPr lang="en-US" sz="1100" dirty="0"/>
          </a:p>
        </p:txBody>
      </p:sp>
      <p:sp>
        <p:nvSpPr>
          <p:cNvPr id="14" name="Shape 11"/>
          <p:cNvSpPr/>
          <p:nvPr/>
        </p:nvSpPr>
        <p:spPr>
          <a:xfrm>
            <a:off x="3032312" y="3671316"/>
            <a:ext cx="0" cy="128016"/>
          </a:xfrm>
          <a:prstGeom prst="line">
            <a:avLst/>
          </a:prstGeom>
          <a:noFill/>
          <a:ln w="15875">
            <a:solidFill>
              <a:srgbClr val="1F3864"/>
            </a:solidFill>
            <a:prstDash val="solid"/>
          </a:ln>
        </p:spPr>
      </p:sp>
      <p:sp>
        <p:nvSpPr>
          <p:cNvPr id="15" name="Text 12"/>
          <p:cNvSpPr txBox="1"/>
          <p:nvPr/>
        </p:nvSpPr>
        <p:spPr>
          <a:xfrm>
            <a:off x="2575112"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19.00</a:t>
            </a:r>
            <a:endParaRPr lang="en-US" sz="1100" dirty="0"/>
          </a:p>
        </p:txBody>
      </p:sp>
      <p:sp>
        <p:nvSpPr>
          <p:cNvPr id="16" name="Shape 13"/>
          <p:cNvSpPr/>
          <p:nvPr/>
        </p:nvSpPr>
        <p:spPr>
          <a:xfrm>
            <a:off x="4545106" y="3671316"/>
            <a:ext cx="0" cy="128016"/>
          </a:xfrm>
          <a:prstGeom prst="line">
            <a:avLst/>
          </a:prstGeom>
          <a:noFill/>
          <a:ln w="15875">
            <a:solidFill>
              <a:srgbClr val="1F3864"/>
            </a:solidFill>
            <a:prstDash val="solid"/>
          </a:ln>
        </p:spPr>
      </p:sp>
      <p:sp>
        <p:nvSpPr>
          <p:cNvPr id="17" name="Text 14"/>
          <p:cNvSpPr txBox="1"/>
          <p:nvPr/>
        </p:nvSpPr>
        <p:spPr>
          <a:xfrm>
            <a:off x="4087906"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20.00</a:t>
            </a:r>
            <a:endParaRPr lang="en-US" sz="1100" dirty="0"/>
          </a:p>
        </p:txBody>
      </p:sp>
      <p:sp>
        <p:nvSpPr>
          <p:cNvPr id="18" name="Shape 15"/>
          <p:cNvSpPr/>
          <p:nvPr/>
        </p:nvSpPr>
        <p:spPr>
          <a:xfrm>
            <a:off x="6057900" y="3671316"/>
            <a:ext cx="0" cy="128016"/>
          </a:xfrm>
          <a:prstGeom prst="line">
            <a:avLst/>
          </a:prstGeom>
          <a:noFill/>
          <a:ln w="15875">
            <a:solidFill>
              <a:srgbClr val="1F3864"/>
            </a:solidFill>
            <a:prstDash val="solid"/>
          </a:ln>
        </p:spPr>
      </p:sp>
      <p:sp>
        <p:nvSpPr>
          <p:cNvPr id="19" name="Text 16"/>
          <p:cNvSpPr txBox="1"/>
          <p:nvPr/>
        </p:nvSpPr>
        <p:spPr>
          <a:xfrm>
            <a:off x="5600700"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21.00</a:t>
            </a:r>
            <a:endParaRPr lang="en-US" sz="1100" dirty="0"/>
          </a:p>
        </p:txBody>
      </p:sp>
      <p:sp>
        <p:nvSpPr>
          <p:cNvPr id="20" name="Shape 17"/>
          <p:cNvSpPr/>
          <p:nvPr/>
        </p:nvSpPr>
        <p:spPr>
          <a:xfrm>
            <a:off x="7570694" y="3671316"/>
            <a:ext cx="0" cy="128016"/>
          </a:xfrm>
          <a:prstGeom prst="line">
            <a:avLst/>
          </a:prstGeom>
          <a:noFill/>
          <a:ln w="15875">
            <a:solidFill>
              <a:srgbClr val="1F3864"/>
            </a:solidFill>
            <a:prstDash val="solid"/>
          </a:ln>
        </p:spPr>
      </p:sp>
      <p:sp>
        <p:nvSpPr>
          <p:cNvPr id="21" name="Text 18"/>
          <p:cNvSpPr txBox="1"/>
          <p:nvPr/>
        </p:nvSpPr>
        <p:spPr>
          <a:xfrm>
            <a:off x="7113494"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22.00</a:t>
            </a:r>
            <a:endParaRPr lang="en-US" sz="1100" dirty="0"/>
          </a:p>
        </p:txBody>
      </p:sp>
      <p:sp>
        <p:nvSpPr>
          <p:cNvPr id="22" name="Shape 19"/>
          <p:cNvSpPr/>
          <p:nvPr/>
        </p:nvSpPr>
        <p:spPr>
          <a:xfrm>
            <a:off x="9083488" y="3671316"/>
            <a:ext cx="0" cy="128016"/>
          </a:xfrm>
          <a:prstGeom prst="line">
            <a:avLst/>
          </a:prstGeom>
          <a:noFill/>
          <a:ln w="15875">
            <a:solidFill>
              <a:srgbClr val="1F3864"/>
            </a:solidFill>
            <a:prstDash val="solid"/>
          </a:ln>
        </p:spPr>
      </p:sp>
      <p:sp>
        <p:nvSpPr>
          <p:cNvPr id="23" name="Text 20"/>
          <p:cNvSpPr txBox="1"/>
          <p:nvPr/>
        </p:nvSpPr>
        <p:spPr>
          <a:xfrm>
            <a:off x="8626288"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23.00</a:t>
            </a:r>
            <a:endParaRPr lang="en-US" sz="1100" dirty="0"/>
          </a:p>
        </p:txBody>
      </p:sp>
      <p:sp>
        <p:nvSpPr>
          <p:cNvPr id="24" name="Shape 21"/>
          <p:cNvSpPr/>
          <p:nvPr/>
        </p:nvSpPr>
        <p:spPr>
          <a:xfrm>
            <a:off x="10596282" y="3671316"/>
            <a:ext cx="0" cy="128016"/>
          </a:xfrm>
          <a:prstGeom prst="line">
            <a:avLst/>
          </a:prstGeom>
          <a:noFill/>
          <a:ln w="15875">
            <a:solidFill>
              <a:srgbClr val="1F3864"/>
            </a:solidFill>
            <a:prstDash val="solid"/>
          </a:ln>
        </p:spPr>
      </p:sp>
      <p:sp>
        <p:nvSpPr>
          <p:cNvPr id="25" name="Text 22"/>
          <p:cNvSpPr txBox="1"/>
          <p:nvPr/>
        </p:nvSpPr>
        <p:spPr>
          <a:xfrm>
            <a:off x="10139082" y="382676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00.00</a:t>
            </a:r>
            <a:endParaRPr lang="en-US" sz="1100" dirty="0"/>
          </a:p>
        </p:txBody>
      </p:sp>
      <p:sp>
        <p:nvSpPr>
          <p:cNvPr id="26" name="Shape 23"/>
          <p:cNvSpPr/>
          <p:nvPr/>
        </p:nvSpPr>
        <p:spPr>
          <a:xfrm>
            <a:off x="2275915" y="3826764"/>
            <a:ext cx="0" cy="365760"/>
          </a:xfrm>
          <a:prstGeom prst="line">
            <a:avLst/>
          </a:prstGeom>
          <a:noFill/>
          <a:ln w="12700">
            <a:solidFill>
              <a:srgbClr val="C0752A"/>
            </a:solidFill>
            <a:prstDash val="solid"/>
          </a:ln>
        </p:spPr>
      </p:sp>
      <p:sp>
        <p:nvSpPr>
          <p:cNvPr id="27" name="Text 24"/>
          <p:cNvSpPr/>
          <p:nvPr/>
        </p:nvSpPr>
        <p:spPr>
          <a:xfrm>
            <a:off x="1399005" y="4192524"/>
            <a:ext cx="1753819"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my sister called</a:t>
            </a:r>
            <a:endParaRPr lang="en-US" sz="1300" dirty="0"/>
          </a:p>
        </p:txBody>
      </p:sp>
      <p:sp>
        <p:nvSpPr>
          <p:cNvPr id="28" name="Shape 25"/>
          <p:cNvSpPr/>
          <p:nvPr/>
        </p:nvSpPr>
        <p:spPr>
          <a:xfrm>
            <a:off x="2157043" y="3616452"/>
            <a:ext cx="237744" cy="237744"/>
          </a:xfrm>
          <a:prstGeom prst="ellipse">
            <a:avLst/>
          </a:prstGeom>
          <a:solidFill>
            <a:srgbClr val="6E4A9E"/>
          </a:solidFill>
          <a:ln w="19050">
            <a:solidFill>
              <a:srgbClr val="FFFFFF"/>
            </a:solidFill>
            <a:prstDash val="solid"/>
          </a:ln>
        </p:spPr>
      </p:sp>
      <p:sp>
        <p:nvSpPr>
          <p:cNvPr id="29" name="Shape 26"/>
          <p:cNvSpPr/>
          <p:nvPr/>
        </p:nvSpPr>
        <p:spPr>
          <a:xfrm>
            <a:off x="6436099" y="3826764"/>
            <a:ext cx="0" cy="932688"/>
          </a:xfrm>
          <a:prstGeom prst="line">
            <a:avLst/>
          </a:prstGeom>
          <a:noFill/>
          <a:ln w="12700">
            <a:solidFill>
              <a:srgbClr val="C0752A"/>
            </a:solidFill>
            <a:prstDash val="solid"/>
          </a:ln>
        </p:spPr>
      </p:sp>
      <p:sp>
        <p:nvSpPr>
          <p:cNvPr id="30" name="Text 27"/>
          <p:cNvSpPr/>
          <p:nvPr/>
        </p:nvSpPr>
        <p:spPr>
          <a:xfrm>
            <a:off x="5469578" y="4759452"/>
            <a:ext cx="1933042"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the power went off</a:t>
            </a:r>
            <a:endParaRPr lang="en-US" sz="1300" dirty="0"/>
          </a:p>
        </p:txBody>
      </p:sp>
      <p:sp>
        <p:nvSpPr>
          <p:cNvPr id="31" name="Shape 28"/>
          <p:cNvSpPr/>
          <p:nvPr/>
        </p:nvSpPr>
        <p:spPr>
          <a:xfrm>
            <a:off x="6317227" y="3616452"/>
            <a:ext cx="237744" cy="237744"/>
          </a:xfrm>
          <a:prstGeom prst="ellipse">
            <a:avLst/>
          </a:prstGeom>
          <a:solidFill>
            <a:srgbClr val="6E4A9E"/>
          </a:solidFill>
          <a:ln w="19050">
            <a:solidFill>
              <a:srgbClr val="FFFFFF"/>
            </a:solidFill>
            <a:prstDash val="solid"/>
          </a:ln>
        </p:spPr>
      </p:sp>
      <p:sp>
        <p:nvSpPr>
          <p:cNvPr id="32" name="Shape 29"/>
          <p:cNvSpPr/>
          <p:nvPr/>
        </p:nvSpPr>
        <p:spPr>
          <a:xfrm>
            <a:off x="9083488" y="3826764"/>
            <a:ext cx="0" cy="365760"/>
          </a:xfrm>
          <a:prstGeom prst="line">
            <a:avLst/>
          </a:prstGeom>
          <a:noFill/>
          <a:ln w="12700">
            <a:solidFill>
              <a:srgbClr val="C0752A"/>
            </a:solidFill>
            <a:prstDash val="solid"/>
          </a:ln>
        </p:spPr>
      </p:sp>
      <p:sp>
        <p:nvSpPr>
          <p:cNvPr id="33" name="Text 30"/>
          <p:cNvSpPr/>
          <p:nvPr/>
        </p:nvSpPr>
        <p:spPr>
          <a:xfrm>
            <a:off x="8430607" y="4192524"/>
            <a:ext cx="1305763"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went to bed</a:t>
            </a:r>
            <a:endParaRPr lang="en-US" sz="1300" dirty="0"/>
          </a:p>
        </p:txBody>
      </p:sp>
      <p:sp>
        <p:nvSpPr>
          <p:cNvPr id="34" name="Shape 31"/>
          <p:cNvSpPr/>
          <p:nvPr/>
        </p:nvSpPr>
        <p:spPr>
          <a:xfrm>
            <a:off x="8964616" y="3616452"/>
            <a:ext cx="237744" cy="237744"/>
          </a:xfrm>
          <a:prstGeom prst="ellipse">
            <a:avLst/>
          </a:prstGeom>
          <a:solidFill>
            <a:srgbClr val="6E4A9E"/>
          </a:solidFill>
          <a:ln w="19050">
            <a:solidFill>
              <a:srgbClr val="FFFFFF"/>
            </a:solidFill>
            <a:prstDash val="solid"/>
          </a:ln>
        </p:spPr>
      </p:sp>
      <p:sp>
        <p:nvSpPr>
          <p:cNvPr id="35" name="Shape 32"/>
          <p:cNvSpPr/>
          <p:nvPr/>
        </p:nvSpPr>
        <p:spPr>
          <a:xfrm>
            <a:off x="731520" y="5943600"/>
            <a:ext cx="548640" cy="274320"/>
          </a:xfrm>
          <a:prstGeom prst="roundRect">
            <a:avLst>
              <a:gd name="adj" fmla="val 20000"/>
            </a:avLst>
          </a:prstGeom>
          <a:solidFill>
            <a:srgbClr val="2E75B6">
              <a:alpha val="92000"/>
            </a:srgbClr>
          </a:solidFill>
          <a:ln/>
        </p:spPr>
      </p:sp>
      <p:sp>
        <p:nvSpPr>
          <p:cNvPr id="36" name="Text 33"/>
          <p:cNvSpPr txBox="1"/>
          <p:nvPr/>
        </p:nvSpPr>
        <p:spPr>
          <a:xfrm>
            <a:off x="1417320" y="5852160"/>
            <a:ext cx="4572000" cy="457200"/>
          </a:xfrm>
          <a:prstGeom prst="rect">
            <a:avLst/>
          </a:prstGeom>
          <a:noFill/>
          <a:ln/>
        </p:spPr>
        <p:txBody>
          <a:bodyPr wrap="square" lIns="0" tIns="0" rIns="0" bIns="0" rtlCol="0" anchor="ctr"/>
          <a:lstStyle/>
          <a:p>
            <a:pPr indent="0" marL="0">
              <a:buNone/>
            </a:pPr>
            <a:r>
              <a:rPr lang="en-US" sz="1600" b="1" dirty="0">
                <a:solidFill>
                  <a:schemeClr val="tx1"/>
                </a:solidFill>
              </a:rPr>
              <a:t>bar</a:t>
            </a:r>
            <a:r>
              <a:rPr lang="en-US" sz="1600" dirty="0">
                <a:solidFill>
                  <a:schemeClr val="tx1"/>
                </a:solidFill>
              </a:rPr>
              <a:t> = background → </a:t>
            </a:r>
            <a:r>
              <a:rPr lang="en-US" sz="1600" b="1" dirty="0">
                <a:solidFill>
                  <a:schemeClr val="accent2"/>
                </a:solidFill>
              </a:rPr>
              <a:t>was / were + -ing</a:t>
            </a:r>
            <a:endParaRPr lang="en-US" sz="1600" dirty="0"/>
          </a:p>
        </p:txBody>
      </p:sp>
      <p:sp>
        <p:nvSpPr>
          <p:cNvPr id="37" name="Shape 34"/>
          <p:cNvSpPr/>
          <p:nvPr/>
        </p:nvSpPr>
        <p:spPr>
          <a:xfrm>
            <a:off x="6355080" y="5961888"/>
            <a:ext cx="237744" cy="237744"/>
          </a:xfrm>
          <a:prstGeom prst="ellipse">
            <a:avLst/>
          </a:prstGeom>
          <a:solidFill>
            <a:srgbClr val="6E4A9E"/>
          </a:solidFill>
          <a:ln/>
        </p:spPr>
      </p:sp>
      <p:sp>
        <p:nvSpPr>
          <p:cNvPr id="38" name="Text 35"/>
          <p:cNvSpPr txBox="1"/>
          <p:nvPr/>
        </p:nvSpPr>
        <p:spPr>
          <a:xfrm>
            <a:off x="6766560" y="5852160"/>
            <a:ext cx="4846320" cy="457200"/>
          </a:xfrm>
          <a:prstGeom prst="rect">
            <a:avLst/>
          </a:prstGeom>
          <a:noFill/>
          <a:ln/>
        </p:spPr>
        <p:txBody>
          <a:bodyPr wrap="square" lIns="0" tIns="0" rIns="0" bIns="0" rtlCol="0" anchor="ctr"/>
          <a:lstStyle/>
          <a:p>
            <a:pPr indent="0" marL="0">
              <a:buNone/>
            </a:pPr>
            <a:r>
              <a:rPr lang="en-US" sz="1600" b="1" dirty="0">
                <a:solidFill>
                  <a:schemeClr val="tx1"/>
                </a:solidFill>
              </a:rPr>
              <a:t>dot</a:t>
            </a:r>
            <a:r>
              <a:rPr lang="en-US" sz="1600" dirty="0">
                <a:solidFill>
                  <a:schemeClr val="tx1"/>
                </a:solidFill>
              </a:rPr>
              <a:t> = event → </a:t>
            </a:r>
            <a:r>
              <a:rPr lang="en-US" sz="1600" b="1" dirty="0">
                <a:solidFill>
                  <a:srgbClr val="B4236A"/>
                </a:solidFill>
              </a:rPr>
              <a:t>past simple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Phrasal verbs of the night</a:t>
            </a:r>
            <a:endParaRPr lang="en-US" sz="3200" dirty="0"/>
          </a:p>
        </p:txBody>
      </p:sp>
      <p:sp>
        <p:nvSpPr>
          <p:cNvPr id="3" name="tag"/>
          <p:cNvSpPr/>
          <p:nvPr/>
        </p:nvSpPr>
        <p:spPr>
          <a:xfrm>
            <a:off x="548640" y="384048"/>
            <a:ext cx="13944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WORD FILE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743200"/>
                <a:gridCol w="3108960"/>
                <a:gridCol w="5239512"/>
              </a:tblGrid>
              <a:tr h="575158">
                <a:tc>
                  <a:txBody>
                    <a:bodyPr/>
                    <a:lstStyle/>
                    <a:p>
                      <a:pPr algn="ctr" indent="0" marL="0">
                        <a:buNone/>
                      </a:pPr>
                      <a:r>
                        <a:rPr lang="en-US" sz="1600" b="1" dirty="0">
                          <a:solidFill>
                            <a:schemeClr val="bg1"/>
                          </a:solidFill>
                        </a:rPr>
                        <a:t>PHRASAL VERB</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FRANÇAIS</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l" indent="0" marL="0">
                        <a:buNone/>
                      </a:pPr>
                      <a:r>
                        <a:rPr lang="en-US" sz="1600" b="1" dirty="0">
                          <a:solidFill>
                            <a:schemeClr val="bg1"/>
                          </a:solidFill>
                        </a:rPr>
                        <a:t>IN THE FILE</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737921">
                <a:tc>
                  <a:txBody>
                    <a:bodyPr/>
                    <a:lstStyle/>
                    <a:p>
                      <a:pPr algn="ctr" indent="0" marL="0">
                        <a:buNone/>
                      </a:pPr>
                      <a:r>
                        <a:rPr lang="en-US" sz="1800" b="1" dirty="0">
                          <a:solidFill>
                            <a:schemeClr val="tx1"/>
                          </a:solidFill>
                        </a:rPr>
                        <a:t>to pack up</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ranger ses affaires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800" dirty="0">
                          <a:solidFill>
                            <a:schemeClr val="tx1"/>
                          </a:solidFill>
                        </a:rPr>
                        <a:t>While they </a:t>
                      </a:r>
                      <a:r>
                        <a:rPr lang="en-US" sz="1800" b="1" dirty="0">
                          <a:solidFill>
                            <a:schemeClr val="accent2"/>
                          </a:solidFill>
                        </a:rPr>
                        <a:t>were packing up</a:t>
                      </a:r>
                      <a:r>
                        <a:rPr lang="en-US" sz="1800" dirty="0">
                          <a:solidFill>
                            <a:schemeClr val="tx1"/>
                          </a:solidFill>
                        </a:rPr>
                        <a:t>, the manager checked the floor.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59029">
                <a:tc>
                  <a:txBody>
                    <a:bodyPr/>
                    <a:lstStyle/>
                    <a:p>
                      <a:pPr algn="ctr" indent="0" marL="0">
                        <a:buNone/>
                      </a:pPr>
                      <a:r>
                        <a:rPr lang="en-US" sz="1800" b="1" dirty="0">
                          <a:solidFill>
                            <a:schemeClr val="tx1"/>
                          </a:solidFill>
                        </a:rPr>
                        <a:t>to lock up</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fermer à clé</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800" dirty="0">
                          <a:solidFill>
                            <a:schemeClr val="tx1"/>
                          </a:solidFill>
                        </a:rPr>
                        <a:t>They </a:t>
                      </a:r>
                      <a:r>
                        <a:rPr lang="en-US" sz="1800" b="1" dirty="0">
                          <a:solidFill>
                            <a:srgbClr val="B4236A"/>
                          </a:solidFill>
                        </a:rPr>
                        <a:t>locked up</a:t>
                      </a:r>
                      <a:r>
                        <a:rPr lang="en-US" sz="1800" dirty="0">
                          <a:solidFill>
                            <a:schemeClr val="tx1"/>
                          </a:solidFill>
                        </a:rPr>
                        <a:t> at 8.15.</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59029">
                <a:tc>
                  <a:txBody>
                    <a:bodyPr/>
                    <a:lstStyle/>
                    <a:p>
                      <a:pPr algn="ctr" indent="0" marL="0">
                        <a:buNone/>
                      </a:pPr>
                      <a:r>
                        <a:rPr lang="en-US" sz="1800" b="1" dirty="0">
                          <a:solidFill>
                            <a:schemeClr val="tx1"/>
                          </a:solidFill>
                        </a:rPr>
                        <a:t>to carry out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effectuer, réaliser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800" dirty="0">
                          <a:solidFill>
                            <a:schemeClr val="tx1"/>
                          </a:solidFill>
                        </a:rPr>
                        <a:t>The site manager </a:t>
                      </a:r>
                      <a:r>
                        <a:rPr lang="en-US" sz="1800" b="1" dirty="0">
                          <a:solidFill>
                            <a:srgbClr val="B4236A"/>
                          </a:solidFill>
                        </a:rPr>
                        <a:t>carried out</a:t>
                      </a:r>
                      <a:r>
                        <a:rPr lang="en-US" sz="1800" dirty="0">
                          <a:solidFill>
                            <a:schemeClr val="tx1"/>
                          </a:solidFill>
                        </a:rPr>
                        <a:t> his last inspection.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59029">
                <a:tc>
                  <a:txBody>
                    <a:bodyPr/>
                    <a:lstStyle/>
                    <a:p>
                      <a:pPr algn="ctr" indent="0" marL="0">
                        <a:buNone/>
                      </a:pPr>
                      <a:r>
                        <a:rPr lang="en-US" sz="1800" b="1" dirty="0">
                          <a:solidFill>
                            <a:schemeClr val="tx1"/>
                          </a:solidFill>
                        </a:rPr>
                        <a:t>to sign in · to sign out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signer l’entrée · la sortie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800" dirty="0">
                          <a:solidFill>
                            <a:schemeClr val="tx1"/>
                          </a:solidFill>
                        </a:rPr>
                        <a:t>The team </a:t>
                      </a:r>
                      <a:r>
                        <a:rPr lang="en-US" sz="1800" b="1" dirty="0">
                          <a:solidFill>
                            <a:srgbClr val="B4236A"/>
                          </a:solidFill>
                        </a:rPr>
                        <a:t>signed out</a:t>
                      </a:r>
                      <a:r>
                        <a:rPr lang="en-US" sz="1800" dirty="0">
                          <a:solidFill>
                            <a:schemeClr val="tx1"/>
                          </a:solidFill>
                        </a:rPr>
                        <a:t> at 8.15.</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59029">
                <a:tc>
                  <a:txBody>
                    <a:bodyPr/>
                    <a:lstStyle/>
                    <a:p>
                      <a:pPr algn="ctr" indent="0" marL="0">
                        <a:buNone/>
                      </a:pPr>
                      <a:r>
                        <a:rPr lang="en-US" sz="1800" b="1" dirty="0">
                          <a:solidFill>
                            <a:schemeClr val="tx1"/>
                          </a:solidFill>
                        </a:rPr>
                        <a:t>to set off (an alarm)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déclencher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800" dirty="0">
                          <a:solidFill>
                            <a:schemeClr val="tx1"/>
                          </a:solidFill>
                        </a:rPr>
                        <a:t>The heat </a:t>
                      </a:r>
                      <a:r>
                        <a:rPr lang="en-US" sz="1800" b="1" dirty="0">
                          <a:solidFill>
                            <a:srgbClr val="B4236A"/>
                          </a:solidFill>
                        </a:rPr>
                        <a:t>set off</a:t>
                      </a:r>
                      <a:r>
                        <a:rPr lang="en-US" sz="1800" dirty="0">
                          <a:solidFill>
                            <a:schemeClr val="tx1"/>
                          </a:solidFill>
                        </a:rPr>
                        <a:t> the temperature alarm.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59029">
                <a:tc>
                  <a:txBody>
                    <a:bodyPr/>
                    <a:lstStyle/>
                    <a:p>
                      <a:pPr algn="ctr" indent="0" marL="0">
                        <a:buNone/>
                      </a:pPr>
                      <a:r>
                        <a:rPr lang="en-US" sz="1800" b="1" dirty="0">
                          <a:solidFill>
                            <a:schemeClr val="tx1"/>
                          </a:solidFill>
                        </a:rPr>
                        <a:t>to go off</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se déclencher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800" dirty="0">
                          <a:solidFill>
                            <a:schemeClr val="tx1"/>
                          </a:solidFill>
                        </a:rPr>
                        <a:t>The alarm </a:t>
                      </a:r>
                      <a:r>
                        <a:rPr lang="en-US" sz="1800" b="1" dirty="0">
                          <a:solidFill>
                            <a:srgbClr val="B4236A"/>
                          </a:solidFill>
                        </a:rPr>
                        <a:t>went off</a:t>
                      </a:r>
                      <a:r>
                        <a:rPr lang="en-US" sz="1800" dirty="0">
                          <a:solidFill>
                            <a:schemeClr val="tx1"/>
                          </a:solidFill>
                        </a:rPr>
                        <a:t> at 11.40 p.m.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59029">
                <a:tc>
                  <a:txBody>
                    <a:bodyPr/>
                    <a:lstStyle/>
                    <a:p>
                      <a:pPr algn="ctr" indent="0" marL="0">
                        <a:buNone/>
                      </a:pPr>
                      <a:r>
                        <a:rPr lang="en-US" sz="1800" b="1" dirty="0">
                          <a:solidFill>
                            <a:schemeClr val="tx1"/>
                          </a:solidFill>
                        </a:rPr>
                        <a:t>to find out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découvrir, établir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800" dirty="0">
                          <a:solidFill>
                            <a:schemeClr val="tx1"/>
                          </a:solidFill>
                        </a:rPr>
                        <a:t>We must </a:t>
                      </a:r>
                      <a:r>
                        <a:rPr lang="en-US" sz="1800" b="1" dirty="0">
                          <a:solidFill>
                            <a:srgbClr val="B4236A"/>
                          </a:solidFill>
                        </a:rPr>
                        <a:t>find out</a:t>
                      </a:r>
                      <a:r>
                        <a:rPr lang="en-US" sz="1800" dirty="0">
                          <a:solidFill>
                            <a:schemeClr val="tx1"/>
                          </a:solidFill>
                        </a:rPr>
                        <a:t> when it started.</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59029">
                <a:tc>
                  <a:txBody>
                    <a:bodyPr/>
                    <a:lstStyle/>
                    <a:p>
                      <a:pPr algn="ctr" indent="0" marL="0">
                        <a:buNone/>
                      </a:pPr>
                      <a:r>
                        <a:rPr lang="en-US" sz="1800" b="1" dirty="0">
                          <a:solidFill>
                            <a:schemeClr val="tx1"/>
                          </a:solidFill>
                        </a:rPr>
                        <a:t>to back up (a story)</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confirmer, corroborer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800" dirty="0">
                          <a:solidFill>
                            <a:schemeClr val="tx1"/>
                          </a:solidFill>
                        </a:rPr>
                        <a:t>Can anyone </a:t>
                      </a:r>
                      <a:r>
                        <a:rPr lang="en-US" sz="1800" b="1" dirty="0">
                          <a:solidFill>
                            <a:srgbClr val="B4236A"/>
                          </a:solidFill>
                        </a:rPr>
                        <a:t>back up</a:t>
                      </a:r>
                      <a:r>
                        <a:rPr lang="en-US" sz="1800" dirty="0">
                          <a:solidFill>
                            <a:schemeClr val="tx1"/>
                          </a:solidFill>
                        </a:rPr>
                        <a:t> your story?</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Before you close the file</a:t>
            </a:r>
            <a:endParaRPr lang="en-US" sz="3200" dirty="0"/>
          </a:p>
        </p:txBody>
      </p:sp>
      <p:sp>
        <p:nvSpPr>
          <p:cNvPr id="3" name="tag"/>
          <p:cNvSpPr/>
          <p:nvPr/>
        </p:nvSpPr>
        <p:spPr>
          <a:xfrm>
            <a:off x="548640" y="384048"/>
            <a:ext cx="19659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END OF SESSION</a:t>
            </a:r>
            <a:endParaRPr lang="en-US" sz="1200" dirty="0"/>
          </a:p>
        </p:txBody>
      </p:sp>
      <p:sp>
        <p:nvSpPr>
          <p:cNvPr id="4" name="Shape 2"/>
          <p:cNvSpPr/>
          <p:nvPr/>
        </p:nvSpPr>
        <p:spPr>
          <a:xfrm>
            <a:off x="548640" y="1783080"/>
            <a:ext cx="6035040" cy="2697480"/>
          </a:xfrm>
          <a:prstGeom prst="roundRect">
            <a:avLst>
              <a:gd name="adj" fmla="val 2712"/>
            </a:avLst>
          </a:prstGeom>
          <a:solidFill>
            <a:srgbClr val="1F3864"/>
          </a:solidFill>
          <a:ln/>
        </p:spPr>
      </p:sp>
      <p:sp>
        <p:nvSpPr>
          <p:cNvPr id="5" name="Text 3"/>
          <p:cNvSpPr txBox="1"/>
          <p:nvPr/>
        </p:nvSpPr>
        <p:spPr>
          <a:xfrm>
            <a:off x="822960" y="1965960"/>
            <a:ext cx="4572000" cy="292608"/>
          </a:xfrm>
          <a:prstGeom prst="rect">
            <a:avLst/>
          </a:prstGeom>
          <a:noFill/>
          <a:ln/>
        </p:spPr>
        <p:txBody>
          <a:bodyPr wrap="square" lIns="0" tIns="0" rIns="0" bIns="0" rtlCol="0" anchor="ctr"/>
          <a:lstStyle/>
          <a:p>
            <a:pPr indent="0" marL="0">
              <a:buNone/>
            </a:pPr>
            <a:r>
              <a:rPr lang="en-US" sz="1300" b="1" spc="200" kern="0" dirty="0">
                <a:solidFill>
                  <a:schemeClr val="accent1"/>
                </a:solidFill>
              </a:rPr>
              <a:t>NEXT IN THE FILE</a:t>
            </a:r>
            <a:endParaRPr lang="en-US" sz="1300" dirty="0"/>
          </a:p>
        </p:txBody>
      </p:sp>
      <p:sp>
        <p:nvSpPr>
          <p:cNvPr id="6" name="Text 4"/>
          <p:cNvSpPr txBox="1"/>
          <p:nvPr/>
        </p:nvSpPr>
        <p:spPr>
          <a:xfrm>
            <a:off x="822960" y="2350008"/>
            <a:ext cx="5486400" cy="2011680"/>
          </a:xfrm>
          <a:prstGeom prst="rect">
            <a:avLst/>
          </a:prstGeom>
          <a:noFill/>
          <a:ln/>
        </p:spPr>
        <p:txBody>
          <a:bodyPr wrap="square" lIns="0" tIns="0" rIns="0" bIns="0" rtlCol="0" anchor="t"/>
          <a:lstStyle/>
          <a:p>
            <a:pPr indent="0" marL="0">
              <a:buNone/>
            </a:pPr>
            <a:r>
              <a:rPr lang="en-US" sz="2200" i="1" dirty="0">
                <a:solidFill>
                  <a:schemeClr val="bg1"/>
                </a:solidFill>
                <a:latin typeface="+mj-lt" pitchFamily="34" charset="0"/>
                <a:ea typeface="+mj-lt" pitchFamily="34" charset="-122"/>
                <a:cs typeface="+mj-lt" pitchFamily="34" charset="-120"/>
              </a:rPr>
              <a:t>Samuel stands up behind the rack. </a:t>
            </a:r>
            <a:r>
              <a:rPr lang="en-US" sz="2200" b="1" i="1" dirty="0">
                <a:solidFill>
                  <a:schemeClr val="bg1"/>
                </a:solidFill>
                <a:latin typeface="+mj-lt" pitchFamily="34" charset="0"/>
                <a:ea typeface="+mj-lt" pitchFamily="34" charset="-122"/>
                <a:cs typeface="+mj-lt" pitchFamily="34" charset="-120"/>
              </a:rPr>
              <a:t>“There is something else,”</a:t>
            </a:r>
            <a:r>
              <a:rPr lang="en-US" sz="2200" i="1" dirty="0">
                <a:solidFill>
                  <a:schemeClr val="bg1"/>
                </a:solidFill>
                <a:latin typeface="+mj-lt" pitchFamily="34" charset="0"/>
                <a:ea typeface="+mj-lt" pitchFamily="34" charset="-122"/>
                <a:cs typeface="+mj-lt" pitchFamily="34" charset="-120"/>
              </a:rPr>
              <a:t> he says. </a:t>
            </a:r>
            <a:r>
              <a:rPr lang="en-US" sz="2200" b="1" i="1" dirty="0">
                <a:solidFill>
                  <a:schemeClr val="bg1"/>
                </a:solidFill>
                <a:latin typeface="+mj-lt" pitchFamily="34" charset="0"/>
                <a:ea typeface="+mj-lt" pitchFamily="34" charset="-122"/>
                <a:cs typeface="+mj-lt" pitchFamily="34" charset="-120"/>
              </a:rPr>
              <a:t>“The log does not say what you think it says.”</a:t>
            </a:r>
            <a:endParaRPr lang="en-US" sz="2200" dirty="0"/>
          </a:p>
        </p:txBody>
      </p:sp>
      <p:sp>
        <p:nvSpPr>
          <p:cNvPr id="7" name="Shape 5"/>
          <p:cNvSpPr/>
          <p:nvPr/>
        </p:nvSpPr>
        <p:spPr>
          <a:xfrm>
            <a:off x="548640" y="4754880"/>
            <a:ext cx="6035040" cy="1554480"/>
          </a:xfrm>
          <a:prstGeom prst="roundRect">
            <a:avLst>
              <a:gd name="adj" fmla="val 4706"/>
            </a:avLst>
          </a:prstGeom>
          <a:solidFill>
            <a:srgbClr val="C0752A">
              <a:alpha val="12000"/>
            </a:srgbClr>
          </a:solidFill>
          <a:ln w="15875">
            <a:solidFill>
              <a:srgbClr val="C0752A"/>
            </a:solidFill>
            <a:prstDash val="solid"/>
          </a:ln>
        </p:spPr>
      </p:sp>
      <p:pic>
        <p:nvPicPr>
          <p:cNvPr id="8" name="Image 0" descr="preencoded.png">    </p:cNvPr>
          <p:cNvPicPr>
            <a:picLocks noChangeAspect="1"/>
          </p:cNvPicPr>
          <p:nvPr/>
        </p:nvPicPr>
        <p:blipFill>
          <a:blip r:embed="rId1"/>
          <a:stretch>
            <a:fillRect/>
          </a:stretch>
        </p:blipFill>
        <p:spPr>
          <a:xfrm>
            <a:off x="822960" y="4983480"/>
            <a:ext cx="329184" cy="329184"/>
          </a:xfrm>
          <a:prstGeom prst="rect">
            <a:avLst/>
          </a:prstGeom>
        </p:spPr>
      </p:pic>
      <p:sp>
        <p:nvSpPr>
          <p:cNvPr id="9" name="Text 6"/>
          <p:cNvSpPr txBox="1"/>
          <p:nvPr/>
        </p:nvSpPr>
        <p:spPr>
          <a:xfrm>
            <a:off x="1298448" y="4956048"/>
            <a:ext cx="3657600" cy="384048"/>
          </a:xfrm>
          <a:prstGeom prst="rect">
            <a:avLst/>
          </a:prstGeom>
          <a:noFill/>
          <a:ln/>
        </p:spPr>
        <p:txBody>
          <a:bodyPr wrap="square" lIns="0" tIns="0" rIns="0" bIns="0" rtlCol="0" anchor="ctr"/>
          <a:lstStyle/>
          <a:p>
            <a:pPr indent="0" marL="0">
              <a:buNone/>
            </a:pPr>
            <a:r>
              <a:rPr lang="en-US" sz="1300" b="1" spc="200" kern="0" dirty="0">
                <a:solidFill>
                  <a:schemeClr val="accent1"/>
                </a:solidFill>
              </a:rPr>
              <a:t>EXIT TICKET</a:t>
            </a:r>
            <a:endParaRPr lang="en-US" sz="1300" dirty="0"/>
          </a:p>
        </p:txBody>
      </p:sp>
      <p:sp>
        <p:nvSpPr>
          <p:cNvPr id="10" name="Text 7"/>
          <p:cNvSpPr txBox="1"/>
          <p:nvPr/>
        </p:nvSpPr>
        <p:spPr>
          <a:xfrm>
            <a:off x="822960" y="5440680"/>
            <a:ext cx="5486400" cy="777240"/>
          </a:xfrm>
          <a:prstGeom prst="rect">
            <a:avLst/>
          </a:prstGeom>
          <a:noFill/>
          <a:ln/>
        </p:spPr>
        <p:txBody>
          <a:bodyPr wrap="square" lIns="0" tIns="0" rIns="0" bIns="0" rtlCol="0" anchor="t"/>
          <a:lstStyle/>
          <a:p>
            <a:pPr indent="0" marL="0">
              <a:buNone/>
            </a:pPr>
            <a:r>
              <a:rPr lang="en-US" sz="1800" dirty="0">
                <a:solidFill>
                  <a:schemeClr val="tx1"/>
                </a:solidFill>
              </a:rPr>
              <a:t>One sentence with </a:t>
            </a:r>
            <a:r>
              <a:rPr lang="en-US" sz="1800" b="1" dirty="0">
                <a:solidFill>
                  <a:schemeClr val="tx1"/>
                </a:solidFill>
              </a:rPr>
              <a:t>while</a:t>
            </a:r>
            <a:r>
              <a:rPr lang="en-US" sz="1800" dirty="0">
                <a:solidFill>
                  <a:schemeClr val="tx1"/>
                </a:solidFill>
              </a:rPr>
              <a:t>, one with </a:t>
            </a:r>
            <a:r>
              <a:rPr lang="en-US" sz="1800" b="1" dirty="0">
                <a:solidFill>
                  <a:schemeClr val="tx1"/>
                </a:solidFill>
              </a:rPr>
              <a:t>when</a:t>
            </a:r>
            <a:r>
              <a:rPr lang="en-US" sz="1800" dirty="0">
                <a:solidFill>
                  <a:schemeClr val="tx1"/>
                </a:solidFill>
              </a:rPr>
              <a:t>, about the night at Atlas House.</a:t>
            </a:r>
            <a:endParaRPr lang="en-US" sz="1800" dirty="0"/>
          </a:p>
        </p:txBody>
      </p:sp>
      <p:sp>
        <p:nvSpPr>
          <p:cNvPr id="11" name="Shape 8"/>
          <p:cNvSpPr/>
          <p:nvPr/>
        </p:nvSpPr>
        <p:spPr>
          <a:xfrm>
            <a:off x="6903720" y="1783080"/>
            <a:ext cx="4736592" cy="4526280"/>
          </a:xfrm>
          <a:prstGeom prst="roundRect">
            <a:avLst>
              <a:gd name="adj" fmla="val 1616"/>
            </a:avLst>
          </a:prstGeom>
          <a:solidFill>
            <a:srgbClr val="EEF2F8"/>
          </a:solidFill>
          <a:ln w="9525">
            <a:solidFill>
              <a:srgbClr val="D5DCE6"/>
            </a:solidFill>
            <a:prstDash val="solid"/>
          </a:ln>
        </p:spPr>
      </p:sp>
      <p:pic>
        <p:nvPicPr>
          <p:cNvPr id="12" name="Image 1" descr="preencoded.png">    </p:cNvPr>
          <p:cNvPicPr>
            <a:picLocks noChangeAspect="1"/>
          </p:cNvPicPr>
          <p:nvPr/>
        </p:nvPicPr>
        <p:blipFill>
          <a:blip r:embed="rId2"/>
          <a:stretch>
            <a:fillRect/>
          </a:stretch>
        </p:blipFill>
        <p:spPr>
          <a:xfrm>
            <a:off x="7159752" y="2002536"/>
            <a:ext cx="365760" cy="365760"/>
          </a:xfrm>
          <a:prstGeom prst="rect">
            <a:avLst/>
          </a:prstGeom>
        </p:spPr>
      </p:pic>
      <p:sp>
        <p:nvSpPr>
          <p:cNvPr id="13" name="Text 9"/>
          <p:cNvSpPr txBox="1"/>
          <p:nvPr/>
        </p:nvSpPr>
        <p:spPr>
          <a:xfrm>
            <a:off x="7653528" y="1984248"/>
            <a:ext cx="3822192" cy="384048"/>
          </a:xfrm>
          <a:prstGeom prst="rect">
            <a:avLst/>
          </a:prstGeom>
          <a:noFill/>
          <a:ln/>
        </p:spPr>
        <p:txBody>
          <a:bodyPr wrap="square" lIns="0" tIns="0" rIns="0" bIns="0" rtlCol="0" anchor="ctr"/>
          <a:lstStyle/>
          <a:p>
            <a:pPr indent="0" marL="0">
              <a:buNone/>
            </a:pPr>
            <a:r>
              <a:rPr lang="en-US" sz="1400" b="1" spc="100" kern="0" dirty="0">
                <a:solidFill>
                  <a:schemeClr val="tx2"/>
                </a:solidFill>
              </a:rPr>
              <a:t>BEFORE NEXT SESSION</a:t>
            </a:r>
            <a:endParaRPr lang="en-US" sz="1400" dirty="0"/>
          </a:p>
        </p:txBody>
      </p:sp>
      <p:pic>
        <p:nvPicPr>
          <p:cNvPr id="14" name="Image 2" descr="preencoded.png">    </p:cNvPr>
          <p:cNvPicPr>
            <a:picLocks noChangeAspect="1"/>
          </p:cNvPicPr>
          <p:nvPr/>
        </p:nvPicPr>
        <p:blipFill>
          <a:blip r:embed="rId3"/>
          <a:stretch>
            <a:fillRect/>
          </a:stretch>
        </p:blipFill>
        <p:spPr>
          <a:xfrm>
            <a:off x="7178040" y="2606040"/>
            <a:ext cx="256032" cy="256032"/>
          </a:xfrm>
          <a:prstGeom prst="rect">
            <a:avLst/>
          </a:prstGeom>
        </p:spPr>
      </p:pic>
      <p:sp>
        <p:nvSpPr>
          <p:cNvPr id="15" name="Text 10"/>
          <p:cNvSpPr txBox="1"/>
          <p:nvPr/>
        </p:nvSpPr>
        <p:spPr>
          <a:xfrm>
            <a:off x="7589520" y="2560320"/>
            <a:ext cx="3867912" cy="1005840"/>
          </a:xfrm>
          <a:prstGeom prst="rect">
            <a:avLst/>
          </a:prstGeom>
          <a:noFill/>
          <a:ln/>
        </p:spPr>
        <p:txBody>
          <a:bodyPr wrap="square" lIns="0" tIns="0" rIns="0" bIns="0" rtlCol="0" anchor="t"/>
          <a:lstStyle/>
          <a:p>
            <a:pPr indent="0" marL="0">
              <a:buNone/>
            </a:pPr>
            <a:r>
              <a:rPr lang="en-US" sz="1700" dirty="0">
                <a:solidFill>
                  <a:schemeClr val="tx1"/>
                </a:solidFill>
              </a:rPr>
              <a:t>Copy the corrected timeline (p. 9).</a:t>
            </a:r>
            <a:endParaRPr lang="en-US" sz="1700" dirty="0"/>
          </a:p>
        </p:txBody>
      </p:sp>
      <p:pic>
        <p:nvPicPr>
          <p:cNvPr id="16" name="Image 3" descr="preencoded.png">    </p:cNvPr>
          <p:cNvPicPr>
            <a:picLocks noChangeAspect="1"/>
          </p:cNvPicPr>
          <p:nvPr/>
        </p:nvPicPr>
        <p:blipFill>
          <a:blip r:embed="rId4"/>
          <a:stretch>
            <a:fillRect/>
          </a:stretch>
        </p:blipFill>
        <p:spPr>
          <a:xfrm>
            <a:off x="7178040" y="3611880"/>
            <a:ext cx="256032" cy="256032"/>
          </a:xfrm>
          <a:prstGeom prst="rect">
            <a:avLst/>
          </a:prstGeom>
        </p:spPr>
      </p:pic>
      <p:sp>
        <p:nvSpPr>
          <p:cNvPr id="17" name="Text 11"/>
          <p:cNvSpPr txBox="1"/>
          <p:nvPr/>
        </p:nvSpPr>
        <p:spPr>
          <a:xfrm>
            <a:off x="7589520" y="3566160"/>
            <a:ext cx="3867912" cy="1005840"/>
          </a:xfrm>
          <a:prstGeom prst="rect">
            <a:avLst/>
          </a:prstGeom>
          <a:noFill/>
          <a:ln/>
        </p:spPr>
        <p:txBody>
          <a:bodyPr wrap="square" lIns="0" tIns="0" rIns="0" bIns="0" rtlCol="0" anchor="t"/>
          <a:lstStyle/>
          <a:p>
            <a:pPr indent="0" marL="0">
              <a:buNone/>
            </a:pPr>
            <a:r>
              <a:rPr lang="en-US" sz="1700" dirty="0">
                <a:solidFill>
                  <a:schemeClr val="tx1"/>
                </a:solidFill>
              </a:rPr>
              <a:t>Learn the </a:t>
            </a:r>
            <a:r>
              <a:rPr lang="en-US" sz="1700" b="1" dirty="0">
                <a:solidFill>
                  <a:schemeClr val="tx1"/>
                </a:solidFill>
              </a:rPr>
              <a:t>spelling tree</a:t>
            </a:r>
            <a:r>
              <a:rPr lang="en-US" sz="1700" dirty="0">
                <a:solidFill>
                  <a:schemeClr val="tx1"/>
                </a:solidFill>
              </a:rPr>
              <a:t> for -ing and -ed.</a:t>
            </a:r>
            <a:endParaRPr lang="en-US" sz="1700" dirty="0"/>
          </a:p>
        </p:txBody>
      </p:sp>
      <p:pic>
        <p:nvPicPr>
          <p:cNvPr id="18" name="Image 4" descr="preencoded.png">    </p:cNvPr>
          <p:cNvPicPr>
            <a:picLocks noChangeAspect="1"/>
          </p:cNvPicPr>
          <p:nvPr/>
        </p:nvPicPr>
        <p:blipFill>
          <a:blip r:embed="rId5"/>
          <a:stretch>
            <a:fillRect/>
          </a:stretch>
        </p:blipFill>
        <p:spPr>
          <a:xfrm>
            <a:off x="7178040" y="4617720"/>
            <a:ext cx="256032" cy="256032"/>
          </a:xfrm>
          <a:prstGeom prst="rect">
            <a:avLst/>
          </a:prstGeom>
        </p:spPr>
      </p:pic>
      <p:sp>
        <p:nvSpPr>
          <p:cNvPr id="19" name="Text 12"/>
          <p:cNvSpPr txBox="1"/>
          <p:nvPr/>
        </p:nvSpPr>
        <p:spPr>
          <a:xfrm>
            <a:off x="7589520" y="4572000"/>
            <a:ext cx="3867912" cy="1005840"/>
          </a:xfrm>
          <a:prstGeom prst="rect">
            <a:avLst/>
          </a:prstGeom>
          <a:noFill/>
          <a:ln/>
        </p:spPr>
        <p:txBody>
          <a:bodyPr wrap="square" lIns="0" tIns="0" rIns="0" bIns="0" rtlCol="0" anchor="t"/>
          <a:lstStyle/>
          <a:p>
            <a:pPr indent="0" marL="0">
              <a:buNone/>
            </a:pPr>
            <a:r>
              <a:rPr lang="en-US" sz="1700" dirty="0">
                <a:solidFill>
                  <a:schemeClr val="tx1"/>
                </a:solidFill>
              </a:rPr>
              <a:t>Write 5 sentences: what </a:t>
            </a:r>
            <a:r>
              <a:rPr lang="en-US" sz="1700" b="1" dirty="0">
                <a:solidFill>
                  <a:schemeClr val="tx1"/>
                </a:solidFill>
              </a:rPr>
              <a:t>were</a:t>
            </a:r>
            <a:r>
              <a:rPr lang="en-US" sz="1700" dirty="0">
                <a:solidFill>
                  <a:schemeClr val="tx1"/>
                </a:solidFill>
              </a:rPr>
              <a:t> you </a:t>
            </a:r>
            <a:r>
              <a:rPr lang="en-US" sz="1700" b="1" dirty="0">
                <a:solidFill>
                  <a:schemeClr val="tx1"/>
                </a:solidFill>
              </a:rPr>
              <a:t>doing</a:t>
            </a:r>
            <a:r>
              <a:rPr lang="en-US" sz="1700" dirty="0">
                <a:solidFill>
                  <a:schemeClr val="tx1"/>
                </a:solidFill>
              </a:rPr>
              <a:t> yesterday at 8 p.m., 10 p.m. and 7 a.m.?</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Project Atlas">
  <a:themeElements>
    <a:clrScheme name="Project Atlas">
      <a:dk1>
        <a:srgbClr val="1B2333"/>
      </a:dk1>
      <a:lt1>
        <a:srgbClr val="FFFFFF"/>
      </a:lt1>
      <a:dk2>
        <a:srgbClr val="1F3864"/>
      </a:dk2>
      <a:lt2>
        <a:srgbClr val="EEF2F8"/>
      </a:lt2>
      <a:accent1>
        <a:srgbClr val="C0752A"/>
      </a:accent1>
      <a:accent2>
        <a:srgbClr val="2E75B6"/>
      </a:accent2>
      <a:accent3>
        <a:srgbClr val="3C7A3C"/>
      </a:accent3>
      <a:accent4>
        <a:srgbClr val="6E4A9E"/>
      </a:accent4>
      <a:accent5>
        <a:srgbClr val="44546A"/>
      </a:accent5>
      <a:accent6>
        <a:srgbClr val="B03A2E"/>
      </a:accent6>
      <a:hlink>
        <a:srgbClr val="2E75B6"/>
      </a:hlink>
      <a:folHlink>
        <a:srgbClr val="6E4A9E"/>
      </a:folHlink>
    </a:clrScheme>
    <a:fontScheme name="Project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English UE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05 — Build the timeline Mark asked for</dc:title>
  <dc:subject>Case File 01 — The night nobody heard</dc:subject>
  <dc:creator>A. Jouniaux</dc:creator>
  <cp:lastModifiedBy>A. Jouniaux</cp:lastModifiedBy>
  <cp:revision>1</cp:revision>
  <dcterms:created xsi:type="dcterms:W3CDTF">2026-10-16T09:31:58Z</dcterms:created>
  <dcterms:modified xsi:type="dcterms:W3CDTF">2026-10-16T09:31:58Z</dcterms:modified>
</cp:coreProperties>
</file>