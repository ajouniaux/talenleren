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48b96c1-0cbd-87ad-c8df-0acdddf0124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ôture" id="{93fd803d-917f-79f5-199b-320880ed845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Scène 2 : lecture du dialogue dans le local technique. Objectif grammatical : le past continuous (arrière-plan) face au prétérit (événement).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Description au présent continu (is photographing, is kneeling, is standing) : tremplin vers le past continuous (was photographing…). Faire lire les bulles de l’image.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Prononciation : ceiling /ˈsiːlɪŋ/, soaked /səʊkt/, plaster /ˈplɑːstə/.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à voix haute par 4 élèves. Questions flash : Who found the water? When did it start? (Not yet known.)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livret passe de la ligne 10 à la ligne 12 : la réplique 11 (réponse à « Has anyone told the insurer yet? ») manque. Faire deviner : « Not yet. » (cf. image p.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 ajoutée qui prépare la scène 3 (« Sort the witnesses », p.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Ligne 3 : Samuel cite les logs, mais la scène 3 montrera 23:41 et non 11.40. Ligne 4 : rien ne le prouve — la scène 3 montrera une entrée de badge à 20:04.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d’ensemble : ce dialogue annonce toute la progression grammaticale du dossier.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verbaliser : « While everybody was sleeping, the alarm went off. » / « The water was still running when the cleaners found it. » Les heures exactes viendront de l’Exhibit A (scène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04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04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04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2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08.15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room with water in it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Four people, a wet floor and nobody knows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8–9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2120"/>
            <a:ext cx="5120640" cy="34137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list of </a:t>
            </a:r>
            <a:r>
              <a:rPr lang="en-US" sz="1800" b="1" dirty="0">
                <a:solidFill>
                  <a:schemeClr val="tx1"/>
                </a:solidFill>
              </a:rPr>
              <a:t>who said what</a:t>
            </a:r>
            <a:r>
              <a:rPr lang="en-US" sz="1800" dirty="0">
                <a:solidFill>
                  <a:schemeClr val="tx1"/>
                </a:solidFill>
              </a:rPr>
              <a:t> in the room — and </a:t>
            </a:r>
            <a:r>
              <a:rPr lang="en-US" sz="1800" b="1" dirty="0">
                <a:solidFill>
                  <a:schemeClr val="tx1"/>
                </a:solidFill>
              </a:rPr>
              <a:t>how sure</a:t>
            </a:r>
            <a:r>
              <a:rPr lang="en-US" sz="1800" dirty="0">
                <a:solidFill>
                  <a:schemeClr val="tx1"/>
                </a:solidFill>
              </a:rPr>
              <a:t> each speaker was.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Past continuous (</a:t>
            </a:r>
            <a:r>
              <a:rPr lang="en-US" sz="1800" i="1" dirty="0">
                <a:solidFill>
                  <a:schemeClr val="tx1"/>
                </a:solidFill>
              </a:rPr>
              <a:t>was / were + -ing</a:t>
            </a:r>
            <a:r>
              <a:rPr lang="en-US" sz="1800" dirty="0">
                <a:solidFill>
                  <a:schemeClr val="tx1"/>
                </a:solidFill>
              </a:rPr>
              <a:t>) vs past simple · certainty markers (</a:t>
            </a:r>
            <a:r>
              <a:rPr lang="en-US" sz="1800" i="1" dirty="0">
                <a:solidFill>
                  <a:schemeClr val="tx1"/>
                </a:solidFill>
              </a:rPr>
              <a:t>I think, may, might</a:t>
            </a:r>
            <a:r>
              <a:rPr lang="en-US" sz="1800" dirty="0">
                <a:solidFill>
                  <a:schemeClr val="tx1"/>
                </a:solidFill>
              </a:rPr>
              <a:t>) · vocabulary of the room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Describing a picture · reading a dialogue for facts · acting out a scene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2887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288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Warm-up: phrasal verbs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42163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421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36728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Describe the picture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36728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29143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29143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86004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Words of the room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86004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4071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407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35280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Read the scene (p. 8–9)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35280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389991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38999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384556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Who said what — how sure?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384556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39267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3926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33832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Past continuous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33832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488543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4885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483108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Extra practice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483108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3781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37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32384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 it out</a:t>
            </a:r>
            <a:endParaRPr lang="en-US" sz="15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32384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54" name="Shape 49"/>
          <p:cNvSpPr/>
          <p:nvPr/>
        </p:nvSpPr>
        <p:spPr>
          <a:xfrm>
            <a:off x="6263640" y="58709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263640" y="5870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6" name="Text 51"/>
          <p:cNvSpPr txBox="1"/>
          <p:nvPr/>
        </p:nvSpPr>
        <p:spPr>
          <a:xfrm>
            <a:off x="6784848" y="5816600"/>
            <a:ext cx="411480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Wrap-up</a:t>
            </a:r>
            <a:endParaRPr lang="en-US" sz="1500" dirty="0"/>
          </a:p>
        </p:txBody>
      </p:sp>
      <p:sp>
        <p:nvSpPr>
          <p:cNvPr id="57" name="Text 52"/>
          <p:cNvSpPr txBox="1"/>
          <p:nvPr/>
        </p:nvSpPr>
        <p:spPr>
          <a:xfrm>
            <a:off x="10972800" y="5816600"/>
            <a:ext cx="66751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phrasal verbs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3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at 23.41. </a:t>
            </a:r>
            <a:r>
              <a:rPr lang="en-US" sz="2400" i="1" dirty="0">
                <a:solidFill>
                  <a:schemeClr val="tx1"/>
                </a:solidFill>
              </a:rPr>
              <a:t>(se déclencher)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Two units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during the night. </a:t>
            </a:r>
            <a:r>
              <a:rPr lang="en-US" sz="2400" i="1" dirty="0">
                <a:solidFill>
                  <a:schemeClr val="tx1"/>
                </a:solidFill>
              </a:rPr>
              <a:t>(tomber en panne)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before 6.47. </a:t>
            </a:r>
            <a:r>
              <a:rPr lang="en-US" sz="2400" i="1" dirty="0">
                <a:solidFill>
                  <a:schemeClr val="tx1"/>
                </a:solidFill>
              </a:rPr>
              <a:t>(arriver)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 will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log this morning. </a:t>
            </a:r>
            <a:r>
              <a:rPr lang="en-US" sz="2400" i="1" dirty="0">
                <a:solidFill>
                  <a:schemeClr val="tx1"/>
                </a:solidFill>
              </a:rPr>
              <a:t>(examiner)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We cannot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decision. </a:t>
            </a:r>
            <a:r>
              <a:rPr lang="en-US" sz="2400" i="1" dirty="0">
                <a:solidFill>
                  <a:schemeClr val="tx1"/>
                </a:solidFill>
              </a:rPr>
              <a:t>(reporter)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phrasal verbs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3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b="1" dirty="0">
                <a:solidFill>
                  <a:schemeClr val="accent3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at 23.41. </a:t>
            </a:r>
            <a:r>
              <a:rPr lang="en-US" sz="2400" i="1" dirty="0">
                <a:solidFill>
                  <a:schemeClr val="tx1"/>
                </a:solidFill>
              </a:rPr>
              <a:t>(se déclencher)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Two units </a:t>
            </a:r>
            <a:r>
              <a:rPr lang="en-US" sz="2400" b="1" dirty="0">
                <a:solidFill>
                  <a:schemeClr val="accent3"/>
                </a:solidFill>
              </a:rPr>
              <a:t>broke down</a:t>
            </a:r>
            <a:r>
              <a:rPr lang="en-US" sz="2400" dirty="0">
                <a:solidFill>
                  <a:schemeClr val="tx1"/>
                </a:solidFill>
              </a:rPr>
              <a:t> during the night. </a:t>
            </a:r>
            <a:r>
              <a:rPr lang="en-US" sz="2400" i="1" dirty="0">
                <a:solidFill>
                  <a:schemeClr val="tx1"/>
                </a:solidFill>
              </a:rPr>
              <a:t>(tomber en panne)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b="1" dirty="0">
                <a:solidFill>
                  <a:schemeClr val="accent3"/>
                </a:solidFill>
              </a:rPr>
              <a:t>turned up</a:t>
            </a:r>
            <a:r>
              <a:rPr lang="en-US" sz="2400" dirty="0">
                <a:solidFill>
                  <a:schemeClr val="tx1"/>
                </a:solidFill>
              </a:rPr>
              <a:t> before 6.47. </a:t>
            </a:r>
            <a:r>
              <a:rPr lang="en-US" sz="2400" i="1" dirty="0">
                <a:solidFill>
                  <a:schemeClr val="tx1"/>
                </a:solidFill>
              </a:rPr>
              <a:t>(arriver)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 will </a:t>
            </a:r>
            <a:r>
              <a:rPr lang="en-US" sz="2400" b="1" dirty="0">
                <a:solidFill>
                  <a:schemeClr val="accent3"/>
                </a:solidFill>
              </a:rPr>
              <a:t>look into</a:t>
            </a:r>
            <a:r>
              <a:rPr lang="en-US" sz="2400" dirty="0">
                <a:solidFill>
                  <a:schemeClr val="tx1"/>
                </a:solidFill>
              </a:rPr>
              <a:t> the log this morning. </a:t>
            </a:r>
            <a:r>
              <a:rPr lang="en-US" sz="2400" i="1" dirty="0">
                <a:solidFill>
                  <a:schemeClr val="tx1"/>
                </a:solidFill>
              </a:rPr>
              <a:t>(examiner)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We cannot </a:t>
            </a:r>
            <a:r>
              <a:rPr lang="en-US" sz="2400" b="1" dirty="0">
                <a:solidFill>
                  <a:schemeClr val="accent3"/>
                </a:solidFill>
              </a:rPr>
              <a:t>put off</a:t>
            </a:r>
            <a:r>
              <a:rPr lang="en-US" sz="2400" dirty="0">
                <a:solidFill>
                  <a:schemeClr val="tx1"/>
                </a:solidFill>
              </a:rPr>
              <a:t> the decision. </a:t>
            </a:r>
            <a:r>
              <a:rPr lang="en-US" sz="2400" i="1" dirty="0">
                <a:solidFill>
                  <a:schemeClr val="tx1"/>
                </a:solidFill>
              </a:rPr>
              <a:t>(reporter)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room with water in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</a:t>
            </a:r>
            <a:endParaRPr lang="en-US" sz="1200" dirty="0"/>
          </a:p>
        </p:txBody>
      </p:sp>
      <p:pic>
        <p:nvPicPr>
          <p:cNvPr id="6" name="illustration" descr="The flooded technical room: Iris photographs the ceiling, Samuel kneels behind the server rack, Mark stands in the door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40233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995160" y="15087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95160" y="15544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2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08.15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995160" y="2560320"/>
            <a:ext cx="4645152" cy="238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The technical room </a:t>
            </a:r>
            <a:r>
              <a:rPr lang="en-US" sz="2000" b="1" dirty="0">
                <a:solidFill>
                  <a:schemeClr val="tx1"/>
                </a:solidFill>
              </a:rPr>
              <a:t>smells of wet plaster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Iris</a:t>
            </a:r>
            <a:r>
              <a:rPr lang="en-US" sz="2000" dirty="0">
                <a:solidFill>
                  <a:schemeClr val="tx1"/>
                </a:solidFill>
              </a:rPr>
              <a:t> is photographing the ceiling. </a:t>
            </a:r>
            <a:r>
              <a:rPr lang="en-US" sz="2000" b="1" dirty="0">
                <a:solidFill>
                  <a:schemeClr val="tx1"/>
                </a:solidFill>
              </a:rPr>
              <a:t>Samuel</a:t>
            </a:r>
            <a:r>
              <a:rPr lang="en-US" sz="2000" dirty="0">
                <a:solidFill>
                  <a:schemeClr val="tx1"/>
                </a:solidFill>
              </a:rPr>
              <a:t> is on his knees behind the server rack with a torch. </a:t>
            </a:r>
            <a:r>
              <a:rPr lang="en-US" sz="2000" b="1" dirty="0">
                <a:solidFill>
                  <a:schemeClr val="tx1"/>
                </a:solidFill>
              </a:rPr>
              <a:t>Mark</a:t>
            </a:r>
            <a:r>
              <a:rPr lang="en-US" sz="2000" dirty="0">
                <a:solidFill>
                  <a:schemeClr val="tx1"/>
                </a:solidFill>
              </a:rPr>
              <a:t> is standing in the doorway with his coat still on.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Nobody sits down.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995160" y="5123688"/>
            <a:ext cx="4645152" cy="1167384"/>
          </a:xfrm>
          <a:prstGeom prst="roundRect">
            <a:avLst>
              <a:gd name="adj" fmla="val 6266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178040" y="521512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5507736"/>
            <a:ext cx="4279392" cy="71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Look at the picture: </a:t>
            </a:r>
            <a:r>
              <a:rPr lang="en-US" sz="1700" b="1" dirty="0">
                <a:solidFill>
                  <a:schemeClr val="tx1"/>
                </a:solidFill>
              </a:rPr>
              <a:t>who is doing what?</a:t>
            </a:r>
            <a:r>
              <a:rPr lang="en-US" sz="1700" dirty="0">
                <a:solidFill>
                  <a:schemeClr val="tx1"/>
                </a:solidFill>
              </a:rPr>
              <a:t> Answer with </a:t>
            </a:r>
            <a:r>
              <a:rPr lang="en-US" sz="1700" i="1" dirty="0">
                <a:solidFill>
                  <a:schemeClr val="tx1"/>
                </a:solidFill>
              </a:rPr>
              <a:t>is / are + -ing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Words of the room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VOCABULARY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  <a:gridCol w="5513832"/>
              </a:tblGrid>
              <a:tr h="5239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ENGLISH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IN THE SCENE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963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the ceiling · a ceiling tile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le plafond · une dalle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Iris is photographing the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ceiling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wet plaster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du plâtre mouillé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 room smells of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wet plaster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soaked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trempé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 floor is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soaked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a pipe · to leak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une canalisation · fuir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pipe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above the ceiling was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leaking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1963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a server rack · a unit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une baie · un serveur (module)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Two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units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 have already stopped.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963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a torch (UK) / a flashlight (US)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une lampe torche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Samuel is behind the rack with a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torch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the doorway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l’embrasure de la porte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Mark is standing in the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doorway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cabling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le câblage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They were installing the new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cabling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9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Technical room, second floor (1/2)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08760"/>
            <a:ext cx="11091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01  </a:t>
            </a:r>
            <a:r>
              <a:rPr lang="en-US" sz="1800" b="1" dirty="0">
                <a:solidFill>
                  <a:schemeClr val="tx2"/>
                </a:solidFill>
              </a:rPr>
              <a:t>MARK:  </a:t>
            </a:r>
            <a:r>
              <a:rPr lang="en-US" sz="1800" dirty="0">
                <a:solidFill>
                  <a:schemeClr val="tx1"/>
                </a:solidFill>
              </a:rPr>
              <a:t>« Thanks for coming so early. We have a problem.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02  </a:t>
            </a:r>
            <a:r>
              <a:rPr lang="en-US" sz="1800" b="1" dirty="0">
                <a:solidFill>
                  <a:schemeClr val="accent1"/>
                </a:solidFill>
              </a:rPr>
              <a:t>YOU:  </a:t>
            </a:r>
            <a:r>
              <a:rPr lang="en-US" sz="1800" dirty="0">
                <a:solidFill>
                  <a:schemeClr val="tx1"/>
                </a:solidFill>
              </a:rPr>
              <a:t>« I got your message at seven. What exactly happened?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03  </a:t>
            </a:r>
            <a:r>
              <a:rPr lang="en-US" sz="1800" b="1" dirty="0">
                <a:solidFill>
                  <a:schemeClr val="tx2"/>
                </a:solidFill>
              </a:rPr>
              <a:t>MARK:  </a:t>
            </a:r>
            <a:r>
              <a:rPr lang="en-US" sz="1800" dirty="0">
                <a:solidFill>
                  <a:schemeClr val="tx1"/>
                </a:solidFill>
              </a:rPr>
              <a:t>« The cleaners found water in here this morning. It was still running when they arrived.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04  </a:t>
            </a:r>
            <a:r>
              <a:rPr lang="en-US" sz="1800" b="1" dirty="0">
                <a:solidFill>
                  <a:schemeClr val="accent1"/>
                </a:solidFill>
              </a:rPr>
              <a:t>YOU:  </a:t>
            </a:r>
            <a:r>
              <a:rPr lang="en-US" sz="1800" dirty="0">
                <a:solidFill>
                  <a:schemeClr val="tx1"/>
                </a:solidFill>
              </a:rPr>
              <a:t>« Do we know when it started?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05  </a:t>
            </a:r>
            <a:r>
              <a:rPr lang="en-US" sz="1800" b="1" dirty="0">
                <a:solidFill>
                  <a:schemeClr val="tx2"/>
                </a:solidFill>
              </a:rPr>
              <a:t>MARK:  </a:t>
            </a:r>
            <a:r>
              <a:rPr lang="en-US" sz="1800" dirty="0">
                <a:solidFill>
                  <a:schemeClr val="tx1"/>
                </a:solidFill>
              </a:rPr>
              <a:t>« Not yet. Samuel was checking the server rack when I called him. He says two units have already stopped.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06  </a:t>
            </a:r>
            <a:r>
              <a:rPr lang="en-US" sz="1800" b="1" dirty="0">
                <a:solidFill>
                  <a:schemeClr val="accent3"/>
                </a:solidFill>
              </a:rPr>
              <a:t>IRIS:  </a:t>
            </a:r>
            <a:r>
              <a:rPr lang="en-US" sz="1800" dirty="0">
                <a:solidFill>
                  <a:schemeClr val="tx1"/>
                </a:solidFill>
              </a:rPr>
              <a:t>« I’ve just come back from the second floor. The pipe above the ceiling was leaking all night, I think.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07  </a:t>
            </a:r>
            <a:r>
              <a:rPr lang="en-US" sz="1800" b="1" dirty="0">
                <a:solidFill>
                  <a:schemeClr val="tx2"/>
                </a:solidFill>
              </a:rPr>
              <a:t>MARK:  </a:t>
            </a:r>
            <a:r>
              <a:rPr lang="en-US" sz="1800" dirty="0">
                <a:solidFill>
                  <a:schemeClr val="tx1"/>
                </a:solidFill>
              </a:rPr>
              <a:t>« Was anyone in the building yesterday evening?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08  </a:t>
            </a:r>
            <a:r>
              <a:rPr lang="en-US" sz="1800" b="1" dirty="0">
                <a:solidFill>
                  <a:schemeClr val="accent3"/>
                </a:solidFill>
              </a:rPr>
              <a:t>IRIS:  </a:t>
            </a:r>
            <a:r>
              <a:rPr lang="en-US" sz="1800" dirty="0">
                <a:solidFill>
                  <a:schemeClr val="tx1"/>
                </a:solidFill>
              </a:rPr>
              <a:t>« The contractor’s team was working here until eight. They were installing the new cabling.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09  </a:t>
            </a:r>
            <a:r>
              <a:rPr lang="en-US" sz="1800" b="1" dirty="0">
                <a:solidFill>
                  <a:schemeClr val="accent2"/>
                </a:solidFill>
              </a:rPr>
              <a:t>SAMUEL:  </a:t>
            </a:r>
            <a:r>
              <a:rPr lang="en-US" sz="1800" dirty="0">
                <a:solidFill>
                  <a:schemeClr val="tx1"/>
                </a:solidFill>
              </a:rPr>
              <a:t>« I’ve looked at the logs. The temperature alarm went off at 11.40 p.m., but nobody was on site. »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10  </a:t>
            </a:r>
            <a:r>
              <a:rPr lang="en-US" sz="1800" b="1" dirty="0">
                <a:solidFill>
                  <a:schemeClr val="accent1"/>
                </a:solidFill>
              </a:rPr>
              <a:t>YOU:  </a:t>
            </a:r>
            <a:r>
              <a:rPr lang="en-US" sz="1800" dirty="0">
                <a:solidFill>
                  <a:schemeClr val="tx1"/>
                </a:solidFill>
              </a:rPr>
              <a:t>« Has anyone told the insurer yet?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Technical room, second floor (2/2)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9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0876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12  </a:t>
            </a:r>
            <a:r>
              <a:rPr lang="en-US" sz="2000" b="1" dirty="0">
                <a:solidFill>
                  <a:schemeClr val="accent3"/>
                </a:solidFill>
              </a:rPr>
              <a:t>IRIS:  </a:t>
            </a:r>
            <a:r>
              <a:rPr lang="en-US" sz="2000" dirty="0">
                <a:solidFill>
                  <a:schemeClr val="tx1"/>
                </a:solidFill>
              </a:rPr>
              <a:t>« And it may be worse than it looks. The floor is soaked. »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13  </a:t>
            </a:r>
            <a:r>
              <a:rPr lang="en-US" sz="2000" b="1" dirty="0">
                <a:solidFill>
                  <a:schemeClr val="accent2"/>
                </a:solidFill>
              </a:rPr>
              <a:t>SAMUEL:  </a:t>
            </a:r>
            <a:r>
              <a:rPr lang="en-US" sz="2000" dirty="0">
                <a:solidFill>
                  <a:schemeClr val="tx1"/>
                </a:solidFill>
              </a:rPr>
              <a:t>« It might be the same pipe as last November. We have had trouble with it since the summer. »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14  </a:t>
            </a:r>
            <a:r>
              <a:rPr lang="en-US" sz="2000" b="1" dirty="0">
                <a:solidFill>
                  <a:schemeClr val="tx2"/>
                </a:solidFill>
              </a:rPr>
              <a:t>MARK:  </a:t>
            </a:r>
            <a:r>
              <a:rPr lang="en-US" sz="2000" dirty="0">
                <a:solidFill>
                  <a:schemeClr val="tx1"/>
                </a:solidFill>
              </a:rPr>
              <a:t>« We should get to the bottom of this before we file a claim. »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15  </a:t>
            </a:r>
            <a:r>
              <a:rPr lang="en-US" sz="2000" b="1" dirty="0">
                <a:solidFill>
                  <a:schemeClr val="tx2"/>
                </a:solidFill>
              </a:rPr>
              <a:t>MARK:  </a:t>
            </a:r>
            <a:r>
              <a:rPr lang="en-US" sz="2000" dirty="0">
                <a:solidFill>
                  <a:schemeClr val="tx1"/>
                </a:solidFill>
              </a:rPr>
              <a:t>« Right. I need a timeline of last night on this board by nine. Facts only. »</a:t>
            </a:r>
            <a:endParaRPr lang="en-US" sz="2000" dirty="0"/>
          </a:p>
        </p:txBody>
      </p:sp>
      <p:pic>
        <p:nvPicPr>
          <p:cNvPr id="7" name="illustration" descr="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508760"/>
            <a:ext cx="3456432" cy="2304288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8" name="aside"/>
          <p:cNvSpPr/>
          <p:nvPr/>
        </p:nvSpPr>
        <p:spPr>
          <a:xfrm>
            <a:off x="8183880" y="4160520"/>
            <a:ext cx="3456432" cy="2130552"/>
          </a:xfrm>
          <a:prstGeom prst="roundRect">
            <a:avLst>
              <a:gd name="adj" fmla="val 3433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343400"/>
            <a:ext cx="292608" cy="29260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50808" y="431596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LISTEN FOR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348472" y="4754880"/>
            <a:ext cx="312724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I think · may · might</a:t>
            </a:r>
            <a:r>
              <a:rPr lang="en-US" sz="1300" dirty="0">
                <a:solidFill>
                  <a:schemeClr val="tx1"/>
                </a:solidFill>
              </a:rPr>
              <a:t> = how sure?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was …-ing</a:t>
            </a:r>
            <a:r>
              <a:rPr lang="en-US" sz="1300" dirty="0">
                <a:solidFill>
                  <a:schemeClr val="tx1"/>
                </a:solidFill>
              </a:rPr>
              <a:t> = the background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have / has …</a:t>
            </a:r>
            <a:r>
              <a:rPr lang="en-US" sz="1300" dirty="0">
                <a:solidFill>
                  <a:schemeClr val="tx1"/>
                </a:solidFill>
              </a:rPr>
              <a:t> = where we stand now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tx1"/>
                </a:solidFill>
              </a:rPr>
              <a:t>to get to the bottom of</a:t>
            </a:r>
            <a:r>
              <a:rPr lang="en-US" sz="1300" dirty="0">
                <a:solidFill>
                  <a:schemeClr val="tx1"/>
                </a:solidFill>
              </a:rPr>
              <a:t> = tirer l’affaire au clair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scene for facts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 · hors livret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1.  </a:t>
            </a:r>
            <a:r>
              <a:rPr lang="en-US" sz="2600" dirty="0">
                <a:solidFill>
                  <a:schemeClr val="tx1"/>
                </a:solidFill>
              </a:rPr>
              <a:t>When did you get Mark’s message?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2.  </a:t>
            </a:r>
            <a:r>
              <a:rPr lang="en-US" sz="2600" dirty="0">
                <a:solidFill>
                  <a:schemeClr val="tx1"/>
                </a:solidFill>
              </a:rPr>
              <a:t>What did the cleaners find?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3.  </a:t>
            </a:r>
            <a:r>
              <a:rPr lang="en-US" sz="2600" dirty="0">
                <a:solidFill>
                  <a:schemeClr val="tx1"/>
                </a:solidFill>
              </a:rPr>
              <a:t>Do they know when it started?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4.  </a:t>
            </a:r>
            <a:r>
              <a:rPr lang="en-US" sz="2600" dirty="0">
                <a:solidFill>
                  <a:schemeClr val="tx1"/>
                </a:solidFill>
              </a:rPr>
              <a:t>What has Samuel found?</a:t>
            </a:r>
            <a:endParaRPr lang="en-US" sz="2600" dirty="0"/>
          </a:p>
        </p:txBody>
      </p:sp>
      <p:sp>
        <p:nvSpPr>
          <p:cNvPr id="6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5.  </a:t>
            </a:r>
            <a:r>
              <a:rPr lang="en-US" sz="2600" dirty="0">
                <a:solidFill>
                  <a:schemeClr val="tx1"/>
                </a:solidFill>
              </a:rPr>
              <a:t>What does Iris think about the pipe?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6.  </a:t>
            </a:r>
            <a:r>
              <a:rPr lang="en-US" sz="2600" dirty="0">
                <a:solidFill>
                  <a:schemeClr val="tx1"/>
                </a:solidFill>
              </a:rPr>
              <a:t>Who was in the building yesterday evening?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7.  </a:t>
            </a:r>
            <a:r>
              <a:rPr lang="en-US" sz="2600" dirty="0">
                <a:solidFill>
                  <a:schemeClr val="tx1"/>
                </a:solidFill>
              </a:rPr>
              <a:t>When did the temperature alarm go off?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8.  </a:t>
            </a:r>
            <a:r>
              <a:rPr lang="en-US" sz="2600" dirty="0">
                <a:solidFill>
                  <a:schemeClr val="tx1"/>
                </a:solidFill>
              </a:rPr>
              <a:t>What does Mark want by nine?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scene for facts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 · hors livret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1.  </a:t>
            </a:r>
            <a:r>
              <a:rPr lang="en-US" sz="2300" dirty="0">
                <a:solidFill>
                  <a:schemeClr val="tx1"/>
                </a:solidFill>
              </a:rPr>
              <a:t>When did you get Mark’s message?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At seven.</a:t>
            </a:r>
            <a:endParaRPr lang="en-US" sz="2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2.  </a:t>
            </a:r>
            <a:r>
              <a:rPr lang="en-US" sz="2300" dirty="0">
                <a:solidFill>
                  <a:schemeClr val="tx1"/>
                </a:solidFill>
              </a:rPr>
              <a:t>What did the cleaners find?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Water — it was still running when they arrived.</a:t>
            </a:r>
            <a:endParaRPr lang="en-US" sz="2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3.  </a:t>
            </a:r>
            <a:r>
              <a:rPr lang="en-US" sz="2300" dirty="0">
                <a:solidFill>
                  <a:schemeClr val="tx1"/>
                </a:solidFill>
              </a:rPr>
              <a:t>Do they know when it started?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Not yet.</a:t>
            </a:r>
            <a:endParaRPr lang="en-US" sz="2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4.  </a:t>
            </a:r>
            <a:r>
              <a:rPr lang="en-US" sz="2300" dirty="0">
                <a:solidFill>
                  <a:schemeClr val="tx1"/>
                </a:solidFill>
              </a:rPr>
              <a:t>What has Samuel found?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Two units have already stopped.</a:t>
            </a:r>
            <a:endParaRPr lang="en-US" sz="2300" dirty="0"/>
          </a:p>
        </p:txBody>
      </p:sp>
      <p:sp>
        <p:nvSpPr>
          <p:cNvPr id="7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5.  </a:t>
            </a:r>
            <a:r>
              <a:rPr lang="en-US" sz="2300" dirty="0">
                <a:solidFill>
                  <a:schemeClr val="tx1"/>
                </a:solidFill>
              </a:rPr>
              <a:t>What does Iris think about the pipe?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It was leaking all night — </a:t>
            </a:r>
            <a:r>
              <a:rPr lang="en-US" sz="2300" b="1" dirty="0">
                <a:solidFill>
                  <a:schemeClr val="accent3"/>
                </a:solidFill>
              </a:rPr>
              <a:t>“I think”</a:t>
            </a:r>
            <a:r>
              <a:rPr lang="en-US" sz="2300" dirty="0">
                <a:solidFill>
                  <a:schemeClr val="accent3"/>
                </a:solidFill>
              </a:rPr>
              <a:t>.</a:t>
            </a:r>
            <a:endParaRPr lang="en-US" sz="2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6.  </a:t>
            </a:r>
            <a:r>
              <a:rPr lang="en-US" sz="2300" dirty="0">
                <a:solidFill>
                  <a:schemeClr val="tx1"/>
                </a:solidFill>
              </a:rPr>
              <a:t>Who was in the building yesterday evening?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The contractor’s team, until eight (installing cabling).</a:t>
            </a:r>
            <a:endParaRPr lang="en-US" sz="2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7.  </a:t>
            </a:r>
            <a:r>
              <a:rPr lang="en-US" sz="2300" dirty="0">
                <a:solidFill>
                  <a:schemeClr val="tx1"/>
                </a:solidFill>
              </a:rPr>
              <a:t>When did the temperature alarm go off?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At 11.40 p.m. — according to Samuel.</a:t>
            </a:r>
            <a:endParaRPr lang="en-US" sz="2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chemeClr val="tx2"/>
                </a:solidFill>
              </a:rPr>
              <a:t>8.  </a:t>
            </a:r>
            <a:r>
              <a:rPr lang="en-US" sz="2300" dirty="0">
                <a:solidFill>
                  <a:schemeClr val="tx1"/>
                </a:solidFill>
              </a:rPr>
              <a:t>What does Mark want by nine?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accent3"/>
                </a:solidFill>
              </a:rPr>
              <a:t>→ </a:t>
            </a:r>
            <a:r>
              <a:rPr lang="en-US" sz="2300" dirty="0">
                <a:solidFill>
                  <a:schemeClr val="accent3"/>
                </a:solidFill>
              </a:rPr>
              <a:t>A timeline of last night — </a:t>
            </a:r>
            <a:r>
              <a:rPr lang="en-US" sz="2300" b="1" dirty="0">
                <a:solidFill>
                  <a:schemeClr val="accent3"/>
                </a:solidFill>
              </a:rPr>
              <a:t>facts only</a:t>
            </a:r>
            <a:r>
              <a:rPr lang="en-US" sz="2300" dirty="0">
                <a:solidFill>
                  <a:schemeClr val="accent3"/>
                </a:solidFill>
              </a:rPr>
              <a:t>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Who said what — and how sure?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For each statement: who said it, which word shows how sure they are, and is it a fact or a supposition?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2468880"/>
                <a:gridCol w="2953512"/>
              </a:tblGrid>
              <a:tr h="5769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STATEMENT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WHO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MARKER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FACT OR SUPPOSITION?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882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 was still running when they arrived.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Mark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pipe was leaking all night.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Iris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882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alarm went off at 11.40 p.m.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Nobody was on site.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 may be worse than it looks.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Iris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882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 might be the same pipe as last November.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Who said what — and how sure?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For each statement: who said it, which word shows how sure they are, and is it a fact or a supposition?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2468880"/>
                <a:gridCol w="2953512"/>
              </a:tblGrid>
              <a:tr h="5769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STATEMENT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WHO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MARKER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FACT OR SUPPOSITION?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882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 was still running when they arrived.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Mark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none — the cleaners saw 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fact (witnessed)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pipe was leaking all night.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Iris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“I think”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supposition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882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alarm went off at 11.40 p.m.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“I’ve looked at the logs”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fact? — check the log!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Nobody was on site.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none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not proved yet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 may be worse than it looks.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Iris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may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supposition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882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 might be the same pipe as last November.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might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supposition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scene, four grammar tools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Scene 2 contains every tool you will need for the report. Today: the </a:t>
            </a:r>
            <a:r>
              <a:rPr lang="en-US" sz="1800" b="1" dirty="0">
                <a:solidFill>
                  <a:schemeClr val="tx1"/>
                </a:solidFill>
              </a:rPr>
              <a:t>past continuous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947672"/>
            <a:ext cx="5408676" cy="2034540"/>
          </a:xfrm>
          <a:prstGeom prst="roundRect">
            <a:avLst>
              <a:gd name="adj" fmla="val 449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947672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2267712"/>
            <a:ext cx="5408676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947672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PAST SIMPLE — the dated fact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551176"/>
            <a:ext cx="5042916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cleaners </a:t>
            </a:r>
            <a:r>
              <a:rPr lang="en-US" sz="2000" b="1" dirty="0">
                <a:solidFill>
                  <a:schemeClr val="tx1"/>
                </a:solidFill>
              </a:rPr>
              <a:t>found</a:t>
            </a:r>
            <a:r>
              <a:rPr lang="en-US" sz="2000" dirty="0">
                <a:solidFill>
                  <a:schemeClr val="tx1"/>
                </a:solidFill>
              </a:rPr>
              <a:t> water.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alarm </a:t>
            </a:r>
            <a:r>
              <a:rPr lang="en-US" sz="2000" b="1" dirty="0">
                <a:solidFill>
                  <a:schemeClr val="tx1"/>
                </a:solidFill>
              </a:rPr>
              <a:t>went off</a:t>
            </a:r>
            <a:r>
              <a:rPr lang="en-US" sz="2000" dirty="0">
                <a:solidFill>
                  <a:schemeClr val="tx1"/>
                </a:solidFill>
              </a:rPr>
              <a:t> at 11.40 p.m.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31636" y="1947672"/>
            <a:ext cx="5408676" cy="2034540"/>
          </a:xfrm>
          <a:prstGeom prst="roundRect">
            <a:avLst>
              <a:gd name="adj" fmla="val 449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31636" y="1947672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2267712"/>
            <a:ext cx="5408676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4516" y="1947672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PAST CONTINUOUS — the background (today)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14516" y="2551176"/>
            <a:ext cx="5042916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was still running</a:t>
            </a:r>
            <a:r>
              <a:rPr lang="en-US" sz="2000" dirty="0">
                <a:solidFill>
                  <a:schemeClr val="tx1"/>
                </a:solidFill>
              </a:rPr>
              <a:t> when they arrived.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Samuel </a:t>
            </a:r>
            <a:r>
              <a:rPr lang="en-US" sz="2000" b="1" dirty="0">
                <a:solidFill>
                  <a:schemeClr val="tx1"/>
                </a:solidFill>
              </a:rPr>
              <a:t>was checking</a:t>
            </a:r>
            <a:r>
              <a:rPr lang="en-US" sz="2000" dirty="0">
                <a:solidFill>
                  <a:schemeClr val="tx1"/>
                </a:solidFill>
              </a:rPr>
              <a:t> the rack when I </a:t>
            </a:r>
            <a:r>
              <a:rPr lang="en-US" sz="2000" b="1" dirty="0">
                <a:solidFill>
                  <a:schemeClr val="tx1"/>
                </a:solidFill>
              </a:rPr>
              <a:t>called</a:t>
            </a:r>
            <a:r>
              <a:rPr lang="en-US" sz="2000" dirty="0">
                <a:solidFill>
                  <a:schemeClr val="tx1"/>
                </a:solidFill>
              </a:rPr>
              <a:t> him.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4256532"/>
            <a:ext cx="5408676" cy="2034540"/>
          </a:xfrm>
          <a:prstGeom prst="roundRect">
            <a:avLst>
              <a:gd name="adj" fmla="val 449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4256532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4576572"/>
            <a:ext cx="5408676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4256532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PRESENT PERFECT — where we stand (Scene 4)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4860036"/>
            <a:ext cx="5042916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Two units </a:t>
            </a:r>
            <a:r>
              <a:rPr lang="en-US" sz="2000" b="1" dirty="0">
                <a:solidFill>
                  <a:schemeClr val="tx1"/>
                </a:solidFill>
              </a:rPr>
              <a:t>have already stopped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Has</a:t>
            </a:r>
            <a:r>
              <a:rPr lang="en-US" sz="2000" dirty="0">
                <a:solidFill>
                  <a:schemeClr val="tx1"/>
                </a:solidFill>
              </a:rPr>
              <a:t> anyone </a:t>
            </a:r>
            <a:r>
              <a:rPr lang="en-US" sz="2000" b="1" dirty="0">
                <a:solidFill>
                  <a:schemeClr val="tx1"/>
                </a:solidFill>
              </a:rPr>
              <a:t>told</a:t>
            </a:r>
            <a:r>
              <a:rPr lang="en-US" sz="2000" dirty="0">
                <a:solidFill>
                  <a:schemeClr val="tx1"/>
                </a:solidFill>
              </a:rPr>
              <a:t> the insurer </a:t>
            </a:r>
            <a:r>
              <a:rPr lang="en-US" sz="2000" b="1" dirty="0">
                <a:solidFill>
                  <a:schemeClr val="tx1"/>
                </a:solidFill>
              </a:rPr>
              <a:t>yet</a:t>
            </a:r>
            <a:r>
              <a:rPr lang="en-US" sz="2000" dirty="0">
                <a:solidFill>
                  <a:schemeClr val="tx1"/>
                </a:solidFill>
              </a:rPr>
              <a:t>?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231636" y="4256532"/>
            <a:ext cx="5408676" cy="2034540"/>
          </a:xfrm>
          <a:prstGeom prst="roundRect">
            <a:avLst>
              <a:gd name="adj" fmla="val 449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31636" y="4256532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576572"/>
            <a:ext cx="5408676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4256532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MODALS — how sure (Scene 7)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14516" y="4860036"/>
            <a:ext cx="5042916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may be</a:t>
            </a:r>
            <a:r>
              <a:rPr lang="en-US" sz="2000" dirty="0">
                <a:solidFill>
                  <a:schemeClr val="tx1"/>
                </a:solidFill>
              </a:rPr>
              <a:t> worse than it looks.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might be</a:t>
            </a:r>
            <a:r>
              <a:rPr lang="en-US" sz="2000" dirty="0">
                <a:solidFill>
                  <a:schemeClr val="tx1"/>
                </a:solidFill>
              </a:rPr>
              <a:t> the same pipe.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past continuous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FORM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 / were + V-ing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27376"/>
            <a:ext cx="3148584" cy="2627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/ he / she / it </a:t>
            </a:r>
            <a:r>
              <a:rPr lang="en-US" sz="2000" b="1" dirty="0">
                <a:solidFill>
                  <a:schemeClr val="tx1"/>
                </a:solidFill>
              </a:rPr>
              <a:t>was</a:t>
            </a:r>
            <a:r>
              <a:rPr lang="en-US" sz="2000" dirty="0">
                <a:solidFill>
                  <a:schemeClr val="tx1"/>
                </a:solidFill>
              </a:rPr>
              <a:t> working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/ you / they </a:t>
            </a:r>
            <a:r>
              <a:rPr lang="en-US" sz="2000" b="1" dirty="0">
                <a:solidFill>
                  <a:schemeClr val="tx1"/>
                </a:solidFill>
              </a:rPr>
              <a:t>were</a:t>
            </a:r>
            <a:r>
              <a:rPr lang="en-US" sz="2000" dirty="0">
                <a:solidFill>
                  <a:schemeClr val="tx1"/>
                </a:solidFill>
              </a:rPr>
              <a:t> working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Neg: </a:t>
            </a:r>
            <a:r>
              <a:rPr lang="en-US" sz="2000" b="1" dirty="0">
                <a:solidFill>
                  <a:schemeClr val="tx1"/>
                </a:solidFill>
              </a:rPr>
              <a:t>wasn’t / weren’t</a:t>
            </a:r>
            <a:r>
              <a:rPr lang="en-US" sz="2000" dirty="0">
                <a:solidFill>
                  <a:schemeClr val="tx1"/>
                </a:solidFill>
              </a:rPr>
              <a:t> · Q: </a:t>
            </a:r>
            <a:r>
              <a:rPr lang="en-US" sz="2000" b="1" dirty="0">
                <a:solidFill>
                  <a:schemeClr val="tx1"/>
                </a:solidFill>
              </a:rPr>
              <a:t>Was</a:t>
            </a:r>
            <a:r>
              <a:rPr lang="en-US" sz="2000" dirty="0">
                <a:solidFill>
                  <a:schemeClr val="tx1"/>
                </a:solidFill>
              </a:rPr>
              <a:t> it running?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37304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USE 1 — IN PROGRESS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0184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 a given time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520184" y="2627376"/>
            <a:ext cx="3148584" cy="2627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At 7.55 p.m. the team </a:t>
            </a:r>
            <a:r>
              <a:rPr lang="en-US" sz="2000" b="1" dirty="0">
                <a:solidFill>
                  <a:schemeClr val="tx1"/>
                </a:solidFill>
              </a:rPr>
              <a:t>was still working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At 23.41, water </a:t>
            </a:r>
            <a:r>
              <a:rPr lang="en-US" sz="2000" b="1" dirty="0">
                <a:solidFill>
                  <a:schemeClr val="tx1"/>
                </a:solidFill>
              </a:rPr>
              <a:t>was running</a:t>
            </a:r>
            <a:r>
              <a:rPr lang="en-US" sz="2000" dirty="0">
                <a:solidFill>
                  <a:schemeClr val="tx1"/>
                </a:solidFill>
              </a:rPr>
              <a:t> behind the ceiling.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125968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USE 2 — BACKGROUND + EVENT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8848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 -ing … when + V2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308848" y="2627376"/>
            <a:ext cx="3148584" cy="2627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Samuel </a:t>
            </a:r>
            <a:r>
              <a:rPr lang="en-US" sz="2000" b="1" dirty="0">
                <a:solidFill>
                  <a:schemeClr val="tx1"/>
                </a:solidFill>
              </a:rPr>
              <a:t>was checking</a:t>
            </a:r>
            <a:r>
              <a:rPr lang="en-US" sz="2000" dirty="0">
                <a:solidFill>
                  <a:schemeClr val="tx1"/>
                </a:solidFill>
              </a:rPr>
              <a:t> the rack </a:t>
            </a:r>
            <a:r>
              <a:rPr lang="en-US" sz="2000" b="1" dirty="0">
                <a:solidFill>
                  <a:schemeClr val="tx1"/>
                </a:solidFill>
              </a:rPr>
              <a:t>when</a:t>
            </a:r>
            <a:r>
              <a:rPr lang="en-US" sz="2000" dirty="0">
                <a:solidFill>
                  <a:schemeClr val="tx1"/>
                </a:solidFill>
              </a:rPr>
              <a:t> I </a:t>
            </a:r>
            <a:r>
              <a:rPr lang="en-US" sz="2000" b="1" dirty="0">
                <a:solidFill>
                  <a:schemeClr val="tx1"/>
                </a:solidFill>
              </a:rPr>
              <a:t>called</a:t>
            </a:r>
            <a:r>
              <a:rPr lang="en-US" sz="2000" dirty="0">
                <a:solidFill>
                  <a:schemeClr val="tx1"/>
                </a:solidFill>
              </a:rPr>
              <a:t> him.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water </a:t>
            </a:r>
            <a:r>
              <a:rPr lang="en-US" sz="2000" b="1" dirty="0">
                <a:solidFill>
                  <a:schemeClr val="tx1"/>
                </a:solidFill>
              </a:rPr>
              <a:t>was still running when</a:t>
            </a:r>
            <a:r>
              <a:rPr lang="en-US" sz="2000" dirty="0">
                <a:solidFill>
                  <a:schemeClr val="tx1"/>
                </a:solidFill>
              </a:rPr>
              <a:t> the cleaners </a:t>
            </a:r>
            <a:r>
              <a:rPr lang="en-US" sz="2000" b="1" dirty="0">
                <a:solidFill>
                  <a:schemeClr val="tx1"/>
                </a:solidFill>
              </a:rPr>
              <a:t>arrived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400" dirty="0">
                <a:solidFill>
                  <a:schemeClr val="tx1"/>
                </a:solidFill>
              </a:rPr>
              <a:t>L’imparfait ne se traduit pas toujours par -ing : </a:t>
            </a:r>
            <a:r>
              <a:rPr lang="en-US" sz="1400" i="1" dirty="0">
                <a:solidFill>
                  <a:schemeClr val="tx1"/>
                </a:solidFill>
              </a:rPr>
              <a:t>Il y avait de l’eau</a:t>
            </a:r>
            <a:r>
              <a:rPr lang="en-US" sz="1400" dirty="0">
                <a:solidFill>
                  <a:schemeClr val="tx1"/>
                </a:solidFill>
              </a:rPr>
              <a:t> → </a:t>
            </a:r>
            <a:r>
              <a:rPr lang="en-US" sz="1400" b="1" dirty="0">
                <a:solidFill>
                  <a:schemeClr val="tx1"/>
                </a:solidFill>
              </a:rPr>
              <a:t>There was</a:t>
            </a:r>
            <a:r>
              <a:rPr lang="en-US" sz="1400" dirty="0">
                <a:solidFill>
                  <a:schemeClr val="tx1"/>
                </a:solidFill>
              </a:rPr>
              <a:t> water (✗ there was being) · </a:t>
            </a:r>
            <a:r>
              <a:rPr lang="en-US" sz="1400" i="1" dirty="0">
                <a:solidFill>
                  <a:schemeClr val="tx1"/>
                </a:solidFill>
              </a:rPr>
              <a:t>Personne ne savait</a:t>
            </a:r>
            <a:r>
              <a:rPr lang="en-US" sz="1400" dirty="0">
                <a:solidFill>
                  <a:schemeClr val="tx1"/>
                </a:solidFill>
              </a:rPr>
              <a:t> → Nobody </a:t>
            </a:r>
            <a:r>
              <a:rPr lang="en-US" sz="1400" b="1" dirty="0">
                <a:solidFill>
                  <a:schemeClr val="tx1"/>
                </a:solidFill>
              </a:rPr>
              <a:t>knew</a:t>
            </a:r>
            <a:r>
              <a:rPr lang="en-US" sz="1400" dirty="0">
                <a:solidFill>
                  <a:schemeClr val="tx1"/>
                </a:solidFill>
              </a:rPr>
              <a:t> (✗ was knowing). Les verbes d’état (be, have, know, think, want) refusent -ing.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Background and event: the night on a line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b="1" dirty="0">
                <a:solidFill>
                  <a:schemeClr val="tx1"/>
                </a:solidFill>
              </a:rPr>
              <a:t>bar</a:t>
            </a:r>
            <a:r>
              <a:rPr lang="en-US" sz="1800" dirty="0">
                <a:solidFill>
                  <a:schemeClr val="tx1"/>
                </a:solidFill>
              </a:rPr>
              <a:t> is something in progress (past continuous). A </a:t>
            </a:r>
            <a:r>
              <a:rPr lang="en-US" sz="1800" b="1" dirty="0">
                <a:solidFill>
                  <a:schemeClr val="tx1"/>
                </a:solidFill>
              </a:rPr>
              <a:t>dot</a:t>
            </a:r>
            <a:r>
              <a:rPr lang="en-US" sz="1800" dirty="0">
                <a:solidFill>
                  <a:schemeClr val="tx1"/>
                </a:solidFill>
              </a:rPr>
              <a:t> is an event at a point in time (past simple).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60192" y="2368296"/>
            <a:ext cx="2019225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8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33344" y="2368296"/>
            <a:ext cx="1872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the team was working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77900" y="2368296"/>
            <a:ext cx="6218048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4500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4851052" y="2368296"/>
            <a:ext cx="6071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water was running behind the ceiling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33966" y="2971800"/>
            <a:ext cx="5394321" cy="457200"/>
          </a:xfrm>
          <a:prstGeom prst="roundRect">
            <a:avLst>
              <a:gd name="adj" fmla="val 16000"/>
            </a:avLst>
          </a:prstGeom>
          <a:solidFill>
            <a:schemeClr val="accent5">
              <a:alpha val="85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7118" y="2971800"/>
            <a:ext cx="5248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everybody was sleeping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657600"/>
            <a:ext cx="10927080" cy="0"/>
          </a:xfrm>
          <a:prstGeom prst="line">
            <a:avLst/>
          </a:prstGeom>
          <a:noFill/>
          <a:ln w="317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643362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4722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18.00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101287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52647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20.00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59211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10571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22.00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017136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68496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00.00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75060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26420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02.00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932985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84345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04.00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390909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842269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06.00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960546" y="35387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9418" y="3776472"/>
            <a:ext cx="0" cy="292608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30" name="Text 27"/>
          <p:cNvSpPr txBox="1"/>
          <p:nvPr/>
        </p:nvSpPr>
        <p:spPr>
          <a:xfrm>
            <a:off x="2027858" y="406908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team </a:t>
            </a:r>
            <a:r>
              <a:rPr lang="en-US" sz="1400" b="1" dirty="0">
                <a:solidFill>
                  <a:schemeClr val="tx1"/>
                </a:solidFill>
              </a:rPr>
              <a:t>left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57706" y="35387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776578" y="3776472"/>
            <a:ext cx="0" cy="950976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4725018" y="472744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alarm </a:t>
            </a:r>
            <a:r>
              <a:rPr lang="en-US" sz="1400" b="1" dirty="0">
                <a:solidFill>
                  <a:schemeClr val="tx1"/>
                </a:solidFill>
              </a:rPr>
              <a:t>went off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877076" y="35387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995948" y="3776472"/>
            <a:ext cx="0" cy="292608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36" name="Text 33"/>
          <p:cNvSpPr txBox="1"/>
          <p:nvPr/>
        </p:nvSpPr>
        <p:spPr>
          <a:xfrm>
            <a:off x="9262872" y="406908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cleaners </a:t>
            </a:r>
            <a:r>
              <a:rPr lang="en-US" sz="1400" b="1" dirty="0">
                <a:solidFill>
                  <a:schemeClr val="tx1"/>
                </a:solidFill>
              </a:rPr>
              <a:t>found</a:t>
            </a:r>
            <a:r>
              <a:rPr lang="en-US" sz="1400" dirty="0">
                <a:solidFill>
                  <a:schemeClr val="tx1"/>
                </a:solidFill>
              </a:rPr>
              <a:t> the water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48640" y="5980176"/>
            <a:ext cx="457200" cy="237744"/>
          </a:xfrm>
          <a:prstGeom prst="roundRect">
            <a:avLst>
              <a:gd name="adj" fmla="val 19231"/>
            </a:avLst>
          </a:prstGeom>
          <a:solidFill>
            <a:schemeClr val="accent2">
              <a:alpha val="85000"/>
            </a:schemeClr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97280" y="59070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bar</a:t>
            </a:r>
            <a:r>
              <a:rPr lang="en-US" sz="1500" dirty="0">
                <a:solidFill>
                  <a:schemeClr val="tx1"/>
                </a:solidFill>
              </a:rPr>
              <a:t> = background → was / were + -ing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6190488" y="5980176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629400" y="59070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dot</a:t>
            </a:r>
            <a:r>
              <a:rPr lang="en-US" sz="1500" dirty="0">
                <a:solidFill>
                  <a:schemeClr val="tx1"/>
                </a:solidFill>
              </a:rPr>
              <a:t> = event → past simple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Past simple or past continuous?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r>
              <a:rPr lang="en-US" sz="2400" dirty="0">
                <a:solidFill>
                  <a:schemeClr val="tx1"/>
                </a:solidFill>
              </a:rPr>
              <a:t> (check) the rack when Mark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(call) him.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At 23.41 the water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r>
              <a:rPr lang="en-US" sz="2400" dirty="0">
                <a:solidFill>
                  <a:schemeClr val="tx1"/>
                </a:solidFill>
              </a:rPr>
              <a:t> (still run).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(open) the door and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(see) the water.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While Iris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(take) photos, Samuel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(read) the log.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(know) about the leak. </a:t>
            </a:r>
            <a:r>
              <a:rPr lang="en-US" sz="2400" i="1" dirty="0">
                <a:solidFill>
                  <a:schemeClr val="tx1"/>
                </a:solidFill>
              </a:rPr>
              <a:t>(state verb)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The team </a:t>
            </a:r>
            <a:r>
              <a:rPr lang="en-US" sz="2400" dirty="0">
                <a:solidFill>
                  <a:schemeClr val="accent5"/>
                </a:solidFill>
              </a:rPr>
              <a:t>……………………</a:t>
            </a:r>
            <a:r>
              <a:rPr lang="en-US" sz="2400" dirty="0">
                <a:solidFill>
                  <a:schemeClr val="tx1"/>
                </a:solidFill>
              </a:rPr>
              <a:t> (install) cabling when the manager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(arrive).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Past simple or past continuous?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b="1" dirty="0">
                <a:solidFill>
                  <a:schemeClr val="accent3"/>
                </a:solidFill>
              </a:rPr>
              <a:t>was checking</a:t>
            </a:r>
            <a:r>
              <a:rPr lang="en-US" sz="2400" dirty="0">
                <a:solidFill>
                  <a:schemeClr val="tx1"/>
                </a:solidFill>
              </a:rPr>
              <a:t> (check) the rack when Mark </a:t>
            </a:r>
            <a:r>
              <a:rPr lang="en-US" sz="2400" b="1" dirty="0">
                <a:solidFill>
                  <a:schemeClr val="accent3"/>
                </a:solidFill>
              </a:rPr>
              <a:t>called</a:t>
            </a:r>
            <a:r>
              <a:rPr lang="en-US" sz="2400" dirty="0">
                <a:solidFill>
                  <a:schemeClr val="tx1"/>
                </a:solidFill>
              </a:rPr>
              <a:t> (call) him.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At 23.41 the water </a:t>
            </a:r>
            <a:r>
              <a:rPr lang="en-US" sz="2400" b="1" dirty="0">
                <a:solidFill>
                  <a:schemeClr val="accent3"/>
                </a:solidFill>
              </a:rPr>
              <a:t>was still running</a:t>
            </a:r>
            <a:r>
              <a:rPr lang="en-US" sz="2400" dirty="0">
                <a:solidFill>
                  <a:schemeClr val="tx1"/>
                </a:solidFill>
              </a:rPr>
              <a:t> (still run).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b="1" dirty="0">
                <a:solidFill>
                  <a:schemeClr val="accent3"/>
                </a:solidFill>
              </a:rPr>
              <a:t>opened</a:t>
            </a:r>
            <a:r>
              <a:rPr lang="en-US" sz="2400" dirty="0">
                <a:solidFill>
                  <a:schemeClr val="tx1"/>
                </a:solidFill>
              </a:rPr>
              <a:t> (open) the door and </a:t>
            </a:r>
            <a:r>
              <a:rPr lang="en-US" sz="2400" b="1" dirty="0">
                <a:solidFill>
                  <a:schemeClr val="accent3"/>
                </a:solidFill>
              </a:rPr>
              <a:t>saw</a:t>
            </a:r>
            <a:r>
              <a:rPr lang="en-US" sz="2400" dirty="0">
                <a:solidFill>
                  <a:schemeClr val="tx1"/>
                </a:solidFill>
              </a:rPr>
              <a:t> (see) the water.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While Iris </a:t>
            </a:r>
            <a:r>
              <a:rPr lang="en-US" sz="2400" b="1" dirty="0">
                <a:solidFill>
                  <a:schemeClr val="accent3"/>
                </a:solidFill>
              </a:rPr>
              <a:t>was taking</a:t>
            </a:r>
            <a:r>
              <a:rPr lang="en-US" sz="2400" dirty="0">
                <a:solidFill>
                  <a:schemeClr val="tx1"/>
                </a:solidFill>
              </a:rPr>
              <a:t> (take) photos, Samuel </a:t>
            </a:r>
            <a:r>
              <a:rPr lang="en-US" sz="2400" b="1" dirty="0">
                <a:solidFill>
                  <a:schemeClr val="accent3"/>
                </a:solidFill>
              </a:rPr>
              <a:t>was reading</a:t>
            </a:r>
            <a:r>
              <a:rPr lang="en-US" sz="2400" dirty="0">
                <a:solidFill>
                  <a:schemeClr val="tx1"/>
                </a:solidFill>
              </a:rPr>
              <a:t> (read) the log.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b="1" dirty="0">
                <a:solidFill>
                  <a:schemeClr val="accent3"/>
                </a:solidFill>
              </a:rPr>
              <a:t>knew</a:t>
            </a:r>
            <a:r>
              <a:rPr lang="en-US" sz="2400" dirty="0">
                <a:solidFill>
                  <a:schemeClr val="tx1"/>
                </a:solidFill>
              </a:rPr>
              <a:t> (know) about the leak. </a:t>
            </a:r>
            <a:r>
              <a:rPr lang="en-US" sz="2400" i="1" dirty="0">
                <a:solidFill>
                  <a:schemeClr val="tx1"/>
                </a:solidFill>
              </a:rPr>
              <a:t>(state verb)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The team </a:t>
            </a:r>
            <a:r>
              <a:rPr lang="en-US" sz="2400" b="1" dirty="0">
                <a:solidFill>
                  <a:schemeClr val="accent3"/>
                </a:solidFill>
              </a:rPr>
              <a:t>was installing</a:t>
            </a:r>
            <a:r>
              <a:rPr lang="en-US" sz="2400" dirty="0">
                <a:solidFill>
                  <a:schemeClr val="tx1"/>
                </a:solidFill>
              </a:rPr>
              <a:t> (install) cabling when the manager </a:t>
            </a:r>
            <a:r>
              <a:rPr lang="en-US" sz="2400" b="1" dirty="0">
                <a:solidFill>
                  <a:schemeClr val="accent3"/>
                </a:solidFill>
              </a:rPr>
              <a:t>arrived</a:t>
            </a:r>
            <a:r>
              <a:rPr lang="en-US" sz="2400" dirty="0">
                <a:solidFill>
                  <a:schemeClr val="tx1"/>
                </a:solidFill>
              </a:rPr>
              <a:t> (arrive).</a:t>
            </a:r>
            <a:endParaRPr lang="en-US" sz="2400" dirty="0"/>
          </a:p>
        </p:txBody>
      </p:sp>
      <p:sp>
        <p:nvSpPr>
          <p:cNvPr id="7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Two actions in a row (open, see) → </a:t>
            </a:r>
            <a:r>
              <a:rPr lang="en-US" sz="1800" b="1" dirty="0">
                <a:solidFill>
                  <a:schemeClr val="tx1"/>
                </a:solidFill>
              </a:rPr>
              <a:t>past simple</a:t>
            </a:r>
            <a:r>
              <a:rPr lang="en-US" sz="1800" dirty="0">
                <a:solidFill>
                  <a:schemeClr val="tx1"/>
                </a:solidFill>
              </a:rPr>
              <a:t> ×2.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Two parallel backgrounds → </a:t>
            </a:r>
            <a:r>
              <a:rPr lang="en-US" sz="1800" b="1" dirty="0">
                <a:solidFill>
                  <a:schemeClr val="tx1"/>
                </a:solidFill>
              </a:rPr>
              <a:t>past continuous</a:t>
            </a:r>
            <a:r>
              <a:rPr lang="en-US" sz="1800" dirty="0">
                <a:solidFill>
                  <a:schemeClr val="tx1"/>
                </a:solidFill>
              </a:rPr>
              <a:t> ×2.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know</a:t>
            </a:r>
            <a:r>
              <a:rPr lang="en-US" sz="1800" dirty="0">
                <a:solidFill>
                  <a:schemeClr val="tx1"/>
                </a:solidFill>
              </a:rPr>
              <a:t> = state verb → </a:t>
            </a:r>
            <a:r>
              <a:rPr lang="en-US" sz="1800" b="1" dirty="0">
                <a:solidFill>
                  <a:schemeClr val="tx1"/>
                </a:solidFill>
              </a:rPr>
              <a:t>knew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 it out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ROUND 1 — READ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Groups of four: </a:t>
            </a:r>
            <a:r>
              <a:rPr lang="en-US" sz="2000" b="1" dirty="0">
                <a:solidFill>
                  <a:schemeClr val="tx1"/>
                </a:solidFill>
              </a:rPr>
              <a:t>Mark · You · Iris · Samuel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Read lines 01–15 aloud, then swap roles.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37304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ROUND 2 — PROMPTS ONLY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Close the booklet.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Replay the scene from these prompts: </a:t>
            </a:r>
            <a:r>
              <a:rPr lang="en-US" sz="2000" i="1" dirty="0">
                <a:solidFill>
                  <a:schemeClr val="tx1"/>
                </a:solidFill>
              </a:rPr>
              <a:t>early · seven · water · not yet · two units · all night · until eight · 11.40 · insurer · worse · November · nine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25968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PRONUNCIATION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8848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I’ve</a:t>
            </a:r>
            <a:r>
              <a:rPr lang="en-US" sz="2000" dirty="0">
                <a:solidFill>
                  <a:schemeClr val="tx1"/>
                </a:solidFill>
              </a:rPr>
              <a:t> looked · </a:t>
            </a:r>
            <a:r>
              <a:rPr lang="en-US" sz="2000" b="1" dirty="0">
                <a:solidFill>
                  <a:schemeClr val="tx1"/>
                </a:solidFill>
              </a:rPr>
              <a:t>We’ve</a:t>
            </a:r>
            <a:r>
              <a:rPr lang="en-US" sz="2000" dirty="0">
                <a:solidFill>
                  <a:schemeClr val="tx1"/>
                </a:solidFill>
              </a:rPr>
              <a:t> had — contract!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Yes/no questions go </a:t>
            </a:r>
            <a:r>
              <a:rPr lang="en-US" sz="2000" b="1" dirty="0">
                <a:solidFill>
                  <a:schemeClr val="tx1"/>
                </a:solidFill>
              </a:rPr>
              <a:t>up</a:t>
            </a:r>
            <a:r>
              <a:rPr lang="en-US" sz="2000" dirty="0">
                <a:solidFill>
                  <a:schemeClr val="tx1"/>
                </a:solidFill>
              </a:rPr>
              <a:t> ↗: </a:t>
            </a:r>
            <a:r>
              <a:rPr lang="en-US" sz="2000" i="1" dirty="0">
                <a:solidFill>
                  <a:schemeClr val="tx1"/>
                </a:solidFill>
              </a:rPr>
              <a:t>Has anyone told the insurer yet?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soaked /səʊkt/ · ceiling /ˈsiːlɪŋ/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“Right. I need a timeline of last night on this board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by nine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 Facts only.” It is 8.20. You have forty minutes and an empty whiteboard.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past continuous</a:t>
            </a:r>
            <a:r>
              <a:rPr lang="en-US" sz="1700" dirty="0">
                <a:solidFill>
                  <a:schemeClr val="tx1"/>
                </a:solidFill>
              </a:rPr>
              <a:t> (form + two uses).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words of the room.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Read the text p. 9 and underline the twelve verbs in brackets.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Finish the sentence: </a:t>
            </a:r>
            <a:r>
              <a:rPr lang="en-US" sz="1600" i="1" dirty="0">
                <a:solidFill>
                  <a:schemeClr val="bg1"/>
                </a:solidFill>
              </a:rPr>
              <a:t>When the cleaners arrived, …</a:t>
            </a:r>
            <a:r>
              <a:rPr lang="en-US" sz="1600" dirty="0">
                <a:solidFill>
                  <a:schemeClr val="bg1"/>
                </a:solidFill>
              </a:rPr>
              <a:t> (use the past continuous).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04 — The room with water in it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