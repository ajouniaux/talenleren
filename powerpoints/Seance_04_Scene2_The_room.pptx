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8f471797-5524-1df0-5d5f-aefd66924d48}">
          <p14:sldIdLst>
            <p14:sldId id="256"/>
          </p14:sldIdLst>
        </p14:section>
        <p14:section name="Warm-up" id="{ad6147c7-9dcd-feb5-dc21-fac7ea4c772e}">
          <p14:sldIdLst>
            <p14:sldId id="257"/>
            <p14:sldId id="258"/>
          </p14:sldIdLst>
        </p14:section>
        <p14:section name="The room" id="{14439c03-950e-74b4-6276-d32b78f2dc0f}">
          <p14:sldIdLst>
            <p14:sldId id="259"/>
            <p14:sldId id="260"/>
            <p14:sldId id="261"/>
            <p14:sldId id="262"/>
            <p14:sldId id="263"/>
            <p14:sldId id="264"/>
            <p14:sldId id="265"/>
          </p14:sldIdLst>
        </p14:section>
        <p14:section name="Listen, then read" id="{94762ee5-f481-fa86-1501-61e0fd1a15e1}">
          <p14:sldIdLst>
            <p14:sldId id="266"/>
            <p14:sldId id="267"/>
            <p14:sldId id="268"/>
            <p14:sldId id="269"/>
            <p14:sldId id="270"/>
          </p14:sldIdLst>
        </p14:section>
        <p14:section name="Read for facts" id="{2202a743-f850-65db-0a13-7590331d48b0}">
          <p14:sldIdLst>
            <p14:sldId id="271"/>
            <p14:sldId id="272"/>
            <p14:sldId id="273"/>
            <p14:sldId id="274"/>
            <p14:sldId id="275"/>
            <p14:sldId id="276"/>
            <p14:sldId id="277"/>
          </p14:sldIdLst>
        </p14:section>
        <p14:section name="Grammar: the past continuous" id="{65339d65-75b6-697e-a40d-8ba8c390d19b}">
          <p14:sldIdLst>
            <p14:sldId id="278"/>
            <p14:sldId id="279"/>
            <p14:sldId id="280"/>
            <p14:sldId id="281"/>
            <p14:sldId id="282"/>
            <p14:sldId id="283"/>
            <p14:sldId id="284"/>
          </p14:sldIdLst>
        </p14:section>
        <p14:section name="Listening: the cleaner" id="{2b458efd-8557-4b27-cc12-fdaff3b6f59c}">
          <p14:sldIdLst>
            <p14:sldId id="285"/>
            <p14:sldId id="286"/>
          </p14:sldIdLst>
        </p14:section>
        <p14:section name="Words and speaking" id="{d627a8c2-fe33-4c86-82c7-ddb994c70d49}">
          <p14:sldIdLst>
            <p14:sldId id="287"/>
            <p14:sldId id="288"/>
            <p14:sldId id="289"/>
            <p14:sldId id="290"/>
          </p14:sldIdLst>
        </p14:section>
        <p14:section name="Clôture" id="{9e1f151d-f192-1d43-efb7-6eb270451ef0}">
          <p14:sldIdLst>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4 — Scène 2 (08.15), livret p. 8–9.
Objectifs : décrire une scène (is -ing → was -ing), écouter puis lire le dialogue pour les faits, séparer fait et supposition, past continuous vs past simple.
Déroulé indicatif (90 min) : warm-up (5') · scène + imagier + décrire l’image (15') · Memory challenge (5') · écoute livre fermé + lecture (15') · True / False / Not given + Who said what (15') · grammaire : forme, 4 schémas, arbre de décision (15') · écoute : le témoignage de l’agent d’entretien (10') · jeu oral : Hot seat ou Act it out (10').
Les diapositives GAME et + EXTRA sont facultatives : piocher selon le temps et l’énergie du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Description au présent continu (is photographing, is kneeling, is standing) : tremplin vers le past continuous de la séance (was photographing…). Faire lire les bulles de l’image.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Activité en binôme, 2 minutes : associer chaque mot à un numéro. Puis correction à voix haute avec l’article.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Prononciation : ceiling /ˈsiːlɪŋ/ · bucket /ˈbʌkɪt/ · squeegee /ˈskwiːdʒiː/ · puddle /ˈpʌdl/ · torch (UK) = flashlight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grille 3 × 3 donne les repères de position. Insister sur in the foreground / in the background (≠ « au premier plan » traduit mot à mot), next to, in front of, behind, under, above. Look + adjectif, seem to be + -ing.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Afficher l’image exactement 30 secondes, sans prévenir des questions. Passer ensuite à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élèves répondent par équipes, à l’oral ou sur ardoise. Cette activité fait produire le past continuous AVANT la leçon de grammaire : noter au tableau deux ou trois phrases réussies, on y reviendra.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Accepter les réponses courtes, mais donner 2 points seulement pour was / were + -ing correct. Q4 : was written = passif (simple reconnaissance).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du dialogue (lignes 01 à 15) par l’enseignant ou par quatre volontaires (Mark, You, Iris, Samuel), livres fermés. Première écoute : situation globale. Deuxième écoute : les chiffres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dire les heures à voix haute : eleven forty p.m. · by nine (= au plus tard à 9 h, cf.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à voix haute par groupes de quatre. Faire repérer en lisant : les heures, les -ing, les marqueurs de certitude (I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livret passe de la ligne 10 à la ligne 12 : la réplique 11 manque. Faire deviner (« Not yet. ») et justifier : Mark veut d’abord les faits (ligne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individuelle (5 min), puis comparaison en binôme. Exiger le numéro de ligne : c’est la preuve.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Ligne 4 : le piège central de la séance. Iris le pense (I think) : ce n’est pas un fait établi, donc NG. Ligne 6 : la question est posée (10) mais la réponse manque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Activité qui prépare la scène 3 (« Sort the witnesses », p.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Ligne 3 : Samuel cite les logs, mais la scène 3 montrera 23:41 et non 11.40. Ligne 4 : rien ne le prouve — la scène 3 montrera une entrée de badge à 20:04.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passer chaque phrase du tableau précédent dans l’arbre, à voix haute : « Did someone see it? No. Does Samuel say I think? No. So: not proved yet.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Outil pour toute la séance (Hot seat, Act it out). Les modaux de certitude (must, can’t, should) seront approfondis en scène 7 : ici, simple reconnaissance.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Cartes à lire (une par manche) :
1. Samuel was checking the server rack when Mark called him this morning.
2. The contractor’s team was installing the new cabling on the second floor until eight.
3. Iris thinks the pipe above the ceiling was leaking all night.
4. The temperature alarm went off at 11.40 p.m., but nobody was on site.
5. It might be the same pipe as last November.
6. The cleaners found the water at ten to seven, and it was still running.
Morale : une information transmise de bouche à oreille perd ses heures exactes et ses marqueurs de certitude — d’où « Facts only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Forme : be au prétérit + V-ing. Faire répéter en chaîne avec les formes faibles /wəz/, /wə/.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chaque schéma : la barre bleue = action en cours (past continuous) ; le point magenta = événement daté (past simple). Faire produire un exemple personnel par schéma : « At 8 p.m. yesterday I was…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verbaliser : « While everybody was sleeping, the alarm went off. » / « The water was still running when the cleaners found it. » Les heures exactes viendront de l’Exhibit A (scène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Méthode en deux questions. Insister sur la première : les verbes d’état refusent -ing, même quand le français met un imparfait.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chaque paire à voix haute ; faire retrouver la règle avant de dévoiler l’encadré.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(à lire deux fois, à vitesse naturelle — texte inventé, cohérent avec le dossier) :
« It was about a quarter to seven when we arrived. My colleague was emptying the bins on the ground floor, so I went up to the second floor alone. I was pushing my trolley along the corridor when I heard water. It was coming from the technical room. I opened the door: water was running down from the ceiling and the floor was soaked. A ceiling tile was hanging down. I didn’t touch the computers. I put a bucket under the leak, I put a “wet floor” sign at the door, and I called the emergency number. It was ten to seven. When did it start? I have no idea.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directement sur le script. Réponses : arrivée vers 6.45 ; appel à 6.50 ; la collègue vidait les poubelles ; elle poussait son chariot ; elle a vu l’eau couler du plafond, le sol trempé, une dalle pendante ; trois actions : seau, panneau, appel ; elle ne sait pas quand ça a commencé. Faire compter : 5 past continuous, plus de 10 past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Prononciation : plumber /ˈplʌmə/ (b muet) · damp /dæmp/ · soaked /səʊkt/ · claim /kleɪm/.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élève par personnage, 2 minutes chacun. La classe gagne un point si le personnage se contredit ou affirme une supposition comme un fait (« Are you sure? » → il doit nuancer : I think / I don’t know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Imprimer ou projeter ; chaque joueur tire une humeur au hasard (dé : 1 à 6). Excellent travail de l’intonation sans changer le 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514600"/>
            <a:ext cx="5669280" cy="160020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2.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2.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2.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2.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slideLayout" Target="../slideLayouts/slideLayout2.xml"/><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2.xml"/><Relationship Id="rId7"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85800"/>
            <a:ext cx="2236470" cy="365760"/>
          </a:xfrm>
          <a:prstGeom prst="roundRect">
            <a:avLst>
              <a:gd name="adj" fmla="val 12500"/>
            </a:avLst>
          </a:prstGeom>
          <a:solidFill>
            <a:srgbClr val="C0752A"/>
          </a:solidFill>
          <a:ln/>
        </p:spPr>
        <p:txBody>
          <a:bodyPr wrap="square" lIns="0" tIns="0" rIns="0" bIns="0" rtlCol="0" anchor="ctr"/>
          <a:lstStyle/>
          <a:p>
            <a:pPr algn="ctr" indent="0" marL="0">
              <a:buNone/>
            </a:pPr>
            <a:r>
              <a:rPr lang="en-US" sz="1300" b="1" spc="100" kern="0" dirty="0">
                <a:solidFill>
                  <a:schemeClr val="bg1"/>
                </a:solidFill>
              </a:rPr>
              <a:t>SÉANCE 04 / 19</a:t>
            </a:r>
            <a:endParaRPr lang="en-US" sz="1300" dirty="0"/>
          </a:p>
        </p:txBody>
      </p:sp>
      <p:sp>
        <p:nvSpPr>
          <p:cNvPr id="3" name="Shape 1"/>
          <p:cNvSpPr/>
          <p:nvPr/>
        </p:nvSpPr>
        <p:spPr>
          <a:xfrm>
            <a:off x="548640" y="1298448"/>
            <a:ext cx="1737360" cy="914400"/>
          </a:xfrm>
          <a:prstGeom prst="roundRect">
            <a:avLst>
              <a:gd name="adj" fmla="val 8000"/>
            </a:avLst>
          </a:prstGeom>
          <a:solidFill>
            <a:srgbClr val="1F3864"/>
          </a:solidFill>
          <a:ln/>
        </p:spPr>
      </p:sp>
      <p:sp>
        <p:nvSpPr>
          <p:cNvPr id="4" name="Text 2"/>
          <p:cNvSpPr txBox="1"/>
          <p:nvPr/>
        </p:nvSpPr>
        <p:spPr>
          <a:xfrm>
            <a:off x="548640" y="1344168"/>
            <a:ext cx="1737360" cy="822960"/>
          </a:xfrm>
          <a:prstGeom prst="rect">
            <a:avLst/>
          </a:prstGeom>
          <a:noFill/>
          <a:ln/>
        </p:spPr>
        <p:txBody>
          <a:bodyPr wrap="square" lIns="0" tIns="0" rIns="0" bIns="0" rtlCol="0" anchor="ctr"/>
          <a:lstStyle/>
          <a:p>
            <a:pPr algn="ctr" indent="0" marL="0">
              <a:buNone/>
            </a:pPr>
            <a:r>
              <a:rPr lang="en-US" sz="1100" b="1" spc="300" kern="0" dirty="0">
                <a:solidFill>
                  <a:schemeClr val="bg2"/>
                </a:solidFill>
              </a:rPr>
              <a:t>SCENE 2</a:t>
            </a:r>
            <a:endParaRPr lang="en-US" sz="1100" dirty="0"/>
          </a:p>
          <a:p>
            <a:pPr algn="ctr" indent="0" marL="0">
              <a:buNone/>
            </a:pPr>
            <a:r>
              <a:rPr lang="en-US" sz="2800" b="1" dirty="0">
                <a:solidFill>
                  <a:schemeClr val="bg1"/>
                </a:solidFill>
                <a:latin typeface="+mj-lt" pitchFamily="34" charset="0"/>
                <a:ea typeface="+mj-lt" pitchFamily="34" charset="-122"/>
                <a:cs typeface="+mj-lt" pitchFamily="34" charset="-120"/>
              </a:rPr>
              <a:t>08.15</a:t>
            </a:r>
            <a:endParaRPr lang="en-US" sz="1100" dirty="0"/>
          </a:p>
        </p:txBody>
      </p:sp>
      <p:sp>
        <p:nvSpPr>
          <p:cNvPr id="5" name="Text 0"/>
          <p:cNvSpPr/>
          <p:nvPr>
            <p:ph idx="100" type="title" hasCustomPrompt="1"/>
          </p:nvPr>
        </p:nvSpPr>
        <p:spPr>
          <a:xfrm>
            <a:off x="548640" y="2514600"/>
            <a:ext cx="5669280" cy="1600200"/>
          </a:xfrm>
          <a:prstGeom prst="rect">
            <a:avLst/>
          </a:prstGeom>
          <a:noFill/>
          <a:ln/>
        </p:spPr>
        <p:txBody>
          <a:bodyPr wrap="square" lIns="0" tIns="0" rIns="0" bIns="0" rtlCol="0" anchor="t"/>
          <a:lstStyle/>
          <a:p>
            <a:pPr algn="l" indent="0" marL="0">
              <a:buNone/>
            </a:pPr>
            <a:r>
              <a:rPr lang="en-US" sz="4000" b="1" dirty="0">
                <a:solidFill>
                  <a:schemeClr val="tx2"/>
                </a:solidFill>
              </a:rPr>
              <a:t>The room</a:t>
            </a:r>
            <a:endParaRPr lang="en-US" sz="4000" dirty="0"/>
          </a:p>
          <a:p>
            <a:pPr algn="l" indent="0" marL="0">
              <a:buNone/>
            </a:pPr>
            <a:r>
              <a:rPr lang="en-US" sz="4000" b="1" dirty="0">
                <a:solidFill>
                  <a:schemeClr val="tx2"/>
                </a:solidFill>
              </a:rPr>
              <a:t>with water in it</a:t>
            </a:r>
            <a:endParaRPr lang="en-US" sz="4000" dirty="0"/>
          </a:p>
        </p:txBody>
      </p:sp>
      <p:sp>
        <p:nvSpPr>
          <p:cNvPr id="6" name="Text 4"/>
          <p:cNvSpPr txBox="1"/>
          <p:nvPr/>
        </p:nvSpPr>
        <p:spPr>
          <a:xfrm>
            <a:off x="548640" y="4206240"/>
            <a:ext cx="5669280" cy="822960"/>
          </a:xfrm>
          <a:prstGeom prst="rect">
            <a:avLst/>
          </a:prstGeom>
          <a:noFill/>
          <a:ln/>
        </p:spPr>
        <p:txBody>
          <a:bodyPr wrap="square" lIns="0" tIns="0" rIns="0" bIns="0" rtlCol="0" anchor="t"/>
          <a:lstStyle/>
          <a:p>
            <a:pPr indent="0" marL="0">
              <a:buNone/>
            </a:pPr>
            <a:r>
              <a:rPr lang="en-US" sz="2000" i="1" dirty="0">
                <a:solidFill>
                  <a:schemeClr val="accent5"/>
                </a:solidFill>
              </a:rPr>
              <a:t>Four people, a wet floor — and nobody knows</a:t>
            </a:r>
            <a:endParaRPr lang="en-US" sz="2000" dirty="0"/>
          </a:p>
        </p:txBody>
      </p:sp>
      <p:sp>
        <p:nvSpPr>
          <p:cNvPr id="7" name="Text 5"/>
          <p:cNvSpPr txBox="1"/>
          <p:nvPr/>
        </p:nvSpPr>
        <p:spPr>
          <a:xfrm>
            <a:off x="548640" y="5257800"/>
            <a:ext cx="5669280" cy="685800"/>
          </a:xfrm>
          <a:prstGeom prst="rect">
            <a:avLst/>
          </a:prstGeom>
          <a:noFill/>
          <a:ln/>
        </p:spPr>
        <p:txBody>
          <a:bodyPr wrap="square" lIns="0" tIns="0" rIns="0" bIns="0" rtlCol="0" anchor="t"/>
          <a:lstStyle/>
          <a:p>
            <a:pPr indent="0" marL="0">
              <a:buNone/>
            </a:pPr>
            <a:r>
              <a:rPr lang="en-US" sz="1600" b="1" dirty="0">
                <a:solidFill>
                  <a:schemeClr val="tx2"/>
                </a:solidFill>
              </a:rPr>
              <a:t>Case File 01 — The night nobody heard</a:t>
            </a:r>
            <a:endParaRPr lang="en-US" sz="1600" dirty="0"/>
          </a:p>
          <a:p>
            <a:pPr indent="0" marL="0">
              <a:buNone/>
            </a:pPr>
            <a:r>
              <a:rPr lang="en-US" sz="1400" i="1" dirty="0">
                <a:solidFill>
                  <a:schemeClr val="accent5"/>
                </a:solidFill>
              </a:rPr>
              <a:t>Livret p. 8–9</a:t>
            </a:r>
            <a:endParaRPr lang="en-US" sz="1600" dirty="0"/>
          </a:p>
        </p:txBody>
      </p:sp>
      <p:pic>
        <p:nvPicPr>
          <p:cNvPr id="8" name="illustration" descr="Scene illustration from the case file">    </p:cNvPr>
          <p:cNvPicPr>
            <a:picLocks noChangeAspect="1"/>
          </p:cNvPicPr>
          <p:nvPr/>
        </p:nvPicPr>
        <p:blipFill>
          <a:blip r:embed="rId1"/>
          <a:stretch>
            <a:fillRect/>
          </a:stretch>
        </p:blipFill>
        <p:spPr>
          <a:xfrm>
            <a:off x="6629400" y="1850136"/>
            <a:ext cx="5010912" cy="3340608"/>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Warm-up: phrasal verbs</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WARM-UP</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Séance 3</a:t>
            </a:r>
            <a:endParaRPr lang="en-US" sz="1200" dirty="0"/>
          </a:p>
        </p:txBody>
      </p:sp>
      <p:sp>
        <p:nvSpPr>
          <p:cNvPr id="5"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Complete with a phrasal verb from last session, in the right form.</a:t>
            </a:r>
            <a:endParaRPr lang="en-US" sz="1600" dirty="0"/>
          </a:p>
        </p:txBody>
      </p:sp>
      <p:sp>
        <p:nvSpPr>
          <p:cNvPr id="6"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The alarm </a:t>
            </a:r>
            <a:r>
              <a:rPr lang="en-US" sz="2600" dirty="0">
                <a:solidFill>
                  <a:schemeClr val="accent5"/>
                </a:solidFill>
              </a:rPr>
              <a:t>………………</a:t>
            </a:r>
            <a:r>
              <a:rPr lang="en-US" sz="2600" dirty="0">
                <a:solidFill>
                  <a:schemeClr val="tx1"/>
                </a:solidFill>
              </a:rPr>
              <a:t> at 23.41. </a:t>
            </a:r>
            <a:r>
              <a:rPr lang="en-US" sz="2600" i="1" dirty="0">
                <a:solidFill>
                  <a:schemeClr val="tx1"/>
                </a:solidFill>
              </a:rPr>
              <a:t>(se déclencher)</a:t>
            </a:r>
            <a:endParaRPr lang="en-US" sz="2600" dirty="0"/>
          </a:p>
          <a:p>
            <a:pPr indent="0" marL="0">
              <a:spcAft>
                <a:spcPts val="1400"/>
              </a:spcAft>
              <a:buNone/>
            </a:pPr>
            <a:r>
              <a:rPr lang="en-US" sz="2600" b="1" dirty="0">
                <a:solidFill>
                  <a:schemeClr val="tx2"/>
                </a:solidFill>
              </a:rPr>
              <a:t>2.  </a:t>
            </a:r>
            <a:r>
              <a:rPr lang="en-US" sz="2600" dirty="0">
                <a:solidFill>
                  <a:schemeClr val="tx1"/>
                </a:solidFill>
              </a:rPr>
              <a:t>Two units </a:t>
            </a:r>
            <a:r>
              <a:rPr lang="en-US" sz="2600" dirty="0">
                <a:solidFill>
                  <a:schemeClr val="accent5"/>
                </a:solidFill>
              </a:rPr>
              <a:t>………………</a:t>
            </a:r>
            <a:r>
              <a:rPr lang="en-US" sz="2600" dirty="0">
                <a:solidFill>
                  <a:schemeClr val="tx1"/>
                </a:solidFill>
              </a:rPr>
              <a:t> during the night. </a:t>
            </a:r>
            <a:r>
              <a:rPr lang="en-US" sz="2600" i="1" dirty="0">
                <a:solidFill>
                  <a:schemeClr val="tx1"/>
                </a:solidFill>
              </a:rPr>
              <a:t>(tomber en panne)</a:t>
            </a:r>
            <a:endParaRPr lang="en-US" sz="2600" dirty="0"/>
          </a:p>
          <a:p>
            <a:pPr indent="0" marL="0">
              <a:spcAft>
                <a:spcPts val="1400"/>
              </a:spcAft>
              <a:buNone/>
            </a:pPr>
            <a:r>
              <a:rPr lang="en-US" sz="2600" b="1" dirty="0">
                <a:solidFill>
                  <a:schemeClr val="tx2"/>
                </a:solidFill>
              </a:rPr>
              <a:t>3.  </a:t>
            </a:r>
            <a:r>
              <a:rPr lang="en-US" sz="2600" dirty="0">
                <a:solidFill>
                  <a:schemeClr val="tx1"/>
                </a:solidFill>
              </a:rPr>
              <a:t>Nobody </a:t>
            </a:r>
            <a:r>
              <a:rPr lang="en-US" sz="2600" dirty="0">
                <a:solidFill>
                  <a:schemeClr val="accent5"/>
                </a:solidFill>
              </a:rPr>
              <a:t>………………</a:t>
            </a:r>
            <a:r>
              <a:rPr lang="en-US" sz="2600" dirty="0">
                <a:solidFill>
                  <a:schemeClr val="tx1"/>
                </a:solidFill>
              </a:rPr>
              <a:t> before 6.47. </a:t>
            </a:r>
            <a:r>
              <a:rPr lang="en-US" sz="2600" i="1" dirty="0">
                <a:solidFill>
                  <a:schemeClr val="tx1"/>
                </a:solidFill>
              </a:rPr>
              <a:t>(arriver)</a:t>
            </a:r>
            <a:endParaRPr lang="en-US" sz="2600" dirty="0"/>
          </a:p>
          <a:p>
            <a:pPr indent="0" marL="0">
              <a:spcAft>
                <a:spcPts val="1400"/>
              </a:spcAft>
              <a:buNone/>
            </a:pPr>
            <a:r>
              <a:rPr lang="en-US" sz="2600" b="1" dirty="0">
                <a:solidFill>
                  <a:schemeClr val="tx2"/>
                </a:solidFill>
              </a:rPr>
              <a:t>4.  </a:t>
            </a:r>
            <a:r>
              <a:rPr lang="en-US" sz="2600" dirty="0">
                <a:solidFill>
                  <a:schemeClr val="tx1"/>
                </a:solidFill>
              </a:rPr>
              <a:t>I will </a:t>
            </a:r>
            <a:r>
              <a:rPr lang="en-US" sz="2600" dirty="0">
                <a:solidFill>
                  <a:schemeClr val="accent5"/>
                </a:solidFill>
              </a:rPr>
              <a:t>………………</a:t>
            </a:r>
            <a:r>
              <a:rPr lang="en-US" sz="2600" dirty="0">
                <a:solidFill>
                  <a:schemeClr val="tx1"/>
                </a:solidFill>
              </a:rPr>
              <a:t> the log this morning. </a:t>
            </a:r>
            <a:r>
              <a:rPr lang="en-US" sz="2600" i="1" dirty="0">
                <a:solidFill>
                  <a:schemeClr val="tx1"/>
                </a:solidFill>
              </a:rPr>
              <a:t>(examiner)</a:t>
            </a:r>
            <a:endParaRPr lang="en-US" sz="2600" dirty="0"/>
          </a:p>
          <a:p>
            <a:pPr indent="0" marL="0">
              <a:spcAft>
                <a:spcPts val="1400"/>
              </a:spcAft>
              <a:buNone/>
            </a:pPr>
            <a:r>
              <a:rPr lang="en-US" sz="2600" b="1" dirty="0">
                <a:solidFill>
                  <a:schemeClr val="tx2"/>
                </a:solidFill>
              </a:rPr>
              <a:t>5.  </a:t>
            </a:r>
            <a:r>
              <a:rPr lang="en-US" sz="2600" dirty="0">
                <a:solidFill>
                  <a:schemeClr val="tx1"/>
                </a:solidFill>
              </a:rPr>
              <a:t>We cannot </a:t>
            </a:r>
            <a:r>
              <a:rPr lang="en-US" sz="2600" dirty="0">
                <a:solidFill>
                  <a:schemeClr val="accent5"/>
                </a:solidFill>
              </a:rPr>
              <a:t>………………</a:t>
            </a:r>
            <a:r>
              <a:rPr lang="en-US" sz="2600" dirty="0">
                <a:solidFill>
                  <a:schemeClr val="tx1"/>
                </a:solidFill>
              </a:rPr>
              <a:t> the decision. </a:t>
            </a:r>
            <a:r>
              <a:rPr lang="en-US" sz="2600" i="1" dirty="0">
                <a:solidFill>
                  <a:schemeClr val="tx1"/>
                </a:solidFill>
              </a:rPr>
              <a:t>(reporter)</a:t>
            </a:r>
            <a:endParaRPr lang="en-US" sz="2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Warm-up: phrasal verbs</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WARM-UP</a:t>
            </a:r>
            <a:endParaRPr lang="en-US" sz="1200" dirty="0"/>
          </a:p>
        </p:txBody>
      </p:sp>
      <p:sp>
        <p:nvSpPr>
          <p:cNvPr id="4" name="tag"/>
          <p:cNvSpPr/>
          <p:nvPr/>
        </p:nvSpPr>
        <p:spPr>
          <a:xfrm>
            <a:off x="18242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Séance 3</a:t>
            </a:r>
            <a:endParaRPr lang="en-US" sz="1200" dirty="0"/>
          </a:p>
        </p:txBody>
      </p:sp>
      <p:sp>
        <p:nvSpPr>
          <p:cNvPr id="6"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Complete with a phrasal verb from last session, in the right form.</a:t>
            </a:r>
            <a:endParaRPr lang="en-US" sz="1600" dirty="0"/>
          </a:p>
        </p:txBody>
      </p:sp>
      <p:sp>
        <p:nvSpPr>
          <p:cNvPr id="7"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000"/>
              </a:spcAft>
              <a:buNone/>
            </a:pPr>
            <a:r>
              <a:rPr lang="en-US" sz="2200" b="1" dirty="0">
                <a:solidFill>
                  <a:schemeClr val="tx2"/>
                </a:solidFill>
              </a:rPr>
              <a:t>1.  </a:t>
            </a:r>
            <a:r>
              <a:rPr lang="en-US" sz="2200" dirty="0">
                <a:solidFill>
                  <a:schemeClr val="tx1"/>
                </a:solidFill>
              </a:rPr>
              <a:t>The alarm </a:t>
            </a:r>
            <a:r>
              <a:rPr lang="en-US" sz="2200" b="1" dirty="0">
                <a:solidFill>
                  <a:schemeClr val="accent3"/>
                </a:solidFill>
              </a:rPr>
              <a:t>went off</a:t>
            </a:r>
            <a:r>
              <a:rPr lang="en-US" sz="2200" dirty="0">
                <a:solidFill>
                  <a:schemeClr val="tx1"/>
                </a:solidFill>
              </a:rPr>
              <a:t> at 23.41. </a:t>
            </a:r>
            <a:r>
              <a:rPr lang="en-US" sz="2200" i="1" dirty="0">
                <a:solidFill>
                  <a:schemeClr val="tx1"/>
                </a:solidFill>
              </a:rPr>
              <a:t>(se déclencher)</a:t>
            </a:r>
            <a:endParaRPr lang="en-US" sz="2200" dirty="0"/>
          </a:p>
          <a:p>
            <a:pPr indent="0" marL="0">
              <a:spcAft>
                <a:spcPts val="1000"/>
              </a:spcAft>
              <a:buNone/>
            </a:pPr>
            <a:r>
              <a:rPr lang="en-US" sz="2200" b="1" dirty="0">
                <a:solidFill>
                  <a:schemeClr val="tx2"/>
                </a:solidFill>
              </a:rPr>
              <a:t>2.  </a:t>
            </a:r>
            <a:r>
              <a:rPr lang="en-US" sz="2200" dirty="0">
                <a:solidFill>
                  <a:schemeClr val="tx1"/>
                </a:solidFill>
              </a:rPr>
              <a:t>Two units </a:t>
            </a:r>
            <a:r>
              <a:rPr lang="en-US" sz="2200" b="1" dirty="0">
                <a:solidFill>
                  <a:schemeClr val="accent3"/>
                </a:solidFill>
              </a:rPr>
              <a:t>broke down</a:t>
            </a:r>
            <a:r>
              <a:rPr lang="en-US" sz="2200" dirty="0">
                <a:solidFill>
                  <a:schemeClr val="tx1"/>
                </a:solidFill>
              </a:rPr>
              <a:t> during the night. </a:t>
            </a:r>
            <a:r>
              <a:rPr lang="en-US" sz="2200" i="1" dirty="0">
                <a:solidFill>
                  <a:schemeClr val="tx1"/>
                </a:solidFill>
              </a:rPr>
              <a:t>(tomber en panne)</a:t>
            </a:r>
            <a:endParaRPr lang="en-US" sz="2200" dirty="0"/>
          </a:p>
          <a:p>
            <a:pPr indent="0" marL="0">
              <a:spcAft>
                <a:spcPts val="1000"/>
              </a:spcAft>
              <a:buNone/>
            </a:pPr>
            <a:r>
              <a:rPr lang="en-US" sz="2200" b="1" dirty="0">
                <a:solidFill>
                  <a:schemeClr val="tx2"/>
                </a:solidFill>
              </a:rPr>
              <a:t>3.  </a:t>
            </a:r>
            <a:r>
              <a:rPr lang="en-US" sz="2200" dirty="0">
                <a:solidFill>
                  <a:schemeClr val="tx1"/>
                </a:solidFill>
              </a:rPr>
              <a:t>Nobody </a:t>
            </a:r>
            <a:r>
              <a:rPr lang="en-US" sz="2200" b="1" dirty="0">
                <a:solidFill>
                  <a:schemeClr val="accent3"/>
                </a:solidFill>
              </a:rPr>
              <a:t>turned up</a:t>
            </a:r>
            <a:r>
              <a:rPr lang="en-US" sz="2200" dirty="0">
                <a:solidFill>
                  <a:schemeClr val="tx1"/>
                </a:solidFill>
              </a:rPr>
              <a:t> before 6.47. </a:t>
            </a:r>
            <a:r>
              <a:rPr lang="en-US" sz="2200" i="1" dirty="0">
                <a:solidFill>
                  <a:schemeClr val="tx1"/>
                </a:solidFill>
              </a:rPr>
              <a:t>(arriver)</a:t>
            </a:r>
            <a:endParaRPr lang="en-US" sz="2200" dirty="0"/>
          </a:p>
          <a:p>
            <a:pPr indent="0" marL="0">
              <a:spcAft>
                <a:spcPts val="1000"/>
              </a:spcAft>
              <a:buNone/>
            </a:pPr>
            <a:r>
              <a:rPr lang="en-US" sz="2200" b="1" dirty="0">
                <a:solidFill>
                  <a:schemeClr val="tx2"/>
                </a:solidFill>
              </a:rPr>
              <a:t>4.  </a:t>
            </a:r>
            <a:r>
              <a:rPr lang="en-US" sz="2200" dirty="0">
                <a:solidFill>
                  <a:schemeClr val="tx1"/>
                </a:solidFill>
              </a:rPr>
              <a:t>I will </a:t>
            </a:r>
            <a:r>
              <a:rPr lang="en-US" sz="2200" b="1" dirty="0">
                <a:solidFill>
                  <a:schemeClr val="accent3"/>
                </a:solidFill>
              </a:rPr>
              <a:t>look into</a:t>
            </a:r>
            <a:r>
              <a:rPr lang="en-US" sz="2200" dirty="0">
                <a:solidFill>
                  <a:schemeClr val="tx1"/>
                </a:solidFill>
              </a:rPr>
              <a:t> the log this morning. </a:t>
            </a:r>
            <a:r>
              <a:rPr lang="en-US" sz="2200" i="1" dirty="0">
                <a:solidFill>
                  <a:schemeClr val="tx1"/>
                </a:solidFill>
              </a:rPr>
              <a:t>(examiner)</a:t>
            </a:r>
            <a:endParaRPr lang="en-US" sz="2200" dirty="0"/>
          </a:p>
          <a:p>
            <a:pPr indent="0" marL="0">
              <a:spcAft>
                <a:spcPts val="1000"/>
              </a:spcAft>
              <a:buNone/>
            </a:pPr>
            <a:r>
              <a:rPr lang="en-US" sz="2200" b="1" dirty="0">
                <a:solidFill>
                  <a:schemeClr val="tx2"/>
                </a:solidFill>
              </a:rPr>
              <a:t>5.  </a:t>
            </a:r>
            <a:r>
              <a:rPr lang="en-US" sz="2200" dirty="0">
                <a:solidFill>
                  <a:schemeClr val="tx1"/>
                </a:solidFill>
              </a:rPr>
              <a:t>We cannot </a:t>
            </a:r>
            <a:r>
              <a:rPr lang="en-US" sz="2200" b="1" dirty="0">
                <a:solidFill>
                  <a:schemeClr val="accent3"/>
                </a:solidFill>
              </a:rPr>
              <a:t>put off</a:t>
            </a:r>
            <a:r>
              <a:rPr lang="en-US" sz="2200" dirty="0">
                <a:solidFill>
                  <a:schemeClr val="tx1"/>
                </a:solidFill>
              </a:rPr>
              <a:t> the decision. </a:t>
            </a:r>
            <a:r>
              <a:rPr lang="en-US" sz="2200" i="1" dirty="0">
                <a:solidFill>
                  <a:schemeClr val="tx1"/>
                </a:solidFill>
              </a:rPr>
              <a:t>(reporter)</a:t>
            </a:r>
            <a:endParaRPr lang="en-US" sz="2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The room with water in it</a:t>
            </a:r>
            <a:endParaRPr lang="en-US" sz="3200" dirty="0"/>
          </a:p>
        </p:txBody>
      </p:sp>
      <p:sp>
        <p:nvSpPr>
          <p:cNvPr id="3" name="tag"/>
          <p:cNvSpPr/>
          <p:nvPr/>
        </p:nvSpPr>
        <p:spPr>
          <a:xfrm>
            <a:off x="548640" y="384048"/>
            <a:ext cx="9372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SCENE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a:t>
            </a:r>
            <a:endParaRPr lang="en-US" sz="1200" dirty="0"/>
          </a:p>
        </p:txBody>
      </p:sp>
      <p:pic>
        <p:nvPicPr>
          <p:cNvPr id="6" name="illustration" descr="The flooded technical room: Iris photographs the ceiling, Samuel kneels behind the server rack, Mark stands with his arms crossed">    </p:cNvPr>
          <p:cNvPicPr>
            <a:picLocks noChangeAspect="1"/>
          </p:cNvPicPr>
          <p:nvPr/>
        </p:nvPicPr>
        <p:blipFill>
          <a:blip r:embed="rId1"/>
          <a:stretch>
            <a:fillRect/>
          </a:stretch>
        </p:blipFill>
        <p:spPr>
          <a:xfrm>
            <a:off x="548640" y="1783080"/>
            <a:ext cx="6035040" cy="4023360"/>
          </a:xfrm>
          <a:prstGeom prst="rect">
            <a:avLst/>
          </a:prstGeom>
          <a:effectLst>
            <a:outerShdw sx="100000" sy="100000" kx="0" ky="0" algn="bl" rotWithShape="0" blurRad="101600" dist="25400" dir="3600000">
              <a:srgbClr val="000000">
                <a:alpha val="18000"/>
              </a:srgbClr>
            </a:outerShdw>
          </a:effectLst>
        </p:spPr>
      </p:pic>
      <p:sp>
        <p:nvSpPr>
          <p:cNvPr id="7" name="Shape 3"/>
          <p:cNvSpPr/>
          <p:nvPr/>
        </p:nvSpPr>
        <p:spPr>
          <a:xfrm>
            <a:off x="6995160" y="1783080"/>
            <a:ext cx="1600200" cy="868680"/>
          </a:xfrm>
          <a:prstGeom prst="roundRect">
            <a:avLst>
              <a:gd name="adj" fmla="val 8421"/>
            </a:avLst>
          </a:prstGeom>
          <a:solidFill>
            <a:srgbClr val="1F3864"/>
          </a:solidFill>
          <a:ln/>
        </p:spPr>
      </p:sp>
      <p:sp>
        <p:nvSpPr>
          <p:cNvPr id="8" name="Text 4"/>
          <p:cNvSpPr txBox="1"/>
          <p:nvPr/>
        </p:nvSpPr>
        <p:spPr>
          <a:xfrm>
            <a:off x="6995160" y="1828800"/>
            <a:ext cx="1600200" cy="777240"/>
          </a:xfrm>
          <a:prstGeom prst="rect">
            <a:avLst/>
          </a:prstGeom>
          <a:noFill/>
          <a:ln/>
        </p:spPr>
        <p:txBody>
          <a:bodyPr wrap="square" lIns="0" tIns="0" rIns="0" bIns="0" rtlCol="0" anchor="ctr"/>
          <a:lstStyle/>
          <a:p>
            <a:pPr algn="ctr" indent="0" marL="0">
              <a:buNone/>
            </a:pPr>
            <a:r>
              <a:rPr lang="en-US" sz="1100" b="1" spc="200" kern="0" dirty="0">
                <a:solidFill>
                  <a:schemeClr val="bg2"/>
                </a:solidFill>
              </a:rPr>
              <a:t>SCENE 2</a:t>
            </a:r>
            <a:endParaRPr lang="en-US" sz="1100" dirty="0"/>
          </a:p>
          <a:p>
            <a:pPr algn="ctr" indent="0" marL="0">
              <a:buNone/>
            </a:pPr>
            <a:r>
              <a:rPr lang="en-US" sz="2400" b="1" dirty="0">
                <a:solidFill>
                  <a:schemeClr val="bg1"/>
                </a:solidFill>
                <a:latin typeface="+mj-lt" pitchFamily="34" charset="0"/>
                <a:ea typeface="+mj-lt" pitchFamily="34" charset="-122"/>
                <a:cs typeface="+mj-lt" pitchFamily="34" charset="-120"/>
              </a:rPr>
              <a:t>08.15</a:t>
            </a:r>
            <a:endParaRPr lang="en-US" sz="1100" dirty="0"/>
          </a:p>
        </p:txBody>
      </p:sp>
      <p:sp>
        <p:nvSpPr>
          <p:cNvPr id="9" name="Text 5"/>
          <p:cNvSpPr txBox="1"/>
          <p:nvPr/>
        </p:nvSpPr>
        <p:spPr>
          <a:xfrm>
            <a:off x="6995160" y="2880360"/>
            <a:ext cx="4645152" cy="1847088"/>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The technical room </a:t>
            </a:r>
            <a:r>
              <a:rPr lang="en-US" sz="1600" b="1" dirty="0">
                <a:solidFill>
                  <a:schemeClr val="tx1"/>
                </a:solidFill>
              </a:rPr>
              <a:t>smells of wet plaster</a:t>
            </a:r>
            <a:r>
              <a:rPr lang="en-US" sz="1600" dirty="0">
                <a:solidFill>
                  <a:schemeClr val="tx1"/>
                </a:solidFill>
              </a:rPr>
              <a:t>.</a:t>
            </a:r>
            <a:endParaRPr lang="en-US" sz="1600" dirty="0"/>
          </a:p>
          <a:p>
            <a:pPr indent="0" marL="0">
              <a:spcAft>
                <a:spcPts val="1000"/>
              </a:spcAft>
              <a:buNone/>
            </a:pPr>
            <a:r>
              <a:rPr lang="en-US" sz="1600" b="1" dirty="0">
                <a:solidFill>
                  <a:schemeClr val="tx1"/>
                </a:solidFill>
              </a:rPr>
              <a:t>Iris</a:t>
            </a:r>
            <a:r>
              <a:rPr lang="en-US" sz="1600" dirty="0">
                <a:solidFill>
                  <a:schemeClr val="tx1"/>
                </a:solidFill>
              </a:rPr>
              <a:t> is photographing the ceiling. </a:t>
            </a:r>
            <a:r>
              <a:rPr lang="en-US" sz="1600" b="1" dirty="0">
                <a:solidFill>
                  <a:schemeClr val="tx1"/>
                </a:solidFill>
              </a:rPr>
              <a:t>Samuel</a:t>
            </a:r>
            <a:r>
              <a:rPr lang="en-US" sz="1600" dirty="0">
                <a:solidFill>
                  <a:schemeClr val="tx1"/>
                </a:solidFill>
              </a:rPr>
              <a:t> is on his knees behind the server rack with a torch. </a:t>
            </a:r>
            <a:r>
              <a:rPr lang="en-US" sz="1600" b="1" dirty="0">
                <a:solidFill>
                  <a:schemeClr val="tx1"/>
                </a:solidFill>
              </a:rPr>
              <a:t>Mark</a:t>
            </a:r>
            <a:r>
              <a:rPr lang="en-US" sz="1600" dirty="0">
                <a:solidFill>
                  <a:schemeClr val="tx1"/>
                </a:solidFill>
              </a:rPr>
              <a:t> is standing in the doorway with his coat still on.</a:t>
            </a:r>
            <a:endParaRPr lang="en-US" sz="1600" dirty="0"/>
          </a:p>
          <a:p>
            <a:pPr indent="0" marL="0">
              <a:spcAft>
                <a:spcPts val="1000"/>
              </a:spcAft>
              <a:buNone/>
            </a:pPr>
            <a:r>
              <a:rPr lang="en-US" sz="1600" dirty="0">
                <a:solidFill>
                  <a:schemeClr val="tx1"/>
                </a:solidFill>
              </a:rPr>
              <a:t>Nobody sits down.</a:t>
            </a:r>
            <a:endParaRPr lang="en-US" sz="1600" dirty="0"/>
          </a:p>
        </p:txBody>
      </p:sp>
      <p:sp>
        <p:nvSpPr>
          <p:cNvPr id="10" name="Shape 6"/>
          <p:cNvSpPr/>
          <p:nvPr/>
        </p:nvSpPr>
        <p:spPr>
          <a:xfrm>
            <a:off x="6995160" y="4910328"/>
            <a:ext cx="4645152" cy="1399032"/>
          </a:xfrm>
          <a:prstGeom prst="roundRect">
            <a:avLst>
              <a:gd name="adj" fmla="val 5229"/>
            </a:avLst>
          </a:prstGeom>
          <a:solidFill>
            <a:srgbClr val="C0752A">
              <a:alpha val="10000"/>
            </a:srgbClr>
          </a:solidFill>
          <a:ln w="12700">
            <a:solidFill>
              <a:srgbClr val="C0752A"/>
            </a:solidFill>
            <a:prstDash val="solid"/>
          </a:ln>
        </p:spPr>
      </p:sp>
      <p:sp>
        <p:nvSpPr>
          <p:cNvPr id="11" name="Text 7"/>
          <p:cNvSpPr txBox="1"/>
          <p:nvPr/>
        </p:nvSpPr>
        <p:spPr>
          <a:xfrm>
            <a:off x="7196328" y="5020056"/>
            <a:ext cx="4279392"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ASK THE CLASS</a:t>
            </a:r>
            <a:endParaRPr lang="en-US" sz="1200" dirty="0"/>
          </a:p>
        </p:txBody>
      </p:sp>
      <p:sp>
        <p:nvSpPr>
          <p:cNvPr id="12" name="Text 8"/>
          <p:cNvSpPr txBox="1"/>
          <p:nvPr/>
        </p:nvSpPr>
        <p:spPr>
          <a:xfrm>
            <a:off x="7196328" y="5312664"/>
            <a:ext cx="4242816" cy="941832"/>
          </a:xfrm>
          <a:prstGeom prst="rect">
            <a:avLst/>
          </a:prstGeom>
          <a:noFill/>
          <a:ln/>
        </p:spPr>
        <p:txBody>
          <a:bodyPr wrap="square" lIns="0" tIns="0" rIns="0" bIns="0" rtlCol="0" anchor="t"/>
          <a:lstStyle/>
          <a:p>
            <a:pPr indent="0" marL="0">
              <a:buNone/>
            </a:pPr>
            <a:r>
              <a:rPr lang="en-US" sz="1700" dirty="0">
                <a:solidFill>
                  <a:schemeClr val="tx1"/>
                </a:solidFill>
              </a:rPr>
              <a:t>Look at the picture: </a:t>
            </a:r>
            <a:r>
              <a:rPr lang="en-US" sz="1700" b="1" dirty="0">
                <a:solidFill>
                  <a:schemeClr val="tx1"/>
                </a:solidFill>
              </a:rPr>
              <a:t>who is doing what?</a:t>
            </a:r>
            <a:r>
              <a:rPr lang="en-US" sz="1700" dirty="0">
                <a:solidFill>
                  <a:schemeClr val="tx1"/>
                </a:solidFill>
              </a:rPr>
              <a:t> Answer with </a:t>
            </a:r>
            <a:r>
              <a:rPr lang="en-US" sz="1700" i="1" dirty="0">
                <a:solidFill>
                  <a:schemeClr val="tx1"/>
                </a:solidFill>
              </a:rPr>
              <a:t>is / are + -ing</a:t>
            </a:r>
            <a:r>
              <a:rPr lang="en-US" sz="1700" dirty="0">
                <a:solidFill>
                  <a:schemeClr val="tx1"/>
                </a:solidFill>
              </a:rPr>
              <a:t>: </a:t>
            </a:r>
            <a:r>
              <a:rPr lang="en-US" sz="1700" i="1" dirty="0">
                <a:solidFill>
                  <a:schemeClr val="tx1"/>
                </a:solidFill>
              </a:rPr>
              <a:t>Iris is photographing…</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What’s in the room?</a:t>
            </a:r>
            <a:endParaRPr lang="en-US" sz="3200" dirty="0"/>
          </a:p>
        </p:txBody>
      </p:sp>
      <p:sp>
        <p:nvSpPr>
          <p:cNvPr id="3" name="tag"/>
          <p:cNvSpPr/>
          <p:nvPr/>
        </p:nvSpPr>
        <p:spPr>
          <a:xfrm>
            <a:off x="548640" y="384048"/>
            <a:ext cx="15087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VOCABULARY</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 · illustration</a:t>
            </a:r>
            <a:endParaRPr lang="en-US" sz="1200" dirty="0"/>
          </a:p>
        </p:txBody>
      </p:sp>
      <p:sp>
        <p:nvSpPr>
          <p:cNvPr id="6"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In pairs, match each word with a number. Two minutes.</a:t>
            </a:r>
            <a:endParaRPr lang="en-US" sz="1600" dirty="0"/>
          </a:p>
        </p:txBody>
      </p:sp>
      <p:pic>
        <p:nvPicPr>
          <p:cNvPr id="7" name="illustration" descr="The technical room with twelve numbered objects">    </p:cNvPr>
          <p:cNvPicPr>
            <a:picLocks noChangeAspect="1"/>
          </p:cNvPicPr>
          <p:nvPr/>
        </p:nvPicPr>
        <p:blipFill>
          <a:blip r:embed="rId1"/>
          <a:stretch>
            <a:fillRect/>
          </a:stretch>
        </p:blipFill>
        <p:spPr>
          <a:xfrm>
            <a:off x="548640" y="2237232"/>
            <a:ext cx="6108192" cy="4072128"/>
          </a:xfrm>
          <a:prstGeom prst="rect">
            <a:avLst/>
          </a:prstGeom>
          <a:effectLst>
            <a:outerShdw sx="100000" sy="100000" kx="0" ky="0" algn="bl" rotWithShape="0" blurRad="101600" dist="25400" dir="3600000">
              <a:srgbClr val="000000">
                <a:alpha val="18000"/>
              </a:srgbClr>
            </a:outerShdw>
          </a:effectLst>
        </p:spPr>
      </p:pic>
      <p:sp>
        <p:nvSpPr>
          <p:cNvPr id="8" name="Text 4"/>
          <p:cNvSpPr/>
          <p:nvPr/>
        </p:nvSpPr>
        <p:spPr>
          <a:xfrm>
            <a:off x="3709384" y="2763070"/>
            <a:ext cx="329184" cy="329184"/>
          </a:xfrm>
          <a:prstGeom prst="ellipse">
            <a:avLst/>
          </a:prstGeom>
          <a:solidFill>
            <a:srgbClr val="1F3864"/>
          </a:solidFill>
          <a:ln w="15875">
            <a:solidFill>
              <a:srgbClr val="FFFFFF"/>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5"/>
          <p:cNvSpPr/>
          <p:nvPr/>
        </p:nvSpPr>
        <p:spPr>
          <a:xfrm>
            <a:off x="3202130" y="2283996"/>
            <a:ext cx="329184" cy="329184"/>
          </a:xfrm>
          <a:prstGeom prst="ellipse">
            <a:avLst/>
          </a:prstGeom>
          <a:solidFill>
            <a:srgbClr val="1F3864"/>
          </a:solidFill>
          <a:ln w="15875">
            <a:solidFill>
              <a:srgbClr val="FFFFFF"/>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6"/>
          <p:cNvSpPr/>
          <p:nvPr/>
        </p:nvSpPr>
        <p:spPr>
          <a:xfrm>
            <a:off x="3272582" y="3516907"/>
            <a:ext cx="329184" cy="329184"/>
          </a:xfrm>
          <a:prstGeom prst="ellipse">
            <a:avLst/>
          </a:prstGeom>
          <a:solidFill>
            <a:srgbClr val="1F3864"/>
          </a:solidFill>
          <a:ln w="15875">
            <a:solidFill>
              <a:srgbClr val="FFFFFF"/>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Text 7"/>
          <p:cNvSpPr/>
          <p:nvPr/>
        </p:nvSpPr>
        <p:spPr>
          <a:xfrm>
            <a:off x="4329362" y="3848031"/>
            <a:ext cx="329184" cy="329184"/>
          </a:xfrm>
          <a:prstGeom prst="ellipse">
            <a:avLst/>
          </a:prstGeom>
          <a:solidFill>
            <a:srgbClr val="1F3864"/>
          </a:solidFill>
          <a:ln w="15875">
            <a:solidFill>
              <a:srgbClr val="FFFFFF"/>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2" name="Text 8"/>
          <p:cNvSpPr/>
          <p:nvPr/>
        </p:nvSpPr>
        <p:spPr>
          <a:xfrm>
            <a:off x="5470685" y="4693456"/>
            <a:ext cx="329184" cy="329184"/>
          </a:xfrm>
          <a:prstGeom prst="ellipse">
            <a:avLst/>
          </a:prstGeom>
          <a:solidFill>
            <a:srgbClr val="1F3864"/>
          </a:solidFill>
          <a:ln w="15875">
            <a:solidFill>
              <a:srgbClr val="FFFFFF"/>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3" name="Text 9"/>
          <p:cNvSpPr/>
          <p:nvPr/>
        </p:nvSpPr>
        <p:spPr>
          <a:xfrm>
            <a:off x="5090244" y="3833941"/>
            <a:ext cx="329184" cy="329184"/>
          </a:xfrm>
          <a:prstGeom prst="ellipse">
            <a:avLst/>
          </a:prstGeom>
          <a:solidFill>
            <a:srgbClr val="1F3864"/>
          </a:solidFill>
          <a:ln w="15875">
            <a:solidFill>
              <a:srgbClr val="FFFFFF"/>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4" name="Text 10"/>
          <p:cNvSpPr/>
          <p:nvPr/>
        </p:nvSpPr>
        <p:spPr>
          <a:xfrm>
            <a:off x="3286672" y="4665275"/>
            <a:ext cx="329184" cy="329184"/>
          </a:xfrm>
          <a:prstGeom prst="ellipse">
            <a:avLst/>
          </a:prstGeom>
          <a:solidFill>
            <a:srgbClr val="1F3864"/>
          </a:solidFill>
          <a:ln w="15875">
            <a:solidFill>
              <a:srgbClr val="FFFFFF"/>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15" name="Text 11"/>
          <p:cNvSpPr/>
          <p:nvPr/>
        </p:nvSpPr>
        <p:spPr>
          <a:xfrm>
            <a:off x="3244401" y="5207756"/>
            <a:ext cx="329184" cy="329184"/>
          </a:xfrm>
          <a:prstGeom prst="ellipse">
            <a:avLst/>
          </a:prstGeom>
          <a:solidFill>
            <a:srgbClr val="1F3864"/>
          </a:solidFill>
          <a:ln w="15875">
            <a:solidFill>
              <a:srgbClr val="FFFFFF"/>
            </a:solid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16" name="Text 12"/>
          <p:cNvSpPr/>
          <p:nvPr/>
        </p:nvSpPr>
        <p:spPr>
          <a:xfrm>
            <a:off x="3864379" y="5609332"/>
            <a:ext cx="329184" cy="329184"/>
          </a:xfrm>
          <a:prstGeom prst="ellipse">
            <a:avLst/>
          </a:prstGeom>
          <a:solidFill>
            <a:srgbClr val="1F3864"/>
          </a:solidFill>
          <a:ln w="15875">
            <a:solidFill>
              <a:srgbClr val="FFFFFF"/>
            </a:solid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17" name="Text 13"/>
          <p:cNvSpPr/>
          <p:nvPr/>
        </p:nvSpPr>
        <p:spPr>
          <a:xfrm>
            <a:off x="2159439" y="5933412"/>
            <a:ext cx="329184" cy="329184"/>
          </a:xfrm>
          <a:prstGeom prst="ellipse">
            <a:avLst/>
          </a:prstGeom>
          <a:solidFill>
            <a:srgbClr val="1F3864"/>
          </a:solidFill>
          <a:ln w="15875">
            <a:solidFill>
              <a:srgbClr val="FFFFFF"/>
            </a:solid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18" name="Text 14"/>
          <p:cNvSpPr/>
          <p:nvPr/>
        </p:nvSpPr>
        <p:spPr>
          <a:xfrm>
            <a:off x="1440829" y="3411229"/>
            <a:ext cx="329184" cy="329184"/>
          </a:xfrm>
          <a:prstGeom prst="ellipse">
            <a:avLst/>
          </a:prstGeom>
          <a:solidFill>
            <a:srgbClr val="1F3864"/>
          </a:solidFill>
          <a:ln w="15875">
            <a:solidFill>
              <a:srgbClr val="FFFFFF"/>
            </a:solidFill>
          </a:ln>
        </p:spPr>
        <p:txBody>
          <a:bodyPr wrap="square" lIns="0" tIns="0" rIns="0" bIns="0" rtlCol="0" anchor="ctr"/>
          <a:lstStyle/>
          <a:p>
            <a:pPr algn="ctr" indent="0" marL="0">
              <a:buNone/>
            </a:pPr>
            <a:r>
              <a:rPr lang="en-US" sz="1300" b="1" dirty="0">
                <a:solidFill>
                  <a:schemeClr val="bg1"/>
                </a:solidFill>
              </a:rPr>
              <a:t>11</a:t>
            </a:r>
            <a:endParaRPr lang="en-US" sz="1300" dirty="0"/>
          </a:p>
        </p:txBody>
      </p:sp>
      <p:sp>
        <p:nvSpPr>
          <p:cNvPr id="19" name="Text 15"/>
          <p:cNvSpPr/>
          <p:nvPr/>
        </p:nvSpPr>
        <p:spPr>
          <a:xfrm>
            <a:off x="4456176" y="5299344"/>
            <a:ext cx="329184" cy="329184"/>
          </a:xfrm>
          <a:prstGeom prst="ellipse">
            <a:avLst/>
          </a:prstGeom>
          <a:solidFill>
            <a:srgbClr val="1F3864"/>
          </a:solidFill>
          <a:ln w="15875">
            <a:solidFill>
              <a:srgbClr val="FFFFFF"/>
            </a:solidFill>
          </a:ln>
        </p:spPr>
        <p:txBody>
          <a:bodyPr wrap="square" lIns="0" tIns="0" rIns="0" bIns="0" rtlCol="0" anchor="ctr"/>
          <a:lstStyle/>
          <a:p>
            <a:pPr algn="ctr" indent="0" marL="0">
              <a:buNone/>
            </a:pPr>
            <a:r>
              <a:rPr lang="en-US" sz="1300" b="1" dirty="0">
                <a:solidFill>
                  <a:schemeClr val="bg1"/>
                </a:solidFill>
              </a:rPr>
              <a:t>12</a:t>
            </a:r>
            <a:endParaRPr lang="en-US" sz="1300" dirty="0"/>
          </a:p>
        </p:txBody>
      </p:sp>
      <p:sp>
        <p:nvSpPr>
          <p:cNvPr id="20" name="Shape 16"/>
          <p:cNvSpPr/>
          <p:nvPr/>
        </p:nvSpPr>
        <p:spPr>
          <a:xfrm>
            <a:off x="7022592" y="2260600"/>
            <a:ext cx="384048" cy="292608"/>
          </a:xfrm>
          <a:prstGeom prst="roundRect">
            <a:avLst>
              <a:gd name="adj" fmla="val 15625"/>
            </a:avLst>
          </a:prstGeom>
          <a:solidFill>
            <a:srgbClr val="FFFFFF"/>
          </a:solidFill>
          <a:ln w="12700">
            <a:solidFill>
              <a:srgbClr val="1F3864"/>
            </a:solidFill>
            <a:prstDash val="solid"/>
          </a:ln>
        </p:spPr>
      </p:sp>
      <p:sp>
        <p:nvSpPr>
          <p:cNvPr id="21" name="Text 17"/>
          <p:cNvSpPr txBox="1"/>
          <p:nvPr/>
        </p:nvSpPr>
        <p:spPr>
          <a:xfrm>
            <a:off x="7571232" y="2237232"/>
            <a:ext cx="4069080" cy="339344"/>
          </a:xfrm>
          <a:prstGeom prst="rect">
            <a:avLst/>
          </a:prstGeom>
          <a:noFill/>
          <a:ln/>
        </p:spPr>
        <p:txBody>
          <a:bodyPr wrap="square" lIns="0" tIns="0" rIns="0" bIns="0" rtlCol="0" anchor="ctr"/>
          <a:lstStyle/>
          <a:p>
            <a:pPr indent="0" marL="0">
              <a:buNone/>
            </a:pPr>
            <a:r>
              <a:rPr lang="en-US" sz="1700" dirty="0">
                <a:solidFill>
                  <a:schemeClr val="tx1"/>
                </a:solidFill>
              </a:rPr>
              <a:t>a bucket</a:t>
            </a:r>
            <a:endParaRPr lang="en-US" sz="1700" dirty="0"/>
          </a:p>
        </p:txBody>
      </p:sp>
      <p:sp>
        <p:nvSpPr>
          <p:cNvPr id="22" name="Shape 18"/>
          <p:cNvSpPr/>
          <p:nvPr/>
        </p:nvSpPr>
        <p:spPr>
          <a:xfrm>
            <a:off x="7022592" y="2599944"/>
            <a:ext cx="384048" cy="292608"/>
          </a:xfrm>
          <a:prstGeom prst="roundRect">
            <a:avLst>
              <a:gd name="adj" fmla="val 15625"/>
            </a:avLst>
          </a:prstGeom>
          <a:solidFill>
            <a:srgbClr val="FFFFFF"/>
          </a:solidFill>
          <a:ln w="12700">
            <a:solidFill>
              <a:srgbClr val="1F3864"/>
            </a:solidFill>
            <a:prstDash val="solid"/>
          </a:ln>
        </p:spPr>
      </p:sp>
      <p:sp>
        <p:nvSpPr>
          <p:cNvPr id="23" name="Text 19"/>
          <p:cNvSpPr txBox="1"/>
          <p:nvPr/>
        </p:nvSpPr>
        <p:spPr>
          <a:xfrm>
            <a:off x="7571232" y="2576576"/>
            <a:ext cx="4069080" cy="339344"/>
          </a:xfrm>
          <a:prstGeom prst="rect">
            <a:avLst/>
          </a:prstGeom>
          <a:noFill/>
          <a:ln/>
        </p:spPr>
        <p:txBody>
          <a:bodyPr wrap="square" lIns="0" tIns="0" rIns="0" bIns="0" rtlCol="0" anchor="ctr"/>
          <a:lstStyle/>
          <a:p>
            <a:pPr indent="0" marL="0">
              <a:buNone/>
            </a:pPr>
            <a:r>
              <a:rPr lang="en-US" sz="1700" dirty="0">
                <a:solidFill>
                  <a:schemeClr val="tx1"/>
                </a:solidFill>
              </a:rPr>
              <a:t>an electrical panel</a:t>
            </a:r>
            <a:endParaRPr lang="en-US" sz="1700" dirty="0"/>
          </a:p>
        </p:txBody>
      </p:sp>
      <p:sp>
        <p:nvSpPr>
          <p:cNvPr id="24" name="Shape 20"/>
          <p:cNvSpPr/>
          <p:nvPr/>
        </p:nvSpPr>
        <p:spPr>
          <a:xfrm>
            <a:off x="7022592" y="2939288"/>
            <a:ext cx="384048" cy="292608"/>
          </a:xfrm>
          <a:prstGeom prst="roundRect">
            <a:avLst>
              <a:gd name="adj" fmla="val 15625"/>
            </a:avLst>
          </a:prstGeom>
          <a:solidFill>
            <a:srgbClr val="FFFFFF"/>
          </a:solidFill>
          <a:ln w="12700">
            <a:solidFill>
              <a:srgbClr val="1F3864"/>
            </a:solidFill>
            <a:prstDash val="solid"/>
          </a:ln>
        </p:spPr>
      </p:sp>
      <p:sp>
        <p:nvSpPr>
          <p:cNvPr id="25" name="Text 21"/>
          <p:cNvSpPr txBox="1"/>
          <p:nvPr/>
        </p:nvSpPr>
        <p:spPr>
          <a:xfrm>
            <a:off x="7571232" y="2915920"/>
            <a:ext cx="4069080" cy="339344"/>
          </a:xfrm>
          <a:prstGeom prst="rect">
            <a:avLst/>
          </a:prstGeom>
          <a:noFill/>
          <a:ln/>
        </p:spPr>
        <p:txBody>
          <a:bodyPr wrap="square" lIns="0" tIns="0" rIns="0" bIns="0" rtlCol="0" anchor="ctr"/>
          <a:lstStyle/>
          <a:p>
            <a:pPr indent="0" marL="0">
              <a:buNone/>
            </a:pPr>
            <a:r>
              <a:rPr lang="en-US" sz="1700" dirty="0">
                <a:solidFill>
                  <a:schemeClr val="tx1"/>
                </a:solidFill>
              </a:rPr>
              <a:t>the doorway</a:t>
            </a:r>
            <a:endParaRPr lang="en-US" sz="1700" dirty="0"/>
          </a:p>
        </p:txBody>
      </p:sp>
      <p:sp>
        <p:nvSpPr>
          <p:cNvPr id="26" name="Shape 22"/>
          <p:cNvSpPr/>
          <p:nvPr/>
        </p:nvSpPr>
        <p:spPr>
          <a:xfrm>
            <a:off x="7022592" y="3278632"/>
            <a:ext cx="384048" cy="292608"/>
          </a:xfrm>
          <a:prstGeom prst="roundRect">
            <a:avLst>
              <a:gd name="adj" fmla="val 15625"/>
            </a:avLst>
          </a:prstGeom>
          <a:solidFill>
            <a:srgbClr val="FFFFFF"/>
          </a:solidFill>
          <a:ln w="12700">
            <a:solidFill>
              <a:srgbClr val="1F3864"/>
            </a:solidFill>
            <a:prstDash val="solid"/>
          </a:ln>
        </p:spPr>
      </p:sp>
      <p:sp>
        <p:nvSpPr>
          <p:cNvPr id="27" name="Text 23"/>
          <p:cNvSpPr txBox="1"/>
          <p:nvPr/>
        </p:nvSpPr>
        <p:spPr>
          <a:xfrm>
            <a:off x="7571232" y="3255264"/>
            <a:ext cx="4069080" cy="339344"/>
          </a:xfrm>
          <a:prstGeom prst="rect">
            <a:avLst/>
          </a:prstGeom>
          <a:noFill/>
          <a:ln/>
        </p:spPr>
        <p:txBody>
          <a:bodyPr wrap="square" lIns="0" tIns="0" rIns="0" bIns="0" rtlCol="0" anchor="ctr"/>
          <a:lstStyle/>
          <a:p>
            <a:pPr indent="0" marL="0">
              <a:buNone/>
            </a:pPr>
            <a:r>
              <a:rPr lang="en-US" sz="1700" dirty="0">
                <a:solidFill>
                  <a:schemeClr val="tx1"/>
                </a:solidFill>
              </a:rPr>
              <a:t>a torch</a:t>
            </a:r>
            <a:endParaRPr lang="en-US" sz="1700" dirty="0"/>
          </a:p>
        </p:txBody>
      </p:sp>
      <p:sp>
        <p:nvSpPr>
          <p:cNvPr id="28" name="Shape 24"/>
          <p:cNvSpPr/>
          <p:nvPr/>
        </p:nvSpPr>
        <p:spPr>
          <a:xfrm>
            <a:off x="7022592" y="3617976"/>
            <a:ext cx="384048" cy="292608"/>
          </a:xfrm>
          <a:prstGeom prst="roundRect">
            <a:avLst>
              <a:gd name="adj" fmla="val 15625"/>
            </a:avLst>
          </a:prstGeom>
          <a:solidFill>
            <a:srgbClr val="FFFFFF"/>
          </a:solidFill>
          <a:ln w="12700">
            <a:solidFill>
              <a:srgbClr val="1F3864"/>
            </a:solidFill>
            <a:prstDash val="solid"/>
          </a:ln>
        </p:spPr>
      </p:sp>
      <p:sp>
        <p:nvSpPr>
          <p:cNvPr id="29" name="Text 25"/>
          <p:cNvSpPr txBox="1"/>
          <p:nvPr/>
        </p:nvSpPr>
        <p:spPr>
          <a:xfrm>
            <a:off x="7571232" y="3594608"/>
            <a:ext cx="4069080" cy="339344"/>
          </a:xfrm>
          <a:prstGeom prst="rect">
            <a:avLst/>
          </a:prstGeom>
          <a:noFill/>
          <a:ln/>
        </p:spPr>
        <p:txBody>
          <a:bodyPr wrap="square" lIns="0" tIns="0" rIns="0" bIns="0" rtlCol="0" anchor="ctr"/>
          <a:lstStyle/>
          <a:p>
            <a:pPr indent="0" marL="0">
              <a:buNone/>
            </a:pPr>
            <a:r>
              <a:rPr lang="en-US" sz="1700" dirty="0">
                <a:solidFill>
                  <a:schemeClr val="tx1"/>
                </a:solidFill>
              </a:rPr>
              <a:t>a ceiling tile</a:t>
            </a:r>
            <a:endParaRPr lang="en-US" sz="1700" dirty="0"/>
          </a:p>
        </p:txBody>
      </p:sp>
      <p:sp>
        <p:nvSpPr>
          <p:cNvPr id="30" name="Shape 26"/>
          <p:cNvSpPr/>
          <p:nvPr/>
        </p:nvSpPr>
        <p:spPr>
          <a:xfrm>
            <a:off x="7022592" y="3957320"/>
            <a:ext cx="384048" cy="292608"/>
          </a:xfrm>
          <a:prstGeom prst="roundRect">
            <a:avLst>
              <a:gd name="adj" fmla="val 15625"/>
            </a:avLst>
          </a:prstGeom>
          <a:solidFill>
            <a:srgbClr val="FFFFFF"/>
          </a:solidFill>
          <a:ln w="12700">
            <a:solidFill>
              <a:srgbClr val="1F3864"/>
            </a:solidFill>
            <a:prstDash val="solid"/>
          </a:ln>
        </p:spPr>
      </p:sp>
      <p:sp>
        <p:nvSpPr>
          <p:cNvPr id="31" name="Text 27"/>
          <p:cNvSpPr txBox="1"/>
          <p:nvPr/>
        </p:nvSpPr>
        <p:spPr>
          <a:xfrm>
            <a:off x="7571232" y="3933952"/>
            <a:ext cx="4069080" cy="339344"/>
          </a:xfrm>
          <a:prstGeom prst="rect">
            <a:avLst/>
          </a:prstGeom>
          <a:noFill/>
          <a:ln/>
        </p:spPr>
        <p:txBody>
          <a:bodyPr wrap="square" lIns="0" tIns="0" rIns="0" bIns="0" rtlCol="0" anchor="ctr"/>
          <a:lstStyle/>
          <a:p>
            <a:pPr indent="0" marL="0">
              <a:buNone/>
            </a:pPr>
            <a:r>
              <a:rPr lang="en-US" sz="1700" dirty="0">
                <a:solidFill>
                  <a:schemeClr val="tx1"/>
                </a:solidFill>
              </a:rPr>
              <a:t>a puddle</a:t>
            </a:r>
            <a:endParaRPr lang="en-US" sz="1700" dirty="0"/>
          </a:p>
        </p:txBody>
      </p:sp>
      <p:sp>
        <p:nvSpPr>
          <p:cNvPr id="32" name="Shape 28"/>
          <p:cNvSpPr/>
          <p:nvPr/>
        </p:nvSpPr>
        <p:spPr>
          <a:xfrm>
            <a:off x="7022592" y="4296664"/>
            <a:ext cx="384048" cy="292608"/>
          </a:xfrm>
          <a:prstGeom prst="roundRect">
            <a:avLst>
              <a:gd name="adj" fmla="val 15625"/>
            </a:avLst>
          </a:prstGeom>
          <a:solidFill>
            <a:srgbClr val="FFFFFF"/>
          </a:solidFill>
          <a:ln w="12700">
            <a:solidFill>
              <a:srgbClr val="1F3864"/>
            </a:solidFill>
            <a:prstDash val="solid"/>
          </a:ln>
        </p:spPr>
      </p:sp>
      <p:sp>
        <p:nvSpPr>
          <p:cNvPr id="33" name="Text 29"/>
          <p:cNvSpPr txBox="1"/>
          <p:nvPr/>
        </p:nvSpPr>
        <p:spPr>
          <a:xfrm>
            <a:off x="7571232" y="4273296"/>
            <a:ext cx="4069080" cy="339344"/>
          </a:xfrm>
          <a:prstGeom prst="rect">
            <a:avLst/>
          </a:prstGeom>
          <a:noFill/>
          <a:ln/>
        </p:spPr>
        <p:txBody>
          <a:bodyPr wrap="square" lIns="0" tIns="0" rIns="0" bIns="0" rtlCol="0" anchor="ctr"/>
          <a:lstStyle/>
          <a:p>
            <a:pPr indent="0" marL="0">
              <a:buNone/>
            </a:pPr>
            <a:r>
              <a:rPr lang="en-US" sz="1700" dirty="0">
                <a:solidFill>
                  <a:schemeClr val="tx1"/>
                </a:solidFill>
              </a:rPr>
              <a:t>a server rack</a:t>
            </a:r>
            <a:endParaRPr lang="en-US" sz="1700" dirty="0"/>
          </a:p>
        </p:txBody>
      </p:sp>
      <p:sp>
        <p:nvSpPr>
          <p:cNvPr id="34" name="Shape 30"/>
          <p:cNvSpPr/>
          <p:nvPr/>
        </p:nvSpPr>
        <p:spPr>
          <a:xfrm>
            <a:off x="7022592" y="4636008"/>
            <a:ext cx="384048" cy="292608"/>
          </a:xfrm>
          <a:prstGeom prst="roundRect">
            <a:avLst>
              <a:gd name="adj" fmla="val 15625"/>
            </a:avLst>
          </a:prstGeom>
          <a:solidFill>
            <a:srgbClr val="FFFFFF"/>
          </a:solidFill>
          <a:ln w="12700">
            <a:solidFill>
              <a:srgbClr val="1F3864"/>
            </a:solidFill>
            <a:prstDash val="solid"/>
          </a:ln>
        </p:spPr>
      </p:sp>
      <p:sp>
        <p:nvSpPr>
          <p:cNvPr id="35" name="Text 31"/>
          <p:cNvSpPr txBox="1"/>
          <p:nvPr/>
        </p:nvSpPr>
        <p:spPr>
          <a:xfrm>
            <a:off x="7571232" y="4612640"/>
            <a:ext cx="4069080" cy="339344"/>
          </a:xfrm>
          <a:prstGeom prst="rect">
            <a:avLst/>
          </a:prstGeom>
          <a:noFill/>
          <a:ln/>
        </p:spPr>
        <p:txBody>
          <a:bodyPr wrap="square" lIns="0" tIns="0" rIns="0" bIns="0" rtlCol="0" anchor="ctr"/>
          <a:lstStyle/>
          <a:p>
            <a:pPr indent="0" marL="0">
              <a:buNone/>
            </a:pPr>
            <a:r>
              <a:rPr lang="en-US" sz="1700" dirty="0">
                <a:solidFill>
                  <a:schemeClr val="tx1"/>
                </a:solidFill>
              </a:rPr>
              <a:t>a squeegee</a:t>
            </a:r>
            <a:endParaRPr lang="en-US" sz="1700" dirty="0"/>
          </a:p>
        </p:txBody>
      </p:sp>
      <p:sp>
        <p:nvSpPr>
          <p:cNvPr id="36" name="Shape 32"/>
          <p:cNvSpPr/>
          <p:nvPr/>
        </p:nvSpPr>
        <p:spPr>
          <a:xfrm>
            <a:off x="7022592" y="4975352"/>
            <a:ext cx="384048" cy="292608"/>
          </a:xfrm>
          <a:prstGeom prst="roundRect">
            <a:avLst>
              <a:gd name="adj" fmla="val 15625"/>
            </a:avLst>
          </a:prstGeom>
          <a:solidFill>
            <a:srgbClr val="FFFFFF"/>
          </a:solidFill>
          <a:ln w="12700">
            <a:solidFill>
              <a:srgbClr val="1F3864"/>
            </a:solidFill>
            <a:prstDash val="solid"/>
          </a:ln>
        </p:spPr>
      </p:sp>
      <p:sp>
        <p:nvSpPr>
          <p:cNvPr id="37" name="Text 33"/>
          <p:cNvSpPr txBox="1"/>
          <p:nvPr/>
        </p:nvSpPr>
        <p:spPr>
          <a:xfrm>
            <a:off x="7571232" y="4951984"/>
            <a:ext cx="4069080" cy="339344"/>
          </a:xfrm>
          <a:prstGeom prst="rect">
            <a:avLst/>
          </a:prstGeom>
          <a:noFill/>
          <a:ln/>
        </p:spPr>
        <p:txBody>
          <a:bodyPr wrap="square" lIns="0" tIns="0" rIns="0" bIns="0" rtlCol="0" anchor="ctr"/>
          <a:lstStyle/>
          <a:p>
            <a:pPr indent="0" marL="0">
              <a:buNone/>
            </a:pPr>
            <a:r>
              <a:rPr lang="en-US" sz="1700" dirty="0">
                <a:solidFill>
                  <a:schemeClr val="tx1"/>
                </a:solidFill>
              </a:rPr>
              <a:t>a pipe</a:t>
            </a:r>
            <a:endParaRPr lang="en-US" sz="1700" dirty="0"/>
          </a:p>
        </p:txBody>
      </p:sp>
      <p:sp>
        <p:nvSpPr>
          <p:cNvPr id="38" name="Shape 34"/>
          <p:cNvSpPr/>
          <p:nvPr/>
        </p:nvSpPr>
        <p:spPr>
          <a:xfrm>
            <a:off x="7022592" y="5314696"/>
            <a:ext cx="384048" cy="292608"/>
          </a:xfrm>
          <a:prstGeom prst="roundRect">
            <a:avLst>
              <a:gd name="adj" fmla="val 15625"/>
            </a:avLst>
          </a:prstGeom>
          <a:solidFill>
            <a:srgbClr val="FFFFFF"/>
          </a:solidFill>
          <a:ln w="12700">
            <a:solidFill>
              <a:srgbClr val="1F3864"/>
            </a:solidFill>
            <a:prstDash val="solid"/>
          </a:ln>
        </p:spPr>
      </p:sp>
      <p:sp>
        <p:nvSpPr>
          <p:cNvPr id="39" name="Text 35"/>
          <p:cNvSpPr txBox="1"/>
          <p:nvPr/>
        </p:nvSpPr>
        <p:spPr>
          <a:xfrm>
            <a:off x="7571232" y="5291328"/>
            <a:ext cx="4069080" cy="339344"/>
          </a:xfrm>
          <a:prstGeom prst="rect">
            <a:avLst/>
          </a:prstGeom>
          <a:noFill/>
          <a:ln/>
        </p:spPr>
        <p:txBody>
          <a:bodyPr wrap="square" lIns="0" tIns="0" rIns="0" bIns="0" rtlCol="0" anchor="ctr"/>
          <a:lstStyle/>
          <a:p>
            <a:pPr indent="0" marL="0">
              <a:buNone/>
            </a:pPr>
            <a:r>
              <a:rPr lang="en-US" sz="1700" dirty="0">
                <a:solidFill>
                  <a:schemeClr val="tx1"/>
                </a:solidFill>
              </a:rPr>
              <a:t>a roll of paper towels</a:t>
            </a:r>
            <a:endParaRPr lang="en-US" sz="1700" dirty="0"/>
          </a:p>
        </p:txBody>
      </p:sp>
      <p:sp>
        <p:nvSpPr>
          <p:cNvPr id="40" name="Shape 36"/>
          <p:cNvSpPr/>
          <p:nvPr/>
        </p:nvSpPr>
        <p:spPr>
          <a:xfrm>
            <a:off x="7022592" y="5654040"/>
            <a:ext cx="384048" cy="292608"/>
          </a:xfrm>
          <a:prstGeom prst="roundRect">
            <a:avLst>
              <a:gd name="adj" fmla="val 15625"/>
            </a:avLst>
          </a:prstGeom>
          <a:solidFill>
            <a:srgbClr val="FFFFFF"/>
          </a:solidFill>
          <a:ln w="12700">
            <a:solidFill>
              <a:srgbClr val="1F3864"/>
            </a:solidFill>
            <a:prstDash val="solid"/>
          </a:ln>
        </p:spPr>
      </p:sp>
      <p:sp>
        <p:nvSpPr>
          <p:cNvPr id="41" name="Text 37"/>
          <p:cNvSpPr txBox="1"/>
          <p:nvPr/>
        </p:nvSpPr>
        <p:spPr>
          <a:xfrm>
            <a:off x="7571232" y="5630672"/>
            <a:ext cx="4069080" cy="339344"/>
          </a:xfrm>
          <a:prstGeom prst="rect">
            <a:avLst/>
          </a:prstGeom>
          <a:noFill/>
          <a:ln/>
        </p:spPr>
        <p:txBody>
          <a:bodyPr wrap="square" lIns="0" tIns="0" rIns="0" bIns="0" rtlCol="0" anchor="ctr"/>
          <a:lstStyle/>
          <a:p>
            <a:pPr indent="0" marL="0">
              <a:buNone/>
            </a:pPr>
            <a:r>
              <a:rPr lang="en-US" sz="1700" dirty="0">
                <a:solidFill>
                  <a:schemeClr val="tx1"/>
                </a:solidFill>
              </a:rPr>
              <a:t>a “wet floor” sign</a:t>
            </a:r>
            <a:endParaRPr lang="en-US" sz="1700" dirty="0"/>
          </a:p>
        </p:txBody>
      </p:sp>
      <p:sp>
        <p:nvSpPr>
          <p:cNvPr id="42" name="Shape 38"/>
          <p:cNvSpPr/>
          <p:nvPr/>
        </p:nvSpPr>
        <p:spPr>
          <a:xfrm>
            <a:off x="7022592" y="5993384"/>
            <a:ext cx="384048" cy="292608"/>
          </a:xfrm>
          <a:prstGeom prst="roundRect">
            <a:avLst>
              <a:gd name="adj" fmla="val 15625"/>
            </a:avLst>
          </a:prstGeom>
          <a:solidFill>
            <a:srgbClr val="FFFFFF"/>
          </a:solidFill>
          <a:ln w="12700">
            <a:solidFill>
              <a:srgbClr val="1F3864"/>
            </a:solidFill>
            <a:prstDash val="solid"/>
          </a:ln>
        </p:spPr>
      </p:sp>
      <p:sp>
        <p:nvSpPr>
          <p:cNvPr id="43" name="Text 39"/>
          <p:cNvSpPr txBox="1"/>
          <p:nvPr/>
        </p:nvSpPr>
        <p:spPr>
          <a:xfrm>
            <a:off x="7571232" y="5970016"/>
            <a:ext cx="4069080" cy="339344"/>
          </a:xfrm>
          <a:prstGeom prst="rect">
            <a:avLst/>
          </a:prstGeom>
          <a:noFill/>
          <a:ln/>
        </p:spPr>
        <p:txBody>
          <a:bodyPr wrap="square" lIns="0" tIns="0" rIns="0" bIns="0" rtlCol="0" anchor="ctr"/>
          <a:lstStyle/>
          <a:p>
            <a:pPr indent="0" marL="0">
              <a:buNone/>
            </a:pPr>
            <a:r>
              <a:rPr lang="en-US" sz="1700" dirty="0">
                <a:solidFill>
                  <a:schemeClr val="tx1"/>
                </a:solidFill>
              </a:rPr>
              <a:t>a whiteboard</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What’s in the room?</a:t>
            </a:r>
            <a:endParaRPr lang="en-US" sz="3200" dirty="0"/>
          </a:p>
        </p:txBody>
      </p:sp>
      <p:sp>
        <p:nvSpPr>
          <p:cNvPr id="3" name="tag"/>
          <p:cNvSpPr/>
          <p:nvPr/>
        </p:nvSpPr>
        <p:spPr>
          <a:xfrm>
            <a:off x="548640" y="384048"/>
            <a:ext cx="15087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VOCABULARY</a:t>
            </a:r>
            <a:endParaRPr lang="en-US" sz="1200" dirty="0"/>
          </a:p>
        </p:txBody>
      </p:sp>
      <p:sp>
        <p:nvSpPr>
          <p:cNvPr id="4" name="tag"/>
          <p:cNvSpPr/>
          <p:nvPr/>
        </p:nvSpPr>
        <p:spPr>
          <a:xfrm>
            <a:off x="21671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 · illustration</a:t>
            </a:r>
            <a:endParaRPr lang="en-US" sz="1200" dirty="0"/>
          </a:p>
        </p:txBody>
      </p:sp>
      <p:sp>
        <p:nvSpPr>
          <p:cNvPr id="7"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Say it with the article: </a:t>
            </a:r>
            <a:r>
              <a:rPr lang="en-US" sz="1600" i="1" dirty="0">
                <a:solidFill>
                  <a:schemeClr val="accent5"/>
                </a:solidFill>
              </a:rPr>
              <a:t>a</a:t>
            </a:r>
            <a:r>
              <a:rPr lang="en-US" sz="1600" i="1" dirty="0">
                <a:solidFill>
                  <a:schemeClr val="accent5"/>
                </a:solidFill>
              </a:rPr>
              <a:t> bucket, </a:t>
            </a:r>
            <a:r>
              <a:rPr lang="en-US" sz="1600" i="1" dirty="0">
                <a:solidFill>
                  <a:schemeClr val="accent5"/>
                </a:solidFill>
              </a:rPr>
              <a:t>the</a:t>
            </a:r>
            <a:r>
              <a:rPr lang="en-US" sz="1600" i="1" dirty="0">
                <a:solidFill>
                  <a:schemeClr val="accent5"/>
                </a:solidFill>
              </a:rPr>
              <a:t> doorway.</a:t>
            </a:r>
            <a:endParaRPr lang="en-US" sz="1600" dirty="0"/>
          </a:p>
        </p:txBody>
      </p:sp>
      <p:pic>
        <p:nvPicPr>
          <p:cNvPr id="8" name="illustration" descr="The technical room with twelve numbered objects">    </p:cNvPr>
          <p:cNvPicPr>
            <a:picLocks noChangeAspect="1"/>
          </p:cNvPicPr>
          <p:nvPr/>
        </p:nvPicPr>
        <p:blipFill>
          <a:blip r:embed="rId1"/>
          <a:stretch>
            <a:fillRect/>
          </a:stretch>
        </p:blipFill>
        <p:spPr>
          <a:xfrm>
            <a:off x="548640" y="2237232"/>
            <a:ext cx="6108192" cy="4072128"/>
          </a:xfrm>
          <a:prstGeom prst="rect">
            <a:avLst/>
          </a:prstGeom>
          <a:effectLst>
            <a:outerShdw sx="100000" sy="100000" kx="0" ky="0" algn="bl" rotWithShape="0" blurRad="101600" dist="25400" dir="3600000">
              <a:srgbClr val="000000">
                <a:alpha val="18000"/>
              </a:srgbClr>
            </a:outerShdw>
          </a:effectLst>
        </p:spPr>
      </p:pic>
      <p:sp>
        <p:nvSpPr>
          <p:cNvPr id="9" name="Text 5"/>
          <p:cNvSpPr/>
          <p:nvPr/>
        </p:nvSpPr>
        <p:spPr>
          <a:xfrm>
            <a:off x="3709384" y="2763070"/>
            <a:ext cx="329184" cy="329184"/>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Text 6"/>
          <p:cNvSpPr/>
          <p:nvPr/>
        </p:nvSpPr>
        <p:spPr>
          <a:xfrm>
            <a:off x="3202130" y="2283996"/>
            <a:ext cx="329184" cy="329184"/>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7"/>
          <p:cNvSpPr/>
          <p:nvPr/>
        </p:nvSpPr>
        <p:spPr>
          <a:xfrm>
            <a:off x="3272582" y="3516907"/>
            <a:ext cx="329184" cy="329184"/>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8"/>
          <p:cNvSpPr/>
          <p:nvPr/>
        </p:nvSpPr>
        <p:spPr>
          <a:xfrm>
            <a:off x="4329362" y="3848031"/>
            <a:ext cx="329184" cy="329184"/>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Text 9"/>
          <p:cNvSpPr/>
          <p:nvPr/>
        </p:nvSpPr>
        <p:spPr>
          <a:xfrm>
            <a:off x="5470685" y="4693456"/>
            <a:ext cx="329184" cy="329184"/>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4" name="Text 10"/>
          <p:cNvSpPr/>
          <p:nvPr/>
        </p:nvSpPr>
        <p:spPr>
          <a:xfrm>
            <a:off x="5090244" y="3833941"/>
            <a:ext cx="329184" cy="329184"/>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5" name="Text 11"/>
          <p:cNvSpPr/>
          <p:nvPr/>
        </p:nvSpPr>
        <p:spPr>
          <a:xfrm>
            <a:off x="3286672" y="4665275"/>
            <a:ext cx="329184" cy="329184"/>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16" name="Text 12"/>
          <p:cNvSpPr/>
          <p:nvPr/>
        </p:nvSpPr>
        <p:spPr>
          <a:xfrm>
            <a:off x="3244401" y="5207756"/>
            <a:ext cx="329184" cy="329184"/>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17" name="Text 13"/>
          <p:cNvSpPr/>
          <p:nvPr/>
        </p:nvSpPr>
        <p:spPr>
          <a:xfrm>
            <a:off x="3864379" y="5609332"/>
            <a:ext cx="329184" cy="329184"/>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18" name="Text 14"/>
          <p:cNvSpPr/>
          <p:nvPr/>
        </p:nvSpPr>
        <p:spPr>
          <a:xfrm>
            <a:off x="2159439" y="5933412"/>
            <a:ext cx="329184" cy="329184"/>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19" name="Text 15"/>
          <p:cNvSpPr/>
          <p:nvPr/>
        </p:nvSpPr>
        <p:spPr>
          <a:xfrm>
            <a:off x="1440829" y="3411229"/>
            <a:ext cx="329184" cy="329184"/>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300" b="1" dirty="0">
                <a:solidFill>
                  <a:schemeClr val="bg1"/>
                </a:solidFill>
              </a:rPr>
              <a:t>11</a:t>
            </a:r>
            <a:endParaRPr lang="en-US" sz="1300" dirty="0"/>
          </a:p>
        </p:txBody>
      </p:sp>
      <p:sp>
        <p:nvSpPr>
          <p:cNvPr id="20" name="Text 16"/>
          <p:cNvSpPr/>
          <p:nvPr/>
        </p:nvSpPr>
        <p:spPr>
          <a:xfrm>
            <a:off x="4456176" y="5299344"/>
            <a:ext cx="329184" cy="329184"/>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300" b="1" dirty="0">
                <a:solidFill>
                  <a:schemeClr val="bg1"/>
                </a:solidFill>
              </a:rPr>
              <a:t>12</a:t>
            </a:r>
            <a:endParaRPr lang="en-US" sz="1300" dirty="0"/>
          </a:p>
        </p:txBody>
      </p:sp>
      <p:sp>
        <p:nvSpPr>
          <p:cNvPr id="21" name="Text 17"/>
          <p:cNvSpPr/>
          <p:nvPr/>
        </p:nvSpPr>
        <p:spPr>
          <a:xfrm>
            <a:off x="7022592" y="2260600"/>
            <a:ext cx="292608" cy="292608"/>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2" name="Text 18"/>
          <p:cNvSpPr txBox="1"/>
          <p:nvPr/>
        </p:nvSpPr>
        <p:spPr>
          <a:xfrm>
            <a:off x="7434072" y="2237232"/>
            <a:ext cx="4206240" cy="339344"/>
          </a:xfrm>
          <a:prstGeom prst="rect">
            <a:avLst/>
          </a:prstGeom>
          <a:noFill/>
          <a:ln/>
        </p:spPr>
        <p:txBody>
          <a:bodyPr wrap="square" lIns="0" tIns="0" rIns="0" bIns="0" rtlCol="0" anchor="ctr"/>
          <a:lstStyle/>
          <a:p>
            <a:pPr indent="0" marL="0">
              <a:buNone/>
            </a:pPr>
            <a:r>
              <a:rPr lang="en-US" sz="1400" b="1" dirty="0">
                <a:solidFill>
                  <a:schemeClr val="tx2"/>
                </a:solidFill>
              </a:rPr>
              <a:t>a ceiling tile</a:t>
            </a:r>
            <a:r>
              <a:rPr lang="en-US" sz="1200" i="1" dirty="0">
                <a:solidFill>
                  <a:schemeClr val="accent5"/>
                </a:solidFill>
              </a:rPr>
              <a:t>  une dalle de plafond</a:t>
            </a:r>
            <a:endParaRPr lang="en-US" sz="1400" dirty="0"/>
          </a:p>
        </p:txBody>
      </p:sp>
      <p:sp>
        <p:nvSpPr>
          <p:cNvPr id="23" name="Text 19"/>
          <p:cNvSpPr/>
          <p:nvPr/>
        </p:nvSpPr>
        <p:spPr>
          <a:xfrm>
            <a:off x="7022592" y="2599944"/>
            <a:ext cx="292608" cy="292608"/>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4" name="Text 20"/>
          <p:cNvSpPr txBox="1"/>
          <p:nvPr/>
        </p:nvSpPr>
        <p:spPr>
          <a:xfrm>
            <a:off x="7434072" y="2576576"/>
            <a:ext cx="4206240" cy="339344"/>
          </a:xfrm>
          <a:prstGeom prst="rect">
            <a:avLst/>
          </a:prstGeom>
          <a:noFill/>
          <a:ln/>
        </p:spPr>
        <p:txBody>
          <a:bodyPr wrap="square" lIns="0" tIns="0" rIns="0" bIns="0" rtlCol="0" anchor="ctr"/>
          <a:lstStyle/>
          <a:p>
            <a:pPr indent="0" marL="0">
              <a:buNone/>
            </a:pPr>
            <a:r>
              <a:rPr lang="en-US" sz="1400" b="1" dirty="0">
                <a:solidFill>
                  <a:schemeClr val="tx2"/>
                </a:solidFill>
              </a:rPr>
              <a:t>a pipe</a:t>
            </a:r>
            <a:r>
              <a:rPr lang="en-US" sz="1200" i="1" dirty="0">
                <a:solidFill>
                  <a:schemeClr val="accent5"/>
                </a:solidFill>
              </a:rPr>
              <a:t>  une canalisation</a:t>
            </a:r>
            <a:endParaRPr lang="en-US" sz="1400" dirty="0"/>
          </a:p>
        </p:txBody>
      </p:sp>
      <p:sp>
        <p:nvSpPr>
          <p:cNvPr id="25" name="Text 21"/>
          <p:cNvSpPr/>
          <p:nvPr/>
        </p:nvSpPr>
        <p:spPr>
          <a:xfrm>
            <a:off x="7022592" y="2939288"/>
            <a:ext cx="292608" cy="292608"/>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6" name="Text 22"/>
          <p:cNvSpPr txBox="1"/>
          <p:nvPr/>
        </p:nvSpPr>
        <p:spPr>
          <a:xfrm>
            <a:off x="7434072" y="2915920"/>
            <a:ext cx="4206240" cy="339344"/>
          </a:xfrm>
          <a:prstGeom prst="rect">
            <a:avLst/>
          </a:prstGeom>
          <a:noFill/>
          <a:ln/>
        </p:spPr>
        <p:txBody>
          <a:bodyPr wrap="square" lIns="0" tIns="0" rIns="0" bIns="0" rtlCol="0" anchor="ctr"/>
          <a:lstStyle/>
          <a:p>
            <a:pPr indent="0" marL="0">
              <a:buNone/>
            </a:pPr>
            <a:r>
              <a:rPr lang="en-US" sz="1400" b="1" dirty="0">
                <a:solidFill>
                  <a:schemeClr val="tx2"/>
                </a:solidFill>
              </a:rPr>
              <a:t>an electrical panel</a:t>
            </a:r>
            <a:r>
              <a:rPr lang="en-US" sz="1200" i="1" dirty="0">
                <a:solidFill>
                  <a:schemeClr val="accent5"/>
                </a:solidFill>
              </a:rPr>
              <a:t>  un tableau électrique</a:t>
            </a:r>
            <a:endParaRPr lang="en-US" sz="1400" dirty="0"/>
          </a:p>
        </p:txBody>
      </p:sp>
      <p:sp>
        <p:nvSpPr>
          <p:cNvPr id="27" name="Text 23"/>
          <p:cNvSpPr/>
          <p:nvPr/>
        </p:nvSpPr>
        <p:spPr>
          <a:xfrm>
            <a:off x="7022592" y="3278632"/>
            <a:ext cx="292608" cy="292608"/>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8" name="Text 24"/>
          <p:cNvSpPr txBox="1"/>
          <p:nvPr/>
        </p:nvSpPr>
        <p:spPr>
          <a:xfrm>
            <a:off x="7434072" y="3255264"/>
            <a:ext cx="4206240" cy="339344"/>
          </a:xfrm>
          <a:prstGeom prst="rect">
            <a:avLst/>
          </a:prstGeom>
          <a:noFill/>
          <a:ln/>
        </p:spPr>
        <p:txBody>
          <a:bodyPr wrap="square" lIns="0" tIns="0" rIns="0" bIns="0" rtlCol="0" anchor="ctr"/>
          <a:lstStyle/>
          <a:p>
            <a:pPr indent="0" marL="0">
              <a:buNone/>
            </a:pPr>
            <a:r>
              <a:rPr lang="en-US" sz="1400" b="1" dirty="0">
                <a:solidFill>
                  <a:schemeClr val="tx2"/>
                </a:solidFill>
              </a:rPr>
              <a:t>a whiteboard</a:t>
            </a:r>
            <a:r>
              <a:rPr lang="en-US" sz="1200" i="1" dirty="0">
                <a:solidFill>
                  <a:schemeClr val="accent5"/>
                </a:solidFill>
              </a:rPr>
              <a:t>  un tableau blanc</a:t>
            </a:r>
            <a:endParaRPr lang="en-US" sz="1400" dirty="0"/>
          </a:p>
        </p:txBody>
      </p:sp>
      <p:sp>
        <p:nvSpPr>
          <p:cNvPr id="29" name="Text 25"/>
          <p:cNvSpPr/>
          <p:nvPr/>
        </p:nvSpPr>
        <p:spPr>
          <a:xfrm>
            <a:off x="7022592" y="3617976"/>
            <a:ext cx="292608" cy="292608"/>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30" name="Text 26"/>
          <p:cNvSpPr txBox="1"/>
          <p:nvPr/>
        </p:nvSpPr>
        <p:spPr>
          <a:xfrm>
            <a:off x="7434072" y="3594608"/>
            <a:ext cx="4206240" cy="339344"/>
          </a:xfrm>
          <a:prstGeom prst="rect">
            <a:avLst/>
          </a:prstGeom>
          <a:noFill/>
          <a:ln/>
        </p:spPr>
        <p:txBody>
          <a:bodyPr wrap="square" lIns="0" tIns="0" rIns="0" bIns="0" rtlCol="0" anchor="ctr"/>
          <a:lstStyle/>
          <a:p>
            <a:pPr indent="0" marL="0">
              <a:buNone/>
            </a:pPr>
            <a:r>
              <a:rPr lang="en-US" sz="1400" b="1" dirty="0">
                <a:solidFill>
                  <a:schemeClr val="tx2"/>
                </a:solidFill>
              </a:rPr>
              <a:t>a server rack</a:t>
            </a:r>
            <a:r>
              <a:rPr lang="en-US" sz="1200" i="1" dirty="0">
                <a:solidFill>
                  <a:schemeClr val="accent5"/>
                </a:solidFill>
              </a:rPr>
              <a:t>  une baie de serveurs</a:t>
            </a:r>
            <a:endParaRPr lang="en-US" sz="1400" dirty="0"/>
          </a:p>
        </p:txBody>
      </p:sp>
      <p:sp>
        <p:nvSpPr>
          <p:cNvPr id="31" name="Text 27"/>
          <p:cNvSpPr/>
          <p:nvPr/>
        </p:nvSpPr>
        <p:spPr>
          <a:xfrm>
            <a:off x="7022592" y="3957320"/>
            <a:ext cx="292608" cy="292608"/>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32" name="Text 28"/>
          <p:cNvSpPr txBox="1"/>
          <p:nvPr/>
        </p:nvSpPr>
        <p:spPr>
          <a:xfrm>
            <a:off x="7434072" y="3933952"/>
            <a:ext cx="4206240" cy="339344"/>
          </a:xfrm>
          <a:prstGeom prst="rect">
            <a:avLst/>
          </a:prstGeom>
          <a:noFill/>
          <a:ln/>
        </p:spPr>
        <p:txBody>
          <a:bodyPr wrap="square" lIns="0" tIns="0" rIns="0" bIns="0" rtlCol="0" anchor="ctr"/>
          <a:lstStyle/>
          <a:p>
            <a:pPr indent="0" marL="0">
              <a:buNone/>
            </a:pPr>
            <a:r>
              <a:rPr lang="en-US" sz="1400" b="1" dirty="0">
                <a:solidFill>
                  <a:schemeClr val="tx2"/>
                </a:solidFill>
              </a:rPr>
              <a:t>a torch</a:t>
            </a:r>
            <a:r>
              <a:rPr lang="en-US" sz="1200" i="1" dirty="0">
                <a:solidFill>
                  <a:schemeClr val="accent5"/>
                </a:solidFill>
              </a:rPr>
              <a:t>  une lampe torche</a:t>
            </a:r>
            <a:endParaRPr lang="en-US" sz="1400" dirty="0"/>
          </a:p>
        </p:txBody>
      </p:sp>
      <p:sp>
        <p:nvSpPr>
          <p:cNvPr id="33" name="Text 29"/>
          <p:cNvSpPr/>
          <p:nvPr/>
        </p:nvSpPr>
        <p:spPr>
          <a:xfrm>
            <a:off x="7022592" y="4296664"/>
            <a:ext cx="292608" cy="292608"/>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34" name="Text 30"/>
          <p:cNvSpPr txBox="1"/>
          <p:nvPr/>
        </p:nvSpPr>
        <p:spPr>
          <a:xfrm>
            <a:off x="7434072" y="4273296"/>
            <a:ext cx="4206240" cy="339344"/>
          </a:xfrm>
          <a:prstGeom prst="rect">
            <a:avLst/>
          </a:prstGeom>
          <a:noFill/>
          <a:ln/>
        </p:spPr>
        <p:txBody>
          <a:bodyPr wrap="square" lIns="0" tIns="0" rIns="0" bIns="0" rtlCol="0" anchor="ctr"/>
          <a:lstStyle/>
          <a:p>
            <a:pPr indent="0" marL="0">
              <a:buNone/>
            </a:pPr>
            <a:r>
              <a:rPr lang="en-US" sz="1400" b="1" dirty="0">
                <a:solidFill>
                  <a:schemeClr val="tx2"/>
                </a:solidFill>
              </a:rPr>
              <a:t>a “wet floor” sign</a:t>
            </a:r>
            <a:r>
              <a:rPr lang="en-US" sz="1200" i="1" dirty="0">
                <a:solidFill>
                  <a:schemeClr val="accent5"/>
                </a:solidFill>
              </a:rPr>
              <a:t>  un panneau « sol glissant »</a:t>
            </a:r>
            <a:endParaRPr lang="en-US" sz="1400" dirty="0"/>
          </a:p>
        </p:txBody>
      </p:sp>
      <p:sp>
        <p:nvSpPr>
          <p:cNvPr id="35" name="Text 31"/>
          <p:cNvSpPr/>
          <p:nvPr/>
        </p:nvSpPr>
        <p:spPr>
          <a:xfrm>
            <a:off x="7022592" y="4636008"/>
            <a:ext cx="292608" cy="292608"/>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100" b="1" dirty="0">
                <a:solidFill>
                  <a:schemeClr val="bg1"/>
                </a:solidFill>
              </a:rPr>
              <a:t>8</a:t>
            </a:r>
            <a:endParaRPr lang="en-US" sz="1100" dirty="0"/>
          </a:p>
        </p:txBody>
      </p:sp>
      <p:sp>
        <p:nvSpPr>
          <p:cNvPr id="36" name="Text 32"/>
          <p:cNvSpPr txBox="1"/>
          <p:nvPr/>
        </p:nvSpPr>
        <p:spPr>
          <a:xfrm>
            <a:off x="7434072" y="4612640"/>
            <a:ext cx="4206240" cy="339344"/>
          </a:xfrm>
          <a:prstGeom prst="rect">
            <a:avLst/>
          </a:prstGeom>
          <a:noFill/>
          <a:ln/>
        </p:spPr>
        <p:txBody>
          <a:bodyPr wrap="square" lIns="0" tIns="0" rIns="0" bIns="0" rtlCol="0" anchor="ctr"/>
          <a:lstStyle/>
          <a:p>
            <a:pPr indent="0" marL="0">
              <a:buNone/>
            </a:pPr>
            <a:r>
              <a:rPr lang="en-US" sz="1400" b="1" dirty="0">
                <a:solidFill>
                  <a:schemeClr val="tx2"/>
                </a:solidFill>
              </a:rPr>
              <a:t>a bucket</a:t>
            </a:r>
            <a:r>
              <a:rPr lang="en-US" sz="1200" i="1" dirty="0">
                <a:solidFill>
                  <a:schemeClr val="accent5"/>
                </a:solidFill>
              </a:rPr>
              <a:t>  un seau</a:t>
            </a:r>
            <a:endParaRPr lang="en-US" sz="1400" dirty="0"/>
          </a:p>
        </p:txBody>
      </p:sp>
      <p:sp>
        <p:nvSpPr>
          <p:cNvPr id="37" name="Text 33"/>
          <p:cNvSpPr/>
          <p:nvPr/>
        </p:nvSpPr>
        <p:spPr>
          <a:xfrm>
            <a:off x="7022592" y="4975352"/>
            <a:ext cx="292608" cy="292608"/>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100" b="1" dirty="0">
                <a:solidFill>
                  <a:schemeClr val="bg1"/>
                </a:solidFill>
              </a:rPr>
              <a:t>9</a:t>
            </a:r>
            <a:endParaRPr lang="en-US" sz="1100" dirty="0"/>
          </a:p>
        </p:txBody>
      </p:sp>
      <p:sp>
        <p:nvSpPr>
          <p:cNvPr id="38" name="Text 34"/>
          <p:cNvSpPr txBox="1"/>
          <p:nvPr/>
        </p:nvSpPr>
        <p:spPr>
          <a:xfrm>
            <a:off x="7434072" y="4951984"/>
            <a:ext cx="4206240" cy="339344"/>
          </a:xfrm>
          <a:prstGeom prst="rect">
            <a:avLst/>
          </a:prstGeom>
          <a:noFill/>
          <a:ln/>
        </p:spPr>
        <p:txBody>
          <a:bodyPr wrap="square" lIns="0" tIns="0" rIns="0" bIns="0" rtlCol="0" anchor="ctr"/>
          <a:lstStyle/>
          <a:p>
            <a:pPr indent="0" marL="0">
              <a:buNone/>
            </a:pPr>
            <a:r>
              <a:rPr lang="en-US" sz="1400" b="1" dirty="0">
                <a:solidFill>
                  <a:schemeClr val="tx2"/>
                </a:solidFill>
              </a:rPr>
              <a:t>a roll of paper towels</a:t>
            </a:r>
            <a:r>
              <a:rPr lang="en-US" sz="1200" i="1" dirty="0">
                <a:solidFill>
                  <a:schemeClr val="accent5"/>
                </a:solidFill>
              </a:rPr>
              <a:t>  un rouleau d’essuie-tout</a:t>
            </a:r>
            <a:endParaRPr lang="en-US" sz="1400" dirty="0"/>
          </a:p>
        </p:txBody>
      </p:sp>
      <p:sp>
        <p:nvSpPr>
          <p:cNvPr id="39" name="Text 35"/>
          <p:cNvSpPr/>
          <p:nvPr/>
        </p:nvSpPr>
        <p:spPr>
          <a:xfrm>
            <a:off x="7022592" y="5314696"/>
            <a:ext cx="292608" cy="292608"/>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100" b="1" dirty="0">
                <a:solidFill>
                  <a:schemeClr val="bg1"/>
                </a:solidFill>
              </a:rPr>
              <a:t>10</a:t>
            </a:r>
            <a:endParaRPr lang="en-US" sz="1100" dirty="0"/>
          </a:p>
        </p:txBody>
      </p:sp>
      <p:sp>
        <p:nvSpPr>
          <p:cNvPr id="40" name="Text 36"/>
          <p:cNvSpPr txBox="1"/>
          <p:nvPr/>
        </p:nvSpPr>
        <p:spPr>
          <a:xfrm>
            <a:off x="7434072" y="5291328"/>
            <a:ext cx="4206240" cy="339344"/>
          </a:xfrm>
          <a:prstGeom prst="rect">
            <a:avLst/>
          </a:prstGeom>
          <a:noFill/>
          <a:ln/>
        </p:spPr>
        <p:txBody>
          <a:bodyPr wrap="square" lIns="0" tIns="0" rIns="0" bIns="0" rtlCol="0" anchor="ctr"/>
          <a:lstStyle/>
          <a:p>
            <a:pPr indent="0" marL="0">
              <a:buNone/>
            </a:pPr>
            <a:r>
              <a:rPr lang="en-US" sz="1400" b="1" dirty="0">
                <a:solidFill>
                  <a:schemeClr val="tx2"/>
                </a:solidFill>
              </a:rPr>
              <a:t>a squeegee</a:t>
            </a:r>
            <a:r>
              <a:rPr lang="en-US" sz="1200" i="1" dirty="0">
                <a:solidFill>
                  <a:schemeClr val="accent5"/>
                </a:solidFill>
              </a:rPr>
              <a:t>  une raclette</a:t>
            </a:r>
            <a:endParaRPr lang="en-US" sz="1400" dirty="0"/>
          </a:p>
        </p:txBody>
      </p:sp>
      <p:sp>
        <p:nvSpPr>
          <p:cNvPr id="41" name="Text 37"/>
          <p:cNvSpPr/>
          <p:nvPr/>
        </p:nvSpPr>
        <p:spPr>
          <a:xfrm>
            <a:off x="7022592" y="5654040"/>
            <a:ext cx="292608" cy="292608"/>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100" b="1" dirty="0">
                <a:solidFill>
                  <a:schemeClr val="bg1"/>
                </a:solidFill>
              </a:rPr>
              <a:t>11</a:t>
            </a:r>
            <a:endParaRPr lang="en-US" sz="1100" dirty="0"/>
          </a:p>
        </p:txBody>
      </p:sp>
      <p:sp>
        <p:nvSpPr>
          <p:cNvPr id="42" name="Text 38"/>
          <p:cNvSpPr txBox="1"/>
          <p:nvPr/>
        </p:nvSpPr>
        <p:spPr>
          <a:xfrm>
            <a:off x="7434072" y="5630672"/>
            <a:ext cx="4206240" cy="339344"/>
          </a:xfrm>
          <a:prstGeom prst="rect">
            <a:avLst/>
          </a:prstGeom>
          <a:noFill/>
          <a:ln/>
        </p:spPr>
        <p:txBody>
          <a:bodyPr wrap="square" lIns="0" tIns="0" rIns="0" bIns="0" rtlCol="0" anchor="ctr"/>
          <a:lstStyle/>
          <a:p>
            <a:pPr indent="0" marL="0">
              <a:buNone/>
            </a:pPr>
            <a:r>
              <a:rPr lang="en-US" sz="1400" b="1" dirty="0">
                <a:solidFill>
                  <a:schemeClr val="tx2"/>
                </a:solidFill>
              </a:rPr>
              <a:t>the doorway</a:t>
            </a:r>
            <a:r>
              <a:rPr lang="en-US" sz="1200" i="1" dirty="0">
                <a:solidFill>
                  <a:schemeClr val="accent5"/>
                </a:solidFill>
              </a:rPr>
              <a:t>  l’embrasure de la porte</a:t>
            </a:r>
            <a:endParaRPr lang="en-US" sz="1400" dirty="0"/>
          </a:p>
        </p:txBody>
      </p:sp>
      <p:sp>
        <p:nvSpPr>
          <p:cNvPr id="43" name="Text 39"/>
          <p:cNvSpPr/>
          <p:nvPr/>
        </p:nvSpPr>
        <p:spPr>
          <a:xfrm>
            <a:off x="7022592" y="5993384"/>
            <a:ext cx="292608" cy="292608"/>
          </a:xfrm>
          <a:prstGeom prst="ellipse">
            <a:avLst/>
          </a:prstGeom>
          <a:solidFill>
            <a:srgbClr val="C0752A"/>
          </a:solidFill>
          <a:ln w="15875">
            <a:solidFill>
              <a:srgbClr val="FFFFFF"/>
            </a:solidFill>
          </a:ln>
        </p:spPr>
        <p:txBody>
          <a:bodyPr wrap="square" lIns="0" tIns="0" rIns="0" bIns="0" rtlCol="0" anchor="ctr"/>
          <a:lstStyle/>
          <a:p>
            <a:pPr algn="ctr" indent="0" marL="0">
              <a:buNone/>
            </a:pPr>
            <a:r>
              <a:rPr lang="en-US" sz="1100" b="1" dirty="0">
                <a:solidFill>
                  <a:schemeClr val="bg1"/>
                </a:solidFill>
              </a:rPr>
              <a:t>12</a:t>
            </a:r>
            <a:endParaRPr lang="en-US" sz="1100" dirty="0"/>
          </a:p>
        </p:txBody>
      </p:sp>
      <p:sp>
        <p:nvSpPr>
          <p:cNvPr id="44" name="Text 40"/>
          <p:cNvSpPr txBox="1"/>
          <p:nvPr/>
        </p:nvSpPr>
        <p:spPr>
          <a:xfrm>
            <a:off x="7434072" y="5970016"/>
            <a:ext cx="4206240" cy="339344"/>
          </a:xfrm>
          <a:prstGeom prst="rect">
            <a:avLst/>
          </a:prstGeom>
          <a:noFill/>
          <a:ln/>
        </p:spPr>
        <p:txBody>
          <a:bodyPr wrap="square" lIns="0" tIns="0" rIns="0" bIns="0" rtlCol="0" anchor="ctr"/>
          <a:lstStyle/>
          <a:p>
            <a:pPr indent="0" marL="0">
              <a:buNone/>
            </a:pPr>
            <a:r>
              <a:rPr lang="en-US" sz="1400" b="1" dirty="0">
                <a:solidFill>
                  <a:schemeClr val="tx2"/>
                </a:solidFill>
              </a:rPr>
              <a:t>a puddle</a:t>
            </a:r>
            <a:r>
              <a:rPr lang="en-US" sz="1200" i="1" dirty="0">
                <a:solidFill>
                  <a:schemeClr val="accent5"/>
                </a:solidFill>
              </a:rPr>
              <a:t>  une flaque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Describe a picture like a pro</a:t>
            </a:r>
            <a:endParaRPr lang="en-US" sz="3200" dirty="0"/>
          </a:p>
        </p:txBody>
      </p:sp>
      <p:sp>
        <p:nvSpPr>
          <p:cNvPr id="3" name="tag"/>
          <p:cNvSpPr/>
          <p:nvPr/>
        </p:nvSpPr>
        <p:spPr>
          <a:xfrm>
            <a:off x="548640" y="384048"/>
            <a:ext cx="12801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SPEAKING</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pic>
        <p:nvPicPr>
          <p:cNvPr id="6" name="illustration" descr="Illustration from the case file">    </p:cNvPr>
          <p:cNvPicPr>
            <a:picLocks noChangeAspect="1"/>
          </p:cNvPicPr>
          <p:nvPr/>
        </p:nvPicPr>
        <p:blipFill>
          <a:blip r:embed="rId1"/>
          <a:stretch>
            <a:fillRect/>
          </a:stretch>
        </p:blipFill>
        <p:spPr>
          <a:xfrm>
            <a:off x="548640" y="2194560"/>
            <a:ext cx="5760720" cy="3840480"/>
          </a:xfrm>
          <a:prstGeom prst="rect">
            <a:avLst/>
          </a:prstGeom>
          <a:effectLst>
            <a:outerShdw sx="100000" sy="100000" kx="0" ky="0" algn="bl" rotWithShape="0" blurRad="101600" dist="25400" dir="3600000">
              <a:srgbClr val="000000">
                <a:alpha val="18000"/>
              </a:srgbClr>
            </a:outerShdw>
          </a:effectLst>
        </p:spPr>
      </p:pic>
      <p:sp>
        <p:nvSpPr>
          <p:cNvPr id="7" name="Shape 3"/>
          <p:cNvSpPr/>
          <p:nvPr/>
        </p:nvSpPr>
        <p:spPr>
          <a:xfrm>
            <a:off x="2468880" y="2194560"/>
            <a:ext cx="0" cy="3840480"/>
          </a:xfrm>
          <a:prstGeom prst="line">
            <a:avLst/>
          </a:prstGeom>
          <a:noFill/>
          <a:ln w="25400">
            <a:solidFill>
              <a:srgbClr val="FFFFFF"/>
            </a:solidFill>
            <a:prstDash val="dash"/>
          </a:ln>
        </p:spPr>
      </p:sp>
      <p:sp>
        <p:nvSpPr>
          <p:cNvPr id="8" name="Shape 4"/>
          <p:cNvSpPr/>
          <p:nvPr/>
        </p:nvSpPr>
        <p:spPr>
          <a:xfrm>
            <a:off x="548640" y="3474720"/>
            <a:ext cx="5760720" cy="0"/>
          </a:xfrm>
          <a:prstGeom prst="line">
            <a:avLst/>
          </a:prstGeom>
          <a:noFill/>
          <a:ln w="25400">
            <a:solidFill>
              <a:srgbClr val="FFFFFF"/>
            </a:solidFill>
            <a:prstDash val="dash"/>
          </a:ln>
        </p:spPr>
      </p:sp>
      <p:sp>
        <p:nvSpPr>
          <p:cNvPr id="9" name="Shape 5"/>
          <p:cNvSpPr/>
          <p:nvPr/>
        </p:nvSpPr>
        <p:spPr>
          <a:xfrm>
            <a:off x="4389120" y="2194560"/>
            <a:ext cx="0" cy="3840480"/>
          </a:xfrm>
          <a:prstGeom prst="line">
            <a:avLst/>
          </a:prstGeom>
          <a:noFill/>
          <a:ln w="25400">
            <a:solidFill>
              <a:srgbClr val="FFFFFF"/>
            </a:solidFill>
            <a:prstDash val="dash"/>
          </a:ln>
        </p:spPr>
      </p:sp>
      <p:sp>
        <p:nvSpPr>
          <p:cNvPr id="10" name="Shape 6"/>
          <p:cNvSpPr/>
          <p:nvPr/>
        </p:nvSpPr>
        <p:spPr>
          <a:xfrm>
            <a:off x="548640" y="4754880"/>
            <a:ext cx="5760720" cy="0"/>
          </a:xfrm>
          <a:prstGeom prst="line">
            <a:avLst/>
          </a:prstGeom>
          <a:noFill/>
          <a:ln w="25400">
            <a:solidFill>
              <a:srgbClr val="FFFFFF"/>
            </a:solidFill>
            <a:prstDash val="dash"/>
          </a:ln>
        </p:spPr>
      </p:sp>
      <p:sp>
        <p:nvSpPr>
          <p:cNvPr id="11" name="Text 7"/>
          <p:cNvSpPr/>
          <p:nvPr/>
        </p:nvSpPr>
        <p:spPr>
          <a:xfrm>
            <a:off x="731520" y="1810512"/>
            <a:ext cx="1554480" cy="292608"/>
          </a:xfrm>
          <a:prstGeom prst="roundRect">
            <a:avLst>
              <a:gd name="adj" fmla="val 37500"/>
            </a:avLst>
          </a:prstGeom>
          <a:solidFill>
            <a:srgbClr val="C0752A"/>
          </a:solidFill>
          <a:ln/>
        </p:spPr>
        <p:txBody>
          <a:bodyPr wrap="square" lIns="0" tIns="0" rIns="0" bIns="0" rtlCol="0" anchor="ctr"/>
          <a:lstStyle/>
          <a:p>
            <a:pPr algn="ctr" indent="0" marL="0">
              <a:buNone/>
            </a:pPr>
            <a:r>
              <a:rPr lang="en-US" sz="1300" b="1" i="1" dirty="0">
                <a:solidFill>
                  <a:schemeClr val="bg1"/>
                </a:solidFill>
              </a:rPr>
              <a:t>on the left</a:t>
            </a:r>
            <a:endParaRPr lang="en-US" sz="1300" dirty="0"/>
          </a:p>
        </p:txBody>
      </p:sp>
      <p:sp>
        <p:nvSpPr>
          <p:cNvPr id="12" name="Text 8"/>
          <p:cNvSpPr/>
          <p:nvPr/>
        </p:nvSpPr>
        <p:spPr>
          <a:xfrm>
            <a:off x="2651760" y="1810512"/>
            <a:ext cx="1554480" cy="292608"/>
          </a:xfrm>
          <a:prstGeom prst="roundRect">
            <a:avLst>
              <a:gd name="adj" fmla="val 37500"/>
            </a:avLst>
          </a:prstGeom>
          <a:solidFill>
            <a:srgbClr val="C0752A"/>
          </a:solidFill>
          <a:ln/>
        </p:spPr>
        <p:txBody>
          <a:bodyPr wrap="square" lIns="0" tIns="0" rIns="0" bIns="0" rtlCol="0" anchor="ctr"/>
          <a:lstStyle/>
          <a:p>
            <a:pPr algn="ctr" indent="0" marL="0">
              <a:buNone/>
            </a:pPr>
            <a:r>
              <a:rPr lang="en-US" sz="1300" b="1" i="1" dirty="0">
                <a:solidFill>
                  <a:schemeClr val="bg1"/>
                </a:solidFill>
              </a:rPr>
              <a:t>in the middle</a:t>
            </a:r>
            <a:endParaRPr lang="en-US" sz="1300" dirty="0"/>
          </a:p>
        </p:txBody>
      </p:sp>
      <p:sp>
        <p:nvSpPr>
          <p:cNvPr id="13" name="Text 9"/>
          <p:cNvSpPr/>
          <p:nvPr/>
        </p:nvSpPr>
        <p:spPr>
          <a:xfrm>
            <a:off x="4572000" y="1810512"/>
            <a:ext cx="1554480" cy="292608"/>
          </a:xfrm>
          <a:prstGeom prst="roundRect">
            <a:avLst>
              <a:gd name="adj" fmla="val 37500"/>
            </a:avLst>
          </a:prstGeom>
          <a:solidFill>
            <a:srgbClr val="C0752A"/>
          </a:solidFill>
          <a:ln/>
        </p:spPr>
        <p:txBody>
          <a:bodyPr wrap="square" lIns="0" tIns="0" rIns="0" bIns="0" rtlCol="0" anchor="ctr"/>
          <a:lstStyle/>
          <a:p>
            <a:pPr algn="ctr" indent="0" marL="0">
              <a:buNone/>
            </a:pPr>
            <a:r>
              <a:rPr lang="en-US" sz="1300" b="1" i="1" dirty="0">
                <a:solidFill>
                  <a:schemeClr val="bg1"/>
                </a:solidFill>
              </a:rPr>
              <a:t>on the right</a:t>
            </a:r>
            <a:endParaRPr lang="en-US" sz="1300" dirty="0"/>
          </a:p>
        </p:txBody>
      </p:sp>
      <p:sp>
        <p:nvSpPr>
          <p:cNvPr id="14" name="Text 10"/>
          <p:cNvSpPr/>
          <p:nvPr/>
        </p:nvSpPr>
        <p:spPr>
          <a:xfrm>
            <a:off x="658368" y="3090672"/>
            <a:ext cx="1828800" cy="292608"/>
          </a:xfrm>
          <a:prstGeom prst="roundRect">
            <a:avLst>
              <a:gd name="adj" fmla="val 37500"/>
            </a:avLst>
          </a:prstGeom>
          <a:solidFill>
            <a:srgbClr val="1F3864"/>
          </a:solidFill>
          <a:ln/>
        </p:spPr>
        <p:txBody>
          <a:bodyPr wrap="square" lIns="0" tIns="0" rIns="0" bIns="0" rtlCol="0" anchor="ctr"/>
          <a:lstStyle/>
          <a:p>
            <a:pPr algn="ctr" indent="0" marL="0">
              <a:buNone/>
            </a:pPr>
            <a:r>
              <a:rPr lang="en-US" sz="1300" b="1" i="1" dirty="0">
                <a:solidFill>
                  <a:schemeClr val="bg1"/>
                </a:solidFill>
              </a:rPr>
              <a:t>in the background</a:t>
            </a:r>
            <a:endParaRPr lang="en-US" sz="1300" dirty="0"/>
          </a:p>
        </p:txBody>
      </p:sp>
      <p:sp>
        <p:nvSpPr>
          <p:cNvPr id="15" name="Text 11"/>
          <p:cNvSpPr/>
          <p:nvPr/>
        </p:nvSpPr>
        <p:spPr>
          <a:xfrm>
            <a:off x="658368" y="5650992"/>
            <a:ext cx="1828800" cy="292608"/>
          </a:xfrm>
          <a:prstGeom prst="roundRect">
            <a:avLst>
              <a:gd name="adj" fmla="val 37500"/>
            </a:avLst>
          </a:prstGeom>
          <a:solidFill>
            <a:srgbClr val="1F3864"/>
          </a:solidFill>
          <a:ln/>
        </p:spPr>
        <p:txBody>
          <a:bodyPr wrap="square" lIns="0" tIns="0" rIns="0" bIns="0" rtlCol="0" anchor="ctr"/>
          <a:lstStyle/>
          <a:p>
            <a:pPr algn="ctr" indent="0" marL="0">
              <a:buNone/>
            </a:pPr>
            <a:r>
              <a:rPr lang="en-US" sz="1300" b="1" i="1" dirty="0">
                <a:solidFill>
                  <a:schemeClr val="bg1"/>
                </a:solidFill>
              </a:rPr>
              <a:t>in the foreground</a:t>
            </a:r>
            <a:endParaRPr lang="en-US" sz="1300" dirty="0"/>
          </a:p>
        </p:txBody>
      </p:sp>
      <p:sp>
        <p:nvSpPr>
          <p:cNvPr id="16" name="Text 12"/>
          <p:cNvSpPr txBox="1"/>
          <p:nvPr/>
        </p:nvSpPr>
        <p:spPr>
          <a:xfrm>
            <a:off x="6720840" y="1783080"/>
            <a:ext cx="4919472" cy="292608"/>
          </a:xfrm>
          <a:prstGeom prst="rect">
            <a:avLst/>
          </a:prstGeom>
          <a:noFill/>
          <a:ln/>
        </p:spPr>
        <p:txBody>
          <a:bodyPr wrap="square" lIns="0" tIns="0" rIns="0" bIns="0" rtlCol="0" anchor="ctr"/>
          <a:lstStyle/>
          <a:p>
            <a:pPr indent="0" marL="0">
              <a:buNone/>
            </a:pPr>
            <a:r>
              <a:rPr lang="en-US" sz="1300" b="1" spc="150" kern="0" dirty="0">
                <a:solidFill>
                  <a:schemeClr val="accent4"/>
                </a:solidFill>
              </a:rPr>
              <a:t>SAY IT</a:t>
            </a:r>
            <a:endParaRPr lang="en-US" sz="1300" dirty="0"/>
          </a:p>
        </p:txBody>
      </p:sp>
      <p:sp>
        <p:nvSpPr>
          <p:cNvPr id="17" name="Text 13"/>
          <p:cNvSpPr txBox="1"/>
          <p:nvPr/>
        </p:nvSpPr>
        <p:spPr>
          <a:xfrm>
            <a:off x="6720840" y="2194560"/>
            <a:ext cx="4919472" cy="2886456"/>
          </a:xfrm>
          <a:prstGeom prst="rect">
            <a:avLst/>
          </a:prstGeom>
          <a:noFill/>
          <a:ln/>
        </p:spPr>
        <p:txBody>
          <a:bodyPr wrap="square" lIns="0" tIns="0" rIns="0" bIns="0" rtlCol="0" anchor="t"/>
          <a:lstStyle/>
          <a:p>
            <a:pPr marL="190500" indent="-190500">
              <a:spcAft>
                <a:spcPts val="1000"/>
              </a:spcAft>
              <a:buSzPct val="100000"/>
              <a:buChar char="•"/>
            </a:pPr>
            <a:r>
              <a:rPr lang="en-US" sz="1700" b="1" dirty="0">
                <a:solidFill>
                  <a:schemeClr val="tx1"/>
                </a:solidFill>
              </a:rPr>
              <a:t>In the foreground</a:t>
            </a:r>
            <a:r>
              <a:rPr lang="en-US" sz="1700" dirty="0">
                <a:solidFill>
                  <a:schemeClr val="tx1"/>
                </a:solidFill>
              </a:rPr>
              <a:t>, there is a blue bucket.</a:t>
            </a:r>
            <a:endParaRPr lang="en-US" sz="1700" dirty="0"/>
          </a:p>
          <a:p>
            <a:pPr marL="190500" indent="-190500">
              <a:spcAft>
                <a:spcPts val="1000"/>
              </a:spcAft>
              <a:buSzPct val="100000"/>
              <a:buChar char="•"/>
            </a:pPr>
            <a:r>
              <a:rPr lang="en-US" sz="1700" b="1" dirty="0">
                <a:solidFill>
                  <a:schemeClr val="tx1"/>
                </a:solidFill>
              </a:rPr>
              <a:t>On the left</a:t>
            </a:r>
            <a:r>
              <a:rPr lang="en-US" sz="1700" dirty="0">
                <a:solidFill>
                  <a:schemeClr val="tx1"/>
                </a:solidFill>
              </a:rPr>
              <a:t>, Iris is kneeling </a:t>
            </a:r>
            <a:r>
              <a:rPr lang="en-US" sz="1700" b="1" dirty="0">
                <a:solidFill>
                  <a:schemeClr val="tx1"/>
                </a:solidFill>
              </a:rPr>
              <a:t>next to</a:t>
            </a:r>
            <a:r>
              <a:rPr lang="en-US" sz="1700" dirty="0">
                <a:solidFill>
                  <a:schemeClr val="tx1"/>
                </a:solidFill>
              </a:rPr>
              <a:t> the door.</a:t>
            </a:r>
            <a:endParaRPr lang="en-US" sz="1700" dirty="0"/>
          </a:p>
          <a:p>
            <a:pPr marL="190500" indent="-190500">
              <a:spcAft>
                <a:spcPts val="1000"/>
              </a:spcAft>
              <a:buSzPct val="100000"/>
              <a:buChar char="•"/>
            </a:pPr>
            <a:r>
              <a:rPr lang="en-US" sz="1700" b="1" dirty="0">
                <a:solidFill>
                  <a:schemeClr val="tx1"/>
                </a:solidFill>
              </a:rPr>
              <a:t>In the middle</a:t>
            </a:r>
            <a:r>
              <a:rPr lang="en-US" sz="1700" dirty="0">
                <a:solidFill>
                  <a:schemeClr val="tx1"/>
                </a:solidFill>
              </a:rPr>
              <a:t>, Mark is standing </a:t>
            </a:r>
            <a:r>
              <a:rPr lang="en-US" sz="1700" b="1" dirty="0">
                <a:solidFill>
                  <a:schemeClr val="tx1"/>
                </a:solidFill>
              </a:rPr>
              <a:t>under</a:t>
            </a:r>
            <a:r>
              <a:rPr lang="en-US" sz="1700" dirty="0">
                <a:solidFill>
                  <a:schemeClr val="tx1"/>
                </a:solidFill>
              </a:rPr>
              <a:t> the hole.</a:t>
            </a:r>
            <a:endParaRPr lang="en-US" sz="1700" dirty="0"/>
          </a:p>
          <a:p>
            <a:pPr marL="190500" indent="-190500">
              <a:spcAft>
                <a:spcPts val="1000"/>
              </a:spcAft>
              <a:buSzPct val="100000"/>
              <a:buChar char="•"/>
            </a:pPr>
            <a:r>
              <a:rPr lang="en-US" sz="1700" b="1" dirty="0">
                <a:solidFill>
                  <a:schemeClr val="tx1"/>
                </a:solidFill>
              </a:rPr>
              <a:t>On the right</a:t>
            </a:r>
            <a:r>
              <a:rPr lang="en-US" sz="1700" dirty="0">
                <a:solidFill>
                  <a:schemeClr val="tx1"/>
                </a:solidFill>
              </a:rPr>
              <a:t>, Samuel is </a:t>
            </a:r>
            <a:r>
              <a:rPr lang="en-US" sz="1700" b="1" dirty="0">
                <a:solidFill>
                  <a:schemeClr val="tx1"/>
                </a:solidFill>
              </a:rPr>
              <a:t>in front of</a:t>
            </a:r>
            <a:r>
              <a:rPr lang="en-US" sz="1700" dirty="0">
                <a:solidFill>
                  <a:schemeClr val="tx1"/>
                </a:solidFill>
              </a:rPr>
              <a:t> the rack.</a:t>
            </a:r>
            <a:endParaRPr lang="en-US" sz="1700" dirty="0"/>
          </a:p>
          <a:p>
            <a:pPr marL="190500" indent="-190500">
              <a:spcAft>
                <a:spcPts val="1000"/>
              </a:spcAft>
              <a:buSzPct val="100000"/>
              <a:buChar char="•"/>
            </a:pPr>
            <a:r>
              <a:rPr lang="en-US" sz="1700" dirty="0">
                <a:solidFill>
                  <a:schemeClr val="tx1"/>
                </a:solidFill>
              </a:rPr>
              <a:t>Mark </a:t>
            </a:r>
            <a:r>
              <a:rPr lang="en-US" sz="1700" b="1" dirty="0">
                <a:solidFill>
                  <a:schemeClr val="tx1"/>
                </a:solidFill>
              </a:rPr>
              <a:t>looks</a:t>
            </a:r>
            <a:r>
              <a:rPr lang="en-US" sz="1700" dirty="0">
                <a:solidFill>
                  <a:schemeClr val="tx1"/>
                </a:solidFill>
              </a:rPr>
              <a:t> worried. Samuel </a:t>
            </a:r>
            <a:r>
              <a:rPr lang="en-US" sz="1700" b="1" dirty="0">
                <a:solidFill>
                  <a:schemeClr val="tx1"/>
                </a:solidFill>
              </a:rPr>
              <a:t>seems</a:t>
            </a:r>
            <a:r>
              <a:rPr lang="en-US" sz="1700" dirty="0">
                <a:solidFill>
                  <a:schemeClr val="tx1"/>
                </a:solidFill>
              </a:rPr>
              <a:t> busy.</a:t>
            </a:r>
            <a:endParaRPr lang="en-US" sz="1700" dirty="0"/>
          </a:p>
          <a:p>
            <a:pPr marL="190500" indent="-190500">
              <a:spcAft>
                <a:spcPts val="1000"/>
              </a:spcAft>
              <a:buSzPct val="100000"/>
              <a:buChar char="•"/>
            </a:pPr>
            <a:r>
              <a:rPr lang="en-US" sz="1700" dirty="0">
                <a:solidFill>
                  <a:schemeClr val="tx1"/>
                </a:solidFill>
              </a:rPr>
              <a:t>Water is dripping </a:t>
            </a:r>
            <a:r>
              <a:rPr lang="en-US" sz="1700" b="1" dirty="0">
                <a:solidFill>
                  <a:schemeClr val="tx1"/>
                </a:solidFill>
              </a:rPr>
              <a:t>from</a:t>
            </a:r>
            <a:r>
              <a:rPr lang="en-US" sz="1700" dirty="0">
                <a:solidFill>
                  <a:schemeClr val="tx1"/>
                </a:solidFill>
              </a:rPr>
              <a:t> the ceiling.</a:t>
            </a:r>
            <a:endParaRPr lang="en-US" sz="1700" dirty="0"/>
          </a:p>
        </p:txBody>
      </p:sp>
      <p:sp>
        <p:nvSpPr>
          <p:cNvPr id="18" name="Shape 14"/>
          <p:cNvSpPr/>
          <p:nvPr/>
        </p:nvSpPr>
        <p:spPr>
          <a:xfrm>
            <a:off x="6720840" y="5263896"/>
            <a:ext cx="4919472" cy="1045464"/>
          </a:xfrm>
          <a:prstGeom prst="roundRect">
            <a:avLst>
              <a:gd name="adj" fmla="val 6997"/>
            </a:avLst>
          </a:prstGeom>
          <a:solidFill>
            <a:srgbClr val="6E4A9E">
              <a:alpha val="10000"/>
            </a:srgbClr>
          </a:solidFill>
          <a:ln w="12700">
            <a:solidFill>
              <a:srgbClr val="6E4A9E"/>
            </a:solidFill>
            <a:prstDash val="solid"/>
          </a:ln>
        </p:spPr>
      </p:sp>
      <p:pic>
        <p:nvPicPr>
          <p:cNvPr id="19" name="Image 1" descr="preencoded.png">    </p:cNvPr>
          <p:cNvPicPr>
            <a:picLocks noChangeAspect="1"/>
          </p:cNvPicPr>
          <p:nvPr/>
        </p:nvPicPr>
        <p:blipFill>
          <a:blip r:embed="rId2"/>
          <a:stretch>
            <a:fillRect/>
          </a:stretch>
        </p:blipFill>
        <p:spPr>
          <a:xfrm>
            <a:off x="6903720" y="5410200"/>
            <a:ext cx="292608" cy="292608"/>
          </a:xfrm>
          <a:prstGeom prst="rect">
            <a:avLst/>
          </a:prstGeom>
        </p:spPr>
      </p:pic>
      <p:sp>
        <p:nvSpPr>
          <p:cNvPr id="20" name="Text 15"/>
          <p:cNvSpPr txBox="1"/>
          <p:nvPr/>
        </p:nvSpPr>
        <p:spPr>
          <a:xfrm>
            <a:off x="7315200" y="5373624"/>
            <a:ext cx="4187952" cy="862584"/>
          </a:xfrm>
          <a:prstGeom prst="rect">
            <a:avLst/>
          </a:prstGeom>
          <a:noFill/>
          <a:ln/>
        </p:spPr>
        <p:txBody>
          <a:bodyPr wrap="square" lIns="0" tIns="0" rIns="0" bIns="0" rtlCol="0" anchor="ctr"/>
          <a:lstStyle/>
          <a:p>
            <a:pPr indent="0" marL="0">
              <a:buNone/>
            </a:pPr>
            <a:r>
              <a:rPr lang="en-US" sz="1600" dirty="0">
                <a:solidFill>
                  <a:schemeClr val="tx1"/>
                </a:solidFill>
              </a:rPr>
              <a:t>Pairs: A describes the left, B the right. </a:t>
            </a:r>
            <a:r>
              <a:rPr lang="en-US" sz="1600" b="1" dirty="0">
                <a:solidFill>
                  <a:schemeClr val="tx1"/>
                </a:solidFill>
              </a:rPr>
              <a:t>One minute each — three prepositions.</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Memory challenge — 30 seconds</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Look carefully. In thirty seconds, the picture disappears…</a:t>
            </a:r>
            <a:endParaRPr lang="en-US" sz="1600" dirty="0"/>
          </a:p>
        </p:txBody>
      </p:sp>
      <p:pic>
        <p:nvPicPr>
          <p:cNvPr id="7" name="illustration" descr="Illustration from the case file">    </p:cNvPr>
          <p:cNvPicPr>
            <a:picLocks noChangeAspect="1"/>
          </p:cNvPicPr>
          <p:nvPr/>
        </p:nvPicPr>
        <p:blipFill>
          <a:blip r:embed="rId1"/>
          <a:stretch>
            <a:fillRect/>
          </a:stretch>
        </p:blipFill>
        <p:spPr>
          <a:xfrm>
            <a:off x="3040380" y="2237232"/>
            <a:ext cx="6108192" cy="4072128"/>
          </a:xfrm>
          <a:prstGeom prst="rect">
            <a:avLst/>
          </a:prstGeom>
          <a:effectLst>
            <a:outerShdw sx="100000" sy="100000" kx="0" ky="0" algn="bl" rotWithShape="0" blurRad="101600" dist="25400" dir="3600000">
              <a:srgbClr val="000000">
                <a:alpha val="18000"/>
              </a:srgbClr>
            </a:outerShdw>
          </a:effectLst>
        </p:spPr>
      </p:pic>
      <p:sp>
        <p:nvSpPr>
          <p:cNvPr id="8" name="Shape 4"/>
          <p:cNvSpPr/>
          <p:nvPr/>
        </p:nvSpPr>
        <p:spPr>
          <a:xfrm>
            <a:off x="9377172" y="2237232"/>
            <a:ext cx="914400" cy="914400"/>
          </a:xfrm>
          <a:prstGeom prst="ellipse">
            <a:avLst/>
          </a:prstGeom>
          <a:solidFill>
            <a:srgbClr val="B4236A"/>
          </a:solidFill>
          <a:ln/>
        </p:spPr>
      </p:sp>
      <p:pic>
        <p:nvPicPr>
          <p:cNvPr id="9" name="Image 1" descr="preencoded.png">    </p:cNvPr>
          <p:cNvPicPr>
            <a:picLocks noChangeAspect="1"/>
          </p:cNvPicPr>
          <p:nvPr/>
        </p:nvPicPr>
        <p:blipFill>
          <a:blip r:embed="rId2"/>
          <a:stretch>
            <a:fillRect/>
          </a:stretch>
        </p:blipFill>
        <p:spPr>
          <a:xfrm>
            <a:off x="9605772" y="2465832"/>
            <a:ext cx="457200" cy="457200"/>
          </a:xfrm>
          <a:prstGeom prst="rect">
            <a:avLst/>
          </a:prstGeom>
        </p:spPr>
      </p:pic>
      <p:sp>
        <p:nvSpPr>
          <p:cNvPr id="10" name="Text 5"/>
          <p:cNvSpPr txBox="1"/>
          <p:nvPr/>
        </p:nvSpPr>
        <p:spPr>
          <a:xfrm>
            <a:off x="9194292" y="3197352"/>
            <a:ext cx="1280160" cy="411480"/>
          </a:xfrm>
          <a:prstGeom prst="rect">
            <a:avLst/>
          </a:prstGeom>
          <a:noFill/>
          <a:ln/>
        </p:spPr>
        <p:txBody>
          <a:bodyPr wrap="square" lIns="0" tIns="0" rIns="0" bIns="0" rtlCol="0" anchor="ctr"/>
          <a:lstStyle/>
          <a:p>
            <a:pPr algn="ctr" indent="0" marL="0">
              <a:buNone/>
            </a:pPr>
            <a:r>
              <a:rPr lang="en-US" sz="2200" b="1" dirty="0">
                <a:solidFill>
                  <a:srgbClr val="B4236A"/>
                </a:solidFill>
                <a:latin typeface="+mj-lt" pitchFamily="34" charset="0"/>
                <a:ea typeface="+mj-lt" pitchFamily="34" charset="-122"/>
                <a:cs typeface="+mj-lt" pitchFamily="34" charset="-120"/>
              </a:rPr>
              <a:t>30 s</a:t>
            </a:r>
            <a:endParaRPr lang="en-US" sz="2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Memory challenge — what was happening?</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Teams of three. Answer in a full sentence — in the past!</a:t>
            </a:r>
            <a:endParaRPr lang="en-US" sz="1600" dirty="0"/>
          </a:p>
        </p:txBody>
      </p:sp>
      <p:sp>
        <p:nvSpPr>
          <p:cNvPr id="7" name="Shape 4"/>
          <p:cNvSpPr/>
          <p:nvPr/>
        </p:nvSpPr>
        <p:spPr>
          <a:xfrm>
            <a:off x="548640" y="2237232"/>
            <a:ext cx="3931920" cy="2743200"/>
          </a:xfrm>
          <a:prstGeom prst="roundRect">
            <a:avLst>
              <a:gd name="adj" fmla="val 2667"/>
            </a:avLst>
          </a:prstGeom>
          <a:solidFill>
            <a:srgbClr val="44546A">
              <a:alpha val="12000"/>
            </a:srgbClr>
          </a:solidFill>
          <a:ln w="12700">
            <a:solidFill>
              <a:srgbClr val="44546A"/>
            </a:solidFill>
            <a:prstDash val="dash"/>
          </a:ln>
        </p:spPr>
      </p:sp>
      <p:pic>
        <p:nvPicPr>
          <p:cNvPr id="8" name="Image 0" descr="preencoded.png">    </p:cNvPr>
          <p:cNvPicPr>
            <a:picLocks noChangeAspect="1"/>
          </p:cNvPicPr>
          <p:nvPr/>
        </p:nvPicPr>
        <p:blipFill>
          <a:blip r:embed="rId1"/>
          <a:stretch>
            <a:fillRect/>
          </a:stretch>
        </p:blipFill>
        <p:spPr>
          <a:xfrm>
            <a:off x="2057400" y="2740152"/>
            <a:ext cx="914400" cy="914400"/>
          </a:xfrm>
          <a:prstGeom prst="rect">
            <a:avLst/>
          </a:prstGeom>
        </p:spPr>
      </p:pic>
      <p:sp>
        <p:nvSpPr>
          <p:cNvPr id="9" name="Text 5"/>
          <p:cNvSpPr txBox="1"/>
          <p:nvPr/>
        </p:nvSpPr>
        <p:spPr>
          <a:xfrm>
            <a:off x="548640" y="3837432"/>
            <a:ext cx="3931920" cy="457200"/>
          </a:xfrm>
          <a:prstGeom prst="rect">
            <a:avLst/>
          </a:prstGeom>
          <a:noFill/>
          <a:ln/>
        </p:spPr>
        <p:txBody>
          <a:bodyPr wrap="square" lIns="0" tIns="0" rIns="0" bIns="0" rtlCol="0" anchor="ctr"/>
          <a:lstStyle/>
          <a:p>
            <a:pPr algn="ctr" indent="0" marL="0">
              <a:buNone/>
            </a:pPr>
            <a:r>
              <a:rPr lang="en-US" sz="2000" b="1" dirty="0">
                <a:solidFill>
                  <a:schemeClr val="accent5"/>
                </a:solidFill>
                <a:latin typeface="+mj-lt" pitchFamily="34" charset="0"/>
                <a:ea typeface="+mj-lt" pitchFamily="34" charset="-122"/>
                <a:cs typeface="+mj-lt" pitchFamily="34" charset="-120"/>
              </a:rPr>
              <a:t>The picture has gone!</a:t>
            </a:r>
            <a:endParaRPr lang="en-US" sz="2000" dirty="0"/>
          </a:p>
        </p:txBody>
      </p:sp>
      <p:sp>
        <p:nvSpPr>
          <p:cNvPr id="10" name="Shape 6"/>
          <p:cNvSpPr/>
          <p:nvPr/>
        </p:nvSpPr>
        <p:spPr>
          <a:xfrm>
            <a:off x="548640" y="5254752"/>
            <a:ext cx="3931920" cy="1054608"/>
          </a:xfrm>
          <a:prstGeom prst="roundRect">
            <a:avLst>
              <a:gd name="adj" fmla="val 6936"/>
            </a:avLst>
          </a:prstGeom>
          <a:solidFill>
            <a:srgbClr val="B4236A">
              <a:alpha val="8000"/>
            </a:srgbClr>
          </a:solidFill>
          <a:ln w="12700">
            <a:solidFill>
              <a:srgbClr val="B4236A"/>
            </a:solidFill>
            <a:prstDash val="solid"/>
          </a:ln>
        </p:spPr>
      </p:sp>
      <p:pic>
        <p:nvPicPr>
          <p:cNvPr id="11" name="Image 1" descr="preencoded.png">    </p:cNvPr>
          <p:cNvPicPr>
            <a:picLocks noChangeAspect="1"/>
          </p:cNvPicPr>
          <p:nvPr/>
        </p:nvPicPr>
        <p:blipFill>
          <a:blip r:embed="rId2"/>
          <a:stretch>
            <a:fillRect/>
          </a:stretch>
        </p:blipFill>
        <p:spPr>
          <a:xfrm>
            <a:off x="749808" y="5437632"/>
            <a:ext cx="365760" cy="365760"/>
          </a:xfrm>
          <a:prstGeom prst="rect">
            <a:avLst/>
          </a:prstGeom>
        </p:spPr>
      </p:pic>
      <p:sp>
        <p:nvSpPr>
          <p:cNvPr id="12" name="Text 7"/>
          <p:cNvSpPr txBox="1"/>
          <p:nvPr/>
        </p:nvSpPr>
        <p:spPr>
          <a:xfrm>
            <a:off x="1280160" y="5364480"/>
            <a:ext cx="3063240" cy="826008"/>
          </a:xfrm>
          <a:prstGeom prst="rect">
            <a:avLst/>
          </a:prstGeom>
          <a:noFill/>
          <a:ln/>
        </p:spPr>
        <p:txBody>
          <a:bodyPr wrap="square" lIns="0" tIns="0" rIns="0" bIns="0" rtlCol="0" anchor="ctr"/>
          <a:lstStyle/>
          <a:p>
            <a:pPr indent="0" marL="0">
              <a:buNone/>
            </a:pPr>
            <a:r>
              <a:rPr lang="en-US" sz="1600" b="1" dirty="0">
                <a:solidFill>
                  <a:schemeClr val="tx1"/>
                </a:solidFill>
              </a:rPr>
              <a:t>1 point</a:t>
            </a:r>
            <a:r>
              <a:rPr lang="en-US" sz="1600" dirty="0">
                <a:solidFill>
                  <a:schemeClr val="tx1"/>
                </a:solidFill>
              </a:rPr>
              <a:t> per correct answer. </a:t>
            </a:r>
            <a:r>
              <a:rPr lang="en-US" sz="1600" b="1" dirty="0">
                <a:solidFill>
                  <a:schemeClr val="tx1"/>
                </a:solidFill>
              </a:rPr>
              <a:t>2 points</a:t>
            </a:r>
            <a:r>
              <a:rPr lang="en-US" sz="1600" dirty="0">
                <a:solidFill>
                  <a:schemeClr val="tx1"/>
                </a:solidFill>
              </a:rPr>
              <a:t> with a correct </a:t>
            </a:r>
            <a:r>
              <a:rPr lang="en-US" sz="1600" i="1" dirty="0">
                <a:solidFill>
                  <a:schemeClr val="tx1"/>
                </a:solidFill>
              </a:rPr>
              <a:t>was / were + -ing</a:t>
            </a:r>
            <a:r>
              <a:rPr lang="en-US" sz="1600" dirty="0">
                <a:solidFill>
                  <a:schemeClr val="tx1"/>
                </a:solidFill>
              </a:rPr>
              <a:t>.</a:t>
            </a:r>
            <a:endParaRPr lang="en-US" sz="1600" dirty="0"/>
          </a:p>
        </p:txBody>
      </p:sp>
      <p:sp>
        <p:nvSpPr>
          <p:cNvPr id="13" name="Text 8"/>
          <p:cNvSpPr txBox="1"/>
          <p:nvPr/>
        </p:nvSpPr>
        <p:spPr>
          <a:xfrm>
            <a:off x="4937760" y="2237232"/>
            <a:ext cx="6702552" cy="4072128"/>
          </a:xfrm>
          <a:prstGeom prst="rect">
            <a:avLst/>
          </a:prstGeom>
          <a:noFill/>
          <a:ln/>
        </p:spPr>
        <p:txBody>
          <a:bodyPr wrap="square" lIns="0" tIns="0" rIns="0" bIns="0" rtlCol="0" anchor="t"/>
          <a:lstStyle/>
          <a:p>
            <a:pPr indent="0" marL="0">
              <a:spcAft>
                <a:spcPts val="1200"/>
              </a:spcAft>
              <a:buNone/>
            </a:pPr>
            <a:r>
              <a:rPr lang="en-US" sz="2100" b="1" dirty="0">
                <a:solidFill>
                  <a:schemeClr val="tx2"/>
                </a:solidFill>
              </a:rPr>
              <a:t>1.  </a:t>
            </a:r>
            <a:r>
              <a:rPr lang="en-US" sz="2100" dirty="0">
                <a:solidFill>
                  <a:schemeClr val="tx1"/>
                </a:solidFill>
              </a:rPr>
              <a:t>What </a:t>
            </a:r>
            <a:r>
              <a:rPr lang="en-US" sz="2100" b="1" dirty="0">
                <a:solidFill>
                  <a:schemeClr val="tx1"/>
                </a:solidFill>
              </a:rPr>
              <a:t>was</a:t>
            </a:r>
            <a:r>
              <a:rPr lang="en-US" sz="2100" dirty="0">
                <a:solidFill>
                  <a:schemeClr val="tx1"/>
                </a:solidFill>
              </a:rPr>
              <a:t> Iris </a:t>
            </a:r>
            <a:r>
              <a:rPr lang="en-US" sz="2100" b="1" dirty="0">
                <a:solidFill>
                  <a:schemeClr val="tx1"/>
                </a:solidFill>
              </a:rPr>
              <a:t>holding</a:t>
            </a:r>
            <a:r>
              <a:rPr lang="en-US" sz="2100" dirty="0">
                <a:solidFill>
                  <a:schemeClr val="tx1"/>
                </a:solidFill>
              </a:rPr>
              <a:t>?</a:t>
            </a:r>
            <a:endParaRPr lang="en-US" sz="2100" dirty="0"/>
          </a:p>
          <a:p>
            <a:pPr indent="0" marL="0">
              <a:spcAft>
                <a:spcPts val="1200"/>
              </a:spcAft>
              <a:buNone/>
            </a:pPr>
            <a:r>
              <a:rPr lang="en-US" sz="2100" b="1" dirty="0">
                <a:solidFill>
                  <a:schemeClr val="tx2"/>
                </a:solidFill>
              </a:rPr>
              <a:t>2.  </a:t>
            </a:r>
            <a:r>
              <a:rPr lang="en-US" sz="2100" dirty="0">
                <a:solidFill>
                  <a:schemeClr val="tx1"/>
                </a:solidFill>
              </a:rPr>
              <a:t>What </a:t>
            </a:r>
            <a:r>
              <a:rPr lang="en-US" sz="2100" b="1" dirty="0">
                <a:solidFill>
                  <a:schemeClr val="tx1"/>
                </a:solidFill>
              </a:rPr>
              <a:t>was</a:t>
            </a:r>
            <a:r>
              <a:rPr lang="en-US" sz="2100" dirty="0">
                <a:solidFill>
                  <a:schemeClr val="tx1"/>
                </a:solidFill>
              </a:rPr>
              <a:t> Mark </a:t>
            </a:r>
            <a:r>
              <a:rPr lang="en-US" sz="2100" b="1" dirty="0">
                <a:solidFill>
                  <a:schemeClr val="tx1"/>
                </a:solidFill>
              </a:rPr>
              <a:t>doing</a:t>
            </a:r>
            <a:r>
              <a:rPr lang="en-US" sz="2100" dirty="0">
                <a:solidFill>
                  <a:schemeClr val="tx1"/>
                </a:solidFill>
              </a:rPr>
              <a:t> with his arms?</a:t>
            </a:r>
            <a:endParaRPr lang="en-US" sz="2100" dirty="0"/>
          </a:p>
          <a:p>
            <a:pPr indent="0" marL="0">
              <a:spcAft>
                <a:spcPts val="1200"/>
              </a:spcAft>
              <a:buNone/>
            </a:pPr>
            <a:r>
              <a:rPr lang="en-US" sz="2100" b="1" dirty="0">
                <a:solidFill>
                  <a:schemeClr val="tx2"/>
                </a:solidFill>
              </a:rPr>
              <a:t>3.  </a:t>
            </a:r>
            <a:r>
              <a:rPr lang="en-US" sz="2100" dirty="0">
                <a:solidFill>
                  <a:schemeClr val="tx1"/>
                </a:solidFill>
              </a:rPr>
              <a:t>Where </a:t>
            </a:r>
            <a:r>
              <a:rPr lang="en-US" sz="2100" b="1" dirty="0">
                <a:solidFill>
                  <a:schemeClr val="tx1"/>
                </a:solidFill>
              </a:rPr>
              <a:t>was</a:t>
            </a:r>
            <a:r>
              <a:rPr lang="en-US" sz="2100" dirty="0">
                <a:solidFill>
                  <a:schemeClr val="tx1"/>
                </a:solidFill>
              </a:rPr>
              <a:t> Samuel </a:t>
            </a:r>
            <a:r>
              <a:rPr lang="en-US" sz="2100" b="1" dirty="0">
                <a:solidFill>
                  <a:schemeClr val="tx1"/>
                </a:solidFill>
              </a:rPr>
              <a:t>kneeling</a:t>
            </a:r>
            <a:r>
              <a:rPr lang="en-US" sz="2100" dirty="0">
                <a:solidFill>
                  <a:schemeClr val="tx1"/>
                </a:solidFill>
              </a:rPr>
              <a:t>?</a:t>
            </a:r>
            <a:endParaRPr lang="en-US" sz="2100" dirty="0"/>
          </a:p>
          <a:p>
            <a:pPr indent="0" marL="0">
              <a:spcAft>
                <a:spcPts val="1200"/>
              </a:spcAft>
              <a:buNone/>
            </a:pPr>
            <a:r>
              <a:rPr lang="en-US" sz="2100" b="1" dirty="0">
                <a:solidFill>
                  <a:schemeClr val="tx2"/>
                </a:solidFill>
              </a:rPr>
              <a:t>4.  </a:t>
            </a:r>
            <a:r>
              <a:rPr lang="en-US" sz="2100" dirty="0">
                <a:solidFill>
                  <a:schemeClr val="tx1"/>
                </a:solidFill>
              </a:rPr>
              <a:t>What </a:t>
            </a:r>
            <a:r>
              <a:rPr lang="en-US" sz="2100" b="1" dirty="0">
                <a:solidFill>
                  <a:schemeClr val="tx1"/>
                </a:solidFill>
              </a:rPr>
              <a:t>was written</a:t>
            </a:r>
            <a:r>
              <a:rPr lang="en-US" sz="2100" dirty="0">
                <a:solidFill>
                  <a:schemeClr val="tx1"/>
                </a:solidFill>
              </a:rPr>
              <a:t> on the whiteboard?</a:t>
            </a:r>
            <a:endParaRPr lang="en-US" sz="2100" dirty="0"/>
          </a:p>
          <a:p>
            <a:pPr indent="0" marL="0">
              <a:spcAft>
                <a:spcPts val="1200"/>
              </a:spcAft>
              <a:buNone/>
            </a:pPr>
            <a:r>
              <a:rPr lang="en-US" sz="2100" b="1" dirty="0">
                <a:solidFill>
                  <a:schemeClr val="tx2"/>
                </a:solidFill>
              </a:rPr>
              <a:t>5.  </a:t>
            </a:r>
            <a:r>
              <a:rPr lang="en-US" sz="2100" dirty="0">
                <a:solidFill>
                  <a:schemeClr val="tx1"/>
                </a:solidFill>
              </a:rPr>
              <a:t>What colour </a:t>
            </a:r>
            <a:r>
              <a:rPr lang="en-US" sz="2100" b="1" dirty="0">
                <a:solidFill>
                  <a:schemeClr val="tx1"/>
                </a:solidFill>
              </a:rPr>
              <a:t>was</a:t>
            </a:r>
            <a:r>
              <a:rPr lang="en-US" sz="2100" dirty="0">
                <a:solidFill>
                  <a:schemeClr val="tx1"/>
                </a:solidFill>
              </a:rPr>
              <a:t> the bucket?</a:t>
            </a:r>
            <a:endParaRPr lang="en-US" sz="2100" dirty="0"/>
          </a:p>
          <a:p>
            <a:pPr indent="0" marL="0">
              <a:spcAft>
                <a:spcPts val="1200"/>
              </a:spcAft>
              <a:buNone/>
            </a:pPr>
            <a:r>
              <a:rPr lang="en-US" sz="2100" b="1" dirty="0">
                <a:solidFill>
                  <a:schemeClr val="tx2"/>
                </a:solidFill>
              </a:rPr>
              <a:t>6.  </a:t>
            </a:r>
            <a:r>
              <a:rPr lang="en-US" sz="2100" dirty="0">
                <a:solidFill>
                  <a:schemeClr val="tx1"/>
                </a:solidFill>
              </a:rPr>
              <a:t>What </a:t>
            </a:r>
            <a:r>
              <a:rPr lang="en-US" sz="2100" b="1" dirty="0">
                <a:solidFill>
                  <a:schemeClr val="tx1"/>
                </a:solidFill>
              </a:rPr>
              <a:t>was lying</a:t>
            </a:r>
            <a:r>
              <a:rPr lang="en-US" sz="2100" dirty="0">
                <a:solidFill>
                  <a:schemeClr val="tx1"/>
                </a:solidFill>
              </a:rPr>
              <a:t> on the floor next to the bucket?</a:t>
            </a:r>
            <a:endParaRPr lang="en-US" sz="2100" dirty="0"/>
          </a:p>
          <a:p>
            <a:pPr indent="0" marL="0">
              <a:spcAft>
                <a:spcPts val="1200"/>
              </a:spcAft>
              <a:buNone/>
            </a:pPr>
            <a:r>
              <a:rPr lang="en-US" sz="2100" b="1" dirty="0">
                <a:solidFill>
                  <a:schemeClr val="tx2"/>
                </a:solidFill>
              </a:rPr>
              <a:t>7.  </a:t>
            </a:r>
            <a:r>
              <a:rPr lang="en-US" sz="2100" dirty="0">
                <a:solidFill>
                  <a:schemeClr val="tx1"/>
                </a:solidFill>
              </a:rPr>
              <a:t>What </a:t>
            </a:r>
            <a:r>
              <a:rPr lang="en-US" sz="2100" b="1" dirty="0">
                <a:solidFill>
                  <a:schemeClr val="tx1"/>
                </a:solidFill>
              </a:rPr>
              <a:t>was</a:t>
            </a:r>
            <a:r>
              <a:rPr lang="en-US" sz="2100" dirty="0">
                <a:solidFill>
                  <a:schemeClr val="tx1"/>
                </a:solidFill>
              </a:rPr>
              <a:t> the person on the right </a:t>
            </a:r>
            <a:r>
              <a:rPr lang="en-US" sz="2100" b="1" dirty="0">
                <a:solidFill>
                  <a:schemeClr val="tx1"/>
                </a:solidFill>
              </a:rPr>
              <a:t>doing</a:t>
            </a:r>
            <a:r>
              <a:rPr lang="en-US" sz="2100" dirty="0">
                <a:solidFill>
                  <a:schemeClr val="tx1"/>
                </a:solidFill>
              </a:rPr>
              <a:t>?</a:t>
            </a:r>
            <a:endParaRPr lang="en-US" sz="2100" dirty="0"/>
          </a:p>
          <a:p>
            <a:pPr indent="0" marL="0">
              <a:spcAft>
                <a:spcPts val="1200"/>
              </a:spcAft>
              <a:buNone/>
            </a:pPr>
            <a:r>
              <a:rPr lang="en-US" sz="2100" b="1" dirty="0">
                <a:solidFill>
                  <a:schemeClr val="tx2"/>
                </a:solidFill>
              </a:rPr>
              <a:t>8.  </a:t>
            </a:r>
            <a:r>
              <a:rPr lang="en-US" sz="2100" dirty="0">
                <a:solidFill>
                  <a:schemeClr val="tx1"/>
                </a:solidFill>
              </a:rPr>
              <a:t>What </a:t>
            </a:r>
            <a:r>
              <a:rPr lang="en-US" sz="2100" b="1" dirty="0">
                <a:solidFill>
                  <a:schemeClr val="tx1"/>
                </a:solidFill>
              </a:rPr>
              <a:t>was falling</a:t>
            </a:r>
            <a:r>
              <a:rPr lang="en-US" sz="2100" dirty="0">
                <a:solidFill>
                  <a:schemeClr val="tx1"/>
                </a:solidFill>
              </a:rPr>
              <a:t> from the ceiling?</a:t>
            </a:r>
            <a:endParaRPr lang="en-US" sz="2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Memory challenge — what was happening?</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ag"/>
          <p:cNvSpPr/>
          <p:nvPr/>
        </p:nvSpPr>
        <p:spPr>
          <a:xfrm>
            <a:off x="14813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7" name="Text 4"/>
          <p:cNvSpPr txBox="1"/>
          <p:nvPr/>
        </p:nvSpPr>
        <p:spPr>
          <a:xfrm>
            <a:off x="548640" y="1783080"/>
            <a:ext cx="5317236" cy="4526280"/>
          </a:xfrm>
          <a:prstGeom prst="rect">
            <a:avLst/>
          </a:prstGeom>
          <a:noFill/>
          <a:ln/>
        </p:spPr>
        <p:txBody>
          <a:bodyPr wrap="square" lIns="0" tIns="0" rIns="0" bIns="0" rtlCol="0" anchor="t"/>
          <a:lstStyle/>
          <a:p>
            <a:pPr indent="0" marL="0">
              <a:spcAft>
                <a:spcPts val="300"/>
              </a:spcAft>
              <a:buNone/>
            </a:pPr>
            <a:r>
              <a:rPr lang="en-US" sz="2000" b="1" dirty="0">
                <a:solidFill>
                  <a:schemeClr val="tx2"/>
                </a:solidFill>
              </a:rPr>
              <a:t>1.  </a:t>
            </a:r>
            <a:r>
              <a:rPr lang="en-US" sz="2000" dirty="0">
                <a:solidFill>
                  <a:schemeClr val="tx1"/>
                </a:solidFill>
              </a:rPr>
              <a:t>What </a:t>
            </a:r>
            <a:r>
              <a:rPr lang="en-US" sz="2000" b="1" dirty="0">
                <a:solidFill>
                  <a:schemeClr val="tx1"/>
                </a:solidFill>
              </a:rPr>
              <a:t>was</a:t>
            </a:r>
            <a:r>
              <a:rPr lang="en-US" sz="2000" dirty="0">
                <a:solidFill>
                  <a:schemeClr val="tx1"/>
                </a:solidFill>
              </a:rPr>
              <a:t> Iris </a:t>
            </a:r>
            <a:r>
              <a:rPr lang="en-US" sz="2000" b="1" dirty="0">
                <a:solidFill>
                  <a:schemeClr val="tx1"/>
                </a:solidFill>
              </a:rPr>
              <a:t>holding</a:t>
            </a:r>
            <a:r>
              <a:rPr lang="en-US" sz="2000" dirty="0">
                <a:solidFill>
                  <a:schemeClr val="tx1"/>
                </a:solidFill>
              </a:rPr>
              <a:t>?</a:t>
            </a:r>
            <a:endParaRPr lang="en-US" sz="2000" dirty="0"/>
          </a:p>
          <a:p>
            <a:pPr indent="0" marL="0">
              <a:spcAft>
                <a:spcPts val="1400"/>
              </a:spcAft>
              <a:buNone/>
            </a:pPr>
            <a:r>
              <a:rPr lang="en-US" sz="2000" b="1" dirty="0">
                <a:solidFill>
                  <a:schemeClr val="tx2"/>
                </a:solidFill>
              </a:rPr>
              <a:t>→ </a:t>
            </a:r>
            <a:r>
              <a:rPr lang="en-US" sz="2000" b="1" dirty="0">
                <a:solidFill>
                  <a:schemeClr val="tx2"/>
                </a:solidFill>
              </a:rPr>
              <a:t>She </a:t>
            </a:r>
            <a:r>
              <a:rPr lang="en-US" sz="2000" b="1" dirty="0">
                <a:solidFill>
                  <a:schemeClr val="tx2"/>
                </a:solidFill>
              </a:rPr>
              <a:t>was holding</a:t>
            </a:r>
            <a:r>
              <a:rPr lang="en-US" sz="2000" b="1" dirty="0">
                <a:solidFill>
                  <a:schemeClr val="tx2"/>
                </a:solidFill>
              </a:rPr>
              <a:t> her phone — she </a:t>
            </a:r>
            <a:r>
              <a:rPr lang="en-US" sz="2000" b="1" dirty="0">
                <a:solidFill>
                  <a:schemeClr val="tx2"/>
                </a:solidFill>
              </a:rPr>
              <a:t>was taking</a:t>
            </a:r>
            <a:r>
              <a:rPr lang="en-US" sz="2000" b="1" dirty="0">
                <a:solidFill>
                  <a:schemeClr val="tx2"/>
                </a:solidFill>
              </a:rPr>
              <a:t> photos.</a:t>
            </a:r>
            <a:endParaRPr lang="en-US" sz="2000" dirty="0"/>
          </a:p>
          <a:p>
            <a:pPr indent="0" marL="0">
              <a:spcAft>
                <a:spcPts val="300"/>
              </a:spcAft>
              <a:buNone/>
            </a:pPr>
            <a:r>
              <a:rPr lang="en-US" sz="2000" b="1" dirty="0">
                <a:solidFill>
                  <a:schemeClr val="tx2"/>
                </a:solidFill>
              </a:rPr>
              <a:t>2.  </a:t>
            </a:r>
            <a:r>
              <a:rPr lang="en-US" sz="2000" dirty="0">
                <a:solidFill>
                  <a:schemeClr val="tx1"/>
                </a:solidFill>
              </a:rPr>
              <a:t>What </a:t>
            </a:r>
            <a:r>
              <a:rPr lang="en-US" sz="2000" b="1" dirty="0">
                <a:solidFill>
                  <a:schemeClr val="tx1"/>
                </a:solidFill>
              </a:rPr>
              <a:t>was</a:t>
            </a:r>
            <a:r>
              <a:rPr lang="en-US" sz="2000" dirty="0">
                <a:solidFill>
                  <a:schemeClr val="tx1"/>
                </a:solidFill>
              </a:rPr>
              <a:t> Mark </a:t>
            </a:r>
            <a:r>
              <a:rPr lang="en-US" sz="2000" b="1" dirty="0">
                <a:solidFill>
                  <a:schemeClr val="tx1"/>
                </a:solidFill>
              </a:rPr>
              <a:t>doing</a:t>
            </a:r>
            <a:r>
              <a:rPr lang="en-US" sz="2000" dirty="0">
                <a:solidFill>
                  <a:schemeClr val="tx1"/>
                </a:solidFill>
              </a:rPr>
              <a:t> with his arms?</a:t>
            </a:r>
            <a:endParaRPr lang="en-US" sz="2000" dirty="0"/>
          </a:p>
          <a:p>
            <a:pPr indent="0" marL="0">
              <a:spcAft>
                <a:spcPts val="1400"/>
              </a:spcAft>
              <a:buNone/>
            </a:pPr>
            <a:r>
              <a:rPr lang="en-US" sz="2000" b="1" dirty="0">
                <a:solidFill>
                  <a:schemeClr val="tx2"/>
                </a:solidFill>
              </a:rPr>
              <a:t>→ </a:t>
            </a:r>
            <a:r>
              <a:rPr lang="en-US" sz="2000" b="1" dirty="0">
                <a:solidFill>
                  <a:schemeClr val="tx2"/>
                </a:solidFill>
              </a:rPr>
              <a:t>He </a:t>
            </a:r>
            <a:r>
              <a:rPr lang="en-US" sz="2000" b="1" dirty="0">
                <a:solidFill>
                  <a:schemeClr val="tx2"/>
                </a:solidFill>
              </a:rPr>
              <a:t>was crossing</a:t>
            </a:r>
            <a:r>
              <a:rPr lang="en-US" sz="2000" b="1" dirty="0">
                <a:solidFill>
                  <a:schemeClr val="tx2"/>
                </a:solidFill>
              </a:rPr>
              <a:t> them — and he </a:t>
            </a:r>
            <a:r>
              <a:rPr lang="en-US" sz="2000" b="1" dirty="0">
                <a:solidFill>
                  <a:schemeClr val="tx2"/>
                </a:solidFill>
              </a:rPr>
              <a:t>was looking</a:t>
            </a:r>
            <a:r>
              <a:rPr lang="en-US" sz="2000" b="1" dirty="0">
                <a:solidFill>
                  <a:schemeClr val="tx2"/>
                </a:solidFill>
              </a:rPr>
              <a:t> up at the ceiling.</a:t>
            </a:r>
            <a:endParaRPr lang="en-US" sz="2000" dirty="0"/>
          </a:p>
          <a:p>
            <a:pPr indent="0" marL="0">
              <a:spcAft>
                <a:spcPts val="300"/>
              </a:spcAft>
              <a:buNone/>
            </a:pPr>
            <a:r>
              <a:rPr lang="en-US" sz="2000" b="1" dirty="0">
                <a:solidFill>
                  <a:schemeClr val="tx2"/>
                </a:solidFill>
              </a:rPr>
              <a:t>3.  </a:t>
            </a:r>
            <a:r>
              <a:rPr lang="en-US" sz="2000" dirty="0">
                <a:solidFill>
                  <a:schemeClr val="tx1"/>
                </a:solidFill>
              </a:rPr>
              <a:t>Where </a:t>
            </a:r>
            <a:r>
              <a:rPr lang="en-US" sz="2000" b="1" dirty="0">
                <a:solidFill>
                  <a:schemeClr val="tx1"/>
                </a:solidFill>
              </a:rPr>
              <a:t>was</a:t>
            </a:r>
            <a:r>
              <a:rPr lang="en-US" sz="2000" dirty="0">
                <a:solidFill>
                  <a:schemeClr val="tx1"/>
                </a:solidFill>
              </a:rPr>
              <a:t> Samuel </a:t>
            </a:r>
            <a:r>
              <a:rPr lang="en-US" sz="2000" b="1" dirty="0">
                <a:solidFill>
                  <a:schemeClr val="tx1"/>
                </a:solidFill>
              </a:rPr>
              <a:t>kneeling</a:t>
            </a:r>
            <a:r>
              <a:rPr lang="en-US" sz="2000" dirty="0">
                <a:solidFill>
                  <a:schemeClr val="tx1"/>
                </a:solidFill>
              </a:rPr>
              <a:t>?</a:t>
            </a:r>
            <a:endParaRPr lang="en-US" sz="2000" dirty="0"/>
          </a:p>
          <a:p>
            <a:pPr indent="0" marL="0">
              <a:spcAft>
                <a:spcPts val="1400"/>
              </a:spcAft>
              <a:buNone/>
            </a:pPr>
            <a:r>
              <a:rPr lang="en-US" sz="2000" b="1" dirty="0">
                <a:solidFill>
                  <a:schemeClr val="tx2"/>
                </a:solidFill>
              </a:rPr>
              <a:t>→ </a:t>
            </a:r>
            <a:r>
              <a:rPr lang="en-US" sz="2000" b="1" dirty="0">
                <a:solidFill>
                  <a:schemeClr val="tx2"/>
                </a:solidFill>
              </a:rPr>
              <a:t>In front of the server rack, on the right.</a:t>
            </a:r>
            <a:endParaRPr lang="en-US" sz="2000" dirty="0"/>
          </a:p>
          <a:p>
            <a:pPr indent="0" marL="0">
              <a:spcAft>
                <a:spcPts val="300"/>
              </a:spcAft>
              <a:buNone/>
            </a:pPr>
            <a:r>
              <a:rPr lang="en-US" sz="2000" b="1" dirty="0">
                <a:solidFill>
                  <a:schemeClr val="tx2"/>
                </a:solidFill>
              </a:rPr>
              <a:t>4.  </a:t>
            </a:r>
            <a:r>
              <a:rPr lang="en-US" sz="2000" dirty="0">
                <a:solidFill>
                  <a:schemeClr val="tx1"/>
                </a:solidFill>
              </a:rPr>
              <a:t>What </a:t>
            </a:r>
            <a:r>
              <a:rPr lang="en-US" sz="2000" b="1" dirty="0">
                <a:solidFill>
                  <a:schemeClr val="tx1"/>
                </a:solidFill>
              </a:rPr>
              <a:t>was written</a:t>
            </a:r>
            <a:r>
              <a:rPr lang="en-US" sz="2000" dirty="0">
                <a:solidFill>
                  <a:schemeClr val="tx1"/>
                </a:solidFill>
              </a:rPr>
              <a:t> on the whiteboard?</a:t>
            </a:r>
            <a:endParaRPr lang="en-US" sz="2000" dirty="0"/>
          </a:p>
          <a:p>
            <a:pPr indent="0" marL="0">
              <a:spcAft>
                <a:spcPts val="1400"/>
              </a:spcAft>
              <a:buNone/>
            </a:pPr>
            <a:r>
              <a:rPr lang="en-US" sz="2000" b="1" dirty="0">
                <a:solidFill>
                  <a:schemeClr val="tx2"/>
                </a:solidFill>
              </a:rPr>
              <a:t>→ </a:t>
            </a:r>
            <a:r>
              <a:rPr lang="en-US" sz="2000" b="1" dirty="0">
                <a:solidFill>
                  <a:schemeClr val="tx2"/>
                </a:solidFill>
              </a:rPr>
              <a:t>“Incident timeline”.</a:t>
            </a:r>
            <a:endParaRPr lang="en-US" sz="2000" dirty="0"/>
          </a:p>
        </p:txBody>
      </p:sp>
      <p:sp>
        <p:nvSpPr>
          <p:cNvPr id="8" name="Text 5"/>
          <p:cNvSpPr txBox="1"/>
          <p:nvPr/>
        </p:nvSpPr>
        <p:spPr>
          <a:xfrm>
            <a:off x="6323076" y="1783080"/>
            <a:ext cx="5317236" cy="4526280"/>
          </a:xfrm>
          <a:prstGeom prst="rect">
            <a:avLst/>
          </a:prstGeom>
          <a:noFill/>
          <a:ln/>
        </p:spPr>
        <p:txBody>
          <a:bodyPr wrap="square" lIns="0" tIns="0" rIns="0" bIns="0" rtlCol="0" anchor="t"/>
          <a:lstStyle/>
          <a:p>
            <a:pPr indent="0" marL="0">
              <a:spcAft>
                <a:spcPts val="300"/>
              </a:spcAft>
              <a:buNone/>
            </a:pPr>
            <a:r>
              <a:rPr lang="en-US" sz="2000" b="1" dirty="0">
                <a:solidFill>
                  <a:schemeClr val="tx2"/>
                </a:solidFill>
              </a:rPr>
              <a:t>5.  </a:t>
            </a:r>
            <a:r>
              <a:rPr lang="en-US" sz="2000" dirty="0">
                <a:solidFill>
                  <a:schemeClr val="tx1"/>
                </a:solidFill>
              </a:rPr>
              <a:t>What colour </a:t>
            </a:r>
            <a:r>
              <a:rPr lang="en-US" sz="2000" b="1" dirty="0">
                <a:solidFill>
                  <a:schemeClr val="tx1"/>
                </a:solidFill>
              </a:rPr>
              <a:t>was</a:t>
            </a:r>
            <a:r>
              <a:rPr lang="en-US" sz="2000" dirty="0">
                <a:solidFill>
                  <a:schemeClr val="tx1"/>
                </a:solidFill>
              </a:rPr>
              <a:t> the bucket?</a:t>
            </a:r>
            <a:endParaRPr lang="en-US" sz="2000" dirty="0"/>
          </a:p>
          <a:p>
            <a:pPr indent="0" marL="0">
              <a:spcAft>
                <a:spcPts val="1400"/>
              </a:spcAft>
              <a:buNone/>
            </a:pPr>
            <a:r>
              <a:rPr lang="en-US" sz="2000" b="1" dirty="0">
                <a:solidFill>
                  <a:schemeClr val="tx2"/>
                </a:solidFill>
              </a:rPr>
              <a:t>→ </a:t>
            </a:r>
            <a:r>
              <a:rPr lang="en-US" sz="2000" b="1" dirty="0">
                <a:solidFill>
                  <a:schemeClr val="tx2"/>
                </a:solidFill>
              </a:rPr>
              <a:t>It </a:t>
            </a:r>
            <a:r>
              <a:rPr lang="en-US" sz="2000" b="1" dirty="0">
                <a:solidFill>
                  <a:schemeClr val="tx2"/>
                </a:solidFill>
              </a:rPr>
              <a:t>was</a:t>
            </a:r>
            <a:r>
              <a:rPr lang="en-US" sz="2000" b="1" dirty="0">
                <a:solidFill>
                  <a:schemeClr val="tx2"/>
                </a:solidFill>
              </a:rPr>
              <a:t> blue.</a:t>
            </a:r>
            <a:endParaRPr lang="en-US" sz="2000" dirty="0"/>
          </a:p>
          <a:p>
            <a:pPr indent="0" marL="0">
              <a:spcAft>
                <a:spcPts val="300"/>
              </a:spcAft>
              <a:buNone/>
            </a:pPr>
            <a:r>
              <a:rPr lang="en-US" sz="2000" b="1" dirty="0">
                <a:solidFill>
                  <a:schemeClr val="tx2"/>
                </a:solidFill>
              </a:rPr>
              <a:t>6.  </a:t>
            </a:r>
            <a:r>
              <a:rPr lang="en-US" sz="2000" dirty="0">
                <a:solidFill>
                  <a:schemeClr val="tx1"/>
                </a:solidFill>
              </a:rPr>
              <a:t>What </a:t>
            </a:r>
            <a:r>
              <a:rPr lang="en-US" sz="2000" b="1" dirty="0">
                <a:solidFill>
                  <a:schemeClr val="tx1"/>
                </a:solidFill>
              </a:rPr>
              <a:t>was lying</a:t>
            </a:r>
            <a:r>
              <a:rPr lang="en-US" sz="2000" dirty="0">
                <a:solidFill>
                  <a:schemeClr val="tx1"/>
                </a:solidFill>
              </a:rPr>
              <a:t> on the floor next to the bucket?</a:t>
            </a:r>
            <a:endParaRPr lang="en-US" sz="2000" dirty="0"/>
          </a:p>
          <a:p>
            <a:pPr indent="0" marL="0">
              <a:spcAft>
                <a:spcPts val="1400"/>
              </a:spcAft>
              <a:buNone/>
            </a:pPr>
            <a:r>
              <a:rPr lang="en-US" sz="2000" b="1" dirty="0">
                <a:solidFill>
                  <a:schemeClr val="tx2"/>
                </a:solidFill>
              </a:rPr>
              <a:t>→ </a:t>
            </a:r>
            <a:r>
              <a:rPr lang="en-US" sz="2000" b="1" dirty="0">
                <a:solidFill>
                  <a:schemeClr val="tx2"/>
                </a:solidFill>
              </a:rPr>
              <a:t>A roll of paper towels.</a:t>
            </a:r>
            <a:endParaRPr lang="en-US" sz="2000" dirty="0"/>
          </a:p>
          <a:p>
            <a:pPr indent="0" marL="0">
              <a:spcAft>
                <a:spcPts val="300"/>
              </a:spcAft>
              <a:buNone/>
            </a:pPr>
            <a:r>
              <a:rPr lang="en-US" sz="2000" b="1" dirty="0">
                <a:solidFill>
                  <a:schemeClr val="tx2"/>
                </a:solidFill>
              </a:rPr>
              <a:t>7.  </a:t>
            </a:r>
            <a:r>
              <a:rPr lang="en-US" sz="2000" dirty="0">
                <a:solidFill>
                  <a:schemeClr val="tx1"/>
                </a:solidFill>
              </a:rPr>
              <a:t>What </a:t>
            </a:r>
            <a:r>
              <a:rPr lang="en-US" sz="2000" b="1" dirty="0">
                <a:solidFill>
                  <a:schemeClr val="tx1"/>
                </a:solidFill>
              </a:rPr>
              <a:t>was</a:t>
            </a:r>
            <a:r>
              <a:rPr lang="en-US" sz="2000" dirty="0">
                <a:solidFill>
                  <a:schemeClr val="tx1"/>
                </a:solidFill>
              </a:rPr>
              <a:t> the person on the right </a:t>
            </a:r>
            <a:r>
              <a:rPr lang="en-US" sz="2000" b="1" dirty="0">
                <a:solidFill>
                  <a:schemeClr val="tx1"/>
                </a:solidFill>
              </a:rPr>
              <a:t>doing</a:t>
            </a:r>
            <a:r>
              <a:rPr lang="en-US" sz="2000" dirty="0">
                <a:solidFill>
                  <a:schemeClr val="tx1"/>
                </a:solidFill>
              </a:rPr>
              <a:t>?</a:t>
            </a:r>
            <a:endParaRPr lang="en-US" sz="2000" dirty="0"/>
          </a:p>
          <a:p>
            <a:pPr indent="0" marL="0">
              <a:spcAft>
                <a:spcPts val="1400"/>
              </a:spcAft>
              <a:buNone/>
            </a:pPr>
            <a:r>
              <a:rPr lang="en-US" sz="2000" b="1" dirty="0">
                <a:solidFill>
                  <a:schemeClr val="tx2"/>
                </a:solidFill>
              </a:rPr>
              <a:t>→ </a:t>
            </a:r>
            <a:r>
              <a:rPr lang="en-US" sz="2000" b="1" dirty="0">
                <a:solidFill>
                  <a:schemeClr val="tx2"/>
                </a:solidFill>
              </a:rPr>
              <a:t>He </a:t>
            </a:r>
            <a:r>
              <a:rPr lang="en-US" sz="2000" b="1" dirty="0">
                <a:solidFill>
                  <a:schemeClr val="tx2"/>
                </a:solidFill>
              </a:rPr>
              <a:t>was taking</a:t>
            </a:r>
            <a:r>
              <a:rPr lang="en-US" sz="2000" b="1" dirty="0">
                <a:solidFill>
                  <a:schemeClr val="tx2"/>
                </a:solidFill>
              </a:rPr>
              <a:t> notes in a notebook.</a:t>
            </a:r>
            <a:endParaRPr lang="en-US" sz="2000" dirty="0"/>
          </a:p>
          <a:p>
            <a:pPr indent="0" marL="0">
              <a:spcAft>
                <a:spcPts val="300"/>
              </a:spcAft>
              <a:buNone/>
            </a:pPr>
            <a:r>
              <a:rPr lang="en-US" sz="2000" b="1" dirty="0">
                <a:solidFill>
                  <a:schemeClr val="tx2"/>
                </a:solidFill>
              </a:rPr>
              <a:t>8.  </a:t>
            </a:r>
            <a:r>
              <a:rPr lang="en-US" sz="2000" dirty="0">
                <a:solidFill>
                  <a:schemeClr val="tx1"/>
                </a:solidFill>
              </a:rPr>
              <a:t>What </a:t>
            </a:r>
            <a:r>
              <a:rPr lang="en-US" sz="2000" b="1" dirty="0">
                <a:solidFill>
                  <a:schemeClr val="tx1"/>
                </a:solidFill>
              </a:rPr>
              <a:t>was falling</a:t>
            </a:r>
            <a:r>
              <a:rPr lang="en-US" sz="2000" dirty="0">
                <a:solidFill>
                  <a:schemeClr val="tx1"/>
                </a:solidFill>
              </a:rPr>
              <a:t> from the ceiling?</a:t>
            </a:r>
            <a:endParaRPr lang="en-US" sz="2000" dirty="0"/>
          </a:p>
          <a:p>
            <a:pPr indent="0" marL="0">
              <a:spcAft>
                <a:spcPts val="1400"/>
              </a:spcAft>
              <a:buNone/>
            </a:pPr>
            <a:r>
              <a:rPr lang="en-US" sz="2000" b="1" dirty="0">
                <a:solidFill>
                  <a:schemeClr val="tx2"/>
                </a:solidFill>
              </a:rPr>
              <a:t>→ </a:t>
            </a:r>
            <a:r>
              <a:rPr lang="en-US" sz="2000" b="1" dirty="0">
                <a:solidFill>
                  <a:schemeClr val="tx2"/>
                </a:solidFill>
              </a:rPr>
              <a:t>Water — it </a:t>
            </a:r>
            <a:r>
              <a:rPr lang="en-US" sz="2000" b="1" dirty="0">
                <a:solidFill>
                  <a:schemeClr val="tx2"/>
                </a:solidFill>
              </a:rPr>
              <a:t>was dripping</a:t>
            </a:r>
            <a:r>
              <a:rPr lang="en-US" sz="2000" b="1" dirty="0">
                <a:solidFill>
                  <a:schemeClr val="tx2"/>
                </a:solidFill>
              </a:rPr>
              <a:t> from the hole, and a ceiling tile </a:t>
            </a:r>
            <a:r>
              <a:rPr lang="en-US" sz="2000" b="1" dirty="0">
                <a:solidFill>
                  <a:schemeClr val="tx2"/>
                </a:solidFill>
              </a:rPr>
              <a:t>was hanging</a:t>
            </a:r>
            <a:r>
              <a:rPr lang="en-US" sz="2000" b="1" dirty="0">
                <a:solidFill>
                  <a:schemeClr val="tx2"/>
                </a:solidFill>
              </a:rPr>
              <a:t> down.</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Booklets closed — listen first</a:t>
            </a:r>
            <a:endParaRPr lang="en-US" sz="3200" dirty="0"/>
          </a:p>
        </p:txBody>
      </p:sp>
      <p:sp>
        <p:nvSpPr>
          <p:cNvPr id="3" name="tag"/>
          <p:cNvSpPr/>
          <p:nvPr/>
        </p:nvSpPr>
        <p:spPr>
          <a:xfrm>
            <a:off x="548640" y="384048"/>
            <a:ext cx="13944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LISTENING</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6" name="Shape 3"/>
          <p:cNvSpPr/>
          <p:nvPr/>
        </p:nvSpPr>
        <p:spPr>
          <a:xfrm>
            <a:off x="548640" y="1783080"/>
            <a:ext cx="11091672" cy="1325880"/>
          </a:xfrm>
          <a:prstGeom prst="roundRect">
            <a:avLst>
              <a:gd name="adj" fmla="val 5517"/>
            </a:avLst>
          </a:prstGeom>
          <a:solidFill>
            <a:srgbClr val="2E75B6">
              <a:alpha val="9000"/>
            </a:srgbClr>
          </a:solidFill>
          <a:ln w="15875">
            <a:solidFill>
              <a:srgbClr val="2E75B6"/>
            </a:solidFill>
            <a:prstDash val="solid"/>
          </a:ln>
        </p:spPr>
      </p:sp>
      <p:sp>
        <p:nvSpPr>
          <p:cNvPr id="7" name="Shape 4"/>
          <p:cNvSpPr/>
          <p:nvPr/>
        </p:nvSpPr>
        <p:spPr>
          <a:xfrm>
            <a:off x="841248" y="1984248"/>
            <a:ext cx="914400" cy="914400"/>
          </a:xfrm>
          <a:prstGeom prst="ellipse">
            <a:avLst/>
          </a:prstGeom>
          <a:solidFill>
            <a:srgbClr val="2E75B6"/>
          </a:solidFill>
          <a:ln/>
        </p:spPr>
      </p:sp>
      <p:pic>
        <p:nvPicPr>
          <p:cNvPr id="8" name="Image 0" descr="preencoded.png">    </p:cNvPr>
          <p:cNvPicPr>
            <a:picLocks noChangeAspect="1"/>
          </p:cNvPicPr>
          <p:nvPr/>
        </p:nvPicPr>
        <p:blipFill>
          <a:blip r:embed="rId1"/>
          <a:stretch>
            <a:fillRect/>
          </a:stretch>
        </p:blipFill>
        <p:spPr>
          <a:xfrm>
            <a:off x="1069848" y="2212848"/>
            <a:ext cx="457200" cy="457200"/>
          </a:xfrm>
          <a:prstGeom prst="rect">
            <a:avLst/>
          </a:prstGeom>
        </p:spPr>
      </p:pic>
      <p:sp>
        <p:nvSpPr>
          <p:cNvPr id="9" name="Text 5"/>
          <p:cNvSpPr txBox="1"/>
          <p:nvPr/>
        </p:nvSpPr>
        <p:spPr>
          <a:xfrm>
            <a:off x="2029968" y="1874520"/>
            <a:ext cx="9400032" cy="1143000"/>
          </a:xfrm>
          <a:prstGeom prst="rect">
            <a:avLst/>
          </a:prstGeom>
          <a:noFill/>
          <a:ln/>
        </p:spPr>
        <p:txBody>
          <a:bodyPr wrap="square" lIns="0" tIns="0" rIns="0" bIns="0" rtlCol="0" anchor="ctr"/>
          <a:lstStyle/>
          <a:p>
            <a:pPr indent="0" marL="0">
              <a:buNone/>
            </a:pPr>
            <a:r>
              <a:rPr lang="en-US" sz="2600" b="1" dirty="0">
                <a:solidFill>
                  <a:schemeClr val="accent2"/>
                </a:solidFill>
                <a:latin typeface="+mj-lt" pitchFamily="34" charset="0"/>
                <a:ea typeface="+mj-lt" pitchFamily="34" charset="-122"/>
                <a:cs typeface="+mj-lt" pitchFamily="34" charset="-120"/>
              </a:rPr>
              <a:t>Technical room — 08.15</a:t>
            </a:r>
            <a:endParaRPr lang="en-US" sz="2600" dirty="0"/>
          </a:p>
          <a:p>
            <a:pPr indent="0" marL="0">
              <a:buNone/>
            </a:pPr>
            <a:r>
              <a:rPr lang="en-US" sz="1700" dirty="0">
                <a:solidFill>
                  <a:schemeClr val="tx1"/>
                </a:solidFill>
              </a:rPr>
              <a:t>Four voices · fifteen lines. Your teacher (or four volunteers) reads the scene </a:t>
            </a:r>
            <a:r>
              <a:rPr lang="en-US" sz="1700" b="1" dirty="0">
                <a:solidFill>
                  <a:schemeClr val="tx1"/>
                </a:solidFill>
              </a:rPr>
              <a:t>twice</a:t>
            </a:r>
            <a:r>
              <a:rPr lang="en-US" sz="1700" dirty="0">
                <a:solidFill>
                  <a:schemeClr val="tx1"/>
                </a:solidFill>
              </a:rPr>
              <a:t>.</a:t>
            </a:r>
            <a:endParaRPr lang="en-US" sz="2600" dirty="0"/>
          </a:p>
        </p:txBody>
      </p:sp>
      <p:sp>
        <p:nvSpPr>
          <p:cNvPr id="10" name="Shape 6"/>
          <p:cNvSpPr/>
          <p:nvPr/>
        </p:nvSpPr>
        <p:spPr>
          <a:xfrm>
            <a:off x="548640" y="3429000"/>
            <a:ext cx="3514344" cy="2514600"/>
          </a:xfrm>
          <a:prstGeom prst="roundRect">
            <a:avLst>
              <a:gd name="adj" fmla="val 2909"/>
            </a:avLst>
          </a:prstGeom>
          <a:solidFill>
            <a:srgbClr val="EEF2F8"/>
          </a:solidFill>
          <a:ln w="9525">
            <a:solidFill>
              <a:srgbClr val="D5DCE6"/>
            </a:solidFill>
            <a:prstDash val="solid"/>
          </a:ln>
        </p:spPr>
      </p:sp>
      <p:pic>
        <p:nvPicPr>
          <p:cNvPr id="11" name="Image 1" descr="preencoded.png">    </p:cNvPr>
          <p:cNvPicPr>
            <a:picLocks noChangeAspect="1"/>
          </p:cNvPicPr>
          <p:nvPr/>
        </p:nvPicPr>
        <p:blipFill>
          <a:blip r:embed="rId2"/>
          <a:stretch>
            <a:fillRect/>
          </a:stretch>
        </p:blipFill>
        <p:spPr>
          <a:xfrm>
            <a:off x="822960" y="3685032"/>
            <a:ext cx="438912" cy="438912"/>
          </a:xfrm>
          <a:prstGeom prst="rect">
            <a:avLst/>
          </a:prstGeom>
        </p:spPr>
      </p:pic>
      <p:sp>
        <p:nvSpPr>
          <p:cNvPr id="12" name="Text 7"/>
          <p:cNvSpPr txBox="1"/>
          <p:nvPr/>
        </p:nvSpPr>
        <p:spPr>
          <a:xfrm>
            <a:off x="1417320" y="3630168"/>
            <a:ext cx="2508504" cy="548640"/>
          </a:xfrm>
          <a:prstGeom prst="rect">
            <a:avLst/>
          </a:prstGeom>
          <a:noFill/>
          <a:ln/>
        </p:spPr>
        <p:txBody>
          <a:bodyPr wrap="square" lIns="0" tIns="0" rIns="0" bIns="0" rtlCol="0" anchor="ctr"/>
          <a:lstStyle/>
          <a:p>
            <a:pPr indent="0" marL="0">
              <a:buNone/>
            </a:pPr>
            <a:r>
              <a:rPr lang="en-US" sz="1900" b="1" dirty="0">
                <a:solidFill>
                  <a:schemeClr val="tx2"/>
                </a:solidFill>
              </a:rPr>
              <a:t>Listening 1</a:t>
            </a:r>
            <a:endParaRPr lang="en-US" sz="1900" dirty="0"/>
          </a:p>
        </p:txBody>
      </p:sp>
      <p:sp>
        <p:nvSpPr>
          <p:cNvPr id="13" name="Text 8"/>
          <p:cNvSpPr txBox="1"/>
          <p:nvPr/>
        </p:nvSpPr>
        <p:spPr>
          <a:xfrm>
            <a:off x="822960" y="4325112"/>
            <a:ext cx="2965704" cy="1508760"/>
          </a:xfrm>
          <a:prstGeom prst="rect">
            <a:avLst/>
          </a:prstGeom>
          <a:noFill/>
          <a:ln/>
        </p:spPr>
        <p:txBody>
          <a:bodyPr wrap="square" lIns="0" tIns="0" rIns="0" bIns="0" rtlCol="0" anchor="t"/>
          <a:lstStyle/>
          <a:p>
            <a:pPr indent="0" marL="0">
              <a:buNone/>
            </a:pPr>
            <a:r>
              <a:rPr lang="en-US" sz="2000" dirty="0">
                <a:solidFill>
                  <a:schemeClr val="tx1"/>
                </a:solidFill>
              </a:rPr>
              <a:t>Who speaks? How many people? Where are they?</a:t>
            </a:r>
            <a:endParaRPr lang="en-US" sz="2000" dirty="0"/>
          </a:p>
        </p:txBody>
      </p:sp>
      <p:sp>
        <p:nvSpPr>
          <p:cNvPr id="14" name="Shape 9"/>
          <p:cNvSpPr/>
          <p:nvPr/>
        </p:nvSpPr>
        <p:spPr>
          <a:xfrm>
            <a:off x="4337304" y="3429000"/>
            <a:ext cx="3514344" cy="2514600"/>
          </a:xfrm>
          <a:prstGeom prst="roundRect">
            <a:avLst>
              <a:gd name="adj" fmla="val 2909"/>
            </a:avLst>
          </a:prstGeom>
          <a:solidFill>
            <a:srgbClr val="EEF2F8"/>
          </a:solidFill>
          <a:ln w="9525">
            <a:solidFill>
              <a:srgbClr val="D5DCE6"/>
            </a:solidFill>
            <a:prstDash val="solid"/>
          </a:ln>
        </p:spPr>
      </p:sp>
      <p:pic>
        <p:nvPicPr>
          <p:cNvPr id="15" name="Image 2" descr="preencoded.png">    </p:cNvPr>
          <p:cNvPicPr>
            <a:picLocks noChangeAspect="1"/>
          </p:cNvPicPr>
          <p:nvPr/>
        </p:nvPicPr>
        <p:blipFill>
          <a:blip r:embed="rId3"/>
          <a:stretch>
            <a:fillRect/>
          </a:stretch>
        </p:blipFill>
        <p:spPr>
          <a:xfrm>
            <a:off x="4611624" y="3685032"/>
            <a:ext cx="438912" cy="438912"/>
          </a:xfrm>
          <a:prstGeom prst="rect">
            <a:avLst/>
          </a:prstGeom>
        </p:spPr>
      </p:pic>
      <p:sp>
        <p:nvSpPr>
          <p:cNvPr id="16" name="Text 10"/>
          <p:cNvSpPr txBox="1"/>
          <p:nvPr/>
        </p:nvSpPr>
        <p:spPr>
          <a:xfrm>
            <a:off x="5205984" y="3630168"/>
            <a:ext cx="2508504" cy="548640"/>
          </a:xfrm>
          <a:prstGeom prst="rect">
            <a:avLst/>
          </a:prstGeom>
          <a:noFill/>
          <a:ln/>
        </p:spPr>
        <p:txBody>
          <a:bodyPr wrap="square" lIns="0" tIns="0" rIns="0" bIns="0" rtlCol="0" anchor="ctr"/>
          <a:lstStyle/>
          <a:p>
            <a:pPr indent="0" marL="0">
              <a:buNone/>
            </a:pPr>
            <a:r>
              <a:rPr lang="en-US" sz="1900" b="1" dirty="0">
                <a:solidFill>
                  <a:schemeClr val="accent1"/>
                </a:solidFill>
              </a:rPr>
              <a:t>Listening 2</a:t>
            </a:r>
            <a:endParaRPr lang="en-US" sz="1900" dirty="0"/>
          </a:p>
        </p:txBody>
      </p:sp>
      <p:sp>
        <p:nvSpPr>
          <p:cNvPr id="17" name="Text 11"/>
          <p:cNvSpPr txBox="1"/>
          <p:nvPr/>
        </p:nvSpPr>
        <p:spPr>
          <a:xfrm>
            <a:off x="4611624" y="4325112"/>
            <a:ext cx="2965704" cy="1508760"/>
          </a:xfrm>
          <a:prstGeom prst="rect">
            <a:avLst/>
          </a:prstGeom>
          <a:noFill/>
          <a:ln/>
        </p:spPr>
        <p:txBody>
          <a:bodyPr wrap="square" lIns="0" tIns="0" rIns="0" bIns="0" rtlCol="0" anchor="t"/>
          <a:lstStyle/>
          <a:p>
            <a:pPr indent="0" marL="0">
              <a:buNone/>
            </a:pPr>
            <a:r>
              <a:rPr lang="en-US" sz="2000" dirty="0">
                <a:solidFill>
                  <a:schemeClr val="tx1"/>
                </a:solidFill>
              </a:rPr>
              <a:t>Catch the </a:t>
            </a:r>
            <a:r>
              <a:rPr lang="en-US" sz="2000" b="1" dirty="0">
                <a:solidFill>
                  <a:schemeClr val="tx1"/>
                </a:solidFill>
              </a:rPr>
              <a:t>numbers and times</a:t>
            </a:r>
            <a:r>
              <a:rPr lang="en-US" sz="2000" dirty="0">
                <a:solidFill>
                  <a:schemeClr val="tx1"/>
                </a:solidFill>
              </a:rPr>
              <a:t>. Write figures only.</a:t>
            </a:r>
            <a:endParaRPr lang="en-US" sz="2000" dirty="0"/>
          </a:p>
        </p:txBody>
      </p:sp>
      <p:sp>
        <p:nvSpPr>
          <p:cNvPr id="18" name="Shape 12"/>
          <p:cNvSpPr/>
          <p:nvPr/>
        </p:nvSpPr>
        <p:spPr>
          <a:xfrm>
            <a:off x="8125968" y="3429000"/>
            <a:ext cx="3514344" cy="2514600"/>
          </a:xfrm>
          <a:prstGeom prst="roundRect">
            <a:avLst>
              <a:gd name="adj" fmla="val 2909"/>
            </a:avLst>
          </a:prstGeom>
          <a:solidFill>
            <a:srgbClr val="EEF2F8"/>
          </a:solidFill>
          <a:ln w="9525">
            <a:solidFill>
              <a:srgbClr val="D5DCE6"/>
            </a:solidFill>
            <a:prstDash val="solid"/>
          </a:ln>
        </p:spPr>
      </p:sp>
      <p:pic>
        <p:nvPicPr>
          <p:cNvPr id="19" name="Image 3" descr="preencoded.png">    </p:cNvPr>
          <p:cNvPicPr>
            <a:picLocks noChangeAspect="1"/>
          </p:cNvPicPr>
          <p:nvPr/>
        </p:nvPicPr>
        <p:blipFill>
          <a:blip r:embed="rId4"/>
          <a:stretch>
            <a:fillRect/>
          </a:stretch>
        </p:blipFill>
        <p:spPr>
          <a:xfrm>
            <a:off x="8400288" y="3685032"/>
            <a:ext cx="438912" cy="438912"/>
          </a:xfrm>
          <a:prstGeom prst="rect">
            <a:avLst/>
          </a:prstGeom>
        </p:spPr>
      </p:pic>
      <p:sp>
        <p:nvSpPr>
          <p:cNvPr id="20" name="Text 13"/>
          <p:cNvSpPr txBox="1"/>
          <p:nvPr/>
        </p:nvSpPr>
        <p:spPr>
          <a:xfrm>
            <a:off x="8994648" y="3630168"/>
            <a:ext cx="2508504" cy="548640"/>
          </a:xfrm>
          <a:prstGeom prst="rect">
            <a:avLst/>
          </a:prstGeom>
          <a:noFill/>
          <a:ln/>
        </p:spPr>
        <p:txBody>
          <a:bodyPr wrap="square" lIns="0" tIns="0" rIns="0" bIns="0" rtlCol="0" anchor="ctr"/>
          <a:lstStyle/>
          <a:p>
            <a:pPr indent="0" marL="0">
              <a:buNone/>
            </a:pPr>
            <a:r>
              <a:rPr lang="en-US" sz="1900" b="1" dirty="0">
                <a:solidFill>
                  <a:schemeClr val="accent3"/>
                </a:solidFill>
              </a:rPr>
              <a:t>After</a:t>
            </a:r>
            <a:endParaRPr lang="en-US" sz="1900" dirty="0"/>
          </a:p>
        </p:txBody>
      </p:sp>
      <p:sp>
        <p:nvSpPr>
          <p:cNvPr id="21" name="Text 14"/>
          <p:cNvSpPr txBox="1"/>
          <p:nvPr/>
        </p:nvSpPr>
        <p:spPr>
          <a:xfrm>
            <a:off x="8400288" y="4325112"/>
            <a:ext cx="2965704" cy="1508760"/>
          </a:xfrm>
          <a:prstGeom prst="rect">
            <a:avLst/>
          </a:prstGeom>
          <a:noFill/>
          <a:ln/>
        </p:spPr>
        <p:txBody>
          <a:bodyPr wrap="square" lIns="0" tIns="0" rIns="0" bIns="0" rtlCol="0" anchor="t"/>
          <a:lstStyle/>
          <a:p>
            <a:pPr indent="0" marL="0">
              <a:buNone/>
            </a:pPr>
            <a:r>
              <a:rPr lang="en-US" sz="2000" dirty="0">
                <a:solidFill>
                  <a:schemeClr val="tx1"/>
                </a:solidFill>
              </a:rPr>
              <a:t>Compare with a neighbour, then open the booklet p. 8 and check.</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Catch the numbers</a:t>
            </a:r>
            <a:endParaRPr lang="en-US" sz="3200" dirty="0"/>
          </a:p>
        </p:txBody>
      </p:sp>
      <p:sp>
        <p:nvSpPr>
          <p:cNvPr id="3" name="tag"/>
          <p:cNvSpPr/>
          <p:nvPr/>
        </p:nvSpPr>
        <p:spPr>
          <a:xfrm>
            <a:off x="548640" y="384048"/>
            <a:ext cx="13944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LISTENING</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5"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Second listening: one number or time per answer.</a:t>
            </a:r>
            <a:endParaRPr lang="en-US" sz="1600" dirty="0"/>
          </a:p>
        </p:txBody>
      </p:sp>
      <p:sp>
        <p:nvSpPr>
          <p:cNvPr id="6"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When did you get Mark’s message?</a:t>
            </a:r>
            <a:endParaRPr lang="en-US" sz="2600" dirty="0"/>
          </a:p>
          <a:p>
            <a:pPr indent="0" marL="0">
              <a:spcAft>
                <a:spcPts val="1400"/>
              </a:spcAft>
              <a:buNone/>
            </a:pPr>
            <a:r>
              <a:rPr lang="en-US" sz="2600" b="1" dirty="0">
                <a:solidFill>
                  <a:schemeClr val="tx2"/>
                </a:solidFill>
              </a:rPr>
              <a:t>2.  </a:t>
            </a:r>
            <a:r>
              <a:rPr lang="en-US" sz="2600" dirty="0">
                <a:solidFill>
                  <a:schemeClr val="tx1"/>
                </a:solidFill>
              </a:rPr>
              <a:t>How many units have already stopped?</a:t>
            </a:r>
            <a:endParaRPr lang="en-US" sz="2600" dirty="0"/>
          </a:p>
          <a:p>
            <a:pPr indent="0" marL="0">
              <a:spcAft>
                <a:spcPts val="1400"/>
              </a:spcAft>
              <a:buNone/>
            </a:pPr>
            <a:r>
              <a:rPr lang="en-US" sz="2600" b="1" dirty="0">
                <a:solidFill>
                  <a:schemeClr val="tx2"/>
                </a:solidFill>
              </a:rPr>
              <a:t>3.  </a:t>
            </a:r>
            <a:r>
              <a:rPr lang="en-US" sz="2600" dirty="0">
                <a:solidFill>
                  <a:schemeClr val="tx1"/>
                </a:solidFill>
              </a:rPr>
              <a:t>Until when was the contractor’s team working?</a:t>
            </a:r>
            <a:endParaRPr lang="en-US" sz="2600" dirty="0"/>
          </a:p>
          <a:p>
            <a:pPr indent="0" marL="0">
              <a:spcAft>
                <a:spcPts val="1400"/>
              </a:spcAft>
              <a:buNone/>
            </a:pPr>
            <a:r>
              <a:rPr lang="en-US" sz="2600" b="1" dirty="0">
                <a:solidFill>
                  <a:schemeClr val="tx2"/>
                </a:solidFill>
              </a:rPr>
              <a:t>4.  </a:t>
            </a:r>
            <a:r>
              <a:rPr lang="en-US" sz="2600" dirty="0">
                <a:solidFill>
                  <a:schemeClr val="tx1"/>
                </a:solidFill>
              </a:rPr>
              <a:t>When did the temperature alarm go off?</a:t>
            </a:r>
            <a:endParaRPr lang="en-US" sz="2600" dirty="0"/>
          </a:p>
          <a:p>
            <a:pPr indent="0" marL="0">
              <a:spcAft>
                <a:spcPts val="1400"/>
              </a:spcAft>
              <a:buNone/>
            </a:pPr>
            <a:r>
              <a:rPr lang="en-US" sz="2600" b="1" dirty="0">
                <a:solidFill>
                  <a:schemeClr val="tx2"/>
                </a:solidFill>
              </a:rPr>
              <a:t>5.  </a:t>
            </a:r>
            <a:r>
              <a:rPr lang="en-US" sz="2600" dirty="0">
                <a:solidFill>
                  <a:schemeClr val="tx1"/>
                </a:solidFill>
              </a:rPr>
              <a:t>When did they have trouble with the same pipe?</a:t>
            </a:r>
            <a:endParaRPr lang="en-US" sz="2600" dirty="0"/>
          </a:p>
          <a:p>
            <a:pPr indent="0" marL="0">
              <a:spcAft>
                <a:spcPts val="1400"/>
              </a:spcAft>
              <a:buNone/>
            </a:pPr>
            <a:r>
              <a:rPr lang="en-US" sz="2600" b="1" dirty="0">
                <a:solidFill>
                  <a:schemeClr val="tx2"/>
                </a:solidFill>
              </a:rPr>
              <a:t>6.  </a:t>
            </a:r>
            <a:r>
              <a:rPr lang="en-US" sz="2600" dirty="0">
                <a:solidFill>
                  <a:schemeClr val="tx1"/>
                </a:solidFill>
              </a:rPr>
              <a:t>By what time does Mark want a timeline?</a:t>
            </a:r>
            <a:endParaRPr lang="en-US" sz="2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Catch the numbers</a:t>
            </a:r>
            <a:endParaRPr lang="en-US" sz="3200" dirty="0"/>
          </a:p>
        </p:txBody>
      </p:sp>
      <p:sp>
        <p:nvSpPr>
          <p:cNvPr id="3" name="tag"/>
          <p:cNvSpPr/>
          <p:nvPr/>
        </p:nvSpPr>
        <p:spPr>
          <a:xfrm>
            <a:off x="548640" y="384048"/>
            <a:ext cx="13944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LISTENING</a:t>
            </a:r>
            <a:endParaRPr lang="en-US" sz="1200" dirty="0"/>
          </a:p>
        </p:txBody>
      </p:sp>
      <p:sp>
        <p:nvSpPr>
          <p:cNvPr id="4" name="tag"/>
          <p:cNvSpPr/>
          <p:nvPr/>
        </p:nvSpPr>
        <p:spPr>
          <a:xfrm>
            <a:off x="20528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7"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Second listening: one number or time per answer.</a:t>
            </a:r>
            <a:endParaRPr lang="en-US" sz="1600" dirty="0"/>
          </a:p>
        </p:txBody>
      </p:sp>
      <p:sp>
        <p:nvSpPr>
          <p:cNvPr id="8"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300"/>
              </a:spcAft>
              <a:buNone/>
            </a:pPr>
            <a:r>
              <a:rPr lang="en-US" sz="1800" b="1" dirty="0">
                <a:solidFill>
                  <a:schemeClr val="tx2"/>
                </a:solidFill>
              </a:rPr>
              <a:t>1.  </a:t>
            </a:r>
            <a:r>
              <a:rPr lang="en-US" sz="1800" dirty="0">
                <a:solidFill>
                  <a:schemeClr val="tx1"/>
                </a:solidFill>
              </a:rPr>
              <a:t>When did you get Mark’s message?</a:t>
            </a:r>
            <a:endParaRPr lang="en-US" sz="1800" dirty="0"/>
          </a:p>
          <a:p>
            <a:pPr indent="0" marL="0">
              <a:spcAft>
                <a:spcPts val="1100"/>
              </a:spcAft>
              <a:buNone/>
            </a:pPr>
            <a:r>
              <a:rPr lang="en-US" sz="1800" b="1" dirty="0">
                <a:solidFill>
                  <a:schemeClr val="tx2"/>
                </a:solidFill>
              </a:rPr>
              <a:t>→ </a:t>
            </a:r>
            <a:r>
              <a:rPr lang="en-US" sz="1800" b="1" dirty="0">
                <a:solidFill>
                  <a:schemeClr val="tx2"/>
                </a:solidFill>
              </a:rPr>
              <a:t>At </a:t>
            </a:r>
            <a:r>
              <a:rPr lang="en-US" sz="1800" b="1" dirty="0">
                <a:solidFill>
                  <a:schemeClr val="tx2"/>
                </a:solidFill>
              </a:rPr>
              <a:t>seven</a:t>
            </a:r>
            <a:r>
              <a:rPr lang="en-US" sz="1800" b="1" dirty="0">
                <a:solidFill>
                  <a:schemeClr val="tx2"/>
                </a:solidFill>
              </a:rPr>
              <a:t> (o’clock).</a:t>
            </a:r>
            <a:endParaRPr lang="en-US" sz="1800" dirty="0"/>
          </a:p>
          <a:p>
            <a:pPr indent="0" marL="0">
              <a:spcAft>
                <a:spcPts val="300"/>
              </a:spcAft>
              <a:buNone/>
            </a:pPr>
            <a:r>
              <a:rPr lang="en-US" sz="1800" b="1" dirty="0">
                <a:solidFill>
                  <a:schemeClr val="tx2"/>
                </a:solidFill>
              </a:rPr>
              <a:t>2.  </a:t>
            </a:r>
            <a:r>
              <a:rPr lang="en-US" sz="1800" dirty="0">
                <a:solidFill>
                  <a:schemeClr val="tx1"/>
                </a:solidFill>
              </a:rPr>
              <a:t>How many units have already stopped?</a:t>
            </a:r>
            <a:endParaRPr lang="en-US" sz="1800" dirty="0"/>
          </a:p>
          <a:p>
            <a:pPr indent="0" marL="0">
              <a:spcAft>
                <a:spcPts val="1100"/>
              </a:spcAft>
              <a:buNone/>
            </a:pPr>
            <a:r>
              <a:rPr lang="en-US" sz="1800" b="1" dirty="0">
                <a:solidFill>
                  <a:schemeClr val="tx2"/>
                </a:solidFill>
              </a:rPr>
              <a:t>→ </a:t>
            </a:r>
            <a:r>
              <a:rPr lang="en-US" sz="1800" b="1" dirty="0">
                <a:solidFill>
                  <a:schemeClr val="tx2"/>
                </a:solidFill>
              </a:rPr>
              <a:t>Two</a:t>
            </a:r>
            <a:r>
              <a:rPr lang="en-US" sz="1800" b="1" dirty="0">
                <a:solidFill>
                  <a:schemeClr val="tx2"/>
                </a:solidFill>
              </a:rPr>
              <a:t>.</a:t>
            </a:r>
            <a:endParaRPr lang="en-US" sz="1800" dirty="0"/>
          </a:p>
          <a:p>
            <a:pPr indent="0" marL="0">
              <a:spcAft>
                <a:spcPts val="300"/>
              </a:spcAft>
              <a:buNone/>
            </a:pPr>
            <a:r>
              <a:rPr lang="en-US" sz="1800" b="1" dirty="0">
                <a:solidFill>
                  <a:schemeClr val="tx2"/>
                </a:solidFill>
              </a:rPr>
              <a:t>3.  </a:t>
            </a:r>
            <a:r>
              <a:rPr lang="en-US" sz="1800" dirty="0">
                <a:solidFill>
                  <a:schemeClr val="tx1"/>
                </a:solidFill>
              </a:rPr>
              <a:t>Until when was the contractor’s team working?</a:t>
            </a:r>
            <a:endParaRPr lang="en-US" sz="1800" dirty="0"/>
          </a:p>
          <a:p>
            <a:pPr indent="0" marL="0">
              <a:spcAft>
                <a:spcPts val="1100"/>
              </a:spcAft>
              <a:buNone/>
            </a:pPr>
            <a:r>
              <a:rPr lang="en-US" sz="1800" b="1" dirty="0">
                <a:solidFill>
                  <a:schemeClr val="tx2"/>
                </a:solidFill>
              </a:rPr>
              <a:t>→ </a:t>
            </a:r>
            <a:r>
              <a:rPr lang="en-US" sz="1800" b="1" dirty="0">
                <a:solidFill>
                  <a:schemeClr val="tx2"/>
                </a:solidFill>
              </a:rPr>
              <a:t>Until </a:t>
            </a:r>
            <a:r>
              <a:rPr lang="en-US" sz="1800" b="1" dirty="0">
                <a:solidFill>
                  <a:schemeClr val="tx2"/>
                </a:solidFill>
              </a:rPr>
              <a:t>eight</a:t>
            </a:r>
            <a:r>
              <a:rPr lang="en-US" sz="1800" b="1" dirty="0">
                <a:solidFill>
                  <a:schemeClr val="tx2"/>
                </a:solidFill>
              </a:rPr>
              <a:t> (p.m.).</a:t>
            </a:r>
            <a:endParaRPr lang="en-US" sz="1800" dirty="0"/>
          </a:p>
          <a:p>
            <a:pPr indent="0" marL="0">
              <a:spcAft>
                <a:spcPts val="300"/>
              </a:spcAft>
              <a:buNone/>
            </a:pPr>
            <a:r>
              <a:rPr lang="en-US" sz="1800" b="1" dirty="0">
                <a:solidFill>
                  <a:schemeClr val="tx2"/>
                </a:solidFill>
              </a:rPr>
              <a:t>4.  </a:t>
            </a:r>
            <a:r>
              <a:rPr lang="en-US" sz="1800" dirty="0">
                <a:solidFill>
                  <a:schemeClr val="tx1"/>
                </a:solidFill>
              </a:rPr>
              <a:t>When did the temperature alarm go off?</a:t>
            </a:r>
            <a:endParaRPr lang="en-US" sz="1800" dirty="0"/>
          </a:p>
          <a:p>
            <a:pPr indent="0" marL="0">
              <a:spcAft>
                <a:spcPts val="1100"/>
              </a:spcAft>
              <a:buNone/>
            </a:pPr>
            <a:r>
              <a:rPr lang="en-US" sz="1800" b="1" dirty="0">
                <a:solidFill>
                  <a:schemeClr val="tx2"/>
                </a:solidFill>
              </a:rPr>
              <a:t>→ </a:t>
            </a:r>
            <a:r>
              <a:rPr lang="en-US" sz="1800" b="1" dirty="0">
                <a:solidFill>
                  <a:schemeClr val="tx2"/>
                </a:solidFill>
              </a:rPr>
              <a:t>At </a:t>
            </a:r>
            <a:r>
              <a:rPr lang="en-US" sz="1800" b="1" dirty="0">
                <a:solidFill>
                  <a:schemeClr val="tx2"/>
                </a:solidFill>
              </a:rPr>
              <a:t>11.40 p.m.</a:t>
            </a:r>
            <a:r>
              <a:rPr lang="en-US" sz="1800" b="1" dirty="0">
                <a:solidFill>
                  <a:schemeClr val="tx2"/>
                </a:solidFill>
              </a:rPr>
              <a:t> — eleven forty.</a:t>
            </a:r>
            <a:endParaRPr lang="en-US" sz="1800" dirty="0"/>
          </a:p>
          <a:p>
            <a:pPr indent="0" marL="0">
              <a:spcAft>
                <a:spcPts val="300"/>
              </a:spcAft>
              <a:buNone/>
            </a:pPr>
            <a:r>
              <a:rPr lang="en-US" sz="1800" b="1" dirty="0">
                <a:solidFill>
                  <a:schemeClr val="tx2"/>
                </a:solidFill>
              </a:rPr>
              <a:t>5.  </a:t>
            </a:r>
            <a:r>
              <a:rPr lang="en-US" sz="1800" dirty="0">
                <a:solidFill>
                  <a:schemeClr val="tx1"/>
                </a:solidFill>
              </a:rPr>
              <a:t>When did they have trouble with the same pipe?</a:t>
            </a:r>
            <a:endParaRPr lang="en-US" sz="1800" dirty="0"/>
          </a:p>
          <a:p>
            <a:pPr indent="0" marL="0">
              <a:spcAft>
                <a:spcPts val="1100"/>
              </a:spcAft>
              <a:buNone/>
            </a:pPr>
            <a:r>
              <a:rPr lang="en-US" sz="1800" b="1" dirty="0">
                <a:solidFill>
                  <a:schemeClr val="tx2"/>
                </a:solidFill>
              </a:rPr>
              <a:t>→ </a:t>
            </a:r>
            <a:r>
              <a:rPr lang="en-US" sz="1800" b="1" dirty="0">
                <a:solidFill>
                  <a:schemeClr val="tx2"/>
                </a:solidFill>
              </a:rPr>
              <a:t>Last </a:t>
            </a:r>
            <a:r>
              <a:rPr lang="en-US" sz="1800" b="1" dirty="0">
                <a:solidFill>
                  <a:schemeClr val="tx2"/>
                </a:solidFill>
              </a:rPr>
              <a:t>November</a:t>
            </a:r>
            <a:r>
              <a:rPr lang="en-US" sz="1800" b="1" dirty="0">
                <a:solidFill>
                  <a:schemeClr val="tx2"/>
                </a:solidFill>
              </a:rPr>
              <a:t> — and since the summer.</a:t>
            </a:r>
            <a:endParaRPr lang="en-US" sz="1800" dirty="0"/>
          </a:p>
          <a:p>
            <a:pPr indent="0" marL="0">
              <a:spcAft>
                <a:spcPts val="300"/>
              </a:spcAft>
              <a:buNone/>
            </a:pPr>
            <a:r>
              <a:rPr lang="en-US" sz="1800" b="1" dirty="0">
                <a:solidFill>
                  <a:schemeClr val="tx2"/>
                </a:solidFill>
              </a:rPr>
              <a:t>6.  </a:t>
            </a:r>
            <a:r>
              <a:rPr lang="en-US" sz="1800" dirty="0">
                <a:solidFill>
                  <a:schemeClr val="tx1"/>
                </a:solidFill>
              </a:rPr>
              <a:t>By what time does Mark want a timeline?</a:t>
            </a:r>
            <a:endParaRPr lang="en-US" sz="1800" dirty="0"/>
          </a:p>
          <a:p>
            <a:pPr indent="0" marL="0">
              <a:spcAft>
                <a:spcPts val="1100"/>
              </a:spcAft>
              <a:buNone/>
            </a:pPr>
            <a:r>
              <a:rPr lang="en-US" sz="1800" b="1" dirty="0">
                <a:solidFill>
                  <a:schemeClr val="tx2"/>
                </a:solidFill>
              </a:rPr>
              <a:t>→ </a:t>
            </a:r>
            <a:r>
              <a:rPr lang="en-US" sz="1800" b="1" dirty="0">
                <a:solidFill>
                  <a:schemeClr val="tx2"/>
                </a:solidFill>
              </a:rPr>
              <a:t>By </a:t>
            </a:r>
            <a:r>
              <a:rPr lang="en-US" sz="1800" b="1" dirty="0">
                <a:solidFill>
                  <a:schemeClr val="tx2"/>
                </a:solidFill>
              </a:rPr>
              <a:t>nine</a:t>
            </a:r>
            <a:r>
              <a:rPr lang="en-US" sz="1800" b="1" dirty="0">
                <a:solidFill>
                  <a:schemeClr val="tx2"/>
                </a:solidFill>
              </a:rPr>
              <a:t>.</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Technical room, second floor (1/2)</a:t>
            </a:r>
            <a:endParaRPr lang="en-US" sz="3200" dirty="0"/>
          </a:p>
        </p:txBody>
      </p:sp>
      <p:sp>
        <p:nvSpPr>
          <p:cNvPr id="3" name="tag"/>
          <p:cNvSpPr/>
          <p:nvPr/>
        </p:nvSpPr>
        <p:spPr>
          <a:xfrm>
            <a:off x="548640" y="384048"/>
            <a:ext cx="9372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SCENE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a:t>
            </a:r>
            <a:endParaRPr lang="en-US" sz="1200" dirty="0"/>
          </a:p>
        </p:txBody>
      </p:sp>
      <p:sp>
        <p:nvSpPr>
          <p:cNvPr id="6" name="Shape 3"/>
          <p:cNvSpPr/>
          <p:nvPr/>
        </p:nvSpPr>
        <p:spPr>
          <a:xfrm>
            <a:off x="521208" y="1773936"/>
            <a:ext cx="420624" cy="420624"/>
          </a:xfrm>
          <a:prstGeom prst="ellipse">
            <a:avLst/>
          </a:prstGeom>
          <a:solidFill>
            <a:srgbClr val="1F3864"/>
          </a:solidFill>
          <a:ln/>
        </p:spPr>
      </p:sp>
      <p:pic>
        <p:nvPicPr>
          <p:cNvPr id="7" name="Image 0" descr="Portrait of mark">    </p:cNvPr>
          <p:cNvPicPr>
            <a:picLocks noChangeAspect="1"/>
          </p:cNvPicPr>
          <p:nvPr/>
        </p:nvPicPr>
        <p:blipFill>
          <a:blip r:embed="rId1"/>
          <a:stretch>
            <a:fillRect/>
          </a:stretch>
        </p:blipFill>
        <p:spPr>
          <a:xfrm>
            <a:off x="548640" y="1801368"/>
            <a:ext cx="365760" cy="365760"/>
          </a:xfrm>
          <a:prstGeom prst="rect">
            <a:avLst/>
          </a:prstGeom>
        </p:spPr>
      </p:pic>
      <p:sp>
        <p:nvSpPr>
          <p:cNvPr id="8" name="Text 4"/>
          <p:cNvSpPr txBox="1"/>
          <p:nvPr/>
        </p:nvSpPr>
        <p:spPr>
          <a:xfrm>
            <a:off x="1051560" y="1783080"/>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01  </a:t>
            </a:r>
            <a:r>
              <a:rPr lang="en-US" sz="1600" b="1" dirty="0">
                <a:solidFill>
                  <a:schemeClr val="tx2"/>
                </a:solidFill>
              </a:rPr>
              <a:t>MARK</a:t>
            </a:r>
            <a:endParaRPr lang="en-US" sz="1600" dirty="0"/>
          </a:p>
        </p:txBody>
      </p:sp>
      <p:sp>
        <p:nvSpPr>
          <p:cNvPr id="9" name="Text 5"/>
          <p:cNvSpPr txBox="1"/>
          <p:nvPr/>
        </p:nvSpPr>
        <p:spPr>
          <a:xfrm>
            <a:off x="2167128" y="1847088"/>
            <a:ext cx="9473184" cy="405614"/>
          </a:xfrm>
          <a:prstGeom prst="rect">
            <a:avLst/>
          </a:prstGeom>
          <a:noFill/>
          <a:ln/>
        </p:spPr>
        <p:txBody>
          <a:bodyPr wrap="square" lIns="0" tIns="0" rIns="0" bIns="0" rtlCol="0" anchor="t"/>
          <a:lstStyle/>
          <a:p>
            <a:pPr indent="0" marL="0">
              <a:buNone/>
            </a:pPr>
            <a:r>
              <a:rPr lang="en-US" sz="1800" dirty="0">
                <a:solidFill>
                  <a:schemeClr val="tx1"/>
                </a:solidFill>
              </a:rPr>
              <a:t>Thanks for coming so early. We have a problem.</a:t>
            </a:r>
            <a:endParaRPr lang="en-US" sz="1800" dirty="0"/>
          </a:p>
        </p:txBody>
      </p:sp>
      <p:sp>
        <p:nvSpPr>
          <p:cNvPr id="10" name="Shape 6"/>
          <p:cNvSpPr/>
          <p:nvPr/>
        </p:nvSpPr>
        <p:spPr>
          <a:xfrm>
            <a:off x="548640" y="2206982"/>
            <a:ext cx="365760" cy="365760"/>
          </a:xfrm>
          <a:prstGeom prst="ellipse">
            <a:avLst/>
          </a:prstGeom>
          <a:solidFill>
            <a:srgbClr val="C0752A"/>
          </a:solidFill>
          <a:ln/>
        </p:spPr>
      </p:sp>
      <p:pic>
        <p:nvPicPr>
          <p:cNvPr id="11" name="Image 1" descr="preencoded.png">    </p:cNvPr>
          <p:cNvPicPr>
            <a:picLocks noChangeAspect="1"/>
          </p:cNvPicPr>
          <p:nvPr/>
        </p:nvPicPr>
        <p:blipFill>
          <a:blip r:embed="rId2"/>
          <a:stretch>
            <a:fillRect/>
          </a:stretch>
        </p:blipFill>
        <p:spPr>
          <a:xfrm>
            <a:off x="640080" y="2298422"/>
            <a:ext cx="182880" cy="182880"/>
          </a:xfrm>
          <a:prstGeom prst="rect">
            <a:avLst/>
          </a:prstGeom>
        </p:spPr>
      </p:pic>
      <p:sp>
        <p:nvSpPr>
          <p:cNvPr id="12" name="Text 7"/>
          <p:cNvSpPr txBox="1"/>
          <p:nvPr/>
        </p:nvSpPr>
        <p:spPr>
          <a:xfrm>
            <a:off x="1051560" y="2188694"/>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02  </a:t>
            </a:r>
            <a:r>
              <a:rPr lang="en-US" sz="1600" b="1" dirty="0">
                <a:solidFill>
                  <a:schemeClr val="accent1"/>
                </a:solidFill>
              </a:rPr>
              <a:t>YOU</a:t>
            </a:r>
            <a:endParaRPr lang="en-US" sz="1600" dirty="0"/>
          </a:p>
        </p:txBody>
      </p:sp>
      <p:sp>
        <p:nvSpPr>
          <p:cNvPr id="13" name="Text 8"/>
          <p:cNvSpPr txBox="1"/>
          <p:nvPr/>
        </p:nvSpPr>
        <p:spPr>
          <a:xfrm>
            <a:off x="2167128" y="2252702"/>
            <a:ext cx="9473184" cy="405614"/>
          </a:xfrm>
          <a:prstGeom prst="rect">
            <a:avLst/>
          </a:prstGeom>
          <a:noFill/>
          <a:ln/>
        </p:spPr>
        <p:txBody>
          <a:bodyPr wrap="square" lIns="0" tIns="0" rIns="0" bIns="0" rtlCol="0" anchor="t"/>
          <a:lstStyle/>
          <a:p>
            <a:pPr indent="0" marL="0">
              <a:buNone/>
            </a:pPr>
            <a:r>
              <a:rPr lang="en-US" sz="1800" dirty="0">
                <a:solidFill>
                  <a:schemeClr val="tx1"/>
                </a:solidFill>
              </a:rPr>
              <a:t>I got your message at seven. What exactly happened?</a:t>
            </a:r>
            <a:endParaRPr lang="en-US" sz="1800" dirty="0"/>
          </a:p>
        </p:txBody>
      </p:sp>
      <p:sp>
        <p:nvSpPr>
          <p:cNvPr id="14" name="Shape 9"/>
          <p:cNvSpPr/>
          <p:nvPr/>
        </p:nvSpPr>
        <p:spPr>
          <a:xfrm>
            <a:off x="521208" y="2585163"/>
            <a:ext cx="420624" cy="420624"/>
          </a:xfrm>
          <a:prstGeom prst="ellipse">
            <a:avLst/>
          </a:prstGeom>
          <a:solidFill>
            <a:srgbClr val="1F3864"/>
          </a:solidFill>
          <a:ln/>
        </p:spPr>
      </p:sp>
      <p:pic>
        <p:nvPicPr>
          <p:cNvPr id="15" name="Image 2" descr="Portrait of mark">    </p:cNvPr>
          <p:cNvPicPr>
            <a:picLocks noChangeAspect="1"/>
          </p:cNvPicPr>
          <p:nvPr/>
        </p:nvPicPr>
        <p:blipFill>
          <a:blip r:embed="rId3"/>
          <a:stretch>
            <a:fillRect/>
          </a:stretch>
        </p:blipFill>
        <p:spPr>
          <a:xfrm>
            <a:off x="548640" y="2612595"/>
            <a:ext cx="365760" cy="365760"/>
          </a:xfrm>
          <a:prstGeom prst="rect">
            <a:avLst/>
          </a:prstGeom>
        </p:spPr>
      </p:pic>
      <p:sp>
        <p:nvSpPr>
          <p:cNvPr id="16" name="Text 10"/>
          <p:cNvSpPr txBox="1"/>
          <p:nvPr/>
        </p:nvSpPr>
        <p:spPr>
          <a:xfrm>
            <a:off x="1051560" y="2594307"/>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03  </a:t>
            </a:r>
            <a:r>
              <a:rPr lang="en-US" sz="1600" b="1" dirty="0">
                <a:solidFill>
                  <a:schemeClr val="tx2"/>
                </a:solidFill>
              </a:rPr>
              <a:t>MARK</a:t>
            </a:r>
            <a:endParaRPr lang="en-US" sz="1600" dirty="0"/>
          </a:p>
        </p:txBody>
      </p:sp>
      <p:sp>
        <p:nvSpPr>
          <p:cNvPr id="17" name="Text 11"/>
          <p:cNvSpPr txBox="1"/>
          <p:nvPr/>
        </p:nvSpPr>
        <p:spPr>
          <a:xfrm>
            <a:off x="2167128" y="2658315"/>
            <a:ext cx="9473184" cy="405614"/>
          </a:xfrm>
          <a:prstGeom prst="rect">
            <a:avLst/>
          </a:prstGeom>
          <a:noFill/>
          <a:ln/>
        </p:spPr>
        <p:txBody>
          <a:bodyPr wrap="square" lIns="0" tIns="0" rIns="0" bIns="0" rtlCol="0" anchor="t"/>
          <a:lstStyle/>
          <a:p>
            <a:pPr indent="0" marL="0">
              <a:buNone/>
            </a:pPr>
            <a:r>
              <a:rPr lang="en-US" sz="1800" dirty="0">
                <a:solidFill>
                  <a:schemeClr val="tx1"/>
                </a:solidFill>
              </a:rPr>
              <a:t>The cleaners found water in here this morning. It was still running when they arrived.</a:t>
            </a:r>
            <a:endParaRPr lang="en-US" sz="1800" dirty="0"/>
          </a:p>
        </p:txBody>
      </p:sp>
      <p:sp>
        <p:nvSpPr>
          <p:cNvPr id="18" name="Shape 12"/>
          <p:cNvSpPr/>
          <p:nvPr/>
        </p:nvSpPr>
        <p:spPr>
          <a:xfrm>
            <a:off x="548640" y="3018209"/>
            <a:ext cx="365760" cy="365760"/>
          </a:xfrm>
          <a:prstGeom prst="ellipse">
            <a:avLst/>
          </a:prstGeom>
          <a:solidFill>
            <a:srgbClr val="C0752A"/>
          </a:solidFill>
          <a:ln/>
        </p:spPr>
      </p:sp>
      <p:pic>
        <p:nvPicPr>
          <p:cNvPr id="19" name="Image 3" descr="preencoded.png">    </p:cNvPr>
          <p:cNvPicPr>
            <a:picLocks noChangeAspect="1"/>
          </p:cNvPicPr>
          <p:nvPr/>
        </p:nvPicPr>
        <p:blipFill>
          <a:blip r:embed="rId4"/>
          <a:stretch>
            <a:fillRect/>
          </a:stretch>
        </p:blipFill>
        <p:spPr>
          <a:xfrm>
            <a:off x="640080" y="3109649"/>
            <a:ext cx="182880" cy="182880"/>
          </a:xfrm>
          <a:prstGeom prst="rect">
            <a:avLst/>
          </a:prstGeom>
        </p:spPr>
      </p:pic>
      <p:sp>
        <p:nvSpPr>
          <p:cNvPr id="20" name="Text 13"/>
          <p:cNvSpPr txBox="1"/>
          <p:nvPr/>
        </p:nvSpPr>
        <p:spPr>
          <a:xfrm>
            <a:off x="1051560" y="2999921"/>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04  </a:t>
            </a:r>
            <a:r>
              <a:rPr lang="en-US" sz="1600" b="1" dirty="0">
                <a:solidFill>
                  <a:schemeClr val="accent1"/>
                </a:solidFill>
              </a:rPr>
              <a:t>YOU</a:t>
            </a:r>
            <a:endParaRPr lang="en-US" sz="1600" dirty="0"/>
          </a:p>
        </p:txBody>
      </p:sp>
      <p:sp>
        <p:nvSpPr>
          <p:cNvPr id="21" name="Text 14"/>
          <p:cNvSpPr txBox="1"/>
          <p:nvPr/>
        </p:nvSpPr>
        <p:spPr>
          <a:xfrm>
            <a:off x="2167128" y="3063929"/>
            <a:ext cx="9473184" cy="405614"/>
          </a:xfrm>
          <a:prstGeom prst="rect">
            <a:avLst/>
          </a:prstGeom>
          <a:noFill/>
          <a:ln/>
        </p:spPr>
        <p:txBody>
          <a:bodyPr wrap="square" lIns="0" tIns="0" rIns="0" bIns="0" rtlCol="0" anchor="t"/>
          <a:lstStyle/>
          <a:p>
            <a:pPr indent="0" marL="0">
              <a:buNone/>
            </a:pPr>
            <a:r>
              <a:rPr lang="en-US" sz="1800" dirty="0">
                <a:solidFill>
                  <a:schemeClr val="tx1"/>
                </a:solidFill>
              </a:rPr>
              <a:t>Do we know when it started?</a:t>
            </a:r>
            <a:endParaRPr lang="en-US" sz="1800" dirty="0"/>
          </a:p>
        </p:txBody>
      </p:sp>
      <p:sp>
        <p:nvSpPr>
          <p:cNvPr id="22" name="Shape 15"/>
          <p:cNvSpPr/>
          <p:nvPr/>
        </p:nvSpPr>
        <p:spPr>
          <a:xfrm>
            <a:off x="521208" y="3396391"/>
            <a:ext cx="420624" cy="420624"/>
          </a:xfrm>
          <a:prstGeom prst="ellipse">
            <a:avLst/>
          </a:prstGeom>
          <a:solidFill>
            <a:srgbClr val="1F3864"/>
          </a:solidFill>
          <a:ln/>
        </p:spPr>
      </p:sp>
      <p:pic>
        <p:nvPicPr>
          <p:cNvPr id="23" name="Image 4" descr="Portrait of mark">    </p:cNvPr>
          <p:cNvPicPr>
            <a:picLocks noChangeAspect="1"/>
          </p:cNvPicPr>
          <p:nvPr/>
        </p:nvPicPr>
        <p:blipFill>
          <a:blip r:embed="rId5"/>
          <a:stretch>
            <a:fillRect/>
          </a:stretch>
        </p:blipFill>
        <p:spPr>
          <a:xfrm>
            <a:off x="548640" y="3423823"/>
            <a:ext cx="365760" cy="365760"/>
          </a:xfrm>
          <a:prstGeom prst="rect">
            <a:avLst/>
          </a:prstGeom>
        </p:spPr>
      </p:pic>
      <p:sp>
        <p:nvSpPr>
          <p:cNvPr id="24" name="Text 16"/>
          <p:cNvSpPr txBox="1"/>
          <p:nvPr/>
        </p:nvSpPr>
        <p:spPr>
          <a:xfrm>
            <a:off x="1051560" y="3405535"/>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05  </a:t>
            </a:r>
            <a:r>
              <a:rPr lang="en-US" sz="1600" b="1" dirty="0">
                <a:solidFill>
                  <a:schemeClr val="tx2"/>
                </a:solidFill>
              </a:rPr>
              <a:t>MARK</a:t>
            </a:r>
            <a:endParaRPr lang="en-US" sz="1600" dirty="0"/>
          </a:p>
        </p:txBody>
      </p:sp>
      <p:sp>
        <p:nvSpPr>
          <p:cNvPr id="25" name="Text 17"/>
          <p:cNvSpPr txBox="1"/>
          <p:nvPr/>
        </p:nvSpPr>
        <p:spPr>
          <a:xfrm>
            <a:off x="2167128" y="3469543"/>
            <a:ext cx="9473184" cy="640685"/>
          </a:xfrm>
          <a:prstGeom prst="rect">
            <a:avLst/>
          </a:prstGeom>
          <a:noFill/>
          <a:ln/>
        </p:spPr>
        <p:txBody>
          <a:bodyPr wrap="square" lIns="0" tIns="0" rIns="0" bIns="0" rtlCol="0" anchor="t"/>
          <a:lstStyle/>
          <a:p>
            <a:pPr indent="0" marL="0">
              <a:buNone/>
            </a:pPr>
            <a:r>
              <a:rPr lang="en-US" sz="1800" dirty="0">
                <a:solidFill>
                  <a:schemeClr val="tx1"/>
                </a:solidFill>
              </a:rPr>
              <a:t>Not yet. Samuel was checking the server rack when I called him. He says two units have already stopped.</a:t>
            </a:r>
            <a:endParaRPr lang="en-US" sz="1800" dirty="0"/>
          </a:p>
        </p:txBody>
      </p:sp>
      <p:sp>
        <p:nvSpPr>
          <p:cNvPr id="26" name="Shape 18"/>
          <p:cNvSpPr/>
          <p:nvPr/>
        </p:nvSpPr>
        <p:spPr>
          <a:xfrm>
            <a:off x="521208" y="4037076"/>
            <a:ext cx="420624" cy="420624"/>
          </a:xfrm>
          <a:prstGeom prst="ellipse">
            <a:avLst/>
          </a:prstGeom>
          <a:solidFill>
            <a:srgbClr val="3C7A3C"/>
          </a:solidFill>
          <a:ln/>
        </p:spPr>
      </p:sp>
      <p:pic>
        <p:nvPicPr>
          <p:cNvPr id="27" name="Image 5" descr="Portrait of iris">    </p:cNvPr>
          <p:cNvPicPr>
            <a:picLocks noChangeAspect="1"/>
          </p:cNvPicPr>
          <p:nvPr/>
        </p:nvPicPr>
        <p:blipFill>
          <a:blip r:embed="rId6"/>
          <a:stretch>
            <a:fillRect/>
          </a:stretch>
        </p:blipFill>
        <p:spPr>
          <a:xfrm>
            <a:off x="548640" y="4064508"/>
            <a:ext cx="365760" cy="365760"/>
          </a:xfrm>
          <a:prstGeom prst="rect">
            <a:avLst/>
          </a:prstGeom>
        </p:spPr>
      </p:pic>
      <p:sp>
        <p:nvSpPr>
          <p:cNvPr id="28" name="Text 19"/>
          <p:cNvSpPr txBox="1"/>
          <p:nvPr/>
        </p:nvSpPr>
        <p:spPr>
          <a:xfrm>
            <a:off x="1051560" y="4046220"/>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06  </a:t>
            </a:r>
            <a:r>
              <a:rPr lang="en-US" sz="1600" b="1" dirty="0">
                <a:solidFill>
                  <a:schemeClr val="accent3"/>
                </a:solidFill>
              </a:rPr>
              <a:t>IRIS</a:t>
            </a:r>
            <a:endParaRPr lang="en-US" sz="1600" dirty="0"/>
          </a:p>
        </p:txBody>
      </p:sp>
      <p:sp>
        <p:nvSpPr>
          <p:cNvPr id="29" name="Text 20"/>
          <p:cNvSpPr txBox="1"/>
          <p:nvPr/>
        </p:nvSpPr>
        <p:spPr>
          <a:xfrm>
            <a:off x="2167128" y="4110228"/>
            <a:ext cx="9473184" cy="640685"/>
          </a:xfrm>
          <a:prstGeom prst="rect">
            <a:avLst/>
          </a:prstGeom>
          <a:noFill/>
          <a:ln/>
        </p:spPr>
        <p:txBody>
          <a:bodyPr wrap="square" lIns="0" tIns="0" rIns="0" bIns="0" rtlCol="0" anchor="t"/>
          <a:lstStyle/>
          <a:p>
            <a:pPr indent="0" marL="0">
              <a:buNone/>
            </a:pPr>
            <a:r>
              <a:rPr lang="en-US" sz="1800" dirty="0">
                <a:solidFill>
                  <a:schemeClr val="tx1"/>
                </a:solidFill>
              </a:rPr>
              <a:t>I’ve just come back from the second floor. The pipe above the ceiling was leaking all night, I think.</a:t>
            </a:r>
            <a:endParaRPr lang="en-US" sz="1800" dirty="0"/>
          </a:p>
        </p:txBody>
      </p:sp>
      <p:sp>
        <p:nvSpPr>
          <p:cNvPr id="30" name="Shape 21"/>
          <p:cNvSpPr/>
          <p:nvPr/>
        </p:nvSpPr>
        <p:spPr>
          <a:xfrm>
            <a:off x="521208" y="4677761"/>
            <a:ext cx="420624" cy="420624"/>
          </a:xfrm>
          <a:prstGeom prst="ellipse">
            <a:avLst/>
          </a:prstGeom>
          <a:solidFill>
            <a:srgbClr val="1F3864"/>
          </a:solidFill>
          <a:ln/>
        </p:spPr>
      </p:sp>
      <p:pic>
        <p:nvPicPr>
          <p:cNvPr id="31" name="Image 6" descr="Portrait of mark">    </p:cNvPr>
          <p:cNvPicPr>
            <a:picLocks noChangeAspect="1"/>
          </p:cNvPicPr>
          <p:nvPr/>
        </p:nvPicPr>
        <p:blipFill>
          <a:blip r:embed="rId7"/>
          <a:stretch>
            <a:fillRect/>
          </a:stretch>
        </p:blipFill>
        <p:spPr>
          <a:xfrm>
            <a:off x="548640" y="4705193"/>
            <a:ext cx="365760" cy="365760"/>
          </a:xfrm>
          <a:prstGeom prst="rect">
            <a:avLst/>
          </a:prstGeom>
        </p:spPr>
      </p:pic>
      <p:sp>
        <p:nvSpPr>
          <p:cNvPr id="32" name="Text 22"/>
          <p:cNvSpPr txBox="1"/>
          <p:nvPr/>
        </p:nvSpPr>
        <p:spPr>
          <a:xfrm>
            <a:off x="1051560" y="4686905"/>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07  </a:t>
            </a:r>
            <a:r>
              <a:rPr lang="en-US" sz="1600" b="1" dirty="0">
                <a:solidFill>
                  <a:schemeClr val="tx2"/>
                </a:solidFill>
              </a:rPr>
              <a:t>MARK</a:t>
            </a:r>
            <a:endParaRPr lang="en-US" sz="1600" dirty="0"/>
          </a:p>
        </p:txBody>
      </p:sp>
      <p:sp>
        <p:nvSpPr>
          <p:cNvPr id="33" name="Text 23"/>
          <p:cNvSpPr txBox="1"/>
          <p:nvPr/>
        </p:nvSpPr>
        <p:spPr>
          <a:xfrm>
            <a:off x="2167128" y="4750913"/>
            <a:ext cx="9473184" cy="405614"/>
          </a:xfrm>
          <a:prstGeom prst="rect">
            <a:avLst/>
          </a:prstGeom>
          <a:noFill/>
          <a:ln/>
        </p:spPr>
        <p:txBody>
          <a:bodyPr wrap="square" lIns="0" tIns="0" rIns="0" bIns="0" rtlCol="0" anchor="t"/>
          <a:lstStyle/>
          <a:p>
            <a:pPr indent="0" marL="0">
              <a:buNone/>
            </a:pPr>
            <a:r>
              <a:rPr lang="en-US" sz="1800" dirty="0">
                <a:solidFill>
                  <a:schemeClr val="tx1"/>
                </a:solidFill>
              </a:rPr>
              <a:t>Was anyone in the building yesterday evening?</a:t>
            </a:r>
            <a:endParaRPr lang="en-US" sz="1800" dirty="0"/>
          </a:p>
        </p:txBody>
      </p:sp>
      <p:sp>
        <p:nvSpPr>
          <p:cNvPr id="34" name="Shape 24"/>
          <p:cNvSpPr/>
          <p:nvPr/>
        </p:nvSpPr>
        <p:spPr>
          <a:xfrm>
            <a:off x="521208" y="5083375"/>
            <a:ext cx="420624" cy="420624"/>
          </a:xfrm>
          <a:prstGeom prst="ellipse">
            <a:avLst/>
          </a:prstGeom>
          <a:solidFill>
            <a:srgbClr val="3C7A3C"/>
          </a:solidFill>
          <a:ln/>
        </p:spPr>
      </p:sp>
      <p:pic>
        <p:nvPicPr>
          <p:cNvPr id="35" name="Image 7" descr="Portrait of iris">    </p:cNvPr>
          <p:cNvPicPr>
            <a:picLocks noChangeAspect="1"/>
          </p:cNvPicPr>
          <p:nvPr/>
        </p:nvPicPr>
        <p:blipFill>
          <a:blip r:embed="rId8"/>
          <a:stretch>
            <a:fillRect/>
          </a:stretch>
        </p:blipFill>
        <p:spPr>
          <a:xfrm>
            <a:off x="548640" y="5110807"/>
            <a:ext cx="365760" cy="365760"/>
          </a:xfrm>
          <a:prstGeom prst="rect">
            <a:avLst/>
          </a:prstGeom>
        </p:spPr>
      </p:pic>
      <p:sp>
        <p:nvSpPr>
          <p:cNvPr id="36" name="Text 25"/>
          <p:cNvSpPr txBox="1"/>
          <p:nvPr/>
        </p:nvSpPr>
        <p:spPr>
          <a:xfrm>
            <a:off x="1051560" y="5092519"/>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08  </a:t>
            </a:r>
            <a:r>
              <a:rPr lang="en-US" sz="1600" b="1" dirty="0">
                <a:solidFill>
                  <a:schemeClr val="accent3"/>
                </a:solidFill>
              </a:rPr>
              <a:t>IRIS</a:t>
            </a:r>
            <a:endParaRPr lang="en-US" sz="1600" dirty="0"/>
          </a:p>
        </p:txBody>
      </p:sp>
      <p:sp>
        <p:nvSpPr>
          <p:cNvPr id="37" name="Text 26"/>
          <p:cNvSpPr txBox="1"/>
          <p:nvPr/>
        </p:nvSpPr>
        <p:spPr>
          <a:xfrm>
            <a:off x="2167128" y="5156527"/>
            <a:ext cx="9473184" cy="405614"/>
          </a:xfrm>
          <a:prstGeom prst="rect">
            <a:avLst/>
          </a:prstGeom>
          <a:noFill/>
          <a:ln/>
        </p:spPr>
        <p:txBody>
          <a:bodyPr wrap="square" lIns="0" tIns="0" rIns="0" bIns="0" rtlCol="0" anchor="t"/>
          <a:lstStyle/>
          <a:p>
            <a:pPr indent="0" marL="0">
              <a:buNone/>
            </a:pPr>
            <a:r>
              <a:rPr lang="en-US" sz="1800" dirty="0">
                <a:solidFill>
                  <a:schemeClr val="tx1"/>
                </a:solidFill>
              </a:rPr>
              <a:t>The contractor’s team was working here until eight. They were installing the new cabling.</a:t>
            </a:r>
            <a:endParaRPr lang="en-US" sz="1800" dirty="0"/>
          </a:p>
        </p:txBody>
      </p:sp>
      <p:sp>
        <p:nvSpPr>
          <p:cNvPr id="38" name="Shape 27"/>
          <p:cNvSpPr/>
          <p:nvPr/>
        </p:nvSpPr>
        <p:spPr>
          <a:xfrm>
            <a:off x="521208" y="5488989"/>
            <a:ext cx="420624" cy="420624"/>
          </a:xfrm>
          <a:prstGeom prst="ellipse">
            <a:avLst/>
          </a:prstGeom>
          <a:solidFill>
            <a:srgbClr val="2E75B6"/>
          </a:solidFill>
          <a:ln/>
        </p:spPr>
      </p:sp>
      <p:pic>
        <p:nvPicPr>
          <p:cNvPr id="39" name="Image 8" descr="Portrait of samuel">    </p:cNvPr>
          <p:cNvPicPr>
            <a:picLocks noChangeAspect="1"/>
          </p:cNvPicPr>
          <p:nvPr/>
        </p:nvPicPr>
        <p:blipFill>
          <a:blip r:embed="rId9"/>
          <a:stretch>
            <a:fillRect/>
          </a:stretch>
        </p:blipFill>
        <p:spPr>
          <a:xfrm>
            <a:off x="548640" y="5516421"/>
            <a:ext cx="365760" cy="365760"/>
          </a:xfrm>
          <a:prstGeom prst="rect">
            <a:avLst/>
          </a:prstGeom>
        </p:spPr>
      </p:pic>
      <p:sp>
        <p:nvSpPr>
          <p:cNvPr id="40" name="Text 28"/>
          <p:cNvSpPr txBox="1"/>
          <p:nvPr/>
        </p:nvSpPr>
        <p:spPr>
          <a:xfrm>
            <a:off x="1051560" y="5498133"/>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09  </a:t>
            </a:r>
            <a:r>
              <a:rPr lang="en-US" sz="1600" b="1" dirty="0">
                <a:solidFill>
                  <a:schemeClr val="accent2"/>
                </a:solidFill>
              </a:rPr>
              <a:t>SAMUEL</a:t>
            </a:r>
            <a:endParaRPr lang="en-US" sz="1600" dirty="0"/>
          </a:p>
        </p:txBody>
      </p:sp>
      <p:sp>
        <p:nvSpPr>
          <p:cNvPr id="41" name="Text 29"/>
          <p:cNvSpPr txBox="1"/>
          <p:nvPr/>
        </p:nvSpPr>
        <p:spPr>
          <a:xfrm>
            <a:off x="2167128" y="5562141"/>
            <a:ext cx="9473184" cy="405614"/>
          </a:xfrm>
          <a:prstGeom prst="rect">
            <a:avLst/>
          </a:prstGeom>
          <a:noFill/>
          <a:ln/>
        </p:spPr>
        <p:txBody>
          <a:bodyPr wrap="square" lIns="0" tIns="0" rIns="0" bIns="0" rtlCol="0" anchor="t"/>
          <a:lstStyle/>
          <a:p>
            <a:pPr indent="0" marL="0">
              <a:buNone/>
            </a:pPr>
            <a:r>
              <a:rPr lang="en-US" sz="1800" dirty="0">
                <a:solidFill>
                  <a:schemeClr val="tx1"/>
                </a:solidFill>
              </a:rPr>
              <a:t>I’ve looked at the logs. The temperature alarm went off at 11.40 p.m., but nobody was on site.</a:t>
            </a:r>
            <a:endParaRPr lang="en-US" sz="1800" dirty="0"/>
          </a:p>
        </p:txBody>
      </p:sp>
      <p:sp>
        <p:nvSpPr>
          <p:cNvPr id="42" name="Shape 30"/>
          <p:cNvSpPr/>
          <p:nvPr/>
        </p:nvSpPr>
        <p:spPr>
          <a:xfrm>
            <a:off x="548640" y="5922034"/>
            <a:ext cx="365760" cy="365760"/>
          </a:xfrm>
          <a:prstGeom prst="ellipse">
            <a:avLst/>
          </a:prstGeom>
          <a:solidFill>
            <a:srgbClr val="C0752A"/>
          </a:solidFill>
          <a:ln/>
        </p:spPr>
      </p:sp>
      <p:pic>
        <p:nvPicPr>
          <p:cNvPr id="43" name="Image 9" descr="preencoded.png">    </p:cNvPr>
          <p:cNvPicPr>
            <a:picLocks noChangeAspect="1"/>
          </p:cNvPicPr>
          <p:nvPr/>
        </p:nvPicPr>
        <p:blipFill>
          <a:blip r:embed="rId10"/>
          <a:stretch>
            <a:fillRect/>
          </a:stretch>
        </p:blipFill>
        <p:spPr>
          <a:xfrm>
            <a:off x="640080" y="6013474"/>
            <a:ext cx="182880" cy="182880"/>
          </a:xfrm>
          <a:prstGeom prst="rect">
            <a:avLst/>
          </a:prstGeom>
        </p:spPr>
      </p:pic>
      <p:sp>
        <p:nvSpPr>
          <p:cNvPr id="44" name="Text 31"/>
          <p:cNvSpPr txBox="1"/>
          <p:nvPr/>
        </p:nvSpPr>
        <p:spPr>
          <a:xfrm>
            <a:off x="1051560" y="5903746"/>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10  </a:t>
            </a:r>
            <a:r>
              <a:rPr lang="en-US" sz="1600" b="1" dirty="0">
                <a:solidFill>
                  <a:schemeClr val="accent1"/>
                </a:solidFill>
              </a:rPr>
              <a:t>YOU</a:t>
            </a:r>
            <a:endParaRPr lang="en-US" sz="1600" dirty="0"/>
          </a:p>
        </p:txBody>
      </p:sp>
      <p:sp>
        <p:nvSpPr>
          <p:cNvPr id="45" name="Text 32"/>
          <p:cNvSpPr txBox="1"/>
          <p:nvPr/>
        </p:nvSpPr>
        <p:spPr>
          <a:xfrm>
            <a:off x="2167128" y="5967754"/>
            <a:ext cx="9473184" cy="405614"/>
          </a:xfrm>
          <a:prstGeom prst="rect">
            <a:avLst/>
          </a:prstGeom>
          <a:noFill/>
          <a:ln/>
        </p:spPr>
        <p:txBody>
          <a:bodyPr wrap="square" lIns="0" tIns="0" rIns="0" bIns="0" rtlCol="0" anchor="t"/>
          <a:lstStyle/>
          <a:p>
            <a:pPr indent="0" marL="0">
              <a:buNone/>
            </a:pPr>
            <a:r>
              <a:rPr lang="en-US" sz="1800" dirty="0">
                <a:solidFill>
                  <a:schemeClr val="tx1"/>
                </a:solidFill>
              </a:rPr>
              <a:t>Has anyone told the insurer yet?</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Technical room, second floor (2/2)</a:t>
            </a:r>
            <a:endParaRPr lang="en-US" sz="3200" dirty="0"/>
          </a:p>
        </p:txBody>
      </p:sp>
      <p:sp>
        <p:nvSpPr>
          <p:cNvPr id="3" name="tag"/>
          <p:cNvSpPr/>
          <p:nvPr/>
        </p:nvSpPr>
        <p:spPr>
          <a:xfrm>
            <a:off x="548640" y="384048"/>
            <a:ext cx="9372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SCENE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6" name="Shape 3"/>
          <p:cNvSpPr/>
          <p:nvPr/>
        </p:nvSpPr>
        <p:spPr>
          <a:xfrm>
            <a:off x="521208" y="1773936"/>
            <a:ext cx="420624" cy="420624"/>
          </a:xfrm>
          <a:prstGeom prst="ellipse">
            <a:avLst/>
          </a:prstGeom>
          <a:solidFill>
            <a:srgbClr val="3C7A3C"/>
          </a:solidFill>
          <a:ln/>
        </p:spPr>
      </p:sp>
      <p:pic>
        <p:nvPicPr>
          <p:cNvPr id="7" name="Image 0" descr="Portrait of iris">    </p:cNvPr>
          <p:cNvPicPr>
            <a:picLocks noChangeAspect="1"/>
          </p:cNvPicPr>
          <p:nvPr/>
        </p:nvPicPr>
        <p:blipFill>
          <a:blip r:embed="rId1"/>
          <a:stretch>
            <a:fillRect/>
          </a:stretch>
        </p:blipFill>
        <p:spPr>
          <a:xfrm>
            <a:off x="548640" y="1801368"/>
            <a:ext cx="365760" cy="365760"/>
          </a:xfrm>
          <a:prstGeom prst="rect">
            <a:avLst/>
          </a:prstGeom>
        </p:spPr>
      </p:pic>
      <p:sp>
        <p:nvSpPr>
          <p:cNvPr id="8" name="Text 4"/>
          <p:cNvSpPr txBox="1"/>
          <p:nvPr/>
        </p:nvSpPr>
        <p:spPr>
          <a:xfrm>
            <a:off x="1051560" y="1783080"/>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12  </a:t>
            </a:r>
            <a:r>
              <a:rPr lang="en-US" sz="1800" b="1" dirty="0">
                <a:solidFill>
                  <a:schemeClr val="accent3"/>
                </a:solidFill>
              </a:rPr>
              <a:t>IRIS</a:t>
            </a:r>
            <a:endParaRPr lang="en-US" sz="1800" dirty="0"/>
          </a:p>
        </p:txBody>
      </p:sp>
      <p:sp>
        <p:nvSpPr>
          <p:cNvPr id="9" name="Text 5"/>
          <p:cNvSpPr txBox="1"/>
          <p:nvPr/>
        </p:nvSpPr>
        <p:spPr>
          <a:xfrm>
            <a:off x="2167128" y="1847088"/>
            <a:ext cx="5422392" cy="867410"/>
          </a:xfrm>
          <a:prstGeom prst="rect">
            <a:avLst/>
          </a:prstGeom>
          <a:noFill/>
          <a:ln/>
        </p:spPr>
        <p:txBody>
          <a:bodyPr wrap="square" lIns="0" tIns="0" rIns="0" bIns="0" rtlCol="0" anchor="t"/>
          <a:lstStyle/>
          <a:p>
            <a:pPr indent="0" marL="0">
              <a:buNone/>
            </a:pPr>
            <a:r>
              <a:rPr lang="en-US" sz="2000" dirty="0">
                <a:solidFill>
                  <a:schemeClr val="tx1"/>
                </a:solidFill>
              </a:rPr>
              <a:t>And it may be worse than it looks. The floor is soaked.</a:t>
            </a:r>
            <a:endParaRPr lang="en-US" sz="2000" dirty="0"/>
          </a:p>
        </p:txBody>
      </p:sp>
      <p:sp>
        <p:nvSpPr>
          <p:cNvPr id="10" name="Shape 6"/>
          <p:cNvSpPr/>
          <p:nvPr/>
        </p:nvSpPr>
        <p:spPr>
          <a:xfrm>
            <a:off x="521208" y="2641346"/>
            <a:ext cx="420624" cy="420624"/>
          </a:xfrm>
          <a:prstGeom prst="ellipse">
            <a:avLst/>
          </a:prstGeom>
          <a:solidFill>
            <a:srgbClr val="2E75B6"/>
          </a:solidFill>
          <a:ln/>
        </p:spPr>
      </p:sp>
      <p:pic>
        <p:nvPicPr>
          <p:cNvPr id="11" name="Image 1" descr="Portrait of samuel">    </p:cNvPr>
          <p:cNvPicPr>
            <a:picLocks noChangeAspect="1"/>
          </p:cNvPicPr>
          <p:nvPr/>
        </p:nvPicPr>
        <p:blipFill>
          <a:blip r:embed="rId2"/>
          <a:stretch>
            <a:fillRect/>
          </a:stretch>
        </p:blipFill>
        <p:spPr>
          <a:xfrm>
            <a:off x="548640" y="2668778"/>
            <a:ext cx="365760" cy="365760"/>
          </a:xfrm>
          <a:prstGeom prst="rect">
            <a:avLst/>
          </a:prstGeom>
        </p:spPr>
      </p:pic>
      <p:sp>
        <p:nvSpPr>
          <p:cNvPr id="12" name="Text 7"/>
          <p:cNvSpPr txBox="1"/>
          <p:nvPr/>
        </p:nvSpPr>
        <p:spPr>
          <a:xfrm>
            <a:off x="1051560" y="2650490"/>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13  </a:t>
            </a:r>
            <a:r>
              <a:rPr lang="en-US" sz="1800" b="1" dirty="0">
                <a:solidFill>
                  <a:schemeClr val="accent2"/>
                </a:solidFill>
              </a:rPr>
              <a:t>SAMUEL</a:t>
            </a:r>
            <a:endParaRPr lang="en-US" sz="1800" dirty="0"/>
          </a:p>
        </p:txBody>
      </p:sp>
      <p:sp>
        <p:nvSpPr>
          <p:cNvPr id="13" name="Text 8"/>
          <p:cNvSpPr txBox="1"/>
          <p:nvPr/>
        </p:nvSpPr>
        <p:spPr>
          <a:xfrm>
            <a:off x="2167128" y="2714498"/>
            <a:ext cx="5422392" cy="867410"/>
          </a:xfrm>
          <a:prstGeom prst="rect">
            <a:avLst/>
          </a:prstGeom>
          <a:noFill/>
          <a:ln/>
        </p:spPr>
        <p:txBody>
          <a:bodyPr wrap="square" lIns="0" tIns="0" rIns="0" bIns="0" rtlCol="0" anchor="t"/>
          <a:lstStyle/>
          <a:p>
            <a:pPr indent="0" marL="0">
              <a:buNone/>
            </a:pPr>
            <a:r>
              <a:rPr lang="en-US" sz="2000" dirty="0">
                <a:solidFill>
                  <a:schemeClr val="tx1"/>
                </a:solidFill>
              </a:rPr>
              <a:t>It might be the same pipe as last November. We have had trouble with it since the summer.</a:t>
            </a:r>
            <a:endParaRPr lang="en-US" sz="2000" dirty="0"/>
          </a:p>
        </p:txBody>
      </p:sp>
      <p:sp>
        <p:nvSpPr>
          <p:cNvPr id="14" name="Shape 9"/>
          <p:cNvSpPr/>
          <p:nvPr/>
        </p:nvSpPr>
        <p:spPr>
          <a:xfrm>
            <a:off x="521208" y="3508756"/>
            <a:ext cx="420624" cy="420624"/>
          </a:xfrm>
          <a:prstGeom prst="ellipse">
            <a:avLst/>
          </a:prstGeom>
          <a:solidFill>
            <a:srgbClr val="1F3864"/>
          </a:solidFill>
          <a:ln/>
        </p:spPr>
      </p:sp>
      <p:pic>
        <p:nvPicPr>
          <p:cNvPr id="15" name="Image 2" descr="Portrait of mark">    </p:cNvPr>
          <p:cNvPicPr>
            <a:picLocks noChangeAspect="1"/>
          </p:cNvPicPr>
          <p:nvPr/>
        </p:nvPicPr>
        <p:blipFill>
          <a:blip r:embed="rId3"/>
          <a:stretch>
            <a:fillRect/>
          </a:stretch>
        </p:blipFill>
        <p:spPr>
          <a:xfrm>
            <a:off x="548640" y="3536188"/>
            <a:ext cx="365760" cy="365760"/>
          </a:xfrm>
          <a:prstGeom prst="rect">
            <a:avLst/>
          </a:prstGeom>
        </p:spPr>
      </p:pic>
      <p:sp>
        <p:nvSpPr>
          <p:cNvPr id="16" name="Text 10"/>
          <p:cNvSpPr txBox="1"/>
          <p:nvPr/>
        </p:nvSpPr>
        <p:spPr>
          <a:xfrm>
            <a:off x="1051560" y="3517900"/>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14  </a:t>
            </a:r>
            <a:r>
              <a:rPr lang="en-US" sz="1800" b="1" dirty="0">
                <a:solidFill>
                  <a:schemeClr val="tx2"/>
                </a:solidFill>
              </a:rPr>
              <a:t>MARK</a:t>
            </a:r>
            <a:endParaRPr lang="en-US" sz="1800" dirty="0"/>
          </a:p>
        </p:txBody>
      </p:sp>
      <p:sp>
        <p:nvSpPr>
          <p:cNvPr id="17" name="Text 11"/>
          <p:cNvSpPr txBox="1"/>
          <p:nvPr/>
        </p:nvSpPr>
        <p:spPr>
          <a:xfrm>
            <a:off x="2167128" y="3581908"/>
            <a:ext cx="5422392" cy="867410"/>
          </a:xfrm>
          <a:prstGeom prst="rect">
            <a:avLst/>
          </a:prstGeom>
          <a:noFill/>
          <a:ln/>
        </p:spPr>
        <p:txBody>
          <a:bodyPr wrap="square" lIns="0" tIns="0" rIns="0" bIns="0" rtlCol="0" anchor="t"/>
          <a:lstStyle/>
          <a:p>
            <a:pPr indent="0" marL="0">
              <a:buNone/>
            </a:pPr>
            <a:r>
              <a:rPr lang="en-US" sz="2000" dirty="0">
                <a:solidFill>
                  <a:schemeClr val="tx1"/>
                </a:solidFill>
              </a:rPr>
              <a:t>We should get to the bottom of this before we file a claim.</a:t>
            </a:r>
            <a:endParaRPr lang="en-US" sz="2000" dirty="0"/>
          </a:p>
        </p:txBody>
      </p:sp>
      <p:sp>
        <p:nvSpPr>
          <p:cNvPr id="18" name="Shape 12"/>
          <p:cNvSpPr/>
          <p:nvPr/>
        </p:nvSpPr>
        <p:spPr>
          <a:xfrm>
            <a:off x="521208" y="4376166"/>
            <a:ext cx="420624" cy="420624"/>
          </a:xfrm>
          <a:prstGeom prst="ellipse">
            <a:avLst/>
          </a:prstGeom>
          <a:solidFill>
            <a:srgbClr val="1F3864"/>
          </a:solidFill>
          <a:ln/>
        </p:spPr>
      </p:sp>
      <p:pic>
        <p:nvPicPr>
          <p:cNvPr id="19" name="Image 3" descr="Portrait of mark">    </p:cNvPr>
          <p:cNvPicPr>
            <a:picLocks noChangeAspect="1"/>
          </p:cNvPicPr>
          <p:nvPr/>
        </p:nvPicPr>
        <p:blipFill>
          <a:blip r:embed="rId4"/>
          <a:stretch>
            <a:fillRect/>
          </a:stretch>
        </p:blipFill>
        <p:spPr>
          <a:xfrm>
            <a:off x="548640" y="4403598"/>
            <a:ext cx="365760" cy="365760"/>
          </a:xfrm>
          <a:prstGeom prst="rect">
            <a:avLst/>
          </a:prstGeom>
        </p:spPr>
      </p:pic>
      <p:sp>
        <p:nvSpPr>
          <p:cNvPr id="20" name="Text 13"/>
          <p:cNvSpPr txBox="1"/>
          <p:nvPr/>
        </p:nvSpPr>
        <p:spPr>
          <a:xfrm>
            <a:off x="1051560" y="4385310"/>
            <a:ext cx="1234440" cy="402336"/>
          </a:xfrm>
          <a:prstGeom prst="rect">
            <a:avLst/>
          </a:prstGeom>
          <a:noFill/>
          <a:ln/>
        </p:spPr>
        <p:txBody>
          <a:bodyPr wrap="square" lIns="0" tIns="0" rIns="0" bIns="0" rtlCol="0" anchor="ctr"/>
          <a:lstStyle/>
          <a:p>
            <a:pPr indent="0" marL="0">
              <a:buNone/>
            </a:pPr>
            <a:r>
              <a:rPr lang="en-US" sz="1100" dirty="0">
                <a:solidFill>
                  <a:schemeClr val="accent5"/>
                </a:solidFill>
              </a:rPr>
              <a:t>15  </a:t>
            </a:r>
            <a:r>
              <a:rPr lang="en-US" sz="1800" b="1" dirty="0">
                <a:solidFill>
                  <a:schemeClr val="tx2"/>
                </a:solidFill>
              </a:rPr>
              <a:t>MARK</a:t>
            </a:r>
            <a:endParaRPr lang="en-US" sz="1800" dirty="0"/>
          </a:p>
        </p:txBody>
      </p:sp>
      <p:sp>
        <p:nvSpPr>
          <p:cNvPr id="21" name="Text 14"/>
          <p:cNvSpPr txBox="1"/>
          <p:nvPr/>
        </p:nvSpPr>
        <p:spPr>
          <a:xfrm>
            <a:off x="2167128" y="4449318"/>
            <a:ext cx="5422392" cy="867410"/>
          </a:xfrm>
          <a:prstGeom prst="rect">
            <a:avLst/>
          </a:prstGeom>
          <a:noFill/>
          <a:ln/>
        </p:spPr>
        <p:txBody>
          <a:bodyPr wrap="square" lIns="0" tIns="0" rIns="0" bIns="0" rtlCol="0" anchor="t"/>
          <a:lstStyle/>
          <a:p>
            <a:pPr indent="0" marL="0">
              <a:buNone/>
            </a:pPr>
            <a:r>
              <a:rPr lang="en-US" sz="2000" dirty="0">
                <a:solidFill>
                  <a:schemeClr val="tx1"/>
                </a:solidFill>
              </a:rPr>
              <a:t>Right. I need a timeline of last night on this board by nine. Facts only.</a:t>
            </a:r>
            <a:endParaRPr lang="en-US" sz="2000" dirty="0"/>
          </a:p>
        </p:txBody>
      </p:sp>
      <p:sp>
        <p:nvSpPr>
          <p:cNvPr id="22" name="Shape 15"/>
          <p:cNvSpPr/>
          <p:nvPr/>
        </p:nvSpPr>
        <p:spPr>
          <a:xfrm>
            <a:off x="7955280" y="4956048"/>
            <a:ext cx="3685032" cy="1353312"/>
          </a:xfrm>
          <a:prstGeom prst="roundRect">
            <a:avLst>
              <a:gd name="adj" fmla="val 5405"/>
            </a:avLst>
          </a:prstGeom>
          <a:solidFill>
            <a:srgbClr val="C0752A">
              <a:alpha val="10000"/>
            </a:srgbClr>
          </a:solidFill>
          <a:ln w="12700">
            <a:solidFill>
              <a:srgbClr val="C0752A"/>
            </a:solidFill>
            <a:prstDash val="solid"/>
          </a:ln>
        </p:spPr>
      </p:sp>
      <p:sp>
        <p:nvSpPr>
          <p:cNvPr id="23" name="Text 16"/>
          <p:cNvSpPr txBox="1"/>
          <p:nvPr/>
        </p:nvSpPr>
        <p:spPr>
          <a:xfrm>
            <a:off x="8138160" y="5065776"/>
            <a:ext cx="3319272"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ASK THE CLASS</a:t>
            </a:r>
            <a:endParaRPr lang="en-US" sz="1200" dirty="0"/>
          </a:p>
        </p:txBody>
      </p:sp>
      <p:sp>
        <p:nvSpPr>
          <p:cNvPr id="24" name="Text 17"/>
          <p:cNvSpPr txBox="1"/>
          <p:nvPr/>
        </p:nvSpPr>
        <p:spPr>
          <a:xfrm>
            <a:off x="8138160" y="5358384"/>
            <a:ext cx="3319272" cy="896112"/>
          </a:xfrm>
          <a:prstGeom prst="rect">
            <a:avLst/>
          </a:prstGeom>
          <a:noFill/>
          <a:ln/>
        </p:spPr>
        <p:txBody>
          <a:bodyPr wrap="square" lIns="0" tIns="0" rIns="0" bIns="0" rtlCol="0" anchor="t"/>
          <a:lstStyle/>
          <a:p>
            <a:pPr indent="0" marL="0">
              <a:buNone/>
            </a:pPr>
            <a:r>
              <a:rPr lang="en-US" sz="1600" dirty="0">
                <a:solidFill>
                  <a:schemeClr val="tx1"/>
                </a:solidFill>
              </a:rPr>
              <a:t>Line 11 is missing! What did Mark answer to </a:t>
            </a:r>
            <a:r>
              <a:rPr lang="en-US" sz="1600" i="1" dirty="0">
                <a:solidFill>
                  <a:schemeClr val="tx1"/>
                </a:solidFill>
              </a:rPr>
              <a:t>“Has anyone told the insurer yet?”</a:t>
            </a:r>
            <a:endParaRPr lang="en-US" sz="1600" dirty="0"/>
          </a:p>
        </p:txBody>
      </p:sp>
      <p:sp>
        <p:nvSpPr>
          <p:cNvPr id="25" name="Shape 18"/>
          <p:cNvSpPr/>
          <p:nvPr/>
        </p:nvSpPr>
        <p:spPr>
          <a:xfrm>
            <a:off x="7955280" y="1783080"/>
            <a:ext cx="3685032" cy="2944368"/>
          </a:xfrm>
          <a:prstGeom prst="roundRect">
            <a:avLst>
              <a:gd name="adj" fmla="val 2484"/>
            </a:avLst>
          </a:prstGeom>
          <a:solidFill>
            <a:srgbClr val="2E75B6">
              <a:alpha val="8000"/>
            </a:srgbClr>
          </a:solidFill>
          <a:ln w="9525">
            <a:solidFill>
              <a:srgbClr val="2E75B6"/>
            </a:solidFill>
            <a:prstDash val="solid"/>
          </a:ln>
        </p:spPr>
      </p:sp>
      <p:pic>
        <p:nvPicPr>
          <p:cNvPr id="26" name="Image 4" descr="preencoded.png">    </p:cNvPr>
          <p:cNvPicPr>
            <a:picLocks noChangeAspect="1"/>
          </p:cNvPicPr>
          <p:nvPr/>
        </p:nvPicPr>
        <p:blipFill>
          <a:blip r:embed="rId5"/>
          <a:stretch>
            <a:fillRect/>
          </a:stretch>
        </p:blipFill>
        <p:spPr>
          <a:xfrm>
            <a:off x="8138160" y="1965960"/>
            <a:ext cx="274320" cy="274320"/>
          </a:xfrm>
          <a:prstGeom prst="rect">
            <a:avLst/>
          </a:prstGeom>
        </p:spPr>
      </p:pic>
      <p:sp>
        <p:nvSpPr>
          <p:cNvPr id="27" name="Text 19"/>
          <p:cNvSpPr txBox="1"/>
          <p:nvPr/>
        </p:nvSpPr>
        <p:spPr>
          <a:xfrm>
            <a:off x="8522208" y="1938528"/>
            <a:ext cx="2953512" cy="329184"/>
          </a:xfrm>
          <a:prstGeom prst="rect">
            <a:avLst/>
          </a:prstGeom>
          <a:noFill/>
          <a:ln/>
        </p:spPr>
        <p:txBody>
          <a:bodyPr wrap="square" lIns="0" tIns="0" rIns="0" bIns="0" rtlCol="0" anchor="ctr"/>
          <a:lstStyle/>
          <a:p>
            <a:pPr indent="0" marL="0">
              <a:buNone/>
            </a:pPr>
            <a:r>
              <a:rPr lang="en-US" sz="1300" b="1" spc="100" kern="0" dirty="0">
                <a:solidFill>
                  <a:schemeClr val="accent2"/>
                </a:solidFill>
              </a:rPr>
              <a:t>LISTEN FOR</a:t>
            </a:r>
            <a:endParaRPr lang="en-US" sz="1300" dirty="0"/>
          </a:p>
        </p:txBody>
      </p:sp>
      <p:sp>
        <p:nvSpPr>
          <p:cNvPr id="28" name="Text 20"/>
          <p:cNvSpPr txBox="1"/>
          <p:nvPr/>
        </p:nvSpPr>
        <p:spPr>
          <a:xfrm>
            <a:off x="8138160" y="2377440"/>
            <a:ext cx="3319272" cy="2258568"/>
          </a:xfrm>
          <a:prstGeom prst="rect">
            <a:avLst/>
          </a:prstGeom>
          <a:noFill/>
          <a:ln/>
        </p:spPr>
        <p:txBody>
          <a:bodyPr wrap="square" lIns="0" tIns="0" rIns="0" bIns="0" rtlCol="0" anchor="t"/>
          <a:lstStyle/>
          <a:p>
            <a:pPr marL="190500" indent="-190500">
              <a:spcAft>
                <a:spcPts val="600"/>
              </a:spcAft>
              <a:buSzPct val="100000"/>
              <a:buChar char="•"/>
            </a:pPr>
            <a:r>
              <a:rPr lang="en-US" sz="1600" b="1" dirty="0">
                <a:solidFill>
                  <a:schemeClr val="tx1"/>
                </a:solidFill>
              </a:rPr>
              <a:t>I think · may · might</a:t>
            </a:r>
            <a:r>
              <a:rPr lang="en-US" sz="1600" dirty="0">
                <a:solidFill>
                  <a:schemeClr val="tx1"/>
                </a:solidFill>
              </a:rPr>
              <a:t> = how sure?</a:t>
            </a:r>
            <a:endParaRPr lang="en-US" sz="1600" dirty="0"/>
          </a:p>
          <a:p>
            <a:pPr marL="190500" indent="-190500">
              <a:spcAft>
                <a:spcPts val="600"/>
              </a:spcAft>
              <a:buSzPct val="100000"/>
              <a:buChar char="•"/>
            </a:pPr>
            <a:r>
              <a:rPr lang="en-US" sz="1600" b="1" dirty="0">
                <a:solidFill>
                  <a:schemeClr val="accent2"/>
                </a:solidFill>
              </a:rPr>
              <a:t>was …-ing</a:t>
            </a:r>
            <a:r>
              <a:rPr lang="en-US" sz="1600" dirty="0">
                <a:solidFill>
                  <a:schemeClr val="tx1"/>
                </a:solidFill>
              </a:rPr>
              <a:t> = the background</a:t>
            </a:r>
            <a:endParaRPr lang="en-US" sz="1600" dirty="0"/>
          </a:p>
          <a:p>
            <a:pPr marL="190500" indent="-190500">
              <a:spcAft>
                <a:spcPts val="600"/>
              </a:spcAft>
              <a:buSzPct val="100000"/>
              <a:buChar char="•"/>
            </a:pPr>
            <a:r>
              <a:rPr lang="en-US" sz="1600" b="1" dirty="0">
                <a:solidFill>
                  <a:schemeClr val="tx1"/>
                </a:solidFill>
              </a:rPr>
              <a:t>have / has …</a:t>
            </a:r>
            <a:r>
              <a:rPr lang="en-US" sz="1600" dirty="0">
                <a:solidFill>
                  <a:schemeClr val="tx1"/>
                </a:solidFill>
              </a:rPr>
              <a:t> = where we stand now</a:t>
            </a:r>
            <a:endParaRPr lang="en-US" sz="1600" dirty="0"/>
          </a:p>
          <a:p>
            <a:pPr marL="190500" indent="-190500">
              <a:spcAft>
                <a:spcPts val="600"/>
              </a:spcAft>
              <a:buSzPct val="100000"/>
              <a:buChar char="•"/>
            </a:pPr>
            <a:r>
              <a:rPr lang="en-US" sz="1600" i="1" dirty="0">
                <a:solidFill>
                  <a:schemeClr val="tx1"/>
                </a:solidFill>
              </a:rPr>
              <a:t>to get to the bottom of</a:t>
            </a:r>
            <a:r>
              <a:rPr lang="en-US" sz="1600" dirty="0">
                <a:solidFill>
                  <a:schemeClr val="tx1"/>
                </a:solidFill>
              </a:rPr>
              <a:t> = tirer l’affaire au clair</a:t>
            </a:r>
            <a:endParaRPr lang="en-US" sz="1600" dirty="0"/>
          </a:p>
          <a:p>
            <a:pPr marL="190500" indent="-190500">
              <a:spcAft>
                <a:spcPts val="600"/>
              </a:spcAft>
              <a:buSzPct val="100000"/>
              <a:buChar char="•"/>
            </a:pPr>
            <a:r>
              <a:rPr lang="en-US" sz="1600" i="1" dirty="0">
                <a:solidFill>
                  <a:schemeClr val="tx1"/>
                </a:solidFill>
              </a:rPr>
              <a:t>to file a claim</a:t>
            </a:r>
            <a:r>
              <a:rPr lang="en-US" sz="1600" dirty="0">
                <a:solidFill>
                  <a:schemeClr val="tx1"/>
                </a:solidFill>
              </a:rPr>
              <a:t> = déclarer un sinistre</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True, false or not given?</a:t>
            </a:r>
            <a:endParaRPr lang="en-US" sz="3200" dirty="0"/>
          </a:p>
        </p:txBody>
      </p:sp>
      <p:sp>
        <p:nvSpPr>
          <p:cNvPr id="3" name="tag"/>
          <p:cNvSpPr/>
          <p:nvPr/>
        </p:nvSpPr>
        <p:spPr>
          <a:xfrm>
            <a:off x="548640" y="384048"/>
            <a:ext cx="11658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READING</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6"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b="1" i="1" dirty="0">
                <a:solidFill>
                  <a:schemeClr val="accent5"/>
                </a:solidFill>
              </a:rPr>
              <a:t>T</a:t>
            </a:r>
            <a:r>
              <a:rPr lang="en-US" sz="1600" i="1" dirty="0">
                <a:solidFill>
                  <a:schemeClr val="accent5"/>
                </a:solidFill>
              </a:rPr>
              <a:t> = the text says it · </a:t>
            </a:r>
            <a:r>
              <a:rPr lang="en-US" sz="1600" b="1" i="1" dirty="0">
                <a:solidFill>
                  <a:schemeClr val="accent5"/>
                </a:solidFill>
              </a:rPr>
              <a:t>F</a:t>
            </a:r>
            <a:r>
              <a:rPr lang="en-US" sz="1600" i="1" dirty="0">
                <a:solidFill>
                  <a:schemeClr val="accent5"/>
                </a:solidFill>
              </a:rPr>
              <a:t> = the text says the opposite · </a:t>
            </a:r>
            <a:r>
              <a:rPr lang="en-US" sz="1600" b="1" i="1" dirty="0">
                <a:solidFill>
                  <a:schemeClr val="accent5"/>
                </a:solidFill>
              </a:rPr>
              <a:t>NG</a:t>
            </a:r>
            <a:r>
              <a:rPr lang="en-US" sz="1600" i="1" dirty="0">
                <a:solidFill>
                  <a:schemeClr val="accent5"/>
                </a:solidFill>
              </a:rPr>
              <a:t> = the text does not say. Give the line.</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237232"/>
          <a:ext cx="11091672" cy="914400"/>
        </p:xfrm>
        <a:graphic>
          <a:graphicData uri="http://schemas.openxmlformats.org/drawingml/2006/table">
            <a:tbl>
              <a:tblPr/>
              <a:tblGrid>
                <a:gridCol w="7708392"/>
                <a:gridCol w="2011680"/>
                <a:gridCol w="1371600"/>
              </a:tblGrid>
              <a:tr h="527609">
                <a:tc>
                  <a:txBody>
                    <a:bodyPr/>
                    <a:lstStyle/>
                    <a:p>
                      <a:pPr algn="l" indent="0" marL="0">
                        <a:buNone/>
                      </a:pPr>
                      <a:r>
                        <a:rPr lang="en-US" sz="1400" b="1" dirty="0">
                          <a:solidFill>
                            <a:schemeClr val="bg1"/>
                          </a:solidFill>
                        </a:rPr>
                        <a:t>STATEMENT</a:t>
                      </a:r>
                      <a:endParaRPr lang="en-US" sz="14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400" b="1" dirty="0">
                          <a:solidFill>
                            <a:schemeClr val="bg1"/>
                          </a:solidFill>
                        </a:rPr>
                        <a:t>T / F / NG</a:t>
                      </a:r>
                      <a:endParaRPr lang="en-US" sz="14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400" b="1" dirty="0">
                          <a:solidFill>
                            <a:schemeClr val="bg1"/>
                          </a:solidFill>
                        </a:rPr>
                        <a:t>LINE</a:t>
                      </a:r>
                      <a:endParaRPr lang="en-US" sz="14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r>
              <a:tr h="412394">
                <a:tc>
                  <a:txBody>
                    <a:bodyPr/>
                    <a:lstStyle/>
                    <a:p>
                      <a:pPr algn="l" indent="0" marL="0">
                        <a:buNone/>
                      </a:pPr>
                      <a:r>
                        <a:rPr lang="en-US" sz="1600" dirty="0">
                          <a:solidFill>
                            <a:schemeClr val="tx1"/>
                          </a:solidFill>
                        </a:rPr>
                        <a:t>You got Mark’s message at seven.</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2394">
                <a:tc>
                  <a:txBody>
                    <a:bodyPr/>
                    <a:lstStyle/>
                    <a:p>
                      <a:pPr algn="l" indent="0" marL="0">
                        <a:buNone/>
                      </a:pPr>
                      <a:r>
                        <a:rPr lang="en-US" sz="1600" dirty="0">
                          <a:solidFill>
                            <a:schemeClr val="tx1"/>
                          </a:solidFill>
                        </a:rPr>
                        <a:t>The cleaners stopped the water before they called Mark.</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2394">
                <a:tc>
                  <a:txBody>
                    <a:bodyPr/>
                    <a:lstStyle/>
                    <a:p>
                      <a:pPr algn="l" indent="0" marL="0">
                        <a:buNone/>
                      </a:pPr>
                      <a:r>
                        <a:rPr lang="en-US" sz="1600" dirty="0">
                          <a:solidFill>
                            <a:schemeClr val="tx1"/>
                          </a:solidFill>
                        </a:rPr>
                        <a:t>Samuel was checking the server rack when Mark called him.</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2394">
                <a:tc>
                  <a:txBody>
                    <a:bodyPr/>
                    <a:lstStyle/>
                    <a:p>
                      <a:pPr algn="l" indent="0" marL="0">
                        <a:buNone/>
                      </a:pPr>
                      <a:r>
                        <a:rPr lang="en-US" sz="1600" dirty="0">
                          <a:solidFill>
                            <a:schemeClr val="tx1"/>
                          </a:solidFill>
                        </a:rPr>
                        <a:t>The pipe was leaking all night.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2394">
                <a:tc>
                  <a:txBody>
                    <a:bodyPr/>
                    <a:lstStyle/>
                    <a:p>
                      <a:pPr algn="l" indent="0" marL="0">
                        <a:buNone/>
                      </a:pPr>
                      <a:r>
                        <a:rPr lang="en-US" sz="1600" dirty="0">
                          <a:solidFill>
                            <a:schemeClr val="tx1"/>
                          </a:solidFill>
                        </a:rPr>
                        <a:t>The contractor’s team was working until midnight.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660197">
                <a:tc>
                  <a:txBody>
                    <a:bodyPr/>
                    <a:lstStyle/>
                    <a:p>
                      <a:pPr algn="l" indent="0" marL="0">
                        <a:buNone/>
                      </a:pPr>
                      <a:r>
                        <a:rPr lang="en-US" sz="1600" dirty="0">
                          <a:solidFill>
                            <a:schemeClr val="tx1"/>
                          </a:solidFill>
                        </a:rPr>
                        <a:t>Someone has already told the insurer.</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2394">
                <a:tc>
                  <a:txBody>
                    <a:bodyPr/>
                    <a:lstStyle/>
                    <a:p>
                      <a:pPr algn="l" indent="0" marL="0">
                        <a:buNone/>
                      </a:pPr>
                      <a:r>
                        <a:rPr lang="en-US" sz="1600" dirty="0">
                          <a:solidFill>
                            <a:schemeClr val="tx1"/>
                          </a:solidFill>
                        </a:rPr>
                        <a:t>It is the first time they have had trouble with this pipe.</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2394">
                <a:tc>
                  <a:txBody>
                    <a:bodyPr/>
                    <a:lstStyle/>
                    <a:p>
                      <a:pPr algn="l" indent="0" marL="0">
                        <a:buNone/>
                      </a:pPr>
                      <a:r>
                        <a:rPr lang="en-US" sz="1600" dirty="0">
                          <a:solidFill>
                            <a:schemeClr val="tx1"/>
                          </a:solidFill>
                        </a:rPr>
                        <a:t>Mark wants a timeline by nine.</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dirty="0">
                          <a:solidFill>
                            <a:schemeClr val="accent5"/>
                          </a:solidFill>
                        </a:rPr>
                        <a: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True, false or not given?</a:t>
            </a:r>
            <a:endParaRPr lang="en-US" sz="3200" dirty="0"/>
          </a:p>
        </p:txBody>
      </p:sp>
      <p:sp>
        <p:nvSpPr>
          <p:cNvPr id="3" name="tag"/>
          <p:cNvSpPr/>
          <p:nvPr/>
        </p:nvSpPr>
        <p:spPr>
          <a:xfrm>
            <a:off x="548640" y="384048"/>
            <a:ext cx="11658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READING</a:t>
            </a:r>
            <a:endParaRPr lang="en-US" sz="1200" dirty="0"/>
          </a:p>
        </p:txBody>
      </p:sp>
      <p:sp>
        <p:nvSpPr>
          <p:cNvPr id="4" name="tag"/>
          <p:cNvSpPr/>
          <p:nvPr/>
        </p:nvSpPr>
        <p:spPr>
          <a:xfrm>
            <a:off x="18242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7"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b="1" i="1" dirty="0">
                <a:solidFill>
                  <a:schemeClr val="accent5"/>
                </a:solidFill>
              </a:rPr>
              <a:t>T</a:t>
            </a:r>
            <a:r>
              <a:rPr lang="en-US" sz="1600" i="1" dirty="0">
                <a:solidFill>
                  <a:schemeClr val="accent5"/>
                </a:solidFill>
              </a:rPr>
              <a:t> = the text says it · </a:t>
            </a:r>
            <a:r>
              <a:rPr lang="en-US" sz="1600" b="1" i="1" dirty="0">
                <a:solidFill>
                  <a:schemeClr val="accent5"/>
                </a:solidFill>
              </a:rPr>
              <a:t>F</a:t>
            </a:r>
            <a:r>
              <a:rPr lang="en-US" sz="1600" i="1" dirty="0">
                <a:solidFill>
                  <a:schemeClr val="accent5"/>
                </a:solidFill>
              </a:rPr>
              <a:t> = the text says the opposite · </a:t>
            </a:r>
            <a:r>
              <a:rPr lang="en-US" sz="1600" b="1" i="1" dirty="0">
                <a:solidFill>
                  <a:schemeClr val="accent5"/>
                </a:solidFill>
              </a:rPr>
              <a:t>NG</a:t>
            </a:r>
            <a:r>
              <a:rPr lang="en-US" sz="1600" i="1" dirty="0">
                <a:solidFill>
                  <a:schemeClr val="accent5"/>
                </a:solidFill>
              </a:rPr>
              <a:t> = the text does not say. Give the line.</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237232"/>
          <a:ext cx="11091672" cy="914400"/>
        </p:xfrm>
        <a:graphic>
          <a:graphicData uri="http://schemas.openxmlformats.org/drawingml/2006/table">
            <a:tbl>
              <a:tblPr/>
              <a:tblGrid>
                <a:gridCol w="7708392"/>
                <a:gridCol w="2011680"/>
                <a:gridCol w="1371600"/>
              </a:tblGrid>
              <a:tr h="527609">
                <a:tc>
                  <a:txBody>
                    <a:bodyPr/>
                    <a:lstStyle/>
                    <a:p>
                      <a:pPr algn="l" indent="0" marL="0">
                        <a:buNone/>
                      </a:pPr>
                      <a:r>
                        <a:rPr lang="en-US" sz="1400" b="1" dirty="0">
                          <a:solidFill>
                            <a:schemeClr val="bg1"/>
                          </a:solidFill>
                        </a:rPr>
                        <a:t>STATEMENT</a:t>
                      </a:r>
                      <a:endParaRPr lang="en-US" sz="14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400" b="1" dirty="0">
                          <a:solidFill>
                            <a:schemeClr val="bg1"/>
                          </a:solidFill>
                        </a:rPr>
                        <a:t>T / F / NG</a:t>
                      </a:r>
                      <a:endParaRPr lang="en-US" sz="14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400" b="1" dirty="0">
                          <a:solidFill>
                            <a:schemeClr val="bg1"/>
                          </a:solidFill>
                        </a:rPr>
                        <a:t>LINE</a:t>
                      </a:r>
                      <a:endParaRPr lang="en-US" sz="14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r>
              <a:tr h="412394">
                <a:tc>
                  <a:txBody>
                    <a:bodyPr/>
                    <a:lstStyle/>
                    <a:p>
                      <a:pPr algn="l" indent="0" marL="0">
                        <a:buNone/>
                      </a:pPr>
                      <a:r>
                        <a:rPr lang="en-US" sz="1600" dirty="0">
                          <a:solidFill>
                            <a:schemeClr val="tx1"/>
                          </a:solidFill>
                        </a:rPr>
                        <a:t>You got Mark’s message at seven.</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3"/>
                          </a:solidFill>
                        </a:rPr>
                        <a:t>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3"/>
                          </a:solidFill>
                        </a:rPr>
                        <a:t>02</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2394">
                <a:tc>
                  <a:txBody>
                    <a:bodyPr/>
                    <a:lstStyle/>
                    <a:p>
                      <a:pPr algn="l" indent="0" marL="0">
                        <a:buNone/>
                      </a:pPr>
                      <a:r>
                        <a:rPr lang="en-US" sz="1600" dirty="0">
                          <a:solidFill>
                            <a:schemeClr val="tx1"/>
                          </a:solidFill>
                        </a:rPr>
                        <a:t>The cleaners stopped the water before they called Mark.</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b="1" dirty="0">
                          <a:solidFill>
                            <a:schemeClr val="accent3"/>
                          </a:solidFill>
                        </a:rPr>
                        <a:t>NG</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b="1" dirty="0">
                          <a:solidFill>
                            <a:schemeClr val="accent3"/>
                          </a:solidFill>
                        </a:rPr>
                        <a:t>03</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2394">
                <a:tc>
                  <a:txBody>
                    <a:bodyPr/>
                    <a:lstStyle/>
                    <a:p>
                      <a:pPr algn="l" indent="0" marL="0">
                        <a:buNone/>
                      </a:pPr>
                      <a:r>
                        <a:rPr lang="en-US" sz="1600" dirty="0">
                          <a:solidFill>
                            <a:schemeClr val="tx1"/>
                          </a:solidFill>
                        </a:rPr>
                        <a:t>Samuel was checking the server rack when Mark called him.</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3"/>
                          </a:solidFill>
                        </a:rPr>
                        <a:t>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3"/>
                          </a:solidFill>
                        </a:rPr>
                        <a:t>05</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2394">
                <a:tc>
                  <a:txBody>
                    <a:bodyPr/>
                    <a:lstStyle/>
                    <a:p>
                      <a:pPr algn="l" indent="0" marL="0">
                        <a:buNone/>
                      </a:pPr>
                      <a:r>
                        <a:rPr lang="en-US" sz="1600" dirty="0">
                          <a:solidFill>
                            <a:schemeClr val="tx1"/>
                          </a:solidFill>
                        </a:rPr>
                        <a:t>The pipe was leaking all night.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b="1" dirty="0">
                          <a:solidFill>
                            <a:schemeClr val="accent3"/>
                          </a:solidFill>
                        </a:rPr>
                        <a:t>NG — only “I think”</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b="1" dirty="0">
                          <a:solidFill>
                            <a:schemeClr val="accent3"/>
                          </a:solidFill>
                        </a:rPr>
                        <a:t>06</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2394">
                <a:tc>
                  <a:txBody>
                    <a:bodyPr/>
                    <a:lstStyle/>
                    <a:p>
                      <a:pPr algn="l" indent="0" marL="0">
                        <a:buNone/>
                      </a:pPr>
                      <a:r>
                        <a:rPr lang="en-US" sz="1600" dirty="0">
                          <a:solidFill>
                            <a:schemeClr val="tx1"/>
                          </a:solidFill>
                        </a:rPr>
                        <a:t>The contractor’s team was working until midnight.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3"/>
                          </a:solidFill>
                        </a:rPr>
                        <a:t>F — until eight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3"/>
                          </a:solidFill>
                        </a:rPr>
                        <a:t>08</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660197">
                <a:tc>
                  <a:txBody>
                    <a:bodyPr/>
                    <a:lstStyle/>
                    <a:p>
                      <a:pPr algn="l" indent="0" marL="0">
                        <a:buNone/>
                      </a:pPr>
                      <a:r>
                        <a:rPr lang="en-US" sz="1600" dirty="0">
                          <a:solidFill>
                            <a:schemeClr val="tx1"/>
                          </a:solidFill>
                        </a:rPr>
                        <a:t>Someone has already told the insurer.</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b="1" dirty="0">
                          <a:solidFill>
                            <a:schemeClr val="accent3"/>
                          </a:solidFill>
                        </a:rPr>
                        <a:t>NG — line 11 is missing!</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b="1" dirty="0">
                          <a:solidFill>
                            <a:schemeClr val="accent3"/>
                          </a:solidFill>
                        </a:rPr>
                        <a:t>10</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2394">
                <a:tc>
                  <a:txBody>
                    <a:bodyPr/>
                    <a:lstStyle/>
                    <a:p>
                      <a:pPr algn="l" indent="0" marL="0">
                        <a:buNone/>
                      </a:pPr>
                      <a:r>
                        <a:rPr lang="en-US" sz="1600" dirty="0">
                          <a:solidFill>
                            <a:schemeClr val="tx1"/>
                          </a:solidFill>
                        </a:rPr>
                        <a:t>It is the first time they have had trouble with this pipe.</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3"/>
                          </a:solidFill>
                        </a:rPr>
                        <a:t>F — last November</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3"/>
                          </a:solidFill>
                        </a:rPr>
                        <a:t>13</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2394">
                <a:tc>
                  <a:txBody>
                    <a:bodyPr/>
                    <a:lstStyle/>
                    <a:p>
                      <a:pPr algn="l" indent="0" marL="0">
                        <a:buNone/>
                      </a:pPr>
                      <a:r>
                        <a:rPr lang="en-US" sz="1600" dirty="0">
                          <a:solidFill>
                            <a:schemeClr val="tx1"/>
                          </a:solidFill>
                        </a:rPr>
                        <a:t>Mark wants a timeline by nine.</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b="1" dirty="0">
                          <a:solidFill>
                            <a:schemeClr val="accent3"/>
                          </a:solidFill>
                        </a:rPr>
                        <a:t>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600" b="1" dirty="0">
                          <a:solidFill>
                            <a:schemeClr val="accent3"/>
                          </a:solidFill>
                        </a:rPr>
                        <a:t>15</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Who said what — and how sure?</a:t>
            </a:r>
            <a:endParaRPr lang="en-US" sz="3200" dirty="0"/>
          </a:p>
        </p:txBody>
      </p:sp>
      <p:sp>
        <p:nvSpPr>
          <p:cNvPr id="3" name="tag"/>
          <p:cNvSpPr/>
          <p:nvPr/>
        </p:nvSpPr>
        <p:spPr>
          <a:xfrm>
            <a:off x="548640" y="384048"/>
            <a:ext cx="1394460" cy="310896"/>
          </a:xfrm>
          <a:prstGeom prst="roundRect">
            <a:avLst>
              <a:gd name="adj" fmla="val 14706"/>
            </a:avLst>
          </a:prstGeom>
          <a:solidFill>
            <a:srgbClr val="C0752A"/>
          </a:solidFill>
          <a:ln/>
        </p:spPr>
        <p:txBody>
          <a:bodyPr wrap="square" lIns="0" tIns="0" rIns="0" bIns="0" rtlCol="0" anchor="ctr"/>
          <a:lstStyle/>
          <a:p>
            <a:pPr algn="ctr" indent="0" marL="0">
              <a:buNone/>
            </a:pPr>
            <a:r>
              <a:rPr lang="en-US" sz="1200" b="1" spc="100" kern="0" dirty="0">
                <a:solidFill>
                  <a:schemeClr val="bg1"/>
                </a:solidFill>
              </a:rPr>
              <a:t>YOUR MOVE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6"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For each statement: who said it, which word shows how sure they are, and is it a fact or a supposition?</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237232"/>
          <a:ext cx="11091672" cy="914400"/>
        </p:xfrm>
        <a:graphic>
          <a:graphicData uri="http://schemas.openxmlformats.org/drawingml/2006/table">
            <a:tbl>
              <a:tblPr/>
              <a:tblGrid>
                <a:gridCol w="4206240"/>
                <a:gridCol w="1463040"/>
                <a:gridCol w="2560320"/>
                <a:gridCol w="2862072"/>
              </a:tblGrid>
              <a:tr h="562356">
                <a:tc>
                  <a:txBody>
                    <a:bodyPr/>
                    <a:lstStyle/>
                    <a:p>
                      <a:pPr algn="l" indent="0" marL="0">
                        <a:buNone/>
                      </a:pPr>
                      <a:r>
                        <a:rPr lang="en-US" sz="1600" b="1" dirty="0">
                          <a:solidFill>
                            <a:schemeClr val="bg1"/>
                          </a:solidFill>
                        </a:rPr>
                        <a:t>STATEMENT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600" b="1" dirty="0">
                          <a:solidFill>
                            <a:schemeClr val="bg1"/>
                          </a:solidFill>
                        </a:rPr>
                        <a:t>WHO</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600" b="1" dirty="0">
                          <a:solidFill>
                            <a:schemeClr val="bg1"/>
                          </a:solidFill>
                        </a:rPr>
                        <a:t>MARKER</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600" b="1" dirty="0">
                          <a:solidFill>
                            <a:schemeClr val="bg1"/>
                          </a:solidFill>
                        </a:rPr>
                        <a:t>FACT OR SUPPOSITION?</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r>
              <a:tr h="724205">
                <a:tc>
                  <a:txBody>
                    <a:bodyPr/>
                    <a:lstStyle/>
                    <a:p>
                      <a:pPr algn="l" indent="0" marL="0">
                        <a:buNone/>
                      </a:pPr>
                      <a:r>
                        <a:rPr lang="en-US" sz="1800" dirty="0">
                          <a:solidFill>
                            <a:schemeClr val="tx1"/>
                          </a:solidFill>
                        </a:rPr>
                        <a:t>It was still running when they arrived.</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Mark</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accent5"/>
                          </a:solidFill>
                        </a:rPr>
                        <a: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accent5"/>
                          </a:solidFill>
                        </a:rPr>
                        <a: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45313">
                <a:tc>
                  <a:txBody>
                    <a:bodyPr/>
                    <a:lstStyle/>
                    <a:p>
                      <a:pPr algn="l" indent="0" marL="0">
                        <a:buNone/>
                      </a:pPr>
                      <a:r>
                        <a:rPr lang="en-US" sz="1800" dirty="0">
                          <a:solidFill>
                            <a:schemeClr val="tx1"/>
                          </a:solidFill>
                        </a:rPr>
                        <a:t>The pipe was leaking all night.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Iris</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accent5"/>
                          </a:solidFill>
                        </a:rPr>
                        <a: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accent5"/>
                          </a:solidFill>
                        </a:rPr>
                        <a: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724205">
                <a:tc>
                  <a:txBody>
                    <a:bodyPr/>
                    <a:lstStyle/>
                    <a:p>
                      <a:pPr algn="l" indent="0" marL="0">
                        <a:buNone/>
                      </a:pPr>
                      <a:r>
                        <a:rPr lang="en-US" sz="1800" dirty="0">
                          <a:solidFill>
                            <a:schemeClr val="tx1"/>
                          </a:solidFill>
                        </a:rPr>
                        <a:t>The alarm went off at 11.40 p.m.</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Samuel</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accent5"/>
                          </a:solidFill>
                        </a:rPr>
                        <a: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accent5"/>
                          </a:solidFill>
                        </a:rPr>
                        <a: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45313">
                <a:tc>
                  <a:txBody>
                    <a:bodyPr/>
                    <a:lstStyle/>
                    <a:p>
                      <a:pPr algn="l" indent="0" marL="0">
                        <a:buNone/>
                      </a:pPr>
                      <a:r>
                        <a:rPr lang="en-US" sz="1800" dirty="0">
                          <a:solidFill>
                            <a:schemeClr val="tx1"/>
                          </a:solidFill>
                        </a:rPr>
                        <a:t>Nobody was on site.</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Samuel</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accent5"/>
                          </a:solidFill>
                        </a:rPr>
                        <a: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accent5"/>
                          </a:solidFill>
                        </a:rPr>
                        <a: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45313">
                <a:tc>
                  <a:txBody>
                    <a:bodyPr/>
                    <a:lstStyle/>
                    <a:p>
                      <a:pPr algn="l" indent="0" marL="0">
                        <a:buNone/>
                      </a:pPr>
                      <a:r>
                        <a:rPr lang="en-US" sz="1800" dirty="0">
                          <a:solidFill>
                            <a:schemeClr val="tx1"/>
                          </a:solidFill>
                        </a:rPr>
                        <a:t>It may be worse than it looks.</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Iris</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accent5"/>
                          </a:solidFill>
                        </a:rPr>
                        <a: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accent5"/>
                          </a:solidFill>
                        </a:rPr>
                        <a: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724205">
                <a:tc>
                  <a:txBody>
                    <a:bodyPr/>
                    <a:lstStyle/>
                    <a:p>
                      <a:pPr algn="l" indent="0" marL="0">
                        <a:buNone/>
                      </a:pPr>
                      <a:r>
                        <a:rPr lang="en-US" sz="1800" dirty="0">
                          <a:solidFill>
                            <a:schemeClr val="tx1"/>
                          </a:solidFill>
                        </a:rPr>
                        <a:t>It might be the same pipe as last November.</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Samuel</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accent5"/>
                          </a:solidFill>
                        </a:rPr>
                        <a: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accent5"/>
                          </a:solidFill>
                        </a:rPr>
                        <a: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Who said what — and how sure?</a:t>
            </a:r>
            <a:endParaRPr lang="en-US" sz="3200" dirty="0"/>
          </a:p>
        </p:txBody>
      </p:sp>
      <p:sp>
        <p:nvSpPr>
          <p:cNvPr id="3" name="tag"/>
          <p:cNvSpPr/>
          <p:nvPr/>
        </p:nvSpPr>
        <p:spPr>
          <a:xfrm>
            <a:off x="548640" y="384048"/>
            <a:ext cx="1394460" cy="310896"/>
          </a:xfrm>
          <a:prstGeom prst="roundRect">
            <a:avLst>
              <a:gd name="adj" fmla="val 14706"/>
            </a:avLst>
          </a:prstGeom>
          <a:solidFill>
            <a:srgbClr val="C0752A"/>
          </a:solidFill>
          <a:ln/>
        </p:spPr>
        <p:txBody>
          <a:bodyPr wrap="square" lIns="0" tIns="0" rIns="0" bIns="0" rtlCol="0" anchor="ctr"/>
          <a:lstStyle/>
          <a:p>
            <a:pPr algn="ctr" indent="0" marL="0">
              <a:buNone/>
            </a:pPr>
            <a:r>
              <a:rPr lang="en-US" sz="1200" b="1" spc="100" kern="0" dirty="0">
                <a:solidFill>
                  <a:schemeClr val="bg1"/>
                </a:solidFill>
              </a:rPr>
              <a:t>YOUR MOVE</a:t>
            </a:r>
            <a:endParaRPr lang="en-US" sz="1200" dirty="0"/>
          </a:p>
        </p:txBody>
      </p:sp>
      <p:sp>
        <p:nvSpPr>
          <p:cNvPr id="4" name="tag"/>
          <p:cNvSpPr/>
          <p:nvPr/>
        </p:nvSpPr>
        <p:spPr>
          <a:xfrm>
            <a:off x="20528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7"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For each statement: who said it, which word shows how sure they are, and is it a fact or a supposition?</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237232"/>
          <a:ext cx="11091672" cy="914400"/>
        </p:xfrm>
        <a:graphic>
          <a:graphicData uri="http://schemas.openxmlformats.org/drawingml/2006/table">
            <a:tbl>
              <a:tblPr/>
              <a:tblGrid>
                <a:gridCol w="4206240"/>
                <a:gridCol w="1463040"/>
                <a:gridCol w="2560320"/>
                <a:gridCol w="2862072"/>
              </a:tblGrid>
              <a:tr h="562356">
                <a:tc>
                  <a:txBody>
                    <a:bodyPr/>
                    <a:lstStyle/>
                    <a:p>
                      <a:pPr algn="l" indent="0" marL="0">
                        <a:buNone/>
                      </a:pPr>
                      <a:r>
                        <a:rPr lang="en-US" sz="1600" b="1" dirty="0">
                          <a:solidFill>
                            <a:schemeClr val="bg1"/>
                          </a:solidFill>
                        </a:rPr>
                        <a:t>STATEMENT</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600" b="1" dirty="0">
                          <a:solidFill>
                            <a:schemeClr val="bg1"/>
                          </a:solidFill>
                        </a:rPr>
                        <a:t>WHO</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600" b="1" dirty="0">
                          <a:solidFill>
                            <a:schemeClr val="bg1"/>
                          </a:solidFill>
                        </a:rPr>
                        <a:t>MARKER</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600" b="1" dirty="0">
                          <a:solidFill>
                            <a:schemeClr val="bg1"/>
                          </a:solidFill>
                        </a:rPr>
                        <a:t>FACT OR SUPPOSITION?</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r>
              <a:tr h="724205">
                <a:tc>
                  <a:txBody>
                    <a:bodyPr/>
                    <a:lstStyle/>
                    <a:p>
                      <a:pPr algn="l" indent="0" marL="0">
                        <a:buNone/>
                      </a:pPr>
                      <a:r>
                        <a:rPr lang="en-US" sz="1800" dirty="0">
                          <a:solidFill>
                            <a:schemeClr val="tx1"/>
                          </a:solidFill>
                        </a:rPr>
                        <a:t>It was still running when they arrived.</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Mark</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chemeClr val="accent3"/>
                          </a:solidFill>
                        </a:rPr>
                        <a:t>none — the cleaners saw it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chemeClr val="accent3"/>
                          </a:solidFill>
                        </a:rPr>
                        <a:t>fact (witnessed)</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45313">
                <a:tc>
                  <a:txBody>
                    <a:bodyPr/>
                    <a:lstStyle/>
                    <a:p>
                      <a:pPr algn="l" indent="0" marL="0">
                        <a:buNone/>
                      </a:pPr>
                      <a:r>
                        <a:rPr lang="en-US" sz="1800" dirty="0">
                          <a:solidFill>
                            <a:schemeClr val="tx1"/>
                          </a:solidFill>
                        </a:rPr>
                        <a:t>The pipe was leaking all night.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Iris</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b="1" dirty="0">
                          <a:solidFill>
                            <a:schemeClr val="accent3"/>
                          </a:solidFill>
                        </a:rPr>
                        <a:t>“I think”</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b="1" dirty="0">
                          <a:solidFill>
                            <a:schemeClr val="accent3"/>
                          </a:solidFill>
                        </a:rPr>
                        <a:t>supposition</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724205">
                <a:tc>
                  <a:txBody>
                    <a:bodyPr/>
                    <a:lstStyle/>
                    <a:p>
                      <a:pPr algn="l" indent="0" marL="0">
                        <a:buNone/>
                      </a:pPr>
                      <a:r>
                        <a:rPr lang="en-US" sz="1800" dirty="0">
                          <a:solidFill>
                            <a:schemeClr val="tx1"/>
                          </a:solidFill>
                        </a:rPr>
                        <a:t>The alarm went off at 11.40 p.m.</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Samuel</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chemeClr val="accent3"/>
                          </a:solidFill>
                        </a:rPr>
                        <a:t>“I’ve looked at the logs”</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chemeClr val="accent3"/>
                          </a:solidFill>
                        </a:rPr>
                        <a:t>fact? — check the log!</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45313">
                <a:tc>
                  <a:txBody>
                    <a:bodyPr/>
                    <a:lstStyle/>
                    <a:p>
                      <a:pPr algn="l" indent="0" marL="0">
                        <a:buNone/>
                      </a:pPr>
                      <a:r>
                        <a:rPr lang="en-US" sz="1800" dirty="0">
                          <a:solidFill>
                            <a:schemeClr val="tx1"/>
                          </a:solidFill>
                        </a:rPr>
                        <a:t>Nobody was on site.</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Samuel</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b="1" dirty="0">
                          <a:solidFill>
                            <a:schemeClr val="accent3"/>
                          </a:solidFill>
                        </a:rPr>
                        <a:t>none</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b="1" dirty="0">
                          <a:solidFill>
                            <a:schemeClr val="accent3"/>
                          </a:solidFill>
                        </a:rPr>
                        <a:t>not proved yet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45313">
                <a:tc>
                  <a:txBody>
                    <a:bodyPr/>
                    <a:lstStyle/>
                    <a:p>
                      <a:pPr algn="l" indent="0" marL="0">
                        <a:buNone/>
                      </a:pPr>
                      <a:r>
                        <a:rPr lang="en-US" sz="1800" dirty="0">
                          <a:solidFill>
                            <a:schemeClr val="tx1"/>
                          </a:solidFill>
                        </a:rPr>
                        <a:t>It may be worse than it looks.</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Iris</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chemeClr val="accent3"/>
                          </a:solidFill>
                        </a:rPr>
                        <a:t>may</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chemeClr val="accent3"/>
                          </a:solidFill>
                        </a:rPr>
                        <a:t>supposition</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724205">
                <a:tc>
                  <a:txBody>
                    <a:bodyPr/>
                    <a:lstStyle/>
                    <a:p>
                      <a:pPr algn="l" indent="0" marL="0">
                        <a:buNone/>
                      </a:pPr>
                      <a:r>
                        <a:rPr lang="en-US" sz="1800" dirty="0">
                          <a:solidFill>
                            <a:schemeClr val="tx1"/>
                          </a:solidFill>
                        </a:rPr>
                        <a:t>It might be the same pipe as last November.</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Samuel</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b="1" dirty="0">
                          <a:solidFill>
                            <a:schemeClr val="accent3"/>
                          </a:solidFill>
                        </a:rPr>
                        <a:t>might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b="1" dirty="0">
                          <a:solidFill>
                            <a:schemeClr val="accent3"/>
                          </a:solidFill>
                        </a:rPr>
                        <a:t>supposition</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Fact or supposition? Ask two questions</a:t>
            </a:r>
            <a:endParaRPr lang="en-US" sz="3200" dirty="0"/>
          </a:p>
        </p:txBody>
      </p:sp>
      <p:sp>
        <p:nvSpPr>
          <p:cNvPr id="3" name="tag"/>
          <p:cNvSpPr/>
          <p:nvPr/>
        </p:nvSpPr>
        <p:spPr>
          <a:xfrm>
            <a:off x="548640" y="384048"/>
            <a:ext cx="1051560" cy="310896"/>
          </a:xfrm>
          <a:prstGeom prst="roundRect">
            <a:avLst>
              <a:gd name="adj" fmla="val 14706"/>
            </a:avLst>
          </a:prstGeom>
          <a:solidFill>
            <a:srgbClr val="44546A"/>
          </a:solidFill>
          <a:ln/>
        </p:spPr>
        <p:txBody>
          <a:bodyPr wrap="square" lIns="0" tIns="0" rIns="0" bIns="0" rtlCol="0" anchor="ctr"/>
          <a:lstStyle/>
          <a:p>
            <a:pPr algn="ctr" indent="0" marL="0">
              <a:buNone/>
            </a:pPr>
            <a:r>
              <a:rPr lang="en-US" sz="1200" b="1" spc="100" kern="0" dirty="0">
                <a:solidFill>
                  <a:schemeClr val="bg1"/>
                </a:solidFill>
              </a:rPr>
              <a:t>METHOD</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6" name="Text 3"/>
          <p:cNvSpPr/>
          <p:nvPr/>
        </p:nvSpPr>
        <p:spPr>
          <a:xfrm>
            <a:off x="1314450" y="1737360"/>
            <a:ext cx="3177540" cy="384048"/>
          </a:xfrm>
          <a:prstGeom prst="roundRect">
            <a:avLst>
              <a:gd name="adj" fmla="val 47619"/>
            </a:avLst>
          </a:prstGeom>
          <a:solidFill>
            <a:srgbClr val="1F3864"/>
          </a:solidFill>
          <a:ln/>
        </p:spPr>
        <p:txBody>
          <a:bodyPr wrap="square" lIns="0" tIns="0" rIns="0" bIns="0" rtlCol="0" anchor="ctr"/>
          <a:lstStyle/>
          <a:p>
            <a:pPr algn="ctr" indent="0" marL="0">
              <a:buNone/>
            </a:pPr>
            <a:r>
              <a:rPr lang="en-US" sz="1500" b="1" dirty="0">
                <a:solidFill>
                  <a:schemeClr val="bg1"/>
                </a:solidFill>
              </a:rPr>
              <a:t>A statement from the room</a:t>
            </a:r>
            <a:endParaRPr lang="en-US" sz="1500" dirty="0"/>
          </a:p>
        </p:txBody>
      </p:sp>
      <p:sp>
        <p:nvSpPr>
          <p:cNvPr id="7" name="Shape 4"/>
          <p:cNvSpPr/>
          <p:nvPr/>
        </p:nvSpPr>
        <p:spPr>
          <a:xfrm>
            <a:off x="2903220" y="2139696"/>
            <a:ext cx="0" cy="310896"/>
          </a:xfrm>
          <a:prstGeom prst="line">
            <a:avLst/>
          </a:prstGeom>
          <a:noFill/>
          <a:ln w="22225">
            <a:solidFill>
              <a:srgbClr val="44546A"/>
            </a:solidFill>
            <a:prstDash val="solid"/>
            <a:tailEnd type="triangle"/>
          </a:ln>
        </p:spPr>
      </p:sp>
      <p:sp>
        <p:nvSpPr>
          <p:cNvPr id="8" name="Shape 5"/>
          <p:cNvSpPr/>
          <p:nvPr/>
        </p:nvSpPr>
        <p:spPr>
          <a:xfrm>
            <a:off x="548640" y="2468880"/>
            <a:ext cx="4709160" cy="932688"/>
          </a:xfrm>
          <a:prstGeom prst="roundRect">
            <a:avLst>
              <a:gd name="adj" fmla="val 7843"/>
            </a:avLst>
          </a:prstGeom>
          <a:solidFill>
            <a:srgbClr val="FFFFFF"/>
          </a:solidFill>
          <a:ln w="19050">
            <a:solidFill>
              <a:srgbClr val="1F3864"/>
            </a:solidFill>
            <a:prstDash val="solid"/>
          </a:ln>
          <a:effectLst>
            <a:outerShdw sx="100000" sy="100000" kx="0" ky="0" algn="bl" rotWithShape="0" blurRad="101600" dist="25400" dir="3600000">
              <a:srgbClr val="000000">
                <a:alpha val="18000"/>
              </a:srgbClr>
            </a:outerShdw>
          </a:effectLst>
        </p:spPr>
      </p:sp>
      <p:sp>
        <p:nvSpPr>
          <p:cNvPr id="9" name="Shape 6"/>
          <p:cNvSpPr/>
          <p:nvPr/>
        </p:nvSpPr>
        <p:spPr>
          <a:xfrm>
            <a:off x="694944" y="2715768"/>
            <a:ext cx="438912" cy="438912"/>
          </a:xfrm>
          <a:prstGeom prst="ellipse">
            <a:avLst/>
          </a:prstGeom>
          <a:solidFill>
            <a:srgbClr val="1F3864"/>
          </a:solidFill>
          <a:ln/>
        </p:spPr>
      </p:sp>
      <p:pic>
        <p:nvPicPr>
          <p:cNvPr id="10" name="Image 0" descr="preencoded.png">    </p:cNvPr>
          <p:cNvPicPr>
            <a:picLocks noChangeAspect="1"/>
          </p:cNvPicPr>
          <p:nvPr/>
        </p:nvPicPr>
        <p:blipFill>
          <a:blip r:embed="rId1"/>
          <a:stretch>
            <a:fillRect/>
          </a:stretch>
        </p:blipFill>
        <p:spPr>
          <a:xfrm>
            <a:off x="804672" y="2825496"/>
            <a:ext cx="219456" cy="219456"/>
          </a:xfrm>
          <a:prstGeom prst="rect">
            <a:avLst/>
          </a:prstGeom>
        </p:spPr>
      </p:pic>
      <p:sp>
        <p:nvSpPr>
          <p:cNvPr id="11" name="Text 7"/>
          <p:cNvSpPr txBox="1"/>
          <p:nvPr/>
        </p:nvSpPr>
        <p:spPr>
          <a:xfrm>
            <a:off x="1261872" y="2505456"/>
            <a:ext cx="3867912" cy="859536"/>
          </a:xfrm>
          <a:prstGeom prst="rect">
            <a:avLst/>
          </a:prstGeom>
          <a:noFill/>
          <a:ln/>
        </p:spPr>
        <p:txBody>
          <a:bodyPr wrap="square" lIns="0" tIns="0" rIns="0" bIns="0" rtlCol="0" anchor="ctr"/>
          <a:lstStyle/>
          <a:p>
            <a:pPr indent="0" marL="0">
              <a:buNone/>
            </a:pPr>
            <a:r>
              <a:rPr lang="en-US" sz="1700" b="1" dirty="0">
                <a:solidFill>
                  <a:schemeClr val="tx2"/>
                </a:solidFill>
              </a:rPr>
              <a:t>Did someone </a:t>
            </a:r>
            <a:r>
              <a:rPr lang="en-US" sz="1700" b="1" dirty="0">
                <a:solidFill>
                  <a:schemeClr val="tx2"/>
                </a:solidFill>
              </a:rPr>
              <a:t>see</a:t>
            </a:r>
            <a:r>
              <a:rPr lang="en-US" sz="1700" b="1" dirty="0">
                <a:solidFill>
                  <a:schemeClr val="tx2"/>
                </a:solidFill>
              </a:rPr>
              <a:t> it — or is it in a </a:t>
            </a:r>
            <a:r>
              <a:rPr lang="en-US" sz="1700" b="1" dirty="0">
                <a:solidFill>
                  <a:schemeClr val="tx2"/>
                </a:solidFill>
              </a:rPr>
              <a:t>document</a:t>
            </a:r>
            <a:r>
              <a:rPr lang="en-US" sz="1700" b="1" dirty="0">
                <a:solidFill>
                  <a:schemeClr val="tx2"/>
                </a:solidFill>
              </a:rPr>
              <a:t>?</a:t>
            </a:r>
            <a:endParaRPr lang="en-US" sz="1700" dirty="0"/>
          </a:p>
          <a:p>
            <a:pPr indent="0" marL="0">
              <a:buNone/>
            </a:pPr>
            <a:r>
              <a:rPr lang="en-US" sz="1300" i="1" dirty="0">
                <a:solidFill>
                  <a:schemeClr val="accent5"/>
                </a:solidFill>
              </a:rPr>
              <a:t>a witness · the alarm log · a photo · a sign-out sheet</a:t>
            </a:r>
            <a:endParaRPr lang="en-US" sz="1700" dirty="0"/>
          </a:p>
        </p:txBody>
      </p:sp>
      <p:sp>
        <p:nvSpPr>
          <p:cNvPr id="12" name="Shape 8"/>
          <p:cNvSpPr/>
          <p:nvPr/>
        </p:nvSpPr>
        <p:spPr>
          <a:xfrm>
            <a:off x="5276088" y="2935224"/>
            <a:ext cx="859536" cy="0"/>
          </a:xfrm>
          <a:prstGeom prst="line">
            <a:avLst/>
          </a:prstGeom>
          <a:noFill/>
          <a:ln w="22225">
            <a:solidFill>
              <a:srgbClr val="3C7A3C"/>
            </a:solidFill>
            <a:prstDash val="solid"/>
            <a:tailEnd type="triangle"/>
          </a:ln>
        </p:spPr>
      </p:sp>
      <p:sp>
        <p:nvSpPr>
          <p:cNvPr id="13" name="Text 9"/>
          <p:cNvSpPr txBox="1"/>
          <p:nvPr/>
        </p:nvSpPr>
        <p:spPr>
          <a:xfrm>
            <a:off x="5257800" y="2624328"/>
            <a:ext cx="914400" cy="274320"/>
          </a:xfrm>
          <a:prstGeom prst="rect">
            <a:avLst/>
          </a:prstGeom>
          <a:noFill/>
          <a:ln/>
        </p:spPr>
        <p:txBody>
          <a:bodyPr wrap="square" lIns="0" tIns="0" rIns="0" bIns="0" rtlCol="0" anchor="ctr"/>
          <a:lstStyle/>
          <a:p>
            <a:pPr algn="ctr" indent="0" marL="0">
              <a:buNone/>
            </a:pPr>
            <a:r>
              <a:rPr lang="en-US" sz="1200" b="1" dirty="0">
                <a:solidFill>
                  <a:schemeClr val="accent3"/>
                </a:solidFill>
              </a:rPr>
              <a:t>YES</a:t>
            </a:r>
            <a:endParaRPr lang="en-US" sz="1200" dirty="0"/>
          </a:p>
        </p:txBody>
      </p:sp>
      <p:sp>
        <p:nvSpPr>
          <p:cNvPr id="14" name="Shape 10"/>
          <p:cNvSpPr/>
          <p:nvPr/>
        </p:nvSpPr>
        <p:spPr>
          <a:xfrm>
            <a:off x="6172200" y="2468880"/>
            <a:ext cx="5468112" cy="932688"/>
          </a:xfrm>
          <a:prstGeom prst="roundRect">
            <a:avLst>
              <a:gd name="adj" fmla="val 7843"/>
            </a:avLst>
          </a:prstGeom>
          <a:solidFill>
            <a:srgbClr val="3C7A3C">
              <a:alpha val="12000"/>
            </a:srgbClr>
          </a:solidFill>
          <a:ln w="19050">
            <a:solidFill>
              <a:srgbClr val="3C7A3C"/>
            </a:solidFill>
            <a:prstDash val="solid"/>
          </a:ln>
        </p:spPr>
      </p:sp>
      <p:sp>
        <p:nvSpPr>
          <p:cNvPr id="15" name="Text 11"/>
          <p:cNvSpPr txBox="1"/>
          <p:nvPr/>
        </p:nvSpPr>
        <p:spPr>
          <a:xfrm>
            <a:off x="6336792" y="2505456"/>
            <a:ext cx="5138928" cy="859536"/>
          </a:xfrm>
          <a:prstGeom prst="rect">
            <a:avLst/>
          </a:prstGeom>
          <a:noFill/>
          <a:ln/>
        </p:spPr>
        <p:txBody>
          <a:bodyPr wrap="square" lIns="0" tIns="0" rIns="0" bIns="0" rtlCol="0" anchor="ctr"/>
          <a:lstStyle/>
          <a:p>
            <a:pPr indent="0" marL="0">
              <a:buNone/>
            </a:pPr>
            <a:r>
              <a:rPr lang="en-US" sz="1600" b="1" spc="50" kern="0" dirty="0">
                <a:solidFill>
                  <a:schemeClr val="accent3"/>
                </a:solidFill>
              </a:rPr>
              <a:t>FACT — write it, with its source</a:t>
            </a:r>
            <a:endParaRPr lang="en-US" sz="1600" dirty="0"/>
          </a:p>
          <a:p>
            <a:pPr indent="0" marL="0">
              <a:buNone/>
            </a:pPr>
            <a:r>
              <a:rPr lang="en-US" sz="1600" i="1" dirty="0">
                <a:solidFill>
                  <a:schemeClr val="tx1"/>
                </a:solidFill>
              </a:rPr>
              <a:t>The cleaners found water.</a:t>
            </a:r>
            <a:r>
              <a:rPr lang="en-US" sz="1600" dirty="0">
                <a:solidFill>
                  <a:schemeClr val="tx1"/>
                </a:solidFill>
              </a:rPr>
              <a:t> (they saw it)</a:t>
            </a:r>
            <a:endParaRPr lang="en-US" sz="1600" dirty="0"/>
          </a:p>
        </p:txBody>
      </p:sp>
      <p:sp>
        <p:nvSpPr>
          <p:cNvPr id="16" name="Shape 12"/>
          <p:cNvSpPr/>
          <p:nvPr/>
        </p:nvSpPr>
        <p:spPr>
          <a:xfrm>
            <a:off x="2903220" y="3419856"/>
            <a:ext cx="0" cy="310896"/>
          </a:xfrm>
          <a:prstGeom prst="line">
            <a:avLst/>
          </a:prstGeom>
          <a:noFill/>
          <a:ln w="22225">
            <a:solidFill>
              <a:srgbClr val="44546A"/>
            </a:solidFill>
            <a:prstDash val="solid"/>
            <a:tailEnd type="triangle"/>
          </a:ln>
        </p:spPr>
      </p:sp>
      <p:sp>
        <p:nvSpPr>
          <p:cNvPr id="17" name="Text 13"/>
          <p:cNvSpPr txBox="1"/>
          <p:nvPr/>
        </p:nvSpPr>
        <p:spPr>
          <a:xfrm>
            <a:off x="2994660" y="3401568"/>
            <a:ext cx="548640" cy="347472"/>
          </a:xfrm>
          <a:prstGeom prst="rect">
            <a:avLst/>
          </a:prstGeom>
          <a:noFill/>
          <a:ln/>
        </p:spPr>
        <p:txBody>
          <a:bodyPr wrap="square" lIns="0" tIns="0" rIns="0" bIns="0" rtlCol="0" anchor="ctr"/>
          <a:lstStyle/>
          <a:p>
            <a:pPr indent="0" marL="0">
              <a:buNone/>
            </a:pPr>
            <a:r>
              <a:rPr lang="en-US" sz="1200" b="1" dirty="0">
                <a:solidFill>
                  <a:schemeClr val="accent6"/>
                </a:solidFill>
              </a:rPr>
              <a:t>NO</a:t>
            </a:r>
            <a:endParaRPr lang="en-US" sz="1200" dirty="0"/>
          </a:p>
        </p:txBody>
      </p:sp>
      <p:sp>
        <p:nvSpPr>
          <p:cNvPr id="18" name="Shape 14"/>
          <p:cNvSpPr/>
          <p:nvPr/>
        </p:nvSpPr>
        <p:spPr>
          <a:xfrm>
            <a:off x="548640" y="3749040"/>
            <a:ext cx="4709160" cy="932688"/>
          </a:xfrm>
          <a:prstGeom prst="roundRect">
            <a:avLst>
              <a:gd name="adj" fmla="val 7843"/>
            </a:avLst>
          </a:prstGeom>
          <a:solidFill>
            <a:srgbClr val="FFFFFF"/>
          </a:solidFill>
          <a:ln w="19050">
            <a:solidFill>
              <a:srgbClr val="1F3864"/>
            </a:solidFill>
            <a:prstDash val="solid"/>
          </a:ln>
          <a:effectLst>
            <a:outerShdw sx="100000" sy="100000" kx="0" ky="0" algn="bl" rotWithShape="0" blurRad="101600" dist="25400" dir="3600000">
              <a:srgbClr val="000000">
                <a:alpha val="18000"/>
              </a:srgbClr>
            </a:outerShdw>
          </a:effectLst>
        </p:spPr>
      </p:sp>
      <p:sp>
        <p:nvSpPr>
          <p:cNvPr id="19" name="Shape 15"/>
          <p:cNvSpPr/>
          <p:nvPr/>
        </p:nvSpPr>
        <p:spPr>
          <a:xfrm>
            <a:off x="694944" y="3995928"/>
            <a:ext cx="438912" cy="438912"/>
          </a:xfrm>
          <a:prstGeom prst="ellipse">
            <a:avLst/>
          </a:prstGeom>
          <a:solidFill>
            <a:srgbClr val="1F3864"/>
          </a:solidFill>
          <a:ln/>
        </p:spPr>
      </p:sp>
      <p:pic>
        <p:nvPicPr>
          <p:cNvPr id="20" name="Image 1" descr="preencoded.png">    </p:cNvPr>
          <p:cNvPicPr>
            <a:picLocks noChangeAspect="1"/>
          </p:cNvPicPr>
          <p:nvPr/>
        </p:nvPicPr>
        <p:blipFill>
          <a:blip r:embed="rId2"/>
          <a:stretch>
            <a:fillRect/>
          </a:stretch>
        </p:blipFill>
        <p:spPr>
          <a:xfrm>
            <a:off x="804672" y="4105656"/>
            <a:ext cx="219456" cy="219456"/>
          </a:xfrm>
          <a:prstGeom prst="rect">
            <a:avLst/>
          </a:prstGeom>
        </p:spPr>
      </p:pic>
      <p:sp>
        <p:nvSpPr>
          <p:cNvPr id="21" name="Text 16"/>
          <p:cNvSpPr txBox="1"/>
          <p:nvPr/>
        </p:nvSpPr>
        <p:spPr>
          <a:xfrm>
            <a:off x="1261872" y="3785616"/>
            <a:ext cx="3867912" cy="859536"/>
          </a:xfrm>
          <a:prstGeom prst="rect">
            <a:avLst/>
          </a:prstGeom>
          <a:noFill/>
          <a:ln/>
        </p:spPr>
        <p:txBody>
          <a:bodyPr wrap="square" lIns="0" tIns="0" rIns="0" bIns="0" rtlCol="0" anchor="ctr"/>
          <a:lstStyle/>
          <a:p>
            <a:pPr indent="0" marL="0">
              <a:buNone/>
            </a:pPr>
            <a:r>
              <a:rPr lang="en-US" sz="1700" b="1" dirty="0">
                <a:solidFill>
                  <a:schemeClr val="tx2"/>
                </a:solidFill>
              </a:rPr>
              <a:t>Does the speaker say </a:t>
            </a:r>
            <a:r>
              <a:rPr lang="en-US" sz="1700" b="1" dirty="0">
                <a:solidFill>
                  <a:schemeClr val="tx2"/>
                </a:solidFill>
              </a:rPr>
              <a:t>I think, may, might, probably…</a:t>
            </a:r>
            <a:r>
              <a:rPr lang="en-US" sz="1700" b="1" dirty="0">
                <a:solidFill>
                  <a:schemeClr val="tx2"/>
                </a:solidFill>
              </a:rPr>
              <a:t>?</a:t>
            </a:r>
            <a:endParaRPr lang="en-US" sz="1700" dirty="0"/>
          </a:p>
          <a:p>
            <a:pPr indent="0" marL="0">
              <a:buNone/>
            </a:pPr>
            <a:r>
              <a:rPr lang="en-US" sz="1300" i="1" dirty="0">
                <a:solidFill>
                  <a:schemeClr val="accent5"/>
                </a:solidFill>
              </a:rPr>
              <a:t>a certainty marker</a:t>
            </a:r>
            <a:endParaRPr lang="en-US" sz="1700" dirty="0"/>
          </a:p>
        </p:txBody>
      </p:sp>
      <p:sp>
        <p:nvSpPr>
          <p:cNvPr id="22" name="Shape 17"/>
          <p:cNvSpPr/>
          <p:nvPr/>
        </p:nvSpPr>
        <p:spPr>
          <a:xfrm>
            <a:off x="5276088" y="4215384"/>
            <a:ext cx="859536" cy="0"/>
          </a:xfrm>
          <a:prstGeom prst="line">
            <a:avLst/>
          </a:prstGeom>
          <a:noFill/>
          <a:ln w="22225">
            <a:solidFill>
              <a:srgbClr val="3C7A3C"/>
            </a:solidFill>
            <a:prstDash val="solid"/>
            <a:tailEnd type="triangle"/>
          </a:ln>
        </p:spPr>
      </p:sp>
      <p:sp>
        <p:nvSpPr>
          <p:cNvPr id="23" name="Text 18"/>
          <p:cNvSpPr txBox="1"/>
          <p:nvPr/>
        </p:nvSpPr>
        <p:spPr>
          <a:xfrm>
            <a:off x="5257800" y="3904488"/>
            <a:ext cx="914400" cy="274320"/>
          </a:xfrm>
          <a:prstGeom prst="rect">
            <a:avLst/>
          </a:prstGeom>
          <a:noFill/>
          <a:ln/>
        </p:spPr>
        <p:txBody>
          <a:bodyPr wrap="square" lIns="0" tIns="0" rIns="0" bIns="0" rtlCol="0" anchor="ctr"/>
          <a:lstStyle/>
          <a:p>
            <a:pPr algn="ctr" indent="0" marL="0">
              <a:buNone/>
            </a:pPr>
            <a:r>
              <a:rPr lang="en-US" sz="1200" b="1" dirty="0">
                <a:solidFill>
                  <a:schemeClr val="accent3"/>
                </a:solidFill>
              </a:rPr>
              <a:t>YES</a:t>
            </a:r>
            <a:endParaRPr lang="en-US" sz="1200" dirty="0"/>
          </a:p>
        </p:txBody>
      </p:sp>
      <p:sp>
        <p:nvSpPr>
          <p:cNvPr id="24" name="Shape 19"/>
          <p:cNvSpPr/>
          <p:nvPr/>
        </p:nvSpPr>
        <p:spPr>
          <a:xfrm>
            <a:off x="6172200" y="3749040"/>
            <a:ext cx="5468112" cy="932688"/>
          </a:xfrm>
          <a:prstGeom prst="roundRect">
            <a:avLst>
              <a:gd name="adj" fmla="val 7843"/>
            </a:avLst>
          </a:prstGeom>
          <a:solidFill>
            <a:srgbClr val="C0752A">
              <a:alpha val="12000"/>
            </a:srgbClr>
          </a:solidFill>
          <a:ln w="19050">
            <a:solidFill>
              <a:srgbClr val="C0752A"/>
            </a:solidFill>
            <a:prstDash val="solid"/>
          </a:ln>
        </p:spPr>
      </p:sp>
      <p:sp>
        <p:nvSpPr>
          <p:cNvPr id="25" name="Text 20"/>
          <p:cNvSpPr txBox="1"/>
          <p:nvPr/>
        </p:nvSpPr>
        <p:spPr>
          <a:xfrm>
            <a:off x="6336792" y="3785616"/>
            <a:ext cx="5138928" cy="859536"/>
          </a:xfrm>
          <a:prstGeom prst="rect">
            <a:avLst/>
          </a:prstGeom>
          <a:noFill/>
          <a:ln/>
        </p:spPr>
        <p:txBody>
          <a:bodyPr wrap="square" lIns="0" tIns="0" rIns="0" bIns="0" rtlCol="0" anchor="ctr"/>
          <a:lstStyle/>
          <a:p>
            <a:pPr indent="0" marL="0">
              <a:buNone/>
            </a:pPr>
            <a:r>
              <a:rPr lang="en-US" sz="1600" b="1" spc="50" kern="0" dirty="0">
                <a:solidFill>
                  <a:schemeClr val="accent1"/>
                </a:solidFill>
              </a:rPr>
              <a:t>SUPPOSITION — keep the marker</a:t>
            </a:r>
            <a:endParaRPr lang="en-US" sz="1600" dirty="0"/>
          </a:p>
          <a:p>
            <a:pPr indent="0" marL="0">
              <a:buNone/>
            </a:pPr>
            <a:r>
              <a:rPr lang="en-US" sz="1600" i="1" dirty="0">
                <a:solidFill>
                  <a:schemeClr val="tx1"/>
                </a:solidFill>
              </a:rPr>
              <a:t>Iris thinks the pipe was leaking all night.</a:t>
            </a:r>
            <a:endParaRPr lang="en-US" sz="1600" dirty="0"/>
          </a:p>
        </p:txBody>
      </p:sp>
      <p:sp>
        <p:nvSpPr>
          <p:cNvPr id="26" name="Shape 21"/>
          <p:cNvSpPr/>
          <p:nvPr/>
        </p:nvSpPr>
        <p:spPr>
          <a:xfrm>
            <a:off x="2903220" y="4700016"/>
            <a:ext cx="0" cy="310896"/>
          </a:xfrm>
          <a:prstGeom prst="line">
            <a:avLst/>
          </a:prstGeom>
          <a:noFill/>
          <a:ln w="22225">
            <a:solidFill>
              <a:srgbClr val="44546A"/>
            </a:solidFill>
            <a:prstDash val="solid"/>
            <a:tailEnd type="triangle"/>
          </a:ln>
        </p:spPr>
      </p:sp>
      <p:sp>
        <p:nvSpPr>
          <p:cNvPr id="27" name="Text 22"/>
          <p:cNvSpPr txBox="1"/>
          <p:nvPr/>
        </p:nvSpPr>
        <p:spPr>
          <a:xfrm>
            <a:off x="2994660" y="4681728"/>
            <a:ext cx="548640" cy="347472"/>
          </a:xfrm>
          <a:prstGeom prst="rect">
            <a:avLst/>
          </a:prstGeom>
          <a:noFill/>
          <a:ln/>
        </p:spPr>
        <p:txBody>
          <a:bodyPr wrap="square" lIns="0" tIns="0" rIns="0" bIns="0" rtlCol="0" anchor="ctr"/>
          <a:lstStyle/>
          <a:p>
            <a:pPr indent="0" marL="0">
              <a:buNone/>
            </a:pPr>
            <a:r>
              <a:rPr lang="en-US" sz="1200" b="1" dirty="0">
                <a:solidFill>
                  <a:schemeClr val="accent6"/>
                </a:solidFill>
              </a:rPr>
              <a:t>NO</a:t>
            </a:r>
            <a:endParaRPr lang="en-US" sz="1200" dirty="0"/>
          </a:p>
        </p:txBody>
      </p:sp>
      <p:sp>
        <p:nvSpPr>
          <p:cNvPr id="28" name="Shape 23"/>
          <p:cNvSpPr/>
          <p:nvPr/>
        </p:nvSpPr>
        <p:spPr>
          <a:xfrm>
            <a:off x="548640" y="5029200"/>
            <a:ext cx="4709160" cy="932688"/>
          </a:xfrm>
          <a:prstGeom prst="roundRect">
            <a:avLst>
              <a:gd name="adj" fmla="val 7843"/>
            </a:avLst>
          </a:prstGeom>
          <a:solidFill>
            <a:srgbClr val="B03A2E">
              <a:alpha val="12000"/>
            </a:srgbClr>
          </a:solidFill>
          <a:ln w="19050">
            <a:solidFill>
              <a:srgbClr val="B03A2E"/>
            </a:solidFill>
            <a:prstDash val="solid"/>
          </a:ln>
        </p:spPr>
      </p:sp>
      <p:sp>
        <p:nvSpPr>
          <p:cNvPr id="29" name="Text 24"/>
          <p:cNvSpPr txBox="1"/>
          <p:nvPr/>
        </p:nvSpPr>
        <p:spPr>
          <a:xfrm>
            <a:off x="713232" y="5065776"/>
            <a:ext cx="4379976" cy="859536"/>
          </a:xfrm>
          <a:prstGeom prst="rect">
            <a:avLst/>
          </a:prstGeom>
          <a:noFill/>
          <a:ln/>
        </p:spPr>
        <p:txBody>
          <a:bodyPr wrap="square" lIns="0" tIns="0" rIns="0" bIns="0" rtlCol="0" anchor="ctr"/>
          <a:lstStyle/>
          <a:p>
            <a:pPr indent="0" marL="0">
              <a:buNone/>
            </a:pPr>
            <a:r>
              <a:rPr lang="en-US" sz="1600" b="1" spc="50" kern="0" dirty="0">
                <a:solidFill>
                  <a:schemeClr val="accent6"/>
                </a:solidFill>
              </a:rPr>
              <a:t>NOT PROVED YET — ask: “How do you know?”</a:t>
            </a:r>
            <a:endParaRPr lang="en-US" sz="1600" dirty="0"/>
          </a:p>
          <a:p>
            <a:pPr indent="0" marL="0">
              <a:buNone/>
            </a:pPr>
            <a:r>
              <a:rPr lang="en-US" sz="1600" i="1" dirty="0">
                <a:solidFill>
                  <a:schemeClr val="tx1"/>
                </a:solidFill>
              </a:rPr>
              <a:t>Nobody was on site.</a:t>
            </a:r>
            <a:r>
              <a:rPr lang="en-US" sz="1600" dirty="0">
                <a:solidFill>
                  <a:schemeClr val="tx1"/>
                </a:solidFill>
              </a:rPr>
              <a:t> (Samuel — no source)</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How sure are you? Words to say it</a:t>
            </a:r>
            <a:endParaRPr lang="en-US" sz="3200" dirty="0"/>
          </a:p>
        </p:txBody>
      </p:sp>
      <p:sp>
        <p:nvSpPr>
          <p:cNvPr id="3" name="tag"/>
          <p:cNvSpPr/>
          <p:nvPr/>
        </p:nvSpPr>
        <p:spPr>
          <a:xfrm>
            <a:off x="548640" y="384048"/>
            <a:ext cx="15087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VOCABULARY</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Shape 3"/>
          <p:cNvSpPr/>
          <p:nvPr/>
        </p:nvSpPr>
        <p:spPr>
          <a:xfrm>
            <a:off x="1508760" y="1783080"/>
            <a:ext cx="384048" cy="754380"/>
          </a:xfrm>
          <a:prstGeom prst="rect">
            <a:avLst/>
          </a:prstGeom>
          <a:solidFill>
            <a:srgbClr val="3C7A3C">
              <a:alpha val="90000"/>
            </a:srgbClr>
          </a:solidFill>
          <a:ln w="19050">
            <a:solidFill>
              <a:srgbClr val="FFFFFF"/>
            </a:solidFill>
            <a:prstDash val="solid"/>
          </a:ln>
        </p:spPr>
      </p:sp>
      <p:sp>
        <p:nvSpPr>
          <p:cNvPr id="7" name="Text 4"/>
          <p:cNvSpPr txBox="1"/>
          <p:nvPr/>
        </p:nvSpPr>
        <p:spPr>
          <a:xfrm>
            <a:off x="548640" y="1783080"/>
            <a:ext cx="868680" cy="754380"/>
          </a:xfrm>
          <a:prstGeom prst="rect">
            <a:avLst/>
          </a:prstGeom>
          <a:noFill/>
          <a:ln/>
        </p:spPr>
        <p:txBody>
          <a:bodyPr wrap="square" lIns="0" tIns="0" rIns="0" bIns="0" rtlCol="0" anchor="ctr"/>
          <a:lstStyle/>
          <a:p>
            <a:pPr algn="r" indent="0" marL="0">
              <a:buNone/>
            </a:pPr>
            <a:r>
              <a:rPr lang="en-US" sz="1500" b="1" dirty="0">
                <a:solidFill>
                  <a:schemeClr val="accent3"/>
                </a:solidFill>
              </a:rPr>
              <a:t>100 %</a:t>
            </a:r>
            <a:endParaRPr lang="en-US" sz="1500" dirty="0"/>
          </a:p>
        </p:txBody>
      </p:sp>
      <p:sp>
        <p:nvSpPr>
          <p:cNvPr id="8" name="Shape 5"/>
          <p:cNvSpPr/>
          <p:nvPr/>
        </p:nvSpPr>
        <p:spPr>
          <a:xfrm>
            <a:off x="2167128" y="1828800"/>
            <a:ext cx="9473184" cy="662940"/>
          </a:xfrm>
          <a:prstGeom prst="roundRect">
            <a:avLst>
              <a:gd name="adj" fmla="val 11034"/>
            </a:avLst>
          </a:prstGeom>
          <a:solidFill>
            <a:srgbClr val="3C7A3C">
              <a:alpha val="7000"/>
            </a:srgbClr>
          </a:solidFill>
          <a:ln w="9525">
            <a:solidFill>
              <a:srgbClr val="3C7A3C"/>
            </a:solidFill>
            <a:prstDash val="solid"/>
          </a:ln>
        </p:spPr>
      </p:sp>
      <p:sp>
        <p:nvSpPr>
          <p:cNvPr id="9" name="Text 6"/>
          <p:cNvSpPr txBox="1"/>
          <p:nvPr/>
        </p:nvSpPr>
        <p:spPr>
          <a:xfrm>
            <a:off x="2350008" y="1828800"/>
            <a:ext cx="1600200" cy="662940"/>
          </a:xfrm>
          <a:prstGeom prst="rect">
            <a:avLst/>
          </a:prstGeom>
          <a:noFill/>
          <a:ln/>
        </p:spPr>
        <p:txBody>
          <a:bodyPr wrap="square" lIns="0" tIns="0" rIns="0" bIns="0" rtlCol="0" anchor="ctr"/>
          <a:lstStyle/>
          <a:p>
            <a:pPr indent="0" marL="0">
              <a:buNone/>
            </a:pPr>
            <a:r>
              <a:rPr lang="en-US" sz="1400" b="1" spc="100" kern="0" dirty="0">
                <a:solidFill>
                  <a:schemeClr val="accent3"/>
                </a:solidFill>
              </a:rPr>
              <a:t>I KNOW</a:t>
            </a:r>
            <a:endParaRPr lang="en-US" sz="1400" dirty="0"/>
          </a:p>
        </p:txBody>
      </p:sp>
      <p:sp>
        <p:nvSpPr>
          <p:cNvPr id="10" name="Text 7"/>
          <p:cNvSpPr txBox="1"/>
          <p:nvPr/>
        </p:nvSpPr>
        <p:spPr>
          <a:xfrm>
            <a:off x="3995928" y="1828800"/>
            <a:ext cx="3566160" cy="662940"/>
          </a:xfrm>
          <a:prstGeom prst="rect">
            <a:avLst/>
          </a:prstGeom>
          <a:noFill/>
          <a:ln/>
        </p:spPr>
        <p:txBody>
          <a:bodyPr wrap="square" lIns="0" tIns="0" rIns="0" bIns="0" rtlCol="0" anchor="ctr"/>
          <a:lstStyle/>
          <a:p>
            <a:pPr indent="0" marL="0">
              <a:buNone/>
            </a:pPr>
            <a:r>
              <a:rPr lang="en-US" sz="1700" b="1" dirty="0">
                <a:solidFill>
                  <a:schemeClr val="tx1"/>
                </a:solidFill>
              </a:rPr>
              <a:t>I know · it is certain · the log shows</a:t>
            </a:r>
            <a:endParaRPr lang="en-US" sz="1700" dirty="0"/>
          </a:p>
        </p:txBody>
      </p:sp>
      <p:sp>
        <p:nvSpPr>
          <p:cNvPr id="11" name="Text 8"/>
          <p:cNvSpPr txBox="1"/>
          <p:nvPr/>
        </p:nvSpPr>
        <p:spPr>
          <a:xfrm>
            <a:off x="7699248" y="1828800"/>
            <a:ext cx="3803904" cy="662940"/>
          </a:xfrm>
          <a:prstGeom prst="rect">
            <a:avLst/>
          </a:prstGeom>
          <a:noFill/>
          <a:ln/>
        </p:spPr>
        <p:txBody>
          <a:bodyPr wrap="square" lIns="0" tIns="0" rIns="0" bIns="0" rtlCol="0" anchor="ctr"/>
          <a:lstStyle/>
          <a:p>
            <a:pPr indent="0" marL="0">
              <a:buNone/>
            </a:pPr>
            <a:r>
              <a:rPr lang="en-US" sz="1400" i="1" dirty="0">
                <a:solidFill>
                  <a:schemeClr val="tx1"/>
                </a:solidFill>
              </a:rPr>
              <a:t>The cleaners found water — they saw it.</a:t>
            </a:r>
            <a:endParaRPr lang="en-US" sz="1400" dirty="0"/>
          </a:p>
        </p:txBody>
      </p:sp>
      <p:sp>
        <p:nvSpPr>
          <p:cNvPr id="12" name="Shape 9"/>
          <p:cNvSpPr/>
          <p:nvPr/>
        </p:nvSpPr>
        <p:spPr>
          <a:xfrm>
            <a:off x="1508760" y="2537460"/>
            <a:ext cx="384048" cy="754380"/>
          </a:xfrm>
          <a:prstGeom prst="rect">
            <a:avLst/>
          </a:prstGeom>
          <a:solidFill>
            <a:srgbClr val="5E9A3C">
              <a:alpha val="90000"/>
            </a:srgbClr>
          </a:solidFill>
          <a:ln w="19050">
            <a:solidFill>
              <a:srgbClr val="FFFFFF"/>
            </a:solidFill>
            <a:prstDash val="solid"/>
          </a:ln>
        </p:spPr>
      </p:sp>
      <p:sp>
        <p:nvSpPr>
          <p:cNvPr id="13" name="Text 10"/>
          <p:cNvSpPr txBox="1"/>
          <p:nvPr/>
        </p:nvSpPr>
        <p:spPr>
          <a:xfrm>
            <a:off x="548640" y="2537460"/>
            <a:ext cx="868680" cy="754380"/>
          </a:xfrm>
          <a:prstGeom prst="rect">
            <a:avLst/>
          </a:prstGeom>
          <a:noFill/>
          <a:ln/>
        </p:spPr>
        <p:txBody>
          <a:bodyPr wrap="square" lIns="0" tIns="0" rIns="0" bIns="0" rtlCol="0" anchor="ctr"/>
          <a:lstStyle/>
          <a:p>
            <a:pPr algn="r" indent="0" marL="0">
              <a:buNone/>
            </a:pPr>
            <a:r>
              <a:rPr lang="en-US" sz="1500" b="1" dirty="0">
                <a:solidFill>
                  <a:srgbClr val="5E9A3C"/>
                </a:solidFill>
              </a:rPr>
              <a:t>90 %</a:t>
            </a:r>
            <a:endParaRPr lang="en-US" sz="1500" dirty="0"/>
          </a:p>
        </p:txBody>
      </p:sp>
      <p:sp>
        <p:nvSpPr>
          <p:cNvPr id="14" name="Shape 11"/>
          <p:cNvSpPr/>
          <p:nvPr/>
        </p:nvSpPr>
        <p:spPr>
          <a:xfrm>
            <a:off x="2167128" y="2583180"/>
            <a:ext cx="9473184" cy="662940"/>
          </a:xfrm>
          <a:prstGeom prst="roundRect">
            <a:avLst>
              <a:gd name="adj" fmla="val 11034"/>
            </a:avLst>
          </a:prstGeom>
          <a:solidFill>
            <a:srgbClr val="5E9A3C">
              <a:alpha val="7000"/>
            </a:srgbClr>
          </a:solidFill>
          <a:ln w="9525">
            <a:solidFill>
              <a:srgbClr val="5E9A3C"/>
            </a:solidFill>
            <a:prstDash val="solid"/>
          </a:ln>
        </p:spPr>
      </p:sp>
      <p:sp>
        <p:nvSpPr>
          <p:cNvPr id="15" name="Text 12"/>
          <p:cNvSpPr txBox="1"/>
          <p:nvPr/>
        </p:nvSpPr>
        <p:spPr>
          <a:xfrm>
            <a:off x="2350008" y="2583180"/>
            <a:ext cx="1600200" cy="662940"/>
          </a:xfrm>
          <a:prstGeom prst="rect">
            <a:avLst/>
          </a:prstGeom>
          <a:noFill/>
          <a:ln/>
        </p:spPr>
        <p:txBody>
          <a:bodyPr wrap="square" lIns="0" tIns="0" rIns="0" bIns="0" rtlCol="0" anchor="ctr"/>
          <a:lstStyle/>
          <a:p>
            <a:pPr indent="0" marL="0">
              <a:buNone/>
            </a:pPr>
            <a:r>
              <a:rPr lang="en-US" sz="1400" b="1" spc="100" kern="0" dirty="0">
                <a:solidFill>
                  <a:srgbClr val="5E9A3C"/>
                </a:solidFill>
              </a:rPr>
              <a:t>SURE</a:t>
            </a:r>
            <a:endParaRPr lang="en-US" sz="1400" dirty="0"/>
          </a:p>
        </p:txBody>
      </p:sp>
      <p:sp>
        <p:nvSpPr>
          <p:cNvPr id="16" name="Text 13"/>
          <p:cNvSpPr txBox="1"/>
          <p:nvPr/>
        </p:nvSpPr>
        <p:spPr>
          <a:xfrm>
            <a:off x="3995928" y="2583180"/>
            <a:ext cx="3566160" cy="662940"/>
          </a:xfrm>
          <a:prstGeom prst="rect">
            <a:avLst/>
          </a:prstGeom>
          <a:noFill/>
          <a:ln/>
        </p:spPr>
        <p:txBody>
          <a:bodyPr wrap="square" lIns="0" tIns="0" rIns="0" bIns="0" rtlCol="0" anchor="ctr"/>
          <a:lstStyle/>
          <a:p>
            <a:pPr indent="0" marL="0">
              <a:buNone/>
            </a:pPr>
            <a:r>
              <a:rPr lang="en-US" sz="1700" b="1" dirty="0">
                <a:solidFill>
                  <a:schemeClr val="tx1"/>
                </a:solidFill>
              </a:rPr>
              <a:t>I’m sure · definitely · certainly</a:t>
            </a:r>
            <a:endParaRPr lang="en-US" sz="1700" dirty="0"/>
          </a:p>
        </p:txBody>
      </p:sp>
      <p:sp>
        <p:nvSpPr>
          <p:cNvPr id="17" name="Text 14"/>
          <p:cNvSpPr txBox="1"/>
          <p:nvPr/>
        </p:nvSpPr>
        <p:spPr>
          <a:xfrm>
            <a:off x="7699248" y="2583180"/>
            <a:ext cx="3803904" cy="662940"/>
          </a:xfrm>
          <a:prstGeom prst="rect">
            <a:avLst/>
          </a:prstGeom>
          <a:noFill/>
          <a:ln/>
        </p:spPr>
        <p:txBody>
          <a:bodyPr wrap="square" lIns="0" tIns="0" rIns="0" bIns="0" rtlCol="0" anchor="ctr"/>
          <a:lstStyle/>
          <a:p>
            <a:pPr indent="0" marL="0">
              <a:buNone/>
            </a:pPr>
            <a:r>
              <a:rPr lang="en-US" sz="1400" i="1" dirty="0">
                <a:solidFill>
                  <a:schemeClr val="tx1"/>
                </a:solidFill>
              </a:rPr>
              <a:t>It’s definitely the pipe above the ceiling.</a:t>
            </a:r>
            <a:endParaRPr lang="en-US" sz="1400" dirty="0"/>
          </a:p>
        </p:txBody>
      </p:sp>
      <p:sp>
        <p:nvSpPr>
          <p:cNvPr id="18" name="Shape 15"/>
          <p:cNvSpPr/>
          <p:nvPr/>
        </p:nvSpPr>
        <p:spPr>
          <a:xfrm>
            <a:off x="1508760" y="3291840"/>
            <a:ext cx="384048" cy="754380"/>
          </a:xfrm>
          <a:prstGeom prst="rect">
            <a:avLst/>
          </a:prstGeom>
          <a:solidFill>
            <a:srgbClr val="2E75B6">
              <a:alpha val="90000"/>
            </a:srgbClr>
          </a:solidFill>
          <a:ln w="19050">
            <a:solidFill>
              <a:srgbClr val="FFFFFF"/>
            </a:solidFill>
            <a:prstDash val="solid"/>
          </a:ln>
        </p:spPr>
      </p:sp>
      <p:sp>
        <p:nvSpPr>
          <p:cNvPr id="19" name="Text 16"/>
          <p:cNvSpPr txBox="1"/>
          <p:nvPr/>
        </p:nvSpPr>
        <p:spPr>
          <a:xfrm>
            <a:off x="548640" y="3291840"/>
            <a:ext cx="868680" cy="754380"/>
          </a:xfrm>
          <a:prstGeom prst="rect">
            <a:avLst/>
          </a:prstGeom>
          <a:noFill/>
          <a:ln/>
        </p:spPr>
        <p:txBody>
          <a:bodyPr wrap="square" lIns="0" tIns="0" rIns="0" bIns="0" rtlCol="0" anchor="ctr"/>
          <a:lstStyle/>
          <a:p>
            <a:pPr algn="r" indent="0" marL="0">
              <a:buNone/>
            </a:pPr>
            <a:r>
              <a:rPr lang="en-US" sz="1500" b="1" dirty="0">
                <a:solidFill>
                  <a:schemeClr val="accent2"/>
                </a:solidFill>
              </a:rPr>
              <a:t>70 %</a:t>
            </a:r>
            <a:endParaRPr lang="en-US" sz="1500" dirty="0"/>
          </a:p>
        </p:txBody>
      </p:sp>
      <p:sp>
        <p:nvSpPr>
          <p:cNvPr id="20" name="Shape 17"/>
          <p:cNvSpPr/>
          <p:nvPr/>
        </p:nvSpPr>
        <p:spPr>
          <a:xfrm>
            <a:off x="2167128" y="3337560"/>
            <a:ext cx="9473184" cy="662940"/>
          </a:xfrm>
          <a:prstGeom prst="roundRect">
            <a:avLst>
              <a:gd name="adj" fmla="val 11034"/>
            </a:avLst>
          </a:prstGeom>
          <a:solidFill>
            <a:srgbClr val="2E75B6">
              <a:alpha val="7000"/>
            </a:srgbClr>
          </a:solidFill>
          <a:ln w="9525">
            <a:solidFill>
              <a:srgbClr val="2E75B6"/>
            </a:solidFill>
            <a:prstDash val="solid"/>
          </a:ln>
        </p:spPr>
      </p:sp>
      <p:sp>
        <p:nvSpPr>
          <p:cNvPr id="21" name="Text 18"/>
          <p:cNvSpPr txBox="1"/>
          <p:nvPr/>
        </p:nvSpPr>
        <p:spPr>
          <a:xfrm>
            <a:off x="2350008" y="3337560"/>
            <a:ext cx="1600200" cy="662940"/>
          </a:xfrm>
          <a:prstGeom prst="rect">
            <a:avLst/>
          </a:prstGeom>
          <a:noFill/>
          <a:ln/>
        </p:spPr>
        <p:txBody>
          <a:bodyPr wrap="square" lIns="0" tIns="0" rIns="0" bIns="0" rtlCol="0" anchor="ctr"/>
          <a:lstStyle/>
          <a:p>
            <a:pPr indent="0" marL="0">
              <a:buNone/>
            </a:pPr>
            <a:r>
              <a:rPr lang="en-US" sz="1400" b="1" spc="100" kern="0" dirty="0">
                <a:solidFill>
                  <a:schemeClr val="accent2"/>
                </a:solidFill>
              </a:rPr>
              <a:t>PROBABLY</a:t>
            </a:r>
            <a:endParaRPr lang="en-US" sz="1400" dirty="0"/>
          </a:p>
        </p:txBody>
      </p:sp>
      <p:sp>
        <p:nvSpPr>
          <p:cNvPr id="22" name="Text 19"/>
          <p:cNvSpPr txBox="1"/>
          <p:nvPr/>
        </p:nvSpPr>
        <p:spPr>
          <a:xfrm>
            <a:off x="3995928" y="3337560"/>
            <a:ext cx="3566160" cy="662940"/>
          </a:xfrm>
          <a:prstGeom prst="rect">
            <a:avLst/>
          </a:prstGeom>
          <a:noFill/>
          <a:ln/>
        </p:spPr>
        <p:txBody>
          <a:bodyPr wrap="square" lIns="0" tIns="0" rIns="0" bIns="0" rtlCol="0" anchor="ctr"/>
          <a:lstStyle/>
          <a:p>
            <a:pPr indent="0" marL="0">
              <a:buNone/>
            </a:pPr>
            <a:r>
              <a:rPr lang="en-US" sz="1700" b="1" dirty="0">
                <a:solidFill>
                  <a:schemeClr val="tx1"/>
                </a:solidFill>
              </a:rPr>
              <a:t>probably · I think · I believe · it seems</a:t>
            </a:r>
            <a:endParaRPr lang="en-US" sz="1700" dirty="0"/>
          </a:p>
        </p:txBody>
      </p:sp>
      <p:sp>
        <p:nvSpPr>
          <p:cNvPr id="23" name="Text 20"/>
          <p:cNvSpPr txBox="1"/>
          <p:nvPr/>
        </p:nvSpPr>
        <p:spPr>
          <a:xfrm>
            <a:off x="7699248" y="3337560"/>
            <a:ext cx="3803904" cy="662940"/>
          </a:xfrm>
          <a:prstGeom prst="rect">
            <a:avLst/>
          </a:prstGeom>
          <a:noFill/>
          <a:ln/>
        </p:spPr>
        <p:txBody>
          <a:bodyPr wrap="square" lIns="0" tIns="0" rIns="0" bIns="0" rtlCol="0" anchor="ctr"/>
          <a:lstStyle/>
          <a:p>
            <a:pPr indent="0" marL="0">
              <a:buNone/>
            </a:pPr>
            <a:r>
              <a:rPr lang="en-US" sz="1400" i="1" dirty="0">
                <a:solidFill>
                  <a:schemeClr val="tx1"/>
                </a:solidFill>
              </a:rPr>
              <a:t>The pipe was leaking all night, I think. (Iris, 06)</a:t>
            </a:r>
            <a:endParaRPr lang="en-US" sz="1400" dirty="0"/>
          </a:p>
        </p:txBody>
      </p:sp>
      <p:sp>
        <p:nvSpPr>
          <p:cNvPr id="24" name="Shape 21"/>
          <p:cNvSpPr/>
          <p:nvPr/>
        </p:nvSpPr>
        <p:spPr>
          <a:xfrm>
            <a:off x="1508760" y="4046220"/>
            <a:ext cx="384048" cy="754380"/>
          </a:xfrm>
          <a:prstGeom prst="rect">
            <a:avLst/>
          </a:prstGeom>
          <a:solidFill>
            <a:srgbClr val="C0752A">
              <a:alpha val="90000"/>
            </a:srgbClr>
          </a:solidFill>
          <a:ln w="19050">
            <a:solidFill>
              <a:srgbClr val="FFFFFF"/>
            </a:solidFill>
            <a:prstDash val="solid"/>
          </a:ln>
        </p:spPr>
      </p:sp>
      <p:sp>
        <p:nvSpPr>
          <p:cNvPr id="25" name="Text 22"/>
          <p:cNvSpPr txBox="1"/>
          <p:nvPr/>
        </p:nvSpPr>
        <p:spPr>
          <a:xfrm>
            <a:off x="548640" y="4046220"/>
            <a:ext cx="868680" cy="754380"/>
          </a:xfrm>
          <a:prstGeom prst="rect">
            <a:avLst/>
          </a:prstGeom>
          <a:noFill/>
          <a:ln/>
        </p:spPr>
        <p:txBody>
          <a:bodyPr wrap="square" lIns="0" tIns="0" rIns="0" bIns="0" rtlCol="0" anchor="ctr"/>
          <a:lstStyle/>
          <a:p>
            <a:pPr algn="r" indent="0" marL="0">
              <a:buNone/>
            </a:pPr>
            <a:r>
              <a:rPr lang="en-US" sz="1500" b="1" dirty="0">
                <a:solidFill>
                  <a:schemeClr val="accent1"/>
                </a:solidFill>
              </a:rPr>
              <a:t>50 %</a:t>
            </a:r>
            <a:endParaRPr lang="en-US" sz="1500" dirty="0"/>
          </a:p>
        </p:txBody>
      </p:sp>
      <p:sp>
        <p:nvSpPr>
          <p:cNvPr id="26" name="Shape 23"/>
          <p:cNvSpPr/>
          <p:nvPr/>
        </p:nvSpPr>
        <p:spPr>
          <a:xfrm>
            <a:off x="2167128" y="4091940"/>
            <a:ext cx="9473184" cy="662940"/>
          </a:xfrm>
          <a:prstGeom prst="roundRect">
            <a:avLst>
              <a:gd name="adj" fmla="val 11034"/>
            </a:avLst>
          </a:prstGeom>
          <a:solidFill>
            <a:srgbClr val="C0752A">
              <a:alpha val="7000"/>
            </a:srgbClr>
          </a:solidFill>
          <a:ln w="9525">
            <a:solidFill>
              <a:srgbClr val="C0752A"/>
            </a:solidFill>
            <a:prstDash val="solid"/>
          </a:ln>
        </p:spPr>
      </p:sp>
      <p:sp>
        <p:nvSpPr>
          <p:cNvPr id="27" name="Text 24"/>
          <p:cNvSpPr txBox="1"/>
          <p:nvPr/>
        </p:nvSpPr>
        <p:spPr>
          <a:xfrm>
            <a:off x="2350008" y="4091940"/>
            <a:ext cx="1600200" cy="662940"/>
          </a:xfrm>
          <a:prstGeom prst="rect">
            <a:avLst/>
          </a:prstGeom>
          <a:noFill/>
          <a:ln/>
        </p:spPr>
        <p:txBody>
          <a:bodyPr wrap="square" lIns="0" tIns="0" rIns="0" bIns="0" rtlCol="0" anchor="ctr"/>
          <a:lstStyle/>
          <a:p>
            <a:pPr indent="0" marL="0">
              <a:buNone/>
            </a:pPr>
            <a:r>
              <a:rPr lang="en-US" sz="1400" b="1" spc="100" kern="0" dirty="0">
                <a:solidFill>
                  <a:schemeClr val="accent1"/>
                </a:solidFill>
              </a:rPr>
              <a:t>MAYBE</a:t>
            </a:r>
            <a:endParaRPr lang="en-US" sz="1400" dirty="0"/>
          </a:p>
        </p:txBody>
      </p:sp>
      <p:sp>
        <p:nvSpPr>
          <p:cNvPr id="28" name="Text 25"/>
          <p:cNvSpPr txBox="1"/>
          <p:nvPr/>
        </p:nvSpPr>
        <p:spPr>
          <a:xfrm>
            <a:off x="3995928" y="4091940"/>
            <a:ext cx="3566160" cy="662940"/>
          </a:xfrm>
          <a:prstGeom prst="rect">
            <a:avLst/>
          </a:prstGeom>
          <a:noFill/>
          <a:ln/>
        </p:spPr>
        <p:txBody>
          <a:bodyPr wrap="square" lIns="0" tIns="0" rIns="0" bIns="0" rtlCol="0" anchor="ctr"/>
          <a:lstStyle/>
          <a:p>
            <a:pPr indent="0" marL="0">
              <a:buNone/>
            </a:pPr>
            <a:r>
              <a:rPr lang="en-US" sz="1700" b="1" dirty="0">
                <a:solidFill>
                  <a:schemeClr val="tx1"/>
                </a:solidFill>
              </a:rPr>
              <a:t>may · might · could · perhaps · maybe</a:t>
            </a:r>
            <a:endParaRPr lang="en-US" sz="1700" dirty="0"/>
          </a:p>
        </p:txBody>
      </p:sp>
      <p:sp>
        <p:nvSpPr>
          <p:cNvPr id="29" name="Text 26"/>
          <p:cNvSpPr txBox="1"/>
          <p:nvPr/>
        </p:nvSpPr>
        <p:spPr>
          <a:xfrm>
            <a:off x="7699248" y="4091940"/>
            <a:ext cx="3803904" cy="662940"/>
          </a:xfrm>
          <a:prstGeom prst="rect">
            <a:avLst/>
          </a:prstGeom>
          <a:noFill/>
          <a:ln/>
        </p:spPr>
        <p:txBody>
          <a:bodyPr wrap="square" lIns="0" tIns="0" rIns="0" bIns="0" rtlCol="0" anchor="ctr"/>
          <a:lstStyle/>
          <a:p>
            <a:pPr indent="0" marL="0">
              <a:buNone/>
            </a:pPr>
            <a:r>
              <a:rPr lang="en-US" sz="1400" i="1" dirty="0">
                <a:solidFill>
                  <a:schemeClr val="tx1"/>
                </a:solidFill>
              </a:rPr>
              <a:t>It may be worse than it looks. (Iris, 12)</a:t>
            </a:r>
            <a:endParaRPr lang="en-US" sz="1400" dirty="0"/>
          </a:p>
        </p:txBody>
      </p:sp>
      <p:sp>
        <p:nvSpPr>
          <p:cNvPr id="30" name="Shape 27"/>
          <p:cNvSpPr/>
          <p:nvPr/>
        </p:nvSpPr>
        <p:spPr>
          <a:xfrm>
            <a:off x="1508760" y="4800600"/>
            <a:ext cx="384048" cy="754380"/>
          </a:xfrm>
          <a:prstGeom prst="rect">
            <a:avLst/>
          </a:prstGeom>
          <a:solidFill>
            <a:srgbClr val="B03A2E">
              <a:alpha val="90000"/>
            </a:srgbClr>
          </a:solidFill>
          <a:ln w="19050">
            <a:solidFill>
              <a:srgbClr val="FFFFFF"/>
            </a:solidFill>
            <a:prstDash val="solid"/>
          </a:ln>
        </p:spPr>
      </p:sp>
      <p:sp>
        <p:nvSpPr>
          <p:cNvPr id="31" name="Text 28"/>
          <p:cNvSpPr txBox="1"/>
          <p:nvPr/>
        </p:nvSpPr>
        <p:spPr>
          <a:xfrm>
            <a:off x="548640" y="4800600"/>
            <a:ext cx="868680" cy="754380"/>
          </a:xfrm>
          <a:prstGeom prst="rect">
            <a:avLst/>
          </a:prstGeom>
          <a:noFill/>
          <a:ln/>
        </p:spPr>
        <p:txBody>
          <a:bodyPr wrap="square" lIns="0" tIns="0" rIns="0" bIns="0" rtlCol="0" anchor="ctr"/>
          <a:lstStyle/>
          <a:p>
            <a:pPr algn="r" indent="0" marL="0">
              <a:buNone/>
            </a:pPr>
            <a:r>
              <a:rPr lang="en-US" sz="1500" b="1" dirty="0">
                <a:solidFill>
                  <a:schemeClr val="accent6"/>
                </a:solidFill>
              </a:rPr>
              <a:t>20 %</a:t>
            </a:r>
            <a:endParaRPr lang="en-US" sz="1500" dirty="0"/>
          </a:p>
        </p:txBody>
      </p:sp>
      <p:sp>
        <p:nvSpPr>
          <p:cNvPr id="32" name="Shape 29"/>
          <p:cNvSpPr/>
          <p:nvPr/>
        </p:nvSpPr>
        <p:spPr>
          <a:xfrm>
            <a:off x="2167128" y="4846320"/>
            <a:ext cx="9473184" cy="662940"/>
          </a:xfrm>
          <a:prstGeom prst="roundRect">
            <a:avLst>
              <a:gd name="adj" fmla="val 11034"/>
            </a:avLst>
          </a:prstGeom>
          <a:solidFill>
            <a:srgbClr val="B03A2E">
              <a:alpha val="7000"/>
            </a:srgbClr>
          </a:solidFill>
          <a:ln w="9525">
            <a:solidFill>
              <a:srgbClr val="B03A2E"/>
            </a:solidFill>
            <a:prstDash val="solid"/>
          </a:ln>
        </p:spPr>
      </p:sp>
      <p:sp>
        <p:nvSpPr>
          <p:cNvPr id="33" name="Text 30"/>
          <p:cNvSpPr txBox="1"/>
          <p:nvPr/>
        </p:nvSpPr>
        <p:spPr>
          <a:xfrm>
            <a:off x="2350008" y="4846320"/>
            <a:ext cx="1600200" cy="662940"/>
          </a:xfrm>
          <a:prstGeom prst="rect">
            <a:avLst/>
          </a:prstGeom>
          <a:noFill/>
          <a:ln/>
        </p:spPr>
        <p:txBody>
          <a:bodyPr wrap="square" lIns="0" tIns="0" rIns="0" bIns="0" rtlCol="0" anchor="ctr"/>
          <a:lstStyle/>
          <a:p>
            <a:pPr indent="0" marL="0">
              <a:buNone/>
            </a:pPr>
            <a:r>
              <a:rPr lang="en-US" sz="1400" b="1" spc="100" kern="0" dirty="0">
                <a:solidFill>
                  <a:schemeClr val="accent6"/>
                </a:solidFill>
              </a:rPr>
              <a:t>DOUBT</a:t>
            </a:r>
            <a:endParaRPr lang="en-US" sz="1400" dirty="0"/>
          </a:p>
        </p:txBody>
      </p:sp>
      <p:sp>
        <p:nvSpPr>
          <p:cNvPr id="34" name="Text 31"/>
          <p:cNvSpPr txBox="1"/>
          <p:nvPr/>
        </p:nvSpPr>
        <p:spPr>
          <a:xfrm>
            <a:off x="3995928" y="4846320"/>
            <a:ext cx="3566160" cy="662940"/>
          </a:xfrm>
          <a:prstGeom prst="rect">
            <a:avLst/>
          </a:prstGeom>
          <a:noFill/>
          <a:ln/>
        </p:spPr>
        <p:txBody>
          <a:bodyPr wrap="square" lIns="0" tIns="0" rIns="0" bIns="0" rtlCol="0" anchor="ctr"/>
          <a:lstStyle/>
          <a:p>
            <a:pPr indent="0" marL="0">
              <a:buNone/>
            </a:pPr>
            <a:r>
              <a:rPr lang="en-US" sz="1700" b="1" dirty="0">
                <a:solidFill>
                  <a:schemeClr val="tx1"/>
                </a:solidFill>
              </a:rPr>
              <a:t>probably not · I doubt it · it’s unlikely</a:t>
            </a:r>
            <a:endParaRPr lang="en-US" sz="1700" dirty="0"/>
          </a:p>
        </p:txBody>
      </p:sp>
      <p:sp>
        <p:nvSpPr>
          <p:cNvPr id="35" name="Text 32"/>
          <p:cNvSpPr txBox="1"/>
          <p:nvPr/>
        </p:nvSpPr>
        <p:spPr>
          <a:xfrm>
            <a:off x="7699248" y="4846320"/>
            <a:ext cx="3803904" cy="662940"/>
          </a:xfrm>
          <a:prstGeom prst="rect">
            <a:avLst/>
          </a:prstGeom>
          <a:noFill/>
          <a:ln/>
        </p:spPr>
        <p:txBody>
          <a:bodyPr wrap="square" lIns="0" tIns="0" rIns="0" bIns="0" rtlCol="0" anchor="ctr"/>
          <a:lstStyle/>
          <a:p>
            <a:pPr indent="0" marL="0">
              <a:buNone/>
            </a:pPr>
            <a:r>
              <a:rPr lang="en-US" sz="1400" i="1" dirty="0">
                <a:solidFill>
                  <a:schemeClr val="tx1"/>
                </a:solidFill>
              </a:rPr>
              <a:t>It’s unlikely that the alarm was faulty.</a:t>
            </a:r>
            <a:endParaRPr lang="en-US" sz="1400" dirty="0"/>
          </a:p>
        </p:txBody>
      </p:sp>
      <p:sp>
        <p:nvSpPr>
          <p:cNvPr id="36" name="Shape 33"/>
          <p:cNvSpPr/>
          <p:nvPr/>
        </p:nvSpPr>
        <p:spPr>
          <a:xfrm>
            <a:off x="1508760" y="5554980"/>
            <a:ext cx="384048" cy="754380"/>
          </a:xfrm>
          <a:prstGeom prst="rect">
            <a:avLst/>
          </a:prstGeom>
          <a:solidFill>
            <a:srgbClr val="44546A">
              <a:alpha val="90000"/>
            </a:srgbClr>
          </a:solidFill>
          <a:ln w="19050">
            <a:solidFill>
              <a:srgbClr val="FFFFFF"/>
            </a:solidFill>
            <a:prstDash val="solid"/>
          </a:ln>
        </p:spPr>
      </p:sp>
      <p:sp>
        <p:nvSpPr>
          <p:cNvPr id="37" name="Text 34"/>
          <p:cNvSpPr txBox="1"/>
          <p:nvPr/>
        </p:nvSpPr>
        <p:spPr>
          <a:xfrm>
            <a:off x="548640" y="5554980"/>
            <a:ext cx="868680" cy="754380"/>
          </a:xfrm>
          <a:prstGeom prst="rect">
            <a:avLst/>
          </a:prstGeom>
          <a:noFill/>
          <a:ln/>
        </p:spPr>
        <p:txBody>
          <a:bodyPr wrap="square" lIns="0" tIns="0" rIns="0" bIns="0" rtlCol="0" anchor="ctr"/>
          <a:lstStyle/>
          <a:p>
            <a:pPr algn="r" indent="0" marL="0">
              <a:buNone/>
            </a:pPr>
            <a:r>
              <a:rPr lang="en-US" sz="1500" b="1" dirty="0">
                <a:solidFill>
                  <a:schemeClr val="accent5"/>
                </a:solidFill>
              </a:rPr>
              <a:t>?</a:t>
            </a:r>
            <a:endParaRPr lang="en-US" sz="1500" dirty="0"/>
          </a:p>
        </p:txBody>
      </p:sp>
      <p:sp>
        <p:nvSpPr>
          <p:cNvPr id="38" name="Shape 35"/>
          <p:cNvSpPr/>
          <p:nvPr/>
        </p:nvSpPr>
        <p:spPr>
          <a:xfrm>
            <a:off x="2167128" y="5600700"/>
            <a:ext cx="9473184" cy="662940"/>
          </a:xfrm>
          <a:prstGeom prst="roundRect">
            <a:avLst>
              <a:gd name="adj" fmla="val 11034"/>
            </a:avLst>
          </a:prstGeom>
          <a:solidFill>
            <a:srgbClr val="44546A">
              <a:alpha val="7000"/>
            </a:srgbClr>
          </a:solidFill>
          <a:ln w="9525">
            <a:solidFill>
              <a:srgbClr val="44546A"/>
            </a:solidFill>
            <a:prstDash val="solid"/>
          </a:ln>
        </p:spPr>
      </p:sp>
      <p:sp>
        <p:nvSpPr>
          <p:cNvPr id="39" name="Text 36"/>
          <p:cNvSpPr txBox="1"/>
          <p:nvPr/>
        </p:nvSpPr>
        <p:spPr>
          <a:xfrm>
            <a:off x="2350008" y="5600700"/>
            <a:ext cx="1600200" cy="662940"/>
          </a:xfrm>
          <a:prstGeom prst="rect">
            <a:avLst/>
          </a:prstGeom>
          <a:noFill/>
          <a:ln/>
        </p:spPr>
        <p:txBody>
          <a:bodyPr wrap="square" lIns="0" tIns="0" rIns="0" bIns="0" rtlCol="0" anchor="ctr"/>
          <a:lstStyle/>
          <a:p>
            <a:pPr indent="0" marL="0">
              <a:buNone/>
            </a:pPr>
            <a:r>
              <a:rPr lang="en-US" sz="1400" b="1" spc="100" kern="0" dirty="0">
                <a:solidFill>
                  <a:schemeClr val="accent5"/>
                </a:solidFill>
              </a:rPr>
              <a:t>NO IDEA</a:t>
            </a:r>
            <a:endParaRPr lang="en-US" sz="1400" dirty="0"/>
          </a:p>
        </p:txBody>
      </p:sp>
      <p:sp>
        <p:nvSpPr>
          <p:cNvPr id="40" name="Text 37"/>
          <p:cNvSpPr txBox="1"/>
          <p:nvPr/>
        </p:nvSpPr>
        <p:spPr>
          <a:xfrm>
            <a:off x="3995928" y="5600700"/>
            <a:ext cx="3566160" cy="662940"/>
          </a:xfrm>
          <a:prstGeom prst="rect">
            <a:avLst/>
          </a:prstGeom>
          <a:noFill/>
          <a:ln/>
        </p:spPr>
        <p:txBody>
          <a:bodyPr wrap="square" lIns="0" tIns="0" rIns="0" bIns="0" rtlCol="0" anchor="ctr"/>
          <a:lstStyle/>
          <a:p>
            <a:pPr indent="0" marL="0">
              <a:buNone/>
            </a:pPr>
            <a:r>
              <a:rPr lang="en-US" sz="1700" b="1" dirty="0">
                <a:solidFill>
                  <a:schemeClr val="tx1"/>
                </a:solidFill>
              </a:rPr>
              <a:t>I don’t know yet · I don’t want to guess</a:t>
            </a:r>
            <a:endParaRPr lang="en-US" sz="1700" dirty="0"/>
          </a:p>
        </p:txBody>
      </p:sp>
      <p:sp>
        <p:nvSpPr>
          <p:cNvPr id="41" name="Text 38"/>
          <p:cNvSpPr txBox="1"/>
          <p:nvPr/>
        </p:nvSpPr>
        <p:spPr>
          <a:xfrm>
            <a:off x="7699248" y="5600700"/>
            <a:ext cx="3803904" cy="662940"/>
          </a:xfrm>
          <a:prstGeom prst="rect">
            <a:avLst/>
          </a:prstGeom>
          <a:noFill/>
          <a:ln/>
        </p:spPr>
        <p:txBody>
          <a:bodyPr wrap="square" lIns="0" tIns="0" rIns="0" bIns="0" rtlCol="0" anchor="ctr"/>
          <a:lstStyle/>
          <a:p>
            <a:pPr indent="0" marL="0">
              <a:buNone/>
            </a:pPr>
            <a:r>
              <a:rPr lang="en-US" sz="1400" i="1" dirty="0">
                <a:solidFill>
                  <a:schemeClr val="tx1"/>
                </a:solidFill>
              </a:rPr>
              <a:t>Not yet. (Mark, 05) — honest and professional.</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The rumour game</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Shape 3"/>
          <p:cNvSpPr/>
          <p:nvPr/>
        </p:nvSpPr>
        <p:spPr>
          <a:xfrm>
            <a:off x="548640" y="1783080"/>
            <a:ext cx="11091672" cy="960120"/>
          </a:xfrm>
          <a:prstGeom prst="roundRect">
            <a:avLst>
              <a:gd name="adj" fmla="val 7619"/>
            </a:avLst>
          </a:prstGeom>
          <a:solidFill>
            <a:srgbClr val="B4236A">
              <a:alpha val="8000"/>
            </a:srgbClr>
          </a:solidFill>
          <a:ln w="12700">
            <a:solidFill>
              <a:srgbClr val="B4236A"/>
            </a:solidFill>
            <a:prstDash val="solid"/>
          </a:ln>
        </p:spPr>
      </p:sp>
      <p:sp>
        <p:nvSpPr>
          <p:cNvPr id="7" name="Shape 4"/>
          <p:cNvSpPr/>
          <p:nvPr/>
        </p:nvSpPr>
        <p:spPr>
          <a:xfrm>
            <a:off x="777240" y="1911096"/>
            <a:ext cx="713232" cy="713232"/>
          </a:xfrm>
          <a:prstGeom prst="ellipse">
            <a:avLst/>
          </a:prstGeom>
          <a:solidFill>
            <a:srgbClr val="B4236A"/>
          </a:solidFill>
          <a:ln/>
        </p:spPr>
      </p:sp>
      <p:pic>
        <p:nvPicPr>
          <p:cNvPr id="8" name="Image 0" descr="preencoded.png">    </p:cNvPr>
          <p:cNvPicPr>
            <a:picLocks noChangeAspect="1"/>
          </p:cNvPicPr>
          <p:nvPr/>
        </p:nvPicPr>
        <p:blipFill>
          <a:blip r:embed="rId1"/>
          <a:stretch>
            <a:fillRect/>
          </a:stretch>
        </p:blipFill>
        <p:spPr>
          <a:xfrm>
            <a:off x="955548" y="2089404"/>
            <a:ext cx="356616" cy="356616"/>
          </a:xfrm>
          <a:prstGeom prst="rect">
            <a:avLst/>
          </a:prstGeom>
        </p:spPr>
      </p:pic>
      <p:sp>
        <p:nvSpPr>
          <p:cNvPr id="9" name="Text 5"/>
          <p:cNvSpPr txBox="1"/>
          <p:nvPr/>
        </p:nvSpPr>
        <p:spPr>
          <a:xfrm>
            <a:off x="1691640" y="1837944"/>
            <a:ext cx="9765792" cy="850392"/>
          </a:xfrm>
          <a:prstGeom prst="rect">
            <a:avLst/>
          </a:prstGeom>
          <a:noFill/>
          <a:ln/>
        </p:spPr>
        <p:txBody>
          <a:bodyPr wrap="square" lIns="0" tIns="0" rIns="0" bIns="0" rtlCol="0" anchor="ctr"/>
          <a:lstStyle/>
          <a:p>
            <a:pPr indent="0" marL="0">
              <a:buNone/>
            </a:pPr>
            <a:r>
              <a:rPr lang="en-US" sz="2100" b="1" dirty="0">
                <a:solidFill>
                  <a:srgbClr val="B4236A"/>
                </a:solidFill>
                <a:latin typeface="+mj-lt" pitchFamily="34" charset="0"/>
                <a:ea typeface="+mj-lt" pitchFamily="34" charset="-122"/>
                <a:cs typeface="+mj-lt" pitchFamily="34" charset="-120"/>
              </a:rPr>
              <a:t>How a fact becomes a guess — in five whispers.</a:t>
            </a:r>
            <a:endParaRPr lang="en-US" sz="2100" dirty="0"/>
          </a:p>
          <a:p>
            <a:pPr indent="0" marL="0">
              <a:buNone/>
            </a:pPr>
            <a:r>
              <a:rPr lang="en-US" sz="1500" i="1" dirty="0">
                <a:solidFill>
                  <a:schemeClr val="accent5"/>
                </a:solidFill>
              </a:rPr>
              <a:t>Two teams in lines · 10 minutes · listening and speaking</a:t>
            </a:r>
            <a:endParaRPr lang="en-US" sz="2100" dirty="0"/>
          </a:p>
        </p:txBody>
      </p:sp>
      <p:sp>
        <p:nvSpPr>
          <p:cNvPr id="10" name="Text 6"/>
          <p:cNvSpPr/>
          <p:nvPr/>
        </p:nvSpPr>
        <p:spPr>
          <a:xfrm>
            <a:off x="548640" y="3072384"/>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7"/>
          <p:cNvSpPr txBox="1"/>
          <p:nvPr/>
        </p:nvSpPr>
        <p:spPr>
          <a:xfrm>
            <a:off x="1097280" y="3017520"/>
            <a:ext cx="5897880" cy="635508"/>
          </a:xfrm>
          <a:prstGeom prst="rect">
            <a:avLst/>
          </a:prstGeom>
          <a:noFill/>
          <a:ln/>
        </p:spPr>
        <p:txBody>
          <a:bodyPr wrap="square" lIns="0" tIns="0" rIns="0" bIns="0" rtlCol="0" anchor="t"/>
          <a:lstStyle/>
          <a:p>
            <a:pPr indent="0" marL="0">
              <a:buNone/>
            </a:pPr>
            <a:r>
              <a:rPr lang="en-US" sz="1700" dirty="0">
                <a:solidFill>
                  <a:schemeClr val="tx1"/>
                </a:solidFill>
              </a:rPr>
              <a:t>The first player of each team reads a card for </a:t>
            </a:r>
            <a:r>
              <a:rPr lang="en-US" sz="1700" b="1" dirty="0">
                <a:solidFill>
                  <a:schemeClr val="tx1"/>
                </a:solidFill>
              </a:rPr>
              <a:t>ten seconds</a:t>
            </a:r>
            <a:r>
              <a:rPr lang="en-US" sz="1700" dirty="0">
                <a:solidFill>
                  <a:schemeClr val="tx1"/>
                </a:solidFill>
              </a:rPr>
              <a:t>, then gives it back.</a:t>
            </a:r>
            <a:endParaRPr lang="en-US" sz="1700" dirty="0"/>
          </a:p>
        </p:txBody>
      </p:sp>
      <p:sp>
        <p:nvSpPr>
          <p:cNvPr id="12" name="Text 8"/>
          <p:cNvSpPr/>
          <p:nvPr/>
        </p:nvSpPr>
        <p:spPr>
          <a:xfrm>
            <a:off x="548640" y="3707892"/>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9"/>
          <p:cNvSpPr txBox="1"/>
          <p:nvPr/>
        </p:nvSpPr>
        <p:spPr>
          <a:xfrm>
            <a:off x="1097280" y="3653028"/>
            <a:ext cx="5897880" cy="635508"/>
          </a:xfrm>
          <a:prstGeom prst="rect">
            <a:avLst/>
          </a:prstGeom>
          <a:noFill/>
          <a:ln/>
        </p:spPr>
        <p:txBody>
          <a:bodyPr wrap="square" lIns="0" tIns="0" rIns="0" bIns="0" rtlCol="0" anchor="t"/>
          <a:lstStyle/>
          <a:p>
            <a:pPr indent="0" marL="0">
              <a:buNone/>
            </a:pPr>
            <a:r>
              <a:rPr lang="en-US" sz="1700" dirty="0">
                <a:solidFill>
                  <a:schemeClr val="tx1"/>
                </a:solidFill>
              </a:rPr>
              <a:t>Whisper it to the next player — </a:t>
            </a:r>
            <a:r>
              <a:rPr lang="en-US" sz="1700" b="1" dirty="0">
                <a:solidFill>
                  <a:schemeClr val="tx1"/>
                </a:solidFill>
              </a:rPr>
              <a:t>once only</a:t>
            </a:r>
            <a:r>
              <a:rPr lang="en-US" sz="1700" dirty="0">
                <a:solidFill>
                  <a:schemeClr val="tx1"/>
                </a:solidFill>
              </a:rPr>
              <a:t>, no repeating!</a:t>
            </a:r>
            <a:endParaRPr lang="en-US" sz="1700" dirty="0"/>
          </a:p>
        </p:txBody>
      </p:sp>
      <p:sp>
        <p:nvSpPr>
          <p:cNvPr id="14" name="Text 10"/>
          <p:cNvSpPr/>
          <p:nvPr/>
        </p:nvSpPr>
        <p:spPr>
          <a:xfrm>
            <a:off x="548640" y="4343400"/>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1"/>
          <p:cNvSpPr txBox="1"/>
          <p:nvPr/>
        </p:nvSpPr>
        <p:spPr>
          <a:xfrm>
            <a:off x="1097280" y="4288536"/>
            <a:ext cx="5897880" cy="635508"/>
          </a:xfrm>
          <a:prstGeom prst="rect">
            <a:avLst/>
          </a:prstGeom>
          <a:noFill/>
          <a:ln/>
        </p:spPr>
        <p:txBody>
          <a:bodyPr wrap="square" lIns="0" tIns="0" rIns="0" bIns="0" rtlCol="0" anchor="t"/>
          <a:lstStyle/>
          <a:p>
            <a:pPr indent="0" marL="0">
              <a:buNone/>
            </a:pPr>
            <a:r>
              <a:rPr lang="en-US" sz="1700" dirty="0">
                <a:solidFill>
                  <a:schemeClr val="tx1"/>
                </a:solidFill>
              </a:rPr>
              <a:t>The last player says it </a:t>
            </a:r>
            <a:r>
              <a:rPr lang="en-US" sz="1700" b="1" dirty="0">
                <a:solidFill>
                  <a:schemeClr val="tx1"/>
                </a:solidFill>
              </a:rPr>
              <a:t>aloud</a:t>
            </a:r>
            <a:r>
              <a:rPr lang="en-US" sz="1700" dirty="0">
                <a:solidFill>
                  <a:schemeClr val="tx1"/>
                </a:solidFill>
              </a:rPr>
              <a:t> and writes it on the board.</a:t>
            </a:r>
            <a:endParaRPr lang="en-US" sz="1700" dirty="0"/>
          </a:p>
        </p:txBody>
      </p:sp>
      <p:sp>
        <p:nvSpPr>
          <p:cNvPr id="16" name="Text 12"/>
          <p:cNvSpPr/>
          <p:nvPr/>
        </p:nvSpPr>
        <p:spPr>
          <a:xfrm>
            <a:off x="548640" y="4978908"/>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3"/>
          <p:cNvSpPr txBox="1"/>
          <p:nvPr/>
        </p:nvSpPr>
        <p:spPr>
          <a:xfrm>
            <a:off x="1097280" y="4924044"/>
            <a:ext cx="5897880" cy="635508"/>
          </a:xfrm>
          <a:prstGeom prst="rect">
            <a:avLst/>
          </a:prstGeom>
          <a:noFill/>
          <a:ln/>
        </p:spPr>
        <p:txBody>
          <a:bodyPr wrap="square" lIns="0" tIns="0" rIns="0" bIns="0" rtlCol="0" anchor="t"/>
          <a:lstStyle/>
          <a:p>
            <a:pPr indent="0" marL="0">
              <a:buNone/>
            </a:pPr>
            <a:r>
              <a:rPr lang="en-US" sz="1700" dirty="0">
                <a:solidFill>
                  <a:schemeClr val="tx1"/>
                </a:solidFill>
              </a:rPr>
              <a:t>Compare with the card: what changed — </a:t>
            </a:r>
            <a:r>
              <a:rPr lang="en-US" sz="1700" b="1" dirty="0">
                <a:solidFill>
                  <a:schemeClr val="tx1"/>
                </a:solidFill>
              </a:rPr>
              <a:t>the time? the verb? the certainty word?</a:t>
            </a:r>
            <a:endParaRPr lang="en-US" sz="1700" dirty="0"/>
          </a:p>
        </p:txBody>
      </p:sp>
      <p:sp>
        <p:nvSpPr>
          <p:cNvPr id="18" name="Shape 14"/>
          <p:cNvSpPr/>
          <p:nvPr/>
        </p:nvSpPr>
        <p:spPr>
          <a:xfrm>
            <a:off x="7360920" y="3017520"/>
            <a:ext cx="4279392" cy="2542032"/>
          </a:xfrm>
          <a:prstGeom prst="roundRect">
            <a:avLst>
              <a:gd name="adj" fmla="val 2878"/>
            </a:avLst>
          </a:prstGeom>
          <a:solidFill>
            <a:srgbClr val="6E4A9E">
              <a:alpha val="8000"/>
            </a:srgbClr>
          </a:solidFill>
          <a:ln w="9525">
            <a:solidFill>
              <a:srgbClr val="6E4A9E"/>
            </a:solidFill>
            <a:prstDash val="solid"/>
          </a:ln>
        </p:spPr>
      </p:sp>
      <p:pic>
        <p:nvPicPr>
          <p:cNvPr id="19" name="Image 1" descr="preencoded.png">    </p:cNvPr>
          <p:cNvPicPr>
            <a:picLocks noChangeAspect="1"/>
          </p:cNvPicPr>
          <p:nvPr/>
        </p:nvPicPr>
        <p:blipFill>
          <a:blip r:embed="rId2"/>
          <a:stretch>
            <a:fillRect/>
          </a:stretch>
        </p:blipFill>
        <p:spPr>
          <a:xfrm>
            <a:off x="7543800" y="3182112"/>
            <a:ext cx="292608" cy="292608"/>
          </a:xfrm>
          <a:prstGeom prst="rect">
            <a:avLst/>
          </a:prstGeom>
        </p:spPr>
      </p:pic>
      <p:sp>
        <p:nvSpPr>
          <p:cNvPr id="20" name="Text 15"/>
          <p:cNvSpPr txBox="1"/>
          <p:nvPr/>
        </p:nvSpPr>
        <p:spPr>
          <a:xfrm>
            <a:off x="7927848" y="3154680"/>
            <a:ext cx="3547872" cy="347472"/>
          </a:xfrm>
          <a:prstGeom prst="rect">
            <a:avLst/>
          </a:prstGeom>
          <a:noFill/>
          <a:ln/>
        </p:spPr>
        <p:txBody>
          <a:bodyPr wrap="square" lIns="0" tIns="0" rIns="0" bIns="0" rtlCol="0" anchor="ctr"/>
          <a:lstStyle/>
          <a:p>
            <a:pPr indent="0" marL="0">
              <a:buNone/>
            </a:pPr>
            <a:r>
              <a:rPr lang="en-US" sz="1300" b="1" spc="150" kern="0" dirty="0">
                <a:solidFill>
                  <a:schemeClr val="accent4"/>
                </a:solidFill>
              </a:rPr>
              <a:t>AFTER THE GAME</a:t>
            </a:r>
            <a:endParaRPr lang="en-US" sz="1300" dirty="0"/>
          </a:p>
        </p:txBody>
      </p:sp>
      <p:sp>
        <p:nvSpPr>
          <p:cNvPr id="21" name="Text 16"/>
          <p:cNvSpPr txBox="1"/>
          <p:nvPr/>
        </p:nvSpPr>
        <p:spPr>
          <a:xfrm>
            <a:off x="7562088" y="3611880"/>
            <a:ext cx="3895344" cy="1856232"/>
          </a:xfrm>
          <a:prstGeom prst="rect">
            <a:avLst/>
          </a:prstGeom>
          <a:noFill/>
          <a:ln/>
        </p:spPr>
        <p:txBody>
          <a:bodyPr wrap="square" lIns="0" tIns="0" rIns="0" bIns="0" rtlCol="0" anchor="t"/>
          <a:lstStyle/>
          <a:p>
            <a:pPr marL="190500" indent="-190500">
              <a:spcAft>
                <a:spcPts val="700"/>
              </a:spcAft>
              <a:buSzPct val="100000"/>
              <a:buChar char="•"/>
            </a:pPr>
            <a:r>
              <a:rPr lang="en-US" sz="1500" dirty="0">
                <a:solidFill>
                  <a:schemeClr val="tx1"/>
                </a:solidFill>
              </a:rPr>
              <a:t>The time changed: it was </a:t>
            </a:r>
            <a:r>
              <a:rPr lang="en-US" sz="1500" i="1" dirty="0">
                <a:solidFill>
                  <a:schemeClr val="tx1"/>
                </a:solidFill>
              </a:rPr>
              <a:t>11.40</a:t>
            </a:r>
            <a:r>
              <a:rPr lang="en-US" sz="1500" dirty="0">
                <a:solidFill>
                  <a:schemeClr val="tx1"/>
                </a:solidFill>
              </a:rPr>
              <a:t>, not </a:t>
            </a:r>
            <a:r>
              <a:rPr lang="en-US" sz="1500" i="1" dirty="0">
                <a:solidFill>
                  <a:schemeClr val="tx1"/>
                </a:solidFill>
              </a:rPr>
              <a:t>11.14</a:t>
            </a:r>
            <a:r>
              <a:rPr lang="en-US" sz="1500" dirty="0">
                <a:solidFill>
                  <a:schemeClr val="tx1"/>
                </a:solidFill>
              </a:rPr>
              <a:t>.</a:t>
            </a:r>
            <a:endParaRPr lang="en-US" sz="1500" dirty="0"/>
          </a:p>
          <a:p>
            <a:pPr marL="190500" indent="-190500">
              <a:spcAft>
                <a:spcPts val="700"/>
              </a:spcAft>
              <a:buSzPct val="100000"/>
              <a:buChar char="•"/>
            </a:pPr>
            <a:r>
              <a:rPr lang="en-US" sz="1500" dirty="0">
                <a:solidFill>
                  <a:schemeClr val="tx1"/>
                </a:solidFill>
              </a:rPr>
              <a:t>The verb changed: </a:t>
            </a:r>
            <a:r>
              <a:rPr lang="en-US" sz="1500" i="1" dirty="0">
                <a:solidFill>
                  <a:schemeClr val="tx1"/>
                </a:solidFill>
              </a:rPr>
              <a:t>was leaking</a:t>
            </a:r>
            <a:r>
              <a:rPr lang="en-US" sz="1500" dirty="0">
                <a:solidFill>
                  <a:schemeClr val="tx1"/>
                </a:solidFill>
              </a:rPr>
              <a:t>, not </a:t>
            </a:r>
            <a:r>
              <a:rPr lang="en-US" sz="1500" i="1" dirty="0">
                <a:solidFill>
                  <a:schemeClr val="tx1"/>
                </a:solidFill>
              </a:rPr>
              <a:t>leaked</a:t>
            </a:r>
            <a:r>
              <a:rPr lang="en-US" sz="1500" dirty="0">
                <a:solidFill>
                  <a:schemeClr val="tx1"/>
                </a:solidFill>
              </a:rPr>
              <a:t>.</a:t>
            </a:r>
            <a:endParaRPr lang="en-US" sz="1500" dirty="0"/>
          </a:p>
          <a:p>
            <a:pPr marL="190500" indent="-190500">
              <a:spcAft>
                <a:spcPts val="700"/>
              </a:spcAft>
              <a:buSzPct val="100000"/>
              <a:buChar char="•"/>
            </a:pPr>
            <a:r>
              <a:rPr lang="en-US" sz="1500" i="1" dirty="0">
                <a:solidFill>
                  <a:schemeClr val="tx1"/>
                </a:solidFill>
              </a:rPr>
              <a:t>I think</a:t>
            </a:r>
            <a:r>
              <a:rPr lang="en-US" sz="1500" dirty="0">
                <a:solidFill>
                  <a:schemeClr val="tx1"/>
                </a:solidFill>
              </a:rPr>
              <a:t> disappeared — the guess became a fact!</a:t>
            </a:r>
            <a:endParaRPr lang="en-US" sz="1500" dirty="0"/>
          </a:p>
          <a:p>
            <a:pPr marL="190500" indent="-190500">
              <a:spcAft>
                <a:spcPts val="700"/>
              </a:spcAft>
              <a:buSzPct val="100000"/>
              <a:buChar char="•"/>
            </a:pPr>
            <a:r>
              <a:rPr lang="en-US" sz="1500" dirty="0">
                <a:solidFill>
                  <a:schemeClr val="tx1"/>
                </a:solidFill>
              </a:rPr>
              <a:t>We lost a detail: </a:t>
            </a:r>
            <a:r>
              <a:rPr lang="en-US" sz="1500" i="1" dirty="0">
                <a:solidFill>
                  <a:schemeClr val="tx1"/>
                </a:solidFill>
              </a:rPr>
              <a:t>on the second floor</a:t>
            </a:r>
            <a:r>
              <a:rPr lang="en-US" sz="1500" dirty="0">
                <a:solidFill>
                  <a:schemeClr val="tx1"/>
                </a:solidFill>
              </a:rPr>
              <a:t>.</a:t>
            </a:r>
            <a:endParaRPr lang="en-US" sz="1500" dirty="0"/>
          </a:p>
        </p:txBody>
      </p:sp>
      <p:sp>
        <p:nvSpPr>
          <p:cNvPr id="22" name="Shape 17"/>
          <p:cNvSpPr/>
          <p:nvPr/>
        </p:nvSpPr>
        <p:spPr>
          <a:xfrm>
            <a:off x="548640" y="5742432"/>
            <a:ext cx="11091672" cy="566928"/>
          </a:xfrm>
          <a:prstGeom prst="roundRect">
            <a:avLst>
              <a:gd name="adj" fmla="val 12903"/>
            </a:avLst>
          </a:prstGeom>
          <a:solidFill>
            <a:srgbClr val="C0752A">
              <a:alpha val="10000"/>
            </a:srgbClr>
          </a:solidFill>
          <a:ln w="12700">
            <a:solidFill>
              <a:srgbClr val="C0752A"/>
            </a:solidFill>
            <a:prstDash val="solid"/>
          </a:ln>
        </p:spPr>
      </p:sp>
      <p:pic>
        <p:nvPicPr>
          <p:cNvPr id="23" name="Image 2" descr="preencoded.png">    </p:cNvPr>
          <p:cNvPicPr>
            <a:picLocks noChangeAspect="1"/>
          </p:cNvPicPr>
          <p:nvPr/>
        </p:nvPicPr>
        <p:blipFill>
          <a:blip r:embed="rId3"/>
          <a:stretch>
            <a:fillRect/>
          </a:stretch>
        </p:blipFill>
        <p:spPr>
          <a:xfrm>
            <a:off x="749808" y="5870448"/>
            <a:ext cx="310896" cy="310896"/>
          </a:xfrm>
          <a:prstGeom prst="rect">
            <a:avLst/>
          </a:prstGeom>
        </p:spPr>
      </p:pic>
      <p:sp>
        <p:nvSpPr>
          <p:cNvPr id="24" name="Text 18"/>
          <p:cNvSpPr txBox="1"/>
          <p:nvPr/>
        </p:nvSpPr>
        <p:spPr>
          <a:xfrm>
            <a:off x="1234440" y="5742432"/>
            <a:ext cx="10222992" cy="566928"/>
          </a:xfrm>
          <a:prstGeom prst="rect">
            <a:avLst/>
          </a:prstGeom>
          <a:noFill/>
          <a:ln/>
        </p:spPr>
        <p:txBody>
          <a:bodyPr wrap="square" lIns="0" tIns="0" rIns="0" bIns="0" rtlCol="0" anchor="ctr"/>
          <a:lstStyle/>
          <a:p>
            <a:pPr indent="0" marL="0">
              <a:buNone/>
            </a:pPr>
            <a:r>
              <a:rPr lang="en-US" sz="1700" b="1" dirty="0">
                <a:solidFill>
                  <a:schemeClr val="tx1"/>
                </a:solidFill>
              </a:rPr>
              <a:t>To win —</a:t>
            </a:r>
            <a:r>
              <a:rPr lang="en-US" sz="1700" dirty="0">
                <a:solidFill>
                  <a:schemeClr val="tx1"/>
                </a:solidFill>
              </a:rPr>
              <a:t> the team with the sentence closest to the card, </a:t>
            </a:r>
            <a:r>
              <a:rPr lang="en-US" sz="1700" b="1" dirty="0">
                <a:solidFill>
                  <a:schemeClr val="tx1"/>
                </a:solidFill>
              </a:rPr>
              <a:t>word for word</a:t>
            </a:r>
            <a:r>
              <a:rPr lang="en-US" sz="1700" dirty="0">
                <a:solidFill>
                  <a:schemeClr val="tx1"/>
                </a:solidFill>
              </a:rPr>
              <a:t>, scores.</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The past continuous</a:t>
            </a:r>
            <a:endParaRPr lang="en-US" sz="3200" dirty="0"/>
          </a:p>
        </p:txBody>
      </p:sp>
      <p:sp>
        <p:nvSpPr>
          <p:cNvPr id="3" name="tag"/>
          <p:cNvSpPr/>
          <p:nvPr/>
        </p:nvSpPr>
        <p:spPr>
          <a:xfrm>
            <a:off x="548640" y="384048"/>
            <a:ext cx="1165860" cy="310896"/>
          </a:xfrm>
          <a:prstGeom prst="roundRect">
            <a:avLst>
              <a:gd name="adj" fmla="val 14706"/>
            </a:avLst>
          </a:prstGeom>
          <a:solidFill>
            <a:srgbClr val="1F3864"/>
          </a:solidFill>
          <a:ln/>
        </p:spPr>
        <p:txBody>
          <a:bodyPr wrap="square" lIns="0" tIns="0" rIns="0" bIns="0" rtlCol="0" anchor="ctr"/>
          <a:lstStyle/>
          <a:p>
            <a:pPr algn="ctr" indent="0" marL="0">
              <a:buNone/>
            </a:pPr>
            <a:r>
              <a:rPr lang="en-US" sz="1200" b="1" spc="100" kern="0" dirty="0">
                <a:solidFill>
                  <a:schemeClr val="bg1"/>
                </a:solidFill>
              </a:rPr>
              <a:t>GRAMMAR</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6" name="Shape 3"/>
          <p:cNvSpPr/>
          <p:nvPr/>
        </p:nvSpPr>
        <p:spPr>
          <a:xfrm>
            <a:off x="548640" y="1783080"/>
            <a:ext cx="2622042" cy="3523488"/>
          </a:xfrm>
          <a:prstGeom prst="roundRect">
            <a:avLst>
              <a:gd name="adj" fmla="val 2790"/>
            </a:avLst>
          </a:prstGeom>
          <a:solidFill>
            <a:srgbClr val="EEF2F8"/>
          </a:solidFill>
          <a:ln w="9525">
            <a:solidFill>
              <a:srgbClr val="D5DCE6"/>
            </a:solidFill>
            <a:prstDash val="solid"/>
          </a:ln>
        </p:spPr>
      </p:sp>
      <p:sp>
        <p:nvSpPr>
          <p:cNvPr id="7" name="Text 4"/>
          <p:cNvSpPr txBox="1"/>
          <p:nvPr/>
        </p:nvSpPr>
        <p:spPr>
          <a:xfrm>
            <a:off x="749808" y="1929384"/>
            <a:ext cx="2219706" cy="274320"/>
          </a:xfrm>
          <a:prstGeom prst="rect">
            <a:avLst/>
          </a:prstGeom>
          <a:noFill/>
          <a:ln/>
        </p:spPr>
        <p:txBody>
          <a:bodyPr wrap="square" lIns="0" tIns="0" rIns="0" bIns="0" rtlCol="0" anchor="ctr"/>
          <a:lstStyle/>
          <a:p>
            <a:pPr indent="0" marL="0">
              <a:buNone/>
            </a:pPr>
            <a:r>
              <a:rPr lang="en-US" sz="1200" b="1" spc="150" kern="0" dirty="0">
                <a:solidFill>
                  <a:schemeClr val="accent5"/>
                </a:solidFill>
              </a:rPr>
              <a:t>+ AFFIRMATIVE</a:t>
            </a:r>
            <a:endParaRPr lang="en-US" sz="1200" dirty="0"/>
          </a:p>
        </p:txBody>
      </p:sp>
      <p:sp>
        <p:nvSpPr>
          <p:cNvPr id="8" name="Text 5"/>
          <p:cNvSpPr txBox="1"/>
          <p:nvPr/>
        </p:nvSpPr>
        <p:spPr>
          <a:xfrm>
            <a:off x="749808" y="2221992"/>
            <a:ext cx="2219706" cy="512064"/>
          </a:xfrm>
          <a:prstGeom prst="rect">
            <a:avLst/>
          </a:prstGeom>
          <a:noFill/>
          <a:ln/>
        </p:spPr>
        <p:txBody>
          <a:bodyPr wrap="square" lIns="0" tIns="0" rIns="0" bIns="0" rtlCol="0" anchor="ctr"/>
          <a:lstStyle/>
          <a:p>
            <a:pPr indent="0" marL="0">
              <a:buNone/>
            </a:pPr>
            <a:r>
              <a:rPr lang="en-US" sz="2300" b="1" dirty="0">
                <a:solidFill>
                  <a:schemeClr val="accent2"/>
                </a:solidFill>
                <a:latin typeface="+mj-lt" pitchFamily="34" charset="0"/>
                <a:ea typeface="+mj-lt" pitchFamily="34" charset="-122"/>
                <a:cs typeface="+mj-lt" pitchFamily="34" charset="-120"/>
              </a:rPr>
              <a:t>was</a:t>
            </a:r>
            <a:r>
              <a:rPr lang="en-US" sz="2300" b="1" dirty="0">
                <a:solidFill>
                  <a:schemeClr val="tx2"/>
                </a:solidFill>
                <a:latin typeface="+mj-lt" pitchFamily="34" charset="0"/>
                <a:ea typeface="+mj-lt" pitchFamily="34" charset="-122"/>
                <a:cs typeface="+mj-lt" pitchFamily="34" charset="-120"/>
              </a:rPr>
              <a:t> + -ing</a:t>
            </a:r>
            <a:endParaRPr lang="en-US" sz="2300" dirty="0"/>
          </a:p>
        </p:txBody>
      </p:sp>
      <p:sp>
        <p:nvSpPr>
          <p:cNvPr id="9" name="Text 6"/>
          <p:cNvSpPr txBox="1"/>
          <p:nvPr/>
        </p:nvSpPr>
        <p:spPr>
          <a:xfrm>
            <a:off x="749808" y="2752344"/>
            <a:ext cx="2219706" cy="310896"/>
          </a:xfrm>
          <a:prstGeom prst="rect">
            <a:avLst/>
          </a:prstGeom>
          <a:noFill/>
          <a:ln/>
        </p:spPr>
        <p:txBody>
          <a:bodyPr wrap="square" lIns="0" tIns="0" rIns="0" bIns="0" rtlCol="0" anchor="ctr"/>
          <a:lstStyle/>
          <a:p>
            <a:pPr indent="0" marL="0">
              <a:buNone/>
            </a:pPr>
            <a:r>
              <a:rPr lang="en-US" sz="1500" dirty="0">
                <a:solidFill>
                  <a:schemeClr val="accent5"/>
                </a:solidFill>
              </a:rPr>
              <a:t>you / we / they: </a:t>
            </a:r>
            <a:r>
              <a:rPr lang="en-US" sz="1500" b="1" dirty="0">
                <a:solidFill>
                  <a:schemeClr val="accent5"/>
                </a:solidFill>
              </a:rPr>
              <a:t>were</a:t>
            </a:r>
            <a:endParaRPr lang="en-US" sz="1500" dirty="0"/>
          </a:p>
        </p:txBody>
      </p:sp>
      <p:sp>
        <p:nvSpPr>
          <p:cNvPr id="10" name="Shape 7"/>
          <p:cNvSpPr/>
          <p:nvPr/>
        </p:nvSpPr>
        <p:spPr>
          <a:xfrm>
            <a:off x="749808" y="3118104"/>
            <a:ext cx="2219706" cy="0"/>
          </a:xfrm>
          <a:prstGeom prst="line">
            <a:avLst/>
          </a:prstGeom>
          <a:noFill/>
          <a:ln w="9525">
            <a:solidFill>
              <a:srgbClr val="C9D1DE"/>
            </a:solidFill>
            <a:prstDash val="solid"/>
          </a:ln>
        </p:spPr>
      </p:sp>
      <p:sp>
        <p:nvSpPr>
          <p:cNvPr id="11" name="Text 8"/>
          <p:cNvSpPr txBox="1"/>
          <p:nvPr/>
        </p:nvSpPr>
        <p:spPr>
          <a:xfrm>
            <a:off x="749808" y="3209544"/>
            <a:ext cx="2219706" cy="2005584"/>
          </a:xfrm>
          <a:prstGeom prst="rect">
            <a:avLst/>
          </a:prstGeom>
          <a:noFill/>
          <a:ln/>
        </p:spPr>
        <p:txBody>
          <a:bodyPr wrap="square" lIns="0" tIns="0" rIns="0" bIns="0" rtlCol="0" anchor="t"/>
          <a:lstStyle/>
          <a:p>
            <a:pPr indent="0" marL="0">
              <a:spcAft>
                <a:spcPts val="400"/>
              </a:spcAft>
              <a:buNone/>
            </a:pPr>
            <a:r>
              <a:rPr lang="en-US" sz="1800" dirty="0">
                <a:solidFill>
                  <a:schemeClr val="tx1"/>
                </a:solidFill>
              </a:rPr>
              <a:t>Samuel </a:t>
            </a:r>
            <a:r>
              <a:rPr lang="en-US" sz="1800" b="1" dirty="0">
                <a:solidFill>
                  <a:schemeClr val="accent2"/>
                </a:solidFill>
              </a:rPr>
              <a:t>was checking</a:t>
            </a:r>
            <a:r>
              <a:rPr lang="en-US" sz="1800" dirty="0">
                <a:solidFill>
                  <a:schemeClr val="tx1"/>
                </a:solidFill>
              </a:rPr>
              <a:t> the rack. They </a:t>
            </a:r>
            <a:r>
              <a:rPr lang="en-US" sz="1800" b="1" dirty="0">
                <a:solidFill>
                  <a:schemeClr val="accent2"/>
                </a:solidFill>
              </a:rPr>
              <a:t>were packing</a:t>
            </a:r>
            <a:r>
              <a:rPr lang="en-US" sz="1800" dirty="0">
                <a:solidFill>
                  <a:schemeClr val="tx1"/>
                </a:solidFill>
              </a:rPr>
              <a:t> their tools.</a:t>
            </a:r>
            <a:endParaRPr lang="en-US" sz="1800" dirty="0"/>
          </a:p>
        </p:txBody>
      </p:sp>
      <p:sp>
        <p:nvSpPr>
          <p:cNvPr id="12" name="Shape 9"/>
          <p:cNvSpPr/>
          <p:nvPr/>
        </p:nvSpPr>
        <p:spPr>
          <a:xfrm>
            <a:off x="3371850" y="1783080"/>
            <a:ext cx="2622042" cy="3523488"/>
          </a:xfrm>
          <a:prstGeom prst="roundRect">
            <a:avLst>
              <a:gd name="adj" fmla="val 2790"/>
            </a:avLst>
          </a:prstGeom>
          <a:solidFill>
            <a:srgbClr val="EEF2F8"/>
          </a:solidFill>
          <a:ln w="9525">
            <a:solidFill>
              <a:srgbClr val="D5DCE6"/>
            </a:solidFill>
            <a:prstDash val="solid"/>
          </a:ln>
        </p:spPr>
      </p:sp>
      <p:sp>
        <p:nvSpPr>
          <p:cNvPr id="13" name="Text 10"/>
          <p:cNvSpPr txBox="1"/>
          <p:nvPr/>
        </p:nvSpPr>
        <p:spPr>
          <a:xfrm>
            <a:off x="3573018" y="1929384"/>
            <a:ext cx="2219706" cy="274320"/>
          </a:xfrm>
          <a:prstGeom prst="rect">
            <a:avLst/>
          </a:prstGeom>
          <a:noFill/>
          <a:ln/>
        </p:spPr>
        <p:txBody>
          <a:bodyPr wrap="square" lIns="0" tIns="0" rIns="0" bIns="0" rtlCol="0" anchor="ctr"/>
          <a:lstStyle/>
          <a:p>
            <a:pPr indent="0" marL="0">
              <a:buNone/>
            </a:pPr>
            <a:r>
              <a:rPr lang="en-US" sz="1200" b="1" spc="150" kern="0" dirty="0">
                <a:solidFill>
                  <a:schemeClr val="accent5"/>
                </a:solidFill>
              </a:rPr>
              <a:t>– NEGATIVE</a:t>
            </a:r>
            <a:endParaRPr lang="en-US" sz="1200" dirty="0"/>
          </a:p>
        </p:txBody>
      </p:sp>
      <p:sp>
        <p:nvSpPr>
          <p:cNvPr id="14" name="Text 11"/>
          <p:cNvSpPr txBox="1"/>
          <p:nvPr/>
        </p:nvSpPr>
        <p:spPr>
          <a:xfrm>
            <a:off x="3573018" y="2221992"/>
            <a:ext cx="2219706" cy="512064"/>
          </a:xfrm>
          <a:prstGeom prst="rect">
            <a:avLst/>
          </a:prstGeom>
          <a:noFill/>
          <a:ln/>
        </p:spPr>
        <p:txBody>
          <a:bodyPr wrap="square" lIns="0" tIns="0" rIns="0" bIns="0" rtlCol="0" anchor="ctr"/>
          <a:lstStyle/>
          <a:p>
            <a:pPr indent="0" marL="0">
              <a:buNone/>
            </a:pPr>
            <a:r>
              <a:rPr lang="en-US" sz="2300" b="1" dirty="0">
                <a:solidFill>
                  <a:schemeClr val="accent2"/>
                </a:solidFill>
                <a:latin typeface="+mj-lt" pitchFamily="34" charset="0"/>
                <a:ea typeface="+mj-lt" pitchFamily="34" charset="-122"/>
                <a:cs typeface="+mj-lt" pitchFamily="34" charset="-120"/>
              </a:rPr>
              <a:t>wasn’t</a:t>
            </a:r>
            <a:r>
              <a:rPr lang="en-US" sz="2300" b="1" dirty="0">
                <a:solidFill>
                  <a:schemeClr val="tx2"/>
                </a:solidFill>
                <a:latin typeface="+mj-lt" pitchFamily="34" charset="0"/>
                <a:ea typeface="+mj-lt" pitchFamily="34" charset="-122"/>
                <a:cs typeface="+mj-lt" pitchFamily="34" charset="-120"/>
              </a:rPr>
              <a:t> + -ing</a:t>
            </a:r>
            <a:endParaRPr lang="en-US" sz="2300" dirty="0"/>
          </a:p>
        </p:txBody>
      </p:sp>
      <p:sp>
        <p:nvSpPr>
          <p:cNvPr id="15" name="Text 12"/>
          <p:cNvSpPr txBox="1"/>
          <p:nvPr/>
        </p:nvSpPr>
        <p:spPr>
          <a:xfrm>
            <a:off x="3573018" y="2752344"/>
            <a:ext cx="2219706" cy="310896"/>
          </a:xfrm>
          <a:prstGeom prst="rect">
            <a:avLst/>
          </a:prstGeom>
          <a:noFill/>
          <a:ln/>
        </p:spPr>
        <p:txBody>
          <a:bodyPr wrap="square" lIns="0" tIns="0" rIns="0" bIns="0" rtlCol="0" anchor="ctr"/>
          <a:lstStyle/>
          <a:p>
            <a:pPr indent="0" marL="0">
              <a:buNone/>
            </a:pPr>
            <a:r>
              <a:rPr lang="en-US" sz="1500" dirty="0">
                <a:solidFill>
                  <a:schemeClr val="accent5"/>
                </a:solidFill>
              </a:rPr>
              <a:t>you / we / they: </a:t>
            </a:r>
            <a:r>
              <a:rPr lang="en-US" sz="1500" b="1" dirty="0">
                <a:solidFill>
                  <a:schemeClr val="accent5"/>
                </a:solidFill>
              </a:rPr>
              <a:t>weren’t</a:t>
            </a:r>
            <a:endParaRPr lang="en-US" sz="1500" dirty="0"/>
          </a:p>
        </p:txBody>
      </p:sp>
      <p:sp>
        <p:nvSpPr>
          <p:cNvPr id="16" name="Shape 13"/>
          <p:cNvSpPr/>
          <p:nvPr/>
        </p:nvSpPr>
        <p:spPr>
          <a:xfrm>
            <a:off x="3573018" y="3118104"/>
            <a:ext cx="2219706" cy="0"/>
          </a:xfrm>
          <a:prstGeom prst="line">
            <a:avLst/>
          </a:prstGeom>
          <a:noFill/>
          <a:ln w="9525">
            <a:solidFill>
              <a:srgbClr val="C9D1DE"/>
            </a:solidFill>
            <a:prstDash val="solid"/>
          </a:ln>
        </p:spPr>
      </p:sp>
      <p:sp>
        <p:nvSpPr>
          <p:cNvPr id="17" name="Text 14"/>
          <p:cNvSpPr txBox="1"/>
          <p:nvPr/>
        </p:nvSpPr>
        <p:spPr>
          <a:xfrm>
            <a:off x="3573018" y="3209544"/>
            <a:ext cx="2219706" cy="2005584"/>
          </a:xfrm>
          <a:prstGeom prst="rect">
            <a:avLst/>
          </a:prstGeom>
          <a:noFill/>
          <a:ln/>
        </p:spPr>
        <p:txBody>
          <a:bodyPr wrap="square" lIns="0" tIns="0" rIns="0" bIns="0" rtlCol="0" anchor="t"/>
          <a:lstStyle/>
          <a:p>
            <a:pPr indent="0" marL="0">
              <a:spcAft>
                <a:spcPts val="400"/>
              </a:spcAft>
              <a:buNone/>
            </a:pPr>
            <a:r>
              <a:rPr lang="en-US" sz="1800" dirty="0">
                <a:solidFill>
                  <a:schemeClr val="tx1"/>
                </a:solidFill>
              </a:rPr>
              <a:t>Nobody </a:t>
            </a:r>
            <a:r>
              <a:rPr lang="en-US" sz="1800" b="1" dirty="0">
                <a:solidFill>
                  <a:schemeClr val="accent2"/>
                </a:solidFill>
              </a:rPr>
              <a:t>was watching</a:t>
            </a:r>
            <a:r>
              <a:rPr lang="en-US" sz="1800" dirty="0">
                <a:solidFill>
                  <a:schemeClr val="tx1"/>
                </a:solidFill>
              </a:rPr>
              <a:t> the room. They </a:t>
            </a:r>
            <a:r>
              <a:rPr lang="en-US" sz="1800" b="1" dirty="0">
                <a:solidFill>
                  <a:schemeClr val="accent2"/>
                </a:solidFill>
              </a:rPr>
              <a:t>weren’t working</a:t>
            </a:r>
            <a:r>
              <a:rPr lang="en-US" sz="1800" dirty="0">
                <a:solidFill>
                  <a:schemeClr val="tx1"/>
                </a:solidFill>
              </a:rPr>
              <a:t> at midnight.</a:t>
            </a:r>
            <a:endParaRPr lang="en-US" sz="1800" dirty="0"/>
          </a:p>
        </p:txBody>
      </p:sp>
      <p:sp>
        <p:nvSpPr>
          <p:cNvPr id="18" name="Shape 15"/>
          <p:cNvSpPr/>
          <p:nvPr/>
        </p:nvSpPr>
        <p:spPr>
          <a:xfrm>
            <a:off x="6195060" y="1783080"/>
            <a:ext cx="2622042" cy="3523488"/>
          </a:xfrm>
          <a:prstGeom prst="roundRect">
            <a:avLst>
              <a:gd name="adj" fmla="val 2790"/>
            </a:avLst>
          </a:prstGeom>
          <a:solidFill>
            <a:srgbClr val="EEF2F8"/>
          </a:solidFill>
          <a:ln w="9525">
            <a:solidFill>
              <a:srgbClr val="D5DCE6"/>
            </a:solidFill>
            <a:prstDash val="solid"/>
          </a:ln>
        </p:spPr>
      </p:sp>
      <p:sp>
        <p:nvSpPr>
          <p:cNvPr id="19" name="Text 16"/>
          <p:cNvSpPr txBox="1"/>
          <p:nvPr/>
        </p:nvSpPr>
        <p:spPr>
          <a:xfrm>
            <a:off x="6396228" y="1929384"/>
            <a:ext cx="2219706" cy="274320"/>
          </a:xfrm>
          <a:prstGeom prst="rect">
            <a:avLst/>
          </a:prstGeom>
          <a:noFill/>
          <a:ln/>
        </p:spPr>
        <p:txBody>
          <a:bodyPr wrap="square" lIns="0" tIns="0" rIns="0" bIns="0" rtlCol="0" anchor="ctr"/>
          <a:lstStyle/>
          <a:p>
            <a:pPr indent="0" marL="0">
              <a:buNone/>
            </a:pPr>
            <a:r>
              <a:rPr lang="en-US" sz="1200" b="1" spc="150" kern="0" dirty="0">
                <a:solidFill>
                  <a:schemeClr val="accent5"/>
                </a:solidFill>
              </a:rPr>
              <a:t>? QUESTION</a:t>
            </a:r>
            <a:endParaRPr lang="en-US" sz="1200" dirty="0"/>
          </a:p>
        </p:txBody>
      </p:sp>
      <p:sp>
        <p:nvSpPr>
          <p:cNvPr id="20" name="Text 17"/>
          <p:cNvSpPr txBox="1"/>
          <p:nvPr/>
        </p:nvSpPr>
        <p:spPr>
          <a:xfrm>
            <a:off x="6396228" y="2221992"/>
            <a:ext cx="2219706" cy="512064"/>
          </a:xfrm>
          <a:prstGeom prst="rect">
            <a:avLst/>
          </a:prstGeom>
          <a:noFill/>
          <a:ln/>
        </p:spPr>
        <p:txBody>
          <a:bodyPr wrap="square" lIns="0" tIns="0" rIns="0" bIns="0" rtlCol="0" anchor="ctr"/>
          <a:lstStyle/>
          <a:p>
            <a:pPr indent="0" marL="0">
              <a:buNone/>
            </a:pPr>
            <a:r>
              <a:rPr lang="en-US" sz="2300" b="1" dirty="0">
                <a:solidFill>
                  <a:schemeClr val="accent2"/>
                </a:solidFill>
                <a:latin typeface="+mj-lt" pitchFamily="34" charset="0"/>
                <a:ea typeface="+mj-lt" pitchFamily="34" charset="-122"/>
                <a:cs typeface="+mj-lt" pitchFamily="34" charset="-120"/>
              </a:rPr>
              <a:t>Was</a:t>
            </a:r>
            <a:r>
              <a:rPr lang="en-US" sz="2300" b="1" dirty="0">
                <a:solidFill>
                  <a:schemeClr val="tx2"/>
                </a:solidFill>
                <a:latin typeface="+mj-lt" pitchFamily="34" charset="0"/>
                <a:ea typeface="+mj-lt" pitchFamily="34" charset="-122"/>
                <a:cs typeface="+mj-lt" pitchFamily="34" charset="-120"/>
              </a:rPr>
              <a:t> … -ing?</a:t>
            </a:r>
            <a:endParaRPr lang="en-US" sz="2300" dirty="0"/>
          </a:p>
        </p:txBody>
      </p:sp>
      <p:sp>
        <p:nvSpPr>
          <p:cNvPr id="21" name="Text 18"/>
          <p:cNvSpPr txBox="1"/>
          <p:nvPr/>
        </p:nvSpPr>
        <p:spPr>
          <a:xfrm>
            <a:off x="6396228" y="2752344"/>
            <a:ext cx="2219706" cy="310896"/>
          </a:xfrm>
          <a:prstGeom prst="rect">
            <a:avLst/>
          </a:prstGeom>
          <a:noFill/>
          <a:ln/>
        </p:spPr>
        <p:txBody>
          <a:bodyPr wrap="square" lIns="0" tIns="0" rIns="0" bIns="0" rtlCol="0" anchor="ctr"/>
          <a:lstStyle/>
          <a:p>
            <a:pPr indent="0" marL="0">
              <a:buNone/>
            </a:pPr>
            <a:r>
              <a:rPr lang="en-US" sz="1500" b="1" dirty="0">
                <a:solidFill>
                  <a:schemeClr val="accent5"/>
                </a:solidFill>
              </a:rPr>
              <a:t>Were</a:t>
            </a:r>
            <a:r>
              <a:rPr lang="en-US" sz="1500" dirty="0">
                <a:solidFill>
                  <a:schemeClr val="accent5"/>
                </a:solidFill>
              </a:rPr>
              <a:t> they … -ing?</a:t>
            </a:r>
            <a:endParaRPr lang="en-US" sz="1500" dirty="0"/>
          </a:p>
        </p:txBody>
      </p:sp>
      <p:sp>
        <p:nvSpPr>
          <p:cNvPr id="22" name="Shape 19"/>
          <p:cNvSpPr/>
          <p:nvPr/>
        </p:nvSpPr>
        <p:spPr>
          <a:xfrm>
            <a:off x="6396228" y="3118104"/>
            <a:ext cx="2219706" cy="0"/>
          </a:xfrm>
          <a:prstGeom prst="line">
            <a:avLst/>
          </a:prstGeom>
          <a:noFill/>
          <a:ln w="9525">
            <a:solidFill>
              <a:srgbClr val="C9D1DE"/>
            </a:solidFill>
            <a:prstDash val="solid"/>
          </a:ln>
        </p:spPr>
      </p:sp>
      <p:sp>
        <p:nvSpPr>
          <p:cNvPr id="23" name="Text 20"/>
          <p:cNvSpPr txBox="1"/>
          <p:nvPr/>
        </p:nvSpPr>
        <p:spPr>
          <a:xfrm>
            <a:off x="6396228" y="3209544"/>
            <a:ext cx="2219706" cy="2005584"/>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Was</a:t>
            </a:r>
            <a:r>
              <a:rPr lang="en-US" sz="1800" dirty="0">
                <a:solidFill>
                  <a:schemeClr val="tx1"/>
                </a:solidFill>
              </a:rPr>
              <a:t> the water still </a:t>
            </a:r>
            <a:r>
              <a:rPr lang="en-US" sz="1800" b="1" dirty="0">
                <a:solidFill>
                  <a:schemeClr val="accent2"/>
                </a:solidFill>
              </a:rPr>
              <a:t>running</a:t>
            </a:r>
            <a:r>
              <a:rPr lang="en-US" sz="1800" dirty="0">
                <a:solidFill>
                  <a:schemeClr val="tx1"/>
                </a:solidFill>
              </a:rPr>
              <a:t>? </a:t>
            </a:r>
            <a:r>
              <a:rPr lang="en-US" sz="1800" b="1" dirty="0">
                <a:solidFill>
                  <a:schemeClr val="accent2"/>
                </a:solidFill>
              </a:rPr>
              <a:t>Were</a:t>
            </a:r>
            <a:r>
              <a:rPr lang="en-US" sz="1800" dirty="0">
                <a:solidFill>
                  <a:schemeClr val="tx1"/>
                </a:solidFill>
              </a:rPr>
              <a:t> they </a:t>
            </a:r>
            <a:r>
              <a:rPr lang="en-US" sz="1800" b="1" dirty="0">
                <a:solidFill>
                  <a:schemeClr val="accent2"/>
                </a:solidFill>
              </a:rPr>
              <a:t>sleeping</a:t>
            </a:r>
            <a:r>
              <a:rPr lang="en-US" sz="1800" dirty="0">
                <a:solidFill>
                  <a:schemeClr val="tx1"/>
                </a:solidFill>
              </a:rPr>
              <a:t>?</a:t>
            </a:r>
            <a:endParaRPr lang="en-US" sz="1800" dirty="0"/>
          </a:p>
        </p:txBody>
      </p:sp>
      <p:sp>
        <p:nvSpPr>
          <p:cNvPr id="24" name="Shape 21"/>
          <p:cNvSpPr/>
          <p:nvPr/>
        </p:nvSpPr>
        <p:spPr>
          <a:xfrm>
            <a:off x="9018270" y="1783080"/>
            <a:ext cx="2622042" cy="3523488"/>
          </a:xfrm>
          <a:prstGeom prst="roundRect">
            <a:avLst>
              <a:gd name="adj" fmla="val 2790"/>
            </a:avLst>
          </a:prstGeom>
          <a:solidFill>
            <a:srgbClr val="EEF2F8"/>
          </a:solidFill>
          <a:ln w="9525">
            <a:solidFill>
              <a:srgbClr val="D5DCE6"/>
            </a:solidFill>
            <a:prstDash val="solid"/>
          </a:ln>
        </p:spPr>
      </p:sp>
      <p:sp>
        <p:nvSpPr>
          <p:cNvPr id="25" name="Text 22"/>
          <p:cNvSpPr txBox="1"/>
          <p:nvPr/>
        </p:nvSpPr>
        <p:spPr>
          <a:xfrm>
            <a:off x="9219438" y="1929384"/>
            <a:ext cx="2219706" cy="274320"/>
          </a:xfrm>
          <a:prstGeom prst="rect">
            <a:avLst/>
          </a:prstGeom>
          <a:noFill/>
          <a:ln/>
        </p:spPr>
        <p:txBody>
          <a:bodyPr wrap="square" lIns="0" tIns="0" rIns="0" bIns="0" rtlCol="0" anchor="ctr"/>
          <a:lstStyle/>
          <a:p>
            <a:pPr indent="0" marL="0">
              <a:buNone/>
            </a:pPr>
            <a:r>
              <a:rPr lang="en-US" sz="1200" b="1" spc="150" kern="0" dirty="0">
                <a:solidFill>
                  <a:schemeClr val="accent5"/>
                </a:solidFill>
              </a:rPr>
              <a:t>SHORT ANSWERS</a:t>
            </a:r>
            <a:endParaRPr lang="en-US" sz="1200" dirty="0"/>
          </a:p>
        </p:txBody>
      </p:sp>
      <p:sp>
        <p:nvSpPr>
          <p:cNvPr id="26" name="Text 23"/>
          <p:cNvSpPr txBox="1"/>
          <p:nvPr/>
        </p:nvSpPr>
        <p:spPr>
          <a:xfrm>
            <a:off x="9219438" y="2221992"/>
            <a:ext cx="2219706" cy="512064"/>
          </a:xfrm>
          <a:prstGeom prst="rect">
            <a:avLst/>
          </a:prstGeom>
          <a:noFill/>
          <a:ln/>
        </p:spPr>
        <p:txBody>
          <a:bodyPr wrap="square" lIns="0" tIns="0" rIns="0" bIns="0" rtlCol="0" anchor="ctr"/>
          <a:lstStyle/>
          <a:p>
            <a:pPr indent="0" marL="0">
              <a:buNone/>
            </a:pPr>
            <a:r>
              <a:rPr lang="en-US" sz="2300" b="1" dirty="0">
                <a:solidFill>
                  <a:schemeClr val="tx2"/>
                </a:solidFill>
                <a:latin typeface="+mj-lt" pitchFamily="34" charset="0"/>
                <a:ea typeface="+mj-lt" pitchFamily="34" charset="-122"/>
                <a:cs typeface="+mj-lt" pitchFamily="34" charset="-120"/>
              </a:rPr>
              <a:t>Yes, it </a:t>
            </a:r>
            <a:r>
              <a:rPr lang="en-US" sz="2300" b="1" dirty="0">
                <a:solidFill>
                  <a:schemeClr val="accent2"/>
                </a:solidFill>
                <a:latin typeface="+mj-lt" pitchFamily="34" charset="0"/>
                <a:ea typeface="+mj-lt" pitchFamily="34" charset="-122"/>
                <a:cs typeface="+mj-lt" pitchFamily="34" charset="-120"/>
              </a:rPr>
              <a:t>was</a:t>
            </a:r>
            <a:r>
              <a:rPr lang="en-US" sz="2300" b="1" dirty="0">
                <a:solidFill>
                  <a:schemeClr val="tx2"/>
                </a:solidFill>
                <a:latin typeface="+mj-lt" pitchFamily="34" charset="0"/>
                <a:ea typeface="+mj-lt" pitchFamily="34" charset="-122"/>
                <a:cs typeface="+mj-lt" pitchFamily="34" charset="-120"/>
              </a:rPr>
              <a:t>.</a:t>
            </a:r>
            <a:endParaRPr lang="en-US" sz="2300" dirty="0"/>
          </a:p>
        </p:txBody>
      </p:sp>
      <p:sp>
        <p:nvSpPr>
          <p:cNvPr id="27" name="Text 24"/>
          <p:cNvSpPr txBox="1"/>
          <p:nvPr/>
        </p:nvSpPr>
        <p:spPr>
          <a:xfrm>
            <a:off x="9219438" y="2752344"/>
            <a:ext cx="2219706" cy="310896"/>
          </a:xfrm>
          <a:prstGeom prst="rect">
            <a:avLst/>
          </a:prstGeom>
          <a:noFill/>
          <a:ln/>
        </p:spPr>
        <p:txBody>
          <a:bodyPr wrap="square" lIns="0" tIns="0" rIns="0" bIns="0" rtlCol="0" anchor="ctr"/>
          <a:lstStyle/>
          <a:p>
            <a:pPr indent="0" marL="0">
              <a:buNone/>
            </a:pPr>
            <a:r>
              <a:rPr lang="en-US" sz="1500" dirty="0">
                <a:solidFill>
                  <a:schemeClr val="accent5"/>
                </a:solidFill>
              </a:rPr>
              <a:t>No, they </a:t>
            </a:r>
            <a:r>
              <a:rPr lang="en-US" sz="1500" b="1" dirty="0">
                <a:solidFill>
                  <a:schemeClr val="accent5"/>
                </a:solidFill>
              </a:rPr>
              <a:t>weren’t</a:t>
            </a:r>
            <a:r>
              <a:rPr lang="en-US" sz="1500" dirty="0">
                <a:solidFill>
                  <a:schemeClr val="accent5"/>
                </a:solidFill>
              </a:rPr>
              <a:t>.</a:t>
            </a:r>
            <a:endParaRPr lang="en-US" sz="1500" dirty="0"/>
          </a:p>
        </p:txBody>
      </p:sp>
      <p:sp>
        <p:nvSpPr>
          <p:cNvPr id="28" name="Shape 25"/>
          <p:cNvSpPr/>
          <p:nvPr/>
        </p:nvSpPr>
        <p:spPr>
          <a:xfrm>
            <a:off x="9219438" y="3118104"/>
            <a:ext cx="2219706" cy="0"/>
          </a:xfrm>
          <a:prstGeom prst="line">
            <a:avLst/>
          </a:prstGeom>
          <a:noFill/>
          <a:ln w="9525">
            <a:solidFill>
              <a:srgbClr val="C9D1DE"/>
            </a:solidFill>
            <a:prstDash val="solid"/>
          </a:ln>
        </p:spPr>
      </p:sp>
      <p:sp>
        <p:nvSpPr>
          <p:cNvPr id="29" name="Text 26"/>
          <p:cNvSpPr txBox="1"/>
          <p:nvPr/>
        </p:nvSpPr>
        <p:spPr>
          <a:xfrm>
            <a:off x="9219438" y="3209544"/>
            <a:ext cx="2219706" cy="2005584"/>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Was</a:t>
            </a:r>
            <a:r>
              <a:rPr lang="en-US" sz="1800" dirty="0">
                <a:solidFill>
                  <a:schemeClr val="tx1"/>
                </a:solidFill>
              </a:rPr>
              <a:t> anyone </a:t>
            </a:r>
            <a:r>
              <a:rPr lang="en-US" sz="1800" b="1" dirty="0">
                <a:solidFill>
                  <a:schemeClr val="accent2"/>
                </a:solidFill>
              </a:rPr>
              <a:t>working</a:t>
            </a:r>
            <a:r>
              <a:rPr lang="en-US" sz="1800" dirty="0">
                <a:solidFill>
                  <a:schemeClr val="tx1"/>
                </a:solidFill>
              </a:rPr>
              <a:t>? — No, nobody </a:t>
            </a:r>
            <a:r>
              <a:rPr lang="en-US" sz="1800" b="1" dirty="0">
                <a:solidFill>
                  <a:schemeClr val="tx1"/>
                </a:solidFill>
              </a:rPr>
              <a:t>was</a:t>
            </a:r>
            <a:r>
              <a:rPr lang="en-US" sz="1800" dirty="0">
                <a:solidFill>
                  <a:schemeClr val="tx1"/>
                </a:solidFill>
              </a:rPr>
              <a:t>.</a:t>
            </a:r>
            <a:endParaRPr lang="en-US" sz="1800" dirty="0"/>
          </a:p>
        </p:txBody>
      </p:sp>
      <p:sp>
        <p:nvSpPr>
          <p:cNvPr id="30" name="Shape 27"/>
          <p:cNvSpPr/>
          <p:nvPr/>
        </p:nvSpPr>
        <p:spPr>
          <a:xfrm>
            <a:off x="548640" y="5535168"/>
            <a:ext cx="11091672" cy="774192"/>
          </a:xfrm>
          <a:prstGeom prst="roundRect">
            <a:avLst>
              <a:gd name="adj" fmla="val 9449"/>
            </a:avLst>
          </a:prstGeom>
          <a:solidFill>
            <a:srgbClr val="2E75B6">
              <a:alpha val="8000"/>
            </a:srgbClr>
          </a:solidFill>
          <a:ln w="12700">
            <a:solidFill>
              <a:srgbClr val="2E75B6"/>
            </a:solidFill>
            <a:prstDash val="solid"/>
          </a:ln>
        </p:spPr>
      </p:sp>
      <p:pic>
        <p:nvPicPr>
          <p:cNvPr id="31" name="Image 0" descr="preencoded.png">    </p:cNvPr>
          <p:cNvPicPr>
            <a:picLocks noChangeAspect="1"/>
          </p:cNvPicPr>
          <p:nvPr/>
        </p:nvPicPr>
        <p:blipFill>
          <a:blip r:embed="rId1"/>
          <a:stretch>
            <a:fillRect/>
          </a:stretch>
        </p:blipFill>
        <p:spPr>
          <a:xfrm>
            <a:off x="777240" y="5739384"/>
            <a:ext cx="365760" cy="365760"/>
          </a:xfrm>
          <a:prstGeom prst="rect">
            <a:avLst/>
          </a:prstGeom>
        </p:spPr>
      </p:pic>
      <p:sp>
        <p:nvSpPr>
          <p:cNvPr id="32" name="Text 28"/>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2"/>
                </a:solidFill>
              </a:rPr>
              <a:t>Weak forms — </a:t>
            </a:r>
            <a:r>
              <a:rPr lang="en-US" sz="1800" dirty="0">
                <a:solidFill>
                  <a:schemeClr val="tx1"/>
                </a:solidFill>
              </a:rPr>
              <a:t>in a sentence, </a:t>
            </a:r>
            <a:r>
              <a:rPr lang="en-US" sz="1800" i="1" dirty="0">
                <a:solidFill>
                  <a:schemeClr val="tx1"/>
                </a:solidFill>
              </a:rPr>
              <a:t>was</a:t>
            </a:r>
            <a:r>
              <a:rPr lang="en-US" sz="1800" dirty="0">
                <a:solidFill>
                  <a:schemeClr val="tx1"/>
                </a:solidFill>
              </a:rPr>
              <a:t> = /wəz/ and </a:t>
            </a:r>
            <a:r>
              <a:rPr lang="en-US" sz="1800" i="1" dirty="0">
                <a:solidFill>
                  <a:schemeClr val="tx1"/>
                </a:solidFill>
              </a:rPr>
              <a:t>were</a:t>
            </a:r>
            <a:r>
              <a:rPr lang="en-US" sz="1800" dirty="0">
                <a:solidFill>
                  <a:schemeClr val="tx1"/>
                </a:solidFill>
              </a:rPr>
              <a:t> = /wə/. Stress the verb, not </a:t>
            </a:r>
            <a:r>
              <a:rPr lang="en-US" sz="1800" i="1" dirty="0">
                <a:solidFill>
                  <a:schemeClr val="tx1"/>
                </a:solidFill>
              </a:rPr>
              <a:t>was</a:t>
            </a:r>
            <a:r>
              <a:rPr lang="en-US" sz="1800" dirty="0">
                <a:solidFill>
                  <a:schemeClr val="tx1"/>
                </a:solidFill>
              </a:rPr>
              <a:t>: Samuel was </a:t>
            </a:r>
            <a:r>
              <a:rPr lang="en-US" sz="1800" b="1" dirty="0">
                <a:solidFill>
                  <a:schemeClr val="tx1"/>
                </a:solidFill>
              </a:rPr>
              <a:t>CHECK</a:t>
            </a:r>
            <a:r>
              <a:rPr lang="en-US" sz="1800" dirty="0">
                <a:solidFill>
                  <a:schemeClr val="tx1"/>
                </a:solidFill>
              </a:rPr>
              <a:t>ing the rack.</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Four pictures of the past</a:t>
            </a:r>
            <a:endParaRPr lang="en-US" sz="3200" dirty="0"/>
          </a:p>
        </p:txBody>
      </p:sp>
      <p:sp>
        <p:nvSpPr>
          <p:cNvPr id="3" name="tag"/>
          <p:cNvSpPr/>
          <p:nvPr/>
        </p:nvSpPr>
        <p:spPr>
          <a:xfrm>
            <a:off x="548640" y="384048"/>
            <a:ext cx="1165860" cy="310896"/>
          </a:xfrm>
          <a:prstGeom prst="roundRect">
            <a:avLst>
              <a:gd name="adj" fmla="val 14706"/>
            </a:avLst>
          </a:prstGeom>
          <a:solidFill>
            <a:srgbClr val="1F3864"/>
          </a:solidFill>
          <a:ln/>
        </p:spPr>
        <p:txBody>
          <a:bodyPr wrap="square" lIns="0" tIns="0" rIns="0" bIns="0" rtlCol="0" anchor="ctr"/>
          <a:lstStyle/>
          <a:p>
            <a:pPr algn="ctr" indent="0" marL="0">
              <a:buNone/>
            </a:pPr>
            <a:r>
              <a:rPr lang="en-US" sz="1200" b="1" spc="100" kern="0" dirty="0">
                <a:solidFill>
                  <a:schemeClr val="bg1"/>
                </a:solidFill>
              </a:rPr>
              <a:t>GRAMMAR</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6" name="Shape 3"/>
          <p:cNvSpPr/>
          <p:nvPr/>
        </p:nvSpPr>
        <p:spPr>
          <a:xfrm>
            <a:off x="548640" y="1783080"/>
            <a:ext cx="2601468" cy="4526280"/>
          </a:xfrm>
          <a:prstGeom prst="roundRect">
            <a:avLst>
              <a:gd name="adj" fmla="val 2812"/>
            </a:avLst>
          </a:prstGeom>
          <a:solidFill>
            <a:srgbClr val="EEF2F8"/>
          </a:solidFill>
          <a:ln w="9525">
            <a:solidFill>
              <a:srgbClr val="D5DCE6"/>
            </a:solidFill>
            <a:prstDash val="solid"/>
          </a:ln>
        </p:spPr>
      </p:sp>
      <p:sp>
        <p:nvSpPr>
          <p:cNvPr id="7" name="Text 4"/>
          <p:cNvSpPr txBox="1"/>
          <p:nvPr/>
        </p:nvSpPr>
        <p:spPr>
          <a:xfrm>
            <a:off x="731520" y="1920240"/>
            <a:ext cx="2235708" cy="347472"/>
          </a:xfrm>
          <a:prstGeom prst="rect">
            <a:avLst/>
          </a:prstGeom>
          <a:noFill/>
          <a:ln/>
        </p:spPr>
        <p:txBody>
          <a:bodyPr wrap="square" lIns="0" tIns="0" rIns="0" bIns="0" rtlCol="0" anchor="ctr"/>
          <a:lstStyle/>
          <a:p>
            <a:pPr indent="0" marL="0">
              <a:buNone/>
            </a:pPr>
            <a:r>
              <a:rPr lang="en-US" sz="1300" b="1" spc="150" kern="0" dirty="0">
                <a:solidFill>
                  <a:schemeClr val="accent5"/>
                </a:solidFill>
              </a:rPr>
              <a:t>IN PROGRESS AT A TIME</a:t>
            </a:r>
            <a:endParaRPr lang="en-US" sz="1300" dirty="0"/>
          </a:p>
        </p:txBody>
      </p:sp>
      <p:sp>
        <p:nvSpPr>
          <p:cNvPr id="8" name="Shape 5"/>
          <p:cNvSpPr/>
          <p:nvPr/>
        </p:nvSpPr>
        <p:spPr>
          <a:xfrm>
            <a:off x="822960" y="3383280"/>
            <a:ext cx="2052828" cy="0"/>
          </a:xfrm>
          <a:prstGeom prst="line">
            <a:avLst/>
          </a:prstGeom>
          <a:noFill/>
          <a:ln w="22225">
            <a:solidFill>
              <a:srgbClr val="1F3864"/>
            </a:solidFill>
            <a:prstDash val="solid"/>
            <a:tailEnd type="triangle"/>
          </a:ln>
        </p:spPr>
      </p:sp>
      <p:sp>
        <p:nvSpPr>
          <p:cNvPr id="9" name="Shape 6"/>
          <p:cNvSpPr/>
          <p:nvPr/>
        </p:nvSpPr>
        <p:spPr>
          <a:xfrm>
            <a:off x="914400" y="2816352"/>
            <a:ext cx="1732788" cy="274320"/>
          </a:xfrm>
          <a:prstGeom prst="roundRect">
            <a:avLst>
              <a:gd name="adj" fmla="val 26667"/>
            </a:avLst>
          </a:prstGeom>
          <a:solidFill>
            <a:srgbClr val="2E75B6"/>
          </a:solidFill>
          <a:ln/>
        </p:spPr>
      </p:sp>
      <p:sp>
        <p:nvSpPr>
          <p:cNvPr id="10" name="Text 7"/>
          <p:cNvSpPr txBox="1"/>
          <p:nvPr/>
        </p:nvSpPr>
        <p:spPr>
          <a:xfrm>
            <a:off x="914400" y="2816352"/>
            <a:ext cx="1354866" cy="274320"/>
          </a:xfrm>
          <a:prstGeom prst="rect">
            <a:avLst/>
          </a:prstGeom>
          <a:noFill/>
          <a:ln/>
        </p:spPr>
        <p:txBody>
          <a:bodyPr wrap="square" lIns="0" tIns="0" rIns="0" bIns="0" rtlCol="0" anchor="ctr"/>
          <a:lstStyle/>
          <a:p>
            <a:pPr algn="ctr" indent="0" marL="0">
              <a:buNone/>
            </a:pPr>
            <a:r>
              <a:rPr lang="en-US" sz="1000" b="1" i="1" dirty="0">
                <a:solidFill>
                  <a:schemeClr val="bg1"/>
                </a:solidFill>
              </a:rPr>
              <a:t>was running</a:t>
            </a:r>
            <a:endParaRPr lang="en-US" sz="1000" dirty="0"/>
          </a:p>
        </p:txBody>
      </p:sp>
      <p:sp>
        <p:nvSpPr>
          <p:cNvPr id="11" name="Shape 8"/>
          <p:cNvSpPr/>
          <p:nvPr/>
        </p:nvSpPr>
        <p:spPr>
          <a:xfrm>
            <a:off x="2396734" y="2331720"/>
            <a:ext cx="54864" cy="1188720"/>
          </a:xfrm>
          <a:prstGeom prst="rect">
            <a:avLst/>
          </a:prstGeom>
          <a:solidFill>
            <a:srgbClr val="B03A2E"/>
          </a:solidFill>
          <a:ln/>
        </p:spPr>
      </p:sp>
      <p:sp>
        <p:nvSpPr>
          <p:cNvPr id="12" name="Text 9"/>
          <p:cNvSpPr txBox="1"/>
          <p:nvPr/>
        </p:nvSpPr>
        <p:spPr>
          <a:xfrm>
            <a:off x="1875526" y="2267712"/>
            <a:ext cx="1097280" cy="219456"/>
          </a:xfrm>
          <a:prstGeom prst="rect">
            <a:avLst/>
          </a:prstGeom>
          <a:solidFill>
            <a:srgbClr val="EEF2F8"/>
          </a:solidFill>
          <a:ln/>
        </p:spPr>
        <p:txBody>
          <a:bodyPr wrap="square" lIns="0" tIns="0" rIns="0" bIns="0" rtlCol="0" anchor="ctr"/>
          <a:lstStyle/>
          <a:p>
            <a:pPr algn="ctr" indent="0" marL="0">
              <a:buNone/>
            </a:pPr>
            <a:r>
              <a:rPr lang="en-US" sz="1000" b="1" dirty="0">
                <a:solidFill>
                  <a:schemeClr val="accent6"/>
                </a:solidFill>
              </a:rPr>
              <a:t>23.41</a:t>
            </a:r>
            <a:endParaRPr lang="en-US" sz="1000" dirty="0"/>
          </a:p>
        </p:txBody>
      </p:sp>
      <p:sp>
        <p:nvSpPr>
          <p:cNvPr id="13" name="Text 10"/>
          <p:cNvSpPr txBox="1"/>
          <p:nvPr/>
        </p:nvSpPr>
        <p:spPr>
          <a:xfrm>
            <a:off x="731520" y="3703320"/>
            <a:ext cx="2235708" cy="685800"/>
          </a:xfrm>
          <a:prstGeom prst="rect">
            <a:avLst/>
          </a:prstGeom>
          <a:noFill/>
          <a:ln/>
        </p:spPr>
        <p:txBody>
          <a:bodyPr wrap="square" lIns="0" tIns="0" rIns="0" bIns="0" rtlCol="0" anchor="ctr"/>
          <a:lstStyle/>
          <a:p>
            <a:pPr indent="0" marL="0">
              <a:buNone/>
            </a:pPr>
            <a:r>
              <a:rPr lang="en-US" sz="1600" b="1" dirty="0">
                <a:solidFill>
                  <a:schemeClr val="tx2"/>
                </a:solidFill>
              </a:rPr>
              <a:t>at + a time + </a:t>
            </a:r>
            <a:r>
              <a:rPr lang="en-US" sz="1600" b="1" dirty="0">
                <a:solidFill>
                  <a:schemeClr val="accent2"/>
                </a:solidFill>
              </a:rPr>
              <a:t>was -ing</a:t>
            </a:r>
            <a:endParaRPr lang="en-US" sz="1600" dirty="0"/>
          </a:p>
        </p:txBody>
      </p:sp>
      <p:sp>
        <p:nvSpPr>
          <p:cNvPr id="14" name="Shape 11"/>
          <p:cNvSpPr/>
          <p:nvPr/>
        </p:nvSpPr>
        <p:spPr>
          <a:xfrm>
            <a:off x="731520" y="4453128"/>
            <a:ext cx="2235708" cy="0"/>
          </a:xfrm>
          <a:prstGeom prst="line">
            <a:avLst/>
          </a:prstGeom>
          <a:noFill/>
          <a:ln w="9525">
            <a:solidFill>
              <a:srgbClr val="C9D1DE"/>
            </a:solidFill>
            <a:prstDash val="solid"/>
          </a:ln>
        </p:spPr>
      </p:sp>
      <p:sp>
        <p:nvSpPr>
          <p:cNvPr id="15" name="Text 12"/>
          <p:cNvSpPr txBox="1"/>
          <p:nvPr/>
        </p:nvSpPr>
        <p:spPr>
          <a:xfrm>
            <a:off x="731520" y="4544568"/>
            <a:ext cx="2235708" cy="1673352"/>
          </a:xfrm>
          <a:prstGeom prst="rect">
            <a:avLst/>
          </a:prstGeom>
          <a:noFill/>
          <a:ln/>
        </p:spPr>
        <p:txBody>
          <a:bodyPr wrap="square" lIns="0" tIns="0" rIns="0" bIns="0" rtlCol="0" anchor="t"/>
          <a:lstStyle/>
          <a:p>
            <a:pPr indent="0" marL="0">
              <a:buNone/>
            </a:pPr>
            <a:r>
              <a:rPr lang="en-US" sz="1800" dirty="0">
                <a:solidFill>
                  <a:schemeClr val="tx1"/>
                </a:solidFill>
              </a:rPr>
              <a:t>At 23.41, water </a:t>
            </a:r>
            <a:r>
              <a:rPr lang="en-US" sz="1800" b="1" dirty="0">
                <a:solidFill>
                  <a:schemeClr val="accent2"/>
                </a:solidFill>
              </a:rPr>
              <a:t>was running</a:t>
            </a:r>
            <a:r>
              <a:rPr lang="en-US" sz="1800" dirty="0">
                <a:solidFill>
                  <a:schemeClr val="tx1"/>
                </a:solidFill>
              </a:rPr>
              <a:t> behind the ceiling.</a:t>
            </a:r>
            <a:endParaRPr lang="en-US" sz="1800" dirty="0"/>
          </a:p>
        </p:txBody>
      </p:sp>
      <p:sp>
        <p:nvSpPr>
          <p:cNvPr id="16" name="Shape 13"/>
          <p:cNvSpPr/>
          <p:nvPr/>
        </p:nvSpPr>
        <p:spPr>
          <a:xfrm>
            <a:off x="3378708" y="1783080"/>
            <a:ext cx="2601468" cy="4526280"/>
          </a:xfrm>
          <a:prstGeom prst="roundRect">
            <a:avLst>
              <a:gd name="adj" fmla="val 2812"/>
            </a:avLst>
          </a:prstGeom>
          <a:solidFill>
            <a:srgbClr val="EEF2F8"/>
          </a:solidFill>
          <a:ln w="9525">
            <a:solidFill>
              <a:srgbClr val="D5DCE6"/>
            </a:solidFill>
            <a:prstDash val="solid"/>
          </a:ln>
        </p:spPr>
      </p:sp>
      <p:sp>
        <p:nvSpPr>
          <p:cNvPr id="17" name="Text 14"/>
          <p:cNvSpPr txBox="1"/>
          <p:nvPr/>
        </p:nvSpPr>
        <p:spPr>
          <a:xfrm>
            <a:off x="3561588" y="1920240"/>
            <a:ext cx="2235708" cy="347472"/>
          </a:xfrm>
          <a:prstGeom prst="rect">
            <a:avLst/>
          </a:prstGeom>
          <a:noFill/>
          <a:ln/>
        </p:spPr>
        <p:txBody>
          <a:bodyPr wrap="square" lIns="0" tIns="0" rIns="0" bIns="0" rtlCol="0" anchor="ctr"/>
          <a:lstStyle/>
          <a:p>
            <a:pPr indent="0" marL="0">
              <a:buNone/>
            </a:pPr>
            <a:r>
              <a:rPr lang="en-US" sz="1300" b="1" spc="150" kern="0" dirty="0">
                <a:solidFill>
                  <a:schemeClr val="accent5"/>
                </a:solidFill>
              </a:rPr>
              <a:t>INTERRUPTED</a:t>
            </a:r>
            <a:endParaRPr lang="en-US" sz="1300" dirty="0"/>
          </a:p>
        </p:txBody>
      </p:sp>
      <p:sp>
        <p:nvSpPr>
          <p:cNvPr id="18" name="Shape 15"/>
          <p:cNvSpPr/>
          <p:nvPr/>
        </p:nvSpPr>
        <p:spPr>
          <a:xfrm>
            <a:off x="3653028" y="3383280"/>
            <a:ext cx="2052828" cy="0"/>
          </a:xfrm>
          <a:prstGeom prst="line">
            <a:avLst/>
          </a:prstGeom>
          <a:noFill/>
          <a:ln w="22225">
            <a:solidFill>
              <a:srgbClr val="1F3864"/>
            </a:solidFill>
            <a:prstDash val="solid"/>
            <a:tailEnd type="triangle"/>
          </a:ln>
        </p:spPr>
      </p:sp>
      <p:sp>
        <p:nvSpPr>
          <p:cNvPr id="19" name="Shape 16"/>
          <p:cNvSpPr/>
          <p:nvPr/>
        </p:nvSpPr>
        <p:spPr>
          <a:xfrm>
            <a:off x="3744468" y="2816352"/>
            <a:ext cx="1732788" cy="274320"/>
          </a:xfrm>
          <a:prstGeom prst="roundRect">
            <a:avLst>
              <a:gd name="adj" fmla="val 26667"/>
            </a:avLst>
          </a:prstGeom>
          <a:solidFill>
            <a:srgbClr val="2E75B6"/>
          </a:solidFill>
          <a:ln/>
        </p:spPr>
      </p:sp>
      <p:sp>
        <p:nvSpPr>
          <p:cNvPr id="20" name="Text 17"/>
          <p:cNvSpPr txBox="1"/>
          <p:nvPr/>
        </p:nvSpPr>
        <p:spPr>
          <a:xfrm>
            <a:off x="3744468" y="2816352"/>
            <a:ext cx="1732788" cy="274320"/>
          </a:xfrm>
          <a:prstGeom prst="rect">
            <a:avLst/>
          </a:prstGeom>
          <a:noFill/>
          <a:ln/>
        </p:spPr>
        <p:txBody>
          <a:bodyPr wrap="square" lIns="0" tIns="0" rIns="0" bIns="0" rtlCol="0" anchor="ctr"/>
          <a:lstStyle/>
          <a:p>
            <a:pPr algn="ctr" indent="0" marL="0">
              <a:buNone/>
            </a:pPr>
            <a:r>
              <a:rPr lang="en-US" sz="1000" b="1" i="1" dirty="0">
                <a:solidFill>
                  <a:schemeClr val="bg1"/>
                </a:solidFill>
              </a:rPr>
              <a:t>was checking</a:t>
            </a:r>
            <a:endParaRPr lang="en-US" sz="1000" dirty="0"/>
          </a:p>
        </p:txBody>
      </p:sp>
      <p:sp>
        <p:nvSpPr>
          <p:cNvPr id="21" name="Shape 18"/>
          <p:cNvSpPr/>
          <p:nvPr/>
        </p:nvSpPr>
        <p:spPr>
          <a:xfrm>
            <a:off x="4884725" y="2523744"/>
            <a:ext cx="0" cy="768096"/>
          </a:xfrm>
          <a:prstGeom prst="line">
            <a:avLst/>
          </a:prstGeom>
          <a:noFill/>
          <a:ln w="12700">
            <a:solidFill>
              <a:srgbClr val="B4236A"/>
            </a:solidFill>
            <a:prstDash val="solid"/>
          </a:ln>
        </p:spPr>
      </p:sp>
      <p:sp>
        <p:nvSpPr>
          <p:cNvPr id="22" name="Shape 19"/>
          <p:cNvSpPr/>
          <p:nvPr/>
        </p:nvSpPr>
        <p:spPr>
          <a:xfrm>
            <a:off x="4774997" y="3273552"/>
            <a:ext cx="219456" cy="219456"/>
          </a:xfrm>
          <a:prstGeom prst="ellipse">
            <a:avLst/>
          </a:prstGeom>
          <a:solidFill>
            <a:srgbClr val="B4236A"/>
          </a:solidFill>
          <a:ln w="15875">
            <a:solidFill>
              <a:srgbClr val="FFFFFF"/>
            </a:solidFill>
            <a:prstDash val="solid"/>
          </a:ln>
        </p:spPr>
      </p:sp>
      <p:sp>
        <p:nvSpPr>
          <p:cNvPr id="23" name="Text 20"/>
          <p:cNvSpPr txBox="1"/>
          <p:nvPr/>
        </p:nvSpPr>
        <p:spPr>
          <a:xfrm>
            <a:off x="4336085" y="2286000"/>
            <a:ext cx="1097280" cy="237744"/>
          </a:xfrm>
          <a:prstGeom prst="rect">
            <a:avLst/>
          </a:prstGeom>
          <a:noFill/>
          <a:ln/>
        </p:spPr>
        <p:txBody>
          <a:bodyPr wrap="square" lIns="0" tIns="0" rIns="0" bIns="0" rtlCol="0" anchor="ctr"/>
          <a:lstStyle/>
          <a:p>
            <a:pPr algn="ctr" indent="0" marL="0">
              <a:buNone/>
            </a:pPr>
            <a:r>
              <a:rPr lang="en-US" sz="1000" b="1" i="1" dirty="0">
                <a:solidFill>
                  <a:srgbClr val="B4236A"/>
                </a:solidFill>
              </a:rPr>
              <a:t>called</a:t>
            </a:r>
            <a:endParaRPr lang="en-US" sz="1000" dirty="0"/>
          </a:p>
        </p:txBody>
      </p:sp>
      <p:pic>
        <p:nvPicPr>
          <p:cNvPr id="24" name="Image 0" descr="preencoded.png">    </p:cNvPr>
          <p:cNvPicPr>
            <a:picLocks noChangeAspect="1"/>
          </p:cNvPicPr>
          <p:nvPr/>
        </p:nvPicPr>
        <p:blipFill>
          <a:blip r:embed="rId1"/>
          <a:stretch>
            <a:fillRect/>
          </a:stretch>
        </p:blipFill>
        <p:spPr>
          <a:xfrm>
            <a:off x="4994453" y="2505456"/>
            <a:ext cx="237744" cy="237744"/>
          </a:xfrm>
          <a:prstGeom prst="rect">
            <a:avLst/>
          </a:prstGeom>
        </p:spPr>
      </p:pic>
      <p:sp>
        <p:nvSpPr>
          <p:cNvPr id="25" name="Text 21"/>
          <p:cNvSpPr txBox="1"/>
          <p:nvPr/>
        </p:nvSpPr>
        <p:spPr>
          <a:xfrm>
            <a:off x="3561588" y="3703320"/>
            <a:ext cx="2235708" cy="685800"/>
          </a:xfrm>
          <a:prstGeom prst="rect">
            <a:avLst/>
          </a:prstGeom>
          <a:noFill/>
          <a:ln/>
        </p:spPr>
        <p:txBody>
          <a:bodyPr wrap="square" lIns="0" tIns="0" rIns="0" bIns="0" rtlCol="0" anchor="ctr"/>
          <a:lstStyle/>
          <a:p>
            <a:pPr indent="0" marL="0">
              <a:buNone/>
            </a:pPr>
            <a:r>
              <a:rPr lang="en-US" sz="1600" b="1" dirty="0">
                <a:solidFill>
                  <a:schemeClr val="accent2"/>
                </a:solidFill>
              </a:rPr>
              <a:t>was -ing</a:t>
            </a:r>
            <a:r>
              <a:rPr lang="en-US" sz="1600" b="1" dirty="0">
                <a:solidFill>
                  <a:schemeClr val="tx2"/>
                </a:solidFill>
              </a:rPr>
              <a:t> + </a:t>
            </a:r>
            <a:r>
              <a:rPr lang="en-US" sz="1600" b="1" dirty="0">
                <a:solidFill>
                  <a:schemeClr val="tx2"/>
                </a:solidFill>
              </a:rPr>
              <a:t>when</a:t>
            </a:r>
            <a:r>
              <a:rPr lang="en-US" sz="1600" b="1" dirty="0">
                <a:solidFill>
                  <a:schemeClr val="tx2"/>
                </a:solidFill>
              </a:rPr>
              <a:t> + </a:t>
            </a:r>
            <a:r>
              <a:rPr lang="en-US" sz="1600" b="1" dirty="0">
                <a:solidFill>
                  <a:srgbClr val="B4236A"/>
                </a:solidFill>
              </a:rPr>
              <a:t>past simple</a:t>
            </a:r>
            <a:endParaRPr lang="en-US" sz="1600" dirty="0"/>
          </a:p>
        </p:txBody>
      </p:sp>
      <p:sp>
        <p:nvSpPr>
          <p:cNvPr id="26" name="Shape 22"/>
          <p:cNvSpPr/>
          <p:nvPr/>
        </p:nvSpPr>
        <p:spPr>
          <a:xfrm>
            <a:off x="3561588" y="4453128"/>
            <a:ext cx="2235708" cy="0"/>
          </a:xfrm>
          <a:prstGeom prst="line">
            <a:avLst/>
          </a:prstGeom>
          <a:noFill/>
          <a:ln w="9525">
            <a:solidFill>
              <a:srgbClr val="C9D1DE"/>
            </a:solidFill>
            <a:prstDash val="solid"/>
          </a:ln>
        </p:spPr>
      </p:sp>
      <p:sp>
        <p:nvSpPr>
          <p:cNvPr id="27" name="Text 23"/>
          <p:cNvSpPr txBox="1"/>
          <p:nvPr/>
        </p:nvSpPr>
        <p:spPr>
          <a:xfrm>
            <a:off x="3561588" y="4544568"/>
            <a:ext cx="2235708" cy="1673352"/>
          </a:xfrm>
          <a:prstGeom prst="rect">
            <a:avLst/>
          </a:prstGeom>
          <a:noFill/>
          <a:ln/>
        </p:spPr>
        <p:txBody>
          <a:bodyPr wrap="square" lIns="0" tIns="0" rIns="0" bIns="0" rtlCol="0" anchor="t"/>
          <a:lstStyle/>
          <a:p>
            <a:pPr indent="0" marL="0">
              <a:buNone/>
            </a:pPr>
            <a:r>
              <a:rPr lang="en-US" sz="1800" dirty="0">
                <a:solidFill>
                  <a:schemeClr val="tx1"/>
                </a:solidFill>
              </a:rPr>
              <a:t>Samuel </a:t>
            </a:r>
            <a:r>
              <a:rPr lang="en-US" sz="1800" b="1" dirty="0">
                <a:solidFill>
                  <a:schemeClr val="accent2"/>
                </a:solidFill>
              </a:rPr>
              <a:t>was checking</a:t>
            </a:r>
            <a:r>
              <a:rPr lang="en-US" sz="1800" dirty="0">
                <a:solidFill>
                  <a:schemeClr val="tx1"/>
                </a:solidFill>
              </a:rPr>
              <a:t> the rack </a:t>
            </a:r>
            <a:r>
              <a:rPr lang="en-US" sz="1800" b="1" dirty="0">
                <a:solidFill>
                  <a:schemeClr val="tx1"/>
                </a:solidFill>
              </a:rPr>
              <a:t>when</a:t>
            </a:r>
            <a:r>
              <a:rPr lang="en-US" sz="1800" dirty="0">
                <a:solidFill>
                  <a:schemeClr val="tx1"/>
                </a:solidFill>
              </a:rPr>
              <a:t> Mark </a:t>
            </a:r>
            <a:r>
              <a:rPr lang="en-US" sz="1800" b="1" dirty="0">
                <a:solidFill>
                  <a:srgbClr val="B4236A"/>
                </a:solidFill>
              </a:rPr>
              <a:t>called</a:t>
            </a:r>
            <a:r>
              <a:rPr lang="en-US" sz="1800" dirty="0">
                <a:solidFill>
                  <a:schemeClr val="tx1"/>
                </a:solidFill>
              </a:rPr>
              <a:t> him.</a:t>
            </a:r>
            <a:endParaRPr lang="en-US" sz="1800" dirty="0"/>
          </a:p>
        </p:txBody>
      </p:sp>
      <p:sp>
        <p:nvSpPr>
          <p:cNvPr id="28" name="Shape 24"/>
          <p:cNvSpPr/>
          <p:nvPr/>
        </p:nvSpPr>
        <p:spPr>
          <a:xfrm>
            <a:off x="6208776" y="1783080"/>
            <a:ext cx="2601468" cy="4526280"/>
          </a:xfrm>
          <a:prstGeom prst="roundRect">
            <a:avLst>
              <a:gd name="adj" fmla="val 2812"/>
            </a:avLst>
          </a:prstGeom>
          <a:solidFill>
            <a:srgbClr val="EEF2F8"/>
          </a:solidFill>
          <a:ln w="9525">
            <a:solidFill>
              <a:srgbClr val="D5DCE6"/>
            </a:solidFill>
            <a:prstDash val="solid"/>
          </a:ln>
        </p:spPr>
      </p:sp>
      <p:sp>
        <p:nvSpPr>
          <p:cNvPr id="29" name="Text 25"/>
          <p:cNvSpPr txBox="1"/>
          <p:nvPr/>
        </p:nvSpPr>
        <p:spPr>
          <a:xfrm>
            <a:off x="6391656" y="1920240"/>
            <a:ext cx="2235708" cy="347472"/>
          </a:xfrm>
          <a:prstGeom prst="rect">
            <a:avLst/>
          </a:prstGeom>
          <a:noFill/>
          <a:ln/>
        </p:spPr>
        <p:txBody>
          <a:bodyPr wrap="square" lIns="0" tIns="0" rIns="0" bIns="0" rtlCol="0" anchor="ctr"/>
          <a:lstStyle/>
          <a:p>
            <a:pPr indent="0" marL="0">
              <a:buNone/>
            </a:pPr>
            <a:r>
              <a:rPr lang="en-US" sz="1300" b="1" spc="150" kern="0" dirty="0">
                <a:solidFill>
                  <a:schemeClr val="accent5"/>
                </a:solidFill>
              </a:rPr>
              <a:t>AT THE SAME TIME</a:t>
            </a:r>
            <a:endParaRPr lang="en-US" sz="1300" dirty="0"/>
          </a:p>
        </p:txBody>
      </p:sp>
      <p:sp>
        <p:nvSpPr>
          <p:cNvPr id="30" name="Shape 26"/>
          <p:cNvSpPr/>
          <p:nvPr/>
        </p:nvSpPr>
        <p:spPr>
          <a:xfrm>
            <a:off x="6483096" y="3383280"/>
            <a:ext cx="2052828" cy="0"/>
          </a:xfrm>
          <a:prstGeom prst="line">
            <a:avLst/>
          </a:prstGeom>
          <a:noFill/>
          <a:ln w="22225">
            <a:solidFill>
              <a:srgbClr val="1F3864"/>
            </a:solidFill>
            <a:prstDash val="solid"/>
            <a:tailEnd type="triangle"/>
          </a:ln>
        </p:spPr>
      </p:sp>
      <p:sp>
        <p:nvSpPr>
          <p:cNvPr id="31" name="Shape 27"/>
          <p:cNvSpPr/>
          <p:nvPr/>
        </p:nvSpPr>
        <p:spPr>
          <a:xfrm>
            <a:off x="6574536" y="2816352"/>
            <a:ext cx="1595628" cy="274320"/>
          </a:xfrm>
          <a:prstGeom prst="roundRect">
            <a:avLst>
              <a:gd name="adj" fmla="val 26667"/>
            </a:avLst>
          </a:prstGeom>
          <a:solidFill>
            <a:srgbClr val="2E75B6"/>
          </a:solidFill>
          <a:ln/>
        </p:spPr>
      </p:sp>
      <p:sp>
        <p:nvSpPr>
          <p:cNvPr id="32" name="Text 28"/>
          <p:cNvSpPr txBox="1"/>
          <p:nvPr/>
        </p:nvSpPr>
        <p:spPr>
          <a:xfrm>
            <a:off x="6574536" y="2816352"/>
            <a:ext cx="1595628" cy="274320"/>
          </a:xfrm>
          <a:prstGeom prst="rect">
            <a:avLst/>
          </a:prstGeom>
          <a:noFill/>
          <a:ln/>
        </p:spPr>
        <p:txBody>
          <a:bodyPr wrap="square" lIns="0" tIns="0" rIns="0" bIns="0" rtlCol="0" anchor="ctr"/>
          <a:lstStyle/>
          <a:p>
            <a:pPr algn="ctr" indent="0" marL="0">
              <a:buNone/>
            </a:pPr>
            <a:r>
              <a:rPr lang="en-US" sz="1000" b="1" i="1" dirty="0">
                <a:solidFill>
                  <a:schemeClr val="bg1"/>
                </a:solidFill>
              </a:rPr>
              <a:t>was reading</a:t>
            </a:r>
            <a:endParaRPr lang="en-US" sz="1000" dirty="0"/>
          </a:p>
        </p:txBody>
      </p:sp>
      <p:sp>
        <p:nvSpPr>
          <p:cNvPr id="33" name="Shape 29"/>
          <p:cNvSpPr/>
          <p:nvPr/>
        </p:nvSpPr>
        <p:spPr>
          <a:xfrm>
            <a:off x="6757416" y="2450592"/>
            <a:ext cx="1595628" cy="274320"/>
          </a:xfrm>
          <a:prstGeom prst="roundRect">
            <a:avLst>
              <a:gd name="adj" fmla="val 26667"/>
            </a:avLst>
          </a:prstGeom>
          <a:solidFill>
            <a:srgbClr val="2E75B6"/>
          </a:solidFill>
          <a:ln/>
        </p:spPr>
      </p:sp>
      <p:sp>
        <p:nvSpPr>
          <p:cNvPr id="34" name="Text 30"/>
          <p:cNvSpPr txBox="1"/>
          <p:nvPr/>
        </p:nvSpPr>
        <p:spPr>
          <a:xfrm>
            <a:off x="6757416" y="2450592"/>
            <a:ext cx="1595628" cy="274320"/>
          </a:xfrm>
          <a:prstGeom prst="rect">
            <a:avLst/>
          </a:prstGeom>
          <a:noFill/>
          <a:ln/>
        </p:spPr>
        <p:txBody>
          <a:bodyPr wrap="square" lIns="0" tIns="0" rIns="0" bIns="0" rtlCol="0" anchor="ctr"/>
          <a:lstStyle/>
          <a:p>
            <a:pPr algn="ctr" indent="0" marL="0">
              <a:buNone/>
            </a:pPr>
            <a:r>
              <a:rPr lang="en-US" sz="1000" b="1" i="1" dirty="0">
                <a:solidFill>
                  <a:schemeClr val="bg1"/>
                </a:solidFill>
              </a:rPr>
              <a:t>was taking photos</a:t>
            </a:r>
            <a:endParaRPr lang="en-US" sz="1000" dirty="0"/>
          </a:p>
        </p:txBody>
      </p:sp>
      <p:sp>
        <p:nvSpPr>
          <p:cNvPr id="35" name="Text 31"/>
          <p:cNvSpPr txBox="1"/>
          <p:nvPr/>
        </p:nvSpPr>
        <p:spPr>
          <a:xfrm>
            <a:off x="6391656" y="3703320"/>
            <a:ext cx="2235708" cy="685800"/>
          </a:xfrm>
          <a:prstGeom prst="rect">
            <a:avLst/>
          </a:prstGeom>
          <a:noFill/>
          <a:ln/>
        </p:spPr>
        <p:txBody>
          <a:bodyPr wrap="square" lIns="0" tIns="0" rIns="0" bIns="0" rtlCol="0" anchor="ctr"/>
          <a:lstStyle/>
          <a:p>
            <a:pPr indent="0" marL="0">
              <a:buNone/>
            </a:pPr>
            <a:r>
              <a:rPr lang="en-US" sz="1600" b="1" dirty="0">
                <a:solidFill>
                  <a:schemeClr val="tx2"/>
                </a:solidFill>
              </a:rPr>
              <a:t>while</a:t>
            </a:r>
            <a:r>
              <a:rPr lang="en-US" sz="1600" b="1" dirty="0">
                <a:solidFill>
                  <a:schemeClr val="tx2"/>
                </a:solidFill>
              </a:rPr>
              <a:t> + </a:t>
            </a:r>
            <a:r>
              <a:rPr lang="en-US" sz="1600" b="1" dirty="0">
                <a:solidFill>
                  <a:schemeClr val="accent2"/>
                </a:solidFill>
              </a:rPr>
              <a:t>was -ing</a:t>
            </a:r>
            <a:r>
              <a:rPr lang="en-US" sz="1600" b="1" dirty="0">
                <a:solidFill>
                  <a:schemeClr val="tx2"/>
                </a:solidFill>
              </a:rPr>
              <a:t> + </a:t>
            </a:r>
            <a:r>
              <a:rPr lang="en-US" sz="1600" b="1" dirty="0">
                <a:solidFill>
                  <a:schemeClr val="accent2"/>
                </a:solidFill>
              </a:rPr>
              <a:t>was -ing</a:t>
            </a:r>
            <a:endParaRPr lang="en-US" sz="1600" dirty="0"/>
          </a:p>
        </p:txBody>
      </p:sp>
      <p:sp>
        <p:nvSpPr>
          <p:cNvPr id="36" name="Shape 32"/>
          <p:cNvSpPr/>
          <p:nvPr/>
        </p:nvSpPr>
        <p:spPr>
          <a:xfrm>
            <a:off x="6391656" y="4453128"/>
            <a:ext cx="2235708" cy="0"/>
          </a:xfrm>
          <a:prstGeom prst="line">
            <a:avLst/>
          </a:prstGeom>
          <a:noFill/>
          <a:ln w="9525">
            <a:solidFill>
              <a:srgbClr val="C9D1DE"/>
            </a:solidFill>
            <a:prstDash val="solid"/>
          </a:ln>
        </p:spPr>
      </p:sp>
      <p:sp>
        <p:nvSpPr>
          <p:cNvPr id="37" name="Text 33"/>
          <p:cNvSpPr txBox="1"/>
          <p:nvPr/>
        </p:nvSpPr>
        <p:spPr>
          <a:xfrm>
            <a:off x="6391656" y="4544568"/>
            <a:ext cx="2235708" cy="1673352"/>
          </a:xfrm>
          <a:prstGeom prst="rect">
            <a:avLst/>
          </a:prstGeom>
          <a:noFill/>
          <a:ln/>
        </p:spPr>
        <p:txBody>
          <a:bodyPr wrap="square" lIns="0" tIns="0" rIns="0" bIns="0" rtlCol="0" anchor="t"/>
          <a:lstStyle/>
          <a:p>
            <a:pPr indent="0" marL="0">
              <a:buNone/>
            </a:pPr>
            <a:r>
              <a:rPr lang="en-US" sz="1800" b="1" dirty="0">
                <a:solidFill>
                  <a:schemeClr val="tx1"/>
                </a:solidFill>
              </a:rPr>
              <a:t>While</a:t>
            </a:r>
            <a:r>
              <a:rPr lang="en-US" sz="1800" dirty="0">
                <a:solidFill>
                  <a:schemeClr val="tx1"/>
                </a:solidFill>
              </a:rPr>
              <a:t> Iris </a:t>
            </a:r>
            <a:r>
              <a:rPr lang="en-US" sz="1800" b="1" dirty="0">
                <a:solidFill>
                  <a:schemeClr val="accent2"/>
                </a:solidFill>
              </a:rPr>
              <a:t>was taking</a:t>
            </a:r>
            <a:r>
              <a:rPr lang="en-US" sz="1800" dirty="0">
                <a:solidFill>
                  <a:schemeClr val="tx1"/>
                </a:solidFill>
              </a:rPr>
              <a:t> photos, Samuel </a:t>
            </a:r>
            <a:r>
              <a:rPr lang="en-US" sz="1800" b="1" dirty="0">
                <a:solidFill>
                  <a:schemeClr val="accent2"/>
                </a:solidFill>
              </a:rPr>
              <a:t>was reading</a:t>
            </a:r>
            <a:r>
              <a:rPr lang="en-US" sz="1800" dirty="0">
                <a:solidFill>
                  <a:schemeClr val="tx1"/>
                </a:solidFill>
              </a:rPr>
              <a:t> the log.</a:t>
            </a:r>
            <a:endParaRPr lang="en-US" sz="1800" dirty="0"/>
          </a:p>
        </p:txBody>
      </p:sp>
      <p:sp>
        <p:nvSpPr>
          <p:cNvPr id="38" name="Shape 34"/>
          <p:cNvSpPr/>
          <p:nvPr/>
        </p:nvSpPr>
        <p:spPr>
          <a:xfrm>
            <a:off x="9038844" y="1783080"/>
            <a:ext cx="2601468" cy="4526280"/>
          </a:xfrm>
          <a:prstGeom prst="roundRect">
            <a:avLst>
              <a:gd name="adj" fmla="val 2812"/>
            </a:avLst>
          </a:prstGeom>
          <a:solidFill>
            <a:srgbClr val="EEF2F8"/>
          </a:solidFill>
          <a:ln w="9525">
            <a:solidFill>
              <a:srgbClr val="D5DCE6"/>
            </a:solidFill>
            <a:prstDash val="solid"/>
          </a:ln>
        </p:spPr>
      </p:sp>
      <p:sp>
        <p:nvSpPr>
          <p:cNvPr id="39" name="Text 35"/>
          <p:cNvSpPr txBox="1"/>
          <p:nvPr/>
        </p:nvSpPr>
        <p:spPr>
          <a:xfrm>
            <a:off x="9221724" y="1920240"/>
            <a:ext cx="2235708" cy="347472"/>
          </a:xfrm>
          <a:prstGeom prst="rect">
            <a:avLst/>
          </a:prstGeom>
          <a:noFill/>
          <a:ln/>
        </p:spPr>
        <p:txBody>
          <a:bodyPr wrap="square" lIns="0" tIns="0" rIns="0" bIns="0" rtlCol="0" anchor="ctr"/>
          <a:lstStyle/>
          <a:p>
            <a:pPr indent="0" marL="0">
              <a:buNone/>
            </a:pPr>
            <a:r>
              <a:rPr lang="en-US" sz="1300" b="1" spc="150" kern="0" dirty="0">
                <a:solidFill>
                  <a:schemeClr val="accent5"/>
                </a:solidFill>
              </a:rPr>
              <a:t>ONE AFTER ANOTHER</a:t>
            </a:r>
            <a:endParaRPr lang="en-US" sz="1300" dirty="0"/>
          </a:p>
        </p:txBody>
      </p:sp>
      <p:sp>
        <p:nvSpPr>
          <p:cNvPr id="40" name="Shape 36"/>
          <p:cNvSpPr/>
          <p:nvPr/>
        </p:nvSpPr>
        <p:spPr>
          <a:xfrm>
            <a:off x="9313164" y="3383280"/>
            <a:ext cx="2052828" cy="0"/>
          </a:xfrm>
          <a:prstGeom prst="line">
            <a:avLst/>
          </a:prstGeom>
          <a:noFill/>
          <a:ln w="22225">
            <a:solidFill>
              <a:srgbClr val="1F3864"/>
            </a:solidFill>
            <a:prstDash val="solid"/>
            <a:tailEnd type="triangle"/>
          </a:ln>
        </p:spPr>
      </p:sp>
      <p:sp>
        <p:nvSpPr>
          <p:cNvPr id="41" name="Shape 37"/>
          <p:cNvSpPr/>
          <p:nvPr/>
        </p:nvSpPr>
        <p:spPr>
          <a:xfrm>
            <a:off x="9826371" y="2523744"/>
            <a:ext cx="0" cy="768096"/>
          </a:xfrm>
          <a:prstGeom prst="line">
            <a:avLst/>
          </a:prstGeom>
          <a:noFill/>
          <a:ln w="12700">
            <a:solidFill>
              <a:srgbClr val="B4236A"/>
            </a:solidFill>
            <a:prstDash val="solid"/>
          </a:ln>
        </p:spPr>
      </p:sp>
      <p:sp>
        <p:nvSpPr>
          <p:cNvPr id="42" name="Shape 38"/>
          <p:cNvSpPr/>
          <p:nvPr/>
        </p:nvSpPr>
        <p:spPr>
          <a:xfrm>
            <a:off x="9716643" y="3273552"/>
            <a:ext cx="219456" cy="219456"/>
          </a:xfrm>
          <a:prstGeom prst="ellipse">
            <a:avLst/>
          </a:prstGeom>
          <a:solidFill>
            <a:srgbClr val="B4236A"/>
          </a:solidFill>
          <a:ln w="15875">
            <a:solidFill>
              <a:srgbClr val="FFFFFF"/>
            </a:solidFill>
            <a:prstDash val="solid"/>
          </a:ln>
        </p:spPr>
      </p:sp>
      <p:sp>
        <p:nvSpPr>
          <p:cNvPr id="43" name="Text 39"/>
          <p:cNvSpPr txBox="1"/>
          <p:nvPr/>
        </p:nvSpPr>
        <p:spPr>
          <a:xfrm>
            <a:off x="9277731" y="2286000"/>
            <a:ext cx="1097280" cy="237744"/>
          </a:xfrm>
          <a:prstGeom prst="rect">
            <a:avLst/>
          </a:prstGeom>
          <a:noFill/>
          <a:ln/>
        </p:spPr>
        <p:txBody>
          <a:bodyPr wrap="square" lIns="0" tIns="0" rIns="0" bIns="0" rtlCol="0" anchor="ctr"/>
          <a:lstStyle/>
          <a:p>
            <a:pPr algn="ctr" indent="0" marL="0">
              <a:buNone/>
            </a:pPr>
            <a:r>
              <a:rPr lang="en-US" sz="1000" b="1" i="1" dirty="0">
                <a:solidFill>
                  <a:srgbClr val="B4236A"/>
                </a:solidFill>
              </a:rPr>
              <a:t>opened</a:t>
            </a:r>
            <a:endParaRPr lang="en-US" sz="1000" dirty="0"/>
          </a:p>
        </p:txBody>
      </p:sp>
      <p:sp>
        <p:nvSpPr>
          <p:cNvPr id="44" name="Shape 40"/>
          <p:cNvSpPr/>
          <p:nvPr/>
        </p:nvSpPr>
        <p:spPr>
          <a:xfrm>
            <a:off x="10442219" y="2889504"/>
            <a:ext cx="0" cy="402336"/>
          </a:xfrm>
          <a:prstGeom prst="line">
            <a:avLst/>
          </a:prstGeom>
          <a:noFill/>
          <a:ln w="12700">
            <a:solidFill>
              <a:srgbClr val="B4236A"/>
            </a:solidFill>
            <a:prstDash val="solid"/>
          </a:ln>
        </p:spPr>
      </p:sp>
      <p:sp>
        <p:nvSpPr>
          <p:cNvPr id="45" name="Shape 41"/>
          <p:cNvSpPr/>
          <p:nvPr/>
        </p:nvSpPr>
        <p:spPr>
          <a:xfrm>
            <a:off x="10332491" y="3273552"/>
            <a:ext cx="219456" cy="219456"/>
          </a:xfrm>
          <a:prstGeom prst="ellipse">
            <a:avLst/>
          </a:prstGeom>
          <a:solidFill>
            <a:srgbClr val="B4236A"/>
          </a:solidFill>
          <a:ln w="15875">
            <a:solidFill>
              <a:srgbClr val="FFFFFF"/>
            </a:solidFill>
            <a:prstDash val="solid"/>
          </a:ln>
        </p:spPr>
      </p:sp>
      <p:sp>
        <p:nvSpPr>
          <p:cNvPr id="46" name="Text 42"/>
          <p:cNvSpPr txBox="1"/>
          <p:nvPr/>
        </p:nvSpPr>
        <p:spPr>
          <a:xfrm>
            <a:off x="9893579" y="2651760"/>
            <a:ext cx="1097280" cy="237744"/>
          </a:xfrm>
          <a:prstGeom prst="rect">
            <a:avLst/>
          </a:prstGeom>
          <a:noFill/>
          <a:ln/>
        </p:spPr>
        <p:txBody>
          <a:bodyPr wrap="square" lIns="0" tIns="0" rIns="0" bIns="0" rtlCol="0" anchor="ctr"/>
          <a:lstStyle/>
          <a:p>
            <a:pPr algn="ctr" indent="0" marL="0">
              <a:buNone/>
            </a:pPr>
            <a:r>
              <a:rPr lang="en-US" sz="1000" b="1" i="1" dirty="0">
                <a:solidFill>
                  <a:srgbClr val="B4236A"/>
                </a:solidFill>
              </a:rPr>
              <a:t>saw</a:t>
            </a:r>
            <a:endParaRPr lang="en-US" sz="1000" dirty="0"/>
          </a:p>
        </p:txBody>
      </p:sp>
      <p:sp>
        <p:nvSpPr>
          <p:cNvPr id="47" name="Shape 43"/>
          <p:cNvSpPr/>
          <p:nvPr/>
        </p:nvSpPr>
        <p:spPr>
          <a:xfrm>
            <a:off x="11058068" y="2523744"/>
            <a:ext cx="0" cy="768096"/>
          </a:xfrm>
          <a:prstGeom prst="line">
            <a:avLst/>
          </a:prstGeom>
          <a:noFill/>
          <a:ln w="12700">
            <a:solidFill>
              <a:srgbClr val="B4236A"/>
            </a:solidFill>
            <a:prstDash val="solid"/>
          </a:ln>
        </p:spPr>
      </p:sp>
      <p:sp>
        <p:nvSpPr>
          <p:cNvPr id="48" name="Shape 44"/>
          <p:cNvSpPr/>
          <p:nvPr/>
        </p:nvSpPr>
        <p:spPr>
          <a:xfrm>
            <a:off x="10948340" y="3273552"/>
            <a:ext cx="219456" cy="219456"/>
          </a:xfrm>
          <a:prstGeom prst="ellipse">
            <a:avLst/>
          </a:prstGeom>
          <a:solidFill>
            <a:srgbClr val="B4236A"/>
          </a:solidFill>
          <a:ln w="15875">
            <a:solidFill>
              <a:srgbClr val="FFFFFF"/>
            </a:solidFill>
            <a:prstDash val="solid"/>
          </a:ln>
        </p:spPr>
      </p:sp>
      <p:sp>
        <p:nvSpPr>
          <p:cNvPr id="49" name="Text 45"/>
          <p:cNvSpPr txBox="1"/>
          <p:nvPr/>
        </p:nvSpPr>
        <p:spPr>
          <a:xfrm>
            <a:off x="10509428" y="2286000"/>
            <a:ext cx="1097280" cy="237744"/>
          </a:xfrm>
          <a:prstGeom prst="rect">
            <a:avLst/>
          </a:prstGeom>
          <a:noFill/>
          <a:ln/>
        </p:spPr>
        <p:txBody>
          <a:bodyPr wrap="square" lIns="0" tIns="0" rIns="0" bIns="0" rtlCol="0" anchor="ctr"/>
          <a:lstStyle/>
          <a:p>
            <a:pPr algn="ctr" indent="0" marL="0">
              <a:buNone/>
            </a:pPr>
            <a:r>
              <a:rPr lang="en-US" sz="1000" b="1" i="1" dirty="0">
                <a:solidFill>
                  <a:srgbClr val="B4236A"/>
                </a:solidFill>
              </a:rPr>
              <a:t>called</a:t>
            </a:r>
            <a:endParaRPr lang="en-US" sz="1000" dirty="0"/>
          </a:p>
        </p:txBody>
      </p:sp>
      <p:sp>
        <p:nvSpPr>
          <p:cNvPr id="50" name="Text 46"/>
          <p:cNvSpPr txBox="1"/>
          <p:nvPr/>
        </p:nvSpPr>
        <p:spPr>
          <a:xfrm>
            <a:off x="9221724" y="3703320"/>
            <a:ext cx="2235708" cy="685800"/>
          </a:xfrm>
          <a:prstGeom prst="rect">
            <a:avLst/>
          </a:prstGeom>
          <a:noFill/>
          <a:ln/>
        </p:spPr>
        <p:txBody>
          <a:bodyPr wrap="square" lIns="0" tIns="0" rIns="0" bIns="0" rtlCol="0" anchor="ctr"/>
          <a:lstStyle/>
          <a:p>
            <a:pPr indent="0" marL="0">
              <a:buNone/>
            </a:pPr>
            <a:r>
              <a:rPr lang="en-US" sz="1600" b="1" dirty="0">
                <a:solidFill>
                  <a:srgbClr val="B4236A"/>
                </a:solidFill>
              </a:rPr>
              <a:t>past simple</a:t>
            </a:r>
            <a:r>
              <a:rPr lang="en-US" sz="1600" b="1" dirty="0">
                <a:solidFill>
                  <a:schemeClr val="tx2"/>
                </a:solidFill>
              </a:rPr>
              <a:t> + </a:t>
            </a:r>
            <a:r>
              <a:rPr lang="en-US" sz="1600" b="1" dirty="0">
                <a:solidFill>
                  <a:srgbClr val="B4236A"/>
                </a:solidFill>
              </a:rPr>
              <a:t>past simple</a:t>
            </a:r>
            <a:endParaRPr lang="en-US" sz="1600" dirty="0"/>
          </a:p>
        </p:txBody>
      </p:sp>
      <p:sp>
        <p:nvSpPr>
          <p:cNvPr id="51" name="Shape 47"/>
          <p:cNvSpPr/>
          <p:nvPr/>
        </p:nvSpPr>
        <p:spPr>
          <a:xfrm>
            <a:off x="9221724" y="4453128"/>
            <a:ext cx="2235708" cy="0"/>
          </a:xfrm>
          <a:prstGeom prst="line">
            <a:avLst/>
          </a:prstGeom>
          <a:noFill/>
          <a:ln w="9525">
            <a:solidFill>
              <a:srgbClr val="C9D1DE"/>
            </a:solidFill>
            <a:prstDash val="solid"/>
          </a:ln>
        </p:spPr>
      </p:sp>
      <p:sp>
        <p:nvSpPr>
          <p:cNvPr id="52" name="Text 48"/>
          <p:cNvSpPr txBox="1"/>
          <p:nvPr/>
        </p:nvSpPr>
        <p:spPr>
          <a:xfrm>
            <a:off x="9221724" y="4544568"/>
            <a:ext cx="2235708" cy="1673352"/>
          </a:xfrm>
          <a:prstGeom prst="rect">
            <a:avLst/>
          </a:prstGeom>
          <a:noFill/>
          <a:ln/>
        </p:spPr>
        <p:txBody>
          <a:bodyPr wrap="square" lIns="0" tIns="0" rIns="0" bIns="0" rtlCol="0" anchor="t"/>
          <a:lstStyle/>
          <a:p>
            <a:pPr indent="0" marL="0">
              <a:buNone/>
            </a:pPr>
            <a:r>
              <a:rPr lang="en-US" sz="1800" dirty="0">
                <a:solidFill>
                  <a:schemeClr val="tx1"/>
                </a:solidFill>
              </a:rPr>
              <a:t>The cleaners </a:t>
            </a:r>
            <a:r>
              <a:rPr lang="en-US" sz="1800" b="1" dirty="0">
                <a:solidFill>
                  <a:srgbClr val="B4236A"/>
                </a:solidFill>
              </a:rPr>
              <a:t>opened</a:t>
            </a:r>
            <a:r>
              <a:rPr lang="en-US" sz="1800" dirty="0">
                <a:solidFill>
                  <a:schemeClr val="tx1"/>
                </a:solidFill>
              </a:rPr>
              <a:t> the door, </a:t>
            </a:r>
            <a:r>
              <a:rPr lang="en-US" sz="1800" b="1" dirty="0">
                <a:solidFill>
                  <a:srgbClr val="B4236A"/>
                </a:solidFill>
              </a:rPr>
              <a:t>saw</a:t>
            </a:r>
            <a:r>
              <a:rPr lang="en-US" sz="1800" dirty="0">
                <a:solidFill>
                  <a:schemeClr val="tx1"/>
                </a:solidFill>
              </a:rPr>
              <a:t> the water and </a:t>
            </a:r>
            <a:r>
              <a:rPr lang="en-US" sz="1800" b="1" dirty="0">
                <a:solidFill>
                  <a:srgbClr val="B4236A"/>
                </a:solidFill>
              </a:rPr>
              <a:t>called</a:t>
            </a:r>
            <a:r>
              <a:rPr lang="en-US" sz="1800" dirty="0">
                <a:solidFill>
                  <a:schemeClr val="tx1"/>
                </a:solidFill>
              </a:rPr>
              <a:t> Mark.</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Background and event: the night on a line</a:t>
            </a:r>
            <a:endParaRPr lang="en-US" sz="3200" dirty="0"/>
          </a:p>
        </p:txBody>
      </p:sp>
      <p:sp>
        <p:nvSpPr>
          <p:cNvPr id="3" name="tag"/>
          <p:cNvSpPr/>
          <p:nvPr/>
        </p:nvSpPr>
        <p:spPr>
          <a:xfrm>
            <a:off x="548640" y="384048"/>
            <a:ext cx="1165860" cy="310896"/>
          </a:xfrm>
          <a:prstGeom prst="roundRect">
            <a:avLst>
              <a:gd name="adj" fmla="val 14706"/>
            </a:avLst>
          </a:prstGeom>
          <a:solidFill>
            <a:srgbClr val="1F3864"/>
          </a:solidFill>
          <a:ln/>
        </p:spPr>
        <p:txBody>
          <a:bodyPr wrap="square" lIns="0" tIns="0" rIns="0" bIns="0" rtlCol="0" anchor="ctr"/>
          <a:lstStyle/>
          <a:p>
            <a:pPr algn="ctr" indent="0" marL="0">
              <a:buNone/>
            </a:pPr>
            <a:r>
              <a:rPr lang="en-US" sz="1200" b="1" spc="100" kern="0" dirty="0">
                <a:solidFill>
                  <a:schemeClr val="bg1"/>
                </a:solidFill>
              </a:rPr>
              <a:t>GRAMMAR</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6" name="Text 3"/>
          <p:cNvSpPr txBox="1"/>
          <p:nvPr/>
        </p:nvSpPr>
        <p:spPr>
          <a:xfrm>
            <a:off x="548640" y="1737360"/>
            <a:ext cx="11091672" cy="329184"/>
          </a:xfrm>
          <a:prstGeom prst="rect">
            <a:avLst/>
          </a:prstGeom>
          <a:noFill/>
          <a:ln/>
        </p:spPr>
        <p:txBody>
          <a:bodyPr wrap="square" lIns="0" tIns="0" rIns="0" bIns="0" rtlCol="0" anchor="t"/>
          <a:lstStyle/>
          <a:p>
            <a:pPr indent="0" marL="0">
              <a:buNone/>
            </a:pPr>
            <a:r>
              <a:rPr lang="en-US" sz="1800" dirty="0">
                <a:solidFill>
                  <a:schemeClr val="tx1"/>
                </a:solidFill>
              </a:rPr>
              <a:t>A </a:t>
            </a:r>
            <a:r>
              <a:rPr lang="en-US" sz="1800" b="1" dirty="0">
                <a:solidFill>
                  <a:schemeClr val="tx1"/>
                </a:solidFill>
              </a:rPr>
              <a:t>bar</a:t>
            </a:r>
            <a:r>
              <a:rPr lang="en-US" sz="1800" dirty="0">
                <a:solidFill>
                  <a:schemeClr val="tx1"/>
                </a:solidFill>
              </a:rPr>
              <a:t> is something in progress (past continuous). A </a:t>
            </a:r>
            <a:r>
              <a:rPr lang="en-US" sz="1800" b="1" dirty="0">
                <a:solidFill>
                  <a:schemeClr val="tx1"/>
                </a:solidFill>
              </a:rPr>
              <a:t>dot</a:t>
            </a:r>
            <a:r>
              <a:rPr lang="en-US" sz="1800" dirty="0">
                <a:solidFill>
                  <a:schemeClr val="tx1"/>
                </a:solidFill>
              </a:rPr>
              <a:t> is an event at a point in time (past simple).</a:t>
            </a:r>
            <a:endParaRPr lang="en-US" sz="1800" dirty="0"/>
          </a:p>
        </p:txBody>
      </p:sp>
      <p:sp>
        <p:nvSpPr>
          <p:cNvPr id="7" name="Shape 4"/>
          <p:cNvSpPr/>
          <p:nvPr/>
        </p:nvSpPr>
        <p:spPr>
          <a:xfrm>
            <a:off x="1045445" y="3177540"/>
            <a:ext cx="1814968" cy="420624"/>
          </a:xfrm>
          <a:prstGeom prst="roundRect">
            <a:avLst>
              <a:gd name="adj" fmla="val 21739"/>
            </a:avLst>
          </a:prstGeom>
          <a:solidFill>
            <a:srgbClr val="2E75B6">
              <a:alpha val="92000"/>
            </a:srgbClr>
          </a:solidFill>
          <a:ln w="15875">
            <a:solidFill>
              <a:srgbClr val="2E75B6"/>
            </a:solidFill>
            <a:prstDash val="solid"/>
          </a:ln>
        </p:spPr>
      </p:sp>
      <p:sp>
        <p:nvSpPr>
          <p:cNvPr id="8" name="Text 5"/>
          <p:cNvSpPr txBox="1"/>
          <p:nvPr/>
        </p:nvSpPr>
        <p:spPr>
          <a:xfrm>
            <a:off x="1118597" y="3177540"/>
            <a:ext cx="1668664" cy="420624"/>
          </a:xfrm>
          <a:prstGeom prst="rect">
            <a:avLst/>
          </a:prstGeom>
          <a:noFill/>
          <a:ln/>
        </p:spPr>
        <p:txBody>
          <a:bodyPr wrap="square" lIns="0" tIns="0" rIns="0" bIns="0" rtlCol="0" anchor="ctr"/>
          <a:lstStyle/>
          <a:p>
            <a:pPr algn="ctr" indent="0" marL="0">
              <a:buNone/>
            </a:pPr>
            <a:r>
              <a:rPr lang="en-US" sz="1400" b="1" i="1" dirty="0">
                <a:solidFill>
                  <a:schemeClr val="bg1"/>
                </a:solidFill>
              </a:rPr>
              <a:t>the team was working</a:t>
            </a:r>
            <a:endParaRPr lang="en-US" sz="1400" dirty="0"/>
          </a:p>
        </p:txBody>
      </p:sp>
      <p:sp>
        <p:nvSpPr>
          <p:cNvPr id="9" name="Shape 6"/>
          <p:cNvSpPr/>
          <p:nvPr/>
        </p:nvSpPr>
        <p:spPr>
          <a:xfrm>
            <a:off x="4452604" y="2628900"/>
            <a:ext cx="5523529" cy="420624"/>
          </a:xfrm>
          <a:prstGeom prst="roundRect">
            <a:avLst>
              <a:gd name="adj" fmla="val 21739"/>
            </a:avLst>
          </a:prstGeom>
          <a:solidFill>
            <a:srgbClr val="2E75B6">
              <a:alpha val="40000"/>
            </a:srgbClr>
          </a:solidFill>
          <a:ln w="15875">
            <a:solidFill>
              <a:srgbClr val="2E75B6"/>
            </a:solidFill>
            <a:prstDash val="dash"/>
          </a:ln>
        </p:spPr>
      </p:sp>
      <p:sp>
        <p:nvSpPr>
          <p:cNvPr id="10" name="Text 7"/>
          <p:cNvSpPr txBox="1"/>
          <p:nvPr/>
        </p:nvSpPr>
        <p:spPr>
          <a:xfrm>
            <a:off x="4525756" y="2628900"/>
            <a:ext cx="5377225" cy="420624"/>
          </a:xfrm>
          <a:prstGeom prst="rect">
            <a:avLst/>
          </a:prstGeom>
          <a:noFill/>
          <a:ln/>
        </p:spPr>
        <p:txBody>
          <a:bodyPr wrap="square" lIns="0" tIns="0" rIns="0" bIns="0" rtlCol="0" anchor="ctr"/>
          <a:lstStyle/>
          <a:p>
            <a:pPr algn="ctr" indent="0" marL="0">
              <a:buNone/>
            </a:pPr>
            <a:r>
              <a:rPr lang="en-US" sz="1400" b="1" i="1" dirty="0">
                <a:solidFill>
                  <a:schemeClr val="tx1"/>
                </a:solidFill>
              </a:rPr>
              <a:t>water was running behind the ceiling</a:t>
            </a:r>
            <a:endParaRPr lang="en-US" sz="1400" dirty="0"/>
          </a:p>
        </p:txBody>
      </p:sp>
      <p:sp>
        <p:nvSpPr>
          <p:cNvPr id="11" name="Shape 8"/>
          <p:cNvSpPr/>
          <p:nvPr/>
        </p:nvSpPr>
        <p:spPr>
          <a:xfrm>
            <a:off x="4976782" y="3177540"/>
            <a:ext cx="4848650" cy="420624"/>
          </a:xfrm>
          <a:prstGeom prst="roundRect">
            <a:avLst>
              <a:gd name="adj" fmla="val 21739"/>
            </a:avLst>
          </a:prstGeom>
          <a:solidFill>
            <a:srgbClr val="44546A">
              <a:alpha val="92000"/>
            </a:srgbClr>
          </a:solidFill>
          <a:ln w="15875">
            <a:solidFill>
              <a:srgbClr val="44546A"/>
            </a:solidFill>
            <a:prstDash val="solid"/>
          </a:ln>
        </p:spPr>
      </p:sp>
      <p:sp>
        <p:nvSpPr>
          <p:cNvPr id="12" name="Text 9"/>
          <p:cNvSpPr txBox="1"/>
          <p:nvPr/>
        </p:nvSpPr>
        <p:spPr>
          <a:xfrm>
            <a:off x="5049934" y="3177540"/>
            <a:ext cx="4702346" cy="420624"/>
          </a:xfrm>
          <a:prstGeom prst="rect">
            <a:avLst/>
          </a:prstGeom>
          <a:noFill/>
          <a:ln/>
        </p:spPr>
        <p:txBody>
          <a:bodyPr wrap="square" lIns="0" tIns="0" rIns="0" bIns="0" rtlCol="0" anchor="ctr"/>
          <a:lstStyle/>
          <a:p>
            <a:pPr algn="ctr" indent="0" marL="0">
              <a:buNone/>
            </a:pPr>
            <a:r>
              <a:rPr lang="en-US" sz="1400" b="1" i="1" dirty="0">
                <a:solidFill>
                  <a:schemeClr val="bg1"/>
                </a:solidFill>
              </a:rPr>
              <a:t>everybody was sleeping</a:t>
            </a:r>
            <a:endParaRPr lang="en-US" sz="1400" dirty="0"/>
          </a:p>
        </p:txBody>
      </p:sp>
      <p:sp>
        <p:nvSpPr>
          <p:cNvPr id="13" name="Shape 10"/>
          <p:cNvSpPr/>
          <p:nvPr/>
        </p:nvSpPr>
        <p:spPr>
          <a:xfrm>
            <a:off x="594360" y="3872484"/>
            <a:ext cx="10881360" cy="0"/>
          </a:xfrm>
          <a:prstGeom prst="line">
            <a:avLst/>
          </a:prstGeom>
          <a:noFill/>
          <a:ln w="31750">
            <a:solidFill>
              <a:srgbClr val="1F3864"/>
            </a:solidFill>
            <a:prstDash val="solid"/>
            <a:tailEnd type="triangle"/>
          </a:ln>
        </p:spPr>
      </p:sp>
      <p:sp>
        <p:nvSpPr>
          <p:cNvPr id="14" name="Shape 11"/>
          <p:cNvSpPr/>
          <p:nvPr/>
        </p:nvSpPr>
        <p:spPr>
          <a:xfrm>
            <a:off x="1569623" y="3808476"/>
            <a:ext cx="0" cy="128016"/>
          </a:xfrm>
          <a:prstGeom prst="line">
            <a:avLst/>
          </a:prstGeom>
          <a:noFill/>
          <a:ln w="15875">
            <a:solidFill>
              <a:srgbClr val="1F3864"/>
            </a:solidFill>
            <a:prstDash val="solid"/>
          </a:ln>
        </p:spPr>
      </p:sp>
      <p:sp>
        <p:nvSpPr>
          <p:cNvPr id="15" name="Text 12"/>
          <p:cNvSpPr txBox="1"/>
          <p:nvPr/>
        </p:nvSpPr>
        <p:spPr>
          <a:xfrm>
            <a:off x="1112423" y="396392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18.00</a:t>
            </a:r>
            <a:endParaRPr lang="en-US" sz="1100" dirty="0"/>
          </a:p>
        </p:txBody>
      </p:sp>
      <p:sp>
        <p:nvSpPr>
          <p:cNvPr id="16" name="Shape 13"/>
          <p:cNvSpPr/>
          <p:nvPr/>
        </p:nvSpPr>
        <p:spPr>
          <a:xfrm>
            <a:off x="2880069" y="3808476"/>
            <a:ext cx="0" cy="128016"/>
          </a:xfrm>
          <a:prstGeom prst="line">
            <a:avLst/>
          </a:prstGeom>
          <a:noFill/>
          <a:ln w="15875">
            <a:solidFill>
              <a:srgbClr val="1F3864"/>
            </a:solidFill>
            <a:prstDash val="solid"/>
          </a:ln>
        </p:spPr>
      </p:sp>
      <p:sp>
        <p:nvSpPr>
          <p:cNvPr id="17" name="Text 14"/>
          <p:cNvSpPr txBox="1"/>
          <p:nvPr/>
        </p:nvSpPr>
        <p:spPr>
          <a:xfrm>
            <a:off x="2422869" y="396392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20.00</a:t>
            </a:r>
            <a:endParaRPr lang="en-US" sz="1100" dirty="0"/>
          </a:p>
        </p:txBody>
      </p:sp>
      <p:sp>
        <p:nvSpPr>
          <p:cNvPr id="18" name="Shape 15"/>
          <p:cNvSpPr/>
          <p:nvPr/>
        </p:nvSpPr>
        <p:spPr>
          <a:xfrm>
            <a:off x="4190515" y="3808476"/>
            <a:ext cx="0" cy="128016"/>
          </a:xfrm>
          <a:prstGeom prst="line">
            <a:avLst/>
          </a:prstGeom>
          <a:noFill/>
          <a:ln w="15875">
            <a:solidFill>
              <a:srgbClr val="1F3864"/>
            </a:solidFill>
            <a:prstDash val="solid"/>
          </a:ln>
        </p:spPr>
      </p:sp>
      <p:sp>
        <p:nvSpPr>
          <p:cNvPr id="19" name="Text 16"/>
          <p:cNvSpPr txBox="1"/>
          <p:nvPr/>
        </p:nvSpPr>
        <p:spPr>
          <a:xfrm>
            <a:off x="3733315" y="396392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22.00</a:t>
            </a:r>
            <a:endParaRPr lang="en-US" sz="1100" dirty="0"/>
          </a:p>
        </p:txBody>
      </p:sp>
      <p:sp>
        <p:nvSpPr>
          <p:cNvPr id="20" name="Shape 17"/>
          <p:cNvSpPr/>
          <p:nvPr/>
        </p:nvSpPr>
        <p:spPr>
          <a:xfrm>
            <a:off x="5500961" y="3808476"/>
            <a:ext cx="0" cy="128016"/>
          </a:xfrm>
          <a:prstGeom prst="line">
            <a:avLst/>
          </a:prstGeom>
          <a:noFill/>
          <a:ln w="15875">
            <a:solidFill>
              <a:srgbClr val="1F3864"/>
            </a:solidFill>
            <a:prstDash val="solid"/>
          </a:ln>
        </p:spPr>
      </p:sp>
      <p:sp>
        <p:nvSpPr>
          <p:cNvPr id="21" name="Text 18"/>
          <p:cNvSpPr txBox="1"/>
          <p:nvPr/>
        </p:nvSpPr>
        <p:spPr>
          <a:xfrm>
            <a:off x="5043761" y="396392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00.00</a:t>
            </a:r>
            <a:endParaRPr lang="en-US" sz="1100" dirty="0"/>
          </a:p>
        </p:txBody>
      </p:sp>
      <p:sp>
        <p:nvSpPr>
          <p:cNvPr id="22" name="Shape 19"/>
          <p:cNvSpPr/>
          <p:nvPr/>
        </p:nvSpPr>
        <p:spPr>
          <a:xfrm>
            <a:off x="6811406" y="3808476"/>
            <a:ext cx="0" cy="128016"/>
          </a:xfrm>
          <a:prstGeom prst="line">
            <a:avLst/>
          </a:prstGeom>
          <a:noFill/>
          <a:ln w="15875">
            <a:solidFill>
              <a:srgbClr val="1F3864"/>
            </a:solidFill>
            <a:prstDash val="solid"/>
          </a:ln>
        </p:spPr>
      </p:sp>
      <p:sp>
        <p:nvSpPr>
          <p:cNvPr id="23" name="Text 20"/>
          <p:cNvSpPr txBox="1"/>
          <p:nvPr/>
        </p:nvSpPr>
        <p:spPr>
          <a:xfrm>
            <a:off x="6354206" y="396392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02.00</a:t>
            </a:r>
            <a:endParaRPr lang="en-US" sz="1100" dirty="0"/>
          </a:p>
        </p:txBody>
      </p:sp>
      <p:sp>
        <p:nvSpPr>
          <p:cNvPr id="24" name="Shape 21"/>
          <p:cNvSpPr/>
          <p:nvPr/>
        </p:nvSpPr>
        <p:spPr>
          <a:xfrm>
            <a:off x="8121852" y="3808476"/>
            <a:ext cx="0" cy="128016"/>
          </a:xfrm>
          <a:prstGeom prst="line">
            <a:avLst/>
          </a:prstGeom>
          <a:noFill/>
          <a:ln w="15875">
            <a:solidFill>
              <a:srgbClr val="1F3864"/>
            </a:solidFill>
            <a:prstDash val="solid"/>
          </a:ln>
        </p:spPr>
      </p:sp>
      <p:sp>
        <p:nvSpPr>
          <p:cNvPr id="25" name="Text 22"/>
          <p:cNvSpPr txBox="1"/>
          <p:nvPr/>
        </p:nvSpPr>
        <p:spPr>
          <a:xfrm>
            <a:off x="7664652" y="396392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04.00</a:t>
            </a:r>
            <a:endParaRPr lang="en-US" sz="1100" dirty="0"/>
          </a:p>
        </p:txBody>
      </p:sp>
      <p:sp>
        <p:nvSpPr>
          <p:cNvPr id="26" name="Shape 23"/>
          <p:cNvSpPr/>
          <p:nvPr/>
        </p:nvSpPr>
        <p:spPr>
          <a:xfrm>
            <a:off x="9432298" y="3808476"/>
            <a:ext cx="0" cy="128016"/>
          </a:xfrm>
          <a:prstGeom prst="line">
            <a:avLst/>
          </a:prstGeom>
          <a:noFill/>
          <a:ln w="15875">
            <a:solidFill>
              <a:srgbClr val="1F3864"/>
            </a:solidFill>
            <a:prstDash val="solid"/>
          </a:ln>
        </p:spPr>
      </p:sp>
      <p:sp>
        <p:nvSpPr>
          <p:cNvPr id="27" name="Text 24"/>
          <p:cNvSpPr txBox="1"/>
          <p:nvPr/>
        </p:nvSpPr>
        <p:spPr>
          <a:xfrm>
            <a:off x="8975098" y="3963924"/>
            <a:ext cx="914400" cy="219456"/>
          </a:xfrm>
          <a:prstGeom prst="rect">
            <a:avLst/>
          </a:prstGeom>
          <a:noFill/>
          <a:ln/>
        </p:spPr>
        <p:txBody>
          <a:bodyPr wrap="square" lIns="0" tIns="0" rIns="0" bIns="0" rtlCol="0" anchor="ctr"/>
          <a:lstStyle/>
          <a:p>
            <a:pPr algn="ctr" indent="0" marL="0">
              <a:buNone/>
            </a:pPr>
            <a:r>
              <a:rPr lang="en-US" sz="1100" dirty="0">
                <a:solidFill>
                  <a:schemeClr val="accent5"/>
                </a:solidFill>
              </a:rPr>
              <a:t>06.00</a:t>
            </a:r>
            <a:endParaRPr lang="en-US" sz="1100" dirty="0"/>
          </a:p>
        </p:txBody>
      </p:sp>
      <p:sp>
        <p:nvSpPr>
          <p:cNvPr id="28" name="Shape 25"/>
          <p:cNvSpPr/>
          <p:nvPr/>
        </p:nvSpPr>
        <p:spPr>
          <a:xfrm>
            <a:off x="10906550" y="2427732"/>
            <a:ext cx="0" cy="1261872"/>
          </a:xfrm>
          <a:prstGeom prst="line">
            <a:avLst/>
          </a:prstGeom>
          <a:noFill/>
          <a:ln w="19050">
            <a:solidFill>
              <a:srgbClr val="B03A2E"/>
            </a:solidFill>
            <a:prstDash val="dash"/>
          </a:ln>
        </p:spPr>
      </p:sp>
      <p:sp>
        <p:nvSpPr>
          <p:cNvPr id="29" name="Shape 26"/>
          <p:cNvSpPr/>
          <p:nvPr/>
        </p:nvSpPr>
        <p:spPr>
          <a:xfrm>
            <a:off x="10860830" y="3689604"/>
            <a:ext cx="91440" cy="365760"/>
          </a:xfrm>
          <a:prstGeom prst="rect">
            <a:avLst/>
          </a:prstGeom>
          <a:solidFill>
            <a:srgbClr val="B03A2E"/>
          </a:solidFill>
          <a:ln/>
        </p:spPr>
      </p:sp>
      <p:sp>
        <p:nvSpPr>
          <p:cNvPr id="30" name="Text 27"/>
          <p:cNvSpPr txBox="1"/>
          <p:nvPr/>
        </p:nvSpPr>
        <p:spPr>
          <a:xfrm>
            <a:off x="10266470" y="2153412"/>
            <a:ext cx="1280160" cy="274320"/>
          </a:xfrm>
          <a:prstGeom prst="rect">
            <a:avLst/>
          </a:prstGeom>
          <a:noFill/>
          <a:ln/>
        </p:spPr>
        <p:txBody>
          <a:bodyPr wrap="square" lIns="0" tIns="0" rIns="0" bIns="0" rtlCol="0" anchor="ctr"/>
          <a:lstStyle/>
          <a:p>
            <a:pPr algn="ctr" indent="0" marL="0">
              <a:buNone/>
            </a:pPr>
            <a:r>
              <a:rPr lang="en-US" sz="1300" b="1" dirty="0">
                <a:solidFill>
                  <a:schemeClr val="accent6"/>
                </a:solidFill>
              </a:rPr>
              <a:t>NOW 08.15</a:t>
            </a:r>
            <a:endParaRPr lang="en-US" sz="1300" dirty="0"/>
          </a:p>
        </p:txBody>
      </p:sp>
      <p:sp>
        <p:nvSpPr>
          <p:cNvPr id="31" name="Shape 28"/>
          <p:cNvSpPr/>
          <p:nvPr/>
        </p:nvSpPr>
        <p:spPr>
          <a:xfrm>
            <a:off x="2860412" y="3963924"/>
            <a:ext cx="0" cy="365760"/>
          </a:xfrm>
          <a:prstGeom prst="line">
            <a:avLst/>
          </a:prstGeom>
          <a:noFill/>
          <a:ln w="12700">
            <a:solidFill>
              <a:srgbClr val="C0752A"/>
            </a:solidFill>
            <a:prstDash val="solid"/>
          </a:ln>
        </p:spPr>
      </p:sp>
      <p:sp>
        <p:nvSpPr>
          <p:cNvPr id="32" name="Text 29"/>
          <p:cNvSpPr/>
          <p:nvPr/>
        </p:nvSpPr>
        <p:spPr>
          <a:xfrm>
            <a:off x="2117919" y="4329684"/>
            <a:ext cx="1484986" cy="384048"/>
          </a:xfrm>
          <a:prstGeom prst="roundRect">
            <a:avLst>
              <a:gd name="adj" fmla="val 23810"/>
            </a:avLst>
          </a:prstGeom>
          <a:solidFill>
            <a:srgbClr val="C0752A"/>
          </a:solidFill>
          <a:ln/>
        </p:spPr>
        <p:txBody>
          <a:bodyPr wrap="square" lIns="0" tIns="0" rIns="0" bIns="0" rtlCol="0" anchor="ctr"/>
          <a:lstStyle/>
          <a:p>
            <a:pPr algn="ctr" indent="0" marL="0">
              <a:buNone/>
            </a:pPr>
            <a:r>
              <a:rPr lang="en-US" sz="1300" b="1" i="1" dirty="0">
                <a:solidFill>
                  <a:schemeClr val="bg1"/>
                </a:solidFill>
              </a:rPr>
              <a:t>the team left</a:t>
            </a:r>
            <a:endParaRPr lang="en-US" sz="1300" dirty="0"/>
          </a:p>
        </p:txBody>
      </p:sp>
      <p:sp>
        <p:nvSpPr>
          <p:cNvPr id="33" name="Shape 30"/>
          <p:cNvSpPr/>
          <p:nvPr/>
        </p:nvSpPr>
        <p:spPr>
          <a:xfrm>
            <a:off x="2741540" y="3753612"/>
            <a:ext cx="237744" cy="237744"/>
          </a:xfrm>
          <a:prstGeom prst="ellipse">
            <a:avLst/>
          </a:prstGeom>
          <a:solidFill>
            <a:srgbClr val="6E4A9E"/>
          </a:solidFill>
          <a:ln w="19050">
            <a:solidFill>
              <a:srgbClr val="FFFFFF"/>
            </a:solidFill>
            <a:prstDash val="solid"/>
          </a:ln>
        </p:spPr>
      </p:sp>
      <p:sp>
        <p:nvSpPr>
          <p:cNvPr id="34" name="Shape 31"/>
          <p:cNvSpPr/>
          <p:nvPr/>
        </p:nvSpPr>
        <p:spPr>
          <a:xfrm>
            <a:off x="5284737" y="3963924"/>
            <a:ext cx="0" cy="932688"/>
          </a:xfrm>
          <a:prstGeom prst="line">
            <a:avLst/>
          </a:prstGeom>
          <a:noFill/>
          <a:ln w="12700">
            <a:solidFill>
              <a:srgbClr val="C0752A"/>
            </a:solidFill>
            <a:prstDash val="solid"/>
          </a:ln>
        </p:spPr>
      </p:sp>
      <p:sp>
        <p:nvSpPr>
          <p:cNvPr id="35" name="Text 32"/>
          <p:cNvSpPr/>
          <p:nvPr/>
        </p:nvSpPr>
        <p:spPr>
          <a:xfrm>
            <a:off x="4318216" y="4896612"/>
            <a:ext cx="1933042" cy="384048"/>
          </a:xfrm>
          <a:prstGeom prst="roundRect">
            <a:avLst>
              <a:gd name="adj" fmla="val 23810"/>
            </a:avLst>
          </a:prstGeom>
          <a:solidFill>
            <a:srgbClr val="C0752A"/>
          </a:solidFill>
          <a:ln/>
        </p:spPr>
        <p:txBody>
          <a:bodyPr wrap="square" lIns="0" tIns="0" rIns="0" bIns="0" rtlCol="0" anchor="ctr"/>
          <a:lstStyle/>
          <a:p>
            <a:pPr algn="ctr" indent="0" marL="0">
              <a:buNone/>
            </a:pPr>
            <a:r>
              <a:rPr lang="en-US" sz="1300" b="1" i="1" dirty="0">
                <a:solidFill>
                  <a:schemeClr val="bg1"/>
                </a:solidFill>
              </a:rPr>
              <a:t>the alarm went off</a:t>
            </a:r>
            <a:endParaRPr lang="en-US" sz="1300" dirty="0"/>
          </a:p>
        </p:txBody>
      </p:sp>
      <p:sp>
        <p:nvSpPr>
          <p:cNvPr id="36" name="Shape 33"/>
          <p:cNvSpPr/>
          <p:nvPr/>
        </p:nvSpPr>
        <p:spPr>
          <a:xfrm>
            <a:off x="5165865" y="3753612"/>
            <a:ext cx="237744" cy="237744"/>
          </a:xfrm>
          <a:prstGeom prst="ellipse">
            <a:avLst/>
          </a:prstGeom>
          <a:solidFill>
            <a:srgbClr val="6E4A9E"/>
          </a:solidFill>
          <a:ln w="19050">
            <a:solidFill>
              <a:srgbClr val="FFFFFF"/>
            </a:solidFill>
            <a:prstDash val="solid"/>
          </a:ln>
        </p:spPr>
      </p:sp>
      <p:sp>
        <p:nvSpPr>
          <p:cNvPr id="37" name="Shape 34"/>
          <p:cNvSpPr/>
          <p:nvPr/>
        </p:nvSpPr>
        <p:spPr>
          <a:xfrm>
            <a:off x="9976133" y="3963924"/>
            <a:ext cx="0" cy="365760"/>
          </a:xfrm>
          <a:prstGeom prst="line">
            <a:avLst/>
          </a:prstGeom>
          <a:noFill/>
          <a:ln w="12700">
            <a:solidFill>
              <a:srgbClr val="C0752A"/>
            </a:solidFill>
            <a:prstDash val="solid"/>
          </a:ln>
        </p:spPr>
      </p:sp>
      <p:sp>
        <p:nvSpPr>
          <p:cNvPr id="38" name="Text 35"/>
          <p:cNvSpPr/>
          <p:nvPr/>
        </p:nvSpPr>
        <p:spPr>
          <a:xfrm>
            <a:off x="8561556" y="4329684"/>
            <a:ext cx="2829154" cy="384048"/>
          </a:xfrm>
          <a:prstGeom prst="roundRect">
            <a:avLst>
              <a:gd name="adj" fmla="val 23810"/>
            </a:avLst>
          </a:prstGeom>
          <a:solidFill>
            <a:srgbClr val="C0752A"/>
          </a:solidFill>
          <a:ln/>
        </p:spPr>
        <p:txBody>
          <a:bodyPr wrap="square" lIns="0" tIns="0" rIns="0" bIns="0" rtlCol="0" anchor="ctr"/>
          <a:lstStyle/>
          <a:p>
            <a:pPr algn="ctr" indent="0" marL="0">
              <a:buNone/>
            </a:pPr>
            <a:r>
              <a:rPr lang="en-US" sz="1300" b="1" i="1" dirty="0">
                <a:solidFill>
                  <a:schemeClr val="bg1"/>
                </a:solidFill>
              </a:rPr>
              <a:t>the cleaners found the water</a:t>
            </a:r>
            <a:endParaRPr lang="en-US" sz="1300" dirty="0"/>
          </a:p>
        </p:txBody>
      </p:sp>
      <p:sp>
        <p:nvSpPr>
          <p:cNvPr id="39" name="Shape 36"/>
          <p:cNvSpPr/>
          <p:nvPr/>
        </p:nvSpPr>
        <p:spPr>
          <a:xfrm>
            <a:off x="9857261" y="3753612"/>
            <a:ext cx="237744" cy="237744"/>
          </a:xfrm>
          <a:prstGeom prst="ellipse">
            <a:avLst/>
          </a:prstGeom>
          <a:solidFill>
            <a:srgbClr val="6E4A9E"/>
          </a:solidFill>
          <a:ln w="19050">
            <a:solidFill>
              <a:srgbClr val="FFFFFF"/>
            </a:solidFill>
            <a:prstDash val="solid"/>
          </a:ln>
        </p:spPr>
      </p:sp>
      <p:sp>
        <p:nvSpPr>
          <p:cNvPr id="40" name="Shape 37"/>
          <p:cNvSpPr/>
          <p:nvPr/>
        </p:nvSpPr>
        <p:spPr>
          <a:xfrm>
            <a:off x="731520" y="5943600"/>
            <a:ext cx="548640" cy="274320"/>
          </a:xfrm>
          <a:prstGeom prst="roundRect">
            <a:avLst>
              <a:gd name="adj" fmla="val 20000"/>
            </a:avLst>
          </a:prstGeom>
          <a:solidFill>
            <a:srgbClr val="2E75B6">
              <a:alpha val="92000"/>
            </a:srgbClr>
          </a:solidFill>
          <a:ln/>
        </p:spPr>
      </p:sp>
      <p:sp>
        <p:nvSpPr>
          <p:cNvPr id="41" name="Text 38"/>
          <p:cNvSpPr txBox="1"/>
          <p:nvPr/>
        </p:nvSpPr>
        <p:spPr>
          <a:xfrm>
            <a:off x="1417320" y="5852160"/>
            <a:ext cx="4572000" cy="457200"/>
          </a:xfrm>
          <a:prstGeom prst="rect">
            <a:avLst/>
          </a:prstGeom>
          <a:noFill/>
          <a:ln/>
        </p:spPr>
        <p:txBody>
          <a:bodyPr wrap="square" lIns="0" tIns="0" rIns="0" bIns="0" rtlCol="0" anchor="ctr"/>
          <a:lstStyle/>
          <a:p>
            <a:pPr indent="0" marL="0">
              <a:buNone/>
            </a:pPr>
            <a:r>
              <a:rPr lang="en-US" sz="1600" b="1" dirty="0">
                <a:solidFill>
                  <a:schemeClr val="tx1"/>
                </a:solidFill>
              </a:rPr>
              <a:t>bar</a:t>
            </a:r>
            <a:r>
              <a:rPr lang="en-US" sz="1600" dirty="0">
                <a:solidFill>
                  <a:schemeClr val="tx1"/>
                </a:solidFill>
              </a:rPr>
              <a:t> = background → </a:t>
            </a:r>
            <a:r>
              <a:rPr lang="en-US" sz="1600" b="1" dirty="0">
                <a:solidFill>
                  <a:schemeClr val="accent2"/>
                </a:solidFill>
              </a:rPr>
              <a:t>was / were + -ing</a:t>
            </a:r>
            <a:endParaRPr lang="en-US" sz="1600" dirty="0"/>
          </a:p>
        </p:txBody>
      </p:sp>
      <p:sp>
        <p:nvSpPr>
          <p:cNvPr id="42" name="Shape 39"/>
          <p:cNvSpPr/>
          <p:nvPr/>
        </p:nvSpPr>
        <p:spPr>
          <a:xfrm>
            <a:off x="6355080" y="5961888"/>
            <a:ext cx="237744" cy="237744"/>
          </a:xfrm>
          <a:prstGeom prst="ellipse">
            <a:avLst/>
          </a:prstGeom>
          <a:solidFill>
            <a:srgbClr val="6E4A9E"/>
          </a:solidFill>
          <a:ln/>
        </p:spPr>
      </p:sp>
      <p:sp>
        <p:nvSpPr>
          <p:cNvPr id="43" name="Text 40"/>
          <p:cNvSpPr txBox="1"/>
          <p:nvPr/>
        </p:nvSpPr>
        <p:spPr>
          <a:xfrm>
            <a:off x="6766560" y="5852160"/>
            <a:ext cx="4846320" cy="457200"/>
          </a:xfrm>
          <a:prstGeom prst="rect">
            <a:avLst/>
          </a:prstGeom>
          <a:noFill/>
          <a:ln/>
        </p:spPr>
        <p:txBody>
          <a:bodyPr wrap="square" lIns="0" tIns="0" rIns="0" bIns="0" rtlCol="0" anchor="ctr"/>
          <a:lstStyle/>
          <a:p>
            <a:pPr indent="0" marL="0">
              <a:buNone/>
            </a:pPr>
            <a:r>
              <a:rPr lang="en-US" sz="1600" b="1" dirty="0">
                <a:solidFill>
                  <a:schemeClr val="tx1"/>
                </a:solidFill>
              </a:rPr>
              <a:t>dot</a:t>
            </a:r>
            <a:r>
              <a:rPr lang="en-US" sz="1600" dirty="0">
                <a:solidFill>
                  <a:schemeClr val="tx1"/>
                </a:solidFill>
              </a:rPr>
              <a:t> = event → </a:t>
            </a:r>
            <a:r>
              <a:rPr lang="en-US" sz="1600" b="1" dirty="0">
                <a:solidFill>
                  <a:srgbClr val="B4236A"/>
                </a:solidFill>
              </a:rPr>
              <a:t>past simple</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Past simple or past continuous?</a:t>
            </a:r>
            <a:endParaRPr lang="en-US" sz="3200" dirty="0"/>
          </a:p>
        </p:txBody>
      </p:sp>
      <p:sp>
        <p:nvSpPr>
          <p:cNvPr id="3" name="tag"/>
          <p:cNvSpPr/>
          <p:nvPr/>
        </p:nvSpPr>
        <p:spPr>
          <a:xfrm>
            <a:off x="548640" y="384048"/>
            <a:ext cx="1165860" cy="310896"/>
          </a:xfrm>
          <a:prstGeom prst="roundRect">
            <a:avLst>
              <a:gd name="adj" fmla="val 14706"/>
            </a:avLst>
          </a:prstGeom>
          <a:solidFill>
            <a:srgbClr val="1F3864"/>
          </a:solidFill>
          <a:ln/>
        </p:spPr>
        <p:txBody>
          <a:bodyPr wrap="square" lIns="0" tIns="0" rIns="0" bIns="0" rtlCol="0" anchor="ctr"/>
          <a:lstStyle/>
          <a:p>
            <a:pPr algn="ctr" indent="0" marL="0">
              <a:buNone/>
            </a:pPr>
            <a:r>
              <a:rPr lang="en-US" sz="1200" b="1" spc="100" kern="0" dirty="0">
                <a:solidFill>
                  <a:schemeClr val="bg1"/>
                </a:solidFill>
              </a:rPr>
              <a:t>GRAMMAR</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6" name="Text 3"/>
          <p:cNvSpPr/>
          <p:nvPr/>
        </p:nvSpPr>
        <p:spPr>
          <a:xfrm>
            <a:off x="1682496" y="1737360"/>
            <a:ext cx="2441448" cy="384048"/>
          </a:xfrm>
          <a:prstGeom prst="roundRect">
            <a:avLst>
              <a:gd name="adj" fmla="val 47619"/>
            </a:avLst>
          </a:prstGeom>
          <a:solidFill>
            <a:srgbClr val="1F3864"/>
          </a:solidFill>
          <a:ln/>
        </p:spPr>
        <p:txBody>
          <a:bodyPr wrap="square" lIns="0" tIns="0" rIns="0" bIns="0" rtlCol="0" anchor="ctr"/>
          <a:lstStyle/>
          <a:p>
            <a:pPr algn="ctr" indent="0" marL="0">
              <a:buNone/>
            </a:pPr>
            <a:r>
              <a:rPr lang="en-US" sz="1500" b="1" dirty="0">
                <a:solidFill>
                  <a:schemeClr val="bg1"/>
                </a:solidFill>
              </a:rPr>
              <a:t>A verb in the past</a:t>
            </a:r>
            <a:endParaRPr lang="en-US" sz="1500" dirty="0"/>
          </a:p>
        </p:txBody>
      </p:sp>
      <p:sp>
        <p:nvSpPr>
          <p:cNvPr id="7" name="Shape 4"/>
          <p:cNvSpPr/>
          <p:nvPr/>
        </p:nvSpPr>
        <p:spPr>
          <a:xfrm>
            <a:off x="2903220" y="2139696"/>
            <a:ext cx="0" cy="310896"/>
          </a:xfrm>
          <a:prstGeom prst="line">
            <a:avLst/>
          </a:prstGeom>
          <a:noFill/>
          <a:ln w="22225">
            <a:solidFill>
              <a:srgbClr val="44546A"/>
            </a:solidFill>
            <a:prstDash val="solid"/>
            <a:tailEnd type="triangle"/>
          </a:ln>
        </p:spPr>
      </p:sp>
      <p:sp>
        <p:nvSpPr>
          <p:cNvPr id="8" name="Shape 5"/>
          <p:cNvSpPr/>
          <p:nvPr/>
        </p:nvSpPr>
        <p:spPr>
          <a:xfrm>
            <a:off x="548640" y="2468880"/>
            <a:ext cx="4709160" cy="932688"/>
          </a:xfrm>
          <a:prstGeom prst="roundRect">
            <a:avLst>
              <a:gd name="adj" fmla="val 7843"/>
            </a:avLst>
          </a:prstGeom>
          <a:solidFill>
            <a:srgbClr val="FFFFFF"/>
          </a:solidFill>
          <a:ln w="19050">
            <a:solidFill>
              <a:srgbClr val="1F3864"/>
            </a:solidFill>
            <a:prstDash val="solid"/>
          </a:ln>
          <a:effectLst>
            <a:outerShdw sx="100000" sy="100000" kx="0" ky="0" algn="bl" rotWithShape="0" blurRad="101600" dist="25400" dir="3600000">
              <a:srgbClr val="000000">
                <a:alpha val="18000"/>
              </a:srgbClr>
            </a:outerShdw>
          </a:effectLst>
        </p:spPr>
      </p:sp>
      <p:sp>
        <p:nvSpPr>
          <p:cNvPr id="9" name="Shape 6"/>
          <p:cNvSpPr/>
          <p:nvPr/>
        </p:nvSpPr>
        <p:spPr>
          <a:xfrm>
            <a:off x="694944" y="2715768"/>
            <a:ext cx="438912" cy="438912"/>
          </a:xfrm>
          <a:prstGeom prst="ellipse">
            <a:avLst/>
          </a:prstGeom>
          <a:solidFill>
            <a:srgbClr val="1F3864"/>
          </a:solidFill>
          <a:ln/>
        </p:spPr>
      </p:sp>
      <p:pic>
        <p:nvPicPr>
          <p:cNvPr id="10" name="Image 0" descr="preencoded.png">    </p:cNvPr>
          <p:cNvPicPr>
            <a:picLocks noChangeAspect="1"/>
          </p:cNvPicPr>
          <p:nvPr/>
        </p:nvPicPr>
        <p:blipFill>
          <a:blip r:embed="rId1"/>
          <a:stretch>
            <a:fillRect/>
          </a:stretch>
        </p:blipFill>
        <p:spPr>
          <a:xfrm>
            <a:off x="804672" y="2825496"/>
            <a:ext cx="219456" cy="219456"/>
          </a:xfrm>
          <a:prstGeom prst="rect">
            <a:avLst/>
          </a:prstGeom>
        </p:spPr>
      </p:pic>
      <p:sp>
        <p:nvSpPr>
          <p:cNvPr id="11" name="Text 7"/>
          <p:cNvSpPr txBox="1"/>
          <p:nvPr/>
        </p:nvSpPr>
        <p:spPr>
          <a:xfrm>
            <a:off x="1261872" y="2505456"/>
            <a:ext cx="3867912" cy="859536"/>
          </a:xfrm>
          <a:prstGeom prst="rect">
            <a:avLst/>
          </a:prstGeom>
          <a:noFill/>
          <a:ln/>
        </p:spPr>
        <p:txBody>
          <a:bodyPr wrap="square" lIns="0" tIns="0" rIns="0" bIns="0" rtlCol="0" anchor="ctr"/>
          <a:lstStyle/>
          <a:p>
            <a:pPr indent="0" marL="0">
              <a:buNone/>
            </a:pPr>
            <a:r>
              <a:rPr lang="en-US" sz="1700" b="1" dirty="0">
                <a:solidFill>
                  <a:schemeClr val="tx2"/>
                </a:solidFill>
              </a:rPr>
              <a:t>Is it a </a:t>
            </a:r>
            <a:r>
              <a:rPr lang="en-US" sz="1700" b="1" dirty="0">
                <a:solidFill>
                  <a:schemeClr val="tx2"/>
                </a:solidFill>
              </a:rPr>
              <a:t>state verb</a:t>
            </a:r>
            <a:r>
              <a:rPr lang="en-US" sz="1700" b="1" dirty="0">
                <a:solidFill>
                  <a:schemeClr val="tx2"/>
                </a:solidFill>
              </a:rPr>
              <a:t>?</a:t>
            </a:r>
            <a:endParaRPr lang="en-US" sz="1700" dirty="0"/>
          </a:p>
          <a:p>
            <a:pPr indent="0" marL="0">
              <a:buNone/>
            </a:pPr>
            <a:r>
              <a:rPr lang="en-US" sz="1300" i="1" dirty="0">
                <a:solidFill>
                  <a:schemeClr val="accent5"/>
                </a:solidFill>
              </a:rPr>
              <a:t>know · want · be · believe · need · own · understand</a:t>
            </a:r>
            <a:endParaRPr lang="en-US" sz="1700" dirty="0"/>
          </a:p>
        </p:txBody>
      </p:sp>
      <p:sp>
        <p:nvSpPr>
          <p:cNvPr id="12" name="Shape 8"/>
          <p:cNvSpPr/>
          <p:nvPr/>
        </p:nvSpPr>
        <p:spPr>
          <a:xfrm>
            <a:off x="5276088" y="2935224"/>
            <a:ext cx="859536" cy="0"/>
          </a:xfrm>
          <a:prstGeom prst="line">
            <a:avLst/>
          </a:prstGeom>
          <a:noFill/>
          <a:ln w="22225">
            <a:solidFill>
              <a:srgbClr val="3C7A3C"/>
            </a:solidFill>
            <a:prstDash val="solid"/>
            <a:tailEnd type="triangle"/>
          </a:ln>
        </p:spPr>
      </p:sp>
      <p:sp>
        <p:nvSpPr>
          <p:cNvPr id="13" name="Text 9"/>
          <p:cNvSpPr txBox="1"/>
          <p:nvPr/>
        </p:nvSpPr>
        <p:spPr>
          <a:xfrm>
            <a:off x="5257800" y="2624328"/>
            <a:ext cx="914400" cy="274320"/>
          </a:xfrm>
          <a:prstGeom prst="rect">
            <a:avLst/>
          </a:prstGeom>
          <a:noFill/>
          <a:ln/>
        </p:spPr>
        <p:txBody>
          <a:bodyPr wrap="square" lIns="0" tIns="0" rIns="0" bIns="0" rtlCol="0" anchor="ctr"/>
          <a:lstStyle/>
          <a:p>
            <a:pPr algn="ctr" indent="0" marL="0">
              <a:buNone/>
            </a:pPr>
            <a:r>
              <a:rPr lang="en-US" sz="1200" b="1" dirty="0">
                <a:solidFill>
                  <a:schemeClr val="accent3"/>
                </a:solidFill>
              </a:rPr>
              <a:t>YES</a:t>
            </a:r>
            <a:endParaRPr lang="en-US" sz="1200" dirty="0"/>
          </a:p>
        </p:txBody>
      </p:sp>
      <p:sp>
        <p:nvSpPr>
          <p:cNvPr id="14" name="Shape 10"/>
          <p:cNvSpPr/>
          <p:nvPr/>
        </p:nvSpPr>
        <p:spPr>
          <a:xfrm>
            <a:off x="6172200" y="2468880"/>
            <a:ext cx="5468112" cy="932688"/>
          </a:xfrm>
          <a:prstGeom prst="roundRect">
            <a:avLst>
              <a:gd name="adj" fmla="val 7843"/>
            </a:avLst>
          </a:prstGeom>
          <a:solidFill>
            <a:srgbClr val="B4236A">
              <a:alpha val="12000"/>
            </a:srgbClr>
          </a:solidFill>
          <a:ln w="19050">
            <a:solidFill>
              <a:srgbClr val="B4236A"/>
            </a:solidFill>
            <a:prstDash val="solid"/>
          </a:ln>
        </p:spPr>
      </p:sp>
      <p:sp>
        <p:nvSpPr>
          <p:cNvPr id="15" name="Text 11"/>
          <p:cNvSpPr txBox="1"/>
          <p:nvPr/>
        </p:nvSpPr>
        <p:spPr>
          <a:xfrm>
            <a:off x="6336792" y="2505456"/>
            <a:ext cx="5138928" cy="859536"/>
          </a:xfrm>
          <a:prstGeom prst="rect">
            <a:avLst/>
          </a:prstGeom>
          <a:noFill/>
          <a:ln/>
        </p:spPr>
        <p:txBody>
          <a:bodyPr wrap="square" lIns="0" tIns="0" rIns="0" bIns="0" rtlCol="0" anchor="ctr"/>
          <a:lstStyle/>
          <a:p>
            <a:pPr indent="0" marL="0">
              <a:buNone/>
            </a:pPr>
            <a:r>
              <a:rPr lang="en-US" sz="1600" b="1" spc="50" kern="0" dirty="0">
                <a:solidFill>
                  <a:srgbClr val="B4236A"/>
                </a:solidFill>
              </a:rPr>
              <a:t>PAST SIMPLE</a:t>
            </a:r>
            <a:endParaRPr lang="en-US" sz="1600" dirty="0"/>
          </a:p>
          <a:p>
            <a:pPr indent="0" marL="0">
              <a:buNone/>
            </a:pPr>
            <a:r>
              <a:rPr lang="en-US" sz="1600" dirty="0">
                <a:solidFill>
                  <a:schemeClr val="tx1"/>
                </a:solidFill>
              </a:rPr>
              <a:t>Nobody </a:t>
            </a:r>
            <a:r>
              <a:rPr lang="en-US" sz="1600" b="1" dirty="0">
                <a:solidFill>
                  <a:srgbClr val="B4236A"/>
                </a:solidFill>
              </a:rPr>
              <a:t>knew</a:t>
            </a:r>
            <a:r>
              <a:rPr lang="en-US" sz="1600" dirty="0">
                <a:solidFill>
                  <a:schemeClr val="tx1"/>
                </a:solidFill>
              </a:rPr>
              <a:t> about the leak. (✗ </a:t>
            </a:r>
            <a:r>
              <a:rPr lang="en-US" sz="1600" i="1" dirty="0">
                <a:solidFill>
                  <a:schemeClr val="tx1"/>
                </a:solidFill>
              </a:rPr>
              <a:t>was knowing</a:t>
            </a:r>
            <a:r>
              <a:rPr lang="en-US" sz="1600" dirty="0">
                <a:solidFill>
                  <a:schemeClr val="tx1"/>
                </a:solidFill>
              </a:rPr>
              <a:t>)</a:t>
            </a:r>
            <a:endParaRPr lang="en-US" sz="1600" dirty="0"/>
          </a:p>
        </p:txBody>
      </p:sp>
      <p:sp>
        <p:nvSpPr>
          <p:cNvPr id="16" name="Shape 12"/>
          <p:cNvSpPr/>
          <p:nvPr/>
        </p:nvSpPr>
        <p:spPr>
          <a:xfrm>
            <a:off x="2903220" y="3419856"/>
            <a:ext cx="0" cy="310896"/>
          </a:xfrm>
          <a:prstGeom prst="line">
            <a:avLst/>
          </a:prstGeom>
          <a:noFill/>
          <a:ln w="22225">
            <a:solidFill>
              <a:srgbClr val="44546A"/>
            </a:solidFill>
            <a:prstDash val="solid"/>
            <a:tailEnd type="triangle"/>
          </a:ln>
        </p:spPr>
      </p:sp>
      <p:sp>
        <p:nvSpPr>
          <p:cNvPr id="17" name="Text 13"/>
          <p:cNvSpPr txBox="1"/>
          <p:nvPr/>
        </p:nvSpPr>
        <p:spPr>
          <a:xfrm>
            <a:off x="2994660" y="3401568"/>
            <a:ext cx="548640" cy="347472"/>
          </a:xfrm>
          <a:prstGeom prst="rect">
            <a:avLst/>
          </a:prstGeom>
          <a:noFill/>
          <a:ln/>
        </p:spPr>
        <p:txBody>
          <a:bodyPr wrap="square" lIns="0" tIns="0" rIns="0" bIns="0" rtlCol="0" anchor="ctr"/>
          <a:lstStyle/>
          <a:p>
            <a:pPr indent="0" marL="0">
              <a:buNone/>
            </a:pPr>
            <a:r>
              <a:rPr lang="en-US" sz="1200" b="1" dirty="0">
                <a:solidFill>
                  <a:schemeClr val="accent6"/>
                </a:solidFill>
              </a:rPr>
              <a:t>NO</a:t>
            </a:r>
            <a:endParaRPr lang="en-US" sz="1200" dirty="0"/>
          </a:p>
        </p:txBody>
      </p:sp>
      <p:sp>
        <p:nvSpPr>
          <p:cNvPr id="18" name="Shape 14"/>
          <p:cNvSpPr/>
          <p:nvPr/>
        </p:nvSpPr>
        <p:spPr>
          <a:xfrm>
            <a:off x="548640" y="3749040"/>
            <a:ext cx="4709160" cy="932688"/>
          </a:xfrm>
          <a:prstGeom prst="roundRect">
            <a:avLst>
              <a:gd name="adj" fmla="val 7843"/>
            </a:avLst>
          </a:prstGeom>
          <a:solidFill>
            <a:srgbClr val="FFFFFF"/>
          </a:solidFill>
          <a:ln w="19050">
            <a:solidFill>
              <a:srgbClr val="1F3864"/>
            </a:solidFill>
            <a:prstDash val="solid"/>
          </a:ln>
          <a:effectLst>
            <a:outerShdw sx="100000" sy="100000" kx="0" ky="0" algn="bl" rotWithShape="0" blurRad="101600" dist="25400" dir="3600000">
              <a:srgbClr val="000000">
                <a:alpha val="18000"/>
              </a:srgbClr>
            </a:outerShdw>
          </a:effectLst>
        </p:spPr>
      </p:sp>
      <p:sp>
        <p:nvSpPr>
          <p:cNvPr id="19" name="Shape 15"/>
          <p:cNvSpPr/>
          <p:nvPr/>
        </p:nvSpPr>
        <p:spPr>
          <a:xfrm>
            <a:off x="694944" y="3995928"/>
            <a:ext cx="438912" cy="438912"/>
          </a:xfrm>
          <a:prstGeom prst="ellipse">
            <a:avLst/>
          </a:prstGeom>
          <a:solidFill>
            <a:srgbClr val="1F3864"/>
          </a:solidFill>
          <a:ln/>
        </p:spPr>
      </p:sp>
      <p:pic>
        <p:nvPicPr>
          <p:cNvPr id="20" name="Image 1" descr="preencoded.png">    </p:cNvPr>
          <p:cNvPicPr>
            <a:picLocks noChangeAspect="1"/>
          </p:cNvPicPr>
          <p:nvPr/>
        </p:nvPicPr>
        <p:blipFill>
          <a:blip r:embed="rId2"/>
          <a:stretch>
            <a:fillRect/>
          </a:stretch>
        </p:blipFill>
        <p:spPr>
          <a:xfrm>
            <a:off x="804672" y="4105656"/>
            <a:ext cx="219456" cy="219456"/>
          </a:xfrm>
          <a:prstGeom prst="rect">
            <a:avLst/>
          </a:prstGeom>
        </p:spPr>
      </p:pic>
      <p:sp>
        <p:nvSpPr>
          <p:cNvPr id="21" name="Text 16"/>
          <p:cNvSpPr txBox="1"/>
          <p:nvPr/>
        </p:nvSpPr>
        <p:spPr>
          <a:xfrm>
            <a:off x="1261872" y="3785616"/>
            <a:ext cx="3867912" cy="859536"/>
          </a:xfrm>
          <a:prstGeom prst="rect">
            <a:avLst/>
          </a:prstGeom>
          <a:noFill/>
          <a:ln/>
        </p:spPr>
        <p:txBody>
          <a:bodyPr wrap="square" lIns="0" tIns="0" rIns="0" bIns="0" rtlCol="0" anchor="ctr"/>
          <a:lstStyle/>
          <a:p>
            <a:pPr indent="0" marL="0">
              <a:buNone/>
            </a:pPr>
            <a:r>
              <a:rPr lang="en-US" sz="1700" b="1" dirty="0">
                <a:solidFill>
                  <a:schemeClr val="tx2"/>
                </a:solidFill>
              </a:rPr>
              <a:t>Was it </a:t>
            </a:r>
            <a:r>
              <a:rPr lang="en-US" sz="1700" b="1" dirty="0">
                <a:solidFill>
                  <a:schemeClr val="tx2"/>
                </a:solidFill>
              </a:rPr>
              <a:t>in progress</a:t>
            </a:r>
            <a:r>
              <a:rPr lang="en-US" sz="1700" b="1" dirty="0">
                <a:solidFill>
                  <a:schemeClr val="tx2"/>
                </a:solidFill>
              </a:rPr>
              <a:t> around a moment — a background?</a:t>
            </a:r>
            <a:endParaRPr lang="en-US" sz="1700" dirty="0"/>
          </a:p>
          <a:p>
            <a:pPr indent="0" marL="0">
              <a:buNone/>
            </a:pPr>
            <a:r>
              <a:rPr lang="en-US" sz="1300" i="1" dirty="0">
                <a:solidFill>
                  <a:schemeClr val="accent5"/>
                </a:solidFill>
              </a:rPr>
              <a:t>at 23.41 … · when … · while …</a:t>
            </a:r>
            <a:endParaRPr lang="en-US" sz="1700" dirty="0"/>
          </a:p>
        </p:txBody>
      </p:sp>
      <p:sp>
        <p:nvSpPr>
          <p:cNvPr id="22" name="Shape 17"/>
          <p:cNvSpPr/>
          <p:nvPr/>
        </p:nvSpPr>
        <p:spPr>
          <a:xfrm>
            <a:off x="5276088" y="4215384"/>
            <a:ext cx="859536" cy="0"/>
          </a:xfrm>
          <a:prstGeom prst="line">
            <a:avLst/>
          </a:prstGeom>
          <a:noFill/>
          <a:ln w="22225">
            <a:solidFill>
              <a:srgbClr val="3C7A3C"/>
            </a:solidFill>
            <a:prstDash val="solid"/>
            <a:tailEnd type="triangle"/>
          </a:ln>
        </p:spPr>
      </p:sp>
      <p:sp>
        <p:nvSpPr>
          <p:cNvPr id="23" name="Text 18"/>
          <p:cNvSpPr txBox="1"/>
          <p:nvPr/>
        </p:nvSpPr>
        <p:spPr>
          <a:xfrm>
            <a:off x="5257800" y="3904488"/>
            <a:ext cx="914400" cy="274320"/>
          </a:xfrm>
          <a:prstGeom prst="rect">
            <a:avLst/>
          </a:prstGeom>
          <a:noFill/>
          <a:ln/>
        </p:spPr>
        <p:txBody>
          <a:bodyPr wrap="square" lIns="0" tIns="0" rIns="0" bIns="0" rtlCol="0" anchor="ctr"/>
          <a:lstStyle/>
          <a:p>
            <a:pPr algn="ctr" indent="0" marL="0">
              <a:buNone/>
            </a:pPr>
            <a:r>
              <a:rPr lang="en-US" sz="1200" b="1" dirty="0">
                <a:solidFill>
                  <a:schemeClr val="accent3"/>
                </a:solidFill>
              </a:rPr>
              <a:t>YES</a:t>
            </a:r>
            <a:endParaRPr lang="en-US" sz="1200" dirty="0"/>
          </a:p>
        </p:txBody>
      </p:sp>
      <p:sp>
        <p:nvSpPr>
          <p:cNvPr id="24" name="Shape 19"/>
          <p:cNvSpPr/>
          <p:nvPr/>
        </p:nvSpPr>
        <p:spPr>
          <a:xfrm>
            <a:off x="6172200" y="3749040"/>
            <a:ext cx="5468112" cy="932688"/>
          </a:xfrm>
          <a:prstGeom prst="roundRect">
            <a:avLst>
              <a:gd name="adj" fmla="val 7843"/>
            </a:avLst>
          </a:prstGeom>
          <a:solidFill>
            <a:srgbClr val="2E75B6">
              <a:alpha val="12000"/>
            </a:srgbClr>
          </a:solidFill>
          <a:ln w="19050">
            <a:solidFill>
              <a:srgbClr val="2E75B6"/>
            </a:solidFill>
            <a:prstDash val="solid"/>
          </a:ln>
        </p:spPr>
      </p:sp>
      <p:sp>
        <p:nvSpPr>
          <p:cNvPr id="25" name="Text 20"/>
          <p:cNvSpPr txBox="1"/>
          <p:nvPr/>
        </p:nvSpPr>
        <p:spPr>
          <a:xfrm>
            <a:off x="6336792" y="3785616"/>
            <a:ext cx="5138928" cy="859536"/>
          </a:xfrm>
          <a:prstGeom prst="rect">
            <a:avLst/>
          </a:prstGeom>
          <a:noFill/>
          <a:ln/>
        </p:spPr>
        <p:txBody>
          <a:bodyPr wrap="square" lIns="0" tIns="0" rIns="0" bIns="0" rtlCol="0" anchor="ctr"/>
          <a:lstStyle/>
          <a:p>
            <a:pPr indent="0" marL="0">
              <a:buNone/>
            </a:pPr>
            <a:r>
              <a:rPr lang="en-US" sz="1600" b="1" spc="50" kern="0" dirty="0">
                <a:solidFill>
                  <a:schemeClr val="accent2"/>
                </a:solidFill>
              </a:rPr>
              <a:t>PAST CONTINUOUS — was / were + -ing</a:t>
            </a:r>
            <a:endParaRPr lang="en-US" sz="1600" dirty="0"/>
          </a:p>
          <a:p>
            <a:pPr indent="0" marL="0">
              <a:buNone/>
            </a:pPr>
            <a:r>
              <a:rPr lang="en-US" sz="1600" dirty="0">
                <a:solidFill>
                  <a:schemeClr val="tx1"/>
                </a:solidFill>
              </a:rPr>
              <a:t>Water </a:t>
            </a:r>
            <a:r>
              <a:rPr lang="en-US" sz="1600" b="1" dirty="0">
                <a:solidFill>
                  <a:schemeClr val="accent2"/>
                </a:solidFill>
              </a:rPr>
              <a:t>was running</a:t>
            </a:r>
            <a:r>
              <a:rPr lang="en-US" sz="1600" dirty="0">
                <a:solidFill>
                  <a:schemeClr val="tx1"/>
                </a:solidFill>
              </a:rPr>
              <a:t> when the cleaners arrived.</a:t>
            </a:r>
            <a:endParaRPr lang="en-US" sz="1600" dirty="0"/>
          </a:p>
        </p:txBody>
      </p:sp>
      <p:sp>
        <p:nvSpPr>
          <p:cNvPr id="26" name="Shape 21"/>
          <p:cNvSpPr/>
          <p:nvPr/>
        </p:nvSpPr>
        <p:spPr>
          <a:xfrm>
            <a:off x="2903220" y="4700016"/>
            <a:ext cx="0" cy="310896"/>
          </a:xfrm>
          <a:prstGeom prst="line">
            <a:avLst/>
          </a:prstGeom>
          <a:noFill/>
          <a:ln w="22225">
            <a:solidFill>
              <a:srgbClr val="44546A"/>
            </a:solidFill>
            <a:prstDash val="solid"/>
            <a:tailEnd type="triangle"/>
          </a:ln>
        </p:spPr>
      </p:sp>
      <p:sp>
        <p:nvSpPr>
          <p:cNvPr id="27" name="Text 22"/>
          <p:cNvSpPr txBox="1"/>
          <p:nvPr/>
        </p:nvSpPr>
        <p:spPr>
          <a:xfrm>
            <a:off x="2994660" y="4681728"/>
            <a:ext cx="548640" cy="347472"/>
          </a:xfrm>
          <a:prstGeom prst="rect">
            <a:avLst/>
          </a:prstGeom>
          <a:noFill/>
          <a:ln/>
        </p:spPr>
        <p:txBody>
          <a:bodyPr wrap="square" lIns="0" tIns="0" rIns="0" bIns="0" rtlCol="0" anchor="ctr"/>
          <a:lstStyle/>
          <a:p>
            <a:pPr indent="0" marL="0">
              <a:buNone/>
            </a:pPr>
            <a:r>
              <a:rPr lang="en-US" sz="1200" b="1" dirty="0">
                <a:solidFill>
                  <a:schemeClr val="accent6"/>
                </a:solidFill>
              </a:rPr>
              <a:t>NO</a:t>
            </a:r>
            <a:endParaRPr lang="en-US" sz="1200" dirty="0"/>
          </a:p>
        </p:txBody>
      </p:sp>
      <p:sp>
        <p:nvSpPr>
          <p:cNvPr id="28" name="Shape 23"/>
          <p:cNvSpPr/>
          <p:nvPr/>
        </p:nvSpPr>
        <p:spPr>
          <a:xfrm>
            <a:off x="548640" y="5029200"/>
            <a:ext cx="4709160" cy="932688"/>
          </a:xfrm>
          <a:prstGeom prst="roundRect">
            <a:avLst>
              <a:gd name="adj" fmla="val 7843"/>
            </a:avLst>
          </a:prstGeom>
          <a:solidFill>
            <a:srgbClr val="B4236A">
              <a:alpha val="12000"/>
            </a:srgbClr>
          </a:solidFill>
          <a:ln w="19050">
            <a:solidFill>
              <a:srgbClr val="B4236A"/>
            </a:solidFill>
            <a:prstDash val="solid"/>
          </a:ln>
        </p:spPr>
      </p:sp>
      <p:sp>
        <p:nvSpPr>
          <p:cNvPr id="29" name="Text 24"/>
          <p:cNvSpPr txBox="1"/>
          <p:nvPr/>
        </p:nvSpPr>
        <p:spPr>
          <a:xfrm>
            <a:off x="713232" y="5065776"/>
            <a:ext cx="4379976" cy="859536"/>
          </a:xfrm>
          <a:prstGeom prst="rect">
            <a:avLst/>
          </a:prstGeom>
          <a:noFill/>
          <a:ln/>
        </p:spPr>
        <p:txBody>
          <a:bodyPr wrap="square" lIns="0" tIns="0" rIns="0" bIns="0" rtlCol="0" anchor="ctr"/>
          <a:lstStyle/>
          <a:p>
            <a:pPr indent="0" marL="0">
              <a:buNone/>
            </a:pPr>
            <a:r>
              <a:rPr lang="en-US" sz="1600" b="1" spc="50" kern="0" dirty="0">
                <a:solidFill>
                  <a:srgbClr val="B4236A"/>
                </a:solidFill>
              </a:rPr>
              <a:t>PAST SIMPLE — a finished event, a dot</a:t>
            </a:r>
            <a:endParaRPr lang="en-US" sz="1600" dirty="0"/>
          </a:p>
          <a:p>
            <a:pPr indent="0" marL="0">
              <a:buNone/>
            </a:pPr>
            <a:r>
              <a:rPr lang="en-US" sz="1600" dirty="0">
                <a:solidFill>
                  <a:schemeClr val="tx1"/>
                </a:solidFill>
              </a:rPr>
              <a:t>The alarm </a:t>
            </a:r>
            <a:r>
              <a:rPr lang="en-US" sz="1600" b="1" dirty="0">
                <a:solidFill>
                  <a:srgbClr val="B4236A"/>
                </a:solidFill>
              </a:rPr>
              <a:t>went off</a:t>
            </a:r>
            <a:r>
              <a:rPr lang="en-US" sz="1600" dirty="0">
                <a:solidFill>
                  <a:schemeClr val="tx1"/>
                </a:solidFill>
              </a:rPr>
              <a:t> at 23.41. They </a:t>
            </a:r>
            <a:r>
              <a:rPr lang="en-US" sz="1600" b="1" dirty="0">
                <a:solidFill>
                  <a:srgbClr val="B4236A"/>
                </a:solidFill>
              </a:rPr>
              <a:t>opened</a:t>
            </a:r>
            <a:r>
              <a:rPr lang="en-US" sz="1600" dirty="0">
                <a:solidFill>
                  <a:schemeClr val="tx1"/>
                </a:solidFill>
              </a:rPr>
              <a:t> the door and </a:t>
            </a:r>
            <a:r>
              <a:rPr lang="en-US" sz="1600" b="1" dirty="0">
                <a:solidFill>
                  <a:srgbClr val="B4236A"/>
                </a:solidFill>
              </a:rPr>
              <a:t>saw</a:t>
            </a:r>
            <a:r>
              <a:rPr lang="en-US" sz="1600" dirty="0">
                <a:solidFill>
                  <a:schemeClr val="tx1"/>
                </a:solidFill>
              </a:rPr>
              <a:t> the water.</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L’imparfait is not always -ing</a:t>
            </a:r>
            <a:endParaRPr lang="en-US" sz="3200" dirty="0"/>
          </a:p>
        </p:txBody>
      </p:sp>
      <p:sp>
        <p:nvSpPr>
          <p:cNvPr id="3" name="tag"/>
          <p:cNvSpPr/>
          <p:nvPr/>
        </p:nvSpPr>
        <p:spPr>
          <a:xfrm>
            <a:off x="548640" y="384048"/>
            <a:ext cx="1165860" cy="310896"/>
          </a:xfrm>
          <a:prstGeom prst="roundRect">
            <a:avLst>
              <a:gd name="adj" fmla="val 14706"/>
            </a:avLst>
          </a:prstGeom>
          <a:solidFill>
            <a:srgbClr val="B03A2E"/>
          </a:solidFill>
          <a:ln/>
        </p:spPr>
        <p:txBody>
          <a:bodyPr wrap="square" lIns="0" tIns="0" rIns="0" bIns="0" rtlCol="0" anchor="ctr"/>
          <a:lstStyle/>
          <a:p>
            <a:pPr algn="ctr" indent="0" marL="0">
              <a:buNone/>
            </a:pPr>
            <a:r>
              <a:rPr lang="en-US" sz="1200" b="1" spc="100" kern="0" dirty="0">
                <a:solidFill>
                  <a:schemeClr val="bg1"/>
                </a:solidFill>
              </a:rPr>
              <a:t>PITFALL</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6" name="Shape 3"/>
          <p:cNvSpPr/>
          <p:nvPr/>
        </p:nvSpPr>
        <p:spPr>
          <a:xfrm>
            <a:off x="548640" y="1783080"/>
            <a:ext cx="5225796" cy="3432048"/>
          </a:xfrm>
          <a:prstGeom prst="roundRect">
            <a:avLst>
              <a:gd name="adj" fmla="val 2131"/>
            </a:avLst>
          </a:prstGeom>
          <a:solidFill>
            <a:srgbClr val="B03A2E">
              <a:alpha val="8000"/>
            </a:srgbClr>
          </a:solidFill>
          <a:ln w="15875">
            <a:solidFill>
              <a:srgbClr val="B03A2E"/>
            </a:solidFill>
            <a:prstDash val="solid"/>
          </a:ln>
        </p:spPr>
      </p:sp>
      <p:pic>
        <p:nvPicPr>
          <p:cNvPr id="7" name="Image 0" descr="preencoded.png">    </p:cNvPr>
          <p:cNvPicPr>
            <a:picLocks noChangeAspect="1"/>
          </p:cNvPicPr>
          <p:nvPr/>
        </p:nvPicPr>
        <p:blipFill>
          <a:blip r:embed="rId1"/>
          <a:stretch>
            <a:fillRect/>
          </a:stretch>
        </p:blipFill>
        <p:spPr>
          <a:xfrm>
            <a:off x="804672" y="2002536"/>
            <a:ext cx="384048" cy="384048"/>
          </a:xfrm>
          <a:prstGeom prst="rect">
            <a:avLst/>
          </a:prstGeom>
        </p:spPr>
      </p:pic>
      <p:sp>
        <p:nvSpPr>
          <p:cNvPr id="8" name="Text 4"/>
          <p:cNvSpPr txBox="1"/>
          <p:nvPr/>
        </p:nvSpPr>
        <p:spPr>
          <a:xfrm>
            <a:off x="1325880" y="1947672"/>
            <a:ext cx="4265676" cy="502920"/>
          </a:xfrm>
          <a:prstGeom prst="rect">
            <a:avLst/>
          </a:prstGeom>
          <a:noFill/>
          <a:ln/>
        </p:spPr>
        <p:txBody>
          <a:bodyPr wrap="square" lIns="0" tIns="0" rIns="0" bIns="0" rtlCol="0" anchor="ctr"/>
          <a:lstStyle/>
          <a:p>
            <a:pPr indent="0" marL="0">
              <a:buNone/>
            </a:pPr>
            <a:r>
              <a:rPr lang="en-US" sz="2000" b="1" dirty="0">
                <a:solidFill>
                  <a:schemeClr val="accent6"/>
                </a:solidFill>
                <a:latin typeface="+mj-lt" pitchFamily="34" charset="0"/>
                <a:ea typeface="+mj-lt" pitchFamily="34" charset="-122"/>
                <a:cs typeface="+mj-lt" pitchFamily="34" charset="-120"/>
              </a:rPr>
              <a:t>Word for word — wrong</a:t>
            </a:r>
            <a:endParaRPr lang="en-US" sz="2000" dirty="0"/>
          </a:p>
        </p:txBody>
      </p:sp>
      <p:sp>
        <p:nvSpPr>
          <p:cNvPr id="9" name="Text 5"/>
          <p:cNvSpPr txBox="1"/>
          <p:nvPr/>
        </p:nvSpPr>
        <p:spPr>
          <a:xfrm>
            <a:off x="822960" y="2624328"/>
            <a:ext cx="4722876" cy="2471928"/>
          </a:xfrm>
          <a:prstGeom prst="rect">
            <a:avLst/>
          </a:prstGeom>
          <a:noFill/>
          <a:ln/>
        </p:spPr>
        <p:txBody>
          <a:bodyPr wrap="square" lIns="0" tIns="0" rIns="0" bIns="0" rtlCol="0" anchor="t"/>
          <a:lstStyle/>
          <a:p>
            <a:pPr marL="190500" indent="-190500">
              <a:spcAft>
                <a:spcPts val="800"/>
              </a:spcAft>
              <a:buSzPct val="100000"/>
              <a:buChar char="•"/>
            </a:pPr>
            <a:r>
              <a:rPr lang="en-US" sz="2000" dirty="0">
                <a:solidFill>
                  <a:schemeClr val="tx1"/>
                </a:solidFill>
              </a:rPr>
              <a:t>Nobody </a:t>
            </a:r>
            <a:r>
              <a:rPr lang="en-US" sz="2000" strike="sngStrike" dirty="0">
                <a:solidFill>
                  <a:schemeClr val="accent6"/>
                </a:solidFill>
              </a:rPr>
              <a:t>was knowing</a:t>
            </a:r>
            <a:r>
              <a:rPr lang="en-US" sz="2000" dirty="0">
                <a:solidFill>
                  <a:schemeClr val="tx1"/>
                </a:solidFill>
              </a:rPr>
              <a:t> about the leak.</a:t>
            </a:r>
            <a:endParaRPr lang="en-US" sz="2000" dirty="0"/>
          </a:p>
          <a:p>
            <a:pPr marL="190500" indent="-190500">
              <a:spcAft>
                <a:spcPts val="800"/>
              </a:spcAft>
              <a:buSzPct val="100000"/>
              <a:buChar char="•"/>
            </a:pPr>
            <a:r>
              <a:rPr lang="en-US" sz="2000" dirty="0">
                <a:solidFill>
                  <a:schemeClr val="tx1"/>
                </a:solidFill>
              </a:rPr>
              <a:t>There </a:t>
            </a:r>
            <a:r>
              <a:rPr lang="en-US" sz="2000" strike="sngStrike" dirty="0">
                <a:solidFill>
                  <a:schemeClr val="accent6"/>
                </a:solidFill>
              </a:rPr>
              <a:t>was being</a:t>
            </a:r>
            <a:r>
              <a:rPr lang="en-US" sz="2000" dirty="0">
                <a:solidFill>
                  <a:schemeClr val="tx1"/>
                </a:solidFill>
              </a:rPr>
              <a:t> water on the floor.</a:t>
            </a:r>
            <a:endParaRPr lang="en-US" sz="2000" dirty="0"/>
          </a:p>
          <a:p>
            <a:pPr marL="190500" indent="-190500">
              <a:spcAft>
                <a:spcPts val="800"/>
              </a:spcAft>
              <a:buSzPct val="100000"/>
              <a:buChar char="•"/>
            </a:pPr>
            <a:r>
              <a:rPr lang="en-US" sz="2000" dirty="0">
                <a:solidFill>
                  <a:schemeClr val="tx1"/>
                </a:solidFill>
              </a:rPr>
              <a:t>I </a:t>
            </a:r>
            <a:r>
              <a:rPr lang="en-US" sz="2000" strike="sngStrike" dirty="0">
                <a:solidFill>
                  <a:schemeClr val="accent6"/>
                </a:solidFill>
              </a:rPr>
              <a:t>was thinking</a:t>
            </a:r>
            <a:r>
              <a:rPr lang="en-US" sz="2000" dirty="0">
                <a:solidFill>
                  <a:schemeClr val="tx1"/>
                </a:solidFill>
              </a:rPr>
              <a:t> it was the pipe.</a:t>
            </a:r>
            <a:endParaRPr lang="en-US" sz="2000" dirty="0"/>
          </a:p>
          <a:p>
            <a:pPr marL="190500" indent="-190500">
              <a:spcAft>
                <a:spcPts val="800"/>
              </a:spcAft>
              <a:buSzPct val="100000"/>
              <a:buChar char="•"/>
            </a:pPr>
            <a:r>
              <a:rPr lang="en-US" sz="2000" dirty="0">
                <a:solidFill>
                  <a:schemeClr val="tx1"/>
                </a:solidFill>
              </a:rPr>
              <a:t>Every night, the guard </a:t>
            </a:r>
            <a:r>
              <a:rPr lang="en-US" sz="2000" strike="sngStrike" dirty="0">
                <a:solidFill>
                  <a:schemeClr val="accent6"/>
                </a:solidFill>
              </a:rPr>
              <a:t>was checking</a:t>
            </a:r>
            <a:r>
              <a:rPr lang="en-US" sz="2000" dirty="0">
                <a:solidFill>
                  <a:schemeClr val="tx1"/>
                </a:solidFill>
              </a:rPr>
              <a:t> the room.</a:t>
            </a:r>
            <a:endParaRPr lang="en-US" sz="2000" dirty="0"/>
          </a:p>
        </p:txBody>
      </p:sp>
      <p:sp>
        <p:nvSpPr>
          <p:cNvPr id="10" name="Shape 6"/>
          <p:cNvSpPr/>
          <p:nvPr/>
        </p:nvSpPr>
        <p:spPr>
          <a:xfrm>
            <a:off x="6414516" y="1783080"/>
            <a:ext cx="5225796" cy="3432048"/>
          </a:xfrm>
          <a:prstGeom prst="roundRect">
            <a:avLst>
              <a:gd name="adj" fmla="val 2131"/>
            </a:avLst>
          </a:prstGeom>
          <a:solidFill>
            <a:srgbClr val="3C7A3C">
              <a:alpha val="8000"/>
            </a:srgbClr>
          </a:solidFill>
          <a:ln w="15875">
            <a:solidFill>
              <a:srgbClr val="3C7A3C"/>
            </a:solidFill>
            <a:prstDash val="solid"/>
          </a:ln>
        </p:spPr>
      </p:sp>
      <p:pic>
        <p:nvPicPr>
          <p:cNvPr id="11" name="Image 1" descr="preencoded.png">    </p:cNvPr>
          <p:cNvPicPr>
            <a:picLocks noChangeAspect="1"/>
          </p:cNvPicPr>
          <p:nvPr/>
        </p:nvPicPr>
        <p:blipFill>
          <a:blip r:embed="rId2"/>
          <a:stretch>
            <a:fillRect/>
          </a:stretch>
        </p:blipFill>
        <p:spPr>
          <a:xfrm>
            <a:off x="6670548" y="2002536"/>
            <a:ext cx="384048" cy="384048"/>
          </a:xfrm>
          <a:prstGeom prst="rect">
            <a:avLst/>
          </a:prstGeom>
        </p:spPr>
      </p:pic>
      <p:sp>
        <p:nvSpPr>
          <p:cNvPr id="12" name="Text 7"/>
          <p:cNvSpPr txBox="1"/>
          <p:nvPr/>
        </p:nvSpPr>
        <p:spPr>
          <a:xfrm>
            <a:off x="7191756" y="1947672"/>
            <a:ext cx="4265676" cy="502920"/>
          </a:xfrm>
          <a:prstGeom prst="rect">
            <a:avLst/>
          </a:prstGeom>
          <a:noFill/>
          <a:ln/>
        </p:spPr>
        <p:txBody>
          <a:bodyPr wrap="square" lIns="0" tIns="0" rIns="0" bIns="0" rtlCol="0" anchor="ctr"/>
          <a:lstStyle/>
          <a:p>
            <a:pPr indent="0" marL="0">
              <a:buNone/>
            </a:pPr>
            <a:r>
              <a:rPr lang="en-US" sz="2000" b="1" dirty="0">
                <a:solidFill>
                  <a:schemeClr val="accent3"/>
                </a:solidFill>
                <a:latin typeface="+mj-lt" pitchFamily="34" charset="0"/>
                <a:ea typeface="+mj-lt" pitchFamily="34" charset="-122"/>
                <a:cs typeface="+mj-lt" pitchFamily="34" charset="-120"/>
              </a:rPr>
              <a:t>What a native speaker says</a:t>
            </a:r>
            <a:endParaRPr lang="en-US" sz="2000" dirty="0"/>
          </a:p>
        </p:txBody>
      </p:sp>
      <p:sp>
        <p:nvSpPr>
          <p:cNvPr id="13" name="Text 8"/>
          <p:cNvSpPr txBox="1"/>
          <p:nvPr/>
        </p:nvSpPr>
        <p:spPr>
          <a:xfrm>
            <a:off x="6688836" y="2624328"/>
            <a:ext cx="4722876" cy="2471928"/>
          </a:xfrm>
          <a:prstGeom prst="rect">
            <a:avLst/>
          </a:prstGeom>
          <a:noFill/>
          <a:ln/>
        </p:spPr>
        <p:txBody>
          <a:bodyPr wrap="square" lIns="0" tIns="0" rIns="0" bIns="0" rtlCol="0" anchor="t"/>
          <a:lstStyle/>
          <a:p>
            <a:pPr marL="190500" indent="-190500">
              <a:spcAft>
                <a:spcPts val="800"/>
              </a:spcAft>
              <a:buSzPct val="100000"/>
              <a:buChar char="•"/>
            </a:pPr>
            <a:r>
              <a:rPr lang="en-US" sz="2000" dirty="0">
                <a:solidFill>
                  <a:schemeClr val="tx1"/>
                </a:solidFill>
              </a:rPr>
              <a:t>Nobody </a:t>
            </a:r>
            <a:r>
              <a:rPr lang="en-US" sz="2000" b="1" dirty="0">
                <a:solidFill>
                  <a:srgbClr val="B4236A"/>
                </a:solidFill>
              </a:rPr>
              <a:t>knew</a:t>
            </a:r>
            <a:r>
              <a:rPr lang="en-US" sz="2000" dirty="0">
                <a:solidFill>
                  <a:schemeClr val="tx1"/>
                </a:solidFill>
              </a:rPr>
              <a:t> about the leak.</a:t>
            </a:r>
            <a:endParaRPr lang="en-US" sz="2000" dirty="0"/>
          </a:p>
          <a:p>
            <a:pPr marL="190500" indent="-190500">
              <a:spcAft>
                <a:spcPts val="800"/>
              </a:spcAft>
              <a:buSzPct val="100000"/>
              <a:buChar char="•"/>
            </a:pPr>
            <a:r>
              <a:rPr lang="en-US" sz="2000" dirty="0">
                <a:solidFill>
                  <a:schemeClr val="tx1"/>
                </a:solidFill>
              </a:rPr>
              <a:t>There </a:t>
            </a:r>
            <a:r>
              <a:rPr lang="en-US" sz="2000" b="1" dirty="0">
                <a:solidFill>
                  <a:srgbClr val="B4236A"/>
                </a:solidFill>
              </a:rPr>
              <a:t>was</a:t>
            </a:r>
            <a:r>
              <a:rPr lang="en-US" sz="2000" dirty="0">
                <a:solidFill>
                  <a:schemeClr val="tx1"/>
                </a:solidFill>
              </a:rPr>
              <a:t> water on the floor.</a:t>
            </a:r>
            <a:endParaRPr lang="en-US" sz="2000" dirty="0"/>
          </a:p>
          <a:p>
            <a:pPr marL="190500" indent="-190500">
              <a:spcAft>
                <a:spcPts val="800"/>
              </a:spcAft>
              <a:buSzPct val="100000"/>
              <a:buChar char="•"/>
            </a:pPr>
            <a:r>
              <a:rPr lang="en-US" sz="2000" dirty="0">
                <a:solidFill>
                  <a:schemeClr val="tx1"/>
                </a:solidFill>
              </a:rPr>
              <a:t>I </a:t>
            </a:r>
            <a:r>
              <a:rPr lang="en-US" sz="2000" b="1" dirty="0">
                <a:solidFill>
                  <a:srgbClr val="B4236A"/>
                </a:solidFill>
              </a:rPr>
              <a:t>thought</a:t>
            </a:r>
            <a:r>
              <a:rPr lang="en-US" sz="2000" dirty="0">
                <a:solidFill>
                  <a:schemeClr val="tx1"/>
                </a:solidFill>
              </a:rPr>
              <a:t> it was the pipe. </a:t>
            </a:r>
            <a:r>
              <a:rPr lang="en-US" sz="2000" i="1" dirty="0">
                <a:solidFill>
                  <a:schemeClr val="tx1"/>
                </a:solidFill>
              </a:rPr>
              <a:t>(opinion)</a:t>
            </a:r>
            <a:endParaRPr lang="en-US" sz="2000" dirty="0"/>
          </a:p>
          <a:p>
            <a:pPr marL="190500" indent="-190500">
              <a:spcAft>
                <a:spcPts val="800"/>
              </a:spcAft>
              <a:buSzPct val="100000"/>
              <a:buChar char="•"/>
            </a:pPr>
            <a:r>
              <a:rPr lang="en-US" sz="2000" dirty="0">
                <a:solidFill>
                  <a:schemeClr val="tx1"/>
                </a:solidFill>
              </a:rPr>
              <a:t>Every night, the guard </a:t>
            </a:r>
            <a:r>
              <a:rPr lang="en-US" sz="2000" b="1" dirty="0">
                <a:solidFill>
                  <a:srgbClr val="B4236A"/>
                </a:solidFill>
              </a:rPr>
              <a:t>checked</a:t>
            </a:r>
            <a:r>
              <a:rPr lang="en-US" sz="2000" dirty="0">
                <a:solidFill>
                  <a:schemeClr val="tx1"/>
                </a:solidFill>
              </a:rPr>
              <a:t> the room. </a:t>
            </a:r>
            <a:r>
              <a:rPr lang="en-US" sz="2000" i="1" dirty="0">
                <a:solidFill>
                  <a:schemeClr val="tx1"/>
                </a:solidFill>
              </a:rPr>
              <a:t>(habit)</a:t>
            </a:r>
            <a:endParaRPr lang="en-US" sz="2000" dirty="0"/>
          </a:p>
        </p:txBody>
      </p:sp>
      <p:sp>
        <p:nvSpPr>
          <p:cNvPr id="14" name="Shape 9"/>
          <p:cNvSpPr/>
          <p:nvPr/>
        </p:nvSpPr>
        <p:spPr>
          <a:xfrm>
            <a:off x="5838444" y="3243072"/>
            <a:ext cx="512064" cy="512064"/>
          </a:xfrm>
          <a:prstGeom prst="ellipse">
            <a:avLst/>
          </a:prstGeom>
          <a:solidFill>
            <a:srgbClr val="1F3864"/>
          </a:solidFill>
          <a:ln/>
        </p:spPr>
      </p:sp>
      <p:pic>
        <p:nvPicPr>
          <p:cNvPr id="15" name="Image 2" descr="preencoded.png">    </p:cNvPr>
          <p:cNvPicPr>
            <a:picLocks noChangeAspect="1"/>
          </p:cNvPicPr>
          <p:nvPr/>
        </p:nvPicPr>
        <p:blipFill>
          <a:blip r:embed="rId3"/>
          <a:stretch>
            <a:fillRect/>
          </a:stretch>
        </p:blipFill>
        <p:spPr>
          <a:xfrm>
            <a:off x="5984748" y="3389376"/>
            <a:ext cx="219456" cy="219456"/>
          </a:xfrm>
          <a:prstGeom prst="rect">
            <a:avLst/>
          </a:prstGeom>
        </p:spPr>
      </p:pic>
      <p:sp>
        <p:nvSpPr>
          <p:cNvPr id="16" name="Shape 10"/>
          <p:cNvSpPr/>
          <p:nvPr/>
        </p:nvSpPr>
        <p:spPr>
          <a:xfrm>
            <a:off x="548640" y="5535168"/>
            <a:ext cx="11091672" cy="774192"/>
          </a:xfrm>
          <a:prstGeom prst="roundRect">
            <a:avLst>
              <a:gd name="adj" fmla="val 9449"/>
            </a:avLst>
          </a:prstGeom>
          <a:solidFill>
            <a:srgbClr val="B03A2E">
              <a:alpha val="8000"/>
            </a:srgbClr>
          </a:solidFill>
          <a:ln w="12700">
            <a:solidFill>
              <a:srgbClr val="B03A2E"/>
            </a:solidFill>
            <a:prstDash val="solid"/>
          </a:ln>
        </p:spPr>
      </p:sp>
      <p:pic>
        <p:nvPicPr>
          <p:cNvPr id="17" name="Image 3" descr="preencoded.png">    </p:cNvPr>
          <p:cNvPicPr>
            <a:picLocks noChangeAspect="1"/>
          </p:cNvPicPr>
          <p:nvPr/>
        </p:nvPicPr>
        <p:blipFill>
          <a:blip r:embed="rId4"/>
          <a:stretch>
            <a:fillRect/>
          </a:stretch>
        </p:blipFill>
        <p:spPr>
          <a:xfrm>
            <a:off x="777240" y="5739384"/>
            <a:ext cx="365760" cy="365760"/>
          </a:xfrm>
          <a:prstGeom prst="rect">
            <a:avLst/>
          </a:prstGeom>
        </p:spPr>
      </p:pic>
      <p:sp>
        <p:nvSpPr>
          <p:cNvPr id="18" name="Text 11"/>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6"/>
                </a:solidFill>
              </a:rPr>
              <a:t>Piège pour francophones — </a:t>
            </a:r>
            <a:r>
              <a:rPr lang="en-US" sz="1800" dirty="0">
                <a:solidFill>
                  <a:schemeClr val="tx1"/>
                </a:solidFill>
              </a:rPr>
              <a:t>imparfait = past continuous </a:t>
            </a:r>
            <a:r>
              <a:rPr lang="en-US" sz="1800" b="1" dirty="0">
                <a:solidFill>
                  <a:schemeClr val="tx1"/>
                </a:solidFill>
              </a:rPr>
              <a:t>only</a:t>
            </a:r>
            <a:r>
              <a:rPr lang="en-US" sz="1800" dirty="0">
                <a:solidFill>
                  <a:schemeClr val="tx1"/>
                </a:solidFill>
              </a:rPr>
              <a:t> for an action in progress. State verbs (</a:t>
            </a:r>
            <a:r>
              <a:rPr lang="en-US" sz="1800" i="1" dirty="0">
                <a:solidFill>
                  <a:schemeClr val="tx1"/>
                </a:solidFill>
              </a:rPr>
              <a:t>be, have, know, want, think = croire</a:t>
            </a:r>
            <a:r>
              <a:rPr lang="en-US" sz="1800" dirty="0">
                <a:solidFill>
                  <a:schemeClr val="tx1"/>
                </a:solidFill>
              </a:rPr>
              <a:t>), opinions and habits → </a:t>
            </a:r>
            <a:r>
              <a:rPr lang="en-US" sz="1800" b="1" dirty="0">
                <a:solidFill>
                  <a:schemeClr val="tx1"/>
                </a:solidFill>
              </a:rPr>
              <a:t>past simple</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Past simple or past continuous?</a:t>
            </a:r>
            <a:endParaRPr lang="en-US" sz="3200" dirty="0"/>
          </a:p>
        </p:txBody>
      </p:sp>
      <p:sp>
        <p:nvSpPr>
          <p:cNvPr id="3" name="tag"/>
          <p:cNvSpPr/>
          <p:nvPr/>
        </p:nvSpPr>
        <p:spPr>
          <a:xfrm>
            <a:off x="548640" y="384048"/>
            <a:ext cx="1165860" cy="310896"/>
          </a:xfrm>
          <a:prstGeom prst="roundRect">
            <a:avLst>
              <a:gd name="adj" fmla="val 14706"/>
            </a:avLst>
          </a:prstGeom>
          <a:solidFill>
            <a:srgbClr val="1F3864"/>
          </a:solidFill>
          <a:ln/>
        </p:spPr>
        <p:txBody>
          <a:bodyPr wrap="square" lIns="0" tIns="0" rIns="0" bIns="0" rtlCol="0" anchor="ctr"/>
          <a:lstStyle/>
          <a:p>
            <a:pPr algn="ctr" indent="0" marL="0">
              <a:buNone/>
            </a:pPr>
            <a:r>
              <a:rPr lang="en-US" sz="1200" b="1" spc="100" kern="0" dirty="0">
                <a:solidFill>
                  <a:schemeClr val="bg1"/>
                </a:solidFill>
              </a:rPr>
              <a:t>+ EXTRA</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5" name="exercise"/>
          <p:cNvSpPr txBox="1"/>
          <p:nvPr/>
        </p:nvSpPr>
        <p:spPr>
          <a:xfrm>
            <a:off x="548640" y="1783080"/>
            <a:ext cx="11091672" cy="4526280"/>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Samuel </a:t>
            </a:r>
            <a:r>
              <a:rPr lang="en-US" sz="2600" dirty="0">
                <a:solidFill>
                  <a:schemeClr val="accent5"/>
                </a:solidFill>
              </a:rPr>
              <a:t>…………………</a:t>
            </a:r>
            <a:r>
              <a:rPr lang="en-US" sz="2600" dirty="0">
                <a:solidFill>
                  <a:schemeClr val="tx1"/>
                </a:solidFill>
              </a:rPr>
              <a:t> (check) the rack when Mark </a:t>
            </a:r>
            <a:r>
              <a:rPr lang="en-US" sz="2600" dirty="0">
                <a:solidFill>
                  <a:schemeClr val="accent5"/>
                </a:solidFill>
              </a:rPr>
              <a:t>………………</a:t>
            </a:r>
            <a:r>
              <a:rPr lang="en-US" sz="2600" dirty="0">
                <a:solidFill>
                  <a:schemeClr val="tx1"/>
                </a:solidFill>
              </a:rPr>
              <a:t> (call) him.</a:t>
            </a:r>
            <a:endParaRPr lang="en-US" sz="2600" dirty="0"/>
          </a:p>
          <a:p>
            <a:pPr indent="0" marL="0">
              <a:spcAft>
                <a:spcPts val="1400"/>
              </a:spcAft>
              <a:buNone/>
            </a:pPr>
            <a:r>
              <a:rPr lang="en-US" sz="2600" b="1" dirty="0">
                <a:solidFill>
                  <a:schemeClr val="tx2"/>
                </a:solidFill>
              </a:rPr>
              <a:t>2.  </a:t>
            </a:r>
            <a:r>
              <a:rPr lang="en-US" sz="2600" dirty="0">
                <a:solidFill>
                  <a:schemeClr val="tx1"/>
                </a:solidFill>
              </a:rPr>
              <a:t>At 23.41 the water </a:t>
            </a:r>
            <a:r>
              <a:rPr lang="en-US" sz="2600" dirty="0">
                <a:solidFill>
                  <a:schemeClr val="accent5"/>
                </a:solidFill>
              </a:rPr>
              <a:t>…………………………</a:t>
            </a:r>
            <a:r>
              <a:rPr lang="en-US" sz="2600" dirty="0">
                <a:solidFill>
                  <a:schemeClr val="tx1"/>
                </a:solidFill>
              </a:rPr>
              <a:t> (still run).</a:t>
            </a:r>
            <a:endParaRPr lang="en-US" sz="2600" dirty="0"/>
          </a:p>
          <a:p>
            <a:pPr indent="0" marL="0">
              <a:spcAft>
                <a:spcPts val="1400"/>
              </a:spcAft>
              <a:buNone/>
            </a:pPr>
            <a:r>
              <a:rPr lang="en-US" sz="2600" b="1" dirty="0">
                <a:solidFill>
                  <a:schemeClr val="tx2"/>
                </a:solidFill>
              </a:rPr>
              <a:t>3.  </a:t>
            </a:r>
            <a:r>
              <a:rPr lang="en-US" sz="2600" dirty="0">
                <a:solidFill>
                  <a:schemeClr val="tx1"/>
                </a:solidFill>
              </a:rPr>
              <a:t>The cleaners </a:t>
            </a:r>
            <a:r>
              <a:rPr lang="en-US" sz="2600" dirty="0">
                <a:solidFill>
                  <a:schemeClr val="accent5"/>
                </a:solidFill>
              </a:rPr>
              <a:t>………………</a:t>
            </a:r>
            <a:r>
              <a:rPr lang="en-US" sz="2600" dirty="0">
                <a:solidFill>
                  <a:schemeClr val="tx1"/>
                </a:solidFill>
              </a:rPr>
              <a:t> (open) the door and </a:t>
            </a:r>
            <a:r>
              <a:rPr lang="en-US" sz="2600" dirty="0">
                <a:solidFill>
                  <a:schemeClr val="accent5"/>
                </a:solidFill>
              </a:rPr>
              <a:t>………………</a:t>
            </a:r>
            <a:r>
              <a:rPr lang="en-US" sz="2600" dirty="0">
                <a:solidFill>
                  <a:schemeClr val="tx1"/>
                </a:solidFill>
              </a:rPr>
              <a:t> (see) the water.</a:t>
            </a:r>
            <a:endParaRPr lang="en-US" sz="2600" dirty="0"/>
          </a:p>
          <a:p>
            <a:pPr indent="0" marL="0">
              <a:spcAft>
                <a:spcPts val="1400"/>
              </a:spcAft>
              <a:buNone/>
            </a:pPr>
            <a:r>
              <a:rPr lang="en-US" sz="2600" b="1" dirty="0">
                <a:solidFill>
                  <a:schemeClr val="tx2"/>
                </a:solidFill>
              </a:rPr>
              <a:t>4.  </a:t>
            </a:r>
            <a:r>
              <a:rPr lang="en-US" sz="2600" dirty="0">
                <a:solidFill>
                  <a:schemeClr val="tx1"/>
                </a:solidFill>
              </a:rPr>
              <a:t>While Iris </a:t>
            </a:r>
            <a:r>
              <a:rPr lang="en-US" sz="2600" dirty="0">
                <a:solidFill>
                  <a:schemeClr val="accent5"/>
                </a:solidFill>
              </a:rPr>
              <a:t>………………</a:t>
            </a:r>
            <a:r>
              <a:rPr lang="en-US" sz="2600" dirty="0">
                <a:solidFill>
                  <a:schemeClr val="tx1"/>
                </a:solidFill>
              </a:rPr>
              <a:t> (take) photos, Samuel </a:t>
            </a:r>
            <a:r>
              <a:rPr lang="en-US" sz="2600" dirty="0">
                <a:solidFill>
                  <a:schemeClr val="accent5"/>
                </a:solidFill>
              </a:rPr>
              <a:t>…………………</a:t>
            </a:r>
            <a:r>
              <a:rPr lang="en-US" sz="2600" dirty="0">
                <a:solidFill>
                  <a:schemeClr val="tx1"/>
                </a:solidFill>
              </a:rPr>
              <a:t> (read) the log.</a:t>
            </a:r>
            <a:endParaRPr lang="en-US" sz="2600" dirty="0"/>
          </a:p>
          <a:p>
            <a:pPr indent="0" marL="0">
              <a:spcAft>
                <a:spcPts val="1400"/>
              </a:spcAft>
              <a:buNone/>
            </a:pPr>
            <a:r>
              <a:rPr lang="en-US" sz="2600" b="1" dirty="0">
                <a:solidFill>
                  <a:schemeClr val="tx2"/>
                </a:solidFill>
              </a:rPr>
              <a:t>5.  </a:t>
            </a:r>
            <a:r>
              <a:rPr lang="en-US" sz="2600" dirty="0">
                <a:solidFill>
                  <a:schemeClr val="tx1"/>
                </a:solidFill>
              </a:rPr>
              <a:t>Nobody </a:t>
            </a:r>
            <a:r>
              <a:rPr lang="en-US" sz="2600" dirty="0">
                <a:solidFill>
                  <a:schemeClr val="accent5"/>
                </a:solidFill>
              </a:rPr>
              <a:t>………………</a:t>
            </a:r>
            <a:r>
              <a:rPr lang="en-US" sz="2600" dirty="0">
                <a:solidFill>
                  <a:schemeClr val="tx1"/>
                </a:solidFill>
              </a:rPr>
              <a:t> (know) about the leak.</a:t>
            </a:r>
            <a:endParaRPr lang="en-US" sz="2600" dirty="0"/>
          </a:p>
          <a:p>
            <a:pPr indent="0" marL="0">
              <a:spcAft>
                <a:spcPts val="1400"/>
              </a:spcAft>
              <a:buNone/>
            </a:pPr>
            <a:r>
              <a:rPr lang="en-US" sz="2600" b="1" dirty="0">
                <a:solidFill>
                  <a:schemeClr val="tx2"/>
                </a:solidFill>
              </a:rPr>
              <a:t>6.  </a:t>
            </a:r>
            <a:r>
              <a:rPr lang="en-US" sz="2600" dirty="0">
                <a:solidFill>
                  <a:schemeClr val="tx1"/>
                </a:solidFill>
              </a:rPr>
              <a:t>The team </a:t>
            </a:r>
            <a:r>
              <a:rPr lang="en-US" sz="2600" dirty="0">
                <a:solidFill>
                  <a:schemeClr val="accent5"/>
                </a:solidFill>
              </a:rPr>
              <a:t>……………………</a:t>
            </a:r>
            <a:r>
              <a:rPr lang="en-US" sz="2600" dirty="0">
                <a:solidFill>
                  <a:schemeClr val="tx1"/>
                </a:solidFill>
              </a:rPr>
              <a:t> (install) cabling when the manager </a:t>
            </a:r>
            <a:r>
              <a:rPr lang="en-US" sz="2600" dirty="0">
                <a:solidFill>
                  <a:schemeClr val="accent5"/>
                </a:solidFill>
              </a:rPr>
              <a:t>………………</a:t>
            </a:r>
            <a:r>
              <a:rPr lang="en-US" sz="2600" dirty="0">
                <a:solidFill>
                  <a:schemeClr val="tx1"/>
                </a:solidFill>
              </a:rPr>
              <a:t> (arrive).</a:t>
            </a:r>
            <a:endParaRPr lang="en-US" sz="2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Past simple or past continuous?</a:t>
            </a:r>
            <a:endParaRPr lang="en-US" sz="3200" dirty="0"/>
          </a:p>
        </p:txBody>
      </p:sp>
      <p:sp>
        <p:nvSpPr>
          <p:cNvPr id="3" name="tag"/>
          <p:cNvSpPr/>
          <p:nvPr/>
        </p:nvSpPr>
        <p:spPr>
          <a:xfrm>
            <a:off x="548640" y="384048"/>
            <a:ext cx="1165860" cy="310896"/>
          </a:xfrm>
          <a:prstGeom prst="roundRect">
            <a:avLst>
              <a:gd name="adj" fmla="val 14706"/>
            </a:avLst>
          </a:prstGeom>
          <a:solidFill>
            <a:srgbClr val="1F3864"/>
          </a:solidFill>
          <a:ln/>
        </p:spPr>
        <p:txBody>
          <a:bodyPr wrap="square" lIns="0" tIns="0" rIns="0" bIns="0" rtlCol="0" anchor="ctr"/>
          <a:lstStyle/>
          <a:p>
            <a:pPr algn="ctr" indent="0" marL="0">
              <a:buNone/>
            </a:pPr>
            <a:r>
              <a:rPr lang="en-US" sz="1200" b="1" spc="100" kern="0" dirty="0">
                <a:solidFill>
                  <a:schemeClr val="bg1"/>
                </a:solidFill>
              </a:rPr>
              <a:t>+ EXTRA</a:t>
            </a:r>
            <a:endParaRPr lang="en-US" sz="1200" dirty="0"/>
          </a:p>
        </p:txBody>
      </p:sp>
      <p:sp>
        <p:nvSpPr>
          <p:cNvPr id="4" name="tag"/>
          <p:cNvSpPr/>
          <p:nvPr/>
        </p:nvSpPr>
        <p:spPr>
          <a:xfrm>
            <a:off x="18242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exercise"/>
          <p:cNvSpPr txBox="1"/>
          <p:nvPr/>
        </p:nvSpPr>
        <p:spPr>
          <a:xfrm>
            <a:off x="548640" y="1783080"/>
            <a:ext cx="11091672" cy="3523488"/>
          </a:xfrm>
          <a:prstGeom prst="rect">
            <a:avLst/>
          </a:prstGeom>
          <a:noFill/>
          <a:ln/>
        </p:spPr>
        <p:txBody>
          <a:bodyPr wrap="square" lIns="0" tIns="0" rIns="0" bIns="0" rtlCol="0" anchor="t"/>
          <a:lstStyle/>
          <a:p>
            <a:pPr indent="0" marL="0">
              <a:spcAft>
                <a:spcPts val="1000"/>
              </a:spcAft>
              <a:buNone/>
            </a:pPr>
            <a:r>
              <a:rPr lang="en-US" sz="2200" b="1" dirty="0">
                <a:solidFill>
                  <a:schemeClr val="tx2"/>
                </a:solidFill>
              </a:rPr>
              <a:t>1.  </a:t>
            </a:r>
            <a:r>
              <a:rPr lang="en-US" sz="2200" dirty="0">
                <a:solidFill>
                  <a:schemeClr val="tx1"/>
                </a:solidFill>
              </a:rPr>
              <a:t>Samuel </a:t>
            </a:r>
            <a:r>
              <a:rPr lang="en-US" sz="2200" b="1" dirty="0">
                <a:solidFill>
                  <a:schemeClr val="accent3"/>
                </a:solidFill>
              </a:rPr>
              <a:t>was checking</a:t>
            </a:r>
            <a:r>
              <a:rPr lang="en-US" sz="2200" dirty="0">
                <a:solidFill>
                  <a:schemeClr val="tx1"/>
                </a:solidFill>
              </a:rPr>
              <a:t> (check) the rack when Mark </a:t>
            </a:r>
            <a:r>
              <a:rPr lang="en-US" sz="2200" b="1" dirty="0">
                <a:solidFill>
                  <a:schemeClr val="accent3"/>
                </a:solidFill>
              </a:rPr>
              <a:t>called</a:t>
            </a:r>
            <a:r>
              <a:rPr lang="en-US" sz="2200" dirty="0">
                <a:solidFill>
                  <a:schemeClr val="tx1"/>
                </a:solidFill>
              </a:rPr>
              <a:t> (call) him.</a:t>
            </a:r>
            <a:endParaRPr lang="en-US" sz="2200" dirty="0"/>
          </a:p>
          <a:p>
            <a:pPr indent="0" marL="0">
              <a:spcAft>
                <a:spcPts val="1000"/>
              </a:spcAft>
              <a:buNone/>
            </a:pPr>
            <a:r>
              <a:rPr lang="en-US" sz="2200" b="1" dirty="0">
                <a:solidFill>
                  <a:schemeClr val="tx2"/>
                </a:solidFill>
              </a:rPr>
              <a:t>2.  </a:t>
            </a:r>
            <a:r>
              <a:rPr lang="en-US" sz="2200" dirty="0">
                <a:solidFill>
                  <a:schemeClr val="tx1"/>
                </a:solidFill>
              </a:rPr>
              <a:t>At 23.41 the water </a:t>
            </a:r>
            <a:r>
              <a:rPr lang="en-US" sz="2200" b="1" dirty="0">
                <a:solidFill>
                  <a:schemeClr val="accent3"/>
                </a:solidFill>
              </a:rPr>
              <a:t>was still running</a:t>
            </a:r>
            <a:r>
              <a:rPr lang="en-US" sz="2200" dirty="0">
                <a:solidFill>
                  <a:schemeClr val="tx1"/>
                </a:solidFill>
              </a:rPr>
              <a:t> (still run).</a:t>
            </a:r>
            <a:endParaRPr lang="en-US" sz="2200" dirty="0"/>
          </a:p>
          <a:p>
            <a:pPr indent="0" marL="0">
              <a:spcAft>
                <a:spcPts val="1000"/>
              </a:spcAft>
              <a:buNone/>
            </a:pPr>
            <a:r>
              <a:rPr lang="en-US" sz="2200" b="1" dirty="0">
                <a:solidFill>
                  <a:schemeClr val="tx2"/>
                </a:solidFill>
              </a:rPr>
              <a:t>3.  </a:t>
            </a:r>
            <a:r>
              <a:rPr lang="en-US" sz="2200" dirty="0">
                <a:solidFill>
                  <a:schemeClr val="tx1"/>
                </a:solidFill>
              </a:rPr>
              <a:t>The cleaners </a:t>
            </a:r>
            <a:r>
              <a:rPr lang="en-US" sz="2200" b="1" dirty="0">
                <a:solidFill>
                  <a:schemeClr val="accent3"/>
                </a:solidFill>
              </a:rPr>
              <a:t>opened</a:t>
            </a:r>
            <a:r>
              <a:rPr lang="en-US" sz="2200" dirty="0">
                <a:solidFill>
                  <a:schemeClr val="tx1"/>
                </a:solidFill>
              </a:rPr>
              <a:t> (open) the door and </a:t>
            </a:r>
            <a:r>
              <a:rPr lang="en-US" sz="2200" b="1" dirty="0">
                <a:solidFill>
                  <a:schemeClr val="accent3"/>
                </a:solidFill>
              </a:rPr>
              <a:t>saw</a:t>
            </a:r>
            <a:r>
              <a:rPr lang="en-US" sz="2200" dirty="0">
                <a:solidFill>
                  <a:schemeClr val="tx1"/>
                </a:solidFill>
              </a:rPr>
              <a:t> (see) the water.</a:t>
            </a:r>
            <a:endParaRPr lang="en-US" sz="2200" dirty="0"/>
          </a:p>
          <a:p>
            <a:pPr indent="0" marL="0">
              <a:spcAft>
                <a:spcPts val="1000"/>
              </a:spcAft>
              <a:buNone/>
            </a:pPr>
            <a:r>
              <a:rPr lang="en-US" sz="2200" b="1" dirty="0">
                <a:solidFill>
                  <a:schemeClr val="tx2"/>
                </a:solidFill>
              </a:rPr>
              <a:t>4.  </a:t>
            </a:r>
            <a:r>
              <a:rPr lang="en-US" sz="2200" dirty="0">
                <a:solidFill>
                  <a:schemeClr val="tx1"/>
                </a:solidFill>
              </a:rPr>
              <a:t>While Iris </a:t>
            </a:r>
            <a:r>
              <a:rPr lang="en-US" sz="2200" b="1" dirty="0">
                <a:solidFill>
                  <a:schemeClr val="accent3"/>
                </a:solidFill>
              </a:rPr>
              <a:t>was taking</a:t>
            </a:r>
            <a:r>
              <a:rPr lang="en-US" sz="2200" dirty="0">
                <a:solidFill>
                  <a:schemeClr val="tx1"/>
                </a:solidFill>
              </a:rPr>
              <a:t> (take) photos, Samuel </a:t>
            </a:r>
            <a:r>
              <a:rPr lang="en-US" sz="2200" b="1" dirty="0">
                <a:solidFill>
                  <a:schemeClr val="accent3"/>
                </a:solidFill>
              </a:rPr>
              <a:t>was reading</a:t>
            </a:r>
            <a:r>
              <a:rPr lang="en-US" sz="2200" dirty="0">
                <a:solidFill>
                  <a:schemeClr val="tx1"/>
                </a:solidFill>
              </a:rPr>
              <a:t> (read) the log.</a:t>
            </a:r>
            <a:endParaRPr lang="en-US" sz="2200" dirty="0"/>
          </a:p>
          <a:p>
            <a:pPr indent="0" marL="0">
              <a:spcAft>
                <a:spcPts val="1000"/>
              </a:spcAft>
              <a:buNone/>
            </a:pPr>
            <a:r>
              <a:rPr lang="en-US" sz="2200" b="1" dirty="0">
                <a:solidFill>
                  <a:schemeClr val="tx2"/>
                </a:solidFill>
              </a:rPr>
              <a:t>5.  </a:t>
            </a:r>
            <a:r>
              <a:rPr lang="en-US" sz="2200" dirty="0">
                <a:solidFill>
                  <a:schemeClr val="tx1"/>
                </a:solidFill>
              </a:rPr>
              <a:t>Nobody </a:t>
            </a:r>
            <a:r>
              <a:rPr lang="en-US" sz="2200" b="1" dirty="0">
                <a:solidFill>
                  <a:schemeClr val="accent3"/>
                </a:solidFill>
              </a:rPr>
              <a:t>knew</a:t>
            </a:r>
            <a:r>
              <a:rPr lang="en-US" sz="2200" dirty="0">
                <a:solidFill>
                  <a:schemeClr val="tx1"/>
                </a:solidFill>
              </a:rPr>
              <a:t> (know) about the leak.</a:t>
            </a:r>
            <a:endParaRPr lang="en-US" sz="2200" dirty="0"/>
          </a:p>
          <a:p>
            <a:pPr indent="0" marL="0">
              <a:spcAft>
                <a:spcPts val="1000"/>
              </a:spcAft>
              <a:buNone/>
            </a:pPr>
            <a:r>
              <a:rPr lang="en-US" sz="2200" b="1" dirty="0">
                <a:solidFill>
                  <a:schemeClr val="tx2"/>
                </a:solidFill>
              </a:rPr>
              <a:t>6.  </a:t>
            </a:r>
            <a:r>
              <a:rPr lang="en-US" sz="2200" dirty="0">
                <a:solidFill>
                  <a:schemeClr val="tx1"/>
                </a:solidFill>
              </a:rPr>
              <a:t>The team </a:t>
            </a:r>
            <a:r>
              <a:rPr lang="en-US" sz="2200" b="1" dirty="0">
                <a:solidFill>
                  <a:schemeClr val="accent3"/>
                </a:solidFill>
              </a:rPr>
              <a:t>was installing</a:t>
            </a:r>
            <a:r>
              <a:rPr lang="en-US" sz="2200" dirty="0">
                <a:solidFill>
                  <a:schemeClr val="tx1"/>
                </a:solidFill>
              </a:rPr>
              <a:t> (install) cabling when the manager </a:t>
            </a:r>
            <a:r>
              <a:rPr lang="en-US" sz="2200" b="1" dirty="0">
                <a:solidFill>
                  <a:schemeClr val="accent3"/>
                </a:solidFill>
              </a:rPr>
              <a:t>arrived</a:t>
            </a:r>
            <a:r>
              <a:rPr lang="en-US" sz="2200" dirty="0">
                <a:solidFill>
                  <a:schemeClr val="tx1"/>
                </a:solidFill>
              </a:rPr>
              <a:t> (arrive).</a:t>
            </a:r>
            <a:endParaRPr lang="en-US" sz="2200" dirty="0"/>
          </a:p>
        </p:txBody>
      </p:sp>
      <p:sp>
        <p:nvSpPr>
          <p:cNvPr id="7" name="Shape 5"/>
          <p:cNvSpPr/>
          <p:nvPr/>
        </p:nvSpPr>
        <p:spPr>
          <a:xfrm>
            <a:off x="548640" y="5535168"/>
            <a:ext cx="11091672" cy="774192"/>
          </a:xfrm>
          <a:prstGeom prst="roundRect">
            <a:avLst>
              <a:gd name="adj" fmla="val 9449"/>
            </a:avLst>
          </a:prstGeom>
          <a:solidFill>
            <a:srgbClr val="C0752A">
              <a:alpha val="8000"/>
            </a:srgbClr>
          </a:solidFill>
          <a:ln w="12700">
            <a:solidFill>
              <a:srgbClr val="C0752A"/>
            </a:solidFill>
            <a:prstDash val="solid"/>
          </a:ln>
        </p:spPr>
      </p:sp>
      <p:pic>
        <p:nvPicPr>
          <p:cNvPr id="8" name="Image 0" descr="preencoded.png">    </p:cNvPr>
          <p:cNvPicPr>
            <a:picLocks noChangeAspect="1"/>
          </p:cNvPicPr>
          <p:nvPr/>
        </p:nvPicPr>
        <p:blipFill>
          <a:blip r:embed="rId1"/>
          <a:stretch>
            <a:fillRect/>
          </a:stretch>
        </p:blipFill>
        <p:spPr>
          <a:xfrm>
            <a:off x="777240" y="5739384"/>
            <a:ext cx="365760" cy="365760"/>
          </a:xfrm>
          <a:prstGeom prst="rect">
            <a:avLst/>
          </a:prstGeom>
        </p:spPr>
      </p:pic>
      <p:sp>
        <p:nvSpPr>
          <p:cNvPr id="9" name="Text 6"/>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1"/>
                </a:solidFill>
              </a:rPr>
              <a:t>Watch out — </a:t>
            </a:r>
            <a:r>
              <a:rPr lang="en-US" sz="1800" dirty="0">
                <a:solidFill>
                  <a:schemeClr val="tx1"/>
                </a:solidFill>
              </a:rPr>
              <a:t>two actions in a row (open, see) → </a:t>
            </a:r>
            <a:r>
              <a:rPr lang="en-US" sz="1800" b="1" dirty="0">
                <a:solidFill>
                  <a:schemeClr val="tx1"/>
                </a:solidFill>
              </a:rPr>
              <a:t>past simple ×2</a:t>
            </a:r>
            <a:r>
              <a:rPr lang="en-US" sz="1800" dirty="0">
                <a:solidFill>
                  <a:schemeClr val="tx1"/>
                </a:solidFill>
              </a:rPr>
              <a:t> · two backgrounds → </a:t>
            </a:r>
            <a:r>
              <a:rPr lang="en-US" sz="1800" b="1" dirty="0">
                <a:solidFill>
                  <a:schemeClr val="tx1"/>
                </a:solidFill>
              </a:rPr>
              <a:t>past continuous ×2</a:t>
            </a:r>
            <a:r>
              <a:rPr lang="en-US" sz="1800" dirty="0">
                <a:solidFill>
                  <a:schemeClr val="tx1"/>
                </a:solidFill>
              </a:rPr>
              <a:t> · </a:t>
            </a:r>
            <a:r>
              <a:rPr lang="en-US" sz="1800" i="1" dirty="0">
                <a:solidFill>
                  <a:schemeClr val="tx1"/>
                </a:solidFill>
              </a:rPr>
              <a:t>know</a:t>
            </a:r>
            <a:r>
              <a:rPr lang="en-US" sz="1800" dirty="0">
                <a:solidFill>
                  <a:schemeClr val="tx1"/>
                </a:solidFill>
              </a:rPr>
              <a:t> = state verb → </a:t>
            </a:r>
            <a:r>
              <a:rPr lang="en-US" sz="1800" b="1" dirty="0">
                <a:solidFill>
                  <a:schemeClr val="tx1"/>
                </a:solidFill>
              </a:rPr>
              <a:t>knew</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The cleaner’s story</a:t>
            </a:r>
            <a:endParaRPr lang="en-US" sz="3200" dirty="0"/>
          </a:p>
        </p:txBody>
      </p:sp>
      <p:sp>
        <p:nvSpPr>
          <p:cNvPr id="3" name="tag"/>
          <p:cNvSpPr/>
          <p:nvPr/>
        </p:nvSpPr>
        <p:spPr>
          <a:xfrm>
            <a:off x="548640" y="384048"/>
            <a:ext cx="13944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LISTENING</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Shape 3"/>
          <p:cNvSpPr/>
          <p:nvPr/>
        </p:nvSpPr>
        <p:spPr>
          <a:xfrm>
            <a:off x="548640" y="1783080"/>
            <a:ext cx="11091672" cy="1325880"/>
          </a:xfrm>
          <a:prstGeom prst="roundRect">
            <a:avLst>
              <a:gd name="adj" fmla="val 5517"/>
            </a:avLst>
          </a:prstGeom>
          <a:solidFill>
            <a:srgbClr val="2E75B6">
              <a:alpha val="9000"/>
            </a:srgbClr>
          </a:solidFill>
          <a:ln w="15875">
            <a:solidFill>
              <a:srgbClr val="2E75B6"/>
            </a:solidFill>
            <a:prstDash val="solid"/>
          </a:ln>
        </p:spPr>
      </p:sp>
      <p:sp>
        <p:nvSpPr>
          <p:cNvPr id="7" name="Shape 4"/>
          <p:cNvSpPr/>
          <p:nvPr/>
        </p:nvSpPr>
        <p:spPr>
          <a:xfrm>
            <a:off x="841248" y="1984248"/>
            <a:ext cx="914400" cy="914400"/>
          </a:xfrm>
          <a:prstGeom prst="ellipse">
            <a:avLst/>
          </a:prstGeom>
          <a:solidFill>
            <a:srgbClr val="2E75B6"/>
          </a:solidFill>
          <a:ln/>
        </p:spPr>
      </p:sp>
      <p:pic>
        <p:nvPicPr>
          <p:cNvPr id="8" name="Image 0" descr="preencoded.png">    </p:cNvPr>
          <p:cNvPicPr>
            <a:picLocks noChangeAspect="1"/>
          </p:cNvPicPr>
          <p:nvPr/>
        </p:nvPicPr>
        <p:blipFill>
          <a:blip r:embed="rId1"/>
          <a:stretch>
            <a:fillRect/>
          </a:stretch>
        </p:blipFill>
        <p:spPr>
          <a:xfrm>
            <a:off x="1069848" y="2212848"/>
            <a:ext cx="457200" cy="457200"/>
          </a:xfrm>
          <a:prstGeom prst="rect">
            <a:avLst/>
          </a:prstGeom>
        </p:spPr>
      </p:pic>
      <p:sp>
        <p:nvSpPr>
          <p:cNvPr id="9" name="Text 5"/>
          <p:cNvSpPr txBox="1"/>
          <p:nvPr/>
        </p:nvSpPr>
        <p:spPr>
          <a:xfrm>
            <a:off x="2029968" y="1874520"/>
            <a:ext cx="9400032" cy="1143000"/>
          </a:xfrm>
          <a:prstGeom prst="rect">
            <a:avLst/>
          </a:prstGeom>
          <a:noFill/>
          <a:ln/>
        </p:spPr>
        <p:txBody>
          <a:bodyPr wrap="square" lIns="0" tIns="0" rIns="0" bIns="0" rtlCol="0" anchor="ctr"/>
          <a:lstStyle/>
          <a:p>
            <a:pPr indent="0" marL="0">
              <a:buNone/>
            </a:pPr>
            <a:r>
              <a:rPr lang="en-US" sz="2600" b="1" dirty="0">
                <a:solidFill>
                  <a:schemeClr val="accent2"/>
                </a:solidFill>
                <a:latin typeface="+mj-lt" pitchFamily="34" charset="0"/>
                <a:ea typeface="+mj-lt" pitchFamily="34" charset="-122"/>
                <a:cs typeface="+mj-lt" pitchFamily="34" charset="-120"/>
              </a:rPr>
              <a:t>Cleaning team — 06.50</a:t>
            </a:r>
            <a:endParaRPr lang="en-US" sz="2600" dirty="0"/>
          </a:p>
          <a:p>
            <a:pPr indent="0" marL="0">
              <a:buNone/>
            </a:pPr>
            <a:r>
              <a:rPr lang="en-US" sz="1700" dirty="0">
                <a:solidFill>
                  <a:schemeClr val="tx1"/>
                </a:solidFill>
              </a:rPr>
              <a:t>Your teacher reads her statement </a:t>
            </a:r>
            <a:r>
              <a:rPr lang="en-US" sz="1700" b="1" dirty="0">
                <a:solidFill>
                  <a:schemeClr val="tx1"/>
                </a:solidFill>
              </a:rPr>
              <a:t>twice</a:t>
            </a:r>
            <a:r>
              <a:rPr lang="en-US" sz="1700" dirty="0">
                <a:solidFill>
                  <a:schemeClr val="tx1"/>
                </a:solidFill>
              </a:rPr>
              <a:t>. Listen for </a:t>
            </a:r>
            <a:r>
              <a:rPr lang="en-US" sz="1700" b="1" dirty="0">
                <a:solidFill>
                  <a:schemeClr val="tx1"/>
                </a:solidFill>
              </a:rPr>
              <a:t>what was happening</a:t>
            </a:r>
            <a:r>
              <a:rPr lang="en-US" sz="1700" dirty="0">
                <a:solidFill>
                  <a:schemeClr val="tx1"/>
                </a:solidFill>
              </a:rPr>
              <a:t> and </a:t>
            </a:r>
            <a:r>
              <a:rPr lang="en-US" sz="1700" b="1" dirty="0">
                <a:solidFill>
                  <a:schemeClr val="tx1"/>
                </a:solidFill>
              </a:rPr>
              <a:t>what happened</a:t>
            </a:r>
            <a:r>
              <a:rPr lang="en-US" sz="1700" dirty="0">
                <a:solidFill>
                  <a:schemeClr val="tx1"/>
                </a:solidFill>
              </a:rPr>
              <a:t>.</a:t>
            </a:r>
            <a:endParaRPr lang="en-US" sz="2600" dirty="0"/>
          </a:p>
        </p:txBody>
      </p:sp>
      <p:sp>
        <p:nvSpPr>
          <p:cNvPr id="10" name="Shape 6"/>
          <p:cNvSpPr/>
          <p:nvPr/>
        </p:nvSpPr>
        <p:spPr>
          <a:xfrm>
            <a:off x="548640" y="3429000"/>
            <a:ext cx="3514344" cy="2514600"/>
          </a:xfrm>
          <a:prstGeom prst="roundRect">
            <a:avLst>
              <a:gd name="adj" fmla="val 2909"/>
            </a:avLst>
          </a:prstGeom>
          <a:solidFill>
            <a:srgbClr val="EEF2F8"/>
          </a:solidFill>
          <a:ln w="9525">
            <a:solidFill>
              <a:srgbClr val="D5DCE6"/>
            </a:solidFill>
            <a:prstDash val="solid"/>
          </a:ln>
        </p:spPr>
      </p:sp>
      <p:pic>
        <p:nvPicPr>
          <p:cNvPr id="11" name="Image 1" descr="preencoded.png">    </p:cNvPr>
          <p:cNvPicPr>
            <a:picLocks noChangeAspect="1"/>
          </p:cNvPicPr>
          <p:nvPr/>
        </p:nvPicPr>
        <p:blipFill>
          <a:blip r:embed="rId2"/>
          <a:stretch>
            <a:fillRect/>
          </a:stretch>
        </p:blipFill>
        <p:spPr>
          <a:xfrm>
            <a:off x="822960" y="3685032"/>
            <a:ext cx="438912" cy="438912"/>
          </a:xfrm>
          <a:prstGeom prst="rect">
            <a:avLst/>
          </a:prstGeom>
        </p:spPr>
      </p:pic>
      <p:sp>
        <p:nvSpPr>
          <p:cNvPr id="12" name="Text 7"/>
          <p:cNvSpPr txBox="1"/>
          <p:nvPr/>
        </p:nvSpPr>
        <p:spPr>
          <a:xfrm>
            <a:off x="1417320" y="3630168"/>
            <a:ext cx="2508504" cy="548640"/>
          </a:xfrm>
          <a:prstGeom prst="rect">
            <a:avLst/>
          </a:prstGeom>
          <a:noFill/>
          <a:ln/>
        </p:spPr>
        <p:txBody>
          <a:bodyPr wrap="square" lIns="0" tIns="0" rIns="0" bIns="0" rtlCol="0" anchor="ctr"/>
          <a:lstStyle/>
          <a:p>
            <a:pPr indent="0" marL="0">
              <a:buNone/>
            </a:pPr>
            <a:r>
              <a:rPr lang="en-US" sz="1900" b="1" dirty="0">
                <a:solidFill>
                  <a:schemeClr val="tx2"/>
                </a:solidFill>
              </a:rPr>
              <a:t>1 · When?</a:t>
            </a:r>
            <a:endParaRPr lang="en-US" sz="1900" dirty="0"/>
          </a:p>
        </p:txBody>
      </p:sp>
      <p:sp>
        <p:nvSpPr>
          <p:cNvPr id="13" name="Text 8"/>
          <p:cNvSpPr txBox="1"/>
          <p:nvPr/>
        </p:nvSpPr>
        <p:spPr>
          <a:xfrm>
            <a:off x="822960" y="4325112"/>
            <a:ext cx="2965704" cy="1508760"/>
          </a:xfrm>
          <a:prstGeom prst="rect">
            <a:avLst/>
          </a:prstGeom>
          <a:noFill/>
          <a:ln/>
        </p:spPr>
        <p:txBody>
          <a:bodyPr wrap="square" lIns="0" tIns="0" rIns="0" bIns="0" rtlCol="0" anchor="t"/>
          <a:lstStyle/>
          <a:p>
            <a:pPr indent="0" marL="0">
              <a:buNone/>
            </a:pPr>
            <a:r>
              <a:rPr lang="en-US" sz="2000" dirty="0">
                <a:solidFill>
                  <a:schemeClr val="tx1"/>
                </a:solidFill>
              </a:rPr>
              <a:t>What time did she arrive? What time was it when she called for help?</a:t>
            </a:r>
            <a:endParaRPr lang="en-US" sz="2000" dirty="0"/>
          </a:p>
        </p:txBody>
      </p:sp>
      <p:sp>
        <p:nvSpPr>
          <p:cNvPr id="14" name="Shape 9"/>
          <p:cNvSpPr/>
          <p:nvPr/>
        </p:nvSpPr>
        <p:spPr>
          <a:xfrm>
            <a:off x="4337304" y="3429000"/>
            <a:ext cx="3514344" cy="2514600"/>
          </a:xfrm>
          <a:prstGeom prst="roundRect">
            <a:avLst>
              <a:gd name="adj" fmla="val 2909"/>
            </a:avLst>
          </a:prstGeom>
          <a:solidFill>
            <a:srgbClr val="EEF2F8"/>
          </a:solidFill>
          <a:ln w="9525">
            <a:solidFill>
              <a:srgbClr val="D5DCE6"/>
            </a:solidFill>
            <a:prstDash val="solid"/>
          </a:ln>
        </p:spPr>
      </p:sp>
      <p:pic>
        <p:nvPicPr>
          <p:cNvPr id="15" name="Image 2" descr="preencoded.png">    </p:cNvPr>
          <p:cNvPicPr>
            <a:picLocks noChangeAspect="1"/>
          </p:cNvPicPr>
          <p:nvPr/>
        </p:nvPicPr>
        <p:blipFill>
          <a:blip r:embed="rId3"/>
          <a:stretch>
            <a:fillRect/>
          </a:stretch>
        </p:blipFill>
        <p:spPr>
          <a:xfrm>
            <a:off x="4611624" y="3685032"/>
            <a:ext cx="438912" cy="438912"/>
          </a:xfrm>
          <a:prstGeom prst="rect">
            <a:avLst/>
          </a:prstGeom>
        </p:spPr>
      </p:pic>
      <p:sp>
        <p:nvSpPr>
          <p:cNvPr id="16" name="Text 10"/>
          <p:cNvSpPr txBox="1"/>
          <p:nvPr/>
        </p:nvSpPr>
        <p:spPr>
          <a:xfrm>
            <a:off x="5205984" y="3630168"/>
            <a:ext cx="2508504" cy="548640"/>
          </a:xfrm>
          <a:prstGeom prst="rect">
            <a:avLst/>
          </a:prstGeom>
          <a:noFill/>
          <a:ln/>
        </p:spPr>
        <p:txBody>
          <a:bodyPr wrap="square" lIns="0" tIns="0" rIns="0" bIns="0" rtlCol="0" anchor="ctr"/>
          <a:lstStyle/>
          <a:p>
            <a:pPr indent="0" marL="0">
              <a:buNone/>
            </a:pPr>
            <a:r>
              <a:rPr lang="en-US" sz="1900" b="1" dirty="0">
                <a:solidFill>
                  <a:schemeClr val="accent2"/>
                </a:solidFill>
              </a:rPr>
              <a:t>2 · Background</a:t>
            </a:r>
            <a:endParaRPr lang="en-US" sz="1900" dirty="0"/>
          </a:p>
        </p:txBody>
      </p:sp>
      <p:sp>
        <p:nvSpPr>
          <p:cNvPr id="17" name="Text 11"/>
          <p:cNvSpPr txBox="1"/>
          <p:nvPr/>
        </p:nvSpPr>
        <p:spPr>
          <a:xfrm>
            <a:off x="4611624" y="4325112"/>
            <a:ext cx="2965704" cy="1508760"/>
          </a:xfrm>
          <a:prstGeom prst="rect">
            <a:avLst/>
          </a:prstGeom>
          <a:noFill/>
          <a:ln/>
        </p:spPr>
        <p:txBody>
          <a:bodyPr wrap="square" lIns="0" tIns="0" rIns="0" bIns="0" rtlCol="0" anchor="t"/>
          <a:lstStyle/>
          <a:p>
            <a:pPr indent="0" marL="0">
              <a:buNone/>
            </a:pPr>
            <a:r>
              <a:rPr lang="en-US" sz="2000" dirty="0">
                <a:solidFill>
                  <a:schemeClr val="tx1"/>
                </a:solidFill>
              </a:rPr>
              <a:t>What </a:t>
            </a:r>
            <a:r>
              <a:rPr lang="en-US" sz="2000" b="1" dirty="0">
                <a:solidFill>
                  <a:schemeClr val="tx1"/>
                </a:solidFill>
              </a:rPr>
              <a:t>was</a:t>
            </a:r>
            <a:r>
              <a:rPr lang="en-US" sz="2000" dirty="0">
                <a:solidFill>
                  <a:schemeClr val="tx1"/>
                </a:solidFill>
              </a:rPr>
              <a:t> her colleague </a:t>
            </a:r>
            <a:r>
              <a:rPr lang="en-US" sz="2000" b="1" dirty="0">
                <a:solidFill>
                  <a:schemeClr val="tx1"/>
                </a:solidFill>
              </a:rPr>
              <a:t>doing</a:t>
            </a:r>
            <a:r>
              <a:rPr lang="en-US" sz="2000" dirty="0">
                <a:solidFill>
                  <a:schemeClr val="tx1"/>
                </a:solidFill>
              </a:rPr>
              <a:t>? What </a:t>
            </a:r>
            <a:r>
              <a:rPr lang="en-US" sz="2000" b="1" dirty="0">
                <a:solidFill>
                  <a:schemeClr val="tx1"/>
                </a:solidFill>
              </a:rPr>
              <a:t>was</a:t>
            </a:r>
            <a:r>
              <a:rPr lang="en-US" sz="2000" dirty="0">
                <a:solidFill>
                  <a:schemeClr val="tx1"/>
                </a:solidFill>
              </a:rPr>
              <a:t> she </a:t>
            </a:r>
            <a:r>
              <a:rPr lang="en-US" sz="2000" b="1" dirty="0">
                <a:solidFill>
                  <a:schemeClr val="tx1"/>
                </a:solidFill>
              </a:rPr>
              <a:t>doing</a:t>
            </a:r>
            <a:r>
              <a:rPr lang="en-US" sz="2000" dirty="0">
                <a:solidFill>
                  <a:schemeClr val="tx1"/>
                </a:solidFill>
              </a:rPr>
              <a:t> when she heard the water?</a:t>
            </a:r>
            <a:endParaRPr lang="en-US" sz="2000" dirty="0"/>
          </a:p>
        </p:txBody>
      </p:sp>
      <p:sp>
        <p:nvSpPr>
          <p:cNvPr id="18" name="Shape 12"/>
          <p:cNvSpPr/>
          <p:nvPr/>
        </p:nvSpPr>
        <p:spPr>
          <a:xfrm>
            <a:off x="8125968" y="3429000"/>
            <a:ext cx="3514344" cy="2514600"/>
          </a:xfrm>
          <a:prstGeom prst="roundRect">
            <a:avLst>
              <a:gd name="adj" fmla="val 2909"/>
            </a:avLst>
          </a:prstGeom>
          <a:solidFill>
            <a:srgbClr val="EEF2F8"/>
          </a:solidFill>
          <a:ln w="9525">
            <a:solidFill>
              <a:srgbClr val="D5DCE6"/>
            </a:solidFill>
            <a:prstDash val="solid"/>
          </a:ln>
        </p:spPr>
      </p:sp>
      <p:pic>
        <p:nvPicPr>
          <p:cNvPr id="19" name="Image 3" descr="preencoded.png">    </p:cNvPr>
          <p:cNvPicPr>
            <a:picLocks noChangeAspect="1"/>
          </p:cNvPicPr>
          <p:nvPr/>
        </p:nvPicPr>
        <p:blipFill>
          <a:blip r:embed="rId4"/>
          <a:stretch>
            <a:fillRect/>
          </a:stretch>
        </p:blipFill>
        <p:spPr>
          <a:xfrm>
            <a:off x="8400288" y="3685032"/>
            <a:ext cx="438912" cy="438912"/>
          </a:xfrm>
          <a:prstGeom prst="rect">
            <a:avLst/>
          </a:prstGeom>
        </p:spPr>
      </p:pic>
      <p:sp>
        <p:nvSpPr>
          <p:cNvPr id="20" name="Text 13"/>
          <p:cNvSpPr txBox="1"/>
          <p:nvPr/>
        </p:nvSpPr>
        <p:spPr>
          <a:xfrm>
            <a:off x="8994648" y="3630168"/>
            <a:ext cx="2508504" cy="548640"/>
          </a:xfrm>
          <a:prstGeom prst="rect">
            <a:avLst/>
          </a:prstGeom>
          <a:noFill/>
          <a:ln/>
        </p:spPr>
        <p:txBody>
          <a:bodyPr wrap="square" lIns="0" tIns="0" rIns="0" bIns="0" rtlCol="0" anchor="ctr"/>
          <a:lstStyle/>
          <a:p>
            <a:pPr indent="0" marL="0">
              <a:buNone/>
            </a:pPr>
            <a:r>
              <a:rPr lang="en-US" sz="1900" b="1" dirty="0">
                <a:solidFill>
                  <a:srgbClr val="B4236A"/>
                </a:solidFill>
              </a:rPr>
              <a:t>3 · Events</a:t>
            </a:r>
            <a:endParaRPr lang="en-US" sz="1900" dirty="0"/>
          </a:p>
        </p:txBody>
      </p:sp>
      <p:sp>
        <p:nvSpPr>
          <p:cNvPr id="21" name="Text 14"/>
          <p:cNvSpPr txBox="1"/>
          <p:nvPr/>
        </p:nvSpPr>
        <p:spPr>
          <a:xfrm>
            <a:off x="8400288" y="4325112"/>
            <a:ext cx="2965704" cy="1508760"/>
          </a:xfrm>
          <a:prstGeom prst="rect">
            <a:avLst/>
          </a:prstGeom>
          <a:noFill/>
          <a:ln/>
        </p:spPr>
        <p:txBody>
          <a:bodyPr wrap="square" lIns="0" tIns="0" rIns="0" bIns="0" rtlCol="0" anchor="t"/>
          <a:lstStyle/>
          <a:p>
            <a:pPr indent="0" marL="0">
              <a:buNone/>
            </a:pPr>
            <a:r>
              <a:rPr lang="en-US" sz="2000" dirty="0">
                <a:solidFill>
                  <a:schemeClr val="tx1"/>
                </a:solidFill>
              </a:rPr>
              <a:t>What did she see? What </a:t>
            </a:r>
            <a:r>
              <a:rPr lang="en-US" sz="2000" b="1" dirty="0">
                <a:solidFill>
                  <a:schemeClr val="tx1"/>
                </a:solidFill>
              </a:rPr>
              <a:t>three things</a:t>
            </a:r>
            <a:r>
              <a:rPr lang="en-US" sz="2000" dirty="0">
                <a:solidFill>
                  <a:schemeClr val="tx1"/>
                </a:solidFill>
              </a:rPr>
              <a:t> did she do? Does she know when it started?</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The cleaner’s story — her statement</a:t>
            </a:r>
            <a:endParaRPr lang="en-US" sz="3200" dirty="0"/>
          </a:p>
        </p:txBody>
      </p:sp>
      <p:sp>
        <p:nvSpPr>
          <p:cNvPr id="3" name="tag"/>
          <p:cNvSpPr/>
          <p:nvPr/>
        </p:nvSpPr>
        <p:spPr>
          <a:xfrm>
            <a:off x="548640" y="384048"/>
            <a:ext cx="13944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LISTENING</a:t>
            </a:r>
            <a:endParaRPr lang="en-US" sz="1200" dirty="0"/>
          </a:p>
        </p:txBody>
      </p:sp>
      <p:sp>
        <p:nvSpPr>
          <p:cNvPr id="4" name="tag"/>
          <p:cNvSpPr/>
          <p:nvPr/>
        </p:nvSpPr>
        <p:spPr>
          <a:xfrm>
            <a:off x="20528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7"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b="1" i="1" dirty="0">
                <a:solidFill>
                  <a:schemeClr val="accent2"/>
                </a:solidFill>
              </a:rPr>
              <a:t>Blue</a:t>
            </a:r>
            <a:r>
              <a:rPr lang="en-US" sz="1600" i="1" dirty="0">
                <a:solidFill>
                  <a:schemeClr val="accent5"/>
                </a:solidFill>
              </a:rPr>
              <a:t> = background (was / were + -ing) · </a:t>
            </a:r>
            <a:r>
              <a:rPr lang="en-US" sz="1600" b="1" i="1" dirty="0">
                <a:solidFill>
                  <a:srgbClr val="B4236A"/>
                </a:solidFill>
              </a:rPr>
              <a:t>magenta</a:t>
            </a:r>
            <a:r>
              <a:rPr lang="en-US" sz="1600" i="1" dirty="0">
                <a:solidFill>
                  <a:schemeClr val="accent5"/>
                </a:solidFill>
              </a:rPr>
              <a:t> = event (past simple).</a:t>
            </a:r>
            <a:endParaRPr lang="en-US" sz="1600" dirty="0"/>
          </a:p>
        </p:txBody>
      </p:sp>
      <p:sp>
        <p:nvSpPr>
          <p:cNvPr id="8" name="exercise"/>
          <p:cNvSpPr txBox="1"/>
          <p:nvPr/>
        </p:nvSpPr>
        <p:spPr>
          <a:xfrm>
            <a:off x="548640" y="2237232"/>
            <a:ext cx="11091672" cy="3069336"/>
          </a:xfrm>
          <a:prstGeom prst="rect">
            <a:avLst/>
          </a:prstGeom>
          <a:noFill/>
          <a:ln/>
        </p:spPr>
        <p:txBody>
          <a:bodyPr wrap="square" lIns="0" tIns="0" rIns="0" bIns="0" rtlCol="0" anchor="t"/>
          <a:lstStyle/>
          <a:p>
            <a:pPr indent="0" marL="0">
              <a:spcAft>
                <a:spcPts val="900"/>
              </a:spcAft>
              <a:buNone/>
            </a:pPr>
            <a:r>
              <a:rPr lang="en-US" sz="1800" dirty="0">
                <a:solidFill>
                  <a:schemeClr val="tx1"/>
                </a:solidFill>
              </a:rPr>
              <a:t>It </a:t>
            </a:r>
            <a:r>
              <a:rPr lang="en-US" sz="1800" b="1" dirty="0">
                <a:solidFill>
                  <a:srgbClr val="B4236A"/>
                </a:solidFill>
              </a:rPr>
              <a:t>was</a:t>
            </a:r>
            <a:r>
              <a:rPr lang="en-US" sz="1800" dirty="0">
                <a:solidFill>
                  <a:schemeClr val="tx1"/>
                </a:solidFill>
              </a:rPr>
              <a:t> about </a:t>
            </a:r>
            <a:r>
              <a:rPr lang="en-US" sz="1800" b="1" dirty="0">
                <a:solidFill>
                  <a:schemeClr val="tx1"/>
                </a:solidFill>
              </a:rPr>
              <a:t>a quarter to seven</a:t>
            </a:r>
            <a:r>
              <a:rPr lang="en-US" sz="1800" dirty="0">
                <a:solidFill>
                  <a:schemeClr val="tx1"/>
                </a:solidFill>
              </a:rPr>
              <a:t> when we </a:t>
            </a:r>
            <a:r>
              <a:rPr lang="en-US" sz="1800" b="1" dirty="0">
                <a:solidFill>
                  <a:srgbClr val="B4236A"/>
                </a:solidFill>
              </a:rPr>
              <a:t>arrived</a:t>
            </a:r>
            <a:r>
              <a:rPr lang="en-US" sz="1800" dirty="0">
                <a:solidFill>
                  <a:schemeClr val="tx1"/>
                </a:solidFill>
              </a:rPr>
              <a:t>. My colleague </a:t>
            </a:r>
            <a:r>
              <a:rPr lang="en-US" sz="1800" b="1" dirty="0">
                <a:solidFill>
                  <a:schemeClr val="accent2"/>
                </a:solidFill>
              </a:rPr>
              <a:t>was emptying</a:t>
            </a:r>
            <a:r>
              <a:rPr lang="en-US" sz="1800" dirty="0">
                <a:solidFill>
                  <a:schemeClr val="tx1"/>
                </a:solidFill>
              </a:rPr>
              <a:t> the bins on the ground floor, so I </a:t>
            </a:r>
            <a:r>
              <a:rPr lang="en-US" sz="1800" b="1" dirty="0">
                <a:solidFill>
                  <a:srgbClr val="B4236A"/>
                </a:solidFill>
              </a:rPr>
              <a:t>went up</a:t>
            </a:r>
            <a:r>
              <a:rPr lang="en-US" sz="1800" dirty="0">
                <a:solidFill>
                  <a:schemeClr val="tx1"/>
                </a:solidFill>
              </a:rPr>
              <a:t> to the second floor alone.</a:t>
            </a:r>
            <a:endParaRPr lang="en-US" sz="1800" dirty="0"/>
          </a:p>
          <a:p>
            <a:pPr indent="0" marL="0">
              <a:spcAft>
                <a:spcPts val="900"/>
              </a:spcAft>
              <a:buNone/>
            </a:pPr>
            <a:r>
              <a:rPr lang="en-US" sz="1800" dirty="0">
                <a:solidFill>
                  <a:schemeClr val="tx1"/>
                </a:solidFill>
              </a:rPr>
              <a:t>I </a:t>
            </a:r>
            <a:r>
              <a:rPr lang="en-US" sz="1800" b="1" dirty="0">
                <a:solidFill>
                  <a:schemeClr val="accent2"/>
                </a:solidFill>
              </a:rPr>
              <a:t>was pushing</a:t>
            </a:r>
            <a:r>
              <a:rPr lang="en-US" sz="1800" dirty="0">
                <a:solidFill>
                  <a:schemeClr val="tx1"/>
                </a:solidFill>
              </a:rPr>
              <a:t> my trolley along the corridor when I </a:t>
            </a:r>
            <a:r>
              <a:rPr lang="en-US" sz="1800" b="1" dirty="0">
                <a:solidFill>
                  <a:srgbClr val="B4236A"/>
                </a:solidFill>
              </a:rPr>
              <a:t>heard</a:t>
            </a:r>
            <a:r>
              <a:rPr lang="en-US" sz="1800" dirty="0">
                <a:solidFill>
                  <a:schemeClr val="tx1"/>
                </a:solidFill>
              </a:rPr>
              <a:t> water. It </a:t>
            </a:r>
            <a:r>
              <a:rPr lang="en-US" sz="1800" b="1" dirty="0">
                <a:solidFill>
                  <a:schemeClr val="accent2"/>
                </a:solidFill>
              </a:rPr>
              <a:t>was coming</a:t>
            </a:r>
            <a:r>
              <a:rPr lang="en-US" sz="1800" dirty="0">
                <a:solidFill>
                  <a:schemeClr val="tx1"/>
                </a:solidFill>
              </a:rPr>
              <a:t> from the technical room.</a:t>
            </a:r>
            <a:endParaRPr lang="en-US" sz="1800" dirty="0"/>
          </a:p>
          <a:p>
            <a:pPr indent="0" marL="0">
              <a:spcAft>
                <a:spcPts val="900"/>
              </a:spcAft>
              <a:buNone/>
            </a:pPr>
            <a:r>
              <a:rPr lang="en-US" sz="1800" dirty="0">
                <a:solidFill>
                  <a:schemeClr val="tx1"/>
                </a:solidFill>
              </a:rPr>
              <a:t>I </a:t>
            </a:r>
            <a:r>
              <a:rPr lang="en-US" sz="1800" b="1" dirty="0">
                <a:solidFill>
                  <a:srgbClr val="B4236A"/>
                </a:solidFill>
              </a:rPr>
              <a:t>opened</a:t>
            </a:r>
            <a:r>
              <a:rPr lang="en-US" sz="1800" dirty="0">
                <a:solidFill>
                  <a:schemeClr val="tx1"/>
                </a:solidFill>
              </a:rPr>
              <a:t> the door: water </a:t>
            </a:r>
            <a:r>
              <a:rPr lang="en-US" sz="1800" b="1" dirty="0">
                <a:solidFill>
                  <a:schemeClr val="accent2"/>
                </a:solidFill>
              </a:rPr>
              <a:t>was running</a:t>
            </a:r>
            <a:r>
              <a:rPr lang="en-US" sz="1800" dirty="0">
                <a:solidFill>
                  <a:schemeClr val="tx1"/>
                </a:solidFill>
              </a:rPr>
              <a:t> down from the ceiling and the floor </a:t>
            </a:r>
            <a:r>
              <a:rPr lang="en-US" sz="1800" b="1" dirty="0">
                <a:solidFill>
                  <a:srgbClr val="B4236A"/>
                </a:solidFill>
              </a:rPr>
              <a:t>was</a:t>
            </a:r>
            <a:r>
              <a:rPr lang="en-US" sz="1800" dirty="0">
                <a:solidFill>
                  <a:schemeClr val="tx1"/>
                </a:solidFill>
              </a:rPr>
              <a:t> soaked. A ceiling tile </a:t>
            </a:r>
            <a:r>
              <a:rPr lang="en-US" sz="1800" b="1" dirty="0">
                <a:solidFill>
                  <a:schemeClr val="accent2"/>
                </a:solidFill>
              </a:rPr>
              <a:t>was hanging</a:t>
            </a:r>
            <a:r>
              <a:rPr lang="en-US" sz="1800" dirty="0">
                <a:solidFill>
                  <a:schemeClr val="tx1"/>
                </a:solidFill>
              </a:rPr>
              <a:t> down.</a:t>
            </a:r>
            <a:endParaRPr lang="en-US" sz="1800" dirty="0"/>
          </a:p>
          <a:p>
            <a:pPr indent="0" marL="0">
              <a:spcAft>
                <a:spcPts val="900"/>
              </a:spcAft>
              <a:buNone/>
            </a:pPr>
            <a:r>
              <a:rPr lang="en-US" sz="1800" dirty="0">
                <a:solidFill>
                  <a:schemeClr val="tx1"/>
                </a:solidFill>
              </a:rPr>
              <a:t>I </a:t>
            </a:r>
            <a:r>
              <a:rPr lang="en-US" sz="1800" b="1" dirty="0">
                <a:solidFill>
                  <a:srgbClr val="B4236A"/>
                </a:solidFill>
              </a:rPr>
              <a:t>didn’t touch</a:t>
            </a:r>
            <a:r>
              <a:rPr lang="en-US" sz="1800" dirty="0">
                <a:solidFill>
                  <a:schemeClr val="tx1"/>
                </a:solidFill>
              </a:rPr>
              <a:t> the computers. I </a:t>
            </a:r>
            <a:r>
              <a:rPr lang="en-US" sz="1800" b="1" dirty="0">
                <a:solidFill>
                  <a:srgbClr val="B4236A"/>
                </a:solidFill>
              </a:rPr>
              <a:t>put</a:t>
            </a:r>
            <a:r>
              <a:rPr lang="en-US" sz="1800" dirty="0">
                <a:solidFill>
                  <a:schemeClr val="tx1"/>
                </a:solidFill>
              </a:rPr>
              <a:t> a bucket under the leak, I </a:t>
            </a:r>
            <a:r>
              <a:rPr lang="en-US" sz="1800" b="1" dirty="0">
                <a:solidFill>
                  <a:srgbClr val="B4236A"/>
                </a:solidFill>
              </a:rPr>
              <a:t>put</a:t>
            </a:r>
            <a:r>
              <a:rPr lang="en-US" sz="1800" dirty="0">
                <a:solidFill>
                  <a:schemeClr val="tx1"/>
                </a:solidFill>
              </a:rPr>
              <a:t> a “wet floor” sign at the door, and I </a:t>
            </a:r>
            <a:r>
              <a:rPr lang="en-US" sz="1800" b="1" dirty="0">
                <a:solidFill>
                  <a:srgbClr val="B4236A"/>
                </a:solidFill>
              </a:rPr>
              <a:t>called</a:t>
            </a:r>
            <a:r>
              <a:rPr lang="en-US" sz="1800" dirty="0">
                <a:solidFill>
                  <a:schemeClr val="tx1"/>
                </a:solidFill>
              </a:rPr>
              <a:t> the emergency number. It </a:t>
            </a:r>
            <a:r>
              <a:rPr lang="en-US" sz="1800" b="1" dirty="0">
                <a:solidFill>
                  <a:srgbClr val="B4236A"/>
                </a:solidFill>
              </a:rPr>
              <a:t>was</a:t>
            </a:r>
            <a:r>
              <a:rPr lang="en-US" sz="1800" dirty="0">
                <a:solidFill>
                  <a:schemeClr val="tx1"/>
                </a:solidFill>
              </a:rPr>
              <a:t> </a:t>
            </a:r>
            <a:r>
              <a:rPr lang="en-US" sz="1800" b="1" dirty="0">
                <a:solidFill>
                  <a:schemeClr val="tx1"/>
                </a:solidFill>
              </a:rPr>
              <a:t>ten to seven</a:t>
            </a:r>
            <a:r>
              <a:rPr lang="en-US" sz="1800" dirty="0">
                <a:solidFill>
                  <a:schemeClr val="tx1"/>
                </a:solidFill>
              </a:rPr>
              <a:t>.</a:t>
            </a:r>
            <a:endParaRPr lang="en-US" sz="1800" dirty="0"/>
          </a:p>
          <a:p>
            <a:pPr indent="0" marL="0">
              <a:spcAft>
                <a:spcPts val="900"/>
              </a:spcAft>
              <a:buNone/>
            </a:pPr>
            <a:r>
              <a:rPr lang="en-US" sz="1800" dirty="0">
                <a:solidFill>
                  <a:schemeClr val="tx1"/>
                </a:solidFill>
              </a:rPr>
              <a:t>When did it start? </a:t>
            </a:r>
            <a:r>
              <a:rPr lang="en-US" sz="1800" b="1" dirty="0">
                <a:solidFill>
                  <a:schemeClr val="tx1"/>
                </a:solidFill>
              </a:rPr>
              <a:t>I have no idea.</a:t>
            </a:r>
            <a:endParaRPr lang="en-US" sz="1800" dirty="0"/>
          </a:p>
        </p:txBody>
      </p:sp>
      <p:sp>
        <p:nvSpPr>
          <p:cNvPr id="9" name="Shape 6"/>
          <p:cNvSpPr/>
          <p:nvPr/>
        </p:nvSpPr>
        <p:spPr>
          <a:xfrm>
            <a:off x="548640" y="5535168"/>
            <a:ext cx="11091672" cy="774192"/>
          </a:xfrm>
          <a:prstGeom prst="roundRect">
            <a:avLst>
              <a:gd name="adj" fmla="val 9449"/>
            </a:avLst>
          </a:prstGeom>
          <a:solidFill>
            <a:srgbClr val="3C7A3C">
              <a:alpha val="8000"/>
            </a:srgbClr>
          </a:solidFill>
          <a:ln w="12700">
            <a:solidFill>
              <a:srgbClr val="3C7A3C"/>
            </a:solidFill>
            <a:prstDash val="solid"/>
          </a:ln>
        </p:spPr>
      </p:sp>
      <p:pic>
        <p:nvPicPr>
          <p:cNvPr id="10" name="Image 0" descr="preencoded.png">    </p:cNvPr>
          <p:cNvPicPr>
            <a:picLocks noChangeAspect="1"/>
          </p:cNvPicPr>
          <p:nvPr/>
        </p:nvPicPr>
        <p:blipFill>
          <a:blip r:embed="rId1"/>
          <a:stretch>
            <a:fillRect/>
          </a:stretch>
        </p:blipFill>
        <p:spPr>
          <a:xfrm>
            <a:off x="777240" y="5739384"/>
            <a:ext cx="365760" cy="365760"/>
          </a:xfrm>
          <a:prstGeom prst="rect">
            <a:avLst/>
          </a:prstGeom>
        </p:spPr>
      </p:pic>
      <p:sp>
        <p:nvSpPr>
          <p:cNvPr id="11" name="Text 7"/>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3"/>
                </a:solidFill>
              </a:rPr>
              <a:t>À retenir — </a:t>
            </a:r>
            <a:r>
              <a:rPr lang="en-US" sz="1800" dirty="0">
                <a:solidFill>
                  <a:schemeClr val="tx1"/>
                </a:solidFill>
              </a:rPr>
              <a:t>she gives two times (6.45, 6.50) — and she </a:t>
            </a:r>
            <a:r>
              <a:rPr lang="en-US" sz="1800" b="1" dirty="0">
                <a:solidFill>
                  <a:schemeClr val="tx1"/>
                </a:solidFill>
              </a:rPr>
              <a:t>refuses to guess</a:t>
            </a:r>
            <a:r>
              <a:rPr lang="en-US" sz="1800" dirty="0">
                <a:solidFill>
                  <a:schemeClr val="tx1"/>
                </a:solidFill>
              </a:rPr>
              <a:t> when it started. That is a good witness.</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Water damage: the words you will need</a:t>
            </a:r>
            <a:endParaRPr lang="en-US" sz="3200" dirty="0"/>
          </a:p>
        </p:txBody>
      </p:sp>
      <p:sp>
        <p:nvSpPr>
          <p:cNvPr id="3" name="tag"/>
          <p:cNvSpPr/>
          <p:nvPr/>
        </p:nvSpPr>
        <p:spPr>
          <a:xfrm>
            <a:off x="548640" y="384048"/>
            <a:ext cx="13944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WORD FILE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926080"/>
                <a:gridCol w="3017520"/>
                <a:gridCol w="5148072"/>
              </a:tblGrid>
              <a:tr h="531266">
                <a:tc>
                  <a:txBody>
                    <a:bodyPr/>
                    <a:lstStyle/>
                    <a:p>
                      <a:pPr algn="ctr" indent="0" marL="0">
                        <a:buNone/>
                      </a:pPr>
                      <a:r>
                        <a:rPr lang="en-US" sz="1500" b="1" dirty="0">
                          <a:solidFill>
                            <a:schemeClr val="bg1"/>
                          </a:solidFill>
                        </a:rPr>
                        <a:t>ENGLISH</a:t>
                      </a:r>
                      <a:endParaRPr lang="en-US" sz="15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500" b="1" dirty="0">
                          <a:solidFill>
                            <a:schemeClr val="bg1"/>
                          </a:solidFill>
                        </a:rPr>
                        <a:t>FRANÇAIS</a:t>
                      </a:r>
                      <a:endParaRPr lang="en-US" sz="15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l" indent="0" marL="0">
                        <a:buNone/>
                      </a:pPr>
                      <a:r>
                        <a:rPr lang="en-US" sz="1500" b="1" dirty="0">
                          <a:solidFill>
                            <a:schemeClr val="bg1"/>
                          </a:solidFill>
                        </a:rPr>
                        <a:t>IN THE FILE</a:t>
                      </a:r>
                      <a:endParaRPr lang="en-US" sz="15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r>
              <a:tr h="414223">
                <a:tc>
                  <a:txBody>
                    <a:bodyPr/>
                    <a:lstStyle/>
                    <a:p>
                      <a:pPr algn="ctr" indent="0" marL="0">
                        <a:buNone/>
                      </a:pPr>
                      <a:r>
                        <a:rPr lang="en-US" sz="1700" b="1" dirty="0">
                          <a:solidFill>
                            <a:schemeClr val="tx1"/>
                          </a:solidFill>
                        </a:rPr>
                        <a:t>a leak · to leak</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une fuite · fuir</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rPr>
                        <a:t>The pipe above the ceiling </a:t>
                      </a:r>
                      <a:r>
                        <a:rPr lang="en-US" sz="1700" b="1" dirty="0">
                          <a:solidFill>
                            <a:schemeClr val="accent2"/>
                          </a:solidFill>
                        </a:rPr>
                        <a:t>was leaking</a:t>
                      </a:r>
                      <a:r>
                        <a:rPr lang="en-US" sz="1700" dirty="0">
                          <a:solidFill>
                            <a:schemeClr val="tx1"/>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4223">
                <a:tc>
                  <a:txBody>
                    <a:bodyPr/>
                    <a:lstStyle/>
                    <a:p>
                      <a:pPr algn="ctr" indent="0" marL="0">
                        <a:buNone/>
                      </a:pPr>
                      <a:r>
                        <a:rPr lang="en-US" sz="1700" b="1" dirty="0">
                          <a:solidFill>
                            <a:schemeClr val="tx1"/>
                          </a:solidFill>
                        </a:rPr>
                        <a:t>to drip</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dirty="0">
                          <a:solidFill>
                            <a:schemeClr val="tx1"/>
                          </a:solidFill>
                        </a:rPr>
                        <a:t>goutter</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700" dirty="0">
                          <a:solidFill>
                            <a:schemeClr val="tx1"/>
                          </a:solidFill>
                        </a:rPr>
                        <a:t>Water </a:t>
                      </a:r>
                      <a:r>
                        <a:rPr lang="en-US" sz="1700" b="1" dirty="0">
                          <a:solidFill>
                            <a:schemeClr val="accent2"/>
                          </a:solidFill>
                        </a:rPr>
                        <a:t>was dripping</a:t>
                      </a:r>
                      <a:r>
                        <a:rPr lang="en-US" sz="1700" dirty="0">
                          <a:solidFill>
                            <a:schemeClr val="tx1"/>
                          </a:solidFill>
                        </a:rPr>
                        <a:t> from the ceiling.</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4223">
                <a:tc>
                  <a:txBody>
                    <a:bodyPr/>
                    <a:lstStyle/>
                    <a:p>
                      <a:pPr algn="ctr" indent="0" marL="0">
                        <a:buNone/>
                      </a:pPr>
                      <a:r>
                        <a:rPr lang="en-US" sz="1700" b="1" dirty="0">
                          <a:solidFill>
                            <a:schemeClr val="tx1"/>
                          </a:solidFill>
                        </a:rPr>
                        <a:t>a burst pipe</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une canalisation éclatée</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rPr>
                        <a:t>It </a:t>
                      </a:r>
                      <a:r>
                        <a:rPr lang="en-US" sz="1700" b="1" dirty="0">
                          <a:solidFill>
                            <a:schemeClr val="tx1"/>
                          </a:solidFill>
                        </a:rPr>
                        <a:t>might be</a:t>
                      </a:r>
                      <a:r>
                        <a:rPr lang="en-US" sz="1700" dirty="0">
                          <a:solidFill>
                            <a:schemeClr val="tx1"/>
                          </a:solidFill>
                        </a:rPr>
                        <a:t> a burst pipe.</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4223">
                <a:tc>
                  <a:txBody>
                    <a:bodyPr/>
                    <a:lstStyle/>
                    <a:p>
                      <a:pPr algn="ctr" indent="0" marL="0">
                        <a:buNone/>
                      </a:pPr>
                      <a:r>
                        <a:rPr lang="en-US" sz="1700" b="1" dirty="0">
                          <a:solidFill>
                            <a:schemeClr val="tx1"/>
                          </a:solidFill>
                        </a:rPr>
                        <a:t>soaked · damp</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dirty="0">
                          <a:solidFill>
                            <a:schemeClr val="tx1"/>
                          </a:solidFill>
                        </a:rPr>
                        <a:t>trempé · humide</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700" dirty="0">
                          <a:solidFill>
                            <a:schemeClr val="tx1"/>
                          </a:solidFill>
                        </a:rPr>
                        <a:t>The floor is </a:t>
                      </a:r>
                      <a:r>
                        <a:rPr lang="en-US" sz="1700" b="1" dirty="0">
                          <a:solidFill>
                            <a:schemeClr val="tx1"/>
                          </a:solidFill>
                        </a:rPr>
                        <a:t>soaked</a:t>
                      </a:r>
                      <a:r>
                        <a:rPr lang="en-US" sz="1700" dirty="0">
                          <a:solidFill>
                            <a:schemeClr val="tx1"/>
                          </a:solidFill>
                        </a:rPr>
                        <a:t>; the wall is </a:t>
                      </a:r>
                      <a:r>
                        <a:rPr lang="en-US" sz="1700" b="1" dirty="0">
                          <a:solidFill>
                            <a:schemeClr val="tx1"/>
                          </a:solidFill>
                        </a:rPr>
                        <a:t>damp</a:t>
                      </a:r>
                      <a:r>
                        <a:rPr lang="en-US" sz="1700" dirty="0">
                          <a:solidFill>
                            <a:schemeClr val="tx1"/>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4223">
                <a:tc>
                  <a:txBody>
                    <a:bodyPr/>
                    <a:lstStyle/>
                    <a:p>
                      <a:pPr algn="ctr" indent="0" marL="0">
                        <a:buNone/>
                      </a:pPr>
                      <a:r>
                        <a:rPr lang="en-US" sz="1700" b="1" dirty="0">
                          <a:solidFill>
                            <a:schemeClr val="tx1"/>
                          </a:solidFill>
                        </a:rPr>
                        <a:t>a stain · a crack</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une tache · une fissure</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rPr>
                        <a:t>Iris noticed a </a:t>
                      </a:r>
                      <a:r>
                        <a:rPr lang="en-US" sz="1700" b="1" dirty="0">
                          <a:solidFill>
                            <a:schemeClr val="tx1"/>
                          </a:solidFill>
                        </a:rPr>
                        <a:t>crack</a:t>
                      </a:r>
                      <a:r>
                        <a:rPr lang="en-US" sz="1700" dirty="0">
                          <a:solidFill>
                            <a:schemeClr val="tx1"/>
                          </a:solidFill>
                        </a:rPr>
                        <a:t> in the ceiling.</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4223">
                <a:tc>
                  <a:txBody>
                    <a:bodyPr/>
                    <a:lstStyle/>
                    <a:p>
                      <a:pPr algn="ctr" indent="0" marL="0">
                        <a:buNone/>
                      </a:pPr>
                      <a:r>
                        <a:rPr lang="en-US" sz="1700" b="1" dirty="0">
                          <a:solidFill>
                            <a:schemeClr val="tx1"/>
                          </a:solidFill>
                        </a:rPr>
                        <a:t>to mop up · to dry out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dirty="0">
                          <a:solidFill>
                            <a:schemeClr val="tx1"/>
                          </a:solidFill>
                        </a:rPr>
                        <a:t>éponger · sécher</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700" dirty="0">
                          <a:solidFill>
                            <a:schemeClr val="tx1"/>
                          </a:solidFill>
                        </a:rPr>
                        <a:t>The cleaners </a:t>
                      </a:r>
                      <a:r>
                        <a:rPr lang="en-US" sz="1700" b="1" dirty="0">
                          <a:solidFill>
                            <a:srgbClr val="B4236A"/>
                          </a:solidFill>
                        </a:rPr>
                        <a:t>mopped up</a:t>
                      </a:r>
                      <a:r>
                        <a:rPr lang="en-US" sz="1700" dirty="0">
                          <a:solidFill>
                            <a:schemeClr val="tx1"/>
                          </a:solidFill>
                        </a:rPr>
                        <a:t> the water.</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4223">
                <a:tc>
                  <a:txBody>
                    <a:bodyPr/>
                    <a:lstStyle/>
                    <a:p>
                      <a:pPr algn="ctr" indent="0" marL="0">
                        <a:buNone/>
                      </a:pPr>
                      <a:r>
                        <a:rPr lang="en-US" sz="1700" b="1" dirty="0">
                          <a:solidFill>
                            <a:schemeClr val="tx1"/>
                          </a:solidFill>
                        </a:rPr>
                        <a:t>to turn off the water</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couper l’eau</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rPr>
                        <a:t>Did anyone </a:t>
                      </a:r>
                      <a:r>
                        <a:rPr lang="en-US" sz="1700" b="1" dirty="0">
                          <a:solidFill>
                            <a:srgbClr val="B4236A"/>
                          </a:solidFill>
                        </a:rPr>
                        <a:t>turn off</a:t>
                      </a:r>
                      <a:r>
                        <a:rPr lang="en-US" sz="1700" dirty="0">
                          <a:solidFill>
                            <a:schemeClr val="tx1"/>
                          </a:solidFill>
                        </a:rPr>
                        <a:t> the water?</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4223">
                <a:tc>
                  <a:txBody>
                    <a:bodyPr/>
                    <a:lstStyle/>
                    <a:p>
                      <a:pPr algn="ctr" indent="0" marL="0">
                        <a:buNone/>
                      </a:pPr>
                      <a:r>
                        <a:rPr lang="en-US" sz="1700" b="1" dirty="0">
                          <a:solidFill>
                            <a:schemeClr val="tx1"/>
                          </a:solidFill>
                        </a:rPr>
                        <a:t>to call out a plumber</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dirty="0">
                          <a:solidFill>
                            <a:schemeClr val="tx1"/>
                          </a:solidFill>
                        </a:rPr>
                        <a:t>faire venir un plombier</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700" dirty="0">
                          <a:solidFill>
                            <a:schemeClr val="tx1"/>
                          </a:solidFill>
                        </a:rPr>
                        <a:t>We </a:t>
                      </a:r>
                      <a:r>
                        <a:rPr lang="en-US" sz="1700" b="1" dirty="0">
                          <a:solidFill>
                            <a:srgbClr val="B4236A"/>
                          </a:solidFill>
                        </a:rPr>
                        <a:t>called out</a:t>
                      </a:r>
                      <a:r>
                        <a:rPr lang="en-US" sz="1700" dirty="0">
                          <a:solidFill>
                            <a:schemeClr val="tx1"/>
                          </a:solidFill>
                        </a:rPr>
                        <a:t> a plumber at nine.</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678485">
                <a:tc>
                  <a:txBody>
                    <a:bodyPr/>
                    <a:lstStyle/>
                    <a:p>
                      <a:pPr algn="ctr" indent="0" marL="0">
                        <a:buNone/>
                      </a:pPr>
                      <a:r>
                        <a:rPr lang="en-US" sz="1700" b="1" dirty="0">
                          <a:solidFill>
                            <a:schemeClr val="tx1"/>
                          </a:solidFill>
                        </a:rPr>
                        <a:t>water damage · to file a claim</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tx1"/>
                          </a:solidFill>
                        </a:rPr>
                        <a:t>un dégât des eaux · déclarer un sinistre</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rPr>
                        <a:t>We will </a:t>
                      </a:r>
                      <a:r>
                        <a:rPr lang="en-US" sz="1700" b="1" dirty="0">
                          <a:solidFill>
                            <a:schemeClr val="tx1"/>
                          </a:solidFill>
                        </a:rPr>
                        <a:t>file a claim</a:t>
                      </a:r>
                      <a:r>
                        <a:rPr lang="en-US" sz="1700" dirty="0">
                          <a:solidFill>
                            <a:schemeClr val="tx1"/>
                          </a:solidFill>
                        </a:rPr>
                        <a:t> for </a:t>
                      </a:r>
                      <a:r>
                        <a:rPr lang="en-US" sz="1700" b="1" dirty="0">
                          <a:solidFill>
                            <a:schemeClr val="tx1"/>
                          </a:solidFill>
                        </a:rPr>
                        <a:t>water damage</a:t>
                      </a:r>
                      <a:r>
                        <a:rPr lang="en-US" sz="1700" dirty="0">
                          <a:solidFill>
                            <a:schemeClr val="tx1"/>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Hot seat — the people in the room</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Shape 3"/>
          <p:cNvSpPr/>
          <p:nvPr/>
        </p:nvSpPr>
        <p:spPr>
          <a:xfrm>
            <a:off x="548640" y="1783080"/>
            <a:ext cx="5431536" cy="1645920"/>
          </a:xfrm>
          <a:prstGeom prst="roundRect">
            <a:avLst>
              <a:gd name="adj" fmla="val 5556"/>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7" name="Shape 4"/>
          <p:cNvSpPr/>
          <p:nvPr/>
        </p:nvSpPr>
        <p:spPr>
          <a:xfrm>
            <a:off x="722376" y="2098548"/>
            <a:ext cx="1014984" cy="1014984"/>
          </a:xfrm>
          <a:prstGeom prst="ellipse">
            <a:avLst/>
          </a:prstGeom>
          <a:solidFill>
            <a:srgbClr val="1F3864"/>
          </a:solidFill>
          <a:ln/>
        </p:spPr>
      </p:sp>
      <p:pic>
        <p:nvPicPr>
          <p:cNvPr id="8" name="Image 0" descr="Portrait of mark">    </p:cNvPr>
          <p:cNvPicPr>
            <a:picLocks noChangeAspect="1"/>
          </p:cNvPicPr>
          <p:nvPr/>
        </p:nvPicPr>
        <p:blipFill>
          <a:blip r:embed="rId1"/>
          <a:stretch>
            <a:fillRect/>
          </a:stretch>
        </p:blipFill>
        <p:spPr>
          <a:xfrm>
            <a:off x="749808" y="2125980"/>
            <a:ext cx="960120" cy="960120"/>
          </a:xfrm>
          <a:prstGeom prst="rect">
            <a:avLst/>
          </a:prstGeom>
        </p:spPr>
      </p:pic>
      <p:sp>
        <p:nvSpPr>
          <p:cNvPr id="9" name="Text 5"/>
          <p:cNvSpPr txBox="1"/>
          <p:nvPr/>
        </p:nvSpPr>
        <p:spPr>
          <a:xfrm>
            <a:off x="1920240" y="1874520"/>
            <a:ext cx="3877056" cy="384048"/>
          </a:xfrm>
          <a:prstGeom prst="rect">
            <a:avLst/>
          </a:prstGeom>
          <a:noFill/>
          <a:ln/>
        </p:spPr>
        <p:txBody>
          <a:bodyPr wrap="square" lIns="0" tIns="0" rIns="0" bIns="0" rtlCol="0" anchor="ctr"/>
          <a:lstStyle/>
          <a:p>
            <a:pPr indent="0" marL="0">
              <a:buNone/>
            </a:pPr>
            <a:r>
              <a:rPr lang="en-US" sz="1800" b="1" dirty="0">
                <a:solidFill>
                  <a:schemeClr val="tx2"/>
                </a:solidFill>
                <a:latin typeface="+mj-lt" pitchFamily="34" charset="0"/>
                <a:ea typeface="+mj-lt" pitchFamily="34" charset="-122"/>
                <a:cs typeface="+mj-lt" pitchFamily="34" charset="-120"/>
              </a:rPr>
              <a:t>Mark</a:t>
            </a:r>
            <a:r>
              <a:rPr lang="en-US" sz="1300" i="1" dirty="0">
                <a:solidFill>
                  <a:schemeClr val="accent5"/>
                </a:solidFill>
              </a:rPr>
              <a:t>   called you at 6.58</a:t>
            </a:r>
            <a:endParaRPr lang="en-US" sz="1800" dirty="0"/>
          </a:p>
        </p:txBody>
      </p:sp>
      <p:sp>
        <p:nvSpPr>
          <p:cNvPr id="10" name="Text 6"/>
          <p:cNvSpPr txBox="1"/>
          <p:nvPr/>
        </p:nvSpPr>
        <p:spPr>
          <a:xfrm>
            <a:off x="1920240" y="2286000"/>
            <a:ext cx="3877056" cy="107899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You were</a:t>
            </a:r>
            <a:r>
              <a:rPr lang="en-US" sz="1700" dirty="0">
                <a:solidFill>
                  <a:schemeClr val="tx1"/>
                </a:solidFill>
              </a:rPr>
              <a:t> standing in the doorway.</a:t>
            </a:r>
            <a:endParaRPr lang="en-US" sz="1700" dirty="0"/>
          </a:p>
          <a:p>
            <a:pPr indent="0" marL="0">
              <a:spcAft>
                <a:spcPts val="400"/>
              </a:spcAft>
              <a:buNone/>
            </a:pPr>
            <a:r>
              <a:rPr lang="en-US" sz="1700" b="1" dirty="0">
                <a:solidFill>
                  <a:schemeClr val="tx1"/>
                </a:solidFill>
              </a:rPr>
              <a:t>You know:</a:t>
            </a:r>
            <a:r>
              <a:rPr lang="en-US" sz="1700" dirty="0">
                <a:solidFill>
                  <a:schemeClr val="tx1"/>
                </a:solidFill>
              </a:rPr>
              <a:t> the water was still running.</a:t>
            </a:r>
            <a:endParaRPr lang="en-US" sz="1700" dirty="0"/>
          </a:p>
          <a:p>
            <a:pPr indent="0" marL="0">
              <a:spcAft>
                <a:spcPts val="400"/>
              </a:spcAft>
              <a:buNone/>
            </a:pPr>
            <a:r>
              <a:rPr lang="en-US" sz="1700" b="1" dirty="0">
                <a:solidFill>
                  <a:schemeClr val="tx1"/>
                </a:solidFill>
              </a:rPr>
              <a:t>You don’t know:</a:t>
            </a:r>
            <a:r>
              <a:rPr lang="en-US" sz="1700" dirty="0">
                <a:solidFill>
                  <a:schemeClr val="tx1"/>
                </a:solidFill>
              </a:rPr>
              <a:t> when it started.</a:t>
            </a:r>
            <a:endParaRPr lang="en-US" sz="1700" dirty="0"/>
          </a:p>
        </p:txBody>
      </p:sp>
      <p:sp>
        <p:nvSpPr>
          <p:cNvPr id="11" name="Shape 7"/>
          <p:cNvSpPr/>
          <p:nvPr/>
        </p:nvSpPr>
        <p:spPr>
          <a:xfrm>
            <a:off x="6208776" y="1783080"/>
            <a:ext cx="5431536" cy="1645920"/>
          </a:xfrm>
          <a:prstGeom prst="roundRect">
            <a:avLst>
              <a:gd name="adj" fmla="val 5556"/>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2" name="Shape 8"/>
          <p:cNvSpPr/>
          <p:nvPr/>
        </p:nvSpPr>
        <p:spPr>
          <a:xfrm>
            <a:off x="6382512" y="2098548"/>
            <a:ext cx="1014984" cy="1014984"/>
          </a:xfrm>
          <a:prstGeom prst="ellipse">
            <a:avLst/>
          </a:prstGeom>
          <a:solidFill>
            <a:srgbClr val="3C7A3C"/>
          </a:solidFill>
          <a:ln/>
        </p:spPr>
      </p:sp>
      <p:pic>
        <p:nvPicPr>
          <p:cNvPr id="13" name="Image 1" descr="Portrait of iris">    </p:cNvPr>
          <p:cNvPicPr>
            <a:picLocks noChangeAspect="1"/>
          </p:cNvPicPr>
          <p:nvPr/>
        </p:nvPicPr>
        <p:blipFill>
          <a:blip r:embed="rId2"/>
          <a:stretch>
            <a:fillRect/>
          </a:stretch>
        </p:blipFill>
        <p:spPr>
          <a:xfrm>
            <a:off x="6409944" y="2125980"/>
            <a:ext cx="960120" cy="960120"/>
          </a:xfrm>
          <a:prstGeom prst="rect">
            <a:avLst/>
          </a:prstGeom>
        </p:spPr>
      </p:pic>
      <p:sp>
        <p:nvSpPr>
          <p:cNvPr id="14" name="Text 9"/>
          <p:cNvSpPr txBox="1"/>
          <p:nvPr/>
        </p:nvSpPr>
        <p:spPr>
          <a:xfrm>
            <a:off x="7580376" y="1874520"/>
            <a:ext cx="3877056" cy="384048"/>
          </a:xfrm>
          <a:prstGeom prst="rect">
            <a:avLst/>
          </a:prstGeom>
          <a:noFill/>
          <a:ln/>
        </p:spPr>
        <p:txBody>
          <a:bodyPr wrap="square" lIns="0" tIns="0" rIns="0" bIns="0" rtlCol="0" anchor="ctr"/>
          <a:lstStyle/>
          <a:p>
            <a:pPr indent="0" marL="0">
              <a:buNone/>
            </a:pPr>
            <a:r>
              <a:rPr lang="en-US" sz="1800" b="1" dirty="0">
                <a:solidFill>
                  <a:schemeClr val="accent3"/>
                </a:solidFill>
                <a:latin typeface="+mj-lt" pitchFamily="34" charset="0"/>
                <a:ea typeface="+mj-lt" pitchFamily="34" charset="-122"/>
                <a:cs typeface="+mj-lt" pitchFamily="34" charset="-120"/>
              </a:rPr>
              <a:t>Iris</a:t>
            </a:r>
            <a:r>
              <a:rPr lang="en-US" sz="1300" i="1" dirty="0">
                <a:solidFill>
                  <a:schemeClr val="accent5"/>
                </a:solidFill>
              </a:rPr>
              <a:t>   just back from the 2nd floor</a:t>
            </a:r>
            <a:endParaRPr lang="en-US" sz="1800" dirty="0"/>
          </a:p>
        </p:txBody>
      </p:sp>
      <p:sp>
        <p:nvSpPr>
          <p:cNvPr id="15" name="Text 10"/>
          <p:cNvSpPr txBox="1"/>
          <p:nvPr/>
        </p:nvSpPr>
        <p:spPr>
          <a:xfrm>
            <a:off x="7580376" y="2286000"/>
            <a:ext cx="3877056" cy="107899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You were</a:t>
            </a:r>
            <a:r>
              <a:rPr lang="en-US" sz="1700" dirty="0">
                <a:solidFill>
                  <a:schemeClr val="tx1"/>
                </a:solidFill>
              </a:rPr>
              <a:t> photographing the ceiling.</a:t>
            </a:r>
            <a:endParaRPr lang="en-US" sz="1700" dirty="0"/>
          </a:p>
          <a:p>
            <a:pPr indent="0" marL="0">
              <a:spcAft>
                <a:spcPts val="400"/>
              </a:spcAft>
              <a:buNone/>
            </a:pPr>
            <a:r>
              <a:rPr lang="en-US" sz="1700" b="1" dirty="0">
                <a:solidFill>
                  <a:schemeClr val="tx1"/>
                </a:solidFill>
              </a:rPr>
              <a:t>You know:</a:t>
            </a:r>
            <a:r>
              <a:rPr lang="en-US" sz="1700" dirty="0">
                <a:solidFill>
                  <a:schemeClr val="tx1"/>
                </a:solidFill>
              </a:rPr>
              <a:t> the floor is soaked.</a:t>
            </a:r>
            <a:endParaRPr lang="en-US" sz="1700" dirty="0"/>
          </a:p>
          <a:p>
            <a:pPr indent="0" marL="0">
              <a:spcAft>
                <a:spcPts val="400"/>
              </a:spcAft>
              <a:buNone/>
            </a:pPr>
            <a:r>
              <a:rPr lang="en-US" sz="1700" b="1" dirty="0">
                <a:solidFill>
                  <a:schemeClr val="tx1"/>
                </a:solidFill>
              </a:rPr>
              <a:t>You think:</a:t>
            </a:r>
            <a:r>
              <a:rPr lang="en-US" sz="1700" dirty="0">
                <a:solidFill>
                  <a:schemeClr val="tx1"/>
                </a:solidFill>
              </a:rPr>
              <a:t> it was leaking all night.</a:t>
            </a:r>
            <a:endParaRPr lang="en-US" sz="1700" dirty="0"/>
          </a:p>
        </p:txBody>
      </p:sp>
      <p:sp>
        <p:nvSpPr>
          <p:cNvPr id="16" name="Shape 11"/>
          <p:cNvSpPr/>
          <p:nvPr/>
        </p:nvSpPr>
        <p:spPr>
          <a:xfrm>
            <a:off x="548640" y="3657600"/>
            <a:ext cx="5431536" cy="1645920"/>
          </a:xfrm>
          <a:prstGeom prst="roundRect">
            <a:avLst>
              <a:gd name="adj" fmla="val 5556"/>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7" name="Shape 12"/>
          <p:cNvSpPr/>
          <p:nvPr/>
        </p:nvSpPr>
        <p:spPr>
          <a:xfrm>
            <a:off x="722376" y="3973068"/>
            <a:ext cx="1014984" cy="1014984"/>
          </a:xfrm>
          <a:prstGeom prst="ellipse">
            <a:avLst/>
          </a:prstGeom>
          <a:solidFill>
            <a:srgbClr val="2E75B6"/>
          </a:solidFill>
          <a:ln/>
        </p:spPr>
      </p:sp>
      <p:pic>
        <p:nvPicPr>
          <p:cNvPr id="18" name="Image 2" descr="Portrait of samuel">    </p:cNvPr>
          <p:cNvPicPr>
            <a:picLocks noChangeAspect="1"/>
          </p:cNvPicPr>
          <p:nvPr/>
        </p:nvPicPr>
        <p:blipFill>
          <a:blip r:embed="rId3"/>
          <a:stretch>
            <a:fillRect/>
          </a:stretch>
        </p:blipFill>
        <p:spPr>
          <a:xfrm>
            <a:off x="749808" y="4000500"/>
            <a:ext cx="960120" cy="960120"/>
          </a:xfrm>
          <a:prstGeom prst="rect">
            <a:avLst/>
          </a:prstGeom>
        </p:spPr>
      </p:pic>
      <p:sp>
        <p:nvSpPr>
          <p:cNvPr id="19" name="Text 13"/>
          <p:cNvSpPr txBox="1"/>
          <p:nvPr/>
        </p:nvSpPr>
        <p:spPr>
          <a:xfrm>
            <a:off x="1920240" y="3749040"/>
            <a:ext cx="3877056" cy="384048"/>
          </a:xfrm>
          <a:prstGeom prst="rect">
            <a:avLst/>
          </a:prstGeom>
          <a:noFill/>
          <a:ln/>
        </p:spPr>
        <p:txBody>
          <a:bodyPr wrap="square" lIns="0" tIns="0" rIns="0" bIns="0" rtlCol="0" anchor="ctr"/>
          <a:lstStyle/>
          <a:p>
            <a:pPr indent="0" marL="0">
              <a:buNone/>
            </a:pPr>
            <a:r>
              <a:rPr lang="en-US" sz="1800" b="1" dirty="0">
                <a:solidFill>
                  <a:schemeClr val="accent2"/>
                </a:solidFill>
                <a:latin typeface="+mj-lt" pitchFamily="34" charset="0"/>
                <a:ea typeface="+mj-lt" pitchFamily="34" charset="-122"/>
                <a:cs typeface="+mj-lt" pitchFamily="34" charset="-120"/>
              </a:rPr>
              <a:t>Samuel</a:t>
            </a:r>
            <a:r>
              <a:rPr lang="en-US" sz="1300" i="1" dirty="0">
                <a:solidFill>
                  <a:schemeClr val="accent5"/>
                </a:solidFill>
              </a:rPr>
              <a:t>   behind the server rack</a:t>
            </a:r>
            <a:endParaRPr lang="en-US" sz="1800" dirty="0"/>
          </a:p>
        </p:txBody>
      </p:sp>
      <p:sp>
        <p:nvSpPr>
          <p:cNvPr id="20" name="Text 14"/>
          <p:cNvSpPr txBox="1"/>
          <p:nvPr/>
        </p:nvSpPr>
        <p:spPr>
          <a:xfrm>
            <a:off x="1920240" y="4160520"/>
            <a:ext cx="3877056" cy="107899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You were</a:t>
            </a:r>
            <a:r>
              <a:rPr lang="en-US" sz="1700" dirty="0">
                <a:solidFill>
                  <a:schemeClr val="tx1"/>
                </a:solidFill>
              </a:rPr>
              <a:t> checking the server rack.</a:t>
            </a:r>
            <a:endParaRPr lang="en-US" sz="1700" dirty="0"/>
          </a:p>
          <a:p>
            <a:pPr indent="0" marL="0">
              <a:spcAft>
                <a:spcPts val="400"/>
              </a:spcAft>
              <a:buNone/>
            </a:pPr>
            <a:r>
              <a:rPr lang="en-US" sz="1700" b="1" dirty="0">
                <a:solidFill>
                  <a:schemeClr val="tx1"/>
                </a:solidFill>
              </a:rPr>
              <a:t>You know:</a:t>
            </a:r>
            <a:r>
              <a:rPr lang="en-US" sz="1700" dirty="0">
                <a:solidFill>
                  <a:schemeClr val="tx1"/>
                </a:solidFill>
              </a:rPr>
              <a:t> the alarm went off at 11.40.</a:t>
            </a:r>
            <a:endParaRPr lang="en-US" sz="1700" dirty="0"/>
          </a:p>
          <a:p>
            <a:pPr indent="0" marL="0">
              <a:spcAft>
                <a:spcPts val="400"/>
              </a:spcAft>
              <a:buNone/>
            </a:pPr>
            <a:r>
              <a:rPr lang="en-US" sz="1700" b="1" dirty="0">
                <a:solidFill>
                  <a:schemeClr val="tx1"/>
                </a:solidFill>
              </a:rPr>
              <a:t>You don’t know:</a:t>
            </a:r>
            <a:r>
              <a:rPr lang="en-US" sz="1700" dirty="0">
                <a:solidFill>
                  <a:schemeClr val="tx1"/>
                </a:solidFill>
              </a:rPr>
              <a:t> who was on site.</a:t>
            </a:r>
            <a:endParaRPr lang="en-US" sz="1700" dirty="0"/>
          </a:p>
        </p:txBody>
      </p:sp>
      <p:sp>
        <p:nvSpPr>
          <p:cNvPr id="21" name="Shape 15"/>
          <p:cNvSpPr/>
          <p:nvPr/>
        </p:nvSpPr>
        <p:spPr>
          <a:xfrm>
            <a:off x="6208776" y="3657600"/>
            <a:ext cx="5431536" cy="1645920"/>
          </a:xfrm>
          <a:prstGeom prst="roundRect">
            <a:avLst>
              <a:gd name="adj" fmla="val 5556"/>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22" name="Shape 16"/>
          <p:cNvSpPr/>
          <p:nvPr/>
        </p:nvSpPr>
        <p:spPr>
          <a:xfrm>
            <a:off x="6382512" y="3973068"/>
            <a:ext cx="1014984" cy="1014984"/>
          </a:xfrm>
          <a:prstGeom prst="ellipse">
            <a:avLst/>
          </a:prstGeom>
          <a:solidFill>
            <a:srgbClr val="C0752A"/>
          </a:solidFill>
          <a:ln/>
        </p:spPr>
      </p:sp>
      <p:pic>
        <p:nvPicPr>
          <p:cNvPr id="23" name="Image 3" descr="preencoded.png">    </p:cNvPr>
          <p:cNvPicPr>
            <a:picLocks noChangeAspect="1"/>
          </p:cNvPicPr>
          <p:nvPr/>
        </p:nvPicPr>
        <p:blipFill>
          <a:blip r:embed="rId4"/>
          <a:stretch>
            <a:fillRect/>
          </a:stretch>
        </p:blipFill>
        <p:spPr>
          <a:xfrm>
            <a:off x="6636258" y="4226814"/>
            <a:ext cx="507492" cy="507492"/>
          </a:xfrm>
          <a:prstGeom prst="rect">
            <a:avLst/>
          </a:prstGeom>
        </p:spPr>
      </p:pic>
      <p:sp>
        <p:nvSpPr>
          <p:cNvPr id="24" name="Text 17"/>
          <p:cNvSpPr txBox="1"/>
          <p:nvPr/>
        </p:nvSpPr>
        <p:spPr>
          <a:xfrm>
            <a:off x="7580376" y="3749040"/>
            <a:ext cx="3877056" cy="384048"/>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The cleaner</a:t>
            </a:r>
            <a:r>
              <a:rPr lang="en-US" sz="1300" i="1" dirty="0">
                <a:solidFill>
                  <a:schemeClr val="accent5"/>
                </a:solidFill>
              </a:rPr>
              <a:t>   cleaning team, 06.50</a:t>
            </a:r>
            <a:endParaRPr lang="en-US" sz="1800" dirty="0"/>
          </a:p>
        </p:txBody>
      </p:sp>
      <p:sp>
        <p:nvSpPr>
          <p:cNvPr id="25" name="Text 18"/>
          <p:cNvSpPr txBox="1"/>
          <p:nvPr/>
        </p:nvSpPr>
        <p:spPr>
          <a:xfrm>
            <a:off x="7580376" y="4160520"/>
            <a:ext cx="3877056" cy="1078992"/>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You were</a:t>
            </a:r>
            <a:r>
              <a:rPr lang="en-US" sz="1700" dirty="0">
                <a:solidFill>
                  <a:schemeClr val="tx1"/>
                </a:solidFill>
              </a:rPr>
              <a:t> pushing your trolley.</a:t>
            </a:r>
            <a:endParaRPr lang="en-US" sz="1700" dirty="0"/>
          </a:p>
          <a:p>
            <a:pPr indent="0" marL="0">
              <a:spcAft>
                <a:spcPts val="400"/>
              </a:spcAft>
              <a:buNone/>
            </a:pPr>
            <a:r>
              <a:rPr lang="en-US" sz="1700" b="1" dirty="0">
                <a:solidFill>
                  <a:schemeClr val="tx1"/>
                </a:solidFill>
              </a:rPr>
              <a:t>You know:</a:t>
            </a:r>
            <a:r>
              <a:rPr lang="en-US" sz="1700" dirty="0">
                <a:solidFill>
                  <a:schemeClr val="tx1"/>
                </a:solidFill>
              </a:rPr>
              <a:t> water was running at 6.50.</a:t>
            </a:r>
            <a:endParaRPr lang="en-US" sz="1700" dirty="0"/>
          </a:p>
          <a:p>
            <a:pPr indent="0" marL="0">
              <a:spcAft>
                <a:spcPts val="400"/>
              </a:spcAft>
              <a:buNone/>
            </a:pPr>
            <a:r>
              <a:rPr lang="en-US" sz="1700" b="1" dirty="0">
                <a:solidFill>
                  <a:schemeClr val="tx1"/>
                </a:solidFill>
              </a:rPr>
              <a:t>You don’t know:</a:t>
            </a:r>
            <a:r>
              <a:rPr lang="en-US" sz="1700" dirty="0">
                <a:solidFill>
                  <a:schemeClr val="tx1"/>
                </a:solidFill>
              </a:rPr>
              <a:t> when it started.</a:t>
            </a:r>
            <a:endParaRPr lang="en-US" sz="1700" dirty="0"/>
          </a:p>
        </p:txBody>
      </p:sp>
      <p:sp>
        <p:nvSpPr>
          <p:cNvPr id="26" name="Shape 19"/>
          <p:cNvSpPr/>
          <p:nvPr/>
        </p:nvSpPr>
        <p:spPr>
          <a:xfrm>
            <a:off x="548640" y="5532120"/>
            <a:ext cx="11091672" cy="777240"/>
          </a:xfrm>
          <a:prstGeom prst="roundRect">
            <a:avLst>
              <a:gd name="adj" fmla="val 9412"/>
            </a:avLst>
          </a:prstGeom>
          <a:solidFill>
            <a:srgbClr val="6E4A9E">
              <a:alpha val="9000"/>
            </a:srgbClr>
          </a:solidFill>
          <a:ln w="12700">
            <a:solidFill>
              <a:srgbClr val="6E4A9E"/>
            </a:solidFill>
            <a:prstDash val="solid"/>
          </a:ln>
        </p:spPr>
      </p:sp>
      <p:pic>
        <p:nvPicPr>
          <p:cNvPr id="27" name="Image 4" descr="preencoded.png">    </p:cNvPr>
          <p:cNvPicPr>
            <a:picLocks noChangeAspect="1"/>
          </p:cNvPicPr>
          <p:nvPr/>
        </p:nvPicPr>
        <p:blipFill>
          <a:blip r:embed="rId5"/>
          <a:stretch>
            <a:fillRect/>
          </a:stretch>
        </p:blipFill>
        <p:spPr>
          <a:xfrm>
            <a:off x="777240" y="5737860"/>
            <a:ext cx="365760" cy="365760"/>
          </a:xfrm>
          <a:prstGeom prst="rect">
            <a:avLst/>
          </a:prstGeom>
        </p:spPr>
      </p:pic>
      <p:sp>
        <p:nvSpPr>
          <p:cNvPr id="28" name="Text 20"/>
          <p:cNvSpPr txBox="1"/>
          <p:nvPr/>
        </p:nvSpPr>
        <p:spPr>
          <a:xfrm>
            <a:off x="1325880" y="5605272"/>
            <a:ext cx="10085832" cy="630936"/>
          </a:xfrm>
          <a:prstGeom prst="rect">
            <a:avLst/>
          </a:prstGeom>
          <a:noFill/>
          <a:ln/>
        </p:spPr>
        <p:txBody>
          <a:bodyPr wrap="square" lIns="0" tIns="0" rIns="0" bIns="0" rtlCol="0" anchor="ctr"/>
          <a:lstStyle/>
          <a:p>
            <a:pPr indent="0" marL="0">
              <a:buNone/>
            </a:pPr>
            <a:r>
              <a:rPr lang="en-US" sz="1700" b="1" dirty="0">
                <a:solidFill>
                  <a:schemeClr val="tx1"/>
                </a:solidFill>
              </a:rPr>
              <a:t>One student = one character</a:t>
            </a:r>
            <a:r>
              <a:rPr lang="en-US" sz="1700" dirty="0">
                <a:solidFill>
                  <a:schemeClr val="tx1"/>
                </a:solidFill>
              </a:rPr>
              <a:t>, two minutes in the hot seat. The class asks: </a:t>
            </a:r>
            <a:r>
              <a:rPr lang="en-US" sz="1700" i="1" dirty="0">
                <a:solidFill>
                  <a:schemeClr val="tx1"/>
                </a:solidFill>
              </a:rPr>
              <a:t>What were you doing when…? · How do you know? · Are you sure?</a:t>
            </a:r>
            <a:r>
              <a:rPr lang="en-US" sz="1700" dirty="0">
                <a:solidFill>
                  <a:schemeClr val="tx1"/>
                </a:solidFill>
              </a:rPr>
              <a:t> — answer </a:t>
            </a:r>
            <a:r>
              <a:rPr lang="en-US" sz="1700" b="1" dirty="0">
                <a:solidFill>
                  <a:schemeClr val="tx1"/>
                </a:solidFill>
              </a:rPr>
              <a:t>in character</a:t>
            </a:r>
            <a:r>
              <a:rPr lang="en-US" sz="1700" dirty="0">
                <a:solidFill>
                  <a:schemeClr val="tx1"/>
                </a:solidFill>
              </a:rPr>
              <a:t>, with a certainty word.</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Act it out — three rounds</a:t>
            </a:r>
            <a:endParaRPr lang="en-US" sz="3200" dirty="0"/>
          </a:p>
        </p:txBody>
      </p:sp>
      <p:sp>
        <p:nvSpPr>
          <p:cNvPr id="3" name="tag"/>
          <p:cNvSpPr/>
          <p:nvPr/>
        </p:nvSpPr>
        <p:spPr>
          <a:xfrm>
            <a:off x="548640" y="384048"/>
            <a:ext cx="12801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SPEAKING</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5" name="Shape 3"/>
          <p:cNvSpPr/>
          <p:nvPr/>
        </p:nvSpPr>
        <p:spPr>
          <a:xfrm>
            <a:off x="548640" y="1783080"/>
            <a:ext cx="3514344" cy="3477768"/>
          </a:xfrm>
          <a:prstGeom prst="roundRect">
            <a:avLst>
              <a:gd name="adj" fmla="val 2629"/>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6" name="Shape 4"/>
          <p:cNvSpPr/>
          <p:nvPr/>
        </p:nvSpPr>
        <p:spPr>
          <a:xfrm>
            <a:off x="548640" y="1783080"/>
            <a:ext cx="3514344" cy="502920"/>
          </a:xfrm>
          <a:prstGeom prst="roundRect">
            <a:avLst>
              <a:gd name="adj" fmla="val 18182"/>
            </a:avLst>
          </a:prstGeom>
          <a:solidFill>
            <a:srgbClr val="6E4A9E"/>
          </a:solidFill>
          <a:ln/>
        </p:spPr>
      </p:sp>
      <p:sp>
        <p:nvSpPr>
          <p:cNvPr id="7" name="Shape 5"/>
          <p:cNvSpPr/>
          <p:nvPr/>
        </p:nvSpPr>
        <p:spPr>
          <a:xfrm>
            <a:off x="548640" y="2057400"/>
            <a:ext cx="3514344" cy="228600"/>
          </a:xfrm>
          <a:prstGeom prst="rect">
            <a:avLst/>
          </a:prstGeom>
          <a:solidFill>
            <a:srgbClr val="6E4A9E"/>
          </a:solidFill>
          <a:ln/>
        </p:spPr>
      </p:sp>
      <p:pic>
        <p:nvPicPr>
          <p:cNvPr id="8" name="Image 0" descr="preencoded.png">    </p:cNvPr>
          <p:cNvPicPr>
            <a:picLocks noChangeAspect="1"/>
          </p:cNvPicPr>
          <p:nvPr/>
        </p:nvPicPr>
        <p:blipFill>
          <a:blip r:embed="rId1"/>
          <a:stretch>
            <a:fillRect/>
          </a:stretch>
        </p:blipFill>
        <p:spPr>
          <a:xfrm>
            <a:off x="731520" y="1892808"/>
            <a:ext cx="283464" cy="283464"/>
          </a:xfrm>
          <a:prstGeom prst="rect">
            <a:avLst/>
          </a:prstGeom>
        </p:spPr>
      </p:pic>
      <p:sp>
        <p:nvSpPr>
          <p:cNvPr id="9" name="Text 6"/>
          <p:cNvSpPr txBox="1"/>
          <p:nvPr/>
        </p:nvSpPr>
        <p:spPr>
          <a:xfrm>
            <a:off x="1115568" y="1783080"/>
            <a:ext cx="2782824" cy="502920"/>
          </a:xfrm>
          <a:prstGeom prst="rect">
            <a:avLst/>
          </a:prstGeom>
          <a:noFill/>
          <a:ln/>
        </p:spPr>
        <p:txBody>
          <a:bodyPr wrap="square" lIns="0" tIns="0" rIns="0" bIns="0" rtlCol="0" anchor="ctr"/>
          <a:lstStyle/>
          <a:p>
            <a:pPr indent="0" marL="0">
              <a:buNone/>
            </a:pPr>
            <a:r>
              <a:rPr lang="en-US" sz="1400" b="1" spc="100" kern="0" dirty="0">
                <a:solidFill>
                  <a:schemeClr val="bg1"/>
                </a:solidFill>
              </a:rPr>
              <a:t>ROUND 1 — READ</a:t>
            </a:r>
            <a:endParaRPr lang="en-US" sz="1400" dirty="0"/>
          </a:p>
        </p:txBody>
      </p:sp>
      <p:sp>
        <p:nvSpPr>
          <p:cNvPr id="10" name="Text 7"/>
          <p:cNvSpPr txBox="1"/>
          <p:nvPr/>
        </p:nvSpPr>
        <p:spPr>
          <a:xfrm>
            <a:off x="731520" y="2441448"/>
            <a:ext cx="3148584" cy="2709672"/>
          </a:xfrm>
          <a:prstGeom prst="rect">
            <a:avLst/>
          </a:prstGeom>
          <a:noFill/>
          <a:ln/>
        </p:spPr>
        <p:txBody>
          <a:bodyPr wrap="square" lIns="0" tIns="0" rIns="0" bIns="0" rtlCol="0" anchor="t"/>
          <a:lstStyle/>
          <a:p>
            <a:pPr marL="190500" indent="-190500">
              <a:spcAft>
                <a:spcPts val="700"/>
              </a:spcAft>
              <a:buSzPct val="100000"/>
              <a:buChar char="•"/>
            </a:pPr>
            <a:r>
              <a:rPr lang="en-US" sz="2000" dirty="0">
                <a:solidFill>
                  <a:schemeClr val="tx1"/>
                </a:solidFill>
              </a:rPr>
              <a:t>Groups of four: </a:t>
            </a:r>
            <a:r>
              <a:rPr lang="en-US" sz="2000" b="1" dirty="0">
                <a:solidFill>
                  <a:schemeClr val="tx1"/>
                </a:solidFill>
              </a:rPr>
              <a:t>Mark · You · Iris · Samuel</a:t>
            </a:r>
            <a:r>
              <a:rPr lang="en-US" sz="2000" dirty="0">
                <a:solidFill>
                  <a:schemeClr val="tx1"/>
                </a:solidFill>
              </a:rPr>
              <a:t>.</a:t>
            </a:r>
            <a:endParaRPr lang="en-US" sz="2000" dirty="0"/>
          </a:p>
          <a:p>
            <a:pPr marL="190500" indent="-190500">
              <a:spcAft>
                <a:spcPts val="700"/>
              </a:spcAft>
              <a:buSzPct val="100000"/>
              <a:buChar char="•"/>
            </a:pPr>
            <a:r>
              <a:rPr lang="en-US" sz="2000" dirty="0">
                <a:solidFill>
                  <a:schemeClr val="tx1"/>
                </a:solidFill>
              </a:rPr>
              <a:t>Read lines 01–15 aloud, then swap roles.</a:t>
            </a:r>
            <a:endParaRPr lang="en-US" sz="2000" dirty="0"/>
          </a:p>
        </p:txBody>
      </p:sp>
      <p:sp>
        <p:nvSpPr>
          <p:cNvPr id="11" name="Shape 8"/>
          <p:cNvSpPr/>
          <p:nvPr/>
        </p:nvSpPr>
        <p:spPr>
          <a:xfrm>
            <a:off x="4337304" y="1783080"/>
            <a:ext cx="3514344" cy="3477768"/>
          </a:xfrm>
          <a:prstGeom prst="roundRect">
            <a:avLst>
              <a:gd name="adj" fmla="val 2629"/>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2" name="Shape 9"/>
          <p:cNvSpPr/>
          <p:nvPr/>
        </p:nvSpPr>
        <p:spPr>
          <a:xfrm>
            <a:off x="4337304" y="1783080"/>
            <a:ext cx="3514344" cy="502920"/>
          </a:xfrm>
          <a:prstGeom prst="roundRect">
            <a:avLst>
              <a:gd name="adj" fmla="val 18182"/>
            </a:avLst>
          </a:prstGeom>
          <a:solidFill>
            <a:srgbClr val="C0752A"/>
          </a:solidFill>
          <a:ln/>
        </p:spPr>
      </p:sp>
      <p:sp>
        <p:nvSpPr>
          <p:cNvPr id="13" name="Shape 10"/>
          <p:cNvSpPr/>
          <p:nvPr/>
        </p:nvSpPr>
        <p:spPr>
          <a:xfrm>
            <a:off x="4337304" y="2057400"/>
            <a:ext cx="3514344" cy="228600"/>
          </a:xfrm>
          <a:prstGeom prst="rect">
            <a:avLst/>
          </a:prstGeom>
          <a:solidFill>
            <a:srgbClr val="C0752A"/>
          </a:solidFill>
          <a:ln/>
        </p:spPr>
      </p:sp>
      <p:pic>
        <p:nvPicPr>
          <p:cNvPr id="14" name="Image 1" descr="preencoded.png">    </p:cNvPr>
          <p:cNvPicPr>
            <a:picLocks noChangeAspect="1"/>
          </p:cNvPicPr>
          <p:nvPr/>
        </p:nvPicPr>
        <p:blipFill>
          <a:blip r:embed="rId2"/>
          <a:stretch>
            <a:fillRect/>
          </a:stretch>
        </p:blipFill>
        <p:spPr>
          <a:xfrm>
            <a:off x="4520184" y="1892808"/>
            <a:ext cx="283464" cy="283464"/>
          </a:xfrm>
          <a:prstGeom prst="rect">
            <a:avLst/>
          </a:prstGeom>
        </p:spPr>
      </p:pic>
      <p:sp>
        <p:nvSpPr>
          <p:cNvPr id="15" name="Text 11"/>
          <p:cNvSpPr txBox="1"/>
          <p:nvPr/>
        </p:nvSpPr>
        <p:spPr>
          <a:xfrm>
            <a:off x="4904232" y="1783080"/>
            <a:ext cx="2782824" cy="502920"/>
          </a:xfrm>
          <a:prstGeom prst="rect">
            <a:avLst/>
          </a:prstGeom>
          <a:noFill/>
          <a:ln/>
        </p:spPr>
        <p:txBody>
          <a:bodyPr wrap="square" lIns="0" tIns="0" rIns="0" bIns="0" rtlCol="0" anchor="ctr"/>
          <a:lstStyle/>
          <a:p>
            <a:pPr indent="0" marL="0">
              <a:buNone/>
            </a:pPr>
            <a:r>
              <a:rPr lang="en-US" sz="1400" b="1" spc="100" kern="0" dirty="0">
                <a:solidFill>
                  <a:schemeClr val="bg1"/>
                </a:solidFill>
              </a:rPr>
              <a:t>ROUND 2 — PROMPTS ONLY</a:t>
            </a:r>
            <a:endParaRPr lang="en-US" sz="1400" dirty="0"/>
          </a:p>
        </p:txBody>
      </p:sp>
      <p:sp>
        <p:nvSpPr>
          <p:cNvPr id="16" name="Text 12"/>
          <p:cNvSpPr txBox="1"/>
          <p:nvPr/>
        </p:nvSpPr>
        <p:spPr>
          <a:xfrm>
            <a:off x="4520184" y="2441448"/>
            <a:ext cx="3148584" cy="2709672"/>
          </a:xfrm>
          <a:prstGeom prst="rect">
            <a:avLst/>
          </a:prstGeom>
          <a:noFill/>
          <a:ln/>
        </p:spPr>
        <p:txBody>
          <a:bodyPr wrap="square" lIns="0" tIns="0" rIns="0" bIns="0" rtlCol="0" anchor="t"/>
          <a:lstStyle/>
          <a:p>
            <a:pPr marL="190500" indent="-190500">
              <a:spcAft>
                <a:spcPts val="700"/>
              </a:spcAft>
              <a:buSzPct val="100000"/>
              <a:buChar char="•"/>
            </a:pPr>
            <a:r>
              <a:rPr lang="en-US" sz="2000" dirty="0">
                <a:solidFill>
                  <a:schemeClr val="tx1"/>
                </a:solidFill>
              </a:rPr>
              <a:t>Close the booklet.</a:t>
            </a:r>
            <a:endParaRPr lang="en-US" sz="2000" dirty="0"/>
          </a:p>
          <a:p>
            <a:pPr marL="190500" indent="-190500">
              <a:spcAft>
                <a:spcPts val="700"/>
              </a:spcAft>
              <a:buSzPct val="100000"/>
              <a:buChar char="•"/>
            </a:pPr>
            <a:r>
              <a:rPr lang="en-US" sz="2000" dirty="0">
                <a:solidFill>
                  <a:schemeClr val="tx1"/>
                </a:solidFill>
              </a:rPr>
              <a:t>Replay the scene from these prompts: </a:t>
            </a:r>
            <a:r>
              <a:rPr lang="en-US" sz="2000" i="1" dirty="0">
                <a:solidFill>
                  <a:schemeClr val="tx1"/>
                </a:solidFill>
              </a:rPr>
              <a:t>early · seven · water · not yet · two units · all night · until eight · 11.40 · insurer · worse · November · nine</a:t>
            </a:r>
            <a:endParaRPr lang="en-US" sz="2000" dirty="0"/>
          </a:p>
        </p:txBody>
      </p:sp>
      <p:sp>
        <p:nvSpPr>
          <p:cNvPr id="17" name="Shape 13"/>
          <p:cNvSpPr/>
          <p:nvPr/>
        </p:nvSpPr>
        <p:spPr>
          <a:xfrm>
            <a:off x="8125968" y="1783080"/>
            <a:ext cx="3514344" cy="3477768"/>
          </a:xfrm>
          <a:prstGeom prst="roundRect">
            <a:avLst>
              <a:gd name="adj" fmla="val 2629"/>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8" name="Shape 14"/>
          <p:cNvSpPr/>
          <p:nvPr/>
        </p:nvSpPr>
        <p:spPr>
          <a:xfrm>
            <a:off x="8125968" y="1783080"/>
            <a:ext cx="3514344" cy="502920"/>
          </a:xfrm>
          <a:prstGeom prst="roundRect">
            <a:avLst>
              <a:gd name="adj" fmla="val 18182"/>
            </a:avLst>
          </a:prstGeom>
          <a:solidFill>
            <a:srgbClr val="B4236A"/>
          </a:solidFill>
          <a:ln/>
        </p:spPr>
      </p:sp>
      <p:sp>
        <p:nvSpPr>
          <p:cNvPr id="19" name="Shape 15"/>
          <p:cNvSpPr/>
          <p:nvPr/>
        </p:nvSpPr>
        <p:spPr>
          <a:xfrm>
            <a:off x="8125968" y="2057400"/>
            <a:ext cx="3514344" cy="228600"/>
          </a:xfrm>
          <a:prstGeom prst="rect">
            <a:avLst/>
          </a:prstGeom>
          <a:solidFill>
            <a:srgbClr val="B4236A"/>
          </a:solidFill>
          <a:ln/>
        </p:spPr>
      </p:sp>
      <p:pic>
        <p:nvPicPr>
          <p:cNvPr id="20" name="Image 2" descr="preencoded.png">    </p:cNvPr>
          <p:cNvPicPr>
            <a:picLocks noChangeAspect="1"/>
          </p:cNvPicPr>
          <p:nvPr/>
        </p:nvPicPr>
        <p:blipFill>
          <a:blip r:embed="rId3"/>
          <a:stretch>
            <a:fillRect/>
          </a:stretch>
        </p:blipFill>
        <p:spPr>
          <a:xfrm>
            <a:off x="8308848" y="1892808"/>
            <a:ext cx="283464" cy="283464"/>
          </a:xfrm>
          <a:prstGeom prst="rect">
            <a:avLst/>
          </a:prstGeom>
        </p:spPr>
      </p:pic>
      <p:sp>
        <p:nvSpPr>
          <p:cNvPr id="21" name="Text 16"/>
          <p:cNvSpPr txBox="1"/>
          <p:nvPr/>
        </p:nvSpPr>
        <p:spPr>
          <a:xfrm>
            <a:off x="8692896" y="1783080"/>
            <a:ext cx="2782824" cy="502920"/>
          </a:xfrm>
          <a:prstGeom prst="rect">
            <a:avLst/>
          </a:prstGeom>
          <a:noFill/>
          <a:ln/>
        </p:spPr>
        <p:txBody>
          <a:bodyPr wrap="square" lIns="0" tIns="0" rIns="0" bIns="0" rtlCol="0" anchor="ctr"/>
          <a:lstStyle/>
          <a:p>
            <a:pPr indent="0" marL="0">
              <a:buNone/>
            </a:pPr>
            <a:r>
              <a:rPr lang="en-US" sz="1400" b="1" spc="100" kern="0" dirty="0">
                <a:solidFill>
                  <a:schemeClr val="bg1"/>
                </a:solidFill>
              </a:rPr>
              <a:t>ROUND 3 — MOOD CARDS</a:t>
            </a:r>
            <a:endParaRPr lang="en-US" sz="1400" dirty="0"/>
          </a:p>
        </p:txBody>
      </p:sp>
      <p:sp>
        <p:nvSpPr>
          <p:cNvPr id="22" name="Text 17"/>
          <p:cNvSpPr txBox="1"/>
          <p:nvPr/>
        </p:nvSpPr>
        <p:spPr>
          <a:xfrm>
            <a:off x="8308848" y="2441448"/>
            <a:ext cx="3148584" cy="2709672"/>
          </a:xfrm>
          <a:prstGeom prst="rect">
            <a:avLst/>
          </a:prstGeom>
          <a:noFill/>
          <a:ln/>
        </p:spPr>
        <p:txBody>
          <a:bodyPr wrap="square" lIns="0" tIns="0" rIns="0" bIns="0" rtlCol="0" anchor="t"/>
          <a:lstStyle/>
          <a:p>
            <a:pPr marL="190500" indent="-190500">
              <a:spcAft>
                <a:spcPts val="700"/>
              </a:spcAft>
              <a:buSzPct val="100000"/>
              <a:buChar char="•"/>
            </a:pPr>
            <a:r>
              <a:rPr lang="en-US" sz="2000" dirty="0">
                <a:solidFill>
                  <a:schemeClr val="tx1"/>
                </a:solidFill>
              </a:rPr>
              <a:t>Each player draws a </a:t>
            </a:r>
            <a:r>
              <a:rPr lang="en-US" sz="2000" b="1" dirty="0">
                <a:solidFill>
                  <a:schemeClr val="tx1"/>
                </a:solidFill>
              </a:rPr>
              <a:t>mood</a:t>
            </a:r>
            <a:r>
              <a:rPr lang="en-US" sz="2000" dirty="0">
                <a:solidFill>
                  <a:schemeClr val="tx1"/>
                </a:solidFill>
              </a:rPr>
              <a:t> (next slide).</a:t>
            </a:r>
            <a:endParaRPr lang="en-US" sz="2000" dirty="0"/>
          </a:p>
          <a:p>
            <a:pPr marL="190500" indent="-190500">
              <a:spcAft>
                <a:spcPts val="700"/>
              </a:spcAft>
              <a:buSzPct val="100000"/>
              <a:buChar char="•"/>
            </a:pPr>
            <a:r>
              <a:rPr lang="en-US" sz="2000" dirty="0">
                <a:solidFill>
                  <a:schemeClr val="tx1"/>
                </a:solidFill>
              </a:rPr>
              <a:t>Replay the scene in that mood.</a:t>
            </a:r>
            <a:endParaRPr lang="en-US" sz="2000" dirty="0"/>
          </a:p>
          <a:p>
            <a:pPr marL="190500" indent="-190500">
              <a:spcAft>
                <a:spcPts val="700"/>
              </a:spcAft>
              <a:buSzPct val="100000"/>
              <a:buChar char="•"/>
            </a:pPr>
            <a:r>
              <a:rPr lang="en-US" sz="2000" dirty="0">
                <a:solidFill>
                  <a:schemeClr val="tx1"/>
                </a:solidFill>
              </a:rPr>
              <a:t>The class guesses the moods.</a:t>
            </a:r>
            <a:endParaRPr lang="en-US" sz="2000" dirty="0"/>
          </a:p>
        </p:txBody>
      </p:sp>
      <p:sp>
        <p:nvSpPr>
          <p:cNvPr id="23" name="Shape 18"/>
          <p:cNvSpPr/>
          <p:nvPr/>
        </p:nvSpPr>
        <p:spPr>
          <a:xfrm>
            <a:off x="548640" y="5535168"/>
            <a:ext cx="11091672" cy="774192"/>
          </a:xfrm>
          <a:prstGeom prst="roundRect">
            <a:avLst>
              <a:gd name="adj" fmla="val 9449"/>
            </a:avLst>
          </a:prstGeom>
          <a:solidFill>
            <a:srgbClr val="2E75B6">
              <a:alpha val="8000"/>
            </a:srgbClr>
          </a:solidFill>
          <a:ln w="12700">
            <a:solidFill>
              <a:srgbClr val="2E75B6"/>
            </a:solidFill>
            <a:prstDash val="solid"/>
          </a:ln>
        </p:spPr>
      </p:sp>
      <p:pic>
        <p:nvPicPr>
          <p:cNvPr id="24" name="Image 3" descr="preencoded.png">    </p:cNvPr>
          <p:cNvPicPr>
            <a:picLocks noChangeAspect="1"/>
          </p:cNvPicPr>
          <p:nvPr/>
        </p:nvPicPr>
        <p:blipFill>
          <a:blip r:embed="rId4"/>
          <a:stretch>
            <a:fillRect/>
          </a:stretch>
        </p:blipFill>
        <p:spPr>
          <a:xfrm>
            <a:off x="777240" y="5739384"/>
            <a:ext cx="365760" cy="365760"/>
          </a:xfrm>
          <a:prstGeom prst="rect">
            <a:avLst/>
          </a:prstGeom>
        </p:spPr>
      </p:pic>
      <p:sp>
        <p:nvSpPr>
          <p:cNvPr id="25" name="Text 19"/>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2"/>
                </a:solidFill>
              </a:rPr>
              <a:t>Pronunciation — </a:t>
            </a:r>
            <a:r>
              <a:rPr lang="en-US" sz="1800" i="1" dirty="0">
                <a:solidFill>
                  <a:schemeClr val="tx1"/>
                </a:solidFill>
              </a:rPr>
              <a:t>I’ve looked · we’ve had</a:t>
            </a:r>
            <a:r>
              <a:rPr lang="en-US" sz="1800" dirty="0">
                <a:solidFill>
                  <a:schemeClr val="tx1"/>
                </a:solidFill>
              </a:rPr>
              <a:t> — contract! · Yes/no questions go </a:t>
            </a:r>
            <a:r>
              <a:rPr lang="en-US" sz="1800" b="1" dirty="0">
                <a:solidFill>
                  <a:schemeClr val="tx1"/>
                </a:solidFill>
              </a:rPr>
              <a:t>up ↗</a:t>
            </a:r>
            <a:r>
              <a:rPr lang="en-US" sz="1800" dirty="0">
                <a:solidFill>
                  <a:schemeClr val="tx1"/>
                </a:solidFill>
              </a:rPr>
              <a:t>: </a:t>
            </a:r>
            <a:r>
              <a:rPr lang="en-US" sz="1800" i="1" dirty="0">
                <a:solidFill>
                  <a:schemeClr val="tx1"/>
                </a:solidFill>
              </a:rPr>
              <a:t>Has anyone told the insurer yet?</a:t>
            </a:r>
            <a:r>
              <a:rPr lang="en-US" sz="1800" dirty="0">
                <a:solidFill>
                  <a:schemeClr val="tx1"/>
                </a:solidFill>
              </a:rPr>
              <a:t> · ceiling /ˈsiːlɪŋ/ · soaked /səʊkt/</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Mood cards</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Shape 3"/>
          <p:cNvSpPr/>
          <p:nvPr/>
        </p:nvSpPr>
        <p:spPr>
          <a:xfrm>
            <a:off x="548640" y="1783080"/>
            <a:ext cx="3514344" cy="1682496"/>
          </a:xfrm>
          <a:prstGeom prst="roundRect">
            <a:avLst>
              <a:gd name="adj" fmla="val 4348"/>
            </a:avLst>
          </a:prstGeom>
          <a:solidFill>
            <a:srgbClr val="B03A2E">
              <a:alpha val="8000"/>
            </a:srgbClr>
          </a:solidFill>
          <a:ln w="12700">
            <a:solidFill>
              <a:srgbClr val="B03A2E"/>
            </a:solidFill>
            <a:prstDash val="solid"/>
          </a:ln>
        </p:spPr>
      </p:sp>
      <p:sp>
        <p:nvSpPr>
          <p:cNvPr id="7" name="Shape 4"/>
          <p:cNvSpPr/>
          <p:nvPr/>
        </p:nvSpPr>
        <p:spPr>
          <a:xfrm>
            <a:off x="777240" y="2167128"/>
            <a:ext cx="914400" cy="914400"/>
          </a:xfrm>
          <a:prstGeom prst="ellipse">
            <a:avLst/>
          </a:prstGeom>
          <a:solidFill>
            <a:srgbClr val="B03A2E"/>
          </a:solidFill>
          <a:ln/>
        </p:spPr>
      </p:sp>
      <p:pic>
        <p:nvPicPr>
          <p:cNvPr id="8" name="Image 0" descr="preencoded.png">    </p:cNvPr>
          <p:cNvPicPr>
            <a:picLocks noChangeAspect="1"/>
          </p:cNvPicPr>
          <p:nvPr/>
        </p:nvPicPr>
        <p:blipFill>
          <a:blip r:embed="rId1"/>
          <a:stretch>
            <a:fillRect/>
          </a:stretch>
        </p:blipFill>
        <p:spPr>
          <a:xfrm>
            <a:off x="1005840" y="2395728"/>
            <a:ext cx="457200" cy="457200"/>
          </a:xfrm>
          <a:prstGeom prst="rect">
            <a:avLst/>
          </a:prstGeom>
        </p:spPr>
      </p:pic>
      <p:sp>
        <p:nvSpPr>
          <p:cNvPr id="9" name="Text 5"/>
          <p:cNvSpPr txBox="1"/>
          <p:nvPr/>
        </p:nvSpPr>
        <p:spPr>
          <a:xfrm>
            <a:off x="1874520" y="1874520"/>
            <a:ext cx="2051304" cy="1499616"/>
          </a:xfrm>
          <a:prstGeom prst="rect">
            <a:avLst/>
          </a:prstGeom>
          <a:noFill/>
          <a:ln/>
        </p:spPr>
        <p:txBody>
          <a:bodyPr wrap="square" lIns="0" tIns="0" rIns="0" bIns="0" rtlCol="0" anchor="ctr"/>
          <a:lstStyle/>
          <a:p>
            <a:pPr indent="0" marL="0">
              <a:buNone/>
            </a:pPr>
            <a:r>
              <a:rPr lang="en-US" sz="2000" b="1" dirty="0">
                <a:solidFill>
                  <a:schemeClr val="accent6"/>
                </a:solidFill>
                <a:latin typeface="+mj-lt" pitchFamily="34" charset="0"/>
                <a:ea typeface="+mj-lt" pitchFamily="34" charset="-122"/>
                <a:cs typeface="+mj-lt" pitchFamily="34" charset="-120"/>
              </a:rPr>
              <a:t>Panicked</a:t>
            </a:r>
            <a:endParaRPr lang="en-US" sz="2000" dirty="0"/>
          </a:p>
          <a:p>
            <a:pPr indent="0" marL="0">
              <a:buNone/>
            </a:pPr>
            <a:r>
              <a:rPr lang="en-US" sz="1500" dirty="0">
                <a:solidFill>
                  <a:schemeClr val="tx1"/>
                </a:solidFill>
              </a:rPr>
              <a:t>Fast, loud, everything is a disaster.</a:t>
            </a:r>
            <a:endParaRPr lang="en-US" sz="2000" dirty="0"/>
          </a:p>
        </p:txBody>
      </p:sp>
      <p:sp>
        <p:nvSpPr>
          <p:cNvPr id="10" name="Shape 6"/>
          <p:cNvSpPr/>
          <p:nvPr/>
        </p:nvSpPr>
        <p:spPr>
          <a:xfrm>
            <a:off x="4337304" y="1783080"/>
            <a:ext cx="3514344" cy="1682496"/>
          </a:xfrm>
          <a:prstGeom prst="roundRect">
            <a:avLst>
              <a:gd name="adj" fmla="val 4348"/>
            </a:avLst>
          </a:prstGeom>
          <a:solidFill>
            <a:srgbClr val="44546A">
              <a:alpha val="8000"/>
            </a:srgbClr>
          </a:solidFill>
          <a:ln w="12700">
            <a:solidFill>
              <a:srgbClr val="44546A"/>
            </a:solidFill>
            <a:prstDash val="solid"/>
          </a:ln>
        </p:spPr>
      </p:sp>
      <p:sp>
        <p:nvSpPr>
          <p:cNvPr id="11" name="Shape 7"/>
          <p:cNvSpPr/>
          <p:nvPr/>
        </p:nvSpPr>
        <p:spPr>
          <a:xfrm>
            <a:off x="4565904" y="2167128"/>
            <a:ext cx="914400" cy="914400"/>
          </a:xfrm>
          <a:prstGeom prst="ellipse">
            <a:avLst/>
          </a:prstGeom>
          <a:solidFill>
            <a:srgbClr val="44546A"/>
          </a:solidFill>
          <a:ln/>
        </p:spPr>
      </p:sp>
      <p:pic>
        <p:nvPicPr>
          <p:cNvPr id="12" name="Image 1" descr="preencoded.png">    </p:cNvPr>
          <p:cNvPicPr>
            <a:picLocks noChangeAspect="1"/>
          </p:cNvPicPr>
          <p:nvPr/>
        </p:nvPicPr>
        <p:blipFill>
          <a:blip r:embed="rId2"/>
          <a:stretch>
            <a:fillRect/>
          </a:stretch>
        </p:blipFill>
        <p:spPr>
          <a:xfrm>
            <a:off x="4794504" y="2395728"/>
            <a:ext cx="457200" cy="457200"/>
          </a:xfrm>
          <a:prstGeom prst="rect">
            <a:avLst/>
          </a:prstGeom>
        </p:spPr>
      </p:pic>
      <p:sp>
        <p:nvSpPr>
          <p:cNvPr id="13" name="Text 8"/>
          <p:cNvSpPr txBox="1"/>
          <p:nvPr/>
        </p:nvSpPr>
        <p:spPr>
          <a:xfrm>
            <a:off x="5663184" y="1874520"/>
            <a:ext cx="2051304" cy="1499616"/>
          </a:xfrm>
          <a:prstGeom prst="rect">
            <a:avLst/>
          </a:prstGeom>
          <a:noFill/>
          <a:ln/>
        </p:spPr>
        <p:txBody>
          <a:bodyPr wrap="square" lIns="0" tIns="0" rIns="0" bIns="0" rtlCol="0" anchor="ctr"/>
          <a:lstStyle/>
          <a:p>
            <a:pPr indent="0" marL="0">
              <a:buNone/>
            </a:pPr>
            <a:r>
              <a:rPr lang="en-US" sz="2000" b="1" dirty="0">
                <a:solidFill>
                  <a:schemeClr val="accent5"/>
                </a:solidFill>
                <a:latin typeface="+mj-lt" pitchFamily="34" charset="0"/>
                <a:ea typeface="+mj-lt" pitchFamily="34" charset="-122"/>
                <a:cs typeface="+mj-lt" pitchFamily="34" charset="-120"/>
              </a:rPr>
              <a:t>Half asleep</a:t>
            </a:r>
            <a:endParaRPr lang="en-US" sz="2000" dirty="0"/>
          </a:p>
          <a:p>
            <a:pPr indent="0" marL="0">
              <a:buNone/>
            </a:pPr>
            <a:r>
              <a:rPr lang="en-US" sz="1500" dirty="0">
                <a:solidFill>
                  <a:schemeClr val="tx1"/>
                </a:solidFill>
              </a:rPr>
              <a:t>Slow, yawning, it is far too early.</a:t>
            </a:r>
            <a:endParaRPr lang="en-US" sz="2000" dirty="0"/>
          </a:p>
        </p:txBody>
      </p:sp>
      <p:sp>
        <p:nvSpPr>
          <p:cNvPr id="14" name="Shape 9"/>
          <p:cNvSpPr/>
          <p:nvPr/>
        </p:nvSpPr>
        <p:spPr>
          <a:xfrm>
            <a:off x="8125968" y="1783080"/>
            <a:ext cx="3514344" cy="1682496"/>
          </a:xfrm>
          <a:prstGeom prst="roundRect">
            <a:avLst>
              <a:gd name="adj" fmla="val 4348"/>
            </a:avLst>
          </a:prstGeom>
          <a:solidFill>
            <a:srgbClr val="C0752A">
              <a:alpha val="8000"/>
            </a:srgbClr>
          </a:solidFill>
          <a:ln w="12700">
            <a:solidFill>
              <a:srgbClr val="C0752A"/>
            </a:solidFill>
            <a:prstDash val="solid"/>
          </a:ln>
        </p:spPr>
      </p:sp>
      <p:sp>
        <p:nvSpPr>
          <p:cNvPr id="15" name="Shape 10"/>
          <p:cNvSpPr/>
          <p:nvPr/>
        </p:nvSpPr>
        <p:spPr>
          <a:xfrm>
            <a:off x="8354568" y="2167128"/>
            <a:ext cx="914400" cy="914400"/>
          </a:xfrm>
          <a:prstGeom prst="ellipse">
            <a:avLst/>
          </a:prstGeom>
          <a:solidFill>
            <a:srgbClr val="C0752A"/>
          </a:solidFill>
          <a:ln/>
        </p:spPr>
      </p:sp>
      <p:pic>
        <p:nvPicPr>
          <p:cNvPr id="16" name="Image 2" descr="preencoded.png">    </p:cNvPr>
          <p:cNvPicPr>
            <a:picLocks noChangeAspect="1"/>
          </p:cNvPicPr>
          <p:nvPr/>
        </p:nvPicPr>
        <p:blipFill>
          <a:blip r:embed="rId3"/>
          <a:stretch>
            <a:fillRect/>
          </a:stretch>
        </p:blipFill>
        <p:spPr>
          <a:xfrm>
            <a:off x="8583168" y="2395728"/>
            <a:ext cx="457200" cy="457200"/>
          </a:xfrm>
          <a:prstGeom prst="rect">
            <a:avLst/>
          </a:prstGeom>
        </p:spPr>
      </p:pic>
      <p:sp>
        <p:nvSpPr>
          <p:cNvPr id="17" name="Text 11"/>
          <p:cNvSpPr txBox="1"/>
          <p:nvPr/>
        </p:nvSpPr>
        <p:spPr>
          <a:xfrm>
            <a:off x="9451848" y="1874520"/>
            <a:ext cx="2051304" cy="1499616"/>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Furious</a:t>
            </a:r>
            <a:endParaRPr lang="en-US" sz="2000" dirty="0"/>
          </a:p>
          <a:p>
            <a:pPr indent="0" marL="0">
              <a:buNone/>
            </a:pPr>
            <a:r>
              <a:rPr lang="en-US" sz="1500" dirty="0">
                <a:solidFill>
                  <a:schemeClr val="tx1"/>
                </a:solidFill>
              </a:rPr>
              <a:t>Short sentences. Somebody will pay!</a:t>
            </a:r>
            <a:endParaRPr lang="en-US" sz="2000" dirty="0"/>
          </a:p>
        </p:txBody>
      </p:sp>
      <p:sp>
        <p:nvSpPr>
          <p:cNvPr id="18" name="Shape 12"/>
          <p:cNvSpPr/>
          <p:nvPr/>
        </p:nvSpPr>
        <p:spPr>
          <a:xfrm>
            <a:off x="548640" y="3739896"/>
            <a:ext cx="3514344" cy="1682496"/>
          </a:xfrm>
          <a:prstGeom prst="roundRect">
            <a:avLst>
              <a:gd name="adj" fmla="val 4348"/>
            </a:avLst>
          </a:prstGeom>
          <a:solidFill>
            <a:srgbClr val="1F3864">
              <a:alpha val="8000"/>
            </a:srgbClr>
          </a:solidFill>
          <a:ln w="12700">
            <a:solidFill>
              <a:srgbClr val="1F3864"/>
            </a:solidFill>
            <a:prstDash val="solid"/>
          </a:ln>
        </p:spPr>
      </p:sp>
      <p:sp>
        <p:nvSpPr>
          <p:cNvPr id="19" name="Shape 13"/>
          <p:cNvSpPr/>
          <p:nvPr/>
        </p:nvSpPr>
        <p:spPr>
          <a:xfrm>
            <a:off x="777240" y="4123944"/>
            <a:ext cx="914400" cy="914400"/>
          </a:xfrm>
          <a:prstGeom prst="ellipse">
            <a:avLst/>
          </a:prstGeom>
          <a:solidFill>
            <a:srgbClr val="1F3864"/>
          </a:solidFill>
          <a:ln/>
        </p:spPr>
      </p:sp>
      <p:pic>
        <p:nvPicPr>
          <p:cNvPr id="20" name="Image 3" descr="preencoded.png">    </p:cNvPr>
          <p:cNvPicPr>
            <a:picLocks noChangeAspect="1"/>
          </p:cNvPicPr>
          <p:nvPr/>
        </p:nvPicPr>
        <p:blipFill>
          <a:blip r:embed="rId4"/>
          <a:stretch>
            <a:fillRect/>
          </a:stretch>
        </p:blipFill>
        <p:spPr>
          <a:xfrm>
            <a:off x="1005840" y="4352544"/>
            <a:ext cx="457200" cy="457200"/>
          </a:xfrm>
          <a:prstGeom prst="rect">
            <a:avLst/>
          </a:prstGeom>
        </p:spPr>
      </p:pic>
      <p:sp>
        <p:nvSpPr>
          <p:cNvPr id="21" name="Text 14"/>
          <p:cNvSpPr txBox="1"/>
          <p:nvPr/>
        </p:nvSpPr>
        <p:spPr>
          <a:xfrm>
            <a:off x="1874520" y="3831336"/>
            <a:ext cx="2051304" cy="1499616"/>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Very, very polite</a:t>
            </a:r>
            <a:endParaRPr lang="en-US" sz="2000" dirty="0"/>
          </a:p>
          <a:p>
            <a:pPr indent="0" marL="0">
              <a:buNone/>
            </a:pPr>
            <a:r>
              <a:rPr lang="en-US" sz="1500" i="1" dirty="0">
                <a:solidFill>
                  <a:schemeClr val="tx1"/>
                </a:solidFill>
              </a:rPr>
              <a:t>Would you mind… · I’m terribly sorry…</a:t>
            </a:r>
            <a:endParaRPr lang="en-US" sz="2000" dirty="0"/>
          </a:p>
        </p:txBody>
      </p:sp>
      <p:sp>
        <p:nvSpPr>
          <p:cNvPr id="22" name="Shape 15"/>
          <p:cNvSpPr/>
          <p:nvPr/>
        </p:nvSpPr>
        <p:spPr>
          <a:xfrm>
            <a:off x="4337304" y="3739896"/>
            <a:ext cx="3514344" cy="1682496"/>
          </a:xfrm>
          <a:prstGeom prst="roundRect">
            <a:avLst>
              <a:gd name="adj" fmla="val 4348"/>
            </a:avLst>
          </a:prstGeom>
          <a:solidFill>
            <a:srgbClr val="6E4A9E">
              <a:alpha val="8000"/>
            </a:srgbClr>
          </a:solidFill>
          <a:ln w="12700">
            <a:solidFill>
              <a:srgbClr val="6E4A9E"/>
            </a:solidFill>
            <a:prstDash val="solid"/>
          </a:ln>
        </p:spPr>
      </p:sp>
      <p:sp>
        <p:nvSpPr>
          <p:cNvPr id="23" name="Shape 16"/>
          <p:cNvSpPr/>
          <p:nvPr/>
        </p:nvSpPr>
        <p:spPr>
          <a:xfrm>
            <a:off x="4565904" y="4123944"/>
            <a:ext cx="914400" cy="914400"/>
          </a:xfrm>
          <a:prstGeom prst="ellipse">
            <a:avLst/>
          </a:prstGeom>
          <a:solidFill>
            <a:srgbClr val="6E4A9E"/>
          </a:solidFill>
          <a:ln/>
        </p:spPr>
      </p:sp>
      <p:pic>
        <p:nvPicPr>
          <p:cNvPr id="24" name="Image 4" descr="preencoded.png">    </p:cNvPr>
          <p:cNvPicPr>
            <a:picLocks noChangeAspect="1"/>
          </p:cNvPicPr>
          <p:nvPr/>
        </p:nvPicPr>
        <p:blipFill>
          <a:blip r:embed="rId5"/>
          <a:stretch>
            <a:fillRect/>
          </a:stretch>
        </p:blipFill>
        <p:spPr>
          <a:xfrm>
            <a:off x="4794504" y="4352544"/>
            <a:ext cx="457200" cy="457200"/>
          </a:xfrm>
          <a:prstGeom prst="rect">
            <a:avLst/>
          </a:prstGeom>
        </p:spPr>
      </p:pic>
      <p:sp>
        <p:nvSpPr>
          <p:cNvPr id="25" name="Text 17"/>
          <p:cNvSpPr txBox="1"/>
          <p:nvPr/>
        </p:nvSpPr>
        <p:spPr>
          <a:xfrm>
            <a:off x="5663184" y="3831336"/>
            <a:ext cx="2051304" cy="1499616"/>
          </a:xfrm>
          <a:prstGeom prst="rect">
            <a:avLst/>
          </a:prstGeom>
          <a:noFill/>
          <a:ln/>
        </p:spPr>
        <p:txBody>
          <a:bodyPr wrap="square" lIns="0" tIns="0" rIns="0" bIns="0" rtlCol="0" anchor="ctr"/>
          <a:lstStyle/>
          <a:p>
            <a:pPr indent="0" marL="0">
              <a:buNone/>
            </a:pPr>
            <a:r>
              <a:rPr lang="en-US" sz="2000" b="1" dirty="0">
                <a:solidFill>
                  <a:schemeClr val="accent4"/>
                </a:solidFill>
                <a:latin typeface="+mj-lt" pitchFamily="34" charset="0"/>
                <a:ea typeface="+mj-lt" pitchFamily="34" charset="-122"/>
                <a:cs typeface="+mj-lt" pitchFamily="34" charset="-120"/>
              </a:rPr>
              <a:t>Whispering</a:t>
            </a:r>
            <a:endParaRPr lang="en-US" sz="2000" dirty="0"/>
          </a:p>
          <a:p>
            <a:pPr indent="0" marL="0">
              <a:buNone/>
            </a:pPr>
            <a:r>
              <a:rPr lang="en-US" sz="1500" dirty="0">
                <a:solidFill>
                  <a:schemeClr val="tx1"/>
                </a:solidFill>
              </a:rPr>
              <a:t>It’s a secret — nobody must hear.</a:t>
            </a:r>
            <a:endParaRPr lang="en-US" sz="2000" dirty="0"/>
          </a:p>
        </p:txBody>
      </p:sp>
      <p:sp>
        <p:nvSpPr>
          <p:cNvPr id="26" name="Shape 18"/>
          <p:cNvSpPr/>
          <p:nvPr/>
        </p:nvSpPr>
        <p:spPr>
          <a:xfrm>
            <a:off x="8125968" y="3739896"/>
            <a:ext cx="3514344" cy="1682496"/>
          </a:xfrm>
          <a:prstGeom prst="roundRect">
            <a:avLst>
              <a:gd name="adj" fmla="val 4348"/>
            </a:avLst>
          </a:prstGeom>
          <a:solidFill>
            <a:srgbClr val="B4236A">
              <a:alpha val="8000"/>
            </a:srgbClr>
          </a:solidFill>
          <a:ln w="12700">
            <a:solidFill>
              <a:srgbClr val="B4236A"/>
            </a:solidFill>
            <a:prstDash val="solid"/>
          </a:ln>
        </p:spPr>
      </p:sp>
      <p:sp>
        <p:nvSpPr>
          <p:cNvPr id="27" name="Shape 19"/>
          <p:cNvSpPr/>
          <p:nvPr/>
        </p:nvSpPr>
        <p:spPr>
          <a:xfrm>
            <a:off x="8354568" y="4123944"/>
            <a:ext cx="914400" cy="914400"/>
          </a:xfrm>
          <a:prstGeom prst="ellipse">
            <a:avLst/>
          </a:prstGeom>
          <a:solidFill>
            <a:srgbClr val="B4236A"/>
          </a:solidFill>
          <a:ln/>
        </p:spPr>
      </p:sp>
      <p:pic>
        <p:nvPicPr>
          <p:cNvPr id="28" name="Image 5" descr="preencoded.png">    </p:cNvPr>
          <p:cNvPicPr>
            <a:picLocks noChangeAspect="1"/>
          </p:cNvPicPr>
          <p:nvPr/>
        </p:nvPicPr>
        <p:blipFill>
          <a:blip r:embed="rId6"/>
          <a:stretch>
            <a:fillRect/>
          </a:stretch>
        </p:blipFill>
        <p:spPr>
          <a:xfrm>
            <a:off x="8583168" y="4352544"/>
            <a:ext cx="457200" cy="457200"/>
          </a:xfrm>
          <a:prstGeom prst="rect">
            <a:avLst/>
          </a:prstGeom>
        </p:spPr>
      </p:pic>
      <p:sp>
        <p:nvSpPr>
          <p:cNvPr id="29" name="Text 20"/>
          <p:cNvSpPr txBox="1"/>
          <p:nvPr/>
        </p:nvSpPr>
        <p:spPr>
          <a:xfrm>
            <a:off x="9451848" y="3831336"/>
            <a:ext cx="2051304" cy="1499616"/>
          </a:xfrm>
          <a:prstGeom prst="rect">
            <a:avLst/>
          </a:prstGeom>
          <a:noFill/>
          <a:ln/>
        </p:spPr>
        <p:txBody>
          <a:bodyPr wrap="square" lIns="0" tIns="0" rIns="0" bIns="0" rtlCol="0" anchor="ctr"/>
          <a:lstStyle/>
          <a:p>
            <a:pPr indent="0" marL="0">
              <a:buNone/>
            </a:pPr>
            <a:r>
              <a:rPr lang="en-US" sz="2000" b="1" dirty="0">
                <a:solidFill>
                  <a:srgbClr val="B4236A"/>
                </a:solidFill>
                <a:latin typeface="+mj-lt" pitchFamily="34" charset="0"/>
                <a:ea typeface="+mj-lt" pitchFamily="34" charset="-122"/>
                <a:cs typeface="+mj-lt" pitchFamily="34" charset="-120"/>
              </a:rPr>
              <a:t>TV detective</a:t>
            </a:r>
            <a:endParaRPr lang="en-US" sz="2000" dirty="0"/>
          </a:p>
          <a:p>
            <a:pPr indent="0" marL="0">
              <a:buNone/>
            </a:pPr>
            <a:r>
              <a:rPr lang="en-US" sz="1500" dirty="0">
                <a:solidFill>
                  <a:schemeClr val="tx1"/>
                </a:solidFill>
              </a:rPr>
              <a:t>Slow, dramatic, suspicious of everybody.</a:t>
            </a:r>
            <a:endParaRPr lang="en-US" sz="2000" dirty="0"/>
          </a:p>
        </p:txBody>
      </p:sp>
      <p:sp>
        <p:nvSpPr>
          <p:cNvPr id="30" name="Shape 21"/>
          <p:cNvSpPr/>
          <p:nvPr/>
        </p:nvSpPr>
        <p:spPr>
          <a:xfrm>
            <a:off x="548640" y="5650992"/>
            <a:ext cx="11091672" cy="658368"/>
          </a:xfrm>
          <a:prstGeom prst="roundRect">
            <a:avLst>
              <a:gd name="adj" fmla="val 11111"/>
            </a:avLst>
          </a:prstGeom>
          <a:solidFill>
            <a:srgbClr val="3C7A3C">
              <a:alpha val="8000"/>
            </a:srgbClr>
          </a:solidFill>
          <a:ln w="12700">
            <a:solidFill>
              <a:srgbClr val="3C7A3C"/>
            </a:solidFill>
            <a:prstDash val="solid"/>
          </a:ln>
        </p:spPr>
      </p:sp>
      <p:pic>
        <p:nvPicPr>
          <p:cNvPr id="31" name="Image 6" descr="preencoded.png">    </p:cNvPr>
          <p:cNvPicPr>
            <a:picLocks noChangeAspect="1"/>
          </p:cNvPicPr>
          <p:nvPr/>
        </p:nvPicPr>
        <p:blipFill>
          <a:blip r:embed="rId7"/>
          <a:stretch>
            <a:fillRect/>
          </a:stretch>
        </p:blipFill>
        <p:spPr>
          <a:xfrm>
            <a:off x="777240" y="5797296"/>
            <a:ext cx="365760" cy="365760"/>
          </a:xfrm>
          <a:prstGeom prst="rect">
            <a:avLst/>
          </a:prstGeom>
        </p:spPr>
      </p:pic>
      <p:sp>
        <p:nvSpPr>
          <p:cNvPr id="32" name="Text 22"/>
          <p:cNvSpPr txBox="1"/>
          <p:nvPr/>
        </p:nvSpPr>
        <p:spPr>
          <a:xfrm>
            <a:off x="1325880" y="5705856"/>
            <a:ext cx="10085832" cy="548640"/>
          </a:xfrm>
          <a:prstGeom prst="rect">
            <a:avLst/>
          </a:prstGeom>
          <a:noFill/>
          <a:ln/>
        </p:spPr>
        <p:txBody>
          <a:bodyPr wrap="square" lIns="0" tIns="0" rIns="0" bIns="0" rtlCol="0" anchor="ctr"/>
          <a:lstStyle/>
          <a:p>
            <a:pPr indent="0" marL="0">
              <a:buNone/>
            </a:pPr>
            <a:r>
              <a:rPr lang="en-US" sz="1800" b="1" dirty="0">
                <a:solidFill>
                  <a:schemeClr val="accent3"/>
                </a:solidFill>
              </a:rPr>
              <a:t>Rule — </a:t>
            </a:r>
            <a:r>
              <a:rPr lang="en-US" sz="1800" dirty="0">
                <a:solidFill>
                  <a:schemeClr val="tx1"/>
                </a:solidFill>
              </a:rPr>
              <a:t>the </a:t>
            </a:r>
            <a:r>
              <a:rPr lang="en-US" sz="1800" b="1" dirty="0">
                <a:solidFill>
                  <a:schemeClr val="tx1"/>
                </a:solidFill>
              </a:rPr>
              <a:t>words</a:t>
            </a:r>
            <a:r>
              <a:rPr lang="en-US" sz="1800" dirty="0">
                <a:solidFill>
                  <a:schemeClr val="tx1"/>
                </a:solidFill>
              </a:rPr>
              <a:t> of the scene do not change — only the </a:t>
            </a:r>
            <a:r>
              <a:rPr lang="en-US" sz="1800" b="1" dirty="0">
                <a:solidFill>
                  <a:schemeClr val="tx1"/>
                </a:solidFill>
              </a:rPr>
              <a:t>voice</a:t>
            </a:r>
            <a:r>
              <a:rPr lang="en-US" sz="1800" dirty="0">
                <a:solidFill>
                  <a:schemeClr val="tx1"/>
                </a:solidFill>
              </a:rPr>
              <a:t>: speed, volume, intonation.</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Before you close the file</a:t>
            </a:r>
            <a:endParaRPr lang="en-US" sz="3200" dirty="0"/>
          </a:p>
        </p:txBody>
      </p:sp>
      <p:sp>
        <p:nvSpPr>
          <p:cNvPr id="3" name="tag"/>
          <p:cNvSpPr/>
          <p:nvPr/>
        </p:nvSpPr>
        <p:spPr>
          <a:xfrm>
            <a:off x="548640" y="384048"/>
            <a:ext cx="1965960" cy="310896"/>
          </a:xfrm>
          <a:prstGeom prst="roundRect">
            <a:avLst>
              <a:gd name="adj" fmla="val 14706"/>
            </a:avLst>
          </a:prstGeom>
          <a:solidFill>
            <a:srgbClr val="C0752A"/>
          </a:solidFill>
          <a:ln/>
        </p:spPr>
        <p:txBody>
          <a:bodyPr wrap="square" lIns="0" tIns="0" rIns="0" bIns="0" rtlCol="0" anchor="ctr"/>
          <a:lstStyle/>
          <a:p>
            <a:pPr algn="ctr" indent="0" marL="0">
              <a:buNone/>
            </a:pPr>
            <a:r>
              <a:rPr lang="en-US" sz="1200" b="1" spc="100" kern="0" dirty="0">
                <a:solidFill>
                  <a:schemeClr val="bg1"/>
                </a:solidFill>
              </a:rPr>
              <a:t>END OF SESSION</a:t>
            </a:r>
            <a:endParaRPr lang="en-US" sz="1200" dirty="0"/>
          </a:p>
        </p:txBody>
      </p:sp>
      <p:sp>
        <p:nvSpPr>
          <p:cNvPr id="4" name="Shape 2"/>
          <p:cNvSpPr/>
          <p:nvPr/>
        </p:nvSpPr>
        <p:spPr>
          <a:xfrm>
            <a:off x="548640" y="1783080"/>
            <a:ext cx="6035040" cy="2697480"/>
          </a:xfrm>
          <a:prstGeom prst="roundRect">
            <a:avLst>
              <a:gd name="adj" fmla="val 2712"/>
            </a:avLst>
          </a:prstGeom>
          <a:solidFill>
            <a:srgbClr val="1F3864"/>
          </a:solidFill>
          <a:ln/>
        </p:spPr>
      </p:sp>
      <p:sp>
        <p:nvSpPr>
          <p:cNvPr id="5" name="Text 3"/>
          <p:cNvSpPr txBox="1"/>
          <p:nvPr/>
        </p:nvSpPr>
        <p:spPr>
          <a:xfrm>
            <a:off x="822960" y="1965960"/>
            <a:ext cx="4572000" cy="292608"/>
          </a:xfrm>
          <a:prstGeom prst="rect">
            <a:avLst/>
          </a:prstGeom>
          <a:noFill/>
          <a:ln/>
        </p:spPr>
        <p:txBody>
          <a:bodyPr wrap="square" lIns="0" tIns="0" rIns="0" bIns="0" rtlCol="0" anchor="ctr"/>
          <a:lstStyle/>
          <a:p>
            <a:pPr indent="0" marL="0">
              <a:buNone/>
            </a:pPr>
            <a:r>
              <a:rPr lang="en-US" sz="1300" b="1" spc="200" kern="0" dirty="0">
                <a:solidFill>
                  <a:schemeClr val="accent1"/>
                </a:solidFill>
              </a:rPr>
              <a:t>NEXT IN THE FILE</a:t>
            </a:r>
            <a:endParaRPr lang="en-US" sz="1300" dirty="0"/>
          </a:p>
        </p:txBody>
      </p:sp>
      <p:sp>
        <p:nvSpPr>
          <p:cNvPr id="6" name="Text 4"/>
          <p:cNvSpPr txBox="1"/>
          <p:nvPr/>
        </p:nvSpPr>
        <p:spPr>
          <a:xfrm>
            <a:off x="822960" y="2350008"/>
            <a:ext cx="5486400" cy="2011680"/>
          </a:xfrm>
          <a:prstGeom prst="rect">
            <a:avLst/>
          </a:prstGeom>
          <a:noFill/>
          <a:ln/>
        </p:spPr>
        <p:txBody>
          <a:bodyPr wrap="square" lIns="0" tIns="0" rIns="0" bIns="0" rtlCol="0" anchor="t"/>
          <a:lstStyle/>
          <a:p>
            <a:pPr indent="0" marL="0">
              <a:buNone/>
            </a:pPr>
            <a:r>
              <a:rPr lang="en-US" sz="2200" i="1" dirty="0">
                <a:solidFill>
                  <a:schemeClr val="bg1"/>
                </a:solidFill>
                <a:latin typeface="+mj-lt" pitchFamily="34" charset="0"/>
                <a:ea typeface="+mj-lt" pitchFamily="34" charset="-122"/>
                <a:cs typeface="+mj-lt" pitchFamily="34" charset="-120"/>
              </a:rPr>
              <a:t>“Right. I need a timeline of last night on this board </a:t>
            </a:r>
            <a:r>
              <a:rPr lang="en-US" sz="2200" b="1" i="1" dirty="0">
                <a:solidFill>
                  <a:schemeClr val="bg1"/>
                </a:solidFill>
                <a:latin typeface="+mj-lt" pitchFamily="34" charset="0"/>
                <a:ea typeface="+mj-lt" pitchFamily="34" charset="-122"/>
                <a:cs typeface="+mj-lt" pitchFamily="34" charset="-120"/>
              </a:rPr>
              <a:t>by nine</a:t>
            </a:r>
            <a:r>
              <a:rPr lang="en-US" sz="2200" i="1" dirty="0">
                <a:solidFill>
                  <a:schemeClr val="bg1"/>
                </a:solidFill>
                <a:latin typeface="+mj-lt" pitchFamily="34" charset="0"/>
                <a:ea typeface="+mj-lt" pitchFamily="34" charset="-122"/>
                <a:cs typeface="+mj-lt" pitchFamily="34" charset="-120"/>
              </a:rPr>
              <a:t>. Facts only.” It is 8.20. You have forty minutes and an empty whiteboard.</a:t>
            </a:r>
            <a:endParaRPr lang="en-US" sz="2200" dirty="0"/>
          </a:p>
        </p:txBody>
      </p:sp>
      <p:sp>
        <p:nvSpPr>
          <p:cNvPr id="7" name="Shape 5"/>
          <p:cNvSpPr/>
          <p:nvPr/>
        </p:nvSpPr>
        <p:spPr>
          <a:xfrm>
            <a:off x="548640" y="4754880"/>
            <a:ext cx="6035040" cy="1554480"/>
          </a:xfrm>
          <a:prstGeom prst="roundRect">
            <a:avLst>
              <a:gd name="adj" fmla="val 4706"/>
            </a:avLst>
          </a:prstGeom>
          <a:solidFill>
            <a:srgbClr val="C0752A">
              <a:alpha val="12000"/>
            </a:srgbClr>
          </a:solidFill>
          <a:ln w="15875">
            <a:solidFill>
              <a:srgbClr val="C0752A"/>
            </a:solidFill>
            <a:prstDash val="solid"/>
          </a:ln>
        </p:spPr>
      </p:sp>
      <p:pic>
        <p:nvPicPr>
          <p:cNvPr id="8" name="Image 0" descr="preencoded.png">    </p:cNvPr>
          <p:cNvPicPr>
            <a:picLocks noChangeAspect="1"/>
          </p:cNvPicPr>
          <p:nvPr/>
        </p:nvPicPr>
        <p:blipFill>
          <a:blip r:embed="rId1"/>
          <a:stretch>
            <a:fillRect/>
          </a:stretch>
        </p:blipFill>
        <p:spPr>
          <a:xfrm>
            <a:off x="822960" y="4983480"/>
            <a:ext cx="329184" cy="329184"/>
          </a:xfrm>
          <a:prstGeom prst="rect">
            <a:avLst/>
          </a:prstGeom>
        </p:spPr>
      </p:pic>
      <p:sp>
        <p:nvSpPr>
          <p:cNvPr id="9" name="Text 6"/>
          <p:cNvSpPr txBox="1"/>
          <p:nvPr/>
        </p:nvSpPr>
        <p:spPr>
          <a:xfrm>
            <a:off x="1298448" y="4956048"/>
            <a:ext cx="3657600" cy="384048"/>
          </a:xfrm>
          <a:prstGeom prst="rect">
            <a:avLst/>
          </a:prstGeom>
          <a:noFill/>
          <a:ln/>
        </p:spPr>
        <p:txBody>
          <a:bodyPr wrap="square" lIns="0" tIns="0" rIns="0" bIns="0" rtlCol="0" anchor="ctr"/>
          <a:lstStyle/>
          <a:p>
            <a:pPr indent="0" marL="0">
              <a:buNone/>
            </a:pPr>
            <a:r>
              <a:rPr lang="en-US" sz="1300" b="1" spc="200" kern="0" dirty="0">
                <a:solidFill>
                  <a:schemeClr val="accent1"/>
                </a:solidFill>
              </a:rPr>
              <a:t>EXIT TICKET</a:t>
            </a:r>
            <a:endParaRPr lang="en-US" sz="1300" dirty="0"/>
          </a:p>
        </p:txBody>
      </p:sp>
      <p:sp>
        <p:nvSpPr>
          <p:cNvPr id="10" name="Text 7"/>
          <p:cNvSpPr txBox="1"/>
          <p:nvPr/>
        </p:nvSpPr>
        <p:spPr>
          <a:xfrm>
            <a:off x="822960" y="5440680"/>
            <a:ext cx="5486400" cy="777240"/>
          </a:xfrm>
          <a:prstGeom prst="rect">
            <a:avLst/>
          </a:prstGeom>
          <a:noFill/>
          <a:ln/>
        </p:spPr>
        <p:txBody>
          <a:bodyPr wrap="square" lIns="0" tIns="0" rIns="0" bIns="0" rtlCol="0" anchor="t"/>
          <a:lstStyle/>
          <a:p>
            <a:pPr indent="0" marL="0">
              <a:buNone/>
            </a:pPr>
            <a:r>
              <a:rPr lang="en-US" sz="1800" dirty="0">
                <a:solidFill>
                  <a:schemeClr val="tx1"/>
                </a:solidFill>
              </a:rPr>
              <a:t>Finish the sentence: </a:t>
            </a:r>
            <a:r>
              <a:rPr lang="en-US" sz="1800" i="1" dirty="0">
                <a:solidFill>
                  <a:schemeClr val="tx1"/>
                </a:solidFill>
              </a:rPr>
              <a:t>When the cleaners arrived, …</a:t>
            </a:r>
            <a:r>
              <a:rPr lang="en-US" sz="1800" dirty="0">
                <a:solidFill>
                  <a:schemeClr val="tx1"/>
                </a:solidFill>
              </a:rPr>
              <a:t> (use the past continuous).</a:t>
            </a:r>
            <a:endParaRPr lang="en-US" sz="1800" dirty="0"/>
          </a:p>
        </p:txBody>
      </p:sp>
      <p:sp>
        <p:nvSpPr>
          <p:cNvPr id="11" name="Shape 8"/>
          <p:cNvSpPr/>
          <p:nvPr/>
        </p:nvSpPr>
        <p:spPr>
          <a:xfrm>
            <a:off x="6903720" y="1783080"/>
            <a:ext cx="4736592" cy="4526280"/>
          </a:xfrm>
          <a:prstGeom prst="roundRect">
            <a:avLst>
              <a:gd name="adj" fmla="val 1616"/>
            </a:avLst>
          </a:prstGeom>
          <a:solidFill>
            <a:srgbClr val="EEF2F8"/>
          </a:solidFill>
          <a:ln w="9525">
            <a:solidFill>
              <a:srgbClr val="D5DCE6"/>
            </a:solidFill>
            <a:prstDash val="solid"/>
          </a:ln>
        </p:spPr>
      </p:sp>
      <p:pic>
        <p:nvPicPr>
          <p:cNvPr id="12" name="Image 1" descr="preencoded.png">    </p:cNvPr>
          <p:cNvPicPr>
            <a:picLocks noChangeAspect="1"/>
          </p:cNvPicPr>
          <p:nvPr/>
        </p:nvPicPr>
        <p:blipFill>
          <a:blip r:embed="rId2"/>
          <a:stretch>
            <a:fillRect/>
          </a:stretch>
        </p:blipFill>
        <p:spPr>
          <a:xfrm>
            <a:off x="7159752" y="2002536"/>
            <a:ext cx="365760" cy="365760"/>
          </a:xfrm>
          <a:prstGeom prst="rect">
            <a:avLst/>
          </a:prstGeom>
        </p:spPr>
      </p:pic>
      <p:sp>
        <p:nvSpPr>
          <p:cNvPr id="13" name="Text 9"/>
          <p:cNvSpPr txBox="1"/>
          <p:nvPr/>
        </p:nvSpPr>
        <p:spPr>
          <a:xfrm>
            <a:off x="7653528" y="1984248"/>
            <a:ext cx="3822192" cy="384048"/>
          </a:xfrm>
          <a:prstGeom prst="rect">
            <a:avLst/>
          </a:prstGeom>
          <a:noFill/>
          <a:ln/>
        </p:spPr>
        <p:txBody>
          <a:bodyPr wrap="square" lIns="0" tIns="0" rIns="0" bIns="0" rtlCol="0" anchor="ctr"/>
          <a:lstStyle/>
          <a:p>
            <a:pPr indent="0" marL="0">
              <a:buNone/>
            </a:pPr>
            <a:r>
              <a:rPr lang="en-US" sz="1400" b="1" spc="100" kern="0" dirty="0">
                <a:solidFill>
                  <a:schemeClr val="tx2"/>
                </a:solidFill>
              </a:rPr>
              <a:t>BEFORE NEXT SESSION</a:t>
            </a:r>
            <a:endParaRPr lang="en-US" sz="1400" dirty="0"/>
          </a:p>
        </p:txBody>
      </p:sp>
      <p:pic>
        <p:nvPicPr>
          <p:cNvPr id="14" name="Image 2" descr="preencoded.png">    </p:cNvPr>
          <p:cNvPicPr>
            <a:picLocks noChangeAspect="1"/>
          </p:cNvPicPr>
          <p:nvPr/>
        </p:nvPicPr>
        <p:blipFill>
          <a:blip r:embed="rId3"/>
          <a:stretch>
            <a:fillRect/>
          </a:stretch>
        </p:blipFill>
        <p:spPr>
          <a:xfrm>
            <a:off x="7178040" y="2606040"/>
            <a:ext cx="256032" cy="256032"/>
          </a:xfrm>
          <a:prstGeom prst="rect">
            <a:avLst/>
          </a:prstGeom>
        </p:spPr>
      </p:pic>
      <p:sp>
        <p:nvSpPr>
          <p:cNvPr id="15" name="Text 10"/>
          <p:cNvSpPr txBox="1"/>
          <p:nvPr/>
        </p:nvSpPr>
        <p:spPr>
          <a:xfrm>
            <a:off x="7589520" y="2560320"/>
            <a:ext cx="3867912" cy="1005840"/>
          </a:xfrm>
          <a:prstGeom prst="rect">
            <a:avLst/>
          </a:prstGeom>
          <a:noFill/>
          <a:ln/>
        </p:spPr>
        <p:txBody>
          <a:bodyPr wrap="square" lIns="0" tIns="0" rIns="0" bIns="0" rtlCol="0" anchor="t"/>
          <a:lstStyle/>
          <a:p>
            <a:pPr indent="0" marL="0">
              <a:buNone/>
            </a:pPr>
            <a:r>
              <a:rPr lang="en-US" sz="1700" dirty="0">
                <a:solidFill>
                  <a:schemeClr val="tx1"/>
                </a:solidFill>
              </a:rPr>
              <a:t>Learn the </a:t>
            </a:r>
            <a:r>
              <a:rPr lang="en-US" sz="1700" b="1" dirty="0">
                <a:solidFill>
                  <a:schemeClr val="tx1"/>
                </a:solidFill>
              </a:rPr>
              <a:t>past continuous</a:t>
            </a:r>
            <a:r>
              <a:rPr lang="en-US" sz="1700" dirty="0">
                <a:solidFill>
                  <a:schemeClr val="tx1"/>
                </a:solidFill>
              </a:rPr>
              <a:t>: form + the four pictures.</a:t>
            </a:r>
            <a:endParaRPr lang="en-US" sz="1700" dirty="0"/>
          </a:p>
        </p:txBody>
      </p:sp>
      <p:pic>
        <p:nvPicPr>
          <p:cNvPr id="16" name="Image 3" descr="preencoded.png">    </p:cNvPr>
          <p:cNvPicPr>
            <a:picLocks noChangeAspect="1"/>
          </p:cNvPicPr>
          <p:nvPr/>
        </p:nvPicPr>
        <p:blipFill>
          <a:blip r:embed="rId4"/>
          <a:stretch>
            <a:fillRect/>
          </a:stretch>
        </p:blipFill>
        <p:spPr>
          <a:xfrm>
            <a:off x="7178040" y="3611880"/>
            <a:ext cx="256032" cy="256032"/>
          </a:xfrm>
          <a:prstGeom prst="rect">
            <a:avLst/>
          </a:prstGeom>
        </p:spPr>
      </p:pic>
      <p:sp>
        <p:nvSpPr>
          <p:cNvPr id="17" name="Text 11"/>
          <p:cNvSpPr txBox="1"/>
          <p:nvPr/>
        </p:nvSpPr>
        <p:spPr>
          <a:xfrm>
            <a:off x="7589520" y="3566160"/>
            <a:ext cx="3867912" cy="1005840"/>
          </a:xfrm>
          <a:prstGeom prst="rect">
            <a:avLst/>
          </a:prstGeom>
          <a:noFill/>
          <a:ln/>
        </p:spPr>
        <p:txBody>
          <a:bodyPr wrap="square" lIns="0" tIns="0" rIns="0" bIns="0" rtlCol="0" anchor="t"/>
          <a:lstStyle/>
          <a:p>
            <a:pPr indent="0" marL="0">
              <a:buNone/>
            </a:pPr>
            <a:r>
              <a:rPr lang="en-US" sz="1700" dirty="0">
                <a:solidFill>
                  <a:schemeClr val="tx1"/>
                </a:solidFill>
              </a:rPr>
              <a:t>Learn the </a:t>
            </a:r>
            <a:r>
              <a:rPr lang="en-US" sz="1700" b="1" dirty="0">
                <a:solidFill>
                  <a:schemeClr val="tx1"/>
                </a:solidFill>
              </a:rPr>
              <a:t>words of the room</a:t>
            </a:r>
            <a:r>
              <a:rPr lang="en-US" sz="1700" dirty="0">
                <a:solidFill>
                  <a:schemeClr val="tx1"/>
                </a:solidFill>
              </a:rPr>
              <a:t> (picture dictionary + word file).</a:t>
            </a:r>
            <a:endParaRPr lang="en-US" sz="1700" dirty="0"/>
          </a:p>
        </p:txBody>
      </p:sp>
      <p:pic>
        <p:nvPicPr>
          <p:cNvPr id="18" name="Image 4" descr="preencoded.png">    </p:cNvPr>
          <p:cNvPicPr>
            <a:picLocks noChangeAspect="1"/>
          </p:cNvPicPr>
          <p:nvPr/>
        </p:nvPicPr>
        <p:blipFill>
          <a:blip r:embed="rId5"/>
          <a:stretch>
            <a:fillRect/>
          </a:stretch>
        </p:blipFill>
        <p:spPr>
          <a:xfrm>
            <a:off x="7178040" y="4617720"/>
            <a:ext cx="256032" cy="256032"/>
          </a:xfrm>
          <a:prstGeom prst="rect">
            <a:avLst/>
          </a:prstGeom>
        </p:spPr>
      </p:pic>
      <p:sp>
        <p:nvSpPr>
          <p:cNvPr id="19" name="Text 12"/>
          <p:cNvSpPr txBox="1"/>
          <p:nvPr/>
        </p:nvSpPr>
        <p:spPr>
          <a:xfrm>
            <a:off x="7589520" y="4572000"/>
            <a:ext cx="3867912" cy="1005840"/>
          </a:xfrm>
          <a:prstGeom prst="rect">
            <a:avLst/>
          </a:prstGeom>
          <a:noFill/>
          <a:ln/>
        </p:spPr>
        <p:txBody>
          <a:bodyPr wrap="square" lIns="0" tIns="0" rIns="0" bIns="0" rtlCol="0" anchor="t"/>
          <a:lstStyle/>
          <a:p>
            <a:pPr indent="0" marL="0">
              <a:buNone/>
            </a:pPr>
            <a:r>
              <a:rPr lang="en-US" sz="1700" dirty="0">
                <a:solidFill>
                  <a:schemeClr val="tx1"/>
                </a:solidFill>
              </a:rPr>
              <a:t>Read p. 9 and underline the </a:t>
            </a:r>
            <a:r>
              <a:rPr lang="en-US" sz="1700" b="1" dirty="0">
                <a:solidFill>
                  <a:schemeClr val="tx1"/>
                </a:solidFill>
              </a:rPr>
              <a:t>twelve verbs</a:t>
            </a:r>
            <a:r>
              <a:rPr lang="en-US" sz="1700" dirty="0">
                <a:solidFill>
                  <a:schemeClr val="tx1"/>
                </a:solidFill>
              </a:rPr>
              <a:t> in brackets.</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Project Atlas">
  <a:themeElements>
    <a:clrScheme name="Project Atlas">
      <a:dk1>
        <a:srgbClr val="1B2333"/>
      </a:dk1>
      <a:lt1>
        <a:srgbClr val="FFFFFF"/>
      </a:lt1>
      <a:dk2>
        <a:srgbClr val="1F3864"/>
      </a:dk2>
      <a:lt2>
        <a:srgbClr val="EEF2F8"/>
      </a:lt2>
      <a:accent1>
        <a:srgbClr val="C0752A"/>
      </a:accent1>
      <a:accent2>
        <a:srgbClr val="2E75B6"/>
      </a:accent2>
      <a:accent3>
        <a:srgbClr val="3C7A3C"/>
      </a:accent3>
      <a:accent4>
        <a:srgbClr val="6E4A9E"/>
      </a:accent4>
      <a:accent5>
        <a:srgbClr val="44546A"/>
      </a:accent5>
      <a:accent6>
        <a:srgbClr val="B03A2E"/>
      </a:accent6>
      <a:hlink>
        <a:srgbClr val="2E75B6"/>
      </a:hlink>
      <a:folHlink>
        <a:srgbClr val="6E4A9E"/>
      </a:folHlink>
    </a:clrScheme>
    <a:fontScheme name="Project Atl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English UE 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04 — The room with water in it</dc:title>
  <dc:subject>Case File 01 — The night nobody heard</dc:subject>
  <dc:creator>A. Jouniaux</dc:creator>
  <cp:lastModifiedBy>A. Jouniaux</cp:lastModifiedBy>
  <cp:revision>1</cp:revision>
  <dcterms:created xsi:type="dcterms:W3CDTF">2026-10-17T17:37:24Z</dcterms:created>
  <dcterms:modified xsi:type="dcterms:W3CDTF">2026-10-17T17:37:24Z</dcterms:modified>
</cp:coreProperties>
</file>