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437d2ac7-9db8-5711-bb41-86c57df6bca6}">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Clôture" id="{014cff5a-5436-efe5-bf40-c4e3c20c72c6}">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d’ouverture du palier 5 (vers le B1). Objectifs : présenter les six piliers du palier, lire les deux dialogues (Maandagochtend bij Immo Van Damme et Avonddialoog), réactiver le lexique du métier (mindmap, collocations, faux-amis), écouter la voicemail de mevrouw Claes, jouer l’appel client (TAAK 1) et transférer le lexique au quotidien (D1 Mijn buurt). Les relatives (5.2) commencent à la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La séance couvre les pages 1 à 6a du livret. Les mots des paliers 1 à 4 comptent dans la mindmap : c’est le capital de départ. Si le temps manque, la fiche D1 (cinq phrases sur le quartier) peut se terminer à la maison.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rapide des paliers 1 à 4 (raconter et projeter). Les réponses sont libres : vérifier seulement que le participe passé est à la fin (perfectum) et que le verbe est à la fin après « omdat » (c’est la règle que le palier 5 va élargir). Exemple de réponse correcte avec « omdat » : Ik leer Nederlands, omdat ik met klanten wil praten.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séquences, six preuves (TAAK 1 à 6) : à la fin, un dossier complet. Insister sur la double logique du palier : le métier (kantoor) et la vie courante (D1 à D5, même grammaire, autre décor). Les paliers 1 à 4 restent la base : saluer, se présenter, raconter, projeter.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lecture par le professeur (livre ouvert), deuxième lecture en binôme (Yasmina / Stef), puis on inverse. Les répliques sont numérotées ici selon les « Focus » du livret : lignes 3, 5 et 7 (séquence 5.1), 1, 3 et 5 (5.2), 2, 6, 7 et 9 (5.3), 3, 7, 8 et 9 (5.4). Dans le livret, les lignes ne sont pas numérotées : une réplique = une ligne. Le dialogue contient déjà tout le palier : relatives (die, waaraan), adverbes pronominaux (erop, daarmee, daarover), conjonctions (zodra, tenzij, toen), connecteurs (kortom).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Dialogue du soir, à lire ou à écouter livre fermé (lu par le professeur). Lotte est la sœur de Stef. Le fil rouge « vélo d’occasion » traverse les activités D1 à D5. Première écoute : de quoi Stef a-t-il besoin ? Deuxième écoute ou lecture : voir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Corrections possibles : le dialogue contient plus que le minimum demandé (quatre relatives — dont deux avec waar / met wie, annoncées en 5.3 —, deux adverbes pronominaux coupés en deux, quatre conjonctions). Faire remarquer que « er … op » et « Daar … aan » sont séparés par d’autres mots : c’est la difficulté de la séquence 5.3. Faire souligner le verbe final de chaque subordonnée (bijna nieuw zijn, maar 180 euro kost, antwoordt, weigert…).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Corrections possibles : le dialogue contient plus que le minimum demandé (quatre relatives — dont deux avec waar / met wie, annoncées en 5.3 —, deux adverbes pronominaux coupés en deux, quatre conjonctions). Faire remarquer que « er … op » et « Daar … aan » sont séparés par d’autres mots : c’est la difficulté de la séquence 5.3. Faire souligner le verbe final de chaque subordonnée (bijna nieuw zijn, maar 180 euro kost, antwoordt, weigert…).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attendues : het rijhuis, de opdracht, de eigenaar, de advertentie, de foto’s. « De opdracht » = le mandat (de vente ou de location). Tout ce qui figure dans la mindmap devra vivre dans les activités finales du palier (TAAK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de rappel en trois temps : seul (3 min), binôme (comparaison), mise en commun au tableau (une branche par groupe). Les mots du modèle ne sont qu’une proposition : accepter tout mot correct des paliers 1 à 4 (het bedrijf, de vergadering, de afspraak…). « Het compromis » = le compromis de vente (Verkoopsovereenkomst dans le livret). Insister sur l’article : il servira à choisir die / dat à la séance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Coquilles du livret : « bezichtingen » → bezichtigen ; surtout, la liste donne 5 verbes pour 6 noms : il manque « tekenen » (de opdracht tekenen, voir dialogue : « We hebben de opdracht getekend »). Projeter la liste corrigée à 6 verbes. Autres collocations acceptables à l’oral : een woning verkopen / verhuren (mais ces verbes ne sont pas dans la liste de l’exercice).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Coquilles du livret : « bezichtingen » → bezichtigen ; surtout, la liste donne 5 verbes pour 6 noms : il manque « tekenen » (de opdracht tekenen, voir dialogue : « We hebben de opdracht getekend »). Projeter la liste corrigée à 6 verbes. Autres collocations acceptables à l’oral : een woning verkopen / verhuren (mais ces verbes ne sont pas dans la liste de l’exercice).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Planche du livret p. 5 (aucun exercice n’y est rattaché, elle accompagne l’écoute). Faire dire les paires à voix haute. Le verbe « louer » français couvre les deux sens ; en néerlandais, il faut choisir qui loue à qui. « De stage » (un stage) est un mot de genre commun en néerlandais. « Living » s’entend en Belgique mais « woonkamer » est préférable dans une annonce professionnelle.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pour fixer les quatre pièges de la planche précédente. Phrase 2 : « Wij willen graag … huren » — l’infinitif part en fin de phrase. Phrase 6 : « stage doen / lopen » (Belgique : « stage lopen » est très courant).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pour fixer les quatre pièges de la planche précédente. Phrase 2 : « Wij willen graag … huren » — l’infinitif part en fin de phrase. Phrase 6 : « stage doen / lopen » (Belgique : « stage lopen » est très courant).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texte de la voicemail (transcription n° 1) est dans l’annexe du livret, non reproduite dans le livret principal : lire le texte du dossier du professeur. La solution (nom, huren ou kopen, budget, type de bien, nombre de slaapkamers, date de visite, numéro) dépend de ce texte. Les informations de la fiche serviront à l’exercice 4 de la séance 2 (quel zoekertje convient à mevrouw Claes ?). Lire à vitesse naturelle, deux fois, sans s’arrêter.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Grille projetée pour la mise en commun : un étudiant dicte sa fiche, les autres corrigent. Solution selon le texte lu par le professeur (transcription n° 1) : ne pas improviser de réponse. Rappel des chiffres et des jours de la semaine (palier 1) si les numéros posent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Taak 1 (production orale, jeu de rôle) : 8 minutes par tour, changer de carte et de rôle au second tour. Rappeler l’emploi du « u » : u spreekt, u zoekt, u wilt, u kunt (verbe en -t, comme pour hij). L’observateur coche la grille et donne un retour positif avant la correction. Les cartes de situation sont à préparer (trois cartes ①②③ à tirer).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Boîte à outils pour la TAAK 1 (et pour le jeu de rôle de la séance suivante). Faire répéter en chœur les questions, puis les faire poser en chaîne. Attention à l’inversion dans les questions : Wilt u…? Hoeveel slaapkamers wilt u? (le verbe en 2e position pour les questions en Hoeveel/Wanneer/Wat).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indicatif pour la TAAK 1 (carte ① : client pressé, budget et type de bien inventés). Les étudiants jouent leur propre version avec la carte tirée. Structures à retrouver : accueil (u spreekt met), au moins quatre questions (huren of kopen, slaapkamers, wanneer, nummer), reformulation (Dus u zoekt…), proposition (Zullen we… inplannen?), prise de congé (tot dan). Ce dialogue est un ajout hors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lexique qu’à l’agence (het rijhuis, het appartement, de slaapkamer), mais le bien à présenter est celui des étudiants. Faire répéter le tableau, puis demander une phrase par expression avec la rue de l’école. « Goed overweg kunnen met » : se construit avec « kunnen » (je kan goed overweg met mijn buren).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Activité de transfert : la technique de reformulation de la TAAK 1, en version tutoiement (jij). Passer dans les rangs ; relever les erreurs fréquentes (ordre des mots après un complément de lieu en tête de phrase, article de/het du lieu). Un modèle de cinq phrases suit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 pas de correction unique. Vérifier l’inversion quand une expression de lieu ouvre la phrase (Om de hoek zijn een bakkerij…, jamais Om de hoek een bakkerij is). Variante possible : Ik woon in een rijhuis in Sint-Gillis, op wandelafstand van het station. Prolongement écrit facultatif : le paragraphe « Mijn buurt » sera repris dans le dossier de la TAAK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à l’oral, un étudiant après l’autre. Annoncer la séance 2 : les relatives die / dat (p. 7 à 10a), les trois zoekertjes, la TAAK 2 (Schrijf het zoekertje) et la fiche D2 sur les annonces 2dehands.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01</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01</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01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5.1</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Het vastgoedkantoor</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Le dossier démarre — le lexique du métier et le premier appel client</a:t>
            </a:r>
            <a:endParaRPr lang="en-US" sz="1800" dirty="0"/>
          </a:p>
          <a:p>
            <a:pPr algn="l" indent="0" marL="0">
              <a:buNone/>
            </a:pPr>
            <a:r>
              <a:rPr lang="en-US" sz="1800" b="1" dirty="0">
                <a:solidFill>
                  <a:schemeClr val="bg2"/>
                </a:solidFill>
              </a:rPr>
              <a:t>Palier 5 · Van opdracht tot verkoop</a:t>
            </a:r>
            <a:endParaRPr lang="en-US" sz="1800" dirty="0"/>
          </a:p>
          <a:p>
            <a:pPr algn="l" indent="0" marL="0">
              <a:buNone/>
            </a:pPr>
            <a:r>
              <a:rPr lang="en-US" sz="1800" dirty="0">
                <a:solidFill>
                  <a:schemeClr val="bg2"/>
                </a:solidFill>
              </a:rPr>
              <a:t>Livret p. 1–6a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2120"/>
            <a:ext cx="5120640" cy="3413760"/>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400" dirty="0">
                <a:solidFill>
                  <a:schemeClr val="tx1"/>
                </a:solidFill>
              </a:rPr>
              <a:t>Reconnaître </a:t>
            </a:r>
            <a:r>
              <a:rPr lang="en-US" sz="1400" b="1" dirty="0">
                <a:solidFill>
                  <a:schemeClr val="tx1"/>
                </a:solidFill>
              </a:rPr>
              <a:t>le vocabulaire du métier</a:t>
            </a:r>
            <a:r>
              <a:rPr lang="en-US" sz="1400" dirty="0">
                <a:solidFill>
                  <a:schemeClr val="tx1"/>
                </a:solidFill>
              </a:rPr>
              <a:t>, lire les dialogues du palier et </a:t>
            </a:r>
            <a:r>
              <a:rPr lang="en-US" sz="1400" b="1" dirty="0">
                <a:solidFill>
                  <a:schemeClr val="tx1"/>
                </a:solidFill>
              </a:rPr>
              <a:t>mener un appel client</a:t>
            </a:r>
            <a:r>
              <a:rPr lang="en-US" sz="1400" dirty="0">
                <a:solidFill>
                  <a:schemeClr val="tx1"/>
                </a:solidFill>
              </a:rPr>
              <a:t> en u-vorm (accueil, questions, reformulation, rendez-vous).</a:t>
            </a:r>
            <a:endParaRPr lang="en-US" sz="14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700" i="1" dirty="0">
                <a:solidFill>
                  <a:schemeClr val="tx1"/>
                </a:solidFill>
              </a:rPr>
              <a:t>de makelaar · de eigenaar · een bod uitbrengen · de opdracht tekenen · Dus u zoekt… · Zullen we een afspraak inplannen?</a:t>
            </a:r>
            <a:endParaRPr lang="en-US" sz="17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400" dirty="0">
                <a:solidFill>
                  <a:schemeClr val="tx1"/>
                </a:solidFill>
              </a:rPr>
              <a:t>Lire deux dialogues · repérer relatives, adverbes pronominaux et conjonctions · noter des mots-clés à l’écoute · jouer un appel téléphonique · décrire son quartier</a:t>
            </a:r>
            <a:endParaRPr lang="en-US" sz="14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Palier 5 · dialogue du lundi matin</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Avonddialoog (Stef &amp; Lotte)</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Séquence 5.1 · mindmap · collocations</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Faux-amis du métier</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Écoute : la voicemail de mevrouw Claes</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1 · De klant aan de lijn</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20'</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D1 · Mijn buurt in vijf zinnen</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les paliers 1 à 4 en trois questions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Oral · par deux · 3 min. Répondez avec des phrases </a:t>
            </a:r>
            <a:r>
              <a:rPr lang="en-US" sz="1600" b="1" i="1" dirty="0">
                <a:solidFill>
                  <a:schemeClr val="accent5"/>
                </a:solidFill>
              </a:rPr>
              <a:t>vraies pour vous</a:t>
            </a:r>
            <a:r>
              <a:rPr lang="en-US" sz="1600" i="1" dirty="0">
                <a:solidFill>
                  <a:schemeClr val="accent5"/>
                </a:solidFill>
              </a:rPr>
              <a:t>, puis changez de partenaire.</a:t>
            </a:r>
            <a:endParaRPr lang="en-US" sz="1600" dirty="0"/>
          </a:p>
        </p:txBody>
      </p:sp>
      <p:sp>
        <p:nvSpPr>
          <p:cNvPr id="7"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1200"/>
              </a:spcAft>
              <a:buNone/>
            </a:pPr>
            <a:r>
              <a:rPr lang="en-US" sz="2400" b="1" dirty="0">
                <a:solidFill>
                  <a:schemeClr val="tx1"/>
                </a:solidFill>
              </a:rPr>
              <a:t>Perfectum</a:t>
            </a:r>
            <a:r>
              <a:rPr lang="en-US" sz="2400" dirty="0">
                <a:solidFill>
                  <a:schemeClr val="tx1"/>
                </a:solidFill>
              </a:rPr>
              <a:t> · </a:t>
            </a:r>
            <a:r>
              <a:rPr lang="en-US" sz="2400" i="1" dirty="0">
                <a:solidFill>
                  <a:schemeClr val="tx1"/>
                </a:solidFill>
              </a:rPr>
              <a:t>Wat heb je gisteren gedaan?</a:t>
            </a:r>
            <a:r>
              <a:rPr lang="en-US" sz="2400" dirty="0">
                <a:solidFill>
                  <a:schemeClr val="tx1"/>
                </a:solidFill>
              </a:rPr>
              <a:t> → </a:t>
            </a:r>
            <a:r>
              <a:rPr lang="en-US" sz="2400" i="1" dirty="0">
                <a:solidFill>
                  <a:schemeClr val="tx1"/>
                </a:solidFill>
              </a:rPr>
              <a:t>Gisteren heb ik gewerkt. · Gisteren ben ik naar de stad gegaan.</a:t>
            </a:r>
            <a:endParaRPr lang="en-US" sz="2400" dirty="0"/>
          </a:p>
          <a:p>
            <a:pPr indent="0" marL="0">
              <a:spcAft>
                <a:spcPts val="1200"/>
              </a:spcAft>
              <a:buNone/>
            </a:pPr>
            <a:r>
              <a:rPr lang="en-US" sz="2400" b="1" dirty="0">
                <a:solidFill>
                  <a:schemeClr val="tx1"/>
                </a:solidFill>
              </a:rPr>
              <a:t>Futur</a:t>
            </a:r>
            <a:r>
              <a:rPr lang="en-US" sz="2400" dirty="0">
                <a:solidFill>
                  <a:schemeClr val="tx1"/>
                </a:solidFill>
              </a:rPr>
              <a:t> · </a:t>
            </a:r>
            <a:r>
              <a:rPr lang="en-US" sz="2400" i="1" dirty="0">
                <a:solidFill>
                  <a:schemeClr val="tx1"/>
                </a:solidFill>
              </a:rPr>
              <a:t>Wat ga je dit weekend doen?</a:t>
            </a:r>
            <a:r>
              <a:rPr lang="en-US" sz="2400" dirty="0">
                <a:solidFill>
                  <a:schemeClr val="tx1"/>
                </a:solidFill>
              </a:rPr>
              <a:t> → </a:t>
            </a:r>
            <a:r>
              <a:rPr lang="en-US" sz="2400" i="1" dirty="0">
                <a:solidFill>
                  <a:schemeClr val="tx1"/>
                </a:solidFill>
              </a:rPr>
              <a:t>Dit weekend ga ik naar mijn zus.</a:t>
            </a:r>
            <a:endParaRPr lang="en-US" sz="2400" dirty="0"/>
          </a:p>
          <a:p>
            <a:pPr indent="0" marL="0">
              <a:spcAft>
                <a:spcPts val="1200"/>
              </a:spcAft>
              <a:buNone/>
            </a:pPr>
            <a:r>
              <a:rPr lang="en-US" sz="2400" b="1" dirty="0">
                <a:solidFill>
                  <a:schemeClr val="tx1"/>
                </a:solidFill>
              </a:rPr>
              <a:t>Comparaison</a:t>
            </a:r>
            <a:r>
              <a:rPr lang="en-US" sz="2400" dirty="0">
                <a:solidFill>
                  <a:schemeClr val="tx1"/>
                </a:solidFill>
              </a:rPr>
              <a:t> · </a:t>
            </a:r>
            <a:r>
              <a:rPr lang="en-US" sz="2400" i="1" dirty="0">
                <a:solidFill>
                  <a:schemeClr val="tx1"/>
                </a:solidFill>
              </a:rPr>
              <a:t>Wat is groter: Brussel of Gent?</a:t>
            </a:r>
            <a:r>
              <a:rPr lang="en-US" sz="2400" dirty="0">
                <a:solidFill>
                  <a:schemeClr val="tx1"/>
                </a:solidFill>
              </a:rPr>
              <a:t> → </a:t>
            </a:r>
            <a:r>
              <a:rPr lang="en-US" sz="2400" i="1" dirty="0">
                <a:solidFill>
                  <a:schemeClr val="tx1"/>
                </a:solidFill>
              </a:rPr>
              <a:t>Brussel is groter dan Gent.</a:t>
            </a:r>
            <a:endParaRPr lang="en-US" sz="2400" dirty="0"/>
          </a:p>
          <a:p>
            <a:pPr indent="0" marL="0">
              <a:spcAft>
                <a:spcPts val="1200"/>
              </a:spcAft>
              <a:buNone/>
            </a:pPr>
            <a:r>
              <a:rPr lang="en-US" sz="2400" b="1" dirty="0">
                <a:solidFill>
                  <a:schemeClr val="tx1"/>
                </a:solidFill>
              </a:rPr>
              <a:t>Subordination</a:t>
            </a:r>
            <a:r>
              <a:rPr lang="en-US" sz="2400" dirty="0">
                <a:solidFill>
                  <a:schemeClr val="tx1"/>
                </a:solidFill>
              </a:rPr>
              <a:t> · </a:t>
            </a:r>
            <a:r>
              <a:rPr lang="en-US" sz="2400" i="1" dirty="0">
                <a:solidFill>
                  <a:schemeClr val="tx1"/>
                </a:solidFill>
              </a:rPr>
              <a:t>Waarom leer je Nederlands?</a:t>
            </a:r>
            <a:r>
              <a:rPr lang="en-US" sz="2400" dirty="0">
                <a:solidFill>
                  <a:schemeClr val="tx1"/>
                </a:solidFill>
              </a:rPr>
              <a:t> → </a:t>
            </a:r>
            <a:r>
              <a:rPr lang="en-US" sz="2400" i="1" dirty="0">
                <a:solidFill>
                  <a:schemeClr val="tx1"/>
                </a:solidFill>
              </a:rPr>
              <a:t>Ik leer Nederlands, omdat ik met klanten wil praten.</a:t>
            </a:r>
            <a:endParaRPr lang="en-US" sz="2400" dirty="0"/>
          </a:p>
        </p:txBody>
      </p:sp>
      <p:sp>
        <p:nvSpPr>
          <p:cNvPr id="8" name="aside"/>
          <p:cNvSpPr/>
          <p:nvPr/>
        </p:nvSpPr>
        <p:spPr>
          <a:xfrm>
            <a:off x="8074152" y="1481328"/>
            <a:ext cx="3566160" cy="4809744"/>
          </a:xfrm>
          <a:prstGeom prst="roundRect">
            <a:avLst>
              <a:gd name="adj" fmla="val 2051"/>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0" name="Text 6"/>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Perfectum</a:t>
            </a:r>
            <a:r>
              <a:rPr lang="en-US" sz="1800" dirty="0">
                <a:solidFill>
                  <a:schemeClr val="tx1"/>
                </a:solidFill>
              </a:rPr>
              <a:t> : heb/ben + participe à la fin.</a:t>
            </a:r>
            <a:endParaRPr lang="en-US" sz="1800" dirty="0"/>
          </a:p>
          <a:p>
            <a:pPr marL="177800" indent="-177800">
              <a:spcAft>
                <a:spcPts val="600"/>
              </a:spcAft>
              <a:buSzPct val="100000"/>
              <a:buChar char="•"/>
            </a:pPr>
            <a:r>
              <a:rPr lang="en-US" sz="1800" b="1" dirty="0">
                <a:solidFill>
                  <a:schemeClr val="tx1"/>
                </a:solidFill>
              </a:rPr>
              <a:t>Subordonnée</a:t>
            </a:r>
            <a:r>
              <a:rPr lang="en-US" sz="1800" dirty="0">
                <a:solidFill>
                  <a:schemeClr val="tx1"/>
                </a:solidFill>
              </a:rPr>
              <a:t> : le verbe conjugué part à la </a:t>
            </a:r>
            <a:r>
              <a:rPr lang="en-US" sz="1800" b="1" dirty="0">
                <a:solidFill>
                  <a:schemeClr val="tx1"/>
                </a:solidFill>
              </a:rPr>
              <a:t>fin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Vocabulaire du métier bienvenu.</a:t>
            </a:r>
            <a:endParaRPr lang="en-US" sz="1800" dirty="0"/>
          </a:p>
          <a:p>
            <a:pPr marL="177800" indent="-177800">
              <a:spcAft>
                <a:spcPts val="600"/>
              </a:spcAft>
              <a:buSzPct val="100000"/>
              <a:buChar char="•"/>
            </a:pPr>
            <a:r>
              <a:rPr lang="en-US" sz="1800" dirty="0">
                <a:solidFill>
                  <a:schemeClr val="tx1"/>
                </a:solidFill>
              </a:rPr>
              <a:t>Couche 2 · par deux · 3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Palier 5 : un dossier immobilier de A à Z</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3360"/>
          </a:xfrm>
          <a:prstGeom prst="rect">
            <a:avLst/>
          </a:prstGeom>
          <a:effectLst>
            <a:outerShdw sx="100000" sy="100000" kx="0" ky="0" algn="bl" rotWithShape="0" blurRad="101600" dist="25400" dir="3600000">
              <a:srgbClr val="000000">
                <a:alpha val="18000"/>
              </a:srgbClr>
            </a:outerShdw>
          </a:effectLst>
        </p:spPr>
      </p:pic>
      <p:sp>
        <p:nvSpPr>
          <p:cNvPr id="7" name="Text 3"/>
          <p:cNvSpPr txBox="1"/>
          <p:nvPr/>
        </p:nvSpPr>
        <p:spPr>
          <a:xfrm>
            <a:off x="6995160" y="1508760"/>
            <a:ext cx="4645152" cy="3432048"/>
          </a:xfrm>
          <a:prstGeom prst="rect">
            <a:avLst/>
          </a:prstGeom>
          <a:noFill/>
          <a:ln/>
        </p:spPr>
        <p:txBody>
          <a:bodyPr wrap="square" lIns="0" tIns="0" rIns="0" bIns="0" rtlCol="0" anchor="t"/>
          <a:lstStyle/>
          <a:p>
            <a:pPr indent="0" marL="0">
              <a:spcAft>
                <a:spcPts val="1000"/>
              </a:spcAft>
              <a:buNone/>
            </a:pPr>
            <a:r>
              <a:rPr lang="en-US" sz="1800" dirty="0">
                <a:solidFill>
                  <a:schemeClr val="tx1"/>
                </a:solidFill>
              </a:rPr>
              <a:t>Vous suivez </a:t>
            </a:r>
            <a:r>
              <a:rPr lang="en-US" sz="1800" b="1" dirty="0">
                <a:solidFill>
                  <a:schemeClr val="tx1"/>
                </a:solidFill>
              </a:rPr>
              <a:t>un dossier de la rentrée du mandat à la négociation</a:t>
            </a:r>
            <a:r>
              <a:rPr lang="en-US" sz="1800" dirty="0">
                <a:solidFill>
                  <a:schemeClr val="tx1"/>
                </a:solidFill>
              </a:rPr>
              <a:t>, avec Yasmina (makelaar) et Stef (stagiair) chez </a:t>
            </a:r>
            <a:r>
              <a:rPr lang="en-US" sz="1800" b="1" dirty="0">
                <a:solidFill>
                  <a:schemeClr val="tx1"/>
                </a:solidFill>
              </a:rPr>
              <a:t>Immo Van Damme</a:t>
            </a:r>
            <a:r>
              <a:rPr lang="en-US" sz="1800" dirty="0">
                <a:solidFill>
                  <a:schemeClr val="tx1"/>
                </a:solidFill>
              </a:rPr>
              <a:t>.</a:t>
            </a:r>
            <a:endParaRPr lang="en-US" sz="1800" dirty="0"/>
          </a:p>
          <a:p>
            <a:pPr indent="0" marL="0">
              <a:spcAft>
                <a:spcPts val="1000"/>
              </a:spcAft>
              <a:buNone/>
            </a:pPr>
            <a:r>
              <a:rPr lang="en-US" sz="1800" dirty="0">
                <a:solidFill>
                  <a:schemeClr val="tx1"/>
                </a:solidFill>
              </a:rPr>
              <a:t>Six piliers : </a:t>
            </a:r>
            <a:r>
              <a:rPr lang="en-US" sz="1800" b="1" dirty="0">
                <a:solidFill>
                  <a:schemeClr val="tx1"/>
                </a:solidFill>
              </a:rPr>
              <a:t>le lexique</a:t>
            </a:r>
            <a:r>
              <a:rPr lang="en-US" sz="1800" dirty="0">
                <a:solidFill>
                  <a:schemeClr val="tx1"/>
                </a:solidFill>
              </a:rPr>
              <a:t> · </a:t>
            </a:r>
            <a:r>
              <a:rPr lang="en-US" sz="1800" b="1" dirty="0">
                <a:solidFill>
                  <a:schemeClr val="tx1"/>
                </a:solidFill>
              </a:rPr>
              <a:t>die / dat</a:t>
            </a:r>
            <a:r>
              <a:rPr lang="en-US" sz="1800" dirty="0">
                <a:solidFill>
                  <a:schemeClr val="tx1"/>
                </a:solidFill>
              </a:rPr>
              <a:t> · </a:t>
            </a:r>
            <a:r>
              <a:rPr lang="en-US" sz="1800" b="1" dirty="0">
                <a:solidFill>
                  <a:schemeClr val="tx1"/>
                </a:solidFill>
              </a:rPr>
              <a:t>met wie, waarover, eraan</a:t>
            </a:r>
            <a:r>
              <a:rPr lang="en-US" sz="1800" dirty="0">
                <a:solidFill>
                  <a:schemeClr val="tx1"/>
                </a:solidFill>
              </a:rPr>
              <a:t> · </a:t>
            </a:r>
            <a:r>
              <a:rPr lang="en-US" sz="1800" b="1" dirty="0">
                <a:solidFill>
                  <a:schemeClr val="tx1"/>
                </a:solidFill>
              </a:rPr>
              <a:t>zodra, tenzij, aangezien…</a:t>
            </a:r>
            <a:r>
              <a:rPr lang="en-US" sz="1800" dirty="0">
                <a:solidFill>
                  <a:schemeClr val="tx1"/>
                </a:solidFill>
              </a:rPr>
              <a:t> · </a:t>
            </a:r>
            <a:r>
              <a:rPr lang="en-US" sz="1800" b="1" dirty="0">
                <a:solidFill>
                  <a:schemeClr val="tx1"/>
                </a:solidFill>
              </a:rPr>
              <a:t>l’ordre des mots</a:t>
            </a:r>
            <a:r>
              <a:rPr lang="en-US" sz="1800" dirty="0">
                <a:solidFill>
                  <a:schemeClr val="tx1"/>
                </a:solidFill>
              </a:rPr>
              <a:t> · </a:t>
            </a:r>
            <a:r>
              <a:rPr lang="en-US" sz="1800" b="1" dirty="0">
                <a:solidFill>
                  <a:schemeClr val="tx1"/>
                </a:solidFill>
              </a:rPr>
              <a:t>les quatre compétences</a:t>
            </a:r>
            <a:r>
              <a:rPr lang="en-US" sz="1800" dirty="0">
                <a:solidFill>
                  <a:schemeClr val="tx1"/>
                </a:solidFill>
              </a:rPr>
              <a:t>.</a:t>
            </a:r>
            <a:endParaRPr lang="en-US" sz="1800" dirty="0"/>
          </a:p>
          <a:p>
            <a:pPr indent="0" marL="0">
              <a:spcAft>
                <a:spcPts val="1000"/>
              </a:spcAft>
              <a:buNone/>
            </a:pPr>
            <a:r>
              <a:rPr lang="en-US" sz="1800" dirty="0">
                <a:solidFill>
                  <a:schemeClr val="tx1"/>
                </a:solidFill>
              </a:rPr>
              <a:t>Fil rouge hors agence : Stef cherche un </a:t>
            </a:r>
            <a:r>
              <a:rPr lang="en-US" sz="1800" b="1" dirty="0">
                <a:solidFill>
                  <a:schemeClr val="tx1"/>
                </a:solidFill>
              </a:rPr>
              <a:t>vélo d’occasion</a:t>
            </a:r>
            <a:r>
              <a:rPr lang="en-US" sz="1800" dirty="0">
                <a:solidFill>
                  <a:schemeClr val="tx1"/>
                </a:solidFill>
              </a:rPr>
              <a:t> (activités </a:t>
            </a:r>
            <a:r>
              <a:rPr lang="en-US" sz="1800" b="1" dirty="0">
                <a:solidFill>
                  <a:schemeClr val="tx1"/>
                </a:solidFill>
              </a:rPr>
              <a:t>Dagelijks leven</a:t>
            </a:r>
            <a:r>
              <a:rPr lang="en-US" sz="1800" dirty="0">
                <a:solidFill>
                  <a:schemeClr val="tx1"/>
                </a:solidFill>
              </a:rPr>
              <a:t> D1 à D5).</a:t>
            </a:r>
            <a:endParaRPr lang="en-US" sz="1800" dirty="0"/>
          </a:p>
        </p:txBody>
      </p:sp>
      <p:sp>
        <p:nvSpPr>
          <p:cNvPr id="8" name="Shape 4"/>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9" name="Text 5"/>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0" name="Text 6"/>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Où sont-ils ? Que se passe-t-il à l’agence ce lundi matin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Vijfde dialoog — Maandagochtend bij Immo Van Damme</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1700" b="1" dirty="0">
                <a:solidFill>
                  <a:srgbClr val="D9700F"/>
                </a:solidFill>
              </a:rPr>
              <a:t>Yasmina :  </a:t>
            </a:r>
            <a:r>
              <a:rPr lang="en-US" sz="1700" dirty="0">
                <a:solidFill>
                  <a:schemeClr val="tx1"/>
                </a:solidFill>
              </a:rPr>
              <a:t>«Goedemorgen Stef! Klaar voor je eerste week? Jij bent toch de stagiair die vorig jaar de opleiding vastgoed heeft gevolgd?»</a:t>
            </a:r>
            <a:endParaRPr lang="en-US" sz="1700" dirty="0"/>
          </a:p>
          <a:p>
            <a:pPr indent="0" marL="0">
              <a:spcAft>
                <a:spcPts val="800"/>
              </a:spcAft>
              <a:buNone/>
            </a:pPr>
            <a:r>
              <a:rPr lang="en-US" sz="1200" dirty="0">
                <a:solidFill>
                  <a:schemeClr val="accent5"/>
                </a:solidFill>
              </a:rPr>
              <a:t>2  </a:t>
            </a:r>
            <a:r>
              <a:rPr lang="en-US" sz="1700" b="1" dirty="0">
                <a:solidFill>
                  <a:schemeClr val="accent2"/>
                </a:solidFill>
              </a:rPr>
              <a:t>Stef :  </a:t>
            </a:r>
            <a:r>
              <a:rPr lang="en-US" sz="1700" dirty="0">
                <a:solidFill>
                  <a:schemeClr val="tx1"/>
                </a:solidFill>
              </a:rPr>
              <a:t>«Dat klopt! Ik ben heel gemotiveerd. Waarover gaat het dossier waaraan we samen gaan werken?»</a:t>
            </a:r>
            <a:endParaRPr lang="en-US" sz="1700" dirty="0"/>
          </a:p>
          <a:p>
            <a:pPr indent="0" marL="0">
              <a:spcAft>
                <a:spcPts val="800"/>
              </a:spcAft>
              <a:buNone/>
            </a:pPr>
            <a:r>
              <a:rPr lang="en-US" sz="1200" dirty="0">
                <a:solidFill>
                  <a:schemeClr val="accent5"/>
                </a:solidFill>
              </a:rPr>
              <a:t>3  </a:t>
            </a:r>
            <a:r>
              <a:rPr lang="en-US" sz="1700" b="1" dirty="0">
                <a:solidFill>
                  <a:srgbClr val="D9700F"/>
                </a:solidFill>
              </a:rPr>
              <a:t>Yasmina :  </a:t>
            </a:r>
            <a:r>
              <a:rPr lang="en-US" sz="1700" dirty="0">
                <a:solidFill>
                  <a:schemeClr val="tx1"/>
                </a:solidFill>
              </a:rPr>
              <a:t>«Over een rijhuis in Sint-Gillis. Het is een woning die net gerenoveerd is, dus we kunnen snel starten.»</a:t>
            </a:r>
            <a:endParaRPr lang="en-US" sz="1700" dirty="0"/>
          </a:p>
          <a:p>
            <a:pPr indent="0" marL="0">
              <a:spcAft>
                <a:spcPts val="800"/>
              </a:spcAft>
              <a:buNone/>
            </a:pPr>
            <a:r>
              <a:rPr lang="en-US" sz="1200" dirty="0">
                <a:solidFill>
                  <a:schemeClr val="accent5"/>
                </a:solidFill>
              </a:rPr>
              <a:t>4  </a:t>
            </a:r>
            <a:r>
              <a:rPr lang="en-US" sz="1700" b="1" dirty="0">
                <a:solidFill>
                  <a:schemeClr val="accent2"/>
                </a:solidFill>
              </a:rPr>
              <a:t>Stef :  </a:t>
            </a:r>
            <a:r>
              <a:rPr lang="en-US" sz="1700" dirty="0">
                <a:solidFill>
                  <a:schemeClr val="tx1"/>
                </a:solidFill>
              </a:rPr>
              <a:t>«Mooi! Wat hebben jullie al gedaan?»</a:t>
            </a:r>
            <a:endParaRPr lang="en-US" sz="1700" dirty="0"/>
          </a:p>
          <a:p>
            <a:pPr indent="0" marL="0">
              <a:spcAft>
                <a:spcPts val="800"/>
              </a:spcAft>
              <a:buNone/>
            </a:pPr>
            <a:r>
              <a:rPr lang="en-US" sz="1200" dirty="0">
                <a:solidFill>
                  <a:schemeClr val="accent5"/>
                </a:solidFill>
              </a:rPr>
              <a:t>5  </a:t>
            </a:r>
            <a:r>
              <a:rPr lang="en-US" sz="1700" b="1" dirty="0">
                <a:solidFill>
                  <a:srgbClr val="D9700F"/>
                </a:solidFill>
              </a:rPr>
              <a:t>Yasmina :  </a:t>
            </a:r>
            <a:r>
              <a:rPr lang="en-US" sz="1700" dirty="0">
                <a:solidFill>
                  <a:schemeClr val="tx1"/>
                </a:solidFill>
              </a:rPr>
              <a:t>«We hebben de opdracht getekend met de eigenaar. Dat is de man die ons vorige maand heeft gebeld.»</a:t>
            </a:r>
            <a:endParaRPr lang="en-US" sz="1700" dirty="0"/>
          </a:p>
          <a:p>
            <a:pPr indent="0" marL="0">
              <a:spcAft>
                <a:spcPts val="800"/>
              </a:spcAft>
              <a:buNone/>
            </a:pPr>
            <a:r>
              <a:rPr lang="en-US" sz="1200" dirty="0">
                <a:solidFill>
                  <a:schemeClr val="accent5"/>
                </a:solidFill>
              </a:rPr>
              <a:t>6  </a:t>
            </a:r>
            <a:r>
              <a:rPr lang="en-US" sz="1700" b="1" dirty="0">
                <a:solidFill>
                  <a:schemeClr val="accent2"/>
                </a:solidFill>
              </a:rPr>
              <a:t>Stef :  </a:t>
            </a:r>
            <a:r>
              <a:rPr lang="en-US" sz="1700" dirty="0">
                <a:solidFill>
                  <a:schemeClr val="tx1"/>
                </a:solidFill>
              </a:rPr>
              <a:t>«En de advertentie waarover je een mail hebt gestuurd — staat die al online?»</a:t>
            </a:r>
            <a:endParaRPr lang="en-US" sz="1700" dirty="0"/>
          </a:p>
          <a:p>
            <a:pPr indent="0" marL="0">
              <a:spcAft>
                <a:spcPts val="800"/>
              </a:spcAft>
              <a:buNone/>
            </a:pPr>
            <a:r>
              <a:rPr lang="en-US" sz="1200" dirty="0">
                <a:solidFill>
                  <a:schemeClr val="accent5"/>
                </a:solidFill>
              </a:rPr>
              <a:t>7  </a:t>
            </a:r>
            <a:r>
              <a:rPr lang="en-US" sz="1700" b="1" dirty="0">
                <a:solidFill>
                  <a:srgbClr val="D9700F"/>
                </a:solidFill>
              </a:rPr>
              <a:t>Yasmina :  </a:t>
            </a:r>
            <a:r>
              <a:rPr lang="en-US" sz="1700" dirty="0">
                <a:solidFill>
                  <a:schemeClr val="tx1"/>
                </a:solidFill>
              </a:rPr>
              <a:t>«Nog niet. Ik wacht erop sinds vrijdag: de fotograaf moet eerst langskomen. Zodra de foto’s binnen zijn, zet ik de advertentie op Immoweb.»</a:t>
            </a:r>
            <a:endParaRPr lang="en-US" sz="1700" dirty="0"/>
          </a:p>
          <a:p>
            <a:pPr indent="0" marL="0">
              <a:spcAft>
                <a:spcPts val="800"/>
              </a:spcAft>
              <a:buNone/>
            </a:pPr>
            <a:r>
              <a:rPr lang="en-US" sz="1200" dirty="0">
                <a:solidFill>
                  <a:schemeClr val="accent5"/>
                </a:solidFill>
              </a:rPr>
              <a:t>8  </a:t>
            </a:r>
            <a:r>
              <a:rPr lang="en-US" sz="1700" b="1" dirty="0">
                <a:solidFill>
                  <a:schemeClr val="accent2"/>
                </a:solidFill>
              </a:rPr>
              <a:t>Stef :  </a:t>
            </a:r>
            <a:r>
              <a:rPr lang="en-US" sz="1700" dirty="0">
                <a:solidFill>
                  <a:schemeClr val="tx1"/>
                </a:solidFill>
              </a:rPr>
              <a:t>«Ik kan je daarmee helpen, tenzij je liever alleen werkt.»</a:t>
            </a:r>
            <a:endParaRPr lang="en-US" sz="1700" dirty="0"/>
          </a:p>
          <a:p>
            <a:pPr indent="0" marL="0">
              <a:spcAft>
                <a:spcPts val="800"/>
              </a:spcAft>
              <a:buNone/>
            </a:pPr>
            <a:r>
              <a:rPr lang="en-US" sz="1200" dirty="0">
                <a:solidFill>
                  <a:schemeClr val="accent5"/>
                </a:solidFill>
              </a:rPr>
              <a:t>9  </a:t>
            </a:r>
            <a:r>
              <a:rPr lang="en-US" sz="1700" b="1" dirty="0">
                <a:solidFill>
                  <a:srgbClr val="D9700F"/>
                </a:solidFill>
              </a:rPr>
              <a:t>Yasmina :  </a:t>
            </a:r>
            <a:r>
              <a:rPr lang="en-US" sz="1700" dirty="0">
                <a:solidFill>
                  <a:schemeClr val="tx1"/>
                </a:solidFill>
              </a:rPr>
              <a:t>«Graag! Jij bent iemand met wie ik goed kan samenwerken, denk ik. Toen ik vorig jaar alles alleen moest doen, was het écht te druk.»</a:t>
            </a:r>
            <a:endParaRPr lang="en-US" sz="1700" dirty="0"/>
          </a:p>
          <a:p>
            <a:pPr indent="0" marL="0">
              <a:spcAft>
                <a:spcPts val="800"/>
              </a:spcAft>
              <a:buNone/>
            </a:pPr>
            <a:r>
              <a:rPr lang="en-US" sz="1200" dirty="0">
                <a:solidFill>
                  <a:schemeClr val="accent5"/>
                </a:solidFill>
              </a:rPr>
              <a:t>10  </a:t>
            </a:r>
            <a:r>
              <a:rPr lang="en-US" sz="1700" b="1" dirty="0">
                <a:solidFill>
                  <a:schemeClr val="accent2"/>
                </a:solidFill>
              </a:rPr>
              <a:t>Stef :  </a:t>
            </a:r>
            <a:r>
              <a:rPr lang="en-US" sz="1700" dirty="0">
                <a:solidFill>
                  <a:schemeClr val="tx1"/>
                </a:solidFill>
              </a:rPr>
              <a:t>«Dan verdelen we de taken. Kortom: jij regelt de bezichtigingen, terwijl ik de advertentie voorbereid. Daarover maken we straks een afspraak!»</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Avonddialoog — Maandagavond, Stef belt zijn zus Lotte</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1700" b="1" dirty="0">
                <a:solidFill>
                  <a:schemeClr val="accent3"/>
                </a:solidFill>
              </a:rPr>
              <a:t>Lotte :  </a:t>
            </a:r>
            <a:r>
              <a:rPr lang="en-US" sz="1700" dirty="0">
                <a:solidFill>
                  <a:schemeClr val="tx1"/>
                </a:solidFill>
              </a:rPr>
              <a:t>«Hoi Stef! En, hoe was je eerste dag?»</a:t>
            </a:r>
            <a:endParaRPr lang="en-US" sz="1700" dirty="0"/>
          </a:p>
          <a:p>
            <a:pPr indent="0" marL="0">
              <a:spcAft>
                <a:spcPts val="800"/>
              </a:spcAft>
              <a:buNone/>
            </a:pPr>
            <a:r>
              <a:rPr lang="en-US" sz="1200" dirty="0">
                <a:solidFill>
                  <a:schemeClr val="accent5"/>
                </a:solidFill>
              </a:rPr>
              <a:t>2  </a:t>
            </a:r>
            <a:r>
              <a:rPr lang="en-US" sz="1700" b="1" dirty="0">
                <a:solidFill>
                  <a:schemeClr val="accent2"/>
                </a:solidFill>
              </a:rPr>
              <a:t>Stef :  </a:t>
            </a:r>
            <a:r>
              <a:rPr lang="en-US" sz="1700" dirty="0">
                <a:solidFill>
                  <a:schemeClr val="tx1"/>
                </a:solidFill>
              </a:rPr>
              <a:t>«Heel goed! Yasmina is iemand met wie ik vlot kan samenwerken. Maar de tram was weer te laat: ik heb er twintig minuten op gewacht.»</a:t>
            </a:r>
            <a:endParaRPr lang="en-US" sz="1700" dirty="0"/>
          </a:p>
          <a:p>
            <a:pPr indent="0" marL="0">
              <a:spcAft>
                <a:spcPts val="800"/>
              </a:spcAft>
              <a:buNone/>
            </a:pPr>
            <a:r>
              <a:rPr lang="en-US" sz="1200" dirty="0">
                <a:solidFill>
                  <a:schemeClr val="accent5"/>
                </a:solidFill>
              </a:rPr>
              <a:t>3  </a:t>
            </a:r>
            <a:r>
              <a:rPr lang="en-US" sz="1700" b="1" dirty="0">
                <a:solidFill>
                  <a:schemeClr val="accent3"/>
                </a:solidFill>
              </a:rPr>
              <a:t>Lotte :  </a:t>
            </a:r>
            <a:r>
              <a:rPr lang="en-US" sz="1700" dirty="0">
                <a:solidFill>
                  <a:schemeClr val="tx1"/>
                </a:solidFill>
              </a:rPr>
              <a:t>«Waarom koop je geen fiets? Op 2dehands staan fietsen die bijna nieuw zijn.»</a:t>
            </a:r>
            <a:endParaRPr lang="en-US" sz="1700" dirty="0"/>
          </a:p>
          <a:p>
            <a:pPr indent="0" marL="0">
              <a:spcAft>
                <a:spcPts val="800"/>
              </a:spcAft>
              <a:buNone/>
            </a:pPr>
            <a:r>
              <a:rPr lang="en-US" sz="1200" dirty="0">
                <a:solidFill>
                  <a:schemeClr val="accent5"/>
                </a:solidFill>
              </a:rPr>
              <a:t>4  </a:t>
            </a:r>
            <a:r>
              <a:rPr lang="en-US" sz="1700" b="1" dirty="0">
                <a:solidFill>
                  <a:schemeClr val="accent2"/>
                </a:solidFill>
              </a:rPr>
              <a:t>Stef :  </a:t>
            </a:r>
            <a:r>
              <a:rPr lang="en-US" sz="1700" dirty="0">
                <a:solidFill>
                  <a:schemeClr val="tx1"/>
                </a:solidFill>
              </a:rPr>
              <a:t>«Daar heb ik al aan gedacht! Ik heb vandaag een stadsfiets gezien die maar 180 euro kost.»</a:t>
            </a:r>
            <a:endParaRPr lang="en-US" sz="1700" dirty="0"/>
          </a:p>
          <a:p>
            <a:pPr indent="0" marL="0">
              <a:spcAft>
                <a:spcPts val="800"/>
              </a:spcAft>
              <a:buNone/>
            </a:pPr>
            <a:r>
              <a:rPr lang="en-US" sz="1200" dirty="0">
                <a:solidFill>
                  <a:schemeClr val="accent5"/>
                </a:solidFill>
              </a:rPr>
              <a:t>5  </a:t>
            </a:r>
            <a:r>
              <a:rPr lang="en-US" sz="1700" b="1" dirty="0">
                <a:solidFill>
                  <a:schemeClr val="accent3"/>
                </a:solidFill>
              </a:rPr>
              <a:t>Lotte :  </a:t>
            </a:r>
            <a:r>
              <a:rPr lang="en-US" sz="1700" dirty="0">
                <a:solidFill>
                  <a:schemeClr val="tx1"/>
                </a:solidFill>
              </a:rPr>
              <a:t>«Niet slecht! Woont de verkoper bij jou in de buurt?»</a:t>
            </a:r>
            <a:endParaRPr lang="en-US" sz="1700" dirty="0"/>
          </a:p>
          <a:p>
            <a:pPr indent="0" marL="0">
              <a:spcAft>
                <a:spcPts val="800"/>
              </a:spcAft>
              <a:buNone/>
            </a:pPr>
            <a:r>
              <a:rPr lang="en-US" sz="1200" dirty="0">
                <a:solidFill>
                  <a:schemeClr val="accent5"/>
                </a:solidFill>
              </a:rPr>
              <a:t>6  </a:t>
            </a:r>
            <a:r>
              <a:rPr lang="en-US" sz="1700" b="1" dirty="0">
                <a:solidFill>
                  <a:schemeClr val="accent2"/>
                </a:solidFill>
              </a:rPr>
              <a:t>Stef :  </a:t>
            </a:r>
            <a:r>
              <a:rPr lang="en-US" sz="1700" dirty="0">
                <a:solidFill>
                  <a:schemeClr val="tx1"/>
                </a:solidFill>
              </a:rPr>
              <a:t>«Ja, in Vorst, vlak bij de bakkerij waar ik elke zaterdag mijn brood haal. Zodra hij antwoordt, ga ik de fiets bekijken.»</a:t>
            </a:r>
            <a:endParaRPr lang="en-US" sz="1700" dirty="0"/>
          </a:p>
          <a:p>
            <a:pPr indent="0" marL="0">
              <a:spcAft>
                <a:spcPts val="800"/>
              </a:spcAft>
              <a:buNone/>
            </a:pPr>
            <a:r>
              <a:rPr lang="en-US" sz="1200" dirty="0">
                <a:solidFill>
                  <a:schemeClr val="accent5"/>
                </a:solidFill>
              </a:rPr>
              <a:t>7  </a:t>
            </a:r>
            <a:r>
              <a:rPr lang="en-US" sz="1700" b="1" dirty="0">
                <a:solidFill>
                  <a:schemeClr val="accent3"/>
                </a:solidFill>
              </a:rPr>
              <a:t>Lotte :  </a:t>
            </a:r>
            <a:r>
              <a:rPr lang="en-US" sz="1700" dirty="0">
                <a:solidFill>
                  <a:schemeClr val="tx1"/>
                </a:solidFill>
              </a:rPr>
              <a:t>«Let goed op: toen ik vorig jaar een tweedehandsfiets kocht, waren de remmen versleten.»</a:t>
            </a:r>
            <a:endParaRPr lang="en-US" sz="1700" dirty="0"/>
          </a:p>
          <a:p>
            <a:pPr indent="0" marL="0">
              <a:spcAft>
                <a:spcPts val="800"/>
              </a:spcAft>
              <a:buNone/>
            </a:pPr>
            <a:r>
              <a:rPr lang="en-US" sz="1200" dirty="0">
                <a:solidFill>
                  <a:schemeClr val="accent5"/>
                </a:solidFill>
              </a:rPr>
              <a:t>8  </a:t>
            </a:r>
            <a:r>
              <a:rPr lang="en-US" sz="1700" b="1" dirty="0">
                <a:solidFill>
                  <a:schemeClr val="accent2"/>
                </a:solidFill>
              </a:rPr>
              <a:t>Stef :  </a:t>
            </a:r>
            <a:r>
              <a:rPr lang="en-US" sz="1700" dirty="0">
                <a:solidFill>
                  <a:schemeClr val="tx1"/>
                </a:solidFill>
              </a:rPr>
              <a:t>«Geen zorgen: ik maak eerst een proefrit, tenzij de verkoper dat weigert. Aangezien het een echt koopje is, reageer ik vanavond nog.»</a:t>
            </a:r>
            <a:endParaRPr lang="en-US" sz="1700" dirty="0"/>
          </a:p>
          <a:p>
            <a:pPr indent="0" marL="0">
              <a:spcAft>
                <a:spcPts val="800"/>
              </a:spcAft>
              <a:buNone/>
            </a:pPr>
            <a:r>
              <a:rPr lang="en-US" sz="1200" dirty="0">
                <a:solidFill>
                  <a:schemeClr val="accent5"/>
                </a:solidFill>
              </a:rPr>
              <a:t>9  </a:t>
            </a:r>
            <a:r>
              <a:rPr lang="en-US" sz="1700" b="1" dirty="0">
                <a:solidFill>
                  <a:schemeClr val="accent3"/>
                </a:solidFill>
              </a:rPr>
              <a:t>Lotte :  </a:t>
            </a:r>
            <a:r>
              <a:rPr lang="en-US" sz="1700" dirty="0">
                <a:solidFill>
                  <a:schemeClr val="tx1"/>
                </a:solidFill>
              </a:rPr>
              <a:t>«Verstandig. En vergeet niet af te dingen!»</a:t>
            </a:r>
            <a:endParaRPr lang="en-US" sz="1700" dirty="0"/>
          </a:p>
          <a:p>
            <a:pPr indent="0" marL="0">
              <a:spcAft>
                <a:spcPts val="800"/>
              </a:spcAft>
              <a:buNone/>
            </a:pPr>
            <a:r>
              <a:rPr lang="en-US" sz="1200" dirty="0">
                <a:solidFill>
                  <a:schemeClr val="accent5"/>
                </a:solidFill>
              </a:rPr>
              <a:t>10  </a:t>
            </a:r>
            <a:r>
              <a:rPr lang="en-US" sz="1700" b="1" dirty="0">
                <a:solidFill>
                  <a:schemeClr val="accent2"/>
                </a:solidFill>
              </a:rPr>
              <a:t>Stef :  </a:t>
            </a:r>
            <a:r>
              <a:rPr lang="en-US" sz="1700" dirty="0">
                <a:solidFill>
                  <a:schemeClr val="tx1"/>
                </a:solidFill>
              </a:rPr>
              <a:t>«Afdingen? Dat oefen ik net deze week op kantoor! Kortom: mijn eerste privédossier is… een fiets.»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Avonddialoog : écoute et repérage</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Couche 1 · seul, puis par deux · 8 min. Écoute 1 : l’essentiel. Écoute 2 (ou relecture) : repérez les outils du palier.</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1800"/>
              </a:spcAft>
              <a:buNone/>
            </a:pPr>
            <a:r>
              <a:rPr lang="en-US" sz="2600" b="1" dirty="0">
                <a:solidFill>
                  <a:schemeClr val="tx2"/>
                </a:solidFill>
              </a:rPr>
              <a:t>1.  </a:t>
            </a:r>
            <a:r>
              <a:rPr lang="en-US" sz="2600" dirty="0">
                <a:solidFill>
                  <a:schemeClr val="tx1"/>
                </a:solidFill>
              </a:rPr>
              <a:t>Écoute 1 : de quoi Stef a-t-il besoin, et pourquoi ?</a:t>
            </a:r>
            <a:endParaRPr lang="en-US" sz="2600" dirty="0"/>
          </a:p>
          <a:p>
            <a:pPr indent="0" marL="0">
              <a:spcAft>
                <a:spcPts val="1800"/>
              </a:spcAft>
              <a:buNone/>
            </a:pPr>
            <a:r>
              <a:rPr lang="en-US" sz="2600" b="1" dirty="0">
                <a:solidFill>
                  <a:schemeClr val="tx2"/>
                </a:solidFill>
              </a:rPr>
              <a:t>2.  </a:t>
            </a:r>
            <a:r>
              <a:rPr lang="en-US" sz="2600" dirty="0">
                <a:solidFill>
                  <a:schemeClr val="tx1"/>
                </a:solidFill>
              </a:rPr>
              <a:t>Repérez </a:t>
            </a:r>
            <a:r>
              <a:rPr lang="en-US" sz="2600" b="1" dirty="0">
                <a:solidFill>
                  <a:schemeClr val="tx1"/>
                </a:solidFill>
              </a:rPr>
              <a:t>deux relatives</a:t>
            </a:r>
            <a:r>
              <a:rPr lang="en-US" sz="2600" dirty="0">
                <a:solidFill>
                  <a:schemeClr val="tx1"/>
                </a:solidFill>
              </a:rPr>
              <a:t> (die / dat / waar / met wie).</a:t>
            </a:r>
            <a:endParaRPr lang="en-US" sz="2600" dirty="0"/>
          </a:p>
          <a:p>
            <a:pPr indent="0" marL="0">
              <a:spcAft>
                <a:spcPts val="1800"/>
              </a:spcAft>
              <a:buNone/>
            </a:pPr>
            <a:r>
              <a:rPr lang="en-US" sz="2600" b="1" dirty="0">
                <a:solidFill>
                  <a:schemeClr val="tx2"/>
                </a:solidFill>
              </a:rPr>
              <a:t>3.  </a:t>
            </a:r>
            <a:r>
              <a:rPr lang="en-US" sz="2600" dirty="0">
                <a:solidFill>
                  <a:schemeClr val="tx1"/>
                </a:solidFill>
              </a:rPr>
              <a:t>Repérez </a:t>
            </a:r>
            <a:r>
              <a:rPr lang="en-US" sz="2600" b="1" dirty="0">
                <a:solidFill>
                  <a:schemeClr val="tx1"/>
                </a:solidFill>
              </a:rPr>
              <a:t>deux adverbes pronominaux</a:t>
            </a:r>
            <a:r>
              <a:rPr lang="en-US" sz="2600" dirty="0">
                <a:solidFill>
                  <a:schemeClr val="tx1"/>
                </a:solidFill>
              </a:rPr>
              <a:t> (coupés en deux !).</a:t>
            </a:r>
            <a:endParaRPr lang="en-US" sz="2600" dirty="0"/>
          </a:p>
          <a:p>
            <a:pPr indent="0" marL="0">
              <a:spcAft>
                <a:spcPts val="1800"/>
              </a:spcAft>
              <a:buNone/>
            </a:pPr>
            <a:r>
              <a:rPr lang="en-US" sz="2600" b="1" dirty="0">
                <a:solidFill>
                  <a:schemeClr val="tx2"/>
                </a:solidFill>
              </a:rPr>
              <a:t>4.  </a:t>
            </a:r>
            <a:r>
              <a:rPr lang="en-US" sz="2600" dirty="0">
                <a:solidFill>
                  <a:schemeClr val="tx1"/>
                </a:solidFill>
              </a:rPr>
              <a:t>Repérez </a:t>
            </a:r>
            <a:r>
              <a:rPr lang="en-US" sz="2600" b="1" dirty="0">
                <a:solidFill>
                  <a:schemeClr val="tx1"/>
                </a:solidFill>
              </a:rPr>
              <a:t>trois conjonctions</a:t>
            </a:r>
            <a:r>
              <a:rPr lang="en-US" sz="2600" dirty="0">
                <a:solidFill>
                  <a:schemeClr val="tx1"/>
                </a:solidFill>
              </a:rPr>
              <a:t> de subordination.</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Avonddialoog : écoute et repérage</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a:t>
            </a:r>
            <a:endParaRPr lang="en-US" sz="1200" dirty="0"/>
          </a:p>
        </p:txBody>
      </p:sp>
      <p:sp>
        <p:nvSpPr>
          <p:cNvPr id="7" name="Text 4"/>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Couche 1 · seul, puis par deux · 8 min. Écoute 1 : l’essentiel. Écoute 2 (ou relecture) : repérez les outils du palier.</a:t>
            </a:r>
            <a:endParaRPr lang="en-US" sz="1600" dirty="0"/>
          </a:p>
        </p:txBody>
      </p:sp>
      <p:sp>
        <p:nvSpPr>
          <p:cNvPr id="8"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400"/>
              </a:spcAft>
              <a:buNone/>
            </a:pPr>
            <a:r>
              <a:rPr lang="en-US" sz="2100" b="1" dirty="0">
                <a:solidFill>
                  <a:schemeClr val="tx2"/>
                </a:solidFill>
              </a:rPr>
              <a:t>1.  </a:t>
            </a:r>
            <a:r>
              <a:rPr lang="en-US" sz="2100" dirty="0">
                <a:solidFill>
                  <a:schemeClr val="tx1"/>
                </a:solidFill>
              </a:rPr>
              <a:t>Écoute 1 : de quoi Stef a-t-il besoin, et pourquoi ?</a:t>
            </a:r>
            <a:endParaRPr lang="en-US" sz="2100" dirty="0"/>
          </a:p>
          <a:p>
            <a:pPr indent="0" marL="0">
              <a:spcAft>
                <a:spcPts val="800"/>
              </a:spcAft>
              <a:buNone/>
            </a:pPr>
            <a:r>
              <a:rPr lang="en-US" sz="2100" b="1" dirty="0">
                <a:solidFill>
                  <a:schemeClr val="accent3"/>
                </a:solidFill>
              </a:rPr>
              <a:t>→ </a:t>
            </a:r>
            <a:r>
              <a:rPr lang="en-US" sz="2100" dirty="0">
                <a:solidFill>
                  <a:schemeClr val="accent3"/>
                </a:solidFill>
              </a:rPr>
              <a:t>D’</a:t>
            </a:r>
            <a:r>
              <a:rPr lang="en-US" sz="2100" b="1" dirty="0">
                <a:solidFill>
                  <a:schemeClr val="accent3"/>
                </a:solidFill>
              </a:rPr>
              <a:t>une fiets</a:t>
            </a:r>
            <a:r>
              <a:rPr lang="en-US" sz="2100" dirty="0">
                <a:solidFill>
                  <a:schemeClr val="accent3"/>
                </a:solidFill>
              </a:rPr>
              <a:t> (vélo d’occasion), parce que </a:t>
            </a:r>
            <a:r>
              <a:rPr lang="en-US" sz="2100" b="1" dirty="0">
                <a:solidFill>
                  <a:schemeClr val="accent3"/>
                </a:solidFill>
              </a:rPr>
              <a:t>de tram</a:t>
            </a:r>
            <a:r>
              <a:rPr lang="en-US" sz="2100" dirty="0">
                <a:solidFill>
                  <a:schemeClr val="accent3"/>
                </a:solidFill>
              </a:rPr>
              <a:t> est souvent trop tard (20 minutes d’attente).</a:t>
            </a:r>
            <a:endParaRPr lang="en-US" sz="2100" dirty="0"/>
          </a:p>
          <a:p>
            <a:pPr indent="0" marL="0">
              <a:spcAft>
                <a:spcPts val="400"/>
              </a:spcAft>
              <a:buNone/>
            </a:pPr>
            <a:r>
              <a:rPr lang="en-US" sz="2100" b="1" dirty="0">
                <a:solidFill>
                  <a:schemeClr val="tx2"/>
                </a:solidFill>
              </a:rPr>
              <a:t>2.  </a:t>
            </a:r>
            <a:r>
              <a:rPr lang="en-US" sz="2100" dirty="0">
                <a:solidFill>
                  <a:schemeClr val="tx1"/>
                </a:solidFill>
              </a:rPr>
              <a:t>Repérez </a:t>
            </a:r>
            <a:r>
              <a:rPr lang="en-US" sz="2100" b="1" dirty="0">
                <a:solidFill>
                  <a:schemeClr val="tx1"/>
                </a:solidFill>
              </a:rPr>
              <a:t>deux relatives</a:t>
            </a:r>
            <a:r>
              <a:rPr lang="en-US" sz="2100" dirty="0">
                <a:solidFill>
                  <a:schemeClr val="tx1"/>
                </a:solidFill>
              </a:rPr>
              <a:t> (die / dat / waar / met wie).</a:t>
            </a:r>
            <a:endParaRPr lang="en-US" sz="2100" dirty="0"/>
          </a:p>
          <a:p>
            <a:pPr indent="0" marL="0">
              <a:spcAft>
                <a:spcPts val="800"/>
              </a:spcAft>
              <a:buNone/>
            </a:pPr>
            <a:r>
              <a:rPr lang="en-US" sz="2100" b="1" dirty="0">
                <a:solidFill>
                  <a:schemeClr val="accent3"/>
                </a:solidFill>
              </a:rPr>
              <a:t>→ </a:t>
            </a:r>
            <a:r>
              <a:rPr lang="en-US" sz="2100" i="1" dirty="0">
                <a:solidFill>
                  <a:schemeClr val="accent3"/>
                </a:solidFill>
              </a:rPr>
              <a:t>fietsen </a:t>
            </a:r>
            <a:r>
              <a:rPr lang="en-US" sz="2100" b="1" i="1" dirty="0">
                <a:solidFill>
                  <a:schemeClr val="accent3"/>
                </a:solidFill>
              </a:rPr>
              <a:t>die</a:t>
            </a:r>
            <a:r>
              <a:rPr lang="en-US" sz="2100" i="1" dirty="0">
                <a:solidFill>
                  <a:schemeClr val="accent3"/>
                </a:solidFill>
              </a:rPr>
              <a:t> bijna nieuw zijn · een stadsfiets </a:t>
            </a:r>
            <a:r>
              <a:rPr lang="en-US" sz="2100" b="1" i="1" dirty="0">
                <a:solidFill>
                  <a:schemeClr val="accent3"/>
                </a:solidFill>
              </a:rPr>
              <a:t>die</a:t>
            </a:r>
            <a:r>
              <a:rPr lang="en-US" sz="2100" i="1" dirty="0">
                <a:solidFill>
                  <a:schemeClr val="accent3"/>
                </a:solidFill>
              </a:rPr>
              <a:t> maar 180 euro kost · de bakkerij </a:t>
            </a:r>
            <a:r>
              <a:rPr lang="en-US" sz="2100" b="1" i="1" dirty="0">
                <a:solidFill>
                  <a:schemeClr val="accent3"/>
                </a:solidFill>
              </a:rPr>
              <a:t>waar</a:t>
            </a:r>
            <a:r>
              <a:rPr lang="en-US" sz="2100" i="1" dirty="0">
                <a:solidFill>
                  <a:schemeClr val="accent3"/>
                </a:solidFill>
              </a:rPr>
              <a:t> ik… haal · iemand </a:t>
            </a:r>
            <a:r>
              <a:rPr lang="en-US" sz="2100" b="1" i="1" dirty="0">
                <a:solidFill>
                  <a:schemeClr val="accent3"/>
                </a:solidFill>
              </a:rPr>
              <a:t>met wie</a:t>
            </a:r>
            <a:r>
              <a:rPr lang="en-US" sz="2100" i="1" dirty="0">
                <a:solidFill>
                  <a:schemeClr val="accent3"/>
                </a:solidFill>
              </a:rPr>
              <a:t> ik…</a:t>
            </a:r>
            <a:endParaRPr lang="en-US" sz="2100" dirty="0"/>
          </a:p>
          <a:p>
            <a:pPr indent="0" marL="0">
              <a:spcAft>
                <a:spcPts val="400"/>
              </a:spcAft>
              <a:buNone/>
            </a:pPr>
            <a:r>
              <a:rPr lang="en-US" sz="2100" b="1" dirty="0">
                <a:solidFill>
                  <a:schemeClr val="tx2"/>
                </a:solidFill>
              </a:rPr>
              <a:t>3.  </a:t>
            </a:r>
            <a:r>
              <a:rPr lang="en-US" sz="2100" dirty="0">
                <a:solidFill>
                  <a:schemeClr val="tx1"/>
                </a:solidFill>
              </a:rPr>
              <a:t>Repérez </a:t>
            </a:r>
            <a:r>
              <a:rPr lang="en-US" sz="2100" b="1" dirty="0">
                <a:solidFill>
                  <a:schemeClr val="tx1"/>
                </a:solidFill>
              </a:rPr>
              <a:t>deux adverbes pronominaux</a:t>
            </a:r>
            <a:r>
              <a:rPr lang="en-US" sz="2100" dirty="0">
                <a:solidFill>
                  <a:schemeClr val="tx1"/>
                </a:solidFill>
              </a:rPr>
              <a:t> (coupés en deux !).</a:t>
            </a:r>
            <a:endParaRPr lang="en-US" sz="2100" dirty="0"/>
          </a:p>
          <a:p>
            <a:pPr indent="0" marL="0">
              <a:spcAft>
                <a:spcPts val="800"/>
              </a:spcAft>
              <a:buNone/>
            </a:pPr>
            <a:r>
              <a:rPr lang="en-US" sz="2100" b="1" dirty="0">
                <a:solidFill>
                  <a:schemeClr val="accent3"/>
                </a:solidFill>
              </a:rPr>
              <a:t>→ </a:t>
            </a:r>
            <a:r>
              <a:rPr lang="en-US" sz="2100" i="1" dirty="0">
                <a:solidFill>
                  <a:schemeClr val="accent3"/>
                </a:solidFill>
              </a:rPr>
              <a:t>ik heb </a:t>
            </a:r>
            <a:r>
              <a:rPr lang="en-US" sz="2100" b="1" i="1" dirty="0">
                <a:solidFill>
                  <a:schemeClr val="accent3"/>
                </a:solidFill>
              </a:rPr>
              <a:t>er</a:t>
            </a:r>
            <a:r>
              <a:rPr lang="en-US" sz="2100" i="1" dirty="0">
                <a:solidFill>
                  <a:schemeClr val="accent3"/>
                </a:solidFill>
              </a:rPr>
              <a:t> twintig minuten </a:t>
            </a:r>
            <a:r>
              <a:rPr lang="en-US" sz="2100" b="1" i="1" dirty="0">
                <a:solidFill>
                  <a:schemeClr val="accent3"/>
                </a:solidFill>
              </a:rPr>
              <a:t>op</a:t>
            </a:r>
            <a:r>
              <a:rPr lang="en-US" sz="2100" i="1" dirty="0">
                <a:solidFill>
                  <a:schemeClr val="accent3"/>
                </a:solidFill>
              </a:rPr>
              <a:t> gewacht · </a:t>
            </a:r>
            <a:r>
              <a:rPr lang="en-US" sz="2100" b="1" i="1" dirty="0">
                <a:solidFill>
                  <a:schemeClr val="accent3"/>
                </a:solidFill>
              </a:rPr>
              <a:t>Daar</a:t>
            </a:r>
            <a:r>
              <a:rPr lang="en-US" sz="2100" i="1" dirty="0">
                <a:solidFill>
                  <a:schemeClr val="accent3"/>
                </a:solidFill>
              </a:rPr>
              <a:t> heb ik al </a:t>
            </a:r>
            <a:r>
              <a:rPr lang="en-US" sz="2100" b="1" i="1" dirty="0">
                <a:solidFill>
                  <a:schemeClr val="accent3"/>
                </a:solidFill>
              </a:rPr>
              <a:t>aan</a:t>
            </a:r>
            <a:r>
              <a:rPr lang="en-US" sz="2100" i="1" dirty="0">
                <a:solidFill>
                  <a:schemeClr val="accent3"/>
                </a:solidFill>
              </a:rPr>
              <a:t> gedacht</a:t>
            </a:r>
            <a:endParaRPr lang="en-US" sz="2100" dirty="0"/>
          </a:p>
          <a:p>
            <a:pPr indent="0" marL="0">
              <a:spcAft>
                <a:spcPts val="400"/>
              </a:spcAft>
              <a:buNone/>
            </a:pPr>
            <a:r>
              <a:rPr lang="en-US" sz="2100" b="1" dirty="0">
                <a:solidFill>
                  <a:schemeClr val="tx2"/>
                </a:solidFill>
              </a:rPr>
              <a:t>4.  </a:t>
            </a:r>
            <a:r>
              <a:rPr lang="en-US" sz="2100" dirty="0">
                <a:solidFill>
                  <a:schemeClr val="tx1"/>
                </a:solidFill>
              </a:rPr>
              <a:t>Repérez </a:t>
            </a:r>
            <a:r>
              <a:rPr lang="en-US" sz="2100" b="1" dirty="0">
                <a:solidFill>
                  <a:schemeClr val="tx1"/>
                </a:solidFill>
              </a:rPr>
              <a:t>trois conjonctions</a:t>
            </a:r>
            <a:r>
              <a:rPr lang="en-US" sz="2100" dirty="0">
                <a:solidFill>
                  <a:schemeClr val="tx1"/>
                </a:solidFill>
              </a:rPr>
              <a:t> de subordination.</a:t>
            </a:r>
            <a:endParaRPr lang="en-US" sz="2100" dirty="0"/>
          </a:p>
          <a:p>
            <a:pPr indent="0" marL="0">
              <a:spcAft>
                <a:spcPts val="800"/>
              </a:spcAft>
              <a:buNone/>
            </a:pPr>
            <a:r>
              <a:rPr lang="en-US" sz="2100" b="1" dirty="0">
                <a:solidFill>
                  <a:schemeClr val="accent3"/>
                </a:solidFill>
              </a:rPr>
              <a:t>→ </a:t>
            </a:r>
            <a:r>
              <a:rPr lang="en-US" sz="2100" b="1" i="1" dirty="0">
                <a:solidFill>
                  <a:schemeClr val="accent3"/>
                </a:solidFill>
              </a:rPr>
              <a:t>zodra</a:t>
            </a:r>
            <a:r>
              <a:rPr lang="en-US" sz="2100" i="1" dirty="0">
                <a:solidFill>
                  <a:schemeClr val="accent3"/>
                </a:solidFill>
              </a:rPr>
              <a:t> hij antwoordt · </a:t>
            </a:r>
            <a:r>
              <a:rPr lang="en-US" sz="2100" b="1" i="1" dirty="0">
                <a:solidFill>
                  <a:schemeClr val="accent3"/>
                </a:solidFill>
              </a:rPr>
              <a:t>toen</a:t>
            </a:r>
            <a:r>
              <a:rPr lang="en-US" sz="2100" i="1" dirty="0">
                <a:solidFill>
                  <a:schemeClr val="accent3"/>
                </a:solidFill>
              </a:rPr>
              <a:t> ik vorig jaar… · </a:t>
            </a:r>
            <a:r>
              <a:rPr lang="en-US" sz="2100" b="1" i="1" dirty="0">
                <a:solidFill>
                  <a:schemeClr val="accent3"/>
                </a:solidFill>
              </a:rPr>
              <a:t>tenzij</a:t>
            </a:r>
            <a:r>
              <a:rPr lang="en-US" sz="2100" i="1" dirty="0">
                <a:solidFill>
                  <a:schemeClr val="accent3"/>
                </a:solidFill>
              </a:rPr>
              <a:t> de verkoper… · </a:t>
            </a:r>
            <a:r>
              <a:rPr lang="en-US" sz="2100" b="1" i="1" dirty="0">
                <a:solidFill>
                  <a:schemeClr val="accent3"/>
                </a:solidFill>
              </a:rPr>
              <a:t>aangezien</a:t>
            </a:r>
            <a:r>
              <a:rPr lang="en-US" sz="2100" i="1" dirty="0">
                <a:solidFill>
                  <a:schemeClr val="accent3"/>
                </a:solidFill>
              </a:rPr>
              <a:t> het een koopje is</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5.1 : le lexique du métier</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3</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5372"/>
          </a:xfrm>
          <a:prstGeom prst="rect">
            <a:avLst/>
          </a:prstGeom>
          <a:effectLst>
            <a:outerShdw sx="100000" sy="100000" kx="0" ky="0" algn="bl" rotWithShape="0" blurRad="101600" dist="25400" dir="3600000">
              <a:srgbClr val="000000">
                <a:alpha val="18000"/>
              </a:srgbClr>
            </a:outerShdw>
          </a:effectLst>
        </p:spPr>
      </p:pic>
      <p:sp>
        <p:nvSpPr>
          <p:cNvPr id="7" name="Text 3"/>
          <p:cNvSpPr txBox="1"/>
          <p:nvPr/>
        </p:nvSpPr>
        <p:spPr>
          <a:xfrm>
            <a:off x="6995160" y="1508760"/>
            <a:ext cx="4645152" cy="3432048"/>
          </a:xfrm>
          <a:prstGeom prst="rect">
            <a:avLst/>
          </a:prstGeom>
          <a:noFill/>
          <a:ln/>
        </p:spPr>
        <p:txBody>
          <a:bodyPr wrap="square" lIns="0" tIns="0" rIns="0" bIns="0" rtlCol="0" anchor="t"/>
          <a:lstStyle/>
          <a:p>
            <a:pPr indent="0" marL="0">
              <a:spcAft>
                <a:spcPts val="1000"/>
              </a:spcAft>
              <a:buNone/>
            </a:pPr>
            <a:r>
              <a:rPr lang="en-US" sz="1900" dirty="0">
                <a:solidFill>
                  <a:schemeClr val="tx1"/>
                </a:solidFill>
              </a:rPr>
              <a:t>Un agent sans mots est muet : la </a:t>
            </a:r>
            <a:r>
              <a:rPr lang="en-US" sz="1900" b="1" dirty="0">
                <a:solidFill>
                  <a:schemeClr val="tx1"/>
                </a:solidFill>
              </a:rPr>
              <a:t>matière première</a:t>
            </a:r>
            <a:r>
              <a:rPr lang="en-US" sz="1900" dirty="0">
                <a:solidFill>
                  <a:schemeClr val="tx1"/>
                </a:solidFill>
              </a:rPr>
              <a:t> avant les phrases complexes.</a:t>
            </a:r>
            <a:endParaRPr lang="en-US" sz="1900" dirty="0"/>
          </a:p>
          <a:p>
            <a:pPr indent="0" marL="0">
              <a:spcAft>
                <a:spcPts val="1000"/>
              </a:spcAft>
              <a:buNone/>
            </a:pPr>
            <a:r>
              <a:rPr lang="en-US" sz="1900" b="1" dirty="0">
                <a:solidFill>
                  <a:schemeClr val="tx1"/>
                </a:solidFill>
              </a:rPr>
              <a:t>Focus : lignes 3, 5 et 7</a:t>
            </a:r>
            <a:endParaRPr lang="en-US" sz="1900" dirty="0"/>
          </a:p>
          <a:p>
            <a:pPr indent="0" marL="0">
              <a:spcAft>
                <a:spcPts val="1000"/>
              </a:spcAft>
              <a:buNone/>
            </a:pPr>
            <a:r>
              <a:rPr lang="en-US" sz="1900" dirty="0">
                <a:solidFill>
                  <a:schemeClr val="tx1"/>
                </a:solidFill>
              </a:rPr>
              <a:t>«</a:t>
            </a:r>
            <a:r>
              <a:rPr lang="en-US" sz="1900" b="1" dirty="0">
                <a:solidFill>
                  <a:schemeClr val="tx1"/>
                </a:solidFill>
              </a:rPr>
              <a:t>Over een rijhuis</a:t>
            </a:r>
            <a:r>
              <a:rPr lang="en-US" sz="1900" dirty="0">
                <a:solidFill>
                  <a:schemeClr val="tx1"/>
                </a:solidFill>
              </a:rPr>
              <a:t> in Sint-Gillis.» — </a:t>
            </a:r>
            <a:r>
              <a:rPr lang="en-US" sz="1900" i="1" dirty="0">
                <a:solidFill>
                  <a:schemeClr val="tx1"/>
                </a:solidFill>
              </a:rPr>
              <a:t>Une maison mitoyenne.</a:t>
            </a:r>
            <a:endParaRPr lang="en-US" sz="1900" dirty="0"/>
          </a:p>
          <a:p>
            <a:pPr indent="0" marL="0">
              <a:spcAft>
                <a:spcPts val="1000"/>
              </a:spcAft>
              <a:buNone/>
            </a:pPr>
            <a:r>
              <a:rPr lang="en-US" sz="1900" dirty="0">
                <a:solidFill>
                  <a:schemeClr val="tx1"/>
                </a:solidFill>
              </a:rPr>
              <a:t>«We hebben </a:t>
            </a:r>
            <a:r>
              <a:rPr lang="en-US" sz="1900" b="1" dirty="0">
                <a:solidFill>
                  <a:schemeClr val="tx1"/>
                </a:solidFill>
              </a:rPr>
              <a:t>de opdracht getekend</a:t>
            </a:r>
            <a:r>
              <a:rPr lang="en-US" sz="1900" dirty="0">
                <a:solidFill>
                  <a:schemeClr val="tx1"/>
                </a:solidFill>
              </a:rPr>
              <a:t>.» — </a:t>
            </a:r>
            <a:r>
              <a:rPr lang="en-US" sz="1900" i="1" dirty="0">
                <a:solidFill>
                  <a:schemeClr val="tx1"/>
                </a:solidFill>
              </a:rPr>
              <a:t>Nous avons signé le mandat.</a:t>
            </a:r>
            <a:endParaRPr lang="en-US" sz="1900" dirty="0"/>
          </a:p>
          <a:p>
            <a:pPr indent="0" marL="0">
              <a:spcAft>
                <a:spcPts val="1000"/>
              </a:spcAft>
              <a:buNone/>
            </a:pPr>
            <a:r>
              <a:rPr lang="en-US" sz="1900" dirty="0">
                <a:solidFill>
                  <a:schemeClr val="tx1"/>
                </a:solidFill>
              </a:rPr>
              <a:t>«</a:t>
            </a:r>
            <a:r>
              <a:rPr lang="en-US" sz="1900" b="1" dirty="0">
                <a:solidFill>
                  <a:schemeClr val="tx1"/>
                </a:solidFill>
              </a:rPr>
              <a:t>Zodra</a:t>
            </a:r>
            <a:r>
              <a:rPr lang="en-US" sz="1900" dirty="0">
                <a:solidFill>
                  <a:schemeClr val="tx1"/>
                </a:solidFill>
              </a:rPr>
              <a:t> de foto’s binnen zijn, </a:t>
            </a:r>
            <a:r>
              <a:rPr lang="en-US" sz="1900" b="1" dirty="0">
                <a:solidFill>
                  <a:schemeClr val="tx1"/>
                </a:solidFill>
              </a:rPr>
              <a:t>zet ik</a:t>
            </a:r>
            <a:r>
              <a:rPr lang="en-US" sz="1900" dirty="0">
                <a:solidFill>
                  <a:schemeClr val="tx1"/>
                </a:solidFill>
              </a:rPr>
              <a:t> de advertentie op Immoweb.»</a:t>
            </a:r>
            <a:endParaRPr lang="en-US" sz="1900" dirty="0"/>
          </a:p>
        </p:txBody>
      </p:sp>
      <p:sp>
        <p:nvSpPr>
          <p:cNvPr id="8" name="Shape 4"/>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9" name="Text 5"/>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0" name="Text 6"/>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Quels mots du métier reconnaissez-vous déjà dans ces trois phrases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 Mindmap — De wereld van de makelaar</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Seul·e (3 min), puis en binôme : </a:t>
            </a:r>
            <a:r>
              <a:rPr lang="en-US" sz="1600" b="1" i="1" dirty="0">
                <a:solidFill>
                  <a:schemeClr val="accent5"/>
                </a:solidFill>
              </a:rPr>
              <a:t>au moins 5 mots par branche</a:t>
            </a:r>
            <a:r>
              <a:rPr lang="en-US" sz="1600" i="1" dirty="0">
                <a:solidFill>
                  <a:schemeClr val="accent5"/>
                </a:solidFill>
              </a:rPr>
              <a:t>. Les mots des paliers 1 à 4 comptent. Modèle à compléter :</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2286000"/>
                <a:gridCol w="4023360"/>
                <a:gridCol w="4782312"/>
              </a:tblGrid>
              <a:tr h="502920">
                <a:tc>
                  <a:txBody>
                    <a:bodyPr/>
                    <a:lstStyle/>
                    <a:p>
                      <a:pPr algn="l" indent="0" marL="0">
                        <a:buNone/>
                      </a:pPr>
                      <a:r>
                        <a:rPr lang="en-US" sz="1500" b="1" dirty="0">
                          <a:solidFill>
                            <a:schemeClr val="bg1"/>
                          </a:solidFill>
                        </a:rPr>
                        <a:t>BRANCHE</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EXEMPLES DU LIVRET</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À AJOUTER</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68426">
                <a:tc>
                  <a:txBody>
                    <a:bodyPr/>
                    <a:lstStyle/>
                    <a:p>
                      <a:pPr algn="l" indent="0" marL="0">
                        <a:buNone/>
                      </a:pPr>
                      <a:r>
                        <a:rPr lang="en-US" sz="1700" b="1" dirty="0">
                          <a:solidFill>
                            <a:schemeClr val="tx1"/>
                          </a:solidFill>
                        </a:rPr>
                        <a:t>1 · DE WONING</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accent4"/>
                          </a:solidFill>
                        </a:rPr>
                        <a:t>het</a:t>
                      </a:r>
                      <a:r>
                        <a:rPr lang="en-US" sz="1700" dirty="0">
                          <a:solidFill>
                            <a:schemeClr val="tx1"/>
                          </a:solidFill>
                        </a:rPr>
                        <a:t> rijhuis · </a:t>
                      </a:r>
                      <a:r>
                        <a:rPr lang="en-US" sz="1700" b="1" dirty="0">
                          <a:solidFill>
                            <a:schemeClr val="accent4"/>
                          </a:solidFill>
                        </a:rPr>
                        <a:t>het</a:t>
                      </a:r>
                      <a:r>
                        <a:rPr lang="en-US" sz="1700" dirty="0">
                          <a:solidFill>
                            <a:schemeClr val="tx1"/>
                          </a:solidFill>
                        </a:rPr>
                        <a:t> appartement · </a:t>
                      </a:r>
                      <a:r>
                        <a:rPr lang="en-US" sz="1700" b="1" dirty="0">
                          <a:solidFill>
                            <a:schemeClr val="accent2"/>
                          </a:solidFill>
                        </a:rPr>
                        <a:t>de</a:t>
                      </a:r>
                      <a:r>
                        <a:rPr lang="en-US" sz="1700" dirty="0">
                          <a:solidFill>
                            <a:schemeClr val="tx1"/>
                          </a:solidFill>
                        </a:rPr>
                        <a:t> slaapkamer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accent2"/>
                          </a:solidFill>
                        </a:rPr>
                        <a:t>de</a:t>
                      </a:r>
                      <a:r>
                        <a:rPr lang="en-US" sz="1700" dirty="0">
                          <a:solidFill>
                            <a:schemeClr val="tx1"/>
                          </a:solidFill>
                        </a:rPr>
                        <a:t> keuken · </a:t>
                      </a:r>
                      <a:r>
                        <a:rPr lang="en-US" sz="1700" b="1" dirty="0">
                          <a:solidFill>
                            <a:schemeClr val="accent2"/>
                          </a:solidFill>
                        </a:rPr>
                        <a:t>de</a:t>
                      </a:r>
                      <a:r>
                        <a:rPr lang="en-US" sz="1700" dirty="0">
                          <a:solidFill>
                            <a:schemeClr val="tx1"/>
                          </a:solidFill>
                        </a:rPr>
                        <a:t> badkamer · </a:t>
                      </a:r>
                      <a:r>
                        <a:rPr lang="en-US" sz="1700" b="1" dirty="0">
                          <a:solidFill>
                            <a:schemeClr val="accent2"/>
                          </a:solidFill>
                        </a:rPr>
                        <a:t>de</a:t>
                      </a:r>
                      <a:r>
                        <a:rPr lang="en-US" sz="1700" dirty="0">
                          <a:solidFill>
                            <a:schemeClr val="tx1"/>
                          </a:solidFill>
                        </a:rPr>
                        <a:t> woonkamer · </a:t>
                      </a:r>
                      <a:r>
                        <a:rPr lang="en-US" sz="1700" b="1" dirty="0">
                          <a:solidFill>
                            <a:schemeClr val="accent4"/>
                          </a:solidFill>
                        </a:rPr>
                        <a:t>het</a:t>
                      </a:r>
                      <a:r>
                        <a:rPr lang="en-US" sz="1700" dirty="0">
                          <a:solidFill>
                            <a:schemeClr val="tx1"/>
                          </a:solidFill>
                        </a:rPr>
                        <a:t> terras · </a:t>
                      </a:r>
                      <a:r>
                        <a:rPr lang="en-US" sz="1700" b="1" dirty="0">
                          <a:solidFill>
                            <a:schemeClr val="accent2"/>
                          </a:solidFill>
                        </a:rPr>
                        <a:t>de</a:t>
                      </a:r>
                      <a:r>
                        <a:rPr lang="en-US" sz="1700" dirty="0">
                          <a:solidFill>
                            <a:schemeClr val="tx1"/>
                          </a:solidFill>
                        </a:rPr>
                        <a:t> tuin · </a:t>
                      </a:r>
                      <a:r>
                        <a:rPr lang="en-US" sz="1700" b="1" dirty="0">
                          <a:solidFill>
                            <a:schemeClr val="accent2"/>
                          </a:solidFill>
                        </a:rPr>
                        <a:t>de</a:t>
                      </a:r>
                      <a:r>
                        <a:rPr lang="en-US" sz="1700" dirty="0">
                          <a:solidFill>
                            <a:schemeClr val="tx1"/>
                          </a:solidFill>
                        </a:rPr>
                        <a:t> kelder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8426">
                <a:tc>
                  <a:txBody>
                    <a:bodyPr/>
                    <a:lstStyle/>
                    <a:p>
                      <a:pPr algn="l" indent="0" marL="0">
                        <a:buNone/>
                      </a:pPr>
                      <a:r>
                        <a:rPr lang="en-US" sz="1700" b="1" dirty="0">
                          <a:solidFill>
                            <a:schemeClr val="tx1"/>
                          </a:solidFill>
                        </a:rPr>
                        <a:t>2 · DE MENSEN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accent2"/>
                          </a:solidFill>
                        </a:rPr>
                        <a:t>de</a:t>
                      </a:r>
                      <a:r>
                        <a:rPr lang="en-US" sz="1700" dirty="0">
                          <a:solidFill>
                            <a:schemeClr val="tx1"/>
                          </a:solidFill>
                        </a:rPr>
                        <a:t> makelaar · </a:t>
                      </a:r>
                      <a:r>
                        <a:rPr lang="en-US" sz="1700" b="1" dirty="0">
                          <a:solidFill>
                            <a:schemeClr val="accent2"/>
                          </a:solidFill>
                        </a:rPr>
                        <a:t>de</a:t>
                      </a:r>
                      <a:r>
                        <a:rPr lang="en-US" sz="1700" dirty="0">
                          <a:solidFill>
                            <a:schemeClr val="tx1"/>
                          </a:solidFill>
                        </a:rPr>
                        <a:t> eigenaar · </a:t>
                      </a:r>
                      <a:r>
                        <a:rPr lang="en-US" sz="1700" b="1" dirty="0">
                          <a:solidFill>
                            <a:schemeClr val="accent2"/>
                          </a:solidFill>
                        </a:rPr>
                        <a:t>de</a:t>
                      </a:r>
                      <a:r>
                        <a:rPr lang="en-US" sz="1700" dirty="0">
                          <a:solidFill>
                            <a:schemeClr val="tx1"/>
                          </a:solidFill>
                        </a:rPr>
                        <a:t> koper · </a:t>
                      </a:r>
                      <a:r>
                        <a:rPr lang="en-US" sz="1700" b="1" dirty="0">
                          <a:solidFill>
                            <a:schemeClr val="accent2"/>
                          </a:solidFill>
                        </a:rPr>
                        <a:t>de</a:t>
                      </a:r>
                      <a:r>
                        <a:rPr lang="en-US" sz="1700" dirty="0">
                          <a:solidFill>
                            <a:schemeClr val="tx1"/>
                          </a:solidFill>
                        </a:rPr>
                        <a:t> huurder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accent2"/>
                          </a:solidFill>
                        </a:rPr>
                        <a:t>de</a:t>
                      </a:r>
                      <a:r>
                        <a:rPr lang="en-US" sz="1700" dirty="0">
                          <a:solidFill>
                            <a:schemeClr val="tx1"/>
                          </a:solidFill>
                        </a:rPr>
                        <a:t> klant · </a:t>
                      </a:r>
                      <a:r>
                        <a:rPr lang="en-US" sz="1700" b="1" dirty="0">
                          <a:solidFill>
                            <a:schemeClr val="accent2"/>
                          </a:solidFill>
                        </a:rPr>
                        <a:t>de</a:t>
                      </a:r>
                      <a:r>
                        <a:rPr lang="en-US" sz="1700" dirty="0">
                          <a:solidFill>
                            <a:schemeClr val="tx1"/>
                          </a:solidFill>
                        </a:rPr>
                        <a:t> verkoper · </a:t>
                      </a:r>
                      <a:r>
                        <a:rPr lang="en-US" sz="1700" b="1" dirty="0">
                          <a:solidFill>
                            <a:schemeClr val="accent2"/>
                          </a:solidFill>
                        </a:rPr>
                        <a:t>de</a:t>
                      </a:r>
                      <a:r>
                        <a:rPr lang="en-US" sz="1700" dirty="0">
                          <a:solidFill>
                            <a:schemeClr val="tx1"/>
                          </a:solidFill>
                        </a:rPr>
                        <a:t> verhuurder · </a:t>
                      </a:r>
                      <a:r>
                        <a:rPr lang="en-US" sz="1700" b="1" dirty="0">
                          <a:solidFill>
                            <a:schemeClr val="accent2"/>
                          </a:solidFill>
                        </a:rPr>
                        <a:t>de</a:t>
                      </a:r>
                      <a:r>
                        <a:rPr lang="en-US" sz="1700" dirty="0">
                          <a:solidFill>
                            <a:schemeClr val="tx1"/>
                          </a:solidFill>
                        </a:rPr>
                        <a:t> buur · </a:t>
                      </a:r>
                      <a:r>
                        <a:rPr lang="en-US" sz="1700" b="1" dirty="0">
                          <a:solidFill>
                            <a:schemeClr val="accent2"/>
                          </a:solidFill>
                        </a:rPr>
                        <a:t>de</a:t>
                      </a:r>
                      <a:r>
                        <a:rPr lang="en-US" sz="1700" dirty="0">
                          <a:solidFill>
                            <a:schemeClr val="tx1"/>
                          </a:solidFill>
                        </a:rPr>
                        <a:t> notaris · </a:t>
                      </a:r>
                      <a:r>
                        <a:rPr lang="en-US" sz="1700" b="1" dirty="0">
                          <a:solidFill>
                            <a:schemeClr val="accent2"/>
                          </a:solidFill>
                        </a:rPr>
                        <a:t>de</a:t>
                      </a:r>
                      <a:r>
                        <a:rPr lang="en-US" sz="1700" dirty="0">
                          <a:solidFill>
                            <a:schemeClr val="tx1"/>
                          </a:solidFill>
                        </a:rPr>
                        <a:t> stagiair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68426">
                <a:tc>
                  <a:txBody>
                    <a:bodyPr/>
                    <a:lstStyle/>
                    <a:p>
                      <a:pPr algn="l" indent="0" marL="0">
                        <a:buNone/>
                      </a:pPr>
                      <a:r>
                        <a:rPr lang="en-US" sz="1700" b="1" dirty="0">
                          <a:solidFill>
                            <a:schemeClr val="tx1"/>
                          </a:solidFill>
                        </a:rPr>
                        <a:t>3 · DE ACTIVITEITEN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bezichtigen · verkopen · verhuren · een bod uitbrengen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kopen · huren · tekenen · inplannen · onderhandelen · renoveren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8426">
                <a:tc>
                  <a:txBody>
                    <a:bodyPr/>
                    <a:lstStyle/>
                    <a:p>
                      <a:pPr algn="l" indent="0" marL="0">
                        <a:buNone/>
                      </a:pPr>
                      <a:r>
                        <a:rPr lang="en-US" sz="1700" b="1" dirty="0">
                          <a:solidFill>
                            <a:schemeClr val="tx1"/>
                          </a:solidFill>
                        </a:rPr>
                        <a:t>4 · HET GELD</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accent2"/>
                          </a:solidFill>
                        </a:rPr>
                        <a:t>de</a:t>
                      </a:r>
                      <a:r>
                        <a:rPr lang="en-US" sz="1700" dirty="0">
                          <a:solidFill>
                            <a:schemeClr val="tx1"/>
                          </a:solidFill>
                        </a:rPr>
                        <a:t> prijs · </a:t>
                      </a:r>
                      <a:r>
                        <a:rPr lang="en-US" sz="1700" b="1" dirty="0">
                          <a:solidFill>
                            <a:schemeClr val="accent2"/>
                          </a:solidFill>
                        </a:rPr>
                        <a:t>de</a:t>
                      </a:r>
                      <a:r>
                        <a:rPr lang="en-US" sz="1700" dirty="0">
                          <a:solidFill>
                            <a:schemeClr val="tx1"/>
                          </a:solidFill>
                        </a:rPr>
                        <a:t> huurprijs · </a:t>
                      </a:r>
                      <a:r>
                        <a:rPr lang="en-US" sz="1700" b="1" dirty="0">
                          <a:solidFill>
                            <a:schemeClr val="accent4"/>
                          </a:solidFill>
                        </a:rPr>
                        <a:t>het</a:t>
                      </a:r>
                      <a:r>
                        <a:rPr lang="en-US" sz="1700" dirty="0">
                          <a:solidFill>
                            <a:schemeClr val="tx1"/>
                          </a:solidFill>
                        </a:rPr>
                        <a:t> bod · </a:t>
                      </a:r>
                      <a:r>
                        <a:rPr lang="en-US" sz="1700" b="1" dirty="0">
                          <a:solidFill>
                            <a:schemeClr val="accent2"/>
                          </a:solidFill>
                        </a:rPr>
                        <a:t>de</a:t>
                      </a:r>
                      <a:r>
                        <a:rPr lang="en-US" sz="1700" dirty="0">
                          <a:solidFill>
                            <a:schemeClr val="tx1"/>
                          </a:solidFill>
                        </a:rPr>
                        <a:t> kosten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accent2"/>
                          </a:solidFill>
                        </a:rPr>
                        <a:t>de</a:t>
                      </a:r>
                      <a:r>
                        <a:rPr lang="en-US" sz="1700" dirty="0">
                          <a:solidFill>
                            <a:schemeClr val="tx1"/>
                          </a:solidFill>
                        </a:rPr>
                        <a:t> vraagprijs · </a:t>
                      </a:r>
                      <a:r>
                        <a:rPr lang="en-US" sz="1700" b="1" dirty="0">
                          <a:solidFill>
                            <a:schemeClr val="accent2"/>
                          </a:solidFill>
                        </a:rPr>
                        <a:t>de</a:t>
                      </a:r>
                      <a:r>
                        <a:rPr lang="en-US" sz="1700" dirty="0">
                          <a:solidFill>
                            <a:schemeClr val="tx1"/>
                          </a:solidFill>
                        </a:rPr>
                        <a:t> lening · </a:t>
                      </a:r>
                      <a:r>
                        <a:rPr lang="en-US" sz="1700" b="1" dirty="0">
                          <a:solidFill>
                            <a:schemeClr val="accent2"/>
                          </a:solidFill>
                        </a:rPr>
                        <a:t>de</a:t>
                      </a:r>
                      <a:r>
                        <a:rPr lang="en-US" sz="1700" dirty="0">
                          <a:solidFill>
                            <a:schemeClr val="tx1"/>
                          </a:solidFill>
                        </a:rPr>
                        <a:t> bank · </a:t>
                      </a:r>
                      <a:r>
                        <a:rPr lang="en-US" sz="1700" b="1" dirty="0">
                          <a:solidFill>
                            <a:schemeClr val="accent4"/>
                          </a:solidFill>
                        </a:rPr>
                        <a:t>het</a:t>
                      </a:r>
                      <a:r>
                        <a:rPr lang="en-US" sz="1700" dirty="0">
                          <a:solidFill>
                            <a:schemeClr val="tx1"/>
                          </a:solidFill>
                        </a:rPr>
                        <a:t> budget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68426">
                <a:tc>
                  <a:txBody>
                    <a:bodyPr/>
                    <a:lstStyle/>
                    <a:p>
                      <a:pPr algn="l" indent="0" marL="0">
                        <a:buNone/>
                      </a:pPr>
                      <a:r>
                        <a:rPr lang="en-US" sz="1700" b="1" dirty="0">
                          <a:solidFill>
                            <a:schemeClr val="tx1"/>
                          </a:solidFill>
                        </a:rPr>
                        <a:t>5 · DE DOCUMENTEN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accent2"/>
                          </a:solidFill>
                        </a:rPr>
                        <a:t>de</a:t>
                      </a:r>
                      <a:r>
                        <a:rPr lang="en-US" sz="1700" dirty="0">
                          <a:solidFill>
                            <a:schemeClr val="tx1"/>
                          </a:solidFill>
                        </a:rPr>
                        <a:t> opdracht · </a:t>
                      </a:r>
                      <a:r>
                        <a:rPr lang="en-US" sz="1700" b="1" dirty="0">
                          <a:solidFill>
                            <a:schemeClr val="accent2"/>
                          </a:solidFill>
                        </a:rPr>
                        <a:t>de</a:t>
                      </a:r>
                      <a:r>
                        <a:rPr lang="en-US" sz="1700" dirty="0">
                          <a:solidFill>
                            <a:schemeClr val="tx1"/>
                          </a:solidFill>
                        </a:rPr>
                        <a:t> advertentie · </a:t>
                      </a:r>
                      <a:r>
                        <a:rPr lang="en-US" sz="1700" b="1" dirty="0">
                          <a:solidFill>
                            <a:schemeClr val="accent4"/>
                          </a:solidFill>
                        </a:rPr>
                        <a:t>het</a:t>
                      </a:r>
                      <a:r>
                        <a:rPr lang="en-US" sz="1700" dirty="0">
                          <a:solidFill>
                            <a:schemeClr val="tx1"/>
                          </a:solidFill>
                        </a:rPr>
                        <a:t> contract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accent4"/>
                          </a:solidFill>
                        </a:rPr>
                        <a:t>het</a:t>
                      </a:r>
                      <a:r>
                        <a:rPr lang="en-US" sz="1700" dirty="0">
                          <a:solidFill>
                            <a:schemeClr val="tx1"/>
                          </a:solidFill>
                        </a:rPr>
                        <a:t> zoekertje · </a:t>
                      </a:r>
                      <a:r>
                        <a:rPr lang="en-US" sz="1700" b="1" dirty="0">
                          <a:solidFill>
                            <a:schemeClr val="accent4"/>
                          </a:solidFill>
                        </a:rPr>
                        <a:t>het</a:t>
                      </a:r>
                      <a:r>
                        <a:rPr lang="en-US" sz="1700" dirty="0">
                          <a:solidFill>
                            <a:schemeClr val="tx1"/>
                          </a:solidFill>
                        </a:rPr>
                        <a:t> compromis · </a:t>
                      </a:r>
                      <a:r>
                        <a:rPr lang="en-US" sz="1700" b="1" dirty="0">
                          <a:solidFill>
                            <a:schemeClr val="accent2"/>
                          </a:solidFill>
                        </a:rPr>
                        <a:t>de</a:t>
                      </a:r>
                      <a:r>
                        <a:rPr lang="en-US" sz="1700" dirty="0">
                          <a:solidFill>
                            <a:schemeClr val="tx1"/>
                          </a:solidFill>
                        </a:rPr>
                        <a:t> akte · </a:t>
                      </a:r>
                      <a:r>
                        <a:rPr lang="en-US" sz="1700" b="1" dirty="0">
                          <a:solidFill>
                            <a:schemeClr val="accent2"/>
                          </a:solidFill>
                        </a:rPr>
                        <a:t>de</a:t>
                      </a:r>
                      <a:r>
                        <a:rPr lang="en-US" sz="1700" dirty="0">
                          <a:solidFill>
                            <a:schemeClr val="tx1"/>
                          </a:solidFill>
                        </a:rPr>
                        <a:t> foto · </a:t>
                      </a:r>
                      <a:r>
                        <a:rPr lang="en-US" sz="1700" b="1" dirty="0">
                          <a:solidFill>
                            <a:schemeClr val="accent4"/>
                          </a:solidFill>
                        </a:rPr>
                        <a:t>het</a:t>
                      </a:r>
                      <a:r>
                        <a:rPr lang="en-US" sz="1700" dirty="0">
                          <a:solidFill>
                            <a:schemeClr val="tx1"/>
                          </a:solidFill>
                        </a:rPr>
                        <a:t> EPC-attest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Notez l’article : </a:t>
            </a:r>
            <a:r>
              <a:rPr lang="en-US" sz="1500" b="1" i="1" dirty="0">
                <a:solidFill>
                  <a:schemeClr val="accent2"/>
                </a:solidFill>
              </a:rPr>
              <a:t>de</a:t>
            </a:r>
            <a:r>
              <a:rPr lang="en-US" sz="1500" i="1" dirty="0">
                <a:solidFill>
                  <a:schemeClr val="accent5"/>
                </a:solidFill>
              </a:rPr>
              <a:t> en bleu, </a:t>
            </a:r>
            <a:r>
              <a:rPr lang="en-US" sz="1500" b="1" i="1" dirty="0">
                <a:solidFill>
                  <a:schemeClr val="accent4"/>
                </a:solidFill>
              </a:rPr>
              <a:t>het</a:t>
            </a:r>
            <a:r>
              <a:rPr lang="en-US" sz="1500" i="1" dirty="0">
                <a:solidFill>
                  <a:schemeClr val="accent5"/>
                </a:solidFill>
              </a:rPr>
              <a:t> en magenta — les relatives de la séquence 5.2 en dépendent !</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2 Collocaties van de makelaar</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a:t>
            </a:r>
            <a:endParaRPr lang="en-US" sz="1200" dirty="0"/>
          </a:p>
        </p:txBody>
      </p:sp>
      <p:sp>
        <p:nvSpPr>
          <p:cNvPr id="6" name="Text 3"/>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Seul·e · 5 min. Reliez chaque nom au verbe du métier — </a:t>
            </a:r>
            <a:r>
              <a:rPr lang="en-US" sz="1600" b="1" i="1" dirty="0">
                <a:solidFill>
                  <a:schemeClr val="accent5"/>
                </a:solidFill>
              </a:rPr>
              <a:t>chaque verbe une seule fois</a:t>
            </a:r>
            <a:r>
              <a:rPr lang="en-US" sz="1600" i="1" dirty="0">
                <a:solidFill>
                  <a:schemeClr val="accent5"/>
                </a:solidFill>
              </a:rPr>
              <a:t> : </a:t>
            </a:r>
            <a:r>
              <a:rPr lang="en-US" sz="1600" b="1" i="1" dirty="0">
                <a:solidFill>
                  <a:schemeClr val="accent5"/>
                </a:solidFill>
              </a:rPr>
              <a:t>bezichtigen · inplannen · uitbrengen · overhandigen · zetten · tekenen</a:t>
            </a:r>
            <a:r>
              <a:rPr lang="en-US" sz="1600" i="1" dirty="0">
                <a:solidFill>
                  <a:schemeClr val="accent5"/>
                </a:solidFill>
              </a:rPr>
              <a:t>.</a:t>
            </a:r>
            <a:endParaRPr lang="en-US" sz="1600" dirty="0"/>
          </a:p>
        </p:txBody>
      </p:sp>
      <p:sp>
        <p:nvSpPr>
          <p:cNvPr id="7"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b="1" dirty="0">
                <a:solidFill>
                  <a:schemeClr val="tx1"/>
                </a:solidFill>
              </a:rPr>
              <a:t>een bod</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2.  </a:t>
            </a:r>
            <a:r>
              <a:rPr lang="en-US" sz="2400" b="1" dirty="0">
                <a:solidFill>
                  <a:schemeClr val="tx1"/>
                </a:solidFill>
              </a:rPr>
              <a:t>een afspraak</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3.  </a:t>
            </a:r>
            <a:r>
              <a:rPr lang="en-US" sz="2400" b="1" dirty="0">
                <a:solidFill>
                  <a:schemeClr val="tx1"/>
                </a:solidFill>
              </a:rPr>
              <a:t>een woning</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4.  </a:t>
            </a:r>
            <a:r>
              <a:rPr lang="en-US" sz="2400" b="1" dirty="0">
                <a:solidFill>
                  <a:schemeClr val="tx1"/>
                </a:solidFill>
              </a:rPr>
              <a:t>de opdracht</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5.  </a:t>
            </a:r>
            <a:r>
              <a:rPr lang="en-US" sz="2400" b="1" dirty="0">
                <a:solidFill>
                  <a:schemeClr val="tx1"/>
                </a:solidFill>
              </a:rPr>
              <a:t>de sleutels</a:t>
            </a:r>
            <a:r>
              <a:rPr lang="en-US" sz="2400" dirty="0">
                <a:solidFill>
                  <a:schemeClr val="tx1"/>
                </a:solidFill>
              </a:rPr>
              <a:t>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6.  </a:t>
            </a:r>
            <a:r>
              <a:rPr lang="en-US" sz="2400" b="1" dirty="0">
                <a:solidFill>
                  <a:schemeClr val="tx1"/>
                </a:solidFill>
              </a:rPr>
              <a:t>de advertentie online</a:t>
            </a:r>
            <a:r>
              <a:rPr lang="en-US" sz="2400" dirty="0">
                <a:solidFill>
                  <a:schemeClr val="tx1"/>
                </a:solidFill>
              </a:rPr>
              <a:t> → </a:t>
            </a:r>
            <a:r>
              <a:rPr lang="en-US" sz="2400" dirty="0">
                <a:solidFill>
                  <a:schemeClr val="accent5"/>
                </a:solidFill>
              </a:rPr>
              <a: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2 Collocaties van de makelaar</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a:t>
            </a:r>
            <a:endParaRPr lang="en-US" sz="1200" dirty="0"/>
          </a:p>
        </p:txBody>
      </p:sp>
      <p:sp>
        <p:nvSpPr>
          <p:cNvPr id="7" name="Text 4"/>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Seul·e · 5 min. Reliez chaque nom au verbe du métier — </a:t>
            </a:r>
            <a:r>
              <a:rPr lang="en-US" sz="1600" b="1" i="1" dirty="0">
                <a:solidFill>
                  <a:schemeClr val="accent5"/>
                </a:solidFill>
              </a:rPr>
              <a:t>chaque verbe une seule fois</a:t>
            </a:r>
            <a:r>
              <a:rPr lang="en-US" sz="1600" i="1" dirty="0">
                <a:solidFill>
                  <a:schemeClr val="accent5"/>
                </a:solidFill>
              </a:rPr>
              <a:t> : </a:t>
            </a:r>
            <a:r>
              <a:rPr lang="en-US" sz="1600" b="1" i="1" dirty="0">
                <a:solidFill>
                  <a:schemeClr val="accent5"/>
                </a:solidFill>
              </a:rPr>
              <a:t>bezichtigen · inplannen · uitbrengen · overhandigen · zetten · tekenen</a:t>
            </a:r>
            <a:r>
              <a:rPr lang="en-US" sz="1600" i="1" dirty="0">
                <a:solidFill>
                  <a:schemeClr val="accent5"/>
                </a:solidFill>
              </a:rPr>
              <a:t>.</a:t>
            </a:r>
            <a:endParaRPr lang="en-US" sz="1600" dirty="0"/>
          </a:p>
        </p:txBody>
      </p:sp>
      <p:sp>
        <p:nvSpPr>
          <p:cNvPr id="8"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b="1" dirty="0">
                <a:solidFill>
                  <a:schemeClr val="tx1"/>
                </a:solidFill>
              </a:rPr>
              <a:t>een bod</a:t>
            </a:r>
            <a:r>
              <a:rPr lang="en-US" sz="2400" dirty="0">
                <a:solidFill>
                  <a:schemeClr val="tx1"/>
                </a:solidFill>
              </a:rPr>
              <a:t> → </a:t>
            </a:r>
            <a:r>
              <a:rPr lang="en-US" sz="2400" b="1" dirty="0">
                <a:solidFill>
                  <a:schemeClr val="accent3"/>
                </a:solidFill>
              </a:rPr>
              <a:t>uitbrengen</a:t>
            </a:r>
            <a:endParaRPr lang="en-US" sz="2400" dirty="0"/>
          </a:p>
          <a:p>
            <a:pPr indent="0" marL="0">
              <a:spcAft>
                <a:spcPts val="1000"/>
              </a:spcAft>
              <a:buNone/>
            </a:pPr>
            <a:r>
              <a:rPr lang="en-US" sz="2400" b="1" dirty="0">
                <a:solidFill>
                  <a:schemeClr val="tx2"/>
                </a:solidFill>
              </a:rPr>
              <a:t>2.  </a:t>
            </a:r>
            <a:r>
              <a:rPr lang="en-US" sz="2400" b="1" dirty="0">
                <a:solidFill>
                  <a:schemeClr val="tx1"/>
                </a:solidFill>
              </a:rPr>
              <a:t>een afspraak</a:t>
            </a:r>
            <a:r>
              <a:rPr lang="en-US" sz="2400" dirty="0">
                <a:solidFill>
                  <a:schemeClr val="tx1"/>
                </a:solidFill>
              </a:rPr>
              <a:t> → </a:t>
            </a:r>
            <a:r>
              <a:rPr lang="en-US" sz="2400" b="1" dirty="0">
                <a:solidFill>
                  <a:schemeClr val="accent3"/>
                </a:solidFill>
              </a:rPr>
              <a:t>inplannen</a:t>
            </a:r>
            <a:endParaRPr lang="en-US" sz="2400" dirty="0"/>
          </a:p>
          <a:p>
            <a:pPr indent="0" marL="0">
              <a:spcAft>
                <a:spcPts val="1000"/>
              </a:spcAft>
              <a:buNone/>
            </a:pPr>
            <a:r>
              <a:rPr lang="en-US" sz="2400" b="1" dirty="0">
                <a:solidFill>
                  <a:schemeClr val="tx2"/>
                </a:solidFill>
              </a:rPr>
              <a:t>3.  </a:t>
            </a:r>
            <a:r>
              <a:rPr lang="en-US" sz="2400" b="1" dirty="0">
                <a:solidFill>
                  <a:schemeClr val="tx1"/>
                </a:solidFill>
              </a:rPr>
              <a:t>een woning</a:t>
            </a:r>
            <a:r>
              <a:rPr lang="en-US" sz="2400" dirty="0">
                <a:solidFill>
                  <a:schemeClr val="tx1"/>
                </a:solidFill>
              </a:rPr>
              <a:t> → </a:t>
            </a:r>
            <a:r>
              <a:rPr lang="en-US" sz="2400" b="1" dirty="0">
                <a:solidFill>
                  <a:schemeClr val="accent3"/>
                </a:solidFill>
              </a:rPr>
              <a:t>bezichtigen</a:t>
            </a:r>
            <a:endParaRPr lang="en-US" sz="2400" dirty="0"/>
          </a:p>
          <a:p>
            <a:pPr indent="0" marL="0">
              <a:spcAft>
                <a:spcPts val="1000"/>
              </a:spcAft>
              <a:buNone/>
            </a:pPr>
            <a:r>
              <a:rPr lang="en-US" sz="2400" b="1" dirty="0">
                <a:solidFill>
                  <a:schemeClr val="tx2"/>
                </a:solidFill>
              </a:rPr>
              <a:t>4.  </a:t>
            </a:r>
            <a:r>
              <a:rPr lang="en-US" sz="2400" b="1" dirty="0">
                <a:solidFill>
                  <a:schemeClr val="tx1"/>
                </a:solidFill>
              </a:rPr>
              <a:t>de opdracht</a:t>
            </a:r>
            <a:r>
              <a:rPr lang="en-US" sz="2400" dirty="0">
                <a:solidFill>
                  <a:schemeClr val="tx1"/>
                </a:solidFill>
              </a:rPr>
              <a:t> → </a:t>
            </a:r>
            <a:r>
              <a:rPr lang="en-US" sz="2400" b="1" dirty="0">
                <a:solidFill>
                  <a:schemeClr val="accent3"/>
                </a:solidFill>
              </a:rPr>
              <a:t>tekenen</a:t>
            </a:r>
            <a:endParaRPr lang="en-US" sz="2400" dirty="0"/>
          </a:p>
          <a:p>
            <a:pPr indent="0" marL="0">
              <a:spcAft>
                <a:spcPts val="1000"/>
              </a:spcAft>
              <a:buNone/>
            </a:pPr>
            <a:r>
              <a:rPr lang="en-US" sz="2400" b="1" dirty="0">
                <a:solidFill>
                  <a:schemeClr val="tx2"/>
                </a:solidFill>
              </a:rPr>
              <a:t>5.  </a:t>
            </a:r>
            <a:r>
              <a:rPr lang="en-US" sz="2400" b="1" dirty="0">
                <a:solidFill>
                  <a:schemeClr val="tx1"/>
                </a:solidFill>
              </a:rPr>
              <a:t>de sleutels</a:t>
            </a:r>
            <a:r>
              <a:rPr lang="en-US" sz="2400" dirty="0">
                <a:solidFill>
                  <a:schemeClr val="tx1"/>
                </a:solidFill>
              </a:rPr>
              <a:t> → </a:t>
            </a:r>
            <a:r>
              <a:rPr lang="en-US" sz="2400" b="1" dirty="0">
                <a:solidFill>
                  <a:schemeClr val="accent3"/>
                </a:solidFill>
              </a:rPr>
              <a:t>overhandigen</a:t>
            </a:r>
            <a:endParaRPr lang="en-US" sz="2400" dirty="0"/>
          </a:p>
          <a:p>
            <a:pPr indent="0" marL="0">
              <a:spcAft>
                <a:spcPts val="1000"/>
              </a:spcAft>
              <a:buNone/>
            </a:pPr>
            <a:r>
              <a:rPr lang="en-US" sz="2400" b="1" dirty="0">
                <a:solidFill>
                  <a:schemeClr val="tx2"/>
                </a:solidFill>
              </a:rPr>
              <a:t>6.  </a:t>
            </a:r>
            <a:r>
              <a:rPr lang="en-US" sz="2400" b="1" dirty="0">
                <a:solidFill>
                  <a:schemeClr val="tx1"/>
                </a:solidFill>
              </a:rPr>
              <a:t>de advertentie online</a:t>
            </a:r>
            <a:r>
              <a:rPr lang="en-US" sz="2400" dirty="0">
                <a:solidFill>
                  <a:schemeClr val="tx1"/>
                </a:solidFill>
              </a:rPr>
              <a:t> → </a:t>
            </a:r>
            <a:r>
              <a:rPr lang="en-US" sz="2400" b="1" dirty="0">
                <a:solidFill>
                  <a:schemeClr val="accent3"/>
                </a:solidFill>
              </a:rPr>
              <a:t>zetten</a:t>
            </a:r>
            <a:endParaRPr lang="en-US" sz="2400" dirty="0"/>
          </a:p>
        </p:txBody>
      </p:sp>
      <p:sp>
        <p:nvSpPr>
          <p:cNvPr id="9" name="aside"/>
          <p:cNvSpPr/>
          <p:nvPr/>
        </p:nvSpPr>
        <p:spPr>
          <a:xfrm>
            <a:off x="8074152" y="1481328"/>
            <a:ext cx="3566160" cy="4809744"/>
          </a:xfrm>
          <a:prstGeom prst="roundRect">
            <a:avLst>
              <a:gd name="adj" fmla="val 2051"/>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1" name="Text 7"/>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Séparables : </a:t>
            </a:r>
            <a:r>
              <a:rPr lang="en-US" sz="1800" i="1" dirty="0">
                <a:solidFill>
                  <a:schemeClr val="tx1"/>
                </a:solidFill>
              </a:rPr>
              <a:t>ik </a:t>
            </a:r>
            <a:r>
              <a:rPr lang="en-US" sz="1800" b="1" i="1" dirty="0">
                <a:solidFill>
                  <a:schemeClr val="tx1"/>
                </a:solidFill>
              </a:rPr>
              <a:t>breng</a:t>
            </a:r>
            <a:r>
              <a:rPr lang="en-US" sz="1800" i="1" dirty="0">
                <a:solidFill>
                  <a:schemeClr val="tx1"/>
                </a:solidFill>
              </a:rPr>
              <a:t> een bod </a:t>
            </a:r>
            <a:r>
              <a:rPr lang="en-US" sz="1800" b="1" i="1" dirty="0">
                <a:solidFill>
                  <a:schemeClr val="tx1"/>
                </a:solidFill>
              </a:rPr>
              <a:t>uit</a:t>
            </a:r>
            <a:r>
              <a:rPr lang="en-US" sz="1800" i="1" dirty="0">
                <a:solidFill>
                  <a:schemeClr val="tx1"/>
                </a:solidFill>
              </a:rPr>
              <a:t>, ik </a:t>
            </a:r>
            <a:r>
              <a:rPr lang="en-US" sz="1800" b="1" i="1" dirty="0">
                <a:solidFill>
                  <a:schemeClr val="tx1"/>
                </a:solidFill>
              </a:rPr>
              <a:t>plan</a:t>
            </a:r>
            <a:r>
              <a:rPr lang="en-US" sz="1800" i="1" dirty="0">
                <a:solidFill>
                  <a:schemeClr val="tx1"/>
                </a:solidFill>
              </a:rPr>
              <a:t> een afspraak </a:t>
            </a:r>
            <a:r>
              <a:rPr lang="en-US" sz="1800" b="1" i="1" dirty="0">
                <a:solidFill>
                  <a:schemeClr val="tx1"/>
                </a:solidFill>
              </a:rPr>
              <a:t>in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Inséparables : </a:t>
            </a:r>
            <a:r>
              <a:rPr lang="en-US" sz="1800" i="1" dirty="0">
                <a:solidFill>
                  <a:schemeClr val="tx1"/>
                </a:solidFill>
              </a:rPr>
              <a:t>ik bezichtig, ik overhandig</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Perfectum : </a:t>
            </a:r>
            <a:r>
              <a:rPr lang="en-US" sz="1800" i="1" dirty="0">
                <a:solidFill>
                  <a:schemeClr val="tx1"/>
                </a:solidFill>
              </a:rPr>
              <a:t>we hebben de opdracht </a:t>
            </a:r>
            <a:r>
              <a:rPr lang="en-US" sz="1800" b="1" i="1" dirty="0">
                <a:solidFill>
                  <a:schemeClr val="tx1"/>
                </a:solidFill>
              </a:rPr>
              <a:t>getekend</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 </a:t>
            </a:r>
            <a:r>
              <a:rPr lang="en-US" sz="1800" i="1" dirty="0">
                <a:solidFill>
                  <a:schemeClr val="tx1"/>
                </a:solidFill>
              </a:rPr>
              <a:t>een bod maken</a:t>
            </a:r>
            <a:r>
              <a:rPr lang="en-US" sz="1800" dirty="0">
                <a:solidFill>
                  <a:schemeClr val="tx1"/>
                </a:solidFill>
              </a:rPr>
              <a:t> → ✓ </a:t>
            </a:r>
            <a:r>
              <a:rPr lang="en-US" sz="1800" i="1" dirty="0">
                <a:solidFill>
                  <a:schemeClr val="tx1"/>
                </a:solidFill>
              </a:rPr>
              <a:t>een bod uitbrengen</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Quatre pièges du lexique immobilier</a:t>
            </a:r>
            <a:endParaRPr lang="en-US" sz="3200" dirty="0"/>
          </a:p>
        </p:txBody>
      </p:sp>
      <p:sp>
        <p:nvSpPr>
          <p:cNvPr id="3" name="tag"/>
          <p:cNvSpPr/>
          <p:nvPr/>
        </p:nvSpPr>
        <p:spPr>
          <a:xfrm>
            <a:off x="548640" y="237744"/>
            <a:ext cx="1394460"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chemeClr val="bg1"/>
                </a:solidFill>
              </a:rPr>
              <a:t>FAUX-AMIS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7205472" cy="4446806"/>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8074152" y="1481328"/>
            <a:ext cx="3566160" cy="4809744"/>
          </a:xfrm>
          <a:prstGeom prst="roundRect">
            <a:avLst>
              <a:gd name="adj" fmla="val 2051"/>
            </a:avLst>
          </a:prstGeom>
          <a:solidFill>
            <a:schemeClr val="accent6">
              <a:alpha val="10000"/>
            </a:schemeClr>
          </a:solidFill>
          <a:ln w="12700">
            <a:solidFill>
              <a:schemeClr val="accent6">
                <a:alpha val="60000"/>
              </a:schemeClr>
            </a:solidFill>
            <a:prstDash val="solid"/>
          </a:ln>
        </p:spPr>
      </p:sp>
      <p:pic>
        <p:nvPicPr>
          <p:cNvPr id="8" name="Image 1" descr="preencoded.png">    </p:cNvPr>
          <p:cNvPicPr>
            <a:picLocks noChangeAspect="1"/>
          </p:cNvPicPr>
          <p:nvPr/>
        </p:nvPicPr>
        <p:blipFill>
          <a:blip r:embed="rId2"/>
          <a:stretch>
            <a:fillRect/>
          </a:stretch>
        </p:blipFill>
        <p:spPr>
          <a:xfrm>
            <a:off x="8257032" y="1664208"/>
            <a:ext cx="292608" cy="292608"/>
          </a:xfrm>
          <a:prstGeom prst="rect">
            <a:avLst/>
          </a:prstGeom>
        </p:spPr>
      </p:pic>
      <p:sp>
        <p:nvSpPr>
          <p:cNvPr id="9" name="Text 4"/>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POUR UN FRANCOPHONE</a:t>
            </a:r>
            <a:endParaRPr lang="en-US" sz="1400" dirty="0"/>
          </a:p>
        </p:txBody>
      </p:sp>
      <p:sp>
        <p:nvSpPr>
          <p:cNvPr id="10" name="Text 5"/>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huren</a:t>
            </a:r>
            <a:r>
              <a:rPr lang="en-US" sz="1800" dirty="0">
                <a:solidFill>
                  <a:schemeClr val="tx1"/>
                </a:solidFill>
              </a:rPr>
              <a:t> = prendre en location ≠ </a:t>
            </a:r>
            <a:r>
              <a:rPr lang="en-US" sz="1800" b="1" dirty="0">
                <a:solidFill>
                  <a:schemeClr val="tx1"/>
                </a:solidFill>
              </a:rPr>
              <a:t>verhuren</a:t>
            </a:r>
            <a:r>
              <a:rPr lang="en-US" sz="1800" dirty="0">
                <a:solidFill>
                  <a:schemeClr val="tx1"/>
                </a:solidFill>
              </a:rPr>
              <a:t> = mettre en location.</a:t>
            </a:r>
            <a:endParaRPr lang="en-US" sz="1800" dirty="0"/>
          </a:p>
          <a:p>
            <a:pPr marL="177800" indent="-177800">
              <a:spcAft>
                <a:spcPts val="600"/>
              </a:spcAft>
              <a:buSzPct val="100000"/>
              <a:buChar char="•"/>
            </a:pPr>
            <a:r>
              <a:rPr lang="en-US" sz="1800" b="1" dirty="0">
                <a:solidFill>
                  <a:schemeClr val="tx1"/>
                </a:solidFill>
              </a:rPr>
              <a:t>het kantoor</a:t>
            </a:r>
            <a:r>
              <a:rPr lang="en-US" sz="1800" dirty="0">
                <a:solidFill>
                  <a:schemeClr val="tx1"/>
                </a:solidFill>
              </a:rPr>
              <a:t> = le bureau (le lieu) ≠ </a:t>
            </a:r>
            <a:r>
              <a:rPr lang="en-US" sz="1800" b="1" dirty="0">
                <a:solidFill>
                  <a:schemeClr val="tx1"/>
                </a:solidFill>
              </a:rPr>
              <a:t>het bureau</a:t>
            </a:r>
            <a:r>
              <a:rPr lang="en-US" sz="1800" dirty="0">
                <a:solidFill>
                  <a:schemeClr val="tx1"/>
                </a:solidFill>
              </a:rPr>
              <a:t> = le bureau (le meuble).</a:t>
            </a:r>
            <a:endParaRPr lang="en-US" sz="1800" dirty="0"/>
          </a:p>
          <a:p>
            <a:pPr marL="177800" indent="-177800">
              <a:spcAft>
                <a:spcPts val="600"/>
              </a:spcAft>
              <a:buSzPct val="100000"/>
              <a:buChar char="•"/>
            </a:pPr>
            <a:r>
              <a:rPr lang="en-US" sz="1800" b="1" dirty="0">
                <a:solidFill>
                  <a:schemeClr val="tx1"/>
                </a:solidFill>
              </a:rPr>
              <a:t>de verdieping</a:t>
            </a:r>
            <a:r>
              <a:rPr lang="en-US" sz="1800" dirty="0">
                <a:solidFill>
                  <a:schemeClr val="tx1"/>
                </a:solidFill>
              </a:rPr>
              <a:t> = l’étage ≠ </a:t>
            </a:r>
            <a:r>
              <a:rPr lang="en-US" sz="1800" b="1" dirty="0">
                <a:solidFill>
                  <a:schemeClr val="tx1"/>
                </a:solidFill>
              </a:rPr>
              <a:t>de stage</a:t>
            </a:r>
            <a:r>
              <a:rPr lang="en-US" sz="1800" dirty="0">
                <a:solidFill>
                  <a:schemeClr val="tx1"/>
                </a:solidFill>
              </a:rPr>
              <a:t> = le stage.</a:t>
            </a:r>
            <a:endParaRPr lang="en-US" sz="1800" dirty="0"/>
          </a:p>
          <a:p>
            <a:pPr marL="177800" indent="-177800">
              <a:spcAft>
                <a:spcPts val="600"/>
              </a:spcAft>
              <a:buSzPct val="100000"/>
              <a:buChar char="•"/>
            </a:pPr>
            <a:r>
              <a:rPr lang="en-US" sz="1800" b="1" dirty="0">
                <a:solidFill>
                  <a:schemeClr val="tx1"/>
                </a:solidFill>
              </a:rPr>
              <a:t>living</a:t>
            </a:r>
            <a:r>
              <a:rPr lang="en-US" sz="1800" dirty="0">
                <a:solidFill>
                  <a:schemeClr val="tx1"/>
                </a:solidFill>
              </a:rPr>
              <a:t> → préférez </a:t>
            </a:r>
            <a:r>
              <a:rPr lang="en-US" sz="1800" b="1" dirty="0">
                <a:solidFill>
                  <a:schemeClr val="tx1"/>
                </a:solidFill>
              </a:rPr>
              <a:t>woonkamer</a:t>
            </a:r>
            <a:r>
              <a:rPr lang="en-US" sz="1800" dirty="0">
                <a:solidFill>
                  <a:schemeClr val="tx1"/>
                </a:solidFill>
              </a:rPr>
              <a:t> dans vos annonces.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Huren, verhuren, kantoor, bureau…</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Seul·e · 3 min. Complétez avec </a:t>
            </a:r>
            <a:r>
              <a:rPr lang="en-US" sz="1600" b="1" i="1" dirty="0">
                <a:solidFill>
                  <a:schemeClr val="accent5"/>
                </a:solidFill>
              </a:rPr>
              <a:t>huren · verhuren · kantoor · bureau · verdieping · stage</a:t>
            </a:r>
            <a:r>
              <a:rPr lang="en-US" sz="1600" i="1" dirty="0">
                <a:solidFill>
                  <a:schemeClr val="accent5"/>
                </a:solidFill>
              </a:rPr>
              <a:t> (conjuguez si nécessaire).</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dirty="0">
                <a:solidFill>
                  <a:schemeClr val="tx1"/>
                </a:solidFill>
              </a:rPr>
              <a:t>De eigenaar </a:t>
            </a:r>
            <a:r>
              <a:rPr lang="en-US" sz="2400" dirty="0">
                <a:solidFill>
                  <a:schemeClr val="accent5"/>
                </a:solidFill>
              </a:rPr>
              <a:t>……………</a:t>
            </a:r>
            <a:r>
              <a:rPr lang="en-US" sz="2400" dirty="0">
                <a:solidFill>
                  <a:schemeClr val="tx1"/>
                </a:solidFill>
              </a:rPr>
              <a:t> zijn appartement aan een student.</a:t>
            </a:r>
            <a:endParaRPr lang="en-US" sz="2400" dirty="0"/>
          </a:p>
          <a:p>
            <a:pPr indent="0" marL="0">
              <a:spcAft>
                <a:spcPts val="1200"/>
              </a:spcAft>
              <a:buNone/>
            </a:pPr>
            <a:r>
              <a:rPr lang="en-US" sz="2400" b="1" dirty="0">
                <a:solidFill>
                  <a:schemeClr val="tx2"/>
                </a:solidFill>
              </a:rPr>
              <a:t>2.  </a:t>
            </a:r>
            <a:r>
              <a:rPr lang="en-US" sz="2400" dirty="0">
                <a:solidFill>
                  <a:schemeClr val="tx1"/>
                </a:solidFill>
              </a:rPr>
              <a:t>Wij willen graag een woning in Elsene </a:t>
            </a:r>
            <a:r>
              <a:rPr lang="en-US" sz="2400" dirty="0">
                <a:solidFill>
                  <a:schemeClr val="accent5"/>
                </a:solidFill>
              </a:rPr>
              <a:t>……………</a:t>
            </a:r>
            <a:r>
              <a:rPr lang="en-US" sz="2400" dirty="0">
                <a:solidFill>
                  <a:schemeClr val="tx1"/>
                </a:solidFill>
              </a:rPr>
              <a:t>.</a:t>
            </a:r>
            <a:endParaRPr lang="en-US" sz="2400" dirty="0"/>
          </a:p>
          <a:p>
            <a:pPr indent="0" marL="0">
              <a:spcAft>
                <a:spcPts val="1200"/>
              </a:spcAft>
              <a:buNone/>
            </a:pPr>
            <a:r>
              <a:rPr lang="en-US" sz="2400" b="1" dirty="0">
                <a:solidFill>
                  <a:schemeClr val="tx2"/>
                </a:solidFill>
              </a:rPr>
              <a:t>3.  </a:t>
            </a:r>
            <a:r>
              <a:rPr lang="en-US" sz="2400" dirty="0">
                <a:solidFill>
                  <a:schemeClr val="tx1"/>
                </a:solidFill>
              </a:rPr>
              <a:t>Yasmina werkt op het </a:t>
            </a:r>
            <a:r>
              <a:rPr lang="en-US" sz="2400" dirty="0">
                <a:solidFill>
                  <a:schemeClr val="accent5"/>
                </a:solidFill>
              </a:rPr>
              <a:t>……………</a:t>
            </a:r>
            <a:r>
              <a:rPr lang="en-US" sz="2400" dirty="0">
                <a:solidFill>
                  <a:schemeClr val="tx1"/>
                </a:solidFill>
              </a:rPr>
              <a:t> van Immo Van Damme.</a:t>
            </a:r>
            <a:endParaRPr lang="en-US" sz="2400" dirty="0"/>
          </a:p>
          <a:p>
            <a:pPr indent="0" marL="0">
              <a:spcAft>
                <a:spcPts val="1200"/>
              </a:spcAft>
              <a:buNone/>
            </a:pPr>
            <a:r>
              <a:rPr lang="en-US" sz="2400" b="1" dirty="0">
                <a:solidFill>
                  <a:schemeClr val="tx2"/>
                </a:solidFill>
              </a:rPr>
              <a:t>4.  </a:t>
            </a:r>
            <a:r>
              <a:rPr lang="en-US" sz="2400" dirty="0">
                <a:solidFill>
                  <a:schemeClr val="tx1"/>
                </a:solidFill>
              </a:rPr>
              <a:t>Op het </a:t>
            </a:r>
            <a:r>
              <a:rPr lang="en-US" sz="2400" dirty="0">
                <a:solidFill>
                  <a:schemeClr val="accent5"/>
                </a:solidFill>
              </a:rPr>
              <a:t>……………</a:t>
            </a:r>
            <a:r>
              <a:rPr lang="en-US" sz="2400" dirty="0">
                <a:solidFill>
                  <a:schemeClr val="tx1"/>
                </a:solidFill>
              </a:rPr>
              <a:t> van Stef staat een laptop.</a:t>
            </a:r>
            <a:endParaRPr lang="en-US" sz="2400" dirty="0"/>
          </a:p>
          <a:p>
            <a:pPr indent="0" marL="0">
              <a:spcAft>
                <a:spcPts val="1200"/>
              </a:spcAft>
              <a:buNone/>
            </a:pPr>
            <a:r>
              <a:rPr lang="en-US" sz="2400" b="1" dirty="0">
                <a:solidFill>
                  <a:schemeClr val="tx2"/>
                </a:solidFill>
              </a:rPr>
              <a:t>5.  </a:t>
            </a:r>
            <a:r>
              <a:rPr lang="en-US" sz="2400" dirty="0">
                <a:solidFill>
                  <a:schemeClr val="tx1"/>
                </a:solidFill>
              </a:rPr>
              <a:t>Het appartement ligt op de derde </a:t>
            </a:r>
            <a:r>
              <a:rPr lang="en-US" sz="2400" dirty="0">
                <a:solidFill>
                  <a:schemeClr val="accent5"/>
                </a:solidFill>
              </a:rPr>
              <a:t>………………</a:t>
            </a:r>
            <a:r>
              <a:rPr lang="en-US" sz="2400" dirty="0">
                <a:solidFill>
                  <a:schemeClr val="tx1"/>
                </a:solidFill>
              </a:rPr>
              <a:t>.</a:t>
            </a:r>
            <a:endParaRPr lang="en-US" sz="2400" dirty="0"/>
          </a:p>
          <a:p>
            <a:pPr indent="0" marL="0">
              <a:spcAft>
                <a:spcPts val="1200"/>
              </a:spcAft>
              <a:buNone/>
            </a:pPr>
            <a:r>
              <a:rPr lang="en-US" sz="2400" b="1" dirty="0">
                <a:solidFill>
                  <a:schemeClr val="tx2"/>
                </a:solidFill>
              </a:rPr>
              <a:t>6.  </a:t>
            </a:r>
            <a:r>
              <a:rPr lang="en-US" sz="2400" dirty="0">
                <a:solidFill>
                  <a:schemeClr val="tx1"/>
                </a:solidFill>
              </a:rPr>
              <a:t>Stef doet een </a:t>
            </a:r>
            <a:r>
              <a:rPr lang="en-US" sz="2400" dirty="0">
                <a:solidFill>
                  <a:schemeClr val="accent5"/>
                </a:solidFill>
              </a:rPr>
              <a:t>……………</a:t>
            </a:r>
            <a:r>
              <a:rPr lang="en-US" sz="2400" dirty="0">
                <a:solidFill>
                  <a:schemeClr val="tx1"/>
                </a:solidFill>
              </a:rPr>
              <a:t> bij Immo Van Damme.</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Huren, verhuren, kantoor, bureau…</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Seul·e · 3 min. Complétez avec </a:t>
            </a:r>
            <a:r>
              <a:rPr lang="en-US" sz="1600" b="1" i="1" dirty="0">
                <a:solidFill>
                  <a:schemeClr val="accent5"/>
                </a:solidFill>
              </a:rPr>
              <a:t>huren · verhuren · kantoor · bureau · verdieping · stage</a:t>
            </a:r>
            <a:r>
              <a:rPr lang="en-US" sz="1600" i="1" dirty="0">
                <a:solidFill>
                  <a:schemeClr val="accent5"/>
                </a:solidFill>
              </a:rPr>
              <a:t> (conjuguez si nécessaire).</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dirty="0">
                <a:solidFill>
                  <a:schemeClr val="tx1"/>
                </a:solidFill>
              </a:rPr>
              <a:t>De eigenaar </a:t>
            </a:r>
            <a:r>
              <a:rPr lang="en-US" sz="2400" b="1" dirty="0">
                <a:solidFill>
                  <a:schemeClr val="accent3"/>
                </a:solidFill>
              </a:rPr>
              <a:t>verhuurt</a:t>
            </a:r>
            <a:r>
              <a:rPr lang="en-US" sz="2400" dirty="0">
                <a:solidFill>
                  <a:schemeClr val="tx1"/>
                </a:solidFill>
              </a:rPr>
              <a:t> zijn appartement aan een student.</a:t>
            </a:r>
            <a:endParaRPr lang="en-US" sz="2400" dirty="0"/>
          </a:p>
          <a:p>
            <a:pPr indent="0" marL="0">
              <a:spcAft>
                <a:spcPts val="1200"/>
              </a:spcAft>
              <a:buNone/>
            </a:pPr>
            <a:r>
              <a:rPr lang="en-US" sz="2400" b="1" dirty="0">
                <a:solidFill>
                  <a:schemeClr val="tx2"/>
                </a:solidFill>
              </a:rPr>
              <a:t>2.  </a:t>
            </a:r>
            <a:r>
              <a:rPr lang="en-US" sz="2400" dirty="0">
                <a:solidFill>
                  <a:schemeClr val="tx1"/>
                </a:solidFill>
              </a:rPr>
              <a:t>Wij willen graag een woning in Elsene </a:t>
            </a:r>
            <a:r>
              <a:rPr lang="en-US" sz="2400" b="1" dirty="0">
                <a:solidFill>
                  <a:schemeClr val="accent3"/>
                </a:solidFill>
              </a:rPr>
              <a:t>huren</a:t>
            </a:r>
            <a:r>
              <a:rPr lang="en-US" sz="2400" dirty="0">
                <a:solidFill>
                  <a:schemeClr val="tx1"/>
                </a:solidFill>
              </a:rPr>
              <a:t>.</a:t>
            </a:r>
            <a:endParaRPr lang="en-US" sz="2400" dirty="0"/>
          </a:p>
          <a:p>
            <a:pPr indent="0" marL="0">
              <a:spcAft>
                <a:spcPts val="1200"/>
              </a:spcAft>
              <a:buNone/>
            </a:pPr>
            <a:r>
              <a:rPr lang="en-US" sz="2400" b="1" dirty="0">
                <a:solidFill>
                  <a:schemeClr val="tx2"/>
                </a:solidFill>
              </a:rPr>
              <a:t>3.  </a:t>
            </a:r>
            <a:r>
              <a:rPr lang="en-US" sz="2400" dirty="0">
                <a:solidFill>
                  <a:schemeClr val="tx1"/>
                </a:solidFill>
              </a:rPr>
              <a:t>Yasmina werkt op het </a:t>
            </a:r>
            <a:r>
              <a:rPr lang="en-US" sz="2400" b="1" dirty="0">
                <a:solidFill>
                  <a:schemeClr val="accent3"/>
                </a:solidFill>
              </a:rPr>
              <a:t>kantoor</a:t>
            </a:r>
            <a:r>
              <a:rPr lang="en-US" sz="2400" dirty="0">
                <a:solidFill>
                  <a:schemeClr val="tx1"/>
                </a:solidFill>
              </a:rPr>
              <a:t> van Immo Van Damme.</a:t>
            </a:r>
            <a:endParaRPr lang="en-US" sz="2400" dirty="0"/>
          </a:p>
          <a:p>
            <a:pPr indent="0" marL="0">
              <a:spcAft>
                <a:spcPts val="1200"/>
              </a:spcAft>
              <a:buNone/>
            </a:pPr>
            <a:r>
              <a:rPr lang="en-US" sz="2400" b="1" dirty="0">
                <a:solidFill>
                  <a:schemeClr val="tx2"/>
                </a:solidFill>
              </a:rPr>
              <a:t>4.  </a:t>
            </a:r>
            <a:r>
              <a:rPr lang="en-US" sz="2400" dirty="0">
                <a:solidFill>
                  <a:schemeClr val="tx1"/>
                </a:solidFill>
              </a:rPr>
              <a:t>Op het </a:t>
            </a:r>
            <a:r>
              <a:rPr lang="en-US" sz="2400" b="1" dirty="0">
                <a:solidFill>
                  <a:schemeClr val="accent3"/>
                </a:solidFill>
              </a:rPr>
              <a:t>bureau</a:t>
            </a:r>
            <a:r>
              <a:rPr lang="en-US" sz="2400" dirty="0">
                <a:solidFill>
                  <a:schemeClr val="tx1"/>
                </a:solidFill>
              </a:rPr>
              <a:t> van Stef staat een laptop.</a:t>
            </a:r>
            <a:endParaRPr lang="en-US" sz="2400" dirty="0"/>
          </a:p>
          <a:p>
            <a:pPr indent="0" marL="0">
              <a:spcAft>
                <a:spcPts val="1200"/>
              </a:spcAft>
              <a:buNone/>
            </a:pPr>
            <a:r>
              <a:rPr lang="en-US" sz="2400" b="1" dirty="0">
                <a:solidFill>
                  <a:schemeClr val="tx2"/>
                </a:solidFill>
              </a:rPr>
              <a:t>5.  </a:t>
            </a:r>
            <a:r>
              <a:rPr lang="en-US" sz="2400" dirty="0">
                <a:solidFill>
                  <a:schemeClr val="tx1"/>
                </a:solidFill>
              </a:rPr>
              <a:t>Het appartement ligt op de derde </a:t>
            </a:r>
            <a:r>
              <a:rPr lang="en-US" sz="2400" b="1" dirty="0">
                <a:solidFill>
                  <a:schemeClr val="accent3"/>
                </a:solidFill>
              </a:rPr>
              <a:t>verdieping</a:t>
            </a:r>
            <a:r>
              <a:rPr lang="en-US" sz="2400" dirty="0">
                <a:solidFill>
                  <a:schemeClr val="tx1"/>
                </a:solidFill>
              </a:rPr>
              <a:t>.</a:t>
            </a:r>
            <a:endParaRPr lang="en-US" sz="2400" dirty="0"/>
          </a:p>
          <a:p>
            <a:pPr indent="0" marL="0">
              <a:spcAft>
                <a:spcPts val="1200"/>
              </a:spcAft>
              <a:buNone/>
            </a:pPr>
            <a:r>
              <a:rPr lang="en-US" sz="2400" b="1" dirty="0">
                <a:solidFill>
                  <a:schemeClr val="tx2"/>
                </a:solidFill>
              </a:rPr>
              <a:t>6.  </a:t>
            </a:r>
            <a:r>
              <a:rPr lang="en-US" sz="2400" dirty="0">
                <a:solidFill>
                  <a:schemeClr val="tx1"/>
                </a:solidFill>
              </a:rPr>
              <a:t>Stef doet een </a:t>
            </a:r>
            <a:r>
              <a:rPr lang="en-US" sz="2400" b="1" dirty="0">
                <a:solidFill>
                  <a:schemeClr val="accent3"/>
                </a:solidFill>
              </a:rPr>
              <a:t>stage</a:t>
            </a:r>
            <a:r>
              <a:rPr lang="en-US" sz="2400" dirty="0">
                <a:solidFill>
                  <a:schemeClr val="tx1"/>
                </a:solidFill>
              </a:rPr>
              <a:t> bij Immo Van Damme.</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Qui loue à qui ?</a:t>
            </a:r>
            <a:r>
              <a:rPr lang="en-US" sz="1800" dirty="0">
                <a:solidFill>
                  <a:schemeClr val="tx1"/>
                </a:solidFill>
              </a:rPr>
              <a:t> : </a:t>
            </a:r>
            <a:r>
              <a:rPr lang="en-US" sz="1800" i="1" dirty="0">
                <a:solidFill>
                  <a:schemeClr val="tx1"/>
                </a:solidFill>
              </a:rPr>
              <a:t>huren</a:t>
            </a:r>
            <a:r>
              <a:rPr lang="en-US" sz="1800" dirty="0">
                <a:solidFill>
                  <a:schemeClr val="tx1"/>
                </a:solidFill>
              </a:rPr>
              <a:t> = le locataire, </a:t>
            </a:r>
            <a:r>
              <a:rPr lang="en-US" sz="1800" i="1" dirty="0">
                <a:solidFill>
                  <a:schemeClr val="tx1"/>
                </a:solidFill>
              </a:rPr>
              <a:t>verhuren</a:t>
            </a:r>
            <a:r>
              <a:rPr lang="en-US" sz="1800" dirty="0">
                <a:solidFill>
                  <a:schemeClr val="tx1"/>
                </a:solidFill>
              </a:rPr>
              <a:t> = le propriétaire.</a:t>
            </a:r>
            <a:endParaRPr lang="en-US" sz="1800" dirty="0"/>
          </a:p>
          <a:p>
            <a:pPr marL="177800" indent="-177800">
              <a:spcAft>
                <a:spcPts val="600"/>
              </a:spcAft>
              <a:buSzPct val="100000"/>
              <a:buChar char="•"/>
            </a:pPr>
            <a:r>
              <a:rPr lang="en-US" sz="1800" i="1" dirty="0">
                <a:solidFill>
                  <a:schemeClr val="tx1"/>
                </a:solidFill>
              </a:rPr>
              <a:t>het kantoor</a:t>
            </a:r>
            <a:r>
              <a:rPr lang="en-US" sz="1800" dirty="0">
                <a:solidFill>
                  <a:schemeClr val="tx1"/>
                </a:solidFill>
              </a:rPr>
              <a:t> = l’agence ; </a:t>
            </a:r>
            <a:r>
              <a:rPr lang="en-US" sz="1800" i="1" dirty="0">
                <a:solidFill>
                  <a:schemeClr val="tx1"/>
                </a:solidFill>
              </a:rPr>
              <a:t>het bureau</a:t>
            </a:r>
            <a:r>
              <a:rPr lang="en-US" sz="1800" dirty="0">
                <a:solidFill>
                  <a:schemeClr val="tx1"/>
                </a:solidFill>
              </a:rPr>
              <a:t> = le meuble.</a:t>
            </a:r>
            <a:endParaRPr lang="en-US" sz="1800" dirty="0"/>
          </a:p>
          <a:p>
            <a:pPr marL="177800" indent="-177800">
              <a:spcAft>
                <a:spcPts val="600"/>
              </a:spcAft>
              <a:buSzPct val="100000"/>
              <a:buChar char="•"/>
            </a:pPr>
            <a:r>
              <a:rPr lang="en-US" sz="1800" i="1" dirty="0">
                <a:solidFill>
                  <a:schemeClr val="tx1"/>
                </a:solidFill>
              </a:rPr>
              <a:t>de stage</a:t>
            </a:r>
            <a:r>
              <a:rPr lang="en-US" sz="1800" dirty="0">
                <a:solidFill>
                  <a:schemeClr val="tx1"/>
                </a:solidFill>
              </a:rPr>
              <a:t> ≠ </a:t>
            </a:r>
            <a:r>
              <a:rPr lang="en-US" sz="1800" i="1" dirty="0">
                <a:solidFill>
                  <a:schemeClr val="tx1"/>
                </a:solidFill>
              </a:rPr>
              <a:t>de verdieping</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3 Luisteren — De voicemail van mevrouw Claes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a:t>
            </a:r>
            <a:endParaRPr lang="en-US" sz="1200" dirty="0"/>
          </a:p>
        </p:txBody>
      </p:sp>
      <p:sp>
        <p:nvSpPr>
          <p:cNvPr id="6" name="Shape 3"/>
          <p:cNvSpPr/>
          <p:nvPr/>
        </p:nvSpPr>
        <p:spPr>
          <a:xfrm>
            <a:off x="548640" y="1554480"/>
            <a:ext cx="11091672" cy="1371600"/>
          </a:xfrm>
          <a:prstGeom prst="roundRect">
            <a:avLst>
              <a:gd name="adj" fmla="val 6667"/>
            </a:avLst>
          </a:prstGeom>
          <a:solidFill>
            <a:schemeClr val="accent2">
              <a:alpha val="10000"/>
            </a:schemeClr>
          </a:solidFill>
          <a:ln w="15875">
            <a:solidFill>
              <a:srgbClr val="2A6FB0"/>
            </a:solidFill>
            <a:prstDash val="solid"/>
          </a:ln>
        </p:spPr>
      </p:sp>
      <p:sp>
        <p:nvSpPr>
          <p:cNvPr id="7" name="Shape 4"/>
          <p:cNvSpPr/>
          <p:nvPr/>
        </p:nvSpPr>
        <p:spPr>
          <a:xfrm>
            <a:off x="822960" y="1783080"/>
            <a:ext cx="914400" cy="914400"/>
          </a:xfrm>
          <a:prstGeom prst="ellipse">
            <a:avLst/>
          </a:prstGeom>
          <a:solidFill>
            <a:schemeClr val="accent2"/>
          </a:solidFill>
          <a:ln/>
        </p:spPr>
      </p:sp>
      <p:pic>
        <p:nvPicPr>
          <p:cNvPr id="8" name="Image 0" descr="preencoded.png">    </p:cNvPr>
          <p:cNvPicPr>
            <a:picLocks noChangeAspect="1"/>
          </p:cNvPicPr>
          <p:nvPr/>
        </p:nvPicPr>
        <p:blipFill>
          <a:blip r:embed="rId1"/>
          <a:stretch>
            <a:fillRect/>
          </a:stretch>
        </p:blipFill>
        <p:spPr>
          <a:xfrm>
            <a:off x="1051560" y="2011680"/>
            <a:ext cx="457200" cy="457200"/>
          </a:xfrm>
          <a:prstGeom prst="rect">
            <a:avLst/>
          </a:prstGeom>
        </p:spPr>
      </p:pic>
      <p:sp>
        <p:nvSpPr>
          <p:cNvPr id="9" name="Text 5"/>
          <p:cNvSpPr txBox="1"/>
          <p:nvPr/>
        </p:nvSpPr>
        <p:spPr>
          <a:xfrm>
            <a:off x="2011680" y="1645920"/>
            <a:ext cx="9418320" cy="118872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Transcription n° 1 (annexe) — lue deux fois par le professeur</a:t>
            </a:r>
            <a:endParaRPr lang="en-US" sz="2600" dirty="0"/>
          </a:p>
          <a:p>
            <a:pPr indent="0" marL="0">
              <a:buNone/>
            </a:pPr>
            <a:r>
              <a:rPr lang="en-US" sz="1800" dirty="0">
                <a:solidFill>
                  <a:schemeClr val="tx1"/>
                </a:solidFill>
              </a:rPr>
              <a:t>Couche 1 · réception · seul · 10 min — votre première mission d’agent : écouter. Notez des **mots-clés**, pas des phrases.</a:t>
            </a:r>
            <a:endParaRPr lang="en-US" sz="2600" dirty="0"/>
          </a:p>
        </p:txBody>
      </p:sp>
      <p:sp>
        <p:nvSpPr>
          <p:cNvPr id="10" name="Shape 6"/>
          <p:cNvSpPr/>
          <p:nvPr/>
        </p:nvSpPr>
        <p:spPr>
          <a:xfrm>
            <a:off x="548640" y="3246120"/>
            <a:ext cx="3514344" cy="3017520"/>
          </a:xfrm>
          <a:prstGeom prst="roundRect">
            <a:avLst>
              <a:gd name="adj" fmla="val 3030"/>
            </a:avLst>
          </a:prstGeom>
          <a:solidFill>
            <a:schemeClr val="bg2"/>
          </a:solidFill>
          <a:ln w="9525">
            <a:solidFill>
              <a:srgbClr val="D5DCE6"/>
            </a:solidFill>
            <a:prstDash val="solid"/>
          </a:ln>
        </p:spPr>
      </p:sp>
      <p:pic>
        <p:nvPicPr>
          <p:cNvPr id="11" name="Image 1" descr="preencoded.png">    </p:cNvPr>
          <p:cNvPicPr>
            <a:picLocks noChangeAspect="1"/>
          </p:cNvPicPr>
          <p:nvPr/>
        </p:nvPicPr>
        <p:blipFill>
          <a:blip r:embed="rId2"/>
          <a:stretch>
            <a:fillRect/>
          </a:stretch>
        </p:blipFill>
        <p:spPr>
          <a:xfrm>
            <a:off x="822960" y="3474720"/>
            <a:ext cx="457200" cy="457200"/>
          </a:xfrm>
          <a:prstGeom prst="rect">
            <a:avLst/>
          </a:prstGeom>
        </p:spPr>
      </p:pic>
      <p:sp>
        <p:nvSpPr>
          <p:cNvPr id="12" name="Text 7"/>
          <p:cNvSpPr txBox="1"/>
          <p:nvPr/>
        </p:nvSpPr>
        <p:spPr>
          <a:xfrm>
            <a:off x="1417320" y="3429000"/>
            <a:ext cx="2508504" cy="548640"/>
          </a:xfrm>
          <a:prstGeom prst="rect">
            <a:avLst/>
          </a:prstGeom>
          <a:noFill/>
          <a:ln/>
        </p:spPr>
        <p:txBody>
          <a:bodyPr wrap="square" lIns="0" tIns="0" rIns="0" bIns="0" rtlCol="0" anchor="ctr"/>
          <a:lstStyle/>
          <a:p>
            <a:pPr indent="0" marL="0">
              <a:buNone/>
            </a:pPr>
            <a:r>
              <a:rPr lang="en-US" sz="1900" b="1" dirty="0">
                <a:solidFill>
                  <a:schemeClr val="tx2"/>
                </a:solidFill>
              </a:rPr>
              <a:t>1re écoute</a:t>
            </a:r>
            <a:endParaRPr lang="en-US" sz="1900" dirty="0"/>
          </a:p>
        </p:txBody>
      </p:sp>
      <p:sp>
        <p:nvSpPr>
          <p:cNvPr id="13" name="Text 8"/>
          <p:cNvSpPr txBox="1"/>
          <p:nvPr/>
        </p:nvSpPr>
        <p:spPr>
          <a:xfrm>
            <a:off x="822960" y="4114800"/>
            <a:ext cx="2965704" cy="2011680"/>
          </a:xfrm>
          <a:prstGeom prst="rect">
            <a:avLst/>
          </a:prstGeom>
          <a:noFill/>
          <a:ln/>
        </p:spPr>
        <p:txBody>
          <a:bodyPr wrap="square" lIns="0" tIns="0" rIns="0" bIns="0" rtlCol="0" anchor="t"/>
          <a:lstStyle/>
          <a:p>
            <a:pPr indent="0" marL="0">
              <a:buNone/>
            </a:pPr>
            <a:r>
              <a:rPr lang="en-US" sz="1800" dirty="0">
                <a:solidFill>
                  <a:schemeClr val="tx1"/>
                </a:solidFill>
              </a:rPr>
              <a:t>Qui appelle ? Que veut la cliente ? </a:t>
            </a:r>
            <a:r>
              <a:rPr lang="en-US" sz="1800" b="1" dirty="0">
                <a:solidFill>
                  <a:schemeClr val="tx1"/>
                </a:solidFill>
              </a:rPr>
              <a:t>Complétez</a:t>
            </a:r>
            <a:r>
              <a:rPr lang="en-US" sz="1800" dirty="0">
                <a:solidFill>
                  <a:schemeClr val="tx1"/>
                </a:solidFill>
              </a:rPr>
              <a:t> ce que vous comprenez de la fiche d’appel.</a:t>
            </a:r>
            <a:endParaRPr lang="en-US" sz="1800" dirty="0"/>
          </a:p>
        </p:txBody>
      </p:sp>
      <p:sp>
        <p:nvSpPr>
          <p:cNvPr id="14" name="Shape 9"/>
          <p:cNvSpPr/>
          <p:nvPr/>
        </p:nvSpPr>
        <p:spPr>
          <a:xfrm>
            <a:off x="4337304" y="3246120"/>
            <a:ext cx="3514344" cy="3017520"/>
          </a:xfrm>
          <a:prstGeom prst="roundRect">
            <a:avLst>
              <a:gd name="adj" fmla="val 3030"/>
            </a:avLst>
          </a:prstGeom>
          <a:solidFill>
            <a:schemeClr val="bg2"/>
          </a:solidFill>
          <a:ln w="9525">
            <a:solidFill>
              <a:srgbClr val="D5DCE6"/>
            </a:solidFill>
            <a:prstDash val="solid"/>
          </a:ln>
        </p:spPr>
      </p:sp>
      <p:pic>
        <p:nvPicPr>
          <p:cNvPr id="15" name="Image 2" descr="preencoded.png">    </p:cNvPr>
          <p:cNvPicPr>
            <a:picLocks noChangeAspect="1"/>
          </p:cNvPicPr>
          <p:nvPr/>
        </p:nvPicPr>
        <p:blipFill>
          <a:blip r:embed="rId3"/>
          <a:stretch>
            <a:fillRect/>
          </a:stretch>
        </p:blipFill>
        <p:spPr>
          <a:xfrm>
            <a:off x="4611624" y="3474720"/>
            <a:ext cx="457200" cy="457200"/>
          </a:xfrm>
          <a:prstGeom prst="rect">
            <a:avLst/>
          </a:prstGeom>
        </p:spPr>
      </p:pic>
      <p:sp>
        <p:nvSpPr>
          <p:cNvPr id="16" name="Text 10"/>
          <p:cNvSpPr txBox="1"/>
          <p:nvPr/>
        </p:nvSpPr>
        <p:spPr>
          <a:xfrm>
            <a:off x="5205984" y="3429000"/>
            <a:ext cx="2508504" cy="548640"/>
          </a:xfrm>
          <a:prstGeom prst="rect">
            <a:avLst/>
          </a:prstGeom>
          <a:noFill/>
          <a:ln/>
        </p:spPr>
        <p:txBody>
          <a:bodyPr wrap="square" lIns="0" tIns="0" rIns="0" bIns="0" rtlCol="0" anchor="ctr"/>
          <a:lstStyle/>
          <a:p>
            <a:pPr indent="0" marL="0">
              <a:buNone/>
            </a:pPr>
            <a:r>
              <a:rPr lang="en-US" sz="1900" b="1" dirty="0">
                <a:solidFill>
                  <a:schemeClr val="accent1"/>
                </a:solidFill>
              </a:rPr>
              <a:t>2e écoute</a:t>
            </a:r>
            <a:endParaRPr lang="en-US" sz="1900" dirty="0"/>
          </a:p>
        </p:txBody>
      </p:sp>
      <p:sp>
        <p:nvSpPr>
          <p:cNvPr id="17" name="Text 11"/>
          <p:cNvSpPr txBox="1"/>
          <p:nvPr/>
        </p:nvSpPr>
        <p:spPr>
          <a:xfrm>
            <a:off x="4611624" y="4114800"/>
            <a:ext cx="2965704" cy="2011680"/>
          </a:xfrm>
          <a:prstGeom prst="rect">
            <a:avLst/>
          </a:prstGeom>
          <a:noFill/>
          <a:ln/>
        </p:spPr>
        <p:txBody>
          <a:bodyPr wrap="square" lIns="0" tIns="0" rIns="0" bIns="0" rtlCol="0" anchor="t"/>
          <a:lstStyle/>
          <a:p>
            <a:pPr indent="0" marL="0">
              <a:buNone/>
            </a:pPr>
            <a:r>
              <a:rPr lang="en-US" sz="1800" b="1" dirty="0">
                <a:solidFill>
                  <a:schemeClr val="tx1"/>
                </a:solidFill>
              </a:rPr>
              <a:t>Complétez</a:t>
            </a:r>
            <a:r>
              <a:rPr lang="en-US" sz="1800" dirty="0">
                <a:solidFill>
                  <a:schemeClr val="tx1"/>
                </a:solidFill>
              </a:rPr>
              <a:t> les cinq rubriques a à e avec des mots-clés (chiffres compris).</a:t>
            </a:r>
            <a:endParaRPr lang="en-US" sz="1800" dirty="0"/>
          </a:p>
        </p:txBody>
      </p:sp>
      <p:sp>
        <p:nvSpPr>
          <p:cNvPr id="18" name="Shape 12"/>
          <p:cNvSpPr/>
          <p:nvPr/>
        </p:nvSpPr>
        <p:spPr>
          <a:xfrm>
            <a:off x="8125968" y="3246120"/>
            <a:ext cx="3514344" cy="3017520"/>
          </a:xfrm>
          <a:prstGeom prst="roundRect">
            <a:avLst>
              <a:gd name="adj" fmla="val 3030"/>
            </a:avLst>
          </a:prstGeom>
          <a:solidFill>
            <a:schemeClr val="bg2"/>
          </a:solidFill>
          <a:ln w="9525">
            <a:solidFill>
              <a:srgbClr val="D5DCE6"/>
            </a:solidFill>
            <a:prstDash val="solid"/>
          </a:ln>
        </p:spPr>
      </p:sp>
      <p:pic>
        <p:nvPicPr>
          <p:cNvPr id="19" name="Image 3" descr="preencoded.png">    </p:cNvPr>
          <p:cNvPicPr>
            <a:picLocks noChangeAspect="1"/>
          </p:cNvPicPr>
          <p:nvPr/>
        </p:nvPicPr>
        <p:blipFill>
          <a:blip r:embed="rId4"/>
          <a:stretch>
            <a:fillRect/>
          </a:stretch>
        </p:blipFill>
        <p:spPr>
          <a:xfrm>
            <a:off x="8400288" y="3474720"/>
            <a:ext cx="457200" cy="457200"/>
          </a:xfrm>
          <a:prstGeom prst="rect">
            <a:avLst/>
          </a:prstGeom>
        </p:spPr>
      </p:pic>
      <p:sp>
        <p:nvSpPr>
          <p:cNvPr id="20" name="Text 13"/>
          <p:cNvSpPr txBox="1"/>
          <p:nvPr/>
        </p:nvSpPr>
        <p:spPr>
          <a:xfrm>
            <a:off x="8994648" y="3429000"/>
            <a:ext cx="2508504" cy="548640"/>
          </a:xfrm>
          <a:prstGeom prst="rect">
            <a:avLst/>
          </a:prstGeom>
          <a:noFill/>
          <a:ln/>
        </p:spPr>
        <p:txBody>
          <a:bodyPr wrap="square" lIns="0" tIns="0" rIns="0" bIns="0" rtlCol="0" anchor="ctr"/>
          <a:lstStyle/>
          <a:p>
            <a:pPr indent="0" marL="0">
              <a:buNone/>
            </a:pPr>
            <a:r>
              <a:rPr lang="en-US" sz="1900" b="1" dirty="0">
                <a:solidFill>
                  <a:schemeClr val="accent3"/>
                </a:solidFill>
              </a:rPr>
              <a:t>Ensuite</a:t>
            </a:r>
            <a:endParaRPr lang="en-US" sz="1900" dirty="0"/>
          </a:p>
        </p:txBody>
      </p:sp>
      <p:sp>
        <p:nvSpPr>
          <p:cNvPr id="21" name="Text 14"/>
          <p:cNvSpPr txBox="1"/>
          <p:nvPr/>
        </p:nvSpPr>
        <p:spPr>
          <a:xfrm>
            <a:off x="8400288" y="4114800"/>
            <a:ext cx="2965704" cy="2011680"/>
          </a:xfrm>
          <a:prstGeom prst="rect">
            <a:avLst/>
          </a:prstGeom>
          <a:noFill/>
          <a:ln/>
        </p:spPr>
        <p:txBody>
          <a:bodyPr wrap="square" lIns="0" tIns="0" rIns="0" bIns="0" rtlCol="0" anchor="t"/>
          <a:lstStyle/>
          <a:p>
            <a:pPr indent="0" marL="0">
              <a:buNone/>
            </a:pPr>
            <a:r>
              <a:rPr lang="en-US" sz="1800" dirty="0">
                <a:solidFill>
                  <a:schemeClr val="tx1"/>
                </a:solidFill>
              </a:rPr>
              <a:t>Comparez avec votre voisin, puis </a:t>
            </a:r>
            <a:r>
              <a:rPr lang="en-US" sz="1800" b="1" dirty="0">
                <a:solidFill>
                  <a:schemeClr val="tx1"/>
                </a:solidFill>
              </a:rPr>
              <a:t>reformulez</a:t>
            </a:r>
            <a:r>
              <a:rPr lang="en-US" sz="1800" dirty="0">
                <a:solidFill>
                  <a:schemeClr val="tx1"/>
                </a:solidFill>
              </a:rPr>
              <a:t> : </a:t>
            </a:r>
            <a:r>
              <a:rPr lang="en-US" sz="1800" i="1" dirty="0">
                <a:solidFill>
                  <a:schemeClr val="tx1"/>
                </a:solidFill>
              </a:rPr>
              <a:t>Dus mevrouw Claes zoekt…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3 Telefoonfiche — la fiche d’appel à remplir</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Complétez comme au kantoor : </a:t>
            </a:r>
            <a:r>
              <a:rPr lang="en-US" sz="1600" b="1" i="1" dirty="0">
                <a:solidFill>
                  <a:schemeClr val="accent5"/>
                </a:solidFill>
              </a:rPr>
              <a:t>mots-clés</a:t>
            </a:r>
            <a:r>
              <a:rPr lang="en-US" sz="1600" i="1" dirty="0">
                <a:solidFill>
                  <a:schemeClr val="accent5"/>
                </a:solidFill>
              </a:rPr>
              <a:t> (chiffres, nom, jour), pas de phrases.</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640080"/>
                <a:gridCol w="5120640"/>
                <a:gridCol w="5330952"/>
              </a:tblGrid>
              <a:tr h="628193">
                <a:tc>
                  <a:txBody>
                    <a:bodyPr/>
                    <a:lstStyle/>
                    <a:p>
                      <a:pPr algn="l" indent="0" marL="0">
                        <a:buNone/>
                      </a:pP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TELEFOONFICHE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MOTS-CLÉS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23621">
                <a:tc>
                  <a:txBody>
                    <a:bodyPr/>
                    <a:lstStyle/>
                    <a:p>
                      <a:pPr algn="ctr" indent="0" marL="0">
                        <a:buNone/>
                      </a:pPr>
                      <a:r>
                        <a:rPr lang="en-US" sz="2000" b="1" dirty="0">
                          <a:solidFill>
                            <a:schemeClr val="tx1"/>
                          </a:solidFill>
                        </a:rPr>
                        <a:t>a</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Naam van de klant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23621">
                <a:tc>
                  <a:txBody>
                    <a:bodyPr/>
                    <a:lstStyle/>
                    <a:p>
                      <a:pPr algn="ctr" indent="0" marL="0">
                        <a:buNone/>
                      </a:pPr>
                      <a:r>
                        <a:rPr lang="en-US" sz="2000" b="1" dirty="0">
                          <a:solidFill>
                            <a:schemeClr val="tx1"/>
                          </a:solidFill>
                        </a:rPr>
                        <a:t>b</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Huren of kopen?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23621">
                <a:tc>
                  <a:txBody>
                    <a:bodyPr/>
                    <a:lstStyle/>
                    <a:p>
                      <a:pPr algn="ctr" indent="0" marL="0">
                        <a:buNone/>
                      </a:pPr>
                      <a:r>
                        <a:rPr lang="en-US" sz="2000" b="1" dirty="0">
                          <a:solidFill>
                            <a:schemeClr val="tx1"/>
                          </a:solidFill>
                        </a:rPr>
                        <a:t>c</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Budget + type woning + aantal slaapkamers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23621">
                <a:tc>
                  <a:txBody>
                    <a:bodyPr/>
                    <a:lstStyle/>
                    <a:p>
                      <a:pPr algn="ctr" indent="0" marL="0">
                        <a:buNone/>
                      </a:pPr>
                      <a:r>
                        <a:rPr lang="en-US" sz="2000" b="1"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Wanneer wil de klant bezichtigen?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23621">
                <a:tc>
                  <a:txBody>
                    <a:bodyPr/>
                    <a:lstStyle/>
                    <a:p>
                      <a:pPr algn="ctr" indent="0" marL="0">
                        <a:buNone/>
                      </a:pPr>
                      <a:r>
                        <a:rPr lang="en-US" sz="2000" b="1" dirty="0">
                          <a:solidFill>
                            <a:schemeClr val="tx1"/>
                          </a:solidFill>
                        </a:rPr>
                        <a:t>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Terugbellen op welk nummer?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Aide : </a:t>
            </a:r>
            <a:r>
              <a:rPr lang="en-US" sz="1500" i="1" dirty="0">
                <a:solidFill>
                  <a:schemeClr val="accent5"/>
                </a:solidFill>
              </a:rPr>
              <a:t>€ 300.000 · 2 slpk. · appartement · maandag 14 u · 0475 …</a:t>
            </a:r>
            <a:r>
              <a:rPr lang="en-US" sz="1500" i="1" dirty="0">
                <a:solidFill>
                  <a:schemeClr val="accent5"/>
                </a:solidFill>
              </a:rPr>
              <a:t> — on note les mots importants, pas les phrases.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1 — De klant aan de lijn : les deux rôles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Jeu de rôle en binôme (≈ 8 min), puis on </a:t>
            </a:r>
            <a:r>
              <a:rPr lang="en-US" sz="1800" b="1" dirty="0">
                <a:solidFill>
                  <a:schemeClr val="tx1"/>
                </a:solidFill>
              </a:rPr>
              <a:t>inverse</a:t>
            </a:r>
            <a:r>
              <a:rPr lang="en-US" sz="1800" dirty="0">
                <a:solidFill>
                  <a:schemeClr val="tx1"/>
                </a:solidFill>
              </a:rPr>
              <a:t> avec une nouvelle carte. Le 3e étudiant observe avec la grille.</a:t>
            </a:r>
            <a:endParaRPr lang="en-US" sz="1800" dirty="0"/>
          </a:p>
        </p:txBody>
      </p:sp>
      <p:sp>
        <p:nvSpPr>
          <p:cNvPr id="7" name="Shape 4"/>
          <p:cNvSpPr/>
          <p:nvPr/>
        </p:nvSpPr>
        <p:spPr>
          <a:xfrm>
            <a:off x="548640" y="2221992"/>
            <a:ext cx="5225796" cy="3182112"/>
          </a:xfrm>
          <a:prstGeom prst="roundRect">
            <a:avLst>
              <a:gd name="adj" fmla="val 2874"/>
            </a:avLst>
          </a:prstGeom>
          <a:solidFill>
            <a:schemeClr val="accent1">
              <a:alpha val="8000"/>
            </a:schemeClr>
          </a:solidFill>
          <a:ln w="15875">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777240" y="2423160"/>
            <a:ext cx="384048" cy="384048"/>
          </a:xfrm>
          <a:prstGeom prst="rect">
            <a:avLst/>
          </a:prstGeom>
        </p:spPr>
      </p:pic>
      <p:sp>
        <p:nvSpPr>
          <p:cNvPr id="9" name="Text 5"/>
          <p:cNvSpPr txBox="1"/>
          <p:nvPr/>
        </p:nvSpPr>
        <p:spPr>
          <a:xfrm>
            <a:off x="1280160" y="235915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A — De makelaar (u-vorm !)</a:t>
            </a:r>
            <a:endParaRPr lang="en-US" sz="2000" dirty="0"/>
          </a:p>
        </p:txBody>
      </p:sp>
      <p:sp>
        <p:nvSpPr>
          <p:cNvPr id="10" name="Text 6"/>
          <p:cNvSpPr txBox="1"/>
          <p:nvPr/>
        </p:nvSpPr>
        <p:spPr>
          <a:xfrm>
            <a:off x="777240" y="3044952"/>
            <a:ext cx="4768596" cy="2221992"/>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chemeClr val="tx1"/>
                </a:solidFill>
              </a:rPr>
              <a:t>Accueil : «Goedemorgen, Immo Van Damme, u spreekt met…»</a:t>
            </a:r>
            <a:endParaRPr lang="en-US" sz="1800" dirty="0"/>
          </a:p>
          <a:p>
            <a:pPr marL="203200" indent="-203200">
              <a:spcAft>
                <a:spcPts val="800"/>
              </a:spcAft>
              <a:buSzPct val="100000"/>
              <a:buChar char="•"/>
            </a:pPr>
            <a:r>
              <a:rPr lang="en-US" sz="1800" dirty="0">
                <a:solidFill>
                  <a:schemeClr val="tx1"/>
                </a:solidFill>
              </a:rPr>
              <a:t>Au moins </a:t>
            </a:r>
            <a:r>
              <a:rPr lang="en-US" sz="1800" b="1" dirty="0">
                <a:solidFill>
                  <a:schemeClr val="tx1"/>
                </a:solidFill>
              </a:rPr>
              <a:t>4 questions</a:t>
            </a:r>
            <a:r>
              <a:rPr lang="en-US" sz="1800" dirty="0">
                <a:solidFill>
                  <a:schemeClr val="tx1"/>
                </a:solidFill>
              </a:rPr>
              <a:t> de la telefoonfiche (palier 2 : </a:t>
            </a:r>
            <a:r>
              <a:rPr lang="en-US" sz="1800" i="1" dirty="0">
                <a:solidFill>
                  <a:schemeClr val="tx1"/>
                </a:solidFill>
              </a:rPr>
              <a:t>Hoeveel…? Wanneer…?</a:t>
            </a:r>
            <a:r>
              <a:rPr lang="en-US" sz="1800" dirty="0">
                <a:solidFill>
                  <a:schemeClr val="tx1"/>
                </a:solidFill>
              </a:rPr>
              <a:t>)</a:t>
            </a:r>
            <a:endParaRPr lang="en-US" sz="1800" dirty="0"/>
          </a:p>
          <a:p>
            <a:pPr marL="203200" indent="-203200">
              <a:spcAft>
                <a:spcPts val="800"/>
              </a:spcAft>
              <a:buSzPct val="100000"/>
              <a:buChar char="•"/>
            </a:pPr>
            <a:r>
              <a:rPr lang="en-US" sz="1800" b="1" dirty="0">
                <a:solidFill>
                  <a:schemeClr val="tx1"/>
                </a:solidFill>
              </a:rPr>
              <a:t>Reformulez</a:t>
            </a:r>
            <a:r>
              <a:rPr lang="en-US" sz="1800" dirty="0">
                <a:solidFill>
                  <a:schemeClr val="tx1"/>
                </a:solidFill>
              </a:rPr>
              <a:t> : «Dus u zoekt…»</a:t>
            </a:r>
            <a:endParaRPr lang="en-US" sz="1800" dirty="0"/>
          </a:p>
          <a:p>
            <a:pPr marL="203200" indent="-203200">
              <a:spcAft>
                <a:spcPts val="800"/>
              </a:spcAft>
              <a:buSzPct val="100000"/>
              <a:buChar char="•"/>
            </a:pPr>
            <a:r>
              <a:rPr lang="en-US" sz="1800" dirty="0">
                <a:solidFill>
                  <a:schemeClr val="tx1"/>
                </a:solidFill>
              </a:rPr>
              <a:t>Proposez : «Zullen we een afspraak inplannen?»</a:t>
            </a:r>
            <a:endParaRPr lang="en-US" sz="1800" dirty="0"/>
          </a:p>
        </p:txBody>
      </p:sp>
      <p:sp>
        <p:nvSpPr>
          <p:cNvPr id="11" name="Shape 7"/>
          <p:cNvSpPr/>
          <p:nvPr/>
        </p:nvSpPr>
        <p:spPr>
          <a:xfrm>
            <a:off x="6414516" y="2221992"/>
            <a:ext cx="5225796" cy="3182112"/>
          </a:xfrm>
          <a:prstGeom prst="roundRect">
            <a:avLst>
              <a:gd name="adj" fmla="val 2874"/>
            </a:avLst>
          </a:prstGeom>
          <a:solidFill>
            <a:schemeClr val="accent2">
              <a:alpha val="8000"/>
            </a:schemeClr>
          </a:solidFill>
          <a:ln w="15875">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6643116" y="2423160"/>
            <a:ext cx="384048" cy="384048"/>
          </a:xfrm>
          <a:prstGeom prst="rect">
            <a:avLst/>
          </a:prstGeom>
        </p:spPr>
      </p:pic>
      <p:sp>
        <p:nvSpPr>
          <p:cNvPr id="13" name="Text 8"/>
          <p:cNvSpPr txBox="1"/>
          <p:nvPr/>
        </p:nvSpPr>
        <p:spPr>
          <a:xfrm>
            <a:off x="7146036" y="235915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ROL B — De klant</a:t>
            </a:r>
            <a:endParaRPr lang="en-US" sz="2000" dirty="0"/>
          </a:p>
        </p:txBody>
      </p:sp>
      <p:sp>
        <p:nvSpPr>
          <p:cNvPr id="14" name="Text 9"/>
          <p:cNvSpPr txBox="1"/>
          <p:nvPr/>
        </p:nvSpPr>
        <p:spPr>
          <a:xfrm>
            <a:off x="6643116" y="3044952"/>
            <a:ext cx="4768596" cy="2221992"/>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chemeClr val="tx1"/>
                </a:solidFill>
              </a:rPr>
              <a:t>Appelez l’agence : choisissez une </a:t>
            </a:r>
            <a:r>
              <a:rPr lang="en-US" sz="1800" b="1" dirty="0">
                <a:solidFill>
                  <a:schemeClr val="tx1"/>
                </a:solidFill>
              </a:rPr>
              <a:t>carte de situation</a:t>
            </a:r>
            <a:endParaRPr lang="en-US" sz="1800" dirty="0"/>
          </a:p>
          <a:p>
            <a:pPr marL="203200" indent="-203200">
              <a:spcAft>
                <a:spcPts val="800"/>
              </a:spcAft>
              <a:buSzPct val="100000"/>
              <a:buChar char="•"/>
            </a:pPr>
            <a:r>
              <a:rPr lang="en-US" sz="1800" dirty="0">
                <a:solidFill>
                  <a:schemeClr val="tx1"/>
                </a:solidFill>
              </a:rPr>
              <a:t>Répondez aux questions de l’agent</a:t>
            </a:r>
            <a:endParaRPr lang="en-US" sz="1800" dirty="0"/>
          </a:p>
          <a:p>
            <a:pPr marL="203200" indent="-203200">
              <a:spcAft>
                <a:spcPts val="800"/>
              </a:spcAft>
              <a:buSzPct val="100000"/>
              <a:buChar char="•"/>
            </a:pPr>
            <a:r>
              <a:rPr lang="en-US" sz="1800" dirty="0">
                <a:solidFill>
                  <a:schemeClr val="tx1"/>
                </a:solidFill>
              </a:rPr>
              <a:t>Terminez poliment : «Dank u wel, tot dan!»</a:t>
            </a:r>
            <a:endParaRPr lang="en-US" sz="1800" dirty="0"/>
          </a:p>
          <a:p>
            <a:pPr marL="203200" indent="-203200">
              <a:spcAft>
                <a:spcPts val="800"/>
              </a:spcAft>
              <a:buSzPct val="100000"/>
              <a:buChar char="•"/>
            </a:pPr>
            <a:r>
              <a:rPr lang="en-US" sz="1800" dirty="0">
                <a:solidFill>
                  <a:schemeClr val="tx1"/>
                </a:solidFill>
              </a:rPr>
              <a:t>① client pressé (demain) · ② budget serré · ③ hésite entre acheter et louer</a:t>
            </a:r>
            <a:endParaRPr lang="en-US" sz="1800" dirty="0"/>
          </a:p>
        </p:txBody>
      </p:sp>
      <p:sp>
        <p:nvSpPr>
          <p:cNvPr id="15" name="Shape 10"/>
          <p:cNvSpPr/>
          <p:nvPr/>
        </p:nvSpPr>
        <p:spPr>
          <a:xfrm>
            <a:off x="5838444" y="3557016"/>
            <a:ext cx="512064" cy="512064"/>
          </a:xfrm>
          <a:prstGeom prst="ellipse">
            <a:avLst/>
          </a:prstGeom>
          <a:solidFill>
            <a:schemeClr val="tx2"/>
          </a:solidFill>
          <a:ln/>
        </p:spPr>
      </p:sp>
      <p:sp>
        <p:nvSpPr>
          <p:cNvPr id="16" name="Text 11"/>
          <p:cNvSpPr txBox="1"/>
          <p:nvPr/>
        </p:nvSpPr>
        <p:spPr>
          <a:xfrm>
            <a:off x="5838444" y="355701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A/B</a:t>
            </a:r>
            <a:endParaRPr lang="en-US" sz="1600" dirty="0"/>
          </a:p>
        </p:txBody>
      </p:sp>
      <p:sp>
        <p:nvSpPr>
          <p:cNvPr id="17" name="Shape 12"/>
          <p:cNvSpPr/>
          <p:nvPr/>
        </p:nvSpPr>
        <p:spPr>
          <a:xfrm>
            <a:off x="548640" y="5605272"/>
            <a:ext cx="11091672" cy="685800"/>
          </a:xfrm>
          <a:prstGeom prst="roundRect">
            <a:avLst>
              <a:gd name="adj" fmla="val 10667"/>
            </a:avLst>
          </a:prstGeom>
          <a:solidFill>
            <a:schemeClr val="accent2">
              <a:alpha val="10000"/>
            </a:schemeClr>
          </a:solidFill>
          <a:ln w="9525">
            <a:solidFill>
              <a:schemeClr val="accent2">
                <a:alpha val="70000"/>
              </a:schemeClr>
            </a:solidFill>
            <a:prstDash val="solid"/>
          </a:ln>
        </p:spPr>
      </p:sp>
      <p:pic>
        <p:nvPicPr>
          <p:cNvPr id="18" name="Image 2" descr="preencoded.png">    </p:cNvPr>
          <p:cNvPicPr>
            <a:picLocks noChangeAspect="1"/>
          </p:cNvPicPr>
          <p:nvPr/>
        </p:nvPicPr>
        <p:blipFill>
          <a:blip r:embed="rId3"/>
          <a:stretch>
            <a:fillRect/>
          </a:stretch>
        </p:blipFill>
        <p:spPr>
          <a:xfrm>
            <a:off x="749808" y="5783580"/>
            <a:ext cx="329184" cy="329184"/>
          </a:xfrm>
          <a:prstGeom prst="rect">
            <a:avLst/>
          </a:prstGeom>
        </p:spPr>
      </p:pic>
      <p:sp>
        <p:nvSpPr>
          <p:cNvPr id="19" name="Text 13"/>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2"/>
                </a:solidFill>
              </a:rPr>
              <a:t>Grille de l’observateur — </a:t>
            </a:r>
            <a:r>
              <a:rPr lang="en-US" sz="1700" dirty="0">
                <a:solidFill>
                  <a:schemeClr val="tx1"/>
                </a:solidFill>
              </a:rPr>
              <a:t>salutation adaptée · questions correctes · reformulation · prise de congé.</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Boîte à outils : les questions de la telefoonfiche</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6217920"/>
                <a:gridCol w="4873752"/>
              </a:tblGrid>
              <a:tr h="503834">
                <a:tc>
                  <a:txBody>
                    <a:bodyPr/>
                    <a:lstStyle/>
                    <a:p>
                      <a:pPr algn="l" indent="0" marL="0">
                        <a:buNone/>
                      </a:pPr>
                      <a:r>
                        <a:rPr lang="en-US" sz="1500" b="1" dirty="0">
                          <a:solidFill>
                            <a:schemeClr val="bg1"/>
                          </a:solidFill>
                        </a:rPr>
                        <a:t>NEDERLANDS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FRANÇAIS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05994">
                <a:tc>
                  <a:txBody>
                    <a:bodyPr/>
                    <a:lstStyle/>
                    <a:p>
                      <a:pPr algn="l" indent="0" marL="0">
                        <a:buNone/>
                      </a:pPr>
                      <a:r>
                        <a:rPr lang="en-US" sz="1700" dirty="0">
                          <a:solidFill>
                            <a:schemeClr val="tx1"/>
                          </a:solidFill>
                        </a:rPr>
                        <a:t>Kunt u uw naam spellen?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Pouvez-vous épeler votre nom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05994">
                <a:tc>
                  <a:txBody>
                    <a:bodyPr/>
                    <a:lstStyle/>
                    <a:p>
                      <a:pPr algn="l" indent="0" marL="0">
                        <a:buNone/>
                      </a:pPr>
                      <a:r>
                        <a:rPr lang="en-US" sz="1700" dirty="0">
                          <a:solidFill>
                            <a:schemeClr val="tx1"/>
                          </a:solidFill>
                        </a:rPr>
                        <a:t>Wilt u huren of kopen?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Souhaitez-vous louer ou acheter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05994">
                <a:tc>
                  <a:txBody>
                    <a:bodyPr/>
                    <a:lstStyle/>
                    <a:p>
                      <a:pPr algn="l" indent="0" marL="0">
                        <a:buNone/>
                      </a:pPr>
                      <a:r>
                        <a:rPr lang="en-US" sz="1700" dirty="0">
                          <a:solidFill>
                            <a:schemeClr val="tx1"/>
                          </a:solidFill>
                        </a:rPr>
                        <a:t>Wat is uw budget?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Quel est votre budget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05994">
                <a:tc>
                  <a:txBody>
                    <a:bodyPr/>
                    <a:lstStyle/>
                    <a:p>
                      <a:pPr algn="l" indent="0" marL="0">
                        <a:buNone/>
                      </a:pPr>
                      <a:r>
                        <a:rPr lang="en-US" sz="1700" dirty="0">
                          <a:solidFill>
                            <a:schemeClr val="tx1"/>
                          </a:solidFill>
                        </a:rPr>
                        <a:t>Hoeveel slaapkamers wilt u?</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Combien de chambres souhaitez-vous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05994">
                <a:tc>
                  <a:txBody>
                    <a:bodyPr/>
                    <a:lstStyle/>
                    <a:p>
                      <a:pPr algn="l" indent="0" marL="0">
                        <a:buNone/>
                      </a:pPr>
                      <a:r>
                        <a:rPr lang="en-US" sz="1700" dirty="0">
                          <a:solidFill>
                            <a:schemeClr val="tx1"/>
                          </a:solidFill>
                        </a:rPr>
                        <a:t>Wanneer wilt u bezichtigen?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Quand souhaitez-vous visiter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05994">
                <a:tc>
                  <a:txBody>
                    <a:bodyPr/>
                    <a:lstStyle/>
                    <a:p>
                      <a:pPr algn="l" indent="0" marL="0">
                        <a:buNone/>
                      </a:pPr>
                      <a:r>
                        <a:rPr lang="en-US" sz="1700" dirty="0">
                          <a:solidFill>
                            <a:schemeClr val="tx1"/>
                          </a:solidFill>
                        </a:rPr>
                        <a:t>Op welk nummer kan ik u terugbellen?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Sur quel numéro puis-je vous rappeler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69341">
                <a:tc>
                  <a:txBody>
                    <a:bodyPr/>
                    <a:lstStyle/>
                    <a:p>
                      <a:pPr algn="l" indent="0" marL="0">
                        <a:buNone/>
                      </a:pPr>
                      <a:r>
                        <a:rPr lang="en-US" sz="1700" dirty="0">
                          <a:solidFill>
                            <a:schemeClr val="tx1"/>
                          </a:solidFill>
                        </a:rPr>
                        <a:t>Dus u zoekt een appartement met twee slaapkamers.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Donc vous cherchez un appartement avec deux chambres.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9341">
                <a:tc>
                  <a:txBody>
                    <a:bodyPr/>
                    <a:lstStyle/>
                    <a:p>
                      <a:pPr algn="l" indent="0" marL="0">
                        <a:buNone/>
                      </a:pPr>
                      <a:r>
                        <a:rPr lang="en-US" sz="1700" dirty="0">
                          <a:solidFill>
                            <a:schemeClr val="tx1"/>
                          </a:solidFill>
                        </a:rPr>
                        <a:t>Zullen we een afspraak inplannen? — Dank u wel, tot dan!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Si on fixait un rendez-vous ? — Merci, à ce moment-là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Piège : avec </a:t>
            </a:r>
            <a:r>
              <a:rPr lang="en-US" sz="1500" b="1" i="1" dirty="0">
                <a:solidFill>
                  <a:schemeClr val="accent5"/>
                </a:solidFill>
              </a:rPr>
              <a:t>u</a:t>
            </a:r>
            <a:r>
              <a:rPr lang="en-US" sz="1500" i="1" dirty="0">
                <a:solidFill>
                  <a:schemeClr val="accent5"/>
                </a:solidFill>
              </a:rPr>
              <a:t>, le verbe prend </a:t>
            </a:r>
            <a:r>
              <a:rPr lang="en-US" sz="1500" b="1" i="1" dirty="0">
                <a:solidFill>
                  <a:schemeClr val="accent5"/>
                </a:solidFill>
              </a:rPr>
              <a:t>-t</a:t>
            </a:r>
            <a:r>
              <a:rPr lang="en-US" sz="1500" i="1" dirty="0">
                <a:solidFill>
                  <a:schemeClr val="accent5"/>
                </a:solidFill>
              </a:rPr>
              <a:t> comme avec </a:t>
            </a:r>
            <a:r>
              <a:rPr lang="en-US" sz="1500" i="1" dirty="0">
                <a:solidFill>
                  <a:schemeClr val="accent5"/>
                </a:solidFill>
              </a:rPr>
              <a:t>hij</a:t>
            </a:r>
            <a:r>
              <a:rPr lang="en-US" sz="1500" i="1" dirty="0">
                <a:solidFill>
                  <a:schemeClr val="accent5"/>
                </a:solidFill>
              </a:rPr>
              <a:t> : </a:t>
            </a:r>
            <a:r>
              <a:rPr lang="en-US" sz="1500" i="1" dirty="0">
                <a:solidFill>
                  <a:schemeClr val="accent5"/>
                </a:solidFill>
              </a:rPr>
              <a:t>u spreekt · u zoekt · u wilt · u kunt</a:t>
            </a:r>
            <a:r>
              <a:rPr lang="en-US" sz="1500" i="1" dirty="0">
                <a:solidFill>
                  <a:schemeClr val="accent5"/>
                </a:solidFill>
              </a:rPr>
              <a:t> (✗ </a:t>
            </a:r>
            <a:r>
              <a:rPr lang="en-US" sz="1500" i="1" dirty="0">
                <a:solidFill>
                  <a:schemeClr val="accent5"/>
                </a:solidFill>
              </a:rPr>
              <a:t>u zoek</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1 — Un appel réussi (modèle)</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1800" b="1" dirty="0">
                <a:solidFill>
                  <a:schemeClr val="accent1"/>
                </a:solidFill>
              </a:rPr>
              <a:t>Makelaar :  </a:t>
            </a:r>
            <a:r>
              <a:rPr lang="en-US" sz="1800" dirty="0">
                <a:solidFill>
                  <a:schemeClr val="tx1"/>
                </a:solidFill>
              </a:rPr>
              <a:t>«Goedemorgen, Immo Van Damme, u spreekt met Yasmina.»</a:t>
            </a:r>
            <a:endParaRPr lang="en-US" sz="1800" dirty="0"/>
          </a:p>
          <a:p>
            <a:pPr indent="0" marL="0">
              <a:spcAft>
                <a:spcPts val="800"/>
              </a:spcAft>
              <a:buNone/>
            </a:pPr>
            <a:r>
              <a:rPr lang="en-US" sz="1200" dirty="0">
                <a:solidFill>
                  <a:schemeClr val="accent5"/>
                </a:solidFill>
              </a:rPr>
              <a:t>2  </a:t>
            </a:r>
            <a:r>
              <a:rPr lang="en-US" sz="1800" b="1" dirty="0">
                <a:solidFill>
                  <a:schemeClr val="accent2"/>
                </a:solidFill>
              </a:rPr>
              <a:t>Klant :  </a:t>
            </a:r>
            <a:r>
              <a:rPr lang="en-US" sz="1800" dirty="0">
                <a:solidFill>
                  <a:schemeClr val="tx1"/>
                </a:solidFill>
              </a:rPr>
              <a:t>«Goedemorgen, mevrouw. Ik zoek een appartement in Elsene.»</a:t>
            </a:r>
            <a:endParaRPr lang="en-US" sz="1800" dirty="0"/>
          </a:p>
          <a:p>
            <a:pPr indent="0" marL="0">
              <a:spcAft>
                <a:spcPts val="800"/>
              </a:spcAft>
              <a:buNone/>
            </a:pPr>
            <a:r>
              <a:rPr lang="en-US" sz="1200" dirty="0">
                <a:solidFill>
                  <a:schemeClr val="accent5"/>
                </a:solidFill>
              </a:rPr>
              <a:t>3  </a:t>
            </a:r>
            <a:r>
              <a:rPr lang="en-US" sz="1800" b="1" dirty="0">
                <a:solidFill>
                  <a:schemeClr val="accent1"/>
                </a:solidFill>
              </a:rPr>
              <a:t>Makelaar :  </a:t>
            </a:r>
            <a:r>
              <a:rPr lang="en-US" sz="1800" dirty="0">
                <a:solidFill>
                  <a:schemeClr val="tx1"/>
                </a:solidFill>
              </a:rPr>
              <a:t>«Wilt u huren of kopen?»</a:t>
            </a:r>
            <a:endParaRPr lang="en-US" sz="1800" dirty="0"/>
          </a:p>
          <a:p>
            <a:pPr indent="0" marL="0">
              <a:spcAft>
                <a:spcPts val="800"/>
              </a:spcAft>
              <a:buNone/>
            </a:pPr>
            <a:r>
              <a:rPr lang="en-US" sz="1200" dirty="0">
                <a:solidFill>
                  <a:schemeClr val="accent5"/>
                </a:solidFill>
              </a:rPr>
              <a:t>4  </a:t>
            </a:r>
            <a:r>
              <a:rPr lang="en-US" sz="1800" b="1" dirty="0">
                <a:solidFill>
                  <a:schemeClr val="accent2"/>
                </a:solidFill>
              </a:rPr>
              <a:t>Klant :  </a:t>
            </a:r>
            <a:r>
              <a:rPr lang="en-US" sz="1800" dirty="0">
                <a:solidFill>
                  <a:schemeClr val="tx1"/>
                </a:solidFill>
              </a:rPr>
              <a:t>«Kopen. Mijn budget is ongeveer 300.000 euro.»</a:t>
            </a:r>
            <a:endParaRPr lang="en-US" sz="1800" dirty="0"/>
          </a:p>
          <a:p>
            <a:pPr indent="0" marL="0">
              <a:spcAft>
                <a:spcPts val="800"/>
              </a:spcAft>
              <a:buNone/>
            </a:pPr>
            <a:r>
              <a:rPr lang="en-US" sz="1200" dirty="0">
                <a:solidFill>
                  <a:schemeClr val="accent5"/>
                </a:solidFill>
              </a:rPr>
              <a:t>5  </a:t>
            </a:r>
            <a:r>
              <a:rPr lang="en-US" sz="1800" b="1" dirty="0">
                <a:solidFill>
                  <a:schemeClr val="accent1"/>
                </a:solidFill>
              </a:rPr>
              <a:t>Makelaar :  </a:t>
            </a:r>
            <a:r>
              <a:rPr lang="en-US" sz="1800" dirty="0">
                <a:solidFill>
                  <a:schemeClr val="tx1"/>
                </a:solidFill>
              </a:rPr>
              <a:t>«Hoeveel slaapkamers wilt u?»</a:t>
            </a:r>
            <a:endParaRPr lang="en-US" sz="1800" dirty="0"/>
          </a:p>
          <a:p>
            <a:pPr indent="0" marL="0">
              <a:spcAft>
                <a:spcPts val="800"/>
              </a:spcAft>
              <a:buNone/>
            </a:pPr>
            <a:r>
              <a:rPr lang="en-US" sz="1200" dirty="0">
                <a:solidFill>
                  <a:schemeClr val="accent5"/>
                </a:solidFill>
              </a:rPr>
              <a:t>6  </a:t>
            </a:r>
            <a:r>
              <a:rPr lang="en-US" sz="1800" b="1" dirty="0">
                <a:solidFill>
                  <a:schemeClr val="accent2"/>
                </a:solidFill>
              </a:rPr>
              <a:t>Klant :  </a:t>
            </a:r>
            <a:r>
              <a:rPr lang="en-US" sz="1800" dirty="0">
                <a:solidFill>
                  <a:schemeClr val="tx1"/>
                </a:solidFill>
              </a:rPr>
              <a:t>«Twee, en liefst met een terras.»</a:t>
            </a:r>
            <a:endParaRPr lang="en-US" sz="1800" dirty="0"/>
          </a:p>
          <a:p>
            <a:pPr indent="0" marL="0">
              <a:spcAft>
                <a:spcPts val="800"/>
              </a:spcAft>
              <a:buNone/>
            </a:pPr>
            <a:r>
              <a:rPr lang="en-US" sz="1200" dirty="0">
                <a:solidFill>
                  <a:schemeClr val="accent5"/>
                </a:solidFill>
              </a:rPr>
              <a:t>7  </a:t>
            </a:r>
            <a:r>
              <a:rPr lang="en-US" sz="1800" b="1" dirty="0">
                <a:solidFill>
                  <a:schemeClr val="accent1"/>
                </a:solidFill>
              </a:rPr>
              <a:t>Makelaar :  </a:t>
            </a:r>
            <a:r>
              <a:rPr lang="en-US" sz="1800" dirty="0">
                <a:solidFill>
                  <a:schemeClr val="tx1"/>
                </a:solidFill>
              </a:rPr>
              <a:t>«Dus u zoekt een appartement met twee slaapkamers en een terras. Wanneer wilt u bezichtigen?»</a:t>
            </a:r>
            <a:endParaRPr lang="en-US" sz="1800" dirty="0"/>
          </a:p>
          <a:p>
            <a:pPr indent="0" marL="0">
              <a:spcAft>
                <a:spcPts val="800"/>
              </a:spcAft>
              <a:buNone/>
            </a:pPr>
            <a:r>
              <a:rPr lang="en-US" sz="1200" dirty="0">
                <a:solidFill>
                  <a:schemeClr val="accent5"/>
                </a:solidFill>
              </a:rPr>
              <a:t>8  </a:t>
            </a:r>
            <a:r>
              <a:rPr lang="en-US" sz="1800" b="1" dirty="0">
                <a:solidFill>
                  <a:schemeClr val="accent2"/>
                </a:solidFill>
              </a:rPr>
              <a:t>Klant :  </a:t>
            </a:r>
            <a:r>
              <a:rPr lang="en-US" sz="1800" dirty="0">
                <a:solidFill>
                  <a:schemeClr val="tx1"/>
                </a:solidFill>
              </a:rPr>
              <a:t>«Liefst morgen, want ik heb weinig tijd.»</a:t>
            </a:r>
            <a:endParaRPr lang="en-US" sz="1800" dirty="0"/>
          </a:p>
          <a:p>
            <a:pPr indent="0" marL="0">
              <a:spcAft>
                <a:spcPts val="800"/>
              </a:spcAft>
              <a:buNone/>
            </a:pPr>
            <a:r>
              <a:rPr lang="en-US" sz="1200" dirty="0">
                <a:solidFill>
                  <a:schemeClr val="accent5"/>
                </a:solidFill>
              </a:rPr>
              <a:t>9  </a:t>
            </a:r>
            <a:r>
              <a:rPr lang="en-US" sz="1800" b="1" dirty="0">
                <a:solidFill>
                  <a:schemeClr val="accent1"/>
                </a:solidFill>
              </a:rPr>
              <a:t>Makelaar :  </a:t>
            </a:r>
            <a:r>
              <a:rPr lang="en-US" sz="1800" dirty="0">
                <a:solidFill>
                  <a:schemeClr val="tx1"/>
                </a:solidFill>
              </a:rPr>
              <a:t>«Zullen we een afspraak inplannen? Op welk nummer kan ik u terugbellen?»</a:t>
            </a:r>
            <a:endParaRPr lang="en-US" sz="1800" dirty="0"/>
          </a:p>
          <a:p>
            <a:pPr indent="0" marL="0">
              <a:spcAft>
                <a:spcPts val="800"/>
              </a:spcAft>
              <a:buNone/>
            </a:pPr>
            <a:r>
              <a:rPr lang="en-US" sz="1200" dirty="0">
                <a:solidFill>
                  <a:schemeClr val="accent5"/>
                </a:solidFill>
              </a:rPr>
              <a:t>10  </a:t>
            </a:r>
            <a:r>
              <a:rPr lang="en-US" sz="1800" b="1" dirty="0">
                <a:solidFill>
                  <a:schemeClr val="accent2"/>
                </a:solidFill>
              </a:rPr>
              <a:t>Klant :  </a:t>
            </a:r>
            <a:r>
              <a:rPr lang="en-US" sz="1800" dirty="0">
                <a:solidFill>
                  <a:schemeClr val="tx1"/>
                </a:solidFill>
              </a:rPr>
              <a:t>«Op 0475 12 34 56. Dank u wel, tot dan!»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D1 — Zo zeg je dat : situer son logement</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669280"/>
                <a:gridCol w="5422392"/>
              </a:tblGrid>
              <a:tr h="582473">
                <a:tc>
                  <a:txBody>
                    <a:bodyPr/>
                    <a:lstStyle/>
                    <a:p>
                      <a:pPr algn="l" indent="0" marL="0">
                        <a:buNone/>
                      </a:pPr>
                      <a:r>
                        <a:rPr lang="en-US" sz="1800" b="1" dirty="0">
                          <a:solidFill>
                            <a:schemeClr val="bg1"/>
                          </a:solidFill>
                        </a:rPr>
                        <a:t>NEDERLANDS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83718">
                <a:tc>
                  <a:txBody>
                    <a:bodyPr/>
                    <a:lstStyle/>
                    <a:p>
                      <a:pPr algn="l" indent="0" marL="0">
                        <a:buNone/>
                      </a:pPr>
                      <a:r>
                        <a:rPr lang="en-US" sz="2000" dirty="0">
                          <a:solidFill>
                            <a:schemeClr val="tx1"/>
                          </a:solidFill>
                        </a:rPr>
                        <a:t>om de hoek</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juste au coin, tout près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83718">
                <a:tc>
                  <a:txBody>
                    <a:bodyPr/>
                    <a:lstStyle/>
                    <a:p>
                      <a:pPr algn="l" indent="0" marL="0">
                        <a:buNone/>
                      </a:pPr>
                      <a:r>
                        <a:rPr lang="en-US" sz="2000" dirty="0">
                          <a:solidFill>
                            <a:schemeClr val="tx1"/>
                          </a:solidFill>
                        </a:rPr>
                        <a:t>op wandelafstand van het station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à distance de marche de la gare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83718">
                <a:tc>
                  <a:txBody>
                    <a:bodyPr/>
                    <a:lstStyle/>
                    <a:p>
                      <a:pPr algn="l" indent="0" marL="0">
                        <a:buNone/>
                      </a:pPr>
                      <a:r>
                        <a:rPr lang="en-US" sz="2000" dirty="0">
                          <a:solidFill>
                            <a:schemeClr val="tx1"/>
                          </a:solidFill>
                        </a:rPr>
                        <a:t>vlak bij de halte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tout près de l’arrêt (tram, bus)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83718">
                <a:tc>
                  <a:txBody>
                    <a:bodyPr/>
                    <a:lstStyle/>
                    <a:p>
                      <a:pPr algn="l" indent="0" marL="0">
                        <a:buNone/>
                      </a:pPr>
                      <a:r>
                        <a:rPr lang="en-US" sz="2000" dirty="0">
                          <a:solidFill>
                            <a:schemeClr val="tx1"/>
                          </a:solidFill>
                        </a:rPr>
                        <a:t>tegenover de bakker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en face de la boulangerie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83718">
                <a:tc>
                  <a:txBody>
                    <a:bodyPr/>
                    <a:lstStyle/>
                    <a:p>
                      <a:pPr algn="l" indent="0" marL="0">
                        <a:buNone/>
                      </a:pPr>
                      <a:r>
                        <a:rPr lang="en-US" sz="2000" dirty="0">
                          <a:solidFill>
                            <a:schemeClr val="tx1"/>
                          </a:solidFill>
                        </a:rPr>
                        <a:t>in een rustige / levendige buurt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dans un quartier calme / animé</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83718">
                <a:tc>
                  <a:txBody>
                    <a:bodyPr/>
                    <a:lstStyle/>
                    <a:p>
                      <a:pPr algn="l" indent="0" marL="0">
                        <a:buNone/>
                      </a:pPr>
                      <a:r>
                        <a:rPr lang="en-US" sz="2000" dirty="0">
                          <a:solidFill>
                            <a:schemeClr val="tx1"/>
                          </a:solidFill>
                        </a:rPr>
                        <a:t>goed overweg kunnen met de buren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bien s’entendre avec les voisins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93699">
                <a:tc>
                  <a:txBody>
                    <a:bodyPr/>
                    <a:lstStyle/>
                    <a:p>
                      <a:pPr algn="l" indent="0" marL="0">
                        <a:buNone/>
                      </a:pPr>
                      <a:r>
                        <a:rPr lang="en-US" sz="2000" dirty="0">
                          <a:solidFill>
                            <a:schemeClr val="tx1"/>
                          </a:solidFill>
                        </a:rPr>
                        <a:t>Het is hier gezellig.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On s’y sent bien. (</a:t>
                      </a:r>
                      <a:r>
                        <a:rPr lang="en-US" sz="2000" i="1" dirty="0">
                          <a:solidFill>
                            <a:schemeClr val="tx1"/>
                          </a:solidFill>
                        </a:rPr>
                        <a:t>gezellig</a:t>
                      </a:r>
                      <a:r>
                        <a:rPr lang="en-US" sz="2000" dirty="0">
                          <a:solidFill>
                            <a:schemeClr val="tx1"/>
                          </a:solidFill>
                        </a:rPr>
                        <a:t> : presque intraduisible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Prononciation : </a:t>
            </a:r>
            <a:r>
              <a:rPr lang="en-US" sz="1500" i="1" dirty="0">
                <a:solidFill>
                  <a:schemeClr val="accent5"/>
                </a:solidFill>
              </a:rPr>
              <a:t>wandelafstand</a:t>
            </a:r>
            <a:r>
              <a:rPr lang="en-US" sz="1500" i="1" dirty="0">
                <a:solidFill>
                  <a:schemeClr val="accent5"/>
                </a:solidFill>
              </a:rPr>
              <a:t> [wan-del-af-stant] · </a:t>
            </a:r>
            <a:r>
              <a:rPr lang="en-US" sz="1500" i="1" dirty="0">
                <a:solidFill>
                  <a:schemeClr val="accent5"/>
                </a:solidFill>
              </a:rPr>
              <a:t>gezellig</a:t>
            </a:r>
            <a:r>
              <a:rPr lang="en-US" sz="1500" i="1" dirty="0">
                <a:solidFill>
                  <a:schemeClr val="accent5"/>
                </a:solidFill>
              </a:rPr>
              <a:t> : le </a:t>
            </a:r>
            <a:r>
              <a:rPr lang="en-US" sz="1500" b="1" i="1" dirty="0">
                <a:solidFill>
                  <a:schemeClr val="accent5"/>
                </a:solidFill>
              </a:rPr>
              <a:t>g</a:t>
            </a:r>
            <a:r>
              <a:rPr lang="en-US" sz="1500" i="1" dirty="0">
                <a:solidFill>
                  <a:schemeClr val="accent5"/>
                </a:solidFill>
              </a:rPr>
              <a:t> est guttural (voir palier 1).</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D1 Dagelijks leven — Mijn buurt in vijf zinnen</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Couche 2 · seul puis par deux · 10 min. Le bien à présenter, c’est </a:t>
            </a:r>
            <a:r>
              <a:rPr lang="en-US" sz="1800" b="1" dirty="0">
                <a:solidFill>
                  <a:schemeClr val="tx1"/>
                </a:solidFill>
              </a:rPr>
              <a:t>le vôtre</a:t>
            </a:r>
            <a:r>
              <a:rPr lang="en-US" sz="1800" dirty="0">
                <a:solidFill>
                  <a:schemeClr val="tx1"/>
                </a:solidFill>
              </a:rPr>
              <a:t>.</a:t>
            </a:r>
            <a:endParaRPr lang="en-US" sz="1800" dirty="0"/>
          </a:p>
        </p:txBody>
      </p:sp>
      <p:sp>
        <p:nvSpPr>
          <p:cNvPr id="7" name="Shape 4"/>
          <p:cNvSpPr/>
          <p:nvPr/>
        </p:nvSpPr>
        <p:spPr>
          <a:xfrm>
            <a:off x="548640" y="1993392"/>
            <a:ext cx="2553462" cy="3343656"/>
          </a:xfrm>
          <a:prstGeom prst="roundRect">
            <a:avLst>
              <a:gd name="adj" fmla="val 3581"/>
            </a:avLst>
          </a:prstGeom>
          <a:solidFill>
            <a:schemeClr val="bg2"/>
          </a:solidFill>
          <a:ln w="9525">
            <a:solidFill>
              <a:srgbClr val="D5DCE6"/>
            </a:solidFill>
            <a:prstDash val="solid"/>
          </a:ln>
        </p:spPr>
      </p:sp>
      <p:sp>
        <p:nvSpPr>
          <p:cNvPr id="8" name="Shape 5"/>
          <p:cNvSpPr/>
          <p:nvPr/>
        </p:nvSpPr>
        <p:spPr>
          <a:xfrm>
            <a:off x="1496187" y="2176272"/>
            <a:ext cx="658368" cy="658368"/>
          </a:xfrm>
          <a:prstGeom prst="ellipse">
            <a:avLst/>
          </a:prstGeom>
          <a:solidFill>
            <a:schemeClr val="accent2"/>
          </a:solidFill>
          <a:ln/>
        </p:spPr>
      </p:sp>
      <p:sp>
        <p:nvSpPr>
          <p:cNvPr id="9" name="Text 6"/>
          <p:cNvSpPr txBox="1"/>
          <p:nvPr/>
        </p:nvSpPr>
        <p:spPr>
          <a:xfrm>
            <a:off x="1496187"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2907792"/>
            <a:ext cx="2334006" cy="685800"/>
          </a:xfrm>
          <a:prstGeom prst="rect">
            <a:avLst/>
          </a:prstGeom>
          <a:noFill/>
          <a:ln/>
        </p:spPr>
        <p:txBody>
          <a:bodyPr wrap="square" lIns="0" tIns="0" rIns="0" bIns="0" rtlCol="0" anchor="ctr"/>
          <a:lstStyle/>
          <a:p>
            <a:pPr algn="ctr" indent="0" marL="0">
              <a:buNone/>
            </a:pPr>
            <a:r>
              <a:rPr lang="en-US" sz="1700" b="1" dirty="0">
                <a:solidFill>
                  <a:schemeClr val="accent2"/>
                </a:solidFill>
              </a:rPr>
              <a:t>Ma fiche</a:t>
            </a:r>
            <a:endParaRPr lang="en-US" sz="1700" dirty="0"/>
          </a:p>
        </p:txBody>
      </p:sp>
      <p:sp>
        <p:nvSpPr>
          <p:cNvPr id="11" name="Text 8"/>
          <p:cNvSpPr txBox="1"/>
          <p:nvPr/>
        </p:nvSpPr>
        <p:spPr>
          <a:xfrm>
            <a:off x="685800" y="3685032"/>
            <a:ext cx="2279142" cy="15605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3 min, seul·e, </a:t>
            </a:r>
            <a:r>
              <a:rPr lang="en-US" sz="1400" b="1" dirty="0">
                <a:solidFill>
                  <a:schemeClr val="tx1"/>
                </a:solidFill>
              </a:rPr>
              <a:t>mots-clés</a:t>
            </a:r>
            <a:r>
              <a:rPr lang="en-US" sz="1400" dirty="0">
                <a:solidFill>
                  <a:schemeClr val="tx1"/>
                </a:solidFill>
              </a:rPr>
              <a:t> :</a:t>
            </a:r>
            <a:endParaRPr lang="en-US" sz="1400" dirty="0"/>
          </a:p>
          <a:p>
            <a:pPr algn="ctr" indent="0" marL="0">
              <a:spcAft>
                <a:spcPts val="600"/>
              </a:spcAft>
              <a:buNone/>
            </a:pPr>
            <a:r>
              <a:rPr lang="en-US" sz="1400" dirty="0">
                <a:solidFill>
                  <a:schemeClr val="tx1"/>
                </a:solidFill>
              </a:rPr>
              <a:t>type de logement + slaapkamers · où ? · 3 lieux + une expression · les buren · pluspunt / minpunt</a:t>
            </a:r>
            <a:endParaRPr lang="en-US" sz="1400" dirty="0"/>
          </a:p>
        </p:txBody>
      </p:sp>
      <p:pic>
        <p:nvPicPr>
          <p:cNvPr id="12" name="Image 0" descr="preencoded.png">    </p:cNvPr>
          <p:cNvPicPr>
            <a:picLocks noChangeAspect="1"/>
          </p:cNvPicPr>
          <p:nvPr/>
        </p:nvPicPr>
        <p:blipFill>
          <a:blip r:embed="rId1"/>
          <a:stretch>
            <a:fillRect/>
          </a:stretch>
        </p:blipFill>
        <p:spPr>
          <a:xfrm>
            <a:off x="3138678" y="2395728"/>
            <a:ext cx="219456" cy="219456"/>
          </a:xfrm>
          <a:prstGeom prst="rect">
            <a:avLst/>
          </a:prstGeom>
        </p:spPr>
      </p:pic>
      <p:sp>
        <p:nvSpPr>
          <p:cNvPr id="13" name="Shape 9"/>
          <p:cNvSpPr/>
          <p:nvPr/>
        </p:nvSpPr>
        <p:spPr>
          <a:xfrm>
            <a:off x="3394710" y="1993392"/>
            <a:ext cx="2553462" cy="3343656"/>
          </a:xfrm>
          <a:prstGeom prst="roundRect">
            <a:avLst>
              <a:gd name="adj" fmla="val 3581"/>
            </a:avLst>
          </a:prstGeom>
          <a:solidFill>
            <a:schemeClr val="bg2"/>
          </a:solidFill>
          <a:ln w="9525">
            <a:solidFill>
              <a:srgbClr val="D5DCE6"/>
            </a:solidFill>
            <a:prstDash val="solid"/>
          </a:ln>
        </p:spPr>
      </p:sp>
      <p:sp>
        <p:nvSpPr>
          <p:cNvPr id="14" name="Shape 10"/>
          <p:cNvSpPr/>
          <p:nvPr/>
        </p:nvSpPr>
        <p:spPr>
          <a:xfrm>
            <a:off x="4342257" y="2176272"/>
            <a:ext cx="658368" cy="658368"/>
          </a:xfrm>
          <a:prstGeom prst="ellipse">
            <a:avLst/>
          </a:prstGeom>
          <a:solidFill>
            <a:schemeClr val="accent1"/>
          </a:solidFill>
          <a:ln/>
        </p:spPr>
      </p:sp>
      <p:sp>
        <p:nvSpPr>
          <p:cNvPr id="15" name="Text 11"/>
          <p:cNvSpPr txBox="1"/>
          <p:nvPr/>
        </p:nvSpPr>
        <p:spPr>
          <a:xfrm>
            <a:off x="4342257"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3504438" y="2907792"/>
            <a:ext cx="2334006" cy="685800"/>
          </a:xfrm>
          <a:prstGeom prst="rect">
            <a:avLst/>
          </a:prstGeom>
          <a:noFill/>
          <a:ln/>
        </p:spPr>
        <p:txBody>
          <a:bodyPr wrap="square" lIns="0" tIns="0" rIns="0" bIns="0" rtlCol="0" anchor="ctr"/>
          <a:lstStyle/>
          <a:p>
            <a:pPr algn="ctr" indent="0" marL="0">
              <a:buNone/>
            </a:pPr>
            <a:r>
              <a:rPr lang="en-US" sz="1700" b="1" dirty="0">
                <a:solidFill>
                  <a:schemeClr val="accent1"/>
                </a:solidFill>
              </a:rPr>
              <a:t>Cinq phrases</a:t>
            </a:r>
            <a:endParaRPr lang="en-US" sz="1700" dirty="0"/>
          </a:p>
        </p:txBody>
      </p:sp>
      <p:sp>
        <p:nvSpPr>
          <p:cNvPr id="17" name="Text 13"/>
          <p:cNvSpPr txBox="1"/>
          <p:nvPr/>
        </p:nvSpPr>
        <p:spPr>
          <a:xfrm>
            <a:off x="3531870" y="3685032"/>
            <a:ext cx="2279142" cy="15605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Présentez </a:t>
            </a:r>
            <a:r>
              <a:rPr lang="en-US" sz="1400" b="1" dirty="0">
                <a:solidFill>
                  <a:schemeClr val="tx1"/>
                </a:solidFill>
              </a:rPr>
              <a:t>votre logement et votre quartier</a:t>
            </a:r>
            <a:r>
              <a:rPr lang="en-US" sz="1400" dirty="0">
                <a:solidFill>
                  <a:schemeClr val="tx1"/>
                </a:solidFill>
              </a:rPr>
              <a:t> à votre binôme en </a:t>
            </a:r>
            <a:r>
              <a:rPr lang="en-US" sz="1400" b="1" dirty="0">
                <a:solidFill>
                  <a:schemeClr val="tx1"/>
                </a:solidFill>
              </a:rPr>
              <a:t>cinq phrases</a:t>
            </a:r>
            <a:r>
              <a:rPr lang="en-US" sz="1400" dirty="0">
                <a:solidFill>
                  <a:schemeClr val="tx1"/>
                </a:solidFill>
              </a:rPr>
              <a:t>.</a:t>
            </a:r>
            <a:endParaRPr lang="en-US" sz="1400" dirty="0"/>
          </a:p>
        </p:txBody>
      </p:sp>
      <p:pic>
        <p:nvPicPr>
          <p:cNvPr id="18" name="Image 1" descr="preencoded.png">    </p:cNvPr>
          <p:cNvPicPr>
            <a:picLocks noChangeAspect="1"/>
          </p:cNvPicPr>
          <p:nvPr/>
        </p:nvPicPr>
        <p:blipFill>
          <a:blip r:embed="rId2"/>
          <a:stretch>
            <a:fillRect/>
          </a:stretch>
        </p:blipFill>
        <p:spPr>
          <a:xfrm>
            <a:off x="5984748" y="2395728"/>
            <a:ext cx="219456" cy="219456"/>
          </a:xfrm>
          <a:prstGeom prst="rect">
            <a:avLst/>
          </a:prstGeom>
        </p:spPr>
      </p:pic>
      <p:sp>
        <p:nvSpPr>
          <p:cNvPr id="19" name="Shape 14"/>
          <p:cNvSpPr/>
          <p:nvPr/>
        </p:nvSpPr>
        <p:spPr>
          <a:xfrm>
            <a:off x="6240780" y="1993392"/>
            <a:ext cx="2553462" cy="3343656"/>
          </a:xfrm>
          <a:prstGeom prst="roundRect">
            <a:avLst>
              <a:gd name="adj" fmla="val 3581"/>
            </a:avLst>
          </a:prstGeom>
          <a:solidFill>
            <a:schemeClr val="bg2"/>
          </a:solidFill>
          <a:ln w="9525">
            <a:solidFill>
              <a:srgbClr val="D5DCE6"/>
            </a:solidFill>
            <a:prstDash val="solid"/>
          </a:ln>
        </p:spPr>
      </p:sp>
      <p:sp>
        <p:nvSpPr>
          <p:cNvPr id="20" name="Shape 15"/>
          <p:cNvSpPr/>
          <p:nvPr/>
        </p:nvSpPr>
        <p:spPr>
          <a:xfrm>
            <a:off x="7188327" y="2176272"/>
            <a:ext cx="658368" cy="658368"/>
          </a:xfrm>
          <a:prstGeom prst="ellipse">
            <a:avLst/>
          </a:prstGeom>
          <a:solidFill>
            <a:schemeClr val="accent3"/>
          </a:solidFill>
          <a:ln/>
        </p:spPr>
      </p:sp>
      <p:sp>
        <p:nvSpPr>
          <p:cNvPr id="21" name="Text 16"/>
          <p:cNvSpPr txBox="1"/>
          <p:nvPr/>
        </p:nvSpPr>
        <p:spPr>
          <a:xfrm>
            <a:off x="7188327"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6350508" y="2907792"/>
            <a:ext cx="2334006" cy="685800"/>
          </a:xfrm>
          <a:prstGeom prst="rect">
            <a:avLst/>
          </a:prstGeom>
          <a:noFill/>
          <a:ln/>
        </p:spPr>
        <p:txBody>
          <a:bodyPr wrap="square" lIns="0" tIns="0" rIns="0" bIns="0" rtlCol="0" anchor="ctr"/>
          <a:lstStyle/>
          <a:p>
            <a:pPr algn="ctr" indent="0" marL="0">
              <a:buNone/>
            </a:pPr>
            <a:r>
              <a:rPr lang="en-US" sz="1700" b="1" dirty="0">
                <a:solidFill>
                  <a:schemeClr val="accent3"/>
                </a:solidFill>
              </a:rPr>
              <a:t>Interview croisé</a:t>
            </a:r>
            <a:endParaRPr lang="en-US" sz="1700" dirty="0"/>
          </a:p>
        </p:txBody>
      </p:sp>
      <p:sp>
        <p:nvSpPr>
          <p:cNvPr id="23" name="Text 18"/>
          <p:cNvSpPr txBox="1"/>
          <p:nvPr/>
        </p:nvSpPr>
        <p:spPr>
          <a:xfrm>
            <a:off x="6377940" y="3685032"/>
            <a:ext cx="2279142" cy="15605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2 × 3 min : votre binôme pose </a:t>
            </a:r>
            <a:r>
              <a:rPr lang="en-US" sz="1400" b="1" dirty="0">
                <a:solidFill>
                  <a:schemeClr val="tx1"/>
                </a:solidFill>
              </a:rPr>
              <a:t>3 questions</a:t>
            </a:r>
            <a:r>
              <a:rPr lang="en-US" sz="1400" dirty="0">
                <a:solidFill>
                  <a:schemeClr val="tx1"/>
                </a:solidFill>
              </a:rPr>
              <a:t>, puis </a:t>
            </a:r>
            <a:r>
              <a:rPr lang="en-US" sz="1400" b="1" dirty="0">
                <a:solidFill>
                  <a:schemeClr val="tx1"/>
                </a:solidFill>
              </a:rPr>
              <a:t>reformule</a:t>
            </a:r>
            <a:r>
              <a:rPr lang="en-US" sz="1400" dirty="0">
                <a:solidFill>
                  <a:schemeClr val="tx1"/>
                </a:solidFill>
              </a:rPr>
              <a:t> : </a:t>
            </a:r>
            <a:r>
              <a:rPr lang="en-US" sz="1400" i="1" dirty="0">
                <a:solidFill>
                  <a:schemeClr val="tx1"/>
                </a:solidFill>
              </a:rPr>
              <a:t>Dus jij woont in…</a:t>
            </a:r>
            <a:endParaRPr lang="en-US" sz="1400" dirty="0"/>
          </a:p>
        </p:txBody>
      </p:sp>
      <p:pic>
        <p:nvPicPr>
          <p:cNvPr id="24" name="Image 2" descr="preencoded.png">    </p:cNvPr>
          <p:cNvPicPr>
            <a:picLocks noChangeAspect="1"/>
          </p:cNvPicPr>
          <p:nvPr/>
        </p:nvPicPr>
        <p:blipFill>
          <a:blip r:embed="rId3"/>
          <a:stretch>
            <a:fillRect/>
          </a:stretch>
        </p:blipFill>
        <p:spPr>
          <a:xfrm>
            <a:off x="8830818" y="2395728"/>
            <a:ext cx="219456" cy="219456"/>
          </a:xfrm>
          <a:prstGeom prst="rect">
            <a:avLst/>
          </a:prstGeom>
        </p:spPr>
      </p:pic>
      <p:sp>
        <p:nvSpPr>
          <p:cNvPr id="25" name="Shape 19"/>
          <p:cNvSpPr/>
          <p:nvPr/>
        </p:nvSpPr>
        <p:spPr>
          <a:xfrm>
            <a:off x="9086850" y="1993392"/>
            <a:ext cx="2553462" cy="3343656"/>
          </a:xfrm>
          <a:prstGeom prst="roundRect">
            <a:avLst>
              <a:gd name="adj" fmla="val 3581"/>
            </a:avLst>
          </a:prstGeom>
          <a:solidFill>
            <a:schemeClr val="bg2"/>
          </a:solidFill>
          <a:ln w="9525">
            <a:solidFill>
              <a:srgbClr val="D5DCE6"/>
            </a:solidFill>
            <a:prstDash val="solid"/>
          </a:ln>
        </p:spPr>
      </p:sp>
      <p:sp>
        <p:nvSpPr>
          <p:cNvPr id="26" name="Shape 20"/>
          <p:cNvSpPr/>
          <p:nvPr/>
        </p:nvSpPr>
        <p:spPr>
          <a:xfrm>
            <a:off x="10034397" y="2176272"/>
            <a:ext cx="658368" cy="658368"/>
          </a:xfrm>
          <a:prstGeom prst="ellipse">
            <a:avLst/>
          </a:prstGeom>
          <a:solidFill>
            <a:schemeClr val="tx2"/>
          </a:solidFill>
          <a:ln/>
        </p:spPr>
      </p:sp>
      <p:sp>
        <p:nvSpPr>
          <p:cNvPr id="27" name="Text 21"/>
          <p:cNvSpPr txBox="1"/>
          <p:nvPr/>
        </p:nvSpPr>
        <p:spPr>
          <a:xfrm>
            <a:off x="10034397"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8" name="Text 22"/>
          <p:cNvSpPr txBox="1"/>
          <p:nvPr/>
        </p:nvSpPr>
        <p:spPr>
          <a:xfrm>
            <a:off x="9196578" y="2907792"/>
            <a:ext cx="2334006" cy="685800"/>
          </a:xfrm>
          <a:prstGeom prst="rect">
            <a:avLst/>
          </a:prstGeom>
          <a:noFill/>
          <a:ln/>
        </p:spPr>
        <p:txBody>
          <a:bodyPr wrap="square" lIns="0" tIns="0" rIns="0" bIns="0" rtlCol="0" anchor="ctr"/>
          <a:lstStyle/>
          <a:p>
            <a:pPr algn="ctr" indent="0" marL="0">
              <a:buNone/>
            </a:pPr>
            <a:r>
              <a:rPr lang="en-US" sz="1700" b="1" dirty="0">
                <a:solidFill>
                  <a:schemeClr val="tx2"/>
                </a:solidFill>
              </a:rPr>
              <a:t>Écrit (facultatif)</a:t>
            </a:r>
            <a:endParaRPr lang="en-US" sz="1700" dirty="0"/>
          </a:p>
        </p:txBody>
      </p:sp>
      <p:sp>
        <p:nvSpPr>
          <p:cNvPr id="29" name="Text 23"/>
          <p:cNvSpPr txBox="1"/>
          <p:nvPr/>
        </p:nvSpPr>
        <p:spPr>
          <a:xfrm>
            <a:off x="9224010" y="3685032"/>
            <a:ext cx="2279142" cy="15605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Vos cinq phrases deviennent un paragraphe </a:t>
            </a:r>
            <a:r>
              <a:rPr lang="en-US" sz="1400" b="1" dirty="0">
                <a:solidFill>
                  <a:schemeClr val="tx1"/>
                </a:solidFill>
              </a:rPr>
              <a:t>«Mijn buurt»</a:t>
            </a:r>
            <a:r>
              <a:rPr lang="en-US" sz="1400" dirty="0">
                <a:solidFill>
                  <a:schemeClr val="tx1"/>
                </a:solidFill>
              </a:rPr>
              <a:t> pour votre dossier.</a:t>
            </a:r>
            <a:endParaRPr lang="en-US" sz="1400" dirty="0"/>
          </a:p>
        </p:txBody>
      </p:sp>
      <p:sp>
        <p:nvSpPr>
          <p:cNvPr id="30" name="Shape 24"/>
          <p:cNvSpPr/>
          <p:nvPr/>
        </p:nvSpPr>
        <p:spPr>
          <a:xfrm>
            <a:off x="548640" y="5565648"/>
            <a:ext cx="11091672" cy="725424"/>
          </a:xfrm>
          <a:prstGeom prst="roundRect">
            <a:avLst>
              <a:gd name="adj" fmla="val 10084"/>
            </a:avLst>
          </a:prstGeom>
          <a:solidFill>
            <a:schemeClr val="accent2">
              <a:alpha val="10000"/>
            </a:schemeClr>
          </a:solidFill>
          <a:ln w="9525">
            <a:solidFill>
              <a:schemeClr val="accent2">
                <a:alpha val="70000"/>
              </a:schemeClr>
            </a:solidFill>
            <a:prstDash val="solid"/>
          </a:ln>
        </p:spPr>
      </p:sp>
      <p:pic>
        <p:nvPicPr>
          <p:cNvPr id="31" name="Image 3" descr="preencoded.png">    </p:cNvPr>
          <p:cNvPicPr>
            <a:picLocks noChangeAspect="1"/>
          </p:cNvPicPr>
          <p:nvPr/>
        </p:nvPicPr>
        <p:blipFill>
          <a:blip r:embed="rId4"/>
          <a:stretch>
            <a:fillRect/>
          </a:stretch>
        </p:blipFill>
        <p:spPr>
          <a:xfrm>
            <a:off x="749808" y="5763768"/>
            <a:ext cx="329184" cy="329184"/>
          </a:xfrm>
          <a:prstGeom prst="rect">
            <a:avLst/>
          </a:prstGeom>
        </p:spPr>
      </p:pic>
      <p:sp>
        <p:nvSpPr>
          <p:cNvPr id="32" name="Text 25"/>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2"/>
                </a:solidFill>
              </a:rPr>
              <a:t>Questions possibles — </a:t>
            </a:r>
            <a:r>
              <a:rPr lang="en-US" sz="1700" dirty="0">
                <a:solidFill>
                  <a:schemeClr val="tx1"/>
                </a:solidFill>
              </a:rPr>
              <a:t>Woon je in een huis of in een appartement? · Hoe lang woon je daar al? · Wat is er in je buurt? · Hoe ga je naar je werk of naar de les? · Wat mis je in je buurt?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D1 — Mijn buurt : modèle de cinq phrases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a:t>
            </a:r>
            <a:endParaRPr lang="en-US" sz="1200" dirty="0"/>
          </a:p>
        </p:txBody>
      </p:sp>
      <p:sp>
        <p:nvSpPr>
          <p:cNvPr id="6" name="Text 3"/>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Production libre : votre texte doit être </a:t>
            </a:r>
            <a:r>
              <a:rPr lang="en-US" sz="1600" b="1" i="1" dirty="0">
                <a:solidFill>
                  <a:schemeClr val="accent5"/>
                </a:solidFill>
              </a:rPr>
              <a:t>vrai pour vous</a:t>
            </a:r>
            <a:r>
              <a:rPr lang="en-US" sz="1600" i="1" dirty="0">
                <a:solidFill>
                  <a:schemeClr val="accent5"/>
                </a:solidFill>
              </a:rPr>
              <a:t>. Modèle correct à adapter :</a:t>
            </a:r>
            <a:endParaRPr lang="en-US" sz="1600" dirty="0"/>
          </a:p>
        </p:txBody>
      </p:sp>
      <p:sp>
        <p:nvSpPr>
          <p:cNvPr id="7"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800"/>
              </a:spcAft>
              <a:buNone/>
            </a:pPr>
            <a:r>
              <a:rPr lang="en-US" sz="2300" b="1" dirty="0">
                <a:solidFill>
                  <a:schemeClr val="tx1"/>
                </a:solidFill>
              </a:rPr>
              <a:t>1</a:t>
            </a:r>
            <a:r>
              <a:rPr lang="en-US" sz="2300" dirty="0">
                <a:solidFill>
                  <a:schemeClr val="tx1"/>
                </a:solidFill>
              </a:rPr>
              <a:t> · Ik woon in een appartement met twee slaapkamers in Vorst.</a:t>
            </a:r>
            <a:endParaRPr lang="en-US" sz="2300" dirty="0"/>
          </a:p>
          <a:p>
            <a:pPr indent="0" marL="0">
              <a:spcAft>
                <a:spcPts val="800"/>
              </a:spcAft>
              <a:buNone/>
            </a:pPr>
            <a:r>
              <a:rPr lang="en-US" sz="2300" b="1" dirty="0">
                <a:solidFill>
                  <a:schemeClr val="tx1"/>
                </a:solidFill>
              </a:rPr>
              <a:t>2</a:t>
            </a:r>
            <a:r>
              <a:rPr lang="en-US" sz="2300" dirty="0">
                <a:solidFill>
                  <a:schemeClr val="tx1"/>
                </a:solidFill>
              </a:rPr>
              <a:t> · Mijn appartement ligt vlak bij de halte van de tram.</a:t>
            </a:r>
            <a:endParaRPr lang="en-US" sz="2300" dirty="0"/>
          </a:p>
          <a:p>
            <a:pPr indent="0" marL="0">
              <a:spcAft>
                <a:spcPts val="800"/>
              </a:spcAft>
              <a:buNone/>
            </a:pPr>
            <a:r>
              <a:rPr lang="en-US" sz="2300" b="1" dirty="0">
                <a:solidFill>
                  <a:schemeClr val="tx1"/>
                </a:solidFill>
              </a:rPr>
              <a:t>3</a:t>
            </a:r>
            <a:r>
              <a:rPr lang="en-US" sz="2300" dirty="0">
                <a:solidFill>
                  <a:schemeClr val="tx1"/>
                </a:solidFill>
              </a:rPr>
              <a:t> · Om de hoek zijn een bakkerij, een supermarkt en een park.</a:t>
            </a:r>
            <a:endParaRPr lang="en-US" sz="2300" dirty="0"/>
          </a:p>
          <a:p>
            <a:pPr indent="0" marL="0">
              <a:spcAft>
                <a:spcPts val="800"/>
              </a:spcAft>
              <a:buNone/>
            </a:pPr>
            <a:r>
              <a:rPr lang="en-US" sz="2300" b="1" dirty="0">
                <a:solidFill>
                  <a:schemeClr val="tx1"/>
                </a:solidFill>
              </a:rPr>
              <a:t>4</a:t>
            </a:r>
            <a:r>
              <a:rPr lang="en-US" sz="2300" dirty="0">
                <a:solidFill>
                  <a:schemeClr val="tx1"/>
                </a:solidFill>
              </a:rPr>
              <a:t> · Met de buren kan ik goed overweg: ze zijn vriendelijk en rustig.</a:t>
            </a:r>
            <a:endParaRPr lang="en-US" sz="2300" dirty="0"/>
          </a:p>
          <a:p>
            <a:pPr indent="0" marL="0">
              <a:spcAft>
                <a:spcPts val="800"/>
              </a:spcAft>
              <a:buNone/>
            </a:pPr>
            <a:r>
              <a:rPr lang="en-US" sz="2300" b="1" dirty="0">
                <a:solidFill>
                  <a:schemeClr val="tx1"/>
                </a:solidFill>
              </a:rPr>
              <a:t>5</a:t>
            </a:r>
            <a:r>
              <a:rPr lang="en-US" sz="2300" dirty="0">
                <a:solidFill>
                  <a:schemeClr val="tx1"/>
                </a:solidFill>
              </a:rPr>
              <a:t> · Pluspunt: het is hier gezellig. Minpunt: er is weinig parking.</a:t>
            </a:r>
            <a:endParaRPr lang="en-US" sz="2300" dirty="0"/>
          </a:p>
        </p:txBody>
      </p:sp>
      <p:sp>
        <p:nvSpPr>
          <p:cNvPr id="8" name="aside"/>
          <p:cNvSpPr/>
          <p:nvPr/>
        </p:nvSpPr>
        <p:spPr>
          <a:xfrm>
            <a:off x="8074152" y="1481328"/>
            <a:ext cx="3566160" cy="4809744"/>
          </a:xfrm>
          <a:prstGeom prst="roundRect">
            <a:avLst>
              <a:gd name="adj" fmla="val 2051"/>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0" name="Text 6"/>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5 phrases</a:t>
            </a:r>
            <a:r>
              <a:rPr lang="en-US" sz="1800" dirty="0">
                <a:solidFill>
                  <a:schemeClr val="tx1"/>
                </a:solidFill>
              </a:rPr>
              <a:t> complètes, vraies pour vous.</a:t>
            </a:r>
            <a:endParaRPr lang="en-US" sz="1800" dirty="0"/>
          </a:p>
          <a:p>
            <a:pPr marL="177800" indent="-177800">
              <a:spcAft>
                <a:spcPts val="600"/>
              </a:spcAft>
              <a:buSzPct val="100000"/>
              <a:buChar char="•"/>
            </a:pPr>
            <a:r>
              <a:rPr lang="en-US" sz="1800" dirty="0">
                <a:solidFill>
                  <a:schemeClr val="tx1"/>
                </a:solidFill>
              </a:rPr>
              <a:t>Au moins </a:t>
            </a:r>
            <a:r>
              <a:rPr lang="en-US" sz="1800" b="1" dirty="0">
                <a:solidFill>
                  <a:schemeClr val="tx1"/>
                </a:solidFill>
              </a:rPr>
              <a:t>3 lieux</a:t>
            </a:r>
            <a:r>
              <a:rPr lang="en-US" sz="1800" dirty="0">
                <a:solidFill>
                  <a:schemeClr val="tx1"/>
                </a:solidFill>
              </a:rPr>
              <a:t> du quartier + </a:t>
            </a:r>
            <a:r>
              <a:rPr lang="en-US" sz="1800" b="1" dirty="0">
                <a:solidFill>
                  <a:schemeClr val="tx1"/>
                </a:solidFill>
              </a:rPr>
              <a:t>une expression</a:t>
            </a:r>
            <a:r>
              <a:rPr lang="en-US" sz="1800" dirty="0">
                <a:solidFill>
                  <a:schemeClr val="tx1"/>
                </a:solidFill>
              </a:rPr>
              <a:t> du tableau.</a:t>
            </a:r>
            <a:endParaRPr lang="en-US" sz="1800" dirty="0"/>
          </a:p>
          <a:p>
            <a:pPr marL="177800" indent="-177800">
              <a:spcAft>
                <a:spcPts val="600"/>
              </a:spcAft>
              <a:buSzPct val="100000"/>
              <a:buChar char="•"/>
            </a:pPr>
            <a:r>
              <a:rPr lang="en-US" sz="1800" dirty="0">
                <a:solidFill>
                  <a:schemeClr val="tx1"/>
                </a:solidFill>
              </a:rPr>
              <a:t>Verbe en </a:t>
            </a:r>
            <a:r>
              <a:rPr lang="en-US" sz="1800" b="1" dirty="0">
                <a:solidFill>
                  <a:schemeClr val="tx1"/>
                </a:solidFill>
              </a:rPr>
              <a:t>2e position</a:t>
            </a:r>
            <a:r>
              <a:rPr lang="en-US" sz="1800" dirty="0">
                <a:solidFill>
                  <a:schemeClr val="tx1"/>
                </a:solidFill>
              </a:rPr>
              <a:t> (</a:t>
            </a:r>
            <a:r>
              <a:rPr lang="en-US" sz="1800" i="1" dirty="0">
                <a:solidFill>
                  <a:schemeClr val="tx1"/>
                </a:solidFill>
              </a:rPr>
              <a:t>Om de hoek </a:t>
            </a:r>
            <a:r>
              <a:rPr lang="en-US" sz="1800" b="1" i="1" dirty="0">
                <a:solidFill>
                  <a:schemeClr val="tx1"/>
                </a:solidFill>
              </a:rPr>
              <a:t>zijn</a:t>
            </a:r>
            <a:r>
              <a:rPr lang="en-US" sz="1800" i="1" dirty="0">
                <a:solidFill>
                  <a:schemeClr val="tx1"/>
                </a:solidFill>
              </a:rPr>
              <a:t> een…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Couche 2 · par deux · 10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2 : </a:t>
            </a:r>
            <a:r>
              <a:rPr lang="en-US" sz="2400" b="1" i="1" dirty="0">
                <a:solidFill>
                  <a:schemeClr val="bg1"/>
                </a:solidFill>
                <a:latin typeface="+mj-lt" pitchFamily="34" charset="0"/>
                <a:ea typeface="+mj-lt" pitchFamily="34" charset="-122"/>
                <a:cs typeface="+mj-lt" pitchFamily="34" charset="-120"/>
              </a:rPr>
              <a:t>die</a:t>
            </a:r>
            <a:r>
              <a:rPr lang="en-US" sz="2400" i="1" dirty="0">
                <a:solidFill>
                  <a:schemeClr val="bg1"/>
                </a:solidFill>
                <a:latin typeface="+mj-lt" pitchFamily="34" charset="0"/>
                <a:ea typeface="+mj-lt" pitchFamily="34" charset="-122"/>
                <a:cs typeface="+mj-lt" pitchFamily="34" charset="-120"/>
              </a:rPr>
              <a:t> ou </a:t>
            </a:r>
            <a:r>
              <a:rPr lang="en-US" sz="2400" b="1" i="1" dirty="0">
                <a:solidFill>
                  <a:schemeClr val="bg1"/>
                </a:solidFill>
                <a:latin typeface="+mj-lt" pitchFamily="34" charset="0"/>
                <a:ea typeface="+mj-lt" pitchFamily="34" charset="-122"/>
                <a:cs typeface="+mj-lt" pitchFamily="34" charset="-120"/>
              </a:rPr>
              <a:t>dat</a:t>
            </a:r>
            <a:r>
              <a:rPr lang="en-US" sz="2400" i="1" dirty="0">
                <a:solidFill>
                  <a:schemeClr val="bg1"/>
                </a:solidFill>
                <a:latin typeface="+mj-lt" pitchFamily="34" charset="0"/>
                <a:ea typeface="+mj-lt" pitchFamily="34" charset="-122"/>
                <a:cs typeface="+mj-lt" pitchFamily="34" charset="-120"/>
              </a:rPr>
              <a:t> ? Décrire un bien avec des </a:t>
            </a:r>
            <a:r>
              <a:rPr lang="en-US" sz="2400" b="1" i="1" dirty="0">
                <a:solidFill>
                  <a:schemeClr val="bg1"/>
                </a:solidFill>
                <a:latin typeface="+mj-lt" pitchFamily="34" charset="0"/>
                <a:ea typeface="+mj-lt" pitchFamily="34" charset="-122"/>
                <a:cs typeface="+mj-lt" pitchFamily="34" charset="-120"/>
              </a:rPr>
              <a:t>relatives</a:t>
            </a:r>
            <a:r>
              <a:rPr lang="en-US" sz="2400" i="1" dirty="0">
                <a:solidFill>
                  <a:schemeClr val="bg1"/>
                </a:solidFill>
                <a:latin typeface="+mj-lt" pitchFamily="34" charset="0"/>
                <a:ea typeface="+mj-lt" pitchFamily="34" charset="-122"/>
                <a:cs typeface="+mj-lt" pitchFamily="34" charset="-120"/>
              </a:rPr>
              <a:t> — et rédiger </a:t>
            </a:r>
            <a:r>
              <a:rPr lang="en-US" sz="2400" b="1" i="1" dirty="0">
                <a:solidFill>
                  <a:schemeClr val="bg1"/>
                </a:solidFill>
                <a:latin typeface="+mj-lt" pitchFamily="34" charset="0"/>
                <a:ea typeface="+mj-lt" pitchFamily="34" charset="-122"/>
                <a:cs typeface="+mj-lt" pitchFamily="34" charset="-120"/>
              </a:rPr>
              <a:t>votre premier zoekertje</a:t>
            </a:r>
            <a:r>
              <a:rPr lang="en-US" sz="2400" i="1" dirty="0">
                <a:solidFill>
                  <a:schemeClr val="bg1"/>
                </a:solidFill>
                <a:latin typeface="+mj-lt" pitchFamily="34" charset="0"/>
                <a:ea typeface="+mj-lt" pitchFamily="34" charset="-122"/>
                <a:cs typeface="+mj-lt" pitchFamily="34" charset="-120"/>
              </a:rPr>
              <a:t> (annonce immobilière).</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Relire les </a:t>
            </a:r>
            <a:r>
              <a:rPr lang="en-US" sz="1700" b="1" dirty="0">
                <a:solidFill>
                  <a:schemeClr val="tx1"/>
                </a:solidFill>
              </a:rPr>
              <a:t>deux dialogues</a:t>
            </a:r>
            <a:r>
              <a:rPr lang="en-US" sz="1700" dirty="0">
                <a:solidFill>
                  <a:schemeClr val="tx1"/>
                </a:solidFill>
              </a:rPr>
              <a:t> (p. 2 et 2a) à voix haute.</a:t>
            </a:r>
            <a:endParaRPr lang="en-US" sz="1700" dirty="0"/>
          </a:p>
          <a:p>
            <a:pPr marL="190500" indent="-190500">
              <a:spcAft>
                <a:spcPts val="800"/>
              </a:spcAft>
              <a:buSzPct val="100000"/>
              <a:buChar char="•"/>
            </a:pPr>
            <a:r>
              <a:rPr lang="en-US" sz="1700" dirty="0">
                <a:solidFill>
                  <a:schemeClr val="tx1"/>
                </a:solidFill>
              </a:rPr>
              <a:t>Apprendre la </a:t>
            </a:r>
            <a:r>
              <a:rPr lang="en-US" sz="1700" b="1" dirty="0">
                <a:solidFill>
                  <a:schemeClr val="tx1"/>
                </a:solidFill>
              </a:rPr>
              <a:t>mindmap</a:t>
            </a:r>
            <a:r>
              <a:rPr lang="en-US" sz="1700" dirty="0">
                <a:solidFill>
                  <a:schemeClr val="tx1"/>
                </a:solidFill>
              </a:rPr>
              <a:t> : 5 mots par branche </a:t>
            </a:r>
            <a:r>
              <a:rPr lang="en-US" sz="1700" b="1" dirty="0">
                <a:solidFill>
                  <a:schemeClr val="tx1"/>
                </a:solidFill>
              </a:rPr>
              <a:t>avec de/het</a:t>
            </a:r>
            <a:r>
              <a:rPr lang="en-US" sz="1700" dirty="0">
                <a:solidFill>
                  <a:schemeClr val="tx1"/>
                </a:solidFill>
              </a:rPr>
              <a:t> (p. 4).</a:t>
            </a:r>
            <a:endParaRPr lang="en-US" sz="1700" dirty="0"/>
          </a:p>
          <a:p>
            <a:pPr marL="190500" indent="-190500">
              <a:spcAft>
                <a:spcPts val="800"/>
              </a:spcAft>
              <a:buSzPct val="100000"/>
              <a:buChar char="•"/>
            </a:pPr>
            <a:r>
              <a:rPr lang="en-US" sz="1700" dirty="0">
                <a:solidFill>
                  <a:schemeClr val="tx1"/>
                </a:solidFill>
              </a:rPr>
              <a:t>Terminer la fiche </a:t>
            </a:r>
            <a:r>
              <a:rPr lang="en-US" sz="1700" b="1" dirty="0">
                <a:solidFill>
                  <a:schemeClr val="tx1"/>
                </a:solidFill>
              </a:rPr>
              <a:t>D1</a:t>
            </a:r>
            <a:r>
              <a:rPr lang="en-US" sz="1700" dirty="0">
                <a:solidFill>
                  <a:schemeClr val="tx1"/>
                </a:solidFill>
              </a:rPr>
              <a:t> : 5 phrases sur votre quartier (p. 6a).</a:t>
            </a:r>
            <a:endParaRPr lang="en-US" sz="1700" dirty="0"/>
          </a:p>
          <a:p>
            <a:pPr marL="190500" indent="-190500">
              <a:spcAft>
                <a:spcPts val="800"/>
              </a:spcAft>
              <a:buSzPct val="100000"/>
              <a:buChar char="•"/>
            </a:pPr>
            <a:r>
              <a:rPr lang="en-US" sz="1700" dirty="0">
                <a:solidFill>
                  <a:schemeClr val="tx1"/>
                </a:solidFill>
              </a:rPr>
              <a:t>Rejouer la </a:t>
            </a:r>
            <a:r>
              <a:rPr lang="en-US" sz="1700" b="1" dirty="0">
                <a:solidFill>
                  <a:schemeClr val="tx1"/>
                </a:solidFill>
              </a:rPr>
              <a:t>TAAK 1</a:t>
            </a:r>
            <a:r>
              <a:rPr lang="en-US" sz="1700" dirty="0">
                <a:solidFill>
                  <a:schemeClr val="tx1"/>
                </a:solidFill>
              </a:rPr>
              <a:t> avec une autre carte de situation.</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Vous êtes un client qui appelle l’agence : dites </a:t>
            </a:r>
            <a:r>
              <a:rPr lang="en-US" sz="1600" b="1" dirty="0">
                <a:solidFill>
                  <a:schemeClr val="bg1"/>
                </a:solidFill>
              </a:rPr>
              <a:t>deux phrases</a:t>
            </a:r>
            <a:r>
              <a:rPr lang="en-US" sz="1600" dirty="0">
                <a:solidFill>
                  <a:schemeClr val="bg1"/>
                </a:solidFill>
              </a:rPr>
              <a:t> pour présenter votre recherche (</a:t>
            </a:r>
            <a:r>
              <a:rPr lang="en-US" sz="1600" i="1" dirty="0">
                <a:solidFill>
                  <a:schemeClr val="bg1"/>
                </a:solidFill>
              </a:rPr>
              <a:t>Ik zoek een… in…, met… slaapkamers.</a:t>
            </a:r>
            <a:r>
              <a:rPr lang="en-US" sz="1600" dirty="0">
                <a:solidFill>
                  <a:schemeClr val="bg1"/>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01 — Het vastgoedkantoor</dc:title>
  <dc:subject>Néerlandais B1 — immobilier et vie quotidienne (Yasmina &amp; Stef)</dc:subject>
  <dc:creator>A. Jouniaux</dc:creator>
  <cp:lastModifiedBy>A. Jouniaux</cp:lastModifiedBy>
  <cp:revision>1</cp:revision>
  <dcterms:created xsi:type="dcterms:W3CDTF">2026-10-03T21:59:50Z</dcterms:created>
  <dcterms:modified xsi:type="dcterms:W3CDTF">2026-10-03T21:59:50Z</dcterms:modified>
</cp:coreProperties>
</file>