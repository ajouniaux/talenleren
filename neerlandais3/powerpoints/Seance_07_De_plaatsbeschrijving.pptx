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49e3960-5a5a-f2ac-7ad6-0ebf89d2385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1ead1197-d5fd-78ad-da77-4edd3f9558c5}">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séquence 6.2 : l’imperfectum, jusqu’ici reconnu, devient actif. On lit un état des lieux d’entrée (ex. 4), on conjugue (ex. 5), on rédige l’état des lieux de sortie (TAAK 2), puis l’activité D2 « Verloren voorwerpen » applique la même règle à la vie quotidienne (le portefeuille de Stef). Pages couvertes : p. 8 à 10a du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Pages 8 à 10a du livret. Les formes de l’imperfectum (réguliers, forts) sont rappelées en tableaux car le livret suppose l’acquis du palier 4 ; le tableau des verbes forts sert de référence pour l’exercice 5 et la TAAK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6 : verbes séparables du métier et huren / verhuren. 6 minutes en tout. Faire traduire à l’oral phrase par phrase, puis projeter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une erreur de particule apparaît (« Wij opstellen de plaatsbeschrijving »), refaire la règle : verbe conjugué en 2e position, particule à la fin de la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palier 4, l’imperfectum devait seulement être reconnu ; ici il doit être produit. Réponse : belde (bellen) est régulier (stam bel + de) ; langsging (langsgaan), was (zijn) et had (hebben) sont forts ou irréguliers. Demander aussi : « Quelle est la différence entre « De huurder belde » et « De huurder heeft gebeld » ? » → même fait ; l’imperfectum est typique de l’écrit professionnel et du récit.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palier 4 en 3 minutes : trouver la dernière lettre du stam, vérifier si elle est dans « ’t kofschip » (t, k, f, s, ch, p). Les verbes de l’état des lieux sont presque tous réguliers : werkte, druppelde, functioneerde, vernieuwde. Faire conjuguer oralement un verbe par étudiant.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de référence pour les exercices 4, 5 et la TAAK 2. Faire remarquer : singulier et pluriel diffèrent (was / waren, had / hadden), alors qu’au présent le français change à chaque personne. Pour le verbe séparable : en principale la particule part en fin de phrase (Ik ging gisteravond langs), en subordonnée elle se soude (toen ik langsging).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règles en une : (1) dans la subordonnée en toen, le verbe est à la fin (uitstapte, langsging) ; (2) la principale qui suit commence par le verbe (was hij weg). Même mécanique que ’s Morgens werk ik (palier 1). Faire construire une phrase à partir de « Toen de huurder belde,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à connaître avant la lecture (ex. 4) et la TAAK 2. Un seul mot en het dans la liste : het bad, het toestel (de de-woorden dominent). Faire répéter et demander une phrase à l’imperfectum par mot : « De kraan druppelde. », « De deur sloot niet goed. ». « bij intrede / bij uittrede » : expressions figées de l’état des lieux belge.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Compréhension de l’écrit : lire comme un professionnel. Modalités : lecture silencieuse 3 min, soulignement des imperfectums, puis mise en commun. L’illustration montre l’état des lieux d’entrée (badkamer, keuken, meterstanden et sleutels). Remarque : « De muren waren wit geschilderd » associe waren et le participe (état) ; ne pas la traiter comme un imperfectum ordinaire.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le robinet qui goutte en 2023 est l’indice le plus direct ; on peut accepter aussi « de verluchting stond op de laagste stand » (humidité). Question 2 : werd est exclu du classement (passif). Question 3 : accepter toute hypothèse raisonnable (« c’est une forme passive », « la cuisine a été refaite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Reprendre au tableau les deux colonnes : réguliers (werkte, druppelde, functioneerden) et forts ou irréguliers (waren, stond, had, ontving). Signaler que « werd … vernieuwd » sera expliqué à la séquence 6.5 (séance 10). Incohérence du livret : le dialogue (p. 2) dit « vorig jaar » alors que l’état des lieux date la rénovation de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5 du livret : 8 minutes en autonomie, puis correction orale. Phrase 5 : deux verbes dans la même phrase (konden / was) ; on peut aussi accepter « Wij konden de kelder niet bezoeken, want de sleutel was kwijt ». Les verbes forts sont dans le tableau de référence (diapositive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5 du livret : 8 minutes en autonomie, puis correction orale. Phrase 5 : deux verbes dans la même phrase (konden / was) ; on peut aussi accepter « Wij konden de kelder niet bezoeken, want de sleutel was kwijt ». Les verbes forts sont dans le tableau de référence (diapositive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Tâche écrite : 10 min de rédaction seul, 4 min de relecture croisée. Le binôme vérifie chaque imperfectum (régulier ou fort ?) et le contraste entrée / sortie. Pour l’état d’entrée, les étudiants s’appuient sur le texte de l’exercice 4 (p. 9). L’oven n’est pas décrit dans le texte d’entrée (« alle toestellen functioneerden ») : on peut écrire « Bij intrede functioneerde de oven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10 phrases : à projeter après la rédaction, pas comme corrigé unique. Les étudiants doivent aussi accepter des variantes (« vertoont » peut être remplacé par « heeft »). Points de langue : « Bij uittrede vertoont de muur » est la tournure du livret ; « er is geen nieuwe schade » (er is + indéfini) ; accord was / waren (de meterstanden waren).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 même réflexe que l’état des lieux — décrire ce qui ÉTAIT (imperfectum), raconter ce qui S’EST PASSÉ (perfectum). Lecture du formulaire, puis les deux questions en binôme (5 min). C’est le lundi de la semaine de malchance de Stef (cf. l’Avonddialoog, séance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perfectum « heb … laten blokkeren » raconte une action ponctuelle ; l’imperfectum décrit la situation (rits kapot, druk, stond, zat). « Toen ik uitstapte » : l’imperfectum après toen sert de repère ponctuel. Cette règle de l’inversion est celle de la diapositive « Toen ik langsging, was de muur nat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perfectum « heb … laten blokkeren » raconte une action ponctuelle ; l’imperfectum décrit la situation (rits kapot, druk, stond, zat). « Toen ik uitstapte » : l’imperfectum après toen sert de repère ponctuel. Cette règle de l’inversion est celle de la diapositive « Toen ik langsging, was de muur nat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Expressions à réutiliser dans la production qui suit. « Er zat een laptop in » : zitten à l’imperfectum pour « se trouver à l’intérieur ». « een gsm » : en Belgique, le téléphone portable. « Welke kleur had hij ? » : l’employé pose des questions à l’imperfectum.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pas de correction unique : passer dans les rangs, vérifier les imperfectums (was, zat, had, stond), l’inversion après toen et le perfectum (heb … laten liggen). Le modèle compte quatre imperfectums (was, zat, stapte, was), un perfectum et une phrase en toen. Le binôme joue l’employé : il pose deux questions (Welke kleur had hij ? Wat zat erin ?) et note les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oral ou écrit (5 min) : il fait pratiquer la structure clé de la séquence (toen + imperfectum, inversion). Accepter l’ordre inverse : « De huurder was er niet toen ik aankwam » (même sens, pas d’inversion).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oral ou écrit (5 min) : il fait pratiquer la structure clé de la séquence (toen + imperfectum, inversion). Accepter l’ordre inverse : « De huurder was er niet toen ik aankwam » (même sens, pas d’inversion).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 une phrase par étudiant (« Vroeger had mijn badkamer een bad. »). Vérifier le choix régulier / fort et l’accord was / waren.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07</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07</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07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6.2</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De plaatsbeschrijving</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L’imperfectum activé — décrire l’état des lieux au passé</a:t>
            </a:r>
            <a:endParaRPr lang="en-US" sz="1800" dirty="0"/>
          </a:p>
          <a:p>
            <a:pPr algn="l" indent="0" marL="0">
              <a:buNone/>
            </a:pPr>
            <a:r>
              <a:rPr lang="en-US" sz="1800" b="1" dirty="0">
                <a:solidFill>
                  <a:schemeClr val="bg2"/>
                </a:solidFill>
              </a:rPr>
              <a:t>Palier 6 · Verhuur en beheer</a:t>
            </a:r>
            <a:endParaRPr lang="en-US" sz="1800" dirty="0"/>
          </a:p>
          <a:p>
            <a:pPr algn="l" indent="0" marL="0">
              <a:buNone/>
            </a:pPr>
            <a:r>
              <a:rPr lang="en-US" sz="1800" dirty="0">
                <a:solidFill>
                  <a:schemeClr val="bg2"/>
                </a:solidFill>
              </a:rPr>
              <a:t>Livret p. 8–10a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0410"/>
            <a:ext cx="5120640" cy="3417181"/>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8–10a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800" dirty="0">
                <a:solidFill>
                  <a:schemeClr val="tx1"/>
                </a:solidFill>
              </a:rPr>
              <a:t>Décrire un </a:t>
            </a:r>
            <a:r>
              <a:rPr lang="en-US" sz="1800" b="1" dirty="0">
                <a:solidFill>
                  <a:schemeClr val="tx1"/>
                </a:solidFill>
              </a:rPr>
              <a:t>état passé</a:t>
            </a:r>
            <a:r>
              <a:rPr lang="en-US" sz="1800" dirty="0">
                <a:solidFill>
                  <a:schemeClr val="tx1"/>
                </a:solidFill>
              </a:rPr>
              <a:t> (appartement, objet perdu) à l’</a:t>
            </a:r>
            <a:r>
              <a:rPr lang="en-US" sz="1800" b="1" dirty="0">
                <a:solidFill>
                  <a:schemeClr val="tx1"/>
                </a:solidFill>
              </a:rPr>
              <a:t>imperfectum</a:t>
            </a:r>
            <a:r>
              <a:rPr lang="en-US" sz="1800" dirty="0">
                <a:solidFill>
                  <a:schemeClr val="tx1"/>
                </a:solidFill>
              </a:rPr>
              <a:t> et rédiger un </a:t>
            </a:r>
            <a:r>
              <a:rPr lang="en-US" sz="1800" b="1" dirty="0">
                <a:solidFill>
                  <a:schemeClr val="tx1"/>
                </a:solidFill>
              </a:rPr>
              <a:t>état des lieux</a:t>
            </a:r>
            <a:r>
              <a:rPr lang="en-US" sz="1800" dirty="0">
                <a:solidFill>
                  <a:schemeClr val="tx1"/>
                </a:solidFill>
              </a:rPr>
              <a:t> d’entrée et de sortie.</a:t>
            </a:r>
            <a:endParaRPr lang="en-US" sz="18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500" i="1" dirty="0">
                <a:solidFill>
                  <a:schemeClr val="tx1"/>
                </a:solidFill>
              </a:rPr>
              <a:t>was · waren · had · hadden · kon · stond · sloot · werkte · druppelde</a:t>
            </a:r>
            <a:r>
              <a:rPr lang="en-US" sz="1500" dirty="0">
                <a:solidFill>
                  <a:schemeClr val="tx1"/>
                </a:solidFill>
              </a:rPr>
              <a:t> — </a:t>
            </a:r>
            <a:r>
              <a:rPr lang="en-US" sz="1500" i="1" dirty="0">
                <a:solidFill>
                  <a:schemeClr val="tx1"/>
                </a:solidFill>
              </a:rPr>
              <a:t>Toen ik langsging, was de muur nat.</a:t>
            </a:r>
            <a:r>
              <a:rPr lang="en-US" sz="1500" dirty="0">
                <a:solidFill>
                  <a:schemeClr val="tx1"/>
                </a:solidFill>
              </a:rPr>
              <a:t> — </a:t>
            </a:r>
            <a:r>
              <a:rPr lang="en-US" sz="1500" i="1" dirty="0">
                <a:solidFill>
                  <a:schemeClr val="tx1"/>
                </a:solidFill>
              </a:rPr>
              <a:t>Bij intrede… · Bij uittrede…</a:t>
            </a:r>
            <a:endParaRPr lang="en-US" sz="15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500" dirty="0">
                <a:solidFill>
                  <a:schemeClr val="tx1"/>
                </a:solidFill>
              </a:rPr>
              <a:t>Lire un état des lieux · conjuguer l’imperfectum (réguliers, forts) · contraster entrée et sortie · remplir un formulaire d’objet perdu</a:t>
            </a:r>
            <a:endParaRPr lang="en-US" sz="15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séance 6 : lexique</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6'</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6.2 · les formes de l’imperfectum</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Toen + imperfectum · woordenschat</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4 Lezen : plaatsbeschrijving</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5 · bonus toen</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2 · de uittrede</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D2 · Verloren voorwerpen</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17'</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6 : le lexique de la location</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6</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Traduisez — seul,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 Le locataire résilie le contrat. »</a:t>
            </a:r>
            <a:endParaRPr lang="en-US" sz="2600" dirty="0"/>
          </a:p>
          <a:p>
            <a:pPr indent="0" marL="0">
              <a:spcAft>
                <a:spcPts val="1400"/>
              </a:spcAft>
              <a:buNone/>
            </a:pPr>
            <a:r>
              <a:rPr lang="en-US" sz="2600" b="1" dirty="0">
                <a:solidFill>
                  <a:schemeClr val="tx2"/>
                </a:solidFill>
              </a:rPr>
              <a:t>2.  </a:t>
            </a:r>
            <a:r>
              <a:rPr lang="en-US" sz="2600" dirty="0">
                <a:solidFill>
                  <a:schemeClr val="tx1"/>
                </a:solidFill>
              </a:rPr>
              <a:t>« Nous établissons l’état des lieux. »</a:t>
            </a:r>
            <a:endParaRPr lang="en-US" sz="2600" dirty="0"/>
          </a:p>
          <a:p>
            <a:pPr indent="0" marL="0">
              <a:spcAft>
                <a:spcPts val="1400"/>
              </a:spcAft>
              <a:buNone/>
            </a:pPr>
            <a:r>
              <a:rPr lang="en-US" sz="2600" b="1" dirty="0">
                <a:solidFill>
                  <a:schemeClr val="tx2"/>
                </a:solidFill>
              </a:rPr>
              <a:t>3.  </a:t>
            </a:r>
            <a:r>
              <a:rPr lang="en-US" sz="2600" dirty="0">
                <a:solidFill>
                  <a:schemeClr val="tx1"/>
                </a:solidFill>
              </a:rPr>
              <a:t>« Je relève les compteurs. »</a:t>
            </a:r>
            <a:endParaRPr lang="en-US" sz="2600" dirty="0"/>
          </a:p>
          <a:p>
            <a:pPr indent="0" marL="0">
              <a:spcAft>
                <a:spcPts val="1400"/>
              </a:spcAft>
              <a:buNone/>
            </a:pPr>
            <a:r>
              <a:rPr lang="en-US" sz="2600" b="1" dirty="0">
                <a:solidFill>
                  <a:schemeClr val="tx2"/>
                </a:solidFill>
              </a:rPr>
              <a:t>4.  </a:t>
            </a:r>
            <a:r>
              <a:rPr lang="en-US" sz="2600" dirty="0">
                <a:solidFill>
                  <a:schemeClr val="tx1"/>
                </a:solidFill>
              </a:rPr>
              <a:t>« Le propriétaire met l’appartement en location. »</a:t>
            </a:r>
            <a:endParaRPr lang="en-US" sz="2600" dirty="0"/>
          </a:p>
          <a:p>
            <a:pPr indent="0" marL="0">
              <a:spcAft>
                <a:spcPts val="1400"/>
              </a:spcAft>
              <a:buNone/>
            </a:pPr>
            <a:r>
              <a:rPr lang="en-US" sz="2600" b="1" dirty="0">
                <a:solidFill>
                  <a:schemeClr val="tx2"/>
                </a:solidFill>
              </a:rPr>
              <a:t>5.  </a:t>
            </a:r>
            <a:r>
              <a:rPr lang="en-US" sz="2600" dirty="0">
                <a:solidFill>
                  <a:schemeClr val="tx1"/>
                </a:solidFill>
              </a:rPr>
              <a:t>« Qui paie la réparation ?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6 : le lexique de la location</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6</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Traduisez — seul,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a:t>
            </a:r>
            <a:r>
              <a:rPr lang="en-US" sz="1800" dirty="0">
                <a:solidFill>
                  <a:schemeClr val="tx1"/>
                </a:solidFill>
              </a:rPr>
              <a:t>« Le locataire résilie le contrat.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huurder </a:t>
            </a:r>
            <a:r>
              <a:rPr lang="en-US" sz="1800" b="1" dirty="0">
                <a:solidFill>
                  <a:schemeClr val="accent3"/>
                </a:solidFill>
              </a:rPr>
              <a:t>zegt</a:t>
            </a:r>
            <a:r>
              <a:rPr lang="en-US" sz="1800" dirty="0">
                <a:solidFill>
                  <a:schemeClr val="accent3"/>
                </a:solidFill>
              </a:rPr>
              <a:t> het huurcontract </a:t>
            </a:r>
            <a:r>
              <a:rPr lang="en-US" sz="1800" b="1" dirty="0">
                <a:solidFill>
                  <a:schemeClr val="accent3"/>
                </a:solidFill>
              </a:rPr>
              <a:t>op</a:t>
            </a:r>
            <a:r>
              <a:rPr lang="en-US" sz="1800" dirty="0">
                <a:solidFill>
                  <a:schemeClr val="accent3"/>
                </a:solidFill>
              </a:rPr>
              <a:t>.</a:t>
            </a:r>
            <a:endParaRPr lang="en-US" sz="1800" dirty="0"/>
          </a:p>
          <a:p>
            <a:pPr indent="0" marL="0">
              <a:spcAft>
                <a:spcPts val="400"/>
              </a:spcAft>
              <a:buNone/>
            </a:pPr>
            <a:r>
              <a:rPr lang="en-US" sz="1800" b="1" dirty="0">
                <a:solidFill>
                  <a:schemeClr val="tx2"/>
                </a:solidFill>
              </a:rPr>
              <a:t>2.  </a:t>
            </a:r>
            <a:r>
              <a:rPr lang="en-US" sz="1800" dirty="0">
                <a:solidFill>
                  <a:schemeClr val="tx1"/>
                </a:solidFill>
              </a:rPr>
              <a:t>« Nous établissons l’état des lieux.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Wij </a:t>
            </a:r>
            <a:r>
              <a:rPr lang="en-US" sz="1800" b="1" dirty="0">
                <a:solidFill>
                  <a:schemeClr val="accent3"/>
                </a:solidFill>
              </a:rPr>
              <a:t>stellen</a:t>
            </a:r>
            <a:r>
              <a:rPr lang="en-US" sz="1800" dirty="0">
                <a:solidFill>
                  <a:schemeClr val="accent3"/>
                </a:solidFill>
              </a:rPr>
              <a:t> de plaatsbeschrijving </a:t>
            </a:r>
            <a:r>
              <a:rPr lang="en-US" sz="1800" b="1" dirty="0">
                <a:solidFill>
                  <a:schemeClr val="accent3"/>
                </a:solidFill>
              </a:rPr>
              <a:t>op</a:t>
            </a:r>
            <a:r>
              <a:rPr lang="en-US" sz="1800" dirty="0">
                <a:solidFill>
                  <a:schemeClr val="accent3"/>
                </a:solidFill>
              </a:rPr>
              <a:t>.</a:t>
            </a:r>
            <a:endParaRPr lang="en-US" sz="1800" dirty="0"/>
          </a:p>
          <a:p>
            <a:pPr indent="0" marL="0">
              <a:spcAft>
                <a:spcPts val="400"/>
              </a:spcAft>
              <a:buNone/>
            </a:pPr>
            <a:r>
              <a:rPr lang="en-US" sz="1800" b="1" dirty="0">
                <a:solidFill>
                  <a:schemeClr val="tx2"/>
                </a:solidFill>
              </a:rPr>
              <a:t>3.  </a:t>
            </a:r>
            <a:r>
              <a:rPr lang="en-US" sz="1800" dirty="0">
                <a:solidFill>
                  <a:schemeClr val="tx1"/>
                </a:solidFill>
              </a:rPr>
              <a:t>« Je relève les compteurs.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Ik </a:t>
            </a:r>
            <a:r>
              <a:rPr lang="en-US" sz="1800" b="1" dirty="0">
                <a:solidFill>
                  <a:schemeClr val="accent3"/>
                </a:solidFill>
              </a:rPr>
              <a:t>neem</a:t>
            </a:r>
            <a:r>
              <a:rPr lang="en-US" sz="1800" dirty="0">
                <a:solidFill>
                  <a:schemeClr val="accent3"/>
                </a:solidFill>
              </a:rPr>
              <a:t> de meterstanden </a:t>
            </a:r>
            <a:r>
              <a:rPr lang="en-US" sz="1800" b="1" dirty="0">
                <a:solidFill>
                  <a:schemeClr val="accent3"/>
                </a:solidFill>
              </a:rPr>
              <a:t>op</a:t>
            </a:r>
            <a:r>
              <a:rPr lang="en-US" sz="1800" dirty="0">
                <a:solidFill>
                  <a:schemeClr val="accent3"/>
                </a:solidFill>
              </a:rPr>
              <a:t>.</a:t>
            </a:r>
            <a:endParaRPr lang="en-US" sz="1800" dirty="0"/>
          </a:p>
          <a:p>
            <a:pPr indent="0" marL="0">
              <a:spcAft>
                <a:spcPts val="400"/>
              </a:spcAft>
              <a:buNone/>
            </a:pPr>
            <a:r>
              <a:rPr lang="en-US" sz="1800" b="1" dirty="0">
                <a:solidFill>
                  <a:schemeClr val="tx2"/>
                </a:solidFill>
              </a:rPr>
              <a:t>4.  </a:t>
            </a:r>
            <a:r>
              <a:rPr lang="en-US" sz="1800" dirty="0">
                <a:solidFill>
                  <a:schemeClr val="tx1"/>
                </a:solidFill>
              </a:rPr>
              <a:t>« Le propriétaire met l’appartement en location.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eigenaar </a:t>
            </a:r>
            <a:r>
              <a:rPr lang="en-US" sz="1800" b="1" dirty="0">
                <a:solidFill>
                  <a:schemeClr val="accent3"/>
                </a:solidFill>
              </a:rPr>
              <a:t>verhuurt</a:t>
            </a:r>
            <a:r>
              <a:rPr lang="en-US" sz="1800" dirty="0">
                <a:solidFill>
                  <a:schemeClr val="accent3"/>
                </a:solidFill>
              </a:rPr>
              <a:t> het appartement.</a:t>
            </a:r>
            <a:endParaRPr lang="en-US" sz="1800" dirty="0"/>
          </a:p>
          <a:p>
            <a:pPr indent="0" marL="0">
              <a:spcAft>
                <a:spcPts val="400"/>
              </a:spcAft>
              <a:buNone/>
            </a:pPr>
            <a:r>
              <a:rPr lang="en-US" sz="1800" b="1" dirty="0">
                <a:solidFill>
                  <a:schemeClr val="tx2"/>
                </a:solidFill>
              </a:rPr>
              <a:t>5.  </a:t>
            </a:r>
            <a:r>
              <a:rPr lang="en-US" sz="1800" dirty="0">
                <a:solidFill>
                  <a:schemeClr val="tx1"/>
                </a:solidFill>
              </a:rPr>
              <a:t>« Qui paie la réparation ?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Wie betaalt de herstelling?</a:t>
            </a:r>
            <a:endParaRPr lang="en-US" sz="18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opzeggen · opstellen · opnemen</a:t>
            </a:r>
            <a:r>
              <a:rPr lang="en-US" sz="1800" dirty="0">
                <a:solidFill>
                  <a:schemeClr val="tx1"/>
                </a:solidFill>
              </a:rPr>
              <a:t> : la particule part en fin de phrase.</a:t>
            </a:r>
            <a:endParaRPr lang="en-US" sz="1800" dirty="0"/>
          </a:p>
          <a:p>
            <a:pPr marL="177800" indent="-177800">
              <a:spcAft>
                <a:spcPts val="600"/>
              </a:spcAft>
              <a:buSzPct val="100000"/>
              <a:buChar char="•"/>
            </a:pPr>
            <a:r>
              <a:rPr lang="en-US" sz="1800" i="1" dirty="0">
                <a:solidFill>
                  <a:schemeClr val="tx1"/>
                </a:solidFill>
              </a:rPr>
              <a:t>huren</a:t>
            </a:r>
            <a:r>
              <a:rPr lang="en-US" sz="1800" dirty="0">
                <a:solidFill>
                  <a:schemeClr val="tx1"/>
                </a:solidFill>
              </a:rPr>
              <a:t> ≠ </a:t>
            </a:r>
            <a:r>
              <a:rPr lang="en-US" sz="1800" i="1" dirty="0">
                <a:solidFill>
                  <a:schemeClr val="tx1"/>
                </a:solidFill>
              </a:rPr>
              <a:t>verhuren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Notez l’article : </a:t>
            </a:r>
            <a:r>
              <a:rPr lang="en-US" sz="1800" b="1" dirty="0">
                <a:solidFill>
                  <a:schemeClr val="accent4"/>
                </a:solidFill>
              </a:rPr>
              <a:t>het</a:t>
            </a:r>
            <a:r>
              <a:rPr lang="en-US" sz="1800" dirty="0">
                <a:solidFill>
                  <a:schemeClr val="tx1"/>
                </a:solidFill>
              </a:rPr>
              <a:t> huurcontract, </a:t>
            </a:r>
            <a:r>
              <a:rPr lang="en-US" sz="1800" b="1" dirty="0">
                <a:solidFill>
                  <a:schemeClr val="accent2"/>
                </a:solidFill>
              </a:rPr>
              <a:t>de</a:t>
            </a:r>
            <a:r>
              <a:rPr lang="en-US" sz="1800" dirty="0">
                <a:solidFill>
                  <a:schemeClr val="tx1"/>
                </a:solidFill>
              </a:rPr>
              <a:t> herstelling.</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6.2 : l’état des lieux au passé</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7391"/>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6.2</a:t>
            </a:r>
            <a:endParaRPr lang="en-US" sz="1100" dirty="0"/>
          </a:p>
        </p:txBody>
      </p:sp>
      <p:sp>
        <p:nvSpPr>
          <p:cNvPr id="9" name="Text 5"/>
          <p:cNvSpPr txBox="1"/>
          <p:nvPr/>
        </p:nvSpPr>
        <p:spPr>
          <a:xfrm>
            <a:off x="6995160" y="2560320"/>
            <a:ext cx="4645152" cy="2380488"/>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Un état des lieux </a:t>
            </a:r>
            <a:r>
              <a:rPr lang="en-US" sz="1500" b="1" dirty="0">
                <a:solidFill>
                  <a:schemeClr val="tx1"/>
                </a:solidFill>
              </a:rPr>
              <a:t>décrit</a:t>
            </a:r>
            <a:r>
              <a:rPr lang="en-US" sz="1500" dirty="0">
                <a:solidFill>
                  <a:schemeClr val="tx1"/>
                </a:solidFill>
              </a:rPr>
              <a:t> : le </a:t>
            </a:r>
            <a:r>
              <a:rPr lang="en-US" sz="1500" b="1" dirty="0">
                <a:solidFill>
                  <a:schemeClr val="tx1"/>
                </a:solidFill>
              </a:rPr>
              <a:t>perfectum</a:t>
            </a:r>
            <a:r>
              <a:rPr lang="en-US" sz="1500" dirty="0">
                <a:solidFill>
                  <a:schemeClr val="tx1"/>
                </a:solidFill>
              </a:rPr>
              <a:t> raconte des événements, l’</a:t>
            </a:r>
            <a:r>
              <a:rPr lang="en-US" sz="1500" b="1" dirty="0">
                <a:solidFill>
                  <a:schemeClr val="tx1"/>
                </a:solidFill>
              </a:rPr>
              <a:t>imperfectum</a:t>
            </a:r>
            <a:r>
              <a:rPr lang="en-US" sz="1500" dirty="0">
                <a:solidFill>
                  <a:schemeClr val="tx1"/>
                </a:solidFill>
              </a:rPr>
              <a:t> peint le décor.</a:t>
            </a:r>
            <a:endParaRPr lang="en-US" sz="1500" dirty="0"/>
          </a:p>
          <a:p>
            <a:pPr indent="0" marL="0">
              <a:spcAft>
                <a:spcPts val="1000"/>
              </a:spcAft>
              <a:buNone/>
            </a:pPr>
            <a:r>
              <a:rPr lang="en-US" sz="1500" b="1" dirty="0">
                <a:solidFill>
                  <a:schemeClr val="tx1"/>
                </a:solidFill>
              </a:rPr>
              <a:t>Focus : lignes 5 et 7</a:t>
            </a:r>
            <a:endParaRPr lang="en-US" sz="1500" dirty="0"/>
          </a:p>
          <a:p>
            <a:pPr indent="0" marL="0">
              <a:spcAft>
                <a:spcPts val="1000"/>
              </a:spcAft>
              <a:buNone/>
            </a:pPr>
            <a:r>
              <a:rPr lang="en-US" sz="1500" dirty="0">
                <a:solidFill>
                  <a:schemeClr val="tx1"/>
                </a:solidFill>
              </a:rPr>
              <a:t>«De huurder </a:t>
            </a:r>
            <a:r>
              <a:rPr lang="en-US" sz="1500" b="1" dirty="0">
                <a:solidFill>
                  <a:schemeClr val="tx1"/>
                </a:solidFill>
              </a:rPr>
              <a:t>belde</a:t>
            </a:r>
            <a:r>
              <a:rPr lang="en-US" sz="1500" dirty="0">
                <a:solidFill>
                  <a:schemeClr val="tx1"/>
                </a:solidFill>
              </a:rPr>
              <a:t> gisteren.»</a:t>
            </a:r>
            <a:endParaRPr lang="en-US" sz="1500" dirty="0"/>
          </a:p>
          <a:p>
            <a:pPr indent="0" marL="0">
              <a:spcAft>
                <a:spcPts val="1000"/>
              </a:spcAft>
              <a:buNone/>
            </a:pPr>
            <a:r>
              <a:rPr lang="en-US" sz="1500" dirty="0">
                <a:solidFill>
                  <a:schemeClr val="tx1"/>
                </a:solidFill>
              </a:rPr>
              <a:t>«Toen ik gisteravond langsging, </a:t>
            </a:r>
            <a:r>
              <a:rPr lang="en-US" sz="1500" b="1" dirty="0">
                <a:solidFill>
                  <a:schemeClr val="tx1"/>
                </a:solidFill>
              </a:rPr>
              <a:t>was</a:t>
            </a:r>
            <a:r>
              <a:rPr lang="en-US" sz="1500" dirty="0">
                <a:solidFill>
                  <a:schemeClr val="tx1"/>
                </a:solidFill>
              </a:rPr>
              <a:t> de muur al nat.»</a:t>
            </a:r>
            <a:endParaRPr lang="en-US" sz="1500" dirty="0"/>
          </a:p>
          <a:p>
            <a:pPr indent="0" marL="0">
              <a:spcAft>
                <a:spcPts val="1000"/>
              </a:spcAft>
              <a:buNone/>
            </a:pPr>
            <a:r>
              <a:rPr lang="en-US" sz="1500" dirty="0">
                <a:solidFill>
                  <a:schemeClr val="tx1"/>
                </a:solidFill>
              </a:rPr>
              <a:t>«Vroeger </a:t>
            </a:r>
            <a:r>
              <a:rPr lang="en-US" sz="1500" b="1" dirty="0">
                <a:solidFill>
                  <a:schemeClr val="tx1"/>
                </a:solidFill>
              </a:rPr>
              <a:t>had</a:t>
            </a:r>
            <a:r>
              <a:rPr lang="en-US" sz="1500" dirty="0">
                <a:solidFill>
                  <a:schemeClr val="tx1"/>
                </a:solidFill>
              </a:rPr>
              <a:t> het gebouw nooit problemen.»</a:t>
            </a:r>
            <a:endParaRPr lang="en-US" sz="1500" dirty="0"/>
          </a:p>
        </p:txBody>
      </p:sp>
      <p:sp>
        <p:nvSpPr>
          <p:cNvPr id="10" name="Shape 6"/>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11" name="Text 7"/>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Dans ces phrases : quel verbe est </a:t>
            </a:r>
            <a:r>
              <a:rPr lang="en-US" sz="1700" b="1" dirty="0">
                <a:solidFill>
                  <a:schemeClr val="tx1"/>
                </a:solidFill>
              </a:rPr>
              <a:t>régulier</a:t>
            </a:r>
            <a:r>
              <a:rPr lang="en-US" sz="1700" dirty="0">
                <a:solidFill>
                  <a:schemeClr val="tx1"/>
                </a:solidFill>
              </a:rPr>
              <a:t> ? Lesquels sont </a:t>
            </a:r>
            <a:r>
              <a:rPr lang="en-US" sz="1700" b="1" dirty="0">
                <a:solidFill>
                  <a:schemeClr val="tx1"/>
                </a:solidFill>
              </a:rPr>
              <a:t>forts</a:t>
            </a: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Imperfectum régulier : stam + -te / -de</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 · rappel</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’t kofschip : stam terminé par </a:t>
            </a:r>
            <a:r>
              <a:rPr lang="en-US" sz="1600" b="1" i="1" dirty="0">
                <a:solidFill>
                  <a:schemeClr val="accent5"/>
                </a:solidFill>
              </a:rPr>
              <a:t>t, k, f, s, ch, p</a:t>
            </a:r>
            <a:r>
              <a:rPr lang="en-US" sz="1600" i="1" dirty="0">
                <a:solidFill>
                  <a:schemeClr val="accent5"/>
                </a:solidFill>
              </a:rPr>
              <a:t> → </a:t>
            </a:r>
            <a:r>
              <a:rPr lang="en-US" sz="1600" b="1" i="1" dirty="0">
                <a:solidFill>
                  <a:schemeClr val="accent5"/>
                </a:solidFill>
              </a:rPr>
              <a:t>-te(n)</a:t>
            </a:r>
            <a:r>
              <a:rPr lang="en-US" sz="1600" i="1" dirty="0">
                <a:solidFill>
                  <a:schemeClr val="accent5"/>
                </a:solidFill>
              </a:rPr>
              <a:t> ; toutes les autres lettres → </a:t>
            </a:r>
            <a:r>
              <a:rPr lang="en-US" sz="1600" b="1" i="1" dirty="0">
                <a:solidFill>
                  <a:schemeClr val="accent5"/>
                </a:solidFill>
              </a:rPr>
              <a:t>-de(n)</a:t>
            </a:r>
            <a:r>
              <a:rPr lang="en-US" sz="1600" i="1" dirty="0">
                <a:solidFill>
                  <a:schemeClr val="accent5"/>
                </a:solidFill>
              </a:rPr>
              <a: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2926080"/>
                <a:gridCol w="2377440"/>
                <a:gridCol w="3108960"/>
                <a:gridCol w="2679192"/>
              </a:tblGrid>
              <a:tr h="537667">
                <a:tc>
                  <a:txBody>
                    <a:bodyPr/>
                    <a:lstStyle/>
                    <a:p>
                      <a:pPr algn="l" indent="0" marL="0">
                        <a:buNone/>
                      </a:pPr>
                      <a:r>
                        <a:rPr lang="en-US" sz="1500" b="1" dirty="0">
                          <a:solidFill>
                            <a:schemeClr val="bg1"/>
                          </a:solidFill>
                        </a:rPr>
                        <a:t>INFINITIEF</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STAM</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IK · JIJ · U · HIJ</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WIJ · JULLIE · ZIJ</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39826">
                <a:tc>
                  <a:txBody>
                    <a:bodyPr/>
                    <a:lstStyle/>
                    <a:p>
                      <a:pPr algn="l" indent="0" marL="0">
                        <a:buNone/>
                      </a:pPr>
                      <a:r>
                        <a:rPr lang="en-US" sz="1700" dirty="0">
                          <a:solidFill>
                            <a:schemeClr val="tx1"/>
                          </a:solidFill>
                        </a:rPr>
                        <a:t>werken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werk (k)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werk</a:t>
                      </a:r>
                      <a:r>
                        <a:rPr lang="en-US" sz="1700" b="1" dirty="0">
                          <a:solidFill>
                            <a:schemeClr val="tx1"/>
                          </a:solidFill>
                        </a:rPr>
                        <a:t>te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werk</a:t>
                      </a:r>
                      <a:r>
                        <a:rPr lang="en-US" sz="1700" b="1" dirty="0">
                          <a:solidFill>
                            <a:schemeClr val="tx1"/>
                          </a:solidFill>
                        </a:rPr>
                        <a:t>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9826">
                <a:tc>
                  <a:txBody>
                    <a:bodyPr/>
                    <a:lstStyle/>
                    <a:p>
                      <a:pPr algn="l" indent="0" marL="0">
                        <a:buNone/>
                      </a:pPr>
                      <a:r>
                        <a:rPr lang="en-US" sz="1700" dirty="0">
                          <a:solidFill>
                            <a:schemeClr val="tx1"/>
                          </a:solidFill>
                        </a:rPr>
                        <a:t>kloppen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klop (p)</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klop</a:t>
                      </a:r>
                      <a:r>
                        <a:rPr lang="en-US" sz="1700" b="1" dirty="0">
                          <a:solidFill>
                            <a:schemeClr val="tx1"/>
                          </a:solidFill>
                        </a:rPr>
                        <a:t>te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klop</a:t>
                      </a:r>
                      <a:r>
                        <a:rPr lang="en-US" sz="1700" b="1" dirty="0">
                          <a:solidFill>
                            <a:schemeClr val="tx1"/>
                          </a:solidFill>
                        </a:rPr>
                        <a:t>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39826">
                <a:tc>
                  <a:txBody>
                    <a:bodyPr/>
                    <a:lstStyle/>
                    <a:p>
                      <a:pPr algn="l" indent="0" marL="0">
                        <a:buNone/>
                      </a:pPr>
                      <a:r>
                        <a:rPr lang="en-US" sz="1700" dirty="0">
                          <a:solidFill>
                            <a:schemeClr val="tx1"/>
                          </a:solidFill>
                        </a:rPr>
                        <a:t>bellen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bel (l)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bel</a:t>
                      </a:r>
                      <a:r>
                        <a:rPr lang="en-US" sz="1700" b="1" dirty="0">
                          <a:solidFill>
                            <a:schemeClr val="tx1"/>
                          </a:solidFill>
                        </a:rPr>
                        <a:t>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bel</a:t>
                      </a:r>
                      <a:r>
                        <a:rPr lang="en-US" sz="1700" b="1" dirty="0">
                          <a:solidFill>
                            <a:schemeClr val="tx1"/>
                          </a:solidFill>
                        </a:rPr>
                        <a:t>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9826">
                <a:tc>
                  <a:txBody>
                    <a:bodyPr/>
                    <a:lstStyle/>
                    <a:p>
                      <a:pPr algn="l" indent="0" marL="0">
                        <a:buNone/>
                      </a:pPr>
                      <a:r>
                        <a:rPr lang="en-US" sz="1700" dirty="0">
                          <a:solidFill>
                            <a:schemeClr val="tx1"/>
                          </a:solidFill>
                        </a:rPr>
                        <a:t>druppelen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druppel (l)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druppel</a:t>
                      </a:r>
                      <a:r>
                        <a:rPr lang="en-US" sz="1700" b="1" dirty="0">
                          <a:solidFill>
                            <a:schemeClr val="tx1"/>
                          </a:solidFill>
                        </a:rPr>
                        <a:t>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druppel</a:t>
                      </a:r>
                      <a:r>
                        <a:rPr lang="en-US" sz="1700" b="1" dirty="0">
                          <a:solidFill>
                            <a:schemeClr val="tx1"/>
                          </a:solidFill>
                        </a:rPr>
                        <a:t>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39826">
                <a:tc>
                  <a:txBody>
                    <a:bodyPr/>
                    <a:lstStyle/>
                    <a:p>
                      <a:pPr algn="l" indent="0" marL="0">
                        <a:buNone/>
                      </a:pPr>
                      <a:r>
                        <a:rPr lang="en-US" sz="1700" dirty="0">
                          <a:solidFill>
                            <a:schemeClr val="tx1"/>
                          </a:solidFill>
                        </a:rPr>
                        <a:t>functioneren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functioneer (r)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functioneer</a:t>
                      </a:r>
                      <a:r>
                        <a:rPr lang="en-US" sz="1700" b="1" dirty="0">
                          <a:solidFill>
                            <a:schemeClr val="tx1"/>
                          </a:solidFill>
                        </a:rPr>
                        <a:t>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functioneer</a:t>
                      </a:r>
                      <a:r>
                        <a:rPr lang="en-US" sz="1700" b="1" dirty="0">
                          <a:solidFill>
                            <a:schemeClr val="tx1"/>
                          </a:solidFill>
                        </a:rPr>
                        <a:t>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9826">
                <a:tc>
                  <a:txBody>
                    <a:bodyPr/>
                    <a:lstStyle/>
                    <a:p>
                      <a:pPr algn="l" indent="0" marL="0">
                        <a:buNone/>
                      </a:pPr>
                      <a:r>
                        <a:rPr lang="en-US" sz="1700" dirty="0">
                          <a:solidFill>
                            <a:schemeClr val="tx1"/>
                          </a:solidFill>
                        </a:rPr>
                        <a:t>verhuren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verhuur (r)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b="1" dirty="0">
                          <a:solidFill>
                            <a:schemeClr val="tx1"/>
                          </a:solidFill>
                        </a:rPr>
                        <a:t>verhuur</a:t>
                      </a:r>
                      <a:r>
                        <a:rPr lang="en-US" sz="1700" b="1" dirty="0">
                          <a:solidFill>
                            <a:schemeClr val="tx1"/>
                          </a:solidFill>
                        </a:rPr>
                        <a:t>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verhuur</a:t>
                      </a:r>
                      <a:r>
                        <a:rPr lang="en-US" sz="1700" b="1" dirty="0">
                          <a:solidFill>
                            <a:schemeClr val="tx1"/>
                          </a:solidFill>
                        </a:rPr>
                        <a:t>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39826">
                <a:tc>
                  <a:txBody>
                    <a:bodyPr/>
                    <a:lstStyle/>
                    <a:p>
                      <a:pPr algn="l" indent="0" marL="0">
                        <a:buNone/>
                      </a:pPr>
                      <a:r>
                        <a:rPr lang="en-US" sz="1700" dirty="0">
                          <a:solidFill>
                            <a:schemeClr val="tx1"/>
                          </a:solidFill>
                        </a:rPr>
                        <a:t>vernieuwen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vernieuw (w)</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b="1" dirty="0">
                          <a:solidFill>
                            <a:schemeClr val="tx1"/>
                          </a:solidFill>
                        </a:rPr>
                        <a:t>vernieuw</a:t>
                      </a:r>
                      <a:r>
                        <a:rPr lang="en-US" sz="1700" b="1" dirty="0">
                          <a:solidFill>
                            <a:schemeClr val="tx1"/>
                          </a:solidFill>
                        </a:rPr>
                        <a:t>de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vernieuw</a:t>
                      </a:r>
                      <a:r>
                        <a:rPr lang="en-US" sz="1700" b="1" dirty="0">
                          <a:solidFill>
                            <a:schemeClr val="tx1"/>
                          </a:solidFill>
                        </a:rPr>
                        <a:t>den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669280"/>
            <a:ext cx="11091672" cy="621792"/>
          </a:xfrm>
          <a:prstGeom prst="rect">
            <a:avLst/>
          </a:prstGeom>
          <a:noFill/>
          <a:ln/>
        </p:spPr>
        <p:txBody>
          <a:bodyPr wrap="square" lIns="0" tIns="0" rIns="0" bIns="0" rtlCol="0" anchor="b"/>
          <a:lstStyle/>
          <a:p>
            <a:pPr indent="0" marL="0">
              <a:buNone/>
            </a:pPr>
            <a:r>
              <a:rPr lang="en-US" sz="1500" i="1" dirty="0">
                <a:solidFill>
                  <a:schemeClr val="accent5"/>
                </a:solidFill>
              </a:rPr>
              <a:t>Piège pour francophones : une seule forme au singulier (</a:t>
            </a:r>
            <a:r>
              <a:rPr lang="en-US" sz="1500" i="1" dirty="0">
                <a:solidFill>
                  <a:schemeClr val="accent5"/>
                </a:solidFill>
              </a:rPr>
              <a:t>ik · jij · hij </a:t>
            </a:r>
            <a:r>
              <a:rPr lang="en-US" sz="1500" b="1" i="1" dirty="0">
                <a:solidFill>
                  <a:schemeClr val="accent5"/>
                </a:solidFill>
              </a:rPr>
              <a:t>belde</a:t>
            </a:r>
            <a:r>
              <a:rPr lang="en-US" sz="1500" i="1" dirty="0">
                <a:solidFill>
                  <a:schemeClr val="accent5"/>
                </a:solidFill>
              </a:rPr>
              <a:t>), pas de terminaison par personne comme en français — mais </a:t>
            </a:r>
            <a:r>
              <a:rPr lang="en-US" sz="1500" b="1" i="1" dirty="0">
                <a:solidFill>
                  <a:schemeClr val="accent5"/>
                </a:solidFill>
              </a:rPr>
              <a:t>-den</a:t>
            </a:r>
            <a:r>
              <a:rPr lang="en-US" sz="1500" i="1" dirty="0">
                <a:solidFill>
                  <a:schemeClr val="accent5"/>
                </a:solidFill>
              </a:rPr>
              <a:t> au pluriel : </a:t>
            </a:r>
            <a:r>
              <a:rPr lang="en-US" sz="1500" i="1" dirty="0">
                <a:solidFill>
                  <a:schemeClr val="accent5"/>
                </a:solidFill>
              </a:rPr>
              <a:t>wij </a:t>
            </a:r>
            <a:r>
              <a:rPr lang="en-US" sz="1500" b="1" i="1" dirty="0">
                <a:solidFill>
                  <a:schemeClr val="accent5"/>
                </a:solidFill>
              </a:rPr>
              <a:t>belden</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Imperfectum : les verbes forts et irréguliers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 · rappel</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743200"/>
                <a:gridCol w="2560320"/>
                <a:gridCol w="2560320"/>
                <a:gridCol w="3227832"/>
              </a:tblGrid>
              <a:tr h="477317">
                <a:tc>
                  <a:txBody>
                    <a:bodyPr/>
                    <a:lstStyle/>
                    <a:p>
                      <a:pPr algn="l" indent="0" marL="0">
                        <a:buNone/>
                      </a:pPr>
                      <a:r>
                        <a:rPr lang="en-US" sz="1400" b="1" dirty="0">
                          <a:solidFill>
                            <a:schemeClr val="bg1"/>
                          </a:solidFill>
                        </a:rPr>
                        <a:t>INFINITIEF</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IK · JIJ · U · HIJ</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WIJ · JULLIE · ZIJ</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380390">
                <a:tc>
                  <a:txBody>
                    <a:bodyPr/>
                    <a:lstStyle/>
                    <a:p>
                      <a:pPr algn="l" indent="0" marL="0">
                        <a:buNone/>
                      </a:pPr>
                      <a:r>
                        <a:rPr lang="en-US" sz="1600" dirty="0">
                          <a:solidFill>
                            <a:schemeClr val="tx1"/>
                          </a:solidFill>
                        </a:rPr>
                        <a:t>zijn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was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waren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être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380390">
                <a:tc>
                  <a:txBody>
                    <a:bodyPr/>
                    <a:lstStyle/>
                    <a:p>
                      <a:pPr algn="l" indent="0" marL="0">
                        <a:buNone/>
                      </a:pPr>
                      <a:r>
                        <a:rPr lang="en-US" sz="1600" dirty="0">
                          <a:solidFill>
                            <a:schemeClr val="tx1"/>
                          </a:solidFill>
                        </a:rPr>
                        <a:t>hebben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had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hadden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avoir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380390">
                <a:tc>
                  <a:txBody>
                    <a:bodyPr/>
                    <a:lstStyle/>
                    <a:p>
                      <a:pPr algn="l" indent="0" marL="0">
                        <a:buNone/>
                      </a:pPr>
                      <a:r>
                        <a:rPr lang="en-US" sz="1600" dirty="0">
                          <a:solidFill>
                            <a:schemeClr val="tx1"/>
                          </a:solidFill>
                        </a:rPr>
                        <a:t>kunnen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kon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konden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pouvoir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380390">
                <a:tc>
                  <a:txBody>
                    <a:bodyPr/>
                    <a:lstStyle/>
                    <a:p>
                      <a:pPr algn="l" indent="0" marL="0">
                        <a:buNone/>
                      </a:pPr>
                      <a:r>
                        <a:rPr lang="en-US" sz="1600" dirty="0">
                          <a:solidFill>
                            <a:schemeClr val="tx1"/>
                          </a:solidFill>
                        </a:rPr>
                        <a:t>moeten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moest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moesten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devoir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380390">
                <a:tc>
                  <a:txBody>
                    <a:bodyPr/>
                    <a:lstStyle/>
                    <a:p>
                      <a:pPr algn="l" indent="0" marL="0">
                        <a:buNone/>
                      </a:pPr>
                      <a:r>
                        <a:rPr lang="en-US" sz="1600" dirty="0">
                          <a:solidFill>
                            <a:schemeClr val="tx1"/>
                          </a:solidFill>
                        </a:rPr>
                        <a:t>sluiten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sloot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sloten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fermer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380390">
                <a:tc>
                  <a:txBody>
                    <a:bodyPr/>
                    <a:lstStyle/>
                    <a:p>
                      <a:pPr algn="l" indent="0" marL="0">
                        <a:buNone/>
                      </a:pPr>
                      <a:r>
                        <a:rPr lang="en-US" sz="1600" dirty="0">
                          <a:solidFill>
                            <a:schemeClr val="tx1"/>
                          </a:solidFill>
                        </a:rPr>
                        <a:t>staan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stond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stonden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se trouver (debout)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380390">
                <a:tc>
                  <a:txBody>
                    <a:bodyPr/>
                    <a:lstStyle/>
                    <a:p>
                      <a:pPr algn="l" indent="0" marL="0">
                        <a:buNone/>
                      </a:pPr>
                      <a:r>
                        <a:rPr lang="en-US" sz="1600" dirty="0">
                          <a:solidFill>
                            <a:schemeClr val="tx1"/>
                          </a:solidFill>
                        </a:rPr>
                        <a:t>zitten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zat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zaten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être assis · se trouver dedans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380390">
                <a:tc>
                  <a:txBody>
                    <a:bodyPr/>
                    <a:lstStyle/>
                    <a:p>
                      <a:pPr algn="l" indent="0" marL="0">
                        <a:buNone/>
                      </a:pPr>
                      <a:r>
                        <a:rPr lang="en-US" sz="1600" dirty="0">
                          <a:solidFill>
                            <a:schemeClr val="tx1"/>
                          </a:solidFill>
                        </a:rPr>
                        <a:t>gaan (langs)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ging (langs)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gingen (langs)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aller (passer chez)</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380390">
                <a:tc>
                  <a:txBody>
                    <a:bodyPr/>
                    <a:lstStyle/>
                    <a:p>
                      <a:pPr algn="l" indent="0" marL="0">
                        <a:buNone/>
                      </a:pPr>
                      <a:r>
                        <a:rPr lang="en-US" sz="1600" dirty="0">
                          <a:solidFill>
                            <a:schemeClr val="tx1"/>
                          </a:solidFill>
                        </a:rPr>
                        <a:t>komen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tx1"/>
                          </a:solidFill>
                        </a:rPr>
                        <a:t>kwam</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kwamen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venir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380390">
                <a:tc>
                  <a:txBody>
                    <a:bodyPr/>
                    <a:lstStyle/>
                    <a:p>
                      <a:pPr algn="l" indent="0" marL="0">
                        <a:buNone/>
                      </a:pPr>
                      <a:r>
                        <a:rPr lang="en-US" sz="1600" dirty="0">
                          <a:solidFill>
                            <a:schemeClr val="tx1"/>
                          </a:solidFill>
                        </a:rPr>
                        <a:t>vinden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rPr>
                        <a:t>vond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vonden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trouver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Piège : </a:t>
            </a:r>
            <a:r>
              <a:rPr lang="en-US" sz="1500" i="1" dirty="0">
                <a:solidFill>
                  <a:schemeClr val="accent5"/>
                </a:solidFill>
              </a:rPr>
              <a:t>was</a:t>
            </a:r>
            <a:r>
              <a:rPr lang="en-US" sz="1500" i="1" dirty="0">
                <a:solidFill>
                  <a:schemeClr val="accent5"/>
                </a:solidFill>
              </a:rPr>
              <a:t> ≠ </a:t>
            </a:r>
            <a:r>
              <a:rPr lang="en-US" sz="1500" i="1" dirty="0">
                <a:solidFill>
                  <a:schemeClr val="accent5"/>
                </a:solidFill>
              </a:rPr>
              <a:t>waren</a:t>
            </a:r>
            <a:r>
              <a:rPr lang="en-US" sz="1500" i="1" dirty="0">
                <a:solidFill>
                  <a:schemeClr val="accent5"/>
                </a:solidFill>
              </a:rPr>
              <a:t> (</a:t>
            </a:r>
            <a:r>
              <a:rPr lang="en-US" sz="1500" i="1" dirty="0">
                <a:solidFill>
                  <a:schemeClr val="accent5"/>
                </a:solidFill>
              </a:rPr>
              <a:t>de muren </a:t>
            </a:r>
            <a:r>
              <a:rPr lang="en-US" sz="1500" b="1" i="1" dirty="0">
                <a:solidFill>
                  <a:schemeClr val="accent5"/>
                </a:solidFill>
              </a:rPr>
              <a:t>waren</a:t>
            </a:r>
            <a:r>
              <a:rPr lang="en-US" sz="1500" i="1" dirty="0">
                <a:solidFill>
                  <a:schemeClr val="accent5"/>
                </a:solidFill>
              </a:rPr>
              <a:t> wit</a:t>
            </a:r>
            <a:r>
              <a:rPr lang="en-US" sz="1500" i="1" dirty="0">
                <a:solidFill>
                  <a:schemeClr val="accent5"/>
                </a:solidFill>
              </a:rPr>
              <a:t>) ; verbe séparable : </a:t>
            </a:r>
            <a:r>
              <a:rPr lang="en-US" sz="1500" i="1" dirty="0">
                <a:solidFill>
                  <a:schemeClr val="accent5"/>
                </a:solidFill>
              </a:rPr>
              <a:t>Ik </a:t>
            </a:r>
            <a:r>
              <a:rPr lang="en-US" sz="1500" b="1" i="1" dirty="0">
                <a:solidFill>
                  <a:schemeClr val="accent5"/>
                </a:solidFill>
              </a:rPr>
              <a:t>ging</a:t>
            </a:r>
            <a:r>
              <a:rPr lang="en-US" sz="1500" i="1" dirty="0">
                <a:solidFill>
                  <a:schemeClr val="accent5"/>
                </a:solidFill>
              </a:rPr>
              <a:t> langs</a:t>
            </a:r>
            <a:r>
              <a:rPr lang="en-US" sz="1500" i="1" dirty="0">
                <a:solidFill>
                  <a:schemeClr val="accent5"/>
                </a:solidFill>
              </a:rPr>
              <a:t> mais </a:t>
            </a:r>
            <a:r>
              <a:rPr lang="en-US" sz="1500" i="1" dirty="0">
                <a:solidFill>
                  <a:schemeClr val="accent5"/>
                </a:solidFill>
              </a:rPr>
              <a:t>toen ik langs</a:t>
            </a:r>
            <a:r>
              <a:rPr lang="en-US" sz="1500" b="1" i="1" dirty="0">
                <a:solidFill>
                  <a:schemeClr val="accent5"/>
                </a:solidFill>
              </a:rPr>
              <a:t>ging</a:t>
            </a:r>
            <a:r>
              <a:rPr lang="en-US" sz="1500" i="1" dirty="0">
                <a:solidFill>
                  <a:schemeClr val="accent5"/>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Toen ik langsging, was de muur nat</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 · 10a</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Après une subordonnée en </a:t>
            </a:r>
            <a:r>
              <a:rPr lang="en-US" sz="1800" b="1" dirty="0">
                <a:solidFill>
                  <a:schemeClr val="tx1"/>
                </a:solidFill>
              </a:rPr>
              <a:t>toen</a:t>
            </a:r>
            <a:r>
              <a:rPr lang="en-US" sz="1800" dirty="0">
                <a:solidFill>
                  <a:schemeClr val="tx1"/>
                </a:solidFill>
              </a:rPr>
              <a:t>, le </a:t>
            </a:r>
            <a:r>
              <a:rPr lang="en-US" sz="1800" b="1" dirty="0">
                <a:solidFill>
                  <a:schemeClr val="tx1"/>
                </a:solidFill>
              </a:rPr>
              <a:t>verbe conjugué</a:t>
            </a:r>
            <a:r>
              <a:rPr lang="en-US" sz="1800" dirty="0">
                <a:solidFill>
                  <a:schemeClr val="tx1"/>
                </a:solidFill>
              </a:rPr>
              <a:t> de la phrase principale passe en </a:t>
            </a:r>
            <a:r>
              <a:rPr lang="en-US" sz="1800" b="1" dirty="0">
                <a:solidFill>
                  <a:schemeClr val="tx1"/>
                </a:solidFill>
              </a:rPr>
              <a:t>tête</a:t>
            </a:r>
            <a:r>
              <a:rPr lang="en-US" sz="1800" dirty="0">
                <a:solidFill>
                  <a:schemeClr val="tx1"/>
                </a:solidFill>
              </a:rPr>
              <a:t> : </a:t>
            </a:r>
            <a:r>
              <a:rPr lang="en-US" sz="1800" i="1" dirty="0">
                <a:solidFill>
                  <a:schemeClr val="tx1"/>
                </a:solidFill>
              </a:rPr>
              <a:t>was hij weg</a:t>
            </a:r>
            <a:r>
              <a:rPr lang="en-US" sz="1800" dirty="0">
                <a:solidFill>
                  <a:schemeClr val="tx1"/>
                </a:solidFill>
              </a:rPr>
              <a:t>.</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Ligne 7</a:t>
            </a:r>
            <a:endParaRPr lang="en-US" sz="1400" dirty="0"/>
          </a:p>
        </p:txBody>
      </p:sp>
      <p:sp>
        <p:nvSpPr>
          <p:cNvPr id="8" name="Text 5"/>
          <p:cNvSpPr txBox="1"/>
          <p:nvPr/>
        </p:nvSpPr>
        <p:spPr>
          <a:xfrm>
            <a:off x="2103120" y="1947672"/>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9" name="Shape 6"/>
          <p:cNvSpPr/>
          <p:nvPr/>
        </p:nvSpPr>
        <p:spPr>
          <a:xfrm>
            <a:off x="2103120" y="2185416"/>
            <a:ext cx="751840" cy="329184"/>
          </a:xfrm>
          <a:prstGeom prst="roundRect">
            <a:avLst>
              <a:gd name="adj" fmla="val 16667"/>
            </a:avLst>
          </a:prstGeom>
          <a:solidFill>
            <a:srgbClr val="6E4A9E">
              <a:alpha val="88000"/>
            </a:srgbClr>
          </a:solidFill>
          <a:ln w="12700">
            <a:solidFill>
              <a:srgbClr val="6E4A9E"/>
            </a:solidFill>
            <a:prstDash val="solid"/>
          </a:ln>
        </p:spPr>
      </p:sp>
      <p:sp>
        <p:nvSpPr>
          <p:cNvPr id="10" name="Text 7"/>
          <p:cNvSpPr txBox="1"/>
          <p:nvPr/>
        </p:nvSpPr>
        <p:spPr>
          <a:xfrm>
            <a:off x="2139696" y="2185416"/>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Toen</a:t>
            </a:r>
            <a:endParaRPr lang="en-US" sz="1600" dirty="0"/>
          </a:p>
        </p:txBody>
      </p:sp>
      <p:sp>
        <p:nvSpPr>
          <p:cNvPr id="11" name="Text 8"/>
          <p:cNvSpPr txBox="1"/>
          <p:nvPr/>
        </p:nvSpPr>
        <p:spPr>
          <a:xfrm>
            <a:off x="2964688" y="194767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2" name="Shape 9"/>
          <p:cNvSpPr/>
          <p:nvPr/>
        </p:nvSpPr>
        <p:spPr>
          <a:xfrm>
            <a:off x="2964688" y="2185416"/>
            <a:ext cx="685800" cy="329184"/>
          </a:xfrm>
          <a:prstGeom prst="roundRect">
            <a:avLst>
              <a:gd name="adj" fmla="val 16667"/>
            </a:avLst>
          </a:prstGeom>
          <a:solidFill>
            <a:schemeClr val="tx2">
              <a:alpha val="88000"/>
            </a:schemeClr>
          </a:solidFill>
          <a:ln w="12700">
            <a:solidFill>
              <a:srgbClr val="17375E"/>
            </a:solidFill>
            <a:prstDash val="solid"/>
          </a:ln>
        </p:spPr>
      </p:sp>
      <p:sp>
        <p:nvSpPr>
          <p:cNvPr id="13" name="Text 10"/>
          <p:cNvSpPr txBox="1"/>
          <p:nvPr/>
        </p:nvSpPr>
        <p:spPr>
          <a:xfrm>
            <a:off x="3001264"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14" name="Text 11"/>
          <p:cNvSpPr txBox="1"/>
          <p:nvPr/>
        </p:nvSpPr>
        <p:spPr>
          <a:xfrm>
            <a:off x="3760216" y="1947672"/>
            <a:ext cx="1491488"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15" name="Shape 12"/>
          <p:cNvSpPr/>
          <p:nvPr/>
        </p:nvSpPr>
        <p:spPr>
          <a:xfrm>
            <a:off x="3760216" y="2185416"/>
            <a:ext cx="1491488" cy="329184"/>
          </a:xfrm>
          <a:prstGeom prst="roundRect">
            <a:avLst>
              <a:gd name="adj" fmla="val 16667"/>
            </a:avLst>
          </a:prstGeom>
          <a:solidFill>
            <a:schemeClr val="accent2">
              <a:alpha val="88000"/>
            </a:schemeClr>
          </a:solidFill>
          <a:ln w="12700">
            <a:solidFill>
              <a:srgbClr val="2A6FB0"/>
            </a:solidFill>
            <a:prstDash val="solid"/>
          </a:ln>
        </p:spPr>
      </p:sp>
      <p:sp>
        <p:nvSpPr>
          <p:cNvPr id="16" name="Text 13"/>
          <p:cNvSpPr txBox="1"/>
          <p:nvPr/>
        </p:nvSpPr>
        <p:spPr>
          <a:xfrm>
            <a:off x="3796792" y="2185416"/>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gisteravond</a:t>
            </a:r>
            <a:endParaRPr lang="en-US" sz="1600" dirty="0"/>
          </a:p>
        </p:txBody>
      </p:sp>
      <p:sp>
        <p:nvSpPr>
          <p:cNvPr id="17" name="Text 14"/>
          <p:cNvSpPr txBox="1"/>
          <p:nvPr/>
        </p:nvSpPr>
        <p:spPr>
          <a:xfrm>
            <a:off x="5361432" y="1947672"/>
            <a:ext cx="128016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18" name="Shape 15"/>
          <p:cNvSpPr/>
          <p:nvPr/>
        </p:nvSpPr>
        <p:spPr>
          <a:xfrm>
            <a:off x="5361432" y="2185416"/>
            <a:ext cx="1280160" cy="329184"/>
          </a:xfrm>
          <a:prstGeom prst="roundRect">
            <a:avLst>
              <a:gd name="adj" fmla="val 16667"/>
            </a:avLst>
          </a:prstGeom>
          <a:solidFill>
            <a:schemeClr val="accent1">
              <a:alpha val="88000"/>
            </a:schemeClr>
          </a:solidFill>
          <a:ln w="12700">
            <a:solidFill>
              <a:srgbClr val="D9700F"/>
            </a:solidFill>
            <a:prstDash val="solid"/>
          </a:ln>
        </p:spPr>
      </p:sp>
      <p:sp>
        <p:nvSpPr>
          <p:cNvPr id="19" name="Text 16"/>
          <p:cNvSpPr txBox="1"/>
          <p:nvPr/>
        </p:nvSpPr>
        <p:spPr>
          <a:xfrm>
            <a:off x="5398008" y="2185416"/>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langsging</a:t>
            </a:r>
            <a:endParaRPr lang="en-US" sz="1600" dirty="0"/>
          </a:p>
        </p:txBody>
      </p:sp>
      <p:sp>
        <p:nvSpPr>
          <p:cNvPr id="20" name="Text 17"/>
          <p:cNvSpPr txBox="1"/>
          <p:nvPr/>
        </p:nvSpPr>
        <p:spPr>
          <a:xfrm>
            <a:off x="6751320" y="1947672"/>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1" name="Shape 18"/>
          <p:cNvSpPr/>
          <p:nvPr/>
        </p:nvSpPr>
        <p:spPr>
          <a:xfrm>
            <a:off x="6751320" y="2185416"/>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22" name="Text 19"/>
          <p:cNvSpPr txBox="1"/>
          <p:nvPr/>
        </p:nvSpPr>
        <p:spPr>
          <a:xfrm>
            <a:off x="6787896"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was</a:t>
            </a:r>
            <a:endParaRPr lang="en-US" sz="1600" dirty="0"/>
          </a:p>
        </p:txBody>
      </p:sp>
      <p:sp>
        <p:nvSpPr>
          <p:cNvPr id="23" name="Text 20"/>
          <p:cNvSpPr txBox="1"/>
          <p:nvPr/>
        </p:nvSpPr>
        <p:spPr>
          <a:xfrm>
            <a:off x="7546848" y="1947672"/>
            <a:ext cx="106883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4" name="Shape 21"/>
          <p:cNvSpPr/>
          <p:nvPr/>
        </p:nvSpPr>
        <p:spPr>
          <a:xfrm>
            <a:off x="7546848" y="2185416"/>
            <a:ext cx="1068832" cy="329184"/>
          </a:xfrm>
          <a:prstGeom prst="roundRect">
            <a:avLst>
              <a:gd name="adj" fmla="val 16667"/>
            </a:avLst>
          </a:prstGeom>
          <a:solidFill>
            <a:schemeClr val="tx2">
              <a:alpha val="88000"/>
            </a:schemeClr>
          </a:solidFill>
          <a:ln w="12700">
            <a:solidFill>
              <a:srgbClr val="17375E"/>
            </a:solidFill>
            <a:prstDash val="solid"/>
          </a:ln>
        </p:spPr>
      </p:sp>
      <p:sp>
        <p:nvSpPr>
          <p:cNvPr id="25" name="Text 22"/>
          <p:cNvSpPr txBox="1"/>
          <p:nvPr/>
        </p:nvSpPr>
        <p:spPr>
          <a:xfrm>
            <a:off x="7583424" y="218541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de muur</a:t>
            </a:r>
            <a:endParaRPr lang="en-US" sz="1600" dirty="0"/>
          </a:p>
        </p:txBody>
      </p:sp>
      <p:sp>
        <p:nvSpPr>
          <p:cNvPr id="26" name="Text 23"/>
          <p:cNvSpPr txBox="1"/>
          <p:nvPr/>
        </p:nvSpPr>
        <p:spPr>
          <a:xfrm>
            <a:off x="8725408" y="1947672"/>
            <a:ext cx="685800"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27" name="Shape 24"/>
          <p:cNvSpPr/>
          <p:nvPr/>
        </p:nvSpPr>
        <p:spPr>
          <a:xfrm>
            <a:off x="8725408" y="2185416"/>
            <a:ext cx="685800" cy="329184"/>
          </a:xfrm>
          <a:prstGeom prst="roundRect">
            <a:avLst>
              <a:gd name="adj" fmla="val 16667"/>
            </a:avLst>
          </a:prstGeom>
          <a:solidFill>
            <a:schemeClr val="accent2">
              <a:alpha val="88000"/>
            </a:schemeClr>
          </a:solidFill>
          <a:ln w="12700">
            <a:solidFill>
              <a:srgbClr val="2A6FB0"/>
            </a:solidFill>
            <a:prstDash val="solid"/>
          </a:ln>
        </p:spPr>
      </p:sp>
      <p:sp>
        <p:nvSpPr>
          <p:cNvPr id="28" name="Text 25"/>
          <p:cNvSpPr txBox="1"/>
          <p:nvPr/>
        </p:nvSpPr>
        <p:spPr>
          <a:xfrm>
            <a:off x="8761984"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al</a:t>
            </a:r>
            <a:endParaRPr lang="en-US" sz="1600" dirty="0"/>
          </a:p>
        </p:txBody>
      </p:sp>
      <p:sp>
        <p:nvSpPr>
          <p:cNvPr id="29" name="Text 26"/>
          <p:cNvSpPr txBox="1"/>
          <p:nvPr/>
        </p:nvSpPr>
        <p:spPr>
          <a:xfrm>
            <a:off x="9520936" y="1947672"/>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adjectif</a:t>
            </a:r>
            <a:endParaRPr lang="en-US" sz="1000" dirty="0"/>
          </a:p>
        </p:txBody>
      </p:sp>
      <p:sp>
        <p:nvSpPr>
          <p:cNvPr id="30" name="Shape 27"/>
          <p:cNvSpPr/>
          <p:nvPr/>
        </p:nvSpPr>
        <p:spPr>
          <a:xfrm>
            <a:off x="9520936" y="2185416"/>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31" name="Text 28"/>
          <p:cNvSpPr txBox="1"/>
          <p:nvPr/>
        </p:nvSpPr>
        <p:spPr>
          <a:xfrm>
            <a:off x="9557512" y="2185416"/>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nat</a:t>
            </a:r>
            <a:endParaRPr lang="en-US" sz="1600" dirty="0"/>
          </a:p>
        </p:txBody>
      </p:sp>
      <p:sp>
        <p:nvSpPr>
          <p:cNvPr id="32" name="Text 29"/>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Quand je suis passée hier soir, le mur était déjà mouillé.</a:t>
            </a:r>
            <a:endParaRPr lang="en-US" sz="1400" dirty="0"/>
          </a:p>
        </p:txBody>
      </p:sp>
      <p:sp>
        <p:nvSpPr>
          <p:cNvPr id="33" name="Text 30"/>
          <p:cNvSpPr txBox="1"/>
          <p:nvPr/>
        </p:nvSpPr>
        <p:spPr>
          <a:xfrm>
            <a:off x="548640" y="303961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D2</a:t>
            </a:r>
            <a:endParaRPr lang="en-US" sz="1400" dirty="0"/>
          </a:p>
        </p:txBody>
      </p:sp>
      <p:sp>
        <p:nvSpPr>
          <p:cNvPr id="34" name="Text 31"/>
          <p:cNvSpPr txBox="1"/>
          <p:nvPr/>
        </p:nvSpPr>
        <p:spPr>
          <a:xfrm>
            <a:off x="2103120" y="2801874"/>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35" name="Shape 32"/>
          <p:cNvSpPr/>
          <p:nvPr/>
        </p:nvSpPr>
        <p:spPr>
          <a:xfrm>
            <a:off x="2103120" y="3039618"/>
            <a:ext cx="751840" cy="329184"/>
          </a:xfrm>
          <a:prstGeom prst="roundRect">
            <a:avLst>
              <a:gd name="adj" fmla="val 16667"/>
            </a:avLst>
          </a:prstGeom>
          <a:solidFill>
            <a:srgbClr val="6E4A9E">
              <a:alpha val="88000"/>
            </a:srgbClr>
          </a:solidFill>
          <a:ln w="12700">
            <a:solidFill>
              <a:srgbClr val="6E4A9E"/>
            </a:solidFill>
            <a:prstDash val="solid"/>
          </a:ln>
        </p:spPr>
      </p:sp>
      <p:sp>
        <p:nvSpPr>
          <p:cNvPr id="36" name="Text 33"/>
          <p:cNvSpPr txBox="1"/>
          <p:nvPr/>
        </p:nvSpPr>
        <p:spPr>
          <a:xfrm>
            <a:off x="2139696" y="303961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Toen</a:t>
            </a:r>
            <a:endParaRPr lang="en-US" sz="1600" dirty="0"/>
          </a:p>
        </p:txBody>
      </p:sp>
      <p:sp>
        <p:nvSpPr>
          <p:cNvPr id="37" name="Text 34"/>
          <p:cNvSpPr txBox="1"/>
          <p:nvPr/>
        </p:nvSpPr>
        <p:spPr>
          <a:xfrm>
            <a:off x="2964688" y="280187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8" name="Shape 35"/>
          <p:cNvSpPr/>
          <p:nvPr/>
        </p:nvSpPr>
        <p:spPr>
          <a:xfrm>
            <a:off x="2964688" y="3039618"/>
            <a:ext cx="685800" cy="329184"/>
          </a:xfrm>
          <a:prstGeom prst="roundRect">
            <a:avLst>
              <a:gd name="adj" fmla="val 16667"/>
            </a:avLst>
          </a:prstGeom>
          <a:solidFill>
            <a:schemeClr val="tx2">
              <a:alpha val="88000"/>
            </a:schemeClr>
          </a:solidFill>
          <a:ln w="12700">
            <a:solidFill>
              <a:srgbClr val="17375E"/>
            </a:solidFill>
            <a:prstDash val="solid"/>
          </a:ln>
        </p:spPr>
      </p:sp>
      <p:sp>
        <p:nvSpPr>
          <p:cNvPr id="39" name="Text 36"/>
          <p:cNvSpPr txBox="1"/>
          <p:nvPr/>
        </p:nvSpPr>
        <p:spPr>
          <a:xfrm>
            <a:off x="3001264" y="303961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40" name="Text 37"/>
          <p:cNvSpPr txBox="1"/>
          <p:nvPr/>
        </p:nvSpPr>
        <p:spPr>
          <a:xfrm>
            <a:off x="3760216" y="2801874"/>
            <a:ext cx="128016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41" name="Shape 38"/>
          <p:cNvSpPr/>
          <p:nvPr/>
        </p:nvSpPr>
        <p:spPr>
          <a:xfrm>
            <a:off x="3760216" y="3039618"/>
            <a:ext cx="1280160" cy="329184"/>
          </a:xfrm>
          <a:prstGeom prst="roundRect">
            <a:avLst>
              <a:gd name="adj" fmla="val 16667"/>
            </a:avLst>
          </a:prstGeom>
          <a:solidFill>
            <a:schemeClr val="accent1">
              <a:alpha val="88000"/>
            </a:schemeClr>
          </a:solidFill>
          <a:ln w="12700">
            <a:solidFill>
              <a:srgbClr val="D9700F"/>
            </a:solidFill>
            <a:prstDash val="solid"/>
          </a:ln>
        </p:spPr>
      </p:sp>
      <p:sp>
        <p:nvSpPr>
          <p:cNvPr id="42" name="Text 39"/>
          <p:cNvSpPr txBox="1"/>
          <p:nvPr/>
        </p:nvSpPr>
        <p:spPr>
          <a:xfrm>
            <a:off x="3796792" y="303961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uitstapte</a:t>
            </a:r>
            <a:endParaRPr lang="en-US" sz="1600" dirty="0"/>
          </a:p>
        </p:txBody>
      </p:sp>
      <p:sp>
        <p:nvSpPr>
          <p:cNvPr id="43" name="Text 40"/>
          <p:cNvSpPr txBox="1"/>
          <p:nvPr/>
        </p:nvSpPr>
        <p:spPr>
          <a:xfrm>
            <a:off x="5150104" y="2801874"/>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4" name="Shape 41"/>
          <p:cNvSpPr/>
          <p:nvPr/>
        </p:nvSpPr>
        <p:spPr>
          <a:xfrm>
            <a:off x="5150104" y="3039618"/>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45" name="Text 42"/>
          <p:cNvSpPr txBox="1"/>
          <p:nvPr/>
        </p:nvSpPr>
        <p:spPr>
          <a:xfrm>
            <a:off x="5186680" y="303961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was</a:t>
            </a:r>
            <a:endParaRPr lang="en-US" sz="1600" dirty="0"/>
          </a:p>
        </p:txBody>
      </p:sp>
      <p:sp>
        <p:nvSpPr>
          <p:cNvPr id="46" name="Text 43"/>
          <p:cNvSpPr txBox="1"/>
          <p:nvPr/>
        </p:nvSpPr>
        <p:spPr>
          <a:xfrm>
            <a:off x="5945632" y="280187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7" name="Shape 44"/>
          <p:cNvSpPr/>
          <p:nvPr/>
        </p:nvSpPr>
        <p:spPr>
          <a:xfrm>
            <a:off x="5945632" y="3039618"/>
            <a:ext cx="685800" cy="329184"/>
          </a:xfrm>
          <a:prstGeom prst="roundRect">
            <a:avLst>
              <a:gd name="adj" fmla="val 16667"/>
            </a:avLst>
          </a:prstGeom>
          <a:solidFill>
            <a:schemeClr val="tx2">
              <a:alpha val="88000"/>
            </a:schemeClr>
          </a:solidFill>
          <a:ln w="12700">
            <a:solidFill>
              <a:srgbClr val="17375E"/>
            </a:solidFill>
            <a:prstDash val="solid"/>
          </a:ln>
        </p:spPr>
      </p:sp>
      <p:sp>
        <p:nvSpPr>
          <p:cNvPr id="48" name="Text 45"/>
          <p:cNvSpPr txBox="1"/>
          <p:nvPr/>
        </p:nvSpPr>
        <p:spPr>
          <a:xfrm>
            <a:off x="5982208" y="303961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hij</a:t>
            </a:r>
            <a:endParaRPr lang="en-US" sz="1600" dirty="0"/>
          </a:p>
        </p:txBody>
      </p:sp>
      <p:sp>
        <p:nvSpPr>
          <p:cNvPr id="49" name="Text 46"/>
          <p:cNvSpPr txBox="1"/>
          <p:nvPr/>
        </p:nvSpPr>
        <p:spPr>
          <a:xfrm>
            <a:off x="6741160" y="2801874"/>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adjectif</a:t>
            </a:r>
            <a:endParaRPr lang="en-US" sz="1000" dirty="0"/>
          </a:p>
        </p:txBody>
      </p:sp>
      <p:sp>
        <p:nvSpPr>
          <p:cNvPr id="50" name="Shape 47"/>
          <p:cNvSpPr/>
          <p:nvPr/>
        </p:nvSpPr>
        <p:spPr>
          <a:xfrm>
            <a:off x="6741160" y="3039618"/>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51" name="Text 48"/>
          <p:cNvSpPr txBox="1"/>
          <p:nvPr/>
        </p:nvSpPr>
        <p:spPr>
          <a:xfrm>
            <a:off x="6777736" y="3039618"/>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weg</a:t>
            </a:r>
            <a:endParaRPr lang="en-US" sz="1600" dirty="0"/>
          </a:p>
        </p:txBody>
      </p:sp>
      <p:sp>
        <p:nvSpPr>
          <p:cNvPr id="52" name="Text 49"/>
          <p:cNvSpPr txBox="1"/>
          <p:nvPr/>
        </p:nvSpPr>
        <p:spPr>
          <a:xfrm>
            <a:off x="2103120" y="339623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Quand je suis descendu, il avait disparu.</a:t>
            </a:r>
            <a:endParaRPr lang="en-US" sz="1400" dirty="0"/>
          </a:p>
        </p:txBody>
      </p:sp>
      <p:sp>
        <p:nvSpPr>
          <p:cNvPr id="53" name="Text 50"/>
          <p:cNvSpPr txBox="1"/>
          <p:nvPr/>
        </p:nvSpPr>
        <p:spPr>
          <a:xfrm>
            <a:off x="548640" y="3893820"/>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Ligne 7</a:t>
            </a:r>
            <a:endParaRPr lang="en-US" sz="1400" dirty="0"/>
          </a:p>
        </p:txBody>
      </p:sp>
      <p:sp>
        <p:nvSpPr>
          <p:cNvPr id="54" name="Text 51"/>
          <p:cNvSpPr txBox="1"/>
          <p:nvPr/>
        </p:nvSpPr>
        <p:spPr>
          <a:xfrm>
            <a:off x="2103120" y="3656076"/>
            <a:ext cx="106883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55" name="Shape 52"/>
          <p:cNvSpPr/>
          <p:nvPr/>
        </p:nvSpPr>
        <p:spPr>
          <a:xfrm>
            <a:off x="2103120" y="3893820"/>
            <a:ext cx="1068832" cy="329184"/>
          </a:xfrm>
          <a:prstGeom prst="roundRect">
            <a:avLst>
              <a:gd name="adj" fmla="val 16667"/>
            </a:avLst>
          </a:prstGeom>
          <a:solidFill>
            <a:schemeClr val="accent2">
              <a:alpha val="88000"/>
            </a:schemeClr>
          </a:solidFill>
          <a:ln w="12700">
            <a:solidFill>
              <a:srgbClr val="2A6FB0"/>
            </a:solidFill>
            <a:prstDash val="solid"/>
          </a:ln>
        </p:spPr>
      </p:sp>
      <p:sp>
        <p:nvSpPr>
          <p:cNvPr id="56" name="Text 53"/>
          <p:cNvSpPr txBox="1"/>
          <p:nvPr/>
        </p:nvSpPr>
        <p:spPr>
          <a:xfrm>
            <a:off x="2139696" y="3893820"/>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Vroeger</a:t>
            </a:r>
            <a:endParaRPr lang="en-US" sz="1600" dirty="0"/>
          </a:p>
        </p:txBody>
      </p:sp>
      <p:sp>
        <p:nvSpPr>
          <p:cNvPr id="57" name="Text 54"/>
          <p:cNvSpPr txBox="1"/>
          <p:nvPr/>
        </p:nvSpPr>
        <p:spPr>
          <a:xfrm>
            <a:off x="3281680" y="3656076"/>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58" name="Shape 55"/>
          <p:cNvSpPr/>
          <p:nvPr/>
        </p:nvSpPr>
        <p:spPr>
          <a:xfrm>
            <a:off x="3281680" y="3893820"/>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59" name="Text 56"/>
          <p:cNvSpPr txBox="1"/>
          <p:nvPr/>
        </p:nvSpPr>
        <p:spPr>
          <a:xfrm>
            <a:off x="3318256" y="389382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had</a:t>
            </a:r>
            <a:endParaRPr lang="en-US" sz="1600" dirty="0"/>
          </a:p>
        </p:txBody>
      </p:sp>
      <p:sp>
        <p:nvSpPr>
          <p:cNvPr id="60" name="Text 57"/>
          <p:cNvSpPr txBox="1"/>
          <p:nvPr/>
        </p:nvSpPr>
        <p:spPr>
          <a:xfrm>
            <a:off x="4077208" y="3656076"/>
            <a:ext cx="13858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1" name="Shape 58"/>
          <p:cNvSpPr/>
          <p:nvPr/>
        </p:nvSpPr>
        <p:spPr>
          <a:xfrm>
            <a:off x="4077208" y="3893820"/>
            <a:ext cx="1385824" cy="329184"/>
          </a:xfrm>
          <a:prstGeom prst="roundRect">
            <a:avLst>
              <a:gd name="adj" fmla="val 16667"/>
            </a:avLst>
          </a:prstGeom>
          <a:solidFill>
            <a:schemeClr val="tx2">
              <a:alpha val="88000"/>
            </a:schemeClr>
          </a:solidFill>
          <a:ln w="12700">
            <a:solidFill>
              <a:srgbClr val="17375E"/>
            </a:solidFill>
            <a:prstDash val="solid"/>
          </a:ln>
        </p:spPr>
      </p:sp>
      <p:sp>
        <p:nvSpPr>
          <p:cNvPr id="62" name="Text 59"/>
          <p:cNvSpPr txBox="1"/>
          <p:nvPr/>
        </p:nvSpPr>
        <p:spPr>
          <a:xfrm>
            <a:off x="4113784" y="3893820"/>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het gebouw</a:t>
            </a:r>
            <a:endParaRPr lang="en-US" sz="1600" dirty="0"/>
          </a:p>
        </p:txBody>
      </p:sp>
      <p:sp>
        <p:nvSpPr>
          <p:cNvPr id="63" name="Text 60"/>
          <p:cNvSpPr txBox="1"/>
          <p:nvPr/>
        </p:nvSpPr>
        <p:spPr>
          <a:xfrm>
            <a:off x="5572760" y="3656076"/>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négation</a:t>
            </a:r>
            <a:endParaRPr lang="en-US" sz="1000" dirty="0"/>
          </a:p>
        </p:txBody>
      </p:sp>
      <p:sp>
        <p:nvSpPr>
          <p:cNvPr id="64" name="Shape 61"/>
          <p:cNvSpPr/>
          <p:nvPr/>
        </p:nvSpPr>
        <p:spPr>
          <a:xfrm>
            <a:off x="5572760" y="3893820"/>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65" name="Text 62"/>
          <p:cNvSpPr txBox="1"/>
          <p:nvPr/>
        </p:nvSpPr>
        <p:spPr>
          <a:xfrm>
            <a:off x="5609336" y="3893820"/>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nooit</a:t>
            </a:r>
            <a:endParaRPr lang="en-US" sz="1600" dirty="0"/>
          </a:p>
        </p:txBody>
      </p:sp>
      <p:sp>
        <p:nvSpPr>
          <p:cNvPr id="66" name="Text 63"/>
          <p:cNvSpPr txBox="1"/>
          <p:nvPr/>
        </p:nvSpPr>
        <p:spPr>
          <a:xfrm>
            <a:off x="6539992" y="3656076"/>
            <a:ext cx="128016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7" name="Shape 64"/>
          <p:cNvSpPr/>
          <p:nvPr/>
        </p:nvSpPr>
        <p:spPr>
          <a:xfrm>
            <a:off x="6539992" y="3893820"/>
            <a:ext cx="1280160" cy="329184"/>
          </a:xfrm>
          <a:prstGeom prst="roundRect">
            <a:avLst>
              <a:gd name="adj" fmla="val 16667"/>
            </a:avLst>
          </a:prstGeom>
          <a:solidFill>
            <a:schemeClr val="accent5">
              <a:alpha val="25000"/>
            </a:schemeClr>
          </a:solidFill>
          <a:ln w="12700">
            <a:solidFill>
              <a:srgbClr val="4A5A70"/>
            </a:solidFill>
            <a:prstDash val="solid"/>
          </a:ln>
        </p:spPr>
      </p:sp>
      <p:sp>
        <p:nvSpPr>
          <p:cNvPr id="68" name="Text 65"/>
          <p:cNvSpPr txBox="1"/>
          <p:nvPr/>
        </p:nvSpPr>
        <p:spPr>
          <a:xfrm>
            <a:off x="6576568" y="3893820"/>
            <a:ext cx="1207008" cy="329184"/>
          </a:xfrm>
          <a:prstGeom prst="rect">
            <a:avLst/>
          </a:prstGeom>
          <a:noFill/>
          <a:ln/>
        </p:spPr>
        <p:txBody>
          <a:bodyPr wrap="square" lIns="0" tIns="0" rIns="0" bIns="0" rtlCol="0" anchor="ctr"/>
          <a:lstStyle/>
          <a:p>
            <a:pPr algn="ctr" indent="0" marL="0">
              <a:buNone/>
            </a:pPr>
            <a:r>
              <a:rPr lang="en-US" sz="1600" b="1" dirty="0">
                <a:solidFill>
                  <a:schemeClr val="tx1"/>
                </a:solidFill>
              </a:rPr>
              <a:t>problemen</a:t>
            </a:r>
            <a:endParaRPr lang="en-US" sz="1600" dirty="0"/>
          </a:p>
        </p:txBody>
      </p:sp>
      <p:sp>
        <p:nvSpPr>
          <p:cNvPr id="69" name="Text 66"/>
          <p:cNvSpPr txBox="1"/>
          <p:nvPr/>
        </p:nvSpPr>
        <p:spPr>
          <a:xfrm>
            <a:off x="2103120" y="425043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Avant, l’immeuble n’avait jamais de problèmes.</a:t>
            </a:r>
            <a:endParaRPr lang="en-US" sz="1400" dirty="0"/>
          </a:p>
        </p:txBody>
      </p:sp>
      <p:sp>
        <p:nvSpPr>
          <p:cNvPr id="70" name="Text 67"/>
          <p:cNvSpPr txBox="1"/>
          <p:nvPr/>
        </p:nvSpPr>
        <p:spPr>
          <a:xfrm>
            <a:off x="548640" y="474802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TAAK 2</a:t>
            </a:r>
            <a:endParaRPr lang="en-US" sz="1400" dirty="0"/>
          </a:p>
        </p:txBody>
      </p:sp>
      <p:sp>
        <p:nvSpPr>
          <p:cNvPr id="71" name="Text 68"/>
          <p:cNvSpPr txBox="1"/>
          <p:nvPr/>
        </p:nvSpPr>
        <p:spPr>
          <a:xfrm>
            <a:off x="2103120" y="4510278"/>
            <a:ext cx="1491488"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72" name="Shape 69"/>
          <p:cNvSpPr/>
          <p:nvPr/>
        </p:nvSpPr>
        <p:spPr>
          <a:xfrm>
            <a:off x="2103120" y="4748022"/>
            <a:ext cx="1491488" cy="329184"/>
          </a:xfrm>
          <a:prstGeom prst="roundRect">
            <a:avLst>
              <a:gd name="adj" fmla="val 16667"/>
            </a:avLst>
          </a:prstGeom>
          <a:solidFill>
            <a:schemeClr val="accent2">
              <a:alpha val="88000"/>
            </a:schemeClr>
          </a:solidFill>
          <a:ln w="12700">
            <a:solidFill>
              <a:srgbClr val="2A6FB0"/>
            </a:solidFill>
            <a:prstDash val="solid"/>
          </a:ln>
        </p:spPr>
      </p:sp>
      <p:sp>
        <p:nvSpPr>
          <p:cNvPr id="73" name="Text 70"/>
          <p:cNvSpPr txBox="1"/>
          <p:nvPr/>
        </p:nvSpPr>
        <p:spPr>
          <a:xfrm>
            <a:off x="2139696" y="4748022"/>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Bij intrede</a:t>
            </a:r>
            <a:endParaRPr lang="en-US" sz="1600" dirty="0"/>
          </a:p>
        </p:txBody>
      </p:sp>
      <p:sp>
        <p:nvSpPr>
          <p:cNvPr id="74" name="Text 71"/>
          <p:cNvSpPr txBox="1"/>
          <p:nvPr/>
        </p:nvSpPr>
        <p:spPr>
          <a:xfrm>
            <a:off x="3704336" y="451027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75" name="Shape 72"/>
          <p:cNvSpPr/>
          <p:nvPr/>
        </p:nvSpPr>
        <p:spPr>
          <a:xfrm>
            <a:off x="3704336" y="474802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76" name="Text 73"/>
          <p:cNvSpPr txBox="1"/>
          <p:nvPr/>
        </p:nvSpPr>
        <p:spPr>
          <a:xfrm>
            <a:off x="3740912" y="474802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was</a:t>
            </a:r>
            <a:endParaRPr lang="en-US" sz="1600" dirty="0"/>
          </a:p>
        </p:txBody>
      </p:sp>
      <p:sp>
        <p:nvSpPr>
          <p:cNvPr id="77" name="Text 74"/>
          <p:cNvSpPr txBox="1"/>
          <p:nvPr/>
        </p:nvSpPr>
        <p:spPr>
          <a:xfrm>
            <a:off x="4499864" y="4510278"/>
            <a:ext cx="106883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8" name="Shape 75"/>
          <p:cNvSpPr/>
          <p:nvPr/>
        </p:nvSpPr>
        <p:spPr>
          <a:xfrm>
            <a:off x="4499864" y="4748022"/>
            <a:ext cx="1068832" cy="329184"/>
          </a:xfrm>
          <a:prstGeom prst="roundRect">
            <a:avLst>
              <a:gd name="adj" fmla="val 16667"/>
            </a:avLst>
          </a:prstGeom>
          <a:solidFill>
            <a:schemeClr val="tx2">
              <a:alpha val="88000"/>
            </a:schemeClr>
          </a:solidFill>
          <a:ln w="12700">
            <a:solidFill>
              <a:srgbClr val="17375E"/>
            </a:solidFill>
            <a:prstDash val="solid"/>
          </a:ln>
        </p:spPr>
      </p:sp>
      <p:sp>
        <p:nvSpPr>
          <p:cNvPr id="79" name="Text 76"/>
          <p:cNvSpPr txBox="1"/>
          <p:nvPr/>
        </p:nvSpPr>
        <p:spPr>
          <a:xfrm>
            <a:off x="4536440" y="4748022"/>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de muur</a:t>
            </a:r>
            <a:endParaRPr lang="en-US" sz="1600" dirty="0"/>
          </a:p>
        </p:txBody>
      </p:sp>
      <p:sp>
        <p:nvSpPr>
          <p:cNvPr id="80" name="Text 77"/>
          <p:cNvSpPr txBox="1"/>
          <p:nvPr/>
        </p:nvSpPr>
        <p:spPr>
          <a:xfrm>
            <a:off x="5678424" y="4510278"/>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adjectif</a:t>
            </a:r>
            <a:endParaRPr lang="en-US" sz="1000" dirty="0"/>
          </a:p>
        </p:txBody>
      </p:sp>
      <p:sp>
        <p:nvSpPr>
          <p:cNvPr id="81" name="Shape 78"/>
          <p:cNvSpPr/>
          <p:nvPr/>
        </p:nvSpPr>
        <p:spPr>
          <a:xfrm>
            <a:off x="5678424" y="4748022"/>
            <a:ext cx="685800" cy="329184"/>
          </a:xfrm>
          <a:prstGeom prst="roundRect">
            <a:avLst>
              <a:gd name="adj" fmla="val 16667"/>
            </a:avLst>
          </a:prstGeom>
          <a:solidFill>
            <a:schemeClr val="accent5">
              <a:alpha val="25000"/>
            </a:schemeClr>
          </a:solidFill>
          <a:ln w="12700">
            <a:solidFill>
              <a:srgbClr val="4A5A70"/>
            </a:solidFill>
            <a:prstDash val="solid"/>
          </a:ln>
        </p:spPr>
      </p:sp>
      <p:sp>
        <p:nvSpPr>
          <p:cNvPr id="82" name="Text 79"/>
          <p:cNvSpPr txBox="1"/>
          <p:nvPr/>
        </p:nvSpPr>
        <p:spPr>
          <a:xfrm>
            <a:off x="5715000" y="4748022"/>
            <a:ext cx="612648" cy="329184"/>
          </a:xfrm>
          <a:prstGeom prst="rect">
            <a:avLst/>
          </a:prstGeom>
          <a:noFill/>
          <a:ln/>
        </p:spPr>
        <p:txBody>
          <a:bodyPr wrap="square" lIns="0" tIns="0" rIns="0" bIns="0" rtlCol="0" anchor="ctr"/>
          <a:lstStyle/>
          <a:p>
            <a:pPr algn="ctr" indent="0" marL="0">
              <a:buNone/>
            </a:pPr>
            <a:r>
              <a:rPr lang="en-US" sz="1600" b="1" dirty="0">
                <a:solidFill>
                  <a:schemeClr val="tx1"/>
                </a:solidFill>
              </a:rPr>
              <a:t>wit</a:t>
            </a:r>
            <a:endParaRPr lang="en-US" sz="1600" dirty="0"/>
          </a:p>
        </p:txBody>
      </p:sp>
      <p:sp>
        <p:nvSpPr>
          <p:cNvPr id="83" name="Text 80"/>
          <p:cNvSpPr txBox="1"/>
          <p:nvPr/>
        </p:nvSpPr>
        <p:spPr>
          <a:xfrm>
            <a:off x="2103120" y="510463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À l’entrée, le mur était blanc.</a:t>
            </a:r>
            <a:endParaRPr lang="en-US" sz="1400" dirty="0"/>
          </a:p>
        </p:txBody>
      </p:sp>
      <p:sp>
        <p:nvSpPr>
          <p:cNvPr id="84" name="Shape 81"/>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85"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86" name="Text 82"/>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En français : </a:t>
            </a:r>
            <a:r>
              <a:rPr lang="en-US" sz="1700" i="1" dirty="0">
                <a:solidFill>
                  <a:schemeClr val="tx1"/>
                </a:solidFill>
              </a:rPr>
              <a:t>Quand je suis descendu, </a:t>
            </a:r>
            <a:r>
              <a:rPr lang="en-US" sz="1700" b="1" i="1" dirty="0">
                <a:solidFill>
                  <a:schemeClr val="tx1"/>
                </a:solidFill>
              </a:rPr>
              <a:t>il avait</a:t>
            </a:r>
            <a:r>
              <a:rPr lang="en-US" sz="1700" i="1" dirty="0">
                <a:solidFill>
                  <a:schemeClr val="tx1"/>
                </a:solidFill>
              </a:rPr>
              <a:t> disparu.</a:t>
            </a:r>
            <a:r>
              <a:rPr lang="en-US" sz="1700" dirty="0">
                <a:solidFill>
                  <a:schemeClr val="tx1"/>
                </a:solidFill>
              </a:rPr>
              <a:t> En néerlandais : </a:t>
            </a:r>
            <a:r>
              <a:rPr lang="en-US" sz="1700" i="1" dirty="0">
                <a:solidFill>
                  <a:schemeClr val="tx1"/>
                </a:solidFill>
              </a:rPr>
              <a:t>Toen ik uitstapte, </a:t>
            </a:r>
            <a:r>
              <a:rPr lang="en-US" sz="1700" b="1" i="1" dirty="0">
                <a:solidFill>
                  <a:schemeClr val="tx1"/>
                </a:solidFill>
              </a:rPr>
              <a:t>was hij</a:t>
            </a:r>
            <a:r>
              <a:rPr lang="en-US" sz="1700" i="1" dirty="0">
                <a:solidFill>
                  <a:schemeClr val="tx1"/>
                </a:solidFill>
              </a:rPr>
              <a:t> weg.</a:t>
            </a:r>
            <a:r>
              <a:rPr lang="en-US" sz="1700" dirty="0">
                <a:solidFill>
                  <a:schemeClr val="tx1"/>
                </a:solidFill>
              </a:rPr>
              <a:t> ✗ </a:t>
            </a:r>
            <a:r>
              <a:rPr lang="en-US" sz="1700" i="1" dirty="0">
                <a:solidFill>
                  <a:schemeClr val="tx1"/>
                </a:solidFill>
              </a:rPr>
              <a:t>…hij was weg</a:t>
            </a:r>
            <a:r>
              <a:rPr lang="en-US" sz="1700" dirty="0">
                <a:solidFill>
                  <a:schemeClr val="tx1"/>
                </a:solidFill>
              </a:rPr>
              <a:t> : après la subordonnée, le </a:t>
            </a:r>
            <a:r>
              <a:rPr lang="en-US" sz="1700" b="1" dirty="0">
                <a:solidFill>
                  <a:schemeClr val="tx1"/>
                </a:solidFill>
              </a:rPr>
              <a:t>verbe d’abord</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Woordenschat : l’état des lieux</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9–10</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926080"/>
                <a:gridCol w="2606040"/>
                <a:gridCol w="2926080"/>
                <a:gridCol w="2633472"/>
              </a:tblGrid>
              <a:tr h="565099">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muur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mur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kras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 rayure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deur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porte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accent2"/>
                          </a:solidFill>
                        </a:rPr>
                        <a:t>de</a:t>
                      </a:r>
                      <a:r>
                        <a:rPr lang="en-US" sz="1600" dirty="0">
                          <a:solidFill>
                            <a:schemeClr val="tx1"/>
                          </a:solidFill>
                        </a:rPr>
                        <a:t> vochtvlek</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tache d’humidité</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kraan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robinet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kelder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 cave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70916">
                <a:tc>
                  <a:txBody>
                    <a:bodyPr/>
                    <a:lstStyle/>
                    <a:p>
                      <a:pPr algn="l" indent="0" marL="0">
                        <a:buNone/>
                      </a:pPr>
                      <a:r>
                        <a:rPr lang="en-US" sz="1600" b="1" dirty="0">
                          <a:solidFill>
                            <a:schemeClr val="accent4"/>
                          </a:solidFill>
                        </a:rPr>
                        <a:t>het</a:t>
                      </a:r>
                      <a:r>
                        <a:rPr lang="en-US" sz="1600" dirty="0">
                          <a:solidFill>
                            <a:schemeClr val="tx1"/>
                          </a:solidFill>
                        </a:rPr>
                        <a:t> bad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baignoire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accent2"/>
                          </a:solidFill>
                        </a:rPr>
                        <a:t>de</a:t>
                      </a:r>
                      <a:r>
                        <a:rPr lang="en-US" sz="1600" dirty="0">
                          <a:solidFill>
                            <a:schemeClr val="tx1"/>
                          </a:solidFill>
                        </a:rPr>
                        <a:t> wasmachine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machine à laver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verluchting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 ventilation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sleutel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la clé</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70916">
                <a:tc>
                  <a:txBody>
                    <a:bodyPr/>
                    <a:lstStyle/>
                    <a:p>
                      <a:pPr algn="l" indent="0" marL="0">
                        <a:buNone/>
                      </a:pPr>
                      <a:r>
                        <a:rPr lang="en-US" sz="1600" b="1" dirty="0">
                          <a:solidFill>
                            <a:schemeClr val="accent4"/>
                          </a:solidFill>
                        </a:rPr>
                        <a:t>het</a:t>
                      </a:r>
                      <a:r>
                        <a:rPr lang="en-US" sz="1600" dirty="0">
                          <a:solidFill>
                            <a:schemeClr val="tx1"/>
                          </a:solidFill>
                        </a:rPr>
                        <a:t> toestel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l’appareil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accent2"/>
                          </a:solidFill>
                        </a:rPr>
                        <a:t>de</a:t>
                      </a:r>
                      <a:r>
                        <a:rPr lang="en-US" sz="1600" dirty="0">
                          <a:solidFill>
                            <a:schemeClr val="tx1"/>
                          </a:solidFill>
                        </a:rPr>
                        <a:t> badge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le badge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koelkast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frigo</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b="1" dirty="0">
                          <a:solidFill>
                            <a:schemeClr val="accent2"/>
                          </a:solidFill>
                        </a:rPr>
                        <a:t>de</a:t>
                      </a:r>
                      <a:r>
                        <a:rPr lang="en-US" sz="1600" dirty="0">
                          <a:solidFill>
                            <a:schemeClr val="tx1"/>
                          </a:solidFill>
                        </a:rPr>
                        <a:t> intrede · </a:t>
                      </a:r>
                      <a:r>
                        <a:rPr lang="en-US" sz="1600" b="1" dirty="0">
                          <a:solidFill>
                            <a:schemeClr val="accent2"/>
                          </a:solidFill>
                        </a:rPr>
                        <a:t>de</a:t>
                      </a:r>
                      <a:r>
                        <a:rPr lang="en-US" sz="1600" dirty="0">
                          <a:solidFill>
                            <a:schemeClr val="tx1"/>
                          </a:solidFill>
                        </a:rPr>
                        <a:t> uittrede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l’entrée · la sortie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70916">
                <a:tc>
                  <a:txBody>
                    <a:bodyPr/>
                    <a:lstStyle/>
                    <a:p>
                      <a:pPr algn="l" indent="0" marL="0">
                        <a:buNone/>
                      </a:pPr>
                      <a:r>
                        <a:rPr lang="en-US" sz="1600" b="1" dirty="0">
                          <a:solidFill>
                            <a:schemeClr val="accent2"/>
                          </a:solidFill>
                        </a:rPr>
                        <a:t>de</a:t>
                      </a:r>
                      <a:r>
                        <a:rPr lang="en-US" sz="1600" dirty="0">
                          <a:solidFill>
                            <a:schemeClr val="tx1"/>
                          </a:solidFill>
                        </a:rPr>
                        <a:t> oven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le four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druppelen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goutter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70916">
                <a:tc>
                  <a:txBody>
                    <a:bodyPr/>
                    <a:lstStyle/>
                    <a:p>
                      <a:pPr algn="l" indent="0" marL="0">
                        <a:buNone/>
                      </a:pPr>
                      <a:r>
                        <a:rPr lang="en-US" sz="1600" dirty="0">
                          <a:solidFill>
                            <a:schemeClr val="tx1"/>
                          </a:solidFill>
                        </a:rPr>
                        <a:t>vernieuwen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rénover, remettre à neuf</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functioneren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fonctionner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Lezen: de plaatsbeschrijving bij intrede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21031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INTREDE · 2023</a:t>
            </a:r>
            <a:endParaRPr lang="en-US" sz="1200" dirty="0"/>
          </a:p>
        </p:txBody>
      </p:sp>
      <p:sp>
        <p:nvSpPr>
          <p:cNvPr id="8" name="Text 5"/>
          <p:cNvSpPr txBox="1"/>
          <p:nvPr/>
        </p:nvSpPr>
        <p:spPr>
          <a:xfrm>
            <a:off x="3108960" y="1609344"/>
            <a:ext cx="475488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Waversesteenweg 112, Elsene</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Badkamer   </a:t>
            </a:r>
            <a:r>
              <a:rPr lang="en-US" sz="2100" dirty="0">
                <a:solidFill>
                  <a:schemeClr val="tx1"/>
                </a:solidFill>
              </a:rPr>
              <a:t>De muren waren wit geschilderd en in goede staat. De kraan van het bad werkte normaal, maar druppelde lichtjes. De verluchting stond op de laagste stand.</a:t>
            </a:r>
            <a:endParaRPr lang="en-US" sz="2100" dirty="0"/>
          </a:p>
          <a:p>
            <a:pPr indent="0" marL="0">
              <a:spcAft>
                <a:spcPts val="800"/>
              </a:spcAft>
              <a:buNone/>
            </a:pPr>
            <a:r>
              <a:rPr lang="en-US" sz="2100" b="1" dirty="0">
                <a:solidFill>
                  <a:schemeClr val="tx2"/>
                </a:solidFill>
              </a:rPr>
              <a:t>Keuken   </a:t>
            </a:r>
            <a:r>
              <a:rPr lang="en-US" sz="2100" dirty="0">
                <a:solidFill>
                  <a:schemeClr val="tx1"/>
                </a:solidFill>
              </a:rPr>
              <a:t>De keuken werd in 2022 volledig vernieuwd. Alle toestellen functioneerden. De koelkast had een kleine kras op de deur.</a:t>
            </a:r>
            <a:endParaRPr lang="en-US" sz="2100" dirty="0"/>
          </a:p>
          <a:p>
            <a:pPr indent="0" marL="0">
              <a:spcAft>
                <a:spcPts val="800"/>
              </a:spcAft>
              <a:buNone/>
            </a:pPr>
            <a:r>
              <a:rPr lang="en-US" sz="2100" b="1" dirty="0">
                <a:solidFill>
                  <a:schemeClr val="tx2"/>
                </a:solidFill>
              </a:rPr>
              <a:t>Meterstanden   </a:t>
            </a:r>
            <a:r>
              <a:rPr lang="en-US" sz="2100" dirty="0">
                <a:solidFill>
                  <a:schemeClr val="tx1"/>
                </a:solidFill>
              </a:rPr>
              <a:t>Water: 00452 — Elektriciteit: 18240. De huurder ontving twee sleutels en een badge.</a:t>
            </a:r>
            <a:endParaRPr lang="en-US" sz="2100" dirty="0"/>
          </a:p>
        </p:txBody>
      </p:sp>
      <p:pic>
        <p:nvPicPr>
          <p:cNvPr id="10" name="illustration" descr="Illustration du syllabus">    </p:cNvPr>
          <p:cNvPicPr>
            <a:picLocks noChangeAspect="1"/>
          </p:cNvPicPr>
          <p:nvPr/>
        </p:nvPicPr>
        <p:blipFill>
          <a:blip r:embed="rId1"/>
          <a:stretch>
            <a:fillRect/>
          </a:stretch>
        </p:blipFill>
        <p:spPr>
          <a:xfrm>
            <a:off x="8275320" y="1481328"/>
            <a:ext cx="3364992" cy="2240622"/>
          </a:xfrm>
          <a:prstGeom prst="rect">
            <a:avLst/>
          </a:prstGeom>
          <a:effectLst>
            <a:outerShdw sx="100000" sy="100000" kx="0" ky="0" algn="bl" rotWithShape="0" blurRad="101600" dist="25400" dir="3600000">
              <a:srgbClr val="000000">
                <a:alpha val="18000"/>
              </a:srgbClr>
            </a:outerShdw>
          </a:effectLst>
        </p:spPr>
      </p:pic>
      <p:sp>
        <p:nvSpPr>
          <p:cNvPr id="11" name="aside"/>
          <p:cNvSpPr/>
          <p:nvPr/>
        </p:nvSpPr>
        <p:spPr>
          <a:xfrm>
            <a:off x="8275320" y="3977640"/>
            <a:ext cx="3364992" cy="2313432"/>
          </a:xfrm>
          <a:prstGeom prst="roundRect">
            <a:avLst>
              <a:gd name="adj" fmla="val 3162"/>
            </a:avLst>
          </a:prstGeom>
          <a:solidFill>
            <a:schemeClr val="accent2">
              <a:alpha val="10000"/>
            </a:schemeClr>
          </a:solidFill>
          <a:ln w="12700">
            <a:solidFill>
              <a:schemeClr val="accent2">
                <a:alpha val="60000"/>
              </a:schemeClr>
            </a:solidFill>
            <a:prstDash val="solid"/>
          </a:ln>
        </p:spPr>
      </p:sp>
      <p:pic>
        <p:nvPicPr>
          <p:cNvPr id="12" name="Image 1" descr="preencoded.png">    </p:cNvPr>
          <p:cNvPicPr>
            <a:picLocks noChangeAspect="1"/>
          </p:cNvPicPr>
          <p:nvPr/>
        </p:nvPicPr>
        <p:blipFill>
          <a:blip r:embed="rId2"/>
          <a:stretch>
            <a:fillRect/>
          </a:stretch>
        </p:blipFill>
        <p:spPr>
          <a:xfrm>
            <a:off x="8458200" y="4160520"/>
            <a:ext cx="292608" cy="292608"/>
          </a:xfrm>
          <a:prstGeom prst="rect">
            <a:avLst/>
          </a:prstGeom>
        </p:spPr>
      </p:pic>
      <p:sp>
        <p:nvSpPr>
          <p:cNvPr id="13" name="Text 8"/>
          <p:cNvSpPr txBox="1"/>
          <p:nvPr/>
        </p:nvSpPr>
        <p:spPr>
          <a:xfrm>
            <a:off x="8842248" y="4133088"/>
            <a:ext cx="26334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À FAIRE · 12 MIN</a:t>
            </a:r>
            <a:endParaRPr lang="en-US" sz="1400" dirty="0"/>
          </a:p>
        </p:txBody>
      </p:sp>
      <p:sp>
        <p:nvSpPr>
          <p:cNvPr id="14" name="Text 9"/>
          <p:cNvSpPr txBox="1"/>
          <p:nvPr/>
        </p:nvSpPr>
        <p:spPr>
          <a:xfrm>
            <a:off x="8439912" y="4572000"/>
            <a:ext cx="3035808" cy="1581912"/>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1</a:t>
            </a:r>
            <a:r>
              <a:rPr lang="en-US" sz="1400" dirty="0">
                <a:solidFill>
                  <a:schemeClr val="tx1"/>
                </a:solidFill>
              </a:rPr>
              <a:t> Quelle phrase de 2023 peut expliquer la fuite ?</a:t>
            </a:r>
            <a:endParaRPr lang="en-US" sz="1400" dirty="0"/>
          </a:p>
          <a:p>
            <a:pPr marL="177800" indent="-177800">
              <a:spcAft>
                <a:spcPts val="600"/>
              </a:spcAft>
              <a:buSzPct val="100000"/>
              <a:buChar char="•"/>
            </a:pPr>
            <a:r>
              <a:rPr lang="en-US" sz="1400" b="1" dirty="0">
                <a:solidFill>
                  <a:schemeClr val="tx1"/>
                </a:solidFill>
              </a:rPr>
              <a:t>2</a:t>
            </a:r>
            <a:r>
              <a:rPr lang="en-US" sz="1400" dirty="0">
                <a:solidFill>
                  <a:schemeClr val="tx1"/>
                </a:solidFill>
              </a:rPr>
              <a:t> Soulignez les imperfectums : réguliers ou forts ?</a:t>
            </a:r>
            <a:endParaRPr lang="en-US" sz="1400" dirty="0"/>
          </a:p>
          <a:p>
            <a:pPr marL="177800" indent="-177800">
              <a:spcAft>
                <a:spcPts val="600"/>
              </a:spcAft>
              <a:buSzPct val="100000"/>
              <a:buChar char="•"/>
            </a:pPr>
            <a:r>
              <a:rPr lang="en-US" sz="1400" b="1" dirty="0">
                <a:solidFill>
                  <a:schemeClr val="tx1"/>
                </a:solidFill>
              </a:rPr>
              <a:t>3</a:t>
            </a:r>
            <a:r>
              <a:rPr lang="en-US" sz="1400" dirty="0">
                <a:solidFill>
                  <a:schemeClr val="tx1"/>
                </a:solidFill>
              </a:rPr>
              <a:t> </a:t>
            </a:r>
            <a:r>
              <a:rPr lang="en-US" sz="1400" i="1" dirty="0">
                <a:solidFill>
                  <a:schemeClr val="tx1"/>
                </a:solidFill>
              </a:rPr>
              <a:t>werd … vernieuwd</a:t>
            </a:r>
            <a:r>
              <a:rPr lang="en-US" sz="1400" dirty="0">
                <a:solidFill>
                  <a:schemeClr val="tx1"/>
                </a:solidFill>
              </a:rPr>
              <a:t> : votre hypothèse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Lezen: de plaatsbeschrijving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exercise"/>
          <p:cNvSpPr txBox="1"/>
          <p:nvPr/>
        </p:nvSpPr>
        <p:spPr>
          <a:xfrm>
            <a:off x="548640" y="1481328"/>
            <a:ext cx="7178040" cy="4809744"/>
          </a:xfrm>
          <a:prstGeom prst="rect">
            <a:avLst/>
          </a:prstGeom>
          <a:noFill/>
          <a:ln/>
        </p:spPr>
        <p:txBody>
          <a:bodyPr wrap="square" lIns="0" tIns="0" rIns="0" bIns="0" rtlCol="0" anchor="t"/>
          <a:lstStyle/>
          <a:p>
            <a:pPr indent="0" marL="0">
              <a:spcAft>
                <a:spcPts val="1400"/>
              </a:spcAft>
              <a:buNone/>
            </a:pPr>
            <a:r>
              <a:rPr lang="en-US" sz="2600" b="1" dirty="0">
                <a:solidFill>
                  <a:schemeClr val="tx1"/>
                </a:solidFill>
              </a:rPr>
              <a:t>1.</a:t>
            </a:r>
            <a:r>
              <a:rPr lang="en-US" sz="2600" dirty="0">
                <a:solidFill>
                  <a:schemeClr val="tx1"/>
                </a:solidFill>
              </a:rPr>
              <a:t> Quel détail de 2023 peut être lié à la fuite actuelle ?</a:t>
            </a:r>
            <a:endParaRPr lang="en-US" sz="2600" dirty="0"/>
          </a:p>
          <a:p>
            <a:pPr indent="0" marL="0">
              <a:spcAft>
                <a:spcPts val="1400"/>
              </a:spcAft>
              <a:buNone/>
            </a:pPr>
            <a:r>
              <a:rPr lang="en-US" sz="2600" b="1" dirty="0">
                <a:solidFill>
                  <a:schemeClr val="tx1"/>
                </a:solidFill>
              </a:rPr>
              <a:t>2a.</a:t>
            </a:r>
            <a:r>
              <a:rPr lang="en-US" sz="2600" dirty="0">
                <a:solidFill>
                  <a:schemeClr val="tx1"/>
                </a:solidFill>
              </a:rPr>
              <a:t> Imperfectums </a:t>
            </a:r>
            <a:r>
              <a:rPr lang="en-US" sz="2600" b="1" dirty="0">
                <a:solidFill>
                  <a:schemeClr val="tx1"/>
                </a:solidFill>
              </a:rPr>
              <a:t>réguliers</a:t>
            </a:r>
            <a:r>
              <a:rPr lang="en-US" sz="2600" dirty="0">
                <a:solidFill>
                  <a:schemeClr val="tx1"/>
                </a:solidFill>
              </a:rPr>
              <a:t> (-te / -de)</a:t>
            </a:r>
            <a:endParaRPr lang="en-US" sz="2600" dirty="0"/>
          </a:p>
          <a:p>
            <a:pPr indent="0" marL="0">
              <a:spcAft>
                <a:spcPts val="1400"/>
              </a:spcAft>
              <a:buNone/>
            </a:pPr>
            <a:r>
              <a:rPr lang="en-US" sz="2600" b="1" dirty="0">
                <a:solidFill>
                  <a:schemeClr val="tx1"/>
                </a:solidFill>
              </a:rPr>
              <a:t>2b.</a:t>
            </a:r>
            <a:r>
              <a:rPr lang="en-US" sz="2600" dirty="0">
                <a:solidFill>
                  <a:schemeClr val="tx1"/>
                </a:solidFill>
              </a:rPr>
              <a:t> Imperfectums </a:t>
            </a:r>
            <a:r>
              <a:rPr lang="en-US" sz="2600" b="1" dirty="0">
                <a:solidFill>
                  <a:schemeClr val="tx1"/>
                </a:solidFill>
              </a:rPr>
              <a:t>forts ou irréguliers</a:t>
            </a:r>
            <a:endParaRPr lang="en-US" sz="2600" dirty="0"/>
          </a:p>
          <a:p>
            <a:pPr indent="0" marL="0">
              <a:spcAft>
                <a:spcPts val="1400"/>
              </a:spcAft>
              <a:buNone/>
            </a:pPr>
            <a:r>
              <a:rPr lang="en-US" sz="2600" b="1" dirty="0">
                <a:solidFill>
                  <a:schemeClr val="tx1"/>
                </a:solidFill>
              </a:rPr>
              <a:t>3.</a:t>
            </a:r>
            <a:r>
              <a:rPr lang="en-US" sz="2600" dirty="0">
                <a:solidFill>
                  <a:schemeClr val="tx1"/>
                </a:solidFill>
              </a:rPr>
              <a:t> </a:t>
            </a:r>
            <a:r>
              <a:rPr lang="en-US" sz="2600" i="1" dirty="0">
                <a:solidFill>
                  <a:schemeClr val="tx1"/>
                </a:solidFill>
              </a:rPr>
              <a:t>De keuken werd in 2022 volledig vernieuwd.</a:t>
            </a:r>
            <a:r>
              <a:rPr lang="en-US" sz="2600" dirty="0">
                <a:solidFill>
                  <a:schemeClr val="tx1"/>
                </a:solidFill>
              </a:rPr>
              <a:t> Votre hypothèse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Lezen: de plaatsbeschrijving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7" name="exercise"/>
          <p:cNvSpPr txBox="1"/>
          <p:nvPr/>
        </p:nvSpPr>
        <p:spPr>
          <a:xfrm>
            <a:off x="548640" y="1481328"/>
            <a:ext cx="7178040" cy="4809744"/>
          </a:xfrm>
          <a:prstGeom prst="rect">
            <a:avLst/>
          </a:prstGeom>
          <a:noFill/>
          <a:ln/>
        </p:spPr>
        <p:txBody>
          <a:bodyPr wrap="square" lIns="0" tIns="0" rIns="0" bIns="0" rtlCol="0" anchor="t"/>
          <a:lstStyle/>
          <a:p>
            <a:pPr indent="0" marL="0">
              <a:spcAft>
                <a:spcPts val="400"/>
              </a:spcAft>
              <a:buNone/>
            </a:pPr>
            <a:r>
              <a:rPr lang="en-US" sz="2100" b="1" dirty="0">
                <a:solidFill>
                  <a:schemeClr val="tx1"/>
                </a:solidFill>
              </a:rPr>
              <a:t>1.</a:t>
            </a:r>
            <a:r>
              <a:rPr lang="en-US" sz="2100" dirty="0">
                <a:solidFill>
                  <a:schemeClr val="tx1"/>
                </a:solidFill>
              </a:rPr>
              <a:t> Quel détail de 2023 peut être lié à la fuite actuelle ?</a:t>
            </a:r>
            <a:endParaRPr lang="en-US" sz="2100" dirty="0"/>
          </a:p>
          <a:p>
            <a:pPr indent="0" marL="0">
              <a:spcAft>
                <a:spcPts val="1200"/>
              </a:spcAft>
              <a:buNone/>
            </a:pPr>
            <a:r>
              <a:rPr lang="en-US" sz="2100" b="1" dirty="0">
                <a:solidFill>
                  <a:schemeClr val="accent3"/>
                </a:solidFill>
              </a:rPr>
              <a:t>→ </a:t>
            </a:r>
            <a:r>
              <a:rPr lang="en-US" sz="2100" dirty="0">
                <a:solidFill>
                  <a:schemeClr val="accent3"/>
                </a:solidFill>
              </a:rPr>
              <a:t>«De kraan van het bad werkte normaal, maar </a:t>
            </a:r>
            <a:r>
              <a:rPr lang="en-US" sz="2100" b="1" dirty="0">
                <a:solidFill>
                  <a:schemeClr val="accent3"/>
                </a:solidFill>
              </a:rPr>
              <a:t>druppelde lichtjes</a:t>
            </a:r>
            <a:r>
              <a:rPr lang="en-US" sz="2100" dirty="0">
                <a:solidFill>
                  <a:schemeClr val="accent3"/>
                </a:solidFill>
              </a:rPr>
              <a:t>.»</a:t>
            </a:r>
            <a:endParaRPr lang="en-US" sz="2100" dirty="0"/>
          </a:p>
          <a:p>
            <a:pPr indent="0" marL="0">
              <a:spcAft>
                <a:spcPts val="400"/>
              </a:spcAft>
              <a:buNone/>
            </a:pPr>
            <a:r>
              <a:rPr lang="en-US" sz="2100" b="1" dirty="0">
                <a:solidFill>
                  <a:schemeClr val="tx1"/>
                </a:solidFill>
              </a:rPr>
              <a:t>2a.</a:t>
            </a:r>
            <a:r>
              <a:rPr lang="en-US" sz="2100" dirty="0">
                <a:solidFill>
                  <a:schemeClr val="tx1"/>
                </a:solidFill>
              </a:rPr>
              <a:t> Imperfectums </a:t>
            </a:r>
            <a:r>
              <a:rPr lang="en-US" sz="2100" b="1" dirty="0">
                <a:solidFill>
                  <a:schemeClr val="tx1"/>
                </a:solidFill>
              </a:rPr>
              <a:t>réguliers</a:t>
            </a:r>
            <a:r>
              <a:rPr lang="en-US" sz="2100" dirty="0">
                <a:solidFill>
                  <a:schemeClr val="tx1"/>
                </a:solidFill>
              </a:rPr>
              <a:t> (-te / -de)</a:t>
            </a:r>
            <a:endParaRPr lang="en-US" sz="2100" dirty="0"/>
          </a:p>
          <a:p>
            <a:pPr indent="0" marL="0">
              <a:spcAft>
                <a:spcPts val="1200"/>
              </a:spcAft>
              <a:buNone/>
            </a:pPr>
            <a:r>
              <a:rPr lang="en-US" sz="2100" b="1" dirty="0">
                <a:solidFill>
                  <a:schemeClr val="accent3"/>
                </a:solidFill>
              </a:rPr>
              <a:t>→ </a:t>
            </a:r>
            <a:r>
              <a:rPr lang="en-US" sz="2100" dirty="0">
                <a:solidFill>
                  <a:schemeClr val="accent3"/>
                </a:solidFill>
              </a:rPr>
              <a:t>werkte · druppelde · functioneerden</a:t>
            </a:r>
            <a:endParaRPr lang="en-US" sz="2100" dirty="0"/>
          </a:p>
          <a:p>
            <a:pPr indent="0" marL="0">
              <a:spcAft>
                <a:spcPts val="400"/>
              </a:spcAft>
              <a:buNone/>
            </a:pPr>
            <a:r>
              <a:rPr lang="en-US" sz="2100" b="1" dirty="0">
                <a:solidFill>
                  <a:schemeClr val="tx1"/>
                </a:solidFill>
              </a:rPr>
              <a:t>2b.</a:t>
            </a:r>
            <a:r>
              <a:rPr lang="en-US" sz="2100" dirty="0">
                <a:solidFill>
                  <a:schemeClr val="tx1"/>
                </a:solidFill>
              </a:rPr>
              <a:t> Imperfectums </a:t>
            </a:r>
            <a:r>
              <a:rPr lang="en-US" sz="2100" b="1" dirty="0">
                <a:solidFill>
                  <a:schemeClr val="tx1"/>
                </a:solidFill>
              </a:rPr>
              <a:t>forts ou irréguliers</a:t>
            </a:r>
            <a:endParaRPr lang="en-US" sz="2100" dirty="0"/>
          </a:p>
          <a:p>
            <a:pPr indent="0" marL="0">
              <a:spcAft>
                <a:spcPts val="1200"/>
              </a:spcAft>
              <a:buNone/>
            </a:pPr>
            <a:r>
              <a:rPr lang="en-US" sz="2100" b="1" dirty="0">
                <a:solidFill>
                  <a:schemeClr val="accent3"/>
                </a:solidFill>
              </a:rPr>
              <a:t>→ </a:t>
            </a:r>
            <a:r>
              <a:rPr lang="en-US" sz="2100" dirty="0">
                <a:solidFill>
                  <a:schemeClr val="accent3"/>
                </a:solidFill>
              </a:rPr>
              <a:t>waren · stond · had · ontving</a:t>
            </a:r>
            <a:endParaRPr lang="en-US" sz="2100" dirty="0"/>
          </a:p>
          <a:p>
            <a:pPr indent="0" marL="0">
              <a:spcAft>
                <a:spcPts val="400"/>
              </a:spcAft>
              <a:buNone/>
            </a:pPr>
            <a:r>
              <a:rPr lang="en-US" sz="2100" b="1" dirty="0">
                <a:solidFill>
                  <a:schemeClr val="tx1"/>
                </a:solidFill>
              </a:rPr>
              <a:t>3.</a:t>
            </a:r>
            <a:r>
              <a:rPr lang="en-US" sz="2100" dirty="0">
                <a:solidFill>
                  <a:schemeClr val="tx1"/>
                </a:solidFill>
              </a:rPr>
              <a:t> </a:t>
            </a:r>
            <a:r>
              <a:rPr lang="en-US" sz="2100" i="1" dirty="0">
                <a:solidFill>
                  <a:schemeClr val="tx1"/>
                </a:solidFill>
              </a:rPr>
              <a:t>De keuken werd in 2022 volledig vernieuwd.</a:t>
            </a:r>
            <a:r>
              <a:rPr lang="en-US" sz="2100" dirty="0">
                <a:solidFill>
                  <a:schemeClr val="tx1"/>
                </a:solidFill>
              </a:rPr>
              <a:t> Votre hypothèse ?</a:t>
            </a:r>
            <a:endParaRPr lang="en-US" sz="2100" dirty="0"/>
          </a:p>
          <a:p>
            <a:pPr indent="0" marL="0">
              <a:spcAft>
                <a:spcPts val="1200"/>
              </a:spcAft>
              <a:buNone/>
            </a:pPr>
            <a:r>
              <a:rPr lang="en-US" sz="2100" b="1" dirty="0">
                <a:solidFill>
                  <a:schemeClr val="accent3"/>
                </a:solidFill>
              </a:rPr>
              <a:t>→ </a:t>
            </a:r>
            <a:r>
              <a:rPr lang="en-US" sz="2100" dirty="0">
                <a:solidFill>
                  <a:schemeClr val="accent3"/>
                </a:solidFill>
              </a:rPr>
              <a:t>c’est le </a:t>
            </a:r>
            <a:r>
              <a:rPr lang="en-US" sz="2100" b="1" dirty="0">
                <a:solidFill>
                  <a:schemeClr val="accent3"/>
                </a:solidFill>
              </a:rPr>
              <a:t>passif</a:t>
            </a:r>
            <a:r>
              <a:rPr lang="en-US" sz="2100" dirty="0">
                <a:solidFill>
                  <a:schemeClr val="accent3"/>
                </a:solidFill>
              </a:rPr>
              <a:t> : </a:t>
            </a:r>
            <a:r>
              <a:rPr lang="en-US" sz="2100" i="1" dirty="0">
                <a:solidFill>
                  <a:schemeClr val="accent3"/>
                </a:solidFill>
              </a:rPr>
              <a:t>werd + participe</a:t>
            </a:r>
            <a:r>
              <a:rPr lang="en-US" sz="2100" dirty="0">
                <a:solidFill>
                  <a:schemeClr val="accent3"/>
                </a:solidFill>
              </a:rPr>
              <a:t> = « a été rénové » (séquence 6.5)</a:t>
            </a:r>
            <a:endParaRPr lang="en-US" sz="2100" dirty="0"/>
          </a:p>
        </p:txBody>
      </p:sp>
      <p:sp>
        <p:nvSpPr>
          <p:cNvPr id="8"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werd</a:t>
            </a:r>
            <a:r>
              <a:rPr lang="en-US" sz="1800" dirty="0">
                <a:solidFill>
                  <a:schemeClr val="tx1"/>
                </a:solidFill>
              </a:rPr>
              <a:t> n’est pas un imperfectum ordinaire : c’est le passif.</a:t>
            </a:r>
            <a:endParaRPr lang="en-US" sz="1800" dirty="0"/>
          </a:p>
          <a:p>
            <a:pPr marL="177800" indent="-177800">
              <a:spcAft>
                <a:spcPts val="600"/>
              </a:spcAft>
              <a:buSzPct val="100000"/>
              <a:buChar char="•"/>
            </a:pPr>
            <a:r>
              <a:rPr lang="en-US" sz="1800" i="1" dirty="0">
                <a:solidFill>
                  <a:schemeClr val="tx1"/>
                </a:solidFill>
              </a:rPr>
              <a:t>had</a:t>
            </a:r>
            <a:r>
              <a:rPr lang="en-US" sz="1800" dirty="0">
                <a:solidFill>
                  <a:schemeClr val="tx1"/>
                </a:solidFill>
              </a:rPr>
              <a:t> et </a:t>
            </a:r>
            <a:r>
              <a:rPr lang="en-US" sz="1800" i="1" dirty="0">
                <a:solidFill>
                  <a:schemeClr val="tx1"/>
                </a:solidFill>
              </a:rPr>
              <a:t>was</a:t>
            </a:r>
            <a:r>
              <a:rPr lang="en-US" sz="1800" dirty="0">
                <a:solidFill>
                  <a:schemeClr val="tx1"/>
                </a:solidFill>
              </a:rPr>
              <a:t> : verbes irréguliers (hebben, zijn).</a:t>
            </a:r>
            <a:endParaRPr lang="en-US" sz="1800" dirty="0"/>
          </a:p>
          <a:p>
            <a:pPr marL="177800" indent="-177800">
              <a:spcAft>
                <a:spcPts val="600"/>
              </a:spcAft>
              <a:buSzPct val="100000"/>
              <a:buChar char="•"/>
            </a:pPr>
            <a:r>
              <a:rPr lang="en-US" sz="1800" i="1" dirty="0">
                <a:solidFill>
                  <a:schemeClr val="tx1"/>
                </a:solidFill>
              </a:rPr>
              <a:t>ontving</a:t>
            </a:r>
            <a:r>
              <a:rPr lang="en-US" sz="1800" dirty="0">
                <a:solidFill>
                  <a:schemeClr val="tx1"/>
                </a:solidFill>
              </a:rPr>
              <a:t> : fort (ontvangen).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5 Zet in het imperfectum</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Décrivez l’état passé : mettez les verbes à l’</a:t>
            </a:r>
            <a:r>
              <a:rPr lang="en-US" sz="1600" b="1" i="1" dirty="0">
                <a:solidFill>
                  <a:schemeClr val="accent5"/>
                </a:solidFill>
              </a:rPr>
              <a:t>imperfectum</a:t>
            </a:r>
            <a:r>
              <a:rPr lang="en-US" sz="1600" i="1" dirty="0">
                <a:solidFill>
                  <a:schemeClr val="accent5"/>
                </a:solidFill>
              </a:rPr>
              <a:t> (régulier ou fort — et attention au pluriel). Seul · 8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De deur </a:t>
            </a:r>
            <a:r>
              <a:rPr lang="en-US" sz="2400" dirty="0">
                <a:solidFill>
                  <a:schemeClr val="accent5"/>
                </a:solidFill>
              </a:rPr>
              <a:t>……………</a:t>
            </a:r>
            <a:r>
              <a:rPr lang="en-US" sz="2400" dirty="0">
                <a:solidFill>
                  <a:schemeClr val="tx1"/>
                </a:solidFill>
              </a:rPr>
              <a:t> (sluiten → fort) niet goed.</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muren </a:t>
            </a:r>
            <a:r>
              <a:rPr lang="en-US" sz="2400" dirty="0">
                <a:solidFill>
                  <a:schemeClr val="accent5"/>
                </a:solidFill>
              </a:rPr>
              <a:t>……………</a:t>
            </a:r>
            <a:r>
              <a:rPr lang="en-US" sz="2400" dirty="0">
                <a:solidFill>
                  <a:schemeClr val="tx1"/>
                </a:solidFill>
              </a:rPr>
              <a:t> (zijn) in goede staat.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De kraan </a:t>
            </a:r>
            <a:r>
              <a:rPr lang="en-US" sz="2400" dirty="0">
                <a:solidFill>
                  <a:schemeClr val="accent5"/>
                </a:solidFill>
              </a:rPr>
              <a:t>……………</a:t>
            </a:r>
            <a:r>
              <a:rPr lang="en-US" sz="2400" dirty="0">
                <a:solidFill>
                  <a:schemeClr val="tx1"/>
                </a:solidFill>
              </a:rPr>
              <a:t> (druppelen) al bij de intrede.</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huurder </a:t>
            </a:r>
            <a:r>
              <a:rPr lang="en-US" sz="2400" dirty="0">
                <a:solidFill>
                  <a:schemeClr val="accent5"/>
                </a:solidFill>
              </a:rPr>
              <a:t>……………</a:t>
            </a:r>
            <a:r>
              <a:rPr lang="en-US" sz="2400" dirty="0">
                <a:solidFill>
                  <a:schemeClr val="tx1"/>
                </a:solidFill>
              </a:rPr>
              <a:t> (hebben) toen geen klachten.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Wij </a:t>
            </a:r>
            <a:r>
              <a:rPr lang="en-US" sz="2400" dirty="0">
                <a:solidFill>
                  <a:schemeClr val="accent5"/>
                </a:solidFill>
              </a:rPr>
              <a:t>……………</a:t>
            </a:r>
            <a:r>
              <a:rPr lang="en-US" sz="2400" dirty="0">
                <a:solidFill>
                  <a:schemeClr val="tx1"/>
                </a:solidFill>
              </a:rPr>
              <a:t> (kunnen) de kelder niet bezoeken, want de sleutel </a:t>
            </a:r>
            <a:r>
              <a:rPr lang="en-US" sz="2400" dirty="0">
                <a:solidFill>
                  <a:schemeClr val="accent5"/>
                </a:solidFill>
              </a:rPr>
              <a:t>……………</a:t>
            </a:r>
            <a:r>
              <a:rPr lang="en-US" sz="2400" dirty="0">
                <a:solidFill>
                  <a:schemeClr val="tx1"/>
                </a:solidFill>
              </a:rPr>
              <a:t> (zijn) weg.</a:t>
            </a:r>
            <a:endParaRPr lang="en-US" sz="2400" dirty="0"/>
          </a:p>
          <a:p>
            <a:pPr indent="0" marL="0">
              <a:spcAft>
                <a:spcPts val="1000"/>
              </a:spcAft>
              <a:buNone/>
            </a:pPr>
            <a:r>
              <a:rPr lang="en-US" sz="2400" b="1" dirty="0">
                <a:solidFill>
                  <a:schemeClr val="tx2"/>
                </a:solidFill>
              </a:rPr>
              <a:t>6.  </a:t>
            </a:r>
            <a:r>
              <a:rPr lang="en-US" sz="2400" dirty="0">
                <a:solidFill>
                  <a:schemeClr val="tx1"/>
                </a:solidFill>
              </a:rPr>
              <a:t>Vroeger </a:t>
            </a:r>
            <a:r>
              <a:rPr lang="en-US" sz="2400" dirty="0">
                <a:solidFill>
                  <a:schemeClr val="accent5"/>
                </a:solidFill>
              </a:rPr>
              <a:t>……………</a:t>
            </a:r>
            <a:r>
              <a:rPr lang="en-US" sz="2400" dirty="0">
                <a:solidFill>
                  <a:schemeClr val="tx1"/>
                </a:solidFill>
              </a:rPr>
              <a:t> (staan) er een wasmachine in de badkamer.</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5 Zet in het imperfectum</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Décrivez l’état passé : mettez les verbes à l’</a:t>
            </a:r>
            <a:r>
              <a:rPr lang="en-US" sz="1600" b="1" i="1" dirty="0">
                <a:solidFill>
                  <a:schemeClr val="accent5"/>
                </a:solidFill>
              </a:rPr>
              <a:t>imperfectum</a:t>
            </a:r>
            <a:r>
              <a:rPr lang="en-US" sz="1600" i="1" dirty="0">
                <a:solidFill>
                  <a:schemeClr val="accent5"/>
                </a:solidFill>
              </a:rPr>
              <a:t> (régulier ou fort — et attention au pluriel). Seul · 8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De deur </a:t>
            </a:r>
            <a:r>
              <a:rPr lang="en-US" sz="2400" b="1" dirty="0">
                <a:solidFill>
                  <a:schemeClr val="accent3"/>
                </a:solidFill>
              </a:rPr>
              <a:t>sloot</a:t>
            </a:r>
            <a:r>
              <a:rPr lang="en-US" sz="2400" dirty="0">
                <a:solidFill>
                  <a:schemeClr val="tx1"/>
                </a:solidFill>
              </a:rPr>
              <a:t> (sluiten → fort) niet goed.</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muren </a:t>
            </a:r>
            <a:r>
              <a:rPr lang="en-US" sz="2400" b="1" dirty="0">
                <a:solidFill>
                  <a:schemeClr val="accent3"/>
                </a:solidFill>
              </a:rPr>
              <a:t>waren</a:t>
            </a:r>
            <a:r>
              <a:rPr lang="en-US" sz="2400" dirty="0">
                <a:solidFill>
                  <a:schemeClr val="tx1"/>
                </a:solidFill>
              </a:rPr>
              <a:t> (zijn) in goede staat.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De kraan </a:t>
            </a:r>
            <a:r>
              <a:rPr lang="en-US" sz="2400" b="1" dirty="0">
                <a:solidFill>
                  <a:schemeClr val="accent3"/>
                </a:solidFill>
              </a:rPr>
              <a:t>druppelde</a:t>
            </a:r>
            <a:r>
              <a:rPr lang="en-US" sz="2400" dirty="0">
                <a:solidFill>
                  <a:schemeClr val="tx1"/>
                </a:solidFill>
              </a:rPr>
              <a:t> (druppelen) al bij de intrede.</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huurder </a:t>
            </a:r>
            <a:r>
              <a:rPr lang="en-US" sz="2400" b="1" dirty="0">
                <a:solidFill>
                  <a:schemeClr val="accent3"/>
                </a:solidFill>
              </a:rPr>
              <a:t>had</a:t>
            </a:r>
            <a:r>
              <a:rPr lang="en-US" sz="2400" dirty="0">
                <a:solidFill>
                  <a:schemeClr val="tx1"/>
                </a:solidFill>
              </a:rPr>
              <a:t> (hebben) toen geen klachten.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Wij </a:t>
            </a:r>
            <a:r>
              <a:rPr lang="en-US" sz="2400" b="1" dirty="0">
                <a:solidFill>
                  <a:schemeClr val="accent3"/>
                </a:solidFill>
              </a:rPr>
              <a:t>konden</a:t>
            </a:r>
            <a:r>
              <a:rPr lang="en-US" sz="2400" dirty="0">
                <a:solidFill>
                  <a:schemeClr val="tx1"/>
                </a:solidFill>
              </a:rPr>
              <a:t> (kunnen) de kelder niet bezoeken, want de sleutel </a:t>
            </a:r>
            <a:r>
              <a:rPr lang="en-US" sz="2400" b="1" dirty="0">
                <a:solidFill>
                  <a:schemeClr val="accent3"/>
                </a:solidFill>
              </a:rPr>
              <a:t>was</a:t>
            </a:r>
            <a:r>
              <a:rPr lang="en-US" sz="2400" dirty="0">
                <a:solidFill>
                  <a:schemeClr val="tx1"/>
                </a:solidFill>
              </a:rPr>
              <a:t> (zijn) weg.</a:t>
            </a:r>
            <a:endParaRPr lang="en-US" sz="2400" dirty="0"/>
          </a:p>
          <a:p>
            <a:pPr indent="0" marL="0">
              <a:spcAft>
                <a:spcPts val="1000"/>
              </a:spcAft>
              <a:buNone/>
            </a:pPr>
            <a:r>
              <a:rPr lang="en-US" sz="2400" b="1" dirty="0">
                <a:solidFill>
                  <a:schemeClr val="tx2"/>
                </a:solidFill>
              </a:rPr>
              <a:t>6.  </a:t>
            </a:r>
            <a:r>
              <a:rPr lang="en-US" sz="2400" dirty="0">
                <a:solidFill>
                  <a:schemeClr val="tx1"/>
                </a:solidFill>
              </a:rPr>
              <a:t>Vroeger </a:t>
            </a:r>
            <a:r>
              <a:rPr lang="en-US" sz="2400" b="1" dirty="0">
                <a:solidFill>
                  <a:schemeClr val="accent3"/>
                </a:solidFill>
              </a:rPr>
              <a:t>stond</a:t>
            </a:r>
            <a:r>
              <a:rPr lang="en-US" sz="2400" dirty="0">
                <a:solidFill>
                  <a:schemeClr val="tx1"/>
                </a:solidFill>
              </a:rPr>
              <a:t> (staan) er een wasmachine in de badkamer.</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zijn</a:t>
            </a:r>
            <a:r>
              <a:rPr lang="en-US" sz="1800" dirty="0">
                <a:solidFill>
                  <a:schemeClr val="tx1"/>
                </a:solidFill>
              </a:rPr>
              <a:t> : </a:t>
            </a:r>
            <a:r>
              <a:rPr lang="en-US" sz="1800" i="1" dirty="0">
                <a:solidFill>
                  <a:schemeClr val="tx1"/>
                </a:solidFill>
              </a:rPr>
              <a:t>was</a:t>
            </a:r>
            <a:r>
              <a:rPr lang="en-US" sz="1800" dirty="0">
                <a:solidFill>
                  <a:schemeClr val="tx1"/>
                </a:solidFill>
              </a:rPr>
              <a:t> (sg) · </a:t>
            </a:r>
            <a:r>
              <a:rPr lang="en-US" sz="1800" i="1" dirty="0">
                <a:solidFill>
                  <a:schemeClr val="tx1"/>
                </a:solidFill>
              </a:rPr>
              <a:t>waren</a:t>
            </a:r>
            <a:r>
              <a:rPr lang="en-US" sz="1800" dirty="0">
                <a:solidFill>
                  <a:schemeClr val="tx1"/>
                </a:solidFill>
              </a:rPr>
              <a:t> (pl)</a:t>
            </a:r>
            <a:endParaRPr lang="en-US" sz="1800" dirty="0"/>
          </a:p>
          <a:p>
            <a:pPr marL="177800" indent="-177800">
              <a:spcAft>
                <a:spcPts val="600"/>
              </a:spcAft>
              <a:buSzPct val="100000"/>
              <a:buChar char="•"/>
            </a:pPr>
            <a:r>
              <a:rPr lang="en-US" sz="1800" b="1" dirty="0">
                <a:solidFill>
                  <a:schemeClr val="tx1"/>
                </a:solidFill>
              </a:rPr>
              <a:t>kunnen</a:t>
            </a:r>
            <a:r>
              <a:rPr lang="en-US" sz="1800" dirty="0">
                <a:solidFill>
                  <a:schemeClr val="tx1"/>
                </a:solidFill>
              </a:rPr>
              <a:t> → </a:t>
            </a:r>
            <a:r>
              <a:rPr lang="en-US" sz="1800" i="1" dirty="0">
                <a:solidFill>
                  <a:schemeClr val="tx1"/>
                </a:solidFill>
              </a:rPr>
              <a:t>konden</a:t>
            </a:r>
            <a:r>
              <a:rPr lang="en-US" sz="1800" dirty="0">
                <a:solidFill>
                  <a:schemeClr val="tx1"/>
                </a:solidFill>
              </a:rPr>
              <a:t> (wij)</a:t>
            </a:r>
            <a:endParaRPr lang="en-US" sz="1800" dirty="0"/>
          </a:p>
          <a:p>
            <a:pPr marL="177800" indent="-177800">
              <a:spcAft>
                <a:spcPts val="600"/>
              </a:spcAft>
              <a:buSzPct val="100000"/>
              <a:buChar char="•"/>
            </a:pPr>
            <a:r>
              <a:rPr lang="en-US" sz="1800" b="1" dirty="0">
                <a:solidFill>
                  <a:schemeClr val="tx1"/>
                </a:solidFill>
              </a:rPr>
              <a:t>staan</a:t>
            </a:r>
            <a:r>
              <a:rPr lang="en-US" sz="1800" dirty="0">
                <a:solidFill>
                  <a:schemeClr val="tx1"/>
                </a:solidFill>
              </a:rPr>
              <a:t> → </a:t>
            </a:r>
            <a:r>
              <a:rPr lang="en-US" sz="1800" i="1" dirty="0">
                <a:solidFill>
                  <a:schemeClr val="tx1"/>
                </a:solidFill>
              </a:rPr>
              <a:t>stond</a:t>
            </a:r>
            <a:r>
              <a:rPr lang="en-US" sz="1800" dirty="0">
                <a:solidFill>
                  <a:schemeClr val="tx1"/>
                </a:solidFill>
              </a:rPr>
              <a:t> · </a:t>
            </a:r>
            <a:r>
              <a:rPr lang="en-US" sz="1800" b="1" dirty="0">
                <a:solidFill>
                  <a:schemeClr val="tx1"/>
                </a:solidFill>
              </a:rPr>
              <a:t>hebben</a:t>
            </a:r>
            <a:r>
              <a:rPr lang="en-US" sz="1800" dirty="0">
                <a:solidFill>
                  <a:schemeClr val="tx1"/>
                </a:solidFill>
              </a:rPr>
              <a:t> → </a:t>
            </a:r>
            <a:r>
              <a:rPr lang="en-US" sz="1800" i="1" dirty="0">
                <a:solidFill>
                  <a:schemeClr val="tx1"/>
                </a:solidFill>
              </a:rPr>
              <a:t>had</a:t>
            </a:r>
            <a:endParaRPr lang="en-US" sz="1800" dirty="0"/>
          </a:p>
          <a:p>
            <a:pPr marL="177800" indent="-177800">
              <a:spcAft>
                <a:spcPts val="600"/>
              </a:spcAft>
              <a:buSzPct val="100000"/>
              <a:buChar char="•"/>
            </a:pPr>
            <a:r>
              <a:rPr lang="en-US" sz="1800" i="1" dirty="0">
                <a:solidFill>
                  <a:schemeClr val="tx1"/>
                </a:solidFill>
              </a:rPr>
              <a:t>druppelen</a:t>
            </a:r>
            <a:r>
              <a:rPr lang="en-US" sz="1800" dirty="0">
                <a:solidFill>
                  <a:schemeClr val="tx1"/>
                </a:solidFill>
              </a:rPr>
              <a:t> est régulier : </a:t>
            </a:r>
            <a:r>
              <a:rPr lang="en-US" sz="1800" i="1" dirty="0">
                <a:solidFill>
                  <a:schemeClr val="tx1"/>
                </a:solidFill>
              </a:rPr>
              <a:t>druppelde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de plaatsbeschrijving bij uittrede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7205472" cy="859536"/>
          </a:xfrm>
          <a:prstGeom prst="rect">
            <a:avLst/>
          </a:prstGeom>
          <a:noFill/>
          <a:ln/>
        </p:spPr>
        <p:txBody>
          <a:bodyPr wrap="square" lIns="0" tIns="0" rIns="0" bIns="0" rtlCol="0" anchor="t"/>
          <a:lstStyle/>
          <a:p>
            <a:pPr indent="0" marL="0">
              <a:buNone/>
            </a:pPr>
            <a:r>
              <a:rPr lang="en-US" sz="1600" i="1" dirty="0">
                <a:solidFill>
                  <a:schemeClr val="accent5"/>
                </a:solidFill>
              </a:rPr>
              <a:t>Le locataire précédent est parti : rédigez l’extrait </a:t>
            </a:r>
            <a:r>
              <a:rPr lang="en-US" sz="1600" b="1" i="1" dirty="0">
                <a:solidFill>
                  <a:schemeClr val="accent5"/>
                </a:solidFill>
              </a:rPr>
              <a:t>badkamer + keuken</a:t>
            </a:r>
            <a:r>
              <a:rPr lang="en-US" sz="1600" i="1" dirty="0">
                <a:solidFill>
                  <a:schemeClr val="accent5"/>
                </a:solidFill>
              </a:rPr>
              <a:t> de l’état des lieux de </a:t>
            </a:r>
            <a:r>
              <a:rPr lang="en-US" sz="1600" b="1" i="1" dirty="0">
                <a:solidFill>
                  <a:schemeClr val="accent5"/>
                </a:solidFill>
              </a:rPr>
              <a:t>sortie</a:t>
            </a:r>
            <a:r>
              <a:rPr lang="en-US" sz="1600" i="1" dirty="0">
                <a:solidFill>
                  <a:schemeClr val="accent5"/>
                </a:solidFill>
              </a:rPr>
              <a:t> (8 à 10 phrases). Pour chaque élément : l’état d’</a:t>
            </a:r>
            <a:r>
              <a:rPr lang="en-US" sz="1600" b="1" i="1" dirty="0">
                <a:solidFill>
                  <a:schemeClr val="accent5"/>
                </a:solidFill>
              </a:rPr>
              <a:t>ENTRÉE</a:t>
            </a:r>
            <a:r>
              <a:rPr lang="en-US" sz="1600" i="1" dirty="0">
                <a:solidFill>
                  <a:schemeClr val="accent5"/>
                </a:solidFill>
              </a:rPr>
              <a:t> à l’imperfectum, puis l’état de </a:t>
            </a:r>
            <a:r>
              <a:rPr lang="en-US" sz="1600" b="1" i="1" dirty="0">
                <a:solidFill>
                  <a:schemeClr val="accent5"/>
                </a:solidFill>
              </a:rPr>
              <a:t>SORTIE</a:t>
            </a:r>
            <a:r>
              <a:rPr lang="en-US" sz="1600" i="1" dirty="0">
                <a:solidFill>
                  <a:schemeClr val="accent5"/>
                </a:solidFill>
              </a:rPr>
              <a:t> au présent.</a:t>
            </a:r>
            <a:endParaRPr lang="en-US" sz="1600" dirty="0"/>
          </a:p>
        </p:txBody>
      </p:sp>
      <p:sp>
        <p:nvSpPr>
          <p:cNvPr id="7" name="exercise"/>
          <p:cNvSpPr txBox="1"/>
          <p:nvPr/>
        </p:nvSpPr>
        <p:spPr>
          <a:xfrm>
            <a:off x="548640" y="2414016"/>
            <a:ext cx="7205472" cy="387705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Fiche : constats</a:t>
            </a:r>
            <a:endParaRPr lang="en-US" sz="2400" dirty="0"/>
          </a:p>
          <a:p>
            <a:pPr indent="0" marL="0">
              <a:spcAft>
                <a:spcPts val="800"/>
              </a:spcAft>
              <a:buNone/>
            </a:pPr>
            <a:r>
              <a:rPr lang="en-US" sz="2400" b="1" dirty="0">
                <a:solidFill>
                  <a:schemeClr val="tx1"/>
                </a:solidFill>
              </a:rPr>
              <a:t>muur badkamer</a:t>
            </a:r>
            <a:r>
              <a:rPr lang="en-US" sz="2400" dirty="0">
                <a:solidFill>
                  <a:schemeClr val="tx1"/>
                </a:solidFill>
              </a:rPr>
              <a:t> → vochtvlek (30 cm)</a:t>
            </a:r>
            <a:endParaRPr lang="en-US" sz="2400" dirty="0"/>
          </a:p>
          <a:p>
            <a:pPr indent="0" marL="0">
              <a:spcAft>
                <a:spcPts val="800"/>
              </a:spcAft>
              <a:buNone/>
            </a:pPr>
            <a:r>
              <a:rPr lang="en-US" sz="2400" b="1" dirty="0">
                <a:solidFill>
                  <a:schemeClr val="tx1"/>
                </a:solidFill>
              </a:rPr>
              <a:t>kraan</a:t>
            </a:r>
            <a:r>
              <a:rPr lang="en-US" sz="2400" dirty="0">
                <a:solidFill>
                  <a:schemeClr val="tx1"/>
                </a:solidFill>
              </a:rPr>
              <a:t> → druppelt sterker</a:t>
            </a:r>
            <a:endParaRPr lang="en-US" sz="2400" dirty="0"/>
          </a:p>
          <a:p>
            <a:pPr indent="0" marL="0">
              <a:spcAft>
                <a:spcPts val="800"/>
              </a:spcAft>
              <a:buNone/>
            </a:pPr>
            <a:r>
              <a:rPr lang="en-US" sz="2400" b="1" dirty="0">
                <a:solidFill>
                  <a:schemeClr val="tx1"/>
                </a:solidFill>
              </a:rPr>
              <a:t>koelkast</a:t>
            </a:r>
            <a:r>
              <a:rPr lang="en-US" sz="2400" dirty="0">
                <a:solidFill>
                  <a:schemeClr val="tx1"/>
                </a:solidFill>
              </a:rPr>
              <a:t> → zelfde kras (geen nieuwe schade)</a:t>
            </a:r>
            <a:endParaRPr lang="en-US" sz="2400" dirty="0"/>
          </a:p>
          <a:p>
            <a:pPr indent="0" marL="0">
              <a:spcAft>
                <a:spcPts val="800"/>
              </a:spcAft>
              <a:buNone/>
            </a:pPr>
            <a:r>
              <a:rPr lang="en-US" sz="2400" b="1" dirty="0">
                <a:solidFill>
                  <a:schemeClr val="tx1"/>
                </a:solidFill>
              </a:rPr>
              <a:t>oven</a:t>
            </a:r>
            <a:r>
              <a:rPr lang="en-US" sz="2400" dirty="0">
                <a:solidFill>
                  <a:schemeClr val="tx1"/>
                </a:solidFill>
              </a:rPr>
              <a:t> → werkt niet meer</a:t>
            </a:r>
            <a:endParaRPr lang="en-US" sz="2400" dirty="0"/>
          </a:p>
          <a:p>
            <a:pPr indent="0" marL="0">
              <a:spcAft>
                <a:spcPts val="800"/>
              </a:spcAft>
              <a:buNone/>
            </a:pPr>
            <a:r>
              <a:rPr lang="en-US" sz="2400" b="1" dirty="0">
                <a:solidFill>
                  <a:schemeClr val="tx1"/>
                </a:solidFill>
              </a:rPr>
              <a:t>meterstanden</a:t>
            </a:r>
            <a:r>
              <a:rPr lang="en-US" sz="2400" dirty="0">
                <a:solidFill>
                  <a:schemeClr val="tx1"/>
                </a:solidFill>
              </a:rPr>
              <a:t> → water 00987 · elektriciteit 24102</a:t>
            </a:r>
            <a:endParaRPr lang="en-US" sz="2400" dirty="0"/>
          </a:p>
        </p:txBody>
      </p:sp>
      <p:sp>
        <p:nvSpPr>
          <p:cNvPr id="8" name="aside"/>
          <p:cNvSpPr/>
          <p:nvPr/>
        </p:nvSpPr>
        <p:spPr>
          <a:xfrm>
            <a:off x="8074152" y="1481328"/>
            <a:ext cx="3566160" cy="4809744"/>
          </a:xfrm>
          <a:prstGeom prst="roundRect">
            <a:avLst>
              <a:gd name="adj" fmla="val 2051"/>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57032" y="1664208"/>
            <a:ext cx="292608" cy="292608"/>
          </a:xfrm>
          <a:prstGeom prst="rect">
            <a:avLst/>
          </a:prstGeom>
        </p:spPr>
      </p:pic>
      <p:sp>
        <p:nvSpPr>
          <p:cNvPr id="10" name="Text 6"/>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8 à 10 phrases</a:t>
            </a:r>
            <a:endParaRPr lang="en-US" sz="1800" dirty="0"/>
          </a:p>
          <a:p>
            <a:pPr marL="177800" indent="-177800">
              <a:spcAft>
                <a:spcPts val="600"/>
              </a:spcAft>
              <a:buSzPct val="100000"/>
              <a:buChar char="•"/>
            </a:pPr>
            <a:r>
              <a:rPr lang="en-US" sz="1800" dirty="0">
                <a:solidFill>
                  <a:schemeClr val="tx1"/>
                </a:solidFill>
              </a:rPr>
              <a:t>Entrée : </a:t>
            </a:r>
            <a:r>
              <a:rPr lang="en-US" sz="1800" b="1" dirty="0">
                <a:solidFill>
                  <a:schemeClr val="tx1"/>
                </a:solidFill>
              </a:rPr>
              <a:t>imperfectum</a:t>
            </a:r>
            <a:r>
              <a:rPr lang="en-US" sz="1800" dirty="0">
                <a:solidFill>
                  <a:schemeClr val="tx1"/>
                </a:solidFill>
              </a:rPr>
              <a:t> (</a:t>
            </a:r>
            <a:r>
              <a:rPr lang="en-US" sz="1800" i="1" dirty="0">
                <a:solidFill>
                  <a:schemeClr val="tx1"/>
                </a:solidFill>
              </a:rPr>
              <a:t>Bij intrede was…</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Sortie : </a:t>
            </a:r>
            <a:r>
              <a:rPr lang="en-US" sz="1800" b="1" dirty="0">
                <a:solidFill>
                  <a:schemeClr val="tx1"/>
                </a:solidFill>
              </a:rPr>
              <a:t>présent</a:t>
            </a:r>
            <a:r>
              <a:rPr lang="en-US" sz="1800" dirty="0">
                <a:solidFill>
                  <a:schemeClr val="tx1"/>
                </a:solidFill>
              </a:rPr>
              <a:t> (</a:t>
            </a:r>
            <a:r>
              <a:rPr lang="en-US" sz="1800" i="1" dirty="0">
                <a:solidFill>
                  <a:schemeClr val="tx1"/>
                </a:solidFill>
              </a:rPr>
              <a:t>Bij uittrede vertoont…</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Relecture croisée : régulier ou fort ? contraste entrée / sortie</a:t>
            </a:r>
            <a:endParaRPr lang="en-US" sz="1800" dirty="0"/>
          </a:p>
          <a:p>
            <a:pPr marL="177800" indent="-177800">
              <a:spcAft>
                <a:spcPts val="600"/>
              </a:spcAft>
              <a:buSzPct val="100000"/>
              <a:buChar char="•"/>
            </a:pPr>
            <a:r>
              <a:rPr lang="en-US" sz="1800" dirty="0">
                <a:solidFill>
                  <a:schemeClr val="tx1"/>
                </a:solidFill>
              </a:rPr>
              <a:t>Écrit · seul puis binôme · 14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 exemple de corrigé</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566928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Plaatsbeschrijving bij uittrede</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Badkamer   </a:t>
            </a:r>
            <a:r>
              <a:rPr lang="en-US" sz="2100" dirty="0">
                <a:solidFill>
                  <a:schemeClr val="tx1"/>
                </a:solidFill>
              </a:rPr>
              <a:t>Bij intrede </a:t>
            </a:r>
            <a:r>
              <a:rPr lang="en-US" sz="2100" b="1" dirty="0">
                <a:solidFill>
                  <a:schemeClr val="tx1"/>
                </a:solidFill>
              </a:rPr>
              <a:t>was</a:t>
            </a:r>
            <a:r>
              <a:rPr lang="en-US" sz="2100" dirty="0">
                <a:solidFill>
                  <a:schemeClr val="tx1"/>
                </a:solidFill>
              </a:rPr>
              <a:t> de muur wit. Bij uittrede </a:t>
            </a:r>
            <a:r>
              <a:rPr lang="en-US" sz="2100" b="1" dirty="0">
                <a:solidFill>
                  <a:schemeClr val="tx1"/>
                </a:solidFill>
              </a:rPr>
              <a:t>vertoont</a:t>
            </a:r>
            <a:r>
              <a:rPr lang="en-US" sz="2100" dirty="0">
                <a:solidFill>
                  <a:schemeClr val="tx1"/>
                </a:solidFill>
              </a:rPr>
              <a:t> de muur een vochtvlek van 30 cm. Bij intrede </a:t>
            </a:r>
            <a:r>
              <a:rPr lang="en-US" sz="2100" b="1" dirty="0">
                <a:solidFill>
                  <a:schemeClr val="tx1"/>
                </a:solidFill>
              </a:rPr>
              <a:t>druppelde</a:t>
            </a:r>
            <a:r>
              <a:rPr lang="en-US" sz="2100" dirty="0">
                <a:solidFill>
                  <a:schemeClr val="tx1"/>
                </a:solidFill>
              </a:rPr>
              <a:t> de kraan lichtjes. Bij uittrede </a:t>
            </a:r>
            <a:r>
              <a:rPr lang="en-US" sz="2100" b="1" dirty="0">
                <a:solidFill>
                  <a:schemeClr val="tx1"/>
                </a:solidFill>
              </a:rPr>
              <a:t>druppelt</a:t>
            </a:r>
            <a:r>
              <a:rPr lang="en-US" sz="2100" dirty="0">
                <a:solidFill>
                  <a:schemeClr val="tx1"/>
                </a:solidFill>
              </a:rPr>
              <a:t> de kraan sterker.</a:t>
            </a:r>
            <a:endParaRPr lang="en-US" sz="2100" dirty="0"/>
          </a:p>
          <a:p>
            <a:pPr indent="0" marL="0">
              <a:spcAft>
                <a:spcPts val="800"/>
              </a:spcAft>
              <a:buNone/>
            </a:pPr>
            <a:r>
              <a:rPr lang="en-US" sz="2100" b="1" dirty="0">
                <a:solidFill>
                  <a:schemeClr val="tx2"/>
                </a:solidFill>
              </a:rPr>
              <a:t>Keuken   </a:t>
            </a:r>
            <a:r>
              <a:rPr lang="en-US" sz="2100" dirty="0">
                <a:solidFill>
                  <a:schemeClr val="tx1"/>
                </a:solidFill>
              </a:rPr>
              <a:t>Bij intrede </a:t>
            </a:r>
            <a:r>
              <a:rPr lang="en-US" sz="2100" b="1" dirty="0">
                <a:solidFill>
                  <a:schemeClr val="tx1"/>
                </a:solidFill>
              </a:rPr>
              <a:t>had</a:t>
            </a:r>
            <a:r>
              <a:rPr lang="en-US" sz="2100" dirty="0">
                <a:solidFill>
                  <a:schemeClr val="tx1"/>
                </a:solidFill>
              </a:rPr>
              <a:t> de koelkast een kleine kras op de deur. Bij uittrede </a:t>
            </a:r>
            <a:r>
              <a:rPr lang="en-US" sz="2100" b="1" dirty="0">
                <a:solidFill>
                  <a:schemeClr val="tx1"/>
                </a:solidFill>
              </a:rPr>
              <a:t>heeft</a:t>
            </a:r>
            <a:r>
              <a:rPr lang="en-US" sz="2100" dirty="0">
                <a:solidFill>
                  <a:schemeClr val="tx1"/>
                </a:solidFill>
              </a:rPr>
              <a:t> de koelkast dezelfde kras: er is geen nieuwe schade. Bij intrede </a:t>
            </a:r>
            <a:r>
              <a:rPr lang="en-US" sz="2100" b="1" dirty="0">
                <a:solidFill>
                  <a:schemeClr val="tx1"/>
                </a:solidFill>
              </a:rPr>
              <a:t>functioneerde</a:t>
            </a:r>
            <a:r>
              <a:rPr lang="en-US" sz="2100" dirty="0">
                <a:solidFill>
                  <a:schemeClr val="tx1"/>
                </a:solidFill>
              </a:rPr>
              <a:t> de oven. Bij uittrede </a:t>
            </a:r>
            <a:r>
              <a:rPr lang="en-US" sz="2100" b="1" dirty="0">
                <a:solidFill>
                  <a:schemeClr val="tx1"/>
                </a:solidFill>
              </a:rPr>
              <a:t>werkt</a:t>
            </a:r>
            <a:r>
              <a:rPr lang="en-US" sz="2100" dirty="0">
                <a:solidFill>
                  <a:schemeClr val="tx1"/>
                </a:solidFill>
              </a:rPr>
              <a:t> de oven niet meer.</a:t>
            </a:r>
            <a:endParaRPr lang="en-US" sz="2100" dirty="0"/>
          </a:p>
          <a:p>
            <a:pPr indent="0" marL="0">
              <a:spcAft>
                <a:spcPts val="800"/>
              </a:spcAft>
              <a:buNone/>
            </a:pPr>
            <a:r>
              <a:rPr lang="en-US" sz="2100" b="1" dirty="0">
                <a:solidFill>
                  <a:schemeClr val="tx2"/>
                </a:solidFill>
              </a:rPr>
              <a:t>Meterstanden   </a:t>
            </a:r>
            <a:r>
              <a:rPr lang="en-US" sz="2100" dirty="0">
                <a:solidFill>
                  <a:schemeClr val="tx1"/>
                </a:solidFill>
              </a:rPr>
              <a:t>Bij intrede </a:t>
            </a:r>
            <a:r>
              <a:rPr lang="en-US" sz="2100" b="1" dirty="0">
                <a:solidFill>
                  <a:schemeClr val="tx1"/>
                </a:solidFill>
              </a:rPr>
              <a:t>waren</a:t>
            </a:r>
            <a:r>
              <a:rPr lang="en-US" sz="2100" dirty="0">
                <a:solidFill>
                  <a:schemeClr val="tx1"/>
                </a:solidFill>
              </a:rPr>
              <a:t> de meterstanden: water 00452 en elektriciteit 18240. Bij uittrede </a:t>
            </a:r>
            <a:r>
              <a:rPr lang="en-US" sz="2100" b="1" dirty="0">
                <a:solidFill>
                  <a:schemeClr val="tx1"/>
                </a:solidFill>
              </a:rPr>
              <a:t>zijn</a:t>
            </a:r>
            <a:r>
              <a:rPr lang="en-US" sz="2100" dirty="0">
                <a:solidFill>
                  <a:schemeClr val="tx1"/>
                </a:solidFill>
              </a:rPr>
              <a:t> ze: water 00987 en elektriciteit 24102.</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VÉRIFIER</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Chaque </a:t>
            </a:r>
            <a:r>
              <a:rPr lang="en-US" sz="1800" b="1" dirty="0">
                <a:solidFill>
                  <a:schemeClr val="tx1"/>
                </a:solidFill>
              </a:rPr>
              <a:t>imperfectum</a:t>
            </a:r>
            <a:r>
              <a:rPr lang="en-US" sz="1800" dirty="0">
                <a:solidFill>
                  <a:schemeClr val="tx1"/>
                </a:solidFill>
              </a:rPr>
              <a:t> : régulier ou fort ?</a:t>
            </a:r>
            <a:endParaRPr lang="en-US" sz="1800" dirty="0"/>
          </a:p>
          <a:p>
            <a:pPr marL="177800" indent="-177800">
              <a:spcAft>
                <a:spcPts val="600"/>
              </a:spcAft>
              <a:buSzPct val="100000"/>
              <a:buChar char="•"/>
            </a:pPr>
            <a:r>
              <a:rPr lang="en-US" sz="1800" b="1" dirty="0">
                <a:solidFill>
                  <a:schemeClr val="tx1"/>
                </a:solidFill>
              </a:rPr>
              <a:t>was / waren</a:t>
            </a:r>
            <a:r>
              <a:rPr lang="en-US" sz="1800" dirty="0">
                <a:solidFill>
                  <a:schemeClr val="tx1"/>
                </a:solidFill>
              </a:rPr>
              <a:t> : accord</a:t>
            </a:r>
            <a:endParaRPr lang="en-US" sz="1800" dirty="0"/>
          </a:p>
          <a:p>
            <a:pPr marL="177800" indent="-177800">
              <a:spcAft>
                <a:spcPts val="600"/>
              </a:spcAft>
              <a:buSzPct val="100000"/>
              <a:buChar char="•"/>
            </a:pPr>
            <a:r>
              <a:rPr lang="en-US" sz="1800" dirty="0">
                <a:solidFill>
                  <a:schemeClr val="tx1"/>
                </a:solidFill>
              </a:rPr>
              <a:t>Contraste </a:t>
            </a:r>
            <a:r>
              <a:rPr lang="en-US" sz="1800" b="1" dirty="0">
                <a:solidFill>
                  <a:schemeClr val="tx1"/>
                </a:solidFill>
              </a:rPr>
              <a:t>entrée / sortie</a:t>
            </a:r>
            <a:endParaRPr lang="en-US" sz="1800" dirty="0"/>
          </a:p>
          <a:p>
            <a:pPr marL="177800" indent="-177800">
              <a:spcAft>
                <a:spcPts val="600"/>
              </a:spcAft>
              <a:buSzPct val="100000"/>
              <a:buChar char="•"/>
            </a:pPr>
            <a:r>
              <a:rPr lang="en-US" sz="1800" dirty="0">
                <a:solidFill>
                  <a:schemeClr val="tx1"/>
                </a:solidFill>
              </a:rPr>
              <a:t>Présent : </a:t>
            </a:r>
            <a:r>
              <a:rPr lang="en-US" sz="1800" i="1" dirty="0">
                <a:solidFill>
                  <a:schemeClr val="tx1"/>
                </a:solidFill>
              </a:rPr>
              <a:t>vertoont · druppelt · werkt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Verloren voorwerpen : le formulaire de Stef</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3944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FORMULIER</a:t>
            </a:r>
            <a:endParaRPr lang="en-US" sz="1200" dirty="0"/>
          </a:p>
        </p:txBody>
      </p:sp>
      <p:sp>
        <p:nvSpPr>
          <p:cNvPr id="8" name="Text 5"/>
          <p:cNvSpPr txBox="1"/>
          <p:nvPr/>
        </p:nvSpPr>
        <p:spPr>
          <a:xfrm>
            <a:off x="2400300" y="1609344"/>
            <a:ext cx="54635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Verloren voorwerpen — ingevuld door Stef</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Voorwerp   </a:t>
            </a:r>
            <a:r>
              <a:rPr lang="en-US" sz="2100" dirty="0">
                <a:solidFill>
                  <a:schemeClr val="tx1"/>
                </a:solidFill>
              </a:rPr>
              <a:t>een zwarte leren portefeuille. De rits was kapot en er zaten mijn identiteitskaart, mijn bankkaart en een foto van mijn zus in.</a:t>
            </a:r>
            <a:endParaRPr lang="en-US" sz="2100" dirty="0"/>
          </a:p>
          <a:p>
            <a:pPr indent="0" marL="0">
              <a:spcAft>
                <a:spcPts val="800"/>
              </a:spcAft>
              <a:buNone/>
            </a:pPr>
            <a:r>
              <a:rPr lang="en-US" sz="2100" b="1" dirty="0">
                <a:solidFill>
                  <a:schemeClr val="tx2"/>
                </a:solidFill>
              </a:rPr>
              <a:t>Wanneer en waar   </a:t>
            </a:r>
            <a:r>
              <a:rPr lang="en-US" sz="2100" dirty="0">
                <a:solidFill>
                  <a:schemeClr val="tx1"/>
                </a:solidFill>
              </a:rPr>
              <a:t>maandag rond 18.30 uur, op de tram tussen het Zuidstation en Vorst.</a:t>
            </a:r>
            <a:endParaRPr lang="en-US" sz="2100" dirty="0"/>
          </a:p>
          <a:p>
            <a:pPr indent="0" marL="0">
              <a:spcAft>
                <a:spcPts val="800"/>
              </a:spcAft>
              <a:buNone/>
            </a:pPr>
            <a:r>
              <a:rPr lang="en-US" sz="2100" b="1" dirty="0">
                <a:solidFill>
                  <a:schemeClr val="tx2"/>
                </a:solidFill>
              </a:rPr>
              <a:t>Omstandigheden   </a:t>
            </a:r>
            <a:r>
              <a:rPr lang="en-US" sz="2100" dirty="0">
                <a:solidFill>
                  <a:schemeClr val="tx1"/>
                </a:solidFill>
              </a:rPr>
              <a:t>het was erg druk en ik stond achteraan. Mijn portefeuille zat in mijn jaszak. Toen ik uitstapte, was hij weg. Ik heb mijn bankkaart meteen laten blokkeren.</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2">
              <a:alpha val="10000"/>
            </a:schemeClr>
          </a:solidFill>
          <a:ln w="12700">
            <a:solidFill>
              <a:schemeClr val="accent2">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À FAIRE</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a:t>
            </a:r>
            <a:r>
              <a:rPr lang="en-US" sz="1800" dirty="0">
                <a:solidFill>
                  <a:schemeClr val="tx1"/>
                </a:solidFill>
              </a:rPr>
              <a:t> Soulignez les imperfectums et le perfectum. Lequel raconte un </a:t>
            </a:r>
            <a:r>
              <a:rPr lang="en-US" sz="1800" b="1" dirty="0">
                <a:solidFill>
                  <a:schemeClr val="tx1"/>
                </a:solidFill>
              </a:rPr>
              <a:t>événement ponctuel</a:t>
            </a:r>
            <a:r>
              <a:rPr lang="en-US" sz="1800" dirty="0">
                <a:solidFill>
                  <a:schemeClr val="tx1"/>
                </a:solidFill>
              </a:rPr>
              <a:t> ?</a:t>
            </a:r>
            <a:endParaRPr lang="en-US" sz="1800" dirty="0"/>
          </a:p>
          <a:p>
            <a:pPr marL="177800" indent="-177800">
              <a:spcAft>
                <a:spcPts val="600"/>
              </a:spcAft>
              <a:buSzPct val="100000"/>
              <a:buChar char="•"/>
            </a:pPr>
            <a:r>
              <a:rPr lang="en-US" sz="1800" b="1" dirty="0">
                <a:solidFill>
                  <a:schemeClr val="tx1"/>
                </a:solidFill>
              </a:rPr>
              <a:t>2</a:t>
            </a:r>
            <a:r>
              <a:rPr lang="en-US" sz="1800" dirty="0">
                <a:solidFill>
                  <a:schemeClr val="tx1"/>
                </a:solidFill>
              </a:rPr>
              <a:t> </a:t>
            </a:r>
            <a:r>
              <a:rPr lang="en-US" sz="1800" i="1" dirty="0">
                <a:solidFill>
                  <a:schemeClr val="tx1"/>
                </a:solidFill>
              </a:rPr>
              <a:t>Toen ik uitstapte, was hij weg.</a:t>
            </a:r>
            <a:r>
              <a:rPr lang="en-US" sz="1800" dirty="0">
                <a:solidFill>
                  <a:schemeClr val="tx1"/>
                </a:solidFill>
              </a:rPr>
              <a:t> : expliquez </a:t>
            </a:r>
            <a:r>
              <a:rPr lang="en-US" sz="1800" i="1" dirty="0">
                <a:solidFill>
                  <a:schemeClr val="tx1"/>
                </a:solidFill>
              </a:rPr>
              <a:t>toen</a:t>
            </a:r>
            <a:r>
              <a:rPr lang="en-US" sz="1800" dirty="0">
                <a:solidFill>
                  <a:schemeClr val="tx1"/>
                </a:solidFill>
              </a:rPr>
              <a:t> + imperfectum et </a:t>
            </a:r>
            <a:r>
              <a:rPr lang="en-US" sz="1800" i="1" dirty="0">
                <a:solidFill>
                  <a:schemeClr val="tx1"/>
                </a:solidFill>
              </a:rPr>
              <a:t>was hij</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Verloren voorwerpen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1400"/>
              </a:spcAft>
              <a:buNone/>
            </a:pPr>
            <a:r>
              <a:rPr lang="en-US" sz="2600" b="1" dirty="0">
                <a:solidFill>
                  <a:schemeClr val="tx1"/>
                </a:solidFill>
              </a:rPr>
              <a:t>1.</a:t>
            </a:r>
            <a:r>
              <a:rPr lang="en-US" sz="2600" dirty="0">
                <a:solidFill>
                  <a:schemeClr val="tx1"/>
                </a:solidFill>
              </a:rPr>
              <a:t> Imperfectums (le décor)</a:t>
            </a:r>
            <a:endParaRPr lang="en-US" sz="2600" dirty="0"/>
          </a:p>
          <a:p>
            <a:pPr indent="0" marL="0">
              <a:spcAft>
                <a:spcPts val="1400"/>
              </a:spcAft>
              <a:buNone/>
            </a:pPr>
            <a:r>
              <a:rPr lang="en-US" sz="2600" b="1" dirty="0">
                <a:solidFill>
                  <a:schemeClr val="tx1"/>
                </a:solidFill>
              </a:rPr>
              <a:t>1.</a:t>
            </a:r>
            <a:r>
              <a:rPr lang="en-US" sz="2600" dirty="0">
                <a:solidFill>
                  <a:schemeClr val="tx1"/>
                </a:solidFill>
              </a:rPr>
              <a:t> Perfectum (action accomplie)</a:t>
            </a:r>
            <a:endParaRPr lang="en-US" sz="2600" dirty="0"/>
          </a:p>
          <a:p>
            <a:pPr indent="0" marL="0">
              <a:spcAft>
                <a:spcPts val="1400"/>
              </a:spcAft>
              <a:buNone/>
            </a:pPr>
            <a:r>
              <a:rPr lang="en-US" sz="2600" b="1" dirty="0">
                <a:solidFill>
                  <a:schemeClr val="tx1"/>
                </a:solidFill>
              </a:rPr>
              <a:t>2.</a:t>
            </a:r>
            <a:r>
              <a:rPr lang="en-US" sz="2600" dirty="0">
                <a:solidFill>
                  <a:schemeClr val="tx1"/>
                </a:solidFill>
              </a:rPr>
              <a:t> Pourquoi </a:t>
            </a:r>
            <a:r>
              <a:rPr lang="en-US" sz="2600" i="1" dirty="0">
                <a:solidFill>
                  <a:schemeClr val="tx1"/>
                </a:solidFill>
              </a:rPr>
              <a:t>toen</a:t>
            </a:r>
            <a:r>
              <a:rPr lang="en-US" sz="2600" dirty="0">
                <a:solidFill>
                  <a:schemeClr val="tx1"/>
                </a:solidFill>
              </a:rPr>
              <a:t> + imperfectum ?</a:t>
            </a:r>
            <a:endParaRPr lang="en-US" sz="2600" dirty="0"/>
          </a:p>
          <a:p>
            <a:pPr indent="0" marL="0">
              <a:spcAft>
                <a:spcPts val="1400"/>
              </a:spcAft>
              <a:buNone/>
            </a:pPr>
            <a:r>
              <a:rPr lang="en-US" sz="2600" b="1" dirty="0">
                <a:solidFill>
                  <a:schemeClr val="tx1"/>
                </a:solidFill>
              </a:rPr>
              <a:t>2.</a:t>
            </a:r>
            <a:r>
              <a:rPr lang="en-US" sz="2600" dirty="0">
                <a:solidFill>
                  <a:schemeClr val="tx1"/>
                </a:solidFill>
              </a:rPr>
              <a:t> Pourquoi </a:t>
            </a:r>
            <a:r>
              <a:rPr lang="en-US" sz="2600" i="1" dirty="0">
                <a:solidFill>
                  <a:schemeClr val="tx1"/>
                </a:solidFill>
              </a:rPr>
              <a:t>was hij</a:t>
            </a:r>
            <a:r>
              <a:rPr lang="en-US" sz="2600" dirty="0">
                <a:solidFill>
                  <a:schemeClr val="tx1"/>
                </a:solidFill>
              </a:rPr>
              <a:t>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Verloren voorwerpen : réponses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7" name="exercise"/>
          <p:cNvSpPr txBox="1"/>
          <p:nvPr/>
        </p:nvSpPr>
        <p:spPr>
          <a:xfrm>
            <a:off x="548640" y="1481328"/>
            <a:ext cx="11091672" cy="4809744"/>
          </a:xfrm>
          <a:prstGeom prst="rect">
            <a:avLst/>
          </a:prstGeom>
          <a:noFill/>
          <a:ln/>
        </p:spPr>
        <p:txBody>
          <a:bodyPr wrap="square" lIns="0" tIns="0" rIns="0" bIns="0" rtlCol="0" anchor="t"/>
          <a:lstStyle/>
          <a:p>
            <a:pPr indent="0" marL="0">
              <a:spcAft>
                <a:spcPts val="400"/>
              </a:spcAft>
              <a:buNone/>
            </a:pPr>
            <a:r>
              <a:rPr lang="en-US" sz="2400" b="1" dirty="0">
                <a:solidFill>
                  <a:schemeClr val="tx1"/>
                </a:solidFill>
              </a:rPr>
              <a:t>1.</a:t>
            </a:r>
            <a:r>
              <a:rPr lang="en-US" sz="2400" dirty="0">
                <a:solidFill>
                  <a:schemeClr val="tx1"/>
                </a:solidFill>
              </a:rPr>
              <a:t> Imperfectums (le décor)</a:t>
            </a:r>
            <a:endParaRPr lang="en-US" sz="2400" dirty="0"/>
          </a:p>
          <a:p>
            <a:pPr indent="0" marL="0">
              <a:spcAft>
                <a:spcPts val="1200"/>
              </a:spcAft>
              <a:buNone/>
            </a:pPr>
            <a:r>
              <a:rPr lang="en-US" sz="2400" b="1" dirty="0">
                <a:solidFill>
                  <a:schemeClr val="accent3"/>
                </a:solidFill>
              </a:rPr>
              <a:t>→ </a:t>
            </a:r>
            <a:r>
              <a:rPr lang="en-US" sz="2400" dirty="0">
                <a:solidFill>
                  <a:schemeClr val="accent3"/>
                </a:solidFill>
              </a:rPr>
              <a:t>was kapot · zaten … in · was erg druk · stond · zat · was hij weg</a:t>
            </a:r>
            <a:endParaRPr lang="en-US" sz="2400" dirty="0"/>
          </a:p>
          <a:p>
            <a:pPr indent="0" marL="0">
              <a:spcAft>
                <a:spcPts val="400"/>
              </a:spcAft>
              <a:buNone/>
            </a:pPr>
            <a:r>
              <a:rPr lang="en-US" sz="2400" b="1" dirty="0">
                <a:solidFill>
                  <a:schemeClr val="tx1"/>
                </a:solidFill>
              </a:rPr>
              <a:t>1.</a:t>
            </a:r>
            <a:r>
              <a:rPr lang="en-US" sz="2400" dirty="0">
                <a:solidFill>
                  <a:schemeClr val="tx1"/>
                </a:solidFill>
              </a:rPr>
              <a:t> Perfectum (action accomplie)</a:t>
            </a:r>
            <a:endParaRPr lang="en-US" sz="2400" dirty="0"/>
          </a:p>
          <a:p>
            <a:pPr indent="0" marL="0">
              <a:spcAft>
                <a:spcPts val="1200"/>
              </a:spcAft>
              <a:buNone/>
            </a:pPr>
            <a:r>
              <a:rPr lang="en-US" sz="2400" b="1" dirty="0">
                <a:solidFill>
                  <a:schemeClr val="accent3"/>
                </a:solidFill>
              </a:rPr>
              <a:t>→ </a:t>
            </a:r>
            <a:r>
              <a:rPr lang="en-US" sz="2400" i="1" dirty="0">
                <a:solidFill>
                  <a:schemeClr val="accent3"/>
                </a:solidFill>
              </a:rPr>
              <a:t>Ik </a:t>
            </a:r>
            <a:r>
              <a:rPr lang="en-US" sz="2400" b="1" i="1" dirty="0">
                <a:solidFill>
                  <a:schemeClr val="accent3"/>
                </a:solidFill>
              </a:rPr>
              <a:t>heb</a:t>
            </a:r>
            <a:r>
              <a:rPr lang="en-US" sz="2400" i="1" dirty="0">
                <a:solidFill>
                  <a:schemeClr val="accent3"/>
                </a:solidFill>
              </a:rPr>
              <a:t> mijn bankkaart meteen </a:t>
            </a:r>
            <a:r>
              <a:rPr lang="en-US" sz="2400" b="1" i="1" dirty="0">
                <a:solidFill>
                  <a:schemeClr val="accent3"/>
                </a:solidFill>
              </a:rPr>
              <a:t>laten blokkeren</a:t>
            </a:r>
            <a:r>
              <a:rPr lang="en-US" sz="2400" i="1" dirty="0">
                <a:solidFill>
                  <a:schemeClr val="accent3"/>
                </a:solidFill>
              </a:rPr>
              <a:t>.</a:t>
            </a:r>
            <a:endParaRPr lang="en-US" sz="2400" dirty="0"/>
          </a:p>
          <a:p>
            <a:pPr indent="0" marL="0">
              <a:spcAft>
                <a:spcPts val="400"/>
              </a:spcAft>
              <a:buNone/>
            </a:pPr>
            <a:r>
              <a:rPr lang="en-US" sz="2400" b="1" dirty="0">
                <a:solidFill>
                  <a:schemeClr val="tx1"/>
                </a:solidFill>
              </a:rPr>
              <a:t>2.</a:t>
            </a:r>
            <a:r>
              <a:rPr lang="en-US" sz="2400" dirty="0">
                <a:solidFill>
                  <a:schemeClr val="tx1"/>
                </a:solidFill>
              </a:rPr>
              <a:t> Pourquoi </a:t>
            </a:r>
            <a:r>
              <a:rPr lang="en-US" sz="2400" i="1" dirty="0">
                <a:solidFill>
                  <a:schemeClr val="tx1"/>
                </a:solidFill>
              </a:rPr>
              <a:t>toen</a:t>
            </a:r>
            <a:r>
              <a:rPr lang="en-US" sz="2400" dirty="0">
                <a:solidFill>
                  <a:schemeClr val="tx1"/>
                </a:solidFill>
              </a:rPr>
              <a:t> + imperfectum ?</a:t>
            </a:r>
            <a:endParaRPr lang="en-US" sz="2400" dirty="0"/>
          </a:p>
          <a:p>
            <a:pPr indent="0" marL="0">
              <a:spcAft>
                <a:spcPts val="1200"/>
              </a:spcAft>
              <a:buNone/>
            </a:pPr>
            <a:r>
              <a:rPr lang="en-US" sz="2400" b="1" dirty="0">
                <a:solidFill>
                  <a:schemeClr val="accent3"/>
                </a:solidFill>
              </a:rPr>
              <a:t>→ </a:t>
            </a:r>
            <a:r>
              <a:rPr lang="en-US" sz="2400" i="1" dirty="0">
                <a:solidFill>
                  <a:schemeClr val="accent3"/>
                </a:solidFill>
              </a:rPr>
              <a:t>toen</a:t>
            </a:r>
            <a:r>
              <a:rPr lang="en-US" sz="2400" dirty="0">
                <a:solidFill>
                  <a:schemeClr val="accent3"/>
                </a:solidFill>
              </a:rPr>
              <a:t> = « quand » : un moment précis du passé ; </a:t>
            </a:r>
            <a:r>
              <a:rPr lang="en-US" sz="2400" b="1" dirty="0">
                <a:solidFill>
                  <a:schemeClr val="accent3"/>
                </a:solidFill>
              </a:rPr>
              <a:t>subordonnée</a:t>
            </a:r>
            <a:r>
              <a:rPr lang="en-US" sz="2400" dirty="0">
                <a:solidFill>
                  <a:schemeClr val="accent3"/>
                </a:solidFill>
              </a:rPr>
              <a:t> : verbe </a:t>
            </a:r>
            <a:r>
              <a:rPr lang="en-US" sz="2400" b="1" dirty="0">
                <a:solidFill>
                  <a:schemeClr val="accent3"/>
                </a:solidFill>
              </a:rPr>
              <a:t>à la fin</a:t>
            </a:r>
            <a:r>
              <a:rPr lang="en-US" sz="2400" dirty="0">
                <a:solidFill>
                  <a:schemeClr val="accent3"/>
                </a:solidFill>
              </a:rPr>
              <a:t> (</a:t>
            </a:r>
            <a:r>
              <a:rPr lang="en-US" sz="2400" i="1" dirty="0">
                <a:solidFill>
                  <a:schemeClr val="accent3"/>
                </a:solidFill>
              </a:rPr>
              <a:t>uitstapte</a:t>
            </a:r>
            <a:r>
              <a:rPr lang="en-US" sz="2400" dirty="0">
                <a:solidFill>
                  <a:schemeClr val="accent3"/>
                </a:solidFill>
              </a:rPr>
              <a:t>)</a:t>
            </a:r>
            <a:endParaRPr lang="en-US" sz="2400" dirty="0"/>
          </a:p>
          <a:p>
            <a:pPr indent="0" marL="0">
              <a:spcAft>
                <a:spcPts val="400"/>
              </a:spcAft>
              <a:buNone/>
            </a:pPr>
            <a:r>
              <a:rPr lang="en-US" sz="2400" b="1" dirty="0">
                <a:solidFill>
                  <a:schemeClr val="tx1"/>
                </a:solidFill>
              </a:rPr>
              <a:t>2.</a:t>
            </a:r>
            <a:r>
              <a:rPr lang="en-US" sz="2400" dirty="0">
                <a:solidFill>
                  <a:schemeClr val="tx1"/>
                </a:solidFill>
              </a:rPr>
              <a:t> Pourquoi </a:t>
            </a:r>
            <a:r>
              <a:rPr lang="en-US" sz="2400" i="1" dirty="0">
                <a:solidFill>
                  <a:schemeClr val="tx1"/>
                </a:solidFill>
              </a:rPr>
              <a:t>was hij</a:t>
            </a:r>
            <a:r>
              <a:rPr lang="en-US" sz="2400" dirty="0">
                <a:solidFill>
                  <a:schemeClr val="tx1"/>
                </a:solidFill>
              </a:rPr>
              <a:t> ?</a:t>
            </a:r>
            <a:endParaRPr lang="en-US" sz="2400" dirty="0"/>
          </a:p>
          <a:p>
            <a:pPr indent="0" marL="0">
              <a:spcAft>
                <a:spcPts val="1200"/>
              </a:spcAft>
              <a:buNone/>
            </a:pPr>
            <a:r>
              <a:rPr lang="en-US" sz="2400" b="1" dirty="0">
                <a:solidFill>
                  <a:schemeClr val="accent3"/>
                </a:solidFill>
              </a:rPr>
              <a:t>→ </a:t>
            </a:r>
            <a:r>
              <a:rPr lang="en-US" sz="2400" dirty="0">
                <a:solidFill>
                  <a:schemeClr val="accent3"/>
                </a:solidFill>
              </a:rPr>
              <a:t>après la subordonnée, la principale commence par le </a:t>
            </a:r>
            <a:r>
              <a:rPr lang="en-US" sz="2400" b="1" dirty="0">
                <a:solidFill>
                  <a:schemeClr val="accent3"/>
                </a:solidFill>
              </a:rPr>
              <a:t>verbe</a:t>
            </a:r>
            <a:r>
              <a:rPr lang="en-US" sz="2400" dirty="0">
                <a:solidFill>
                  <a:schemeClr val="accent3"/>
                </a:solidFill>
              </a:rPr>
              <a:t> : </a:t>
            </a:r>
            <a:r>
              <a:rPr lang="en-US" sz="2400" b="1" dirty="0">
                <a:solidFill>
                  <a:schemeClr val="accent3"/>
                </a:solidFill>
              </a:rPr>
              <a:t>inversion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Zo zeg je dat : décrire un objet perdu</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486400"/>
                <a:gridCol w="5605272"/>
              </a:tblGrid>
              <a:tr h="580644">
                <a:tc>
                  <a:txBody>
                    <a:bodyPr/>
                    <a:lstStyle/>
                    <a:p>
                      <a:pPr algn="l" indent="0" marL="0">
                        <a:buNone/>
                      </a:pPr>
                      <a:r>
                        <a:rPr lang="en-US" sz="1500" b="1" dirty="0">
                          <a:solidFill>
                            <a:schemeClr val="bg1"/>
                          </a:solidFill>
                        </a:rPr>
                        <a:t>ZO ZEG JE DAT</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FRANÇAIS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65683">
                <a:tc>
                  <a:txBody>
                    <a:bodyPr/>
                    <a:lstStyle/>
                    <a:p>
                      <a:pPr algn="l" indent="0" marL="0">
                        <a:buNone/>
                      </a:pPr>
                      <a:r>
                        <a:rPr lang="en-US" sz="1700" dirty="0">
                          <a:solidFill>
                            <a:schemeClr val="tx1"/>
                          </a:solidFill>
                        </a:rPr>
                        <a:t>Ik ben mijn sleutels kwijt.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J’ai perdu mes clés. (</a:t>
                      </a:r>
                      <a:r>
                        <a:rPr lang="en-US" sz="1700" i="1" dirty="0">
                          <a:solidFill>
                            <a:schemeClr val="tx1"/>
                          </a:solidFill>
                        </a:rPr>
                        <a:t>kwijt zijn</a:t>
                      </a:r>
                      <a:r>
                        <a:rPr lang="en-US" sz="1700" dirty="0">
                          <a:solidFill>
                            <a:schemeClr val="tx1"/>
                          </a:solidFill>
                        </a:rPr>
                        <a:t> : très courant)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Ik heb mijn paraplu laten liggen.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J’ai oublié mon parapluie quelque part.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5683">
                <a:tc>
                  <a:txBody>
                    <a:bodyPr/>
                    <a:lstStyle/>
                    <a:p>
                      <a:pPr algn="l" indent="0" marL="0">
                        <a:buNone/>
                      </a:pPr>
                      <a:r>
                        <a:rPr lang="en-US" sz="1700" dirty="0">
                          <a:solidFill>
                            <a:schemeClr val="tx1"/>
                          </a:solidFill>
                        </a:rPr>
                        <a:t>een rugzak van stof · een tas van leer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un sac à dos en tissu · un sac en cuir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Er zat een laptop in.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Il y avait un ordinateur portable dedans.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65683">
                <a:tc>
                  <a:txBody>
                    <a:bodyPr/>
                    <a:lstStyle/>
                    <a:p>
                      <a:pPr algn="l" indent="0" marL="0">
                        <a:buNone/>
                      </a:pPr>
                      <a:r>
                        <a:rPr lang="en-US" sz="1700" dirty="0">
                          <a:solidFill>
                            <a:schemeClr val="tx1"/>
                          </a:solidFill>
                        </a:rPr>
                        <a:t>Is er toevallig een gsm binnengebracht?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A-t-on rapporté un GSM, par hasard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65683">
                <a:tc>
                  <a:txBody>
                    <a:bodyPr/>
                    <a:lstStyle/>
                    <a:p>
                      <a:pPr algn="l" indent="0" marL="0">
                        <a:buNone/>
                      </a:pPr>
                      <a:r>
                        <a:rPr lang="en-US" sz="1700" dirty="0">
                          <a:solidFill>
                            <a:schemeClr val="tx1"/>
                          </a:solidFill>
                        </a:rPr>
                        <a:t>Welke kleur had hij? Wat zat erin?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De quelle couleur était-il ? Qu’y avait-il dedans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À votre tour : mon objet perdu</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Text 3"/>
          <p:cNvSpPr txBox="1"/>
          <p:nvPr/>
        </p:nvSpPr>
        <p:spPr>
          <a:xfrm>
            <a:off x="548640" y="1481328"/>
            <a:ext cx="7388352" cy="615696"/>
          </a:xfrm>
          <a:prstGeom prst="rect">
            <a:avLst/>
          </a:prstGeom>
          <a:noFill/>
          <a:ln/>
        </p:spPr>
        <p:txBody>
          <a:bodyPr wrap="square" lIns="0" tIns="0" rIns="0" bIns="0" rtlCol="0" anchor="t"/>
          <a:lstStyle/>
          <a:p>
            <a:pPr indent="0" marL="0">
              <a:buNone/>
            </a:pPr>
            <a:r>
              <a:rPr lang="en-US" sz="1600" i="1" dirty="0">
                <a:solidFill>
                  <a:schemeClr val="accent5"/>
                </a:solidFill>
              </a:rPr>
              <a:t>Vous avez perdu ou oublié un objet. Remplissez votre formulaire en </a:t>
            </a:r>
            <a:r>
              <a:rPr lang="en-US" sz="1600" b="1" i="1" dirty="0">
                <a:solidFill>
                  <a:schemeClr val="accent5"/>
                </a:solidFill>
              </a:rPr>
              <a:t>5 à 6 phrases</a:t>
            </a:r>
            <a:r>
              <a:rPr lang="en-US" sz="1600" i="1" dirty="0">
                <a:solidFill>
                  <a:schemeClr val="accent5"/>
                </a:solidFill>
              </a:rPr>
              <a:t>, puis votre binôme joue l’employé·e et pose deux questions de précision.</a:t>
            </a:r>
            <a:endParaRPr lang="en-US" sz="1600" dirty="0"/>
          </a:p>
        </p:txBody>
      </p:sp>
      <p:sp>
        <p:nvSpPr>
          <p:cNvPr id="7" name="exercise"/>
          <p:cNvSpPr txBox="1"/>
          <p:nvPr/>
        </p:nvSpPr>
        <p:spPr>
          <a:xfrm>
            <a:off x="548640" y="2170176"/>
            <a:ext cx="7388352" cy="412089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Exemple (à adapter : ce doit être vrai pour vous !)</a:t>
            </a:r>
            <a:endParaRPr lang="en-US" sz="2400" dirty="0"/>
          </a:p>
          <a:p>
            <a:pPr indent="0" marL="0">
              <a:spcAft>
                <a:spcPts val="800"/>
              </a:spcAft>
              <a:buNone/>
            </a:pPr>
            <a:r>
              <a:rPr lang="en-US" sz="2400" dirty="0">
                <a:solidFill>
                  <a:schemeClr val="tx1"/>
                </a:solidFill>
              </a:rPr>
              <a:t>Ik ben mijn paraplu kwijt. Het </a:t>
            </a:r>
            <a:r>
              <a:rPr lang="en-US" sz="2400" b="1" dirty="0">
                <a:solidFill>
                  <a:schemeClr val="tx1"/>
                </a:solidFill>
              </a:rPr>
              <a:t>was</a:t>
            </a:r>
            <a:r>
              <a:rPr lang="en-US" sz="2400" dirty="0">
                <a:solidFill>
                  <a:schemeClr val="tx1"/>
                </a:solidFill>
              </a:rPr>
              <a:t> een grote, groene paraplu met een houten handvat.</a:t>
            </a:r>
            <a:endParaRPr lang="en-US" sz="2400" dirty="0"/>
          </a:p>
          <a:p>
            <a:pPr indent="0" marL="0">
              <a:spcAft>
                <a:spcPts val="800"/>
              </a:spcAft>
              <a:buNone/>
            </a:pPr>
            <a:r>
              <a:rPr lang="en-US" sz="2400" dirty="0">
                <a:solidFill>
                  <a:schemeClr val="tx1"/>
                </a:solidFill>
              </a:rPr>
              <a:t>Gisteren </a:t>
            </a:r>
            <a:r>
              <a:rPr lang="en-US" sz="2400" b="1" dirty="0">
                <a:solidFill>
                  <a:schemeClr val="tx1"/>
                </a:solidFill>
              </a:rPr>
              <a:t>zat</a:t>
            </a:r>
            <a:r>
              <a:rPr lang="en-US" sz="2400" dirty="0">
                <a:solidFill>
                  <a:schemeClr val="tx1"/>
                </a:solidFill>
              </a:rPr>
              <a:t> hij nog in mijn tas. </a:t>
            </a:r>
            <a:r>
              <a:rPr lang="en-US" sz="2400" b="1" dirty="0">
                <a:solidFill>
                  <a:schemeClr val="tx1"/>
                </a:solidFill>
              </a:rPr>
              <a:t>Toen</a:t>
            </a:r>
            <a:r>
              <a:rPr lang="en-US" sz="2400" dirty="0">
                <a:solidFill>
                  <a:schemeClr val="tx1"/>
                </a:solidFill>
              </a:rPr>
              <a:t> ik uit de bus </a:t>
            </a:r>
            <a:r>
              <a:rPr lang="en-US" sz="2400" b="1" dirty="0">
                <a:solidFill>
                  <a:schemeClr val="tx1"/>
                </a:solidFill>
              </a:rPr>
              <a:t>stapte</a:t>
            </a:r>
            <a:r>
              <a:rPr lang="en-US" sz="2400" dirty="0">
                <a:solidFill>
                  <a:schemeClr val="tx1"/>
                </a:solidFill>
              </a:rPr>
              <a:t>, </a:t>
            </a:r>
            <a:r>
              <a:rPr lang="en-US" sz="2400" b="1" dirty="0">
                <a:solidFill>
                  <a:schemeClr val="tx1"/>
                </a:solidFill>
              </a:rPr>
              <a:t>was</a:t>
            </a:r>
            <a:r>
              <a:rPr lang="en-US" sz="2400" dirty="0">
                <a:solidFill>
                  <a:schemeClr val="tx1"/>
                </a:solidFill>
              </a:rPr>
              <a:t> hij weg.</a:t>
            </a:r>
            <a:endParaRPr lang="en-US" sz="2400" dirty="0"/>
          </a:p>
          <a:p>
            <a:pPr indent="0" marL="0">
              <a:spcAft>
                <a:spcPts val="800"/>
              </a:spcAft>
              <a:buNone/>
            </a:pPr>
            <a:r>
              <a:rPr lang="en-US" sz="2400" dirty="0">
                <a:solidFill>
                  <a:schemeClr val="tx1"/>
                </a:solidFill>
              </a:rPr>
              <a:t>Ik </a:t>
            </a:r>
            <a:r>
              <a:rPr lang="en-US" sz="2400" b="1" dirty="0">
                <a:solidFill>
                  <a:schemeClr val="tx1"/>
                </a:solidFill>
              </a:rPr>
              <a:t>heb</a:t>
            </a:r>
            <a:r>
              <a:rPr lang="en-US" sz="2400" dirty="0">
                <a:solidFill>
                  <a:schemeClr val="tx1"/>
                </a:solidFill>
              </a:rPr>
              <a:t> hem waarschijnlijk op de bus </a:t>
            </a:r>
            <a:r>
              <a:rPr lang="en-US" sz="2400" b="1" dirty="0">
                <a:solidFill>
                  <a:schemeClr val="tx1"/>
                </a:solidFill>
              </a:rPr>
              <a:t>laten liggen</a:t>
            </a:r>
            <a:r>
              <a:rPr lang="en-US" sz="2400" dirty="0">
                <a:solidFill>
                  <a:schemeClr val="tx1"/>
                </a:solidFill>
              </a:rPr>
              <a:t>.</a:t>
            </a:r>
            <a:endParaRPr lang="en-US" sz="2400" dirty="0"/>
          </a:p>
          <a:p>
            <a:pPr indent="0" marL="0">
              <a:spcBef>
                <a:spcPts val="800"/>
              </a:spcBef>
              <a:spcAft>
                <a:spcPts val="600"/>
              </a:spcAft>
              <a:buNone/>
            </a:pPr>
            <a:r>
              <a:rPr lang="en-US" sz="2400" b="1" dirty="0">
                <a:solidFill>
                  <a:schemeClr val="tx2"/>
                </a:solidFill>
              </a:rPr>
              <a:t>Questions de l’employé·e</a:t>
            </a:r>
            <a:endParaRPr lang="en-US" sz="2400" dirty="0"/>
          </a:p>
          <a:p>
            <a:pPr indent="0" marL="0">
              <a:spcAft>
                <a:spcPts val="800"/>
              </a:spcAft>
              <a:buNone/>
            </a:pPr>
            <a:r>
              <a:rPr lang="en-US" sz="2400" i="1" dirty="0">
                <a:solidFill>
                  <a:schemeClr val="tx1"/>
                </a:solidFill>
              </a:rPr>
              <a:t>Welke kleur had hij?</a:t>
            </a:r>
            <a:r>
              <a:rPr lang="en-US" sz="2400" dirty="0">
                <a:solidFill>
                  <a:schemeClr val="tx1"/>
                </a:solidFill>
              </a:rPr>
              <a:t> · </a:t>
            </a:r>
            <a:r>
              <a:rPr lang="en-US" sz="2400" i="1" dirty="0">
                <a:solidFill>
                  <a:schemeClr val="tx1"/>
                </a:solidFill>
              </a:rPr>
              <a:t>Wat zat erin?</a:t>
            </a:r>
            <a:r>
              <a:rPr lang="en-US" sz="2400" dirty="0">
                <a:solidFill>
                  <a:schemeClr val="tx1"/>
                </a:solidFill>
              </a:rPr>
              <a:t> · </a:t>
            </a:r>
            <a:r>
              <a:rPr lang="en-US" sz="2400" i="1" dirty="0">
                <a:solidFill>
                  <a:schemeClr val="tx1"/>
                </a:solidFill>
              </a:rPr>
              <a:t>Is er toevallig een paraplu binnengebracht?</a:t>
            </a:r>
            <a:endParaRPr lang="en-US" sz="2400" dirty="0"/>
          </a:p>
        </p:txBody>
      </p:sp>
      <p:sp>
        <p:nvSpPr>
          <p:cNvPr id="8" name="aside"/>
          <p:cNvSpPr/>
          <p:nvPr/>
        </p:nvSpPr>
        <p:spPr>
          <a:xfrm>
            <a:off x="8257032" y="1481328"/>
            <a:ext cx="3383280" cy="4809744"/>
          </a:xfrm>
          <a:prstGeom prst="roundRect">
            <a:avLst>
              <a:gd name="adj" fmla="val 2162"/>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439912" y="1664208"/>
            <a:ext cx="292608" cy="292608"/>
          </a:xfrm>
          <a:prstGeom prst="rect">
            <a:avLst/>
          </a:prstGeom>
        </p:spPr>
      </p:pic>
      <p:sp>
        <p:nvSpPr>
          <p:cNvPr id="10" name="Text 6"/>
          <p:cNvSpPr txBox="1"/>
          <p:nvPr/>
        </p:nvSpPr>
        <p:spPr>
          <a:xfrm>
            <a:off x="8823960" y="1636776"/>
            <a:ext cx="265176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421624" y="2075688"/>
            <a:ext cx="305409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5 à 6 phrases</a:t>
            </a:r>
            <a:endParaRPr lang="en-US" sz="1800" dirty="0"/>
          </a:p>
          <a:p>
            <a:pPr marL="177800" indent="-177800">
              <a:spcAft>
                <a:spcPts val="600"/>
              </a:spcAft>
              <a:buSzPct val="100000"/>
              <a:buChar char="•"/>
            </a:pPr>
            <a:r>
              <a:rPr lang="en-US" sz="1800" b="1" dirty="0">
                <a:solidFill>
                  <a:schemeClr val="tx1"/>
                </a:solidFill>
              </a:rPr>
              <a:t>4 imperfectums</a:t>
            </a:r>
            <a:r>
              <a:rPr lang="en-US" sz="1800" dirty="0">
                <a:solidFill>
                  <a:schemeClr val="tx1"/>
                </a:solidFill>
              </a:rPr>
              <a:t> + </a:t>
            </a:r>
            <a:r>
              <a:rPr lang="en-US" sz="1800" b="1" dirty="0">
                <a:solidFill>
                  <a:schemeClr val="tx1"/>
                </a:solidFill>
              </a:rPr>
              <a:t>1 perfectum</a:t>
            </a:r>
            <a:r>
              <a:rPr lang="en-US" sz="1800" dirty="0">
                <a:solidFill>
                  <a:schemeClr val="tx1"/>
                </a:solidFill>
              </a:rPr>
              <a:t> + </a:t>
            </a:r>
            <a:r>
              <a:rPr lang="en-US" sz="1800" b="1" dirty="0">
                <a:solidFill>
                  <a:schemeClr val="tx1"/>
                </a:solidFill>
              </a:rPr>
              <a:t>1 </a:t>
            </a:r>
            <a:r>
              <a:rPr lang="en-US" sz="1800" b="1" i="1" dirty="0">
                <a:solidFill>
                  <a:schemeClr val="tx1"/>
                </a:solidFill>
              </a:rPr>
              <a:t>toen</a:t>
            </a:r>
            <a:endParaRPr lang="en-US" sz="1800" dirty="0"/>
          </a:p>
          <a:p>
            <a:pPr marL="177800" indent="-177800">
              <a:spcAft>
                <a:spcPts val="600"/>
              </a:spcAft>
              <a:buSzPct val="100000"/>
              <a:buChar char="•"/>
            </a:pPr>
            <a:r>
              <a:rPr lang="en-US" sz="1800" dirty="0">
                <a:solidFill>
                  <a:schemeClr val="tx1"/>
                </a:solidFill>
              </a:rPr>
              <a:t>Couleur, matière, contenu</a:t>
            </a:r>
            <a:endParaRPr lang="en-US" sz="1800" dirty="0"/>
          </a:p>
          <a:p>
            <a:pPr marL="177800" indent="-177800">
              <a:spcAft>
                <a:spcPts val="600"/>
              </a:spcAft>
              <a:buSzPct val="100000"/>
              <a:buChar char="•"/>
            </a:pPr>
            <a:r>
              <a:rPr lang="en-US" sz="1800" dirty="0">
                <a:solidFill>
                  <a:schemeClr val="tx1"/>
                </a:solidFill>
              </a:rPr>
              <a:t>Binôme : 2 questions</a:t>
            </a:r>
            <a:endParaRPr lang="en-US" sz="1800" dirty="0"/>
          </a:p>
          <a:p>
            <a:pPr marL="177800" indent="-177800">
              <a:spcAft>
                <a:spcPts val="600"/>
              </a:spcAft>
              <a:buSzPct val="100000"/>
              <a:buChar char="•"/>
            </a:pPr>
            <a:r>
              <a:rPr lang="en-US" sz="1800" dirty="0">
                <a:solidFill>
                  <a:schemeClr val="tx1"/>
                </a:solidFill>
              </a:rPr>
              <a:t>Écrit puis oral · 12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Verbind met toen</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Reliez les deux phrases avec </a:t>
            </a:r>
            <a:r>
              <a:rPr lang="en-US" sz="1600" i="1" dirty="0">
                <a:solidFill>
                  <a:schemeClr val="accent5"/>
                </a:solidFill>
              </a:rPr>
              <a:t>toen</a:t>
            </a:r>
            <a:r>
              <a:rPr lang="en-US" sz="1600" i="1" dirty="0">
                <a:solidFill>
                  <a:schemeClr val="accent5"/>
                </a:solidFill>
              </a:rPr>
              <a:t> : l’événement-repère passe en subordonnée (verbe à la fin). Seul · 5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Ik kwam aan. + De huurder was er niet.</a:t>
            </a:r>
            <a:endParaRPr lang="en-US" sz="2600" dirty="0"/>
          </a:p>
          <a:p>
            <a:pPr indent="0" marL="0">
              <a:spcAft>
                <a:spcPts val="1400"/>
              </a:spcAft>
              <a:buNone/>
            </a:pPr>
            <a:r>
              <a:rPr lang="en-US" sz="2600" b="1" dirty="0">
                <a:solidFill>
                  <a:schemeClr val="tx2"/>
                </a:solidFill>
              </a:rPr>
              <a:t>2.  </a:t>
            </a:r>
            <a:r>
              <a:rPr lang="en-US" sz="2600" dirty="0">
                <a:solidFill>
                  <a:schemeClr val="tx1"/>
                </a:solidFill>
              </a:rPr>
              <a:t>De loodgieter belde. + Ik zat in een vergadering.</a:t>
            </a:r>
            <a:endParaRPr lang="en-US" sz="2600" dirty="0"/>
          </a:p>
          <a:p>
            <a:pPr indent="0" marL="0">
              <a:spcAft>
                <a:spcPts val="1400"/>
              </a:spcAft>
              <a:buNone/>
            </a:pPr>
            <a:r>
              <a:rPr lang="en-US" sz="2600" b="1" dirty="0">
                <a:solidFill>
                  <a:schemeClr val="tx2"/>
                </a:solidFill>
              </a:rPr>
              <a:t>3.  </a:t>
            </a:r>
            <a:r>
              <a:rPr lang="en-US" sz="2600" dirty="0">
                <a:solidFill>
                  <a:schemeClr val="tx1"/>
                </a:solidFill>
              </a:rPr>
              <a:t>Wij openden de kelder. + Het rook er naar schimmel.</a:t>
            </a:r>
            <a:endParaRPr lang="en-US" sz="2600" dirty="0"/>
          </a:p>
          <a:p>
            <a:pPr indent="0" marL="0">
              <a:spcAft>
                <a:spcPts val="1400"/>
              </a:spcAft>
              <a:buNone/>
            </a:pPr>
            <a:r>
              <a:rPr lang="en-US" sz="2600" b="1" dirty="0">
                <a:solidFill>
                  <a:schemeClr val="tx2"/>
                </a:solidFill>
              </a:rPr>
              <a:t>4.  </a:t>
            </a:r>
            <a:r>
              <a:rPr lang="en-US" sz="2600" dirty="0">
                <a:solidFill>
                  <a:schemeClr val="tx1"/>
                </a:solidFill>
              </a:rPr>
              <a:t>Yasmina ging langs. + De muur was al nat.</a:t>
            </a:r>
            <a:endParaRPr lang="en-US" sz="2600" dirty="0"/>
          </a:p>
          <a:p>
            <a:pPr indent="0" marL="0">
              <a:spcAft>
                <a:spcPts val="1400"/>
              </a:spcAft>
              <a:buNone/>
            </a:pPr>
            <a:r>
              <a:rPr lang="en-US" sz="2600" b="1" dirty="0">
                <a:solidFill>
                  <a:schemeClr val="tx2"/>
                </a:solidFill>
              </a:rPr>
              <a:t>5.  </a:t>
            </a:r>
            <a:r>
              <a:rPr lang="en-US" sz="2600" dirty="0">
                <a:solidFill>
                  <a:schemeClr val="tx1"/>
                </a:solidFill>
              </a:rPr>
              <a:t>Ik stapte uit. + Mijn portefeuille was weg.</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Verbind met toen</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Reliez les deux phrases avec </a:t>
            </a:r>
            <a:r>
              <a:rPr lang="en-US" sz="1600" i="1" dirty="0">
                <a:solidFill>
                  <a:schemeClr val="accent5"/>
                </a:solidFill>
              </a:rPr>
              <a:t>toen</a:t>
            </a:r>
            <a:r>
              <a:rPr lang="en-US" sz="1600" i="1" dirty="0">
                <a:solidFill>
                  <a:schemeClr val="accent5"/>
                </a:solidFill>
              </a:rPr>
              <a:t> : l’événement-repère passe en subordonnée (verbe à la fin). Seul · 5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Ik kwam aan. + De huurder was er niet.</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Toen ik </a:t>
            </a:r>
            <a:r>
              <a:rPr lang="en-US" sz="1600" b="1" dirty="0">
                <a:solidFill>
                  <a:schemeClr val="accent3"/>
                </a:solidFill>
              </a:rPr>
              <a:t>aankwam</a:t>
            </a:r>
            <a:r>
              <a:rPr lang="en-US" sz="1600" dirty="0">
                <a:solidFill>
                  <a:schemeClr val="accent3"/>
                </a:solidFill>
              </a:rPr>
              <a:t>, </a:t>
            </a:r>
            <a:r>
              <a:rPr lang="en-US" sz="1600" b="1" dirty="0">
                <a:solidFill>
                  <a:schemeClr val="accent3"/>
                </a:solidFill>
              </a:rPr>
              <a:t>was</a:t>
            </a:r>
            <a:r>
              <a:rPr lang="en-US" sz="1600" dirty="0">
                <a:solidFill>
                  <a:schemeClr val="accent3"/>
                </a:solidFill>
              </a:rPr>
              <a:t> de huurder er niet.</a:t>
            </a:r>
            <a:endParaRPr lang="en-US" sz="1600" dirty="0"/>
          </a:p>
          <a:p>
            <a:pPr indent="0" marL="0">
              <a:spcAft>
                <a:spcPts val="400"/>
              </a:spcAft>
              <a:buNone/>
            </a:pPr>
            <a:r>
              <a:rPr lang="en-US" sz="1600" b="1" dirty="0">
                <a:solidFill>
                  <a:schemeClr val="tx2"/>
                </a:solidFill>
              </a:rPr>
              <a:t>2.  </a:t>
            </a:r>
            <a:r>
              <a:rPr lang="en-US" sz="1600" dirty="0">
                <a:solidFill>
                  <a:schemeClr val="tx1"/>
                </a:solidFill>
              </a:rPr>
              <a:t>De loodgieter belde. + Ik zat in een vergadering.</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Toen de loodgieter </a:t>
            </a:r>
            <a:r>
              <a:rPr lang="en-US" sz="1600" b="1" dirty="0">
                <a:solidFill>
                  <a:schemeClr val="accent3"/>
                </a:solidFill>
              </a:rPr>
              <a:t>belde</a:t>
            </a:r>
            <a:r>
              <a:rPr lang="en-US" sz="1600" dirty="0">
                <a:solidFill>
                  <a:schemeClr val="accent3"/>
                </a:solidFill>
              </a:rPr>
              <a:t>, </a:t>
            </a:r>
            <a:r>
              <a:rPr lang="en-US" sz="1600" b="1" dirty="0">
                <a:solidFill>
                  <a:schemeClr val="accent3"/>
                </a:solidFill>
              </a:rPr>
              <a:t>zat</a:t>
            </a:r>
            <a:r>
              <a:rPr lang="en-US" sz="1600" dirty="0">
                <a:solidFill>
                  <a:schemeClr val="accent3"/>
                </a:solidFill>
              </a:rPr>
              <a:t> ik in een vergadering.</a:t>
            </a:r>
            <a:endParaRPr lang="en-US" sz="1600" dirty="0"/>
          </a:p>
          <a:p>
            <a:pPr indent="0" marL="0">
              <a:spcAft>
                <a:spcPts val="400"/>
              </a:spcAft>
              <a:buNone/>
            </a:pPr>
            <a:r>
              <a:rPr lang="en-US" sz="1600" b="1" dirty="0">
                <a:solidFill>
                  <a:schemeClr val="tx2"/>
                </a:solidFill>
              </a:rPr>
              <a:t>3.  </a:t>
            </a:r>
            <a:r>
              <a:rPr lang="en-US" sz="1600" dirty="0">
                <a:solidFill>
                  <a:schemeClr val="tx1"/>
                </a:solidFill>
              </a:rPr>
              <a:t>Wij openden de kelder. + Het rook er naar schimmel.</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Toen wij de kelder </a:t>
            </a:r>
            <a:r>
              <a:rPr lang="en-US" sz="1600" b="1" dirty="0">
                <a:solidFill>
                  <a:schemeClr val="accent3"/>
                </a:solidFill>
              </a:rPr>
              <a:t>openden</a:t>
            </a:r>
            <a:r>
              <a:rPr lang="en-US" sz="1600" dirty="0">
                <a:solidFill>
                  <a:schemeClr val="accent3"/>
                </a:solidFill>
              </a:rPr>
              <a:t>, </a:t>
            </a:r>
            <a:r>
              <a:rPr lang="en-US" sz="1600" b="1" dirty="0">
                <a:solidFill>
                  <a:schemeClr val="accent3"/>
                </a:solidFill>
              </a:rPr>
              <a:t>rook</a:t>
            </a:r>
            <a:r>
              <a:rPr lang="en-US" sz="1600" dirty="0">
                <a:solidFill>
                  <a:schemeClr val="accent3"/>
                </a:solidFill>
              </a:rPr>
              <a:t> het er naar schimmel.</a:t>
            </a:r>
            <a:endParaRPr lang="en-US" sz="1600" dirty="0"/>
          </a:p>
          <a:p>
            <a:pPr indent="0" marL="0">
              <a:spcAft>
                <a:spcPts val="400"/>
              </a:spcAft>
              <a:buNone/>
            </a:pPr>
            <a:r>
              <a:rPr lang="en-US" sz="1600" b="1" dirty="0">
                <a:solidFill>
                  <a:schemeClr val="tx2"/>
                </a:solidFill>
              </a:rPr>
              <a:t>4.  </a:t>
            </a:r>
            <a:r>
              <a:rPr lang="en-US" sz="1600" dirty="0">
                <a:solidFill>
                  <a:schemeClr val="tx1"/>
                </a:solidFill>
              </a:rPr>
              <a:t>Yasmina ging langs. + De muur was al nat.</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Toen Yasmina </a:t>
            </a:r>
            <a:r>
              <a:rPr lang="en-US" sz="1600" b="1" dirty="0">
                <a:solidFill>
                  <a:schemeClr val="accent3"/>
                </a:solidFill>
              </a:rPr>
              <a:t>langsging</a:t>
            </a:r>
            <a:r>
              <a:rPr lang="en-US" sz="1600" dirty="0">
                <a:solidFill>
                  <a:schemeClr val="accent3"/>
                </a:solidFill>
              </a:rPr>
              <a:t>, </a:t>
            </a:r>
            <a:r>
              <a:rPr lang="en-US" sz="1600" b="1" dirty="0">
                <a:solidFill>
                  <a:schemeClr val="accent3"/>
                </a:solidFill>
              </a:rPr>
              <a:t>was</a:t>
            </a:r>
            <a:r>
              <a:rPr lang="en-US" sz="1600" dirty="0">
                <a:solidFill>
                  <a:schemeClr val="accent3"/>
                </a:solidFill>
              </a:rPr>
              <a:t> de muur al nat.</a:t>
            </a:r>
            <a:endParaRPr lang="en-US" sz="1600" dirty="0"/>
          </a:p>
          <a:p>
            <a:pPr indent="0" marL="0">
              <a:spcAft>
                <a:spcPts val="400"/>
              </a:spcAft>
              <a:buNone/>
            </a:pPr>
            <a:r>
              <a:rPr lang="en-US" sz="1600" b="1" dirty="0">
                <a:solidFill>
                  <a:schemeClr val="tx2"/>
                </a:solidFill>
              </a:rPr>
              <a:t>5.  </a:t>
            </a:r>
            <a:r>
              <a:rPr lang="en-US" sz="1600" dirty="0">
                <a:solidFill>
                  <a:schemeClr val="tx1"/>
                </a:solidFill>
              </a:rPr>
              <a:t>Ik stapte uit. + Mijn portefeuille was weg.</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Toen ik </a:t>
            </a:r>
            <a:r>
              <a:rPr lang="en-US" sz="1600" b="1" dirty="0">
                <a:solidFill>
                  <a:schemeClr val="accent3"/>
                </a:solidFill>
              </a:rPr>
              <a:t>uitstapte</a:t>
            </a:r>
            <a:r>
              <a:rPr lang="en-US" sz="1600" dirty="0">
                <a:solidFill>
                  <a:schemeClr val="accent3"/>
                </a:solidFill>
              </a:rPr>
              <a:t>, </a:t>
            </a:r>
            <a:r>
              <a:rPr lang="en-US" sz="1600" b="1" dirty="0">
                <a:solidFill>
                  <a:schemeClr val="accent3"/>
                </a:solidFill>
              </a:rPr>
              <a:t>was</a:t>
            </a:r>
            <a:r>
              <a:rPr lang="en-US" sz="1600" dirty="0">
                <a:solidFill>
                  <a:schemeClr val="accent3"/>
                </a:solidFill>
              </a:rPr>
              <a:t> mijn portefeuille weg.</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Après </a:t>
            </a:r>
            <a:r>
              <a:rPr lang="en-US" sz="1800" i="1" dirty="0">
                <a:solidFill>
                  <a:schemeClr val="tx1"/>
                </a:solidFill>
              </a:rPr>
              <a:t>toen …</a:t>
            </a:r>
            <a:r>
              <a:rPr lang="en-US" sz="1800" dirty="0">
                <a:solidFill>
                  <a:schemeClr val="tx1"/>
                </a:solidFill>
              </a:rPr>
              <a:t> : le </a:t>
            </a:r>
            <a:r>
              <a:rPr lang="en-US" sz="1800" b="1" dirty="0">
                <a:solidFill>
                  <a:schemeClr val="tx1"/>
                </a:solidFill>
              </a:rPr>
              <a:t>verbe d’abord</a:t>
            </a:r>
            <a:r>
              <a:rPr lang="en-US" sz="1800" dirty="0">
                <a:solidFill>
                  <a:schemeClr val="tx1"/>
                </a:solidFill>
              </a:rPr>
              <a:t> (</a:t>
            </a:r>
            <a:r>
              <a:rPr lang="en-US" sz="1800" i="1" dirty="0">
                <a:solidFill>
                  <a:schemeClr val="tx1"/>
                </a:solidFill>
              </a:rPr>
              <a:t>was de huurder</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Séparables en subordonnée : </a:t>
            </a:r>
            <a:r>
              <a:rPr lang="en-US" sz="1800" i="1" dirty="0">
                <a:solidFill>
                  <a:schemeClr val="tx1"/>
                </a:solidFill>
              </a:rPr>
              <a:t>aankwam · langsging · uitstapte</a:t>
            </a:r>
            <a:r>
              <a:rPr lang="en-US" sz="1800" dirty="0">
                <a:solidFill>
                  <a:schemeClr val="tx1"/>
                </a:solidFill>
              </a:rPr>
              <a:t> (soudés)</a:t>
            </a:r>
            <a:endParaRPr lang="en-US" sz="1800" dirty="0"/>
          </a:p>
          <a:p>
            <a:pPr marL="177800" indent="-177800">
              <a:spcAft>
                <a:spcPts val="600"/>
              </a:spcAft>
              <a:buSzPct val="100000"/>
              <a:buChar char="•"/>
            </a:pPr>
            <a:r>
              <a:rPr lang="en-US" sz="1800" dirty="0">
                <a:solidFill>
                  <a:schemeClr val="tx1"/>
                </a:solidFill>
              </a:rPr>
              <a:t>Pluriel : </a:t>
            </a:r>
            <a:r>
              <a:rPr lang="en-US" sz="1800" i="1" dirty="0">
                <a:solidFill>
                  <a:schemeClr val="tx1"/>
                </a:solidFill>
              </a:rPr>
              <a:t>openden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8 : </a:t>
            </a:r>
            <a:r>
              <a:rPr lang="en-US" sz="2400" b="1" i="1" dirty="0">
                <a:solidFill>
                  <a:schemeClr val="bg1"/>
                </a:solidFill>
                <a:latin typeface="+mj-lt" pitchFamily="34" charset="0"/>
                <a:ea typeface="+mj-lt" pitchFamily="34" charset="-122"/>
                <a:cs typeface="+mj-lt" pitchFamily="34" charset="-120"/>
              </a:rPr>
              <a:t>la plainte</a:t>
            </a:r>
            <a:r>
              <a:rPr lang="en-US" sz="2400" i="1" dirty="0">
                <a:solidFill>
                  <a:schemeClr val="bg1"/>
                </a:solidFill>
                <a:latin typeface="+mj-lt" pitchFamily="34" charset="0"/>
                <a:ea typeface="+mj-lt" pitchFamily="34" charset="-122"/>
                <a:cs typeface="+mj-lt" pitchFamily="34" charset="-120"/>
              </a:rPr>
              <a:t>. Comment rapporter ce que dit un client ? </a:t>
            </a:r>
            <a:r>
              <a:rPr lang="en-US" sz="2400" i="1" dirty="0">
                <a:solidFill>
                  <a:schemeClr val="bg1"/>
                </a:solidFill>
                <a:latin typeface="+mj-lt" pitchFamily="34" charset="0"/>
                <a:ea typeface="+mj-lt" pitchFamily="34" charset="-122"/>
                <a:cs typeface="+mj-lt" pitchFamily="34" charset="-120"/>
              </a:rPr>
              <a:t>Hij </a:t>
            </a:r>
            <a:r>
              <a:rPr lang="en-US" sz="2400" b="1" i="1" dirty="0">
                <a:solidFill>
                  <a:schemeClr val="bg1"/>
                </a:solidFill>
                <a:latin typeface="+mj-lt" pitchFamily="34" charset="0"/>
                <a:ea typeface="+mj-lt" pitchFamily="34" charset="-122"/>
                <a:cs typeface="+mj-lt" pitchFamily="34" charset="-120"/>
              </a:rPr>
              <a:t>zei dat</a:t>
            </a:r>
            <a:r>
              <a:rPr lang="en-US" sz="2400" i="1" dirty="0">
                <a:solidFill>
                  <a:schemeClr val="bg1"/>
                </a:solidFill>
                <a:latin typeface="+mj-lt" pitchFamily="34" charset="0"/>
                <a:ea typeface="+mj-lt" pitchFamily="34" charset="-122"/>
                <a:cs typeface="+mj-lt" pitchFamily="34" charset="-120"/>
              </a:rPr>
              <a:t>… · Hij </a:t>
            </a:r>
            <a:r>
              <a:rPr lang="en-US" sz="2400" b="1" i="1" dirty="0">
                <a:solidFill>
                  <a:schemeClr val="bg1"/>
                </a:solidFill>
                <a:latin typeface="+mj-lt" pitchFamily="34" charset="0"/>
                <a:ea typeface="+mj-lt" pitchFamily="34" charset="-122"/>
                <a:cs typeface="+mj-lt" pitchFamily="34" charset="-120"/>
              </a:rPr>
              <a:t>vroeg of</a:t>
            </a:r>
            <a:r>
              <a:rPr lang="en-US" sz="2400" i="1" dirty="0">
                <a:solidFill>
                  <a:schemeClr val="bg1"/>
                </a:solidFill>
                <a:latin typeface="+mj-lt" pitchFamily="34" charset="0"/>
                <a:ea typeface="+mj-lt" pitchFamily="34" charset="-122"/>
                <a:cs typeface="+mj-lt" pitchFamily="34" charset="-120"/>
              </a:rPr>
              <a:t>…</a:t>
            </a:r>
            <a:r>
              <a:rPr lang="en-US" sz="2400" i="1" dirty="0">
                <a:solidFill>
                  <a:schemeClr val="bg1"/>
                </a:solidFill>
                <a:latin typeface="+mj-lt" pitchFamily="34" charset="0"/>
                <a:ea typeface="+mj-lt" pitchFamily="34" charset="-122"/>
                <a:cs typeface="+mj-lt" pitchFamily="34" charset="-120"/>
              </a:rPr>
              <a:t> — le discours indirect, avec le verbe à la fin.</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la </a:t>
            </a:r>
            <a:r>
              <a:rPr lang="en-US" sz="1700" b="1" dirty="0">
                <a:solidFill>
                  <a:schemeClr val="tx1"/>
                </a:solidFill>
              </a:rPr>
              <a:t>TAAK 2</a:t>
            </a:r>
            <a:r>
              <a:rPr lang="en-US" sz="1700" dirty="0">
                <a:solidFill>
                  <a:schemeClr val="tx1"/>
                </a:solidFill>
              </a:rPr>
              <a:t> (état des lieux de sortie) ; relire les verbes forts (p. 10).</a:t>
            </a:r>
            <a:endParaRPr lang="en-US" sz="1700" dirty="0"/>
          </a:p>
          <a:p>
            <a:pPr marL="190500" indent="-190500">
              <a:spcAft>
                <a:spcPts val="800"/>
              </a:spcAft>
              <a:buSzPct val="100000"/>
              <a:buChar char="•"/>
            </a:pPr>
            <a:r>
              <a:rPr lang="en-US" sz="1700" dirty="0">
                <a:solidFill>
                  <a:schemeClr val="tx1"/>
                </a:solidFill>
              </a:rPr>
              <a:t>Apprendre le </a:t>
            </a:r>
            <a:r>
              <a:rPr lang="en-US" sz="1700" b="1" dirty="0">
                <a:solidFill>
                  <a:schemeClr val="tx1"/>
                </a:solidFill>
              </a:rPr>
              <a:t>vocabulaire de l’état des lieux</a:t>
            </a:r>
            <a:r>
              <a:rPr lang="en-US" sz="1700" dirty="0">
                <a:solidFill>
                  <a:schemeClr val="tx1"/>
                </a:solidFill>
              </a:rPr>
              <a:t> (de / het !).</a:t>
            </a:r>
            <a:endParaRPr lang="en-US" sz="1700" dirty="0"/>
          </a:p>
          <a:p>
            <a:pPr marL="190500" indent="-190500">
              <a:spcAft>
                <a:spcPts val="800"/>
              </a:spcAft>
              <a:buSzPct val="100000"/>
              <a:buChar char="•"/>
            </a:pPr>
            <a:r>
              <a:rPr lang="en-US" sz="1700" dirty="0">
                <a:solidFill>
                  <a:schemeClr val="tx1"/>
                </a:solidFill>
              </a:rPr>
              <a:t>Terminer </a:t>
            </a:r>
            <a:r>
              <a:rPr lang="en-US" sz="1700" b="1" dirty="0">
                <a:solidFill>
                  <a:schemeClr val="tx1"/>
                </a:solidFill>
              </a:rPr>
              <a:t>D2</a:t>
            </a:r>
            <a:r>
              <a:rPr lang="en-US" sz="1700" dirty="0">
                <a:solidFill>
                  <a:schemeClr val="tx1"/>
                </a:solidFill>
              </a:rPr>
              <a:t> : votre formulaire d’objet perdu (5 à 6 phrases).</a:t>
            </a:r>
            <a:endParaRPr lang="en-US" sz="1700" dirty="0"/>
          </a:p>
          <a:p>
            <a:pPr marL="190500" indent="-190500">
              <a:spcAft>
                <a:spcPts val="800"/>
              </a:spcAft>
              <a:buSzPct val="100000"/>
              <a:buChar char="•"/>
            </a:pPr>
            <a:r>
              <a:rPr lang="en-US" sz="1700" dirty="0">
                <a:solidFill>
                  <a:schemeClr val="tx1"/>
                </a:solidFill>
              </a:rPr>
              <a:t>Relire l’</a:t>
            </a:r>
            <a:r>
              <a:rPr lang="en-US" sz="1700" b="1" dirty="0">
                <a:solidFill>
                  <a:schemeClr val="tx1"/>
                </a:solidFill>
              </a:rPr>
              <a:t>Avonddialoog</a:t>
            </a:r>
            <a:r>
              <a:rPr lang="en-US" sz="1700" dirty="0">
                <a:solidFill>
                  <a:schemeClr val="tx1"/>
                </a:solidFill>
              </a:rPr>
              <a:t> et noter tous les </a:t>
            </a:r>
            <a:r>
              <a:rPr lang="en-US" sz="1700" i="1" dirty="0">
                <a:solidFill>
                  <a:schemeClr val="tx1"/>
                </a:solidFill>
              </a:rPr>
              <a:t>zei dat… · vroeg of…</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Décrivez en une phrase </a:t>
            </a:r>
            <a:r>
              <a:rPr lang="en-US" sz="1600" b="1" dirty="0">
                <a:solidFill>
                  <a:schemeClr val="bg1"/>
                </a:solidFill>
              </a:rPr>
              <a:t>votre salle de bains il y a un an</a:t>
            </a:r>
            <a:r>
              <a:rPr lang="en-US" sz="1600" dirty="0">
                <a:solidFill>
                  <a:schemeClr val="bg1"/>
                </a:solidFill>
              </a:rPr>
              <a:t> à l’imperfectum (</a:t>
            </a:r>
            <a:r>
              <a:rPr lang="en-US" sz="1600" i="1" dirty="0">
                <a:solidFill>
                  <a:schemeClr val="bg1"/>
                </a:solidFill>
              </a:rPr>
              <a:t>Vroeger was… / had… / stond…</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07 — De plaatsbeschrijving</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