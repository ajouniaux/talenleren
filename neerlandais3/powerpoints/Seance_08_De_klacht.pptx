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b2e10425-1f51-8142-5656-adfbfd03cbd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</p14:sldIdLst>
        </p14:section>
        <p14:section name="Clôture" id="{98b3899e-2446-17c2-93e7-3ce01a0378b8}">
          <p14:sldIdLst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Séance consacrée à la séquence 6.3 : le gestionnaire est un messager. On réactive dat et of (palier 4) pour rapporter une plainte : écoute du coup de téléphone de meneer De Smet (ex. 6), transformation de phrases (ex. 7), compte rendu à la propriétaire (TAAK 3), puis D3 « Wat zei de dokter ? » (la chaîne du message). Pages couvertes : p. 11 à 14a du livret.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Durées indicatives sur 90 minutes. Pages 11 à 14a du livret. Les deux outils (dat, of) sont connus depuis le palier 4 : la difficulté nouvelle, c’est le glissement des temps (présent → imperfectum, perfectum → had + participe) et des pronoms. Les deux textes d’écoute (transcriptions n° 1 et 2) sont en annexe du dossier du professeur.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de la séance 7 : l’imperfectum est l’outil que l’on réutilise tel quel dans le discours indirect (« Hij zei dat het lek … was »). Faire répondre à l’oral, puis projeter. Phrase 5 : binnenkomen est séparable ; soudé en subordonnée (binnenkwam).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une erreur sur zijn apparaît (was / waren), revenir sur le tableau des verbes forts de la séance 7. Phrase 5 : toen ik binnenkwam, was de keuken leeg (inversion dans la principale).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Réponse : « Er is een lek » → « Hij zei dat er een lek was » : is devient was (présent → imperfectum) et le verbe part à la fin de la subordonnée. Dans la deuxième phrase, « konden langskomen » : le modal et l’infinitif sont en fin de phrase (langskomen reste en un mot).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du livret (p. 12), à lire ligne par ligne. Rappel du palier 4 : of = question indirecte oui / non ; als = condition. Faire trouver pour chaque ligne le verbe introducteur (zeggen, vragen), le mot de liaison (dat, of, vraagwoord, om) et la place du verbe.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Visualiser l’ordre : sujet + verbe introducteur, puis mot de liaison, puis le reste, et le verbe conjugué en dernier. Pour « om … te », l’infinitif avec te est en fin de phrase (terug te bellen, particule soudée avec te au milieu : terug + te + bellen).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Tableau de synthèse ajouté (le livret ne l’écrit pas) : il résume ce qui bouge quand on passe du direct à l’indirect, avec des exemples tirés de l’exercice 7 et de D3. Dans la subordonnée au passé : « dat hij de kraan had dichtgedraaid » ou « dichtgedraaid had » (les deux ordres sont corrects).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Colonne de gauche : les mots de la luisterfiche (ex. 6) et de D4. Colonne de droite : verbes introducteurs possibles au passé (régulier ou fort). Faire produire une phrase par verbe : « Hij beloofde dat de loodgieter morgen kwam. » « meedelen » est séparable (deelde mee ; dat hij meedeelde en subordonnée).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Couche 1 · seul · 12 minutes en tout. Le texte lu (transcription n° 2) est en annexe du dossier du professeur et n’est pas reproduit dans le livret : lire deux fois, laisser 1 minute entre les écoutes. La solution de la luisterfiche dépend de ce texte (ne pas la deviner). L’illustration montre Stef au téléphone avec le locataire, devant le mur abîmé.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Grille projetée pendant l’écoute et la mise en commun. Mise en commun : une ligne par étudiant, d’abord en mots-clés, puis en phrase au discours indirect (« De huurder zei dat… », « Hij vroeg of… »). Solution : selon le texte lu — le livret ne fournit pas la transcription.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7 du livret (phrases 1 à 4 p. 13, phrase 5 p. 14). Seul, 8 minutes, puis correction orale. Variantes acceptées : phrase 2 « of we vandaag nog konden komen » ; phrase 4 « dat hij de hoofdkraan al dichtgedraaid had » (les deux ordres sont corrects) ; phrase 5 « of we hem een bevestiging per mail wilden sturen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chaque phrase, faire nommer : le verbe introducteur, le mot de liaison, le temps du verbe rapporté, la place du verbe. Phrase 4 : le perfectum du discours direct devient « had + participe » (plus-que-parfait). Phrase 5 : « me » devient « hem » parce que le locuteur, dans la phrase rapportée, parle du gestionnaire.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Binômes (+ un observateur si possible). Chaque rapporteur s’appuie sur sa luisterfiche (ex. 6). L’observateur coche la grille ci-dessus. L’imprévu est glissé par l’observateur à mi-appel : mevrouw Dubois soupçonne le locataire ; la makelaar doit rester neutre et factuelle, avec un discours indirect.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Phrases-modèles à projeter après les deux rondes. Elles reprennent le dialogue du matin (ligne 5 : « Hij zei dat er een lek in de badkamer was ») et la ligne 7 (« Toen ik gisteravond langsging, was de muur al nat »). « Dat onderzoeken we » : réponse neutre à l’imprévu. Variante pour la dernière phrase : « Zodra de loodgieter het probleem bekeken heeft, bel ik u terug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Expressions de la consultation. Faire répéter, puis un mini-jeu : le professeur dit un symptôme en français, les étudiants répondent « Ik heb… ». « Beterschap ! » se dit à quelqu’un de malade, comme « Bon rétablissement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premières phrases sont celles du livret (p. 14a) ; la quatrième est un ajout du professeur pour consolider moest + infinitif. Réponses du livret : « De dokter zei dat ik drie dagen rust moest nemen », « Hij vroeg of ik koorts had », « Hij vroeg sinds wanneer ik hoestte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trois premières phrases sont celles du livret (p. 14a) ; la quatrième est un ajout du professeur pour consolider moest + infinitif. Réponses du livret : « De dokter zei dat ik drie dagen rust moest nemen », « Hij vroeg of ik koorts had », « Hij vroeg sinds wanneer ik hoestte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Activité en trio (3 rondes, rôles tournants). A consulte B (3 min) : B pose au moins trois questions et donne deux conseils en mots-clés. Puis A téléphone à C et rapporte tout au discours indirect (2 min). C compare avec les notes de B. L’imprévu est glissé par C : le médecin emploie un mot que A ne comprend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Modèle de message rapporté, à projeter après l’activité. Il reprend l’Avonddialoog (« De dokter zei dat ik griep had en dat ik drie dagen moest rusten »). « Hij raadde me aan om … te drinken » : aanraden (raadde aan) + om … te + infinitif.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(5 min) : réemploi du discours indirect sur le dialogue de référence du palier. Les répliques sont simplifiées par rapport au texte (« Wil je het dossier beheren ? » pour « Zou jij het dossier willen beheren ? ») afin de ne pas anticiper zou (séance 9). Accepter « ze » ou « zij » pour Yasmina.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Exercice ajouté (5 min) : réemploi du discours indirect sur le dialogue de référence du palier. Les répliques sont simplifiées par rapport au texte (« Wil je het dossier beheren ? » pour « Zou jij het dossier willen beheren ? ») afin de ne pas anticiper zou (séance 9). Accepter « ze » ou « zij » pour Yasmina.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Ticket de sortie à l’oral. Réponses : « Hij zei dat het te laat was. » et « Hij vroeg wanneer ik kwam. » (ou « wanneer wij kwamen »). Vérifier le verbe en fin de subordonnée et le passage du présent à l’imperfectum.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Néerlandais 3 · B1 · Yasmina &amp; Stef · Séance 08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DARK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Néerlandais 3 · B1 · Yasmina &amp; Stef · Séance 08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TLAS_COVER">
    <p:bg>
      <p:bgPr>
        <a:solidFill>
          <a:srgbClr val="1737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Néerlandais 3 · B1 · A. Jouniaux · IRAM — Enseignement pour adultes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g"/>
          <p:cNvSpPr/>
          <p:nvPr/>
        </p:nvSpPr>
        <p:spPr>
          <a:xfrm>
            <a:off x="548640" y="640080"/>
            <a:ext cx="2369820" cy="384048"/>
          </a:xfrm>
          <a:prstGeom prst="roundRect">
            <a:avLst>
              <a:gd name="adj" fmla="val 11905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chemeClr val="bg1"/>
                </a:solidFill>
              </a:rPr>
              <a:t>SÉANCE 08 / 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2"/>
                </a:solidFill>
              </a:rPr>
              <a:t>SÉQUENCE</a:t>
            </a:r>
            <a:endParaRPr lang="en-US" sz="1300" dirty="0"/>
          </a:p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6.3</a:t>
            </a:r>
            <a:endParaRPr lang="en-US" sz="130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1874520"/>
            <a:ext cx="5760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De klacht</a:t>
            </a:r>
            <a:endParaRPr lang="en-US" sz="4000" dirty="0"/>
          </a:p>
        </p:txBody>
      </p:sp>
      <p:sp>
        <p:nvSpPr>
          <p:cNvPr id="5" name="Text 1"/>
          <p:cNvSpPr/>
          <p:nvPr>
            <p:ph idx="102" type="body" hasCustomPrompt="1"/>
          </p:nvPr>
        </p:nvSpPr>
        <p:spPr>
          <a:xfrm>
            <a:off x="548640" y="379476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i="1" dirty="0">
                <a:solidFill>
                  <a:schemeClr val="bg2"/>
                </a:solidFill>
              </a:rPr>
              <a:t>Le discours indirect — rapporter fidèlement les propos d’un client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chemeClr val="bg2"/>
                </a:solidFill>
              </a:rPr>
              <a:t>Palier 6 · Verhuur en beheer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Livret p. 11–14a</a:t>
            </a:r>
            <a:endParaRPr lang="en-US" sz="18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720410"/>
            <a:ext cx="5120640" cy="3417181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Mission du jour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PLAN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11–14a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9808" y="170992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470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81328" y="165506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EN FIN DE SÉANCE, JE SAIS…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481328" y="1947672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Rapporter les propos d’un locataire, d’une propriétaire ou d’un médecin au </a:t>
            </a:r>
            <a:r>
              <a:rPr lang="en-US" sz="1600" b="1" dirty="0">
                <a:solidFill>
                  <a:schemeClr val="tx1"/>
                </a:solidFill>
              </a:rPr>
              <a:t>discours indirect</a:t>
            </a:r>
            <a:r>
              <a:rPr lang="en-US" sz="1600" dirty="0">
                <a:solidFill>
                  <a:schemeClr val="tx1"/>
                </a:solidFill>
              </a:rPr>
              <a:t> (</a:t>
            </a:r>
            <a:r>
              <a:rPr lang="en-US" sz="1600" i="1" dirty="0">
                <a:solidFill>
                  <a:schemeClr val="tx1"/>
                </a:solidFill>
              </a:rPr>
              <a:t>zei dat · vroeg of · vroeg wanneer</a:t>
            </a:r>
            <a:r>
              <a:rPr lang="en-US" sz="1600" dirty="0">
                <a:solidFill>
                  <a:schemeClr val="tx1"/>
                </a:solidFill>
              </a:rPr>
              <a:t>).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3136392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749808" y="33375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3474720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28269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LANGUE CIBLE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3575304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1"/>
                </a:solidFill>
              </a:rPr>
              <a:t>Hij zei dat er een lek was.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Hij vroeg of we konden langskomen.</a:t>
            </a:r>
            <a:r>
              <a:rPr lang="en-US" sz="1800" dirty="0">
                <a:solidFill>
                  <a:schemeClr val="tx1"/>
                </a:solidFill>
              </a:rPr>
              <a:t> — </a:t>
            </a:r>
            <a:r>
              <a:rPr lang="en-US" sz="1800" i="1" dirty="0">
                <a:solidFill>
                  <a:schemeClr val="tx1"/>
                </a:solidFill>
              </a:rPr>
              <a:t>Hij vroeg om … te + infinitif.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48640" y="4764024"/>
            <a:ext cx="525780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49808" y="4965192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102352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481328" y="491032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3"/>
                </a:solidFill>
              </a:rPr>
              <a:t>COMPÉTENCES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481328" y="5202936"/>
            <a:ext cx="41605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Écouter une plainte (fiche) · transformer au discours indirect · faire un compte rendu à la propriétaire · chaîne du message en trio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626364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DÉROULÉ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8897112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≈ 90 min (indicatif)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63640" y="195967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6263640" y="19596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6784848" y="187452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Rappel séance 7 : imperfectum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10972800" y="187452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6'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6263640" y="251402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263640" y="25140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6784848" y="242887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6.3 · dat, of, vraagwoord, om … te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10972800" y="242887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14'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6263640" y="306838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63640" y="3068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6784848" y="298323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Woordenschat : plainte · verbes</a:t>
            </a:r>
            <a:endParaRPr lang="en-US" sz="1600" dirty="0"/>
          </a:p>
        </p:txBody>
      </p:sp>
      <p:sp>
        <p:nvSpPr>
          <p:cNvPr id="34" name="Text 28"/>
          <p:cNvSpPr txBox="1"/>
          <p:nvPr/>
        </p:nvSpPr>
        <p:spPr>
          <a:xfrm>
            <a:off x="10972800" y="298323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5'</a:t>
            </a:r>
            <a:endParaRPr lang="en-US" sz="1500" dirty="0"/>
          </a:p>
        </p:txBody>
      </p:sp>
      <p:sp>
        <p:nvSpPr>
          <p:cNvPr id="35" name="Shape 29"/>
          <p:cNvSpPr/>
          <p:nvPr/>
        </p:nvSpPr>
        <p:spPr>
          <a:xfrm>
            <a:off x="6263640" y="362273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263640" y="362273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784848" y="353758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Ex. 6 Luisteren: het telefoongesprek</a:t>
            </a:r>
            <a:endParaRPr lang="en-US" sz="1600" dirty="0"/>
          </a:p>
        </p:txBody>
      </p:sp>
      <p:sp>
        <p:nvSpPr>
          <p:cNvPr id="38" name="Text 32"/>
          <p:cNvSpPr txBox="1"/>
          <p:nvPr/>
        </p:nvSpPr>
        <p:spPr>
          <a:xfrm>
            <a:off x="10972800" y="353758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12'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6263640" y="4177093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6263640" y="41770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784848" y="409194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Ex. 7 Rapporteer de woorden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10972800" y="409194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43" name="Shape 37"/>
          <p:cNvSpPr/>
          <p:nvPr/>
        </p:nvSpPr>
        <p:spPr>
          <a:xfrm>
            <a:off x="6263640" y="4731449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473144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45" name="Text 39"/>
          <p:cNvSpPr txBox="1"/>
          <p:nvPr/>
        </p:nvSpPr>
        <p:spPr>
          <a:xfrm>
            <a:off x="6784848" y="464629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TAAK 3 · verslag aan de eigenaar</a:t>
            </a:r>
            <a:endParaRPr lang="en-US" sz="1600" dirty="0"/>
          </a:p>
        </p:txBody>
      </p:sp>
      <p:sp>
        <p:nvSpPr>
          <p:cNvPr id="46" name="Text 40"/>
          <p:cNvSpPr txBox="1"/>
          <p:nvPr/>
        </p:nvSpPr>
        <p:spPr>
          <a:xfrm>
            <a:off x="10972800" y="464629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15'</a:t>
            </a:r>
            <a:endParaRPr lang="en-US" sz="1500" dirty="0"/>
          </a:p>
        </p:txBody>
      </p:sp>
      <p:sp>
        <p:nvSpPr>
          <p:cNvPr id="47" name="Shape 41"/>
          <p:cNvSpPr/>
          <p:nvPr/>
        </p:nvSpPr>
        <p:spPr>
          <a:xfrm>
            <a:off x="6263640" y="5285804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48" name="Text 42"/>
          <p:cNvSpPr txBox="1"/>
          <p:nvPr/>
        </p:nvSpPr>
        <p:spPr>
          <a:xfrm>
            <a:off x="6263640" y="52858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7</a:t>
            </a:r>
            <a:endParaRPr lang="en-US" sz="1300" dirty="0"/>
          </a:p>
        </p:txBody>
      </p:sp>
      <p:sp>
        <p:nvSpPr>
          <p:cNvPr id="49" name="Text 43"/>
          <p:cNvSpPr txBox="1"/>
          <p:nvPr/>
        </p:nvSpPr>
        <p:spPr>
          <a:xfrm>
            <a:off x="6784848" y="5200650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D3 · Wat zei de dokter?</a:t>
            </a:r>
            <a:endParaRPr lang="en-US" sz="1600" dirty="0"/>
          </a:p>
        </p:txBody>
      </p:sp>
      <p:sp>
        <p:nvSpPr>
          <p:cNvPr id="50" name="Text 44"/>
          <p:cNvSpPr txBox="1"/>
          <p:nvPr/>
        </p:nvSpPr>
        <p:spPr>
          <a:xfrm>
            <a:off x="10972800" y="5200650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18'</a:t>
            </a:r>
            <a:endParaRPr lang="en-US" sz="1500" dirty="0"/>
          </a:p>
        </p:txBody>
      </p:sp>
      <p:sp>
        <p:nvSpPr>
          <p:cNvPr id="51" name="Shape 45"/>
          <p:cNvSpPr/>
          <p:nvPr/>
        </p:nvSpPr>
        <p:spPr>
          <a:xfrm>
            <a:off x="6263640" y="5840158"/>
            <a:ext cx="384048" cy="384048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6263640" y="584015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8</a:t>
            </a:r>
            <a:endParaRPr lang="en-US" sz="1300" dirty="0"/>
          </a:p>
        </p:txBody>
      </p:sp>
      <p:sp>
        <p:nvSpPr>
          <p:cNvPr id="53" name="Text 47"/>
          <p:cNvSpPr txBox="1"/>
          <p:nvPr/>
        </p:nvSpPr>
        <p:spPr>
          <a:xfrm>
            <a:off x="6784848" y="5755005"/>
            <a:ext cx="4114800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Bonus · bilan</a:t>
            </a:r>
            <a:endParaRPr lang="en-US" sz="1600" dirty="0"/>
          </a:p>
        </p:txBody>
      </p:sp>
      <p:sp>
        <p:nvSpPr>
          <p:cNvPr id="54" name="Text 48"/>
          <p:cNvSpPr txBox="1"/>
          <p:nvPr/>
        </p:nvSpPr>
        <p:spPr>
          <a:xfrm>
            <a:off x="10972800" y="5755005"/>
            <a:ext cx="667512" cy="554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10'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7 : l’imperfectum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Mettez les verbes à l’imperfectum — seul, 4 min, puis correction orale.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De huurder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(bellen) gisteren.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muren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(zijn) in goede staat.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Wij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(hebben) geen sleutel.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Vroeger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(staan) hier een wasmachine.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Toen ik </a:t>
            </a:r>
            <a:r>
              <a:rPr lang="en-US" sz="2400" dirty="0">
                <a:solidFill>
                  <a:schemeClr val="accent5"/>
                </a:solidFill>
              </a:rPr>
              <a:t>………………</a:t>
            </a:r>
            <a:r>
              <a:rPr lang="en-US" sz="2400" dirty="0">
                <a:solidFill>
                  <a:schemeClr val="tx1"/>
                </a:solidFill>
              </a:rPr>
              <a:t> (binnenkomen), </a:t>
            </a:r>
            <a:r>
              <a:rPr lang="en-US" sz="2400" dirty="0">
                <a:solidFill>
                  <a:schemeClr val="accent5"/>
                </a:solidFill>
              </a:rPr>
              <a:t>……………</a:t>
            </a:r>
            <a:r>
              <a:rPr lang="en-US" sz="2400" dirty="0">
                <a:solidFill>
                  <a:schemeClr val="tx1"/>
                </a:solidFill>
              </a:rPr>
              <a:t> (zijn) de keuken leeg.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RAPPEL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Régulier : stam + </a:t>
            </a:r>
            <a:r>
              <a:rPr lang="en-US" sz="1800" b="1" dirty="0">
                <a:solidFill>
                  <a:schemeClr val="tx1"/>
                </a:solidFill>
              </a:rPr>
              <a:t>-te / -de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Fort : la </a:t>
            </a:r>
            <a:r>
              <a:rPr lang="en-US" sz="1800" b="1" dirty="0">
                <a:solidFill>
                  <a:schemeClr val="tx1"/>
                </a:solidFill>
              </a:rPr>
              <a:t>voyelle</a:t>
            </a:r>
            <a:r>
              <a:rPr lang="en-US" sz="1800" dirty="0">
                <a:solidFill>
                  <a:schemeClr val="tx1"/>
                </a:solidFill>
              </a:rPr>
              <a:t> change (stond, sloot)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Pluriel : </a:t>
            </a:r>
            <a:r>
              <a:rPr lang="en-US" sz="1800" b="1" dirty="0">
                <a:solidFill>
                  <a:schemeClr val="tx1"/>
                </a:solidFill>
              </a:rPr>
              <a:t>-en</a:t>
            </a:r>
            <a:r>
              <a:rPr lang="en-US" sz="1800" dirty="0">
                <a:solidFill>
                  <a:schemeClr val="tx1"/>
                </a:solidFill>
              </a:rPr>
              <a:t> (waren, hadden)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Après </a:t>
            </a:r>
            <a:r>
              <a:rPr lang="en-US" sz="1800" i="1" dirty="0">
                <a:solidFill>
                  <a:schemeClr val="tx1"/>
                </a:solidFill>
              </a:rPr>
              <a:t>toen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b="1" dirty="0">
                <a:solidFill>
                  <a:schemeClr val="tx1"/>
                </a:solidFill>
              </a:rPr>
              <a:t>verbe d’abord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Rappel séance 7 : l’imperfectum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87452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ÉCHAUFFEMENT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253288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Rappel séance 7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Mettez les verbes à l’imperfectum — seul, 4 min, puis correction orale.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1926336"/>
            <a:ext cx="7178040" cy="436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1.  </a:t>
            </a:r>
            <a:r>
              <a:rPr lang="en-US" sz="2400" dirty="0">
                <a:solidFill>
                  <a:schemeClr val="tx1"/>
                </a:solidFill>
              </a:rPr>
              <a:t>De huurder </a:t>
            </a:r>
            <a:r>
              <a:rPr lang="en-US" sz="2400" b="1" dirty="0">
                <a:solidFill>
                  <a:schemeClr val="accent3"/>
                </a:solidFill>
              </a:rPr>
              <a:t>belde</a:t>
            </a:r>
            <a:r>
              <a:rPr lang="en-US" sz="2400" dirty="0">
                <a:solidFill>
                  <a:schemeClr val="tx1"/>
                </a:solidFill>
              </a:rPr>
              <a:t> (bellen) gisteren.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2.  </a:t>
            </a:r>
            <a:r>
              <a:rPr lang="en-US" sz="2400" dirty="0">
                <a:solidFill>
                  <a:schemeClr val="tx1"/>
                </a:solidFill>
              </a:rPr>
              <a:t>De muren </a:t>
            </a:r>
            <a:r>
              <a:rPr lang="en-US" sz="2400" b="1" dirty="0">
                <a:solidFill>
                  <a:schemeClr val="accent3"/>
                </a:solidFill>
              </a:rPr>
              <a:t>waren</a:t>
            </a:r>
            <a:r>
              <a:rPr lang="en-US" sz="2400" dirty="0">
                <a:solidFill>
                  <a:schemeClr val="tx1"/>
                </a:solidFill>
              </a:rPr>
              <a:t> (zijn) in goede staat.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3.  </a:t>
            </a:r>
            <a:r>
              <a:rPr lang="en-US" sz="2400" dirty="0">
                <a:solidFill>
                  <a:schemeClr val="tx1"/>
                </a:solidFill>
              </a:rPr>
              <a:t>Wij </a:t>
            </a:r>
            <a:r>
              <a:rPr lang="en-US" sz="2400" b="1" dirty="0">
                <a:solidFill>
                  <a:schemeClr val="accent3"/>
                </a:solidFill>
              </a:rPr>
              <a:t>hadden</a:t>
            </a:r>
            <a:r>
              <a:rPr lang="en-US" sz="2400" dirty="0">
                <a:solidFill>
                  <a:schemeClr val="tx1"/>
                </a:solidFill>
              </a:rPr>
              <a:t> (hebben) geen sleutel.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4.  </a:t>
            </a:r>
            <a:r>
              <a:rPr lang="en-US" sz="2400" dirty="0">
                <a:solidFill>
                  <a:schemeClr val="tx1"/>
                </a:solidFill>
              </a:rPr>
              <a:t>Vroeger </a:t>
            </a:r>
            <a:r>
              <a:rPr lang="en-US" sz="2400" b="1" dirty="0">
                <a:solidFill>
                  <a:schemeClr val="accent3"/>
                </a:solidFill>
              </a:rPr>
              <a:t>stond</a:t>
            </a:r>
            <a:r>
              <a:rPr lang="en-US" sz="2400" dirty="0">
                <a:solidFill>
                  <a:schemeClr val="tx1"/>
                </a:solidFill>
              </a:rPr>
              <a:t> (staan) hier een wasmachine.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chemeClr val="tx2"/>
                </a:solidFill>
              </a:rPr>
              <a:t>5.  </a:t>
            </a:r>
            <a:r>
              <a:rPr lang="en-US" sz="2400" dirty="0">
                <a:solidFill>
                  <a:schemeClr val="tx1"/>
                </a:solidFill>
              </a:rPr>
              <a:t>Toen ik </a:t>
            </a:r>
            <a:r>
              <a:rPr lang="en-US" sz="2400" b="1" dirty="0">
                <a:solidFill>
                  <a:schemeClr val="accent3"/>
                </a:solidFill>
              </a:rPr>
              <a:t>binnenkwam</a:t>
            </a:r>
            <a:r>
              <a:rPr lang="en-US" sz="2400" dirty="0">
                <a:solidFill>
                  <a:schemeClr val="tx1"/>
                </a:solidFill>
              </a:rPr>
              <a:t> (binnenkomen), </a:t>
            </a:r>
            <a:r>
              <a:rPr lang="en-US" sz="2400" b="1" dirty="0">
                <a:solidFill>
                  <a:schemeClr val="accent3"/>
                </a:solidFill>
              </a:rPr>
              <a:t>was</a:t>
            </a:r>
            <a:r>
              <a:rPr lang="en-US" sz="2400" dirty="0">
                <a:solidFill>
                  <a:schemeClr val="tx1"/>
                </a:solidFill>
              </a:rPr>
              <a:t> (zijn) de keuken leeg.</a:t>
            </a:r>
            <a:endParaRPr lang="en-US" sz="24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2">
              <a:alpha val="10000"/>
            </a:schemeClr>
          </a:solidFill>
          <a:ln w="12700">
            <a:solidFill>
              <a:schemeClr val="accent2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2"/>
                </a:solidFill>
              </a:rPr>
              <a:t>RAPPEL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Régulier : stam + </a:t>
            </a:r>
            <a:r>
              <a:rPr lang="en-US" sz="1800" b="1" dirty="0">
                <a:solidFill>
                  <a:schemeClr val="tx1"/>
                </a:solidFill>
              </a:rPr>
              <a:t>-te / -de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Fort : la </a:t>
            </a:r>
            <a:r>
              <a:rPr lang="en-US" sz="1800" b="1" dirty="0">
                <a:solidFill>
                  <a:schemeClr val="tx1"/>
                </a:solidFill>
              </a:rPr>
              <a:t>voyelle</a:t>
            </a:r>
            <a:r>
              <a:rPr lang="en-US" sz="1800" dirty="0">
                <a:solidFill>
                  <a:schemeClr val="tx1"/>
                </a:solidFill>
              </a:rPr>
              <a:t> change (stond, sloot)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Pluriel : </a:t>
            </a:r>
            <a:r>
              <a:rPr lang="en-US" sz="1800" b="1" dirty="0">
                <a:solidFill>
                  <a:schemeClr val="tx1"/>
                </a:solidFill>
              </a:rPr>
              <a:t>-en</a:t>
            </a:r>
            <a:r>
              <a:rPr lang="en-US" sz="1800" dirty="0">
                <a:solidFill>
                  <a:schemeClr val="tx1"/>
                </a:solidFill>
              </a:rPr>
              <a:t> (waren, hadden)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Après </a:t>
            </a:r>
            <a:r>
              <a:rPr lang="en-US" sz="1800" i="1" dirty="0">
                <a:solidFill>
                  <a:schemeClr val="tx1"/>
                </a:solidFill>
              </a:rPr>
              <a:t>toen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b="1" dirty="0">
                <a:solidFill>
                  <a:schemeClr val="tx1"/>
                </a:solidFill>
              </a:rPr>
              <a:t>verbe d’abord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Séquence 6.3 : rapporter les propos d’un client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9372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FOCUS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11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6035040" cy="4027391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Shape 3"/>
          <p:cNvSpPr/>
          <p:nvPr/>
        </p:nvSpPr>
        <p:spPr>
          <a:xfrm>
            <a:off x="6995160" y="1508760"/>
            <a:ext cx="16002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995160" y="15544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bg2"/>
                </a:solidFill>
              </a:rPr>
              <a:t>SÉQUENCE</a:t>
            </a:r>
            <a:endParaRPr lang="en-US" sz="11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6.3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6995160" y="2560320"/>
            <a:ext cx="4645152" cy="238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 gestionnaire est un </a:t>
            </a:r>
            <a:r>
              <a:rPr lang="en-US" sz="1700" b="1" dirty="0">
                <a:solidFill>
                  <a:schemeClr val="tx1"/>
                </a:solidFill>
              </a:rPr>
              <a:t>messager</a:t>
            </a:r>
            <a:r>
              <a:rPr lang="en-US" sz="1700" dirty="0">
                <a:solidFill>
                  <a:schemeClr val="tx1"/>
                </a:solidFill>
              </a:rPr>
              <a:t> : le locataire se plaint à lui, il rapporte au propriétaire. Deux outils déjà connus : </a:t>
            </a:r>
            <a:r>
              <a:rPr lang="en-US" sz="1700" b="1" dirty="0">
                <a:solidFill>
                  <a:schemeClr val="tx1"/>
                </a:solidFill>
              </a:rPr>
              <a:t>dat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b="1" dirty="0">
                <a:solidFill>
                  <a:schemeClr val="tx1"/>
                </a:solidFill>
              </a:rPr>
              <a:t>of</a:t>
            </a:r>
            <a:r>
              <a:rPr lang="en-US" sz="1700" dirty="0">
                <a:solidFill>
                  <a:schemeClr val="tx1"/>
                </a:solidFill>
              </a:rPr>
              <a:t>, verbe </a:t>
            </a:r>
            <a:r>
              <a:rPr lang="en-US" sz="1700" b="1" dirty="0">
                <a:solidFill>
                  <a:schemeClr val="tx1"/>
                </a:solidFill>
              </a:rPr>
              <a:t>à la fin</a:t>
            </a:r>
            <a:r>
              <a:rPr lang="en-US" sz="1700" dirty="0">
                <a:solidFill>
                  <a:schemeClr val="tx1"/>
                </a:solidFill>
              </a:rPr>
              <a:t>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Focus : ligne 5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«Hij zei </a:t>
            </a:r>
            <a:r>
              <a:rPr lang="en-US" sz="1700" b="1" dirty="0">
                <a:solidFill>
                  <a:schemeClr val="tx1"/>
                </a:solidFill>
              </a:rPr>
              <a:t>dat</a:t>
            </a:r>
            <a:r>
              <a:rPr lang="en-US" sz="1700" dirty="0">
                <a:solidFill>
                  <a:schemeClr val="tx1"/>
                </a:solidFill>
              </a:rPr>
              <a:t> er een lek in de badkamer </a:t>
            </a:r>
            <a:r>
              <a:rPr lang="en-US" sz="1700" b="1" dirty="0">
                <a:solidFill>
                  <a:schemeClr val="tx1"/>
                </a:solidFill>
              </a:rPr>
              <a:t>was</a:t>
            </a:r>
            <a:r>
              <a:rPr lang="en-US" sz="1700" dirty="0">
                <a:solidFill>
                  <a:schemeClr val="tx1"/>
                </a:solidFill>
              </a:rPr>
              <a:t>.»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«Hij vroeg </a:t>
            </a:r>
            <a:r>
              <a:rPr lang="en-US" sz="1700" b="1" dirty="0">
                <a:solidFill>
                  <a:schemeClr val="tx1"/>
                </a:solidFill>
              </a:rPr>
              <a:t>of</a:t>
            </a:r>
            <a:r>
              <a:rPr lang="en-US" sz="1700" dirty="0">
                <a:solidFill>
                  <a:schemeClr val="tx1"/>
                </a:solidFill>
              </a:rPr>
              <a:t> we snel </a:t>
            </a:r>
            <a:r>
              <a:rPr lang="en-US" sz="1700" b="1" dirty="0">
                <a:solidFill>
                  <a:schemeClr val="tx1"/>
                </a:solidFill>
              </a:rPr>
              <a:t>konden langskomen</a:t>
            </a:r>
            <a:r>
              <a:rPr lang="en-US" sz="1700" dirty="0">
                <a:solidFill>
                  <a:schemeClr val="tx1"/>
                </a:solidFill>
              </a:rPr>
              <a:t>.»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6995160" y="5123688"/>
            <a:ext cx="4645152" cy="1167384"/>
          </a:xfrm>
          <a:prstGeom prst="roundRect">
            <a:avLst>
              <a:gd name="adj" fmla="val 6266"/>
            </a:avLst>
          </a:prstGeom>
          <a:solidFill>
            <a:schemeClr val="accent1">
              <a:alpha val="12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178040" y="5215128"/>
            <a:ext cx="4279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QUESTION À LA CLASSE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178040" y="5507736"/>
            <a:ext cx="4279392" cy="710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Que devient « Er is een lek » quand on le rapporte ? Où est passé le verbe 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Le client dit… vous rapportez…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3227832"/>
              </a:tblGrid>
              <a:tr h="5806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LE CLIENT DIT…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VOUS RAPPORTEZ…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OUTIL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«Er is een lek.»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zei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dat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er een lek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affirmation →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zeggen dat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«Kunnen jullie langskomen?»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vroeg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we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konden langskomen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question oui / non →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vragen of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9290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«Wanneer komt de loodgieter?»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vroeg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wanneer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de loodgieter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kwam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question ouverte →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vragen + vraagwoord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«Bel me morgen terug.»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vroeg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om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hem morgen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terug te bellen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demande → </a:t>
                      </a:r>
                      <a:r>
                        <a:rPr lang="en-US" sz="1700" i="1" dirty="0">
                          <a:solidFill>
                            <a:schemeClr val="tx1"/>
                          </a:solidFill>
                        </a:rPr>
                        <a:t>vragen om … te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669280"/>
            <a:ext cx="110916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Deux « si » français, deux mots néerlandais : </a:t>
            </a:r>
            <a:r>
              <a:rPr lang="en-US" sz="1500" i="1" dirty="0">
                <a:solidFill>
                  <a:schemeClr val="accent5"/>
                </a:solidFill>
              </a:rPr>
              <a:t>Hij vroeg </a:t>
            </a:r>
            <a:r>
              <a:rPr lang="en-US" sz="1500" b="1" i="1" dirty="0">
                <a:solidFill>
                  <a:schemeClr val="accent5"/>
                </a:solidFill>
              </a:rPr>
              <a:t>of</a:t>
            </a:r>
            <a:r>
              <a:rPr lang="en-US" sz="1500" i="1" dirty="0">
                <a:solidFill>
                  <a:schemeClr val="accent5"/>
                </a:solidFill>
              </a:rPr>
              <a:t> de loodgieter kwam</a:t>
            </a:r>
            <a:r>
              <a:rPr lang="en-US" sz="1500" i="1" dirty="0">
                <a:solidFill>
                  <a:schemeClr val="accent5"/>
                </a:solidFill>
              </a:rPr>
              <a:t> (question) ≠ </a:t>
            </a:r>
            <a:r>
              <a:rPr lang="en-US" sz="1500" b="1" i="1" dirty="0">
                <a:solidFill>
                  <a:schemeClr val="accent5"/>
                </a:solidFill>
              </a:rPr>
              <a:t>Als</a:t>
            </a:r>
            <a:r>
              <a:rPr lang="en-US" sz="1500" i="1" dirty="0">
                <a:solidFill>
                  <a:schemeClr val="accent5"/>
                </a:solidFill>
              </a:rPr>
              <a:t> de loodgieter komt, verwittig ik u</a:t>
            </a:r>
            <a:r>
              <a:rPr lang="en-US" sz="1500" i="1" dirty="0">
                <a:solidFill>
                  <a:schemeClr val="accent5"/>
                </a:solidFill>
              </a:rPr>
              <a:t> (condition).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Discours indirect : le verbe part à la fin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Verbe introducteur au passé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zei, vroeg</a:t>
            </a:r>
            <a:r>
              <a:rPr lang="en-US" sz="1800" dirty="0">
                <a:solidFill>
                  <a:schemeClr val="tx1"/>
                </a:solidFill>
              </a:rPr>
              <a:t>) → la subordonnée (</a:t>
            </a:r>
            <a:r>
              <a:rPr lang="en-US" sz="1800" b="1" dirty="0">
                <a:solidFill>
                  <a:schemeClr val="tx1"/>
                </a:solidFill>
              </a:rPr>
              <a:t>dat / of / vraagwoord</a:t>
            </a:r>
            <a:r>
              <a:rPr lang="en-US" sz="1800" dirty="0">
                <a:solidFill>
                  <a:schemeClr val="tx1"/>
                </a:solidFill>
              </a:rPr>
              <a:t>) renvoie le verbe </a:t>
            </a:r>
            <a:r>
              <a:rPr lang="en-US" sz="1800" b="1" dirty="0">
                <a:solidFill>
                  <a:schemeClr val="tx1"/>
                </a:solidFill>
              </a:rPr>
              <a:t>en fin de phrase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5973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Affirmation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2103120" y="2221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4597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39696" y="24597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Hij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98648" y="2221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898648" y="24597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935224" y="24597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zei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3694176" y="2221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94176" y="2459736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30752" y="24597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4489704" y="2221992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489704" y="2459736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26280" y="2459736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 een lek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985256" y="2221992"/>
            <a:ext cx="180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plaats · où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85256" y="2459736"/>
            <a:ext cx="1808480" cy="329184"/>
          </a:xfrm>
          <a:prstGeom prst="roundRect">
            <a:avLst>
              <a:gd name="adj" fmla="val 16667"/>
            </a:avLst>
          </a:prstGeom>
          <a:solidFill>
            <a:schemeClr val="accent4">
              <a:alpha val="88000"/>
            </a:schemeClr>
          </a:solidFill>
          <a:ln w="12700">
            <a:solidFill>
              <a:srgbClr val="B4236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021832" y="2459736"/>
            <a:ext cx="1735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 de badkamer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903464" y="222199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7903464" y="2459736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40040" y="2459736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was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2103120" y="2816352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Il a dit qu’il y avait une fuite dans la salle de bains.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324535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Oui / non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2103120" y="300761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103120" y="324535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139696" y="324535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Hij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2898648" y="3007614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898648" y="3245358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935224" y="3245358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vroeg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3865880" y="300761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865880" y="3245358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902456" y="324535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of</a:t>
            </a:r>
            <a:endParaRPr lang="en-US" sz="1600" dirty="0"/>
          </a:p>
        </p:txBody>
      </p:sp>
      <p:sp>
        <p:nvSpPr>
          <p:cNvPr id="37" name="Text 34"/>
          <p:cNvSpPr txBox="1"/>
          <p:nvPr/>
        </p:nvSpPr>
        <p:spPr>
          <a:xfrm>
            <a:off x="4661408" y="300761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661408" y="3245358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697984" y="3245358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we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5456936" y="3007614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manier · comment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456936" y="3245358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3">
              <a:alpha val="88000"/>
            </a:schemeClr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93512" y="3245358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snel</a:t>
            </a:r>
            <a:endParaRPr lang="en-US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6318504" y="3007614"/>
            <a:ext cx="2125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318504" y="3245358"/>
            <a:ext cx="2125472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6355080" y="3245358"/>
            <a:ext cx="2052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konden langskomen</a:t>
            </a:r>
            <a:endParaRPr lang="en-US" sz="1600" dirty="0"/>
          </a:p>
        </p:txBody>
      </p:sp>
      <p:sp>
        <p:nvSpPr>
          <p:cNvPr id="46" name="Text 43"/>
          <p:cNvSpPr txBox="1"/>
          <p:nvPr/>
        </p:nvSpPr>
        <p:spPr>
          <a:xfrm>
            <a:off x="2103120" y="3601974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Il a demandé si nous pouvions passer rapidement.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48640" y="40309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Question ouverte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2103120" y="379323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2103120" y="4030980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2139696" y="4030980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Hij</a:t>
            </a:r>
            <a:endParaRPr lang="en-US" sz="1600" dirty="0"/>
          </a:p>
        </p:txBody>
      </p:sp>
      <p:sp>
        <p:nvSpPr>
          <p:cNvPr id="51" name="Text 48"/>
          <p:cNvSpPr txBox="1"/>
          <p:nvPr/>
        </p:nvSpPr>
        <p:spPr>
          <a:xfrm>
            <a:off x="2898648" y="3793236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2898648" y="4030980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2935224" y="4030980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vroeg</a:t>
            </a:r>
            <a:endParaRPr lang="en-US" sz="1600" dirty="0"/>
          </a:p>
        </p:txBody>
      </p:sp>
      <p:sp>
        <p:nvSpPr>
          <p:cNvPr id="54" name="Text 51"/>
          <p:cNvSpPr txBox="1"/>
          <p:nvPr/>
        </p:nvSpPr>
        <p:spPr>
          <a:xfrm>
            <a:off x="3865880" y="3793236"/>
            <a:ext cx="1068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mot W</a:t>
            </a:r>
            <a:endParaRPr lang="en-US" sz="1000" dirty="0"/>
          </a:p>
        </p:txBody>
      </p:sp>
      <p:sp>
        <p:nvSpPr>
          <p:cNvPr id="55" name="Shape 52"/>
          <p:cNvSpPr/>
          <p:nvPr/>
        </p:nvSpPr>
        <p:spPr>
          <a:xfrm>
            <a:off x="3865880" y="4030980"/>
            <a:ext cx="1068832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902456" y="4030980"/>
            <a:ext cx="995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wanneer</a:t>
            </a:r>
            <a:endParaRPr lang="en-US" sz="1600" dirty="0"/>
          </a:p>
        </p:txBody>
      </p:sp>
      <p:sp>
        <p:nvSpPr>
          <p:cNvPr id="57" name="Text 54"/>
          <p:cNvSpPr txBox="1"/>
          <p:nvPr/>
        </p:nvSpPr>
        <p:spPr>
          <a:xfrm>
            <a:off x="5044440" y="3793236"/>
            <a:ext cx="1702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5044440" y="4030980"/>
            <a:ext cx="1702816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081016" y="4030980"/>
            <a:ext cx="1629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 loodgieter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6856984" y="3793236"/>
            <a:ext cx="75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6856984" y="4030980"/>
            <a:ext cx="751840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6893560" y="4030980"/>
            <a:ext cx="6786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kwam</a:t>
            </a:r>
            <a:endParaRPr lang="en-US" sz="1600" dirty="0"/>
          </a:p>
        </p:txBody>
      </p:sp>
      <p:sp>
        <p:nvSpPr>
          <p:cNvPr id="63" name="Text 60"/>
          <p:cNvSpPr txBox="1"/>
          <p:nvPr/>
        </p:nvSpPr>
        <p:spPr>
          <a:xfrm>
            <a:off x="2103120" y="4387596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Il a demandé quand le plombier venait.</a:t>
            </a:r>
            <a:endParaRPr lang="en-US" sz="1400" dirty="0"/>
          </a:p>
        </p:txBody>
      </p:sp>
      <p:sp>
        <p:nvSpPr>
          <p:cNvPr id="64" name="Text 61"/>
          <p:cNvSpPr txBox="1"/>
          <p:nvPr/>
        </p:nvSpPr>
        <p:spPr>
          <a:xfrm>
            <a:off x="548640" y="481660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Demande</a:t>
            </a:r>
            <a:endParaRPr lang="en-US" sz="1400" dirty="0"/>
          </a:p>
        </p:txBody>
      </p:sp>
      <p:sp>
        <p:nvSpPr>
          <p:cNvPr id="65" name="Text 62"/>
          <p:cNvSpPr txBox="1"/>
          <p:nvPr/>
        </p:nvSpPr>
        <p:spPr>
          <a:xfrm>
            <a:off x="2103120" y="457885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sujet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2103120" y="4816602"/>
            <a:ext cx="685800" cy="329184"/>
          </a:xfrm>
          <a:prstGeom prst="roundRect">
            <a:avLst>
              <a:gd name="adj" fmla="val 16667"/>
            </a:avLst>
          </a:prstGeom>
          <a:solidFill>
            <a:schemeClr val="tx2">
              <a:alpha val="88000"/>
            </a:schemeClr>
          </a:solidFill>
          <a:ln w="12700">
            <a:solidFill>
              <a:srgbClr val="17375E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2139696" y="481660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Hij</a:t>
            </a:r>
            <a:endParaRPr lang="en-US" sz="1600" dirty="0"/>
          </a:p>
        </p:txBody>
      </p:sp>
      <p:sp>
        <p:nvSpPr>
          <p:cNvPr id="68" name="Text 65"/>
          <p:cNvSpPr txBox="1"/>
          <p:nvPr/>
        </p:nvSpPr>
        <p:spPr>
          <a:xfrm>
            <a:off x="2898648" y="4578858"/>
            <a:ext cx="857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verbe</a:t>
            </a:r>
            <a:endParaRPr lang="en-US" sz="1000" dirty="0"/>
          </a:p>
        </p:txBody>
      </p:sp>
      <p:sp>
        <p:nvSpPr>
          <p:cNvPr id="69" name="Shape 66"/>
          <p:cNvSpPr/>
          <p:nvPr/>
        </p:nvSpPr>
        <p:spPr>
          <a:xfrm>
            <a:off x="2898648" y="4816602"/>
            <a:ext cx="857504" cy="329184"/>
          </a:xfrm>
          <a:prstGeom prst="roundRect">
            <a:avLst>
              <a:gd name="adj" fmla="val 16667"/>
            </a:avLst>
          </a:prstGeom>
          <a:solidFill>
            <a:schemeClr val="accent6">
              <a:alpha val="88000"/>
            </a:schemeClr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2935224" y="4816602"/>
            <a:ext cx="784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vroeg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3865880" y="457885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E4A9E"/>
                </a:solidFill>
              </a:rPr>
              <a:t>liaison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3865880" y="4816602"/>
            <a:ext cx="685800" cy="329184"/>
          </a:xfrm>
          <a:prstGeom prst="roundRect">
            <a:avLst>
              <a:gd name="adj" fmla="val 16667"/>
            </a:avLst>
          </a:prstGeom>
          <a:solidFill>
            <a:srgbClr val="6E4A9E">
              <a:alpha val="88000"/>
            </a:srgbClr>
          </a:solidFill>
          <a:ln w="12700">
            <a:solidFill>
              <a:srgbClr val="6E4A9E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3902456" y="4816602"/>
            <a:ext cx="612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om</a:t>
            </a:r>
            <a:endParaRPr lang="en-US" sz="1600" dirty="0"/>
          </a:p>
        </p:txBody>
      </p:sp>
      <p:sp>
        <p:nvSpPr>
          <p:cNvPr id="74" name="Text 71"/>
          <p:cNvSpPr txBox="1"/>
          <p:nvPr/>
        </p:nvSpPr>
        <p:spPr>
          <a:xfrm>
            <a:off x="4661408" y="4578858"/>
            <a:ext cx="1385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objet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4661408" y="4816602"/>
            <a:ext cx="1385824" cy="329184"/>
          </a:xfrm>
          <a:prstGeom prst="roundRect">
            <a:avLst>
              <a:gd name="adj" fmla="val 16667"/>
            </a:avLst>
          </a:prstGeom>
          <a:solidFill>
            <a:schemeClr val="accent5">
              <a:alpha val="25000"/>
            </a:schemeClr>
          </a:solidFill>
          <a:ln w="12700">
            <a:solidFill>
              <a:srgbClr val="4A5A70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4697984" y="4816602"/>
            <a:ext cx="1312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hem morgen</a:t>
            </a:r>
            <a:endParaRPr lang="en-US" sz="1600" dirty="0"/>
          </a:p>
        </p:txBody>
      </p:sp>
      <p:sp>
        <p:nvSpPr>
          <p:cNvPr id="77" name="Text 74"/>
          <p:cNvSpPr txBox="1"/>
          <p:nvPr/>
        </p:nvSpPr>
        <p:spPr>
          <a:xfrm>
            <a:off x="6156960" y="4578858"/>
            <a:ext cx="1914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fin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6156960" y="4816602"/>
            <a:ext cx="1914144" cy="329184"/>
          </a:xfrm>
          <a:prstGeom prst="roundRect">
            <a:avLst>
              <a:gd name="adj" fmla="val 16667"/>
            </a:avLst>
          </a:prstGeom>
          <a:solidFill>
            <a:schemeClr val="accent1">
              <a:alpha val="88000"/>
            </a:schemeClr>
          </a:solidFill>
          <a:ln w="12700">
            <a:solidFill>
              <a:srgbClr val="D9700F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6193536" y="4816602"/>
            <a:ext cx="18409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terug te bellen</a:t>
            </a:r>
            <a:endParaRPr lang="en-US" sz="1600" dirty="0"/>
          </a:p>
        </p:txBody>
      </p:sp>
      <p:sp>
        <p:nvSpPr>
          <p:cNvPr id="80" name="Text 77"/>
          <p:cNvSpPr txBox="1"/>
          <p:nvPr/>
        </p:nvSpPr>
        <p:spPr>
          <a:xfrm>
            <a:off x="2103120" y="5173218"/>
            <a:ext cx="9537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Il a demandé de le rappeler demain.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6">
              <a:alpha val="10000"/>
            </a:schemeClr>
          </a:solidFill>
          <a:ln w="9525">
            <a:solidFill>
              <a:schemeClr val="accent6">
                <a:alpha val="70000"/>
              </a:schemeClr>
            </a:solidFill>
            <a:prstDash val="solid"/>
          </a:ln>
        </p:spPr>
      </p:sp>
      <p:pic>
        <p:nvPicPr>
          <p:cNvPr id="8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83" name="Text 79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Piège pour francophones — </a:t>
            </a:r>
            <a:r>
              <a:rPr lang="en-US" sz="1700" dirty="0">
                <a:solidFill>
                  <a:schemeClr val="tx1"/>
                </a:solidFill>
              </a:rPr>
              <a:t>Le français garde l’ordre direct (</a:t>
            </a:r>
            <a:r>
              <a:rPr lang="en-US" sz="1700" i="1" dirty="0">
                <a:solidFill>
                  <a:schemeClr val="tx1"/>
                </a:solidFill>
              </a:rPr>
              <a:t>il a dit qu’il </a:t>
            </a:r>
            <a:r>
              <a:rPr lang="en-US" sz="1700" b="1" i="1" dirty="0">
                <a:solidFill>
                  <a:schemeClr val="tx1"/>
                </a:solidFill>
              </a:rPr>
              <a:t>y avait</a:t>
            </a:r>
            <a:r>
              <a:rPr lang="en-US" sz="1700" i="1" dirty="0">
                <a:solidFill>
                  <a:schemeClr val="tx1"/>
                </a:solidFill>
              </a:rPr>
              <a:t>…</a:t>
            </a:r>
            <a:r>
              <a:rPr lang="en-US" sz="1700" dirty="0">
                <a:solidFill>
                  <a:schemeClr val="tx1"/>
                </a:solidFill>
              </a:rPr>
              <a:t>) ; le néerlandais </a:t>
            </a:r>
            <a:r>
              <a:rPr lang="en-US" sz="1700" b="1" dirty="0">
                <a:solidFill>
                  <a:schemeClr val="tx1"/>
                </a:solidFill>
              </a:rPr>
              <a:t>renvoie le verbe à la fin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dat er een lek </a:t>
            </a:r>
            <a:r>
              <a:rPr lang="en-US" sz="1700" b="1" i="1" dirty="0">
                <a:solidFill>
                  <a:schemeClr val="tx1"/>
                </a:solidFill>
              </a:rPr>
              <a:t>was</a:t>
            </a:r>
            <a:r>
              <a:rPr lang="en-US" sz="1700" dirty="0">
                <a:solidFill>
                  <a:schemeClr val="tx1"/>
                </a:solidFill>
              </a:rPr>
              <a:t> (✗ </a:t>
            </a:r>
            <a:r>
              <a:rPr lang="en-US" sz="1700" i="1" dirty="0">
                <a:solidFill>
                  <a:schemeClr val="tx1"/>
                </a:solidFill>
              </a:rPr>
              <a:t>dat er was een lek</a:t>
            </a:r>
            <a:r>
              <a:rPr lang="en-US" sz="1700" dirty="0">
                <a:solidFill>
                  <a:schemeClr val="tx1"/>
                </a:solidFill>
              </a:rPr>
              <a:t>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Ce qui change quand on rapporte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5087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GRAMMATICA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12–13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206240"/>
                <a:gridCol w="4690872"/>
              </a:tblGrid>
              <a:tr h="5806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QUOI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DISCOURS DIRECT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DISCOURS INDIRECT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Pronoms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Ik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heb de kraan dichtgedraaid.»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zei dat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hij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de kraan had dichtgedraaid.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Présent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«Er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water op de vloer.»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zei dat er water op de vloer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was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Passé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«Ik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heb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gebeld.»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zei dat hij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had gebeld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Modaux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«U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moet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drie dagen rusten.»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De dokter zei dat ik drie dagen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moest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rusten.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6568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Impératif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«Bel me terug.»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Hij vroeg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om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hem terug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 bellen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Règle : </a:t>
            </a:r>
            <a:r>
              <a:rPr lang="en-US" sz="1500" b="1" i="1" dirty="0">
                <a:solidFill>
                  <a:schemeClr val="accent5"/>
                </a:solidFill>
              </a:rPr>
              <a:t>présent → imperfectum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b="1" i="1" dirty="0">
                <a:solidFill>
                  <a:schemeClr val="accent5"/>
                </a:solidFill>
              </a:rPr>
              <a:t>perfectum → had / was + participe</a:t>
            </a:r>
            <a:r>
              <a:rPr lang="en-US" sz="1500" i="1" dirty="0">
                <a:solidFill>
                  <a:schemeClr val="accent5"/>
                </a:solidFill>
              </a:rPr>
              <a:t>, </a:t>
            </a:r>
            <a:r>
              <a:rPr lang="en-US" sz="1500" b="1" i="1" dirty="0">
                <a:solidFill>
                  <a:schemeClr val="accent5"/>
                </a:solidFill>
              </a:rPr>
              <a:t>moet → moest</a:t>
            </a:r>
            <a:r>
              <a:rPr lang="en-US" sz="1500" i="1" dirty="0">
                <a:solidFill>
                  <a:schemeClr val="accent5"/>
                </a:solidFill>
              </a:rPr>
              <a:t>. Les pronoms changent de personne.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Woordenschat : la plainte et les verbes pour rapporter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 · 14a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3474720"/>
                <a:gridCol w="2404872"/>
              </a:tblGrid>
              <a:tr h="56509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LA PLAINTE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VERBE : INF. → IMPERFECTUM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klacht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plainte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zeggen → zei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dire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lek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fuite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vragen → vroeg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demander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schimmel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moisissure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antwoorden → antwoordde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répondre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vocht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l’humidité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vertellen → vertelde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raconter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verwarming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chauffage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melden → meldde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signaler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geur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l’odeur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eisen → eiste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exiger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4"/>
                          </a:solidFill>
                        </a:rPr>
                        <a:t>het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lawaai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le bruit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meedelen → deelde mee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communiquer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395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2"/>
                          </a:solidFill>
                        </a:rPr>
                        <a:t>de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 storing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la panne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beloven → beloofde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promettre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6 Luisteren: het telefoongesprek met meneer De Smet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12</a:t>
            </a:r>
            <a:endParaRPr lang="en-US" sz="1200" dirty="0"/>
          </a:p>
        </p:txBody>
      </p:sp>
      <p:pic>
        <p:nvPicPr>
          <p:cNvPr id="6" name="illustration" descr="Illustration du syllab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81328"/>
            <a:ext cx="7205472" cy="4800894"/>
          </a:xfrm>
          <a:prstGeom prst="rect">
            <a:avLst/>
          </a:prstGeom>
          <a:effectLst>
            <a:outerShdw sx="100000" sy="100000" kx="0" ky="0" algn="bl" rotWithShape="0" blurRad="101600" dist="25400" dir="3600000">
              <a:srgbClr val="000000">
                <a:alpha val="18000"/>
              </a:srgbClr>
            </a:outerShdw>
          </a:effectLst>
        </p:spPr>
      </p:pic>
      <p:sp>
        <p:nvSpPr>
          <p:cNvPr id="7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3">
              <a:alpha val="10000"/>
            </a:schemeClr>
          </a:solidFill>
          <a:ln w="12700">
            <a:solidFill>
              <a:schemeClr val="accent3">
                <a:alpha val="60000"/>
              </a:scheme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3"/>
                </a:solidFill>
              </a:rPr>
              <a:t>ÉCOUTE · 2 FOIS</a:t>
            </a:r>
            <a:endParaRPr lang="en-US" sz="1400" dirty="0"/>
          </a:p>
        </p:txBody>
      </p:sp>
      <p:sp>
        <p:nvSpPr>
          <p:cNvPr id="10" name="Text 5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Le professeur lit </a:t>
            </a:r>
            <a:r>
              <a:rPr lang="en-US" sz="1800" b="1" dirty="0">
                <a:solidFill>
                  <a:schemeClr val="tx1"/>
                </a:solidFill>
              </a:rPr>
              <a:t>deux fois</a:t>
            </a:r>
            <a:r>
              <a:rPr lang="en-US" sz="1800" dirty="0">
                <a:solidFill>
                  <a:schemeClr val="tx1"/>
                </a:solidFill>
              </a:rPr>
              <a:t> l’appel complet du locataire avec Stef (transcription n° 2).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1re écoute</a:t>
            </a:r>
            <a:r>
              <a:rPr lang="en-US" sz="1800" dirty="0">
                <a:solidFill>
                  <a:schemeClr val="tx1"/>
                </a:solidFill>
              </a:rPr>
              <a:t> : cochez les problèmes mentionnés.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2e écoute</a:t>
            </a:r>
            <a:r>
              <a:rPr lang="en-US" sz="1800" dirty="0">
                <a:solidFill>
                  <a:schemeClr val="tx1"/>
                </a:solidFill>
              </a:rPr>
              <a:t> : notez ce que le locataire </a:t>
            </a:r>
            <a:r>
              <a:rPr lang="en-US" sz="1800" b="1" dirty="0">
                <a:solidFill>
                  <a:schemeClr val="tx1"/>
                </a:solidFill>
              </a:rPr>
              <a:t>dit</a:t>
            </a:r>
            <a:r>
              <a:rPr lang="en-US" sz="1800" dirty="0">
                <a:solidFill>
                  <a:schemeClr val="tx1"/>
                </a:solidFill>
              </a:rPr>
              <a:t>, </a:t>
            </a:r>
            <a:r>
              <a:rPr lang="en-US" sz="1800" b="1" dirty="0">
                <a:solidFill>
                  <a:schemeClr val="tx1"/>
                </a:solidFill>
              </a:rPr>
              <a:t>demande</a:t>
            </a:r>
            <a:r>
              <a:rPr lang="en-US" sz="1800" dirty="0">
                <a:solidFill>
                  <a:schemeClr val="tx1"/>
                </a:solidFill>
              </a:rPr>
              <a:t> et </a:t>
            </a:r>
            <a:r>
              <a:rPr lang="en-US" sz="1800" b="1" dirty="0">
                <a:solidFill>
                  <a:schemeClr val="tx1"/>
                </a:solidFill>
              </a:rPr>
              <a:t>exige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Vous le rapporterez dans la </a:t>
            </a:r>
            <a:r>
              <a:rPr lang="en-US" sz="1800" b="1" dirty="0">
                <a:solidFill>
                  <a:schemeClr val="tx1"/>
                </a:solidFill>
              </a:rPr>
              <a:t>TAAK 3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Luisterfiche : la grille de l’exercice 6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6217920"/>
                <a:gridCol w="4873752"/>
              </a:tblGrid>
              <a:tr h="5806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LUISTERFICHE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UW NOTITIES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91622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a. Problemen (kruis aan) : ☐ lek  ☐ schimmel  ☐ verwarming  ☐ geur  ☐ lawaai  ☐ vocht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2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b. Wat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ZEGT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de huurder? (2 elementen)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2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c. Wat </a:t>
                      </a: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VRAAGT</a:t>
                      </a: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 de huurder? (2 vragen)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2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d. Wat heeft hij al gedaan?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52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e. Welke deadline geeft hij?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accent5"/>
                          </a:solidFill>
                        </a:rPr>
                        <a:t>……………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897880"/>
            <a:ext cx="1109167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5"/>
                </a:solidFill>
              </a:rPr>
              <a:t>Correction selon le texte lu (transcription n° 2). Transformez ensuite vos notes en </a:t>
            </a:r>
            <a:r>
              <a:rPr lang="en-US" sz="1500" b="1" i="1" dirty="0">
                <a:solidFill>
                  <a:schemeClr val="accent5"/>
                </a:solidFill>
              </a:rPr>
              <a:t>discours indirect</a:t>
            </a:r>
            <a:r>
              <a:rPr lang="en-US" sz="1500" i="1" dirty="0">
                <a:solidFill>
                  <a:schemeClr val="accent5"/>
                </a:solidFill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 Rapporteer de woorden van de klant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13–14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Transformez chaque phrase du locataire au discours indirect (verbe introducteur au </a:t>
            </a:r>
            <a:r>
              <a:rPr lang="en-US" sz="1600" b="1" i="1" dirty="0">
                <a:solidFill>
                  <a:schemeClr val="accent5"/>
                </a:solidFill>
              </a:rPr>
              <a:t>passé</a:t>
            </a:r>
            <a:r>
              <a:rPr lang="en-US" sz="1600" i="1" dirty="0">
                <a:solidFill>
                  <a:schemeClr val="accent5"/>
                </a:solidFill>
              </a:rPr>
              <a:t>). Seul · 8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« Er is water op de vloer. » → Hij zei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« Kunnen jullie vandaag nog komen? » → Hij vroeg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« Wanneer komt de loodgieter? » → Hij vroeg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« Ik heb de hoofdkraan al dichtgedraaid. » → Hij zei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« Stuur me een bevestiging per mail. » → Hij vroeg </a:t>
            </a:r>
            <a:r>
              <a:rPr lang="en-US" sz="2100" dirty="0">
                <a:solidFill>
                  <a:schemeClr val="accent5"/>
                </a:solidFill>
              </a:rPr>
              <a:t>……………………………………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7 Rapporteer de woorden van de klant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13–14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Transformez chaque phrase du locataire au discours indirect (verbe introducteur au </a:t>
            </a:r>
            <a:r>
              <a:rPr lang="en-US" sz="1600" b="1" i="1" dirty="0">
                <a:solidFill>
                  <a:schemeClr val="accent5"/>
                </a:solidFill>
              </a:rPr>
              <a:t>passé</a:t>
            </a:r>
            <a:r>
              <a:rPr lang="en-US" sz="1600" i="1" dirty="0">
                <a:solidFill>
                  <a:schemeClr val="accent5"/>
                </a:solidFill>
              </a:rPr>
              <a:t>). Seul · 8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1.  </a:t>
            </a:r>
            <a:r>
              <a:rPr lang="en-US" sz="2100" dirty="0">
                <a:solidFill>
                  <a:schemeClr val="tx1"/>
                </a:solidFill>
              </a:rPr>
              <a:t>« Er is water op de vloer. » → Hij zei </a:t>
            </a:r>
            <a:r>
              <a:rPr lang="en-US" sz="2100" b="1" dirty="0">
                <a:solidFill>
                  <a:schemeClr val="accent3"/>
                </a:solidFill>
              </a:rPr>
              <a:t>dat er water op de vloer was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2.  </a:t>
            </a:r>
            <a:r>
              <a:rPr lang="en-US" sz="2100" dirty="0">
                <a:solidFill>
                  <a:schemeClr val="tx1"/>
                </a:solidFill>
              </a:rPr>
              <a:t>« Kunnen jullie vandaag nog komen? » → Hij vroeg </a:t>
            </a:r>
            <a:r>
              <a:rPr lang="en-US" sz="2100" b="1" dirty="0">
                <a:solidFill>
                  <a:schemeClr val="accent3"/>
                </a:solidFill>
              </a:rPr>
              <a:t>of wij vandaag nog konden komen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3.  </a:t>
            </a:r>
            <a:r>
              <a:rPr lang="en-US" sz="2100" dirty="0">
                <a:solidFill>
                  <a:schemeClr val="tx1"/>
                </a:solidFill>
              </a:rPr>
              <a:t>« Wanneer komt de loodgieter? » → Hij vroeg </a:t>
            </a:r>
            <a:r>
              <a:rPr lang="en-US" sz="2100" b="1" dirty="0">
                <a:solidFill>
                  <a:schemeClr val="accent3"/>
                </a:solidFill>
              </a:rPr>
              <a:t>wanneer de loodgieter kwam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4.  </a:t>
            </a:r>
            <a:r>
              <a:rPr lang="en-US" sz="2100" dirty="0">
                <a:solidFill>
                  <a:schemeClr val="tx1"/>
                </a:solidFill>
              </a:rPr>
              <a:t>« Ik heb de hoofdkraan al dichtgedraaid. » → Hij zei </a:t>
            </a:r>
            <a:r>
              <a:rPr lang="en-US" sz="2100" b="1" dirty="0">
                <a:solidFill>
                  <a:schemeClr val="accent3"/>
                </a:solidFill>
              </a:rPr>
              <a:t>dat hij de hoofdkraan al had dichtgedraaid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5.  </a:t>
            </a:r>
            <a:r>
              <a:rPr lang="en-US" sz="2100" dirty="0">
                <a:solidFill>
                  <a:schemeClr val="tx1"/>
                </a:solidFill>
              </a:rPr>
              <a:t>« Stuur me een bevestiging per mail. » → Hij vroeg </a:t>
            </a:r>
            <a:r>
              <a:rPr lang="en-US" sz="2100" b="1" dirty="0">
                <a:solidFill>
                  <a:schemeClr val="accent3"/>
                </a:solidFill>
              </a:rPr>
              <a:t>om hem een bevestiging per mail te sturen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Verbe à la fin</a:t>
            </a:r>
            <a:r>
              <a:rPr lang="en-US" sz="1800" dirty="0">
                <a:solidFill>
                  <a:schemeClr val="tx1"/>
                </a:solidFill>
              </a:rPr>
              <a:t> : </a:t>
            </a:r>
            <a:r>
              <a:rPr lang="en-US" sz="1800" i="1" dirty="0">
                <a:solidFill>
                  <a:schemeClr val="tx1"/>
                </a:solidFill>
              </a:rPr>
              <a:t>dat … was · of … konden komen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jullie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wij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me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hem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Perfectum → </a:t>
            </a:r>
            <a:r>
              <a:rPr lang="en-US" sz="1800" b="1" dirty="0">
                <a:solidFill>
                  <a:schemeClr val="tx1"/>
                </a:solidFill>
              </a:rPr>
              <a:t>had</a:t>
            </a:r>
            <a:r>
              <a:rPr lang="en-US" sz="1800" dirty="0">
                <a:solidFill>
                  <a:schemeClr val="tx1"/>
                </a:solidFill>
              </a:rPr>
              <a:t> + participe : </a:t>
            </a:r>
            <a:r>
              <a:rPr lang="en-US" sz="1800" i="1" dirty="0">
                <a:solidFill>
                  <a:schemeClr val="tx1"/>
                </a:solidFill>
              </a:rPr>
              <a:t>had dichtgedraaid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Demande : </a:t>
            </a:r>
            <a:r>
              <a:rPr lang="en-US" sz="1800" i="1" dirty="0">
                <a:solidFill>
                  <a:schemeClr val="tx1"/>
                </a:solidFill>
              </a:rPr>
              <a:t>om … te</a:t>
            </a:r>
            <a:r>
              <a:rPr lang="en-US" sz="1800" dirty="0">
                <a:solidFill>
                  <a:schemeClr val="tx1"/>
                </a:solidFill>
              </a:rPr>
              <a:t> + infinitif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3: verslag aan de eigenaar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Vous appelez mevrouw Dubois pour rapporter la plainte. </a:t>
            </a:r>
            <a:r>
              <a:rPr lang="en-US" sz="1800" b="1" dirty="0">
                <a:solidFill>
                  <a:schemeClr val="tx1"/>
                </a:solidFill>
              </a:rPr>
              <a:t>2 rondes de 5 minutes</a:t>
            </a:r>
            <a:r>
              <a:rPr lang="en-US" sz="1800" dirty="0">
                <a:solidFill>
                  <a:schemeClr val="tx1"/>
                </a:solidFill>
              </a:rPr>
              <a:t>, rôles inversés. L’observateur coche : discours indirect correct (</a:t>
            </a:r>
            <a:r>
              <a:rPr lang="en-US" sz="1800" i="1" dirty="0">
                <a:solidFill>
                  <a:schemeClr val="tx1"/>
                </a:solidFill>
              </a:rPr>
              <a:t>dat · of · vraagwoord</a:t>
            </a:r>
            <a:r>
              <a:rPr lang="en-US" sz="1800" dirty="0">
                <a:solidFill>
                  <a:schemeClr val="tx1"/>
                </a:solidFill>
              </a:rPr>
              <a:t>, verbe à la fin) · imperfectum dans le récit · registre </a:t>
            </a:r>
            <a:r>
              <a:rPr lang="en-US" sz="1800" i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496312"/>
            <a:ext cx="5225796" cy="2907792"/>
          </a:xfrm>
          <a:prstGeom prst="roundRect">
            <a:avLst>
              <a:gd name="adj" fmla="val 3145"/>
            </a:avLst>
          </a:prstGeom>
          <a:solidFill>
            <a:schemeClr val="accent1">
              <a:alpha val="8000"/>
            </a:schemeClr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97480"/>
            <a:ext cx="384048" cy="38404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63347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A — De makelaar (u-vorm !)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319272"/>
            <a:ext cx="476859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Rapportez l’appel avec votre </a:t>
            </a:r>
            <a:r>
              <a:rPr lang="en-US" sz="1400" b="1" dirty="0">
                <a:solidFill>
                  <a:schemeClr val="tx1"/>
                </a:solidFill>
              </a:rPr>
              <a:t>luisterfiche</a:t>
            </a:r>
            <a:r>
              <a:rPr lang="en-US" sz="1400" dirty="0">
                <a:solidFill>
                  <a:schemeClr val="tx1"/>
                </a:solidFill>
              </a:rPr>
              <a:t> : </a:t>
            </a:r>
            <a:r>
              <a:rPr lang="en-US" sz="1400" b="1" dirty="0">
                <a:solidFill>
                  <a:schemeClr val="tx1"/>
                </a:solidFill>
              </a:rPr>
              <a:t>3 discours indirects</a:t>
            </a:r>
            <a:r>
              <a:rPr lang="en-US" sz="1400" dirty="0">
                <a:solidFill>
                  <a:schemeClr val="tx1"/>
                </a:solidFill>
              </a:rPr>
              <a:t> au moins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Récit de votre visite à l’</a:t>
            </a:r>
            <a:r>
              <a:rPr lang="en-US" sz="1400" b="1" dirty="0">
                <a:solidFill>
                  <a:schemeClr val="tx1"/>
                </a:solidFill>
              </a:rPr>
              <a:t>imperfectum</a:t>
            </a:r>
            <a:r>
              <a:rPr lang="en-US" sz="1400" dirty="0">
                <a:solidFill>
                  <a:schemeClr val="tx1"/>
                </a:solidFill>
              </a:rPr>
              <a:t> : </a:t>
            </a:r>
            <a:r>
              <a:rPr lang="en-US" sz="1400" i="1" dirty="0">
                <a:solidFill>
                  <a:schemeClr val="tx1"/>
                </a:solidFill>
              </a:rPr>
              <a:t>Toen ik langsging, was…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Terminez : </a:t>
            </a:r>
            <a:r>
              <a:rPr lang="en-US" sz="1400" i="1" dirty="0">
                <a:solidFill>
                  <a:schemeClr val="tx1"/>
                </a:solidFill>
              </a:rPr>
              <a:t>Zodra de loodgieter…, bel ik u terug.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Imprévu (observateur) : elle soupçonne le locataire → restez </a:t>
            </a:r>
            <a:r>
              <a:rPr lang="en-US" sz="1400" b="1" dirty="0">
                <a:solidFill>
                  <a:schemeClr val="tx1"/>
                </a:solidFill>
              </a:rPr>
              <a:t>neutre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14516" y="2496312"/>
            <a:ext cx="5225796" cy="2907792"/>
          </a:xfrm>
          <a:prstGeom prst="roundRect">
            <a:avLst>
              <a:gd name="adj" fmla="val 3145"/>
            </a:avLst>
          </a:prstGeom>
          <a:solidFill>
            <a:schemeClr val="accent2">
              <a:alpha val="8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116" y="2697480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46036" y="2633472"/>
            <a:ext cx="43113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ROL B — Mevrouw Dubois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643116" y="3319272"/>
            <a:ext cx="476859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Inquiète et un peu méfiante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chemeClr val="tx1"/>
                </a:solidFill>
              </a:rPr>
              <a:t>3 questions</a:t>
            </a:r>
            <a:r>
              <a:rPr lang="en-US" sz="1400" dirty="0">
                <a:solidFill>
                  <a:schemeClr val="tx1"/>
                </a:solidFill>
              </a:rPr>
              <a:t> au moins : </a:t>
            </a:r>
            <a:r>
              <a:rPr lang="en-US" sz="1400" i="1" dirty="0">
                <a:solidFill>
                  <a:schemeClr val="tx1"/>
                </a:solidFill>
              </a:rPr>
              <a:t>Wat zei hij precies? Sinds wanneer? Wie gaat dat betalen?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Demandez une </a:t>
            </a:r>
            <a:r>
              <a:rPr lang="en-US" sz="1400" b="1" dirty="0">
                <a:solidFill>
                  <a:schemeClr val="tx1"/>
                </a:solidFill>
              </a:rPr>
              <a:t>confirmation écrite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Cartes : ① pressée (voyage demain) · ② économe (devis le moins cher) · ③ à l’étranger (tout par écrit)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838444" y="3694176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838444" y="36941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vs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5605272"/>
            <a:ext cx="11091672" cy="685800"/>
          </a:xfrm>
          <a:prstGeom prst="roundRect">
            <a:avLst>
              <a:gd name="adj" fmla="val 10667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83580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34440" y="5641848"/>
            <a:ext cx="10287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Imprévu — </a:t>
            </a:r>
            <a:r>
              <a:rPr lang="en-US" sz="1700" i="1" dirty="0">
                <a:solidFill>
                  <a:schemeClr val="tx1"/>
                </a:solidFill>
              </a:rPr>
              <a:t>Hij zei dat hij niets verkeerd had gedaan. Dat onderzoeken we.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TAAK 3 : phrases-modèles pour le compte rendu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481328"/>
            <a:ext cx="738835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Rapporter l’appel (trois discours indirects)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Meneer De Smet belde gisteren. </a:t>
            </a:r>
            <a:r>
              <a:rPr lang="en-US" sz="2100" b="1" dirty="0">
                <a:solidFill>
                  <a:schemeClr val="tx1"/>
                </a:solidFill>
              </a:rPr>
              <a:t>Hij zei dat</a:t>
            </a:r>
            <a:r>
              <a:rPr lang="en-US" sz="2100" dirty="0">
                <a:solidFill>
                  <a:schemeClr val="tx1"/>
                </a:solidFill>
              </a:rPr>
              <a:t> er een lek in de badkamer was.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Hij vroeg of</a:t>
            </a:r>
            <a:r>
              <a:rPr lang="en-US" sz="2100" dirty="0">
                <a:solidFill>
                  <a:schemeClr val="tx1"/>
                </a:solidFill>
              </a:rPr>
              <a:t> we snel konden langskomen, en </a:t>
            </a:r>
            <a:r>
              <a:rPr lang="en-US" sz="2100" b="1" dirty="0">
                <a:solidFill>
                  <a:schemeClr val="tx1"/>
                </a:solidFill>
              </a:rPr>
              <a:t>hij vroeg wanneer</a:t>
            </a:r>
            <a:r>
              <a:rPr lang="en-US" sz="2100" dirty="0">
                <a:solidFill>
                  <a:schemeClr val="tx1"/>
                </a:solidFill>
              </a:rPr>
              <a:t> de loodgieter kwam.</a:t>
            </a:r>
            <a:endParaRPr lang="en-US" sz="21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Récit de la visite (imperfectum)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b="1" dirty="0">
                <a:solidFill>
                  <a:schemeClr val="tx1"/>
                </a:solidFill>
              </a:rPr>
              <a:t>Toen</a:t>
            </a:r>
            <a:r>
              <a:rPr lang="en-US" sz="2100" dirty="0">
                <a:solidFill>
                  <a:schemeClr val="tx1"/>
                </a:solidFill>
              </a:rPr>
              <a:t> ik gisteravond langsging, </a:t>
            </a:r>
            <a:r>
              <a:rPr lang="en-US" sz="2100" b="1" dirty="0">
                <a:solidFill>
                  <a:schemeClr val="tx1"/>
                </a:solidFill>
              </a:rPr>
              <a:t>was</a:t>
            </a:r>
            <a:r>
              <a:rPr lang="en-US" sz="2100" dirty="0">
                <a:solidFill>
                  <a:schemeClr val="tx1"/>
                </a:solidFill>
              </a:rPr>
              <a:t> de muur al nat.</a:t>
            </a:r>
            <a:endParaRPr lang="en-US" sz="2100" dirty="0"/>
          </a:p>
          <a:p>
            <a:pPr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2100" b="1" dirty="0">
                <a:solidFill>
                  <a:schemeClr val="tx2"/>
                </a:solidFill>
              </a:rPr>
              <a:t>Imprévu et prochaine étape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Hij zei dat hij niets verkeerd had gedaan. Dat onderzoeken we.</a:t>
            </a:r>
            <a:endParaRPr lang="en-US" sz="21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Zodra de loodgieter het probleem heeft bekeken, bel ik u terug.</a:t>
            </a:r>
            <a:endParaRPr lang="en-US" sz="2100" dirty="0"/>
          </a:p>
        </p:txBody>
      </p:sp>
      <p:sp>
        <p:nvSpPr>
          <p:cNvPr id="8" name="aside"/>
          <p:cNvSpPr/>
          <p:nvPr/>
        </p:nvSpPr>
        <p:spPr>
          <a:xfrm>
            <a:off x="8257032" y="1481328"/>
            <a:ext cx="3383280" cy="4809744"/>
          </a:xfrm>
          <a:prstGeom prst="roundRect">
            <a:avLst>
              <a:gd name="adj" fmla="val 2162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91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823960" y="163677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421624" y="2075688"/>
            <a:ext cx="305409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3 discours indirects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dat · of · vraagwoord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Verbe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Imperfectum</a:t>
            </a:r>
            <a:r>
              <a:rPr lang="en-US" sz="1800" dirty="0">
                <a:solidFill>
                  <a:schemeClr val="tx1"/>
                </a:solidFill>
              </a:rPr>
              <a:t> dans le récit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Registre </a:t>
            </a:r>
            <a:r>
              <a:rPr lang="en-US" sz="1800" b="1" dirty="0">
                <a:solidFill>
                  <a:schemeClr val="tx1"/>
                </a:solidFill>
              </a:rPr>
              <a:t>u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 × 5 min · observateur : coche et feedback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Zo zeg je dat: bij de huisarts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73736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WOORDENSCHAT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44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Dagelijks leven · Spreken. </a:t>
            </a:r>
            <a:r>
              <a:rPr lang="en-US" sz="1600" b="1" i="1" dirty="0">
                <a:solidFill>
                  <a:schemeClr val="accent5"/>
                </a:solidFill>
              </a:rPr>
              <a:t>Mardi</a:t>
            </a:r>
            <a:r>
              <a:rPr lang="en-US" sz="1600" i="1" dirty="0">
                <a:solidFill>
                  <a:schemeClr val="accent5"/>
                </a:solidFill>
              </a:rPr>
              <a:t>, Stef est malade : il va chez le médecin, puis doit tout raconter à Lotte.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17192"/>
          <a:ext cx="11091672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605272"/>
              </a:tblGrid>
              <a:tr h="5806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ZO ZEG JE DAT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FRANÇAIS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Ik voel me niet lekker.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ne me sens pas bien.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Ik heb keelpijn, hoofdpijn, koorts.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J’ai mal à la gorge, mal à la tête, de la fièvre.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Ik ben verkouden. Ik hoest al drie dagen.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Je suis enrhumé·e. Je tousse depuis trois jours.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een afspraak maken bij de huisarts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prendre rendez-vous chez le généraliste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het voorschrift · een doktersbriefje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l’ordonnance · un certificat médical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1081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Beterschap!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Bon rétablissement !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Wat zei de dokter? Rapporteer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Rapportez les paroles du médecin à Lotte (verbe introducteur au passé). Seul · 4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« Neem drie dagen rust.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« Hebt u koorts?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« Sinds wanneer hoest u? 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(extra) « U moet veel water drinken. »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Wat zei de dokter? Rapporteer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280160" cy="310896"/>
          </a:xfrm>
          <a:prstGeom prst="roundRect">
            <a:avLst>
              <a:gd name="adj" fmla="val 14706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COUCHE 2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9385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Rapportez les paroles du médecin à Lotte (verbe introducteur au passé). Seul · 4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1.  </a:t>
            </a:r>
            <a:r>
              <a:rPr lang="en-US" sz="2300" dirty="0">
                <a:solidFill>
                  <a:schemeClr val="tx1"/>
                </a:solidFill>
              </a:rPr>
              <a:t>« Neem drie dagen rust. 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De dokter zei dat ik drie dagen rust </a:t>
            </a:r>
            <a:r>
              <a:rPr lang="en-US" sz="2300" b="1" dirty="0">
                <a:solidFill>
                  <a:schemeClr val="accent3"/>
                </a:solidFill>
              </a:rPr>
              <a:t>moest nemen</a:t>
            </a:r>
            <a:r>
              <a:rPr lang="en-US" sz="2300" dirty="0">
                <a:solidFill>
                  <a:schemeClr val="accent3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2.  </a:t>
            </a:r>
            <a:r>
              <a:rPr lang="en-US" sz="2300" dirty="0">
                <a:solidFill>
                  <a:schemeClr val="tx1"/>
                </a:solidFill>
              </a:rPr>
              <a:t>« Hebt u koorts? 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Hij vroeg </a:t>
            </a:r>
            <a:r>
              <a:rPr lang="en-US" sz="2300" b="1" dirty="0">
                <a:solidFill>
                  <a:schemeClr val="accent3"/>
                </a:solidFill>
              </a:rPr>
              <a:t>of</a:t>
            </a:r>
            <a:r>
              <a:rPr lang="en-US" sz="2300" dirty="0">
                <a:solidFill>
                  <a:schemeClr val="accent3"/>
                </a:solidFill>
              </a:rPr>
              <a:t> ik koorts </a:t>
            </a:r>
            <a:r>
              <a:rPr lang="en-US" sz="2300" b="1" dirty="0">
                <a:solidFill>
                  <a:schemeClr val="accent3"/>
                </a:solidFill>
              </a:rPr>
              <a:t>had</a:t>
            </a:r>
            <a:r>
              <a:rPr lang="en-US" sz="2300" dirty="0">
                <a:solidFill>
                  <a:schemeClr val="accent3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3.  </a:t>
            </a:r>
            <a:r>
              <a:rPr lang="en-US" sz="2300" dirty="0">
                <a:solidFill>
                  <a:schemeClr val="tx1"/>
                </a:solidFill>
              </a:rPr>
              <a:t>« Sinds wanneer hoest u? 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Hij vroeg </a:t>
            </a:r>
            <a:r>
              <a:rPr lang="en-US" sz="2300" b="1" dirty="0">
                <a:solidFill>
                  <a:schemeClr val="accent3"/>
                </a:solidFill>
              </a:rPr>
              <a:t>sinds wanneer</a:t>
            </a:r>
            <a:r>
              <a:rPr lang="en-US" sz="2300" dirty="0">
                <a:solidFill>
                  <a:schemeClr val="accent3"/>
                </a:solidFill>
              </a:rPr>
              <a:t> ik </a:t>
            </a:r>
            <a:r>
              <a:rPr lang="en-US" sz="2300" b="1" dirty="0">
                <a:solidFill>
                  <a:schemeClr val="accent3"/>
                </a:solidFill>
              </a:rPr>
              <a:t>hoestte</a:t>
            </a:r>
            <a:r>
              <a:rPr lang="en-US" sz="2300" dirty="0">
                <a:solidFill>
                  <a:schemeClr val="accent3"/>
                </a:solidFill>
              </a:rPr>
              <a:t>.</a:t>
            </a:r>
            <a:endParaRPr lang="en-US" sz="2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300" b="1" dirty="0">
                <a:solidFill>
                  <a:schemeClr val="tx2"/>
                </a:solidFill>
              </a:rPr>
              <a:t>4.  </a:t>
            </a:r>
            <a:r>
              <a:rPr lang="en-US" sz="2300" dirty="0">
                <a:solidFill>
                  <a:schemeClr val="tx1"/>
                </a:solidFill>
              </a:rPr>
              <a:t>(extra) « U moet veel water drinken. »</a:t>
            </a:r>
            <a:endParaRPr lang="en-US" sz="2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300" b="1" dirty="0">
                <a:solidFill>
                  <a:schemeClr val="accent3"/>
                </a:solidFill>
              </a:rPr>
              <a:t>→ </a:t>
            </a:r>
            <a:r>
              <a:rPr lang="en-US" sz="2300" dirty="0">
                <a:solidFill>
                  <a:schemeClr val="accent3"/>
                </a:solidFill>
              </a:rPr>
              <a:t>De dokter zei dat ik veel water </a:t>
            </a:r>
            <a:r>
              <a:rPr lang="en-US" sz="2300" b="1" dirty="0">
                <a:solidFill>
                  <a:schemeClr val="accent3"/>
                </a:solidFill>
              </a:rPr>
              <a:t>moest drinken</a:t>
            </a:r>
            <a:r>
              <a:rPr lang="en-US" sz="2300" dirty="0">
                <a:solidFill>
                  <a:schemeClr val="accent3"/>
                </a:solidFill>
              </a:rPr>
              <a:t>.</a:t>
            </a:r>
            <a:endParaRPr lang="en-US" sz="23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moest</a:t>
            </a:r>
            <a:r>
              <a:rPr lang="en-US" sz="1800" dirty="0">
                <a:solidFill>
                  <a:schemeClr val="tx1"/>
                </a:solidFill>
              </a:rPr>
              <a:t> + infinitif en fin de subordonnée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ik</a:t>
            </a:r>
            <a:r>
              <a:rPr lang="en-US" sz="1800" dirty="0">
                <a:solidFill>
                  <a:schemeClr val="tx1"/>
                </a:solidFill>
              </a:rPr>
              <a:t> (le médecin parle à Stef)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Question ouverte : </a:t>
            </a:r>
            <a:r>
              <a:rPr lang="en-US" sz="1800" i="1" dirty="0">
                <a:solidFill>
                  <a:schemeClr val="tx1"/>
                </a:solidFill>
              </a:rPr>
              <a:t>sinds wanneer</a:t>
            </a:r>
            <a:r>
              <a:rPr lang="en-US" sz="1800" dirty="0">
                <a:solidFill>
                  <a:schemeClr val="tx1"/>
                </a:solidFill>
              </a:rPr>
              <a:t> + verbe à la fin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La chaîne du message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11091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 </a:t>
            </a:r>
            <a:r>
              <a:rPr lang="en-US" sz="1800" b="1" dirty="0">
                <a:solidFill>
                  <a:schemeClr val="tx1"/>
                </a:solidFill>
              </a:rPr>
              <a:t>trio</a:t>
            </a:r>
            <a:r>
              <a:rPr lang="en-US" sz="1800" dirty="0">
                <a:solidFill>
                  <a:schemeClr val="tx1"/>
                </a:solidFill>
              </a:rPr>
              <a:t>, trois rondes, rôles tournants : </a:t>
            </a:r>
            <a:r>
              <a:rPr lang="en-US" sz="1800" b="1" dirty="0">
                <a:solidFill>
                  <a:schemeClr val="tx1"/>
                </a:solidFill>
              </a:rPr>
              <a:t>A</a:t>
            </a:r>
            <a:r>
              <a:rPr lang="en-US" sz="1800" dirty="0">
                <a:solidFill>
                  <a:schemeClr val="tx1"/>
                </a:solidFill>
              </a:rPr>
              <a:t> patient · </a:t>
            </a:r>
            <a:r>
              <a:rPr lang="en-US" sz="1800" b="1" dirty="0">
                <a:solidFill>
                  <a:schemeClr val="tx1"/>
                </a:solidFill>
              </a:rPr>
              <a:t>B</a:t>
            </a:r>
            <a:r>
              <a:rPr lang="en-US" sz="1800" dirty="0">
                <a:solidFill>
                  <a:schemeClr val="tx1"/>
                </a:solidFill>
              </a:rPr>
              <a:t> médecin · </a:t>
            </a:r>
            <a:r>
              <a:rPr lang="en-US" sz="1800" b="1" dirty="0">
                <a:solidFill>
                  <a:schemeClr val="tx1"/>
                </a:solidFill>
              </a:rPr>
              <a:t>C</a:t>
            </a:r>
            <a:r>
              <a:rPr lang="en-US" sz="1800" dirty="0">
                <a:solidFill>
                  <a:schemeClr val="tx1"/>
                </a:solidFill>
              </a:rPr>
              <a:t> Lotte, un parent ou l’employeur.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993392"/>
            <a:ext cx="3502152" cy="3343656"/>
          </a:xfrm>
          <a:prstGeom prst="roundRect">
            <a:avLst>
              <a:gd name="adj" fmla="val 273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70532" y="2176272"/>
            <a:ext cx="658368" cy="6583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97053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290779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A consulte B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685032"/>
            <a:ext cx="322783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3 minutes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B pose </a:t>
            </a:r>
            <a:r>
              <a:rPr lang="en-US" sz="1700" b="1" dirty="0">
                <a:solidFill>
                  <a:schemeClr val="tx1"/>
                </a:solidFill>
              </a:rPr>
              <a:t>3 questions</a:t>
            </a:r>
            <a:r>
              <a:rPr lang="en-US" sz="1700" dirty="0">
                <a:solidFill>
                  <a:schemeClr val="tx1"/>
                </a:solidFill>
              </a:rPr>
              <a:t>, donne </a:t>
            </a:r>
            <a:r>
              <a:rPr lang="en-US" sz="1700" b="1" dirty="0">
                <a:solidFill>
                  <a:schemeClr val="tx1"/>
                </a:solidFill>
              </a:rPr>
              <a:t>2 conseils</a:t>
            </a:r>
            <a:r>
              <a:rPr lang="en-US" sz="1700" dirty="0">
                <a:solidFill>
                  <a:schemeClr val="tx1"/>
                </a:solidFill>
              </a:rPr>
              <a:t> (mots-clés)</a:t>
            </a:r>
            <a:endParaRPr lang="en-US" sz="17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7368" y="2395728"/>
            <a:ext cx="219456" cy="21945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343400" y="1993392"/>
            <a:ext cx="3502152" cy="3343656"/>
          </a:xfrm>
          <a:prstGeom prst="roundRect">
            <a:avLst>
              <a:gd name="adj" fmla="val 273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65292" y="2176272"/>
            <a:ext cx="658368" cy="65836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76529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4453128" y="290779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 rapporte à C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4480560" y="3685032"/>
            <a:ext cx="322783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2 minutes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téléphone à C et rapporte </a:t>
            </a:r>
            <a:r>
              <a:rPr lang="en-US" sz="1700" b="1" dirty="0">
                <a:solidFill>
                  <a:schemeClr val="tx1"/>
                </a:solidFill>
              </a:rPr>
              <a:t>tout</a:t>
            </a:r>
            <a:r>
              <a:rPr lang="en-US" sz="1700" dirty="0">
                <a:solidFill>
                  <a:schemeClr val="tx1"/>
                </a:solidFill>
              </a:rPr>
              <a:t> au discours indirect</a:t>
            </a:r>
            <a:endParaRPr lang="en-US" sz="17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2395728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138160" y="1993392"/>
            <a:ext cx="3502152" cy="3343656"/>
          </a:xfrm>
          <a:prstGeom prst="roundRect">
            <a:avLst>
              <a:gd name="adj" fmla="val 2735"/>
            </a:avLst>
          </a:prstGeom>
          <a:solidFill>
            <a:schemeClr val="bg2"/>
          </a:solidFill>
          <a:ln w="9525">
            <a:solidFill>
              <a:srgbClr val="D5DCE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560052" y="2176272"/>
            <a:ext cx="658368" cy="65836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9560052" y="21762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8247888" y="2907792"/>
            <a:ext cx="32826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C compare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275320" y="3685032"/>
            <a:ext cx="3227832" cy="1560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Avec les notes de B</a:t>
            </a:r>
            <a:endParaRPr lang="en-US" sz="17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Le message est-il arrivé </a:t>
            </a:r>
            <a:r>
              <a:rPr lang="en-US" sz="1700" b="1" dirty="0">
                <a:solidFill>
                  <a:schemeClr val="tx1"/>
                </a:solidFill>
              </a:rPr>
              <a:t>intact</a:t>
            </a:r>
            <a:r>
              <a:rPr lang="en-US" sz="1700" dirty="0">
                <a:solidFill>
                  <a:schemeClr val="tx1"/>
                </a:solidFill>
              </a:rPr>
              <a:t> ?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48640" y="5565648"/>
            <a:ext cx="11091672" cy="725424"/>
          </a:xfrm>
          <a:prstGeom prst="roundRect">
            <a:avLst>
              <a:gd name="adj" fmla="val 10084"/>
            </a:avLst>
          </a:prstGeom>
          <a:solidFill>
            <a:schemeClr val="accent2">
              <a:alpha val="10000"/>
            </a:schemeClr>
          </a:solidFill>
          <a:ln w="9525">
            <a:solidFill>
              <a:schemeClr val="accent2">
                <a:alpha val="70000"/>
              </a:schemeClr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63768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34440" y="5602224"/>
            <a:ext cx="10287000" cy="652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Cartes · imprévu — </a:t>
            </a:r>
            <a:r>
              <a:rPr lang="en-US" sz="1700" dirty="0">
                <a:solidFill>
                  <a:schemeClr val="tx1"/>
                </a:solidFill>
              </a:rPr>
              <a:t>① la grippe (koorts, spierpijn, moe) · ② une entorse après un match de foot · ③ le rhume des foins (niezen, rode ogen). </a:t>
            </a:r>
            <a:r>
              <a:rPr lang="en-US" sz="1700" b="1" dirty="0">
                <a:solidFill>
                  <a:schemeClr val="tx1"/>
                </a:solidFill>
              </a:rPr>
              <a:t>Imprévu</a:t>
            </a:r>
            <a:r>
              <a:rPr lang="en-US" sz="1700" dirty="0">
                <a:solidFill>
                  <a:schemeClr val="tx1"/>
                </a:solidFill>
              </a:rPr>
              <a:t> : </a:t>
            </a:r>
            <a:r>
              <a:rPr lang="en-US" sz="1700" i="1" dirty="0">
                <a:solidFill>
                  <a:schemeClr val="tx1"/>
                </a:solidFill>
              </a:rPr>
              <a:t>Pardon, wat bedoelt u met…? Kunt u dat even herhalen?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D3 Modèle : le message rapporté à Lotte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822960" cy="310896"/>
          </a:xfrm>
          <a:prstGeom prst="roundRect">
            <a:avLst>
              <a:gd name="adj" fmla="val 14706"/>
            </a:avLst>
          </a:prstGeom>
          <a:solidFill>
            <a:srgbClr val="6E4A9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ORAL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4813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Livret p. 14a</a:t>
            </a:r>
            <a:endParaRPr lang="en-US" sz="12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1481328"/>
            <a:ext cx="7205472" cy="4809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De dokter vroeg </a:t>
            </a:r>
            <a:r>
              <a:rPr lang="en-US" sz="2400" b="1" dirty="0">
                <a:solidFill>
                  <a:schemeClr val="tx1"/>
                </a:solidFill>
              </a:rPr>
              <a:t>of</a:t>
            </a:r>
            <a:r>
              <a:rPr lang="en-US" sz="2400" dirty="0">
                <a:solidFill>
                  <a:schemeClr val="tx1"/>
                </a:solidFill>
              </a:rPr>
              <a:t> ik koorts had en </a:t>
            </a:r>
            <a:r>
              <a:rPr lang="en-US" sz="2400" b="1" dirty="0">
                <a:solidFill>
                  <a:schemeClr val="tx1"/>
                </a:solidFill>
              </a:rPr>
              <a:t>sinds wanneer</a:t>
            </a:r>
            <a:r>
              <a:rPr lang="en-US" sz="2400" dirty="0">
                <a:solidFill>
                  <a:schemeClr val="tx1"/>
                </a:solidFill>
              </a:rPr>
              <a:t> ik hoestte.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Ik zei dat ik keelpijn en hoofdpijn had.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Hij zei dat ik griep had en dat ik drie dagen rust moest nemen.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</a:rPr>
              <a:t>Hij raadde me aan om veel water te drinken.</a:t>
            </a:r>
            <a:endParaRPr lang="en-US" sz="2400" dirty="0"/>
          </a:p>
        </p:txBody>
      </p:sp>
      <p:sp>
        <p:nvSpPr>
          <p:cNvPr id="8" name="aside"/>
          <p:cNvSpPr/>
          <p:nvPr/>
        </p:nvSpPr>
        <p:spPr>
          <a:xfrm>
            <a:off x="8074152" y="1481328"/>
            <a:ext cx="3566160" cy="4809744"/>
          </a:xfrm>
          <a:prstGeom prst="roundRect">
            <a:avLst>
              <a:gd name="adj" fmla="val 2051"/>
            </a:avLst>
          </a:prstGeom>
          <a:solidFill>
            <a:schemeClr val="accent5">
              <a:alpha val="10000"/>
            </a:schemeClr>
          </a:solidFill>
          <a:ln w="12700">
            <a:solidFill>
              <a:schemeClr val="accent5">
                <a:alpha val="60000"/>
              </a:scheme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166420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41080" y="16367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5"/>
                </a:solidFill>
              </a:rPr>
              <a:t>ATTENDU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238744" y="2075688"/>
            <a:ext cx="3236976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3 questions</a:t>
            </a:r>
            <a:r>
              <a:rPr lang="en-US" sz="1800" dirty="0">
                <a:solidFill>
                  <a:schemeClr val="tx1"/>
                </a:solidFill>
              </a:rPr>
              <a:t> du médecin rapportées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2 conseils</a:t>
            </a:r>
            <a:r>
              <a:rPr lang="en-US" sz="1800" dirty="0">
                <a:solidFill>
                  <a:schemeClr val="tx1"/>
                </a:solidFill>
              </a:rPr>
              <a:t> (</a:t>
            </a:r>
            <a:r>
              <a:rPr lang="en-US" sz="1800" i="1" dirty="0">
                <a:solidFill>
                  <a:schemeClr val="tx1"/>
                </a:solidFill>
              </a:rPr>
              <a:t>zei dat … moest</a:t>
            </a:r>
            <a:r>
              <a:rPr lang="en-US" sz="1800" dirty="0">
                <a:solidFill>
                  <a:schemeClr val="tx1"/>
                </a:solidFill>
              </a:rPr>
              <a:t>)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Verbe </a:t>
            </a:r>
            <a:r>
              <a:rPr lang="en-US" sz="1800" b="1" dirty="0">
                <a:solidFill>
                  <a:schemeClr val="tx1"/>
                </a:solidFill>
              </a:rPr>
              <a:t>à la fin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u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ik</a:t>
            </a:r>
            <a:r>
              <a:rPr lang="en-US" sz="1800" dirty="0">
                <a:solidFill>
                  <a:schemeClr val="tx1"/>
                </a:solidFill>
              </a:rPr>
              <a:t> : les pronoms changent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Rapporteer de dialoog van Yasmina en Stef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Rapportez ces répliques du dialogue du matin (p. 2) : </a:t>
            </a:r>
            <a:r>
              <a:rPr lang="en-US" sz="1600" b="1" i="1" dirty="0">
                <a:solidFill>
                  <a:schemeClr val="accent5"/>
                </a:solidFill>
              </a:rPr>
              <a:t>Yasmina zei dat… · Stef vroeg of…</a:t>
            </a:r>
            <a:r>
              <a:rPr lang="en-US" sz="1600" i="1" dirty="0">
                <a:solidFill>
                  <a:schemeClr val="accent5"/>
                </a:solidFill>
              </a:rPr>
              <a:t>. Seul · 5 min.</a:t>
            </a:r>
            <a:endParaRPr lang="en-US" sz="1600" dirty="0"/>
          </a:p>
        </p:txBody>
      </p:sp>
      <p:sp>
        <p:nvSpPr>
          <p:cNvPr id="7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1.  </a:t>
            </a:r>
            <a:r>
              <a:rPr lang="en-US" sz="2600" dirty="0">
                <a:solidFill>
                  <a:schemeClr val="tx1"/>
                </a:solidFill>
              </a:rPr>
              <a:t>Yasmina : «Ik heb goed nieuws.»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2.  </a:t>
            </a:r>
            <a:r>
              <a:rPr lang="en-US" sz="2600" dirty="0">
                <a:solidFill>
                  <a:schemeClr val="tx1"/>
                </a:solidFill>
              </a:rPr>
              <a:t>Yasmina : «Wil je het dossier beheren?»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3.  </a:t>
            </a:r>
            <a:r>
              <a:rPr lang="en-US" sz="2600" dirty="0">
                <a:solidFill>
                  <a:schemeClr val="tx1"/>
                </a:solidFill>
              </a:rPr>
              <a:t>Stef : «Waarover gaat het precies?»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4.  </a:t>
            </a:r>
            <a:r>
              <a:rPr lang="en-US" sz="2600" dirty="0">
                <a:solidFill>
                  <a:schemeClr val="tx1"/>
                </a:solidFill>
              </a:rPr>
              <a:t>Stef : «Je kijkt bezorgd.»</a:t>
            </a:r>
            <a:endParaRPr lang="en-US" sz="2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chemeClr val="tx2"/>
                </a:solidFill>
              </a:rPr>
              <a:t>5.  </a:t>
            </a:r>
            <a:r>
              <a:rPr lang="en-US" sz="2600" dirty="0">
                <a:solidFill>
                  <a:schemeClr val="tx1"/>
                </a:solidFill>
              </a:rPr>
              <a:t>Stef : «Is er een probleem?»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Rapporteer de dialoog van Yasmina en Stef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165860" cy="310896"/>
          </a:xfrm>
          <a:prstGeom prst="roundRect">
            <a:avLst>
              <a:gd name="adj" fmla="val 14706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+ BONUS</a:t>
            </a:r>
            <a:endParaRPr lang="en-US" sz="1200" dirty="0"/>
          </a:p>
        </p:txBody>
      </p:sp>
      <p:sp>
        <p:nvSpPr>
          <p:cNvPr id="4" name="tag"/>
          <p:cNvSpPr/>
          <p:nvPr/>
        </p:nvSpPr>
        <p:spPr>
          <a:xfrm>
            <a:off x="1824228" y="237744"/>
            <a:ext cx="1760220" cy="310896"/>
          </a:xfrm>
          <a:prstGeom prst="roundRect">
            <a:avLst>
              <a:gd name="adj" fmla="val 14706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✓ CORRECTIE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897112" y="219456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Hors syllabus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81328"/>
            <a:ext cx="7178040" cy="61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Rapportez ces répliques du dialogue du matin (p. 2) : </a:t>
            </a:r>
            <a:r>
              <a:rPr lang="en-US" sz="1600" b="1" i="1" dirty="0">
                <a:solidFill>
                  <a:schemeClr val="accent5"/>
                </a:solidFill>
              </a:rPr>
              <a:t>Yasmina zei dat… · Stef vroeg of…</a:t>
            </a:r>
            <a:r>
              <a:rPr lang="en-US" sz="1600" i="1" dirty="0">
                <a:solidFill>
                  <a:schemeClr val="accent5"/>
                </a:solidFill>
              </a:rPr>
              <a:t>. Seul · 5 min.</a:t>
            </a:r>
            <a:endParaRPr lang="en-US" sz="1600" dirty="0"/>
          </a:p>
        </p:txBody>
      </p:sp>
      <p:sp>
        <p:nvSpPr>
          <p:cNvPr id="8" name="exercise"/>
          <p:cNvSpPr txBox="1"/>
          <p:nvPr/>
        </p:nvSpPr>
        <p:spPr>
          <a:xfrm>
            <a:off x="548640" y="2170176"/>
            <a:ext cx="7178040" cy="412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1.  </a:t>
            </a:r>
            <a:r>
              <a:rPr lang="en-US" sz="1600" dirty="0">
                <a:solidFill>
                  <a:schemeClr val="tx1"/>
                </a:solidFill>
              </a:rPr>
              <a:t>Yasmina : «Ik heb goed nieuws.»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Yasmina zei dat ze goed nieuws </a:t>
            </a:r>
            <a:r>
              <a:rPr lang="en-US" sz="1600" b="1" dirty="0">
                <a:solidFill>
                  <a:schemeClr val="accent3"/>
                </a:solidFill>
              </a:rPr>
              <a:t>had</a:t>
            </a:r>
            <a:r>
              <a:rPr lang="en-US" sz="1600" dirty="0">
                <a:solidFill>
                  <a:schemeClr val="accent3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2.  </a:t>
            </a:r>
            <a:r>
              <a:rPr lang="en-US" sz="1600" dirty="0">
                <a:solidFill>
                  <a:schemeClr val="tx1"/>
                </a:solidFill>
              </a:rPr>
              <a:t>Yasmina : «Wil je het dossier beheren?»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Yasmina vroeg </a:t>
            </a:r>
            <a:r>
              <a:rPr lang="en-US" sz="1600" b="1" dirty="0">
                <a:solidFill>
                  <a:schemeClr val="accent3"/>
                </a:solidFill>
              </a:rPr>
              <a:t>of</a:t>
            </a:r>
            <a:r>
              <a:rPr lang="en-US" sz="1600" dirty="0">
                <a:solidFill>
                  <a:schemeClr val="accent3"/>
                </a:solidFill>
              </a:rPr>
              <a:t> Stef het dossier </a:t>
            </a:r>
            <a:r>
              <a:rPr lang="en-US" sz="1600" b="1" dirty="0">
                <a:solidFill>
                  <a:schemeClr val="accent3"/>
                </a:solidFill>
              </a:rPr>
              <a:t>wilde beheren</a:t>
            </a:r>
            <a:r>
              <a:rPr lang="en-US" sz="1600" dirty="0">
                <a:solidFill>
                  <a:schemeClr val="accent3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3.  </a:t>
            </a:r>
            <a:r>
              <a:rPr lang="en-US" sz="1600" dirty="0">
                <a:solidFill>
                  <a:schemeClr val="tx1"/>
                </a:solidFill>
              </a:rPr>
              <a:t>Stef : «Waarover gaat het precies?»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Stef vroeg </a:t>
            </a:r>
            <a:r>
              <a:rPr lang="en-US" sz="1600" b="1" dirty="0">
                <a:solidFill>
                  <a:schemeClr val="accent3"/>
                </a:solidFill>
              </a:rPr>
              <a:t>waarover</a:t>
            </a:r>
            <a:r>
              <a:rPr lang="en-US" sz="1600" dirty="0">
                <a:solidFill>
                  <a:schemeClr val="accent3"/>
                </a:solidFill>
              </a:rPr>
              <a:t> het precies </a:t>
            </a:r>
            <a:r>
              <a:rPr lang="en-US" sz="1600" b="1" dirty="0">
                <a:solidFill>
                  <a:schemeClr val="accent3"/>
                </a:solidFill>
              </a:rPr>
              <a:t>ging</a:t>
            </a:r>
            <a:r>
              <a:rPr lang="en-US" sz="1600" dirty="0">
                <a:solidFill>
                  <a:schemeClr val="accent3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4.  </a:t>
            </a:r>
            <a:r>
              <a:rPr lang="en-US" sz="1600" dirty="0">
                <a:solidFill>
                  <a:schemeClr val="tx1"/>
                </a:solidFill>
              </a:rPr>
              <a:t>Stef : «Je kijkt bezorgd.»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Stef zei dat Yasmina bezorgd </a:t>
            </a:r>
            <a:r>
              <a:rPr lang="en-US" sz="1600" b="1" dirty="0">
                <a:solidFill>
                  <a:schemeClr val="accent3"/>
                </a:solidFill>
              </a:rPr>
              <a:t>keek</a:t>
            </a:r>
            <a:r>
              <a:rPr lang="en-US" sz="1600" dirty="0">
                <a:solidFill>
                  <a:schemeClr val="accent3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5.  </a:t>
            </a:r>
            <a:r>
              <a:rPr lang="en-US" sz="1600" dirty="0">
                <a:solidFill>
                  <a:schemeClr val="tx1"/>
                </a:solidFill>
              </a:rPr>
              <a:t>Stef : «Is er een probleem?»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chemeClr val="accent3"/>
                </a:solidFill>
              </a:rPr>
              <a:t>→ </a:t>
            </a:r>
            <a:r>
              <a:rPr lang="en-US" sz="1600" dirty="0">
                <a:solidFill>
                  <a:schemeClr val="accent3"/>
                </a:solidFill>
              </a:rPr>
              <a:t>Stef vroeg </a:t>
            </a:r>
            <a:r>
              <a:rPr lang="en-US" sz="1600" b="1" dirty="0">
                <a:solidFill>
                  <a:schemeClr val="accent3"/>
                </a:solidFill>
              </a:rPr>
              <a:t>of</a:t>
            </a:r>
            <a:r>
              <a:rPr lang="en-US" sz="1600" dirty="0">
                <a:solidFill>
                  <a:schemeClr val="accent3"/>
                </a:solidFill>
              </a:rPr>
              <a:t> er een probleem </a:t>
            </a:r>
            <a:r>
              <a:rPr lang="en-US" sz="1600" b="1" dirty="0">
                <a:solidFill>
                  <a:schemeClr val="accent3"/>
                </a:solidFill>
              </a:rPr>
              <a:t>was</a:t>
            </a:r>
            <a:r>
              <a:rPr lang="en-US" sz="1600" dirty="0">
                <a:solidFill>
                  <a:schemeClr val="accent3"/>
                </a:solidFill>
              </a:rPr>
              <a:t>.</a:t>
            </a:r>
            <a:endParaRPr lang="en-US" sz="1600" dirty="0"/>
          </a:p>
        </p:txBody>
      </p:sp>
      <p:sp>
        <p:nvSpPr>
          <p:cNvPr id="9" name="aside"/>
          <p:cNvSpPr/>
          <p:nvPr/>
        </p:nvSpPr>
        <p:spPr>
          <a:xfrm>
            <a:off x="8046720" y="1481328"/>
            <a:ext cx="3593592" cy="4809744"/>
          </a:xfrm>
          <a:prstGeom prst="roundRect">
            <a:avLst>
              <a:gd name="adj" fmla="val 2036"/>
            </a:avLst>
          </a:prstGeom>
          <a:solidFill>
            <a:schemeClr val="accent6">
              <a:alpha val="10000"/>
            </a:schemeClr>
          </a:solidFill>
          <a:ln w="12700">
            <a:solidFill>
              <a:schemeClr val="accent6">
                <a:alpha val="60000"/>
              </a:schemeClr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6642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8613648" y="1636776"/>
            <a:ext cx="2862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accent6"/>
                </a:solidFill>
              </a:rPr>
              <a:t>ATTENTION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11312" y="2075688"/>
            <a:ext cx="3264408" cy="407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ik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ze / hij</a:t>
            </a:r>
            <a:r>
              <a:rPr lang="en-US" sz="1800" dirty="0">
                <a:solidFill>
                  <a:schemeClr val="tx1"/>
                </a:solidFill>
              </a:rPr>
              <a:t> · </a:t>
            </a:r>
            <a:r>
              <a:rPr lang="en-US" sz="1800" i="1" dirty="0">
                <a:solidFill>
                  <a:schemeClr val="tx1"/>
                </a:solidFill>
              </a:rPr>
              <a:t>je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Yasmina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is er</a:t>
            </a:r>
            <a:r>
              <a:rPr lang="en-US" sz="1800" dirty="0">
                <a:solidFill>
                  <a:schemeClr val="tx1"/>
                </a:solidFill>
              </a:rPr>
              <a:t> → </a:t>
            </a:r>
            <a:r>
              <a:rPr lang="en-US" sz="1800" i="1" dirty="0">
                <a:solidFill>
                  <a:schemeClr val="tx1"/>
                </a:solidFill>
              </a:rPr>
              <a:t>was er</a:t>
            </a:r>
            <a:r>
              <a:rPr lang="en-US" sz="1800" dirty="0">
                <a:solidFill>
                  <a:schemeClr val="tx1"/>
                </a:solidFill>
              </a:rPr>
              <a:t> : présent → imperfectum</a:t>
            </a:r>
            <a:endParaRPr lang="en-US" sz="18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waarover … ging</a:t>
            </a:r>
            <a:r>
              <a:rPr lang="en-US" sz="1800" dirty="0">
                <a:solidFill>
                  <a:schemeClr val="tx1"/>
                </a:solidFill>
              </a:rPr>
              <a:t> : verbe à la fin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5A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621792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Tot de volgende keer!</a:t>
            </a:r>
            <a:endParaRPr lang="en-US" sz="3200" dirty="0"/>
          </a:p>
        </p:txBody>
      </p:sp>
      <p:sp>
        <p:nvSpPr>
          <p:cNvPr id="3" name="tag"/>
          <p:cNvSpPr/>
          <p:nvPr/>
        </p:nvSpPr>
        <p:spPr>
          <a:xfrm>
            <a:off x="548640" y="237744"/>
            <a:ext cx="1988820" cy="310896"/>
          </a:xfrm>
          <a:prstGeom prst="roundRect">
            <a:avLst>
              <a:gd name="adj" fmla="val 14706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chemeClr val="bg1"/>
                </a:solidFill>
              </a:rPr>
              <a:t>FIN DE SÉANCE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0" cy="3108960"/>
          </a:xfrm>
          <a:prstGeom prst="roundRect">
            <a:avLst>
              <a:gd name="adj" fmla="val 2941"/>
            </a:avLst>
          </a:prstGeom>
          <a:solidFill>
            <a:schemeClr val="bg1">
              <a:alpha val="10000"/>
            </a:schemeClr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LA PROCHAINE FOIS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Séance 9 :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le conseil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. Comment demander poliment et conseiller ? 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Zou u…? Ik zou…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— le conditionnel </a:t>
            </a:r>
            <a:r>
              <a:rPr lang="en-US" sz="2400" b="1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zou</a:t>
            </a:r>
            <a:r>
              <a:rPr lang="en-US" sz="2400" i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, avec l’infinitif à la fin.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03720" y="1554480"/>
            <a:ext cx="4736592" cy="4709160"/>
          </a:xfrm>
          <a:prstGeom prst="roundRect">
            <a:avLst>
              <a:gd name="adj" fmla="val 1942"/>
            </a:avLst>
          </a:prstGeom>
          <a:solidFill>
            <a:schemeClr val="bg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635240" y="17373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chemeClr val="tx2"/>
                </a:solidFill>
              </a:rPr>
              <a:t>POUR LA PROCHAINE SÉANCE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286000"/>
            <a:ext cx="4297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Terminer </a:t>
            </a:r>
            <a:r>
              <a:rPr lang="en-US" sz="1700" b="1" dirty="0">
                <a:solidFill>
                  <a:schemeClr val="tx1"/>
                </a:solidFill>
              </a:rPr>
              <a:t>ex. 7</a:t>
            </a:r>
            <a:r>
              <a:rPr lang="en-US" sz="1700" dirty="0">
                <a:solidFill>
                  <a:schemeClr val="tx1"/>
                </a:solidFill>
              </a:rPr>
              <a:t> et </a:t>
            </a:r>
            <a:r>
              <a:rPr lang="en-US" sz="1700" b="1" dirty="0">
                <a:solidFill>
                  <a:schemeClr val="tx1"/>
                </a:solidFill>
              </a:rPr>
              <a:t>D3</a:t>
            </a:r>
            <a:r>
              <a:rPr lang="en-US" sz="1700" dirty="0">
                <a:solidFill>
                  <a:schemeClr val="tx1"/>
                </a:solidFill>
              </a:rPr>
              <a:t> à l’écrit : 5 phrases au discours indirect.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votre </a:t>
            </a:r>
            <a:r>
              <a:rPr lang="en-US" sz="1700" b="1" dirty="0">
                <a:solidFill>
                  <a:schemeClr val="tx1"/>
                </a:solidFill>
              </a:rPr>
              <a:t>luisterfiche</a:t>
            </a:r>
            <a:r>
              <a:rPr lang="en-US" sz="1700" dirty="0">
                <a:solidFill>
                  <a:schemeClr val="tx1"/>
                </a:solidFill>
              </a:rPr>
              <a:t> et préparer le compte rendu de la TAAK 3.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Apprendre les </a:t>
            </a:r>
            <a:r>
              <a:rPr lang="en-US" sz="1700" b="1" dirty="0">
                <a:solidFill>
                  <a:schemeClr val="tx1"/>
                </a:solidFill>
              </a:rPr>
              <a:t>verbes introducteurs</a:t>
            </a:r>
            <a:r>
              <a:rPr lang="en-US" sz="1700" dirty="0">
                <a:solidFill>
                  <a:schemeClr val="tx1"/>
                </a:solidFill>
              </a:rPr>
              <a:t> (zeggen, vragen, antwoorden, melden…).</a:t>
            </a:r>
            <a:endParaRPr lang="en-US" sz="17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Relire </a:t>
            </a:r>
            <a:r>
              <a:rPr lang="en-US" sz="1700" b="1" dirty="0">
                <a:solidFill>
                  <a:schemeClr val="tx1"/>
                </a:solidFill>
              </a:rPr>
              <a:t>zullen</a:t>
            </a:r>
            <a:r>
              <a:rPr lang="en-US" sz="1700" dirty="0">
                <a:solidFill>
                  <a:schemeClr val="tx1"/>
                </a:solidFill>
              </a:rPr>
              <a:t> (palier 4) : on construira zou de la même façon.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4892040"/>
            <a:ext cx="603504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498348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chemeClr val="bg1"/>
                </a:solidFill>
              </a:rPr>
              <a:t>TICKET DE SORTIE  </a:t>
            </a:r>
            <a:endParaRPr lang="en-US" sz="13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Rapportez : « Het is te laat. » (</a:t>
            </a:r>
            <a:r>
              <a:rPr lang="en-US" sz="1600" b="1" dirty="0">
                <a:solidFill>
                  <a:schemeClr val="bg1"/>
                </a:solidFill>
              </a:rPr>
              <a:t>Hij zei…</a:t>
            </a:r>
            <a:r>
              <a:rPr lang="en-US" sz="1600" dirty="0">
                <a:solidFill>
                  <a:schemeClr val="bg1"/>
                </a:solidFill>
              </a:rPr>
              <a:t>) et « Wanneer komt u? » (</a:t>
            </a:r>
            <a:r>
              <a:rPr lang="en-US" sz="1600" b="1" dirty="0">
                <a:solidFill>
                  <a:schemeClr val="bg1"/>
                </a:solidFill>
              </a:rPr>
              <a:t>Hij vroeg…</a:t>
            </a:r>
            <a:r>
              <a:rPr lang="en-US" sz="1600" dirty="0">
                <a:solidFill>
                  <a:schemeClr val="bg1"/>
                </a:solidFill>
              </a:rPr>
              <a:t>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EF3F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derlands B1 vastgoed">
  <a:themeElements>
    <a:clrScheme name="Nederlands B1 vastgoed">
      <a:dk1>
        <a:srgbClr val="1B2333"/>
      </a:dk1>
      <a:lt1>
        <a:srgbClr val="FFFFFF"/>
      </a:lt1>
      <a:dk2>
        <a:srgbClr val="17375E"/>
      </a:dk2>
      <a:lt2>
        <a:srgbClr val="EEF3F8"/>
      </a:lt2>
      <a:accent1>
        <a:srgbClr val="D9700F"/>
      </a:accent1>
      <a:accent2>
        <a:srgbClr val="2A6FB0"/>
      </a:accent2>
      <a:accent3>
        <a:srgbClr val="2E7D4F"/>
      </a:accent3>
      <a:accent4>
        <a:srgbClr val="B4236A"/>
      </a:accent4>
      <a:accent5>
        <a:srgbClr val="4A5A70"/>
      </a:accent5>
      <a:accent6>
        <a:srgbClr val="B83227"/>
      </a:accent6>
      <a:hlink>
        <a:srgbClr val="2A6FB0"/>
      </a:hlink>
      <a:folHlink>
        <a:srgbClr val="B4236A"/>
      </a:folHlink>
    </a:clrScheme>
    <a:fontScheme name="Nederlands B1 vastgoe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IRAM — Néerlandais 3 (B1)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Séance 08 — De klacht</dc:title>
  <dc:subject>Néerlandais B1 — immobilier et vie quotidienne (Yasmina &amp; Stef)</dc:subject>
  <dc:creator>A. Jouniaux</dc:creator>
  <cp:lastModifiedBy>A. Jouniaux</cp:lastModifiedBy>
  <cp:revision>1</cp:revision>
  <dcterms:created xsi:type="dcterms:W3CDTF">2026-10-03T21:59:51Z</dcterms:created>
  <dcterms:modified xsi:type="dcterms:W3CDTF">2026-10-03T21:59:51Z</dcterms:modified>
</cp:coreProperties>
</file>