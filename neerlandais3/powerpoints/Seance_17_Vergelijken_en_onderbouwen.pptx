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e0979e7-7056-a0bc-86c9-edf91b33a57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ôture" id="{ba971236-b6d5-f6d0-8b6b-639961235a80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séance du palier 8. Séquence 8.2 : une estimation n’est jamais un chiffre sorti du chapeau, c’est une comparaison argumentée avec des biens semblables (les vergelijkingspunten). Les étudiants maîtrisent le comparatif et le superlatif (palier 4) ; cette séance ajoute quatre outils : hoe … hoe …, steeds + comparatif, twee keer zo … als / half zo … als, in vergelijking met. Exercice 3 (la vergelijkingstabel de la maison Janssens), TAAK 2 (la section « Vergelijkingspunten » du rapport) et D2 (trein, auto of carpool ?). Pages couvertes : p. 7 à 10a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Pages 7 à 10a du livret. Priorités si le temps manque : le tableau des outils, le bloc hoe … hoe …, l’exercice 3 et D2. La TAAK 2 (8 à 10 phrases) peut être terminée à la maison : on la présente en classe puis on projette le modèle. Le bonus peut servir d’échauffement oral avant l’exercice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16 : nombres, décimales, pourcentages et heure. Insister sur le réflexe de contrôle chiffre par chiffre. Si quelqu’un hésite sur « half negen », redessiner le cadran : half negen = à mi-chemin de neuf heures, donc 8.30.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16 : nombres, décimales, pourcentages et heure. Insister sur le réflexe de contrôle chiffre par chiffre. Si quelqu’un hésite sur « half negen », redessiner le cadran : half negen = à mi-chemin de neuf heures, donc 8.30.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: le double (2 ×). Les étudiants connaissent depuis le palier 4 : groter dan, het duurst, net zo … als. Les quatre outils qui manquaient : hoe … hoe …, steeds + comparatif, twee keer zo … als / half zo … als, in vergelijking met. Les trois lignes du focus sont les lignes 3, 5 et 7 du dialogue 8 (séance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tableau ligne par ligne et faire produire une phrase personnelle pour chaque structure (mon logement, ma rue). « Net zo / even … als » est un rappel du palier 4. Attention : « twee keer zo groot als » (multiplicateur) se construit avec zo … als, jamais avec dan. Autres multiplicateurs possibles : drie keer zo duur als, anderhalf keer zo groot als, half zo groot als. « Stegen » est l’imperfectum de stijgen (voir séance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(p. 8) précise que « le verbe file en fin de chaque membre : vos réflexes des paliers 4-5 s’appliquent ». Exemple du livret : « Hoe langer u wacht, hoe meer de prijs daalt. » Quand le verbe est une copule (zijn, worden), on peut l’omettre : « Hoe dichter bij het park, hoe duurder de woningen (zijn). » Le comparatif vient juste après « hoe » et le sujet suit. Rappel de l’illustration du livret (image p8_10_6) : l’étape 1 « hoe + comparatif », l’étape 2 « hoe + comparatif », verbe en fin de chaque membre.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Erreurs calquées sur le français : « plus … plus … » donne hoe meer + inversion ; « deux fois plus grand que » donne twee keer meer groot dan ; « de plus en plus » donne meer en meer ; « aussi … que » donne dan au lieu de als. Faire corriger oralement avant de montrer la colonne de droite. Note : « twee keer groter dan » s’entend en conversation mais reste ambigu (2 × ou 3 × ?) ; on préfère « twee keer zo groot als » dans un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d’entraînement avant l’exercice 3. Phrase 3 : « wordt » peut être remplacé par « is » (le gesprek is moeilijk). Phrase 5 reprend la phrase de Lotte dans l’Avonddialoog (hoe mooier het weer, hoe langer de file). Réponses alternatives acceptées : l’ordre des deux membres peut être inversé (Hoe duurder de woning is, hoe groter de tuin is) si le sens reste cohérent.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d’entraînement avant l’exercice 3. Phrase 3 : « wordt » peut être remplacé par « is » (le gesprek is moeilijk). Phrase 5 reprend la phrase de Lotte dans l’Avonddialoog (hoe mooier het weer, hoe langer de file). Réponses alternatives acceptées : l’ordre des deux membres peut être inversé (Hoe duurder de woning is, hoe groter de tuin is) si le sens reste cohérent.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Compréhension de l’écrit : l’image reprend le tableau du livret : A (Vredestraat 31, € 448.000, 135 m², 3 slpk., gerenoveerd 2024, tuin 45 m²), B (Parklaan 8, € 495.000, 142 m², 4 slpk., instapklaar, vlak bij het park), C (Molenstraat 55, € 405.000, 128 m², 3 slpk., op te frissen, geen tuin). Les prix au m² ne figurent pas dans le livret : ils sont calculés pour la discussion (448.000 ÷ 135 = 3.319 ; 495.000 ÷ 142 = 3.486 ; 405.000 ÷ 128 = 3.164). Laisser quelques minutes de lecture silencieuse avant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 : 495.000 − 405.000 = 90.000 € ; 90.000 ÷ 405.000 = 22,2 %. Le livret dit « bijna » alors que l’écart exact est 90.000 : accepter « € 90.000 », « ongeveer 22 % », « bijna een kwart », ou « bijna € 100.000 » (arrondi). Question 2 : accepter aussi « Hoe dichter bij het park, hoe hoger de prijs ». Vérifier que le verbe est à la fin des deux membres.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les réponses à voix haute. Question 2 : une corrélation vraie doit s’appuyer sur le tableau (B est le pand le plus proche du parc et le plus cher au m²).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: 60 ÷ 45 = 1,33 ; ce n’est pas un multiple entier, d’où « ongeveer 1,3 keer zo groot als » ; accepter aussi « een derde groter dan ». Question 4 : réponse libre argumentée. Pand A est le plus défendable (même rue, 135 m² contre 140 m², trois chambres, jardin), mais B (près du parc, instapklaar, 142 m²) et C (op te frissen comme la cuisine Janssens) peuvent être défendus avec des arguments chiffrés. Exiger les deux structures demandées : even / net zo … als et weliswaar … maar (concession du palier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de réponse, à adapter. Ne pas mettre de virgule avant « maar » à l’oral : ce détail est d’écriture. Après « maar », l’ordre reste sujet puis verbe (maar de ligging is …) : « maar » est une conjonction de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Tâche écrite : situer la maison Janssens par rapport aux trois panden. Les étudiants cochent chaque structure au fur et à mesure. Passer dans les rangs : vérifier le verbe final dans hoe … hoe …, dan après un comparatif, als après zo, le pronom relatif (dat pour un het-woord comme pand, die pour woning). Modèle sur la diapositive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de la section « Vergelijkingspunten » (8 phrases). Structures employées : net zo … als, keer zo … als, hoe … hoe …, in vergelijking met, steeds + comparatif (cinq structures de 8.2) ; superlatif het duurste (palier 4) ; relative « dat in dezelfde straat ligt » (palier 5) ; connecteur daarentegen et concession weliswaar … maar (palier 7) ; fourchette finale. Comme B est un het-woord (het pand), la relative prend « dat » ; avec « woning » (de-woord), on dirait « die ». La fourchette 445.000–465.000 est celle du rapport de la séance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silencieuse du tableau (données fictives), puis les questions de la diapositive suivante. Lexique : de brandstof (le carburant), het parkeren (le stationnement), de file (l’embouteillage ; « in de file staan »), carpoolen = faire du covoiturage, de enkele reis = l’aller simple. Calculs utiles : 90 ÷ 30 = 3 ; 3 u ÷ 1 u 30 = 2 ; 62 ÷ 30 ≈ 2,07.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1a et 1b : drie / twee. Question 2 : plusieurs corrélations possibles (hoe vroeger je vertrekt, hoe minder file er is ; hoe meer personen in de auto zitten, hoe goedkoper de reis per persoon is). Vérifier le verbe final. Question 3 : « de trein is ruim twee keer zo duur als carpoolen » est une autre formulation correcte. Cette activité prépare la décision à deux de la diapositive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1a et 1b : drie / twee. Question 2 : plusieurs corrélations possibles (hoe vroeger je vertrekt, hoe minder file er is ; hoe meer personen in de auto zitten, hoe goedkoper de reis per persoon is). Vérifier le verbe final. Question 3 : « de trein is ruim twee keer zo duur als carpoolen » est une autre formulation correcte. Cette activité prépare la décision à deux de la diapositive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Décision à deux : 3 minutes. Tirer au sort une contrainte par étudiant ; les deux étudiants défendent chacun leur option mais doivent aboutir à un accord (« We nemen de carpool, want …»). Observer l’emploi de hoe … hoe, twee keer zo … als et in vergelijking met. L’autonomie (quatre phrases sur deux options réelles) est un travail individuel qui peut être terminé à la maison. Production libre : pas de correction unique ; 2 ou 3 étudiants lisent leurs phrases. Modèle : « Supermarkt A ligt half zo ver van mijn huis als supermarkt B, maar hij is twee keer zo duur.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oral. Exemples : « Mijn trajet is twee keer zo lang als dat van mijn collega. » ; « Hoe vroeger ik vertrek, hoe minder file er is. » Ramasser la TAAK 2 à la séance suivante si l’on souhaite une correction individuelle.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17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17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17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8.2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Vergelijken en onderbouwen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La comparaison approfondie : hoe … hoe …, steeds, twee keer zo … als, in vergelijking met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8 · Schatting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7–10a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3827"/>
            <a:ext cx="5120640" cy="341034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7–10a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Comparer deux biens avec </a:t>
            </a:r>
            <a:r>
              <a:rPr lang="en-US" sz="1500" b="1" dirty="0">
                <a:solidFill>
                  <a:schemeClr val="tx1"/>
                </a:solidFill>
              </a:rPr>
              <a:t>hoe … hoe …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steeds + comparatif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twee keer zo … als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half zo … als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in vergelijking met</a:t>
            </a:r>
            <a:r>
              <a:rPr lang="en-US" sz="1500" dirty="0">
                <a:solidFill>
                  <a:schemeClr val="tx1"/>
                </a:solidFill>
              </a:rPr>
              <a:t>, et conclure par une </a:t>
            </a:r>
            <a:r>
              <a:rPr lang="en-US" sz="1500" b="1" dirty="0">
                <a:solidFill>
                  <a:schemeClr val="tx1"/>
                </a:solidFill>
              </a:rPr>
              <a:t>fourchette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hoe dichter … hoe duurder · steeds groter · twee keer zo groot als · half zo groot als · in vergelijking met · net zo / even … als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Lire un tableau de comparables · formuler corrélations et multiples · rédiger les « vergelijkingspunten » (TAAK 2) · décider à deux (D2)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séance 16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8.2 : le dialogue et les outils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verbe à la fin : hoe … hoe …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Bonus : verbind de zinnen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Ex. 3 · de vergelijkingstabel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18'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TAAK 2 · vergelijkingspunten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D2 · trein, auto of carpool ?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16 : chiffres et heures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Dites ou écrivez — seul, 4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En chiffres : </a:t>
            </a:r>
            <a:r>
              <a:rPr lang="en-US" sz="2600" i="1" dirty="0">
                <a:solidFill>
                  <a:schemeClr val="tx1"/>
                </a:solidFill>
              </a:rPr>
              <a:t>vierhonderdzevenendertigduizend vijfhonderd euro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À voix haute : </a:t>
            </a:r>
            <a:r>
              <a:rPr lang="en-US" sz="2600" b="1" dirty="0">
                <a:solidFill>
                  <a:schemeClr val="tx1"/>
                </a:solidFill>
              </a:rPr>
              <a:t>4,2 %</a:t>
            </a:r>
            <a:r>
              <a:rPr lang="en-US" sz="2600" dirty="0">
                <a:solidFill>
                  <a:schemeClr val="tx1"/>
                </a:solidFill>
              </a:rPr>
              <a:t> · </a:t>
            </a:r>
            <a:r>
              <a:rPr lang="en-US" sz="2600" b="1" dirty="0">
                <a:solidFill>
                  <a:schemeClr val="tx1"/>
                </a:solidFill>
              </a:rPr>
              <a:t>92 m²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8.35 : l’heure de tous les jours 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« Hij vertrekt om half negen. » Quelle heure en chiffres 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Au téléphone, vous entendez « zevenenveertig ». Que répondez-vous 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16 : chiffres et heures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Dites ou écrivez — seul, 4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En chiffres : </a:t>
            </a:r>
            <a:r>
              <a:rPr lang="en-US" sz="1800" i="1" dirty="0">
                <a:solidFill>
                  <a:schemeClr val="tx1"/>
                </a:solidFill>
              </a:rPr>
              <a:t>vierhonderdzevenendertigduizend vijfhonderd euro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€ 437.500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À voix haute : </a:t>
            </a:r>
            <a:r>
              <a:rPr lang="en-US" sz="1800" b="1" dirty="0">
                <a:solidFill>
                  <a:schemeClr val="tx1"/>
                </a:solidFill>
              </a:rPr>
              <a:t>4,2 %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92 m²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vier komma twee procent</a:t>
            </a:r>
            <a:r>
              <a:rPr lang="en-US" sz="1800" dirty="0">
                <a:solidFill>
                  <a:schemeClr val="accent3"/>
                </a:solidFill>
              </a:rPr>
              <a:t> · </a:t>
            </a:r>
            <a:r>
              <a:rPr lang="en-US" sz="1800" b="1" dirty="0">
                <a:solidFill>
                  <a:schemeClr val="accent3"/>
                </a:solidFill>
              </a:rPr>
              <a:t>tweeënnegentig vierkante meter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8.35 : l’heure de tous les jours ?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vijf over half negen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« Hij vertrekt om half negen. » Quelle heure en chiffres ?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8.30</a:t>
            </a:r>
            <a:r>
              <a:rPr lang="en-US" sz="1800" dirty="0">
                <a:solidFill>
                  <a:schemeClr val="accent3"/>
                </a:solidFill>
              </a:rPr>
              <a:t> (pas 9.30 !)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Au téléphone, vous entendez « zevenenveertig ». Que répondez-vous ?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« </a:t>
            </a:r>
            <a:r>
              <a:rPr lang="en-US" sz="1800" b="1" dirty="0">
                <a:solidFill>
                  <a:schemeClr val="accent3"/>
                </a:solidFill>
              </a:rPr>
              <a:t>Dus: vier – zeven?</a:t>
            </a:r>
            <a:r>
              <a:rPr lang="en-US" sz="1800" dirty="0">
                <a:solidFill>
                  <a:schemeClr val="accent3"/>
                </a:solidFill>
              </a:rPr>
              <a:t> » (47)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8.2 : vergelijken — la comparaison approfondie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1933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8.2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Une estimation n’est jamais un chiffre sorti du chapeau</a:t>
            </a:r>
            <a:r>
              <a:rPr lang="en-US" sz="1500" dirty="0">
                <a:solidFill>
                  <a:schemeClr val="tx1"/>
                </a:solidFill>
              </a:rPr>
              <a:t> : c’est une comparaison avec des biens semblables.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Focus : lignes 3, 5 et 7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«Bijna </a:t>
            </a:r>
            <a:r>
              <a:rPr lang="en-US" sz="1500" b="1" dirty="0">
                <a:solidFill>
                  <a:schemeClr val="tx1"/>
                </a:solidFill>
              </a:rPr>
              <a:t>twee keer zo groot als</a:t>
            </a:r>
            <a:r>
              <a:rPr lang="en-US" sz="1500" dirty="0">
                <a:solidFill>
                  <a:schemeClr val="tx1"/>
                </a:solidFill>
              </a:rPr>
              <a:t>…» — le multiplicateur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«</a:t>
            </a:r>
            <a:r>
              <a:rPr lang="en-US" sz="1500" b="1" dirty="0">
                <a:solidFill>
                  <a:schemeClr val="tx1"/>
                </a:solidFill>
              </a:rPr>
              <a:t>Hoe dichter</a:t>
            </a:r>
            <a:r>
              <a:rPr lang="en-US" sz="1500" dirty="0">
                <a:solidFill>
                  <a:schemeClr val="tx1"/>
                </a:solidFill>
              </a:rPr>
              <a:t> …, </a:t>
            </a:r>
            <a:r>
              <a:rPr lang="en-US" sz="1500" b="1" dirty="0">
                <a:solidFill>
                  <a:schemeClr val="tx1"/>
                </a:solidFill>
              </a:rPr>
              <a:t>hoe duurder</a:t>
            </a:r>
            <a:r>
              <a:rPr lang="en-US" sz="1500" dirty="0">
                <a:solidFill>
                  <a:schemeClr val="tx1"/>
                </a:solidFill>
              </a:rPr>
              <a:t> …» — la corrélation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«</a:t>
            </a:r>
            <a:r>
              <a:rPr lang="en-US" sz="1500" b="1" dirty="0">
                <a:solidFill>
                  <a:schemeClr val="tx1"/>
                </a:solidFill>
              </a:rPr>
              <a:t>In vergelijking met</a:t>
            </a:r>
            <a:r>
              <a:rPr lang="en-US" sz="1500" dirty="0">
                <a:solidFill>
                  <a:schemeClr val="tx1"/>
                </a:solidFill>
              </a:rPr>
              <a:t> de buren…» — le cadrage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Twee keer zo groot als » : le double ou le triple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outils de la comparaison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5513832"/>
              </a:tblGrid>
              <a:tr h="563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STRUCTURE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 DU MÉTIER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44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+ comp., hoe + comp.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plus …, plus 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Hoe dichter bij het station, hoe hoger de prijs.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steeds + comparatif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plus en plus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vraag naar tuinen wordt steeds groter.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44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twee keer zo … als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deux fois plus … que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Dit huis is twee keer zo groot als dat appartement.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half zo … als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moitié moins … que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tuin is half zo groot als die van de buren.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44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 vergelijking met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 comparaison avec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 vergelijking met 2024 stegen de prijzen licht.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net zo / even … als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aussi … que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ligging is even goed als die van pand B.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Rappel palier 4 : </a:t>
            </a:r>
            <a:r>
              <a:rPr lang="en-US" sz="1500" b="1" i="1" dirty="0">
                <a:solidFill>
                  <a:schemeClr val="accent5"/>
                </a:solidFill>
              </a:rPr>
              <a:t>groter dan</a:t>
            </a:r>
            <a:r>
              <a:rPr lang="en-US" sz="1500" i="1" dirty="0">
                <a:solidFill>
                  <a:schemeClr val="accent5"/>
                </a:solidFill>
              </a:rPr>
              <a:t> (comparatif + </a:t>
            </a:r>
            <a:r>
              <a:rPr lang="en-US" sz="1500" i="1" dirty="0">
                <a:solidFill>
                  <a:schemeClr val="accent5"/>
                </a:solidFill>
              </a:rPr>
              <a:t>dan</a:t>
            </a:r>
            <a:r>
              <a:rPr lang="en-US" sz="1500" i="1" dirty="0">
                <a:solidFill>
                  <a:schemeClr val="accent5"/>
                </a:solidFill>
              </a:rPr>
              <a:t>) · </a:t>
            </a:r>
            <a:r>
              <a:rPr lang="en-US" sz="1500" b="1" i="1" dirty="0">
                <a:solidFill>
                  <a:schemeClr val="accent5"/>
                </a:solidFill>
              </a:rPr>
              <a:t>het duurst</a:t>
            </a:r>
            <a:r>
              <a:rPr lang="en-US" sz="1500" i="1" dirty="0">
                <a:solidFill>
                  <a:schemeClr val="accent5"/>
                </a:solidFill>
              </a:rPr>
              <a:t> (superlatif) · </a:t>
            </a:r>
            <a:r>
              <a:rPr lang="en-US" sz="1500" b="1" i="1" dirty="0">
                <a:solidFill>
                  <a:schemeClr val="accent5"/>
                </a:solidFill>
              </a:rPr>
              <a:t>even / net zo … als</a:t>
            </a:r>
            <a:r>
              <a:rPr lang="en-US" sz="1500" i="1" dirty="0">
                <a:solidFill>
                  <a:schemeClr val="accent5"/>
                </a:solidFill>
              </a:rPr>
              <a:t> (égalité).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… hoe … : le verbe file en fin de membre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Chaque membre se construit comme une </a:t>
            </a:r>
            <a:r>
              <a:rPr lang="en-US" sz="1800" b="1" dirty="0">
                <a:solidFill>
                  <a:schemeClr val="tx1"/>
                </a:solidFill>
              </a:rPr>
              <a:t>subordonnée</a:t>
            </a:r>
            <a:r>
              <a:rPr lang="en-US" sz="1800" dirty="0">
                <a:solidFill>
                  <a:schemeClr val="tx1"/>
                </a:solidFill>
              </a:rPr>
              <a:t> : le </a:t>
            </a:r>
            <a:r>
              <a:rPr lang="en-US" sz="1800" b="1" dirty="0">
                <a:solidFill>
                  <a:schemeClr val="tx1"/>
                </a:solidFill>
              </a:rPr>
              <a:t>verbe conjugué</a:t>
            </a:r>
            <a:r>
              <a:rPr lang="en-US" sz="1800" dirty="0">
                <a:solidFill>
                  <a:schemeClr val="tx1"/>
                </a:solidFill>
              </a:rPr>
              <a:t> part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 Après « hoe + comparatif » vient le sujet.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2199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59736"/>
            <a:ext cx="1385824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245973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Hoe langer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044192" y="2221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44192" y="24597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80768" y="24597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839720" y="222199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39720" y="245973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76296" y="245973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wacht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806952" y="222199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06952" y="2459736"/>
            <a:ext cx="1174496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3528" y="245973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hoe meer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91176" y="222199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91176" y="245973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7752" y="245973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prijs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75400" y="222199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75400" y="245973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11976" y="245973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daalt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8163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Plus vous attendez, plus le prix baisse.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007614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245358"/>
            <a:ext cx="149148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85216" y="3245358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Hoe dichter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149856" y="3007614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149856" y="3245358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186432" y="3245358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bij het park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3856736" y="3007614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856736" y="3245358"/>
            <a:ext cx="1491488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893312" y="3245358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hoe duurder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457952" y="3007614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57952" y="3245358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94528" y="3245358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woningen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059168" y="300761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omis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059168" y="324535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095744" y="324535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(zijn)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360197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Plus près du parc, plus chères sont les maisons.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3793236"/>
            <a:ext cx="244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4030980"/>
            <a:ext cx="2442464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5216" y="4030980"/>
            <a:ext cx="236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vraag naar tuinen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100832" y="379323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100832" y="4030980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137408" y="403098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wordt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068064" y="3793236"/>
            <a:ext cx="170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steeds + comparatif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068064" y="4030980"/>
            <a:ext cx="1702816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104640" y="4030980"/>
            <a:ext cx="162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steeds groter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43875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La demande de jardins devient de plus en plus grande.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4578858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48640" y="4816602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85216" y="4816602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Dit huis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1832864" y="457885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832864" y="481660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869440" y="481660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2628392" y="4578858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multiplicateur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628392" y="4816602"/>
            <a:ext cx="2231136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664968" y="481660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twee keer zo groot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4969256" y="4578858"/>
            <a:ext cx="233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als + terme comparé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969256" y="4816602"/>
            <a:ext cx="2336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005832" y="4816602"/>
            <a:ext cx="2263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als dat appartement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517321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Cette maison est deux fois plus grande que cet appartement.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7" name="Text 6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En français : </a:t>
            </a:r>
            <a:r>
              <a:rPr lang="en-US" sz="1700" i="1" dirty="0">
                <a:solidFill>
                  <a:schemeClr val="tx1"/>
                </a:solidFill>
              </a:rPr>
              <a:t>plus vous attendez, plus </a:t>
            </a:r>
            <a:r>
              <a:rPr lang="en-US" sz="1700" b="1" i="1" dirty="0">
                <a:solidFill>
                  <a:schemeClr val="tx1"/>
                </a:solidFill>
              </a:rPr>
              <a:t>baisse</a:t>
            </a:r>
            <a:r>
              <a:rPr lang="en-US" sz="1700" i="1" dirty="0">
                <a:solidFill>
                  <a:schemeClr val="tx1"/>
                </a:solidFill>
              </a:rPr>
              <a:t> le prix</a:t>
            </a:r>
            <a:r>
              <a:rPr lang="en-US" sz="1700" dirty="0">
                <a:solidFill>
                  <a:schemeClr val="tx1"/>
                </a:solidFill>
              </a:rPr>
              <a:t> ou </a:t>
            </a:r>
            <a:r>
              <a:rPr lang="en-US" sz="1700" i="1" dirty="0">
                <a:solidFill>
                  <a:schemeClr val="tx1"/>
                </a:solidFill>
              </a:rPr>
              <a:t>plus le prix </a:t>
            </a:r>
            <a:r>
              <a:rPr lang="en-US" sz="1700" b="1" i="1" dirty="0">
                <a:solidFill>
                  <a:schemeClr val="tx1"/>
                </a:solidFill>
              </a:rPr>
              <a:t>baisse</a:t>
            </a:r>
            <a:r>
              <a:rPr lang="en-US" sz="1700" dirty="0">
                <a:solidFill>
                  <a:schemeClr val="tx1"/>
                </a:solidFill>
              </a:rPr>
              <a:t>. En néerlandais, au niveau B1 : </a:t>
            </a:r>
            <a:r>
              <a:rPr lang="en-US" sz="1700" i="1" dirty="0">
                <a:solidFill>
                  <a:schemeClr val="tx1"/>
                </a:solidFill>
              </a:rPr>
              <a:t>hoe meer de prijs </a:t>
            </a:r>
            <a:r>
              <a:rPr lang="en-US" sz="1700" b="1" i="1" dirty="0">
                <a:solidFill>
                  <a:schemeClr val="tx1"/>
                </a:solidFill>
              </a:rPr>
              <a:t>daalt</a:t>
            </a:r>
            <a:r>
              <a:rPr lang="en-US" sz="1700" dirty="0">
                <a:solidFill>
                  <a:schemeClr val="tx1"/>
                </a:solidFill>
              </a:rPr>
              <a:t> (verbe à la fin) — évitez </a:t>
            </a:r>
            <a:r>
              <a:rPr lang="en-US" sz="1700" i="1" dirty="0">
                <a:solidFill>
                  <a:schemeClr val="tx1"/>
                </a:solidFill>
              </a:rPr>
              <a:t>hoe meer daalt de prijs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Pièges : comparer en néerlandais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Cinq erreurs fréquentes chez les francophones.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32432"/>
            <a:ext cx="11091672" cy="846164"/>
          </a:xfrm>
          <a:prstGeom prst="roundRect">
            <a:avLst>
              <a:gd name="adj" fmla="val 6484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1835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932432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Hoe langer u wacht, hoe meer daalt de prijs.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1835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37760" y="1932432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Hoe langer u wacht, hoe meer de prijs daalt.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8458200" y="1932432"/>
            <a:ext cx="3090672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verbe conjugué à la fin des deux membres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2888324"/>
            <a:ext cx="11091672" cy="846164"/>
          </a:xfrm>
          <a:prstGeom prst="roundRect">
            <a:avLst>
              <a:gd name="adj" fmla="val 6484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4245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2888324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Het huis is twee keer meer groot dan het appartement.</a:t>
            </a:r>
            <a:endParaRPr lang="en-US" sz="2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174245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37760" y="2888324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Het huis is twee keer zo groot als het appartement.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8458200" y="2888324"/>
            <a:ext cx="3090672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multiplicateur : zo … als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548640" y="3844215"/>
            <a:ext cx="11091672" cy="846164"/>
          </a:xfrm>
          <a:prstGeom prst="roundRect">
            <a:avLst>
              <a:gd name="adj" fmla="val 6484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30137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51560" y="3844215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Het wordt meer en meer groot.</a:t>
            </a:r>
            <a:endParaRPr lang="en-US" sz="2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30137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937760" y="3844215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Het wordt steeds groter.</a:t>
            </a:r>
            <a:endParaRPr lang="en-US" sz="2000" dirty="0"/>
          </a:p>
        </p:txBody>
      </p:sp>
      <p:sp>
        <p:nvSpPr>
          <p:cNvPr id="24" name="Text 15"/>
          <p:cNvSpPr txBox="1"/>
          <p:nvPr/>
        </p:nvSpPr>
        <p:spPr>
          <a:xfrm>
            <a:off x="8458200" y="3844215"/>
            <a:ext cx="3090672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de plus en plus = steeds + comparatif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548640" y="4800107"/>
            <a:ext cx="11091672" cy="846164"/>
          </a:xfrm>
          <a:prstGeom prst="roundRect">
            <a:avLst>
              <a:gd name="adj" fmla="val 6484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8602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51560" y="4800107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De ligging is even goed dan die van pand B.</a:t>
            </a:r>
            <a:endParaRPr lang="en-US" sz="2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5086028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937760" y="4800107"/>
            <a:ext cx="3291840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 ligging is even goed als die van pand B.</a:t>
            </a:r>
            <a:endParaRPr lang="en-US" sz="2000" dirty="0"/>
          </a:p>
        </p:txBody>
      </p:sp>
      <p:sp>
        <p:nvSpPr>
          <p:cNvPr id="30" name="Text 19"/>
          <p:cNvSpPr txBox="1"/>
          <p:nvPr/>
        </p:nvSpPr>
        <p:spPr>
          <a:xfrm>
            <a:off x="8458200" y="4800107"/>
            <a:ext cx="3090672" cy="84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égalité : als (pas dan)</a:t>
            </a:r>
            <a:endParaRPr lang="en-US" sz="1800" dirty="0"/>
          </a:p>
        </p:txBody>
      </p:sp>
      <p:sp>
        <p:nvSpPr>
          <p:cNvPr id="31" name="Shape 20"/>
          <p:cNvSpPr/>
          <p:nvPr/>
        </p:nvSpPr>
        <p:spPr>
          <a:xfrm>
            <a:off x="548640" y="5755998"/>
            <a:ext cx="11091672" cy="535074"/>
          </a:xfrm>
          <a:prstGeom prst="roundRect">
            <a:avLst>
              <a:gd name="adj" fmla="val 10254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886375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51560" y="5755998"/>
            <a:ext cx="3291840" cy="53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in vergelijking van 2024</a:t>
            </a:r>
            <a:endParaRPr lang="en-US" sz="2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886375"/>
            <a:ext cx="274320" cy="27432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4937760" y="5755998"/>
            <a:ext cx="3291840" cy="53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 vergelijking met 2024</a:t>
            </a:r>
            <a:endParaRPr lang="en-US" sz="2000" dirty="0"/>
          </a:p>
        </p:txBody>
      </p:sp>
      <p:sp>
        <p:nvSpPr>
          <p:cNvPr id="36" name="Text 23"/>
          <p:cNvSpPr txBox="1"/>
          <p:nvPr/>
        </p:nvSpPr>
        <p:spPr>
          <a:xfrm>
            <a:off x="8458200" y="5755998"/>
            <a:ext cx="3090672" cy="53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préposition : met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Verbind de zinnen : hoe … hoe 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Reliez les deux phrases en </a:t>
            </a:r>
            <a:r>
              <a:rPr lang="en-US" sz="1600" b="1" i="1" dirty="0">
                <a:solidFill>
                  <a:schemeClr val="accent5"/>
                </a:solidFill>
              </a:rPr>
              <a:t>une corrélation</a:t>
            </a:r>
            <a:r>
              <a:rPr lang="en-US" sz="1600" i="1" dirty="0">
                <a:solidFill>
                  <a:schemeClr val="accent5"/>
                </a:solidFill>
              </a:rPr>
              <a:t>. Seul, 5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De woning ligt dicht bij het station. De prijs is hoog.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U wacht lang. De prijs daalt veel.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De verwachting is hoog. Het gesprek is moeilijk.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De tuin is groot. De woning is duur.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Het weer is mooi. De file is lang.</a:t>
            </a:r>
            <a:endParaRPr lang="en-US" sz="26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Hoe</a:t>
            </a:r>
            <a:r>
              <a:rPr lang="en-US" sz="1800" dirty="0">
                <a:solidFill>
                  <a:schemeClr val="tx1"/>
                </a:solidFill>
              </a:rPr>
              <a:t> + comparatif … , </a:t>
            </a:r>
            <a:r>
              <a:rPr lang="en-US" sz="1800" b="1" dirty="0">
                <a:solidFill>
                  <a:schemeClr val="tx1"/>
                </a:solidFill>
              </a:rPr>
              <a:t>hoe</a:t>
            </a:r>
            <a:r>
              <a:rPr lang="en-US" sz="1800" dirty="0">
                <a:solidFill>
                  <a:schemeClr val="tx1"/>
                </a:solidFill>
              </a:rPr>
              <a:t> + comparatif 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 part à la fin des deux membres.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comparatif vient juste après </a:t>
            </a:r>
            <a:r>
              <a:rPr lang="en-US" sz="1800" b="1" dirty="0">
                <a:solidFill>
                  <a:schemeClr val="tx1"/>
                </a:solidFill>
              </a:rPr>
              <a:t>hoe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Verbind de zinnen : hoe … hoe 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Reliez les deux phrases en </a:t>
            </a:r>
            <a:r>
              <a:rPr lang="en-US" sz="1600" b="1" i="1" dirty="0">
                <a:solidFill>
                  <a:schemeClr val="accent5"/>
                </a:solidFill>
              </a:rPr>
              <a:t>une corrélation</a:t>
            </a:r>
            <a:r>
              <a:rPr lang="en-US" sz="1600" i="1" dirty="0">
                <a:solidFill>
                  <a:schemeClr val="accent5"/>
                </a:solidFill>
              </a:rPr>
              <a:t>. Seul, 5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De woning ligt dicht bij het station. De prijs is hoog.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Hoe </a:t>
            </a:r>
            <a:r>
              <a:rPr lang="en-US" sz="1800" b="1" dirty="0">
                <a:solidFill>
                  <a:schemeClr val="accent3"/>
                </a:solidFill>
              </a:rPr>
              <a:t>dichter</a:t>
            </a:r>
            <a:r>
              <a:rPr lang="en-US" sz="1800" dirty="0">
                <a:solidFill>
                  <a:schemeClr val="accent3"/>
                </a:solidFill>
              </a:rPr>
              <a:t> de woning bij het station </a:t>
            </a:r>
            <a:r>
              <a:rPr lang="en-US" sz="1800" b="1" dirty="0">
                <a:solidFill>
                  <a:schemeClr val="accent3"/>
                </a:solidFill>
              </a:rPr>
              <a:t>ligt</a:t>
            </a:r>
            <a:r>
              <a:rPr lang="en-US" sz="1800" dirty="0">
                <a:solidFill>
                  <a:schemeClr val="accent3"/>
                </a:solidFill>
              </a:rPr>
              <a:t>, hoe </a:t>
            </a:r>
            <a:r>
              <a:rPr lang="en-US" sz="1800" b="1" dirty="0">
                <a:solidFill>
                  <a:schemeClr val="accent3"/>
                </a:solidFill>
              </a:rPr>
              <a:t>hoger</a:t>
            </a:r>
            <a:r>
              <a:rPr lang="en-US" sz="1800" dirty="0">
                <a:solidFill>
                  <a:schemeClr val="accent3"/>
                </a:solidFill>
              </a:rPr>
              <a:t> de prijs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U wacht lang. De prijs daalt veel.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Hoe </a:t>
            </a:r>
            <a:r>
              <a:rPr lang="en-US" sz="1800" b="1" dirty="0">
                <a:solidFill>
                  <a:schemeClr val="accent3"/>
                </a:solidFill>
              </a:rPr>
              <a:t>langer</a:t>
            </a:r>
            <a:r>
              <a:rPr lang="en-US" sz="1800" dirty="0">
                <a:solidFill>
                  <a:schemeClr val="accent3"/>
                </a:solidFill>
              </a:rPr>
              <a:t> u wacht, hoe </a:t>
            </a:r>
            <a:r>
              <a:rPr lang="en-US" sz="1800" b="1" dirty="0">
                <a:solidFill>
                  <a:schemeClr val="accent3"/>
                </a:solidFill>
              </a:rPr>
              <a:t>meer</a:t>
            </a:r>
            <a:r>
              <a:rPr lang="en-US" sz="1800" dirty="0">
                <a:solidFill>
                  <a:schemeClr val="accent3"/>
                </a:solidFill>
              </a:rPr>
              <a:t> de prijs </a:t>
            </a:r>
            <a:r>
              <a:rPr lang="en-US" sz="1800" b="1" dirty="0">
                <a:solidFill>
                  <a:schemeClr val="accent3"/>
                </a:solidFill>
              </a:rPr>
              <a:t>daalt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De verwachting is hoog. Het gesprek is moeilijk.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Hoe </a:t>
            </a:r>
            <a:r>
              <a:rPr lang="en-US" sz="1800" b="1" dirty="0">
                <a:solidFill>
                  <a:schemeClr val="accent3"/>
                </a:solidFill>
              </a:rPr>
              <a:t>hoger</a:t>
            </a:r>
            <a:r>
              <a:rPr lang="en-US" sz="1800" dirty="0">
                <a:solidFill>
                  <a:schemeClr val="accent3"/>
                </a:solidFill>
              </a:rPr>
              <a:t> de verwachting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, hoe </a:t>
            </a:r>
            <a:r>
              <a:rPr lang="en-US" sz="1800" b="1" dirty="0">
                <a:solidFill>
                  <a:schemeClr val="accent3"/>
                </a:solidFill>
              </a:rPr>
              <a:t>moeilijker</a:t>
            </a:r>
            <a:r>
              <a:rPr lang="en-US" sz="1800" dirty="0">
                <a:solidFill>
                  <a:schemeClr val="accent3"/>
                </a:solidFill>
              </a:rPr>
              <a:t> het gesprek </a:t>
            </a:r>
            <a:r>
              <a:rPr lang="en-US" sz="1800" b="1" dirty="0">
                <a:solidFill>
                  <a:schemeClr val="accent3"/>
                </a:solidFill>
              </a:rPr>
              <a:t>wordt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De tuin is groot. De woning is duur.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Hoe </a:t>
            </a:r>
            <a:r>
              <a:rPr lang="en-US" sz="1800" b="1" dirty="0">
                <a:solidFill>
                  <a:schemeClr val="accent3"/>
                </a:solidFill>
              </a:rPr>
              <a:t>groter</a:t>
            </a:r>
            <a:r>
              <a:rPr lang="en-US" sz="1800" dirty="0">
                <a:solidFill>
                  <a:schemeClr val="accent3"/>
                </a:solidFill>
              </a:rPr>
              <a:t> de tuin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, hoe </a:t>
            </a:r>
            <a:r>
              <a:rPr lang="en-US" sz="1800" b="1" dirty="0">
                <a:solidFill>
                  <a:schemeClr val="accent3"/>
                </a:solidFill>
              </a:rPr>
              <a:t>duurder</a:t>
            </a:r>
            <a:r>
              <a:rPr lang="en-US" sz="1800" dirty="0">
                <a:solidFill>
                  <a:schemeClr val="accent3"/>
                </a:solidFill>
              </a:rPr>
              <a:t> de woning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Het weer is mooi. De file is lang.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Hoe </a:t>
            </a:r>
            <a:r>
              <a:rPr lang="en-US" sz="1800" b="1" dirty="0">
                <a:solidFill>
                  <a:schemeClr val="accent3"/>
                </a:solidFill>
              </a:rPr>
              <a:t>mooier</a:t>
            </a:r>
            <a:r>
              <a:rPr lang="en-US" sz="1800" dirty="0">
                <a:solidFill>
                  <a:schemeClr val="accent3"/>
                </a:solidFill>
              </a:rPr>
              <a:t> het weer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, hoe </a:t>
            </a:r>
            <a:r>
              <a:rPr lang="en-US" sz="1800" b="1" dirty="0">
                <a:solidFill>
                  <a:schemeClr val="accent3"/>
                </a:solidFill>
              </a:rPr>
              <a:t>langer</a:t>
            </a:r>
            <a:r>
              <a:rPr lang="en-US" sz="1800" dirty="0">
                <a:solidFill>
                  <a:schemeClr val="accent3"/>
                </a:solidFill>
              </a:rPr>
              <a:t> de file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Hoe</a:t>
            </a:r>
            <a:r>
              <a:rPr lang="en-US" sz="1800" dirty="0">
                <a:solidFill>
                  <a:schemeClr val="tx1"/>
                </a:solidFill>
              </a:rPr>
              <a:t> + comparatif … , </a:t>
            </a:r>
            <a:r>
              <a:rPr lang="en-US" sz="1800" b="1" dirty="0">
                <a:solidFill>
                  <a:schemeClr val="tx1"/>
                </a:solidFill>
              </a:rPr>
              <a:t>hoe</a:t>
            </a:r>
            <a:r>
              <a:rPr lang="en-US" sz="1800" dirty="0">
                <a:solidFill>
                  <a:schemeClr val="tx1"/>
                </a:solidFill>
              </a:rPr>
              <a:t> + comparatif 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 part à la fin des deux membres.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comparatif vient juste après </a:t>
            </a:r>
            <a:r>
              <a:rPr lang="en-US" sz="1800" b="1" dirty="0">
                <a:solidFill>
                  <a:schemeClr val="tx1"/>
                </a:solidFill>
              </a:rPr>
              <a:t>hoe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· De vergelijkingstabel : les trois comparables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39259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LES DONNÉES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Janssens</a:t>
            </a:r>
            <a:r>
              <a:rPr lang="en-US" sz="1800" dirty="0">
                <a:solidFill>
                  <a:schemeClr val="tx1"/>
                </a:solidFill>
              </a:rPr>
              <a:t> (Vredestraat 24) : 140 m², 3 slpk., keuken verouderd, tuin 60 m².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Prix au m² (calculé) :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€ 3.319 ·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€ 3.486 ·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€ 3.164.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Analysez, puis répondez aux </a:t>
            </a:r>
            <a:r>
              <a:rPr lang="en-US" sz="1800" b="1" dirty="0">
                <a:solidFill>
                  <a:schemeClr val="tx1"/>
                </a:solidFill>
              </a:rPr>
              <a:t>4 questions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Couche 1 · seul puis binôme · 18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· De vergelijkingstabel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Questions 1 et 2 · seul, puis comparez avec votre binôme.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1. Complétez : Pand B is bijna </a:t>
            </a:r>
            <a:r>
              <a:rPr lang="en-US" sz="2600" dirty="0">
                <a:solidFill>
                  <a:schemeClr val="accent5"/>
                </a:solidFill>
              </a:rPr>
              <a:t>……………</a:t>
            </a:r>
            <a:r>
              <a:rPr lang="en-US" sz="2600" dirty="0">
                <a:solidFill>
                  <a:schemeClr val="tx1"/>
                </a:solidFill>
              </a:rPr>
              <a:t> duurder dan pand C. (en euros ou en %)</a:t>
            </a:r>
            <a:endParaRPr lang="en-US" sz="2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2. Formulez la corrélation du quartier avec hoe … hoe … à partir du pand B.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· De vergelijkingstabel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Questions 1 et 2 · seul, puis comparez avec votre binôme.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1. Complétez : Pand B is bijna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duurder dan pand C. (en euros ou en %)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Pand B is </a:t>
            </a:r>
            <a:r>
              <a:rPr lang="en-US" sz="2400" b="1" dirty="0">
                <a:solidFill>
                  <a:schemeClr val="accent3"/>
                </a:solidFill>
              </a:rPr>
              <a:t>€ 90.000</a:t>
            </a:r>
            <a:r>
              <a:rPr lang="en-US" sz="2400" dirty="0">
                <a:solidFill>
                  <a:schemeClr val="accent3"/>
                </a:solidFill>
              </a:rPr>
              <a:t> (ruim </a:t>
            </a:r>
            <a:r>
              <a:rPr lang="en-US" sz="2400" b="1" dirty="0">
                <a:solidFill>
                  <a:schemeClr val="accent3"/>
                </a:solidFill>
              </a:rPr>
              <a:t>22 %</a:t>
            </a:r>
            <a:r>
              <a:rPr lang="en-US" sz="2400" dirty="0">
                <a:solidFill>
                  <a:schemeClr val="accent3"/>
                </a:solidFill>
              </a:rPr>
              <a:t>) duurder dan pand C — ou, arrondi : </a:t>
            </a:r>
            <a:r>
              <a:rPr lang="en-US" sz="2400" b="1" dirty="0">
                <a:solidFill>
                  <a:schemeClr val="accent3"/>
                </a:solidFill>
              </a:rPr>
              <a:t>bijna € 100.000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2. Formulez la corrélation du quartier avec hoe … hoe … à partir du pand B.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Hoe </a:t>
            </a:r>
            <a:r>
              <a:rPr lang="en-US" sz="2400" b="1" dirty="0">
                <a:solidFill>
                  <a:schemeClr val="accent3"/>
                </a:solidFill>
              </a:rPr>
              <a:t>dichter</a:t>
            </a:r>
            <a:r>
              <a:rPr lang="en-US" sz="2400" dirty="0">
                <a:solidFill>
                  <a:schemeClr val="accent3"/>
                </a:solidFill>
              </a:rPr>
              <a:t> een pand bij het park </a:t>
            </a:r>
            <a:r>
              <a:rPr lang="en-US" sz="2400" b="1" dirty="0">
                <a:solidFill>
                  <a:schemeClr val="accent3"/>
                </a:solidFill>
              </a:rPr>
              <a:t>ligt</a:t>
            </a:r>
            <a:r>
              <a:rPr lang="en-US" sz="2400" dirty="0">
                <a:solidFill>
                  <a:schemeClr val="accent3"/>
                </a:solidFill>
              </a:rPr>
              <a:t>, hoe </a:t>
            </a:r>
            <a:r>
              <a:rPr lang="en-US" sz="2400" b="1" dirty="0">
                <a:solidFill>
                  <a:schemeClr val="accent3"/>
                </a:solidFill>
              </a:rPr>
              <a:t>duurder</a:t>
            </a:r>
            <a:r>
              <a:rPr lang="en-US" sz="2400" dirty="0">
                <a:solidFill>
                  <a:schemeClr val="accent3"/>
                </a:solidFill>
              </a:rPr>
              <a:t> het </a:t>
            </a:r>
            <a:r>
              <a:rPr lang="en-US" sz="2400" b="1" dirty="0">
                <a:solidFill>
                  <a:schemeClr val="accent3"/>
                </a:solidFill>
              </a:rPr>
              <a:t>is</a:t>
            </a:r>
            <a:r>
              <a:rPr lang="en-US" sz="2400" dirty="0">
                <a:solidFill>
                  <a:schemeClr val="accent3"/>
                </a:solidFill>
              </a:rPr>
              <a:t>. (B : vlak bij het park, € 3.486/m².)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· De vergelijkingstabel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Questions 3 et 4 · seul, puis comparez avec votre binôme.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3. Comparez le jardin Janssens (60 m²) au jardin du pand A (45 m²) avec … keer zo … als.</a:t>
            </a:r>
            <a:endParaRPr lang="en-US" sz="2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4. Quel pand est le meilleur comparable ? Justifiez avec even / net zo … als et une concession (weliswaar … maar).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· De vergelijkingstabel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Questions 3 et 4 · seul, puis comparez avec votre binôme.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3. Comparez le jardin Janssens (60 m²) au jardin du pand A (45 m²) avec … keer zo … als.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De tuin van Janssens is </a:t>
            </a:r>
            <a:r>
              <a:rPr lang="en-US" sz="2400" b="1" dirty="0">
                <a:solidFill>
                  <a:schemeClr val="accent3"/>
                </a:solidFill>
              </a:rPr>
              <a:t>ongeveer 1,3 keer zo groot als</a:t>
            </a:r>
            <a:r>
              <a:rPr lang="en-US" sz="2400" dirty="0">
                <a:solidFill>
                  <a:schemeClr val="accent3"/>
                </a:solidFill>
              </a:rPr>
              <a:t> die van pand A (60 m² tegenover 45 m²).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4. Quel pand est le meilleur comparable ? Justifiez avec even / net zo … als et une concession (weliswaar … maar).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Pand A: het is </a:t>
            </a:r>
            <a:r>
              <a:rPr lang="en-US" sz="2400" b="1" dirty="0">
                <a:solidFill>
                  <a:schemeClr val="accent3"/>
                </a:solidFill>
              </a:rPr>
              <a:t>net zo groot als</a:t>
            </a:r>
            <a:r>
              <a:rPr lang="en-US" sz="2400" dirty="0">
                <a:solidFill>
                  <a:schemeClr val="accent3"/>
                </a:solidFill>
              </a:rPr>
              <a:t> de woning Janssens (135 m² tegenover 140 m², drie slaapkamers) en het ligt in dezelfde straat. Het is </a:t>
            </a:r>
            <a:r>
              <a:rPr lang="en-US" sz="2400" b="1" dirty="0">
                <a:solidFill>
                  <a:schemeClr val="accent3"/>
                </a:solidFill>
              </a:rPr>
              <a:t>weliswaar</a:t>
            </a:r>
            <a:r>
              <a:rPr lang="en-US" sz="2400" dirty="0">
                <a:solidFill>
                  <a:schemeClr val="accent3"/>
                </a:solidFill>
              </a:rPr>
              <a:t> gerenoveerd, </a:t>
            </a:r>
            <a:r>
              <a:rPr lang="en-US" sz="2400" b="1" dirty="0">
                <a:solidFill>
                  <a:schemeClr val="accent3"/>
                </a:solidFill>
              </a:rPr>
              <a:t>maar</a:t>
            </a:r>
            <a:r>
              <a:rPr lang="en-US" sz="2400" dirty="0">
                <a:solidFill>
                  <a:schemeClr val="accent3"/>
                </a:solidFill>
              </a:rPr>
              <a:t> de ligging en de oppervlakte zijn bijna identiek.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2 · De vergelijking op papier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Couche 2 · écrit, seul · 12 min en classe (à finir à la maison). Rédigez la section </a:t>
            </a:r>
            <a:r>
              <a:rPr lang="en-US" sz="1700" b="1" i="1" dirty="0">
                <a:solidFill>
                  <a:schemeClr val="accent5"/>
                </a:solidFill>
              </a:rPr>
              <a:t>« Vergelijkingspunten »</a:t>
            </a:r>
            <a:r>
              <a:rPr lang="en-US" sz="1700" i="1" dirty="0">
                <a:solidFill>
                  <a:schemeClr val="accent5"/>
                </a:solidFill>
              </a:rPr>
              <a:t> du rapport : </a:t>
            </a:r>
            <a:r>
              <a:rPr lang="en-US" sz="1700" b="1" i="1" dirty="0">
                <a:solidFill>
                  <a:schemeClr val="accent5"/>
                </a:solidFill>
              </a:rPr>
              <a:t>8 à 10 phrases</a:t>
            </a:r>
            <a:r>
              <a:rPr lang="en-US" sz="1700" i="1" dirty="0">
                <a:solidFill>
                  <a:schemeClr val="accent5"/>
                </a:solidFill>
              </a:rPr>
              <a:t>, avec 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20065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972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220065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au moins </a:t>
            </a:r>
            <a:r>
              <a:rPr lang="en-US" sz="1900" b="1" dirty="0">
                <a:solidFill>
                  <a:schemeClr val="tx1"/>
                </a:solidFill>
              </a:rPr>
              <a:t>quatre structures</a:t>
            </a:r>
            <a:r>
              <a:rPr lang="en-US" sz="1900" dirty="0">
                <a:solidFill>
                  <a:schemeClr val="tx1"/>
                </a:solidFill>
              </a:rPr>
              <a:t> de la séquence : hoe … hoe · steeds · twee keer / half zo … als · in vergelijking met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297789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7449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7008" y="297789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 </a:t>
            </a:r>
            <a:r>
              <a:rPr lang="en-US" sz="1900" b="1" dirty="0">
                <a:solidFill>
                  <a:schemeClr val="tx1"/>
                </a:solidFill>
              </a:rPr>
              <a:t>comparatif ou un superlatif</a:t>
            </a:r>
            <a:r>
              <a:rPr lang="en-US" sz="1900" dirty="0">
                <a:solidFill>
                  <a:schemeClr val="tx1"/>
                </a:solidFill>
              </a:rPr>
              <a:t> du palier 4 : </a:t>
            </a:r>
            <a:r>
              <a:rPr lang="en-US" sz="1900" i="1" dirty="0">
                <a:solidFill>
                  <a:schemeClr val="tx1"/>
                </a:solidFill>
              </a:rPr>
              <a:t>groter dan · het duurst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375513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17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07008" y="375513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une </a:t>
            </a:r>
            <a:r>
              <a:rPr lang="en-US" sz="1900" b="1" dirty="0">
                <a:solidFill>
                  <a:schemeClr val="tx1"/>
                </a:solidFill>
              </a:rPr>
              <a:t>relative</a:t>
            </a:r>
            <a:r>
              <a:rPr lang="en-US" sz="1900" dirty="0">
                <a:solidFill>
                  <a:schemeClr val="tx1"/>
                </a:solidFill>
              </a:rPr>
              <a:t> (palier 5) : </a:t>
            </a:r>
            <a:r>
              <a:rPr lang="en-US" sz="1900" i="1" dirty="0">
                <a:solidFill>
                  <a:schemeClr val="tx1"/>
                </a:solidFill>
              </a:rPr>
              <a:t>een pand dat … · een woning die …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548640" y="453237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2897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07008" y="453237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 </a:t>
            </a:r>
            <a:r>
              <a:rPr lang="en-US" sz="1900" b="1" dirty="0">
                <a:solidFill>
                  <a:schemeClr val="tx1"/>
                </a:solidFill>
              </a:rPr>
              <a:t>connecteur</a:t>
            </a:r>
            <a:r>
              <a:rPr lang="en-US" sz="1900" dirty="0">
                <a:solidFill>
                  <a:schemeClr val="tx1"/>
                </a:solidFill>
              </a:rPr>
              <a:t> du palier 7 : </a:t>
            </a:r>
            <a:r>
              <a:rPr lang="en-US" sz="1900" i="1" dirty="0">
                <a:solidFill>
                  <a:schemeClr val="tx1"/>
                </a:solidFill>
              </a:rPr>
              <a:t>daarentegen · echter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548640" y="530961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50621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07008" y="530961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une </a:t>
            </a:r>
            <a:r>
              <a:rPr lang="en-US" sz="1900" b="1" dirty="0">
                <a:solidFill>
                  <a:schemeClr val="tx1"/>
                </a:solidFill>
              </a:rPr>
              <a:t>fourchette</a:t>
            </a:r>
            <a:r>
              <a:rPr lang="en-US" sz="1900" dirty="0">
                <a:solidFill>
                  <a:schemeClr val="tx1"/>
                </a:solidFill>
              </a:rPr>
              <a:t> pour conclure : </a:t>
            </a:r>
            <a:r>
              <a:rPr lang="en-US" sz="1900" i="1" dirty="0">
                <a:solidFill>
                  <a:schemeClr val="tx1"/>
                </a:solidFill>
              </a:rPr>
              <a:t>De marktwaarde ligt tussen … en …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2 · Modèle de « Vergelijkingspunten »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Modèle de 8 phrases (à adapter : vos phrases doivent être vraies pour votre dossier).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Pand A, </a:t>
            </a:r>
            <a:r>
              <a:rPr lang="en-US" sz="1900" b="1" dirty="0">
                <a:solidFill>
                  <a:schemeClr val="tx1"/>
                </a:solidFill>
              </a:rPr>
              <a:t>dat</a:t>
            </a:r>
            <a:r>
              <a:rPr lang="en-US" sz="1900" dirty="0">
                <a:solidFill>
                  <a:schemeClr val="tx1"/>
                </a:solidFill>
              </a:rPr>
              <a:t> in dezelfde straat ligt, is </a:t>
            </a:r>
            <a:r>
              <a:rPr lang="en-US" sz="1900" b="1" dirty="0">
                <a:solidFill>
                  <a:schemeClr val="tx1"/>
                </a:solidFill>
              </a:rPr>
              <a:t>net zo groot als</a:t>
            </a:r>
            <a:r>
              <a:rPr lang="en-US" sz="1900" dirty="0">
                <a:solidFill>
                  <a:schemeClr val="tx1"/>
                </a:solidFill>
              </a:rPr>
              <a:t> de woning Janssens (135 m² tegenover 140 m²).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Het is weliswaar gerenoveerd, maar de tuin is kleiner: die van Janssens is ongeveer </a:t>
            </a:r>
            <a:r>
              <a:rPr lang="en-US" sz="1900" b="1" dirty="0">
                <a:solidFill>
                  <a:schemeClr val="tx1"/>
                </a:solidFill>
              </a:rPr>
              <a:t>1,3 keer zo groot als</a:t>
            </a:r>
            <a:r>
              <a:rPr lang="en-US" sz="1900" dirty="0">
                <a:solidFill>
                  <a:schemeClr val="tx1"/>
                </a:solidFill>
              </a:rPr>
              <a:t> die van pand A.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 keuken van pand A is nieuw; die van de woning Janssens is </a:t>
            </a:r>
            <a:r>
              <a:rPr lang="en-US" sz="1900" b="1" dirty="0">
                <a:solidFill>
                  <a:schemeClr val="tx1"/>
                </a:solidFill>
              </a:rPr>
              <a:t>daarentegen</a:t>
            </a:r>
            <a:r>
              <a:rPr lang="en-US" sz="1900" dirty="0">
                <a:solidFill>
                  <a:schemeClr val="tx1"/>
                </a:solidFill>
              </a:rPr>
              <a:t> verouderd.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Pand B is </a:t>
            </a:r>
            <a:r>
              <a:rPr lang="en-US" sz="1900" b="1" dirty="0">
                <a:solidFill>
                  <a:schemeClr val="tx1"/>
                </a:solidFill>
              </a:rPr>
              <a:t>het duurste</a:t>
            </a:r>
            <a:r>
              <a:rPr lang="en-US" sz="1900" dirty="0">
                <a:solidFill>
                  <a:schemeClr val="tx1"/>
                </a:solidFill>
              </a:rPr>
              <a:t> pand van de drie: € 495.000, dus € 90.000 meer dan pand C.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Hoe dichter</a:t>
            </a:r>
            <a:r>
              <a:rPr lang="en-US" sz="1900" dirty="0">
                <a:solidFill>
                  <a:schemeClr val="tx1"/>
                </a:solidFill>
              </a:rPr>
              <a:t> een pand bij het park </a:t>
            </a:r>
            <a:r>
              <a:rPr lang="en-US" sz="1900" b="1" dirty="0">
                <a:solidFill>
                  <a:schemeClr val="tx1"/>
                </a:solidFill>
              </a:rPr>
              <a:t>ligt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b="1" dirty="0">
                <a:solidFill>
                  <a:schemeClr val="tx1"/>
                </a:solidFill>
              </a:rPr>
              <a:t>hoe hoger</a:t>
            </a:r>
            <a:r>
              <a:rPr lang="en-US" sz="1900" dirty="0">
                <a:solidFill>
                  <a:schemeClr val="tx1"/>
                </a:solidFill>
              </a:rPr>
              <a:t> de prijs per vierkante meter: € 3.486 voor pand B tegenover € 3.164 voor pand C.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 vergelijking met</a:t>
            </a:r>
            <a:r>
              <a:rPr lang="en-US" sz="1900" dirty="0">
                <a:solidFill>
                  <a:schemeClr val="tx1"/>
                </a:solidFill>
              </a:rPr>
              <a:t> pand B is de woning Janssens iets kleiner (140 m² tegenover 142 m²) en heeft ze één slaapkamer minder.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 vraag naar tuinen wordt </a:t>
            </a:r>
            <a:r>
              <a:rPr lang="en-US" sz="1900" b="1" dirty="0">
                <a:solidFill>
                  <a:schemeClr val="tx1"/>
                </a:solidFill>
              </a:rPr>
              <a:t>steeds groter</a:t>
            </a:r>
            <a:r>
              <a:rPr lang="en-US" sz="1900" dirty="0">
                <a:solidFill>
                  <a:schemeClr val="tx1"/>
                </a:solidFill>
              </a:rPr>
              <a:t>: de tuin van 60 m² is dus een troef.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Kortom: de marktwaarde ligt tussen € 445.000 en € 465.000.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D2 · Trein, auto of carpool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Comparer, c’est le cœur de l’estimation… et de toutes nos petites décisions. Stef et Lotte hésitent : comment aller à la mer à deux, aller-retour ? (données fictives)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834640"/>
                <a:gridCol w="322783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REISTIJD (enkele reis)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PRIJS (2 pers., heen en terug)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BIJZONDER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 trein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 u 10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€ 62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lezen, slapen, geen file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 auto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u 30 zonder file, 3 u met file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€ 90 (brandstof en parkeren)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flexibel, maar de E40…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Carpoolen (app)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 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€ 30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goedkoop, maar vertrek om 7 uur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D2 · Trein, auto of carpool ? —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6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1a. De auto is </a:t>
            </a:r>
            <a:r>
              <a:rPr lang="en-US" sz="2600" dirty="0">
                <a:solidFill>
                  <a:schemeClr val="accent5"/>
                </a:solidFill>
              </a:rPr>
              <a:t>……………</a:t>
            </a:r>
            <a:r>
              <a:rPr lang="en-US" sz="2600" dirty="0">
                <a:solidFill>
                  <a:schemeClr val="tx1"/>
                </a:solidFill>
              </a:rPr>
              <a:t> keer zo duur als carpoolen.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1b. Met file duurt de rit </a:t>
            </a:r>
            <a:r>
              <a:rPr lang="en-US" sz="2600" dirty="0">
                <a:solidFill>
                  <a:schemeClr val="accent5"/>
                </a:solidFill>
              </a:rPr>
              <a:t>……………</a:t>
            </a:r>
            <a:r>
              <a:rPr lang="en-US" sz="2600" dirty="0">
                <a:solidFill>
                  <a:schemeClr val="tx1"/>
                </a:solidFill>
              </a:rPr>
              <a:t> keer zo lang als zonder file.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2. Formulez une corrélation hoe … hoe … à partir de « Bijzonder » (la file, le prix, l’heure de départ).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3. Comparez train et carpool avec in vergelijking met et weliswaar … maar.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D2 · Trein, auto of carpool ? —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6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1a. De auto is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keer zo duur als carpoolen.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De auto is </a:t>
            </a:r>
            <a:r>
              <a:rPr lang="en-US" sz="1900" b="1" dirty="0">
                <a:solidFill>
                  <a:schemeClr val="accent3"/>
                </a:solidFill>
              </a:rPr>
              <a:t>drie</a:t>
            </a:r>
            <a:r>
              <a:rPr lang="en-US" sz="1900" dirty="0">
                <a:solidFill>
                  <a:schemeClr val="accent3"/>
                </a:solidFill>
              </a:rPr>
              <a:t> keer zo duur als carpoolen (€ 90 : € 30).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1b. Met file duurt de rit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keer zo lang als zonder file.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Met file duurt de rit </a:t>
            </a:r>
            <a:r>
              <a:rPr lang="en-US" sz="1900" b="1" dirty="0">
                <a:solidFill>
                  <a:schemeClr val="accent3"/>
                </a:solidFill>
              </a:rPr>
              <a:t>twee</a:t>
            </a:r>
            <a:r>
              <a:rPr lang="en-US" sz="1900" dirty="0">
                <a:solidFill>
                  <a:schemeClr val="accent3"/>
                </a:solidFill>
              </a:rPr>
              <a:t> keer zo lang als zonder file (3 u : 1 u 30).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2. Formulez une corrélation hoe … hoe … à partir de « Bijzonder » (la file, le prix, l’heure de départ).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Hoe </a:t>
            </a:r>
            <a:r>
              <a:rPr lang="en-US" sz="1900" b="1" dirty="0">
                <a:solidFill>
                  <a:schemeClr val="accent3"/>
                </a:solidFill>
              </a:rPr>
              <a:t>meer</a:t>
            </a:r>
            <a:r>
              <a:rPr lang="en-US" sz="1900" dirty="0">
                <a:solidFill>
                  <a:schemeClr val="accent3"/>
                </a:solidFill>
              </a:rPr>
              <a:t> file er is, hoe </a:t>
            </a:r>
            <a:r>
              <a:rPr lang="en-US" sz="1900" b="1" dirty="0">
                <a:solidFill>
                  <a:schemeClr val="accent3"/>
                </a:solidFill>
              </a:rPr>
              <a:t>langer</a:t>
            </a:r>
            <a:r>
              <a:rPr lang="en-US" sz="1900" dirty="0">
                <a:solidFill>
                  <a:schemeClr val="accent3"/>
                </a:solidFill>
              </a:rPr>
              <a:t> de rit </a:t>
            </a:r>
            <a:r>
              <a:rPr lang="en-US" sz="1900" b="1" dirty="0">
                <a:solidFill>
                  <a:schemeClr val="accent3"/>
                </a:solidFill>
              </a:rPr>
              <a:t>duurt</a:t>
            </a:r>
            <a:r>
              <a:rPr lang="en-US" sz="1900" dirty="0">
                <a:solidFill>
                  <a:schemeClr val="accent3"/>
                </a:solidFill>
              </a:rPr>
              <a:t>. · Hoe </a:t>
            </a:r>
            <a:r>
              <a:rPr lang="en-US" sz="1900" b="1" dirty="0">
                <a:solidFill>
                  <a:schemeClr val="accent3"/>
                </a:solidFill>
              </a:rPr>
              <a:t>goedkoper</a:t>
            </a:r>
            <a:r>
              <a:rPr lang="en-US" sz="1900" dirty="0">
                <a:solidFill>
                  <a:schemeClr val="accent3"/>
                </a:solidFill>
              </a:rPr>
              <a:t> de reis is, hoe </a:t>
            </a:r>
            <a:r>
              <a:rPr lang="en-US" sz="1900" b="1" dirty="0">
                <a:solidFill>
                  <a:schemeClr val="accent3"/>
                </a:solidFill>
              </a:rPr>
              <a:t>vroeger</a:t>
            </a:r>
            <a:r>
              <a:rPr lang="en-US" sz="1900" dirty="0">
                <a:solidFill>
                  <a:schemeClr val="accent3"/>
                </a:solidFill>
              </a:rPr>
              <a:t> je </a:t>
            </a:r>
            <a:r>
              <a:rPr lang="en-US" sz="1900" b="1" dirty="0">
                <a:solidFill>
                  <a:schemeClr val="accent3"/>
                </a:solidFill>
              </a:rPr>
              <a:t>moet vertrekken</a:t>
            </a:r>
            <a:r>
              <a:rPr lang="en-US" sz="1900" dirty="0">
                <a:solidFill>
                  <a:schemeClr val="accent3"/>
                </a:solidFill>
              </a:rPr>
              <a:t>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3. Comparez train et carpool avec in vergelijking met et weliswaar … maar.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b="1" dirty="0">
                <a:solidFill>
                  <a:schemeClr val="accent3"/>
                </a:solidFill>
              </a:rPr>
              <a:t>In vergelijking met</a:t>
            </a:r>
            <a:r>
              <a:rPr lang="en-US" sz="1900" dirty="0">
                <a:solidFill>
                  <a:schemeClr val="accent3"/>
                </a:solidFill>
              </a:rPr>
              <a:t> de trein is carpoolen </a:t>
            </a:r>
            <a:r>
              <a:rPr lang="en-US" sz="1900" b="1" dirty="0">
                <a:solidFill>
                  <a:schemeClr val="accent3"/>
                </a:solidFill>
              </a:rPr>
              <a:t>weliswaar</a:t>
            </a:r>
            <a:r>
              <a:rPr lang="en-US" sz="1900" dirty="0">
                <a:solidFill>
                  <a:schemeClr val="accent3"/>
                </a:solidFill>
              </a:rPr>
              <a:t> goedkoper (€ 30 tegenover € 62), </a:t>
            </a:r>
            <a:r>
              <a:rPr lang="en-US" sz="1900" b="1" dirty="0">
                <a:solidFill>
                  <a:schemeClr val="accent3"/>
                </a:solidFill>
              </a:rPr>
              <a:t>maar</a:t>
            </a:r>
            <a:r>
              <a:rPr lang="en-US" sz="1900" dirty="0">
                <a:solidFill>
                  <a:schemeClr val="accent3"/>
                </a:solidFill>
              </a:rPr>
              <a:t> je moet wel om 7 uur vertrekken.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D2 · Décision à deux et autonomie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Couche 3 · binômes · 3 minutes de débat, puis un travail personnel.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Piochez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Chacun pioche </a:t>
            </a:r>
            <a:r>
              <a:rPr lang="en-US" sz="1500" b="1" dirty="0">
                <a:solidFill>
                  <a:schemeClr val="tx1"/>
                </a:solidFill>
              </a:rPr>
              <a:t>une contrainte</a:t>
            </a:r>
            <a:r>
              <a:rPr lang="en-US" sz="1500" dirty="0">
                <a:solidFill>
                  <a:schemeClr val="tx1"/>
                </a:solidFill>
              </a:rPr>
              <a:t> :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① budget serré · ② pressé·e · ③ convictions écologiques.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Défendez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Défendez votre choix avec </a:t>
            </a:r>
            <a:r>
              <a:rPr lang="en-US" sz="1500" b="1" dirty="0">
                <a:solidFill>
                  <a:schemeClr val="tx1"/>
                </a:solidFill>
              </a:rPr>
              <a:t>au moins trois structures comparatives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hoe … hoe · twee keer zo … als · in vergelijking met</a:t>
            </a:r>
            <a:endParaRPr lang="en-US" sz="1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Accordez-vous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Vous </a:t>
            </a:r>
            <a:r>
              <a:rPr lang="en-US" sz="1500" b="1" dirty="0">
                <a:solidFill>
                  <a:schemeClr val="tx1"/>
                </a:solidFill>
              </a:rPr>
              <a:t>devez</a:t>
            </a:r>
            <a:r>
              <a:rPr lang="en-US" sz="1500" dirty="0">
                <a:solidFill>
                  <a:schemeClr val="tx1"/>
                </a:solidFill>
              </a:rPr>
              <a:t> vous mettre d’accord :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Zullen we de trein nemen?</a:t>
            </a:r>
            <a:endParaRPr lang="en-US" sz="15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17627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Autonomie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Comparez </a:t>
            </a:r>
            <a:r>
              <a:rPr lang="en-US" sz="1500" b="1" dirty="0">
                <a:solidFill>
                  <a:schemeClr val="tx1"/>
                </a:solidFill>
              </a:rPr>
              <a:t>deux options réelles</a:t>
            </a:r>
            <a:r>
              <a:rPr lang="en-US" sz="1500" dirty="0">
                <a:solidFill>
                  <a:schemeClr val="tx1"/>
                </a:solidFill>
              </a:rPr>
              <a:t> de votre vie (deux supermarchés, deux abonnements, deux salles de sport) en </a:t>
            </a:r>
            <a:r>
              <a:rPr lang="en-US" sz="1500" b="1" dirty="0">
                <a:solidFill>
                  <a:schemeClr val="tx1"/>
                </a:solidFill>
              </a:rPr>
              <a:t>4 phrases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Modèle — </a:t>
            </a:r>
            <a:r>
              <a:rPr lang="en-US" sz="1700" i="1" dirty="0">
                <a:solidFill>
                  <a:schemeClr val="tx1"/>
                </a:solidFill>
              </a:rPr>
              <a:t>Supermarkt A ligt half zo ver van mijn huis als supermarkt B, maar hij is twee keer zo duur. Hoe vaker ik naar B ga, hoe meer ik bespaar.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18 : décrire une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évolution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prijzen zijn met 4,2 % gestegen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puis lire et écrire un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schattingsverslag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Terminer la </a:t>
            </a:r>
            <a:r>
              <a:rPr lang="en-US" sz="1700" b="1" dirty="0">
                <a:solidFill>
                  <a:schemeClr val="tx1"/>
                </a:solidFill>
              </a:rPr>
              <a:t>TAAK 2</a:t>
            </a:r>
            <a:r>
              <a:rPr lang="en-US" sz="1700" dirty="0">
                <a:solidFill>
                  <a:schemeClr val="tx1"/>
                </a:solidFill>
              </a:rPr>
              <a:t> (8 à 10 phrases) avec la fourchette finale.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D2</a:t>
            </a:r>
            <a:r>
              <a:rPr lang="en-US" sz="1700" dirty="0">
                <a:solidFill>
                  <a:schemeClr val="tx1"/>
                </a:solidFill>
              </a:rPr>
              <a:t> : comparer deux options réelles de votre vie en 4 phrases.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six </a:t>
            </a:r>
            <a:r>
              <a:rPr lang="en-US" sz="1700" b="1" dirty="0">
                <a:solidFill>
                  <a:schemeClr val="tx1"/>
                </a:solidFill>
              </a:rPr>
              <a:t>structures de comparaison</a:t>
            </a:r>
            <a:r>
              <a:rPr lang="en-US" sz="1700" dirty="0">
                <a:solidFill>
                  <a:schemeClr val="tx1"/>
                </a:solidFill>
              </a:rPr>
              <a:t> (p. 8), avec un exemple personnel pour chacune.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Une phrase à voix haute avec </a:t>
            </a:r>
            <a:r>
              <a:rPr lang="en-US" sz="1600" b="1" dirty="0">
                <a:solidFill>
                  <a:schemeClr val="bg1"/>
                </a:solidFill>
              </a:rPr>
              <a:t>twee keer zo … als</a:t>
            </a:r>
            <a:r>
              <a:rPr lang="en-US" sz="1600" dirty="0">
                <a:solidFill>
                  <a:schemeClr val="bg1"/>
                </a:solidFill>
              </a:rPr>
              <a:t> ou </a:t>
            </a:r>
            <a:r>
              <a:rPr lang="en-US" sz="1600" b="1" dirty="0">
                <a:solidFill>
                  <a:schemeClr val="bg1"/>
                </a:solidFill>
              </a:rPr>
              <a:t>hoe … hoe …</a:t>
            </a:r>
            <a:r>
              <a:rPr lang="en-US" sz="1600" dirty="0">
                <a:solidFill>
                  <a:schemeClr val="bg1"/>
                </a:solidFill>
              </a:rPr>
              <a:t> sur votre logement ou votre trajet.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17 — Vergelijken en onderbouwen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2026-10-03T21:59:52Z</dcterms:created>
  <dcterms:modified xsi:type="dcterms:W3CDTF">2026-10-03T21:59:52Z</dcterms:modified>
</cp:coreProperties>
</file>