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39bbcb2-7692-8b68-cd9a-477d37307a2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ôture" id="{e1c5aab9-34fd-fbf2-39ac-b2f5141af945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séance du palier 8, le dernier de la série : prospecter, estimer, convaincre. Objectifs : présenter les six piliers du palier, lire le dialogue d’ouverture (Yasmina et Stef préparent l’estimation de la maison de meneer Janssens) et l’Avonddialoog (Stef et Lotte planifient un week-end à la mer, fil rouge de l’activité Dagelijks leven), puis travailler la séquence 8.1 : les grands nombres, les décimales, les pourcentages et l’heure à l’oral. Exercices 1 et 2, TAAK 1 (le prospectiegesprek) et D1 (Hoe laat ? Welk spoor ? Hoeveel ?). Pages couvertes : p. 1 à 6a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 : séance dense, puisqu’elle ouvre le palier. Pages 1 à 6a du livret. Priorités si le temps manque : conserver le tableau écrit/oral, le piège 47/74, l’exercice 2, la TAAK 1 et le piège de half negen (D1). Le bonus (modèle d’appel) peut être projeté en 2 minutes, sans lecture intégrale. L’Avonddialoog n’a qu’une écoute de repérage : la correction se fait sur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des quatre outils du livret qui seront réemployés dans les tâches du palier : relative (palier 5), zou et passif (palier 6), concession weliswaar … maar (palier 7), comparatif/superlatif (palier 4). Adapter aux acquis réels de la dernière séance du palier 7. Phrase 1 : le verbe conjugué part en fin de relative (« die vergelijkbaar is met de uwe »). Phrase 5 : duur → duurste (e final ajouté, une seule syllabe d’appui).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des quatre outils du livret qui seront réemployés dans les tâches du palier : relative (palier 5), zou et passif (palier 6), concession weliswaar … maar (palier 7), comparatif/superlatif (palier 4). Adapter aux acquis réels de la dernière séance du palier 7. Phrase 1 : le verbe conjugué part en fin de relative (« die vergelijkbaar is met de uwe »). Phrase 5 : duur → duurste (e final ajouté, une seule syllabe d’appui).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des six piliers du palier (livret p. 1). Insister sur le côté « dernier palier » : autonomie maximale, la plupart des activités partent des données des étudiants (leurs trajets, leurs prix, leurs adresses). Chaque séquence se termine par une activité Dagelijks leven (D1 à D5) ; la tâche finale, TAAK 6, réunit les cinq tâches précédentes.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lecture par le professeur, deuxième lecture en binôme (Yasmina / Stef), puis inversion. Les lignes ne sont pas numérotées dans le livret ; la numérotation ci-contre (une réplique = une ligne) correspond aux « Focus » du livret : lignes 3, 5 et 7 pour la séquence 8.1 (chiffres) et pour la séquence 8.2 (comparaisons). Vocabulaire à éclaircir : gelijkaardig (BE) = vergelijkbaar ; onderbouwen = étayer ; de opdracht = le mandat (ici). Question de compréhension orale rapide : que veut meneer Janssens (€ 500.000) et que disent les ventes comparables (€ 450.000) ? Ce dialogue est le fil rouge de tout le palier : on y reviendra à chaque séquence.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 rouge de la vie quotidienne : un week-end à la mer avec Lotte, la sœur de Stef. Cinq activités Dagelijks leven (D1 à D5) y sont rattachées : train (D1), choix du transport (D2), météo (D3), avis du restaurant (D4), addition (D5). Lecture par le professeur, livres fermés : c’est la première écoute de l’exercice suivant (notez les chiffres entendus). Lire une seconde fois en binôme pour finir. Rappel : kroketten = croquettes (de garnaalkroket) ; « Dat wordt smullen ! » = on va se régaler.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se déduisent du texte de l’Avonddialoog (présent dans le livret). Faire écouter deux fois, puis corriger en demandant à chaque étudiant de dire le chiffre en néerlandais. Onze chiffres au total (120, 2 minutes, 90, un tiers, 2×, 8.40, 22, 17, 40 %, 4,5, plus de 1000) : l’objectif du livret est huit. Piège posé par le livret : à quelle heure part le train de Stef ? Réponse : « tien over half negen » = 8.40 (confirmée en D1, tableau des départs : De Panne 8.40). Réponses alternatives acceptées pour la 2e écoute : comparatifs = twee keer zo groot als / hoe mooier het weer, hoe langer de file ; verbes d’évolution = gestegen / daalt (dalen, stijgen).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se déduisent du texte de l’Avonddialoog (présent dans le livret). Faire écouter deux fois, puis corriger en demandant à chaque étudiant de dire le chiffre en néerlandais. Onze chiffres au total (120, 2 minutes, 90, un tiers, 2×, 8.40, 22, 17, 40 %, 4,5, plus de 1000) : l’objectif du livret est huit. Piège posé par le livret : à quelle heure part le train de Stef ? Réponse : « tien over half negen » = 8.40 (confirmée en D1, tableau des départs : De Panne 8.40). Réponses alternatives acceptées pour la 2e écoute : comparatifs = twee keer zo groot als / hoe mooier het weer, hoe langer de file ; verbes d’évolution = gestegen / daalt (dalen, stijgen).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: komma (jamais « punt » à l’oral) ; vierkante meter reste au singulier après un nombre (honderdveertig vierkante meter). Annoncer que le néerlandais assemble les nombres à sa façon : les unités avant les dizaines (vijfentwintig = cinq-et-vingt). Faire remarquer les trois formes du focus : nombre + unité, décimale avec komma, approximation avec rond de. L’illustration montre Yasmina et Stef devant le tableau avec ces trois bulles.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en chœur les deux colonnes. Le nombre néerlandais s’écrit en un seul mot jusqu’à 999.999 (vierhonderdvijfentwintigduizend). Le « en » ne relie que les unités et les dizaines (zeven-en-dertig) ; entre centaines et le reste : rien. Tréma obligatoire quand « en » suit une voyelle e : tweeëntwintig, drieëntwintig, tweeënnegentig. Faire dire à la volée : 25, 47, 92, 125, 450, 437.500.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référence à copier dans le cahier. À l’oral, on ne prononce pas le point des milliers : 437.500 = « vierhonderdzevenendertigduizend vijfhonderd ». Dans la colonne de droite du livret, « pas de « et » » se comprend entre « duizend » et le reste, et entre centaines et dizaines. Fractions : de helft (½), een derde, een kwart, twee derde. Faire lire chaque ligne à voix haute, d’abord le professeur, puis la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réflexe de contrôle professionnel : on répète toujours un numéro ou un prix par chiffres (« Dus: vier – zeven ? »). Vérifier à l’oral : zevenenveertig = 47 ; vierenzeventig = 74. Le néerlandais place toujours l’unité avant la dizaine (4 + en + 70 = vierenzeventig), y compris pour 70 à 99. Faire écrire au tableau quelques paires piégeuses : 13/30, 14/40, 16/60, 47/74.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projetée pendant la dictée. La transcription n° 1 (annexe du livret) n’est pas reproduite dans le livret : lire le texte du dossier du professeur, deux fois ; la solution dépend de ce texte et n’est donc pas donnée ici. À défaut d’annexe, dicter dix données du dialogue 8 et de la TAAK 1 (140 m², 4,2 %, 450.000, 500.000, 448.000 …). La « boucle du contrôle professionnel » : l’étudiant relit ses chiffres, le binôme les note, on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 : 90 secondes pour les dix lignes, un binôme à la fois ; l’observateur écoute les inversions (negenentachtig, zevenentachtig …). Le livret présente la ligne 10 déjà écrite en toutes lettres (« twee derde van de stemmen ») : la correction montre sa forme chiffrée. Ligne 5 : « elfhonderdvijftig » est la lecture courante des prix entre 1.100 et 1.999 ; « duizend honderdvijftig » est aussi correct. Correction : faire lire chaque réponse à voix haute en chœur.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orale. Les erreurs typiques : 89 lu « tachtig-negen », 512.500 lu avec « en » (✗ vijfhonderd en twaalf…). Rappeler : pas de « en » entre centaines et dizaines, ni avant duizend.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3 · binômes, deux rondes de 5 minutes avec inversion des rôles (12 à 14 minutes en tout, observateur compris : prévoir des trios). Le makelaar vouvoie (u-vorm). La structure à placer est la relative de crédibilité du palier 5 : « een woning die vergelijkbaar is met de uwe » (verbe conjugué à la fin). Distribuer une carte de situation au propriétaire sans la montrer à l’agent. Passer dans les groupes : relever deux ou trois chiffres mal dits (47/74), à reprendre en fin d’activité.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: un modèle d’appel pour la TAAK 1, à projeter après les jeux de rôle (ou avant, pour les groupes en difficulté). À repérer avec la classe : le chiffre d’accroche (ligne 1), la demande polie avec zou (ligne 3), la relative « woningen die vergelijkbaar zijn met de uwe » (ligne 3), les approximations « rond de », « ongeveer », « gemiddeld » (lignes 4 à 7) et le contrôle de l’heure (ligne 8 : half tien = 9.30, comme au vertrekbord de D1). Calcul : 448.000 ÷ 135 m² ≈ 3.319 €/m² (le comparable de la séance 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piège le plus célèbre du néerlandais pour un francophone. Dessiner un cadran au tableau : half negen = à mi-chemin de neuf heures (entre 8 h et 9 h). Les gares et la radio annoncent l’heure officielle (zeventien uur tweeënveertig = 17.42) ; la vie de tous les jours utilise kwart over / half / kwart voor. 8.25 = vijf voor half negen ; 8.35 = vijf over half negen. Faire dire d’autres heures à la volée : 7.20 (tien voor half acht), 10.40 (tien over half elf), 12.10 (tien over twaalf). Rappeler le piège posé par l’Avonddialoog : « tien over half negen » = 8.40.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piège le plus célèbre du néerlandais pour un francophone. Dessiner un cadran au tableau : half negen = à mi-chemin de neuf heures (entre 8 h et 9 h). Les gares et la radio annoncent l’heure officielle (zeventien uur tweeënveertig = 17.42) ; la vie de tous les jours utilise kwart over / half / kwart voor. 8.25 = vijf voor half negen ; 8.35 = vijf over half negen. Faire dire d’autres heures à la volée : 7.20 (tien voor half acht), 10.40 (tien over half elf), 12.10 (tien over twaalf). Rappeler le piège posé par l’Avonddialoog : « tien over half negen » = 8.40.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d’information gap, binômes, 10 minutes. Le tableau complet est projeté en correction. Bord A : De Panne 8.40 ; Oostende spoor 9 · € 28,60 ; Knokke 9.25 · € 30,20 ; Blankenberge spoor 7. Bord B : De Panne spoor 12 · € 31,40 ; Oostende 9.15 ; Knokke spoor 15 ; Blankenberge 9.55 · € 29,80. Les élèves posent les questions du livret et répondent en heure de tous les jours (« om tien over half negen »). Les prix se disent : eenendertig euro veertig (31,40) ; achtentwintig euro zestig ; dertig euro twintig ; negenentwintig euro tachtig. Correction : 8.40 confirme la réponse au piège de l’Avonddialoog (le train de Stef).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d’information gap, binômes, 10 minutes. Le tableau complet est projeté en correction. Bord A : De Panne 8.40 ; Oostende spoor 9 · € 28,60 ; Knokke 9.25 · € 30,20 ; Blankenberge spoor 7. Bord B : De Panne spoor 12 · € 31,40 ; Oostende 9.15 ; Knokke spoor 15 ; Blankenberge 9.55 · € 29,80. Les élèves posent les questions du livret et répondent en heure de tous les jours (« om tien over half negen »). Les prix se disent : eenendertig euro veertig (31,40) ; achtentwintig euro zestig ; dertig euro twintig ; negenentwintig euro tachtig. Correction : 8.40 confirme la réponse au piège de l’Avonddialoog (le train de Stef).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Lexique du guichet. « Un enkeltje » (aller simple) et « een retourtje » sont des het-woorden en -je. Le livret indique : het spoor (BE), het perron (NL) — « op welk spoor ? » est la question habituelle en Belgique. Production libre finale : chacun présente son trajet habituel en quatre phrases chiffrées. Modèles acceptés : « Elke dinsdag vertrek ik om kwart over zes. De reis duurt tweeënveertig minuten. Een abonnement kost € 78,60 per maand. Ik woon op vijfentwintig kilometer van mijn werk. » Le binôme répète l’heure en chiffres (contrôle de la séquence 8.1). Pas de correction unique : vérifier l’heure (half !) et l’inversion du verbe après « elke dinsdag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 : « vierhonderdzevenendertigduizend vijfhonderd euro · vier komma twee procent · tweeënnegentig vierkante meter · vijf over half negen ». Collecter les trajets (D1) à la séance suivante pour un contrôle rapide de l’heure.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3 · B1 · Yasmina &amp; Stef · Séance 16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3 · B1 · Yasmina &amp; Stef · Séance 16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3 · B1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16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8.1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 prospectie en de cijfers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Prospecter et chiffrer : prix, surfaces, pourcentages et heures dits sans hésiter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Palier 8 · Schatting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1–6a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120"/>
            <a:ext cx="5120640" cy="34137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1–6a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Lire et dire </a:t>
            </a:r>
            <a:r>
              <a:rPr lang="en-US" sz="1400" b="1" dirty="0">
                <a:solidFill>
                  <a:schemeClr val="tx1"/>
                </a:solidFill>
              </a:rPr>
              <a:t>à voix haute</a:t>
            </a:r>
            <a:r>
              <a:rPr lang="en-US" sz="1400" dirty="0">
                <a:solidFill>
                  <a:schemeClr val="tx1"/>
                </a:solidFill>
              </a:rPr>
              <a:t> prix, surfaces, pourcentages et heures (</a:t>
            </a:r>
            <a:r>
              <a:rPr lang="en-US" sz="1400" b="1" dirty="0">
                <a:solidFill>
                  <a:schemeClr val="tx1"/>
                </a:solidFill>
              </a:rPr>
              <a:t>€ 437.500 · 4,2 % · 92 m² · half negen</a:t>
            </a:r>
            <a:r>
              <a:rPr lang="en-US" sz="1400" dirty="0">
                <a:solidFill>
                  <a:schemeClr val="tx1"/>
                </a:solidFill>
              </a:rPr>
              <a:t>) sans inverser les chiffres, et </a:t>
            </a:r>
            <a:r>
              <a:rPr lang="en-US" sz="1400" b="1" dirty="0">
                <a:solidFill>
                  <a:schemeClr val="tx1"/>
                </a:solidFill>
              </a:rPr>
              <a:t>mener un appel de prospection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vierhonderdzevenendertigduizend · vier komma twee procent · tweeënnegentig vierkante meter · rond de · ongeveer · twee derde · half negen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Comprendre deux dialogues · noter des chiffres entendus (cijferdictee) · dire les nombres et l’heure · jouer un appel de prospection (TAAK 1)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288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28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Échauffement : paliers 5 à 7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4216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421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672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palier 8 · dialogue 8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672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9143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914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8600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Avonddialoog · les chiffres du week-end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8600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4071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40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3528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8.1 : grands nombres, décimales, %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3528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8999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899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84556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Ex. 1 · cijferdictee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84556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3926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39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33832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Ex. 2 · Zeg het luidop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33832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7'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88543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885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83108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TAAK 1 · het prospectiegesprek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83108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3781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37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32384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D1 · Hoe laat ? Welk spoor ?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32384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87095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870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816600"/>
            <a:ext cx="4114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Bilan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816600"/>
            <a:ext cx="66751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7'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de la série : paliers 5 à 7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paliers 5–7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Les outils de la série reviennent dans ce palier. Seul, 4 min, puis correction orale.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Relative (palier 5) : </a:t>
            </a:r>
            <a:r>
              <a:rPr lang="en-US" sz="2600" i="1" dirty="0">
                <a:solidFill>
                  <a:schemeClr val="tx1"/>
                </a:solidFill>
              </a:rPr>
              <a:t>Wij hebben een woning verkocht. De woning is vergelijkbaar met de uwe.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Demande polie avec </a:t>
            </a:r>
            <a:r>
              <a:rPr lang="en-US" sz="2600" b="1" dirty="0">
                <a:solidFill>
                  <a:schemeClr val="tx1"/>
                </a:solidFill>
              </a:rPr>
              <a:t>zou</a:t>
            </a:r>
            <a:r>
              <a:rPr lang="en-US" sz="2600" dirty="0">
                <a:solidFill>
                  <a:schemeClr val="tx1"/>
                </a:solidFill>
              </a:rPr>
              <a:t> (palier 6) : </a:t>
            </a:r>
            <a:r>
              <a:rPr lang="en-US" sz="2600" i="1" dirty="0">
                <a:solidFill>
                  <a:schemeClr val="tx1"/>
                </a:solidFill>
              </a:rPr>
              <a:t>Kunt u een schatting maken?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Passif (palier 6) : </a:t>
            </a:r>
            <a:r>
              <a:rPr lang="en-US" sz="2600" i="1" dirty="0">
                <a:solidFill>
                  <a:schemeClr val="tx1"/>
                </a:solidFill>
              </a:rPr>
              <a:t>Men verkoopt het huis.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Concession (palier 7) : </a:t>
            </a:r>
            <a:r>
              <a:rPr lang="en-US" sz="2600" i="1" dirty="0">
                <a:solidFill>
                  <a:schemeClr val="tx1"/>
                </a:solidFill>
              </a:rPr>
              <a:t>Het huis is groot. De keuken is oud.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Superlatif (palier 4) : </a:t>
            </a:r>
            <a:r>
              <a:rPr lang="en-US" sz="2600" i="1" dirty="0">
                <a:solidFill>
                  <a:schemeClr val="tx1"/>
                </a:solidFill>
              </a:rPr>
              <a:t>Dit is het </a:t>
            </a:r>
            <a:r>
              <a:rPr lang="en-US" sz="2600" i="1" dirty="0">
                <a:solidFill>
                  <a:schemeClr val="accent5"/>
                </a:solidFill>
              </a:rPr>
              <a:t>……………</a:t>
            </a:r>
            <a:r>
              <a:rPr lang="en-US" sz="2600" i="1" dirty="0">
                <a:solidFill>
                  <a:schemeClr val="tx1"/>
                </a:solidFill>
              </a:rPr>
              <a:t> huis van de straat. (duur)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de la série : paliers 5 à 7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paliers 5–7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Les outils de la série reviennent dans ce palier. Seul, 4 min, puis correction orale.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Relative (palier 5) : </a:t>
            </a:r>
            <a:r>
              <a:rPr lang="en-US" sz="1800" i="1" dirty="0">
                <a:solidFill>
                  <a:schemeClr val="tx1"/>
                </a:solidFill>
              </a:rPr>
              <a:t>Wij hebben een woning verkocht. De woning is vergelijkbaar met de uwe.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Wij hebben een woning verkocht </a:t>
            </a:r>
            <a:r>
              <a:rPr lang="en-US" sz="1800" b="1" dirty="0">
                <a:solidFill>
                  <a:schemeClr val="accent3"/>
                </a:solidFill>
              </a:rPr>
              <a:t>die</a:t>
            </a:r>
            <a:r>
              <a:rPr lang="en-US" sz="1800" dirty="0">
                <a:solidFill>
                  <a:schemeClr val="accent3"/>
                </a:solidFill>
              </a:rPr>
              <a:t> vergelijkbaar </a:t>
            </a:r>
            <a:r>
              <a:rPr lang="en-US" sz="1800" b="1" dirty="0">
                <a:solidFill>
                  <a:schemeClr val="accent3"/>
                </a:solidFill>
              </a:rPr>
              <a:t>is</a:t>
            </a:r>
            <a:r>
              <a:rPr lang="en-US" sz="1800" dirty="0">
                <a:solidFill>
                  <a:schemeClr val="accent3"/>
                </a:solidFill>
              </a:rPr>
              <a:t> met de uwe.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Demande polie avec </a:t>
            </a:r>
            <a:r>
              <a:rPr lang="en-US" sz="1800" b="1" dirty="0">
                <a:solidFill>
                  <a:schemeClr val="tx1"/>
                </a:solidFill>
              </a:rPr>
              <a:t>zou</a:t>
            </a:r>
            <a:r>
              <a:rPr lang="en-US" sz="1800" dirty="0">
                <a:solidFill>
                  <a:schemeClr val="tx1"/>
                </a:solidFill>
              </a:rPr>
              <a:t> (palier 6) : </a:t>
            </a:r>
            <a:r>
              <a:rPr lang="en-US" sz="1800" i="1" dirty="0">
                <a:solidFill>
                  <a:schemeClr val="tx1"/>
                </a:solidFill>
              </a:rPr>
              <a:t>Kunt u een schatting maken?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Zou</a:t>
            </a:r>
            <a:r>
              <a:rPr lang="en-US" sz="1800" dirty="0">
                <a:solidFill>
                  <a:schemeClr val="accent3"/>
                </a:solidFill>
              </a:rPr>
              <a:t> u een schatting </a:t>
            </a:r>
            <a:r>
              <a:rPr lang="en-US" sz="1800" b="1" dirty="0">
                <a:solidFill>
                  <a:schemeClr val="accent3"/>
                </a:solidFill>
              </a:rPr>
              <a:t>kunnen</a:t>
            </a:r>
            <a:r>
              <a:rPr lang="en-US" sz="1800" dirty="0">
                <a:solidFill>
                  <a:schemeClr val="accent3"/>
                </a:solidFill>
              </a:rPr>
              <a:t> maken?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Passif (palier 6) : </a:t>
            </a:r>
            <a:r>
              <a:rPr lang="en-US" sz="1800" i="1" dirty="0">
                <a:solidFill>
                  <a:schemeClr val="tx1"/>
                </a:solidFill>
              </a:rPr>
              <a:t>Men verkoopt het huis.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Het huis </a:t>
            </a:r>
            <a:r>
              <a:rPr lang="en-US" sz="1800" b="1" dirty="0">
                <a:solidFill>
                  <a:schemeClr val="accent3"/>
                </a:solidFill>
              </a:rPr>
              <a:t>wordt</a:t>
            </a:r>
            <a:r>
              <a:rPr lang="en-US" sz="1800" dirty="0">
                <a:solidFill>
                  <a:schemeClr val="accent3"/>
                </a:solidFill>
              </a:rPr>
              <a:t> </a:t>
            </a:r>
            <a:r>
              <a:rPr lang="en-US" sz="1800" b="1" dirty="0">
                <a:solidFill>
                  <a:schemeClr val="accent3"/>
                </a:solidFill>
              </a:rPr>
              <a:t>verkocht</a:t>
            </a:r>
            <a:r>
              <a:rPr lang="en-US" sz="1800" dirty="0">
                <a:solidFill>
                  <a:schemeClr val="accent3"/>
                </a:solidFill>
              </a:rPr>
              <a:t>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Concession (palier 7) : </a:t>
            </a:r>
            <a:r>
              <a:rPr lang="en-US" sz="1800" i="1" dirty="0">
                <a:solidFill>
                  <a:schemeClr val="tx1"/>
                </a:solidFill>
              </a:rPr>
              <a:t>Het huis is groot. De keuken is oud.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Het huis is </a:t>
            </a:r>
            <a:r>
              <a:rPr lang="en-US" sz="1800" b="1" dirty="0">
                <a:solidFill>
                  <a:schemeClr val="accent3"/>
                </a:solidFill>
              </a:rPr>
              <a:t>weliswaar</a:t>
            </a:r>
            <a:r>
              <a:rPr lang="en-US" sz="1800" dirty="0">
                <a:solidFill>
                  <a:schemeClr val="accent3"/>
                </a:solidFill>
              </a:rPr>
              <a:t> groot, </a:t>
            </a:r>
            <a:r>
              <a:rPr lang="en-US" sz="1800" b="1" dirty="0">
                <a:solidFill>
                  <a:schemeClr val="accent3"/>
                </a:solidFill>
              </a:rPr>
              <a:t>maar</a:t>
            </a:r>
            <a:r>
              <a:rPr lang="en-US" sz="1800" dirty="0">
                <a:solidFill>
                  <a:schemeClr val="accent3"/>
                </a:solidFill>
              </a:rPr>
              <a:t> de keuken is oud.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Superlatif (palier 4) : </a:t>
            </a:r>
            <a:r>
              <a:rPr lang="en-US" sz="1800" i="1" dirty="0">
                <a:solidFill>
                  <a:schemeClr val="tx1"/>
                </a:solidFill>
              </a:rPr>
              <a:t>Dit is het </a:t>
            </a:r>
            <a:r>
              <a:rPr lang="en-US" sz="1800" i="1" dirty="0">
                <a:solidFill>
                  <a:schemeClr val="accent5"/>
                </a:solidFill>
              </a:rPr>
              <a:t>……………</a:t>
            </a:r>
            <a:r>
              <a:rPr lang="en-US" sz="1800" i="1" dirty="0">
                <a:solidFill>
                  <a:schemeClr val="tx1"/>
                </a:solidFill>
              </a:rPr>
              <a:t> huis van de straat. (duur)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Dit is het </a:t>
            </a:r>
            <a:r>
              <a:rPr lang="en-US" sz="1800" b="1" dirty="0">
                <a:solidFill>
                  <a:schemeClr val="accent3"/>
                </a:solidFill>
              </a:rPr>
              <a:t>duurste</a:t>
            </a:r>
            <a:r>
              <a:rPr lang="en-US" sz="1800" dirty="0">
                <a:solidFill>
                  <a:schemeClr val="accent3"/>
                </a:solidFill>
              </a:rPr>
              <a:t> huis van de straat.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Palier 8 : six piliers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① LE MARCHÉ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schatting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de</a:t>
            </a:r>
            <a:r>
              <a:rPr lang="en-US" sz="1600" dirty="0">
                <a:solidFill>
                  <a:schemeClr val="tx1"/>
                </a:solidFill>
              </a:rPr>
              <a:t> marktprijs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de</a:t>
            </a:r>
            <a:r>
              <a:rPr lang="en-US" sz="1600" dirty="0">
                <a:solidFill>
                  <a:schemeClr val="tx1"/>
                </a:solidFill>
              </a:rPr>
              <a:t> vierkante meter · stijgen · dalen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② LES NOMBRES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€ 425.000 · 7,5 %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627376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Prix, surfaces, %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dits </a:t>
            </a:r>
            <a:r>
              <a:rPr lang="en-US" sz="1600" b="1" dirty="0">
                <a:solidFill>
                  <a:schemeClr val="tx1"/>
                </a:solidFill>
              </a:rPr>
              <a:t>sans hésiter</a:t>
            </a:r>
            <a:r>
              <a:rPr lang="en-US" sz="1600" dirty="0">
                <a:solidFill>
                  <a:schemeClr val="tx1"/>
                </a:solidFill>
              </a:rPr>
              <a:t> (8.1)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③ COMPARER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hoe … hoe …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627376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steeds duurder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twee keer zo groot als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vergelijking met (8.2)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4343400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④ L’ÉVOLUTION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626864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stijgen met 4,2 %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169408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dalen · verdubbelen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gemiddeld (8.3)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337304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37304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5"/>
          </a:solidFill>
          <a:ln/>
        </p:spPr>
      </p:sp>
      <p:sp>
        <p:nvSpPr>
          <p:cNvPr id="32" name="Shape 29"/>
          <p:cNvSpPr/>
          <p:nvPr/>
        </p:nvSpPr>
        <p:spPr>
          <a:xfrm>
            <a:off x="4337304" y="4343400"/>
            <a:ext cx="3514344" cy="1828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0184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⑤ LE RAPPORT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520184" y="4626864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schattingsverslag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4520184" y="5169408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Lire et conclure (8.4)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Défendre (8.5)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125968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125968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38" name="Shape 35"/>
          <p:cNvSpPr/>
          <p:nvPr/>
        </p:nvSpPr>
        <p:spPr>
          <a:xfrm>
            <a:off x="8125968" y="4343400"/>
            <a:ext cx="3514344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08848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⑥ 4 COMPÉTENCES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308848" y="4626864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situatie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8308848" y="5169408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Écouter · lire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Écrire · parler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Tâche finale (8.6)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Achtste dialoog : vrijdagochtend bij Immo Van Damme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DIALOOG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«Stef, goed nieuws: meneer Janssens uit de Vredestraat wil zijn huis misschien verkopen. Hij vroeg of wij een schatting konden maken.»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«Mooi! Hoe pakken we dat aan?»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«We vergelijken met gelijkaardige woningen. Zijn huis is honderdveertig vierkante meter — dat is bijna twee keer zo groot als het appartement dat we vorige maand verkochten.»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4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«En de markt? Ik las dat de prijzen in de wijk gestegen zijn.»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«Klopt: gemiddeld met vier komma twee procent in één jaar. Hoe dichter bij het park, hoe duurder de woningen.»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«Dus zijn huis is meer waard dan hij denkt?»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«Omgekeerd, vrees ik. Hij verwacht vijfhonderdduizend euro, terwijl de vergelijkbare verkopen rond de vierhonderdvijftigduizend liggen. In vergelijking met de buren is zijn keuken verouderd.»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8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«Aha. Hoe hoger de verwachting, hoe moeilijker het gesprek…»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9  </a:t>
            </a:r>
            <a:r>
              <a:rPr lang="en-US" sz="1600" b="1" dirty="0">
                <a:solidFill>
                  <a:srgbClr val="D9700F"/>
                </a:solidFill>
              </a:rPr>
              <a:t>Yasmina :  </a:t>
            </a:r>
            <a:r>
              <a:rPr lang="en-US" sz="1600" dirty="0">
                <a:solidFill>
                  <a:schemeClr val="tx1"/>
                </a:solidFill>
              </a:rPr>
              <a:t>«Precies. Daarom onderbouwen we alles met cijfers. Een schatting die goed onderbouwd is, overtuigt zelfs een teleurgestelde eigenaar. Jij maakt de vergelijkingstabel, terwijl ik de marktcijfers opzoek.»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10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«Oké! En daarna oefenen we het gesprek. Kortom: van de cijfers naar de opdracht!»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Avonddialoog : een weekend aan zee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DIALOOG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  </a:t>
            </a:r>
            <a:r>
              <a:rPr lang="en-US" sz="1600" b="1" dirty="0">
                <a:solidFill>
                  <a:schemeClr val="accent3"/>
                </a:solidFill>
              </a:rPr>
              <a:t>Lotte :  </a:t>
            </a:r>
            <a:r>
              <a:rPr lang="en-US" sz="1600" dirty="0">
                <a:solidFill>
                  <a:schemeClr val="tx1"/>
                </a:solidFill>
              </a:rPr>
              <a:t>«Stef, ik heb een appartement gevonden in De Panne: honderdtwintig euro per nacht, op twee minuten van het strand!»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«Niet slecht! Vorig jaar betaalden we negentig euro in Oostende. De prijzen zijn met een derde gestegen.»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 </a:t>
            </a:r>
            <a:r>
              <a:rPr lang="en-US" sz="1600" b="1" dirty="0">
                <a:solidFill>
                  <a:schemeClr val="accent3"/>
                </a:solidFill>
              </a:rPr>
              <a:t>Lotte :  </a:t>
            </a:r>
            <a:r>
              <a:rPr lang="en-US" sz="1600" dirty="0">
                <a:solidFill>
                  <a:schemeClr val="tx1"/>
                </a:solidFill>
              </a:rPr>
              <a:t>«Klopt, maar het is wel twee keer zo groot als ons hotelkamertje van vorig jaar.»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4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«En hoe gaan we erheen? Met de auto?»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1600" b="1" dirty="0">
                <a:solidFill>
                  <a:schemeClr val="accent3"/>
                </a:solidFill>
              </a:rPr>
              <a:t>Lotte :  </a:t>
            </a:r>
            <a:r>
              <a:rPr lang="en-US" sz="1600" dirty="0">
                <a:solidFill>
                  <a:schemeClr val="tx1"/>
                </a:solidFill>
              </a:rPr>
              <a:t>«Liever niet. Op zaterdagochtend staat de E40 altijd vol: hoe mooier het weer, hoe langer de file!»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«Dan nemen we de trein. Ik vertrek om tien over half negen in Brussel. Jij stapt in Gent op.»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1600" b="1" dirty="0">
                <a:solidFill>
                  <a:schemeClr val="accent3"/>
                </a:solidFill>
              </a:rPr>
              <a:t>Lotte :  </a:t>
            </a:r>
            <a:r>
              <a:rPr lang="en-US" sz="1600" dirty="0">
                <a:solidFill>
                  <a:schemeClr val="tx1"/>
                </a:solidFill>
              </a:rPr>
              <a:t>«Perfect. Heb je het weerbericht al gezien?»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8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«Ja: zaterdag tweeëntwintig graden en zon, maar zondag daalt de temperatuur naar zeventien graden, met veertig procent kans op regen.»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9  </a:t>
            </a:r>
            <a:r>
              <a:rPr lang="en-US" sz="1600" b="1" dirty="0">
                <a:solidFill>
                  <a:schemeClr val="accent3"/>
                </a:solidFill>
              </a:rPr>
              <a:t>Lotte :  </a:t>
            </a:r>
            <a:r>
              <a:rPr lang="en-US" sz="1600" dirty="0">
                <a:solidFill>
                  <a:schemeClr val="tx1"/>
                </a:solidFill>
              </a:rPr>
              <a:t>«Dan gaan we zaterdag naar het strand en zondagavond naar dat visrestaurant met vier komma vijf sterren.»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10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«Gemiddeld vier komma vijf op meer dan duizend recensies? Dat wordt smullen!»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11  </a:t>
            </a:r>
            <a:r>
              <a:rPr lang="en-US" sz="1600" b="1" dirty="0">
                <a:solidFill>
                  <a:schemeClr val="accent3"/>
                </a:solidFill>
              </a:rPr>
              <a:t>Lotte :  </a:t>
            </a:r>
            <a:r>
              <a:rPr lang="en-US" sz="1600" dirty="0">
                <a:solidFill>
                  <a:schemeClr val="tx1"/>
                </a:solidFill>
              </a:rPr>
              <a:t>«Precies. En ik betaal de eerste ronde garnaalkroketten.»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12  </a:t>
            </a:r>
            <a:r>
              <a:rPr lang="en-US" sz="1600" b="1" dirty="0">
                <a:solidFill>
                  <a:schemeClr val="accent2"/>
                </a:solidFill>
              </a:rPr>
              <a:t>Stef :  </a:t>
            </a:r>
            <a:r>
              <a:rPr lang="en-US" sz="1600" dirty="0">
                <a:solidFill>
                  <a:schemeClr val="tx1"/>
                </a:solidFill>
              </a:rPr>
              <a:t>«Afgesproken! Kortom: een weekend in cijfers… maar vooral een weekend vol zon.»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Avonddialoog : les chiffres du week-end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1 · seul puis par deux · 8 min. Livres fermés, </a:t>
            </a:r>
            <a:r>
              <a:rPr lang="en-US" sz="1600" b="1" i="1" dirty="0">
                <a:solidFill>
                  <a:schemeClr val="accent5"/>
                </a:solidFill>
              </a:rPr>
              <a:t>1re écoute</a:t>
            </a:r>
            <a:r>
              <a:rPr lang="en-US" sz="1600" i="1" dirty="0">
                <a:solidFill>
                  <a:schemeClr val="accent5"/>
                </a:solidFill>
              </a:rPr>
              <a:t> : notez tous les chiffres (au moins 8). </a:t>
            </a:r>
            <a:r>
              <a:rPr lang="en-US" sz="1600" b="1" i="1" dirty="0">
                <a:solidFill>
                  <a:schemeClr val="accent5"/>
                </a:solidFill>
              </a:rPr>
              <a:t>2e écoute</a:t>
            </a:r>
            <a:r>
              <a:rPr lang="en-US" sz="1600" i="1" dirty="0">
                <a:solidFill>
                  <a:schemeClr val="accent5"/>
                </a:solidFill>
              </a:rPr>
              <a:t> : repérez 2 comparatifs et 2 verbes d’évolution.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5458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CE QUE VOUS ENTENDEZ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VOUS NOTEZ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Prix à De Panne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Prix à Oostende l’an dernier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Taille vs la chambre d’hôtel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Heure du train de Stef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Météo de samedi · de dimanche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Restaurant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2e écoute : deux comparatifs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2e écoute : deux verbes d’évolution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Avonddialoog : les chiffres du week-end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1 · seul puis par deux · 8 min. Livres fermés, </a:t>
            </a:r>
            <a:r>
              <a:rPr lang="en-US" sz="1600" b="1" i="1" dirty="0">
                <a:solidFill>
                  <a:schemeClr val="accent5"/>
                </a:solidFill>
              </a:rPr>
              <a:t>1re écoute</a:t>
            </a:r>
            <a:r>
              <a:rPr lang="en-US" sz="1600" i="1" dirty="0">
                <a:solidFill>
                  <a:schemeClr val="accent5"/>
                </a:solidFill>
              </a:rPr>
              <a:t> : notez tous les chiffres (au moins 8). </a:t>
            </a:r>
            <a:r>
              <a:rPr lang="en-US" sz="1600" b="1" i="1" dirty="0">
                <a:solidFill>
                  <a:schemeClr val="accent5"/>
                </a:solidFill>
              </a:rPr>
              <a:t>2e écoute</a:t>
            </a:r>
            <a:r>
              <a:rPr lang="en-US" sz="1600" i="1" dirty="0">
                <a:solidFill>
                  <a:schemeClr val="accent5"/>
                </a:solidFill>
              </a:rPr>
              <a:t> : repérez 2 comparatifs et 2 verbes d’évolution.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5458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CE QUE VOUS ENTENDEZ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VOUS NOTEZ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Prix à De Panne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€ 120 per nacht, op twee minuten van het strand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Prix à Oostende l’an dernier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€ 90 (de prijs is met een derde gestegen)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Taille vs la chambre d’hôtel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twee keer zo groot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Heure du train de Stef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8.40 uur : tien over half negen (pas 9.40 !)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Météo de samedi · de dimanche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22 °C et du soleil · 17 °C, 40 % kans op regen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Restaurant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4,5 sterren op meer dan 1000 recensies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2e écoute : deux comparatifs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twee keer zo groot als · hoe mooier het weer, hoe langer de file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2e écoute : deux verbes d’évolution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gestegen · daalt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8.1 : de prospectie — les chiffres sans hésiter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33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SÉQUENCE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63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Un agent qui bute sur « € 437.500 » perd son client à la troisième syllabe.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Focus : lignes 3, 5 et 7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«…</a:t>
            </a:r>
            <a:r>
              <a:rPr lang="en-US" sz="1800" b="1" dirty="0">
                <a:solidFill>
                  <a:schemeClr val="tx1"/>
                </a:solidFill>
              </a:rPr>
              <a:t>honderdveertig vierkante meter</a:t>
            </a:r>
            <a:r>
              <a:rPr lang="en-US" sz="1800" dirty="0">
                <a:solidFill>
                  <a:schemeClr val="tx1"/>
                </a:solidFill>
              </a:rPr>
              <a:t>.» (140 m²)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«…met </a:t>
            </a:r>
            <a:r>
              <a:rPr lang="en-US" sz="1800" b="1" dirty="0">
                <a:solidFill>
                  <a:schemeClr val="tx1"/>
                </a:solidFill>
              </a:rPr>
              <a:t>vier komma twee procent</a:t>
            </a:r>
            <a:r>
              <a:rPr lang="en-US" sz="1800" dirty="0">
                <a:solidFill>
                  <a:schemeClr val="tx1"/>
                </a:solidFill>
              </a:rPr>
              <a:t>.» (4,2 %)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«…</a:t>
            </a:r>
            <a:r>
              <a:rPr lang="en-US" sz="1800" b="1" dirty="0">
                <a:solidFill>
                  <a:schemeClr val="tx1"/>
                </a:solidFill>
              </a:rPr>
              <a:t>rond de vierhonderdvijftigduizend</a:t>
            </a:r>
            <a:r>
              <a:rPr lang="en-US" sz="1800" dirty="0">
                <a:solidFill>
                  <a:schemeClr val="tx1"/>
                </a:solidFill>
              </a:rPr>
              <a:t>…» (≈ 450.000)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995160" y="5382768"/>
            <a:ext cx="4645152" cy="908304"/>
          </a:xfrm>
          <a:prstGeom prst="roundRect">
            <a:avLst>
              <a:gd name="adj" fmla="val 8054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47420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766816"/>
            <a:ext cx="4279392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Point ou virgule pour 4,2 ? m² au pluriel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 nombres : français ou néerlandais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80193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RÈGLES DE CONSTRUCTION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450</a:t>
            </a:r>
            <a:r>
              <a:rPr lang="en-US" sz="1800" dirty="0">
                <a:solidFill>
                  <a:schemeClr val="tx1"/>
                </a:solidFill>
              </a:rPr>
              <a:t> : quatre-cent-cinquante / </a:t>
            </a:r>
            <a:r>
              <a:rPr lang="en-US" sz="1800" b="1" dirty="0">
                <a:solidFill>
                  <a:schemeClr val="tx1"/>
                </a:solidFill>
              </a:rPr>
              <a:t>vierhonderdvijftig</a:t>
            </a:r>
            <a:r>
              <a:rPr lang="en-US" sz="1800" dirty="0">
                <a:solidFill>
                  <a:schemeClr val="tx1"/>
                </a:solidFill>
              </a:rPr>
              <a:t> : un seul mot, de gauche à droite.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Unités </a:t>
            </a:r>
            <a:r>
              <a:rPr lang="en-US" sz="1800" b="1" dirty="0">
                <a:solidFill>
                  <a:schemeClr val="tx1"/>
                </a:solidFill>
              </a:rPr>
              <a:t>avant</a:t>
            </a:r>
            <a:r>
              <a:rPr lang="en-US" sz="1800" dirty="0">
                <a:solidFill>
                  <a:schemeClr val="tx1"/>
                </a:solidFill>
              </a:rPr>
              <a:t> dizaines : 25 = </a:t>
            </a:r>
            <a:r>
              <a:rPr lang="en-US" sz="1800" b="1" dirty="0">
                <a:solidFill>
                  <a:schemeClr val="tx1"/>
                </a:solidFill>
              </a:rPr>
              <a:t>vijf-en-twintig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duizend</a:t>
            </a:r>
            <a:r>
              <a:rPr lang="en-US" sz="1800" dirty="0">
                <a:solidFill>
                  <a:schemeClr val="tx1"/>
                </a:solidFill>
              </a:rPr>
              <a:t> ne prend jamais de « s ».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 de « en » entre centaines et unités : </a:t>
            </a:r>
            <a:r>
              <a:rPr lang="en-US" sz="1800" i="1" dirty="0">
                <a:solidFill>
                  <a:schemeClr val="tx1"/>
                </a:solidFill>
              </a:rPr>
              <a:t>vierhonderd</a:t>
            </a:r>
            <a:r>
              <a:rPr lang="en-US" sz="1800" dirty="0">
                <a:solidFill>
                  <a:schemeClr val="tx1"/>
                </a:solidFill>
              </a:rPr>
              <a:t>zevenendertig.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À l’écrit, à l’oral : le tableau de référence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937760"/>
                <a:gridCol w="4233672"/>
              </a:tblGrid>
              <a:tr h="5632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À L’ÉCRIT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À L’ORAL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RAPPEL DE CONSTRUCTION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44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€ 425.000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vierhonderdvijfentwintigduizend euro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unités avant dizaines : vijf-en-twintig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44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€ 437.500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vierhonderdzevenendertigduizend vijfhonderd euro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duizend sans « s », pas de « et »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4,2 %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vier komma twee procent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décimale = komma (jamais « punt »)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92 m²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tweeënnegentig vierkante meter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m² = vierkante meter (singulier !)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± / rond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ongeveer · rond de 450.000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l’approximation professionnelle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44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2/3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twee derde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fractions : derde, vierde, de helft (½)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Écrit : point des milliers (</a:t>
            </a:r>
            <a:r>
              <a:rPr lang="en-US" sz="1500" b="1" i="1" dirty="0">
                <a:solidFill>
                  <a:schemeClr val="accent5"/>
                </a:solidFill>
              </a:rPr>
              <a:t>437.500</a:t>
            </a:r>
            <a:r>
              <a:rPr lang="en-US" sz="1500" i="1" dirty="0">
                <a:solidFill>
                  <a:schemeClr val="accent5"/>
                </a:solidFill>
              </a:rPr>
              <a:t>) et virgule décimale (</a:t>
            </a:r>
            <a:r>
              <a:rPr lang="en-US" sz="1500" b="1" i="1" dirty="0">
                <a:solidFill>
                  <a:schemeClr val="accent5"/>
                </a:solidFill>
              </a:rPr>
              <a:t>4,2</a:t>
            </a:r>
            <a:r>
              <a:rPr lang="en-US" sz="1500" i="1" dirty="0">
                <a:solidFill>
                  <a:schemeClr val="accent5"/>
                </a:solidFill>
              </a:rPr>
              <a:t>) — l’inverse de l’anglais.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47 ou 74 ? Le piège de l’inversion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80188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PIÈGE POUR FRANCOPHONES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français dit « quatre-cent-cinquante » ; le néerlandais </a:t>
            </a:r>
            <a:r>
              <a:rPr lang="en-US" sz="1800" b="1" dirty="0">
                <a:solidFill>
                  <a:schemeClr val="tx1"/>
                </a:solidFill>
              </a:rPr>
              <a:t>retourne les deux derniers chiffres</a:t>
            </a:r>
            <a:r>
              <a:rPr lang="en-US" sz="1800" dirty="0">
                <a:solidFill>
                  <a:schemeClr val="tx1"/>
                </a:solidFill>
              </a:rPr>
              <a:t> : 47 = </a:t>
            </a:r>
            <a:r>
              <a:rPr lang="en-US" sz="1800" b="1" dirty="0">
                <a:solidFill>
                  <a:schemeClr val="tx1"/>
                </a:solidFill>
              </a:rPr>
              <a:t>zeven-en-veertig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 téléphone, un 47 / 74 inversé = </a:t>
            </a:r>
            <a:r>
              <a:rPr lang="en-US" sz="1800" b="1" dirty="0">
                <a:solidFill>
                  <a:schemeClr val="tx1"/>
                </a:solidFill>
              </a:rPr>
              <a:t>une visite ratée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Réflexe de contrôle : répéter </a:t>
            </a:r>
            <a:r>
              <a:rPr lang="en-US" sz="1800" b="1" dirty="0">
                <a:solidFill>
                  <a:schemeClr val="tx1"/>
                </a:solidFill>
              </a:rPr>
              <a:t>chiffre par chiffre</a:t>
            </a:r>
            <a:r>
              <a:rPr lang="en-US" sz="1800" dirty="0">
                <a:solidFill>
                  <a:schemeClr val="tx1"/>
                </a:solidFill>
              </a:rPr>
              <a:t> — « </a:t>
            </a:r>
            <a:r>
              <a:rPr lang="en-US" sz="1800" b="1" dirty="0">
                <a:solidFill>
                  <a:schemeClr val="tx1"/>
                </a:solidFill>
              </a:rPr>
              <a:t>Dus: vier – zeven?</a:t>
            </a:r>
            <a:r>
              <a:rPr lang="en-US" sz="1800" dirty="0">
                <a:solidFill>
                  <a:schemeClr val="tx1"/>
                </a:solidFill>
              </a:rPr>
              <a:t> 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 · Luisteren — Cijferdictee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1 · réception · seul puis binôme · 10 min. Le professeur lit </a:t>
            </a:r>
            <a:r>
              <a:rPr lang="en-US" sz="1600" b="1" i="1" dirty="0">
                <a:solidFill>
                  <a:schemeClr val="accent5"/>
                </a:solidFill>
              </a:rPr>
              <a:t>dix données du marché</a:t>
            </a:r>
            <a:r>
              <a:rPr lang="en-US" sz="1600" i="1" dirty="0">
                <a:solidFill>
                  <a:schemeClr val="accent5"/>
                </a:solidFill>
              </a:rPr>
              <a:t> (transcription n° 1) : notez-les </a:t>
            </a:r>
            <a:r>
              <a:rPr lang="en-US" sz="1600" b="1" i="1" dirty="0">
                <a:solidFill>
                  <a:schemeClr val="accent5"/>
                </a:solidFill>
              </a:rPr>
              <a:t>en chiffres</a:t>
            </a:r>
            <a:r>
              <a:rPr lang="en-US" sz="1600" i="1" dirty="0">
                <a:solidFill>
                  <a:schemeClr val="accent5"/>
                </a:solidFill>
              </a:rPr>
              <a:t>. 2e passage : vérifiez. Puis </a:t>
            </a:r>
            <a:r>
              <a:rPr lang="en-US" sz="1600" b="1" i="1" dirty="0">
                <a:solidFill>
                  <a:schemeClr val="accent5"/>
                </a:solidFill>
              </a:rPr>
              <a:t>relisez-les à voix haute</a:t>
            </a:r>
            <a:r>
              <a:rPr lang="en-US" sz="1600" i="1" dirty="0">
                <a:solidFill>
                  <a:schemeClr val="accent5"/>
                </a:solidFill>
              </a:rPr>
              <a:t> à votre binôme, qui les note à son tour.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18304"/>
                <a:gridCol w="822960"/>
                <a:gridCol w="4727448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JOUW NOTITIE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JOUW NOTITIE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 · Zeg het luidop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2 · binôme, </a:t>
            </a:r>
            <a:r>
              <a:rPr lang="en-US" sz="1600" b="1" i="1" dirty="0">
                <a:solidFill>
                  <a:schemeClr val="accent5"/>
                </a:solidFill>
              </a:rPr>
              <a:t>chrono en main</a:t>
            </a:r>
            <a:r>
              <a:rPr lang="en-US" sz="1600" i="1" dirty="0">
                <a:solidFill>
                  <a:schemeClr val="accent5"/>
                </a:solidFill>
              </a:rPr>
              <a:t> · 7 min. À tour de rôle, lisez ces dix données à voix haute, sans note préparée : </a:t>
            </a:r>
            <a:r>
              <a:rPr lang="en-US" sz="1600" b="1" i="1" dirty="0">
                <a:solidFill>
                  <a:schemeClr val="accent5"/>
                </a:solidFill>
              </a:rPr>
              <a:t>moins de 90 secondes</a:t>
            </a:r>
            <a:r>
              <a:rPr lang="en-US" sz="1600" i="1" dirty="0">
                <a:solidFill>
                  <a:schemeClr val="accent5"/>
                </a:solidFill>
              </a:rPr>
              <a:t>, sans erreur d’inversion.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7342632"/>
              </a:tblGrid>
              <a:tr h="463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À LIRE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ON DIT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€ 389.000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€ 512.500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4,8 %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87 m²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€ 1.150/maand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2,5 %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145 m²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€ 675.000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 helft van € 90.000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twee derde van de stemmen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 · Zeg het luidop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2 · binôme, </a:t>
            </a:r>
            <a:r>
              <a:rPr lang="en-US" sz="1600" b="1" i="1" dirty="0">
                <a:solidFill>
                  <a:schemeClr val="accent5"/>
                </a:solidFill>
              </a:rPr>
              <a:t>chrono en main</a:t>
            </a:r>
            <a:r>
              <a:rPr lang="en-US" sz="1600" i="1" dirty="0">
                <a:solidFill>
                  <a:schemeClr val="accent5"/>
                </a:solidFill>
              </a:rPr>
              <a:t> · 7 min. À tour de rôle, lisez ces dix données à voix haute, sans note préparée : </a:t>
            </a:r>
            <a:r>
              <a:rPr lang="en-US" sz="1600" b="1" i="1" dirty="0">
                <a:solidFill>
                  <a:schemeClr val="accent5"/>
                </a:solidFill>
              </a:rPr>
              <a:t>moins de 90 secondes</a:t>
            </a:r>
            <a:r>
              <a:rPr lang="en-US" sz="1600" i="1" dirty="0">
                <a:solidFill>
                  <a:schemeClr val="accent5"/>
                </a:solidFill>
              </a:rPr>
              <a:t>, sans erreur d’inversion.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7342632"/>
              </a:tblGrid>
              <a:tr h="463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À LIRE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ON DIT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€ 389.000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driehonderdnegenentachtigduizend euro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€ 512.500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vijfhonderdtwaalfduizend vijfhonderd euro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4,8 %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vier komma acht procent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87 m²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zevenentachtig vierkante meter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€ 1.150/maand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elfhonderdvijftig euro per maand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2,5 %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twee komma vijf procent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145 m²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honderdvijfenveertig vierkante meter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€ 675.000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zeshonderdvijfenzeventigduizend euro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 helft van € 90.000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de helft van negentigduizend euro (= € 45.000)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6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twee derde van de stemmen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2/3 van de stemmen (≈ 66,7 %)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1 · Het prospectiegesprek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phoning du vendredi</a:t>
            </a:r>
            <a:r>
              <a:rPr lang="en-US" sz="1800" dirty="0">
                <a:solidFill>
                  <a:schemeClr val="tx1"/>
                </a:solidFill>
              </a:rPr>
              <a:t> : vous appelez un propriétaire dont le bien voisin vient d’être vendu. Deux rondes de 5 minutes, rôles inversés.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5225796" cy="3182112"/>
          </a:xfrm>
          <a:prstGeom prst="roundRect">
            <a:avLst>
              <a:gd name="adj" fmla="val 2874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2316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5915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A — De makelaar (u-vorm !)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044952"/>
            <a:ext cx="47685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Accrochez avec un chiffre : </a:t>
            </a:r>
            <a:r>
              <a:rPr lang="en-US" sz="1300" i="1" dirty="0">
                <a:solidFill>
                  <a:schemeClr val="tx1"/>
                </a:solidFill>
              </a:rPr>
              <a:t>Wij hebben net een woning in uw straat verkocht voor € 448.000.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Proposez une schatting gratuite : </a:t>
            </a:r>
            <a:r>
              <a:rPr lang="en-US" sz="1300" i="1" dirty="0">
                <a:solidFill>
                  <a:schemeClr val="tx1"/>
                </a:solidFill>
              </a:rPr>
              <a:t>Zou u geïnteresseerd zijn in een gratis schatting?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Donnez </a:t>
            </a:r>
            <a:r>
              <a:rPr lang="en-US" sz="1300" b="1" dirty="0">
                <a:solidFill>
                  <a:schemeClr val="tx1"/>
                </a:solidFill>
              </a:rPr>
              <a:t>deux données du marché</a:t>
            </a:r>
            <a:r>
              <a:rPr lang="en-US" sz="1300" dirty="0">
                <a:solidFill>
                  <a:schemeClr val="tx1"/>
                </a:solidFill>
              </a:rPr>
              <a:t> avec approximation (</a:t>
            </a:r>
            <a:r>
              <a:rPr lang="en-US" sz="1300" b="1" dirty="0">
                <a:solidFill>
                  <a:schemeClr val="tx1"/>
                </a:solidFill>
              </a:rPr>
              <a:t>rond de</a:t>
            </a:r>
            <a:r>
              <a:rPr lang="en-US" sz="1300" dirty="0">
                <a:solidFill>
                  <a:schemeClr val="tx1"/>
                </a:solidFill>
              </a:rPr>
              <a:t>, </a:t>
            </a:r>
            <a:r>
              <a:rPr lang="en-US" sz="1300" b="1" dirty="0">
                <a:solidFill>
                  <a:schemeClr val="tx1"/>
                </a:solidFill>
              </a:rPr>
              <a:t>ongeveer</a:t>
            </a:r>
            <a:r>
              <a:rPr lang="en-US" sz="1300" dirty="0">
                <a:solidFill>
                  <a:schemeClr val="tx1"/>
                </a:solidFill>
              </a:rPr>
              <a:t>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Placez une </a:t>
            </a:r>
            <a:r>
              <a:rPr lang="en-US" sz="1300" b="1" dirty="0">
                <a:solidFill>
                  <a:schemeClr val="tx1"/>
                </a:solidFill>
              </a:rPr>
              <a:t>relative</a:t>
            </a:r>
            <a:r>
              <a:rPr lang="en-US" sz="1300" dirty="0">
                <a:solidFill>
                  <a:schemeClr val="tx1"/>
                </a:solidFill>
              </a:rPr>
              <a:t> : </a:t>
            </a:r>
            <a:r>
              <a:rPr lang="en-US" sz="1300" i="1" dirty="0">
                <a:solidFill>
                  <a:schemeClr val="tx1"/>
                </a:solidFill>
              </a:rPr>
              <a:t>een woning die vergelijkbaar is met de uwe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Décrochez un </a:t>
            </a:r>
            <a:r>
              <a:rPr lang="en-US" sz="1300" b="1" dirty="0">
                <a:solidFill>
                  <a:schemeClr val="tx1"/>
                </a:solidFill>
              </a:rPr>
              <a:t>rendez-vous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14516" y="2221992"/>
            <a:ext cx="5225796" cy="3182112"/>
          </a:xfrm>
          <a:prstGeom prst="roundRect">
            <a:avLst>
              <a:gd name="adj" fmla="val 2874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4231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35915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B — De eigenaar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3044952"/>
            <a:ext cx="47685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Vous êtes surpris par l’appel : posez </a:t>
            </a:r>
            <a:r>
              <a:rPr lang="en-US" sz="1300" b="1" dirty="0">
                <a:solidFill>
                  <a:schemeClr val="tx1"/>
                </a:solidFill>
              </a:rPr>
              <a:t>au moins 3 questions chiffrées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chemeClr val="tx1"/>
                </a:solidFill>
              </a:rPr>
              <a:t>Hoeveel per vierkante meter?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chemeClr val="tx1"/>
                </a:solidFill>
              </a:rPr>
              <a:t>Met hoeveel procent zijn de prijzen gestegen?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chemeClr val="tx1"/>
                </a:solidFill>
              </a:rPr>
              <a:t>Hoe lang duurt zo’n verkoop gemiddeld?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Cartes : ① discret (</a:t>
            </a:r>
            <a:r>
              <a:rPr lang="en-US" sz="1300" i="1" dirty="0">
                <a:solidFill>
                  <a:schemeClr val="tx1"/>
                </a:solidFill>
              </a:rPr>
              <a:t>misschien, ooit…</a:t>
            </a:r>
            <a:r>
              <a:rPr lang="en-US" sz="1300" dirty="0">
                <a:solidFill>
                  <a:schemeClr val="tx1"/>
                </a:solidFill>
              </a:rPr>
              <a:t>) ② méfiant (</a:t>
            </a:r>
            <a:r>
              <a:rPr lang="en-US" sz="1300" i="1" dirty="0">
                <a:solidFill>
                  <a:schemeClr val="tx1"/>
                </a:solidFill>
              </a:rPr>
              <a:t>hoe komt u aan mijn nummer?</a:t>
            </a:r>
            <a:r>
              <a:rPr lang="en-US" sz="1300" dirty="0">
                <a:solidFill>
                  <a:schemeClr val="tx1"/>
                </a:solidFill>
              </a:rPr>
              <a:t>) ③ pressé (compare trois agences)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838444" y="355701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557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/ B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Observateur : cochez — </a:t>
            </a:r>
            <a:r>
              <a:rPr lang="en-US" sz="1700" dirty="0">
                <a:solidFill>
                  <a:schemeClr val="tx1"/>
                </a:solidFill>
              </a:rPr>
              <a:t>chiffres fluides · approximations pro (</a:t>
            </a:r>
            <a:r>
              <a:rPr lang="en-US" sz="1700" b="1" dirty="0">
                <a:solidFill>
                  <a:schemeClr val="tx1"/>
                </a:solidFill>
              </a:rPr>
              <a:t>rond de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b="1" dirty="0">
                <a:solidFill>
                  <a:schemeClr val="tx1"/>
                </a:solidFill>
              </a:rPr>
              <a:t>ongeveer</a:t>
            </a:r>
            <a:r>
              <a:rPr lang="en-US" sz="1700" dirty="0">
                <a:solidFill>
                  <a:schemeClr val="tx1"/>
                </a:solidFill>
              </a:rPr>
              <a:t>) · demande polie avec </a:t>
            </a:r>
            <a:r>
              <a:rPr lang="en-US" sz="1700" b="1" dirty="0">
                <a:solidFill>
                  <a:schemeClr val="tx1"/>
                </a:solidFill>
              </a:rPr>
              <a:t>zou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Modèle : un appel de prospection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  </a:t>
            </a:r>
            <a:r>
              <a:rPr lang="en-US" sz="2000" b="1" dirty="0">
                <a:solidFill>
                  <a:srgbClr val="D9700F"/>
                </a:solidFill>
              </a:rPr>
              <a:t>Yasmina :  </a:t>
            </a:r>
            <a:r>
              <a:rPr lang="en-US" sz="2000" dirty="0">
                <a:solidFill>
                  <a:schemeClr val="tx1"/>
                </a:solidFill>
              </a:rPr>
              <a:t>«Goedemorgen mevrouw, met Yasmina van Immo Van Damme. Wij hebben net een woning in uw straat verkocht voor € 448.000.»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  </a:t>
            </a:r>
            <a:r>
              <a:rPr lang="en-US" sz="2000" b="1" dirty="0">
                <a:solidFill>
                  <a:schemeClr val="accent3"/>
                </a:solidFill>
              </a:rPr>
              <a:t>Eigenaar :  </a:t>
            </a:r>
            <a:r>
              <a:rPr lang="en-US" sz="2000" dirty="0">
                <a:solidFill>
                  <a:schemeClr val="tx1"/>
                </a:solidFill>
              </a:rPr>
              <a:t>«Oh? En waarom belt u mij?»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 </a:t>
            </a:r>
            <a:r>
              <a:rPr lang="en-US" sz="2000" b="1" dirty="0">
                <a:solidFill>
                  <a:srgbClr val="D9700F"/>
                </a:solidFill>
              </a:rPr>
              <a:t>Yasmina :  </a:t>
            </a:r>
            <a:r>
              <a:rPr lang="en-US" sz="2000" dirty="0">
                <a:solidFill>
                  <a:schemeClr val="tx1"/>
                </a:solidFill>
              </a:rPr>
              <a:t>«Omdat wij veel vraag hebben naar woningen die vergelijkbaar zijn met de uwe. Zou u geïnteresseerd zijn in een gratis schatting?»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4  </a:t>
            </a:r>
            <a:r>
              <a:rPr lang="en-US" sz="2000" b="1" dirty="0">
                <a:solidFill>
                  <a:schemeClr val="accent3"/>
                </a:solidFill>
              </a:rPr>
              <a:t>Eigenaar :  </a:t>
            </a:r>
            <a:r>
              <a:rPr lang="en-US" sz="2000" dirty="0">
                <a:solidFill>
                  <a:schemeClr val="tx1"/>
                </a:solidFill>
              </a:rPr>
              <a:t>«Misschien, ooit. Hoeveel is zo’n huis ongeveer waard per vierkante meter?»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2000" b="1" dirty="0">
                <a:solidFill>
                  <a:srgbClr val="D9700F"/>
                </a:solidFill>
              </a:rPr>
              <a:t>Yasmina :  </a:t>
            </a:r>
            <a:r>
              <a:rPr lang="en-US" sz="2000" dirty="0">
                <a:solidFill>
                  <a:schemeClr val="tx1"/>
                </a:solidFill>
              </a:rPr>
              <a:t>«Rond de € 3.300 per vierkante meter. De prijzen in uw wijk zijn gemiddeld met 4,2 % gestegen.»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2000" b="1" dirty="0">
                <a:solidFill>
                  <a:schemeClr val="accent3"/>
                </a:solidFill>
              </a:rPr>
              <a:t>Eigenaar :  </a:t>
            </a:r>
            <a:r>
              <a:rPr lang="en-US" sz="2000" dirty="0">
                <a:solidFill>
                  <a:schemeClr val="tx1"/>
                </a:solidFill>
              </a:rPr>
              <a:t>«En hoe lang duurt zo’n verkoop gemiddeld?»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2000" b="1" dirty="0">
                <a:solidFill>
                  <a:srgbClr val="D9700F"/>
                </a:solidFill>
              </a:rPr>
              <a:t>Yasmina :  </a:t>
            </a:r>
            <a:r>
              <a:rPr lang="en-US" sz="2000" dirty="0">
                <a:solidFill>
                  <a:schemeClr val="tx1"/>
                </a:solidFill>
              </a:rPr>
              <a:t>«Gemiddeld rond de zeventig dagen. Mag ik donderdag om half tien langskomen?»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8  </a:t>
            </a:r>
            <a:r>
              <a:rPr lang="en-US" sz="2000" b="1" dirty="0">
                <a:solidFill>
                  <a:schemeClr val="accent3"/>
                </a:solidFill>
              </a:rPr>
              <a:t>Eigenaar :  </a:t>
            </a:r>
            <a:r>
              <a:rPr lang="en-US" sz="2000" dirty="0">
                <a:solidFill>
                  <a:schemeClr val="tx1"/>
                </a:solidFill>
              </a:rPr>
              <a:t>«Goed, donderdag om half tien. Dus: negen uur dertig?»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9  </a:t>
            </a:r>
            <a:r>
              <a:rPr lang="en-US" sz="2000" b="1" dirty="0">
                <a:solidFill>
                  <a:srgbClr val="D9700F"/>
                </a:solidFill>
              </a:rPr>
              <a:t>Yasmina :  </a:t>
            </a:r>
            <a:r>
              <a:rPr lang="en-US" sz="2000" dirty="0">
                <a:solidFill>
                  <a:schemeClr val="tx1"/>
                </a:solidFill>
              </a:rPr>
              <a:t>«Precies. Tot donderdag!»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D1 · Hoe laat is het ? — half negen = 8.30 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Les gares annoncent l’heure comme un horaire officiel ; les gens, eux, parlent autrement. Dites chaque heure </a:t>
            </a:r>
            <a:r>
              <a:rPr lang="en-US" sz="1600" b="1" i="1" dirty="0">
                <a:solidFill>
                  <a:schemeClr val="accent5"/>
                </a:solidFill>
              </a:rPr>
              <a:t>comme on le dit tous les jours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2103120"/>
                <a:gridCol w="1737360"/>
                <a:gridCol w="2011680"/>
                <a:gridCol w="176479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8.15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8.25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8.30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8.35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8.45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22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LES GENS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22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OFFICIEL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half negen = 8 h 30</a:t>
            </a:r>
            <a:r>
              <a:rPr lang="en-US" sz="1500" i="1" dirty="0">
                <a:solidFill>
                  <a:schemeClr val="accent5"/>
                </a:solidFill>
              </a:rPr>
              <a:t>, pas 9 h 30 ! Le néerlandais compte la demi-heure vers l’heure </a:t>
            </a:r>
            <a:r>
              <a:rPr lang="en-US" sz="1500" b="1" i="1" dirty="0">
                <a:solidFill>
                  <a:schemeClr val="accent5"/>
                </a:solidFill>
              </a:rPr>
              <a:t>suivante</a:t>
            </a:r>
            <a:r>
              <a:rPr lang="en-US" sz="1500" i="1" dirty="0">
                <a:solidFill>
                  <a:schemeClr val="accent5"/>
                </a:solidFill>
              </a:rPr>
              <a:t>. Contrôle : « Dus: acht uur dertig? 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D1 · Hoe laat is het ? — half negen = 8.30 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7327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Les gares annoncent l’heure comme un horaire officiel ; les gens, eux, parlent autrement. Dites chaque heure </a:t>
            </a:r>
            <a:r>
              <a:rPr lang="en-US" sz="1600" b="1" i="1" dirty="0">
                <a:solidFill>
                  <a:schemeClr val="accent5"/>
                </a:solidFill>
              </a:rPr>
              <a:t>comme on le dit tous les jours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2103120"/>
                <a:gridCol w="1737360"/>
                <a:gridCol w="2011680"/>
                <a:gridCol w="176479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8.15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8.25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8.30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8.35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8.45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22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LES GENS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kwart over acht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vijf voor half negen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half negen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vijf over half negen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kwart voor negen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22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OFFICIEL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acht uur vijftien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acht uur vijfentwintig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acht uur dertig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acht uur vijfendertig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acht uur vijfenveertig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half negen = 8 h 30</a:t>
            </a:r>
            <a:r>
              <a:rPr lang="en-US" sz="1500" i="1" dirty="0">
                <a:solidFill>
                  <a:schemeClr val="accent5"/>
                </a:solidFill>
              </a:rPr>
              <a:t>, pas 9 h 30 ! Le néerlandais compte la demi-heure vers l’heure </a:t>
            </a:r>
            <a:r>
              <a:rPr lang="en-US" sz="1500" b="1" i="1" dirty="0">
                <a:solidFill>
                  <a:schemeClr val="accent5"/>
                </a:solidFill>
              </a:rPr>
              <a:t>suivante</a:t>
            </a:r>
            <a:r>
              <a:rPr lang="en-US" sz="1500" i="1" dirty="0">
                <a:solidFill>
                  <a:schemeClr val="accent5"/>
                </a:solidFill>
              </a:rPr>
              <a:t>. Contrôle : « Dus: acht uur dertig? 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D1 · Het vertrekbord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Binômes (A et B), prix fictifs : chacun ne regarde que </a:t>
            </a:r>
            <a:r>
              <a:rPr lang="en-US" sz="1600" b="1" i="1" dirty="0">
                <a:solidFill>
                  <a:schemeClr val="accent5"/>
                </a:solidFill>
              </a:rPr>
              <a:t>sa colonne</a:t>
            </a:r>
            <a:r>
              <a:rPr lang="en-US" sz="1600" i="1" dirty="0">
                <a:solidFill>
                  <a:schemeClr val="accent5"/>
                </a:solidFill>
              </a:rPr>
              <a:t>. </a:t>
            </a:r>
            <a:r>
              <a:rPr lang="en-US" sz="1600" i="1" dirty="0">
                <a:solidFill>
                  <a:schemeClr val="accent5"/>
                </a:solidFill>
              </a:rPr>
              <a:t>Om hoe laat vertrekt de trein naar …? Op welk spoor? Hoeveel kost een retourtje?</a:t>
            </a:r>
            <a:r>
              <a:rPr lang="en-US" sz="1600" i="1" dirty="0">
                <a:solidFill>
                  <a:schemeClr val="accent5"/>
                </a:solidFill>
              </a:rPr>
              <a:t> Répondez en </a:t>
            </a:r>
            <a:r>
              <a:rPr lang="en-US" sz="1600" b="1" i="1" dirty="0">
                <a:solidFill>
                  <a:schemeClr val="accent5"/>
                </a:solidFill>
              </a:rPr>
              <a:t>heure de tous les jours</a:t>
            </a:r>
            <a:r>
              <a:rPr lang="en-US" sz="1600" i="1" dirty="0">
                <a:solidFill>
                  <a:schemeClr val="accent5"/>
                </a:solidFill>
              </a:rPr>
              <a:t> ; votre binôme note en chiffres et vérifie.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1828800"/>
                <a:gridCol w="231343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BESTEMMING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VERTREK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SPOOR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RETOURTJE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 Panne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Oostende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Knokke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Blankenberge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D1 · Het vertrekbord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Binômes (A et B), prix fictifs : chacun ne regarde que </a:t>
            </a:r>
            <a:r>
              <a:rPr lang="en-US" sz="1600" b="1" i="1" dirty="0">
                <a:solidFill>
                  <a:schemeClr val="accent5"/>
                </a:solidFill>
              </a:rPr>
              <a:t>sa colonne</a:t>
            </a:r>
            <a:r>
              <a:rPr lang="en-US" sz="1600" i="1" dirty="0">
                <a:solidFill>
                  <a:schemeClr val="accent5"/>
                </a:solidFill>
              </a:rPr>
              <a:t>. </a:t>
            </a:r>
            <a:r>
              <a:rPr lang="en-US" sz="1600" i="1" dirty="0">
                <a:solidFill>
                  <a:schemeClr val="accent5"/>
                </a:solidFill>
              </a:rPr>
              <a:t>Om hoe laat vertrekt de trein naar …? Op welk spoor? Hoeveel kost een retourtje?</a:t>
            </a:r>
            <a:r>
              <a:rPr lang="en-US" sz="1600" i="1" dirty="0">
                <a:solidFill>
                  <a:schemeClr val="accent5"/>
                </a:solidFill>
              </a:rPr>
              <a:t> Répondez en </a:t>
            </a:r>
            <a:r>
              <a:rPr lang="en-US" sz="1600" b="1" i="1" dirty="0">
                <a:solidFill>
                  <a:schemeClr val="accent5"/>
                </a:solidFill>
              </a:rPr>
              <a:t>heure de tous les jours</a:t>
            </a:r>
            <a:r>
              <a:rPr lang="en-US" sz="1600" i="1" dirty="0">
                <a:solidFill>
                  <a:schemeClr val="accent5"/>
                </a:solidFill>
              </a:rPr>
              <a:t> ; votre binôme note en chiffres et vérifie.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1828800"/>
                <a:gridCol w="231343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BESTEMMING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VERTREK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SPOOR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RETOURTJE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 Panne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8.40 : tien over half negen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12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€ 31,40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Oostende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9.15 : kwart over negen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9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€ 28,60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Knokke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9.25 : vijf voor half tien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15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€ 30,20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Blankenberge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9.55 : vijf voor tien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7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€ 29,80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Zo zeg je dat : aan het loket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6a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3951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trein · </a:t>
                      </a: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enkeltje · </a:t>
                      </a: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retourtje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train · un aller simple · un aller-retour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Waar moet ik overstappen?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Où dois-je changer de train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 trein heeft tien minuten vertraging.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train a dix minutes de retard.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spoor (BE) · </a:t>
                      </a: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perron (NL)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quai, la voie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Et vous ?</a:t>
            </a:r>
            <a:r>
              <a:rPr lang="en-US" sz="1500" i="1" dirty="0">
                <a:solidFill>
                  <a:schemeClr val="accent5"/>
                </a:solidFill>
              </a:rPr>
              <a:t> Racontez votre trajet habituel en chiffres (heure, durée, prix, distance) : </a:t>
            </a:r>
            <a:r>
              <a:rPr lang="en-US" sz="1500" i="1" dirty="0">
                <a:solidFill>
                  <a:schemeClr val="accent5"/>
                </a:solidFill>
              </a:rPr>
              <a:t>Elke dinsdag vertrek ik om kwart over zes…</a:t>
            </a:r>
            <a:r>
              <a:rPr lang="en-US" sz="1500" i="1" dirty="0">
                <a:solidFill>
                  <a:schemeClr val="accent5"/>
                </a:solidFill>
              </a:rPr>
              <a:t> Votre binôme répète l’heure en chiffres.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17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comparer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hoe dichter bij het park, hoe duurder · twee keer zo groot als · in vergelijking met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 L’outil n° 1 de l’estimateur.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le </a:t>
            </a:r>
            <a:r>
              <a:rPr lang="en-US" sz="1700" b="1" dirty="0">
                <a:solidFill>
                  <a:schemeClr val="tx1"/>
                </a:solidFill>
              </a:rPr>
              <a:t>dialogue 8</a:t>
            </a:r>
            <a:r>
              <a:rPr lang="en-US" sz="1700" dirty="0">
                <a:solidFill>
                  <a:schemeClr val="tx1"/>
                </a:solidFill>
              </a:rPr>
              <a:t> et l’</a:t>
            </a:r>
            <a:r>
              <a:rPr lang="en-US" sz="1700" b="1" dirty="0">
                <a:solidFill>
                  <a:schemeClr val="tx1"/>
                </a:solidFill>
              </a:rPr>
              <a:t>Avonddialoog</a:t>
            </a:r>
            <a:r>
              <a:rPr lang="en-US" sz="1700" dirty="0">
                <a:solidFill>
                  <a:schemeClr val="tx1"/>
                </a:solidFill>
              </a:rPr>
              <a:t> à voix haute, chiffres compris.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 tableau </a:t>
            </a:r>
            <a:r>
              <a:rPr lang="en-US" sz="1700" b="1" dirty="0">
                <a:solidFill>
                  <a:schemeClr val="tx1"/>
                </a:solidFill>
              </a:rPr>
              <a:t>écrit / oral</a:t>
            </a:r>
            <a:r>
              <a:rPr lang="en-US" sz="1700" dirty="0">
                <a:solidFill>
                  <a:schemeClr val="tx1"/>
                </a:solidFill>
              </a:rPr>
              <a:t> (p. 4) : dire dix prix de votre quotidien.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D1</a:t>
            </a:r>
            <a:r>
              <a:rPr lang="en-US" sz="1700" dirty="0">
                <a:solidFill>
                  <a:schemeClr val="tx1"/>
                </a:solidFill>
              </a:rPr>
              <a:t> : votre trajet habituel en chiffres, quatre phrases (heure, durée, prix, distance).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TAAK 1 : préparer l’autre rôle si vous n’avez joué qu’un seul.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Dites sans note : </a:t>
            </a:r>
            <a:r>
              <a:rPr lang="en-US" sz="1600" b="1" dirty="0">
                <a:solidFill>
                  <a:schemeClr val="bg1"/>
                </a:solidFill>
              </a:rPr>
              <a:t>€ 437.500 · 4,2 % · 92 m² · 8.35 uur</a:t>
            </a:r>
            <a:r>
              <a:rPr lang="en-US" sz="1600" dirty="0">
                <a:solidFill>
                  <a:schemeClr val="bg1"/>
                </a:solidFill>
              </a:rPr>
              <a:t> (heure de tous les jours).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B1 vastgoed">
  <a:themeElements>
    <a:clrScheme name="Nederlands B1 vastgoed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B1 vastgo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IRAM — Néerlandais 3 (B1)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16 — De prospectie en de cijfers</dc:title>
  <dc:subject>Néerlandais B1 — immobilier et vie quotidienne (Yasmina &amp; Stef)</dc:subject>
  <dc:creator>A. Jouniaux</dc:creator>
  <cp:lastModifiedBy>A. Jouniaux</cp:lastModifiedBy>
  <cp:revision>1</cp:revision>
  <dcterms:created xsi:type="dcterms:W3CDTF">2026-10-03T21:59:52Z</dcterms:created>
  <dcterms:modified xsi:type="dcterms:W3CDTF">2026-10-03T21:59:52Z</dcterms:modified>
</cp:coreProperties>
</file>